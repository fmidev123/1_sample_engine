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7.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2.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6.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14" r:id="rId266"/>
    <p:sldId id="508" r:id="rId260"/>
    <p:sldId id="509" r:id="rId261"/>
    <p:sldId id="510" r:id="rId262"/>
    <p:sldId id="511" r:id="rId263"/>
    <p:sldId id="512" r:id="rId264"/>
    <p:sldId id="513" r:id="rId265"/>
    <p:sldId id="523" r:id="rId275"/>
    <p:sldId id="515" r:id="rId267"/>
    <p:sldId id="516" r:id="rId268"/>
    <p:sldId id="517" r:id="rId269"/>
    <p:sldId id="518" r:id="rId270"/>
    <p:sldId id="519" r:id="rId271"/>
    <p:sldId id="520" r:id="rId272"/>
    <p:sldId id="521" r:id="rId273"/>
    <p:sldId id="522" r:id="rId274"/>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3" r:id="rId45"/>
    <p:sldId id="294" r:id="rId46"/>
    <p:sldId id="299" r:id="rId51"/>
    <p:sldId id="300" r:id="rId52"/>
    <p:sldId id="301" r:id="rId53"/>
    <p:sldId id="302" r:id="rId54"/>
    <p:sldId id="303" r:id="rId55"/>
    <p:sldId id="307" r:id="rId59"/>
    <p:sldId id="308" r:id="rId60"/>
    <p:sldId id="309" r:id="rId61"/>
    <p:sldId id="314" r:id="rId66"/>
    <p:sldId id="315" r:id="rId67"/>
    <p:sldId id="316" r:id="rId68"/>
    <p:sldId id="317" r:id="rId69"/>
    <p:sldId id="318" r:id="rId70"/>
    <p:sldId id="319" r:id="rId71"/>
    <p:sldId id="324" r:id="rId76"/>
    <p:sldId id="325" r:id="rId77"/>
    <p:sldId id="326" r:id="rId78"/>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70" r:id="rId122"/>
    <p:sldId id="371" r:id="rId123"/>
    <p:sldId id="376" r:id="rId128"/>
    <p:sldId id="377" r:id="rId129"/>
    <p:sldId id="378" r:id="rId130"/>
    <p:sldId id="379" r:id="rId131"/>
    <p:sldId id="380" r:id="rId132"/>
    <p:sldId id="383" r:id="rId135"/>
    <p:sldId id="384" r:id="rId136"/>
    <p:sldId id="385" r:id="rId137"/>
    <p:sldId id="390" r:id="rId142"/>
    <p:sldId id="391" r:id="rId143"/>
    <p:sldId id="392" r:id="rId144"/>
    <p:sldId id="393" r:id="rId145"/>
    <p:sldId id="394" r:id="rId146"/>
    <p:sldId id="395" r:id="rId147"/>
    <p:sldId id="398" r:id="rId150"/>
    <p:sldId id="399" r:id="rId151"/>
    <p:sldId id="400" r:id="rId152"/>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7" r:id="rId179"/>
    <p:sldId id="430" r:id="rId182"/>
    <p:sldId id="431" r:id="rId183"/>
    <p:sldId id="433" r:id="rId185"/>
    <p:sldId id="436" r:id="rId188"/>
    <p:sldId id="437" r:id="rId189"/>
    <p:sldId id="438" r:id="rId190"/>
    <p:sldId id="439" r:id="rId191"/>
    <p:sldId id="440" r:id="rId192"/>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524" r:id="rId19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5.xml"/><Relationship Id="rId37" Type="http://schemas.openxmlformats.org/officeDocument/2006/relationships/slide" Target="slides/slide46.xml"/><Relationship Id="rId38" Type="http://schemas.openxmlformats.org/officeDocument/2006/relationships/slide" Target="slides/slide47.xml"/><Relationship Id="rId39" Type="http://schemas.openxmlformats.org/officeDocument/2006/relationships/slide" Target="slides/slide48.xml"/><Relationship Id="rId40" Type="http://schemas.openxmlformats.org/officeDocument/2006/relationships/slide" Target="slides/slide49.xml"/><Relationship Id="rId41" Type="http://schemas.openxmlformats.org/officeDocument/2006/relationships/slide" Target="slides/slide50.xml"/><Relationship Id="rId42" Type="http://schemas.openxmlformats.org/officeDocument/2006/relationships/slide" Target="slides/slide51.xml"/><Relationship Id="rId45" Type="http://schemas.openxmlformats.org/officeDocument/2006/relationships/slide" Target="slides/slide52.xml"/><Relationship Id="rId46" Type="http://schemas.openxmlformats.org/officeDocument/2006/relationships/slide" Target="slides/slide53.xml"/><Relationship Id="rId51" Type="http://schemas.openxmlformats.org/officeDocument/2006/relationships/slide" Target="slides/slide54.xml"/><Relationship Id="rId52" Type="http://schemas.openxmlformats.org/officeDocument/2006/relationships/slide" Target="slides/slide55.xml"/><Relationship Id="rId53" Type="http://schemas.openxmlformats.org/officeDocument/2006/relationships/slide" Target="slides/slide56.xml"/><Relationship Id="rId54" Type="http://schemas.openxmlformats.org/officeDocument/2006/relationships/slide" Target="slides/slide57.xml"/><Relationship Id="rId55"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 Id="rId107" Type="http://schemas.openxmlformats.org/officeDocument/2006/relationships/slide" Target="slides/slide95.xml"/><Relationship Id="rId108" Type="http://schemas.openxmlformats.org/officeDocument/2006/relationships/slide" Target="slides/slide96.xml"/><Relationship Id="rId109" Type="http://schemas.openxmlformats.org/officeDocument/2006/relationships/slide" Target="slides/slide97.xml"/><Relationship Id="rId110" Type="http://schemas.openxmlformats.org/officeDocument/2006/relationships/slide" Target="slides/slide98.xml"/><Relationship Id="rId111" Type="http://schemas.openxmlformats.org/officeDocument/2006/relationships/slide" Target="slides/slide99.xml"/><Relationship Id="rId112" Type="http://schemas.openxmlformats.org/officeDocument/2006/relationships/slide" Target="slides/slide100.xml"/><Relationship Id="rId113" Type="http://schemas.openxmlformats.org/officeDocument/2006/relationships/slide" Target="slides/slide101.xml"/><Relationship Id="rId114" Type="http://schemas.openxmlformats.org/officeDocument/2006/relationships/slide" Target="slides/slide102.xml"/><Relationship Id="rId115" Type="http://schemas.openxmlformats.org/officeDocument/2006/relationships/slide" Target="slides/slide103.xml"/><Relationship Id="rId116" Type="http://schemas.openxmlformats.org/officeDocument/2006/relationships/slide" Target="slides/slide104.xml"/><Relationship Id="rId117" Type="http://schemas.openxmlformats.org/officeDocument/2006/relationships/slide" Target="slides/slide105.xml"/><Relationship Id="rId118" Type="http://schemas.openxmlformats.org/officeDocument/2006/relationships/slide" Target="slides/slide106.xml"/><Relationship Id="rId119" Type="http://schemas.openxmlformats.org/officeDocument/2006/relationships/slide" Target="slides/slide107.xml"/><Relationship Id="rId120"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8" Type="http://schemas.openxmlformats.org/officeDocument/2006/relationships/slide" Target="slides/slide111.xml"/><Relationship Id="rId129" Type="http://schemas.openxmlformats.org/officeDocument/2006/relationships/slide" Target="slides/slide112.xml"/><Relationship Id="rId130" Type="http://schemas.openxmlformats.org/officeDocument/2006/relationships/slide" Target="slides/slide113.xml"/><Relationship Id="rId131" Type="http://schemas.openxmlformats.org/officeDocument/2006/relationships/slide" Target="slides/slide114.xml"/><Relationship Id="rId132" Type="http://schemas.openxmlformats.org/officeDocument/2006/relationships/slide" Target="slides/slide115.xml"/><Relationship Id="rId135" Type="http://schemas.openxmlformats.org/officeDocument/2006/relationships/slide" Target="slides/slide116.xml"/><Relationship Id="rId136" Type="http://schemas.openxmlformats.org/officeDocument/2006/relationships/slide" Target="slides/slide117.xml"/><Relationship Id="rId137" Type="http://schemas.openxmlformats.org/officeDocument/2006/relationships/slide" Target="slides/slide118.xml"/><Relationship Id="rId142" Type="http://schemas.openxmlformats.org/officeDocument/2006/relationships/slide" Target="slides/slide119.xml"/><Relationship Id="rId143" Type="http://schemas.openxmlformats.org/officeDocument/2006/relationships/slide" Target="slides/slide120.xml"/><Relationship Id="rId144" Type="http://schemas.openxmlformats.org/officeDocument/2006/relationships/slide" Target="slides/slide121.xml"/><Relationship Id="rId145" Type="http://schemas.openxmlformats.org/officeDocument/2006/relationships/slide" Target="slides/slide122.xml"/><Relationship Id="rId146" Type="http://schemas.openxmlformats.org/officeDocument/2006/relationships/slide" Target="slides/slide123.xml"/><Relationship Id="rId147" Type="http://schemas.openxmlformats.org/officeDocument/2006/relationships/slide" Target="slides/slide124.xml"/><Relationship Id="rId150" Type="http://schemas.openxmlformats.org/officeDocument/2006/relationships/slide" Target="slides/slide125.xml"/><Relationship Id="rId151" Type="http://schemas.openxmlformats.org/officeDocument/2006/relationships/slide" Target="slides/slide126.xml"/><Relationship Id="rId152" Type="http://schemas.openxmlformats.org/officeDocument/2006/relationships/slide" Target="slides/slide127.xml"/><Relationship Id="rId157" Type="http://schemas.openxmlformats.org/officeDocument/2006/relationships/slide" Target="slides/slide128.xml"/><Relationship Id="rId158" Type="http://schemas.openxmlformats.org/officeDocument/2006/relationships/slide" Target="slides/slide129.xml"/><Relationship Id="rId159" Type="http://schemas.openxmlformats.org/officeDocument/2006/relationships/slide" Target="slides/slide130.xml"/><Relationship Id="rId160" Type="http://schemas.openxmlformats.org/officeDocument/2006/relationships/slide" Target="slides/slide131.xml"/><Relationship Id="rId161" Type="http://schemas.openxmlformats.org/officeDocument/2006/relationships/slide" Target="slides/slide132.xml"/><Relationship Id="rId162" Type="http://schemas.openxmlformats.org/officeDocument/2006/relationships/slide" Target="slides/slide133.xml"/><Relationship Id="rId163" Type="http://schemas.openxmlformats.org/officeDocument/2006/relationships/slide" Target="slides/slide134.xml"/><Relationship Id="rId164" Type="http://schemas.openxmlformats.org/officeDocument/2006/relationships/slide" Target="slides/slide135.xml"/><Relationship Id="rId165" Type="http://schemas.openxmlformats.org/officeDocument/2006/relationships/slide" Target="slides/slide136.xml"/><Relationship Id="rId166" Type="http://schemas.openxmlformats.org/officeDocument/2006/relationships/slide" Target="slides/slide137.xml"/><Relationship Id="rId167" Type="http://schemas.openxmlformats.org/officeDocument/2006/relationships/slide" Target="slides/slide138.xml"/><Relationship Id="rId168" Type="http://schemas.openxmlformats.org/officeDocument/2006/relationships/slide" Target="slides/slide139.xml"/><Relationship Id="rId169" Type="http://schemas.openxmlformats.org/officeDocument/2006/relationships/slide" Target="slides/slide140.xml"/><Relationship Id="rId170" Type="http://schemas.openxmlformats.org/officeDocument/2006/relationships/slide" Target="slides/slide141.xml"/><Relationship Id="rId171" Type="http://schemas.openxmlformats.org/officeDocument/2006/relationships/slide" Target="slides/slide142.xml"/><Relationship Id="rId172" Type="http://schemas.openxmlformats.org/officeDocument/2006/relationships/slide" Target="slides/slide143.xml"/><Relationship Id="rId173" Type="http://schemas.openxmlformats.org/officeDocument/2006/relationships/slide" Target="slides/slide144.xml"/><Relationship Id="rId174" Type="http://schemas.openxmlformats.org/officeDocument/2006/relationships/slide" Target="slides/slide145.xml"/><Relationship Id="rId175" Type="http://schemas.openxmlformats.org/officeDocument/2006/relationships/slide" Target="slides/slide146.xml"/><Relationship Id="rId176" Type="http://schemas.openxmlformats.org/officeDocument/2006/relationships/slide" Target="slides/slide147.xml"/><Relationship Id="rId177" Type="http://schemas.openxmlformats.org/officeDocument/2006/relationships/slide" Target="slides/slide148.xml"/><Relationship Id="rId179" Type="http://schemas.openxmlformats.org/officeDocument/2006/relationships/slide" Target="slides/slide149.xml"/><Relationship Id="rId182" Type="http://schemas.openxmlformats.org/officeDocument/2006/relationships/slide" Target="slides/slide150.xml"/><Relationship Id="rId183" Type="http://schemas.openxmlformats.org/officeDocument/2006/relationships/slide" Target="slides/slide151.xml"/><Relationship Id="rId185" Type="http://schemas.openxmlformats.org/officeDocument/2006/relationships/slide" Target="slides/slide152.xml"/><Relationship Id="rId188" Type="http://schemas.openxmlformats.org/officeDocument/2006/relationships/slide" Target="slides/slide153.xml"/><Relationship Id="rId189" Type="http://schemas.openxmlformats.org/officeDocument/2006/relationships/slide" Target="slides/slide154.xml"/><Relationship Id="rId190" Type="http://schemas.openxmlformats.org/officeDocument/2006/relationships/slide" Target="slides/slide155.xml"/><Relationship Id="rId191" Type="http://schemas.openxmlformats.org/officeDocument/2006/relationships/slide" Target="slides/slide156.xml"/><Relationship Id="rId192" Type="http://schemas.openxmlformats.org/officeDocument/2006/relationships/slide" Target="slides/slide157.xml"/><Relationship Id="rId195" Type="http://schemas.openxmlformats.org/officeDocument/2006/relationships/slide" Target="slides/slide212.xml"/><Relationship Id="rId196" Type="http://schemas.openxmlformats.org/officeDocument/2006/relationships/slide" Target="slides/slide158.xml"/><Relationship Id="rId197" Type="http://schemas.openxmlformats.org/officeDocument/2006/relationships/slide" Target="slides/slide159.xml"/><Relationship Id="rId198" Type="http://schemas.openxmlformats.org/officeDocument/2006/relationships/slide" Target="slides/slide160.xml"/><Relationship Id="rId199" Type="http://schemas.openxmlformats.org/officeDocument/2006/relationships/slide" Target="slides/slide161.xml"/><Relationship Id="rId200" Type="http://schemas.openxmlformats.org/officeDocument/2006/relationships/slide" Target="slides/slide162.xml"/><Relationship Id="rId201" Type="http://schemas.openxmlformats.org/officeDocument/2006/relationships/slide" Target="slides/slide163.xml"/><Relationship Id="rId202" Type="http://schemas.openxmlformats.org/officeDocument/2006/relationships/slide" Target="slides/slide164.xml"/><Relationship Id="rId203" Type="http://schemas.openxmlformats.org/officeDocument/2006/relationships/slide" Target="slides/slide165.xml"/><Relationship Id="rId204" Type="http://schemas.openxmlformats.org/officeDocument/2006/relationships/slide" Target="slides/slide166.xml"/><Relationship Id="rId205" Type="http://schemas.openxmlformats.org/officeDocument/2006/relationships/slide" Target="slides/slide167.xml"/><Relationship Id="rId206" Type="http://schemas.openxmlformats.org/officeDocument/2006/relationships/slide" Target="slides/slide168.xml"/><Relationship Id="rId207" Type="http://schemas.openxmlformats.org/officeDocument/2006/relationships/slide" Target="slides/slide169.xml"/><Relationship Id="rId208" Type="http://schemas.openxmlformats.org/officeDocument/2006/relationships/slide" Target="slides/slide170.xml"/><Relationship Id="rId209" Type="http://schemas.openxmlformats.org/officeDocument/2006/relationships/slide" Target="slides/slide171.xml"/><Relationship Id="rId210" Type="http://schemas.openxmlformats.org/officeDocument/2006/relationships/slide" Target="slides/slide172.xml"/><Relationship Id="rId211" Type="http://schemas.openxmlformats.org/officeDocument/2006/relationships/slide" Target="slides/slide173.xml"/><Relationship Id="rId212" Type="http://schemas.openxmlformats.org/officeDocument/2006/relationships/slide" Target="slides/slide174.xml"/><Relationship Id="rId213" Type="http://schemas.openxmlformats.org/officeDocument/2006/relationships/slide" Target="slides/slide175.xml"/><Relationship Id="rId214" Type="http://schemas.openxmlformats.org/officeDocument/2006/relationships/slide" Target="slides/slide176.xml"/><Relationship Id="rId215" Type="http://schemas.openxmlformats.org/officeDocument/2006/relationships/slide" Target="slides/slide177.xml"/><Relationship Id="rId216" Type="http://schemas.openxmlformats.org/officeDocument/2006/relationships/slide" Target="slides/slide178.xml"/><Relationship Id="rId217" Type="http://schemas.openxmlformats.org/officeDocument/2006/relationships/slide" Target="slides/slide179.xml"/><Relationship Id="rId218" Type="http://schemas.openxmlformats.org/officeDocument/2006/relationships/slide" Target="slides/slide180.xml"/><Relationship Id="rId219" Type="http://schemas.openxmlformats.org/officeDocument/2006/relationships/slide" Target="slides/slide181.xml"/><Relationship Id="rId220" Type="http://schemas.openxmlformats.org/officeDocument/2006/relationships/slide" Target="slides/slide182.xml"/><Relationship Id="rId221" Type="http://schemas.openxmlformats.org/officeDocument/2006/relationships/slide" Target="slides/slide183.xml"/><Relationship Id="rId222" Type="http://schemas.openxmlformats.org/officeDocument/2006/relationships/slide" Target="slides/slide184.xml"/><Relationship Id="rId223" Type="http://schemas.openxmlformats.org/officeDocument/2006/relationships/slide" Target="slides/slide185.xml"/><Relationship Id="rId224" Type="http://schemas.openxmlformats.org/officeDocument/2006/relationships/slide" Target="slides/slide198.xml"/><Relationship Id="rId225" Type="http://schemas.openxmlformats.org/officeDocument/2006/relationships/slide" Target="slides/slide199.xml"/><Relationship Id="rId226" Type="http://schemas.openxmlformats.org/officeDocument/2006/relationships/slide" Target="slides/slide200.xml"/><Relationship Id="rId227" Type="http://schemas.openxmlformats.org/officeDocument/2006/relationships/slide" Target="slides/slide201.xml"/><Relationship Id="rId228" Type="http://schemas.openxmlformats.org/officeDocument/2006/relationships/slide" Target="slides/slide202.xml"/><Relationship Id="rId229" Type="http://schemas.openxmlformats.org/officeDocument/2006/relationships/slide" Target="slides/slide203.xml"/><Relationship Id="rId230" Type="http://schemas.openxmlformats.org/officeDocument/2006/relationships/slide" Target="slides/slide204.xml"/><Relationship Id="rId231" Type="http://schemas.openxmlformats.org/officeDocument/2006/relationships/slide" Target="slides/slide205.xml"/><Relationship Id="rId232" Type="http://schemas.openxmlformats.org/officeDocument/2006/relationships/slide" Target="slides/slide206.xml"/><Relationship Id="rId233" Type="http://schemas.openxmlformats.org/officeDocument/2006/relationships/slide" Target="slides/slide207.xml"/><Relationship Id="rId234" Type="http://schemas.openxmlformats.org/officeDocument/2006/relationships/slide" Target="slides/slide208.xml"/><Relationship Id="rId235" Type="http://schemas.openxmlformats.org/officeDocument/2006/relationships/slide" Target="slides/slide209.xml"/><Relationship Id="rId236" Type="http://schemas.openxmlformats.org/officeDocument/2006/relationships/slide" Target="slides/slide210.xml"/><Relationship Id="rId237" Type="http://schemas.openxmlformats.org/officeDocument/2006/relationships/slide" Target="slides/slide211.xml"/><Relationship Id="rId238" Type="http://schemas.openxmlformats.org/officeDocument/2006/relationships/slide" Target="slides/slide186.xml"/><Relationship Id="rId239" Type="http://schemas.openxmlformats.org/officeDocument/2006/relationships/slide" Target="slides/slide187.xml"/><Relationship Id="rId240" Type="http://schemas.openxmlformats.org/officeDocument/2006/relationships/slide" Target="slides/slide188.xml"/><Relationship Id="rId241" Type="http://schemas.openxmlformats.org/officeDocument/2006/relationships/slide" Target="slides/slide189.xml"/><Relationship Id="rId242" Type="http://schemas.openxmlformats.org/officeDocument/2006/relationships/slide" Target="slides/slide190.xml"/><Relationship Id="rId243" Type="http://schemas.openxmlformats.org/officeDocument/2006/relationships/slide" Target="slides/slide191.xml"/><Relationship Id="rId244" Type="http://schemas.openxmlformats.org/officeDocument/2006/relationships/slide" Target="slides/slide192.xml"/><Relationship Id="rId245" Type="http://schemas.openxmlformats.org/officeDocument/2006/relationships/slide" Target="slides/slide193.xml"/><Relationship Id="rId246" Type="http://schemas.openxmlformats.org/officeDocument/2006/relationships/slide" Target="slides/slide194.xml"/><Relationship Id="rId247" Type="http://schemas.openxmlformats.org/officeDocument/2006/relationships/slide" Target="slides/slide195.xml"/><Relationship Id="rId248" Type="http://schemas.openxmlformats.org/officeDocument/2006/relationships/slide" Target="slides/slide196.xml"/><Relationship Id="rId249" Type="http://schemas.openxmlformats.org/officeDocument/2006/relationships/slide" Target="slides/slide197.xml"/><Relationship Id="rId260" Type="http://schemas.openxmlformats.org/officeDocument/2006/relationships/slide" Target="slides/slide11.xml"/><Relationship Id="rId261" Type="http://schemas.openxmlformats.org/officeDocument/2006/relationships/slide" Target="slides/slide12.xml"/><Relationship Id="rId262" Type="http://schemas.openxmlformats.org/officeDocument/2006/relationships/slide" Target="slides/slide13.xml"/><Relationship Id="rId263" Type="http://schemas.openxmlformats.org/officeDocument/2006/relationships/slide" Target="slides/slide14.xml"/><Relationship Id="rId264" Type="http://schemas.openxmlformats.org/officeDocument/2006/relationships/slide" Target="slides/slide15.xml"/><Relationship Id="rId265" Type="http://schemas.openxmlformats.org/officeDocument/2006/relationships/slide" Target="slides/slide16.xml"/><Relationship Id="rId266" Type="http://schemas.openxmlformats.org/officeDocument/2006/relationships/slide" Target="slides/slide10.xml"/><Relationship Id="rId267" Type="http://schemas.openxmlformats.org/officeDocument/2006/relationships/slide" Target="slides/slide18.xml"/><Relationship Id="rId268" Type="http://schemas.openxmlformats.org/officeDocument/2006/relationships/slide" Target="slides/slide19.xml"/><Relationship Id="rId269" Type="http://schemas.openxmlformats.org/officeDocument/2006/relationships/slide" Target="slides/slide20.xml"/><Relationship Id="rId270" Type="http://schemas.openxmlformats.org/officeDocument/2006/relationships/slide" Target="slides/slide21.xml"/><Relationship Id="rId271" Type="http://schemas.openxmlformats.org/officeDocument/2006/relationships/slide" Target="slides/slide22.xml"/><Relationship Id="rId272" Type="http://schemas.openxmlformats.org/officeDocument/2006/relationships/slide" Target="slides/slide23.xml"/><Relationship Id="rId273" Type="http://schemas.openxmlformats.org/officeDocument/2006/relationships/slide" Target="slides/slide24.xml"/><Relationship Id="rId274" Type="http://schemas.openxmlformats.org/officeDocument/2006/relationships/slide" Target="slides/slide25.xml"/><Relationship Id="rId275" Type="http://schemas.openxmlformats.org/officeDocument/2006/relationships/slide" Target="slides/slide17.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charts/_rels/chart11.xml.rels><?xml version='1.0' encoding='UTF-8' standalone='yes'?>
<Relationships xmlns="http://schemas.openxmlformats.org/package/2006/relationships"><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 Id="rId12" Type="http://schemas.openxmlformats.org/officeDocument/2006/relationships/image" Target="../media/image90.png"/></Relationships>
</file>

<file path=ppt/charts/_rels/chart12.xml.rels><?xml version='1.0' encoding='UTF-8' standalone='yes'?>
<Relationships xmlns="http://schemas.openxmlformats.org/package/2006/relationships"><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s>
</file>

<file path=ppt/charts/_rels/chart13.xml.rels><?xml version='1.0' encoding='UTF-8' standalone='yes'?>
<Relationships xmlns="http://schemas.openxmlformats.org/package/2006/relationships"><Relationship Id="rId2" Type="http://schemas.openxmlformats.org/officeDocument/2006/relationships/image" Target="../media/image107.png"/></Relationships>
</file>

<file path=ppt/charts/_rels/chart14.xml.rels><?xml version='1.0' encoding='UTF-8' standalone='yes'?>
<Relationships xmlns="http://schemas.openxmlformats.org/package/2006/relationships"><Relationship Id="rId2" Type="http://schemas.openxmlformats.org/officeDocument/2006/relationships/image" Target="../media/image108.png"/></Relationships>
</file>

<file path=ppt/charts/_rels/chart15.xml.rels><?xml version='1.0' encoding='UTF-8' standalone='yes'?>
<Relationships xmlns="http://schemas.openxmlformats.org/package/2006/relationships"><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image" Target="../media/image130.png"/><Relationship Id="rId10" Type="http://schemas.openxmlformats.org/officeDocument/2006/relationships/image" Target="../media/image131.png"/><Relationship Id="rId11" Type="http://schemas.openxmlformats.org/officeDocument/2006/relationships/image" Target="../media/image132.png"/><Relationship Id="rId12" Type="http://schemas.openxmlformats.org/officeDocument/2006/relationships/image" Target="../media/image133.png"/><Relationship Id="rId13" Type="http://schemas.openxmlformats.org/officeDocument/2006/relationships/image" Target="../media/image134.png"/><Relationship Id="rId14" Type="http://schemas.openxmlformats.org/officeDocument/2006/relationships/image" Target="../media/image135.png"/><Relationship Id="rId15" Type="http://schemas.openxmlformats.org/officeDocument/2006/relationships/image" Target="../media/image136.png"/><Relationship Id="rId16" Type="http://schemas.openxmlformats.org/officeDocument/2006/relationships/image" Target="../media/image137.png"/><Relationship Id="rId17" Type="http://schemas.openxmlformats.org/officeDocument/2006/relationships/image" Target="../media/image138.png"/><Relationship Id="rId18" Type="http://schemas.openxmlformats.org/officeDocument/2006/relationships/image" Target="../media/image139.png"/><Relationship Id="rId19" Type="http://schemas.openxmlformats.org/officeDocument/2006/relationships/image" Target="../media/image140.png"/><Relationship Id="rId20" Type="http://schemas.openxmlformats.org/officeDocument/2006/relationships/image" Target="../media/image141.png"/><Relationship Id="rId21" Type="http://schemas.openxmlformats.org/officeDocument/2006/relationships/image" Target="../media/image142.png"/><Relationship Id="rId22" Type="http://schemas.openxmlformats.org/officeDocument/2006/relationships/image" Target="../media/image143.png"/><Relationship Id="rId23" Type="http://schemas.openxmlformats.org/officeDocument/2006/relationships/image" Target="../media/image144.png"/><Relationship Id="rId24" Type="http://schemas.openxmlformats.org/officeDocument/2006/relationships/image" Target="../media/image145.png"/><Relationship Id="rId25" Type="http://schemas.openxmlformats.org/officeDocument/2006/relationships/image" Target="../media/image146.png"/><Relationship Id="rId26" Type="http://schemas.openxmlformats.org/officeDocument/2006/relationships/image" Target="../media/image147.png"/><Relationship Id="rId27" Type="http://schemas.openxmlformats.org/officeDocument/2006/relationships/image" Target="../media/image148.png"/><Relationship Id="rId28" Type="http://schemas.openxmlformats.org/officeDocument/2006/relationships/image" Target="../media/image149.png"/></Relationships>
</file>

<file path=ppt/charts/_rels/chart22.xml.rels><?xml version='1.0' encoding='UTF-8' standalone='yes'?>
<Relationships xmlns="http://schemas.openxmlformats.org/package/2006/relationships"><Relationship Id="rId2" Type="http://schemas.openxmlformats.org/officeDocument/2006/relationships/image" Target="../media/image150.png"/><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image" Target="../media/image154.png"/><Relationship Id="rId7" Type="http://schemas.openxmlformats.org/officeDocument/2006/relationships/image" Target="../media/image155.png"/><Relationship Id="rId8" Type="http://schemas.openxmlformats.org/officeDocument/2006/relationships/image" Target="../media/image156.png"/><Relationship Id="rId9" Type="http://schemas.openxmlformats.org/officeDocument/2006/relationships/image" Target="../media/image157.png"/><Relationship Id="rId10" Type="http://schemas.openxmlformats.org/officeDocument/2006/relationships/image" Target="../media/image158.png"/><Relationship Id="rId11" Type="http://schemas.openxmlformats.org/officeDocument/2006/relationships/image" Target="../media/image159.png"/><Relationship Id="rId12" Type="http://schemas.openxmlformats.org/officeDocument/2006/relationships/image" Target="../media/image160.png"/><Relationship Id="rId13" Type="http://schemas.openxmlformats.org/officeDocument/2006/relationships/image" Target="../media/image161.png"/><Relationship Id="rId14" Type="http://schemas.openxmlformats.org/officeDocument/2006/relationships/image" Target="../media/image162.png"/><Relationship Id="rId15" Type="http://schemas.openxmlformats.org/officeDocument/2006/relationships/image" Target="../media/image163.png"/></Relationships>
</file>

<file path=ppt/charts/_rels/chart23.xml.rels><?xml version='1.0' encoding='UTF-8' standalone='yes'?>
<Relationships xmlns="http://schemas.openxmlformats.org/package/2006/relationships"><Relationship Id="rId2" Type="http://schemas.openxmlformats.org/officeDocument/2006/relationships/image" Target="../media/image180.png"/><Relationship Id="rId3"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image" Target="../media/image183.png"/><Relationship Id="rId6" Type="http://schemas.openxmlformats.org/officeDocument/2006/relationships/image" Target="../media/image184.png"/><Relationship Id="rId7" Type="http://schemas.openxmlformats.org/officeDocument/2006/relationships/image" Target="../media/image185.png"/><Relationship Id="rId8" Type="http://schemas.openxmlformats.org/officeDocument/2006/relationships/image" Target="../media/image186.png"/><Relationship Id="rId9" Type="http://schemas.openxmlformats.org/officeDocument/2006/relationships/image" Target="../media/image187.png"/><Relationship Id="rId10" Type="http://schemas.openxmlformats.org/officeDocument/2006/relationships/image" Target="../media/image188.png"/><Relationship Id="rId11" Type="http://schemas.openxmlformats.org/officeDocument/2006/relationships/image" Target="../media/image189.png"/><Relationship Id="rId12" Type="http://schemas.openxmlformats.org/officeDocument/2006/relationships/image" Target="../media/image190.png"/><Relationship Id="rId13" Type="http://schemas.openxmlformats.org/officeDocument/2006/relationships/image" Target="../media/image191.png"/><Relationship Id="rId14" Type="http://schemas.openxmlformats.org/officeDocument/2006/relationships/image" Target="../media/image192.png"/><Relationship Id="rId15" Type="http://schemas.openxmlformats.org/officeDocument/2006/relationships/image" Target="../media/image193.png"/><Relationship Id="rId16" Type="http://schemas.openxmlformats.org/officeDocument/2006/relationships/image" Target="../media/image194.png"/><Relationship Id="rId17" Type="http://schemas.openxmlformats.org/officeDocument/2006/relationships/image" Target="../media/image195.png"/><Relationship Id="rId18" Type="http://schemas.openxmlformats.org/officeDocument/2006/relationships/image" Target="../media/image196.png"/><Relationship Id="rId19" Type="http://schemas.openxmlformats.org/officeDocument/2006/relationships/image" Target="../media/image197.png"/><Relationship Id="rId20" Type="http://schemas.openxmlformats.org/officeDocument/2006/relationships/image" Target="../media/image198.png"/><Relationship Id="rId21" Type="http://schemas.openxmlformats.org/officeDocument/2006/relationships/image" Target="../media/image199.png"/><Relationship Id="rId22" Type="http://schemas.openxmlformats.org/officeDocument/2006/relationships/image" Target="../media/image200.png"/><Relationship Id="rId23" Type="http://schemas.openxmlformats.org/officeDocument/2006/relationships/image" Target="../media/image201.png"/><Relationship Id="rId24" Type="http://schemas.openxmlformats.org/officeDocument/2006/relationships/image" Target="../media/image202.png"/><Relationship Id="rId25" Type="http://schemas.openxmlformats.org/officeDocument/2006/relationships/image" Target="../media/image203.png"/><Relationship Id="rId26" Type="http://schemas.openxmlformats.org/officeDocument/2006/relationships/image" Target="../media/image204.png"/><Relationship Id="rId27" Type="http://schemas.openxmlformats.org/officeDocument/2006/relationships/image" Target="../media/image205.png"/><Relationship Id="rId28" Type="http://schemas.openxmlformats.org/officeDocument/2006/relationships/image" Target="../media/image206.png"/><Relationship Id="rId29" Type="http://schemas.openxmlformats.org/officeDocument/2006/relationships/image" Target="../media/image207.png"/><Relationship Id="rId30" Type="http://schemas.openxmlformats.org/officeDocument/2006/relationships/image" Target="../media/image208.png"/><Relationship Id="rId31" Type="http://schemas.openxmlformats.org/officeDocument/2006/relationships/image" Target="../media/image209.png"/><Relationship Id="rId32" Type="http://schemas.openxmlformats.org/officeDocument/2006/relationships/image" Target="../media/image210.png"/><Relationship Id="rId33" Type="http://schemas.openxmlformats.org/officeDocument/2006/relationships/image" Target="../media/image211.png"/><Relationship Id="rId34" Type="http://schemas.openxmlformats.org/officeDocument/2006/relationships/image" Target="../media/image212.png"/></Relationships>
</file>

<file path=ppt/charts/_rels/chart31.xml.rels><?xml version='1.0' encoding='UTF-8' standalone='yes'?>
<Relationships xmlns="http://schemas.openxmlformats.org/package/2006/relationships"><Relationship Id="rId2" Type="http://schemas.openxmlformats.org/officeDocument/2006/relationships/image" Target="../media/image213.png"/><Relationship Id="rId3" Type="http://schemas.openxmlformats.org/officeDocument/2006/relationships/image" Target="../media/image214.png"/><Relationship Id="rId4" Type="http://schemas.openxmlformats.org/officeDocument/2006/relationships/image" Target="../media/image215.png"/><Relationship Id="rId5" Type="http://schemas.openxmlformats.org/officeDocument/2006/relationships/image" Target="../media/image216.png"/><Relationship Id="rId6" Type="http://schemas.openxmlformats.org/officeDocument/2006/relationships/image" Target="../media/image217.png"/><Relationship Id="rId7" Type="http://schemas.openxmlformats.org/officeDocument/2006/relationships/image" Target="../media/image218.png"/><Relationship Id="rId8" Type="http://schemas.openxmlformats.org/officeDocument/2006/relationships/image" Target="../media/image219.png"/><Relationship Id="rId9" Type="http://schemas.openxmlformats.org/officeDocument/2006/relationships/image" Target="../media/image220.png"/><Relationship Id="rId10" Type="http://schemas.openxmlformats.org/officeDocument/2006/relationships/image" Target="../media/image221.png"/><Relationship Id="rId11" Type="http://schemas.openxmlformats.org/officeDocument/2006/relationships/image" Target="../media/image222.png"/><Relationship Id="rId12" Type="http://schemas.openxmlformats.org/officeDocument/2006/relationships/image" Target="../media/image223.png"/><Relationship Id="rId13" Type="http://schemas.openxmlformats.org/officeDocument/2006/relationships/image" Target="../media/image224.png"/><Relationship Id="rId14" Type="http://schemas.openxmlformats.org/officeDocument/2006/relationships/image" Target="../media/image225.png"/><Relationship Id="rId15" Type="http://schemas.openxmlformats.org/officeDocument/2006/relationships/image" Target="../media/image226.png"/><Relationship Id="rId16" Type="http://schemas.openxmlformats.org/officeDocument/2006/relationships/image" Target="../media/image227.png"/><Relationship Id="rId17" Type="http://schemas.openxmlformats.org/officeDocument/2006/relationships/image" Target="../media/image228.png"/><Relationship Id="rId18" Type="http://schemas.openxmlformats.org/officeDocument/2006/relationships/image" Target="../media/image229.png"/><Relationship Id="rId19" Type="http://schemas.openxmlformats.org/officeDocument/2006/relationships/image" Target="../media/image230.png"/></Relationships>
</file>

<file path=ppt/charts/_rels/chart32.xml.rels><?xml version='1.0' encoding='UTF-8' standalone='yes'?>
<Relationships xmlns="http://schemas.openxmlformats.org/package/2006/relationships"><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60.png"/><Relationship Id="rId11" Type="http://schemas.openxmlformats.org/officeDocument/2006/relationships/image" Target="../media/image261.png"/><Relationship Id="rId12" Type="http://schemas.openxmlformats.org/officeDocument/2006/relationships/image" Target="../media/image262.png"/><Relationship Id="rId13" Type="http://schemas.openxmlformats.org/officeDocument/2006/relationships/image" Target="../media/image263.png"/><Relationship Id="rId14" Type="http://schemas.openxmlformats.org/officeDocument/2006/relationships/image" Target="../media/image264.png"/><Relationship Id="rId15" Type="http://schemas.openxmlformats.org/officeDocument/2006/relationships/image" Target="../media/image265.png"/><Relationship Id="rId16" Type="http://schemas.openxmlformats.org/officeDocument/2006/relationships/image" Target="../media/image266.png"/><Relationship Id="rId17" Type="http://schemas.openxmlformats.org/officeDocument/2006/relationships/image" Target="../media/image267.png"/><Relationship Id="rId18" Type="http://schemas.openxmlformats.org/officeDocument/2006/relationships/image" Target="../media/image268.png"/><Relationship Id="rId19" Type="http://schemas.openxmlformats.org/officeDocument/2006/relationships/image" Target="../media/image269.png"/><Relationship Id="rId20" Type="http://schemas.openxmlformats.org/officeDocument/2006/relationships/image" Target="../media/image270.png"/><Relationship Id="rId21" Type="http://schemas.openxmlformats.org/officeDocument/2006/relationships/image" Target="../media/image271.png"/><Relationship Id="rId22" Type="http://schemas.openxmlformats.org/officeDocument/2006/relationships/image" Target="../media/image272.png"/><Relationship Id="rId23" Type="http://schemas.openxmlformats.org/officeDocument/2006/relationships/image" Target="../media/image273.png"/><Relationship Id="rId24" Type="http://schemas.openxmlformats.org/officeDocument/2006/relationships/image" Target="../media/image274.png"/><Relationship Id="rId25" Type="http://schemas.openxmlformats.org/officeDocument/2006/relationships/image" Target="../media/image275.png"/><Relationship Id="rId26" Type="http://schemas.openxmlformats.org/officeDocument/2006/relationships/image" Target="../media/image276.png"/><Relationship Id="rId27" Type="http://schemas.openxmlformats.org/officeDocument/2006/relationships/image" Target="../media/image277.png"/><Relationship Id="rId28" Type="http://schemas.openxmlformats.org/officeDocument/2006/relationships/image" Target="../media/image278.png"/><Relationship Id="rId29" Type="http://schemas.openxmlformats.org/officeDocument/2006/relationships/image" Target="../media/image279.png"/><Relationship Id="rId30" Type="http://schemas.openxmlformats.org/officeDocument/2006/relationships/image" Target="../media/image280.png"/><Relationship Id="rId31" Type="http://schemas.openxmlformats.org/officeDocument/2006/relationships/image" Target="../media/image281.png"/><Relationship Id="rId32" Type="http://schemas.openxmlformats.org/officeDocument/2006/relationships/image" Target="../media/image282.png"/><Relationship Id="rId33" Type="http://schemas.openxmlformats.org/officeDocument/2006/relationships/image" Target="../media/image283.png"/><Relationship Id="rId34" Type="http://schemas.openxmlformats.org/officeDocument/2006/relationships/image" Target="../media/image284.png"/><Relationship Id="rId35" Type="http://schemas.openxmlformats.org/officeDocument/2006/relationships/image" Target="../media/image285.png"/><Relationship Id="rId36" Type="http://schemas.openxmlformats.org/officeDocument/2006/relationships/image" Target="../media/image286.png"/><Relationship Id="rId37" Type="http://schemas.openxmlformats.org/officeDocument/2006/relationships/image" Target="../media/image287.png"/><Relationship Id="rId38" Type="http://schemas.openxmlformats.org/officeDocument/2006/relationships/image" Target="../media/image288.png"/><Relationship Id="rId39" Type="http://schemas.openxmlformats.org/officeDocument/2006/relationships/image" Target="../media/image289.png"/><Relationship Id="rId40" Type="http://schemas.openxmlformats.org/officeDocument/2006/relationships/image" Target="../media/image290.png"/><Relationship Id="rId41" Type="http://schemas.openxmlformats.org/officeDocument/2006/relationships/image" Target="../media/image291.png"/></Relationships>
</file>

<file path=ppt/charts/_rels/chart42.xml.rels><?xml version='1.0' encoding='UTF-8' standalone='yes'?>
<Relationships xmlns="http://schemas.openxmlformats.org/package/2006/relationships"><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300.png"/><Relationship Id="rId11" Type="http://schemas.openxmlformats.org/officeDocument/2006/relationships/image" Target="../media/image301.png"/><Relationship Id="rId12" Type="http://schemas.openxmlformats.org/officeDocument/2006/relationships/image" Target="../media/image302.png"/><Relationship Id="rId13" Type="http://schemas.openxmlformats.org/officeDocument/2006/relationships/image" Target="../media/image303.png"/><Relationship Id="rId14" Type="http://schemas.openxmlformats.org/officeDocument/2006/relationships/image" Target="../media/image304.png"/><Relationship Id="rId15" Type="http://schemas.openxmlformats.org/officeDocument/2006/relationships/image" Target="../media/image305.png"/><Relationship Id="rId16" Type="http://schemas.openxmlformats.org/officeDocument/2006/relationships/image" Target="../media/image306.png"/><Relationship Id="rId17" Type="http://schemas.openxmlformats.org/officeDocument/2006/relationships/image" Target="../media/image307.png"/><Relationship Id="rId18" Type="http://schemas.openxmlformats.org/officeDocument/2006/relationships/image" Target="../media/image308.png"/><Relationship Id="rId19" Type="http://schemas.openxmlformats.org/officeDocument/2006/relationships/image" Target="../media/image309.png"/><Relationship Id="rId20" Type="http://schemas.openxmlformats.org/officeDocument/2006/relationships/image" Target="../media/image310.png"/><Relationship Id="rId21" Type="http://schemas.openxmlformats.org/officeDocument/2006/relationships/image" Target="../media/image311.png"/><Relationship Id="rId22" Type="http://schemas.openxmlformats.org/officeDocument/2006/relationships/image" Target="../media/image312.png"/><Relationship Id="rId23" Type="http://schemas.openxmlformats.org/officeDocument/2006/relationships/image" Target="../media/image313.png"/><Relationship Id="rId24" Type="http://schemas.openxmlformats.org/officeDocument/2006/relationships/image" Target="../media/image314.png"/></Relationships>
</file>

<file path=ppt/charts/_rels/chart45.xml.rels><?xml version='1.0' encoding='UTF-8' standalone='yes'?>
<Relationships xmlns="http://schemas.openxmlformats.org/package/2006/relationships"><Relationship Id="rId2" Type="http://schemas.openxmlformats.org/officeDocument/2006/relationships/image" Target="../media/image315.png"/></Relationships>
</file>

<file path=ppt/charts/_rels/chart47.xml.rels><?xml version='1.0' encoding='UTF-8' standalone='yes'?>
<Relationships xmlns="http://schemas.openxmlformats.org/package/2006/relationships"><Relationship Id="rId2" Type="http://schemas.openxmlformats.org/officeDocument/2006/relationships/image" Target="../media/image316.png"/></Relationships>
</file>

<file path=ppt/charts/_rels/chart49.xml.rels><?xml version='1.0' encoding='UTF-8' standalone='yes'?>
<Relationships xmlns="http://schemas.openxmlformats.org/package/2006/relationships"><Relationship Id="rId2" Type="http://schemas.openxmlformats.org/officeDocument/2006/relationships/image" Target="../media/image317.png"/><Relationship Id="rId3" Type="http://schemas.openxmlformats.org/officeDocument/2006/relationships/image" Target="../media/image318.png"/><Relationship Id="rId4" Type="http://schemas.openxmlformats.org/officeDocument/2006/relationships/image" Target="../media/image319.png"/><Relationship Id="rId5" Type="http://schemas.openxmlformats.org/officeDocument/2006/relationships/image" Target="../media/image320.png"/><Relationship Id="rId6" Type="http://schemas.openxmlformats.org/officeDocument/2006/relationships/image" Target="../media/image321.png"/><Relationship Id="rId7" Type="http://schemas.openxmlformats.org/officeDocument/2006/relationships/image" Target="../media/image322.png"/><Relationship Id="rId8" Type="http://schemas.openxmlformats.org/officeDocument/2006/relationships/image" Target="../media/image323.png"/><Relationship Id="rId9" Type="http://schemas.openxmlformats.org/officeDocument/2006/relationships/image" Target="../media/image324.png"/><Relationship Id="rId10" Type="http://schemas.openxmlformats.org/officeDocument/2006/relationships/image" Target="../media/image325.png"/><Relationship Id="rId11" Type="http://schemas.openxmlformats.org/officeDocument/2006/relationships/image" Target="../media/image326.png"/></Relationships>
</file>

<file path=ppt/charts/_rels/chart50.xml.rels><?xml version='1.0' encoding='UTF-8' standalone='yes'?>
<Relationships xmlns="http://schemas.openxmlformats.org/package/2006/relationships"><Relationship Id="rId2" Type="http://schemas.openxmlformats.org/officeDocument/2006/relationships/image" Target="../media/image327.png"/><Relationship Id="rId3" Type="http://schemas.openxmlformats.org/officeDocument/2006/relationships/image" Target="../media/image328.png"/><Relationship Id="rId4" Type="http://schemas.openxmlformats.org/officeDocument/2006/relationships/image" Target="../media/image329.png"/><Relationship Id="rId5" Type="http://schemas.openxmlformats.org/officeDocument/2006/relationships/image" Target="../media/image330.png"/><Relationship Id="rId6" Type="http://schemas.openxmlformats.org/officeDocument/2006/relationships/image" Target="../media/image331.png"/><Relationship Id="rId7" Type="http://schemas.openxmlformats.org/officeDocument/2006/relationships/image" Target="../media/image332.png"/><Relationship Id="rId8" Type="http://schemas.openxmlformats.org/officeDocument/2006/relationships/image" Target="../media/image333.png"/><Relationship Id="rId9" Type="http://schemas.openxmlformats.org/officeDocument/2006/relationships/image" Target="../media/image334.png"/><Relationship Id="rId10" Type="http://schemas.openxmlformats.org/officeDocument/2006/relationships/image" Target="../media/image335.png"/><Relationship Id="rId11" Type="http://schemas.openxmlformats.org/officeDocument/2006/relationships/image" Target="../media/image336.png"/><Relationship Id="rId12" Type="http://schemas.openxmlformats.org/officeDocument/2006/relationships/image" Target="../media/image337.png"/><Relationship Id="rId13" Type="http://schemas.openxmlformats.org/officeDocument/2006/relationships/image" Target="../media/image338.png"/><Relationship Id="rId14" Type="http://schemas.openxmlformats.org/officeDocument/2006/relationships/image" Target="../media/image339.png"/><Relationship Id="rId15" Type="http://schemas.openxmlformats.org/officeDocument/2006/relationships/image" Target="../media/image340.png"/><Relationship Id="rId16" Type="http://schemas.openxmlformats.org/officeDocument/2006/relationships/image" Target="../media/image341.png"/><Relationship Id="rId17" Type="http://schemas.openxmlformats.org/officeDocument/2006/relationships/image" Target="../media/image342.png"/><Relationship Id="rId18" Type="http://schemas.openxmlformats.org/officeDocument/2006/relationships/image" Target="../media/image343.png"/><Relationship Id="rId19" Type="http://schemas.openxmlformats.org/officeDocument/2006/relationships/image" Target="../media/image344.png"/><Relationship Id="rId20" Type="http://schemas.openxmlformats.org/officeDocument/2006/relationships/image" Target="../media/image345.png"/><Relationship Id="rId21" Type="http://schemas.openxmlformats.org/officeDocument/2006/relationships/image" Target="../media/image346.png"/><Relationship Id="rId22" Type="http://schemas.openxmlformats.org/officeDocument/2006/relationships/image" Target="../media/image347.png"/><Relationship Id="rId23" Type="http://schemas.openxmlformats.org/officeDocument/2006/relationships/image" Target="../media/image348.png"/></Relationships>
</file>

<file path=ppt/charts/_rels/chart51.xml.rels><?xml version='1.0' encoding='UTF-8' standalone='yes'?>
<Relationships xmlns="http://schemas.openxmlformats.org/package/2006/relationships"><Relationship Id="rId2" Type="http://schemas.openxmlformats.org/officeDocument/2006/relationships/image" Target="../media/image349.png"/><Relationship Id="rId3" Type="http://schemas.openxmlformats.org/officeDocument/2006/relationships/image" Target="../media/image350.png"/></Relationships>
</file>

<file path=ppt/charts/_rels/chart52.xml.rels><?xml version='1.0' encoding='UTF-8' standalone='yes'?>
<Relationships xmlns="http://schemas.openxmlformats.org/package/2006/relationships"><Relationship Id="rId2" Type="http://schemas.openxmlformats.org/officeDocument/2006/relationships/image" Target="../media/image351.png"/><Relationship Id="rId3" Type="http://schemas.openxmlformats.org/officeDocument/2006/relationships/image" Target="../media/image352.png"/></Relationships>
</file>

<file path=ppt/charts/_rels/chart53.xml.rels><?xml version='1.0' encoding='UTF-8' standalone='yes'?>
<Relationships xmlns="http://schemas.openxmlformats.org/package/2006/relationships"><Relationship Id="rId2" Type="http://schemas.openxmlformats.org/officeDocument/2006/relationships/image" Target="../media/image353.png"/><Relationship Id="rId3" Type="http://schemas.openxmlformats.org/officeDocument/2006/relationships/image" Target="../media/image354.png"/><Relationship Id="rId4" Type="http://schemas.openxmlformats.org/officeDocument/2006/relationships/image" Target="../media/image355.png"/><Relationship Id="rId5" Type="http://schemas.openxmlformats.org/officeDocument/2006/relationships/image" Target="../media/image356.png"/><Relationship Id="rId6" Type="http://schemas.openxmlformats.org/officeDocument/2006/relationships/image" Target="../media/image357.png"/></Relationships>
</file>

<file path=ppt/charts/_rels/chart55.xml.rels><?xml version='1.0' encoding='UTF-8' standalone='yes'?>
<Relationships xmlns="http://schemas.openxmlformats.org/package/2006/relationships"><Relationship Id="rId2" Type="http://schemas.openxmlformats.org/officeDocument/2006/relationships/image" Target="../media/image358.png"/><Relationship Id="rId3" Type="http://schemas.openxmlformats.org/officeDocument/2006/relationships/image" Target="../media/image359.png"/><Relationship Id="rId4" Type="http://schemas.openxmlformats.org/officeDocument/2006/relationships/image" Target="../media/image360.png"/><Relationship Id="rId5" Type="http://schemas.openxmlformats.org/officeDocument/2006/relationships/image" Target="../media/image361.png"/></Relationships>
</file>

<file path=ppt/charts/_rels/chart56.xml.rels><?xml version='1.0' encoding='UTF-8' standalone='yes'?>
<Relationships xmlns="http://schemas.openxmlformats.org/package/2006/relationships"><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s>
</file>

<file path=ppt/charts/_rels/chart57.xml.rels><?xml version='1.0' encoding='UTF-8' standalone='yes'?>
<Relationships xmlns="http://schemas.openxmlformats.org/package/2006/relationships"><Relationship Id="rId2" Type="http://schemas.openxmlformats.org/officeDocument/2006/relationships/image" Target="../media/image366.png"/><Relationship Id="rId3" Type="http://schemas.openxmlformats.org/officeDocument/2006/relationships/image" Target="../media/image367.png"/><Relationship Id="rId4" Type="http://schemas.openxmlformats.org/officeDocument/2006/relationships/image" Target="../media/image368.png"/><Relationship Id="rId5" Type="http://schemas.openxmlformats.org/officeDocument/2006/relationships/image" Target="../media/image369.png"/><Relationship Id="rId6" Type="http://schemas.openxmlformats.org/officeDocument/2006/relationships/image" Target="../media/image370.png"/><Relationship Id="rId7" Type="http://schemas.openxmlformats.org/officeDocument/2006/relationships/image" Target="../media/image371.png"/><Relationship Id="rId8" Type="http://schemas.openxmlformats.org/officeDocument/2006/relationships/image" Target="../media/image372.png"/><Relationship Id="rId9" Type="http://schemas.openxmlformats.org/officeDocument/2006/relationships/image" Target="../media/image373.png"/><Relationship Id="rId10" Type="http://schemas.openxmlformats.org/officeDocument/2006/relationships/image" Target="../media/image374.png"/><Relationship Id="rId11" Type="http://schemas.openxmlformats.org/officeDocument/2006/relationships/image" Target="../media/image375.png"/><Relationship Id="rId12" Type="http://schemas.openxmlformats.org/officeDocument/2006/relationships/image" Target="../media/image376.png"/><Relationship Id="rId13" Type="http://schemas.openxmlformats.org/officeDocument/2006/relationships/image" Target="../media/image377.png"/><Relationship Id="rId14" Type="http://schemas.openxmlformats.org/officeDocument/2006/relationships/image" Target="../media/image378.png"/><Relationship Id="rId15" Type="http://schemas.openxmlformats.org/officeDocument/2006/relationships/image" Target="../media/image379.png"/><Relationship Id="rId16" Type="http://schemas.openxmlformats.org/officeDocument/2006/relationships/image" Target="../media/image380.png"/><Relationship Id="rId17" Type="http://schemas.openxmlformats.org/officeDocument/2006/relationships/image" Target="../media/image381.png"/><Relationship Id="rId18" Type="http://schemas.openxmlformats.org/officeDocument/2006/relationships/image" Target="../media/image382.png"/><Relationship Id="rId19" Type="http://schemas.openxmlformats.org/officeDocument/2006/relationships/image" Target="../media/image383.png"/><Relationship Id="rId20" Type="http://schemas.openxmlformats.org/officeDocument/2006/relationships/image" Target="../media/image384.png"/><Relationship Id="rId21" Type="http://schemas.openxmlformats.org/officeDocument/2006/relationships/image" Target="../media/image385.png"/><Relationship Id="rId22" Type="http://schemas.openxmlformats.org/officeDocument/2006/relationships/image" Target="../media/image386.png"/><Relationship Id="rId23" Type="http://schemas.openxmlformats.org/officeDocument/2006/relationships/image" Target="../media/image387.png"/><Relationship Id="rId24" Type="http://schemas.openxmlformats.org/officeDocument/2006/relationships/image" Target="../media/image388.png"/><Relationship Id="rId25" Type="http://schemas.openxmlformats.org/officeDocument/2006/relationships/image" Target="../media/image389.png"/><Relationship Id="rId26" Type="http://schemas.openxmlformats.org/officeDocument/2006/relationships/image" Target="../media/image390.png"/><Relationship Id="rId27" Type="http://schemas.openxmlformats.org/officeDocument/2006/relationships/image" Target="../media/image391.png"/><Relationship Id="rId28" Type="http://schemas.openxmlformats.org/officeDocument/2006/relationships/image" Target="../media/image392.png"/><Relationship Id="rId29" Type="http://schemas.openxmlformats.org/officeDocument/2006/relationships/image" Target="../media/image393.png"/><Relationship Id="rId30" Type="http://schemas.openxmlformats.org/officeDocument/2006/relationships/image" Target="../media/image394.png"/><Relationship Id="rId31" Type="http://schemas.openxmlformats.org/officeDocument/2006/relationships/image" Target="../media/image395.png"/><Relationship Id="rId32" Type="http://schemas.openxmlformats.org/officeDocument/2006/relationships/image" Target="../media/image396.png"/><Relationship Id="rId33" Type="http://schemas.openxmlformats.org/officeDocument/2006/relationships/image" Target="../media/image397.png"/></Relationships>
</file>

<file path=ppt/charts/_rels/chart58.xml.rels><?xml version='1.0' encoding='UTF-8' standalone='yes'?>
<Relationships xmlns="http://schemas.openxmlformats.org/package/2006/relationships"><Relationship Id="rId2" Type="http://schemas.openxmlformats.org/officeDocument/2006/relationships/image" Target="../media/image398.png"/><Relationship Id="rId3" Type="http://schemas.openxmlformats.org/officeDocument/2006/relationships/image" Target="../media/image399.png"/><Relationship Id="rId4" Type="http://schemas.openxmlformats.org/officeDocument/2006/relationships/image" Target="../media/image400.png"/><Relationship Id="rId5" Type="http://schemas.openxmlformats.org/officeDocument/2006/relationships/image" Target="../media/image401.png"/><Relationship Id="rId6" Type="http://schemas.openxmlformats.org/officeDocument/2006/relationships/image" Target="../media/image402.png"/><Relationship Id="rId7" Type="http://schemas.openxmlformats.org/officeDocument/2006/relationships/image" Target="../media/image403.png"/><Relationship Id="rId8" Type="http://schemas.openxmlformats.org/officeDocument/2006/relationships/image" Target="../media/image404.png"/><Relationship Id="rId9" Type="http://schemas.openxmlformats.org/officeDocument/2006/relationships/image" Target="../media/image405.png"/><Relationship Id="rId10" Type="http://schemas.openxmlformats.org/officeDocument/2006/relationships/image" Target="../media/image406.png"/><Relationship Id="rId11" Type="http://schemas.openxmlformats.org/officeDocument/2006/relationships/image" Target="../media/image407.png"/><Relationship Id="rId12" Type="http://schemas.openxmlformats.org/officeDocument/2006/relationships/image" Target="../media/image408.png"/><Relationship Id="rId13" Type="http://schemas.openxmlformats.org/officeDocument/2006/relationships/image" Target="../media/image409.png"/><Relationship Id="rId14" Type="http://schemas.openxmlformats.org/officeDocument/2006/relationships/image" Target="../media/image410.png"/><Relationship Id="rId15" Type="http://schemas.openxmlformats.org/officeDocument/2006/relationships/image" Target="../media/image411.png"/><Relationship Id="rId16" Type="http://schemas.openxmlformats.org/officeDocument/2006/relationships/image" Target="../media/image412.png"/><Relationship Id="rId17" Type="http://schemas.openxmlformats.org/officeDocument/2006/relationships/image" Target="../media/image413.png"/><Relationship Id="rId18" Type="http://schemas.openxmlformats.org/officeDocument/2006/relationships/image" Target="../media/image414.png"/><Relationship Id="rId19" Type="http://schemas.openxmlformats.org/officeDocument/2006/relationships/image" Target="../media/image415.png"/><Relationship Id="rId20" Type="http://schemas.openxmlformats.org/officeDocument/2006/relationships/image" Target="../media/image416.png"/><Relationship Id="rId21" Type="http://schemas.openxmlformats.org/officeDocument/2006/relationships/image" Target="../media/image417.png"/><Relationship Id="rId22" Type="http://schemas.openxmlformats.org/officeDocument/2006/relationships/image" Target="../media/image418.png"/><Relationship Id="rId23" Type="http://schemas.openxmlformats.org/officeDocument/2006/relationships/image" Target="../media/image419.png"/><Relationship Id="rId24" Type="http://schemas.openxmlformats.org/officeDocument/2006/relationships/image" Target="../media/image420.png"/><Relationship Id="rId25" Type="http://schemas.openxmlformats.org/officeDocument/2006/relationships/image" Target="../media/image421.png"/><Relationship Id="rId26" Type="http://schemas.openxmlformats.org/officeDocument/2006/relationships/image" Target="../media/image422.png"/><Relationship Id="rId27" Type="http://schemas.openxmlformats.org/officeDocument/2006/relationships/image" Target="../media/image423.png"/><Relationship Id="rId28" Type="http://schemas.openxmlformats.org/officeDocument/2006/relationships/image" Target="../media/image424.png"/><Relationship Id="rId29" Type="http://schemas.openxmlformats.org/officeDocument/2006/relationships/image" Target="../media/image425.png"/><Relationship Id="rId30" Type="http://schemas.openxmlformats.org/officeDocument/2006/relationships/image" Target="../media/image426.png"/><Relationship Id="rId31" Type="http://schemas.openxmlformats.org/officeDocument/2006/relationships/image" Target="../media/image427.png"/><Relationship Id="rId32" Type="http://schemas.openxmlformats.org/officeDocument/2006/relationships/image" Target="../media/image428.png"/><Relationship Id="rId33" Type="http://schemas.openxmlformats.org/officeDocument/2006/relationships/image" Target="../media/image429.png"/></Relationships>
</file>

<file path=ppt/charts/_rels/chart59.xml.rels><?xml version='1.0' encoding='UTF-8' standalone='yes'?>
<Relationships xmlns="http://schemas.openxmlformats.org/package/2006/relationships"><Relationship Id="rId2" Type="http://schemas.openxmlformats.org/officeDocument/2006/relationships/image" Target="../media/image439.png"/><Relationship Id="rId3" Type="http://schemas.openxmlformats.org/officeDocument/2006/relationships/image" Target="../media/image440.png"/><Relationship Id="rId4" Type="http://schemas.openxmlformats.org/officeDocument/2006/relationships/image" Target="../media/image441.png"/><Relationship Id="rId5" Type="http://schemas.openxmlformats.org/officeDocument/2006/relationships/image" Target="../media/image442.png"/><Relationship Id="rId6" Type="http://schemas.openxmlformats.org/officeDocument/2006/relationships/image" Target="../media/image443.png"/><Relationship Id="rId7" Type="http://schemas.openxmlformats.org/officeDocument/2006/relationships/image" Target="../media/image444.png"/><Relationship Id="rId8" Type="http://schemas.openxmlformats.org/officeDocument/2006/relationships/image" Target="../media/image445.png"/><Relationship Id="rId9" Type="http://schemas.openxmlformats.org/officeDocument/2006/relationships/image" Target="../media/image446.png"/><Relationship Id="rId10" Type="http://schemas.openxmlformats.org/officeDocument/2006/relationships/image" Target="../media/image447.png"/><Relationship Id="rId11" Type="http://schemas.openxmlformats.org/officeDocument/2006/relationships/image" Target="../media/image448.png"/></Relationships>
</file>

<file path=ppt/charts/_rels/chart66.xml.rels><?xml version='1.0' encoding='UTF-8' standalone='yes'?>
<Relationships xmlns="http://schemas.openxmlformats.org/package/2006/relationships"><Relationship Id="rId2" Type="http://schemas.openxmlformats.org/officeDocument/2006/relationships/image" Target="../media/image449.png"/><Relationship Id="rId3" Type="http://schemas.openxmlformats.org/officeDocument/2006/relationships/image" Target="../media/image450.png"/><Relationship Id="rId4" Type="http://schemas.openxmlformats.org/officeDocument/2006/relationships/image" Target="../media/image451.png"/><Relationship Id="rId5" Type="http://schemas.openxmlformats.org/officeDocument/2006/relationships/image" Target="../media/image452.png"/><Relationship Id="rId6" Type="http://schemas.openxmlformats.org/officeDocument/2006/relationships/image" Target="../media/image453.png"/><Relationship Id="rId7" Type="http://schemas.openxmlformats.org/officeDocument/2006/relationships/image" Target="../media/image454.png"/><Relationship Id="rId8" Type="http://schemas.openxmlformats.org/officeDocument/2006/relationships/image" Target="../media/image455.png"/><Relationship Id="rId9" Type="http://schemas.openxmlformats.org/officeDocument/2006/relationships/image" Target="../media/image456.png"/><Relationship Id="rId10" Type="http://schemas.openxmlformats.org/officeDocument/2006/relationships/image" Target="../media/image457.png"/><Relationship Id="rId11" Type="http://schemas.openxmlformats.org/officeDocument/2006/relationships/image" Target="../media/image458.png"/><Relationship Id="rId12" Type="http://schemas.openxmlformats.org/officeDocument/2006/relationships/image" Target="../media/image459.png"/><Relationship Id="rId13" Type="http://schemas.openxmlformats.org/officeDocument/2006/relationships/image" Target="../media/image460.png"/><Relationship Id="rId14" Type="http://schemas.openxmlformats.org/officeDocument/2006/relationships/image" Target="../media/image461.png"/><Relationship Id="rId15" Type="http://schemas.openxmlformats.org/officeDocument/2006/relationships/image" Target="../media/image462.png"/></Relationships>
</file>

<file path=ppt/charts/_rels/chart67.xml.rels><?xml version='1.0' encoding='UTF-8' standalone='yes'?>
<Relationships xmlns="http://schemas.openxmlformats.org/package/2006/relationships"><Relationship Id="rId2" Type="http://schemas.openxmlformats.org/officeDocument/2006/relationships/image" Target="../media/image479.png"/><Relationship Id="rId3" Type="http://schemas.openxmlformats.org/officeDocument/2006/relationships/image" Target="../media/image480.png"/><Relationship Id="rId4" Type="http://schemas.openxmlformats.org/officeDocument/2006/relationships/image" Target="../media/image481.png"/><Relationship Id="rId5" Type="http://schemas.openxmlformats.org/officeDocument/2006/relationships/image" Target="../media/image482.png"/><Relationship Id="rId6" Type="http://schemas.openxmlformats.org/officeDocument/2006/relationships/image" Target="../media/image483.png"/><Relationship Id="rId7" Type="http://schemas.openxmlformats.org/officeDocument/2006/relationships/image" Target="../media/image484.png"/><Relationship Id="rId8" Type="http://schemas.openxmlformats.org/officeDocument/2006/relationships/image" Target="../media/image485.png"/><Relationship Id="rId9" Type="http://schemas.openxmlformats.org/officeDocument/2006/relationships/image" Target="../media/image486.png"/><Relationship Id="rId10" Type="http://schemas.openxmlformats.org/officeDocument/2006/relationships/image" Target="../media/image487.png"/><Relationship Id="rId11" Type="http://schemas.openxmlformats.org/officeDocument/2006/relationships/image" Target="../media/image488.png"/><Relationship Id="rId12" Type="http://schemas.openxmlformats.org/officeDocument/2006/relationships/image" Target="../media/image489.png"/><Relationship Id="rId13" Type="http://schemas.openxmlformats.org/officeDocument/2006/relationships/image" Target="../media/image490.png"/></Relationships>
</file>

<file path=ppt/charts/_rels/chart75.xml.rels><?xml version='1.0' encoding='UTF-8' standalone='yes'?>
<Relationships xmlns="http://schemas.openxmlformats.org/package/2006/relationships"><Relationship Id="rId2" Type="http://schemas.openxmlformats.org/officeDocument/2006/relationships/image" Target="../media/image491.png"/><Relationship Id="rId3" Type="http://schemas.openxmlformats.org/officeDocument/2006/relationships/image" Target="../media/image492.png"/><Relationship Id="rId4" Type="http://schemas.openxmlformats.org/officeDocument/2006/relationships/image" Target="../media/image493.png"/><Relationship Id="rId5" Type="http://schemas.openxmlformats.org/officeDocument/2006/relationships/image" Target="../media/image494.png"/><Relationship Id="rId6" Type="http://schemas.openxmlformats.org/officeDocument/2006/relationships/image" Target="../media/image495.png"/><Relationship Id="rId7" Type="http://schemas.openxmlformats.org/officeDocument/2006/relationships/image" Target="../media/image496.png"/><Relationship Id="rId8" Type="http://schemas.openxmlformats.org/officeDocument/2006/relationships/image" Target="../media/image497.png"/><Relationship Id="rId9" Type="http://schemas.openxmlformats.org/officeDocument/2006/relationships/image" Target="../media/image498.png"/><Relationship Id="rId10" Type="http://schemas.openxmlformats.org/officeDocument/2006/relationships/image" Target="../media/image499.png"/><Relationship Id="rId11" Type="http://schemas.openxmlformats.org/officeDocument/2006/relationships/image" Target="../media/image500.png"/><Relationship Id="rId12" Type="http://schemas.openxmlformats.org/officeDocument/2006/relationships/image" Target="../media/image501.png"/><Relationship Id="rId13" Type="http://schemas.openxmlformats.org/officeDocument/2006/relationships/image" Target="../media/image502.png"/><Relationship Id="rId14" Type="http://schemas.openxmlformats.org/officeDocument/2006/relationships/image" Target="../media/image503.png"/><Relationship Id="rId15" Type="http://schemas.openxmlformats.org/officeDocument/2006/relationships/image" Target="../media/image504.png"/><Relationship Id="rId16" Type="http://schemas.openxmlformats.org/officeDocument/2006/relationships/image" Target="../media/image505.png"/><Relationship Id="rId17" Type="http://schemas.openxmlformats.org/officeDocument/2006/relationships/image" Target="../media/image506.png"/><Relationship Id="rId18" Type="http://schemas.openxmlformats.org/officeDocument/2006/relationships/image" Target="../media/image507.png"/><Relationship Id="rId19" Type="http://schemas.openxmlformats.org/officeDocument/2006/relationships/image" Target="../media/image508.png"/></Relationships>
</file>

<file path=ppt/charts/_rels/chart76.xml.rels><?xml version='1.0' encoding='UTF-8' standalone='yes'?>
<Relationships xmlns="http://schemas.openxmlformats.org/package/2006/relationships"><Relationship Id="rId2" Type="http://schemas.openxmlformats.org/officeDocument/2006/relationships/image" Target="../media/image527.png"/><Relationship Id="rId3" Type="http://schemas.openxmlformats.org/officeDocument/2006/relationships/image" Target="../media/image528.png"/><Relationship Id="rId4" Type="http://schemas.openxmlformats.org/officeDocument/2006/relationships/image" Target="../media/image529.png"/><Relationship Id="rId5" Type="http://schemas.openxmlformats.org/officeDocument/2006/relationships/image" Target="../media/image530.png"/><Relationship Id="rId6" Type="http://schemas.openxmlformats.org/officeDocument/2006/relationships/image" Target="../media/image531.png"/><Relationship Id="rId7" Type="http://schemas.openxmlformats.org/officeDocument/2006/relationships/image" Target="../media/image532.png"/><Relationship Id="rId8" Type="http://schemas.openxmlformats.org/officeDocument/2006/relationships/image" Target="../media/image533.png"/><Relationship Id="rId9" Type="http://schemas.openxmlformats.org/officeDocument/2006/relationships/image" Target="../media/image534.png"/><Relationship Id="rId10" Type="http://schemas.openxmlformats.org/officeDocument/2006/relationships/image" Target="../media/image535.png"/><Relationship Id="rId11" Type="http://schemas.openxmlformats.org/officeDocument/2006/relationships/image" Target="../media/image536.png"/><Relationship Id="rId12" Type="http://schemas.openxmlformats.org/officeDocument/2006/relationships/image" Target="../media/image537.png"/><Relationship Id="rId13" Type="http://schemas.openxmlformats.org/officeDocument/2006/relationships/image" Target="../media/image538.png"/><Relationship Id="rId14" Type="http://schemas.openxmlformats.org/officeDocument/2006/relationships/image" Target="../media/image539.png"/><Relationship Id="rId15" Type="http://schemas.openxmlformats.org/officeDocument/2006/relationships/image" Target="../media/image540.png"/><Relationship Id="rId16" Type="http://schemas.openxmlformats.org/officeDocument/2006/relationships/image" Target="../media/image541.png"/></Relationships>
</file>

<file path=ppt/charts/_rels/chart86.xml.rels><?xml version='1.0' encoding='UTF-8' standalone='yes'?>
<Relationships xmlns="http://schemas.openxmlformats.org/package/2006/relationships"><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50.png"/><Relationship Id="rId11" Type="http://schemas.openxmlformats.org/officeDocument/2006/relationships/image" Target="../media/image551.png"/><Relationship Id="rId12" Type="http://schemas.openxmlformats.org/officeDocument/2006/relationships/image" Target="../media/image552.png"/><Relationship Id="rId13" Type="http://schemas.openxmlformats.org/officeDocument/2006/relationships/image" Target="../media/image553.png"/><Relationship Id="rId14" Type="http://schemas.openxmlformats.org/officeDocument/2006/relationships/image" Target="../media/image554.png"/><Relationship Id="rId15" Type="http://schemas.openxmlformats.org/officeDocument/2006/relationships/image" Target="../media/image555.png"/><Relationship Id="rId16" Type="http://schemas.openxmlformats.org/officeDocument/2006/relationships/image" Target="../media/image556.png"/><Relationship Id="rId17" Type="http://schemas.openxmlformats.org/officeDocument/2006/relationships/image" Target="../media/image557.png"/><Relationship Id="rId18" Type="http://schemas.openxmlformats.org/officeDocument/2006/relationships/image" Target="../media/image558.png"/><Relationship Id="rId19" Type="http://schemas.openxmlformats.org/officeDocument/2006/relationships/image" Target="../media/image559.png"/><Relationship Id="rId20" Type="http://schemas.openxmlformats.org/officeDocument/2006/relationships/image" Target="../media/image560.png"/><Relationship Id="rId21" Type="http://schemas.openxmlformats.org/officeDocument/2006/relationships/image" Target="../media/image561.png"/><Relationship Id="rId22" Type="http://schemas.openxmlformats.org/officeDocument/2006/relationships/image" Target="../media/image562.png"/><Relationship Id="rId23" Type="http://schemas.openxmlformats.org/officeDocument/2006/relationships/image" Target="../media/image563.png"/><Relationship Id="rId24" Type="http://schemas.openxmlformats.org/officeDocument/2006/relationships/image" Target="../media/image564.png"/></Relationships>
</file>

<file path=ppt/charts/_rels/chart110.xml.rels><?xml version='1.0' encoding='UTF-8' standalone='yes'?>
<Relationships xmlns="http://schemas.openxmlformats.org/package/2006/relationships"><Relationship Id="rId2" Type="http://schemas.openxmlformats.org/officeDocument/2006/relationships/image" Target="../media/image565.png"/><Relationship Id="rId3" Type="http://schemas.openxmlformats.org/officeDocument/2006/relationships/image" Target="../media/image566.png"/><Relationship Id="rId4" Type="http://schemas.openxmlformats.org/officeDocument/2006/relationships/image" Target="../media/image567.png"/><Relationship Id="rId5" Type="http://schemas.openxmlformats.org/officeDocument/2006/relationships/image" Target="../media/image568.png"/><Relationship Id="rId6" Type="http://schemas.openxmlformats.org/officeDocument/2006/relationships/image" Target="../media/image569.png"/><Relationship Id="rId7" Type="http://schemas.openxmlformats.org/officeDocument/2006/relationships/image" Target="../media/image570.png"/><Relationship Id="rId8" Type="http://schemas.openxmlformats.org/officeDocument/2006/relationships/image" Target="../media/image571.png"/><Relationship Id="rId9" Type="http://schemas.openxmlformats.org/officeDocument/2006/relationships/image" Target="../media/image572.png"/><Relationship Id="rId10" Type="http://schemas.openxmlformats.org/officeDocument/2006/relationships/image" Target="../media/image573.png"/><Relationship Id="rId11" Type="http://schemas.openxmlformats.org/officeDocument/2006/relationships/image" Target="../media/image574.png"/></Relationships>
</file>

<file path=ppt/charts/_rels/chart111.xml.rels><?xml version='1.0' encoding='UTF-8' standalone='yes'?>
<Relationships xmlns="http://schemas.openxmlformats.org/package/2006/relationships"><Relationship Id="rId2" Type="http://schemas.openxmlformats.org/officeDocument/2006/relationships/image" Target="../media/image575.png"/><Relationship Id="rId3" Type="http://schemas.openxmlformats.org/officeDocument/2006/relationships/image" Target="../media/image576.png"/><Relationship Id="rId4" Type="http://schemas.openxmlformats.org/officeDocument/2006/relationships/image" Target="../media/image577.png"/><Relationship Id="rId5" Type="http://schemas.openxmlformats.org/officeDocument/2006/relationships/image" Target="../media/image578.png"/><Relationship Id="rId6" Type="http://schemas.openxmlformats.org/officeDocument/2006/relationships/image" Target="../media/image579.png"/><Relationship Id="rId7" Type="http://schemas.openxmlformats.org/officeDocument/2006/relationships/image" Target="../media/image580.png"/><Relationship Id="rId8" Type="http://schemas.openxmlformats.org/officeDocument/2006/relationships/image" Target="../media/image581.png"/><Relationship Id="rId9" Type="http://schemas.openxmlformats.org/officeDocument/2006/relationships/image" Target="../media/image582.png"/><Relationship Id="rId10" Type="http://schemas.openxmlformats.org/officeDocument/2006/relationships/image" Target="../media/image583.png"/><Relationship Id="rId11" Type="http://schemas.openxmlformats.org/officeDocument/2006/relationships/image" Target="../media/image584.png"/><Relationship Id="rId12" Type="http://schemas.openxmlformats.org/officeDocument/2006/relationships/image" Target="../media/image585.png"/></Relationships>
</file>

<file path=ppt/charts/_rels/chart112.xml.rels><?xml version='1.0' encoding='UTF-8' standalone='yes'?>
<Relationships xmlns="http://schemas.openxmlformats.org/package/2006/relationships"><Relationship Id="rId2" Type="http://schemas.openxmlformats.org/officeDocument/2006/relationships/image" Target="../media/image586.png"/><Relationship Id="rId3" Type="http://schemas.openxmlformats.org/officeDocument/2006/relationships/image" Target="../media/image587.png"/><Relationship Id="rId4" Type="http://schemas.openxmlformats.org/officeDocument/2006/relationships/image" Target="../media/image588.png"/><Relationship Id="rId5" Type="http://schemas.openxmlformats.org/officeDocument/2006/relationships/image" Target="../media/image589.png"/><Relationship Id="rId6" Type="http://schemas.openxmlformats.org/officeDocument/2006/relationships/image" Target="../media/image590.png"/><Relationship Id="rId7" Type="http://schemas.openxmlformats.org/officeDocument/2006/relationships/image" Target="../media/image591.png"/><Relationship Id="rId8" Type="http://schemas.openxmlformats.org/officeDocument/2006/relationships/image" Target="../media/image592.png"/><Relationship Id="rId9" Type="http://schemas.openxmlformats.org/officeDocument/2006/relationships/image" Target="../media/image593.png"/><Relationship Id="rId10" Type="http://schemas.openxmlformats.org/officeDocument/2006/relationships/image" Target="../media/image594.png"/><Relationship Id="rId11" Type="http://schemas.openxmlformats.org/officeDocument/2006/relationships/image" Target="../media/image595.png"/></Relationships>
</file>

<file path=ppt/charts/_rels/chart113.xml.rels><?xml version='1.0' encoding='UTF-8' standalone='yes'?>
<Relationships xmlns="http://schemas.openxmlformats.org/package/2006/relationships"><Relationship Id="rId2" Type="http://schemas.openxmlformats.org/officeDocument/2006/relationships/image" Target="../media/image596.png"/><Relationship Id="rId3" Type="http://schemas.openxmlformats.org/officeDocument/2006/relationships/image" Target="../media/image597.png"/><Relationship Id="rId4" Type="http://schemas.openxmlformats.org/officeDocument/2006/relationships/image" Target="../media/image598.png"/><Relationship Id="rId5" Type="http://schemas.openxmlformats.org/officeDocument/2006/relationships/image" Target="../media/image599.png"/><Relationship Id="rId6" Type="http://schemas.openxmlformats.org/officeDocument/2006/relationships/image" Target="../media/image600.png"/><Relationship Id="rId7" Type="http://schemas.openxmlformats.org/officeDocument/2006/relationships/image" Target="../media/image601.png"/><Relationship Id="rId8" Type="http://schemas.openxmlformats.org/officeDocument/2006/relationships/image" Target="../media/image602.png"/><Relationship Id="rId9" Type="http://schemas.openxmlformats.org/officeDocument/2006/relationships/image" Target="../media/image603.png"/><Relationship Id="rId10" Type="http://schemas.openxmlformats.org/officeDocument/2006/relationships/image" Target="../media/image604.png"/><Relationship Id="rId11" Type="http://schemas.openxmlformats.org/officeDocument/2006/relationships/image" Target="../media/image605.png"/><Relationship Id="rId12" Type="http://schemas.openxmlformats.org/officeDocument/2006/relationships/image" Target="../media/image606.png"/></Relationships>
</file>

<file path=ppt/charts/_rels/chart114.xml.rels><?xml version='1.0' encoding='UTF-8' standalone='yes'?>
<Relationships xmlns="http://schemas.openxmlformats.org/package/2006/relationships"><Relationship Id="rId2" Type="http://schemas.openxmlformats.org/officeDocument/2006/relationships/image" Target="../media/image607.png"/><Relationship Id="rId3" Type="http://schemas.openxmlformats.org/officeDocument/2006/relationships/image" Target="../media/image608.png"/><Relationship Id="rId4" Type="http://schemas.openxmlformats.org/officeDocument/2006/relationships/image" Target="../media/image609.png"/><Relationship Id="rId5" Type="http://schemas.openxmlformats.org/officeDocument/2006/relationships/image" Target="../media/image610.png"/><Relationship Id="rId6" Type="http://schemas.openxmlformats.org/officeDocument/2006/relationships/image" Target="../media/image611.png"/><Relationship Id="rId7" Type="http://schemas.openxmlformats.org/officeDocument/2006/relationships/image" Target="../media/image612.png"/><Relationship Id="rId8" Type="http://schemas.openxmlformats.org/officeDocument/2006/relationships/image" Target="../media/image613.png"/><Relationship Id="rId9" Type="http://schemas.openxmlformats.org/officeDocument/2006/relationships/image" Target="../media/image614.png"/><Relationship Id="rId10" Type="http://schemas.openxmlformats.org/officeDocument/2006/relationships/image" Target="../media/image615.png"/><Relationship Id="rId11" Type="http://schemas.openxmlformats.org/officeDocument/2006/relationships/image" Target="../media/image616.png"/></Relationships>
</file>

<file path=ppt/charts/_rels/chart115.xml.rels><?xml version='1.0' encoding='UTF-8' standalone='yes'?>
<Relationships xmlns="http://schemas.openxmlformats.org/package/2006/relationships"><Relationship Id="rId2" Type="http://schemas.openxmlformats.org/officeDocument/2006/relationships/image" Target="../media/image617.png"/><Relationship Id="rId3" Type="http://schemas.openxmlformats.org/officeDocument/2006/relationships/image" Target="../media/image618.png"/><Relationship Id="rId4" Type="http://schemas.openxmlformats.org/officeDocument/2006/relationships/image" Target="../media/image619.png"/><Relationship Id="rId5" Type="http://schemas.openxmlformats.org/officeDocument/2006/relationships/image" Target="../media/image620.png"/><Relationship Id="rId6" Type="http://schemas.openxmlformats.org/officeDocument/2006/relationships/image" Target="../media/image621.png"/><Relationship Id="rId7" Type="http://schemas.openxmlformats.org/officeDocument/2006/relationships/image" Target="../media/image622.png"/><Relationship Id="rId8" Type="http://schemas.openxmlformats.org/officeDocument/2006/relationships/image" Target="../media/image623.png"/><Relationship Id="rId9" Type="http://schemas.openxmlformats.org/officeDocument/2006/relationships/image" Target="../media/image624.png"/><Relationship Id="rId10" Type="http://schemas.openxmlformats.org/officeDocument/2006/relationships/image" Target="../media/image625.png"/></Relationships>
</file>

<file path=ppt/charts/_rels/chart116.xml.rels><?xml version='1.0' encoding='UTF-8' standalone='yes'?>
<Relationships xmlns="http://schemas.openxmlformats.org/package/2006/relationships"><Relationship Id="rId2" Type="http://schemas.openxmlformats.org/officeDocument/2006/relationships/image" Target="../media/image626.png"/><Relationship Id="rId3" Type="http://schemas.openxmlformats.org/officeDocument/2006/relationships/image" Target="../media/image627.png"/><Relationship Id="rId4" Type="http://schemas.openxmlformats.org/officeDocument/2006/relationships/image" Target="../media/image628.png"/><Relationship Id="rId5" Type="http://schemas.openxmlformats.org/officeDocument/2006/relationships/image" Target="../media/image629.png"/><Relationship Id="rId6" Type="http://schemas.openxmlformats.org/officeDocument/2006/relationships/image" Target="../media/image630.png"/><Relationship Id="rId7" Type="http://schemas.openxmlformats.org/officeDocument/2006/relationships/image" Target="../media/image631.png"/><Relationship Id="rId8" Type="http://schemas.openxmlformats.org/officeDocument/2006/relationships/image" Target="../media/image632.png"/><Relationship Id="rId9" Type="http://schemas.openxmlformats.org/officeDocument/2006/relationships/image" Target="../media/image633.png"/><Relationship Id="rId10" Type="http://schemas.openxmlformats.org/officeDocument/2006/relationships/image" Target="../media/image634.png"/><Relationship Id="rId11" Type="http://schemas.openxmlformats.org/officeDocument/2006/relationships/image" Target="../media/image635.png"/><Relationship Id="rId12" Type="http://schemas.openxmlformats.org/officeDocument/2006/relationships/image" Target="../media/image636.png"/></Relationships>
</file>

<file path=ppt/charts/_rels/chart117.xml.rels><?xml version='1.0' encoding='UTF-8' standalone='yes'?>
<Relationships xmlns="http://schemas.openxmlformats.org/package/2006/relationships"><Relationship Id="rId2" Type="http://schemas.openxmlformats.org/officeDocument/2006/relationships/image" Target="../media/image637.png"/><Relationship Id="rId3" Type="http://schemas.openxmlformats.org/officeDocument/2006/relationships/image" Target="../media/image638.png"/><Relationship Id="rId4" Type="http://schemas.openxmlformats.org/officeDocument/2006/relationships/image" Target="../media/image639.png"/><Relationship Id="rId5" Type="http://schemas.openxmlformats.org/officeDocument/2006/relationships/image" Target="../media/image640.png"/></Relationships>
</file>

<file path=ppt/charts/_rels/chart118.xml.rels><?xml version='1.0' encoding='UTF-8' standalone='yes'?>
<Relationships xmlns="http://schemas.openxmlformats.org/package/2006/relationships"><Relationship Id="rId2" Type="http://schemas.openxmlformats.org/officeDocument/2006/relationships/image" Target="../media/image641.png"/><Relationship Id="rId3" Type="http://schemas.openxmlformats.org/officeDocument/2006/relationships/image" Target="../media/image642.png"/><Relationship Id="rId4" Type="http://schemas.openxmlformats.org/officeDocument/2006/relationships/image" Target="../media/image643.png"/><Relationship Id="rId5" Type="http://schemas.openxmlformats.org/officeDocument/2006/relationships/image" Target="../media/image644.png"/><Relationship Id="rId6" Type="http://schemas.openxmlformats.org/officeDocument/2006/relationships/image" Target="../media/image645.png"/></Relationships>
</file>

<file path=ppt/charts/_rels/chart119.xml.rels><?xml version='1.0' encoding='UTF-8' standalone='yes'?>
<Relationships xmlns="http://schemas.openxmlformats.org/package/2006/relationships"><Relationship Id="rId2" Type="http://schemas.openxmlformats.org/officeDocument/2006/relationships/image" Target="../media/image646.png"/><Relationship Id="rId3" Type="http://schemas.openxmlformats.org/officeDocument/2006/relationships/image" Target="../media/image647.png"/><Relationship Id="rId4" Type="http://schemas.openxmlformats.org/officeDocument/2006/relationships/image" Target="../media/image648.png"/><Relationship Id="rId5" Type="http://schemas.openxmlformats.org/officeDocument/2006/relationships/image" Target="../media/image649.png"/></Relationships>
</file>

<file path=ppt/charts/_rels/chart120.xml.rels><?xml version='1.0' encoding='UTF-8' standalone='yes'?>
<Relationships xmlns="http://schemas.openxmlformats.org/package/2006/relationships"><Relationship Id="rId2" Type="http://schemas.openxmlformats.org/officeDocument/2006/relationships/image" Target="../media/image650.png"/><Relationship Id="rId3" Type="http://schemas.openxmlformats.org/officeDocument/2006/relationships/image" Target="../media/image651.png"/><Relationship Id="rId4" Type="http://schemas.openxmlformats.org/officeDocument/2006/relationships/image" Target="../media/image652.png"/><Relationship Id="rId5" Type="http://schemas.openxmlformats.org/officeDocument/2006/relationships/image" Target="../media/image653.png"/><Relationship Id="rId6" Type="http://schemas.openxmlformats.org/officeDocument/2006/relationships/image" Target="../media/image654.png"/><Relationship Id="rId7" Type="http://schemas.openxmlformats.org/officeDocument/2006/relationships/image" Target="../media/image655.png"/><Relationship Id="rId8" Type="http://schemas.openxmlformats.org/officeDocument/2006/relationships/image" Target="../media/image656.png"/><Relationship Id="rId9" Type="http://schemas.openxmlformats.org/officeDocument/2006/relationships/image" Target="../media/image657.png"/><Relationship Id="rId10" Type="http://schemas.openxmlformats.org/officeDocument/2006/relationships/image" Target="../media/image658.png"/><Relationship Id="rId11" Type="http://schemas.openxmlformats.org/officeDocument/2006/relationships/image" Target="../media/image659.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3.4408508064836862</c:v>
                </c:pt>
                <c:pt idx="1">
                  <c:v>4.366924271039463</c:v>
                </c:pt>
                <c:pt idx="2">
                  <c:v>4.057315557606023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764340037772091"/>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2244823.6100000003</c:v>
                </c:pt>
                <c:pt idx="2">
                  <c:v>0.0</c:v>
                </c:pt>
                <c:pt idx="3">
                  <c:v>2658536.586</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2244823.6100000003</c:v>
                </c:pt>
                <c:pt idx="1">
                  <c:v>413712.9759999998</c:v>
                </c:pt>
                <c:pt idx="2">
                  <c:v>2658536.586</c:v>
                </c:pt>
                <c:pt idx="3">
                  <c:v>1417813.6380000003</c:v>
                </c:pt>
                <c:pt idx="4">
                  <c:v>4076350.2240000004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4.076823824593401</c:v>
                </c:pt>
                <c:pt idx="1">
                  <c:v>4.954799714469593</c:v>
                </c:pt>
                <c:pt idx="2">
                  <c:v>4.661321213948666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40335623099863"/>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8925.989000000001</c:v>
                </c:pt>
                <c:pt idx="2">
                  <c:v>0.0</c:v>
                </c:pt>
                <c:pt idx="3">
                  <c:v>10900.0</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8925.989000000001</c:v>
                </c:pt>
                <c:pt idx="1">
                  <c:v>1974.0109999999986</c:v>
                </c:pt>
                <c:pt idx="2">
                  <c:v>10900.0</c:v>
                </c:pt>
                <c:pt idx="3">
                  <c:v>6778.6680000000015</c:v>
                </c:pt>
                <c:pt idx="4">
                  <c:v>17678.668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8925.989000000001</c:v>
                </c:pt>
                <c:pt idx="1">
                  <c:v>9288.061</c:v>
                </c:pt>
                <c:pt idx="2">
                  <c:v>9665.764</c:v>
                </c:pt>
                <c:pt idx="3">
                  <c:v>10059.814999999999</c:v>
                </c:pt>
                <c:pt idx="4">
                  <c:v>10470.963</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2244823.6100000003</c:v>
                </c:pt>
                <c:pt idx="1">
                  <c:v>2321277.562</c:v>
                </c:pt>
                <c:pt idx="2">
                  <c:v>2400741.8800000004</c:v>
                </c:pt>
                <c:pt idx="3">
                  <c:v>2483347.455</c:v>
                </c:pt>
                <c:pt idx="4">
                  <c:v>2569231.238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1235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531115"/>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10900.0</c:v>
                </c:pt>
                <c:pt idx="1">
                  <c:v>11434.946</c:v>
                </c:pt>
                <c:pt idx="2">
                  <c:v>11997.321</c:v>
                </c:pt>
                <c:pt idx="3">
                  <c:v>12588.603000000003</c:v>
                </c:pt>
                <c:pt idx="4">
                  <c:v>13210.339</c:v>
                </c:pt>
                <c:pt idx="5">
                  <c:v>13864.172999999999</c:v>
                </c:pt>
                <c:pt idx="6">
                  <c:v>14551.818</c:v>
                </c:pt>
                <c:pt idx="7">
                  <c:v>15275.111</c:v>
                </c:pt>
                <c:pt idx="8">
                  <c:v>16035.971</c:v>
                </c:pt>
                <c:pt idx="9">
                  <c:v>16836.444</c:v>
                </c:pt>
                <c:pt idx="10">
                  <c:v>17678.668</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2658536.586</c:v>
                </c:pt>
                <c:pt idx="1">
                  <c:v>2772534.523</c:v>
                </c:pt>
                <c:pt idx="2">
                  <c:v>2891907.032</c:v>
                </c:pt>
                <c:pt idx="3">
                  <c:v>3016926.6199999996</c:v>
                </c:pt>
                <c:pt idx="4">
                  <c:v>3147880.3830000004</c:v>
                </c:pt>
                <c:pt idx="5">
                  <c:v>3285070.796</c:v>
                </c:pt>
                <c:pt idx="6">
                  <c:v>3428816.613</c:v>
                </c:pt>
                <c:pt idx="7">
                  <c:v>3579453.74</c:v>
                </c:pt>
                <c:pt idx="8">
                  <c:v>3737336.221</c:v>
                </c:pt>
                <c:pt idx="9">
                  <c:v>3902837.244</c:v>
                </c:pt>
                <c:pt idx="10">
                  <c:v>4076350.2240000004</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2086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781826"/>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Mexico</c:v>
                </c:pt>
                <c:pt idx="1">
                  <c:v>China</c:v>
                </c:pt>
                <c:pt idx="2">
                  <c:v>Malaysia</c:v>
                </c:pt>
                <c:pt idx="3">
                  <c:v>Spain</c:v>
                </c:pt>
                <c:pt idx="4">
                  <c:v>Thailand</c:v>
                </c:pt>
                <c:pt idx="5">
                  <c:v>Brazil</c:v>
                </c:pt>
                <c:pt idx="6">
                  <c:v>France</c:v>
                </c:pt>
                <c:pt idx="7">
                  <c:v>Netherlands</c:v>
                </c:pt>
                <c:pt idx="8">
                  <c:v>Germany</c:v>
                </c:pt>
                <c:pt idx="9">
                  <c:v>India</c:v>
                </c:pt>
              </c:strCache>
            </c:strRef>
          </c:cat>
          <c:val>
            <c:numRef>
              <c:numCache>
                <c:formatCode>General</c:formatCode>
                <c:ptCount val="10"/>
                <c:pt idx="0">
                  <c:v>101.9734304198957</c:v>
                </c:pt>
                <c:pt idx="1">
                  <c:v>102.41086651835624</c:v>
                </c:pt>
                <c:pt idx="2">
                  <c:v>106.79454675324622</c:v>
                </c:pt>
                <c:pt idx="3">
                  <c:v>115.31364539897757</c:v>
                </c:pt>
                <c:pt idx="4">
                  <c:v>118.979067299599</c:v>
                </c:pt>
                <c:pt idx="5">
                  <c:v>119.5099729114336</c:v>
                </c:pt>
                <c:pt idx="6">
                  <c:v>123.9570828111529</c:v>
                </c:pt>
                <c:pt idx="7">
                  <c:v>128.71216982901316</c:v>
                </c:pt>
                <c:pt idx="8">
                  <c:v>132.09010598245834</c:v>
                </c:pt>
                <c:pt idx="9">
                  <c:v>136.50014497830028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Thailand</c:v>
                </c:pt>
                <c:pt idx="1">
                  <c:v>Japan</c:v>
                </c:pt>
                <c:pt idx="2">
                  <c:v>U.K.</c:v>
                </c:pt>
                <c:pt idx="3">
                  <c:v>France</c:v>
                </c:pt>
                <c:pt idx="4">
                  <c:v>Brazil</c:v>
                </c:pt>
                <c:pt idx="5">
                  <c:v>India</c:v>
                </c:pt>
                <c:pt idx="6">
                  <c:v>China</c:v>
                </c:pt>
                <c:pt idx="7">
                  <c:v>Canada</c:v>
                </c:pt>
                <c:pt idx="8">
                  <c:v>Germany</c:v>
                </c:pt>
                <c:pt idx="9">
                  <c:v>U.S.</c:v>
                </c:pt>
              </c:strCache>
            </c:strRef>
          </c:cat>
          <c:val>
            <c:numRef>
              <c:numCache>
                <c:formatCode>General</c:formatCode>
                <c:ptCount val="10"/>
                <c:pt idx="0">
                  <c:v>2.735670193613258</c:v>
                </c:pt>
                <c:pt idx="1">
                  <c:v>3.0795283085113474</c:v>
                </c:pt>
                <c:pt idx="2">
                  <c:v>3.4046806835797234</c:v>
                </c:pt>
                <c:pt idx="3">
                  <c:v>3.7616534693836585</c:v>
                </c:pt>
                <c:pt idx="4">
                  <c:v>5.433737129477353</c:v>
                </c:pt>
                <c:pt idx="5">
                  <c:v>7.255230673636766</c:v>
                </c:pt>
                <c:pt idx="6">
                  <c:v>7.740798044689605</c:v>
                </c:pt>
                <c:pt idx="7">
                  <c:v>9.26130325308748</c:v>
                </c:pt>
                <c:pt idx="8">
                  <c:v>14.45114290890186</c:v>
                </c:pt>
                <c:pt idx="9">
                  <c:v>16.703827359593358</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5"/>
                <c:pt idx="0">
                  <c:v>Polyethylene (PE) Foam</c:v>
                </c:pt>
                <c:pt idx="1">
                  <c:v>Expanded Polystyrene (EPS)</c:v>
                </c:pt>
                <c:pt idx="2">
                  <c:v>Polyurethane (PU) Foam</c:v>
                </c:pt>
                <c:pt idx="3">
                  <c:v>Expanded Polypropylene (EPP)</c:v>
                </c:pt>
                <c:pt idx="4">
                  <c:v>Other Foam Materials</c:v>
                </c:pt>
              </c:strCache>
            </c:strRef>
          </c:cat>
          <c:val>
            <c:numRef>
              <c:numCache>
                <c:formatCode>General</c:formatCode>
                <c:ptCount val="5"/>
                <c:pt idx="0">
                  <c:v>2384.557</c:v>
                </c:pt>
                <c:pt idx="1">
                  <c:v>3448.715</c:v>
                </c:pt>
                <c:pt idx="2">
                  <c:v>919.205</c:v>
                </c:pt>
                <c:pt idx="3">
                  <c:v>2512.777</c:v>
                </c:pt>
                <c:pt idx="4">
                  <c:v>8413.414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0.06544192240527646</c:v>
                </c:pt>
                <c:pt idx="1">
                  <c:v>0.06311192240527647</c:v>
                </c:pt>
                <c:pt idx="2">
                  <c:v>0.06111192240527647</c:v>
                </c:pt>
                <c:pt idx="3">
                  <c:v>0.05877192240527647</c:v>
                </c:pt>
                <c:pt idx="4">
                  <c:v>0.058111922405276475</c:v>
                </c:pt>
                <c:pt idx="5">
                  <c:v>0.058111922405276475</c:v>
                </c:pt>
                <c:pt idx="6">
                  <c:v>0.060441922405276474</c:v>
                </c:pt>
                <c:pt idx="7">
                  <c:v>0.06211192240527647</c:v>
                </c:pt>
                <c:pt idx="8">
                  <c:v>0.06211192240527647</c:v>
                </c:pt>
                <c:pt idx="9">
                  <c:v>0.061151922405276476</c:v>
                </c:pt>
                <c:pt idx="10">
                  <c:v>0.060061922405276476</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0.05434644235833936</c:v>
                </c:pt>
                <c:pt idx="1">
                  <c:v>0.05378525781753593</c:v>
                </c:pt>
                <c:pt idx="2">
                  <c:v>0.052538181060194984</c:v>
                </c:pt>
                <c:pt idx="3">
                  <c:v>0.0512599273839205</c:v>
                </c:pt>
                <c:pt idx="4">
                  <c:v>0.05004402754551308</c:v>
                </c:pt>
                <c:pt idx="5">
                  <c:v>0.04863171311782445</c:v>
                </c:pt>
                <c:pt idx="6">
                  <c:v>0.04755610941461788</c:v>
                </c:pt>
                <c:pt idx="7">
                  <c:v>0.046012851927408456</c:v>
                </c:pt>
                <c:pt idx="8">
                  <c:v>0.04487801207822819</c:v>
                </c:pt>
                <c:pt idx="9">
                  <c:v>0.04405494141838316</c:v>
                </c:pt>
                <c:pt idx="10">
                  <c:v>0.043387755353205756</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0.034850811182096576</c:v>
                </c:pt>
                <c:pt idx="1">
                  <c:v>0.03645081118209658</c:v>
                </c:pt>
                <c:pt idx="2">
                  <c:v>0.03797081118209658</c:v>
                </c:pt>
                <c:pt idx="3">
                  <c:v>0.03867081118209658</c:v>
                </c:pt>
                <c:pt idx="4">
                  <c:v>0.03865081118209658</c:v>
                </c:pt>
                <c:pt idx="5">
                  <c:v>0.03819081118209658</c:v>
                </c:pt>
                <c:pt idx="6">
                  <c:v>0.037360811182096575</c:v>
                </c:pt>
                <c:pt idx="7">
                  <c:v>0.03683081118209658</c:v>
                </c:pt>
                <c:pt idx="8">
                  <c:v>0.03586081118209658</c:v>
                </c:pt>
                <c:pt idx="9">
                  <c:v>0.034440811182096576</c:v>
                </c:pt>
                <c:pt idx="10">
                  <c:v>0.033060811182096576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19.47906572838114</c:v>
                </c:pt>
                <c:pt idx="1">
                  <c:v>22.450268247608747</c:v>
                </c:pt>
              </c:numCache>
            </c:numRef>
          </c:val>
        </c:ser>
        <c:ser>
          <c:idx val="1"/>
          <c:order val="1"/>
          <c:tx>
            <c:strRef>
              <c:strCache>
                <c:ptCount val="1"/>
                <c:pt idx="0">
                  <c:v>Europe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22.214587909380008</c:v>
                </c:pt>
                <c:pt idx="1">
                  <c:v>22.024862945142274</c:v>
                </c:pt>
              </c:numCache>
            </c:numRef>
          </c:val>
        </c:ser>
        <c:ser>
          <c:idx val="2"/>
          <c:order val="2"/>
          <c:tx>
            <c:strRef>
              <c:strCache>
                <c:ptCount val="1"/>
                <c:pt idx="0">
                  <c:v>North America</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24.18852568689081</c:v>
                </c:pt>
                <c:pt idx="1">
                  <c:v>20.36358294517336</c:v>
                </c:pt>
              </c:numCache>
            </c:numRef>
          </c:val>
        </c:ser>
        <c:ser>
          <c:idx val="3"/>
          <c:order val="3"/>
          <c:tx>
            <c:strRef>
              <c:strCache>
                <c:ptCount val="1"/>
                <c:pt idx="0">
                  <c:v>East Asia</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18.34303216167964</c:v>
                </c:pt>
                <c:pt idx="1">
                  <c:v>19.097489843159266</c:v>
                </c:pt>
              </c:numCache>
            </c:numRef>
          </c:val>
        </c:ser>
        <c:ser>
          <c:idx val="4"/>
          <c:order val="4"/>
          <c:tx>
            <c:strRef>
              <c:strCache>
                <c:ptCount val="1"/>
                <c:pt idx="0">
                  <c:v>Latin America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8.405206314508849</c:v>
                </c:pt>
                <c:pt idx="1">
                  <c:v>8.682863850022324</c:v>
                </c:pt>
              </c:numCache>
            </c:numRef>
          </c:val>
        </c:ser>
        <c:ser>
          <c:idx val="5"/>
          <c:order val="5"/>
          <c:tx>
            <c:strRef>
              <c:strCache>
                <c:ptCount val="1"/>
                <c:pt idx="0">
                  <c:v>Middle East and Africa</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7.369582199159548</c:v>
                </c:pt>
                <c:pt idx="1">
                  <c:v>7.380932168894034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33.07245871559633</c:v>
                </c:pt>
                <c:pt idx="1">
                  <c:v>30.347241093050677</c:v>
                </c:pt>
              </c:numCache>
            </c:numRef>
          </c:val>
        </c:ser>
        <c:ser>
          <c:idx val="1"/>
          <c:order val="1"/>
          <c:tx>
            <c:strRef>
              <c:strCache>
                <c:ptCount val="1"/>
                <c:pt idx="0">
                  <c:v>Europe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27.059293577981652</c:v>
                </c:pt>
                <c:pt idx="1">
                  <c:v>28.649239863546278</c:v>
                </c:pt>
              </c:numCache>
            </c:numRef>
          </c:val>
        </c:ser>
        <c:ser>
          <c:idx val="2"/>
          <c:order val="2"/>
          <c:tx>
            <c:strRef>
              <c:strCache>
                <c:ptCount val="1"/>
                <c:pt idx="0">
                  <c:v>South Asia &amp; Pacific</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12.026339449541286</c:v>
                </c:pt>
                <c:pt idx="1">
                  <c:v>13.102644384746634</c:v>
                </c:pt>
              </c:numCache>
            </c:numRef>
          </c:val>
        </c:ser>
        <c:ser>
          <c:idx val="3"/>
          <c:order val="3"/>
          <c:tx>
            <c:strRef>
              <c:strCache>
                <c:ptCount val="1"/>
                <c:pt idx="0">
                  <c:v>East Asia</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13.028541284403673</c:v>
                </c:pt>
                <c:pt idx="1">
                  <c:v>12.831809500580018</c:v>
                </c:pt>
              </c:numCache>
            </c:numRef>
          </c:val>
        </c:ser>
        <c:ser>
          <c:idx val="4"/>
          <c:order val="4"/>
          <c:tx>
            <c:strRef>
              <c:strCache>
                <c:ptCount val="1"/>
                <c:pt idx="0">
                  <c:v>Latin America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8.017559633027522</c:v>
                </c:pt>
                <c:pt idx="1">
                  <c:v>8.335854262323382</c:v>
                </c:pt>
              </c:numCache>
            </c:numRef>
          </c:val>
        </c:ser>
        <c:ser>
          <c:idx val="5"/>
          <c:order val="5"/>
          <c:tx>
            <c:strRef>
              <c:strCache>
                <c:ptCount val="1"/>
                <c:pt idx="0">
                  <c:v>Middle East and Africa</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6.795807339449541</c:v>
                </c:pt>
                <c:pt idx="1">
                  <c:v>6.733210895753006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588404.306</c:v>
                </c:pt>
                <c:pt idx="1">
                  <c:v>598943.383</c:v>
                </c:pt>
                <c:pt idx="2">
                  <c:v>609674.947</c:v>
                </c:pt>
                <c:pt idx="3">
                  <c:v>620602.589</c:v>
                </c:pt>
                <c:pt idx="4">
                  <c:v>631729.965</c:v>
                </c:pt>
                <c:pt idx="5">
                  <c:v>643060.805</c:v>
                </c:pt>
                <c:pt idx="6">
                  <c:v>659671.198</c:v>
                </c:pt>
                <c:pt idx="7">
                  <c:v>676714.732</c:v>
                </c:pt>
                <c:pt idx="8">
                  <c:v>694202.815</c:v>
                </c:pt>
                <c:pt idx="9">
                  <c:v>712147.16</c:v>
                </c:pt>
                <c:pt idx="10">
                  <c:v>730559.79</c:v>
                </c:pt>
                <c:pt idx="11">
                  <c:v>749453.05</c:v>
                </c:pt>
                <c:pt idx="12">
                  <c:v>768839.612</c:v>
                </c:pt>
                <c:pt idx="13">
                  <c:v>788732.487</c:v>
                </c:pt>
                <c:pt idx="14">
                  <c:v>809145.031</c:v>
                </c:pt>
                <c:pt idx="15">
                  <c:v>830090.959</c:v>
                </c:pt>
              </c:numCache>
            </c:numRef>
          </c:val>
        </c:ser>
        <c:ser>
          <c:idx val="1"/>
          <c:order val="1"/>
          <c:tx>
            <c:strRef>
              <c:strCache>
                <c:ptCount val="1"/>
                <c:pt idx="0">
                  <c:v>Europe</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499636.002</c:v>
                </c:pt>
                <c:pt idx="1">
                  <c:v>516510.894</c:v>
                </c:pt>
                <c:pt idx="2">
                  <c:v>534017.376</c:v>
                </c:pt>
                <c:pt idx="3">
                  <c:v>552180.588</c:v>
                </c:pt>
                <c:pt idx="4">
                  <c:v>571026.693</c:v>
                </c:pt>
                <c:pt idx="5">
                  <c:v>590582.947</c:v>
                </c:pt>
                <c:pt idx="6">
                  <c:v>615545.72</c:v>
                </c:pt>
                <c:pt idx="7">
                  <c:v>641634.228</c:v>
                </c:pt>
                <c:pt idx="8">
                  <c:v>668901.541</c:v>
                </c:pt>
                <c:pt idx="9">
                  <c:v>697403.299</c:v>
                </c:pt>
                <c:pt idx="10">
                  <c:v>727197.837</c:v>
                </c:pt>
                <c:pt idx="11">
                  <c:v>758346.328</c:v>
                </c:pt>
                <c:pt idx="12">
                  <c:v>790912.924</c:v>
                </c:pt>
                <c:pt idx="13">
                  <c:v>824964.893</c:v>
                </c:pt>
                <c:pt idx="14">
                  <c:v>860572.772</c:v>
                </c:pt>
                <c:pt idx="15">
                  <c:v>897810.55</c:v>
                </c:pt>
              </c:numCache>
            </c:numRef>
          </c:val>
        </c:ser>
        <c:ser>
          <c:idx val="2"/>
          <c:order val="2"/>
          <c:tx>
            <c:strRef>
              <c:strCache>
                <c:ptCount val="1"/>
                <c:pt idx="0">
                  <c:v>South Asia &amp; Pacific</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406033.192</c:v>
                </c:pt>
                <c:pt idx="1">
                  <c:v>426193.955</c:v>
                </c:pt>
                <c:pt idx="2">
                  <c:v>447399.384</c:v>
                </c:pt>
                <c:pt idx="3">
                  <c:v>469705.372</c:v>
                </c:pt>
                <c:pt idx="4">
                  <c:v>493170.876</c:v>
                </c:pt>
                <c:pt idx="5">
                  <c:v>517858.089</c:v>
                </c:pt>
                <c:pt idx="6">
                  <c:v>547976.231</c:v>
                </c:pt>
                <c:pt idx="7">
                  <c:v>579899.697</c:v>
                </c:pt>
                <c:pt idx="8">
                  <c:v>613739.316</c:v>
                </c:pt>
                <c:pt idx="9">
                  <c:v>649612.853</c:v>
                </c:pt>
                <c:pt idx="10">
                  <c:v>687645.441</c:v>
                </c:pt>
                <c:pt idx="11">
                  <c:v>727970.059</c:v>
                </c:pt>
                <c:pt idx="12">
                  <c:v>770728.016</c:v>
                </c:pt>
                <c:pt idx="13">
                  <c:v>816069.5</c:v>
                </c:pt>
                <c:pt idx="14">
                  <c:v>864154.131</c:v>
                </c:pt>
                <c:pt idx="15">
                  <c:v>915151.56</c:v>
                </c:pt>
              </c:numCache>
            </c:numRef>
          </c:val>
        </c:ser>
        <c:ser>
          <c:idx val="3"/>
          <c:order val="3"/>
          <c:tx>
            <c:strRef>
              <c:strCache>
                <c:ptCount val="1"/>
                <c:pt idx="0">
                  <c:v>East Asia</c:v>
                </c:pt>
              </c:strCache>
            </c:strRef>
          </c:tx>
          <c:spPr>
            <a:solidFill>
              <a:srgbClr val="00ACA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401340.237</c:v>
                </c:pt>
                <c:pt idx="1">
                  <c:v>417267.846</c:v>
                </c:pt>
                <c:pt idx="2">
                  <c:v>433836.587</c:v>
                </c:pt>
                <c:pt idx="3">
                  <c:v>451072.578</c:v>
                </c:pt>
                <c:pt idx="4">
                  <c:v>469003.018</c:v>
                </c:pt>
                <c:pt idx="5">
                  <c:v>487656.221</c:v>
                </c:pt>
                <c:pt idx="6">
                  <c:v>510961.656</c:v>
                </c:pt>
                <c:pt idx="7">
                  <c:v>535391.645</c:v>
                </c:pt>
                <c:pt idx="8">
                  <c:v>561000.915</c:v>
                </c:pt>
                <c:pt idx="9">
                  <c:v>587846.873</c:v>
                </c:pt>
                <c:pt idx="10">
                  <c:v>615989.738</c:v>
                </c:pt>
                <c:pt idx="11">
                  <c:v>645492.686</c:v>
                </c:pt>
                <c:pt idx="12">
                  <c:v>676421.993</c:v>
                </c:pt>
                <c:pt idx="13">
                  <c:v>708847.185</c:v>
                </c:pt>
                <c:pt idx="14">
                  <c:v>742841.203</c:v>
                </c:pt>
                <c:pt idx="15">
                  <c:v>778480.57</c:v>
                </c:pt>
              </c:numCache>
            </c:numRef>
          </c:val>
        </c:ser>
        <c:ser>
          <c:idx val="4"/>
          <c:order val="4"/>
          <c:tx>
            <c:strRef>
              <c:strCache>
                <c:ptCount val="1"/>
                <c:pt idx="0">
                  <c:v>Latin America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184714.365</c:v>
                </c:pt>
                <c:pt idx="1">
                  <c:v>191868.873</c:v>
                </c:pt>
                <c:pt idx="2">
                  <c:v>199308.369</c:v>
                </c:pt>
                <c:pt idx="3">
                  <c:v>207044.481</c:v>
                </c:pt>
                <c:pt idx="4">
                  <c:v>215089.316</c:v>
                </c:pt>
                <c:pt idx="5">
                  <c:v>223455.485</c:v>
                </c:pt>
                <c:pt idx="6">
                  <c:v>233932.876</c:v>
                </c:pt>
                <c:pt idx="7">
                  <c:v>244910.906</c:v>
                </c:pt>
                <c:pt idx="8">
                  <c:v>256413.891</c:v>
                </c:pt>
                <c:pt idx="9">
                  <c:v>268467.355</c:v>
                </c:pt>
                <c:pt idx="10">
                  <c:v>281098.072</c:v>
                </c:pt>
                <c:pt idx="11">
                  <c:v>294334.143</c:v>
                </c:pt>
                <c:pt idx="12">
                  <c:v>308205.051</c:v>
                </c:pt>
                <c:pt idx="13">
                  <c:v>322741.74</c:v>
                </c:pt>
                <c:pt idx="14">
                  <c:v>337976.677</c:v>
                </c:pt>
                <c:pt idx="15">
                  <c:v>353943.94</c:v>
                </c:pt>
              </c:numCache>
            </c:numRef>
          </c:val>
        </c:ser>
        <c:ser>
          <c:idx val="5"/>
          <c:order val="5"/>
          <c:tx>
            <c:strRef>
              <c:strCache>
                <c:ptCount val="1"/>
                <c:pt idx="0">
                  <c:v>Middle East and Africa</c:v>
                </c:pt>
              </c:strCache>
            </c:strRef>
          </c:tx>
          <c:spPr>
            <a:solidFill>
              <a:srgbClr val="79C3EC"/>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164695.508</c:v>
                </c:pt>
                <c:pt idx="1">
                  <c:v>170492.611</c:v>
                </c:pt>
                <c:pt idx="2">
                  <c:v>176505.217</c:v>
                </c:pt>
                <c:pt idx="3">
                  <c:v>182741.847</c:v>
                </c:pt>
                <c:pt idx="4">
                  <c:v>189211.37</c:v>
                </c:pt>
                <c:pt idx="5">
                  <c:v>195923.039</c:v>
                </c:pt>
                <c:pt idx="6">
                  <c:v>204446.842</c:v>
                </c:pt>
                <c:pt idx="7">
                  <c:v>213355.824</c:v>
                </c:pt>
                <c:pt idx="8">
                  <c:v>222668.142</c:v>
                </c:pt>
                <c:pt idx="9">
                  <c:v>232402.843</c:v>
                </c:pt>
                <c:pt idx="10">
                  <c:v>242579.918</c:v>
                </c:pt>
                <c:pt idx="11">
                  <c:v>253220.347</c:v>
                </c:pt>
                <c:pt idx="12">
                  <c:v>264346.144</c:v>
                </c:pt>
                <c:pt idx="13">
                  <c:v>275980.416</c:v>
                </c:pt>
                <c:pt idx="14">
                  <c:v>288147.43</c:v>
                </c:pt>
                <c:pt idx="15">
                  <c:v>300872.645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3072.458</c:v>
                </c:pt>
                <c:pt idx="1">
                  <c:v>3172.183</c:v>
                </c:pt>
                <c:pt idx="2">
                  <c:v>3275.179</c:v>
                </c:pt>
                <c:pt idx="3">
                  <c:v>3381.555</c:v>
                </c:pt>
                <c:pt idx="4">
                  <c:v>3491.422</c:v>
                </c:pt>
                <c:pt idx="5">
                  <c:v>3604.898</c:v>
                </c:pt>
                <c:pt idx="6">
                  <c:v>3750.939</c:v>
                </c:pt>
                <c:pt idx="7">
                  <c:v>3902.938</c:v>
                </c:pt>
                <c:pt idx="8">
                  <c:v>4061.139</c:v>
                </c:pt>
                <c:pt idx="9">
                  <c:v>4225.796</c:v>
                </c:pt>
                <c:pt idx="10">
                  <c:v>4397.176</c:v>
                </c:pt>
                <c:pt idx="11">
                  <c:v>4575.553</c:v>
                </c:pt>
                <c:pt idx="12">
                  <c:v>4761.217</c:v>
                </c:pt>
                <c:pt idx="13">
                  <c:v>4954.467</c:v>
                </c:pt>
                <c:pt idx="14">
                  <c:v>5155.616</c:v>
                </c:pt>
                <c:pt idx="15">
                  <c:v>5364.988</c:v>
                </c:pt>
              </c:numCache>
            </c:numRef>
          </c:val>
        </c:ser>
        <c:ser>
          <c:idx val="1"/>
          <c:order val="1"/>
          <c:tx>
            <c:strRef>
              <c:strCache>
                <c:ptCount val="1"/>
                <c:pt idx="0">
                  <c:v>Europe</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2348.63</c:v>
                </c:pt>
                <c:pt idx="1">
                  <c:v>2457.492</c:v>
                </c:pt>
                <c:pt idx="2">
                  <c:v>2571.72</c:v>
                </c:pt>
                <c:pt idx="3">
                  <c:v>2691.594</c:v>
                </c:pt>
                <c:pt idx="4">
                  <c:v>2817.404</c:v>
                </c:pt>
                <c:pt idx="5">
                  <c:v>2949.463</c:v>
                </c:pt>
                <c:pt idx="6">
                  <c:v>3111.682</c:v>
                </c:pt>
                <c:pt idx="7">
                  <c:v>3283.214</c:v>
                </c:pt>
                <c:pt idx="8">
                  <c:v>3464.616</c:v>
                </c:pt>
                <c:pt idx="9">
                  <c:v>3656.472</c:v>
                </c:pt>
                <c:pt idx="10">
                  <c:v>3859.406</c:v>
                </c:pt>
                <c:pt idx="11">
                  <c:v>4074.077</c:v>
                </c:pt>
                <c:pt idx="12">
                  <c:v>4301.186</c:v>
                </c:pt>
                <c:pt idx="13">
                  <c:v>4541.475</c:v>
                </c:pt>
                <c:pt idx="14">
                  <c:v>4795.737</c:v>
                </c:pt>
                <c:pt idx="15">
                  <c:v>5064.804</c:v>
                </c:pt>
              </c:numCache>
            </c:numRef>
          </c:val>
        </c:ser>
        <c:ser>
          <c:idx val="2"/>
          <c:order val="2"/>
          <c:tx>
            <c:strRef>
              <c:strCache>
                <c:ptCount val="1"/>
                <c:pt idx="0">
                  <c:v>East Asia</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1168.031</c:v>
                </c:pt>
                <c:pt idx="1">
                  <c:v>1214.554</c:v>
                </c:pt>
                <c:pt idx="2">
                  <c:v>1262.947</c:v>
                </c:pt>
                <c:pt idx="3">
                  <c:v>1313.285</c:v>
                </c:pt>
                <c:pt idx="4">
                  <c:v>1365.646</c:v>
                </c:pt>
                <c:pt idx="5">
                  <c:v>1420.111</c:v>
                </c:pt>
                <c:pt idx="6">
                  <c:v>1488.129</c:v>
                </c:pt>
                <c:pt idx="7">
                  <c:v>1559.423</c:v>
                </c:pt>
                <c:pt idx="8">
                  <c:v>1634.151</c:v>
                </c:pt>
                <c:pt idx="9">
                  <c:v>1712.482</c:v>
                </c:pt>
                <c:pt idx="10">
                  <c:v>1794.589</c:v>
                </c:pt>
                <c:pt idx="11">
                  <c:v>1880.655</c:v>
                </c:pt>
                <c:pt idx="12">
                  <c:v>1970.872</c:v>
                </c:pt>
                <c:pt idx="13">
                  <c:v>2065.441</c:v>
                </c:pt>
                <c:pt idx="14">
                  <c:v>2164.575</c:v>
                </c:pt>
                <c:pt idx="15">
                  <c:v>2268.493</c:v>
                </c:pt>
              </c:numCache>
            </c:numRef>
          </c:val>
        </c:ser>
        <c:ser>
          <c:idx val="3"/>
          <c:order val="3"/>
          <c:tx>
            <c:strRef>
              <c:strCache>
                <c:ptCount val="1"/>
                <c:pt idx="0">
                  <c:v>South Asia &amp; Pacific</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1027.949</c:v>
                </c:pt>
                <c:pt idx="1">
                  <c:v>1078.949</c:v>
                </c:pt>
                <c:pt idx="2">
                  <c:v>1132.599</c:v>
                </c:pt>
                <c:pt idx="3">
                  <c:v>1189.033</c:v>
                </c:pt>
                <c:pt idx="4">
                  <c:v>1248.407</c:v>
                </c:pt>
                <c:pt idx="5">
                  <c:v>1310.871</c:v>
                </c:pt>
                <c:pt idx="6">
                  <c:v>1387.086</c:v>
                </c:pt>
                <c:pt idx="7">
                  <c:v>1467.868</c:v>
                </c:pt>
                <c:pt idx="8">
                  <c:v>1553.504</c:v>
                </c:pt>
                <c:pt idx="9">
                  <c:v>1644.289</c:v>
                </c:pt>
                <c:pt idx="10">
                  <c:v>1740.543</c:v>
                </c:pt>
                <c:pt idx="11">
                  <c:v>1842.599</c:v>
                </c:pt>
                <c:pt idx="12">
                  <c:v>1950.82</c:v>
                </c:pt>
                <c:pt idx="13">
                  <c:v>2065.579</c:v>
                </c:pt>
                <c:pt idx="14">
                  <c:v>2187.288</c:v>
                </c:pt>
                <c:pt idx="15">
                  <c:v>2316.373</c:v>
                </c:pt>
              </c:numCache>
            </c:numRef>
          </c:val>
        </c:ser>
        <c:ser>
          <c:idx val="4"/>
          <c:order val="4"/>
          <c:tx>
            <c:strRef>
              <c:strCache>
                <c:ptCount val="1"/>
                <c:pt idx="0">
                  <c:v>Latin America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700.255</c:v>
                </c:pt>
                <c:pt idx="1">
                  <c:v>731.915</c:v>
                </c:pt>
                <c:pt idx="2">
                  <c:v>765.039</c:v>
                </c:pt>
                <c:pt idx="3">
                  <c:v>799.699</c:v>
                </c:pt>
                <c:pt idx="4">
                  <c:v>835.965</c:v>
                </c:pt>
                <c:pt idx="5">
                  <c:v>873.914</c:v>
                </c:pt>
                <c:pt idx="6">
                  <c:v>920.618</c:v>
                </c:pt>
                <c:pt idx="7">
                  <c:v>969.859</c:v>
                </c:pt>
                <c:pt idx="8">
                  <c:v>1021.776</c:v>
                </c:pt>
                <c:pt idx="9">
                  <c:v>1076.519</c:v>
                </c:pt>
                <c:pt idx="10">
                  <c:v>1134.244</c:v>
                </c:pt>
                <c:pt idx="11">
                  <c:v>1195.113</c:v>
                </c:pt>
                <c:pt idx="12">
                  <c:v>1259.301</c:v>
                </c:pt>
                <c:pt idx="13">
                  <c:v>1326.992</c:v>
                </c:pt>
                <c:pt idx="14">
                  <c:v>1398.38</c:v>
                </c:pt>
                <c:pt idx="15">
                  <c:v>1473.668</c:v>
                </c:pt>
              </c:numCache>
            </c:numRef>
          </c:val>
        </c:ser>
        <c:ser>
          <c:idx val="5"/>
          <c:order val="5"/>
          <c:tx>
            <c:strRef>
              <c:strCache>
                <c:ptCount val="1"/>
                <c:pt idx="0">
                  <c:v>Middle East and Africa</c:v>
                </c:pt>
              </c:strCache>
            </c:strRef>
          </c:tx>
          <c:spPr>
            <a:solidFill>
              <a:srgbClr val="79C3EC"/>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608.666</c:v>
                </c:pt>
                <c:pt idx="1">
                  <c:v>632.968</c:v>
                </c:pt>
                <c:pt idx="2">
                  <c:v>658.28</c:v>
                </c:pt>
                <c:pt idx="3">
                  <c:v>684.649</c:v>
                </c:pt>
                <c:pt idx="4">
                  <c:v>712.119</c:v>
                </c:pt>
                <c:pt idx="5">
                  <c:v>740.743</c:v>
                </c:pt>
                <c:pt idx="6">
                  <c:v>776.492</c:v>
                </c:pt>
                <c:pt idx="7">
                  <c:v>814.019</c:v>
                </c:pt>
                <c:pt idx="8">
                  <c:v>853.417</c:v>
                </c:pt>
                <c:pt idx="9">
                  <c:v>894.781</c:v>
                </c:pt>
                <c:pt idx="10">
                  <c:v>938.215</c:v>
                </c:pt>
                <c:pt idx="11">
                  <c:v>983.821</c:v>
                </c:pt>
                <c:pt idx="12">
                  <c:v>1031.715</c:v>
                </c:pt>
                <c:pt idx="13">
                  <c:v>1082.017</c:v>
                </c:pt>
                <c:pt idx="14">
                  <c:v>1134.848</c:v>
                </c:pt>
                <c:pt idx="15">
                  <c:v>1190.342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Polyethylene (PE) Foam</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13.633392756031459</c:v>
                </c:pt>
                <c:pt idx="1">
                  <c:v>12.8501806377013</c:v>
                </c:pt>
                <c:pt idx="2">
                  <c:v>13.171387348340948</c:v>
                </c:pt>
                <c:pt idx="3">
                  <c:v>13.331402153280154</c:v>
                </c:pt>
                <c:pt idx="4">
                  <c:v>13.725960570241217</c:v>
                </c:pt>
                <c:pt idx="5">
                  <c:v>13.608865481152991</c:v>
                </c:pt>
              </c:numCache>
            </c:numRef>
          </c:val>
        </c:ser>
        <c:ser>
          <c:idx val="1"/>
          <c:order val="1"/>
          <c:tx>
            <c:strRef>
              <c:strCache>
                <c:ptCount val="1"/>
                <c:pt idx="0">
                  <c:v>Expanded Polystyrene (EPS)</c:v>
                </c:pt>
              </c:strCache>
            </c:strRef>
          </c:tx>
          <c:spPr>
            <a:solidFill>
              <a:srgbClr val="0081E2"/>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20.64221879090211</c:v>
                </c:pt>
                <c:pt idx="1">
                  <c:v>20.756099745668628</c:v>
                </c:pt>
                <c:pt idx="2">
                  <c:v>18.491968015770823</c:v>
                </c:pt>
                <c:pt idx="3">
                  <c:v>17.628810213208325</c:v>
                </c:pt>
                <c:pt idx="4">
                  <c:v>18.37239901089953</c:v>
                </c:pt>
                <c:pt idx="5">
                  <c:v>21.225807028832126</c:v>
                </c:pt>
              </c:numCache>
            </c:numRef>
          </c:val>
        </c:ser>
        <c:ser>
          <c:idx val="2"/>
          <c:order val="2"/>
          <c:tx>
            <c:strRef>
              <c:strCache>
                <c:ptCount val="1"/>
                <c:pt idx="0">
                  <c:v>Polyurethane (PU) Foam</c:v>
                </c:pt>
              </c:strCache>
            </c:strRef>
          </c:tx>
          <c:spPr>
            <a:solidFill>
              <a:srgbClr val="0E2A5C"/>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5.007804479720954</c:v>
                </c:pt>
                <c:pt idx="1">
                  <c:v>4.6680120624184</c:v>
                </c:pt>
                <c:pt idx="2">
                  <c:v>4.7909338931175895</c:v>
                </c:pt>
                <c:pt idx="3">
                  <c:v>5.014952255098813</c:v>
                </c:pt>
                <c:pt idx="4">
                  <c:v>5.404039327089459</c:v>
                </c:pt>
                <c:pt idx="5">
                  <c:v>5.4474119979392315</c:v>
                </c:pt>
              </c:numCache>
            </c:numRef>
          </c:val>
        </c:ser>
        <c:ser>
          <c:idx val="3"/>
          <c:order val="3"/>
          <c:tx>
            <c:strRef>
              <c:strCache>
                <c:ptCount val="1"/>
                <c:pt idx="0">
                  <c:v>Expanded Polypropylene (EPP)</c:v>
                </c:pt>
              </c:strCache>
            </c:strRef>
          </c:tx>
          <c:spPr>
            <a:solidFill>
              <a:srgbClr val="00ACAC"/>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12.282184447830957</c:v>
                </c:pt>
                <c:pt idx="1">
                  <c:v>14.4341194896001</c:v>
                </c:pt>
                <c:pt idx="2">
                  <c:v>14.52598707600156</c:v>
                </c:pt>
                <c:pt idx="3">
                  <c:v>13.391366589059711</c:v>
                </c:pt>
                <c:pt idx="4">
                  <c:v>14.915443914512782</c:v>
                </c:pt>
                <c:pt idx="5">
                  <c:v>14.141932843093032</c:v>
                </c:pt>
              </c:numCache>
            </c:numRef>
          </c:val>
        </c:ser>
        <c:ser>
          <c:idx val="4"/>
          <c:order val="4"/>
          <c:tx>
            <c:strRef>
              <c:strCache>
                <c:ptCount val="1"/>
                <c:pt idx="0">
                  <c:v>Other Foam Materials</c:v>
                </c:pt>
              </c:strCache>
            </c:strRef>
          </c:tx>
          <c:spPr>
            <a:solidFill>
              <a:srgbClr val="F47620"/>
            </a:solidFill>
            <a:ln>
              <a:noFill/>
            </a:ln>
          </c:spPr>
          <c:dLbls>
            <c:dLbl>
              <c:idx val="0"/>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48.43439952551451</c:v>
                </c:pt>
                <c:pt idx="1">
                  <c:v>47.29158806461157</c:v>
                </c:pt>
                <c:pt idx="2">
                  <c:v>49.01972366676909</c:v>
                </c:pt>
                <c:pt idx="3">
                  <c:v>50.63346878935302</c:v>
                </c:pt>
                <c:pt idx="4">
                  <c:v>47.58215717725701</c:v>
                </c:pt>
                <c:pt idx="5">
                  <c:v>45.57598264898263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Polyethylene (PE) Foam</c:v>
                </c:pt>
              </c:strCache>
            </c:strRef>
          </c:tx>
          <c:spPr>
            <a:solidFill>
              <a:srgbClr val="2A5F8F"/>
            </a:solidFill>
          </c:spPr>
          <c:invertIfNegative val="0"/>
          <c:xVal>
            <c:numRef>
              <c:numCache>
                <c:formatCode>General</c:formatCode>
                <c:ptCount val="1"/>
                <c:pt idx="0">
                  <c:v>121.28328653017016</c:v>
                </c:pt>
              </c:numCache>
            </c:numRef>
          </c:xVal>
          <c:yVal>
            <c:numRef>
              <c:numCache>
                <c:formatCode>General</c:formatCode>
                <c:ptCount val="1"/>
                <c:pt idx="0">
                  <c:v>61.0252752293578</c:v>
                </c:pt>
              </c:numCache>
            </c:numRef>
          </c:yVal>
          <c:bubbleSize>
            <c:numRef>
              <c:numCache>
                <c:formatCode>General</c:formatCode>
                <c:ptCount val="1"/>
                <c:pt idx="0">
                  <c:v>2384.557</c:v>
                </c:pt>
              </c:numCache>
            </c:numRef>
          </c:bubbleSize>
          <c:bubble3D val="0"/>
        </c:ser>
        <c:ser>
          <c:idx val="1"/>
          <c:order val="1"/>
          <c:tx>
            <c:strRef>
              <c:strCache>
                <c:ptCount val="1"/>
                <c:pt idx="0">
                  <c:v>Expanded Polystyrene (EPS)</c:v>
                </c:pt>
              </c:strCache>
            </c:strRef>
          </c:tx>
          <c:spPr>
            <a:solidFill>
              <a:srgbClr val="0081E2"/>
            </a:solidFill>
          </c:spPr>
          <c:invertIfNegative val="0"/>
          <c:xVal>
            <c:numRef>
              <c:numCache>
                <c:formatCode>General</c:formatCode>
                <c:ptCount val="1"/>
                <c:pt idx="0">
                  <c:v>116.4063728347098</c:v>
                </c:pt>
              </c:numCache>
            </c:numRef>
          </c:xVal>
          <c:yVal>
            <c:numRef>
              <c:numCache>
                <c:formatCode>General</c:formatCode>
                <c:ptCount val="1"/>
                <c:pt idx="0">
                  <c:v>90.29633027522935</c:v>
                </c:pt>
              </c:numCache>
            </c:numRef>
          </c:yVal>
          <c:bubbleSize>
            <c:numRef>
              <c:numCache>
                <c:formatCode>General</c:formatCode>
                <c:ptCount val="1"/>
                <c:pt idx="0">
                  <c:v>3448.715</c:v>
                </c:pt>
              </c:numCache>
            </c:numRef>
          </c:bubbleSize>
          <c:bubble3D val="0"/>
        </c:ser>
        <c:ser>
          <c:idx val="2"/>
          <c:order val="2"/>
          <c:tx>
            <c:strRef>
              <c:strCache>
                <c:ptCount val="1"/>
                <c:pt idx="0">
                  <c:v>Polyurethane (PU) Foam</c:v>
                </c:pt>
              </c:strCache>
            </c:strRef>
          </c:tx>
          <c:spPr>
            <a:solidFill>
              <a:srgbClr val="0E2A5C"/>
            </a:solidFill>
          </c:spPr>
          <c:invertIfNegative val="0"/>
          <c:xVal>
            <c:numRef>
              <c:numCache>
                <c:formatCode>General</c:formatCode>
                <c:ptCount val="1"/>
                <c:pt idx="0">
                  <c:v>64.16314623851383</c:v>
                </c:pt>
              </c:numCache>
            </c:numRef>
          </c:xVal>
          <c:yVal>
            <c:numRef>
              <c:numCache>
                <c:formatCode>General</c:formatCode>
                <c:ptCount val="1"/>
                <c:pt idx="0">
                  <c:v>30.834449541284403</c:v>
                </c:pt>
              </c:numCache>
            </c:numRef>
          </c:yVal>
          <c:bubbleSize>
            <c:numRef>
              <c:numCache>
                <c:formatCode>General</c:formatCode>
                <c:ptCount val="1"/>
                <c:pt idx="0">
                  <c:v>919.205</c:v>
                </c:pt>
              </c:numCache>
            </c:numRef>
          </c:bubbleSize>
          <c:bubble3D val="0"/>
        </c:ser>
        <c:ser>
          <c:idx val="3"/>
          <c:order val="3"/>
          <c:tx>
            <c:strRef>
              <c:strCache>
                <c:ptCount val="1"/>
                <c:pt idx="0">
                  <c:v>Expanded Polypropylene (EPP)</c:v>
                </c:pt>
              </c:strCache>
            </c:strRef>
          </c:tx>
          <c:spPr>
            <a:solidFill>
              <a:srgbClr val="00ACAC"/>
            </a:solidFill>
          </c:spPr>
          <c:invertIfNegative val="0"/>
          <c:xVal>
            <c:numRef>
              <c:numCache>
                <c:formatCode>General</c:formatCode>
                <c:ptCount val="1"/>
                <c:pt idx="0">
                  <c:v>142.35166125265923</c:v>
                </c:pt>
              </c:numCache>
            </c:numRef>
          </c:xVal>
          <c:yVal>
            <c:numRef>
              <c:numCache>
                <c:formatCode>General</c:formatCode>
                <c:ptCount val="1"/>
                <c:pt idx="0">
                  <c:v>58.304128440366966</c:v>
                </c:pt>
              </c:numCache>
            </c:numRef>
          </c:yVal>
          <c:bubbleSize>
            <c:numRef>
              <c:numCache>
                <c:formatCode>General</c:formatCode>
                <c:ptCount val="1"/>
                <c:pt idx="0">
                  <c:v>2512.777</c:v>
                </c:pt>
              </c:numCache>
            </c:numRef>
          </c:bubbleSize>
          <c:bubble3D val="0"/>
        </c:ser>
        <c:ser>
          <c:idx val="4"/>
          <c:order val="4"/>
          <c:tx>
            <c:strRef>
              <c:strCache>
                <c:ptCount val="1"/>
                <c:pt idx="0">
                  <c:v>Other Foam Materials</c:v>
                </c:pt>
              </c:strCache>
            </c:strRef>
          </c:tx>
          <c:spPr>
            <a:solidFill>
              <a:srgbClr val="F47620"/>
            </a:solidFill>
          </c:spPr>
          <c:invertIfNegative val="0"/>
          <c:xVal>
            <c:numRef>
              <c:numCache>
                <c:formatCode>General</c:formatCode>
                <c:ptCount val="1"/>
                <c:pt idx="0">
                  <c:v>81.68618437175411</c:v>
                </c:pt>
              </c:numCache>
            </c:numRef>
          </c:xVal>
          <c:yVal>
            <c:numRef>
              <c:numCache>
                <c:formatCode>General</c:formatCode>
                <c:ptCount val="1"/>
                <c:pt idx="0">
                  <c:v>259.5398165137615</c:v>
                </c:pt>
              </c:numCache>
            </c:numRef>
          </c:yVal>
          <c:bubbleSize>
            <c:numRef>
              <c:numCache>
                <c:formatCode>General</c:formatCode>
                <c:ptCount val="1"/>
                <c:pt idx="0">
                  <c:v>8413.414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3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1330.351</c:v>
                </c:pt>
                <c:pt idx="2">
                  <c:v>1491.739</c:v>
                </c:pt>
                <c:pt idx="3">
                  <c:v>1674.472</c:v>
                </c:pt>
                <c:pt idx="4">
                  <c:v>1881.668</c:v>
                </c:pt>
                <c:pt idx="5">
                  <c:v>2116.943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1330.351</c:v>
                </c:pt>
                <c:pt idx="1">
                  <c:v>161.38799999999992</c:v>
                </c:pt>
                <c:pt idx="2">
                  <c:v>182.73299999999995</c:v>
                </c:pt>
                <c:pt idx="3">
                  <c:v>207.1959999999999</c:v>
                </c:pt>
                <c:pt idx="4">
                  <c:v>235.27500000000032</c:v>
                </c:pt>
                <c:pt idx="5">
                  <c:v>267.6139999999996</c:v>
                </c:pt>
                <c:pt idx="6">
                  <c:v>2384.557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1968.46</c:v>
                </c:pt>
                <c:pt idx="2">
                  <c:v>2197.15</c:v>
                </c:pt>
                <c:pt idx="3">
                  <c:v>2455.025</c:v>
                </c:pt>
                <c:pt idx="4">
                  <c:v>2746.24</c:v>
                </c:pt>
                <c:pt idx="5">
                  <c:v>3075.597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1968.46</c:v>
                </c:pt>
                <c:pt idx="1">
                  <c:v>228.69000000000005</c:v>
                </c:pt>
                <c:pt idx="2">
                  <c:v>257.875</c:v>
                </c:pt>
                <c:pt idx="3">
                  <c:v>291.2149999999997</c:v>
                </c:pt>
                <c:pt idx="4">
                  <c:v>329.3570000000004</c:v>
                </c:pt>
                <c:pt idx="5">
                  <c:v>373.11799999999994</c:v>
                </c:pt>
                <c:pt idx="6">
                  <c:v>3448.715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672.191</c:v>
                </c:pt>
                <c:pt idx="2">
                  <c:v>719.26</c:v>
                </c:pt>
                <c:pt idx="3">
                  <c:v>767.992</c:v>
                </c:pt>
                <c:pt idx="4">
                  <c:v>817.977</c:v>
                </c:pt>
                <c:pt idx="5">
                  <c:v>868.646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672.191</c:v>
                </c:pt>
                <c:pt idx="1">
                  <c:v>47.06899999999996</c:v>
                </c:pt>
                <c:pt idx="2">
                  <c:v>48.73199999999997</c:v>
                </c:pt>
                <c:pt idx="3">
                  <c:v>49.985000000000014</c:v>
                </c:pt>
                <c:pt idx="4">
                  <c:v>50.66899999999998</c:v>
                </c:pt>
                <c:pt idx="5">
                  <c:v>50.55900000000008</c:v>
                </c:pt>
                <c:pt idx="6">
                  <c:v>919.205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1271.03</c:v>
                </c:pt>
                <c:pt idx="2">
                  <c:v>1453.175</c:v>
                </c:pt>
                <c:pt idx="3">
                  <c:v>1663.318</c:v>
                </c:pt>
                <c:pt idx="4">
                  <c:v>1906.11</c:v>
                </c:pt>
                <c:pt idx="5">
                  <c:v>2187.08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1271.03</c:v>
                </c:pt>
                <c:pt idx="1">
                  <c:v>182.14499999999998</c:v>
                </c:pt>
                <c:pt idx="2">
                  <c:v>210.14300000000003</c:v>
                </c:pt>
                <c:pt idx="3">
                  <c:v>242.79199999999992</c:v>
                </c:pt>
                <c:pt idx="4">
                  <c:v>280.97</c:v>
                </c:pt>
                <c:pt idx="5">
                  <c:v>325.6970000000001</c:v>
                </c:pt>
                <c:pt idx="6">
                  <c:v>2512.777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5657.968</c:v>
                </c:pt>
                <c:pt idx="2">
                  <c:v>6135.996999999999</c:v>
                </c:pt>
                <c:pt idx="3">
                  <c:v>6649.532</c:v>
                </c:pt>
                <c:pt idx="4">
                  <c:v>7199.823</c:v>
                </c:pt>
                <c:pt idx="5">
                  <c:v>7787.705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5657.968</c:v>
                </c:pt>
                <c:pt idx="1">
                  <c:v>478.02899999999954</c:v>
                </c:pt>
                <c:pt idx="2">
                  <c:v>513.5350000000008</c:v>
                </c:pt>
                <c:pt idx="3">
                  <c:v>550.2910000000002</c:v>
                </c:pt>
                <c:pt idx="4">
                  <c:v>587.8819999999996</c:v>
                </c:pt>
                <c:pt idx="5">
                  <c:v>625.7090000000007</c:v>
                </c:pt>
                <c:pt idx="6">
                  <c:v>8413.414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Other Foam Materials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53.639602289449385</c:v>
                </c:pt>
                <c:pt idx="1">
                  <c:v>51.90796330275229</c:v>
                </c:pt>
                <c:pt idx="2">
                  <c:v>47.59076871628564</c:v>
                </c:pt>
              </c:numCache>
            </c:numRef>
          </c:val>
        </c:ser>
        <c:ser>
          <c:idx val="1"/>
          <c:order val="1"/>
          <c:tx>
            <c:strRef>
              <c:strCache>
                <c:ptCount val="1"/>
                <c:pt idx="0">
                  <c:v>Polystyrene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17.485771044530754</c:v>
                </c:pt>
                <c:pt idx="1">
                  <c:v>18.05926605504587</c:v>
                </c:pt>
                <c:pt idx="2">
                  <c:v>19.50777626459188</c:v>
                </c:pt>
              </c:numCache>
            </c:numRef>
          </c:val>
        </c:ser>
        <c:ser>
          <c:idx val="2"/>
          <c:order val="2"/>
          <c:tx>
            <c:strRef>
              <c:strCache>
                <c:ptCount val="1"/>
                <c:pt idx="0">
                  <c:v>Polypropylene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10.634888750142983</c:v>
                </c:pt>
                <c:pt idx="1">
                  <c:v>11.660825688073393</c:v>
                </c:pt>
                <c:pt idx="2">
                  <c:v>14.213610437166418</c:v>
                </c:pt>
              </c:numCache>
            </c:numRef>
          </c:val>
        </c:ser>
        <c:ser>
          <c:idx val="3"/>
          <c:order val="3"/>
          <c:tx>
            <c:strRef>
              <c:strCache>
                <c:ptCount val="1"/>
                <c:pt idx="0">
                  <c:v>Polyethylene (PE) Foam</c:v>
                </c:pt>
              </c:strCache>
            </c:strRef>
          </c:tx>
          <c:spPr>
            <a:solidFill>
              <a:srgbClr val="00ACAC"/>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11.681887575707298</c:v>
                </c:pt>
                <c:pt idx="1">
                  <c:v>12.20505504587156</c:v>
                </c:pt>
                <c:pt idx="2">
                  <c:v>13.488329550619987</c:v>
                </c:pt>
              </c:numCache>
            </c:numRef>
          </c:val>
        </c:ser>
        <c:ser>
          <c:idx val="4"/>
          <c:order val="4"/>
          <c:tx>
            <c:strRef>
              <c:strCache>
                <c:ptCount val="1"/>
                <c:pt idx="0">
                  <c:v>Polyurethane (PU) Foam</c:v>
                </c:pt>
              </c:strCache>
            </c:strRef>
          </c:tx>
          <c:spPr>
            <a:solidFill>
              <a:srgbClr val="F47620"/>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6.557850340169588</c:v>
                </c:pt>
                <c:pt idx="1">
                  <c:v>6.1668899082568815</c:v>
                </c:pt>
                <c:pt idx="2">
                  <c:v>5.1995150313360705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Foam Sheets, Rolls &amp; Planks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15.864684267210599</c:v>
                </c:pt>
                <c:pt idx="1">
                  <c:v>15.000190002090024</c:v>
                </c:pt>
                <c:pt idx="2">
                  <c:v>17.845283190206008</c:v>
                </c:pt>
                <c:pt idx="3">
                  <c:v>16.596247668229598</c:v>
                </c:pt>
                <c:pt idx="4">
                  <c:v>14.534777653784825</c:v>
                </c:pt>
                <c:pt idx="5">
                  <c:v>14.289277068280489</c:v>
                </c:pt>
              </c:numCache>
            </c:numRef>
          </c:val>
        </c:ser>
        <c:ser>
          <c:idx val="1"/>
          <c:order val="1"/>
          <c:tx>
            <c:strRef>
              <c:strCache>
                <c:ptCount val="1"/>
                <c:pt idx="0">
                  <c:v>Fabricated Foam Packaging</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16.561794845514985</c:v>
                </c:pt>
                <c:pt idx="1">
                  <c:v>16.215931946679987</c:v>
                </c:pt>
                <c:pt idx="2">
                  <c:v>16.86458807675404</c:v>
                </c:pt>
                <c:pt idx="3">
                  <c:v>16.37728466011303</c:v>
                </c:pt>
                <c:pt idx="4">
                  <c:v>16.33176723126897</c:v>
                </c:pt>
                <c:pt idx="5">
                  <c:v>18.91823429987169</c:v>
                </c:pt>
              </c:numCache>
            </c:numRef>
          </c:val>
        </c:ser>
        <c:ser>
          <c:idx val="2"/>
          <c:order val="2"/>
          <c:tx>
            <c:strRef>
              <c:strCache>
                <c:ptCount val="1"/>
                <c:pt idx="0">
                  <c:v>Molded Foam Packaging</c:v>
                </c:pt>
              </c:strCache>
            </c:strRef>
          </c:tx>
          <c:spPr>
            <a:solidFill>
              <a:srgbClr val="0E2A5C"/>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7.100648385085965</c:v>
                </c:pt>
                <c:pt idx="1">
                  <c:v>7.300287446019049</c:v>
                </c:pt>
                <c:pt idx="2">
                  <c:v>7.330152660819319</c:v>
                </c:pt>
                <c:pt idx="3">
                  <c:v>6.348502594357644</c:v>
                </c:pt>
                <c:pt idx="4">
                  <c:v>6.019285247760822</c:v>
                </c:pt>
                <c:pt idx="5">
                  <c:v>6.840704955910433</c:v>
                </c:pt>
              </c:numCache>
            </c:numRef>
          </c:val>
        </c:ser>
        <c:ser>
          <c:idx val="3"/>
          <c:order val="3"/>
          <c:tx>
            <c:strRef>
              <c:strCache>
                <c:ptCount val="1"/>
                <c:pt idx="0">
                  <c:v>Foam-in-Place Packaging</c:v>
                </c:pt>
              </c:strCache>
            </c:strRef>
          </c:tx>
          <c:spPr>
            <a:solidFill>
              <a:srgbClr val="00ACAC"/>
            </a:solidFill>
            <a:ln>
              <a:noFill/>
            </a:ln>
          </c:spPr>
          <c:dLbls>
            <c:dLbl>
              <c:idx val="0"/>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11.189557286897376</c:v>
                </c:pt>
                <c:pt idx="1">
                  <c:v>12.9473531351702</c:v>
                </c:pt>
                <c:pt idx="2">
                  <c:v>13.392944126342906</c:v>
                </c:pt>
                <c:pt idx="3">
                  <c:v>10.604682406503615</c:v>
                </c:pt>
                <c:pt idx="4">
                  <c:v>11.801641287599676</c:v>
                </c:pt>
                <c:pt idx="5">
                  <c:v>11.535347329761038</c:v>
                </c:pt>
              </c:numCache>
            </c:numRef>
          </c:val>
        </c:ser>
        <c:ser>
          <c:idx val="4"/>
          <c:order val="4"/>
          <c:tx>
            <c:strRef>
              <c:strCache>
                <c:ptCount val="1"/>
                <c:pt idx="0">
                  <c:v>Foam Pouches, Bags &amp; Sleeves</c:v>
                </c:pt>
              </c:strCache>
            </c:strRef>
          </c:tx>
          <c:spPr>
            <a:solidFill>
              <a:srgbClr val="F47620"/>
            </a:solidFill>
            <a:ln>
              <a:noFill/>
            </a:ln>
          </c:spPr>
          <c:dLbls>
            <c:dLbl>
              <c:idx val="0"/>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35.262134747828775</c:v>
                </c:pt>
                <c:pt idx="1">
                  <c:v>36.74253631075656</c:v>
                </c:pt>
                <c:pt idx="2">
                  <c:v>30.6412230498397</c:v>
                </c:pt>
                <c:pt idx="3">
                  <c:v>36.945474670961886</c:v>
                </c:pt>
                <c:pt idx="4">
                  <c:v>36.751846665734746</c:v>
                </c:pt>
                <c:pt idx="5">
                  <c:v>37.04953300920711</c:v>
                </c:pt>
              </c:numCache>
            </c:numRef>
          </c:val>
        </c:ser>
        <c:ser>
          <c:idx val="5"/>
          <c:order val="5"/>
          <c:tx>
            <c:strRef>
              <c:strCache>
                <c:ptCount val="1"/>
                <c:pt idx="0">
                  <c:v>Foam Loose-Fill Packaging</c:v>
                </c:pt>
              </c:strCache>
            </c:strRef>
          </c:tx>
          <c:spPr>
            <a:solidFill>
              <a:srgbClr val="79C3EC"/>
            </a:solidFill>
            <a:ln>
              <a:noFill/>
            </a:ln>
          </c:spPr>
          <c:dLbls>
            <c:dLbl>
              <c:idx val="0"/>
              <c:numFmt formatCode="&quot;MMMM&quot;;&quot;MMMM&quot;;&quot;M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3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3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14.02118046746229</c:v>
                </c:pt>
                <c:pt idx="1">
                  <c:v>11.793701159284183</c:v>
                </c:pt>
                <c:pt idx="2">
                  <c:v>13.925808896038031</c:v>
                </c:pt>
                <c:pt idx="3">
                  <c:v>13.127807999834223</c:v>
                </c:pt>
                <c:pt idx="4">
                  <c:v>14.560681913850962</c:v>
                </c:pt>
                <c:pt idx="5">
                  <c:v>11.366903336969255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Foam Sheets, Rolls &amp; Planks</c:v>
                </c:pt>
              </c:strCache>
            </c:strRef>
          </c:tx>
          <c:spPr>
            <a:solidFill>
              <a:srgbClr val="2A5F8F"/>
            </a:solidFill>
          </c:spPr>
          <c:invertIfNegative val="0"/>
          <c:xVal>
            <c:numRef>
              <c:numCache>
                <c:formatCode>General</c:formatCode>
                <c:ptCount val="1"/>
                <c:pt idx="0">
                  <c:v>89.10688438140365</c:v>
                </c:pt>
              </c:numCache>
            </c:numRef>
          </c:xVal>
          <c:yVal>
            <c:numRef>
              <c:numCache>
                <c:formatCode>General</c:formatCode>
                <c:ptCount val="1"/>
                <c:pt idx="0">
                  <c:v>96.55304587155963</c:v>
                </c:pt>
              </c:numCache>
            </c:numRef>
          </c:yVal>
          <c:bubbleSize>
            <c:numRef>
              <c:numCache>
                <c:formatCode>General</c:formatCode>
                <c:ptCount val="1"/>
                <c:pt idx="0">
                  <c:v>2701.923</c:v>
                </c:pt>
              </c:numCache>
            </c:numRef>
          </c:bubbleSize>
          <c:bubble3D val="0"/>
        </c:ser>
        <c:ser>
          <c:idx val="1"/>
          <c:order val="1"/>
          <c:tx>
            <c:strRef>
              <c:strCache>
                <c:ptCount val="1"/>
                <c:pt idx="0">
                  <c:v>Fabricated Foam Packaging</c:v>
                </c:pt>
              </c:strCache>
            </c:strRef>
          </c:tx>
          <c:spPr>
            <a:solidFill>
              <a:srgbClr val="0081E2"/>
            </a:solidFill>
          </c:spPr>
          <c:invertIfNegative val="0"/>
          <c:xVal>
            <c:numRef>
              <c:numCache>
                <c:formatCode>General</c:formatCode>
                <c:ptCount val="1"/>
                <c:pt idx="0">
                  <c:v>76.23241651868115</c:v>
                </c:pt>
              </c:numCache>
            </c:numRef>
          </c:xVal>
          <c:yVal>
            <c:numRef>
              <c:numCache>
                <c:formatCode>General</c:formatCode>
                <c:ptCount val="1"/>
                <c:pt idx="0">
                  <c:v>115.50622018348623</c:v>
                </c:pt>
              </c:numCache>
            </c:numRef>
          </c:yVal>
          <c:bubbleSize>
            <c:numRef>
              <c:numCache>
                <c:formatCode>General</c:formatCode>
                <c:ptCount val="1"/>
                <c:pt idx="0">
                  <c:v>3040.175</c:v>
                </c:pt>
              </c:numCache>
            </c:numRef>
          </c:bubbleSize>
          <c:bubble3D val="0"/>
        </c:ser>
        <c:ser>
          <c:idx val="2"/>
          <c:order val="2"/>
          <c:tx>
            <c:strRef>
              <c:strCache>
                <c:ptCount val="1"/>
                <c:pt idx="0">
                  <c:v>Molded Foam Packaging</c:v>
                </c:pt>
              </c:strCache>
            </c:strRef>
          </c:tx>
          <c:spPr>
            <a:solidFill>
              <a:srgbClr val="0E2A5C"/>
            </a:solidFill>
          </c:spPr>
          <c:invertIfNegative val="0"/>
          <c:xVal>
            <c:numRef>
              <c:numCache>
                <c:formatCode>General</c:formatCode>
                <c:ptCount val="1"/>
                <c:pt idx="0">
                  <c:v>69.01891352523066</c:v>
                </c:pt>
              </c:numCache>
            </c:numRef>
          </c:xVal>
          <c:yVal>
            <c:numRef>
              <c:numCache>
                <c:formatCode>General</c:formatCode>
                <c:ptCount val="1"/>
                <c:pt idx="0">
                  <c:v>46.30001834862385</c:v>
                </c:pt>
              </c:numCache>
            </c:numRef>
          </c:yVal>
          <c:bubbleSize>
            <c:numRef>
              <c:numCache>
                <c:formatCode>General</c:formatCode>
                <c:ptCount val="1"/>
                <c:pt idx="0">
                  <c:v>1177.311</c:v>
                </c:pt>
              </c:numCache>
            </c:numRef>
          </c:bubbleSize>
          <c:bubble3D val="0"/>
        </c:ser>
        <c:ser>
          <c:idx val="3"/>
          <c:order val="3"/>
          <c:tx>
            <c:strRef>
              <c:strCache>
                <c:ptCount val="1"/>
                <c:pt idx="0">
                  <c:v>Foam-in-Place Packaging</c:v>
                </c:pt>
              </c:strCache>
            </c:strRef>
          </c:tx>
          <c:spPr>
            <a:solidFill>
              <a:srgbClr val="00ACAC"/>
            </a:solidFill>
          </c:spPr>
          <c:invertIfNegative val="0"/>
          <c:xVal>
            <c:numRef>
              <c:numCache>
                <c:formatCode>General</c:formatCode>
                <c:ptCount val="1"/>
                <c:pt idx="0">
                  <c:v>41.05193842228379</c:v>
                </c:pt>
              </c:numCache>
            </c:numRef>
          </c:xVal>
          <c:yVal>
            <c:numRef>
              <c:numCache>
                <c:formatCode>General</c:formatCode>
                <c:ptCount val="1"/>
                <c:pt idx="0">
                  <c:v>94.06585321100917</c:v>
                </c:pt>
              </c:numCache>
            </c:numRef>
          </c:yVal>
          <c:bubbleSize>
            <c:numRef>
              <c:numCache>
                <c:formatCode>General</c:formatCode>
                <c:ptCount val="1"/>
                <c:pt idx="0">
                  <c:v>2090.057</c:v>
                </c:pt>
              </c:numCache>
            </c:numRef>
          </c:bubbleSize>
          <c:bubble3D val="0"/>
        </c:ser>
        <c:ser>
          <c:idx val="4"/>
          <c:order val="4"/>
          <c:tx>
            <c:strRef>
              <c:strCache>
                <c:ptCount val="1"/>
                <c:pt idx="0">
                  <c:v>Foam Pouches, Bags &amp; Sleeves</c:v>
                </c:pt>
              </c:strCache>
            </c:strRef>
          </c:tx>
          <c:spPr>
            <a:solidFill>
              <a:srgbClr val="F47620"/>
            </a:solidFill>
          </c:spPr>
          <c:invertIfNegative val="0"/>
          <c:xVal>
            <c:numRef>
              <c:numCache>
                <c:formatCode>General</c:formatCode>
                <c:ptCount val="1"/>
                <c:pt idx="0">
                  <c:v>160.44180595679674</c:v>
                </c:pt>
              </c:numCache>
            </c:numRef>
          </c:xVal>
          <c:yVal>
            <c:numRef>
              <c:numCache>
                <c:formatCode>General</c:formatCode>
                <c:ptCount val="1"/>
                <c:pt idx="0">
                  <c:v>162.95020183486238</c:v>
                </c:pt>
              </c:numCache>
            </c:numRef>
          </c:yVal>
          <c:bubbleSize>
            <c:numRef>
              <c:numCache>
                <c:formatCode>General</c:formatCode>
                <c:ptCount val="1"/>
                <c:pt idx="0">
                  <c:v>6361.204</c:v>
                </c:pt>
              </c:numCache>
            </c:numRef>
          </c:bubbleSize>
          <c:bubble3D val="0"/>
        </c:ser>
        <c:ser>
          <c:idx val="5"/>
          <c:order val="5"/>
          <c:tx>
            <c:strRef>
              <c:strCache>
                <c:ptCount val="1"/>
                <c:pt idx="0">
                  <c:v>Foam Loose-Fill Packaging</c:v>
                </c:pt>
              </c:strCache>
            </c:strRef>
          </c:tx>
          <c:spPr>
            <a:solidFill>
              <a:srgbClr val="79C3EC"/>
            </a:solidFill>
          </c:spPr>
          <c:invertIfNegative val="0"/>
          <c:xVal>
            <c:numRef>
              <c:numCache>
                <c:formatCode>General</c:formatCode>
                <c:ptCount val="1"/>
                <c:pt idx="0">
                  <c:v>83.69449111203939</c:v>
                </c:pt>
              </c:numCache>
            </c:numRef>
          </c:xVal>
          <c:yVal>
            <c:numRef>
              <c:numCache>
                <c:formatCode>General</c:formatCode>
                <c:ptCount val="1"/>
                <c:pt idx="0">
                  <c:v>84.62466055045871</c:v>
                </c:pt>
              </c:numCache>
            </c:numRef>
          </c:yVal>
          <c:bubbleSize>
            <c:numRef>
              <c:numCache>
                <c:formatCode>General</c:formatCode>
                <c:ptCount val="1"/>
                <c:pt idx="0">
                  <c:v>2307.998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0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1754.047</c:v>
                </c:pt>
                <c:pt idx="2">
                  <c:v>1912.147</c:v>
                </c:pt>
                <c:pt idx="3">
                  <c:v>2084.646</c:v>
                </c:pt>
                <c:pt idx="4">
                  <c:v>2272.829</c:v>
                </c:pt>
                <c:pt idx="5">
                  <c:v>2478.0820000000003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1754.047</c:v>
                </c:pt>
                <c:pt idx="1">
                  <c:v>158.0999999999999</c:v>
                </c:pt>
                <c:pt idx="2">
                  <c:v>172.49900000000025</c:v>
                </c:pt>
                <c:pt idx="3">
                  <c:v>188.183</c:v>
                </c:pt>
                <c:pt idx="4">
                  <c:v>205.25300000000016</c:v>
                </c:pt>
                <c:pt idx="5">
                  <c:v>223.84099999999944</c:v>
                </c:pt>
                <c:pt idx="6">
                  <c:v>2701.923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2098.363</c:v>
                </c:pt>
                <c:pt idx="2">
                  <c:v>2262.4</c:v>
                </c:pt>
                <c:pt idx="3">
                  <c:v>2438.064</c:v>
                </c:pt>
                <c:pt idx="4">
                  <c:v>2625.907</c:v>
                </c:pt>
                <c:pt idx="5">
                  <c:v>2826.452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2098.363</c:v>
                </c:pt>
                <c:pt idx="1">
                  <c:v>164.03700000000026</c:v>
                </c:pt>
                <c:pt idx="2">
                  <c:v>175.66399999999976</c:v>
                </c:pt>
                <c:pt idx="3">
                  <c:v>187.8430000000003</c:v>
                </c:pt>
                <c:pt idx="4">
                  <c:v>200.54500000000007</c:v>
                </c:pt>
                <c:pt idx="5">
                  <c:v>213.72299999999996</c:v>
                </c:pt>
                <c:pt idx="6">
                  <c:v>3040.175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841.117</c:v>
                </c:pt>
                <c:pt idx="2">
                  <c:v>901.642</c:v>
                </c:pt>
                <c:pt idx="3">
                  <c:v>965.5540000000001</c:v>
                </c:pt>
                <c:pt idx="4">
                  <c:v>1032.863</c:v>
                </c:pt>
                <c:pt idx="5">
                  <c:v>1103.491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841.117</c:v>
                </c:pt>
                <c:pt idx="1">
                  <c:v>60.52500000000009</c:v>
                </c:pt>
                <c:pt idx="2">
                  <c:v>63.912000000000035</c:v>
                </c:pt>
                <c:pt idx="3">
                  <c:v>67.30899999999997</c:v>
                </c:pt>
                <c:pt idx="4">
                  <c:v>70.62799999999993</c:v>
                </c:pt>
                <c:pt idx="5">
                  <c:v>73.81999999999994</c:v>
                </c:pt>
                <c:pt idx="6">
                  <c:v>1177.311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1708.863</c:v>
                </c:pt>
                <c:pt idx="2">
                  <c:v>1793.337</c:v>
                </c:pt>
                <c:pt idx="3">
                  <c:v>1875.626</c:v>
                </c:pt>
                <c:pt idx="4">
                  <c:v>1954.008</c:v>
                </c:pt>
                <c:pt idx="5">
                  <c:v>2026.3519999999999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1708.863</c:v>
                </c:pt>
                <c:pt idx="1">
                  <c:v>84.47399999999993</c:v>
                </c:pt>
                <c:pt idx="2">
                  <c:v>82.28899999999999</c:v>
                </c:pt>
                <c:pt idx="3">
                  <c:v>78.38200000000006</c:v>
                </c:pt>
                <c:pt idx="4">
                  <c:v>72.34399999999982</c:v>
                </c:pt>
                <c:pt idx="5">
                  <c:v>63.70499999999993</c:v>
                </c:pt>
                <c:pt idx="6">
                  <c:v>2090.057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2960.262</c:v>
                </c:pt>
                <c:pt idx="2">
                  <c:v>3459.509</c:v>
                </c:pt>
                <c:pt idx="3">
                  <c:v>4036.435</c:v>
                </c:pt>
                <c:pt idx="4">
                  <c:v>4702.885</c:v>
                </c:pt>
                <c:pt idx="5">
                  <c:v>5472.552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2960.262</c:v>
                </c:pt>
                <c:pt idx="1">
                  <c:v>499.24699999999984</c:v>
                </c:pt>
                <c:pt idx="2">
                  <c:v>576.9259999999999</c:v>
                </c:pt>
                <c:pt idx="3">
                  <c:v>666.4500000000003</c:v>
                </c:pt>
                <c:pt idx="4">
                  <c:v>769.6669999999995</c:v>
                </c:pt>
                <c:pt idx="5">
                  <c:v>888.652</c:v>
                </c:pt>
                <c:pt idx="6">
                  <c:v>6361.204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1537.348</c:v>
                </c:pt>
                <c:pt idx="2">
                  <c:v>1668.286</c:v>
                </c:pt>
                <c:pt idx="3">
                  <c:v>1810.014</c:v>
                </c:pt>
                <c:pt idx="4">
                  <c:v>1963.326</c:v>
                </c:pt>
                <c:pt idx="5">
                  <c:v>2129.042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1537.348</c:v>
                </c:pt>
                <c:pt idx="1">
                  <c:v>130.9380000000001</c:v>
                </c:pt>
                <c:pt idx="2">
                  <c:v>141.72799999999984</c:v>
                </c:pt>
                <c:pt idx="3">
                  <c:v>153.31200000000013</c:v>
                </c:pt>
                <c:pt idx="4">
                  <c:v>165.7159999999999</c:v>
                </c:pt>
                <c:pt idx="5">
                  <c:v>178.95600000000013</c:v>
                </c:pt>
                <c:pt idx="6">
                  <c:v>2307.998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Pouches, Bags &amp; Sleeves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23.138959727599932</c:v>
                </c:pt>
                <c:pt idx="1">
                  <c:v>27.158366972477065</c:v>
                </c:pt>
                <c:pt idx="2">
                  <c:v>35.98237152256041</c:v>
                </c:pt>
              </c:numCache>
            </c:numRef>
          </c:val>
        </c:ser>
        <c:ser>
          <c:idx val="1"/>
          <c:order val="1"/>
          <c:tx>
            <c:strRef>
              <c:strCache>
                <c:ptCount val="1"/>
                <c:pt idx="0">
                  <c:v>Fabricated Foam Packaging</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20.200753104221842</c:v>
                </c:pt>
                <c:pt idx="1">
                  <c:v>19.251036697247706</c:v>
                </c:pt>
                <c:pt idx="2">
                  <c:v>17.19685555495471</c:v>
                </c:pt>
              </c:numCache>
            </c:numRef>
          </c:val>
        </c:ser>
        <c:ser>
          <c:idx val="2"/>
          <c:order val="2"/>
          <c:tx>
            <c:strRef>
              <c:strCache>
                <c:ptCount val="1"/>
                <c:pt idx="0">
                  <c:v>Sheets, Rolls &amp; Planks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16.461705251933427</c:v>
                </c:pt>
                <c:pt idx="1">
                  <c:v>16.092174311926605</c:v>
                </c:pt>
                <c:pt idx="2">
                  <c:v>15.28352136031968</c:v>
                </c:pt>
              </c:numCache>
            </c:numRef>
          </c:val>
        </c:ser>
        <c:ser>
          <c:idx val="3"/>
          <c:order val="3"/>
          <c:tx>
            <c:strRef>
              <c:strCache>
                <c:ptCount val="1"/>
                <c:pt idx="0">
                  <c:v>Loose-Fill Packaging</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14.578832664929346</c:v>
                </c:pt>
                <c:pt idx="1">
                  <c:v>14.104110091743118</c:v>
                </c:pt>
                <c:pt idx="2">
                  <c:v>13.055270906156508</c:v>
                </c:pt>
              </c:numCache>
            </c:numRef>
          </c:val>
        </c:ser>
        <c:ser>
          <c:idx val="4"/>
          <c:order val="4"/>
          <c:tx>
            <c:strRef>
              <c:strCache>
                <c:ptCount val="1"/>
                <c:pt idx="0">
                  <c:v>Foam-in-Place Packaging</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17.419615910348984</c:v>
                </c:pt>
                <c:pt idx="1">
                  <c:v>15.677642201834862</c:v>
                </c:pt>
                <c:pt idx="2">
                  <c:v>11.822480064674556</c:v>
                </c:pt>
              </c:numCache>
            </c:numRef>
          </c:val>
        </c:ser>
        <c:ser>
          <c:idx val="5"/>
          <c:order val="5"/>
          <c:tx>
            <c:strRef>
              <c:strCache>
                <c:ptCount val="1"/>
                <c:pt idx="0">
                  <c:v>Molded Foam Packaging</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8.200133340966474</c:v>
                </c:pt>
                <c:pt idx="1">
                  <c:v>7.716669724770641</c:v>
                </c:pt>
                <c:pt idx="2">
                  <c:v>6.659500591334144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Electronics &amp; Electrical</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13.229979283264809</c:v>
                </c:pt>
                <c:pt idx="1">
                  <c:v>12.937310167554699</c:v>
                </c:pt>
                <c:pt idx="2">
                  <c:v>12.535061822981161</c:v>
                </c:pt>
                <c:pt idx="3">
                  <c:v>13.39300708478298</c:v>
                </c:pt>
                <c:pt idx="4">
                  <c:v>12.410490119657148</c:v>
                </c:pt>
                <c:pt idx="5">
                  <c:v>12.239132687715236</c:v>
                </c:pt>
              </c:numCache>
            </c:numRef>
          </c:val>
        </c:ser>
        <c:ser>
          <c:idx val="1"/>
          <c:order val="1"/>
          <c:tx>
            <c:strRef>
              <c:strCache>
                <c:ptCount val="1"/>
                <c:pt idx="0">
                  <c:v>Automotive</c:v>
                </c:pt>
              </c:strCache>
            </c:strRef>
          </c:tx>
          <c:spPr>
            <a:solidFill>
              <a:srgbClr val="0081E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13.27467232106403</c:v>
                </c:pt>
                <c:pt idx="1">
                  <c:v>11.67148910066582</c:v>
                </c:pt>
                <c:pt idx="2">
                  <c:v>12.413747805261027</c:v>
                </c:pt>
                <c:pt idx="3">
                  <c:v>12.726620453614334</c:v>
                </c:pt>
                <c:pt idx="4">
                  <c:v>12.299232112437124</c:v>
                </c:pt>
                <c:pt idx="5">
                  <c:v>12.910932885590798</c:v>
                </c:pt>
              </c:numCache>
            </c:numRef>
          </c:val>
        </c:ser>
        <c:ser>
          <c:idx val="2"/>
          <c:order val="2"/>
          <c:tx>
            <c:strRef>
              <c:strCache>
                <c:ptCount val="1"/>
                <c:pt idx="0">
                  <c:v>Healthcare &amp; Pharmaceuticals</c:v>
                </c:pt>
              </c:strCache>
            </c:strRef>
          </c:tx>
          <c:spPr>
            <a:solidFill>
              <a:srgbClr val="0E2A5C"/>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15.756396060963992</c:v>
                </c:pt>
                <c:pt idx="1">
                  <c:v>15.540813806094722</c:v>
                </c:pt>
                <c:pt idx="2">
                  <c:v>15.297071668283749</c:v>
                </c:pt>
                <c:pt idx="3">
                  <c:v>17.1964100773062</c:v>
                </c:pt>
                <c:pt idx="4">
                  <c:v>15.372105218681709</c:v>
                </c:pt>
                <c:pt idx="5">
                  <c:v>15.489783015358096</c:v>
                </c:pt>
              </c:numCache>
            </c:numRef>
          </c:val>
        </c:ser>
        <c:ser>
          <c:idx val="3"/>
          <c:order val="3"/>
          <c:tx>
            <c:strRef>
              <c:strCache>
                <c:ptCount val="1"/>
                <c:pt idx="0">
                  <c:v>Industrial Machinery &amp; Equipment</c:v>
                </c:pt>
              </c:strCache>
            </c:strRef>
          </c:tx>
          <c:spPr>
            <a:solidFill>
              <a:srgbClr val="00ACAC"/>
            </a:solidFill>
            <a:ln>
              <a:noFill/>
            </a:ln>
          </c:spPr>
          <c:dLbls>
            <c:dLbl>
              <c:idx val="0"/>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10.529578894132944</c:v>
                </c:pt>
                <c:pt idx="1">
                  <c:v>11.372303666768905</c:v>
                </c:pt>
                <c:pt idx="2">
                  <c:v>12.26192895459673</c:v>
                </c:pt>
                <c:pt idx="3">
                  <c:v>10.831588867596022</c:v>
                </c:pt>
                <c:pt idx="4">
                  <c:v>11.335798976623773</c:v>
                </c:pt>
                <c:pt idx="5">
                  <c:v>10.464310451393368</c:v>
                </c:pt>
              </c:numCache>
            </c:numRef>
          </c:val>
        </c:ser>
        <c:ser>
          <c:idx val="4"/>
          <c:order val="4"/>
          <c:tx>
            <c:strRef>
              <c:strCache>
                <c:ptCount val="1"/>
                <c:pt idx="0">
                  <c:v>Consumer Goods &amp; Home Products</c:v>
                </c:pt>
              </c:strCache>
            </c:strRef>
          </c:tx>
          <c:spPr>
            <a:solidFill>
              <a:srgbClr val="F47620"/>
            </a:solidFill>
            <a:ln>
              <a:noFill/>
            </a:ln>
          </c:spPr>
          <c:dLbls>
            <c:dLbl>
              <c:idx val="0"/>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25.218298606618934</c:v>
                </c:pt>
                <c:pt idx="1">
                  <c:v>24.762497387471264</c:v>
                </c:pt>
                <c:pt idx="2">
                  <c:v>25.54109710719848</c:v>
                </c:pt>
                <c:pt idx="3">
                  <c:v>22.80435836542733</c:v>
                </c:pt>
                <c:pt idx="4">
                  <c:v>25.354979185769082</c:v>
                </c:pt>
                <c:pt idx="5">
                  <c:v>25.624586671955278</c:v>
                </c:pt>
              </c:numCache>
            </c:numRef>
          </c:val>
        </c:ser>
        <c:ser>
          <c:idx val="5"/>
          <c:order val="5"/>
          <c:tx>
            <c:strRef>
              <c:strCache>
                <c:ptCount val="1"/>
                <c:pt idx="0">
                  <c:v>Food &amp; Beverage</c:v>
                </c:pt>
              </c:strCache>
            </c:strRef>
          </c:tx>
          <c:spPr>
            <a:solidFill>
              <a:srgbClr val="79C3EC"/>
            </a:solidFill>
            <a:ln>
              <a:noFill/>
            </a:ln>
          </c:spPr>
          <c:dLbls>
            <c:dLbl>
              <c:idx val="0"/>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3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8.656335742164858</c:v>
                </c:pt>
                <c:pt idx="1">
                  <c:v>8.889315639614892</c:v>
                </c:pt>
                <c:pt idx="2">
                  <c:v>9.132318239465583</c:v>
                </c:pt>
                <c:pt idx="3">
                  <c:v>8.737539247780905</c:v>
                </c:pt>
                <c:pt idx="4">
                  <c:v>9.875426571294762</c:v>
                </c:pt>
                <c:pt idx="5">
                  <c:v>9.917915939420554</c:v>
                </c:pt>
              </c:numCache>
            </c:numRef>
          </c:val>
        </c:ser>
        <c:ser>
          <c:idx val="6"/>
          <c:order val="6"/>
          <c:tx>
            <c:strRef>
              <c:strCache>
                <c:ptCount val="1"/>
                <c:pt idx="0">
                  <c:v>Aerospace &amp; Defense</c:v>
                </c:pt>
              </c:strCache>
            </c:strRef>
          </c:tx>
          <c:spPr>
            <a:solidFill>
              <a:srgbClr val="586272"/>
            </a:solidFill>
            <a:ln>
              <a:noFill/>
            </a:ln>
          </c:spPr>
          <c:dLbls>
            <c:dLbl>
              <c:idx val="0"/>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3.8110055765485886</c:v>
                </c:pt>
                <c:pt idx="1">
                  <c:v>4.217707109063914</c:v>
                </c:pt>
                <c:pt idx="2">
                  <c:v>3.792694092509874</c:v>
                </c:pt>
                <c:pt idx="3">
                  <c:v>4.115485718405456</c:v>
                </c:pt>
                <c:pt idx="4">
                  <c:v>3.741270145893109</c:v>
                </c:pt>
                <c:pt idx="5">
                  <c:v>3.6266809916443425</c:v>
                </c:pt>
              </c:numCache>
            </c:numRef>
          </c:val>
        </c:ser>
        <c:ser>
          <c:idx val="7"/>
          <c:order val="7"/>
          <c:tx>
            <c:strRef>
              <c:strCache>
                <c:ptCount val="1"/>
                <c:pt idx="0">
                  <c:v>Others</c:v>
                </c:pt>
              </c:strCache>
            </c:strRef>
          </c:tx>
          <c:spPr>
            <a:solidFill>
              <a:srgbClr val="1F476B"/>
            </a:solidFill>
            <a:ln>
              <a:noFill/>
            </a:ln>
          </c:spPr>
          <c:dLbls>
            <c:dLbl>
              <c:idx val="0"/>
              <c:numFmt formatCode="&quot;MMM&quot;;&quot;MMM&quot;;&quot;MMM&quot;" sourceLinked="0"/>
              <c:spPr>
                <a:blipFill>
                  <a:blip r:embed="rId3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quot;;&quot;MMM&quot;;&quot;MMM&quot;" sourceLinked="0"/>
              <c:spPr>
                <a:blipFill>
                  <a:blip r:embed="rId3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3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quot;;&quot;MMM&quot;;&quot;MMM&quot;" sourceLinked="0"/>
              <c:spPr>
                <a:blipFill>
                  <a:blip r:embed="rId4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quot;;&quot;MMM&quot;;&quot;MMM&quot;" sourceLinked="0"/>
              <c:spPr>
                <a:blipFill>
                  <a:blip r:embed="rId4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and Africa</c:v>
                </c:pt>
                <c:pt idx="1">
                  <c:v>Latin America</c:v>
                </c:pt>
                <c:pt idx="2">
                  <c:v>East Asia</c:v>
                </c:pt>
                <c:pt idx="3">
                  <c:v>South Asia &amp; Pacific</c:v>
                </c:pt>
                <c:pt idx="4">
                  <c:v>Europe</c:v>
                </c:pt>
                <c:pt idx="5">
                  <c:v>North America</c:v>
                </c:pt>
              </c:strCache>
            </c:strRef>
          </c:cat>
          <c:val>
            <c:numRef>
              <c:numCache>
                <c:formatCode>General</c:formatCode>
                <c:ptCount val="6"/>
                <c:pt idx="0">
                  <c:v>9.523733515241837</c:v>
                </c:pt>
                <c:pt idx="1">
                  <c:v>10.608563122765778</c:v>
                </c:pt>
                <c:pt idx="2">
                  <c:v>9.026080309703403</c:v>
                </c:pt>
                <c:pt idx="3">
                  <c:v>10.19499018508677</c:v>
                </c:pt>
                <c:pt idx="4">
                  <c:v>9.610697669643287</c:v>
                </c:pt>
                <c:pt idx="5">
                  <c:v>9.726657356922324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Electronics &amp; Electrical</c:v>
                </c:pt>
              </c:strCache>
            </c:strRef>
          </c:tx>
          <c:spPr>
            <a:solidFill>
              <a:srgbClr val="2A5F8F"/>
            </a:solidFill>
          </c:spPr>
          <c:invertIfNegative val="0"/>
          <c:xVal>
            <c:numRef>
              <c:numCache>
                <c:formatCode>General</c:formatCode>
                <c:ptCount val="1"/>
                <c:pt idx="0">
                  <c:v>121.49223249522676</c:v>
                </c:pt>
              </c:numCache>
            </c:numRef>
          </c:xVal>
          <c:yVal>
            <c:numRef>
              <c:numCache>
                <c:formatCode>General</c:formatCode>
                <c:ptCount val="1"/>
                <c:pt idx="0">
                  <c:v>91.13754128440367</c:v>
                </c:pt>
              </c:numCache>
            </c:numRef>
          </c:yVal>
          <c:bubbleSize>
            <c:numRef>
              <c:numCache>
                <c:formatCode>General</c:formatCode>
                <c:ptCount val="1"/>
                <c:pt idx="0">
                  <c:v>2227.919</c:v>
                </c:pt>
              </c:numCache>
            </c:numRef>
          </c:bubbleSize>
          <c:bubble3D val="0"/>
        </c:ser>
        <c:ser>
          <c:idx val="1"/>
          <c:order val="1"/>
          <c:tx>
            <c:strRef>
              <c:strCache>
                <c:ptCount val="1"/>
                <c:pt idx="0">
                  <c:v>Automotive</c:v>
                </c:pt>
              </c:strCache>
            </c:strRef>
          </c:tx>
          <c:spPr>
            <a:solidFill>
              <a:srgbClr val="0081E2"/>
            </a:solidFill>
          </c:spPr>
          <c:invertIfNegative val="0"/>
          <c:xVal>
            <c:numRef>
              <c:numCache>
                <c:formatCode>General</c:formatCode>
                <c:ptCount val="1"/>
                <c:pt idx="0">
                  <c:v>94.28131849387893</c:v>
                </c:pt>
              </c:numCache>
            </c:numRef>
          </c:xVal>
          <c:yVal>
            <c:numRef>
              <c:numCache>
                <c:formatCode>General</c:formatCode>
                <c:ptCount val="1"/>
                <c:pt idx="0">
                  <c:v>103.30664220183485</c:v>
                </c:pt>
              </c:numCache>
            </c:numRef>
          </c:yVal>
          <c:bubbleSize>
            <c:numRef>
              <c:numCache>
                <c:formatCode>General</c:formatCode>
                <c:ptCount val="1"/>
                <c:pt idx="0">
                  <c:v>2222.0159999999996</c:v>
                </c:pt>
              </c:numCache>
            </c:numRef>
          </c:bubbleSize>
          <c:bubble3D val="0"/>
        </c:ser>
        <c:ser>
          <c:idx val="2"/>
          <c:order val="2"/>
          <c:tx>
            <c:strRef>
              <c:strCache>
                <c:ptCount val="1"/>
                <c:pt idx="0">
                  <c:v>Healthcare &amp; Pharmaceuticals</c:v>
                </c:pt>
              </c:strCache>
            </c:strRef>
          </c:tx>
          <c:spPr>
            <a:solidFill>
              <a:srgbClr val="0E2A5C"/>
            </a:solidFill>
          </c:spPr>
          <c:invertIfNegative val="0"/>
          <c:xVal>
            <c:numRef>
              <c:numCache>
                <c:formatCode>General</c:formatCode>
                <c:ptCount val="1"/>
                <c:pt idx="0">
                  <c:v>63.980576078232396</c:v>
                </c:pt>
              </c:numCache>
            </c:numRef>
          </c:xVal>
          <c:yVal>
            <c:numRef>
              <c:numCache>
                <c:formatCode>General</c:formatCode>
                <c:ptCount val="1"/>
                <c:pt idx="0">
                  <c:v>148.88176146788993</c:v>
                </c:pt>
              </c:numCache>
            </c:numRef>
          </c:yVal>
          <c:bubbleSize>
            <c:numRef>
              <c:numCache>
                <c:formatCode>General</c:formatCode>
                <c:ptCount val="1"/>
                <c:pt idx="0">
                  <c:v>2771.513</c:v>
                </c:pt>
              </c:numCache>
            </c:numRef>
          </c:bubbleSize>
          <c:bubble3D val="0"/>
        </c:ser>
        <c:ser>
          <c:idx val="3"/>
          <c:order val="3"/>
          <c:tx>
            <c:strRef>
              <c:strCache>
                <c:ptCount val="1"/>
                <c:pt idx="0">
                  <c:v>Industrial Machinery &amp; Equipment</c:v>
                </c:pt>
              </c:strCache>
            </c:strRef>
          </c:tx>
          <c:spPr>
            <a:solidFill>
              <a:srgbClr val="00ACAC"/>
            </a:solidFill>
          </c:spPr>
          <c:invertIfNegative val="0"/>
          <c:xVal>
            <c:numRef>
              <c:numCache>
                <c:formatCode>General</c:formatCode>
                <c:ptCount val="1"/>
                <c:pt idx="0">
                  <c:v>66.7201542375522</c:v>
                </c:pt>
              </c:numCache>
            </c:numRef>
          </c:xVal>
          <c:yVal>
            <c:numRef>
              <c:numCache>
                <c:formatCode>General</c:formatCode>
                <c:ptCount val="1"/>
                <c:pt idx="0">
                  <c:v>103.78238532110092</c:v>
                </c:pt>
              </c:numCache>
            </c:numRef>
          </c:yVal>
          <c:bubbleSize>
            <c:numRef>
              <c:numCache>
                <c:formatCode>General</c:formatCode>
                <c:ptCount val="1"/>
                <c:pt idx="0">
                  <c:v>1957.5339999999999</c:v>
                </c:pt>
              </c:numCache>
            </c:numRef>
          </c:bubbleSize>
          <c:bubble3D val="0"/>
        </c:ser>
        <c:ser>
          <c:idx val="4"/>
          <c:order val="4"/>
          <c:tx>
            <c:strRef>
              <c:strCache>
                <c:ptCount val="1"/>
                <c:pt idx="0">
                  <c:v>Consumer Goods &amp; Home Products</c:v>
                </c:pt>
              </c:strCache>
            </c:strRef>
          </c:tx>
          <c:spPr>
            <a:solidFill>
              <a:srgbClr val="F47620"/>
            </a:solidFill>
          </c:spPr>
          <c:invertIfNegative val="0"/>
          <c:xVal>
            <c:numRef>
              <c:numCache>
                <c:formatCode>General</c:formatCode>
                <c:ptCount val="1"/>
                <c:pt idx="0">
                  <c:v>123.41612454153076</c:v>
                </c:pt>
              </c:numCache>
            </c:numRef>
          </c:xVal>
          <c:yVal>
            <c:numRef>
              <c:numCache>
                <c:formatCode>General</c:formatCode>
                <c:ptCount val="1"/>
                <c:pt idx="0">
                  <c:v>179.66444036697246</c:v>
                </c:pt>
              </c:numCache>
            </c:numRef>
          </c:yVal>
          <c:bubbleSize>
            <c:numRef>
              <c:numCache>
                <c:formatCode>General</c:formatCode>
                <c:ptCount val="1"/>
                <c:pt idx="0">
                  <c:v>4431.669</c:v>
                </c:pt>
              </c:numCache>
            </c:numRef>
          </c:bubbleSize>
          <c:bubble3D val="0"/>
        </c:ser>
        <c:ser>
          <c:idx val="5"/>
          <c:order val="5"/>
          <c:tx>
            <c:strRef>
              <c:strCache>
                <c:ptCount val="1"/>
                <c:pt idx="0">
                  <c:v>Food &amp; Beverage</c:v>
                </c:pt>
              </c:strCache>
            </c:strRef>
          </c:tx>
          <c:spPr>
            <a:solidFill>
              <a:srgbClr val="79C3EC"/>
            </a:solidFill>
          </c:spPr>
          <c:invertIfNegative val="0"/>
          <c:xVal>
            <c:numRef>
              <c:numCache>
                <c:formatCode>General</c:formatCode>
                <c:ptCount val="1"/>
                <c:pt idx="0">
                  <c:v>104.43424066412774</c:v>
                </c:pt>
              </c:numCache>
            </c:numRef>
          </c:xVal>
          <c:yVal>
            <c:numRef>
              <c:numCache>
                <c:formatCode>General</c:formatCode>
                <c:ptCount val="1"/>
                <c:pt idx="0">
                  <c:v>74.26730275229357</c:v>
                </c:pt>
              </c:numCache>
            </c:numRef>
          </c:yVal>
          <c:bubbleSize>
            <c:numRef>
              <c:numCache>
                <c:formatCode>General</c:formatCode>
                <c:ptCount val="1"/>
                <c:pt idx="0">
                  <c:v>1675.8649999999998</c:v>
                </c:pt>
              </c:numCache>
            </c:numRef>
          </c:bubbleSize>
          <c:bubble3D val="0"/>
        </c:ser>
        <c:ser>
          <c:idx val="6"/>
          <c:order val="6"/>
          <c:tx>
            <c:strRef>
              <c:strCache>
                <c:ptCount val="1"/>
                <c:pt idx="0">
                  <c:v>Aerospace &amp; Defense</c:v>
                </c:pt>
              </c:strCache>
            </c:strRef>
          </c:tx>
          <c:spPr>
            <a:solidFill>
              <a:srgbClr val="586272"/>
            </a:solidFill>
          </c:spPr>
          <c:invertIfNegative val="0"/>
          <c:xVal>
            <c:numRef>
              <c:numCache>
                <c:formatCode>General</c:formatCode>
                <c:ptCount val="1"/>
                <c:pt idx="0">
                  <c:v>89.73189974889199</c:v>
                </c:pt>
              </c:numCache>
            </c:numRef>
          </c:xVal>
          <c:yVal>
            <c:numRef>
              <c:numCache>
                <c:formatCode>General</c:formatCode>
                <c:ptCount val="1"/>
                <c:pt idx="0">
                  <c:v>31.968587155963302</c:v>
                </c:pt>
              </c:numCache>
            </c:numRef>
          </c:yVal>
          <c:bubbleSize>
            <c:numRef>
              <c:numCache>
                <c:formatCode>General</c:formatCode>
                <c:ptCount val="1"/>
                <c:pt idx="0">
                  <c:v>672.9449999999999</c:v>
                </c:pt>
              </c:numCache>
            </c:numRef>
          </c:bubbleSize>
          <c:bubble3D val="0"/>
        </c:ser>
        <c:ser>
          <c:idx val="7"/>
          <c:order val="7"/>
          <c:tx>
            <c:strRef>
              <c:strCache>
                <c:ptCount val="1"/>
                <c:pt idx="0">
                  <c:v>Others</c:v>
                </c:pt>
              </c:strCache>
            </c:strRef>
          </c:tx>
          <c:spPr>
            <a:solidFill>
              <a:srgbClr val="1F476B"/>
            </a:solidFill>
          </c:spPr>
          <c:invertIfNegative val="0"/>
          <c:xVal>
            <c:numRef>
              <c:numCache>
                <c:formatCode>General</c:formatCode>
                <c:ptCount val="1"/>
                <c:pt idx="0">
                  <c:v>131.91701726089</c:v>
                </c:pt>
              </c:numCache>
            </c:numRef>
          </c:xVal>
          <c:yVal>
            <c:numRef>
              <c:numCache>
                <c:formatCode>General</c:formatCode>
                <c:ptCount val="1"/>
                <c:pt idx="0">
                  <c:v>66.99133944954127</c:v>
                </c:pt>
              </c:numCache>
            </c:numRef>
          </c:yVal>
          <c:bubbleSize>
            <c:numRef>
              <c:numCache>
                <c:formatCode>General</c:formatCode>
                <c:ptCount val="1"/>
                <c:pt idx="0">
                  <c:v>1719.207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1241.749</c:v>
                </c:pt>
                <c:pt idx="2">
                  <c:v>1396.657</c:v>
                </c:pt>
                <c:pt idx="3">
                  <c:v>1570.3039999999999</c:v>
                </c:pt>
                <c:pt idx="4">
                  <c:v>1764.9769999999999</c:v>
                </c:pt>
                <c:pt idx="5">
                  <c:v>1983.2169999999999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1241.749</c:v>
                </c:pt>
                <c:pt idx="1">
                  <c:v>154.9079999999999</c:v>
                </c:pt>
                <c:pt idx="2">
                  <c:v>173.64699999999993</c:v>
                </c:pt>
                <c:pt idx="3">
                  <c:v>194.673</c:v>
                </c:pt>
                <c:pt idx="4">
                  <c:v>218.24</c:v>
                </c:pt>
                <c:pt idx="5">
                  <c:v>244.702</c:v>
                </c:pt>
                <c:pt idx="6">
                  <c:v>2227.919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1407.5529999999999</c:v>
                </c:pt>
                <c:pt idx="2">
                  <c:v>1540.725</c:v>
                </c:pt>
                <c:pt idx="3">
                  <c:v>1687.2640000000001</c:v>
                </c:pt>
                <c:pt idx="4">
                  <c:v>1848.5810000000001</c:v>
                </c:pt>
                <c:pt idx="5">
                  <c:v>2026.2489999999998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1407.5529999999999</c:v>
                </c:pt>
                <c:pt idx="1">
                  <c:v>133.17200000000003</c:v>
                </c:pt>
                <c:pt idx="2">
                  <c:v>146.53900000000021</c:v>
                </c:pt>
                <c:pt idx="3">
                  <c:v>161.317</c:v>
                </c:pt>
                <c:pt idx="4">
                  <c:v>177.66799999999967</c:v>
                </c:pt>
                <c:pt idx="5">
                  <c:v>195.76699999999983</c:v>
                </c:pt>
                <c:pt idx="6">
                  <c:v>2222.0159999999996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2028.5140000000001</c:v>
                </c:pt>
                <c:pt idx="2">
                  <c:v>2160.223</c:v>
                </c:pt>
                <c:pt idx="3">
                  <c:v>2299.997</c:v>
                </c:pt>
                <c:pt idx="4">
                  <c:v>2448.2200000000003</c:v>
                </c:pt>
                <c:pt idx="5">
                  <c:v>2605.2709999999997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2028.5140000000001</c:v>
                </c:pt>
                <c:pt idx="1">
                  <c:v>131.70899999999983</c:v>
                </c:pt>
                <c:pt idx="2">
                  <c:v>139.7739999999999</c:v>
                </c:pt>
                <c:pt idx="3">
                  <c:v>148.2230000000004</c:v>
                </c:pt>
                <c:pt idx="4">
                  <c:v>157.05099999999948</c:v>
                </c:pt>
                <c:pt idx="5">
                  <c:v>166.2420000000002</c:v>
                </c:pt>
                <c:pt idx="6">
                  <c:v>2771.513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1414.0349999999999</c:v>
                </c:pt>
                <c:pt idx="2">
                  <c:v>1509.488</c:v>
                </c:pt>
                <c:pt idx="3">
                  <c:v>1611.207</c:v>
                </c:pt>
                <c:pt idx="4">
                  <c:v>1719.545</c:v>
                </c:pt>
                <c:pt idx="5">
                  <c:v>1834.8609999999999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1414.0349999999999</c:v>
                </c:pt>
                <c:pt idx="1">
                  <c:v>95.4530000000002</c:v>
                </c:pt>
                <c:pt idx="2">
                  <c:v>101.71900000000005</c:v>
                </c:pt>
                <c:pt idx="3">
                  <c:v>108.33799999999997</c:v>
                </c:pt>
                <c:pt idx="4">
                  <c:v>115.3159999999998</c:v>
                </c:pt>
                <c:pt idx="5">
                  <c:v>122.673</c:v>
                </c:pt>
                <c:pt idx="6">
                  <c:v>1957.5339999999999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2447.928</c:v>
                </c:pt>
                <c:pt idx="2">
                  <c:v>2758.8050000000003</c:v>
                </c:pt>
                <c:pt idx="3">
                  <c:v>3107.6639999999998</c:v>
                </c:pt>
                <c:pt idx="4">
                  <c:v>3499.1730000000002</c:v>
                </c:pt>
                <c:pt idx="5">
                  <c:v>3938.552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2447.928</c:v>
                </c:pt>
                <c:pt idx="1">
                  <c:v>310.8770000000004</c:v>
                </c:pt>
                <c:pt idx="2">
                  <c:v>348.85899999999947</c:v>
                </c:pt>
                <c:pt idx="3">
                  <c:v>391.50900000000047</c:v>
                </c:pt>
                <c:pt idx="4">
                  <c:v>439.3789999999999</c:v>
                </c:pt>
                <c:pt idx="5">
                  <c:v>493.11699999999973</c:v>
                </c:pt>
                <c:pt idx="6">
                  <c:v>4431.669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1011.8919999999999</c:v>
                </c:pt>
                <c:pt idx="2">
                  <c:v>1118.637</c:v>
                </c:pt>
                <c:pt idx="3">
                  <c:v>1237.019</c:v>
                </c:pt>
                <c:pt idx="4">
                  <c:v>1368.338</c:v>
                </c:pt>
                <c:pt idx="5">
                  <c:v>1514.075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1011.8919999999999</c:v>
                </c:pt>
                <c:pt idx="1">
                  <c:v>106.745</c:v>
                </c:pt>
                <c:pt idx="2">
                  <c:v>118.38200000000006</c:v>
                </c:pt>
                <c:pt idx="3">
                  <c:v>131.31899999999996</c:v>
                </c:pt>
                <c:pt idx="4">
                  <c:v>145.73700000000008</c:v>
                </c:pt>
                <c:pt idx="5">
                  <c:v>161.78999999999974</c:v>
                </c:pt>
                <c:pt idx="6">
                  <c:v>1675.8649999999998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435.572</c:v>
                </c:pt>
                <c:pt idx="2">
                  <c:v>474.71399999999994</c:v>
                </c:pt>
                <c:pt idx="3">
                  <c:v>517.6189999999999</c:v>
                </c:pt>
                <c:pt idx="4">
                  <c:v>564.669</c:v>
                </c:pt>
                <c:pt idx="5">
                  <c:v>616.288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435.572</c:v>
                </c:pt>
                <c:pt idx="1">
                  <c:v>39.14199999999994</c:v>
                </c:pt>
                <c:pt idx="2">
                  <c:v>42.90499999999997</c:v>
                </c:pt>
                <c:pt idx="3">
                  <c:v>47.05000000000007</c:v>
                </c:pt>
                <c:pt idx="4">
                  <c:v>51.61900000000003</c:v>
                </c:pt>
                <c:pt idx="5">
                  <c:v>56.656999999999925</c:v>
                </c:pt>
                <c:pt idx="6">
                  <c:v>672.9449999999999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912.757</c:v>
                </c:pt>
                <c:pt idx="2">
                  <c:v>1038.072</c:v>
                </c:pt>
                <c:pt idx="3">
                  <c:v>1179.265</c:v>
                </c:pt>
                <c:pt idx="4">
                  <c:v>1338.315</c:v>
                </c:pt>
                <c:pt idx="5">
                  <c:v>1517.458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912.757</c:v>
                </c:pt>
                <c:pt idx="1">
                  <c:v>125.31499999999994</c:v>
                </c:pt>
                <c:pt idx="2">
                  <c:v>141.1930000000002</c:v>
                </c:pt>
                <c:pt idx="3">
                  <c:v>159.04999999999995</c:v>
                </c:pt>
                <c:pt idx="4">
                  <c:v>179.14300000000003</c:v>
                </c:pt>
                <c:pt idx="5">
                  <c:v>201.74900000000002</c:v>
                </c:pt>
                <c:pt idx="6">
                  <c:v>1719.207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Consumer Goods &amp; Home Products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21.080319502970486</c:v>
                </c:pt>
                <c:pt idx="1">
                  <c:v>22.458055045871557</c:v>
                </c:pt>
                <c:pt idx="2">
                  <c:v>25.06788973015388</c:v>
                </c:pt>
              </c:numCache>
            </c:numRef>
          </c:val>
        </c:ser>
        <c:ser>
          <c:idx val="1"/>
          <c:order val="1"/>
          <c:tx>
            <c:strRef>
              <c:strCache>
                <c:ptCount val="1"/>
                <c:pt idx="0">
                  <c:v>Healthcare &amp; Pharmaceuticals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20.16215794126567</c:v>
                </c:pt>
                <c:pt idx="1">
                  <c:v>18.61022018348624</c:v>
                </c:pt>
                <c:pt idx="2">
                  <c:v>15.677159614061424</c:v>
                </c:pt>
              </c:numCache>
            </c:numRef>
          </c:val>
        </c:ser>
        <c:ser>
          <c:idx val="2"/>
          <c:order val="2"/>
          <c:tx>
            <c:strRef>
              <c:strCache>
                <c:ptCount val="1"/>
                <c:pt idx="0">
                  <c:v>Electronics &amp; Electrical</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10.752321115340832</c:v>
                </c:pt>
                <c:pt idx="1">
                  <c:v>11.392192660550458</c:v>
                </c:pt>
                <c:pt idx="2">
                  <c:v>12.602301259348273</c:v>
                </c:pt>
              </c:numCache>
            </c:numRef>
          </c:val>
        </c:ser>
        <c:ser>
          <c:idx val="3"/>
          <c:order val="3"/>
          <c:tx>
            <c:strRef>
              <c:strCache>
                <c:ptCount val="1"/>
                <c:pt idx="0">
                  <c:v>Automotive</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13.095994180588841</c:v>
                </c:pt>
                <c:pt idx="1">
                  <c:v>12.913330275229356</c:v>
                </c:pt>
                <c:pt idx="2">
                  <c:v>12.568910734677521</c:v>
                </c:pt>
              </c:numCache>
            </c:numRef>
          </c:val>
        </c:ser>
        <c:ser>
          <c:idx val="4"/>
          <c:order val="4"/>
          <c:tx>
            <c:strRef>
              <c:strCache>
                <c:ptCount val="1"/>
                <c:pt idx="0">
                  <c:v>Industrial Machinery &amp; Equipment</c:v>
                </c:pt>
              </c:strCache>
            </c:strRef>
          </c:tx>
          <c:spPr>
            <a:solidFill>
              <a:srgbClr val="F47620"/>
            </a:solidFill>
            <a:ln>
              <a:noFill/>
            </a:ln>
          </c:spPr>
          <c:dLbls>
            <c:dLbl>
              <c:idx val="0"/>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13.975526969616475</c:v>
                </c:pt>
                <c:pt idx="1">
                  <c:v>12.972798165137615</c:v>
                </c:pt>
                <c:pt idx="2">
                  <c:v>11.072859109068625</c:v>
                </c:pt>
              </c:numCache>
            </c:numRef>
          </c:val>
        </c:ser>
        <c:ser>
          <c:idx val="5"/>
          <c:order val="5"/>
          <c:tx>
            <c:strRef>
              <c:strCache>
                <c:ptCount val="1"/>
                <c:pt idx="0">
                  <c:v>Others</c:v>
                </c:pt>
              </c:strCache>
            </c:strRef>
          </c:tx>
          <c:spPr>
            <a:solidFill>
              <a:srgbClr val="79C3EC"/>
            </a:solidFill>
            <a:ln>
              <a:noFill/>
            </a:ln>
          </c:spPr>
          <c:dLbls>
            <c:dLbl>
              <c:idx val="0"/>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7.657986134645697</c:v>
                </c:pt>
                <c:pt idx="1">
                  <c:v>8.373917431192659</c:v>
                </c:pt>
                <c:pt idx="2">
                  <c:v>9.724754150029858</c:v>
                </c:pt>
              </c:numCache>
            </c:numRef>
          </c:val>
        </c:ser>
        <c:ser>
          <c:idx val="6"/>
          <c:order val="6"/>
          <c:tx>
            <c:strRef>
              <c:strCache>
                <c:ptCount val="1"/>
                <c:pt idx="0">
                  <c:v>Food &amp; Beverage</c:v>
                </c:pt>
              </c:strCache>
            </c:strRef>
          </c:tx>
          <c:spPr>
            <a:solidFill>
              <a:srgbClr val="586272"/>
            </a:solidFill>
            <a:ln>
              <a:noFill/>
            </a:ln>
          </c:spPr>
          <c:dLbls>
            <c:dLbl>
              <c:idx val="0"/>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9.178433896792837</c:v>
                </c:pt>
                <c:pt idx="1">
                  <c:v>9.283412844036697</c:v>
                </c:pt>
                <c:pt idx="2">
                  <c:v>9.479588620590647</c:v>
                </c:pt>
              </c:numCache>
            </c:numRef>
          </c:val>
        </c:ser>
        <c:ser>
          <c:idx val="7"/>
          <c:order val="7"/>
          <c:tx>
            <c:strRef>
              <c:strCache>
                <c:ptCount val="1"/>
                <c:pt idx="0">
                  <c:v>Aerospace &amp; Defense</c:v>
                </c:pt>
              </c:strCache>
            </c:strRef>
          </c:tx>
          <c:spPr>
            <a:solidFill>
              <a:srgbClr val="1F476B"/>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4.097260258779167</c:v>
                </c:pt>
                <c:pt idx="1">
                  <c:v>3.9960733944954128</c:v>
                </c:pt>
                <c:pt idx="2">
                  <c:v>3.8065367820697804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Extruded Polystyrene Foam</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0.0</c:v>
                </c:pt>
                <c:pt idx="2">
                  <c:v>0.0</c:v>
                </c:pt>
                <c:pt idx="3">
                  <c:v>0.0</c:v>
                </c:pt>
                <c:pt idx="4">
                  <c:v>33.33333333333333</c:v>
                </c:pt>
              </c:numCache>
            </c:numRef>
          </c:val>
        </c:ser>
        <c:ser>
          <c:idx val="1"/>
          <c:order val="1"/>
          <c:tx>
            <c:strRef>
              <c:strCache>
                <c:ptCount val="1"/>
                <c:pt idx="0">
                  <c:v>Bio-based / Starch-based Foams</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0.0</c:v>
                </c:pt>
                <c:pt idx="2">
                  <c:v>0.0</c:v>
                </c:pt>
                <c:pt idx="3">
                  <c:v>0.0</c:v>
                </c:pt>
                <c:pt idx="4">
                  <c:v>33.33333333333333</c:v>
                </c:pt>
              </c:numCache>
            </c:numRef>
          </c:val>
        </c:ser>
        <c:ser>
          <c:idx val="2"/>
          <c:order val="2"/>
          <c:tx>
            <c:strRef>
              <c:strCache>
                <c:ptCount val="1"/>
                <c:pt idx="0">
                  <c:v>Other Polyolefin &amp; Specialty Polymer Foams</c:v>
                </c:pt>
              </c:strCache>
            </c:strRef>
          </c:tx>
          <c:spPr>
            <a:solidFill>
              <a:srgbClr val="0E2A5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0.0</c:v>
                </c:pt>
                <c:pt idx="2">
                  <c:v>0.0</c:v>
                </c:pt>
                <c:pt idx="3">
                  <c:v>0.0</c:v>
                </c:pt>
                <c:pt idx="4">
                  <c:v>33.33333333333333</c:v>
                </c:pt>
              </c:numCache>
            </c:numRef>
          </c:val>
        </c:ser>
        <c:ser>
          <c:idx val="3"/>
          <c:order val="3"/>
          <c:tx>
            <c:strRef>
              <c:strCache>
                <c:ptCount val="1"/>
                <c:pt idx="0">
                  <c:v>Foam Sheets, Rolls &amp; Planks</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16.09220793215139</c:v>
                </c:pt>
                <c:pt idx="2">
                  <c:v>16.092182431586572</c:v>
                </c:pt>
                <c:pt idx="3">
                  <c:v>16.092182431586572</c:v>
                </c:pt>
                <c:pt idx="4">
                  <c:v>0.0</c:v>
                </c:pt>
              </c:numCache>
            </c:numRef>
          </c:val>
        </c:ser>
        <c:ser>
          <c:idx val="4"/>
          <c:order val="4"/>
          <c:tx>
            <c:strRef>
              <c:strCache>
                <c:ptCount val="1"/>
                <c:pt idx="0">
                  <c:v>Crosslinked PE Foam</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50.0</c:v>
                </c:pt>
                <c:pt idx="1">
                  <c:v>0.0</c:v>
                </c:pt>
                <c:pt idx="2">
                  <c:v>0.0</c:v>
                </c:pt>
                <c:pt idx="3">
                  <c:v>0.0</c:v>
                </c:pt>
                <c:pt idx="4">
                  <c:v>0.0</c:v>
                </c:pt>
              </c:numCache>
            </c:numRef>
          </c:val>
        </c:ser>
        <c:ser>
          <c:idx val="5"/>
          <c:order val="5"/>
          <c:tx>
            <c:strRef>
              <c:strCache>
                <c:ptCount val="1"/>
                <c:pt idx="0">
                  <c:v>Non-Crosslinked PE Foam</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50.0</c:v>
                </c:pt>
                <c:pt idx="1">
                  <c:v>0.0</c:v>
                </c:pt>
                <c:pt idx="2">
                  <c:v>0.0</c:v>
                </c:pt>
                <c:pt idx="3">
                  <c:v>0.0</c:v>
                </c:pt>
                <c:pt idx="4">
                  <c:v>0.0</c:v>
                </c:pt>
              </c:numCache>
            </c:numRef>
          </c:val>
        </c:ser>
        <c:ser>
          <c:idx val="6"/>
          <c:order val="6"/>
          <c:tx>
            <c:strRef>
              <c:strCache>
                <c:ptCount val="1"/>
                <c:pt idx="0">
                  <c:v>Fabricated Foam Packaging</c:v>
                </c:pt>
              </c:strCache>
            </c:strRef>
          </c:tx>
          <c:spPr>
            <a:solidFill>
              <a:srgbClr val="58627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19.251060134505558</c:v>
                </c:pt>
                <c:pt idx="2">
                  <c:v>19.251029628256266</c:v>
                </c:pt>
                <c:pt idx="3">
                  <c:v>19.251029628256266</c:v>
                </c:pt>
                <c:pt idx="4">
                  <c:v>0.0</c:v>
                </c:pt>
              </c:numCache>
            </c:numRef>
          </c:val>
        </c:ser>
        <c:ser>
          <c:idx val="7"/>
          <c:order val="7"/>
          <c:tx>
            <c:strRef>
              <c:strCache>
                <c:ptCount val="1"/>
                <c:pt idx="0">
                  <c:v>Foam Pouches, Bags &amp; Sleeves</c:v>
                </c:pt>
              </c:strCache>
            </c:strRef>
          </c:tx>
          <c:spPr>
            <a:solidFill>
              <a:srgbClr val="1F47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27.158205662924768</c:v>
                </c:pt>
                <c:pt idx="2">
                  <c:v>27.15832109188927</c:v>
                </c:pt>
                <c:pt idx="3">
                  <c:v>27.15832109188927</c:v>
                </c:pt>
                <c:pt idx="4">
                  <c:v>0.0</c:v>
                </c:pt>
              </c:numCache>
            </c:numRef>
          </c:val>
        </c:ser>
        <c:ser>
          <c:idx val="8"/>
          <c:order val="8"/>
          <c:tx>
            <c:strRef>
              <c:strCache>
                <c:ptCount val="1"/>
                <c:pt idx="0">
                  <c:v>Foam-in-Place Packaging</c:v>
                </c:pt>
              </c:strCache>
            </c:strRef>
          </c:tx>
          <c:spPr>
            <a:solidFill>
              <a:srgbClr val="BCBEC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15.677693755823608</c:v>
                </c:pt>
                <c:pt idx="2">
                  <c:v>15.677668912119902</c:v>
                </c:pt>
                <c:pt idx="3">
                  <c:v>15.677668912119902</c:v>
                </c:pt>
                <c:pt idx="4">
                  <c:v>0.0</c:v>
                </c:pt>
              </c:numCache>
            </c:numRef>
          </c:val>
        </c:ser>
        <c:ser>
          <c:idx val="9"/>
          <c:order val="9"/>
          <c:tx>
            <c:strRef>
              <c:strCache>
                <c:ptCount val="1"/>
                <c:pt idx="0">
                  <c:v>Molded Foam Packaging</c:v>
                </c:pt>
              </c:strCache>
            </c:strRef>
          </c:tx>
          <c:spPr>
            <a:solidFill>
              <a:srgbClr val="3DC6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7.716701634730576</c:v>
                </c:pt>
                <c:pt idx="2">
                  <c:v>7.7166894064365446</c:v>
                </c:pt>
                <c:pt idx="3">
                  <c:v>7.7166894064365446</c:v>
                </c:pt>
                <c:pt idx="4">
                  <c:v>0.0</c:v>
                </c:pt>
              </c:numCache>
            </c:numRef>
          </c:val>
        </c:ser>
        <c:ser>
          <c:idx val="10"/>
          <c:order val="10"/>
          <c:tx>
            <c:strRef>
              <c:strCache>
                <c:ptCount val="1"/>
                <c:pt idx="0">
                  <c:v>Foam Loose-Fill Packaging</c:v>
                </c:pt>
              </c:strCache>
            </c:strRef>
          </c:tx>
          <c:spPr>
            <a:solidFill>
              <a:srgbClr val="5B9BD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14.1041308798641</c:v>
                </c:pt>
                <c:pt idx="2">
                  <c:v>14.104108529711452</c:v>
                </c:pt>
                <c:pt idx="3">
                  <c:v>14.104108529711452</c:v>
                </c:pt>
                <c:pt idx="4">
                  <c:v>0.0</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Foam Packing Peanuts / Loose-Fill Shapes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0.0</c:v>
                </c:pt>
                <c:pt idx="4">
                  <c:v>0.0</c:v>
                </c:pt>
                <c:pt idx="5">
                  <c:v>100.0</c:v>
                </c:pt>
              </c:numCache>
            </c:numRef>
          </c:val>
        </c:ser>
        <c:ser>
          <c:idx val="1"/>
          <c:order val="1"/>
          <c:tx>
            <c:strRef>
              <c:strCache>
                <c:ptCount val="1"/>
                <c:pt idx="0">
                  <c:v>Foam Sheets &amp; Rolls</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49.99977981570575</c:v>
                </c:pt>
                <c:pt idx="1">
                  <c:v>0.0</c:v>
                </c:pt>
                <c:pt idx="2">
                  <c:v>0.0</c:v>
                </c:pt>
                <c:pt idx="3">
                  <c:v>0.0</c:v>
                </c:pt>
                <c:pt idx="4">
                  <c:v>0.0</c:v>
                </c:pt>
                <c:pt idx="5">
                  <c:v>0.0</c:v>
                </c:pt>
              </c:numCache>
            </c:numRef>
          </c:val>
        </c:ser>
        <c:ser>
          <c:idx val="2"/>
          <c:order val="2"/>
          <c:tx>
            <c:strRef>
              <c:strCache>
                <c:ptCount val="1"/>
                <c:pt idx="0">
                  <c:v>Die-Cut / CNC-Cut Foam Inserts &amp; Pads</c:v>
                </c:pt>
              </c:strCache>
            </c:strRef>
          </c:tx>
          <c:spPr>
            <a:solidFill>
              <a:srgbClr val="0E2A5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33.33333333333333</c:v>
                </c:pt>
                <c:pt idx="2">
                  <c:v>0.0</c:v>
                </c:pt>
                <c:pt idx="3">
                  <c:v>0.0</c:v>
                </c:pt>
                <c:pt idx="4">
                  <c:v>0.0</c:v>
                </c:pt>
                <c:pt idx="5">
                  <c:v>0.0</c:v>
                </c:pt>
              </c:numCache>
            </c:numRef>
          </c:val>
        </c:ser>
        <c:ser>
          <c:idx val="3"/>
          <c:order val="3"/>
          <c:tx>
            <c:strRef>
              <c:strCache>
                <c:ptCount val="1"/>
                <c:pt idx="0">
                  <c:v>Foam Planks &amp; Blocks</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50.00022018429425</c:v>
                </c:pt>
                <c:pt idx="1">
                  <c:v>0.0</c:v>
                </c:pt>
                <c:pt idx="2">
                  <c:v>0.0</c:v>
                </c:pt>
                <c:pt idx="3">
                  <c:v>0.0</c:v>
                </c:pt>
                <c:pt idx="4">
                  <c:v>0.0</c:v>
                </c:pt>
                <c:pt idx="5">
                  <c:v>0.0</c:v>
                </c:pt>
              </c:numCache>
            </c:numRef>
          </c:val>
        </c:ser>
        <c:ser>
          <c:idx val="4"/>
          <c:order val="4"/>
          <c:tx>
            <c:strRef>
              <c:strCache>
                <c:ptCount val="1"/>
                <c:pt idx="0">
                  <c:v>Foam Corner &amp; Edge Protectors / Profiles</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33.33333333333333</c:v>
                </c:pt>
                <c:pt idx="2">
                  <c:v>0.0</c:v>
                </c:pt>
                <c:pt idx="3">
                  <c:v>0.0</c:v>
                </c:pt>
                <c:pt idx="4">
                  <c:v>0.0</c:v>
                </c:pt>
                <c:pt idx="5">
                  <c:v>0.0</c:v>
                </c:pt>
              </c:numCache>
            </c:numRef>
          </c:val>
        </c:ser>
        <c:ser>
          <c:idx val="5"/>
          <c:order val="5"/>
          <c:tx>
            <c:strRef>
              <c:strCache>
                <c:ptCount val="1"/>
                <c:pt idx="0">
                  <c:v>Foam Dividers &amp; Separators</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33.33333333333333</c:v>
                </c:pt>
                <c:pt idx="2">
                  <c:v>0.0</c:v>
                </c:pt>
                <c:pt idx="3">
                  <c:v>0.0</c:v>
                </c:pt>
                <c:pt idx="4">
                  <c:v>0.0</c:v>
                </c:pt>
                <c:pt idx="5">
                  <c:v>0.0</c:v>
                </c:pt>
              </c:numCache>
            </c:numRef>
          </c:val>
        </c:ser>
        <c:ser>
          <c:idx val="6"/>
          <c:order val="6"/>
          <c:tx>
            <c:strRef>
              <c:strCache>
                <c:ptCount val="1"/>
                <c:pt idx="0">
                  <c:v>Molded Protective Trays &amp; Containers</c:v>
                </c:pt>
              </c:strCache>
            </c:strRef>
          </c:tx>
          <c:spPr>
            <a:solidFill>
              <a:srgbClr val="58627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50.0</c:v>
                </c:pt>
                <c:pt idx="3">
                  <c:v>0.0</c:v>
                </c:pt>
                <c:pt idx="4">
                  <c:v>0.0</c:v>
                </c:pt>
                <c:pt idx="5">
                  <c:v>0.0</c:v>
                </c:pt>
              </c:numCache>
            </c:numRef>
          </c:val>
        </c:ser>
        <c:ser>
          <c:idx val="7"/>
          <c:order val="7"/>
          <c:tx>
            <c:strRef>
              <c:strCache>
                <c:ptCount val="1"/>
                <c:pt idx="0">
                  <c:v>Molded Inserts, End Caps &amp; Cradles</c:v>
                </c:pt>
              </c:strCache>
            </c:strRef>
          </c:tx>
          <c:spPr>
            <a:solidFill>
              <a:srgbClr val="1F47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50.0</c:v>
                </c:pt>
                <c:pt idx="3">
                  <c:v>0.0</c:v>
                </c:pt>
                <c:pt idx="4">
                  <c:v>0.0</c:v>
                </c:pt>
                <c:pt idx="5">
                  <c:v>0.0</c:v>
                </c:pt>
              </c:numCache>
            </c:numRef>
          </c:val>
        </c:ser>
        <c:ser>
          <c:idx val="8"/>
          <c:order val="8"/>
          <c:tx>
            <c:strRef>
              <c:strCache>
                <c:ptCount val="1"/>
                <c:pt idx="0">
                  <c:v>Direct-Dispensed Foam-in-Place</c:v>
                </c:pt>
              </c:strCache>
            </c:strRef>
          </c:tx>
          <c:spPr>
            <a:solidFill>
              <a:srgbClr val="BCBEC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50.0</c:v>
                </c:pt>
                <c:pt idx="4">
                  <c:v>0.0</c:v>
                </c:pt>
                <c:pt idx="5">
                  <c:v>0.0</c:v>
                </c:pt>
              </c:numCache>
            </c:numRef>
          </c:val>
        </c:ser>
        <c:ser>
          <c:idx val="9"/>
          <c:order val="9"/>
          <c:tx>
            <c:strRef>
              <c:strCache>
                <c:ptCount val="1"/>
                <c:pt idx="0">
                  <c:v>Foam-in-Bag / On-Demand Foam Cushions</c:v>
                </c:pt>
              </c:strCache>
            </c:strRef>
          </c:tx>
          <c:spPr>
            <a:solidFill>
              <a:srgbClr val="3DC6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50.0</c:v>
                </c:pt>
                <c:pt idx="4">
                  <c:v>0.0</c:v>
                </c:pt>
                <c:pt idx="5">
                  <c:v>0.0</c:v>
                </c:pt>
              </c:numCache>
            </c:numRef>
          </c:val>
        </c:ser>
        <c:ser>
          <c:idx val="10"/>
          <c:order val="10"/>
          <c:tx>
            <c:strRef>
              <c:strCache>
                <c:ptCount val="1"/>
                <c:pt idx="0">
                  <c:v>Pre-Fabricated Foam Pouches &amp; Bags</c:v>
                </c:pt>
              </c:strCache>
            </c:strRef>
          </c:tx>
          <c:spPr>
            <a:solidFill>
              <a:srgbClr val="5B9BD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0.0</c:v>
                </c:pt>
                <c:pt idx="4">
                  <c:v>50.0</c:v>
                </c:pt>
                <c:pt idx="5">
                  <c:v>0.0</c:v>
                </c:pt>
              </c:numCache>
            </c:numRef>
          </c:val>
        </c:ser>
        <c:ser>
          <c:idx val="11"/>
          <c:order val="11"/>
          <c:tx>
            <c:strRef>
              <c:strCache>
                <c:ptCount val="1"/>
                <c:pt idx="0">
                  <c:v>Pre-Fabricated Foam Sleeves</c:v>
                </c:pt>
              </c:strCache>
            </c:strRef>
          </c:tx>
          <c:spPr>
            <a:solidFill>
              <a:srgbClr val="A09F9D"/>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0.0</c:v>
                </c:pt>
                <c:pt idx="4">
                  <c:v>50.0</c:v>
                </c:pt>
                <c:pt idx="5">
                  <c:v>0.0</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1.7923731612645488</c:v>
                </c:pt>
                <c:pt idx="1">
                  <c:v>2.5858271188418103</c:v>
                </c:pt>
                <c:pt idx="2">
                  <c:v>2.320657632221157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4132917968711896"/>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588404.306</c:v>
                </c:pt>
                <c:pt idx="2">
                  <c:v>0.0</c:v>
                </c:pt>
                <c:pt idx="3">
                  <c:v>643060.8049999999</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588404.306</c:v>
                </c:pt>
                <c:pt idx="1">
                  <c:v>54656.49899999995</c:v>
                </c:pt>
                <c:pt idx="2">
                  <c:v>643060.8049999999</c:v>
                </c:pt>
                <c:pt idx="3">
                  <c:v>187030.1540000001</c:v>
                </c:pt>
                <c:pt idx="4">
                  <c:v>830090.959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3.247942337228582</c:v>
                </c:pt>
                <c:pt idx="1">
                  <c:v>4.056107857498703</c:v>
                </c:pt>
                <c:pt idx="2">
                  <c:v>3.7860189120546783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354062371898288"/>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3072.458</c:v>
                </c:pt>
                <c:pt idx="2">
                  <c:v>0.0</c:v>
                </c:pt>
                <c:pt idx="3">
                  <c:v>3604.898</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3072.458</c:v>
                </c:pt>
                <c:pt idx="1">
                  <c:v>532.44</c:v>
                </c:pt>
                <c:pt idx="2">
                  <c:v>3604.898</c:v>
                </c:pt>
                <c:pt idx="3">
                  <c:v>1760.0899999999992</c:v>
                </c:pt>
                <c:pt idx="4">
                  <c:v>5364.987999999999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3072.458</c:v>
                </c:pt>
                <c:pt idx="1">
                  <c:v>3172.183</c:v>
                </c:pt>
                <c:pt idx="2">
                  <c:v>3275.179</c:v>
                </c:pt>
                <c:pt idx="3">
                  <c:v>3381.5550000000003</c:v>
                </c:pt>
                <c:pt idx="4">
                  <c:v>3491.4220000000005</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588404.306</c:v>
                </c:pt>
                <c:pt idx="1">
                  <c:v>598943.383</c:v>
                </c:pt>
                <c:pt idx="2">
                  <c:v>609674.947</c:v>
                </c:pt>
                <c:pt idx="3">
                  <c:v>620602.589</c:v>
                </c:pt>
                <c:pt idx="4">
                  <c:v>631729.9650000001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4120"/>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896585"/>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3604.898</c:v>
                </c:pt>
                <c:pt idx="1">
                  <c:v>3750.9390000000003</c:v>
                </c:pt>
                <c:pt idx="2">
                  <c:v>3902.938</c:v>
                </c:pt>
                <c:pt idx="3">
                  <c:v>4061.139</c:v>
                </c:pt>
                <c:pt idx="4">
                  <c:v>4225.796</c:v>
                </c:pt>
                <c:pt idx="5">
                  <c:v>4397.1759999999995</c:v>
                </c:pt>
                <c:pt idx="6">
                  <c:v>4575.553</c:v>
                </c:pt>
                <c:pt idx="7">
                  <c:v>4761.217000000001</c:v>
                </c:pt>
                <c:pt idx="8">
                  <c:v>4954.467000000001</c:v>
                </c:pt>
                <c:pt idx="9">
                  <c:v>5155.616</c:v>
                </c:pt>
                <c:pt idx="10">
                  <c:v>5364.987999999999</c:v>
                </c:pt>
              </c:numCache>
            </c:numRef>
          </c:val>
        </c:ser>
        <c:gapWidth val="50"/>
        <c:axId val="-2068027336"/>
        <c:axId val="-2113994440"/>
      </c:barChart>
      <c:barChart>
        <c:barDir val="col"/>
        <c:grouping val="clustered"/>
        <c:varyColors val="0"/>
        <c:ser>
          <c:idx val="1"/>
          <c:order val="1"/>
          <c:tx>
            <c:strRef>
              <c:strCache>
                <c:ptCount val="1"/>
                <c:pt idx="0">
                  <c:v>Volume (MT)</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643060.8049999999</c:v>
                </c:pt>
                <c:pt idx="1">
                  <c:v>659671.198</c:v>
                </c:pt>
                <c:pt idx="2">
                  <c:v>676714.732</c:v>
                </c:pt>
                <c:pt idx="3">
                  <c:v>694202.815</c:v>
                </c:pt>
                <c:pt idx="4">
                  <c:v>712147.16</c:v>
                </c:pt>
                <c:pt idx="5">
                  <c:v>730559.79</c:v>
                </c:pt>
                <c:pt idx="6">
                  <c:v>749453.05</c:v>
                </c:pt>
                <c:pt idx="7">
                  <c:v>768839.612</c:v>
                </c:pt>
                <c:pt idx="8">
                  <c:v>788732.487</c:v>
                </c:pt>
                <c:pt idx="9">
                  <c:v>809145.031</c:v>
                </c:pt>
                <c:pt idx="10">
                  <c:v>830090.959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633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283297"/>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94.32274981527992</c:v>
                </c:pt>
                <c:pt idx="1">
                  <c:v>112.20906702696266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35.668232874455306</c:v>
                </c:pt>
                <c:pt idx="1">
                  <c:v>64.33176712554474</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5"/>
                <c:pt idx="0">
                  <c:v>Polyethylene (PE) Foam</c:v>
                </c:pt>
                <c:pt idx="1">
                  <c:v>Expanded Polystyrene (EPS)</c:v>
                </c:pt>
                <c:pt idx="2">
                  <c:v>Polyurethane (PU) Foam</c:v>
                </c:pt>
                <c:pt idx="3">
                  <c:v>Expanded Polypropylene (EPP)</c:v>
                </c:pt>
                <c:pt idx="4">
                  <c:v>Other Foam Materials</c:v>
                </c:pt>
              </c:strCache>
            </c:strRef>
          </c:cat>
          <c:val>
            <c:numRef>
              <c:numCache>
                <c:formatCode>General</c:formatCode>
                <c:ptCount val="5"/>
                <c:pt idx="0">
                  <c:v>730.114</c:v>
                </c:pt>
                <c:pt idx="1">
                  <c:v>1138.762</c:v>
                </c:pt>
                <c:pt idx="2">
                  <c:v>292.253</c:v>
                </c:pt>
                <c:pt idx="3">
                  <c:v>758.713</c:v>
                </c:pt>
                <c:pt idx="4">
                  <c:v>2445.146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0.048738004957271555</c:v>
                </c:pt>
                <c:pt idx="1">
                  <c:v>0.04820800495727155</c:v>
                </c:pt>
                <c:pt idx="2">
                  <c:v>0.048308004957271555</c:v>
                </c:pt>
                <c:pt idx="3">
                  <c:v>0.04974800495727155</c:v>
                </c:pt>
                <c:pt idx="4">
                  <c:v>0.05126800495727155</c:v>
                </c:pt>
                <c:pt idx="5">
                  <c:v>0.05244800495727155</c:v>
                </c:pt>
                <c:pt idx="6">
                  <c:v>0.05205800495727155</c:v>
                </c:pt>
                <c:pt idx="7">
                  <c:v>0.05047800495727155</c:v>
                </c:pt>
                <c:pt idx="8">
                  <c:v>0.04967800495727155</c:v>
                </c:pt>
                <c:pt idx="9">
                  <c:v>0.048778004957271553</c:v>
                </c:pt>
                <c:pt idx="10">
                  <c:v>0.04789800495727155</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0.037301471353377</c:v>
                </c:pt>
                <c:pt idx="1">
                  <c:v>0.04036462244362674</c:v>
                </c:pt>
                <c:pt idx="2">
                  <c:v>0.04334320801298003</c:v>
                </c:pt>
                <c:pt idx="3">
                  <c:v>0.0442499383203699</c:v>
                </c:pt>
                <c:pt idx="4">
                  <c:v>0.043507640970278705</c:v>
                </c:pt>
                <c:pt idx="5">
                  <c:v>0.04228144091727996</c:v>
                </c:pt>
                <c:pt idx="6">
                  <c:v>0.04040220711958073</c:v>
                </c:pt>
                <c:pt idx="7">
                  <c:v>0.03839142695604255</c:v>
                </c:pt>
                <c:pt idx="8">
                  <c:v>0.03699139777675662</c:v>
                </c:pt>
                <c:pt idx="9">
                  <c:v>0.03603298853993001</c:v>
                </c:pt>
                <c:pt idx="10">
                  <c:v>0.03526720076736758</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0.03091984550827245</c:v>
                </c:pt>
                <c:pt idx="1">
                  <c:v>0.02975984550827245</c:v>
                </c:pt>
                <c:pt idx="2">
                  <c:v>0.02838984550827245</c:v>
                </c:pt>
                <c:pt idx="3">
                  <c:v>0.028079845508272448</c:v>
                </c:pt>
                <c:pt idx="4">
                  <c:v>0.03073984550827245</c:v>
                </c:pt>
                <c:pt idx="5">
                  <c:v>0.03155984550827244</c:v>
                </c:pt>
                <c:pt idx="6">
                  <c:v>0.03167984550827245</c:v>
                </c:pt>
                <c:pt idx="7">
                  <c:v>0.031039845508272445</c:v>
                </c:pt>
                <c:pt idx="8">
                  <c:v>0.030089845508272445</c:v>
                </c:pt>
                <c:pt idx="9">
                  <c:v>0.02873984550827245</c:v>
                </c:pt>
                <c:pt idx="10">
                  <c:v>0.027579845508272447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70.02305544030163</c:v>
                </c:pt>
                <c:pt idx="1">
                  <c:v>68.88583338973578</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29.97694455969836</c:v>
                </c:pt>
                <c:pt idx="1">
                  <c:v>31.114166610264217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68.93579235806394</c:v>
                </c:pt>
                <c:pt idx="1">
                  <c:v>67.42535118438289</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31.064207641936054</c:v>
                </c:pt>
                <c:pt idx="1">
                  <c:v>32.57464881561711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415344.336</c:v>
                </c:pt>
                <c:pt idx="1">
                  <c:v>422109.623</c:v>
                </c:pt>
                <c:pt idx="2">
                  <c:v>428985.106</c:v>
                </c:pt>
                <c:pt idx="3">
                  <c:v>435972.579</c:v>
                </c:pt>
                <c:pt idx="4">
                  <c:v>443073.86699999997</c:v>
                </c:pt>
                <c:pt idx="5">
                  <c:v>450290.824</c:v>
                </c:pt>
                <c:pt idx="6">
                  <c:v>461178.813</c:v>
                </c:pt>
                <c:pt idx="7">
                  <c:v>472330.073</c:v>
                </c:pt>
                <c:pt idx="8">
                  <c:v>483750.969</c:v>
                </c:pt>
                <c:pt idx="9">
                  <c:v>495448.02099999995</c:v>
                </c:pt>
                <c:pt idx="10">
                  <c:v>507427.907</c:v>
                </c:pt>
                <c:pt idx="11">
                  <c:v>519697.46599999996</c:v>
                </c:pt>
                <c:pt idx="12">
                  <c:v>532263.701</c:v>
                </c:pt>
                <c:pt idx="13">
                  <c:v>545133.787</c:v>
                </c:pt>
                <c:pt idx="14">
                  <c:v>558315.07</c:v>
                </c:pt>
                <c:pt idx="15">
                  <c:v>571815.075</c:v>
                </c:pt>
              </c:numCache>
            </c:numRef>
          </c:val>
        </c:ser>
        <c:ser>
          <c:idx val="1"/>
          <c:order val="1"/>
          <c:tx>
            <c:strRef>
              <c:strCache>
                <c:ptCount val="1"/>
                <c:pt idx="0">
                  <c:v>Canada</c:v>
                </c:pt>
              </c:strCache>
            </c:strRef>
          </c:tx>
          <c:spPr>
            <a:solidFill>
              <a:srgbClr val="0081E2"/>
            </a:solidFill>
            <a:ln>
              <a:noFill/>
            </a:ln>
          </c:spPr>
          <c:dLbls>
            <c:dLbl>
              <c:idx val="0"/>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173059.97</c:v>
                </c:pt>
                <c:pt idx="1">
                  <c:v>176833.76</c:v>
                </c:pt>
                <c:pt idx="2">
                  <c:v>180689.841</c:v>
                </c:pt>
                <c:pt idx="3">
                  <c:v>184630.01</c:v>
                </c:pt>
                <c:pt idx="4">
                  <c:v>188656.098</c:v>
                </c:pt>
                <c:pt idx="5">
                  <c:v>192769.981</c:v>
                </c:pt>
                <c:pt idx="6">
                  <c:v>198492.385</c:v>
                </c:pt>
                <c:pt idx="7">
                  <c:v>204384.65899999999</c:v>
                </c:pt>
                <c:pt idx="8">
                  <c:v>210451.846</c:v>
                </c:pt>
                <c:pt idx="9">
                  <c:v>216699.13900000002</c:v>
                </c:pt>
                <c:pt idx="10">
                  <c:v>223131.883</c:v>
                </c:pt>
                <c:pt idx="11">
                  <c:v>229755.58399999997</c:v>
                </c:pt>
                <c:pt idx="12">
                  <c:v>236575.911</c:v>
                </c:pt>
                <c:pt idx="13">
                  <c:v>243598.7</c:v>
                </c:pt>
                <c:pt idx="14">
                  <c:v>250829.961</c:v>
                </c:pt>
                <c:pt idx="15">
                  <c:v>258275.88400000002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2140.953</c:v>
                </c:pt>
                <c:pt idx="1">
                  <c:v>2205.734</c:v>
                </c:pt>
                <c:pt idx="2">
                  <c:v>2272.476</c:v>
                </c:pt>
                <c:pt idx="3">
                  <c:v>2341.237</c:v>
                </c:pt>
                <c:pt idx="4">
                  <c:v>2412.079</c:v>
                </c:pt>
                <c:pt idx="5">
                  <c:v>2485.065</c:v>
                </c:pt>
                <c:pt idx="6">
                  <c:v>2580.139</c:v>
                </c:pt>
                <c:pt idx="7">
                  <c:v>2678.851</c:v>
                </c:pt>
                <c:pt idx="8">
                  <c:v>2781.34</c:v>
                </c:pt>
                <c:pt idx="9">
                  <c:v>2887.749</c:v>
                </c:pt>
                <c:pt idx="10">
                  <c:v>2998.23</c:v>
                </c:pt>
                <c:pt idx="11">
                  <c:v>3112.937</c:v>
                </c:pt>
                <c:pt idx="12">
                  <c:v>3232.0329999999994</c:v>
                </c:pt>
                <c:pt idx="13">
                  <c:v>3355.685</c:v>
                </c:pt>
                <c:pt idx="14">
                  <c:v>3484.068</c:v>
                </c:pt>
                <c:pt idx="15">
                  <c:v>3617.362</c:v>
                </c:pt>
              </c:numCache>
            </c:numRef>
          </c:val>
        </c:ser>
        <c:ser>
          <c:idx val="1"/>
          <c:order val="1"/>
          <c:tx>
            <c:strRef>
              <c:strCache>
                <c:ptCount val="1"/>
                <c:pt idx="0">
                  <c:v>Canada</c:v>
                </c:pt>
              </c:strCache>
            </c:strRef>
          </c:tx>
          <c:spPr>
            <a:solidFill>
              <a:srgbClr val="0081E2"/>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931.505</c:v>
                </c:pt>
                <c:pt idx="1">
                  <c:v>966.449</c:v>
                </c:pt>
                <c:pt idx="2">
                  <c:v>1002.703</c:v>
                </c:pt>
                <c:pt idx="3">
                  <c:v>1040.318</c:v>
                </c:pt>
                <c:pt idx="4">
                  <c:v>1079.343</c:v>
                </c:pt>
                <c:pt idx="5">
                  <c:v>1119.833</c:v>
                </c:pt>
                <c:pt idx="6">
                  <c:v>1170.8000000000002</c:v>
                </c:pt>
                <c:pt idx="7">
                  <c:v>1224.087</c:v>
                </c:pt>
                <c:pt idx="8">
                  <c:v>1279.799</c:v>
                </c:pt>
                <c:pt idx="9">
                  <c:v>1338.047</c:v>
                </c:pt>
                <c:pt idx="10">
                  <c:v>1398.946</c:v>
                </c:pt>
                <c:pt idx="11">
                  <c:v>1462.616</c:v>
                </c:pt>
                <c:pt idx="12">
                  <c:v>1529.1840000000002</c:v>
                </c:pt>
                <c:pt idx="13">
                  <c:v>1598.7820000000002</c:v>
                </c:pt>
                <c:pt idx="14">
                  <c:v>1671.548</c:v>
                </c:pt>
                <c:pt idx="15">
                  <c:v>1747.6260000000002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Polyethylene (PE) Foam</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13.468442332627232</c:v>
                </c:pt>
                <c:pt idx="1">
                  <c:v>13.676706948323114</c:v>
                </c:pt>
              </c:numCache>
            </c:numRef>
          </c:val>
        </c:ser>
        <c:ser>
          <c:idx val="1"/>
          <c:order val="1"/>
          <c:tx>
            <c:strRef>
              <c:strCache>
                <c:ptCount val="1"/>
                <c:pt idx="0">
                  <c:v>Expanded Polystyrene (EPS)</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16.165701357155363</c:v>
                </c:pt>
                <c:pt idx="1">
                  <c:v>23.670453772666377</c:v>
                </c:pt>
              </c:numCache>
            </c:numRef>
          </c:val>
        </c:ser>
        <c:ser>
          <c:idx val="2"/>
          <c:order val="2"/>
          <c:tx>
            <c:strRef>
              <c:strCache>
                <c:ptCount val="1"/>
                <c:pt idx="0">
                  <c:v>Polyurethane (PU) Foam</c:v>
                </c:pt>
              </c:strCache>
            </c:strRef>
          </c:tx>
          <c:spPr>
            <a:solidFill>
              <a:srgbClr val="0E2A5C"/>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6.189997173308247</c:v>
                </c:pt>
                <c:pt idx="1">
                  <c:v>5.088653001828404</c:v>
                </c:pt>
              </c:numCache>
            </c:numRef>
          </c:val>
        </c:ser>
        <c:ser>
          <c:idx val="3"/>
          <c:order val="3"/>
          <c:tx>
            <c:strRef>
              <c:strCache>
                <c:ptCount val="1"/>
                <c:pt idx="0">
                  <c:v>Expanded Polypropylene (EPP)</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13.614011235813612</c:v>
                </c:pt>
                <c:pt idx="1">
                  <c:v>14.396983215945767</c:v>
                </c:pt>
              </c:numCache>
            </c:numRef>
          </c:val>
        </c:ser>
        <c:ser>
          <c:idx val="4"/>
          <c:order val="4"/>
          <c:tx>
            <c:strRef>
              <c:strCache>
                <c:ptCount val="1"/>
                <c:pt idx="0">
                  <c:v>Other Foam Materials</c:v>
                </c:pt>
              </c:strCache>
            </c:strRef>
          </c:tx>
          <c:spPr>
            <a:solidFill>
              <a:srgbClr val="F47620"/>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50.56184790109553</c:v>
                </c:pt>
                <c:pt idx="1">
                  <c:v>43.16720306123634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Polyethylene (PE) Foam</c:v>
                </c:pt>
              </c:strCache>
            </c:strRef>
          </c:tx>
          <c:spPr>
            <a:solidFill>
              <a:srgbClr val="2A5F8F"/>
            </a:solidFill>
          </c:spPr>
          <c:invertIfNegative val="0"/>
          <c:xVal>
            <c:numRef>
              <c:numCache>
                <c:formatCode>General</c:formatCode>
                <c:ptCount val="1"/>
                <c:pt idx="0">
                  <c:v>127.46377734402128</c:v>
                </c:pt>
              </c:numCache>
            </c:numRef>
          </c:xVal>
          <c:yVal>
            <c:numRef>
              <c:numCache>
                <c:formatCode>General</c:formatCode>
                <c:ptCount val="1"/>
                <c:pt idx="0">
                  <c:v>61.17107890431296</c:v>
                </c:pt>
              </c:numCache>
            </c:numRef>
          </c:yVal>
          <c:bubbleSize>
            <c:numRef>
              <c:numCache>
                <c:formatCode>General</c:formatCode>
                <c:ptCount val="1"/>
                <c:pt idx="0">
                  <c:v>730.114</c:v>
                </c:pt>
              </c:numCache>
            </c:numRef>
          </c:bubbleSize>
          <c:bubble3D val="0"/>
        </c:ser>
        <c:ser>
          <c:idx val="1"/>
          <c:order val="1"/>
          <c:tx>
            <c:strRef>
              <c:strCache>
                <c:ptCount val="1"/>
                <c:pt idx="0">
                  <c:v>Expanded Polystyrene (EPS)</c:v>
                </c:pt>
              </c:strCache>
            </c:strRef>
          </c:tx>
          <c:spPr>
            <a:solidFill>
              <a:srgbClr val="0081E2"/>
            </a:solidFill>
          </c:spPr>
          <c:invertIfNegative val="0"/>
          <c:xVal>
            <c:numRef>
              <c:numCache>
                <c:formatCode>General</c:formatCode>
                <c:ptCount val="1"/>
                <c:pt idx="0">
                  <c:v>120.16772186269328</c:v>
                </c:pt>
              </c:numCache>
            </c:numRef>
          </c:xVal>
          <c:yVal>
            <c:numRef>
              <c:numCache>
                <c:formatCode>General</c:formatCode>
                <c:ptCount val="1"/>
                <c:pt idx="0">
                  <c:v>98.13550896585701</c:v>
                </c:pt>
              </c:numCache>
            </c:numRef>
          </c:yVal>
          <c:bubbleSize>
            <c:numRef>
              <c:numCache>
                <c:formatCode>General</c:formatCode>
                <c:ptCount val="1"/>
                <c:pt idx="0">
                  <c:v>1138.762</c:v>
                </c:pt>
              </c:numCache>
            </c:numRef>
          </c:bubbleSize>
          <c:bubble3D val="0"/>
        </c:ser>
        <c:ser>
          <c:idx val="2"/>
          <c:order val="2"/>
          <c:tx>
            <c:strRef>
              <c:strCache>
                <c:ptCount val="1"/>
                <c:pt idx="0">
                  <c:v>Polyurethane (PU) Foam</c:v>
                </c:pt>
              </c:strCache>
            </c:strRef>
          </c:tx>
          <c:spPr>
            <a:solidFill>
              <a:srgbClr val="0E2A5C"/>
            </a:solidFill>
          </c:spPr>
          <c:invertIfNegative val="0"/>
          <c:xVal>
            <c:numRef>
              <c:numCache>
                <c:formatCode>General</c:formatCode>
                <c:ptCount val="1"/>
                <c:pt idx="0">
                  <c:v>56.223613053294955</c:v>
                </c:pt>
              </c:numCache>
            </c:numRef>
          </c:xVal>
          <c:yVal>
            <c:numRef>
              <c:numCache>
                <c:formatCode>General</c:formatCode>
                <c:ptCount val="1"/>
                <c:pt idx="0">
                  <c:v>32.35251039003045</c:v>
                </c:pt>
              </c:numCache>
            </c:numRef>
          </c:yVal>
          <c:bubbleSize>
            <c:numRef>
              <c:numCache>
                <c:formatCode>General</c:formatCode>
                <c:ptCount val="1"/>
                <c:pt idx="0">
                  <c:v>292.253</c:v>
                </c:pt>
              </c:numCache>
            </c:numRef>
          </c:bubbleSize>
          <c:bubble3D val="0"/>
        </c:ser>
        <c:ser>
          <c:idx val="3"/>
          <c:order val="3"/>
          <c:tx>
            <c:strRef>
              <c:strCache>
                <c:ptCount val="1"/>
                <c:pt idx="0">
                  <c:v>Expanded Polypropylene (EPP)</c:v>
                </c:pt>
              </c:strCache>
            </c:strRef>
          </c:tx>
          <c:spPr>
            <a:solidFill>
              <a:srgbClr val="00ACAC"/>
            </a:solidFill>
          </c:spPr>
          <c:invertIfNegative val="0"/>
          <c:xVal>
            <c:numRef>
              <c:numCache>
                <c:formatCode>General</c:formatCode>
                <c:ptCount val="1"/>
                <c:pt idx="0">
                  <c:v>149.70102997272778</c:v>
                </c:pt>
              </c:numCache>
            </c:numRef>
          </c:xVal>
          <c:yVal>
            <c:numRef>
              <c:numCache>
                <c:formatCode>General</c:formatCode>
                <c:ptCount val="1"/>
                <c:pt idx="0">
                  <c:v>58.36406466979093</c:v>
                </c:pt>
              </c:numCache>
            </c:numRef>
          </c:yVal>
          <c:bubbleSize>
            <c:numRef>
              <c:numCache>
                <c:formatCode>General</c:formatCode>
                <c:ptCount val="1"/>
                <c:pt idx="0">
                  <c:v>758.713</c:v>
                </c:pt>
              </c:numCache>
            </c:numRef>
          </c:bubbleSize>
          <c:bubble3D val="0"/>
        </c:ser>
        <c:ser>
          <c:idx val="4"/>
          <c:order val="4"/>
          <c:tx>
            <c:strRef>
              <c:strCache>
                <c:ptCount val="1"/>
                <c:pt idx="0">
                  <c:v>Other Foam Materials</c:v>
                </c:pt>
              </c:strCache>
            </c:strRef>
          </c:tx>
          <c:spPr>
            <a:solidFill>
              <a:srgbClr val="F47620"/>
            </a:solidFill>
          </c:spPr>
          <c:invertIfNegative val="0"/>
          <c:xVal>
            <c:numRef>
              <c:numCache>
                <c:formatCode>General</c:formatCode>
                <c:ptCount val="1"/>
                <c:pt idx="0">
                  <c:v>76.36672695344373</c:v>
                </c:pt>
              </c:numCache>
            </c:numRef>
          </c:xVal>
          <c:yVal>
            <c:numRef>
              <c:numCache>
                <c:formatCode>General</c:formatCode>
                <c:ptCount val="1"/>
                <c:pt idx="0">
                  <c:v>249.97683707000863</c:v>
                </c:pt>
              </c:numCache>
            </c:numRef>
          </c:yVal>
          <c:bubbleSize>
            <c:numRef>
              <c:numCache>
                <c:formatCode>General</c:formatCode>
                <c:ptCount val="1"/>
                <c:pt idx="0">
                  <c:v>2445.146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3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441.031</c:v>
                </c:pt>
                <c:pt idx="2">
                  <c:v>487.08500000000004</c:v>
                </c:pt>
                <c:pt idx="3">
                  <c:v>538.328</c:v>
                </c:pt>
                <c:pt idx="4">
                  <c:v>595.403</c:v>
                </c:pt>
                <c:pt idx="5">
                  <c:v>659.05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441.031</c:v>
                </c:pt>
                <c:pt idx="1">
                  <c:v>46.05400000000003</c:v>
                </c:pt>
                <c:pt idx="2">
                  <c:v>51.24299999999994</c:v>
                </c:pt>
                <c:pt idx="3">
                  <c:v>57.075000000000045</c:v>
                </c:pt>
                <c:pt idx="4">
                  <c:v>63.646999999999935</c:v>
                </c:pt>
                <c:pt idx="5">
                  <c:v>71.06400000000008</c:v>
                </c:pt>
                <c:pt idx="6">
                  <c:v>730.114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707.537</c:v>
                </c:pt>
                <c:pt idx="2">
                  <c:v>777.076</c:v>
                </c:pt>
                <c:pt idx="3">
                  <c:v>854.022</c:v>
                </c:pt>
                <c:pt idx="4">
                  <c:v>939.26</c:v>
                </c:pt>
                <c:pt idx="5">
                  <c:v>1033.79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707.537</c:v>
                </c:pt>
                <c:pt idx="1">
                  <c:v>69.53899999999999</c:v>
                </c:pt>
                <c:pt idx="2">
                  <c:v>76.94600000000003</c:v>
                </c:pt>
                <c:pt idx="3">
                  <c:v>85.23799999999994</c:v>
                </c:pt>
                <c:pt idx="4">
                  <c:v>94.52999999999997</c:v>
                </c:pt>
                <c:pt idx="5">
                  <c:v>104.97199999999998</c:v>
                </c:pt>
                <c:pt idx="6">
                  <c:v>1138.762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233.255</c:v>
                </c:pt>
                <c:pt idx="2">
                  <c:v>245.454</c:v>
                </c:pt>
                <c:pt idx="3">
                  <c:v>257.642</c:v>
                </c:pt>
                <c:pt idx="4">
                  <c:v>269.653</c:v>
                </c:pt>
                <c:pt idx="5">
                  <c:v>281.278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233.255</c:v>
                </c:pt>
                <c:pt idx="1">
                  <c:v>12.199000000000012</c:v>
                </c:pt>
                <c:pt idx="2">
                  <c:v>12.187999999999988</c:v>
                </c:pt>
                <c:pt idx="3">
                  <c:v>12.011000000000024</c:v>
                </c:pt>
                <c:pt idx="4">
                  <c:v>11.625</c:v>
                </c:pt>
                <c:pt idx="5">
                  <c:v>10.974999999999966</c:v>
                </c:pt>
                <c:pt idx="6">
                  <c:v>292.253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420.793</c:v>
                </c:pt>
                <c:pt idx="2">
                  <c:v>472.705</c:v>
                </c:pt>
                <c:pt idx="3">
                  <c:v>531.409</c:v>
                </c:pt>
                <c:pt idx="4">
                  <c:v>597.871</c:v>
                </c:pt>
                <c:pt idx="5">
                  <c:v>673.206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420.793</c:v>
                </c:pt>
                <c:pt idx="1">
                  <c:v>51.91199999999998</c:v>
                </c:pt>
                <c:pt idx="2">
                  <c:v>58.70400000000001</c:v>
                </c:pt>
                <c:pt idx="3">
                  <c:v>66.46199999999999</c:v>
                </c:pt>
                <c:pt idx="4">
                  <c:v>75.33500000000004</c:v>
                </c:pt>
                <c:pt idx="5">
                  <c:v>85.50699999999995</c:v>
                </c:pt>
                <c:pt idx="6">
                  <c:v>758.713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1802.282</c:v>
                </c:pt>
                <c:pt idx="2">
                  <c:v>1920.618</c:v>
                </c:pt>
                <c:pt idx="3">
                  <c:v>2044.395</c:v>
                </c:pt>
                <c:pt idx="4">
                  <c:v>2173.366</c:v>
                </c:pt>
                <c:pt idx="5">
                  <c:v>2307.143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1802.282</c:v>
                </c:pt>
                <c:pt idx="1">
                  <c:v>118.33600000000001</c:v>
                </c:pt>
                <c:pt idx="2">
                  <c:v>123.77700000000004</c:v>
                </c:pt>
                <c:pt idx="3">
                  <c:v>128.971</c:v>
                </c:pt>
                <c:pt idx="4">
                  <c:v>133.77700000000004</c:v>
                </c:pt>
                <c:pt idx="5">
                  <c:v>138.00300000000016</c:v>
                </c:pt>
                <c:pt idx="6">
                  <c:v>2445.146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Other Foam Materials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51.78632222149171</c:v>
                </c:pt>
                <c:pt idx="1">
                  <c:v>49.99536741400172</c:v>
                </c:pt>
                <c:pt idx="2">
                  <c:v>45.575982648982624</c:v>
                </c:pt>
              </c:numCache>
            </c:numRef>
          </c:val>
        </c:ser>
        <c:ser>
          <c:idx val="1"/>
          <c:order val="1"/>
          <c:tx>
            <c:strRef>
              <c:strCache>
                <c:ptCount val="1"/>
                <c:pt idx="0">
                  <c:v>Polystyrene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18.985320547913105</c:v>
                </c:pt>
                <c:pt idx="1">
                  <c:v>19.627101793171402</c:v>
                </c:pt>
                <c:pt idx="2">
                  <c:v>21.225807028832122</c:v>
                </c:pt>
              </c:numCache>
            </c:numRef>
          </c:val>
        </c:ser>
        <c:ser>
          <c:idx val="2"/>
          <c:order val="2"/>
          <c:tx>
            <c:strRef>
              <c:strCache>
                <c:ptCount val="1"/>
                <c:pt idx="0">
                  <c:v>Polypropylene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10.673441264290675</c:v>
                </c:pt>
                <c:pt idx="1">
                  <c:v>11.672812933958186</c:v>
                </c:pt>
                <c:pt idx="2">
                  <c:v>14.14193284309303</c:v>
                </c:pt>
              </c:numCache>
            </c:numRef>
          </c:val>
        </c:ser>
        <c:ser>
          <c:idx val="3"/>
          <c:order val="3"/>
          <c:tx>
            <c:strRef>
              <c:strCache>
                <c:ptCount val="1"/>
                <c:pt idx="0">
                  <c:v>Polyethylene (PE) Foam</c:v>
                </c:pt>
              </c:strCache>
            </c:strRef>
          </c:tx>
          <c:spPr>
            <a:solidFill>
              <a:srgbClr val="00ACAC"/>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11.671437005810983</c:v>
                </c:pt>
                <c:pt idx="1">
                  <c:v>12.234215780862593</c:v>
                </c:pt>
                <c:pt idx="2">
                  <c:v>13.608865481152987</c:v>
                </c:pt>
              </c:numCache>
            </c:numRef>
          </c:val>
        </c:ser>
        <c:ser>
          <c:idx val="4"/>
          <c:order val="4"/>
          <c:tx>
            <c:strRef>
              <c:strCache>
                <c:ptCount val="1"/>
                <c:pt idx="0">
                  <c:v>Polyurethane (PU) Foam</c:v>
                </c:pt>
              </c:strCache>
            </c:strRef>
          </c:tx>
          <c:spPr>
            <a:solidFill>
              <a:srgbClr val="F47620"/>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6.88347896049352</c:v>
                </c:pt>
                <c:pt idx="1">
                  <c:v>6.47050207800609</c:v>
                </c:pt>
                <c:pt idx="2">
                  <c:v>5.447411997939231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Foam Sheets, Rolls &amp; Planks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15.977674857206289</c:v>
                </c:pt>
                <c:pt idx="1">
                  <c:v>13.473575495070719</c:v>
                </c:pt>
              </c:numCache>
            </c:numRef>
          </c:val>
        </c:ser>
        <c:ser>
          <c:idx val="1"/>
          <c:order val="1"/>
          <c:tx>
            <c:strRef>
              <c:strCache>
                <c:ptCount val="1"/>
                <c:pt idx="0">
                  <c:v>Fabricated Foam Packaging</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18.017127234316725</c:v>
                </c:pt>
                <c:pt idx="1">
                  <c:v>19.353578657596337</c:v>
                </c:pt>
              </c:numCache>
            </c:numRef>
          </c:val>
        </c:ser>
        <c:ser>
          <c:idx val="2"/>
          <c:order val="2"/>
          <c:tx>
            <c:strRef>
              <c:strCache>
                <c:ptCount val="1"/>
                <c:pt idx="0">
                  <c:v>Molded Foam Packaging</c:v>
                </c:pt>
              </c:strCache>
            </c:strRef>
          </c:tx>
          <c:spPr>
            <a:solidFill>
              <a:srgbClr val="0E2A5C"/>
            </a:solidFill>
            <a:ln>
              <a:noFill/>
            </a:ln>
          </c:spPr>
          <c:dLbls>
            <c:dLbl>
              <c:idx val="0"/>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6.626589441905761</c:v>
                </c:pt>
                <c:pt idx="1">
                  <c:v>6.944148802359288</c:v>
                </c:pt>
              </c:numCache>
            </c:numRef>
          </c:val>
        </c:ser>
        <c:ser>
          <c:idx val="3"/>
          <c:order val="3"/>
          <c:tx>
            <c:strRef>
              <c:strCache>
                <c:ptCount val="1"/>
                <c:pt idx="0">
                  <c:v>Foam-in-Place Packaging</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13.699784736551182</c:v>
                </c:pt>
                <c:pt idx="1">
                  <c:v>10.489660697491708</c:v>
                </c:pt>
              </c:numCache>
            </c:numRef>
          </c:val>
        </c:ser>
        <c:ser>
          <c:idx val="4"/>
          <c:order val="4"/>
          <c:tx>
            <c:strRef>
              <c:strCache>
                <c:ptCount val="1"/>
                <c:pt idx="0">
                  <c:v>Foam Pouches, Bags &amp; Sleeves</c:v>
                </c:pt>
              </c:strCache>
            </c:strRef>
          </c:tx>
          <c:spPr>
            <a:solidFill>
              <a:srgbClr val="F47620"/>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35.25330934650777</c:v>
                </c:pt>
                <c:pt idx="1">
                  <c:v>37.91732759950483</c:v>
                </c:pt>
              </c:numCache>
            </c:numRef>
          </c:val>
        </c:ser>
        <c:ser>
          <c:idx val="5"/>
          <c:order val="5"/>
          <c:tx>
            <c:strRef>
              <c:strCache>
                <c:ptCount val="1"/>
                <c:pt idx="0">
                  <c:v>Foam Loose-Fill Packaging</c:v>
                </c:pt>
              </c:strCache>
            </c:strRef>
          </c:tx>
          <c:spPr>
            <a:solidFill>
              <a:srgbClr val="79C3EC"/>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10.425514383512262</c:v>
                </c:pt>
                <c:pt idx="1">
                  <c:v>11.821708747977116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Foam Sheets, Rolls &amp; Planks</c:v>
                </c:pt>
              </c:strCache>
            </c:strRef>
          </c:tx>
          <c:spPr>
            <a:solidFill>
              <a:srgbClr val="2A5F8F"/>
            </a:solidFill>
          </c:spPr>
          <c:invertIfNegative val="0"/>
          <c:xVal>
            <c:numRef>
              <c:numCache>
                <c:formatCode>General</c:formatCode>
                <c:ptCount val="1"/>
                <c:pt idx="0">
                  <c:v>84.34548438696773</c:v>
                </c:pt>
              </c:numCache>
            </c:numRef>
          </c:xVal>
          <c:yVal>
            <c:numRef>
              <c:numCache>
                <c:formatCode>General</c:formatCode>
                <c:ptCount val="1"/>
                <c:pt idx="0">
                  <c:v>91.14732233755298</c:v>
                </c:pt>
              </c:numCache>
            </c:numRef>
          </c:yVal>
          <c:bubbleSize>
            <c:numRef>
              <c:numCache>
                <c:formatCode>General</c:formatCode>
                <c:ptCount val="1"/>
                <c:pt idx="0">
                  <c:v>766.6179999999999</c:v>
                </c:pt>
              </c:numCache>
            </c:numRef>
          </c:bubbleSize>
          <c:bubble3D val="0"/>
        </c:ser>
        <c:ser>
          <c:idx val="1"/>
          <c:order val="1"/>
          <c:tx>
            <c:strRef>
              <c:strCache>
                <c:ptCount val="1"/>
                <c:pt idx="0">
                  <c:v>Fabricated Foam Packaging</c:v>
                </c:pt>
              </c:strCache>
            </c:strRef>
          </c:tx>
          <c:spPr>
            <a:solidFill>
              <a:srgbClr val="0081E2"/>
            </a:solidFill>
          </c:spPr>
          <c:invertIfNegative val="0"/>
          <c:xVal>
            <c:numRef>
              <c:numCache>
                <c:formatCode>General</c:formatCode>
                <c:ptCount val="1"/>
                <c:pt idx="0">
                  <c:v>69.80338596924483</c:v>
                </c:pt>
              </c:numCache>
            </c:numRef>
          </c:xVal>
          <c:yVal>
            <c:numRef>
              <c:numCache>
                <c:formatCode>General</c:formatCode>
                <c:ptCount val="1"/>
                <c:pt idx="0">
                  <c:v>127.77748496628753</c:v>
                </c:pt>
              </c:numCache>
            </c:numRef>
          </c:yVal>
          <c:bubbleSize>
            <c:numRef>
              <c:numCache>
                <c:formatCode>General</c:formatCode>
                <c:ptCount val="1"/>
                <c:pt idx="0">
                  <c:v>1014.961</c:v>
                </c:pt>
              </c:numCache>
            </c:numRef>
          </c:bubbleSize>
          <c:bubble3D val="0"/>
        </c:ser>
        <c:ser>
          <c:idx val="2"/>
          <c:order val="2"/>
          <c:tx>
            <c:strRef>
              <c:strCache>
                <c:ptCount val="1"/>
                <c:pt idx="0">
                  <c:v>Molded Foam Packaging</c:v>
                </c:pt>
              </c:strCache>
            </c:strRef>
          </c:tx>
          <c:spPr>
            <a:solidFill>
              <a:srgbClr val="0E2A5C"/>
            </a:solidFill>
          </c:spPr>
          <c:invertIfNegative val="0"/>
          <c:xVal>
            <c:numRef>
              <c:numCache>
                <c:formatCode>General</c:formatCode>
                <c:ptCount val="1"/>
                <c:pt idx="0">
                  <c:v>63.6184954650363</c:v>
                </c:pt>
              </c:numCache>
            </c:numRef>
          </c:xVal>
          <c:yVal>
            <c:numRef>
              <c:numCache>
                <c:formatCode>General</c:formatCode>
                <c:ptCount val="1"/>
                <c:pt idx="0">
                  <c:v>47.34591658349279</c:v>
                </c:pt>
              </c:numCache>
            </c:numRef>
          </c:yVal>
          <c:bubbleSize>
            <c:numRef>
              <c:numCache>
                <c:formatCode>General</c:formatCode>
                <c:ptCount val="1"/>
                <c:pt idx="0">
                  <c:v>367.003</c:v>
                </c:pt>
              </c:numCache>
            </c:numRef>
          </c:bubbleSize>
          <c:bubble3D val="0"/>
        </c:ser>
        <c:ser>
          <c:idx val="3"/>
          <c:order val="3"/>
          <c:tx>
            <c:strRef>
              <c:strCache>
                <c:ptCount val="1"/>
                <c:pt idx="0">
                  <c:v>Foam-in-Place Packaging</c:v>
                </c:pt>
              </c:strCache>
            </c:strRef>
          </c:tx>
          <c:spPr>
            <a:solidFill>
              <a:srgbClr val="00ACAC"/>
            </a:solidFill>
          </c:spPr>
          <c:invertIfNegative val="0"/>
          <c:xVal>
            <c:numRef>
              <c:numCache>
                <c:formatCode>General</c:formatCode>
                <c:ptCount val="1"/>
                <c:pt idx="0">
                  <c:v>28.89366313161188</c:v>
                </c:pt>
              </c:numCache>
            </c:numRef>
          </c:xVal>
          <c:yVal>
            <c:numRef>
              <c:numCache>
                <c:formatCode>General</c:formatCode>
                <c:ptCount val="1"/>
                <c:pt idx="0">
                  <c:v>91.67610290221803</c:v>
                </c:pt>
              </c:numCache>
            </c:numRef>
          </c:yVal>
          <c:bubbleSize>
            <c:numRef>
              <c:numCache>
                <c:formatCode>General</c:formatCode>
                <c:ptCount val="1"/>
                <c:pt idx="0">
                  <c:v>618.87</c:v>
                </c:pt>
              </c:numCache>
            </c:numRef>
          </c:bubbleSize>
          <c:bubble3D val="0"/>
        </c:ser>
        <c:ser>
          <c:idx val="4"/>
          <c:order val="4"/>
          <c:tx>
            <c:strRef>
              <c:strCache>
                <c:ptCount val="1"/>
                <c:pt idx="0">
                  <c:v>Foam Pouches, Bags &amp; Sleeves</c:v>
                </c:pt>
              </c:strCache>
            </c:strRef>
          </c:tx>
          <c:spPr>
            <a:solidFill>
              <a:srgbClr val="F47620"/>
            </a:solidFill>
          </c:spPr>
          <c:invertIfNegative val="0"/>
          <c:xVal>
            <c:numRef>
              <c:numCache>
                <c:formatCode>General</c:formatCode>
                <c:ptCount val="1"/>
                <c:pt idx="0">
                  <c:v>173.15229928926107</c:v>
                </c:pt>
              </c:numCache>
            </c:numRef>
          </c:xVal>
          <c:yVal>
            <c:numRef>
              <c:numCache>
                <c:formatCode>General</c:formatCode>
                <c:ptCount val="1"/>
                <c:pt idx="0">
                  <c:v>167.8141794857996</c:v>
                </c:pt>
              </c:numCache>
            </c:numRef>
          </c:yVal>
          <c:bubbleSize>
            <c:numRef>
              <c:numCache>
                <c:formatCode>General</c:formatCode>
                <c:ptCount val="1"/>
                <c:pt idx="0">
                  <c:v>1987.703</c:v>
                </c:pt>
              </c:numCache>
            </c:numRef>
          </c:bubbleSize>
          <c:bubble3D val="0"/>
        </c:ser>
        <c:ser>
          <c:idx val="5"/>
          <c:order val="5"/>
          <c:tx>
            <c:strRef>
              <c:strCache>
                <c:ptCount val="1"/>
                <c:pt idx="0">
                  <c:v>Foam Loose-Fill Packaging</c:v>
                </c:pt>
              </c:strCache>
            </c:strRef>
          </c:tx>
          <c:spPr>
            <a:solidFill>
              <a:srgbClr val="79C3EC"/>
            </a:solidFill>
          </c:spPr>
          <c:invertIfNegative val="0"/>
          <c:xVal>
            <c:numRef>
              <c:numCache>
                <c:formatCode>General</c:formatCode>
                <c:ptCount val="1"/>
                <c:pt idx="0">
                  <c:v>78.33109540611981</c:v>
                </c:pt>
              </c:numCache>
            </c:numRef>
          </c:xVal>
          <c:yVal>
            <c:numRef>
              <c:numCache>
                <c:formatCode>General</c:formatCode>
                <c:ptCount val="1"/>
                <c:pt idx="0">
                  <c:v>74.23899372464908</c:v>
                </c:pt>
              </c:numCache>
            </c:numRef>
          </c:yVal>
          <c:bubbleSize>
            <c:numRef>
              <c:numCache>
                <c:formatCode>General</c:formatCode>
                <c:ptCount val="1"/>
                <c:pt idx="0">
                  <c:v>609.833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21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547.628</c:v>
                </c:pt>
                <c:pt idx="2">
                  <c:v>586.26</c:v>
                </c:pt>
                <c:pt idx="3">
                  <c:v>627.3580000000001</c:v>
                </c:pt>
                <c:pt idx="4">
                  <c:v>671.04</c:v>
                </c:pt>
                <c:pt idx="5">
                  <c:v>717.422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547.628</c:v>
                </c:pt>
                <c:pt idx="1">
                  <c:v>38.63199999999995</c:v>
                </c:pt>
                <c:pt idx="2">
                  <c:v>41.09800000000007</c:v>
                </c:pt>
                <c:pt idx="3">
                  <c:v>43.6819999999999</c:v>
                </c:pt>
                <c:pt idx="4">
                  <c:v>46.38200000000006</c:v>
                </c:pt>
                <c:pt idx="5">
                  <c:v>49.19599999999991</c:v>
                </c:pt>
                <c:pt idx="6">
                  <c:v>766.6179999999999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767.708</c:v>
                </c:pt>
                <c:pt idx="2">
                  <c:v>813.4309999999999</c:v>
                </c:pt>
                <c:pt idx="3">
                  <c:v>861.078</c:v>
                </c:pt>
                <c:pt idx="4">
                  <c:v>910.605</c:v>
                </c:pt>
                <c:pt idx="5">
                  <c:v>961.934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767.708</c:v>
                </c:pt>
                <c:pt idx="1">
                  <c:v>45.722999999999956</c:v>
                </c:pt>
                <c:pt idx="2">
                  <c:v>47.64700000000005</c:v>
                </c:pt>
                <c:pt idx="3">
                  <c:v>49.527000000000044</c:v>
                </c:pt>
                <c:pt idx="4">
                  <c:v>51.32899999999995</c:v>
                </c:pt>
                <c:pt idx="5">
                  <c:v>53.027000000000044</c:v>
                </c:pt>
                <c:pt idx="6">
                  <c:v>1014.961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284.462</c:v>
                </c:pt>
                <c:pt idx="2">
                  <c:v>300.155</c:v>
                </c:pt>
                <c:pt idx="3">
                  <c:v>316.319</c:v>
                </c:pt>
                <c:pt idx="4">
                  <c:v>332.897</c:v>
                </c:pt>
                <c:pt idx="5">
                  <c:v>349.82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284.462</c:v>
                </c:pt>
                <c:pt idx="1">
                  <c:v>15.692999999999984</c:v>
                </c:pt>
                <c:pt idx="2">
                  <c:v>16.164000000000044</c:v>
                </c:pt>
                <c:pt idx="3">
                  <c:v>16.577999999999975</c:v>
                </c:pt>
                <c:pt idx="4">
                  <c:v>16.923000000000002</c:v>
                </c:pt>
                <c:pt idx="5">
                  <c:v>17.182999999999993</c:v>
                </c:pt>
                <c:pt idx="6">
                  <c:v>367.003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550.805</c:v>
                </c:pt>
                <c:pt idx="2">
                  <c:v>568.629</c:v>
                </c:pt>
                <c:pt idx="3">
                  <c:v>584.875</c:v>
                </c:pt>
                <c:pt idx="4">
                  <c:v>599.059</c:v>
                </c:pt>
                <c:pt idx="5">
                  <c:v>610.612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550.805</c:v>
                </c:pt>
                <c:pt idx="1">
                  <c:v>17.82400000000007</c:v>
                </c:pt>
                <c:pt idx="2">
                  <c:v>16.24599999999998</c:v>
                </c:pt>
                <c:pt idx="3">
                  <c:v>14.183999999999969</c:v>
                </c:pt>
                <c:pt idx="4">
                  <c:v>11.552999999999997</c:v>
                </c:pt>
                <c:pt idx="5">
                  <c:v>8.258000000000038</c:v>
                </c:pt>
                <c:pt idx="6">
                  <c:v>618.87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1008.255</c:v>
                </c:pt>
                <c:pt idx="2">
                  <c:v>1159.074</c:v>
                </c:pt>
                <c:pt idx="3">
                  <c:v>1329.7730000000001</c:v>
                </c:pt>
                <c:pt idx="4">
                  <c:v>1522.848</c:v>
                </c:pt>
                <c:pt idx="5">
                  <c:v>1741.108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1008.255</c:v>
                </c:pt>
                <c:pt idx="1">
                  <c:v>150.81900000000007</c:v>
                </c:pt>
                <c:pt idx="2">
                  <c:v>170.69900000000007</c:v>
                </c:pt>
                <c:pt idx="3">
                  <c:v>193.07499999999982</c:v>
                </c:pt>
                <c:pt idx="4">
                  <c:v>218.26</c:v>
                </c:pt>
                <c:pt idx="5">
                  <c:v>246.59500000000003</c:v>
                </c:pt>
                <c:pt idx="6">
                  <c:v>1987.703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446.04</c:v>
                </c:pt>
                <c:pt idx="2">
                  <c:v>475.389</c:v>
                </c:pt>
                <c:pt idx="3">
                  <c:v>506.393</c:v>
                </c:pt>
                <c:pt idx="4">
                  <c:v>539.104</c:v>
                </c:pt>
                <c:pt idx="5">
                  <c:v>573.571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446.04</c:v>
                </c:pt>
                <c:pt idx="1">
                  <c:v>29.34899999999999</c:v>
                </c:pt>
                <c:pt idx="2">
                  <c:v>31.003999999999962</c:v>
                </c:pt>
                <c:pt idx="3">
                  <c:v>32.71100000000007</c:v>
                </c:pt>
                <c:pt idx="4">
                  <c:v>34.466999999999985</c:v>
                </c:pt>
                <c:pt idx="5">
                  <c:v>36.261999999999944</c:v>
                </c:pt>
                <c:pt idx="6">
                  <c:v>609.833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Pouches, Bags &amp; Sleeves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23.821123022674353</c:v>
                </c:pt>
                <c:pt idx="1">
                  <c:v>27.96902991429993</c:v>
                </c:pt>
                <c:pt idx="2">
                  <c:v>37.0495330092071</c:v>
                </c:pt>
              </c:numCache>
            </c:numRef>
          </c:val>
        </c:ser>
        <c:ser>
          <c:idx val="1"/>
          <c:order val="1"/>
          <c:tx>
            <c:strRef>
              <c:strCache>
                <c:ptCount val="1"/>
                <c:pt idx="0">
                  <c:v>Fabricated Foam Packaging</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22.39197411323442</c:v>
                </c:pt>
                <c:pt idx="1">
                  <c:v>21.296247494381255</c:v>
                </c:pt>
                <c:pt idx="2">
                  <c:v>18.918234299871685</c:v>
                </c:pt>
              </c:numCache>
            </c:numRef>
          </c:val>
        </c:ser>
        <c:ser>
          <c:idx val="2"/>
          <c:order val="2"/>
          <c:tx>
            <c:strRef>
              <c:strCache>
                <c:ptCount val="1"/>
                <c:pt idx="0">
                  <c:v>Sheets, Rolls &amp; Planks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15.596535412363652</c:v>
                </c:pt>
                <c:pt idx="1">
                  <c:v>15.19122038959216</c:v>
                </c:pt>
                <c:pt idx="2">
                  <c:v>14.289277068280487</c:v>
                </c:pt>
              </c:numCache>
            </c:numRef>
          </c:val>
        </c:ser>
        <c:ser>
          <c:idx val="3"/>
          <c:order val="3"/>
          <c:tx>
            <c:strRef>
              <c:strCache>
                <c:ptCount val="1"/>
                <c:pt idx="0">
                  <c:v>Foam-in-Place Packaging</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16.978132817438027</c:v>
                </c:pt>
                <c:pt idx="1">
                  <c:v>15.279350483703006</c:v>
                </c:pt>
                <c:pt idx="2">
                  <c:v>11.535347329761034</c:v>
                </c:pt>
              </c:numCache>
            </c:numRef>
          </c:val>
        </c:ser>
        <c:ser>
          <c:idx val="4"/>
          <c:order val="4"/>
          <c:tx>
            <c:strRef>
              <c:strCache>
                <c:ptCount val="1"/>
                <c:pt idx="0">
                  <c:v>Loose-Fill Packaging</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12.838873631470307</c:v>
                </c:pt>
                <c:pt idx="1">
                  <c:v>12.373165620774845</c:v>
                </c:pt>
                <c:pt idx="2">
                  <c:v>11.366903336969251</c:v>
                </c:pt>
              </c:numCache>
            </c:numRef>
          </c:val>
        </c:ser>
        <c:ser>
          <c:idx val="5"/>
          <c:order val="5"/>
          <c:tx>
            <c:strRef>
              <c:strCache>
                <c:ptCount val="1"/>
                <c:pt idx="0">
                  <c:v>Molded Foam Packaging</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8.373361002819243</c:v>
                </c:pt>
                <c:pt idx="1">
                  <c:v>7.890986097248797</c:v>
                </c:pt>
                <c:pt idx="2">
                  <c:v>6.840704955910431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Electronics &amp; Electrical</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12.943730523578845</c:v>
                </c:pt>
                <c:pt idx="1">
                  <c:v>11.898726198815602</c:v>
                </c:pt>
              </c:numCache>
            </c:numRef>
          </c:val>
        </c:ser>
        <c:ser>
          <c:idx val="1"/>
          <c:order val="1"/>
          <c:tx>
            <c:strRef>
              <c:strCache>
                <c:ptCount val="1"/>
                <c:pt idx="0">
                  <c:v>Automotive</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13.294606511919598</c:v>
                </c:pt>
                <c:pt idx="1">
                  <c:v>12.725571839368024</c:v>
                </c:pt>
              </c:numCache>
            </c:numRef>
          </c:val>
        </c:ser>
        <c:ser>
          <c:idx val="2"/>
          <c:order val="2"/>
          <c:tx>
            <c:strRef>
              <c:strCache>
                <c:ptCount val="1"/>
                <c:pt idx="0">
                  <c:v>Healthcare &amp; Pharmaceuticals</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16.532999623489236</c:v>
                </c:pt>
                <c:pt idx="1">
                  <c:v>14.985782456939612</c:v>
                </c:pt>
              </c:numCache>
            </c:numRef>
          </c:val>
        </c:ser>
        <c:ser>
          <c:idx val="3"/>
          <c:order val="3"/>
          <c:tx>
            <c:strRef>
              <c:strCache>
                <c:ptCount val="1"/>
                <c:pt idx="0">
                  <c:v>Industrial Machinery &amp; Equipment</c:v>
                </c:pt>
              </c:strCache>
            </c:strRef>
          </c:tx>
          <c:spPr>
            <a:solidFill>
              <a:srgbClr val="00ACA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10.04757310774731</c:v>
                </c:pt>
                <c:pt idx="1">
                  <c:v>10.665645296213096</c:v>
                </c:pt>
              </c:numCache>
            </c:numRef>
          </c:val>
        </c:ser>
        <c:ser>
          <c:idx val="4"/>
          <c:order val="4"/>
          <c:tx>
            <c:strRef>
              <c:strCache>
                <c:ptCount val="1"/>
                <c:pt idx="0">
                  <c:v>Consumer Goods &amp; Home Products</c:v>
                </c:pt>
              </c:strCache>
            </c:strRef>
          </c:tx>
          <c:spPr>
            <a:solidFill>
              <a:srgbClr val="F47620"/>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24.607953875714827</c:v>
                </c:pt>
                <c:pt idx="1">
                  <c:v>26.11574401456089</c:v>
                </c:pt>
              </c:numCache>
            </c:numRef>
          </c:val>
        </c:ser>
        <c:ser>
          <c:idx val="5"/>
          <c:order val="5"/>
          <c:tx>
            <c:strRef>
              <c:strCache>
                <c:ptCount val="1"/>
                <c:pt idx="0">
                  <c:v>Food &amp; Beverage</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8.395331724293413</c:v>
                </c:pt>
                <c:pt idx="1">
                  <c:v>10.65350938059282</c:v>
                </c:pt>
              </c:numCache>
            </c:numRef>
          </c:val>
        </c:ser>
        <c:ser>
          <c:idx val="6"/>
          <c:order val="6"/>
          <c:tx>
            <c:strRef>
              <c:strCache>
                <c:ptCount val="1"/>
                <c:pt idx="0">
                  <c:v>Aerospace &amp; Defense</c:v>
                </c:pt>
              </c:strCache>
            </c:strRef>
          </c:tx>
          <c:spPr>
            <a:solidFill>
              <a:srgbClr val="586272"/>
            </a:solidFill>
            <a:ln>
              <a:noFill/>
            </a:ln>
          </c:spPr>
          <c:dLbls>
            <c:dLbl>
              <c:idx val="0"/>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3.752347470225323</c:v>
                </c:pt>
                <c:pt idx="1">
                  <c:v>3.5659687916221823</c:v>
                </c:pt>
              </c:numCache>
            </c:numRef>
          </c:val>
        </c:ser>
        <c:ser>
          <c:idx val="7"/>
          <c:order val="7"/>
          <c:tx>
            <c:strRef>
              <c:strCache>
                <c:ptCount val="1"/>
                <c:pt idx="0">
                  <c:v>Others</c:v>
                </c:pt>
              </c:strCache>
            </c:strRef>
          </c:tx>
          <c:spPr>
            <a:solidFill>
              <a:srgbClr val="1F476B"/>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quot;;&quot;MMM&quot;;&quot;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10.42545716303145</c:v>
                </c:pt>
                <c:pt idx="1">
                  <c:v>9.389052021887775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Electronics &amp; Electrical</c:v>
                </c:pt>
              </c:strCache>
            </c:strRef>
          </c:tx>
          <c:spPr>
            <a:solidFill>
              <a:srgbClr val="2A5F8F"/>
            </a:solidFill>
          </c:spPr>
          <c:invertIfNegative val="0"/>
          <c:xVal>
            <c:numRef>
              <c:numCache>
                <c:formatCode>General</c:formatCode>
                <c:ptCount val="1"/>
                <c:pt idx="0">
                  <c:v>126.45023519242412</c:v>
                </c:pt>
              </c:numCache>
            </c:numRef>
          </c:xVal>
          <c:yVal>
            <c:numRef>
              <c:numCache>
                <c:formatCode>General</c:formatCode>
                <c:ptCount val="1"/>
                <c:pt idx="0">
                  <c:v>88.36754881830223</c:v>
                </c:pt>
              </c:numCache>
            </c:numRef>
          </c:yVal>
          <c:bubbleSize>
            <c:numRef>
              <c:numCache>
                <c:formatCode>General</c:formatCode>
                <c:ptCount val="1"/>
                <c:pt idx="0">
                  <c:v>656.6279999999999</c:v>
                </c:pt>
              </c:numCache>
            </c:numRef>
          </c:bubbleSize>
          <c:bubble3D val="0"/>
        </c:ser>
        <c:ser>
          <c:idx val="1"/>
          <c:order val="1"/>
          <c:tx>
            <c:strRef>
              <c:strCache>
                <c:ptCount val="1"/>
                <c:pt idx="0">
                  <c:v>Automotive</c:v>
                </c:pt>
              </c:strCache>
            </c:strRef>
          </c:tx>
          <c:spPr>
            <a:solidFill>
              <a:srgbClr val="0081E2"/>
            </a:solidFill>
          </c:spPr>
          <c:invertIfNegative val="0"/>
          <c:xVal>
            <c:numRef>
              <c:numCache>
                <c:formatCode>General</c:formatCode>
                <c:ptCount val="1"/>
                <c:pt idx="0">
                  <c:v>92.88998150883033</c:v>
                </c:pt>
              </c:numCache>
            </c:numRef>
          </c:xVal>
          <c:yVal>
            <c:numRef>
              <c:numCache>
                <c:formatCode>General</c:formatCode>
                <c:ptCount val="1"/>
                <c:pt idx="0">
                  <c:v>106.1941835802289</c:v>
                </c:pt>
              </c:numCache>
            </c:numRef>
          </c:yVal>
          <c:bubbleSize>
            <c:numRef>
              <c:numCache>
                <c:formatCode>General</c:formatCode>
                <c:ptCount val="1"/>
                <c:pt idx="0">
                  <c:v>692.6700000000001</c:v>
                </c:pt>
              </c:numCache>
            </c:numRef>
          </c:bubbleSize>
          <c:bubble3D val="0"/>
        </c:ser>
        <c:ser>
          <c:idx val="2"/>
          <c:order val="2"/>
          <c:tx>
            <c:strRef>
              <c:strCache>
                <c:ptCount val="1"/>
                <c:pt idx="0">
                  <c:v>Healthcare &amp; Pharmaceuticals</c:v>
                </c:pt>
              </c:strCache>
            </c:strRef>
          </c:tx>
          <c:spPr>
            <a:solidFill>
              <a:srgbClr val="0E2A5C"/>
            </a:solidFill>
          </c:spPr>
          <c:invertIfNegative val="0"/>
          <c:xVal>
            <c:numRef>
              <c:numCache>
                <c:formatCode>General</c:formatCode>
                <c:ptCount val="1"/>
                <c:pt idx="0">
                  <c:v>56.721613522137574</c:v>
                </c:pt>
              </c:numCache>
            </c:numRef>
          </c:xVal>
          <c:yVal>
            <c:numRef>
              <c:numCache>
                <c:formatCode>General</c:formatCode>
                <c:ptCount val="1"/>
                <c:pt idx="0">
                  <c:v>146.90124380773048</c:v>
                </c:pt>
              </c:numCache>
            </c:numRef>
          </c:yVal>
          <c:bubbleSize>
            <c:numRef>
              <c:numCache>
                <c:formatCode>General</c:formatCode>
                <c:ptCount val="1"/>
                <c:pt idx="0">
                  <c:v>831.0250000000001</c:v>
                </c:pt>
              </c:numCache>
            </c:numRef>
          </c:bubbleSize>
          <c:bubble3D val="0"/>
        </c:ser>
        <c:ser>
          <c:idx val="3"/>
          <c:order val="3"/>
          <c:tx>
            <c:strRef>
              <c:strCache>
                <c:ptCount val="1"/>
                <c:pt idx="0">
                  <c:v>Industrial Machinery &amp; Equipment</c:v>
                </c:pt>
              </c:strCache>
            </c:strRef>
          </c:tx>
          <c:spPr>
            <a:solidFill>
              <a:srgbClr val="00ACAC"/>
            </a:solidFill>
          </c:spPr>
          <c:invertIfNegative val="0"/>
          <c:xVal>
            <c:numRef>
              <c:numCache>
                <c:formatCode>General</c:formatCode>
                <c:ptCount val="1"/>
                <c:pt idx="0">
                  <c:v>57.61599867101965</c:v>
                </c:pt>
              </c:numCache>
            </c:numRef>
          </c:xVal>
          <c:yVal>
            <c:numRef>
              <c:numCache>
                <c:formatCode>General</c:formatCode>
                <c:ptCount val="1"/>
                <c:pt idx="0">
                  <c:v>98.88967732235419</c:v>
                </c:pt>
              </c:numCache>
            </c:numRef>
          </c:yVal>
          <c:bubbleSize>
            <c:numRef>
              <c:numCache>
                <c:formatCode>General</c:formatCode>
                <c:ptCount val="1"/>
                <c:pt idx="0">
                  <c:v>561.409</c:v>
                </c:pt>
              </c:numCache>
            </c:numRef>
          </c:bubbleSize>
          <c:bubble3D val="0"/>
        </c:ser>
        <c:ser>
          <c:idx val="4"/>
          <c:order val="4"/>
          <c:tx>
            <c:strRef>
              <c:strCache>
                <c:ptCount val="1"/>
                <c:pt idx="0">
                  <c:v>Consumer Goods &amp; Home Products</c:v>
                </c:pt>
              </c:strCache>
            </c:strRef>
          </c:tx>
          <c:spPr>
            <a:solidFill>
              <a:srgbClr val="F47620"/>
            </a:solidFill>
          </c:spPr>
          <c:invertIfNegative val="0"/>
          <c:xVal>
            <c:numRef>
              <c:numCache>
                <c:formatCode>General</c:formatCode>
                <c:ptCount val="1"/>
                <c:pt idx="0">
                  <c:v>127.58994641422392</c:v>
                </c:pt>
              </c:numCache>
            </c:numRef>
          </c:xVal>
          <c:yVal>
            <c:numRef>
              <c:numCache>
                <c:formatCode>General</c:formatCode>
                <c:ptCount val="1"/>
                <c:pt idx="0">
                  <c:v>184.20005226222767</c:v>
                </c:pt>
              </c:numCache>
            </c:numRef>
          </c:yVal>
          <c:bubbleSize>
            <c:numRef>
              <c:numCache>
                <c:formatCode>General</c:formatCode>
                <c:ptCount val="1"/>
                <c:pt idx="0">
                  <c:v>1374.756</c:v>
                </c:pt>
              </c:numCache>
            </c:numRef>
          </c:bubbleSize>
          <c:bubble3D val="0"/>
        </c:ser>
        <c:ser>
          <c:idx val="5"/>
          <c:order val="5"/>
          <c:tx>
            <c:strRef>
              <c:strCache>
                <c:ptCount val="1"/>
                <c:pt idx="0">
                  <c:v>Food &amp; Beverage</c:v>
                </c:pt>
              </c:strCache>
            </c:strRef>
          </c:tx>
          <c:spPr>
            <a:solidFill>
              <a:srgbClr val="79C3EC"/>
            </a:solidFill>
          </c:spPr>
          <c:invertIfNegative val="0"/>
          <c:xVal>
            <c:numRef>
              <c:numCache>
                <c:formatCode>General</c:formatCode>
                <c:ptCount val="1"/>
                <c:pt idx="0">
                  <c:v>105.22046195403493</c:v>
                </c:pt>
              </c:numCache>
            </c:numRef>
          </c:xVal>
          <c:yVal>
            <c:numRef>
              <c:numCache>
                <c:formatCode>General</c:formatCode>
                <c:ptCount val="1"/>
                <c:pt idx="0">
                  <c:v>77.74666578638286</c:v>
                </c:pt>
              </c:numCache>
            </c:numRef>
          </c:yVal>
          <c:bubbleSize>
            <c:numRef>
              <c:numCache>
                <c:formatCode>General</c:formatCode>
                <c:ptCount val="1"/>
                <c:pt idx="0">
                  <c:v>532.095</c:v>
                </c:pt>
              </c:numCache>
            </c:numRef>
          </c:bubbleSize>
          <c:bubble3D val="0"/>
        </c:ser>
        <c:ser>
          <c:idx val="6"/>
          <c:order val="6"/>
          <c:tx>
            <c:strRef>
              <c:strCache>
                <c:ptCount val="1"/>
                <c:pt idx="0">
                  <c:v>Aerospace &amp; Defense</c:v>
                </c:pt>
              </c:strCache>
            </c:strRef>
          </c:tx>
          <c:spPr>
            <a:solidFill>
              <a:srgbClr val="586272"/>
            </a:solidFill>
          </c:spPr>
          <c:invertIfNegative val="0"/>
          <c:xVal>
            <c:numRef>
              <c:numCache>
                <c:formatCode>General</c:formatCode>
                <c:ptCount val="1"/>
                <c:pt idx="0">
                  <c:v>84.87695866756133</c:v>
                </c:pt>
              </c:numCache>
            </c:numRef>
          </c:xVal>
          <c:yVal>
            <c:numRef>
              <c:numCache>
                <c:formatCode>General</c:formatCode>
                <c:ptCount val="1"/>
                <c:pt idx="0">
                  <c:v>30.78056577467656</c:v>
                </c:pt>
              </c:numCache>
            </c:numRef>
          </c:yVal>
          <c:bubbleSize>
            <c:numRef>
              <c:numCache>
                <c:formatCode>General</c:formatCode>
                <c:ptCount val="1"/>
                <c:pt idx="0">
                  <c:v>194.571</c:v>
                </c:pt>
              </c:numCache>
            </c:numRef>
          </c:bubbleSize>
          <c:bubble3D val="0"/>
        </c:ser>
        <c:ser>
          <c:idx val="7"/>
          <c:order val="7"/>
          <c:tx>
            <c:strRef>
              <c:strCache>
                <c:ptCount val="1"/>
                <c:pt idx="0">
                  <c:v>Others</c:v>
                </c:pt>
              </c:strCache>
            </c:strRef>
          </c:tx>
          <c:spPr>
            <a:solidFill>
              <a:srgbClr val="1F476B"/>
            </a:solidFill>
          </c:spPr>
          <c:invertIfNegative val="0"/>
          <c:xVal>
            <c:numRef>
              <c:numCache>
                <c:formatCode>General</c:formatCode>
                <c:ptCount val="1"/>
                <c:pt idx="0">
                  <c:v>138.9830591978788</c:v>
                </c:pt>
              </c:numCache>
            </c:numRef>
          </c:xVal>
          <c:yVal>
            <c:numRef>
              <c:numCache>
                <c:formatCode>General</c:formatCode>
                <c:ptCount val="1"/>
                <c:pt idx="0">
                  <c:v>66.92006264809712</c:v>
                </c:pt>
              </c:numCache>
            </c:numRef>
          </c:yVal>
          <c:bubbleSize>
            <c:numRef>
              <c:numCache>
                <c:formatCode>General</c:formatCode>
                <c:ptCount val="1"/>
                <c:pt idx="0">
                  <c:v>521.834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398.19500000000005</c:v>
                </c:pt>
                <c:pt idx="2">
                  <c:v>440.71099999999996</c:v>
                </c:pt>
                <c:pt idx="3">
                  <c:v>487.40099999999995</c:v>
                </c:pt>
                <c:pt idx="4">
                  <c:v>538.657</c:v>
                </c:pt>
                <c:pt idx="5">
                  <c:v>594.91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398.19500000000005</c:v>
                </c:pt>
                <c:pt idx="1">
                  <c:v>42.515999999999906</c:v>
                </c:pt>
                <c:pt idx="2">
                  <c:v>46.69</c:v>
                </c:pt>
                <c:pt idx="3">
                  <c:v>51.256000000000085</c:v>
                </c:pt>
                <c:pt idx="4">
                  <c:v>56.25299999999993</c:v>
                </c:pt>
                <c:pt idx="5">
                  <c:v>61.71799999999996</c:v>
                </c:pt>
                <c:pt idx="6">
                  <c:v>656.6279999999999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478.524</c:v>
                </c:pt>
                <c:pt idx="2">
                  <c:v>515.164</c:v>
                </c:pt>
                <c:pt idx="3">
                  <c:v>554.662</c:v>
                </c:pt>
                <c:pt idx="4">
                  <c:v>597.245</c:v>
                </c:pt>
                <c:pt idx="5">
                  <c:v>643.161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478.524</c:v>
                </c:pt>
                <c:pt idx="1">
                  <c:v>36.639999999999986</c:v>
                </c:pt>
                <c:pt idx="2">
                  <c:v>39.49800000000005</c:v>
                </c:pt>
                <c:pt idx="3">
                  <c:v>42.58299999999997</c:v>
                </c:pt>
                <c:pt idx="4">
                  <c:v>45.91599999999994</c:v>
                </c:pt>
                <c:pt idx="5">
                  <c:v>49.50900000000013</c:v>
                </c:pt>
                <c:pt idx="6">
                  <c:v>692.6700000000001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661.955</c:v>
                </c:pt>
                <c:pt idx="2">
                  <c:v>693.5840000000001</c:v>
                </c:pt>
                <c:pt idx="3">
                  <c:v>726.321</c:v>
                </c:pt>
                <c:pt idx="4">
                  <c:v>760.157</c:v>
                </c:pt>
                <c:pt idx="5">
                  <c:v>795.068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661.955</c:v>
                </c:pt>
                <c:pt idx="1">
                  <c:v>31.62900000000002</c:v>
                </c:pt>
                <c:pt idx="2">
                  <c:v>32.736999999999966</c:v>
                </c:pt>
                <c:pt idx="3">
                  <c:v>33.83600000000001</c:v>
                </c:pt>
                <c:pt idx="4">
                  <c:v>34.910999999999945</c:v>
                </c:pt>
                <c:pt idx="5">
                  <c:v>35.95700000000011</c:v>
                </c:pt>
                <c:pt idx="6">
                  <c:v>831.0250000000001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445.609</c:v>
                </c:pt>
                <c:pt idx="2">
                  <c:v>467.177</c:v>
                </c:pt>
                <c:pt idx="3">
                  <c:v>489.543</c:v>
                </c:pt>
                <c:pt idx="4">
                  <c:v>512.707</c:v>
                </c:pt>
                <c:pt idx="5">
                  <c:v>536.667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445.609</c:v>
                </c:pt>
                <c:pt idx="1">
                  <c:v>21.56800000000004</c:v>
                </c:pt>
                <c:pt idx="2">
                  <c:v>22.365999999999985</c:v>
                </c:pt>
                <c:pt idx="3">
                  <c:v>23.163999999999987</c:v>
                </c:pt>
                <c:pt idx="4">
                  <c:v>23.960000000000036</c:v>
                </c:pt>
                <c:pt idx="5">
                  <c:v>24.741999999999962</c:v>
                </c:pt>
                <c:pt idx="6">
                  <c:v>561.409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830.028</c:v>
                </c:pt>
                <c:pt idx="2">
                  <c:v>919.564</c:v>
                </c:pt>
                <c:pt idx="3">
                  <c:v>1017.9300000000001</c:v>
                </c:pt>
                <c:pt idx="4">
                  <c:v>1125.965</c:v>
                </c:pt>
                <c:pt idx="5">
                  <c:v>1244.57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830.028</c:v>
                </c:pt>
                <c:pt idx="1">
                  <c:v>89.53599999999994</c:v>
                </c:pt>
                <c:pt idx="2">
                  <c:v>98.3660000000001</c:v>
                </c:pt>
                <c:pt idx="3">
                  <c:v>108.03499999999985</c:v>
                </c:pt>
                <c:pt idx="4">
                  <c:v>118.60500000000002</c:v>
                </c:pt>
                <c:pt idx="5">
                  <c:v>130.18600000000015</c:v>
                </c:pt>
                <c:pt idx="6">
                  <c:v>1374.756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350.336</c:v>
                </c:pt>
                <c:pt idx="2">
                  <c:v>380.93</c:v>
                </c:pt>
                <c:pt idx="3">
                  <c:v>414.168</c:v>
                </c:pt>
                <c:pt idx="4">
                  <c:v>450.271</c:v>
                </c:pt>
                <c:pt idx="5">
                  <c:v>489.492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350.336</c:v>
                </c:pt>
                <c:pt idx="1">
                  <c:v>30.593999999999994</c:v>
                </c:pt>
                <c:pt idx="2">
                  <c:v>33.238</c:v>
                </c:pt>
                <c:pt idx="3">
                  <c:v>36.10300000000001</c:v>
                </c:pt>
                <c:pt idx="4">
                  <c:v>39.221000000000004</c:v>
                </c:pt>
                <c:pt idx="5">
                  <c:v>42.60300000000001</c:v>
                </c:pt>
                <c:pt idx="6">
                  <c:v>532.095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138.701</c:v>
                </c:pt>
                <c:pt idx="2">
                  <c:v>148.38400000000001</c:v>
                </c:pt>
                <c:pt idx="3">
                  <c:v>158.75900000000001</c:v>
                </c:pt>
                <c:pt idx="4">
                  <c:v>169.878</c:v>
                </c:pt>
                <c:pt idx="5">
                  <c:v>181.796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138.701</c:v>
                </c:pt>
                <c:pt idx="1">
                  <c:v>9.683000000000021</c:v>
                </c:pt>
                <c:pt idx="2">
                  <c:v>10.375</c:v>
                </c:pt>
                <c:pt idx="3">
                  <c:v>11.118999999999971</c:v>
                </c:pt>
                <c:pt idx="4">
                  <c:v>11.918000000000006</c:v>
                </c:pt>
                <c:pt idx="5">
                  <c:v>12.775000000000006</c:v>
                </c:pt>
                <c:pt idx="6">
                  <c:v>194.571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301.55</c:v>
                </c:pt>
                <c:pt idx="2">
                  <c:v>337.424</c:v>
                </c:pt>
                <c:pt idx="3">
                  <c:v>377.012</c:v>
                </c:pt>
                <c:pt idx="4">
                  <c:v>420.673</c:v>
                </c:pt>
                <c:pt idx="5">
                  <c:v>468.803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301.55</c:v>
                </c:pt>
                <c:pt idx="1">
                  <c:v>35.87399999999997</c:v>
                </c:pt>
                <c:pt idx="2">
                  <c:v>39.58800000000002</c:v>
                </c:pt>
                <c:pt idx="3">
                  <c:v>43.661</c:v>
                </c:pt>
                <c:pt idx="4">
                  <c:v>48.129999999999995</c:v>
                </c:pt>
                <c:pt idx="5">
                  <c:v>53.03099999999995</c:v>
                </c:pt>
                <c:pt idx="6">
                  <c:v>521.834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Consumer Goods &amp; Home Products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21.648595359155436</c:v>
                </c:pt>
                <c:pt idx="1">
                  <c:v>23.02500653277846</c:v>
                </c:pt>
                <c:pt idx="2">
                  <c:v>25.624586671955278</c:v>
                </c:pt>
              </c:numCache>
            </c:numRef>
          </c:val>
        </c:ser>
        <c:ser>
          <c:idx val="1"/>
          <c:order val="1"/>
          <c:tx>
            <c:strRef>
              <c:strCache>
                <c:ptCount val="1"/>
                <c:pt idx="0">
                  <c:v>Healthcare &amp; Pharmaceuticals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19.882126948521346</c:v>
                </c:pt>
                <c:pt idx="1">
                  <c:v>18.36265547596631</c:v>
                </c:pt>
                <c:pt idx="2">
                  <c:v>15.489783015358096</c:v>
                </c:pt>
              </c:numCache>
            </c:numRef>
          </c:val>
        </c:ser>
        <c:ser>
          <c:idx val="2"/>
          <c:order val="2"/>
          <c:tx>
            <c:strRef>
              <c:strCache>
                <c:ptCount val="1"/>
                <c:pt idx="0">
                  <c:v>Automotive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13.466807357496831</c:v>
                </c:pt>
                <c:pt idx="1">
                  <c:v>13.274272947528612</c:v>
                </c:pt>
                <c:pt idx="2">
                  <c:v>12.910932885590798</c:v>
                </c:pt>
              </c:numCache>
            </c:numRef>
          </c:val>
        </c:ser>
        <c:ser>
          <c:idx val="3"/>
          <c:order val="3"/>
          <c:tx>
            <c:strRef>
              <c:strCache>
                <c:ptCount val="1"/>
                <c:pt idx="0">
                  <c:v>Electronics &amp; Electrical</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10.414528042368683</c:v>
                </c:pt>
                <c:pt idx="1">
                  <c:v>11.045943602287778</c:v>
                </c:pt>
                <c:pt idx="2">
                  <c:v>12.239132687715236</c:v>
                </c:pt>
              </c:numCache>
            </c:numRef>
          </c:val>
        </c:ser>
        <c:ser>
          <c:idx val="4"/>
          <c:order val="4"/>
          <c:tx>
            <c:strRef>
              <c:strCache>
                <c:ptCount val="1"/>
                <c:pt idx="0">
                  <c:v>Industrial Machinery &amp; Equipment</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13.367408114285043</c:v>
                </c:pt>
                <c:pt idx="1">
                  <c:v>12.361209665294274</c:v>
                </c:pt>
                <c:pt idx="2">
                  <c:v>10.464310451393368</c:v>
                </c:pt>
              </c:numCache>
            </c:numRef>
          </c:val>
        </c:ser>
        <c:ser>
          <c:idx val="5"/>
          <c:order val="5"/>
          <c:tx>
            <c:strRef>
              <c:strCache>
                <c:ptCount val="1"/>
                <c:pt idx="0">
                  <c:v>Food &amp; Beverage</c:v>
                </c:pt>
              </c:strCache>
            </c:strRef>
          </c:tx>
          <c:spPr>
            <a:solidFill>
              <a:srgbClr val="79C3EC"/>
            </a:solidFill>
            <a:ln>
              <a:noFill/>
            </a:ln>
          </c:spPr>
          <c:dLbls>
            <c:dLbl>
              <c:idx val="0"/>
              <c:numFmt formatCode="&quot;MMM&quot;;&quot;MMM&quot;;&quot;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9.60976521078563</c:v>
                </c:pt>
                <c:pt idx="1">
                  <c:v>9.718333223297858</c:v>
                </c:pt>
                <c:pt idx="2">
                  <c:v>9.917915939420554</c:v>
                </c:pt>
              </c:numCache>
            </c:numRef>
          </c:val>
        </c:ser>
        <c:ser>
          <c:idx val="6"/>
          <c:order val="6"/>
          <c:tx>
            <c:strRef>
              <c:strCache>
                <c:ptCount val="1"/>
                <c:pt idx="0">
                  <c:v>Others</c:v>
                </c:pt>
              </c:strCache>
            </c:strRef>
          </c:tx>
          <c:spPr>
            <a:solidFill>
              <a:srgbClr val="586272"/>
            </a:solidFill>
            <a:ln>
              <a:noFill/>
            </a:ln>
          </c:spPr>
          <c:dLbls>
            <c:dLbl>
              <c:idx val="0"/>
              <c:numFmt formatCode="&quot;MMM&quot;;&quot;MMM&quot;;&quot;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7.64524690003899</c:v>
                </c:pt>
                <c:pt idx="1">
                  <c:v>8.36500783101214</c:v>
                </c:pt>
                <c:pt idx="2">
                  <c:v>9.726657356922324</c:v>
                </c:pt>
              </c:numCache>
            </c:numRef>
          </c:val>
        </c:ser>
        <c:ser>
          <c:idx val="7"/>
          <c:order val="7"/>
          <c:tx>
            <c:strRef>
              <c:strCache>
                <c:ptCount val="1"/>
                <c:pt idx="0">
                  <c:v>Aerospace &amp; Defense</c:v>
                </c:pt>
              </c:strCache>
            </c:strRef>
          </c:tx>
          <c:spPr>
            <a:solidFill>
              <a:srgbClr val="1F476B"/>
            </a:solidFill>
            <a:ln>
              <a:noFill/>
            </a:ln>
          </c:spPr>
          <c:dLbls>
            <c:dLbl>
              <c:idx val="0"/>
              <c:numFmt formatCode="&quot;MMM&quot;;&quot;MMM&quot;;&quot;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3.965522067348032</c:v>
                </c:pt>
                <c:pt idx="1">
                  <c:v>3.84757072183457</c:v>
                </c:pt>
                <c:pt idx="2">
                  <c:v>3.6266809916443425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Extruded Polystyrene Foam</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0.0</c:v>
                </c:pt>
                <c:pt idx="2">
                  <c:v>0.0</c:v>
                </c:pt>
                <c:pt idx="3">
                  <c:v>0.0</c:v>
                </c:pt>
                <c:pt idx="4">
                  <c:v>33.33333333333333</c:v>
                </c:pt>
              </c:numCache>
            </c:numRef>
          </c:val>
        </c:ser>
        <c:ser>
          <c:idx val="1"/>
          <c:order val="1"/>
          <c:tx>
            <c:strRef>
              <c:strCache>
                <c:ptCount val="1"/>
                <c:pt idx="0">
                  <c:v>Bio-based / Starch-based Foams</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0.0</c:v>
                </c:pt>
                <c:pt idx="2">
                  <c:v>0.0</c:v>
                </c:pt>
                <c:pt idx="3">
                  <c:v>0.0</c:v>
                </c:pt>
                <c:pt idx="4">
                  <c:v>33.33333333333333</c:v>
                </c:pt>
              </c:numCache>
            </c:numRef>
          </c:val>
        </c:ser>
        <c:ser>
          <c:idx val="2"/>
          <c:order val="2"/>
          <c:tx>
            <c:strRef>
              <c:strCache>
                <c:ptCount val="1"/>
                <c:pt idx="0">
                  <c:v>Other Polyolefin &amp; Specialty Polymer Foams</c:v>
                </c:pt>
              </c:strCache>
            </c:strRef>
          </c:tx>
          <c:spPr>
            <a:solidFill>
              <a:srgbClr val="0E2A5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0.0</c:v>
                </c:pt>
                <c:pt idx="2">
                  <c:v>0.0</c:v>
                </c:pt>
                <c:pt idx="3">
                  <c:v>0.0</c:v>
                </c:pt>
                <c:pt idx="4">
                  <c:v>33.33333333333333</c:v>
                </c:pt>
              </c:numCache>
            </c:numRef>
          </c:val>
        </c:ser>
        <c:ser>
          <c:idx val="3"/>
          <c:order val="3"/>
          <c:tx>
            <c:strRef>
              <c:strCache>
                <c:ptCount val="1"/>
                <c:pt idx="0">
                  <c:v>Foam Sheets, Rolls &amp; Planks</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15.191246566914737</c:v>
                </c:pt>
                <c:pt idx="2">
                  <c:v>15.191232009260938</c:v>
                </c:pt>
                <c:pt idx="3">
                  <c:v>15.191232009260938</c:v>
                </c:pt>
                <c:pt idx="4">
                  <c:v>0.0</c:v>
                </c:pt>
              </c:numCache>
            </c:numRef>
          </c:val>
        </c:ser>
        <c:ser>
          <c:idx val="4"/>
          <c:order val="4"/>
          <c:tx>
            <c:strRef>
              <c:strCache>
                <c:ptCount val="1"/>
                <c:pt idx="0">
                  <c:v>Crosslinked PE Foam</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50.0</c:v>
                </c:pt>
                <c:pt idx="1">
                  <c:v>0.0</c:v>
                </c:pt>
                <c:pt idx="2">
                  <c:v>0.0</c:v>
                </c:pt>
                <c:pt idx="3">
                  <c:v>0.0</c:v>
                </c:pt>
                <c:pt idx="4">
                  <c:v>0.0</c:v>
                </c:pt>
              </c:numCache>
            </c:numRef>
          </c:val>
        </c:ser>
        <c:ser>
          <c:idx val="5"/>
          <c:order val="5"/>
          <c:tx>
            <c:strRef>
              <c:strCache>
                <c:ptCount val="1"/>
                <c:pt idx="0">
                  <c:v>Non-Crosslinked PE Foam</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50.0</c:v>
                </c:pt>
                <c:pt idx="1">
                  <c:v>0.0</c:v>
                </c:pt>
                <c:pt idx="2">
                  <c:v>0.0</c:v>
                </c:pt>
                <c:pt idx="3">
                  <c:v>0.0</c:v>
                </c:pt>
                <c:pt idx="4">
                  <c:v>0.0</c:v>
                </c:pt>
              </c:numCache>
            </c:numRef>
          </c:val>
        </c:ser>
        <c:ser>
          <c:idx val="6"/>
          <c:order val="6"/>
          <c:tx>
            <c:strRef>
              <c:strCache>
                <c:ptCount val="1"/>
                <c:pt idx="0">
                  <c:v>Fabricated Foam Packaging</c:v>
                </c:pt>
              </c:strCache>
            </c:strRef>
          </c:tx>
          <c:spPr>
            <a:solidFill>
              <a:srgbClr val="58627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21.29624483240411</c:v>
                </c:pt>
                <c:pt idx="2">
                  <c:v>21.296224424377804</c:v>
                </c:pt>
                <c:pt idx="3">
                  <c:v>21.296224424377804</c:v>
                </c:pt>
                <c:pt idx="4">
                  <c:v>0.0</c:v>
                </c:pt>
              </c:numCache>
            </c:numRef>
          </c:val>
        </c:ser>
        <c:ser>
          <c:idx val="7"/>
          <c:order val="7"/>
          <c:tx>
            <c:strRef>
              <c:strCache>
                <c:ptCount val="1"/>
                <c:pt idx="0">
                  <c:v>Foam Pouches, Bags &amp; Sleeves</c:v>
                </c:pt>
              </c:strCache>
            </c:strRef>
          </c:tx>
          <c:spPr>
            <a:solidFill>
              <a:srgbClr val="1F47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27.968935968767312</c:v>
                </c:pt>
                <c:pt idx="2">
                  <c:v>27.969004995577485</c:v>
                </c:pt>
                <c:pt idx="3">
                  <c:v>27.969004995577485</c:v>
                </c:pt>
                <c:pt idx="4">
                  <c:v>0.0</c:v>
                </c:pt>
              </c:numCache>
            </c:numRef>
          </c:val>
        </c:ser>
        <c:ser>
          <c:idx val="8"/>
          <c:order val="8"/>
          <c:tx>
            <c:strRef>
              <c:strCache>
                <c:ptCount val="1"/>
                <c:pt idx="0">
                  <c:v>Foam-in-Place Packaging</c:v>
                </c:pt>
              </c:strCache>
            </c:strRef>
          </c:tx>
          <c:spPr>
            <a:solidFill>
              <a:srgbClr val="BCBEC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15.279409538083529</c:v>
                </c:pt>
                <c:pt idx="2">
                  <c:v>15.279394895943838</c:v>
                </c:pt>
                <c:pt idx="3">
                  <c:v>15.279394895943838</c:v>
                </c:pt>
                <c:pt idx="4">
                  <c:v>0.0</c:v>
                </c:pt>
              </c:numCache>
            </c:numRef>
          </c:val>
        </c:ser>
        <c:ser>
          <c:idx val="9"/>
          <c:order val="9"/>
          <c:tx>
            <c:strRef>
              <c:strCache>
                <c:ptCount val="1"/>
                <c:pt idx="0">
                  <c:v>Molded Foam Packaging</c:v>
                </c:pt>
              </c:strCache>
            </c:strRef>
          </c:tx>
          <c:spPr>
            <a:solidFill>
              <a:srgbClr val="3DC6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7.89096923687282</c:v>
                </c:pt>
                <c:pt idx="2">
                  <c:v>7.8909616750181835</c:v>
                </c:pt>
                <c:pt idx="3">
                  <c:v>7.8909616750181835</c:v>
                </c:pt>
                <c:pt idx="4">
                  <c:v>0.0</c:v>
                </c:pt>
              </c:numCache>
            </c:numRef>
          </c:val>
        </c:ser>
        <c:ser>
          <c:idx val="10"/>
          <c:order val="10"/>
          <c:tx>
            <c:strRef>
              <c:strCache>
                <c:ptCount val="1"/>
                <c:pt idx="0">
                  <c:v>Foam Loose-Fill Packaging</c:v>
                </c:pt>
              </c:strCache>
            </c:strRef>
          </c:tx>
          <c:spPr>
            <a:solidFill>
              <a:srgbClr val="5B9BD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Polyethylene Foam</c:v>
                </c:pt>
                <c:pt idx="1">
                  <c:v>Expanded Polystyrene</c:v>
                </c:pt>
                <c:pt idx="2">
                  <c:v>Polyurethane Foam</c:v>
                </c:pt>
                <c:pt idx="3">
                  <c:v>Expanded Polypropylene</c:v>
                </c:pt>
                <c:pt idx="4">
                  <c:v>Other Foam Materials</c:v>
                </c:pt>
              </c:strCache>
            </c:strRef>
          </c:cat>
          <c:val>
            <c:numRef>
              <c:numCache>
                <c:formatCode>General</c:formatCode>
                <c:ptCount val="5"/>
                <c:pt idx="0">
                  <c:v>0.0</c:v>
                </c:pt>
                <c:pt idx="1">
                  <c:v>12.373193856957496</c:v>
                </c:pt>
                <c:pt idx="2">
                  <c:v>12.373181999821757</c:v>
                </c:pt>
                <c:pt idx="3">
                  <c:v>12.373181999821757</c:v>
                </c:pt>
                <c:pt idx="4">
                  <c:v>0.0</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Foam Packing Peanuts / Loose-Fill Shapes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0.0</c:v>
                </c:pt>
                <c:pt idx="4">
                  <c:v>0.0</c:v>
                </c:pt>
                <c:pt idx="5">
                  <c:v>100.0</c:v>
                </c:pt>
              </c:numCache>
            </c:numRef>
          </c:val>
        </c:ser>
        <c:ser>
          <c:idx val="1"/>
          <c:order val="1"/>
          <c:tx>
            <c:strRef>
              <c:strCache>
                <c:ptCount val="1"/>
                <c:pt idx="0">
                  <c:v>Foam Sheets &amp; Rolls</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50.00016643975381</c:v>
                </c:pt>
                <c:pt idx="1">
                  <c:v>0.0</c:v>
                </c:pt>
                <c:pt idx="2">
                  <c:v>0.0</c:v>
                </c:pt>
                <c:pt idx="3">
                  <c:v>0.0</c:v>
                </c:pt>
                <c:pt idx="4">
                  <c:v>0.0</c:v>
                </c:pt>
                <c:pt idx="5">
                  <c:v>0.0</c:v>
                </c:pt>
              </c:numCache>
            </c:numRef>
          </c:val>
        </c:ser>
        <c:ser>
          <c:idx val="2"/>
          <c:order val="2"/>
          <c:tx>
            <c:strRef>
              <c:strCache>
                <c:ptCount val="1"/>
                <c:pt idx="0">
                  <c:v>Die-Cut / CNC-Cut Foam Inserts &amp; Pads</c:v>
                </c:pt>
              </c:strCache>
            </c:strRef>
          </c:tx>
          <c:spPr>
            <a:solidFill>
              <a:srgbClr val="0E2A5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33.33333333333333</c:v>
                </c:pt>
                <c:pt idx="2">
                  <c:v>0.0</c:v>
                </c:pt>
                <c:pt idx="3">
                  <c:v>0.0</c:v>
                </c:pt>
                <c:pt idx="4">
                  <c:v>0.0</c:v>
                </c:pt>
                <c:pt idx="5">
                  <c:v>0.0</c:v>
                </c:pt>
              </c:numCache>
            </c:numRef>
          </c:val>
        </c:ser>
        <c:ser>
          <c:idx val="3"/>
          <c:order val="3"/>
          <c:tx>
            <c:strRef>
              <c:strCache>
                <c:ptCount val="1"/>
                <c:pt idx="0">
                  <c:v>Foam Planks &amp; Blocks</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49.9998335602462</c:v>
                </c:pt>
                <c:pt idx="1">
                  <c:v>0.0</c:v>
                </c:pt>
                <c:pt idx="2">
                  <c:v>0.0</c:v>
                </c:pt>
                <c:pt idx="3">
                  <c:v>0.0</c:v>
                </c:pt>
                <c:pt idx="4">
                  <c:v>0.0</c:v>
                </c:pt>
                <c:pt idx="5">
                  <c:v>0.0</c:v>
                </c:pt>
              </c:numCache>
            </c:numRef>
          </c:val>
        </c:ser>
        <c:ser>
          <c:idx val="4"/>
          <c:order val="4"/>
          <c:tx>
            <c:strRef>
              <c:strCache>
                <c:ptCount val="1"/>
                <c:pt idx="0">
                  <c:v>Foam Corner &amp; Edge Protectors / Profiles</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33.33333333333333</c:v>
                </c:pt>
                <c:pt idx="2">
                  <c:v>0.0</c:v>
                </c:pt>
                <c:pt idx="3">
                  <c:v>0.0</c:v>
                </c:pt>
                <c:pt idx="4">
                  <c:v>0.0</c:v>
                </c:pt>
                <c:pt idx="5">
                  <c:v>0.0</c:v>
                </c:pt>
              </c:numCache>
            </c:numRef>
          </c:val>
        </c:ser>
        <c:ser>
          <c:idx val="5"/>
          <c:order val="5"/>
          <c:tx>
            <c:strRef>
              <c:strCache>
                <c:ptCount val="1"/>
                <c:pt idx="0">
                  <c:v>Foam Dividers &amp; Separators</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33.33333333333333</c:v>
                </c:pt>
                <c:pt idx="2">
                  <c:v>0.0</c:v>
                </c:pt>
                <c:pt idx="3">
                  <c:v>0.0</c:v>
                </c:pt>
                <c:pt idx="4">
                  <c:v>0.0</c:v>
                </c:pt>
                <c:pt idx="5">
                  <c:v>0.0</c:v>
                </c:pt>
              </c:numCache>
            </c:numRef>
          </c:val>
        </c:ser>
        <c:ser>
          <c:idx val="6"/>
          <c:order val="6"/>
          <c:tx>
            <c:strRef>
              <c:strCache>
                <c:ptCount val="1"/>
                <c:pt idx="0">
                  <c:v>Molded Protective Trays &amp; Containers</c:v>
                </c:pt>
              </c:strCache>
            </c:strRef>
          </c:tx>
          <c:spPr>
            <a:solidFill>
              <a:srgbClr val="58627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50.0</c:v>
                </c:pt>
                <c:pt idx="3">
                  <c:v>0.0</c:v>
                </c:pt>
                <c:pt idx="4">
                  <c:v>0.0</c:v>
                </c:pt>
                <c:pt idx="5">
                  <c:v>0.0</c:v>
                </c:pt>
              </c:numCache>
            </c:numRef>
          </c:val>
        </c:ser>
        <c:ser>
          <c:idx val="7"/>
          <c:order val="7"/>
          <c:tx>
            <c:strRef>
              <c:strCache>
                <c:ptCount val="1"/>
                <c:pt idx="0">
                  <c:v>Molded Inserts, End Caps &amp; Cradles</c:v>
                </c:pt>
              </c:strCache>
            </c:strRef>
          </c:tx>
          <c:spPr>
            <a:solidFill>
              <a:srgbClr val="1F476B"/>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50.0</c:v>
                </c:pt>
                <c:pt idx="3">
                  <c:v>0.0</c:v>
                </c:pt>
                <c:pt idx="4">
                  <c:v>0.0</c:v>
                </c:pt>
                <c:pt idx="5">
                  <c:v>0.0</c:v>
                </c:pt>
              </c:numCache>
            </c:numRef>
          </c:val>
        </c:ser>
        <c:ser>
          <c:idx val="8"/>
          <c:order val="8"/>
          <c:tx>
            <c:strRef>
              <c:strCache>
                <c:ptCount val="1"/>
                <c:pt idx="0">
                  <c:v>Direct-Dispensed Foam-in-Place</c:v>
                </c:pt>
              </c:strCache>
            </c:strRef>
          </c:tx>
          <c:spPr>
            <a:solidFill>
              <a:srgbClr val="BCBEC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50.0</c:v>
                </c:pt>
                <c:pt idx="4">
                  <c:v>0.0</c:v>
                </c:pt>
                <c:pt idx="5">
                  <c:v>0.0</c:v>
                </c:pt>
              </c:numCache>
            </c:numRef>
          </c:val>
        </c:ser>
        <c:ser>
          <c:idx val="9"/>
          <c:order val="9"/>
          <c:tx>
            <c:strRef>
              <c:strCache>
                <c:ptCount val="1"/>
                <c:pt idx="0">
                  <c:v>Foam-in-Bag / On-Demand Foam Cushions</c:v>
                </c:pt>
              </c:strCache>
            </c:strRef>
          </c:tx>
          <c:spPr>
            <a:solidFill>
              <a:srgbClr val="3DC6C4"/>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50.0</c:v>
                </c:pt>
                <c:pt idx="4">
                  <c:v>0.0</c:v>
                </c:pt>
                <c:pt idx="5">
                  <c:v>0.0</c:v>
                </c:pt>
              </c:numCache>
            </c:numRef>
          </c:val>
        </c:ser>
        <c:ser>
          <c:idx val="10"/>
          <c:order val="10"/>
          <c:tx>
            <c:strRef>
              <c:strCache>
                <c:ptCount val="1"/>
                <c:pt idx="0">
                  <c:v>Pre-Fabricated Foam Pouches &amp; Bags</c:v>
                </c:pt>
              </c:strCache>
            </c:strRef>
          </c:tx>
          <c:spPr>
            <a:solidFill>
              <a:srgbClr val="5B9BD5"/>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0.0</c:v>
                </c:pt>
                <c:pt idx="4">
                  <c:v>50.0</c:v>
                </c:pt>
                <c:pt idx="5">
                  <c:v>0.0</c:v>
                </c:pt>
              </c:numCache>
            </c:numRef>
          </c:val>
        </c:ser>
        <c:ser>
          <c:idx val="11"/>
          <c:order val="11"/>
          <c:tx>
            <c:strRef>
              <c:strCache>
                <c:ptCount val="1"/>
                <c:pt idx="0">
                  <c:v>Pre-Fabricated Foam Sleeves</c:v>
                </c:pt>
              </c:strCache>
            </c:strRef>
          </c:tx>
          <c:spPr>
            <a:solidFill>
              <a:srgbClr val="A09F9D"/>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6"/>
                <c:pt idx="0">
                  <c:v>Foam Sheets, Rolls &amp; Planks</c:v>
                </c:pt>
                <c:pt idx="1">
                  <c:v>Fabricated Foam Packaging</c:v>
                </c:pt>
                <c:pt idx="2">
                  <c:v>Molded Foam Packaging</c:v>
                </c:pt>
                <c:pt idx="3">
                  <c:v>Foam-in-Place Packaging</c:v>
                </c:pt>
                <c:pt idx="4">
                  <c:v>Foam Pouches, Bags &amp; Sleeves</c:v>
                </c:pt>
                <c:pt idx="5">
                  <c:v>Foam Loose-Fill Packaging</c:v>
                </c:pt>
              </c:strCache>
            </c:strRef>
          </c:cat>
          <c:val>
            <c:numRef>
              <c:numCache>
                <c:formatCode>General</c:formatCode>
                <c:ptCount val="6"/>
                <c:pt idx="0">
                  <c:v>0.0</c:v>
                </c:pt>
                <c:pt idx="1">
                  <c:v>0.0</c:v>
                </c:pt>
                <c:pt idx="2">
                  <c:v>0.0</c:v>
                </c:pt>
                <c:pt idx="3">
                  <c:v>0.0</c:v>
                </c:pt>
                <c:pt idx="4">
                  <c:v>50.0</c:v>
                </c:pt>
                <c:pt idx="5">
                  <c:v>0.0</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(MT)</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415344.336</c:v>
                </c:pt>
                <c:pt idx="1">
                  <c:v>422109.623</c:v>
                </c:pt>
                <c:pt idx="2">
                  <c:v>428985.106</c:v>
                </c:pt>
                <c:pt idx="3">
                  <c:v>435972.579</c:v>
                </c:pt>
                <c:pt idx="4">
                  <c:v>443073.86699999997</c:v>
                </c:pt>
                <c:pt idx="5">
                  <c:v>450290.824</c:v>
                </c:pt>
                <c:pt idx="6">
                  <c:v>461178.813</c:v>
                </c:pt>
                <c:pt idx="7">
                  <c:v>472330.073</c:v>
                </c:pt>
                <c:pt idx="8">
                  <c:v>483750.969</c:v>
                </c:pt>
                <c:pt idx="9">
                  <c:v>495448.02099999995</c:v>
                </c:pt>
                <c:pt idx="10">
                  <c:v>507427.907</c:v>
                </c:pt>
                <c:pt idx="11">
                  <c:v>519697.46599999996</c:v>
                </c:pt>
                <c:pt idx="12">
                  <c:v>532263.701</c:v>
                </c:pt>
                <c:pt idx="13">
                  <c:v>545133.787</c:v>
                </c:pt>
                <c:pt idx="14">
                  <c:v>558315.07</c:v>
                </c:pt>
                <c:pt idx="15">
                  <c:v>571815.075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0.04366924271039463</c:v>
                </c:pt>
                <c:pt idx="1">
                  <c:v>0.025858271188418103</c:v>
                </c:pt>
                <c:pt idx="2">
                  <c:v>0.024179904739402236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58953477659032756"/>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450290.824</c:v>
                </c:pt>
                <c:pt idx="2">
                  <c:v>461178.813</c:v>
                </c:pt>
                <c:pt idx="3">
                  <c:v>472330.073</c:v>
                </c:pt>
                <c:pt idx="4">
                  <c:v>483750.969</c:v>
                </c:pt>
                <c:pt idx="5">
                  <c:v>495448.02099999995</c:v>
                </c:pt>
                <c:pt idx="6">
                  <c:v>507427.907</c:v>
                </c:pt>
                <c:pt idx="7">
                  <c:v>519697.46599999996</c:v>
                </c:pt>
                <c:pt idx="8">
                  <c:v>532263.701</c:v>
                </c:pt>
                <c:pt idx="9">
                  <c:v>545133.787</c:v>
                </c:pt>
                <c:pt idx="10">
                  <c:v>558315.07</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450290.824</c:v>
                </c:pt>
                <c:pt idx="1">
                  <c:v>10887.989000000001</c:v>
                </c:pt>
                <c:pt idx="2">
                  <c:v>11151.259999999951</c:v>
                </c:pt>
                <c:pt idx="3">
                  <c:v>11420.896000000008</c:v>
                </c:pt>
                <c:pt idx="4">
                  <c:v>11697.051999999967</c:v>
                </c:pt>
                <c:pt idx="5">
                  <c:v>11979.886000000057</c:v>
                </c:pt>
                <c:pt idx="6">
                  <c:v>12269.55899999995</c:v>
                </c:pt>
                <c:pt idx="7">
                  <c:v>12566.235000000044</c:v>
                </c:pt>
                <c:pt idx="8">
                  <c:v>12870.08600000001</c:v>
                </c:pt>
                <c:pt idx="9">
                  <c:v>13181.282999999938</c:v>
                </c:pt>
                <c:pt idx="10">
                  <c:v>13500.005000000005</c:v>
                </c:pt>
                <c:pt idx="11">
                  <c:v>571815.075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70.02305544030163</c:v>
                </c:pt>
                <c:pt idx="1">
                  <c:v>16.937544751923152</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29.976944559698367</c:v>
                </c:pt>
                <c:pt idx="1">
                  <c:v>83.06245524807684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2140.953</c:v>
                </c:pt>
                <c:pt idx="1">
                  <c:v>2205.734</c:v>
                </c:pt>
                <c:pt idx="2">
                  <c:v>2272.476</c:v>
                </c:pt>
                <c:pt idx="3">
                  <c:v>2341.237</c:v>
                </c:pt>
                <c:pt idx="4">
                  <c:v>2412.079</c:v>
                </c:pt>
                <c:pt idx="5">
                  <c:v>2485.065</c:v>
                </c:pt>
                <c:pt idx="6">
                  <c:v>2580.139</c:v>
                </c:pt>
                <c:pt idx="7">
                  <c:v>2678.851</c:v>
                </c:pt>
                <c:pt idx="8">
                  <c:v>2781.34</c:v>
                </c:pt>
                <c:pt idx="9">
                  <c:v>2887.749</c:v>
                </c:pt>
                <c:pt idx="10">
                  <c:v>2998.23</c:v>
                </c:pt>
                <c:pt idx="11">
                  <c:v>3112.937</c:v>
                </c:pt>
                <c:pt idx="12">
                  <c:v>3232.0329999999994</c:v>
                </c:pt>
                <c:pt idx="13">
                  <c:v>3355.685</c:v>
                </c:pt>
                <c:pt idx="14">
                  <c:v>3484.068</c:v>
                </c:pt>
                <c:pt idx="15">
                  <c:v>3617.362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0.04954799714469593</c:v>
                </c:pt>
                <c:pt idx="1">
                  <c:v>0.04056107857498703</c:v>
                </c:pt>
                <c:pt idx="2">
                  <c:v>0.03825832466666412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688979614533952"/>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2485.065</c:v>
                </c:pt>
                <c:pt idx="2">
                  <c:v>2580.139</c:v>
                </c:pt>
                <c:pt idx="3">
                  <c:v>2678.851</c:v>
                </c:pt>
                <c:pt idx="4">
                  <c:v>2781.34</c:v>
                </c:pt>
                <c:pt idx="5">
                  <c:v>2887.749</c:v>
                </c:pt>
                <c:pt idx="6">
                  <c:v>2998.23</c:v>
                </c:pt>
                <c:pt idx="7">
                  <c:v>3112.937</c:v>
                </c:pt>
                <c:pt idx="8">
                  <c:v>3232.0329999999994</c:v>
                </c:pt>
                <c:pt idx="9">
                  <c:v>3355.685</c:v>
                </c:pt>
                <c:pt idx="10">
                  <c:v>3484.068</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2485.065</c:v>
                </c:pt>
                <c:pt idx="1">
                  <c:v>95.07400000000007</c:v>
                </c:pt>
                <c:pt idx="2">
                  <c:v>98.71199999999999</c:v>
                </c:pt>
                <c:pt idx="3">
                  <c:v>102.48900000000003</c:v>
                </c:pt>
                <c:pt idx="4">
                  <c:v>106.40899999999965</c:v>
                </c:pt>
                <c:pt idx="5">
                  <c:v>110.48100000000022</c:v>
                </c:pt>
                <c:pt idx="6">
                  <c:v>114.70699999999988</c:v>
                </c:pt>
                <c:pt idx="7">
                  <c:v>119.09599999999955</c:v>
                </c:pt>
                <c:pt idx="8">
                  <c:v>123.6520000000005</c:v>
                </c:pt>
                <c:pt idx="9">
                  <c:v>128.38300000000027</c:v>
                </c:pt>
                <c:pt idx="10">
                  <c:v>133.29399999999987</c:v>
                </c:pt>
                <c:pt idx="11">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68.93579235806394</c:v>
                </c:pt>
                <c:pt idx="1">
                  <c:v>22.798761467889904</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31.064207641936065</c:v>
                </c:pt>
                <c:pt idx="1">
                  <c:v>77.2012385321101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9EC6DE"/>
              </a:solidFill>
            </c:spPr>
          </c:dPt>
          <c:dPt>
            <c:idx val="4"/>
            <c:spPr>
              <a:solidFill>
                <a:srgbClr val="7AB1D2"/>
              </a:solidFill>
            </c:spPr>
          </c:dPt>
          <c:dPt>
            <c:idx val="5"/>
            <c:spPr>
              <a:solidFill>
                <a:srgbClr val="569CC6"/>
              </a:solidFill>
            </c:spPr>
          </c:dPt>
          <c:dPt>
            <c:idx val="6"/>
            <c:spPr>
              <a:solidFill>
                <a:srgbClr val="3287BA"/>
              </a:solidFill>
            </c:spPr>
          </c:dPt>
          <c:dPt>
            <c:idx val="7"/>
            <c:spPr>
              <a:solidFill>
                <a:srgbClr val="0E72AE"/>
              </a:solidFill>
            </c:spPr>
          </c:dPt>
          <c:dLbls>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  </c:v>
                </c:pt>
                <c:pt idx="2">
                  <c:v>   </c:v>
                </c:pt>
                <c:pt idx="3">
                  <c:v>Polyurethane (PU) Foam</c:v>
                </c:pt>
                <c:pt idx="4">
                  <c:v>Polypropylene</c:v>
                </c:pt>
                <c:pt idx="5">
                  <c:v>Polyethylene (PE) Foam</c:v>
                </c:pt>
                <c:pt idx="6">
                  <c:v>Polystyrene</c:v>
                </c:pt>
                <c:pt idx="7">
                  <c:v>Other Foam Materials</c:v>
                </c:pt>
              </c:strCache>
            </c:strRef>
          </c:cat>
          <c:val>
            <c:numRef>
              <c:numCache>
                <c:formatCode>General</c:formatCode>
                <c:ptCount val="8"/>
                <c:pt idx="3">
                  <c:v>151.876</c:v>
                </c:pt>
                <c:pt idx="4">
                  <c:v>297.059</c:v>
                </c:pt>
                <c:pt idx="5">
                  <c:v>302.601</c:v>
                </c:pt>
                <c:pt idx="6">
                  <c:v>543.912</c:v>
                </c:pt>
                <c:pt idx="7">
                  <c:v>1189.617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594.08678"/>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FFFFFF"/>
              </a:solidFill>
            </c:spPr>
          </c:dPt>
          <c:dPt>
            <c:idx val="2"/>
            <c:spPr>
              <a:solidFill>
                <a:srgbClr val="9DABB6"/>
              </a:solidFill>
            </c:spPr>
          </c:dPt>
          <c:dPt>
            <c:idx val="3"/>
            <c:spPr>
              <a:solidFill>
                <a:srgbClr val="8092A0"/>
              </a:solidFill>
            </c:spPr>
          </c:dPt>
          <c:dPt>
            <c:idx val="4"/>
            <c:spPr>
              <a:solidFill>
                <a:srgbClr val="62798B"/>
              </a:solidFill>
            </c:spPr>
          </c:dPt>
          <c:dPt>
            <c:idx val="5"/>
            <c:spPr>
              <a:solidFill>
                <a:srgbClr val="456075"/>
              </a:solidFill>
            </c:spPr>
          </c:dPt>
          <c:dPt>
            <c:idx val="6"/>
            <c:spPr>
              <a:solidFill>
                <a:srgbClr val="28475F"/>
              </a:solidFill>
            </c:spPr>
          </c:dPt>
          <c:dPt>
            <c:idx val="7"/>
            <c:spPr>
              <a:solidFill>
                <a:srgbClr val="0B2E4A"/>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 </c:v>
                </c:pt>
                <c:pt idx="1">
                  <c:v>  </c:v>
                </c:pt>
                <c:pt idx="2">
                  <c:v>Molded Foam Packaging</c:v>
                </c:pt>
                <c:pt idx="3">
                  <c:v>Loose-Fill Packaging</c:v>
                </c:pt>
                <c:pt idx="4">
                  <c:v>Foam-in-Place Packagi…</c:v>
                </c:pt>
                <c:pt idx="5">
                  <c:v>Sheets, Rolls &amp; Planks</c:v>
                </c:pt>
                <c:pt idx="6">
                  <c:v>Fabricated Foam Packa…</c:v>
                </c:pt>
                <c:pt idx="7">
                  <c:v>Pouches, Bags &amp; Sleev…</c:v>
                </c:pt>
              </c:strCache>
            </c:strRef>
          </c:cat>
          <c:val>
            <c:numRef>
              <c:numCache>
                <c:formatCode>General</c:formatCode>
                <c:ptCount val="8"/>
                <c:pt idx="2">
                  <c:v>199.85000000000002</c:v>
                </c:pt>
                <c:pt idx="3">
                  <c:v>321.149</c:v>
                </c:pt>
                <c:pt idx="4">
                  <c:v>349.438</c:v>
                </c:pt>
                <c:pt idx="5">
                  <c:v>355.241</c:v>
                </c:pt>
                <c:pt idx="6">
                  <c:v>544.2950000000001</c:v>
                </c:pt>
                <c:pt idx="7">
                  <c:v>715.092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958.2232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C5B1E6"/>
              </a:solidFill>
            </c:spPr>
          </c:dPt>
          <c:dPt>
            <c:idx val="1"/>
            <c:spPr>
              <a:solidFill>
                <a:srgbClr val="B9A0E1"/>
              </a:solidFill>
            </c:spPr>
          </c:dPt>
          <c:dPt>
            <c:idx val="2"/>
            <c:spPr>
              <a:solidFill>
                <a:srgbClr val="AC8FDC"/>
              </a:solidFill>
            </c:spPr>
          </c:dPt>
          <c:dPt>
            <c:idx val="3"/>
            <c:spPr>
              <a:solidFill>
                <a:srgbClr val="A07ED6"/>
              </a:solidFill>
            </c:spPr>
          </c:dPt>
          <c:dPt>
            <c:idx val="4"/>
            <c:spPr>
              <a:solidFill>
                <a:srgbClr val="946ED1"/>
              </a:solidFill>
            </c:spPr>
          </c:dPt>
          <c:dPt>
            <c:idx val="5"/>
            <c:spPr>
              <a:solidFill>
                <a:srgbClr val="875DCC"/>
              </a:solidFill>
            </c:spPr>
          </c:dPt>
          <c:dPt>
            <c:idx val="6"/>
            <c:spPr>
              <a:solidFill>
                <a:srgbClr val="7B4CC7"/>
              </a:solidFill>
            </c:spPr>
          </c:dPt>
          <c:dPt>
            <c:idx val="7"/>
            <c:spPr>
              <a:solidFill>
                <a:srgbClr val="6F3CC2"/>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Aerospace &amp; Defense</c:v>
                </c:pt>
                <c:pt idx="1">
                  <c:v>Others</c:v>
                </c:pt>
                <c:pt idx="2">
                  <c:v>Food &amp; Beverage</c:v>
                </c:pt>
                <c:pt idx="3">
                  <c:v>Electronics &amp; Electri…</c:v>
                </c:pt>
                <c:pt idx="4">
                  <c:v>Industrial Machinery…</c:v>
                </c:pt>
                <c:pt idx="5">
                  <c:v>Automotive</c:v>
                </c:pt>
                <c:pt idx="6">
                  <c:v>Healthcare &amp; Pharmace…</c:v>
                </c:pt>
                <c:pt idx="7">
                  <c:v>Consumer Goods &amp; Home…</c:v>
                </c:pt>
              </c:strCache>
            </c:strRef>
          </c:cat>
          <c:val>
            <c:numRef>
              <c:numCache>
                <c:formatCode>General</c:formatCode>
                <c:ptCount val="8"/>
                <c:pt idx="0">
                  <c:v>94.713</c:v>
                </c:pt>
                <c:pt idx="1">
                  <c:v>200.813</c:v>
                </c:pt>
                <c:pt idx="2">
                  <c:v>257.846</c:v>
                </c:pt>
                <c:pt idx="3">
                  <c:v>266.703</c:v>
                </c:pt>
                <c:pt idx="4">
                  <c:v>312.783</c:v>
                </c:pt>
                <c:pt idx="5">
                  <c:v>325.207</c:v>
                </c:pt>
                <c:pt idx="6">
                  <c:v>441.647</c:v>
                </c:pt>
                <c:pt idx="7">
                  <c:v>585.353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784.37302"/>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Polyethylene (PE) Foam</c:v>
                </c:pt>
                <c:pt idx="2">
                  <c:v>Expanded Polystyrene (EPS)</c:v>
                </c:pt>
                <c:pt idx="3">
                  <c:v>Polyurethane (PU) Foam</c:v>
                </c:pt>
                <c:pt idx="4">
                  <c:v>Expanded Polypropylene (EPP)</c:v>
                </c:pt>
                <c:pt idx="5">
                  <c:v>Other Foam Materials</c:v>
                </c:pt>
                <c:pt idx="6">
                  <c:v>2036 Total</c:v>
                </c:pt>
              </c:strCache>
            </c:strRef>
          </c:cat>
          <c:val>
            <c:numRef>
              <c:numCache>
                <c:formatCode>General</c:formatCode>
                <c:ptCount val="7"/>
                <c:pt idx="0">
                  <c:v>0.0</c:v>
                </c:pt>
                <c:pt idx="1">
                  <c:v>2485.065</c:v>
                </c:pt>
                <c:pt idx="2">
                  <c:v>2677.2</c:v>
                </c:pt>
                <c:pt idx="3">
                  <c:v>2989.5339999999997</c:v>
                </c:pt>
                <c:pt idx="4">
                  <c:v>3021.7329999999997</c:v>
                </c:pt>
                <c:pt idx="5">
                  <c:v>3245.4649999999997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Polyethylene (PE) Foam</c:v>
                </c:pt>
                <c:pt idx="2">
                  <c:v>Expanded Polystyrene (EPS)</c:v>
                </c:pt>
                <c:pt idx="3">
                  <c:v>Polyurethane (PU) Foam</c:v>
                </c:pt>
                <c:pt idx="4">
                  <c:v>Expanded Polypropylene (EPP)</c:v>
                </c:pt>
                <c:pt idx="5">
                  <c:v>Other Foam Materials</c:v>
                </c:pt>
                <c:pt idx="6">
                  <c:v>2036 Total</c:v>
                </c:pt>
              </c:strCache>
            </c:strRef>
          </c:cat>
          <c:val>
            <c:numRef>
              <c:numCache>
                <c:formatCode>General</c:formatCode>
                <c:ptCount val="7"/>
                <c:pt idx="0">
                  <c:v>2485.065</c:v>
                </c:pt>
                <c:pt idx="1">
                  <c:v>192.135</c:v>
                </c:pt>
                <c:pt idx="2">
                  <c:v>312.33399999999995</c:v>
                </c:pt>
                <c:pt idx="3">
                  <c:v>32.198999999999984</c:v>
                </c:pt>
                <c:pt idx="4">
                  <c:v>223.73200000000003</c:v>
                </c:pt>
                <c:pt idx="5">
                  <c:v>371.89700000000016</c:v>
                </c:pt>
                <c:pt idx="6">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Polyethylene (PE) Foam</c:v>
                </c:pt>
                <c:pt idx="1">
                  <c:v>Expanded Polystyrene (EPS)</c:v>
                </c:pt>
                <c:pt idx="2">
                  <c:v>Polyurethane (PU) Foam</c:v>
                </c:pt>
                <c:pt idx="3">
                  <c:v>Expanded Polypropylene (EPP)</c:v>
                </c:pt>
                <c:pt idx="4">
                  <c:v>Other Foam Materials</c:v>
                </c:pt>
                <c:pt idx="5">
                  <c:v>Total Absolute $ Opportunity</c:v>
                </c:pt>
              </c:strCache>
            </c:strRef>
          </c:cat>
          <c:val>
            <c:numRef>
              <c:numCache>
                <c:formatCode>General</c:formatCode>
                <c:ptCount val="6"/>
                <c:pt idx="0">
                  <c:v>0.0</c:v>
                </c:pt>
                <c:pt idx="1">
                  <c:v>192.135</c:v>
                </c:pt>
                <c:pt idx="2">
                  <c:v>504.46899999999994</c:v>
                </c:pt>
                <c:pt idx="3">
                  <c:v>536.6679999999999</c:v>
                </c:pt>
                <c:pt idx="4">
                  <c:v>760.3999999999999</c:v>
                </c:pt>
                <c:pt idx="5">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Polyethylene (PE) Foam</c:v>
                </c:pt>
                <c:pt idx="1">
                  <c:v>Expanded Polystyrene (EPS)</c:v>
                </c:pt>
                <c:pt idx="2">
                  <c:v>Polyurethane (PU) Foam</c:v>
                </c:pt>
                <c:pt idx="3">
                  <c:v>Expanded Polypropylene (EPP)</c:v>
                </c:pt>
                <c:pt idx="4">
                  <c:v>Other Foam Materials</c:v>
                </c:pt>
                <c:pt idx="5">
                  <c:v>Total Absolute $ Opportunity</c:v>
                </c:pt>
              </c:strCache>
            </c:strRef>
          </c:cat>
          <c:val>
            <c:numRef>
              <c:numCache>
                <c:formatCode>General</c:formatCode>
                <c:ptCount val="6"/>
                <c:pt idx="0">
                  <c:v>192.135</c:v>
                </c:pt>
                <c:pt idx="1">
                  <c:v>312.33399999999995</c:v>
                </c:pt>
                <c:pt idx="2">
                  <c:v>32.198999999999984</c:v>
                </c:pt>
                <c:pt idx="3">
                  <c:v>223.73200000000003</c:v>
                </c:pt>
                <c:pt idx="4">
                  <c:v>371.89700000000016</c:v>
                </c:pt>
                <c:pt idx="5">
                  <c:v>1132.297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8"/>
                <c:pt idx="0">
                  <c:v>2026</c:v>
                </c:pt>
                <c:pt idx="1">
                  <c:v>Foam Sheets, Rolls &amp; Planks</c:v>
                </c:pt>
                <c:pt idx="2">
                  <c:v>Fabricated Foam Packaging</c:v>
                </c:pt>
                <c:pt idx="3">
                  <c:v>Molded Foam Packaging</c:v>
                </c:pt>
                <c:pt idx="4">
                  <c:v>Foam-in-Place Packaging</c:v>
                </c:pt>
                <c:pt idx="5">
                  <c:v>Foam Pouches, Bags &amp; Sleeves</c:v>
                </c:pt>
                <c:pt idx="6">
                  <c:v>Foam Loose-Fill Packaging</c:v>
                </c:pt>
                <c:pt idx="7">
                  <c:v>2036 Total</c:v>
                </c:pt>
              </c:strCache>
            </c:strRef>
          </c:cat>
          <c:val>
            <c:numRef>
              <c:numCache>
                <c:formatCode>General</c:formatCode>
                <c:ptCount val="8"/>
                <c:pt idx="0">
                  <c:v>0.0</c:v>
                </c:pt>
                <c:pt idx="1">
                  <c:v>2485.065</c:v>
                </c:pt>
                <c:pt idx="2">
                  <c:v>2617.212</c:v>
                </c:pt>
                <c:pt idx="3">
                  <c:v>2773.006</c:v>
                </c:pt>
                <c:pt idx="4">
                  <c:v>2824.3509999999997</c:v>
                </c:pt>
                <c:pt idx="5">
                  <c:v>2854.3619999999996</c:v>
                </c:pt>
                <c:pt idx="6">
                  <c:v>3510.8769999999995</c:v>
                </c:pt>
                <c:pt idx="7">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8"/>
                <c:pt idx="0">
                  <c:v>2026</c:v>
                </c:pt>
                <c:pt idx="1">
                  <c:v>Foam Sheets, Rolls &amp; Planks</c:v>
                </c:pt>
                <c:pt idx="2">
                  <c:v>Fabricated Foam Packaging</c:v>
                </c:pt>
                <c:pt idx="3">
                  <c:v>Molded Foam Packaging</c:v>
                </c:pt>
                <c:pt idx="4">
                  <c:v>Foam-in-Place Packaging</c:v>
                </c:pt>
                <c:pt idx="5">
                  <c:v>Foam Pouches, Bags &amp; Sleeves</c:v>
                </c:pt>
                <c:pt idx="6">
                  <c:v>Foam Loose-Fill Packaging</c:v>
                </c:pt>
                <c:pt idx="7">
                  <c:v>2036 Total</c:v>
                </c:pt>
              </c:strCache>
            </c:strRef>
          </c:cat>
          <c:val>
            <c:numRef>
              <c:numCache>
                <c:formatCode>General</c:formatCode>
                <c:ptCount val="8"/>
                <c:pt idx="0">
                  <c:v>2485.065</c:v>
                </c:pt>
                <c:pt idx="1">
                  <c:v>132.14700000000005</c:v>
                </c:pt>
                <c:pt idx="2">
                  <c:v>155.79399999999998</c:v>
                </c:pt>
                <c:pt idx="3">
                  <c:v>51.34499999999997</c:v>
                </c:pt>
                <c:pt idx="4">
                  <c:v>30.011000000000024</c:v>
                </c:pt>
                <c:pt idx="5">
                  <c:v>656.515</c:v>
                </c:pt>
                <c:pt idx="6">
                  <c:v>106.48500000000001</c:v>
                </c:pt>
                <c:pt idx="7">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Foam Sheets, Rolls &amp; Planks</c:v>
                </c:pt>
                <c:pt idx="1">
                  <c:v>Fabricated Foam Packaging</c:v>
                </c:pt>
                <c:pt idx="2">
                  <c:v>Molded Foam Packaging</c:v>
                </c:pt>
                <c:pt idx="3">
                  <c:v>Foam-in-Place Packaging</c:v>
                </c:pt>
                <c:pt idx="4">
                  <c:v>Foam Pouches, Bags &amp; Sleeves</c:v>
                </c:pt>
                <c:pt idx="5">
                  <c:v>Foam Loose-Fill Packaging</c:v>
                </c:pt>
                <c:pt idx="6">
                  <c:v>Total Absolute $ Opportunity</c:v>
                </c:pt>
              </c:strCache>
            </c:strRef>
          </c:cat>
          <c:val>
            <c:numRef>
              <c:numCache>
                <c:formatCode>General</c:formatCode>
                <c:ptCount val="7"/>
                <c:pt idx="0">
                  <c:v>0.0</c:v>
                </c:pt>
                <c:pt idx="1">
                  <c:v>132.14700000000005</c:v>
                </c:pt>
                <c:pt idx="2">
                  <c:v>287.94100000000003</c:v>
                </c:pt>
                <c:pt idx="3">
                  <c:v>339.286</c:v>
                </c:pt>
                <c:pt idx="4">
                  <c:v>369.297</c:v>
                </c:pt>
                <c:pt idx="5">
                  <c:v>1025.812</c:v>
                </c:pt>
                <c:pt idx="6">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Foam Sheets, Rolls &amp; Planks</c:v>
                </c:pt>
                <c:pt idx="1">
                  <c:v>Fabricated Foam Packaging</c:v>
                </c:pt>
                <c:pt idx="2">
                  <c:v>Molded Foam Packaging</c:v>
                </c:pt>
                <c:pt idx="3">
                  <c:v>Foam-in-Place Packaging</c:v>
                </c:pt>
                <c:pt idx="4">
                  <c:v>Foam Pouches, Bags &amp; Sleeves</c:v>
                </c:pt>
                <c:pt idx="5">
                  <c:v>Foam Loose-Fill Packaging</c:v>
                </c:pt>
                <c:pt idx="6">
                  <c:v>Total Absolute $ Opportunity</c:v>
                </c:pt>
              </c:strCache>
            </c:strRef>
          </c:cat>
          <c:val>
            <c:numRef>
              <c:numCache>
                <c:formatCode>General</c:formatCode>
                <c:ptCount val="7"/>
                <c:pt idx="0">
                  <c:v>132.14700000000005</c:v>
                </c:pt>
                <c:pt idx="1">
                  <c:v>155.79399999999998</c:v>
                </c:pt>
                <c:pt idx="2">
                  <c:v>51.34499999999997</c:v>
                </c:pt>
                <c:pt idx="3">
                  <c:v>30.011000000000024</c:v>
                </c:pt>
                <c:pt idx="4">
                  <c:v>656.515</c:v>
                </c:pt>
                <c:pt idx="5">
                  <c:v>106.48500000000001</c:v>
                </c:pt>
                <c:pt idx="6">
                  <c:v>1132.297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0"/>
                <c:pt idx="0">
                  <c:v>2026</c:v>
                </c:pt>
                <c:pt idx="1">
                  <c:v>Electronics &amp; Electrical</c:v>
                </c:pt>
                <c:pt idx="2">
                  <c:v>Automotive</c:v>
                </c:pt>
                <c:pt idx="3">
                  <c:v>Healthcare &amp; Pharmaceuticals</c:v>
                </c:pt>
                <c:pt idx="4">
                  <c:v>Industrial Machinery &amp; Equipment</c:v>
                </c:pt>
                <c:pt idx="5">
                  <c:v>Consumer Goods &amp; Home Products</c:v>
                </c:pt>
                <c:pt idx="6">
                  <c:v>Food &amp; Beverage</c:v>
                </c:pt>
                <c:pt idx="7">
                  <c:v>Aerospace &amp; Defense</c:v>
                </c:pt>
                <c:pt idx="8">
                  <c:v>Others</c:v>
                </c:pt>
                <c:pt idx="9">
                  <c:v>2036 Total</c:v>
                </c:pt>
              </c:strCache>
            </c:strRef>
          </c:cat>
          <c:val>
            <c:numRef>
              <c:numCache>
                <c:formatCode>General</c:formatCode>
                <c:ptCount val="10"/>
                <c:pt idx="0">
                  <c:v>0.0</c:v>
                </c:pt>
                <c:pt idx="1">
                  <c:v>2485.065</c:v>
                </c:pt>
                <c:pt idx="2">
                  <c:v>2648.782</c:v>
                </c:pt>
                <c:pt idx="3">
                  <c:v>2783.905</c:v>
                </c:pt>
                <c:pt idx="4">
                  <c:v>2884.348</c:v>
                </c:pt>
                <c:pt idx="5">
                  <c:v>2957.38</c:v>
                </c:pt>
                <c:pt idx="6">
                  <c:v>3316.728</c:v>
                </c:pt>
                <c:pt idx="7">
                  <c:v>3444.2580000000003</c:v>
                </c:pt>
                <c:pt idx="8">
                  <c:v>3478.539</c:v>
                </c:pt>
                <c:pt idx="9">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0"/>
                <c:pt idx="0">
                  <c:v>2026</c:v>
                </c:pt>
                <c:pt idx="1">
                  <c:v>Electronics &amp; Electrical</c:v>
                </c:pt>
                <c:pt idx="2">
                  <c:v>Automotive</c:v>
                </c:pt>
                <c:pt idx="3">
                  <c:v>Healthcare &amp; Pharmaceuticals</c:v>
                </c:pt>
                <c:pt idx="4">
                  <c:v>Industrial Machinery &amp; Equipment</c:v>
                </c:pt>
                <c:pt idx="5">
                  <c:v>Consumer Goods &amp; Home Products</c:v>
                </c:pt>
                <c:pt idx="6">
                  <c:v>Food &amp; Beverage</c:v>
                </c:pt>
                <c:pt idx="7">
                  <c:v>Aerospace &amp; Defense</c:v>
                </c:pt>
                <c:pt idx="8">
                  <c:v>Others</c:v>
                </c:pt>
                <c:pt idx="9">
                  <c:v>2036 Total</c:v>
                </c:pt>
              </c:strCache>
            </c:strRef>
          </c:cat>
          <c:val>
            <c:numRef>
              <c:numCache>
                <c:formatCode>General</c:formatCode>
                <c:ptCount val="10"/>
                <c:pt idx="0">
                  <c:v>2485.065</c:v>
                </c:pt>
                <c:pt idx="1">
                  <c:v>163.71700000000004</c:v>
                </c:pt>
                <c:pt idx="2">
                  <c:v>135.123</c:v>
                </c:pt>
                <c:pt idx="3">
                  <c:v>100.44299999999993</c:v>
                </c:pt>
                <c:pt idx="4">
                  <c:v>73.03199999999998</c:v>
                </c:pt>
                <c:pt idx="5">
                  <c:v>359.34800000000007</c:v>
                </c:pt>
                <c:pt idx="6">
                  <c:v>127.53000000000003</c:v>
                </c:pt>
                <c:pt idx="7">
                  <c:v>34.281000000000006</c:v>
                </c:pt>
                <c:pt idx="8">
                  <c:v>138.82300000000004</c:v>
                </c:pt>
                <c:pt idx="9">
                  <c:v>3617.362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9"/>
                <c:pt idx="0">
                  <c:v>Electronics &amp; Electrical</c:v>
                </c:pt>
                <c:pt idx="1">
                  <c:v>Automotive</c:v>
                </c:pt>
                <c:pt idx="2">
                  <c:v>Healthcare &amp; Pharmaceuticals</c:v>
                </c:pt>
                <c:pt idx="3">
                  <c:v>Industrial Machinery &amp; Equipment</c:v>
                </c:pt>
                <c:pt idx="4">
                  <c:v>Consumer Goods &amp; Home Products</c:v>
                </c:pt>
                <c:pt idx="5">
                  <c:v>Food &amp; Beverage</c:v>
                </c:pt>
                <c:pt idx="6">
                  <c:v>Aerospace &amp; Defense</c:v>
                </c:pt>
                <c:pt idx="7">
                  <c:v>Others</c:v>
                </c:pt>
                <c:pt idx="8">
                  <c:v>Total Absolute $ Opportunity</c:v>
                </c:pt>
              </c:strCache>
            </c:strRef>
          </c:cat>
          <c:val>
            <c:numRef>
              <c:numCache>
                <c:formatCode>General</c:formatCode>
                <c:ptCount val="9"/>
                <c:pt idx="0">
                  <c:v>0.0</c:v>
                </c:pt>
                <c:pt idx="1">
                  <c:v>163.71700000000004</c:v>
                </c:pt>
                <c:pt idx="2">
                  <c:v>298.84000000000003</c:v>
                </c:pt>
                <c:pt idx="3">
                  <c:v>399.28299999999996</c:v>
                </c:pt>
                <c:pt idx="4">
                  <c:v>472.31499999999994</c:v>
                </c:pt>
                <c:pt idx="5">
                  <c:v>831.663</c:v>
                </c:pt>
                <c:pt idx="6">
                  <c:v>959.193</c:v>
                </c:pt>
                <c:pt idx="7">
                  <c:v>993.4739999999999</c:v>
                </c:pt>
                <c:pt idx="8">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9"/>
                <c:pt idx="0">
                  <c:v>Electronics &amp; Electrical</c:v>
                </c:pt>
                <c:pt idx="1">
                  <c:v>Automotive</c:v>
                </c:pt>
                <c:pt idx="2">
                  <c:v>Healthcare &amp; Pharmaceuticals</c:v>
                </c:pt>
                <c:pt idx="3">
                  <c:v>Industrial Machinery &amp; Equipment</c:v>
                </c:pt>
                <c:pt idx="4">
                  <c:v>Consumer Goods &amp; Home Products</c:v>
                </c:pt>
                <c:pt idx="5">
                  <c:v>Food &amp; Beverage</c:v>
                </c:pt>
                <c:pt idx="6">
                  <c:v>Aerospace &amp; Defense</c:v>
                </c:pt>
                <c:pt idx="7">
                  <c:v>Others</c:v>
                </c:pt>
                <c:pt idx="8">
                  <c:v>Total Absolute $ Opportunity</c:v>
                </c:pt>
              </c:strCache>
            </c:strRef>
          </c:cat>
          <c:val>
            <c:numRef>
              <c:numCache>
                <c:formatCode>General</c:formatCode>
                <c:ptCount val="9"/>
                <c:pt idx="0">
                  <c:v>163.71700000000004</c:v>
                </c:pt>
                <c:pt idx="1">
                  <c:v>135.123</c:v>
                </c:pt>
                <c:pt idx="2">
                  <c:v>100.44299999999993</c:v>
                </c:pt>
                <c:pt idx="3">
                  <c:v>73.03199999999998</c:v>
                </c:pt>
                <c:pt idx="4">
                  <c:v>359.34800000000007</c:v>
                </c:pt>
                <c:pt idx="5">
                  <c:v>127.53000000000003</c:v>
                </c:pt>
                <c:pt idx="6">
                  <c:v>34.281000000000006</c:v>
                </c:pt>
                <c:pt idx="7">
                  <c:v>138.82300000000004</c:v>
                </c:pt>
                <c:pt idx="8">
                  <c:v>1132.297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Polyurethane (PU) Foam</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4961.0</c:v>
                </c:pt>
                <c:pt idx="1">
                  <c:v>4996.0</c:v>
                </c:pt>
                <c:pt idx="2">
                  <c:v>5030.0</c:v>
                </c:pt>
                <c:pt idx="3">
                  <c:v>5065.0</c:v>
                </c:pt>
                <c:pt idx="4">
                  <c:v>5098.0</c:v>
                </c:pt>
                <c:pt idx="5">
                  <c:v>5131.0</c:v>
                </c:pt>
                <c:pt idx="6">
                  <c:v>5180.0</c:v>
                </c:pt>
                <c:pt idx="7">
                  <c:v>5225.0</c:v>
                </c:pt>
                <c:pt idx="8">
                  <c:v>5267.0</c:v>
                </c:pt>
                <c:pt idx="9">
                  <c:v>5305.0</c:v>
                </c:pt>
                <c:pt idx="10">
                  <c:v>5339.0</c:v>
                </c:pt>
                <c:pt idx="11">
                  <c:v>5369.0</c:v>
                </c:pt>
                <c:pt idx="12">
                  <c:v>5394.0</c:v>
                </c:pt>
                <c:pt idx="13">
                  <c:v>5420.0</c:v>
                </c:pt>
                <c:pt idx="14">
                  <c:v>5439.0</c:v>
                </c:pt>
                <c:pt idx="15">
                  <c:v>5461.0</c:v>
                </c:pt>
              </c:numCache>
            </c:numRef>
          </c:val>
          <c:smooth val="0"/>
        </c:ser>
        <c:ser>
          <c:idx val="1"/>
          <c:order val="1"/>
          <c:tx>
            <c:strRef>
              <c:strCache>
                <c:ptCount val="1"/>
                <c:pt idx="0">
                  <c:v>Other Foam Materials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4029.0</c:v>
                </c:pt>
                <c:pt idx="1">
                  <c:v>4038.0</c:v>
                </c:pt>
                <c:pt idx="2">
                  <c:v>4053.0</c:v>
                </c:pt>
                <c:pt idx="3">
                  <c:v>4079.0</c:v>
                </c:pt>
                <c:pt idx="4">
                  <c:v>4107.0</c:v>
                </c:pt>
                <c:pt idx="5">
                  <c:v>4149.0</c:v>
                </c:pt>
                <c:pt idx="6">
                  <c:v>4153.0</c:v>
                </c:pt>
                <c:pt idx="7">
                  <c:v>4159.0</c:v>
                </c:pt>
                <c:pt idx="8">
                  <c:v>4172.0</c:v>
                </c:pt>
                <c:pt idx="9">
                  <c:v>4187.0</c:v>
                </c:pt>
                <c:pt idx="10">
                  <c:v>4207.0</c:v>
                </c:pt>
                <c:pt idx="11">
                  <c:v>4234.0</c:v>
                </c:pt>
                <c:pt idx="12">
                  <c:v>4264.0</c:v>
                </c:pt>
                <c:pt idx="13">
                  <c:v>4298.0</c:v>
                </c:pt>
                <c:pt idx="14">
                  <c:v>4334.0</c:v>
                </c:pt>
                <c:pt idx="15">
                  <c:v>4373.0</c:v>
                </c:pt>
              </c:numCache>
            </c:numRef>
          </c:val>
          <c:smooth val="0"/>
        </c:ser>
        <c:ser>
          <c:idx val="2"/>
          <c:order val="2"/>
          <c:tx>
            <c:strRef>
              <c:strCache>
                <c:ptCount val="1"/>
                <c:pt idx="0">
                  <c:v>Expanded Polystyrene (EPS)</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3930.0</c:v>
                </c:pt>
                <c:pt idx="1">
                  <c:v>3961.0</c:v>
                </c:pt>
                <c:pt idx="2">
                  <c:v>3990.0</c:v>
                </c:pt>
                <c:pt idx="3">
                  <c:v>4014.0</c:v>
                </c:pt>
                <c:pt idx="4">
                  <c:v>4037.0</c:v>
                </c:pt>
                <c:pt idx="5">
                  <c:v>4062.0</c:v>
                </c:pt>
                <c:pt idx="6">
                  <c:v>4083.0</c:v>
                </c:pt>
                <c:pt idx="7">
                  <c:v>4108.0</c:v>
                </c:pt>
                <c:pt idx="8">
                  <c:v>4135.0</c:v>
                </c:pt>
                <c:pt idx="9">
                  <c:v>4162.0</c:v>
                </c:pt>
                <c:pt idx="10">
                  <c:v>4188.0</c:v>
                </c:pt>
                <c:pt idx="11">
                  <c:v>4215.0</c:v>
                </c:pt>
                <c:pt idx="12">
                  <c:v>4242.0</c:v>
                </c:pt>
                <c:pt idx="13">
                  <c:v>4268.0</c:v>
                </c:pt>
                <c:pt idx="14">
                  <c:v>4294.0</c:v>
                </c:pt>
                <c:pt idx="15">
                  <c:v>4318.0</c:v>
                </c:pt>
              </c:numCache>
            </c:numRef>
          </c:val>
          <c:smooth val="0"/>
        </c:ser>
        <c:ser>
          <c:idx val="3"/>
          <c:order val="3"/>
          <c:tx>
            <c:strRef>
              <c:strCache>
                <c:ptCount val="1"/>
                <c:pt idx="0">
                  <c:v>Polyethylene (PE) Foam</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3678.0</c:v>
                </c:pt>
                <c:pt idx="1">
                  <c:v>3695.0</c:v>
                </c:pt>
                <c:pt idx="2">
                  <c:v>3719.0</c:v>
                </c:pt>
                <c:pt idx="3">
                  <c:v>3761.0</c:v>
                </c:pt>
                <c:pt idx="4">
                  <c:v>3806.0</c:v>
                </c:pt>
                <c:pt idx="5">
                  <c:v>3857.0</c:v>
                </c:pt>
                <c:pt idx="6">
                  <c:v>3870.0</c:v>
                </c:pt>
                <c:pt idx="7">
                  <c:v>3888.0</c:v>
                </c:pt>
                <c:pt idx="8">
                  <c:v>3909.0</c:v>
                </c:pt>
                <c:pt idx="9">
                  <c:v>3934.0</c:v>
                </c:pt>
                <c:pt idx="10">
                  <c:v>3967.0</c:v>
                </c:pt>
                <c:pt idx="11">
                  <c:v>4006.0</c:v>
                </c:pt>
                <c:pt idx="12">
                  <c:v>4054.0</c:v>
                </c:pt>
                <c:pt idx="13">
                  <c:v>4110.0</c:v>
                </c:pt>
                <c:pt idx="14">
                  <c:v>4170.0</c:v>
                </c:pt>
                <c:pt idx="15">
                  <c:v>4236.0</c:v>
                </c:pt>
              </c:numCache>
            </c:numRef>
          </c:val>
          <c:smooth val="0"/>
        </c:ser>
        <c:ser>
          <c:idx val="4"/>
          <c:order val="4"/>
          <c:tx>
            <c:strRef>
              <c:strCache>
                <c:ptCount val="1"/>
                <c:pt idx="0">
                  <c:v>Expanded Polypropylene (EPP)</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3683.0</c:v>
                </c:pt>
                <c:pt idx="1">
                  <c:v>3710.0</c:v>
                </c:pt>
                <c:pt idx="2">
                  <c:v>3736.0</c:v>
                </c:pt>
                <c:pt idx="3">
                  <c:v>3760.0</c:v>
                </c:pt>
                <c:pt idx="4">
                  <c:v>3783.0</c:v>
                </c:pt>
                <c:pt idx="5">
                  <c:v>3804.0</c:v>
                </c:pt>
                <c:pt idx="6">
                  <c:v>3836.0</c:v>
                </c:pt>
                <c:pt idx="7">
                  <c:v>3864.0</c:v>
                </c:pt>
                <c:pt idx="8">
                  <c:v>3889.0</c:v>
                </c:pt>
                <c:pt idx="9">
                  <c:v>3911.0</c:v>
                </c:pt>
                <c:pt idx="10">
                  <c:v>3933.0</c:v>
                </c:pt>
                <c:pt idx="11">
                  <c:v>3957.0</c:v>
                </c:pt>
                <c:pt idx="12">
                  <c:v>3980.0</c:v>
                </c:pt>
                <c:pt idx="13">
                  <c:v>4001.0</c:v>
                </c:pt>
                <c:pt idx="14">
                  <c:v>4020.0</c:v>
                </c:pt>
                <c:pt idx="15">
                  <c:v>4036.0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500.0"/>
          <c:min val="35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5B7DB1"/>
              </a:solidFill>
            </c:spPr>
          </c:dPt>
          <c:dPt>
            <c:idx val="2"/>
            <c:spPr>
              <a:solidFill>
                <a:srgbClr val="5B7DB1"/>
              </a:solidFill>
            </c:spPr>
          </c:dPt>
          <c:dPt>
            <c:idx val="3"/>
            <c:spPr>
              <a:solidFill>
                <a:srgbClr val="C55A11"/>
              </a:solidFill>
            </c:spPr>
          </c:dPt>
          <c:dPt>
            <c:idx val="4"/>
            <c:spPr>
              <a:solidFill>
                <a:srgbClr val="C55A11"/>
              </a:solidFill>
            </c:spPr>
          </c:dPt>
          <c:cat>
            <c:strRef>
              <c:strCache>
                <c:ptCount val="5"/>
                <c:pt idx="0">
                  <c:v>Expanded Polypropylene (EPP)</c:v>
                </c:pt>
                <c:pt idx="1">
                  <c:v>Polyethylene (PE) Foam</c:v>
                </c:pt>
                <c:pt idx="2">
                  <c:v>Expanded Polystyrene (EPS)</c:v>
                </c:pt>
                <c:pt idx="3">
                  <c:v>Other Foam Materials</c:v>
                </c:pt>
                <c:pt idx="4">
                  <c:v>Polyurethane (PU) Foam</c:v>
                </c:pt>
              </c:strCache>
            </c:strRef>
          </c:cat>
          <c:val>
            <c:numRef>
              <c:numCache>
                <c:formatCode>General</c:formatCode>
                <c:ptCount val="5"/>
                <c:pt idx="0">
                  <c:v>92.8</c:v>
                </c:pt>
                <c:pt idx="1">
                  <c:v>94.1</c:v>
                </c:pt>
                <c:pt idx="2">
                  <c:v>99.1</c:v>
                </c:pt>
                <c:pt idx="3">
                  <c:v>101.2</c:v>
                </c:pt>
                <c:pt idx="4">
                  <c:v>125.1</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27.0"/>
          <c:min val="90.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strCache>
                <c:ptCount val="1"/>
                <c:pt idx="0">
                  <c:v>Base</c:v>
                </c:pt>
              </c:strCache>
            </c:strRef>
          </c:tx>
          <c:spPr>
            <a:noFill/>
          </c:spPr>
          <c:cat>
            <c:strRef>
              <c:strCache>
                <c:ptCount val="5"/>
                <c:pt idx="0">
                  <c:v>Expanded Polystyrene (EPS)</c:v>
                </c:pt>
                <c:pt idx="1">
                  <c:v>Other Foam Materials</c:v>
                </c:pt>
                <c:pt idx="2">
                  <c:v>Polyethylene (PE) Foam</c:v>
                </c:pt>
                <c:pt idx="3">
                  <c:v>Expanded Polypropylene (EPP)</c:v>
                </c:pt>
                <c:pt idx="4">
                  <c:v>Polyurethane (PU) Foam</c:v>
                </c:pt>
              </c:strCache>
            </c:strRef>
          </c:cat>
          <c:val>
            <c:numRef>
              <c:numCache>
                <c:formatCode>General</c:formatCode>
                <c:ptCount val="5"/>
                <c:pt idx="0">
                  <c:v>3720</c:v>
                </c:pt>
                <c:pt idx="1">
                  <c:v>4100</c:v>
                </c:pt>
                <c:pt idx="2">
                  <c:v>4100</c:v>
                </c:pt>
                <c:pt idx="3">
                  <c:v>3720</c:v>
                </c:pt>
                <c:pt idx="4">
                  <c:v>3720</c:v>
                </c:pt>
              </c:numCache>
            </c:numRef>
          </c:val>
        </c:ser>
        <c:ser>
          <c:idx val="1"/>
          <c:order val="1"/>
          <c:tx>
            <c:strRef>
              <c:strCache>
                <c:ptCount val="1"/>
                <c:pt idx="0">
                  <c:v>Range</c:v>
                </c:pt>
              </c:strCache>
            </c:strRef>
          </c:tx>
          <c:spPr>
            <a:solidFill>
              <a:srgbClr val="008189"/>
            </a:solidFill>
          </c:spPr>
          <c:cat>
            <c:strRef>
              <c:strCache>
                <c:ptCount val="5"/>
                <c:pt idx="0">
                  <c:v>Expanded Polystyrene (EPS)</c:v>
                </c:pt>
                <c:pt idx="1">
                  <c:v>Other Foam Materials</c:v>
                </c:pt>
                <c:pt idx="2">
                  <c:v>Polyethylene (PE) Foam</c:v>
                </c:pt>
                <c:pt idx="3">
                  <c:v>Expanded Polypropylene (EPP)</c:v>
                </c:pt>
                <c:pt idx="4">
                  <c:v>Polyurethane (PU) Foam</c:v>
                </c:pt>
              </c:strCache>
            </c:strRef>
          </c:cat>
          <c:val>
            <c:numRef>
              <c:numCache>
                <c:formatCode>General</c:formatCode>
                <c:ptCount val="5"/>
                <c:pt idx="0">
                  <c:v>719</c:v>
                </c:pt>
                <c:pt idx="1">
                  <c:v>0</c:v>
                </c:pt>
                <c:pt idx="2">
                  <c:v>0</c:v>
                </c:pt>
                <c:pt idx="3">
                  <c:v>719</c:v>
                </c:pt>
                <c:pt idx="4">
                  <c:v>719</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6000.0"/>
          <c:min val="200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p>
        </c:txPr>
        <c:crossAx val="-2068027336"/>
        <c:crosses val="autoZero"/>
        <c:majorUnit val="2000.0"/>
      </c:valAx>
    </c:plotArea>
    <c:dispBlanksAs val="gap"/>
  </c:chart>
  <c:txPr>
    <a:bodyPr/>
    <a:lstStyle/>
    <a:p>
      <a:pPr>
        <a:defRPr sz="1800"/>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and Africa</c:v>
                </c:pt>
                <c:pt idx="4">
                  <c:v>East Asia</c:v>
                </c:pt>
                <c:pt idx="5">
                  <c:v>South Asia &amp; Pacific</c:v>
                </c:pt>
              </c:strCache>
            </c:strRef>
          </c:cat>
          <c:val>
            <c:numRef>
              <c:numCache>
                <c:formatCode>General</c:formatCode>
                <c:ptCount val="6"/>
                <c:pt idx="0">
                  <c:v>125.3</c:v>
                </c:pt>
                <c:pt idx="1">
                  <c:v>112.8</c:v>
                </c:pt>
                <c:pt idx="2">
                  <c:v>88.2</c:v>
                </c:pt>
                <c:pt idx="3">
                  <c:v>85.0</c:v>
                </c:pt>
                <c:pt idx="4">
                  <c:v>65.1</c:v>
                </c:pt>
                <c:pt idx="5">
                  <c:v>56.9</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and Africa</c:v>
                </c:pt>
                <c:pt idx="4">
                  <c:v>East Asia</c:v>
                </c:pt>
                <c:pt idx="5">
                  <c:v>South Asia &amp; Pacific</c:v>
                </c:pt>
              </c:strCache>
            </c:strRef>
          </c:cat>
          <c:val>
            <c:numRef>
              <c:numCache>
                <c:formatCode>General</c:formatCode>
                <c:ptCount val="6"/>
                <c:pt idx="0">
                  <c:v>42.7</c:v>
                </c:pt>
                <c:pt idx="1">
                  <c:v>38.0</c:v>
                </c:pt>
                <c:pt idx="2">
                  <c:v>29.2</c:v>
                </c:pt>
                <c:pt idx="3">
                  <c:v>28.2</c:v>
                </c:pt>
                <c:pt idx="4">
                  <c:v>23.1</c:v>
                </c:pt>
                <c:pt idx="5">
                  <c:v>19.2</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70.0"/>
          <c:min val="5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Sealed Air Corporation</c:v>
                </c:pt>
                <c:pt idx="1">
                  <c:v>Company</c:v>
                </c:pt>
                <c:pt idx="2">
                  <c:v>BOBST Group SA</c:v>
                </c:pt>
                <c:pt idx="3">
                  <c:v>BHS Corrugated Maschinen- und Anlagenbau GmbH</c:v>
                </c:pt>
                <c:pt idx="4">
                  <c:v>BW Papersystems</c:v>
                </c:pt>
                <c:pt idx="5">
                  <c:v>Fosber Group</c:v>
                </c:pt>
                <c:pt idx="6">
                  <c:v>Mitsubishi Heavy Industries Machinery Systems, Ltd.</c:v>
                </c:pt>
                <c:pt idx="7">
                  <c:v>EMBA Machinery AB</c:v>
                </c:pt>
                <c:pt idx="8">
                  <c:v>Koenig &amp; Bauer Celmacch</c:v>
                </c:pt>
                <c:pt idx="9">
                  <c:v>Göpfert Maschinen GmbH</c:v>
                </c:pt>
                <c:pt idx="10">
                  <c:v>Others</c:v>
                </c:pt>
              </c:strCache>
            </c:strRef>
          </c:cat>
          <c:val>
            <c:numRef>
              <c:numCache>
                <c:formatCode>General</c:formatCode>
                <c:ptCount val="11"/>
                <c:pt idx="0">
                  <c:v>15.401240790072531</c:v>
                </c:pt>
                <c:pt idx="1">
                  <c:v>13.483170759180721</c:v>
                </c:pt>
                <c:pt idx="2">
                  <c:v>9.299352883645389</c:v>
                </c:pt>
                <c:pt idx="3">
                  <c:v>6.532876475193234</c:v>
                </c:pt>
                <c:pt idx="4">
                  <c:v>6.473319829711895</c:v>
                </c:pt>
                <c:pt idx="5">
                  <c:v>6.433244680872182</c:v>
                </c:pt>
                <c:pt idx="6">
                  <c:v>5.1503700280767655</c:v>
                </c:pt>
                <c:pt idx="7">
                  <c:v>3.1015192989370006</c:v>
                </c:pt>
                <c:pt idx="8">
                  <c:v>2.164598136819089</c:v>
                </c:pt>
                <c:pt idx="9">
                  <c:v>2.136096181068746</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Sealed Air Corporation</c:v>
                </c:pt>
                <c:pt idx="1">
                  <c:v>Company</c:v>
                </c:pt>
                <c:pt idx="2">
                  <c:v>BOBST Group SA</c:v>
                </c:pt>
                <c:pt idx="3">
                  <c:v>BHS Corrugated Maschinen- und Anlagenbau GmbH</c:v>
                </c:pt>
                <c:pt idx="4">
                  <c:v>BW Papersystems</c:v>
                </c:pt>
                <c:pt idx="5">
                  <c:v>Fosber Group</c:v>
                </c:pt>
                <c:pt idx="6">
                  <c:v>Mitsubishi Heavy Industries Machinery Systems, Ltd.</c:v>
                </c:pt>
                <c:pt idx="7">
                  <c:v>EMBA Machinery AB</c:v>
                </c:pt>
                <c:pt idx="8">
                  <c:v>Koenig &amp; Bauer Celmacch</c:v>
                </c:pt>
                <c:pt idx="9">
                  <c:v>Göpfert Maschinen GmbH</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Sealed Air Corporation</c:v>
                </c:pt>
                <c:pt idx="1">
                  <c:v>Company</c:v>
                </c:pt>
                <c:pt idx="2">
                  <c:v>BOBST Group SA</c:v>
                </c:pt>
                <c:pt idx="3">
                  <c:v>BHS Corrugated Maschinen- und Anlagenbau GmbH</c:v>
                </c:pt>
                <c:pt idx="4">
                  <c:v>BW Papersystems</c:v>
                </c:pt>
                <c:pt idx="5">
                  <c:v>Fosber Group</c:v>
                </c:pt>
                <c:pt idx="6">
                  <c:v>Mitsubishi Heavy Industries Machinery Systems, Ltd.</c:v>
                </c:pt>
                <c:pt idx="7">
                  <c:v>EMBA Machinery AB</c:v>
                </c:pt>
                <c:pt idx="8">
                  <c:v>Koenig &amp; Bauer Celmacch</c:v>
                </c:pt>
                <c:pt idx="9">
                  <c:v>Göpfert Maschinen GmbH</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Sealed Air Corporation</c:v>
                </c:pt>
                <c:pt idx="1">
                  <c:v>Company</c:v>
                </c:pt>
                <c:pt idx="2">
                  <c:v>BOBST Group SA</c:v>
                </c:pt>
                <c:pt idx="3">
                  <c:v>BHS Corrugated Maschinen- und Anlagenbau GmbH</c:v>
                </c:pt>
                <c:pt idx="4">
                  <c:v>BW Papersystems</c:v>
                </c:pt>
                <c:pt idx="5">
                  <c:v>Fosber Group</c:v>
                </c:pt>
                <c:pt idx="6">
                  <c:v>Mitsubishi Heavy Industries Machinery Systems, Ltd.</c:v>
                </c:pt>
                <c:pt idx="7">
                  <c:v>EMBA Machinery AB</c:v>
                </c:pt>
                <c:pt idx="8">
                  <c:v>Koenig &amp; Bauer Celmacch</c:v>
                </c:pt>
                <c:pt idx="9">
                  <c:v>Göpfert Maschinen GmbH</c:v>
                </c:pt>
                <c:pt idx="10">
                  <c:v>Others</c:v>
                </c:pt>
              </c:strCache>
            </c:strRef>
          </c:cat>
          <c:val>
            <c:numRef>
              <c:numCache>
                <c:formatCode>General</c:formatCode>
                <c:ptCount val="11"/>
                <c:pt idx="0">
                  <c:v>16.616982878130067</c:v>
                </c:pt>
                <c:pt idx="1">
                  <c:v>15.838373751146182</c:v>
                </c:pt>
                <c:pt idx="2">
                  <c:v>12.226323321243273</c:v>
                </c:pt>
                <c:pt idx="3">
                  <c:v>7.956018792951128</c:v>
                </c:pt>
                <c:pt idx="4">
                  <c:v>5.814138033935409</c:v>
                </c:pt>
                <c:pt idx="5">
                  <c:v>5.618762435113717</c:v>
                </c:pt>
                <c:pt idx="6">
                  <c:v>5.851259038190952</c:v>
                </c:pt>
                <c:pt idx="7">
                  <c:v>4.767350351372047</c:v>
                </c:pt>
                <c:pt idx="8">
                  <c:v>3.1905899020099833</c:v>
                </c:pt>
                <c:pt idx="9">
                  <c:v>1.9266097914653117</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Sealed Air Corporation</c:v>
                </c:pt>
                <c:pt idx="1">
                  <c:v>Company</c:v>
                </c:pt>
                <c:pt idx="2">
                  <c:v>BOBST Group SA</c:v>
                </c:pt>
                <c:pt idx="3">
                  <c:v>BHS Corrugated Maschinen- und Anlagenbau GmbH</c:v>
                </c:pt>
                <c:pt idx="4">
                  <c:v>BW Papersystems</c:v>
                </c:pt>
                <c:pt idx="5">
                  <c:v>Fosber Group</c:v>
                </c:pt>
                <c:pt idx="6">
                  <c:v>Mitsubishi Heavy Industries Machinery Systems, Ltd.</c:v>
                </c:pt>
                <c:pt idx="7">
                  <c:v>EMBA Machinery AB</c:v>
                </c:pt>
                <c:pt idx="8">
                  <c:v>Koenig &amp; Bauer Celmacch</c:v>
                </c:pt>
                <c:pt idx="9">
                  <c:v>Göpfert Maschinen GmbH</c:v>
                </c:pt>
                <c:pt idx="10">
                  <c:v>Others</c:v>
                </c:pt>
              </c:strCache>
            </c:strRef>
          </c:cat>
          <c:val>
            <c:numRef>
              <c:numCache>
                <c:formatCode>General</c:formatCode>
                <c:ptCount val="11"/>
                <c:pt idx="0">
                  <c:v>17.074931814674855</c:v>
                </c:pt>
                <c:pt idx="1">
                  <c:v>12.550885260107192</c:v>
                </c:pt>
                <c:pt idx="2">
                  <c:v>8.380043562697718</c:v>
                </c:pt>
                <c:pt idx="3">
                  <c:v>7.444952014860334</c:v>
                </c:pt>
                <c:pt idx="4">
                  <c:v>8.04660708305492</c:v>
                </c:pt>
                <c:pt idx="5">
                  <c:v>6.919214229256515</c:v>
                </c:pt>
                <c:pt idx="6">
                  <c:v>4.691071174682332</c:v>
                </c:pt>
                <c:pt idx="7">
                  <c:v>2.86510879859984</c:v>
                </c:pt>
                <c:pt idx="8">
                  <c:v>2.560369933335589</c:v>
                </c:pt>
                <c:pt idx="9">
                  <c:v>2.6169804142295043</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Sealed Air Corporation</c:v>
                </c:pt>
                <c:pt idx="1">
                  <c:v>Company</c:v>
                </c:pt>
                <c:pt idx="2">
                  <c:v>BOBST Group SA</c:v>
                </c:pt>
                <c:pt idx="3">
                  <c:v>BHS Corrugated Maschinen- und Anlagenbau GmbH</c:v>
                </c:pt>
                <c:pt idx="4">
                  <c:v>BW Papersystems</c:v>
                </c:pt>
                <c:pt idx="5">
                  <c:v>Fosber Group</c:v>
                </c:pt>
                <c:pt idx="6">
                  <c:v>Mitsubishi Heavy Industries Machinery Systems, Ltd.</c:v>
                </c:pt>
                <c:pt idx="7">
                  <c:v>EMBA Machinery AB</c:v>
                </c:pt>
                <c:pt idx="8">
                  <c:v>Koenig &amp; Bauer Celmacch</c:v>
                </c:pt>
                <c:pt idx="9">
                  <c:v>Göpfert Maschinen GmbH</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Sealed Air Corporation</c:v>
                </c:pt>
                <c:pt idx="1">
                  <c:v>Company</c:v>
                </c:pt>
                <c:pt idx="2">
                  <c:v>BOBST Group SA</c:v>
                </c:pt>
                <c:pt idx="3">
                  <c:v>BHS Corrugated Maschinen- und Anlagenbau GmbH</c:v>
                </c:pt>
                <c:pt idx="4">
                  <c:v>BW Papersystems</c:v>
                </c:pt>
                <c:pt idx="5">
                  <c:v>Fosber Group</c:v>
                </c:pt>
                <c:pt idx="6">
                  <c:v>Mitsubishi Heavy Industries Machinery Systems, Ltd.</c:v>
                </c:pt>
                <c:pt idx="7">
                  <c:v>EMBA Machinery AB</c:v>
                </c:pt>
                <c:pt idx="8">
                  <c:v>Koenig &amp; Bauer Celmacch</c:v>
                </c:pt>
                <c:pt idx="9">
                  <c:v>Göpfert Maschinen GmbH</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Electronics &amp; Electrical</c:v>
                </c:pt>
                <c:pt idx="1">
                  <c:v>Automotive</c:v>
                </c:pt>
                <c:pt idx="2">
                  <c:v>Healthcare &amp; Pharmaceuticals</c:v>
                </c:pt>
                <c:pt idx="3">
                  <c:v>Industrial Machinery &amp; Equipment</c:v>
                </c:pt>
              </c:strCache>
            </c:strRef>
          </c:cat>
          <c:val>
            <c:numRef>
              <c:numCache>
                <c:formatCode>General</c:formatCode>
                <c:ptCount val="4"/>
                <c:pt idx="0">
                  <c:v>760.6516955605225</c:v>
                </c:pt>
                <c:pt idx="1">
                  <c:v>423.1774967089121</c:v>
                </c:pt>
                <c:pt idx="2">
                  <c:v>532.660001616456</c:v>
                </c:pt>
                <c:pt idx="3">
                  <c:v>1006.2450332716093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328.2434439185242"/>
          <c:min val="0.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903.8968721564275</c:v>
                </c:pt>
                <c:pt idx="1">
                  <c:v>550.2000135706493</c:v>
                </c:pt>
                <c:pt idx="2">
                  <c:v>296.7069172562842</c:v>
                </c:pt>
                <c:pt idx="3">
                  <c:v>335.25610472845256</c:v>
                </c:pt>
                <c:pt idx="4">
                  <c:v>636.6743194456864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93.1438712464844"/>
          <c:min val="0.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Lbls>
            <c:dLbl>
              <c:idx val="0"/>
              <c:layout>
                <c:manualLayout>
                  <c:x val="0.0350"/>
                  <c:y val="0.0000"/>
                </c:manualLayout>
              </c:layout>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Other Foam Materials</c:v>
                </c:pt>
                <c:pt idx="1">
                  <c:v>Expanded Polystyrene (EPS)</c:v>
                </c:pt>
                <c:pt idx="2">
                  <c:v>Expanded Polypropylene (EPP)</c:v>
                </c:pt>
                <c:pt idx="3">
                  <c:v>Polyethylene (PE) Foam</c:v>
                </c:pt>
              </c:strCache>
            </c:strRef>
          </c:cat>
          <c:val>
            <c:numRef>
              <c:numCache>
                <c:formatCode>General</c:formatCode>
                <c:ptCount val="4"/>
                <c:pt idx="0">
                  <c:v>313.70993851563344</c:v>
                </c:pt>
                <c:pt idx="1">
                  <c:v>436.1297239704547</c:v>
                </c:pt>
                <c:pt idx="2">
                  <c:v>813.241028820667</c:v>
                </c:pt>
                <c:pt idx="3">
                  <c:v>1159.6535358507447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2757.8722080000002</c:v>
                </c:pt>
                <c:pt idx="1">
                  <c:v>2479.057495611894</c:v>
                </c:pt>
                <c:pt idx="2">
                  <c:v>1811.7386216528</c:v>
                </c:pt>
                <c:pt idx="3">
                  <c:v>1160.7022605183136</c:v>
                </c:pt>
                <c:pt idx="4">
                  <c:v>920.8583328146866</c:v>
                </c:pt>
              </c:numCache>
            </c:numRef>
          </c:val>
        </c:ser>
        <c:ser>
          <c:idx val="1"/>
          <c:order val="1"/>
          <c:tx>
            <c:strRef>
              <c:strCache>
                <c:ptCount val="1"/>
                <c:pt idx="0">
                  <c:v>SOM</c:v>
                </c:pt>
              </c:strCache>
            </c:strRef>
          </c:tx>
          <c:spPr>
            <a:solidFill>
              <a:srgbClr val="2A5F8F"/>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903.8968721564275</c:v>
                </c:pt>
                <c:pt idx="1">
                  <c:v>550.2000135706493</c:v>
                </c:pt>
                <c:pt idx="2">
                  <c:v>296.7069172562842</c:v>
                </c:pt>
                <c:pt idx="3">
                  <c:v>335.25610472845256</c:v>
                </c:pt>
                <c:pt idx="4">
                  <c:v>636.6743194456864</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30.0764262400003"/>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Region Global Foam Protective Packaging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By Material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By Product Form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By End-use Industry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By End-use Industry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Absolute $ Opportunity &amp; Attractiveness  (1/2)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Absolute $ Opportunity &amp; Attractiveness  (2/2)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Country North America Foam Protective Packaging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By Material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By Product Form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By End-use Industry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By End-use Industry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End-use Industry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Material Type × Product Form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Absolute $ Opportunity &amp; Attractiveness  (1/2)</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Product Form × End-use Industry Absolute $ Opportunity &amp; Attractiveness  (2/2)</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Material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Material Type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Product Form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Product Form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End-use Industry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End-use Industry Table (Volume &amp; Value)  (1/3)</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End-use Industry Table (Volume &amp; Value)  (2/3)</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Country End-use Industry Table (Volume &amp; Value)  (3/3)</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Company Profiles &amp; Strategic Benchmarking Sealed Air Corporation Snapshot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Company Profiles &amp; Strategic Benchmarking Sealed Air Corporation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Company Profiles &amp; Strategic Benchmarking Sealed Air Corporation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Company Profiles &amp; Strategic Benchmarking Sealed Air Corporation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Competitor Company Profiles &amp; Strategic Benchmarking Sealed Air Corporation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Table of Contents  (1/6)</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Table of Contents  (2/6)</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Table of Contents  (3/6)</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Table of Contents  (4/6)</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Table of Contents  (5/6)</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Table of Contents  (6/6)</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Foam Protective Packaging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0.jpg"/><Relationship Id="rId3" Type="http://schemas.openxmlformats.org/officeDocument/2006/relationships/image" Target="../media/image66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26.xml"/><Relationship Id="rId9" Type="http://schemas.openxmlformats.org/officeDocument/2006/relationships/slide" Target="slide27.xml"/><Relationship Id="rId10" Type="http://schemas.openxmlformats.org/officeDocument/2006/relationships/slide" Target="slide38.xml"/><Relationship Id="rId11" Type="http://schemas.openxmlformats.org/officeDocument/2006/relationships/slide" Target="slide46.xml"/><Relationship Id="rId12" Type="http://schemas.openxmlformats.org/officeDocument/2006/relationships/slide" Target="slide71.xml"/><Relationship Id="rId13" Type="http://schemas.openxmlformats.org/officeDocument/2006/relationships/slide" Target="slide84.xml"/><Relationship Id="rId14" Type="http://schemas.openxmlformats.org/officeDocument/2006/relationships/slide" Target="slide85.xml"/><Relationship Id="rId15" Type="http://schemas.openxmlformats.org/officeDocument/2006/relationships/slide" Target="slide95.xml"/><Relationship Id="rId16" Type="http://schemas.openxmlformats.org/officeDocument/2006/relationships/slide" Target="slide103.xml"/><Relationship Id="rId17" Type="http://schemas.openxmlformats.org/officeDocument/2006/relationships/slide" Target="slide128.xml"/><Relationship Id="rId18" Type="http://schemas.openxmlformats.org/officeDocument/2006/relationships/slide" Target="slide141.xml"/><Relationship Id="rId19" Type="http://schemas.openxmlformats.org/officeDocument/2006/relationships/slide" Target="slide142.xml"/><Relationship Id="rId20" Type="http://schemas.openxmlformats.org/officeDocument/2006/relationships/slide" Target="slide146.xml"/><Relationship Id="rId21" Type="http://schemas.openxmlformats.org/officeDocument/2006/relationships/slide" Target="slide158.xml"/><Relationship Id="rId22" Type="http://schemas.openxmlformats.org/officeDocument/2006/relationships/slide" Target="slide159.xml"/><Relationship Id="rId23" Type="http://schemas.openxmlformats.org/officeDocument/2006/relationships/slide" Target="slide172.xml"/><Relationship Id="rId24" Type="http://schemas.openxmlformats.org/officeDocument/2006/relationships/slide" Target="slide176.xml"/><Relationship Id="rId25" Type="http://schemas.openxmlformats.org/officeDocument/2006/relationships/slide" Target="slide177.xml"/><Relationship Id="rId26" Type="http://schemas.openxmlformats.org/officeDocument/2006/relationships/slide" Target="slide185.xml"/><Relationship Id="rId27" Type="http://schemas.openxmlformats.org/officeDocument/2006/relationships/slide" Target="slide198.xml"/><Relationship Id="rId28" Type="http://schemas.openxmlformats.org/officeDocument/2006/relationships/slide" Target="slide186.xml"/><Relationship Id="rId29" Type="http://schemas.openxmlformats.org/officeDocument/2006/relationships/slide" Target="slide19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 Id="rId11" Type="http://schemas.openxmlformats.org/officeDocument/2006/relationships/image" Target="../media/image69.png"/><Relationship Id="rId12" Type="http://schemas.openxmlformats.org/officeDocument/2006/relationships/image" Target="../media/image70.png"/><Relationship Id="rId13" Type="http://schemas.openxmlformats.org/officeDocument/2006/relationships/image" Target="../media/image71.png"/><Relationship Id="rId14" Type="http://schemas.openxmlformats.org/officeDocument/2006/relationships/image" Target="../media/image72.png"/><Relationship Id="rId15" Type="http://schemas.openxmlformats.org/officeDocument/2006/relationships/image" Target="../media/image73.png"/><Relationship Id="rId16" Type="http://schemas.openxmlformats.org/officeDocument/2006/relationships/image" Target="../media/image74.png"/><Relationship Id="rId17" Type="http://schemas.openxmlformats.org/officeDocument/2006/relationships/image" Target="../media/image75.png"/><Relationship Id="rId18" Type="http://schemas.openxmlformats.org/officeDocument/2006/relationships/image" Target="../media/image76.png"/><Relationship Id="rId19" Type="http://schemas.openxmlformats.org/officeDocument/2006/relationships/image" Target="../media/image77.png"/><Relationship Id="rId20" Type="http://schemas.openxmlformats.org/officeDocument/2006/relationships/image" Target="../media/image78.png"/><Relationship Id="rId21" Type="http://schemas.openxmlformats.org/officeDocument/2006/relationships/image" Target="../media/image79.png"/><Relationship Id="rId2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1.png"/><Relationship Id="rId7" Type="http://schemas.openxmlformats.org/officeDocument/2006/relationships/image" Target="../media/image112.png"/><Relationship Id="rId8" Type="http://schemas.openxmlformats.org/officeDocument/2006/relationships/image" Target="../media/image113.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116.png"/><Relationship Id="rId12" Type="http://schemas.openxmlformats.org/officeDocument/2006/relationships/image" Target="../media/image117.png"/><Relationship Id="rId13" Type="http://schemas.openxmlformats.org/officeDocument/2006/relationships/image" Target="../media/image118.png"/><Relationship Id="rId14" Type="http://schemas.openxmlformats.org/officeDocument/2006/relationships/image" Target="../media/image119.png"/><Relationship Id="rId15" Type="http://schemas.openxmlformats.org/officeDocument/2006/relationships/image" Target="../media/image120.png"/><Relationship Id="rId16" Type="http://schemas.openxmlformats.org/officeDocument/2006/relationships/image" Target="../media/image121.png"/><Relationship Id="rId17" Type="http://schemas.openxmlformats.org/officeDocument/2006/relationships/image" Target="../media/image59.png"/><Relationship Id="rId18" Type="http://schemas.openxmlformats.org/officeDocument/2006/relationships/image" Target="../media/image122.png"/><Relationship Id="rId19"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6.xml"/><Relationship Id="rId8"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notesSlide" Target="../notesSlides/notesSlide27.xml"/><Relationship Id="rId5"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notesSlide" Target="../notesSlides/notesSlide31.xml"/><Relationship Id="rId5"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70.png"/><Relationship Id="rId11" Type="http://schemas.openxmlformats.org/officeDocument/2006/relationships/image" Target="../media/image171.png"/><Relationship Id="rId12" Type="http://schemas.openxmlformats.org/officeDocument/2006/relationships/image" Target="../media/image91.png"/><Relationship Id="rId13" Type="http://schemas.openxmlformats.org/officeDocument/2006/relationships/image" Target="../media/image172.png"/><Relationship Id="rId14" Type="http://schemas.openxmlformats.org/officeDocument/2006/relationships/image" Target="../media/image173.png"/><Relationship Id="rId15" Type="http://schemas.openxmlformats.org/officeDocument/2006/relationships/image" Target="../media/image174.png"/><Relationship Id="rId16" Type="http://schemas.openxmlformats.org/officeDocument/2006/relationships/image" Target="../media/image175.png"/><Relationship Id="rId17" Type="http://schemas.openxmlformats.org/officeDocument/2006/relationships/image" Target="../media/image176.png"/><Relationship Id="rId18" Type="http://schemas.openxmlformats.org/officeDocument/2006/relationships/image" Target="../media/image64.png"/><Relationship Id="rId19" Type="http://schemas.openxmlformats.org/officeDocument/2006/relationships/image" Target="../media/image177.png"/><Relationship Id="rId20" Type="http://schemas.openxmlformats.org/officeDocument/2006/relationships/image" Target="../media/image178.png"/><Relationship Id="rId21" Type="http://schemas.openxmlformats.org/officeDocument/2006/relationships/image" Target="../media/image179.png"/><Relationship Id="rId2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chart" Target="../charts/chart24.xml"/><Relationship Id="rId5" Type="http://schemas.openxmlformats.org/officeDocument/2006/relationships/notesSlide" Target="../notesSlides/notesSlide37.xml"/><Relationship Id="rId6"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notesSlide" Target="../notesSlides/notesSlide38.xml"/><Relationship Id="rId8"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notesSlide" Target="../notesSlides/notesSlide39.xml"/><Relationship Id="rId6"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1.xml"/><Relationship Id="rId4" Type="http://schemas.openxmlformats.org/officeDocument/2006/relationships/notesSlide" Target="../notesSlides/notesSlide45.xml"/><Relationship Id="rId5"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 Id="rId4" Type="http://schemas.openxmlformats.org/officeDocument/2006/relationships/image" Target="../media/image231.png"/><Relationship Id="rId5" Type="http://schemas.openxmlformats.org/officeDocument/2006/relationships/image" Target="../media/image232.png"/><Relationship Id="rId6" Type="http://schemas.openxmlformats.org/officeDocument/2006/relationships/image" Target="../media/image233.png"/><Relationship Id="rId7" Type="http://schemas.openxmlformats.org/officeDocument/2006/relationships/image" Target="../media/image234.png"/><Relationship Id="rId8" Type="http://schemas.openxmlformats.org/officeDocument/2006/relationships/image" Target="../media/image235.png"/><Relationship Id="rId9" Type="http://schemas.openxmlformats.org/officeDocument/2006/relationships/image" Target="../media/image122.png"/><Relationship Id="rId10" Type="http://schemas.openxmlformats.org/officeDocument/2006/relationships/image" Target="../media/image236.png"/><Relationship Id="rId11" Type="http://schemas.openxmlformats.org/officeDocument/2006/relationships/image" Target="../media/image237.png"/><Relationship Id="rId12" Type="http://schemas.openxmlformats.org/officeDocument/2006/relationships/image" Target="../media/image238.png"/><Relationship Id="rId13" Type="http://schemas.openxmlformats.org/officeDocument/2006/relationships/image" Target="../media/image239.png"/><Relationship Id="rId14" Type="http://schemas.openxmlformats.org/officeDocument/2006/relationships/image" Target="../media/image240.png"/><Relationship Id="rId15" Type="http://schemas.openxmlformats.org/officeDocument/2006/relationships/image" Target="../media/image241.png"/><Relationship Id="rId16"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image" Target="../media/image117.png"/><Relationship Id="rId7" Type="http://schemas.openxmlformats.org/officeDocument/2006/relationships/image" Target="../media/image244.png"/><Relationship Id="rId8" Type="http://schemas.openxmlformats.org/officeDocument/2006/relationships/image" Target="../media/image245.png"/><Relationship Id="rId9" Type="http://schemas.openxmlformats.org/officeDocument/2006/relationships/image" Target="../media/image246.png"/><Relationship Id="rId10" Type="http://schemas.openxmlformats.org/officeDocument/2006/relationships/image" Target="../media/image247.png"/><Relationship Id="rId11" Type="http://schemas.openxmlformats.org/officeDocument/2006/relationships/image" Target="../media/image248.png"/><Relationship Id="rId12" Type="http://schemas.openxmlformats.org/officeDocument/2006/relationships/image" Target="../media/image249.png"/><Relationship Id="rId13" Type="http://schemas.openxmlformats.org/officeDocument/2006/relationships/image" Target="../media/image250.png"/><Relationship Id="rId14" Type="http://schemas.openxmlformats.org/officeDocument/2006/relationships/image" Target="../media/image251.png"/><Relationship Id="rId15" Type="http://schemas.openxmlformats.org/officeDocument/2006/relationships/image" Target="../media/image91.png"/><Relationship Id="rId16"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chart" Target="../charts/chart33.xml"/><Relationship Id="rId5" Type="http://schemas.openxmlformats.org/officeDocument/2006/relationships/notesSlide" Target="../notesSlides/notesSlide52.xml"/><Relationship Id="rId6"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xml"/><Relationship Id="rId4" Type="http://schemas.openxmlformats.org/officeDocument/2006/relationships/chart" Target="../charts/chart35.xml"/><Relationship Id="rId5" Type="http://schemas.openxmlformats.org/officeDocument/2006/relationships/chart" Target="../charts/chart36.xml"/><Relationship Id="rId6" Type="http://schemas.openxmlformats.org/officeDocument/2006/relationships/chart" Target="../charts/chart37.xml"/><Relationship Id="rId7" Type="http://schemas.openxmlformats.org/officeDocument/2006/relationships/notesSlide" Target="../notesSlides/notesSlide53.xml"/><Relationship Id="rId8"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xml"/><Relationship Id="rId4" Type="http://schemas.openxmlformats.org/officeDocument/2006/relationships/chart" Target="../charts/chart39.xml"/><Relationship Id="rId5" Type="http://schemas.openxmlformats.org/officeDocument/2006/relationships/chart" Target="../charts/chart40.xml"/><Relationship Id="rId6" Type="http://schemas.openxmlformats.org/officeDocument/2006/relationships/chart" Target="../charts/chart41.xml"/><Relationship Id="rId7" Type="http://schemas.openxmlformats.org/officeDocument/2006/relationships/notesSlide" Target="../notesSlides/notesSlide54.xml"/><Relationship Id="rId8"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notesSlide" Target="../notesSlides/notesSlide61.xml"/><Relationship Id="rId5"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3.xml"/><Relationship Id="rId4" Type="http://schemas.openxmlformats.org/officeDocument/2006/relationships/notesSlide" Target="../notesSlides/notesSlide68.xml"/><Relationship Id="rId5"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notesSlide" Target="../notesSlides/notesSlide73.xml"/><Relationship Id="rId5"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 Id="rId4"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chart" Target="../charts/chart46.xml"/><Relationship Id="rId5" Type="http://schemas.openxmlformats.org/officeDocument/2006/relationships/notesSlide" Target="../notesSlides/notesSlide77.xml"/><Relationship Id="rId6"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chart" Target="../charts/chart48.xml"/><Relationship Id="rId5" Type="http://schemas.openxmlformats.org/officeDocument/2006/relationships/notesSlide" Target="../notesSlides/notesSlide79.xml"/><Relationship Id="rId6"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chart" Target="../charts/chart50.xml"/><Relationship Id="rId5" Type="http://schemas.openxmlformats.org/officeDocument/2006/relationships/notesSlide" Target="../notesSlides/notesSlide80.xml"/><Relationship Id="rId6"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chart" Target="../charts/chart52.xml"/><Relationship Id="rId5" Type="http://schemas.openxmlformats.org/officeDocument/2006/relationships/notesSlide" Target="../notesSlides/notesSlide81.xml"/><Relationship Id="rId6"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notesSlide" Target="../notesSlides/notesSlide83.xml"/><Relationship Id="rId5"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notesSlide" Target="../notesSlides/notesSlide85.xml"/><Relationship Id="rId5"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notesSlide" Target="../notesSlides/notesSlide87.xml"/><Relationship Id="rId5"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notesSlide" Target="../notesSlides/notesSlide88.xml"/><Relationship Id="rId5"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chart" Target="../charts/chart58.xml"/><Relationship Id="rId5" Type="http://schemas.openxmlformats.org/officeDocument/2006/relationships/notesSlide" Target="../notesSlides/notesSlide91.xml"/><Relationship Id="rId6"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 Id="rId4"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image" Target="../media/image430.png"/><Relationship Id="rId5" Type="http://schemas.openxmlformats.org/officeDocument/2006/relationships/image" Target="../media/image431.png"/><Relationship Id="rId6" Type="http://schemas.openxmlformats.org/officeDocument/2006/relationships/image" Target="../media/image432.png"/><Relationship Id="rId7" Type="http://schemas.openxmlformats.org/officeDocument/2006/relationships/image" Target="../media/image433.png"/><Relationship Id="rId8" Type="http://schemas.openxmlformats.org/officeDocument/2006/relationships/image" Target="../media/image434.png"/><Relationship Id="rId9" Type="http://schemas.openxmlformats.org/officeDocument/2006/relationships/image" Target="../media/image79.png"/><Relationship Id="rId10" Type="http://schemas.openxmlformats.org/officeDocument/2006/relationships/image" Target="../media/image435.png"/><Relationship Id="rId11" Type="http://schemas.openxmlformats.org/officeDocument/2006/relationships/image" Target="../media/image353.png"/><Relationship Id="rId12" Type="http://schemas.openxmlformats.org/officeDocument/2006/relationships/image" Target="../media/image246.png"/><Relationship Id="rId13" Type="http://schemas.openxmlformats.org/officeDocument/2006/relationships/image" Target="../media/image436.png"/><Relationship Id="rId14" Type="http://schemas.openxmlformats.org/officeDocument/2006/relationships/image" Target="../media/image356.png"/><Relationship Id="rId15" Type="http://schemas.openxmlformats.org/officeDocument/2006/relationships/image" Target="../media/image233.png"/><Relationship Id="rId16" Type="http://schemas.openxmlformats.org/officeDocument/2006/relationships/image" Target="../media/image437.png"/><Relationship Id="rId17" Type="http://schemas.openxmlformats.org/officeDocument/2006/relationships/image" Target="../media/image355.png"/><Relationship Id="rId18" Type="http://schemas.openxmlformats.org/officeDocument/2006/relationships/image" Target="../media/image438.png"/><Relationship Id="rId19"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notesSlide" Target="../notesSlides/notesSlide94.xml"/><Relationship Id="rId6"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chart" Target="../charts/chart62.xml"/><Relationship Id="rId5" Type="http://schemas.openxmlformats.org/officeDocument/2006/relationships/chart" Target="../charts/chart63.xml"/><Relationship Id="rId6" Type="http://schemas.openxmlformats.org/officeDocument/2006/relationships/chart" Target="../charts/chart64.xml"/><Relationship Id="rId7" Type="http://schemas.openxmlformats.org/officeDocument/2006/relationships/notesSlide" Target="../notesSlides/notesSlide95.xml"/><Relationship Id="rId8"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notesSlide" Target="../notesSlides/notesSlide96.xml"/><Relationship Id="rId5"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notesSlide" Target="../notesSlides/notesSlide99.xml"/><Relationship Id="rId5"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image" Target="../media/image463.png"/><Relationship Id="rId5" Type="http://schemas.openxmlformats.org/officeDocument/2006/relationships/image" Target="../media/image464.png"/><Relationship Id="rId6" Type="http://schemas.openxmlformats.org/officeDocument/2006/relationships/image" Target="../media/image465.png"/><Relationship Id="rId7" Type="http://schemas.openxmlformats.org/officeDocument/2006/relationships/image" Target="../media/image466.png"/><Relationship Id="rId8" Type="http://schemas.openxmlformats.org/officeDocument/2006/relationships/image" Target="../media/image467.png"/><Relationship Id="rId9" Type="http://schemas.openxmlformats.org/officeDocument/2006/relationships/image" Target="../media/image468.png"/><Relationship Id="rId10" Type="http://schemas.openxmlformats.org/officeDocument/2006/relationships/image" Target="../media/image469.png"/><Relationship Id="rId11" Type="http://schemas.openxmlformats.org/officeDocument/2006/relationships/image" Target="../media/image470.png"/><Relationship Id="rId12" Type="http://schemas.openxmlformats.org/officeDocument/2006/relationships/image" Target="../media/image471.png"/><Relationship Id="rId13" Type="http://schemas.openxmlformats.org/officeDocument/2006/relationships/image" Target="../media/image472.png"/><Relationship Id="rId14" Type="http://schemas.openxmlformats.org/officeDocument/2006/relationships/image" Target="../media/image473.png"/><Relationship Id="rId15" Type="http://schemas.openxmlformats.org/officeDocument/2006/relationships/image" Target="../media/image179.png"/><Relationship Id="rId16" Type="http://schemas.openxmlformats.org/officeDocument/2006/relationships/image" Target="../media/image474.png"/><Relationship Id="rId17" Type="http://schemas.openxmlformats.org/officeDocument/2006/relationships/image" Target="../media/image475.png"/><Relationship Id="rId18" Type="http://schemas.openxmlformats.org/officeDocument/2006/relationships/image" Target="../media/image122.png"/><Relationship Id="rId19" Type="http://schemas.openxmlformats.org/officeDocument/2006/relationships/image" Target="../media/image476.png"/><Relationship Id="rId20" Type="http://schemas.openxmlformats.org/officeDocument/2006/relationships/image" Target="../media/image477.png"/><Relationship Id="rId21" Type="http://schemas.openxmlformats.org/officeDocument/2006/relationships/image" Target="../media/image478.png"/><Relationship Id="rId22"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chart" Target="../charts/chart68.xml"/><Relationship Id="rId5" Type="http://schemas.openxmlformats.org/officeDocument/2006/relationships/notesSlide" Target="../notesSlides/notesSlide105.xml"/><Relationship Id="rId6"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chart" Target="../charts/chart70.xml"/><Relationship Id="rId5" Type="http://schemas.openxmlformats.org/officeDocument/2006/relationships/chart" Target="../charts/chart71.xml"/><Relationship Id="rId6" Type="http://schemas.openxmlformats.org/officeDocument/2006/relationships/chart" Target="../charts/chart72.xml"/><Relationship Id="rId7" Type="http://schemas.openxmlformats.org/officeDocument/2006/relationships/notesSlide" Target="../notesSlides/notesSlide106.xml"/><Relationship Id="rId8"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chart" Target="../charts/chart74.xml"/><Relationship Id="rId5" Type="http://schemas.openxmlformats.org/officeDocument/2006/relationships/notesSlide" Target="../notesSlides/notesSlide107.xml"/><Relationship Id="rId6"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 Id="rId4"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notesSlide" Target="../notesSlides/notesSlide112.xml"/><Relationship Id="rId5"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 Id="rId4" Type="http://schemas.openxmlformats.org/officeDocument/2006/relationships/image" Target="../media/image509.png"/><Relationship Id="rId5" Type="http://schemas.openxmlformats.org/officeDocument/2006/relationships/image" Target="../media/image510.png"/><Relationship Id="rId6" Type="http://schemas.openxmlformats.org/officeDocument/2006/relationships/image" Target="../media/image246.png"/><Relationship Id="rId7" Type="http://schemas.openxmlformats.org/officeDocument/2006/relationships/image" Target="../media/image511.png"/><Relationship Id="rId8" Type="http://schemas.openxmlformats.org/officeDocument/2006/relationships/image" Target="../media/image512.png"/><Relationship Id="rId9" Type="http://schemas.openxmlformats.org/officeDocument/2006/relationships/image" Target="../media/image438.png"/><Relationship Id="rId10" Type="http://schemas.openxmlformats.org/officeDocument/2006/relationships/image" Target="../media/image513.png"/><Relationship Id="rId11" Type="http://schemas.openxmlformats.org/officeDocument/2006/relationships/image" Target="../media/image514.png"/><Relationship Id="rId12" Type="http://schemas.openxmlformats.org/officeDocument/2006/relationships/image" Target="../media/image169.png"/><Relationship Id="rId13" Type="http://schemas.openxmlformats.org/officeDocument/2006/relationships/image" Target="../media/image515.png"/><Relationship Id="rId14" Type="http://schemas.openxmlformats.org/officeDocument/2006/relationships/image" Target="../media/image516.png"/><Relationship Id="rId15"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 Id="rId4" Type="http://schemas.openxmlformats.org/officeDocument/2006/relationships/image" Target="../media/image517.png"/><Relationship Id="rId5" Type="http://schemas.openxmlformats.org/officeDocument/2006/relationships/image" Target="../media/image518.png"/><Relationship Id="rId6" Type="http://schemas.openxmlformats.org/officeDocument/2006/relationships/image" Target="../media/image519.png"/><Relationship Id="rId7" Type="http://schemas.openxmlformats.org/officeDocument/2006/relationships/image" Target="../media/image520.png"/><Relationship Id="rId8" Type="http://schemas.openxmlformats.org/officeDocument/2006/relationships/image" Target="../media/image521.png"/><Relationship Id="rId9" Type="http://schemas.openxmlformats.org/officeDocument/2006/relationships/image" Target="../media/image522.png"/><Relationship Id="rId10" Type="http://schemas.openxmlformats.org/officeDocument/2006/relationships/image" Target="../media/image523.png"/><Relationship Id="rId11" Type="http://schemas.openxmlformats.org/officeDocument/2006/relationships/image" Target="../media/image524.png"/><Relationship Id="rId12" Type="http://schemas.openxmlformats.org/officeDocument/2006/relationships/image" Target="../media/image67.png"/><Relationship Id="rId13" Type="http://schemas.openxmlformats.org/officeDocument/2006/relationships/image" Target="../media/image525.png"/><Relationship Id="rId14" Type="http://schemas.openxmlformats.org/officeDocument/2006/relationships/image" Target="../media/image526.png"/><Relationship Id="rId15" Type="http://schemas.openxmlformats.org/officeDocument/2006/relationships/image" Target="../media/image179.png"/><Relationship Id="rId16"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notesSlide" Target="../notesSlides/notesSlide119.xml"/><Relationship Id="rId6"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chart" Target="../charts/chart79.xml"/><Relationship Id="rId5" Type="http://schemas.openxmlformats.org/officeDocument/2006/relationships/chart" Target="../charts/chart80.xml"/><Relationship Id="rId6" Type="http://schemas.openxmlformats.org/officeDocument/2006/relationships/chart" Target="../charts/chart81.xml"/><Relationship Id="rId7" Type="http://schemas.openxmlformats.org/officeDocument/2006/relationships/notesSlide" Target="../notesSlides/notesSlide120.xml"/><Relationship Id="rId8"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chart" Target="../charts/chart84.xml"/><Relationship Id="rId6" Type="http://schemas.openxmlformats.org/officeDocument/2006/relationships/chart" Target="../charts/chart85.xml"/><Relationship Id="rId7" Type="http://schemas.openxmlformats.org/officeDocument/2006/relationships/notesSlide" Target="../notesSlides/notesSlide121.xml"/><Relationship Id="rId8"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 Id="rId4"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notesSlide" Target="../notesSlides/notesSlide126.xml"/><Relationship Id="rId5"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 Id="rId4"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 Id="rId4"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notesSlide" Target="../notesSlides/notesSlide133.xml"/><Relationship Id="rId5"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 Id="rId4"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 Id="rId4"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 Id="rId4"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8.xml"/><Relationship Id="rId4" Type="http://schemas.openxmlformats.org/officeDocument/2006/relationships/notesSlide" Target="../notesSlides/notesSlide138.xml"/><Relationship Id="rId5"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 Id="rId4"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chart" Target="../charts/chart90.xml"/><Relationship Id="rId5" Type="http://schemas.openxmlformats.org/officeDocument/2006/relationships/chart" Target="../charts/chart91.xml"/><Relationship Id="rId6" Type="http://schemas.openxmlformats.org/officeDocument/2006/relationships/chart" Target="../charts/chart92.xml"/><Relationship Id="rId7" Type="http://schemas.openxmlformats.org/officeDocument/2006/relationships/notesSlide" Target="../notesSlides/notesSlide142.xml"/><Relationship Id="rId8" Type="http://schemas.openxmlformats.org/officeDocument/2006/relationships/image" Target="../media/image2.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chart" Target="../charts/chart95.xml"/><Relationship Id="rId6" Type="http://schemas.openxmlformats.org/officeDocument/2006/relationships/chart" Target="../charts/chart96.xml"/><Relationship Id="rId7" Type="http://schemas.openxmlformats.org/officeDocument/2006/relationships/notesSlide" Target="../notesSlides/notesSlide143.xml"/><Relationship Id="rId8"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chart" Target="../charts/chart98.xml"/><Relationship Id="rId5" Type="http://schemas.openxmlformats.org/officeDocument/2006/relationships/chart" Target="../charts/chart99.xml"/><Relationship Id="rId6" Type="http://schemas.openxmlformats.org/officeDocument/2006/relationships/notesSlide" Target="../notesSlides/notesSlide144.xml"/><Relationship Id="rId7"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notesSlide" Target="../notesSlides/notesSlide145.xml"/><Relationship Id="rId6"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 Id="rId4" Type="http://schemas.openxmlformats.org/officeDocument/2006/relationships/image" Target="../media/image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2.xml"/><Relationship Id="rId4" Type="http://schemas.openxmlformats.org/officeDocument/2006/relationships/chart" Target="../charts/chart103.xml"/><Relationship Id="rId5" Type="http://schemas.openxmlformats.org/officeDocument/2006/relationships/notesSlide" Target="../notesSlides/notesSlide150.xml"/><Relationship Id="rId6"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 Id="rId4"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4.xml"/><Relationship Id="rId4" Type="http://schemas.openxmlformats.org/officeDocument/2006/relationships/chart" Target="../charts/chart105.xml"/><Relationship Id="rId5" Type="http://schemas.openxmlformats.org/officeDocument/2006/relationships/notesSlide" Target="../notesSlides/notesSlide155.xml"/><Relationship Id="rId6"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 Id="rId4"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 Id="rId4"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xml"/><Relationship Id="rId4" Type="http://schemas.openxmlformats.org/officeDocument/2006/relationships/chart" Target="../charts/chart107.xml"/><Relationship Id="rId5" Type="http://schemas.openxmlformats.org/officeDocument/2006/relationships/notesSlide" Target="../notesSlides/notesSlide164.xml"/><Relationship Id="rId6"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notesSlide" Target="../notesSlides/notesSlide165.xml"/><Relationship Id="rId5"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notesSlide" Target="../notesSlides/notesSlide166.xml"/><Relationship Id="rId5"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 Id="rId4"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 Id="rId4"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 Id="rId4"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 Id="rId4"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notesSlide" Target="../notesSlides/notesSlide201.xml"/><Relationship Id="rId5"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1.xml"/><Relationship Id="rId4" Type="http://schemas.openxmlformats.org/officeDocument/2006/relationships/chart" Target="../charts/chart112.xml"/><Relationship Id="rId5" Type="http://schemas.openxmlformats.org/officeDocument/2006/relationships/chart" Target="../charts/chart113.xml"/><Relationship Id="rId6" Type="http://schemas.openxmlformats.org/officeDocument/2006/relationships/notesSlide" Target="../notesSlides/notesSlide202.xml"/><Relationship Id="rId7"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4.xml"/><Relationship Id="rId4" Type="http://schemas.openxmlformats.org/officeDocument/2006/relationships/chart" Target="../charts/chart115.xml"/><Relationship Id="rId5" Type="http://schemas.openxmlformats.org/officeDocument/2006/relationships/chart" Target="../charts/chart116.xml"/><Relationship Id="rId6" Type="http://schemas.openxmlformats.org/officeDocument/2006/relationships/notesSlide" Target="../notesSlides/notesSlide203.xml"/><Relationship Id="rId7"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7.xml"/><Relationship Id="rId4" Type="http://schemas.openxmlformats.org/officeDocument/2006/relationships/chart" Target="../charts/chart118.xml"/><Relationship Id="rId5" Type="http://schemas.openxmlformats.org/officeDocument/2006/relationships/chart" Target="../charts/chart119.xml"/><Relationship Id="rId6" Type="http://schemas.openxmlformats.org/officeDocument/2006/relationships/notesSlide" Target="../notesSlides/notesSlide205.xml"/><Relationship Id="rId7"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0.xml"/><Relationship Id="rId4" Type="http://schemas.openxmlformats.org/officeDocument/2006/relationships/notesSlide" Target="../notesSlides/notesSlide206.xml"/><Relationship Id="rId5"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 Id="rId4"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2.jpg"/><Relationship Id="rId3" Type="http://schemas.openxmlformats.org/officeDocument/2006/relationships/image" Target="../media/image66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17">
            <a:extLst>
              <a:ext uri="{FF2B5EF4-FFF2-40B4-BE49-F238E27FC236}">
                <a16:creationId xmlns:a16="http://schemas.microsoft.com/office/drawing/2014/main" id="{A0C23977-F6BF-1BE4-6D85-57D27DB657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540" r="6551"/>
          <a:stretch/>
        </p:blipFill>
        <p:spPr>
          <a:xfrm>
            <a:off x="0" y="-1"/>
            <a:ext cx="12192000" cy="6858000"/>
          </a:xfrm>
          <a:prstGeom prst="rect">
            <a:avLst/>
          </a:prstGeom>
        </p:spPr>
      </p:pic>
      <p:pic>
        <p:nvPicPr>
          <p:cNvPr id="4"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28811" y="117564"/>
            <a:ext cx="1563189" cy="1172392"/>
          </a:xfrm>
          <a:prstGeom prst="rect">
            <a:avLst/>
          </a:prstGeom>
        </p:spPr>
      </p:pic>
      <p:sp>
        <p:nvSpPr>
          <p:cNvPr id="5" name="Rectangle 19"/>
          <p:cNvSpPr/>
          <p:nvPr userDrawn="1"/>
        </p:nvSpPr>
        <p:spPr bwMode="gray">
          <a:xfrm>
            <a:off x="161109" y="6503175"/>
            <a:ext cx="3372718" cy="169277"/>
          </a:xfrm>
          <a:prstGeom prst="rect">
            <a:avLst/>
          </a:prstGeom>
        </p:spPr>
        <p:txBody>
          <a:bodyPr wrap="none" lIns="0" tIns="0" rIns="0" bIns="0">
            <a:spAutoFit/>
          </a:bodyPr>
          <a:lstStyle/>
          <a:p>
            <a:pPr algn="l">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
        <p:nvSpPr>
          <p:cNvPr id="6" name="Cover bottom line"/>
          <p:cNvSpPr/>
          <p:nvPr/>
        </p:nvSpPr>
        <p:spPr>
          <a:xfrm>
            <a:off x="8622792" y="6172200"/>
            <a:ext cx="2651760" cy="22860"/>
          </a:xfrm>
          <a:prstGeom prst="rect">
            <a:avLst/>
          </a:prstGeom>
          <a:solidFill>
            <a:srgbClr val="3F7396"/>
          </a:solidFill>
          <a:ln>
            <a:noFill/>
          </a:ln>
        </p:spPr>
        <p:style>
          <a:lnRef idx="1">
            <a:srgbClr val="2A5F8F"/>
          </a:lnRef>
          <a:fillRef idx="3">
            <a:srgbClr val="2A5F8F"/>
          </a:fillRef>
          <a:effectRef idx="2">
            <a:srgbClr val="2A5F8F"/>
          </a:effectRef>
          <a:fontRef idx="minor">
            <a:srgbClr val="FFFFFF"/>
          </a:fontRef>
        </p:style>
        <p:txBody>
          <a:bodyPr rtlCol="0" anchor="ctr"/>
          <a:lstStyle/>
          <a:p>
            <a:pPr algn="ctr"/>
            <a:endParaRPr/>
          </a:p>
        </p:txBody>
      </p:sp>
      <p:sp>
        <p:nvSpPr>
          <p:cNvPr id="7" name="Title 1">
            <a:extLst>
              <a:ext uri="{FF2B5EF4-FFF2-40B4-BE49-F238E27FC236}">
                <a16:creationId xmlns:a16="http://schemas.microsoft.com/office/drawing/2014/main" id="{C7021366-A59A-8F49-E457-CE02C74158AB}"/>
              </a:ext>
            </a:extLst>
          </p:cNvPr>
          <p:cNvSpPr>
            <a:spLocks noGrp="1"/>
          </p:cNvSpPr>
          <p:nvPr/>
        </p:nvSpPr>
        <p:spPr bwMode="gray">
          <a:xfrm>
            <a:off x="2887038" y="1480455"/>
            <a:ext cx="9216989" cy="2114377"/>
          </a:xfrm>
        </p:spPr>
        <p:txBody>
          <a:bodyPr anchor="b">
            <a:noAutofit/>
          </a:bodyPr>
          <a:lstStyle>
            <a:lvl1pPr algn="l">
              <a:defRPr sz="3600" b="1">
                <a:solidFill>
                  <a:sysClr val="windowText" lastClr="000000"/>
                </a:solidFill>
                <a:latin typeface="Calibri" panose="020F0502020204030204" pitchFamily="34" charset="0"/>
                <a:cs typeface="Calibri" panose="020F0502020204030204" pitchFamily="34" charset="0"/>
              </a:defRPr>
            </a:lvl1pPr>
          </a:lstStyle>
          <a:p>
            <a:r>
              <a:rPr lang="en-US" noProof="0" dirty="0" sz="3600"/>
              <a:t>Foam Protective Packaging Market</a:t>
            </a:r>
            <a:endParaRPr lang="en-GB" noProof="0" dirty="0"/>
          </a:p>
        </p:txBody>
      </p:sp>
      <p:sp>
        <p:nvSpPr>
          <p:cNvPr id="8" name="Subtitle 2">
            <a:extLst>
              <a:ext uri="{FF2B5EF4-FFF2-40B4-BE49-F238E27FC236}">
                <a16:creationId xmlns:a16="http://schemas.microsoft.com/office/drawing/2014/main" id="{892EDD5C-8176-C4BE-C570-D3D16C8D35E6}"/>
              </a:ext>
            </a:extLst>
          </p:cNvPr>
          <p:cNvSpPr>
            <a:spLocks noGrp="1"/>
          </p:cNvSpPr>
          <p:nvPr/>
        </p:nvSpPr>
        <p:spPr bwMode="gray">
          <a:xfrm>
            <a:off x="2887038" y="3612121"/>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a:t>Global Industry Analysis 2021–2025 and Opportunity Assessment, 2026–2036</a:t>
            </a:r>
            <a:endParaRPr lang="en-GB" sz="2000" noProof="0" dirty="0"/>
          </a:p>
        </p:txBody>
      </p:sp>
      <p:sp>
        <p:nvSpPr>
          <p:cNvPr id="8" name="Front Page Tag">
            <a:extLst>
              <a:ext uri="{FF2B5EF4-FFF2-40B4-BE49-F238E27FC236}">
                <a16:creationId xmlns:a16="http://schemas.microsoft.com/office/drawing/2014/main" id="{892EDD5C-8176-C4BE-C570-D3D16C8D35E6}"/>
              </a:ext>
            </a:extLst>
          </p:cNvPr>
          <p:cNvSpPr>
            <a:spLocks noGrp="1"/>
          </p:cNvSpPr>
          <p:nvPr/>
        </p:nvSpPr>
        <p:spPr bwMode="gray">
          <a:xfrm>
            <a:off x="2887038" y="2450000"/>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b="1">
                <a:solidFill>
                  <a:srgbClr val="0070C0"/>
                </a:solidFill>
              </a:rPr>
              <a:t>Sample Report | 2026</a:t>
            </a:r>
            <a:endParaRPr lang="en-GB" sz="2000" noProof="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7" name="Rounded Rectangle 6">
            <a:hlinkClick action="ppaction://hlinksldjump" r:id="rId3"/>
          </p:cNvPr>
          <p:cNvSpPr/>
          <p:nvPr/>
        </p:nvSpPr>
        <p:spPr>
          <a:xfrm>
            <a:off x="314325" y="113503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 Market Signals</a:t>
            </a:r>
          </a:p>
        </p:txBody>
      </p:sp>
      <p:sp>
        <p:nvSpPr>
          <p:cNvPr id="8" name="Rounded Rectangle 7">
            <a:hlinkClick action="ppaction://hlinksldjump" r:id="rId4"/>
          </p:cNvPr>
          <p:cNvSpPr/>
          <p:nvPr/>
        </p:nvSpPr>
        <p:spPr>
          <a:xfrm>
            <a:off x="142875" y="1494026"/>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Overview</a:t>
            </a:r>
          </a:p>
        </p:txBody>
      </p:sp>
      <p:sp>
        <p:nvSpPr>
          <p:cNvPr id="9" name="Rounded Rectangle 8">
            <a:hlinkClick action="ppaction://hlinksldjump" r:id="rId5"/>
          </p:cNvPr>
          <p:cNvSpPr/>
          <p:nvPr/>
        </p:nvSpPr>
        <p:spPr>
          <a:xfrm>
            <a:off x="314325" y="186822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2. Market Taxonomy</a:t>
            </a:r>
          </a:p>
        </p:txBody>
      </p:sp>
      <p:sp>
        <p:nvSpPr>
          <p:cNvPr id="10" name="Rounded Rectangle 9">
            <a:hlinkClick action="ppaction://hlinksldjump" r:id="rId6"/>
          </p:cNvPr>
          <p:cNvSpPr/>
          <p:nvPr/>
        </p:nvSpPr>
        <p:spPr>
          <a:xfrm>
            <a:off x="314325" y="222721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3. Table of Contents</a:t>
            </a:r>
          </a:p>
        </p:txBody>
      </p:sp>
      <p:sp>
        <p:nvSpPr>
          <p:cNvPr id="11" name="Rounded Rectangle 10">
            <a:hlinkClick action="ppaction://hlinksldjump" r:id="rId7"/>
          </p:cNvPr>
          <p:cNvSpPr/>
          <p:nvPr/>
        </p:nvSpPr>
        <p:spPr>
          <a:xfrm>
            <a:off x="314325" y="2586205"/>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4. List of Figures, List of Tables</a:t>
            </a:r>
          </a:p>
        </p:txBody>
      </p:sp>
      <p:sp>
        <p:nvSpPr>
          <p:cNvPr id="12" name="Rounded Rectangle 11">
            <a:hlinkClick action="ppaction://hlinksldjump" r:id="rId8"/>
          </p:cNvPr>
          <p:cNvSpPr/>
          <p:nvPr/>
        </p:nvSpPr>
        <p:spPr>
          <a:xfrm>
            <a:off x="142875" y="2945194"/>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Global Market Outlook</a:t>
            </a:r>
          </a:p>
        </p:txBody>
      </p:sp>
      <p:sp>
        <p:nvSpPr>
          <p:cNvPr id="13" name="Rounded Rectangle 12">
            <a:hlinkClick action="ppaction://hlinksldjump" r:id="rId9"/>
          </p:cNvPr>
          <p:cNvSpPr/>
          <p:nvPr/>
        </p:nvSpPr>
        <p:spPr>
          <a:xfrm>
            <a:off x="314325" y="3319395"/>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5. Foam Protective Packaging Market Global Overview</a:t>
            </a:r>
          </a:p>
        </p:txBody>
      </p:sp>
      <p:sp>
        <p:nvSpPr>
          <p:cNvPr id="14" name="Rounded Rectangle 13">
            <a:hlinkClick action="ppaction://hlinksldjump" r:id="rId10"/>
          </p:cNvPr>
          <p:cNvSpPr/>
          <p:nvPr/>
        </p:nvSpPr>
        <p:spPr>
          <a:xfrm>
            <a:off x="314325" y="3678384"/>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6. Global Market Analysis By Region</a:t>
            </a:r>
          </a:p>
        </p:txBody>
      </p:sp>
      <p:sp>
        <p:nvSpPr>
          <p:cNvPr id="15" name="Rounded Rectangle 14">
            <a:hlinkClick action="ppaction://hlinksldjump" r:id="rId11"/>
          </p:cNvPr>
          <p:cNvSpPr/>
          <p:nvPr/>
        </p:nvSpPr>
        <p:spPr>
          <a:xfrm>
            <a:off x="314325" y="4037373"/>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7. Global Market Analysis By Segments</a:t>
            </a:r>
          </a:p>
        </p:txBody>
      </p:sp>
      <p:sp>
        <p:nvSpPr>
          <p:cNvPr id="16" name="Rounded Rectangle 15">
            <a:hlinkClick action="ppaction://hlinksldjump" r:id="rId12"/>
          </p:cNvPr>
          <p:cNvSpPr/>
          <p:nvPr/>
        </p:nvSpPr>
        <p:spPr>
          <a:xfrm>
            <a:off x="314325" y="4396362"/>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8. Cross-sectional Assessment</a:t>
            </a:r>
          </a:p>
        </p:txBody>
      </p:sp>
      <p:sp>
        <p:nvSpPr>
          <p:cNvPr id="17" name="Rounded Rectangle 16">
            <a:hlinkClick action="ppaction://hlinksldjump" r:id="rId13"/>
          </p:cNvPr>
          <p:cNvSpPr/>
          <p:nvPr/>
        </p:nvSpPr>
        <p:spPr>
          <a:xfrm>
            <a:off x="142875" y="4755351"/>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North America Market Outlook</a:t>
            </a:r>
          </a:p>
        </p:txBody>
      </p:sp>
      <p:sp>
        <p:nvSpPr>
          <p:cNvPr id="18" name="Rounded Rectangle 17">
            <a:hlinkClick action="ppaction://hlinksldjump" r:id="rId14"/>
          </p:cNvPr>
          <p:cNvSpPr/>
          <p:nvPr/>
        </p:nvSpPr>
        <p:spPr>
          <a:xfrm>
            <a:off x="314325" y="5129552"/>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9. North America Overview</a:t>
            </a:r>
          </a:p>
        </p:txBody>
      </p:sp>
      <p:sp>
        <p:nvSpPr>
          <p:cNvPr id="19" name="Rounded Rectangle 18">
            <a:hlinkClick action="ppaction://hlinksldjump" r:id="rId15"/>
          </p:cNvPr>
          <p:cNvSpPr/>
          <p:nvPr/>
        </p:nvSpPr>
        <p:spPr>
          <a:xfrm>
            <a:off x="314325" y="5488541"/>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10. North America Market Analysis By Country</a:t>
            </a:r>
          </a:p>
        </p:txBody>
      </p:sp>
      <p:sp>
        <p:nvSpPr>
          <p:cNvPr id="20" name="Rounded Rectangle 19">
            <a:hlinkClick action="ppaction://hlinksldjump" r:id="rId16"/>
          </p:cNvPr>
          <p:cNvSpPr/>
          <p:nvPr/>
        </p:nvSpPr>
        <p:spPr>
          <a:xfrm>
            <a:off x="314325" y="5847530"/>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11. North America Market Analysis By Segments</a:t>
            </a:r>
          </a:p>
        </p:txBody>
      </p:sp>
      <p:sp>
        <p:nvSpPr>
          <p:cNvPr id="21" name="Rounded Rectangle 20">
            <a:hlinkClick action="ppaction://hlinksldjump" r:id="rId17"/>
          </p:cNvPr>
          <p:cNvSpPr/>
          <p:nvPr/>
        </p:nvSpPr>
        <p:spPr>
          <a:xfrm>
            <a:off x="314325" y="6206519"/>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12. Cross-sectional Assessment</a:t>
            </a:r>
          </a:p>
        </p:txBody>
      </p:sp>
      <p:sp>
        <p:nvSpPr>
          <p:cNvPr id="22" name="Rounded Rectangle 21">
            <a:hlinkClick action="ppaction://hlinksldjump" r:id="rId18"/>
          </p:cNvPr>
          <p:cNvSpPr/>
          <p:nvPr/>
        </p:nvSpPr>
        <p:spPr>
          <a:xfrm>
            <a:off x="6219825" y="1135037"/>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Country Market Outlook</a:t>
            </a:r>
          </a:p>
        </p:txBody>
      </p:sp>
      <p:sp>
        <p:nvSpPr>
          <p:cNvPr id="23" name="Rounded Rectangle 22">
            <a:hlinkClick action="ppaction://hlinksldjump" r:id="rId19"/>
          </p:cNvPr>
          <p:cNvSpPr/>
          <p:nvPr/>
        </p:nvSpPr>
        <p:spPr>
          <a:xfrm>
            <a:off x="6391275" y="1509238"/>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13. Foam Protective Packaging Market Overview (Volume &amp; Value)</a:t>
            </a:r>
          </a:p>
        </p:txBody>
      </p:sp>
      <p:sp>
        <p:nvSpPr>
          <p:cNvPr id="24" name="Rounded Rectangle 23">
            <a:hlinkClick action="ppaction://hlinksldjump" r:id="rId20"/>
          </p:cNvPr>
          <p:cNvSpPr/>
          <p:nvPr/>
        </p:nvSpPr>
        <p:spPr>
          <a:xfrm>
            <a:off x="6391275" y="186822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14. Segment Overview (Volume &amp; Value)</a:t>
            </a:r>
          </a:p>
        </p:txBody>
      </p:sp>
      <p:sp>
        <p:nvSpPr>
          <p:cNvPr id="25" name="Rounded Rectangle 24">
            <a:hlinkClick action="ppaction://hlinksldjump" r:id="rId21"/>
          </p:cNvPr>
          <p:cNvSpPr/>
          <p:nvPr/>
        </p:nvSpPr>
        <p:spPr>
          <a:xfrm>
            <a:off x="6219825" y="2227216"/>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Pricing Assessment</a:t>
            </a:r>
          </a:p>
        </p:txBody>
      </p:sp>
      <p:sp>
        <p:nvSpPr>
          <p:cNvPr id="26" name="Rounded Rectangle 25">
            <a:hlinkClick action="ppaction://hlinksldjump" r:id="rId22"/>
          </p:cNvPr>
          <p:cNvSpPr/>
          <p:nvPr/>
        </p:nvSpPr>
        <p:spPr>
          <a:xfrm>
            <a:off x="6391275" y="2601417"/>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15. Foam Protective Packaging Market Pricing Analysis</a:t>
            </a:r>
          </a:p>
        </p:txBody>
      </p:sp>
      <p:sp>
        <p:nvSpPr>
          <p:cNvPr id="27" name="Rounded Rectangle 26">
            <a:hlinkClick action="ppaction://hlinksldjump" r:id="rId23"/>
          </p:cNvPr>
          <p:cNvSpPr/>
          <p:nvPr/>
        </p:nvSpPr>
        <p:spPr>
          <a:xfrm>
            <a:off x="6391275" y="296040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16. Supply Chain Analysis</a:t>
            </a:r>
          </a:p>
        </p:txBody>
      </p:sp>
      <p:sp>
        <p:nvSpPr>
          <p:cNvPr id="28" name="Rounded Rectangle 27">
            <a:hlinkClick action="ppaction://hlinksldjump" r:id="rId24"/>
          </p:cNvPr>
          <p:cNvSpPr/>
          <p:nvPr/>
        </p:nvSpPr>
        <p:spPr>
          <a:xfrm>
            <a:off x="6219825" y="331939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Dynamics</a:t>
            </a:r>
          </a:p>
        </p:txBody>
      </p:sp>
      <p:sp>
        <p:nvSpPr>
          <p:cNvPr id="29" name="Rounded Rectangle 28">
            <a:hlinkClick action="ppaction://hlinksldjump" r:id="rId25"/>
          </p:cNvPr>
          <p:cNvSpPr/>
          <p:nvPr/>
        </p:nvSpPr>
        <p:spPr>
          <a:xfrm>
            <a:off x="6391275" y="369359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17. Market Dynamics &amp; Forces</a:t>
            </a:r>
          </a:p>
        </p:txBody>
      </p:sp>
      <p:sp>
        <p:nvSpPr>
          <p:cNvPr id="30" name="Rounded Rectangle 29">
            <a:hlinkClick action="ppaction://hlinksldjump" r:id="rId26"/>
          </p:cNvPr>
          <p:cNvSpPr/>
          <p:nvPr/>
        </p:nvSpPr>
        <p:spPr>
          <a:xfrm>
            <a:off x="6219825" y="405258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Competition Assessment</a:t>
            </a:r>
          </a:p>
        </p:txBody>
      </p:sp>
      <p:sp>
        <p:nvSpPr>
          <p:cNvPr id="31" name="Rounded Rectangle 30">
            <a:hlinkClick action="ppaction://hlinksldjump" r:id="rId27"/>
          </p:cNvPr>
          <p:cNvSpPr/>
          <p:nvPr/>
        </p:nvSpPr>
        <p:spPr>
          <a:xfrm>
            <a:off x="6391275" y="5144764"/>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20. Competitive Landscape</a:t>
            </a:r>
          </a:p>
        </p:txBody>
      </p:sp>
      <p:sp>
        <p:nvSpPr>
          <p:cNvPr id="32" name="Rounded Rectangle 31">
            <a:hlinkClick action="ppaction://hlinksldjump" r:id="rId28"/>
          </p:cNvPr>
          <p:cNvSpPr/>
          <p:nvPr/>
        </p:nvSpPr>
        <p:spPr>
          <a:xfrm>
            <a:off x="6391275" y="4426786"/>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18. Market Share by Leading Players</a:t>
            </a:r>
          </a:p>
        </p:txBody>
      </p:sp>
      <p:sp>
        <p:nvSpPr>
          <p:cNvPr id="33" name="Rounded Rectangle 32">
            <a:hlinkClick action="ppaction://hlinksldjump" r:id="rId29"/>
          </p:cNvPr>
          <p:cNvSpPr/>
          <p:nvPr/>
        </p:nvSpPr>
        <p:spPr>
          <a:xfrm>
            <a:off x="6391275" y="4785775"/>
            <a:ext cx="5657850" cy="295101"/>
          </a:xfrm>
          <a:prstGeom prst="roundRect">
            <a:avLst>
              <a:gd name="adj" fmla="val 2474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19. Company Profiles &amp; Strategic Benchmarking</a:t>
            </a:r>
          </a:p>
        </p:txBody>
      </p:sp>
      <p:sp>
        <p:nvSpPr>
          <p:cNvPr id="34" name="Rectangle 3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Foam Protective Packaging Demand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Foam Protective Packaging demand, the evidence behind each and what it implies for the global market</a:t>
            </a:r>
          </a:p>
        </p:txBody>
      </p:sp>
      <p:graphicFrame>
        <p:nvGraphicFramePr>
          <p:cNvPr id="7" name="Table 6"/>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E2A5C"/>
                          </a:solidFill>
                          <a:latin typeface="Calibri"/>
                        </a:rPr>
                        <a:t>QUESTIONS WE'RE HEARING</a:t>
                      </a:r>
                    </a:p>
                  </a:txBody>
                  <a:tcPr marL="70000" marR="70000" marT="45000" marB="45000" anchor="ctr">
                    <a:solidFill>
                      <a:srgbClr val="EBF2F9"/>
                    </a:solidFill>
                  </a:tcPr>
                </a:tc>
                <a:tc>
                  <a:txBody>
                    <a:bodyPr wrap="square"/>
                    <a:lstStyle/>
                    <a:p>
                      <a:pPr algn="l"/>
                      <a:r>
                        <a:rPr sz="1100" b="1">
                          <a:solidFill>
                            <a:srgbClr val="0E2A5C"/>
                          </a:solidFill>
                          <a:latin typeface="Calibri"/>
                        </a:rPr>
                        <a:t>WHAT WE'RE OBSERVING</a:t>
                      </a:r>
                    </a:p>
                  </a:txBody>
                  <a:tcPr marL="70000" marR="70000" marT="45000" marB="45000" anchor="ctr">
                    <a:solidFill>
                      <a:srgbClr val="EBF2F9"/>
                    </a:solidFill>
                  </a:tcPr>
                </a:tc>
                <a:tc>
                  <a:txBody>
                    <a:bodyPr wrap="square"/>
                    <a:lstStyle/>
                    <a:p>
                      <a:pPr algn="l"/>
                      <a:r>
                        <a:rPr sz="1100" b="1">
                          <a:solidFill>
                            <a:srgbClr val="0E2A5C"/>
                          </a:solidFill>
                          <a:latin typeface="Calibri"/>
                        </a:rPr>
                        <a:t>SELECT DATA POINTS</a:t>
                      </a:r>
                    </a:p>
                  </a:txBody>
                  <a:tcPr marL="70000" marR="70000" marT="45000" marB="45000" anchor="ctr">
                    <a:solidFill>
                      <a:srgbClr val="EBF2F9"/>
                    </a:solidFill>
                  </a:tcPr>
                </a:tc>
              </a:tr>
              <a:tr h="1040461">
                <a:tc>
                  <a:txBody>
                    <a:bodyPr wrap="square"/>
                    <a:lstStyle/>
                    <a:p>
                      <a:pPr algn="l"/>
                      <a:r>
                        <a:rPr sz="1100" b="1">
                          <a:solidFill>
                            <a:srgbClr val="0E2A5C"/>
                          </a:solidFill>
                          <a:latin typeface="Calibri"/>
                        </a:rPr>
                        <a:t>How fast is Foam Protective Packaging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material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regions will drive the next wave of Foam Protective Packaging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0" name="TextBox 9"/>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1" name="Picture 10" descr="lock.png"/>
          <p:cNvPicPr>
            <a:picLocks noChangeAspect="1"/>
          </p:cNvPicPr>
          <p:nvPr/>
        </p:nvPicPr>
        <p:blipFill>
          <a:blip r:embed="rId4"/>
          <a:stretch>
            <a:fillRect/>
          </a:stretch>
        </p:blipFill>
        <p:spPr>
          <a:xfrm>
            <a:off x="5422645" y="1751653"/>
            <a:ext cx="128699" cy="187198"/>
          </a:xfrm>
          <a:prstGeom prst="rect">
            <a:avLst/>
          </a:prstGeom>
        </p:spPr>
      </p:pic>
      <p:sp>
        <p:nvSpPr>
          <p:cNvPr id="12" name="TextBox 11"/>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3" name="Picture 12" descr="lock.png"/>
          <p:cNvPicPr>
            <a:picLocks noChangeAspect="1"/>
          </p:cNvPicPr>
          <p:nvPr/>
        </p:nvPicPr>
        <p:blipFill>
          <a:blip r:embed="rId4"/>
          <a:stretch>
            <a:fillRect/>
          </a:stretch>
        </p:blipFill>
        <p:spPr>
          <a:xfrm>
            <a:off x="8246302" y="1751653"/>
            <a:ext cx="128699" cy="187198"/>
          </a:xfrm>
          <a:prstGeom prst="rect">
            <a:avLst/>
          </a:prstGeom>
        </p:spPr>
      </p:pic>
      <p:sp>
        <p:nvSpPr>
          <p:cNvPr id="14" name="TextBox 13"/>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5" name="Picture 14" descr="lock.png"/>
          <p:cNvPicPr>
            <a:picLocks noChangeAspect="1"/>
          </p:cNvPicPr>
          <p:nvPr/>
        </p:nvPicPr>
        <p:blipFill>
          <a:blip r:embed="rId4"/>
          <a:stretch>
            <a:fillRect/>
          </a:stretch>
        </p:blipFill>
        <p:spPr>
          <a:xfrm>
            <a:off x="10214228" y="1689042"/>
            <a:ext cx="330041" cy="480060"/>
          </a:xfrm>
          <a:prstGeom prst="rect">
            <a:avLst/>
          </a:prstGeom>
        </p:spPr>
      </p:pic>
      <p:sp>
        <p:nvSpPr>
          <p:cNvPr id="16" name="TextBox 15"/>
          <p:cNvSpPr txBox="1"/>
          <p:nvPr/>
        </p:nvSpPr>
        <p:spPr>
          <a:xfrm>
            <a:off x="3784750" y="2801893"/>
            <a:ext cx="2653798" cy="186689"/>
          </a:xfrm>
          <a:prstGeom prst="rect">
            <a:avLst/>
          </a:prstGeom>
          <a:noFill/>
        </p:spPr>
        <p:txBody>
          <a:bodyPr wrap="none" lIns="0" rIns="0" tIns="0" bIns="0">
            <a:spAutoFit/>
          </a:bodyPr>
          <a:lstStyle/>
          <a:p>
            <a:r>
              <a:rPr sz="1100" b="0">
                <a:solidFill>
                  <a:srgbClr val="2E2E2E"/>
                </a:solidFill>
                <a:latin typeface="Calibri"/>
              </a:rPr>
              <a:t>Other Foam Materials leads Material Type, at</a:t>
            </a:r>
          </a:p>
        </p:txBody>
      </p:sp>
      <p:pic>
        <p:nvPicPr>
          <p:cNvPr id="17" name="Picture 16" descr="lock.png"/>
          <p:cNvPicPr>
            <a:picLocks noChangeAspect="1"/>
          </p:cNvPicPr>
          <p:nvPr/>
        </p:nvPicPr>
        <p:blipFill>
          <a:blip r:embed="rId4"/>
          <a:stretch>
            <a:fillRect/>
          </a:stretch>
        </p:blipFill>
        <p:spPr>
          <a:xfrm>
            <a:off x="6386600" y="2792114"/>
            <a:ext cx="128699" cy="187198"/>
          </a:xfrm>
          <a:prstGeom prst="rect">
            <a:avLst/>
          </a:prstGeom>
        </p:spPr>
      </p:pic>
      <p:sp>
        <p:nvSpPr>
          <p:cNvPr id="18" name="TextBox 17"/>
          <p:cNvSpPr txBox="1"/>
          <p:nvPr/>
        </p:nvSpPr>
        <p:spPr>
          <a:xfrm>
            <a:off x="6554096" y="2801893"/>
            <a:ext cx="1854100" cy="186689"/>
          </a:xfrm>
          <a:prstGeom prst="rect">
            <a:avLst/>
          </a:prstGeom>
          <a:noFill/>
        </p:spPr>
        <p:txBody>
          <a:bodyPr wrap="none" lIns="0" rIns="0" tIns="0" bIns="0">
            <a:spAutoFit/>
          </a:bodyPr>
          <a:lstStyle/>
          <a:p>
            <a:r>
              <a:rPr sz="1100" b="0">
                <a:solidFill>
                  <a:srgbClr val="2E2E2E"/>
                </a:solidFill>
                <a:latin typeface="Calibri"/>
              </a:rPr>
              <a:t>of 2036 value, within a mix of 5</a:t>
            </a:r>
          </a:p>
        </p:txBody>
      </p:sp>
      <p:sp>
        <p:nvSpPr>
          <p:cNvPr id="19" name="TextBox 18"/>
          <p:cNvSpPr txBox="1"/>
          <p:nvPr/>
        </p:nvSpPr>
        <p:spPr>
          <a:xfrm>
            <a:off x="3784750" y="2969533"/>
            <a:ext cx="1158602" cy="186689"/>
          </a:xfrm>
          <a:prstGeom prst="rect">
            <a:avLst/>
          </a:prstGeom>
          <a:noFill/>
        </p:spPr>
        <p:txBody>
          <a:bodyPr wrap="none" lIns="0" rIns="0" tIns="0" bIns="0">
            <a:spAutoFit/>
          </a:bodyPr>
          <a:lstStyle/>
          <a:p>
            <a:r>
              <a:rPr sz="1100" b="0">
                <a:solidFill>
                  <a:srgbClr val="2E2E2E"/>
                </a:solidFill>
                <a:latin typeface="Calibri"/>
              </a:rPr>
              <a:t>tracked categories.</a:t>
            </a:r>
          </a:p>
        </p:txBody>
      </p:sp>
      <p:sp>
        <p:nvSpPr>
          <p:cNvPr id="20" name="TextBox 19"/>
          <p:cNvSpPr txBox="1"/>
          <p:nvPr/>
        </p:nvSpPr>
        <p:spPr>
          <a:xfrm>
            <a:off x="8785375" y="2885713"/>
            <a:ext cx="1728832" cy="186689"/>
          </a:xfrm>
          <a:prstGeom prst="rect">
            <a:avLst/>
          </a:prstGeom>
          <a:noFill/>
        </p:spPr>
        <p:txBody>
          <a:bodyPr wrap="none" lIns="0" rIns="0" tIns="0" bIns="0">
            <a:spAutoFit/>
          </a:bodyPr>
          <a:lstStyle/>
          <a:p>
            <a:r>
              <a:rPr sz="1100" b="0">
                <a:solidFill>
                  <a:srgbClr val="2E2E2E"/>
                </a:solidFill>
                <a:latin typeface="Calibri"/>
              </a:rPr>
              <a:t>Lead: Other Foam Materials ·</a:t>
            </a:r>
          </a:p>
        </p:txBody>
      </p:sp>
      <p:pic>
        <p:nvPicPr>
          <p:cNvPr id="21" name="Picture 20" descr="lock.png"/>
          <p:cNvPicPr>
            <a:picLocks noChangeAspect="1"/>
          </p:cNvPicPr>
          <p:nvPr/>
        </p:nvPicPr>
        <p:blipFill>
          <a:blip r:embed="rId4"/>
          <a:stretch>
            <a:fillRect/>
          </a:stretch>
        </p:blipFill>
        <p:spPr>
          <a:xfrm>
            <a:off x="10462258" y="2875934"/>
            <a:ext cx="128699" cy="187198"/>
          </a:xfrm>
          <a:prstGeom prst="rect">
            <a:avLst/>
          </a:prstGeom>
        </p:spPr>
      </p:pic>
      <p:sp>
        <p:nvSpPr>
          <p:cNvPr id="22" name="TextBox 21"/>
          <p:cNvSpPr txBox="1"/>
          <p:nvPr/>
        </p:nvSpPr>
        <p:spPr>
          <a:xfrm>
            <a:off x="10629754" y="2885713"/>
            <a:ext cx="789433" cy="186689"/>
          </a:xfrm>
          <a:prstGeom prst="rect">
            <a:avLst/>
          </a:prstGeom>
          <a:noFill/>
        </p:spPr>
        <p:txBody>
          <a:bodyPr wrap="none" lIns="0" rIns="0" tIns="0" bIns="0">
            <a:spAutoFit/>
          </a:bodyPr>
          <a:lstStyle/>
          <a:p>
            <a:r>
              <a:rPr sz="1100" b="0">
                <a:solidFill>
                  <a:srgbClr val="2E2E2E"/>
                </a:solidFill>
                <a:latin typeface="Calibri"/>
              </a:rPr>
              <a:t>share (2036)</a:t>
            </a:r>
          </a:p>
        </p:txBody>
      </p:sp>
      <p:sp>
        <p:nvSpPr>
          <p:cNvPr id="23" name="TextBox 22"/>
          <p:cNvSpPr txBox="1"/>
          <p:nvPr/>
        </p:nvSpPr>
        <p:spPr>
          <a:xfrm>
            <a:off x="3784750" y="3842354"/>
            <a:ext cx="3400077" cy="186689"/>
          </a:xfrm>
          <a:prstGeom prst="rect">
            <a:avLst/>
          </a:prstGeom>
          <a:noFill/>
        </p:spPr>
        <p:txBody>
          <a:bodyPr wrap="none" lIns="0" rIns="0" tIns="0" bIns="0">
            <a:spAutoFit/>
          </a:bodyPr>
          <a:lstStyle/>
          <a:p>
            <a:r>
              <a:rPr sz="1100" b="0">
                <a:solidFill>
                  <a:srgbClr val="2E2E2E"/>
                </a:solidFill>
                <a:latin typeface="Calibri"/>
              </a:rPr>
              <a:t>Others is the fastest-growing part of End-use Industry, at a</a:t>
            </a:r>
          </a:p>
        </p:txBody>
      </p:sp>
      <p:pic>
        <p:nvPicPr>
          <p:cNvPr id="24" name="Picture 23" descr="lock.png"/>
          <p:cNvPicPr>
            <a:picLocks noChangeAspect="1"/>
          </p:cNvPicPr>
          <p:nvPr/>
        </p:nvPicPr>
        <p:blipFill>
          <a:blip r:embed="rId4"/>
          <a:stretch>
            <a:fillRect/>
          </a:stretch>
        </p:blipFill>
        <p:spPr>
          <a:xfrm>
            <a:off x="7132879" y="3832575"/>
            <a:ext cx="128699" cy="187198"/>
          </a:xfrm>
          <a:prstGeom prst="rect">
            <a:avLst/>
          </a:prstGeom>
        </p:spPr>
      </p:pic>
      <p:sp>
        <p:nvSpPr>
          <p:cNvPr id="25" name="TextBox 24"/>
          <p:cNvSpPr txBox="1"/>
          <p:nvPr/>
        </p:nvSpPr>
        <p:spPr>
          <a:xfrm>
            <a:off x="7300375" y="3842354"/>
            <a:ext cx="889280"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26" name="TextBox 25"/>
          <p:cNvSpPr txBox="1"/>
          <p:nvPr/>
        </p:nvSpPr>
        <p:spPr>
          <a:xfrm>
            <a:off x="3784750" y="4009994"/>
            <a:ext cx="1692299" cy="186689"/>
          </a:xfrm>
          <a:prstGeom prst="rect">
            <a:avLst/>
          </a:prstGeom>
          <a:noFill/>
        </p:spPr>
        <p:txBody>
          <a:bodyPr wrap="none" lIns="0" rIns="0" tIns="0" bIns="0">
            <a:spAutoFit/>
          </a:bodyPr>
          <a:lstStyle/>
          <a:p>
            <a:r>
              <a:rPr sz="1100" b="0">
                <a:solidFill>
                  <a:srgbClr val="2E2E2E"/>
                </a:solidFill>
                <a:latin typeface="Calibri"/>
              </a:rPr>
              <a:t>outpacing the wider market.</a:t>
            </a:r>
          </a:p>
        </p:txBody>
      </p:sp>
      <p:sp>
        <p:nvSpPr>
          <p:cNvPr id="27" name="TextBox 26"/>
          <p:cNvSpPr txBox="1"/>
          <p:nvPr/>
        </p:nvSpPr>
        <p:spPr>
          <a:xfrm>
            <a:off x="8785375" y="3926174"/>
            <a:ext cx="1001379" cy="186689"/>
          </a:xfrm>
          <a:prstGeom prst="rect">
            <a:avLst/>
          </a:prstGeom>
          <a:noFill/>
        </p:spPr>
        <p:txBody>
          <a:bodyPr wrap="none" lIns="0" rIns="0" tIns="0" bIns="0">
            <a:spAutoFit/>
          </a:bodyPr>
          <a:lstStyle/>
          <a:p>
            <a:r>
              <a:rPr sz="1100" b="0">
                <a:solidFill>
                  <a:srgbClr val="2E2E2E"/>
                </a:solidFill>
                <a:latin typeface="Calibri"/>
              </a:rPr>
              <a:t>Fastest: Others ·</a:t>
            </a:r>
          </a:p>
        </p:txBody>
      </p:sp>
      <p:pic>
        <p:nvPicPr>
          <p:cNvPr id="28" name="Picture 27" descr="lock.png"/>
          <p:cNvPicPr>
            <a:picLocks noChangeAspect="1"/>
          </p:cNvPicPr>
          <p:nvPr/>
        </p:nvPicPr>
        <p:blipFill>
          <a:blip r:embed="rId4"/>
          <a:stretch>
            <a:fillRect/>
          </a:stretch>
        </p:blipFill>
        <p:spPr>
          <a:xfrm>
            <a:off x="9734806" y="3916395"/>
            <a:ext cx="128699" cy="187198"/>
          </a:xfrm>
          <a:prstGeom prst="rect">
            <a:avLst/>
          </a:prstGeom>
        </p:spPr>
      </p:pic>
      <p:sp>
        <p:nvSpPr>
          <p:cNvPr id="29" name="TextBox 28"/>
          <p:cNvSpPr txBox="1"/>
          <p:nvPr/>
        </p:nvSpPr>
        <p:spPr>
          <a:xfrm>
            <a:off x="9902302"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0" name="TextBox 29"/>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1" name="Picture 30" descr="lock.png"/>
          <p:cNvPicPr>
            <a:picLocks noChangeAspect="1"/>
          </p:cNvPicPr>
          <p:nvPr/>
        </p:nvPicPr>
        <p:blipFill>
          <a:blip r:embed="rId4"/>
          <a:stretch>
            <a:fillRect/>
          </a:stretch>
        </p:blipFill>
        <p:spPr>
          <a:xfrm>
            <a:off x="6406275" y="4873036"/>
            <a:ext cx="128699" cy="187198"/>
          </a:xfrm>
          <a:prstGeom prst="rect">
            <a:avLst/>
          </a:prstGeom>
        </p:spPr>
      </p:pic>
      <p:sp>
        <p:nvSpPr>
          <p:cNvPr id="32" name="TextBox 31"/>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3" name="TextBox 32"/>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4" name="Picture 33" descr="lock.png"/>
          <p:cNvPicPr>
            <a:picLocks noChangeAspect="1"/>
          </p:cNvPicPr>
          <p:nvPr/>
        </p:nvPicPr>
        <p:blipFill>
          <a:blip r:embed="rId4"/>
          <a:stretch>
            <a:fillRect/>
          </a:stretch>
        </p:blipFill>
        <p:spPr>
          <a:xfrm>
            <a:off x="5106956" y="5040676"/>
            <a:ext cx="128699" cy="187198"/>
          </a:xfrm>
          <a:prstGeom prst="rect">
            <a:avLst/>
          </a:prstGeom>
        </p:spPr>
      </p:pic>
      <p:sp>
        <p:nvSpPr>
          <p:cNvPr id="35" name="TextBox 34"/>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6" name="TextBox 35"/>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7" name="Picture 36" descr="lock.png"/>
          <p:cNvPicPr>
            <a:picLocks noChangeAspect="1"/>
          </p:cNvPicPr>
          <p:nvPr/>
        </p:nvPicPr>
        <p:blipFill>
          <a:blip r:embed="rId4"/>
          <a:stretch>
            <a:fillRect/>
          </a:stretch>
        </p:blipFill>
        <p:spPr>
          <a:xfrm>
            <a:off x="10197622" y="4873036"/>
            <a:ext cx="128699" cy="187198"/>
          </a:xfrm>
          <a:prstGeom prst="rect">
            <a:avLst/>
          </a:prstGeom>
        </p:spPr>
      </p:pic>
      <p:sp>
        <p:nvSpPr>
          <p:cNvPr id="38" name="TextBox 37"/>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39" name="TextBox 38"/>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0" name="Picture 39" descr="lock.png"/>
          <p:cNvPicPr>
            <a:picLocks noChangeAspect="1"/>
          </p:cNvPicPr>
          <p:nvPr/>
        </p:nvPicPr>
        <p:blipFill>
          <a:blip r:embed="rId4"/>
          <a:stretch>
            <a:fillRect/>
          </a:stretch>
        </p:blipFill>
        <p:spPr>
          <a:xfrm>
            <a:off x="9248099" y="5040676"/>
            <a:ext cx="128699" cy="187198"/>
          </a:xfrm>
          <a:prstGeom prst="rect">
            <a:avLst/>
          </a:prstGeom>
        </p:spPr>
      </p:pic>
      <p:sp>
        <p:nvSpPr>
          <p:cNvPr id="41" name="TextBox 40"/>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2" name="TextBox 41"/>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3" name="Picture 42" descr="lock.png"/>
          <p:cNvPicPr>
            <a:picLocks noChangeAspect="1"/>
          </p:cNvPicPr>
          <p:nvPr/>
        </p:nvPicPr>
        <p:blipFill>
          <a:blip r:embed="rId4"/>
          <a:stretch>
            <a:fillRect/>
          </a:stretch>
        </p:blipFill>
        <p:spPr>
          <a:xfrm>
            <a:off x="4678579" y="5913497"/>
            <a:ext cx="128699" cy="187198"/>
          </a:xfrm>
          <a:prstGeom prst="rect">
            <a:avLst/>
          </a:prstGeom>
        </p:spPr>
      </p:pic>
      <p:sp>
        <p:nvSpPr>
          <p:cNvPr id="44" name="TextBox 43"/>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5" name="TextBox 44"/>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6" name="TextBox 45"/>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7" name="Picture 46" descr="lock.png"/>
          <p:cNvPicPr>
            <a:picLocks noChangeAspect="1"/>
          </p:cNvPicPr>
          <p:nvPr/>
        </p:nvPicPr>
        <p:blipFill>
          <a:blip r:embed="rId4"/>
          <a:stretch>
            <a:fillRect/>
          </a:stretch>
        </p:blipFill>
        <p:spPr>
          <a:xfrm>
            <a:off x="9591346" y="5997317"/>
            <a:ext cx="128699" cy="187198"/>
          </a:xfrm>
          <a:prstGeom prst="rect">
            <a:avLst/>
          </a:prstGeom>
        </p:spPr>
      </p:pic>
      <p:sp>
        <p:nvSpPr>
          <p:cNvPr id="48" name="TextBox 47"/>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49" name="Picture 48" descr="lock.png"/>
          <p:cNvPicPr>
            <a:picLocks noChangeAspect="1"/>
          </p:cNvPicPr>
          <p:nvPr/>
        </p:nvPicPr>
        <p:blipFill>
          <a:blip r:embed="rId4"/>
          <a:stretch>
            <a:fillRect/>
          </a:stretch>
        </p:blipFill>
        <p:spPr>
          <a:xfrm>
            <a:off x="11052672" y="5997317"/>
            <a:ext cx="128699" cy="187198"/>
          </a:xfrm>
          <a:prstGeom prst="rect">
            <a:avLst/>
          </a:prstGeom>
        </p:spPr>
      </p:pic>
      <p:sp>
        <p:nvSpPr>
          <p:cNvPr id="50" name="TextBox 49"/>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7" name="Connector 6"/>
          <p:cNvCxnSpPr/>
          <p:nvPr/>
        </p:nvCxnSpPr>
        <p:spPr>
          <a:xfrm>
            <a:off x="6096000" y="1682648"/>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85850" y="1846931"/>
            <a:ext cx="10010775" cy="0"/>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85850"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086100"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086350"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096125"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096375"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096625" y="1846931"/>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52525" y="231240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52525" y="2750489"/>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52775" y="231240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52775" y="2750489"/>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152775" y="3106436"/>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3462383"/>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53025" y="231240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153025" y="2750489"/>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153025" y="3097309"/>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3453257"/>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3800077"/>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4146897"/>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4493717"/>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4849664"/>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5196485"/>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5543305"/>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5890125"/>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6246072"/>
            <a:ext cx="0" cy="6388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162800" y="231240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162800" y="2750489"/>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2800" y="3106436"/>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163050" y="231240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163050" y="2750489"/>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63050" y="3106436"/>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3462383"/>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3818331"/>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4174278"/>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4530225"/>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4886172"/>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5242119"/>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163300" y="2312400"/>
            <a:ext cx="0" cy="155156"/>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163300" y="2750489"/>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63300" y="3106436"/>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3462383"/>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3818331"/>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4174278"/>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4530225"/>
            <a:ext cx="0" cy="7301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667250" y="1080276"/>
            <a:ext cx="2857500" cy="602372"/>
          </a:xfrm>
          <a:prstGeom prst="roundRect">
            <a:avLst>
              <a:gd name="adj" fmla="val 10606"/>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Foam Protective Packaging Market</a:t>
            </a:r>
          </a:p>
        </p:txBody>
      </p:sp>
      <p:sp>
        <p:nvSpPr>
          <p:cNvPr id="53" name="Rounded Rectangle 52"/>
          <p:cNvSpPr/>
          <p:nvPr/>
        </p:nvSpPr>
        <p:spPr>
          <a:xfrm>
            <a:off x="142875" y="201121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4" name="Rounded Rectangle 53"/>
          <p:cNvSpPr/>
          <p:nvPr/>
        </p:nvSpPr>
        <p:spPr>
          <a:xfrm>
            <a:off x="276225" y="246755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U.S.</a:t>
            </a:r>
          </a:p>
        </p:txBody>
      </p:sp>
      <p:sp>
        <p:nvSpPr>
          <p:cNvPr id="55" name="Rounded Rectangle 54"/>
          <p:cNvSpPr/>
          <p:nvPr/>
        </p:nvSpPr>
        <p:spPr>
          <a:xfrm>
            <a:off x="276225" y="2823504"/>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Canada</a:t>
            </a:r>
          </a:p>
        </p:txBody>
      </p:sp>
      <p:sp>
        <p:nvSpPr>
          <p:cNvPr id="56" name="Rounded Rectangle 55"/>
          <p:cNvSpPr/>
          <p:nvPr/>
        </p:nvSpPr>
        <p:spPr>
          <a:xfrm>
            <a:off x="2143125" y="201121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7" name="Rounded Rectangle 56"/>
          <p:cNvSpPr/>
          <p:nvPr/>
        </p:nvSpPr>
        <p:spPr>
          <a:xfrm>
            <a:off x="2276475" y="246755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Brazil</a:t>
            </a:r>
          </a:p>
        </p:txBody>
      </p:sp>
      <p:sp>
        <p:nvSpPr>
          <p:cNvPr id="58" name="Rounded Rectangle 57"/>
          <p:cNvSpPr/>
          <p:nvPr/>
        </p:nvSpPr>
        <p:spPr>
          <a:xfrm>
            <a:off x="2276475" y="2823504"/>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Mexico</a:t>
            </a:r>
          </a:p>
        </p:txBody>
      </p:sp>
      <p:sp>
        <p:nvSpPr>
          <p:cNvPr id="59" name="Rounded Rectangle 58"/>
          <p:cNvSpPr/>
          <p:nvPr/>
        </p:nvSpPr>
        <p:spPr>
          <a:xfrm>
            <a:off x="2276475" y="3179451"/>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Colombia</a:t>
            </a:r>
          </a:p>
        </p:txBody>
      </p:sp>
      <p:sp>
        <p:nvSpPr>
          <p:cNvPr id="60" name="Rounded Rectangle 59"/>
          <p:cNvSpPr/>
          <p:nvPr/>
        </p:nvSpPr>
        <p:spPr>
          <a:xfrm>
            <a:off x="2276475" y="3535398"/>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Latin America</a:t>
            </a:r>
          </a:p>
        </p:txBody>
      </p:sp>
      <p:sp>
        <p:nvSpPr>
          <p:cNvPr id="61" name="Rounded Rectangle 60"/>
          <p:cNvSpPr/>
          <p:nvPr/>
        </p:nvSpPr>
        <p:spPr>
          <a:xfrm>
            <a:off x="4143375" y="201121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2" name="Rounded Rectangle 61"/>
          <p:cNvSpPr/>
          <p:nvPr/>
        </p:nvSpPr>
        <p:spPr>
          <a:xfrm>
            <a:off x="4276725" y="246755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Germany</a:t>
            </a:r>
          </a:p>
        </p:txBody>
      </p:sp>
      <p:sp>
        <p:nvSpPr>
          <p:cNvPr id="63" name="Rounded Rectangle 62"/>
          <p:cNvSpPr/>
          <p:nvPr/>
        </p:nvSpPr>
        <p:spPr>
          <a:xfrm>
            <a:off x="4276725" y="281437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U.K.</a:t>
            </a:r>
          </a:p>
        </p:txBody>
      </p:sp>
      <p:sp>
        <p:nvSpPr>
          <p:cNvPr id="64" name="Rounded Rectangle 63"/>
          <p:cNvSpPr/>
          <p:nvPr/>
        </p:nvSpPr>
        <p:spPr>
          <a:xfrm>
            <a:off x="4276725" y="3170324"/>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France</a:t>
            </a:r>
          </a:p>
        </p:txBody>
      </p:sp>
      <p:sp>
        <p:nvSpPr>
          <p:cNvPr id="65" name="Rounded Rectangle 64"/>
          <p:cNvSpPr/>
          <p:nvPr/>
        </p:nvSpPr>
        <p:spPr>
          <a:xfrm>
            <a:off x="4276725" y="3517145"/>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Italy</a:t>
            </a:r>
          </a:p>
        </p:txBody>
      </p:sp>
      <p:sp>
        <p:nvSpPr>
          <p:cNvPr id="66" name="Rounded Rectangle 65"/>
          <p:cNvSpPr/>
          <p:nvPr/>
        </p:nvSpPr>
        <p:spPr>
          <a:xfrm>
            <a:off x="4276725" y="3863965"/>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Spain</a:t>
            </a:r>
          </a:p>
        </p:txBody>
      </p:sp>
      <p:sp>
        <p:nvSpPr>
          <p:cNvPr id="67" name="Rounded Rectangle 66"/>
          <p:cNvSpPr/>
          <p:nvPr/>
        </p:nvSpPr>
        <p:spPr>
          <a:xfrm>
            <a:off x="4276725" y="4210785"/>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Belgium</a:t>
            </a:r>
          </a:p>
        </p:txBody>
      </p:sp>
      <p:sp>
        <p:nvSpPr>
          <p:cNvPr id="68" name="Rounded Rectangle 67"/>
          <p:cNvSpPr/>
          <p:nvPr/>
        </p:nvSpPr>
        <p:spPr>
          <a:xfrm>
            <a:off x="4276725" y="4566732"/>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Netherlands</a:t>
            </a:r>
          </a:p>
        </p:txBody>
      </p:sp>
      <p:sp>
        <p:nvSpPr>
          <p:cNvPr id="69" name="Rounded Rectangle 68"/>
          <p:cNvSpPr/>
          <p:nvPr/>
        </p:nvSpPr>
        <p:spPr>
          <a:xfrm>
            <a:off x="4276725" y="4913552"/>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Nordic</a:t>
            </a:r>
          </a:p>
        </p:txBody>
      </p:sp>
      <p:sp>
        <p:nvSpPr>
          <p:cNvPr id="70" name="Rounded Rectangle 69"/>
          <p:cNvSpPr/>
          <p:nvPr/>
        </p:nvSpPr>
        <p:spPr>
          <a:xfrm>
            <a:off x="4276725" y="5260373"/>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Switzerland</a:t>
            </a:r>
          </a:p>
        </p:txBody>
      </p:sp>
      <p:sp>
        <p:nvSpPr>
          <p:cNvPr id="71" name="Rounded Rectangle 70"/>
          <p:cNvSpPr/>
          <p:nvPr/>
        </p:nvSpPr>
        <p:spPr>
          <a:xfrm>
            <a:off x="4276725" y="5607193"/>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Russia</a:t>
            </a:r>
          </a:p>
        </p:txBody>
      </p:sp>
      <p:sp>
        <p:nvSpPr>
          <p:cNvPr id="72" name="Rounded Rectangle 71"/>
          <p:cNvSpPr/>
          <p:nvPr/>
        </p:nvSpPr>
        <p:spPr>
          <a:xfrm>
            <a:off x="4276725" y="5963140"/>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Poland</a:t>
            </a:r>
          </a:p>
        </p:txBody>
      </p:sp>
      <p:sp>
        <p:nvSpPr>
          <p:cNvPr id="73" name="Rounded Rectangle 72"/>
          <p:cNvSpPr/>
          <p:nvPr/>
        </p:nvSpPr>
        <p:spPr>
          <a:xfrm>
            <a:off x="4276725" y="6309960"/>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Europe</a:t>
            </a:r>
          </a:p>
        </p:txBody>
      </p:sp>
      <p:sp>
        <p:nvSpPr>
          <p:cNvPr id="74" name="Rounded Rectangle 73"/>
          <p:cNvSpPr/>
          <p:nvPr/>
        </p:nvSpPr>
        <p:spPr>
          <a:xfrm>
            <a:off x="6153150" y="201121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5" name="Rounded Rectangle 74"/>
          <p:cNvSpPr/>
          <p:nvPr/>
        </p:nvSpPr>
        <p:spPr>
          <a:xfrm>
            <a:off x="6286500" y="246755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China</a:t>
            </a:r>
          </a:p>
        </p:txBody>
      </p:sp>
      <p:sp>
        <p:nvSpPr>
          <p:cNvPr id="76" name="Rounded Rectangle 75"/>
          <p:cNvSpPr/>
          <p:nvPr/>
        </p:nvSpPr>
        <p:spPr>
          <a:xfrm>
            <a:off x="6286500" y="2823504"/>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Japan</a:t>
            </a:r>
          </a:p>
        </p:txBody>
      </p:sp>
      <p:sp>
        <p:nvSpPr>
          <p:cNvPr id="77" name="Rounded Rectangle 76"/>
          <p:cNvSpPr/>
          <p:nvPr/>
        </p:nvSpPr>
        <p:spPr>
          <a:xfrm>
            <a:off x="6286500" y="3179451"/>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Korea</a:t>
            </a:r>
          </a:p>
        </p:txBody>
      </p:sp>
      <p:sp>
        <p:nvSpPr>
          <p:cNvPr id="78" name="Rounded Rectangle 77"/>
          <p:cNvSpPr/>
          <p:nvPr/>
        </p:nvSpPr>
        <p:spPr>
          <a:xfrm>
            <a:off x="8153400" y="201121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79" name="Rounded Rectangle 78"/>
          <p:cNvSpPr/>
          <p:nvPr/>
        </p:nvSpPr>
        <p:spPr>
          <a:xfrm>
            <a:off x="8286750" y="246755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India</a:t>
            </a:r>
          </a:p>
        </p:txBody>
      </p:sp>
      <p:sp>
        <p:nvSpPr>
          <p:cNvPr id="80" name="Rounded Rectangle 79"/>
          <p:cNvSpPr/>
          <p:nvPr/>
        </p:nvSpPr>
        <p:spPr>
          <a:xfrm>
            <a:off x="8286750" y="2823504"/>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Thailand</a:t>
            </a:r>
          </a:p>
        </p:txBody>
      </p:sp>
      <p:sp>
        <p:nvSpPr>
          <p:cNvPr id="81" name="Rounded Rectangle 80"/>
          <p:cNvSpPr/>
          <p:nvPr/>
        </p:nvSpPr>
        <p:spPr>
          <a:xfrm>
            <a:off x="8286750" y="3179451"/>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Malaysia</a:t>
            </a:r>
          </a:p>
        </p:txBody>
      </p:sp>
      <p:sp>
        <p:nvSpPr>
          <p:cNvPr id="82" name="Rounded Rectangle 81"/>
          <p:cNvSpPr/>
          <p:nvPr/>
        </p:nvSpPr>
        <p:spPr>
          <a:xfrm>
            <a:off x="8286750" y="3535398"/>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Indonesia</a:t>
            </a:r>
          </a:p>
        </p:txBody>
      </p:sp>
      <p:sp>
        <p:nvSpPr>
          <p:cNvPr id="83" name="Rounded Rectangle 82"/>
          <p:cNvSpPr/>
          <p:nvPr/>
        </p:nvSpPr>
        <p:spPr>
          <a:xfrm>
            <a:off x="8286750" y="3891345"/>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Singapore</a:t>
            </a:r>
          </a:p>
        </p:txBody>
      </p:sp>
      <p:sp>
        <p:nvSpPr>
          <p:cNvPr id="84" name="Rounded Rectangle 83"/>
          <p:cNvSpPr/>
          <p:nvPr/>
        </p:nvSpPr>
        <p:spPr>
          <a:xfrm>
            <a:off x="8286750" y="4247292"/>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Philippines</a:t>
            </a:r>
          </a:p>
        </p:txBody>
      </p:sp>
      <p:sp>
        <p:nvSpPr>
          <p:cNvPr id="85" name="Rounded Rectangle 84"/>
          <p:cNvSpPr/>
          <p:nvPr/>
        </p:nvSpPr>
        <p:spPr>
          <a:xfrm>
            <a:off x="8286750" y="4603240"/>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Australia</a:t>
            </a:r>
          </a:p>
        </p:txBody>
      </p:sp>
      <p:sp>
        <p:nvSpPr>
          <p:cNvPr id="86" name="Rounded Rectangle 85"/>
          <p:cNvSpPr/>
          <p:nvPr/>
        </p:nvSpPr>
        <p:spPr>
          <a:xfrm>
            <a:off x="8286750" y="495918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New Zealand</a:t>
            </a:r>
          </a:p>
        </p:txBody>
      </p:sp>
      <p:sp>
        <p:nvSpPr>
          <p:cNvPr id="87" name="Rounded Rectangle 86"/>
          <p:cNvSpPr/>
          <p:nvPr/>
        </p:nvSpPr>
        <p:spPr>
          <a:xfrm>
            <a:off x="8286750" y="5315134"/>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South Asia</a:t>
            </a:r>
          </a:p>
        </p:txBody>
      </p:sp>
      <p:sp>
        <p:nvSpPr>
          <p:cNvPr id="88" name="Rounded Rectangle 87"/>
          <p:cNvSpPr/>
          <p:nvPr/>
        </p:nvSpPr>
        <p:spPr>
          <a:xfrm>
            <a:off x="10153650" y="2011214"/>
            <a:ext cx="1885950" cy="301186"/>
          </a:xfrm>
          <a:prstGeom prst="roundRect">
            <a:avLst>
              <a:gd name="adj" fmla="val 21212"/>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and Africa</a:t>
            </a:r>
          </a:p>
        </p:txBody>
      </p:sp>
      <p:sp>
        <p:nvSpPr>
          <p:cNvPr id="89" name="Rounded Rectangle 88"/>
          <p:cNvSpPr/>
          <p:nvPr/>
        </p:nvSpPr>
        <p:spPr>
          <a:xfrm>
            <a:off x="10287000" y="2467557"/>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Turkey</a:t>
            </a:r>
          </a:p>
        </p:txBody>
      </p:sp>
      <p:sp>
        <p:nvSpPr>
          <p:cNvPr id="90" name="Rounded Rectangle 89"/>
          <p:cNvSpPr/>
          <p:nvPr/>
        </p:nvSpPr>
        <p:spPr>
          <a:xfrm>
            <a:off x="10287000" y="2823504"/>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UAE</a:t>
            </a:r>
          </a:p>
        </p:txBody>
      </p:sp>
      <p:sp>
        <p:nvSpPr>
          <p:cNvPr id="91" name="Rounded Rectangle 90"/>
          <p:cNvSpPr/>
          <p:nvPr/>
        </p:nvSpPr>
        <p:spPr>
          <a:xfrm>
            <a:off x="10287000" y="3179451"/>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Saudi Arabia</a:t>
            </a:r>
          </a:p>
        </p:txBody>
      </p:sp>
      <p:sp>
        <p:nvSpPr>
          <p:cNvPr id="92" name="Rounded Rectangle 91"/>
          <p:cNvSpPr/>
          <p:nvPr/>
        </p:nvSpPr>
        <p:spPr>
          <a:xfrm>
            <a:off x="10287000" y="3535398"/>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Israel</a:t>
            </a:r>
          </a:p>
        </p:txBody>
      </p:sp>
      <p:sp>
        <p:nvSpPr>
          <p:cNvPr id="93" name="Rounded Rectangle 92"/>
          <p:cNvSpPr/>
          <p:nvPr/>
        </p:nvSpPr>
        <p:spPr>
          <a:xfrm>
            <a:off x="10287000" y="3891345"/>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Other GCC Countries</a:t>
            </a:r>
          </a:p>
        </p:txBody>
      </p:sp>
      <p:sp>
        <p:nvSpPr>
          <p:cNvPr id="94" name="Rounded Rectangle 93"/>
          <p:cNvSpPr/>
          <p:nvPr/>
        </p:nvSpPr>
        <p:spPr>
          <a:xfrm>
            <a:off x="10287000" y="4247292"/>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North Africa</a:t>
            </a:r>
          </a:p>
        </p:txBody>
      </p:sp>
      <p:sp>
        <p:nvSpPr>
          <p:cNvPr id="95" name="Rounded Rectangle 94"/>
          <p:cNvSpPr/>
          <p:nvPr/>
        </p:nvSpPr>
        <p:spPr>
          <a:xfrm>
            <a:off x="10287000" y="4603240"/>
            <a:ext cx="1752600" cy="282932"/>
          </a:xfrm>
          <a:prstGeom prst="roundRect">
            <a:avLst>
              <a:gd name="adj" fmla="val 22580"/>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Africa</a:t>
            </a:r>
          </a:p>
        </p:txBody>
      </p:sp>
      <p:sp>
        <p:nvSpPr>
          <p:cNvPr id="96" name="Rectangle 9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3 axes and the sub-segments sized under each</a:t>
            </a:r>
          </a:p>
        </p:txBody>
      </p:sp>
      <p:sp>
        <p:nvSpPr>
          <p:cNvPr id="7" name="Rectangle 6"/>
          <p:cNvSpPr/>
          <p:nvPr/>
        </p:nvSpPr>
        <p:spPr>
          <a:xfrm>
            <a:off x="142875" y="1028700"/>
            <a:ext cx="2876550" cy="217741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28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Material Type</a:t>
            </a:r>
          </a:p>
        </p:txBody>
      </p:sp>
      <p:sp>
        <p:nvSpPr>
          <p:cNvPr id="10" name="TextBox 9"/>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 name="TextBox 10"/>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Polyethylene (PE) Foam</a:t>
            </a:r>
          </a:p>
        </p:txBody>
      </p:sp>
      <p:cxnSp>
        <p:nvCxnSpPr>
          <p:cNvPr id="12" name="Connector 11"/>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Non-Crosslinked PE Foam (EPE)</a:t>
            </a:r>
          </a:p>
        </p:txBody>
      </p:sp>
      <p:cxnSp>
        <p:nvCxnSpPr>
          <p:cNvPr id="15" name="Connector 14"/>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Crosslinked PE Foam (XLPE)</a:t>
            </a:r>
          </a:p>
        </p:txBody>
      </p:sp>
      <p:cxnSp>
        <p:nvCxnSpPr>
          <p:cNvPr id="18" name="Connector 17"/>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000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390525" y="17887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Expanded Polystyrene (EPS)</a:t>
            </a:r>
          </a:p>
        </p:txBody>
      </p:sp>
      <p:cxnSp>
        <p:nvCxnSpPr>
          <p:cNvPr id="21" name="Connector 20"/>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9659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Polyurethane (PU) Foam</a:t>
            </a:r>
          </a:p>
        </p:txBody>
      </p:sp>
      <p:cxnSp>
        <p:nvCxnSpPr>
          <p:cNvPr id="24" name="Connector 23"/>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0002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390525" y="214312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Expanded Polypropylene (EPP)</a:t>
            </a:r>
          </a:p>
        </p:txBody>
      </p:sp>
      <p:cxnSp>
        <p:nvCxnSpPr>
          <p:cNvPr id="27" name="Connector 26"/>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00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390525" y="23202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Other Foam Materials</a:t>
            </a:r>
          </a:p>
        </p:txBody>
      </p:sp>
      <p:cxnSp>
        <p:nvCxnSpPr>
          <p:cNvPr id="30" name="Connector 29"/>
          <p:cNvCxnSpPr/>
          <p:nvPr/>
        </p:nvCxnSpPr>
        <p:spPr>
          <a:xfrm>
            <a:off x="1524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14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5619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Extruded Polystyrene (XPS) Foam</a:t>
            </a:r>
          </a:p>
        </p:txBody>
      </p:sp>
      <p:cxnSp>
        <p:nvCxnSpPr>
          <p:cNvPr id="33" name="Connector 32"/>
          <p:cNvCxnSpPr/>
          <p:nvPr/>
        </p:nvCxnSpPr>
        <p:spPr>
          <a:xfrm>
            <a:off x="1524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7147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561975" y="267462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Other Polyolefin &amp; Specialty Polymer Foams</a:t>
            </a:r>
          </a:p>
        </p:txBody>
      </p:sp>
      <p:cxnSp>
        <p:nvCxnSpPr>
          <p:cNvPr id="36" name="Connector 35"/>
          <p:cNvCxnSpPr/>
          <p:nvPr/>
        </p:nvCxnSpPr>
        <p:spPr>
          <a:xfrm>
            <a:off x="1524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Bio-based / Starch-based Foams</a:t>
            </a:r>
          </a:p>
        </p:txBody>
      </p:sp>
      <p:sp>
        <p:nvSpPr>
          <p:cNvPr id="39" name="Rectangle 38"/>
          <p:cNvSpPr/>
          <p:nvPr/>
        </p:nvSpPr>
        <p:spPr>
          <a:xfrm>
            <a:off x="3152775" y="1028700"/>
            <a:ext cx="2876550" cy="394906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527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Product Form</a:t>
            </a:r>
          </a:p>
        </p:txBody>
      </p:sp>
      <p:sp>
        <p:nvSpPr>
          <p:cNvPr id="42" name="TextBox 41"/>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Foam Sheets, Rolls &amp; Planks</a:t>
            </a:r>
          </a:p>
        </p:txBody>
      </p:sp>
      <p:cxnSp>
        <p:nvCxnSpPr>
          <p:cNvPr id="44" name="Connector 43"/>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Foam Sheets &amp; Rolls</a:t>
            </a:r>
          </a:p>
        </p:txBody>
      </p:sp>
      <p:cxnSp>
        <p:nvCxnSpPr>
          <p:cNvPr id="47" name="Connector 46"/>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9" name="TextBox 48"/>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Foam Planks &amp; Blocks</a:t>
            </a:r>
          </a:p>
        </p:txBody>
      </p:sp>
      <p:cxnSp>
        <p:nvCxnSpPr>
          <p:cNvPr id="50" name="Connector 49"/>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2099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2" name="TextBox 51"/>
          <p:cNvSpPr txBox="1"/>
          <p:nvPr/>
        </p:nvSpPr>
        <p:spPr>
          <a:xfrm>
            <a:off x="3400425" y="17887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Fabricated Foam Packaging</a:t>
            </a:r>
          </a:p>
        </p:txBody>
      </p:sp>
      <p:cxnSp>
        <p:nvCxnSpPr>
          <p:cNvPr id="53" name="Connector 52"/>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3813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35718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Die-Cut / CNC-Cut Foam Inserts &amp; Pads</a:t>
            </a:r>
          </a:p>
        </p:txBody>
      </p:sp>
      <p:cxnSp>
        <p:nvCxnSpPr>
          <p:cNvPr id="56" name="Connector 55"/>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3813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3571875" y="214312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Foam Corner &amp; Edge Protectors / Profiles</a:t>
            </a:r>
          </a:p>
        </p:txBody>
      </p:sp>
      <p:cxnSp>
        <p:nvCxnSpPr>
          <p:cNvPr id="59" name="Connector 58"/>
          <p:cNvCxnSpPr/>
          <p:nvPr/>
        </p:nvCxnSpPr>
        <p:spPr>
          <a:xfrm>
            <a:off x="31623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3813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1" name="TextBox 60"/>
          <p:cNvSpPr txBox="1"/>
          <p:nvPr/>
        </p:nvSpPr>
        <p:spPr>
          <a:xfrm>
            <a:off x="3571875" y="24974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Foam Dividers &amp; Separators</a:t>
            </a:r>
          </a:p>
        </p:txBody>
      </p:sp>
      <p:cxnSp>
        <p:nvCxnSpPr>
          <p:cNvPr id="62" name="Connector 61"/>
          <p:cNvCxnSpPr/>
          <p:nvPr/>
        </p:nvCxnSpPr>
        <p:spPr>
          <a:xfrm>
            <a:off x="31623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2099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4" name="TextBox 63"/>
          <p:cNvSpPr txBox="1"/>
          <p:nvPr/>
        </p:nvSpPr>
        <p:spPr>
          <a:xfrm>
            <a:off x="3400425" y="267462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Molded Foam Packaging</a:t>
            </a:r>
          </a:p>
        </p:txBody>
      </p:sp>
      <p:cxnSp>
        <p:nvCxnSpPr>
          <p:cNvPr id="65" name="Connector 64"/>
          <p:cNvCxnSpPr/>
          <p:nvPr/>
        </p:nvCxnSpPr>
        <p:spPr>
          <a:xfrm>
            <a:off x="31623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33813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7" name="TextBox 66"/>
          <p:cNvSpPr txBox="1"/>
          <p:nvPr/>
        </p:nvSpPr>
        <p:spPr>
          <a:xfrm>
            <a:off x="35718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Molded Inserts, End Caps &amp; Cradles</a:t>
            </a:r>
          </a:p>
        </p:txBody>
      </p:sp>
      <p:cxnSp>
        <p:nvCxnSpPr>
          <p:cNvPr id="68" name="Connector 67"/>
          <p:cNvCxnSpPr/>
          <p:nvPr/>
        </p:nvCxnSpPr>
        <p:spPr>
          <a:xfrm>
            <a:off x="31623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3813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0" name="TextBox 69"/>
          <p:cNvSpPr txBox="1"/>
          <p:nvPr/>
        </p:nvSpPr>
        <p:spPr>
          <a:xfrm>
            <a:off x="35718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Molded Protective Trays &amp; Containers</a:t>
            </a:r>
          </a:p>
        </p:txBody>
      </p:sp>
      <p:cxnSp>
        <p:nvCxnSpPr>
          <p:cNvPr id="71" name="Connector 70"/>
          <p:cNvCxnSpPr/>
          <p:nvPr/>
        </p:nvCxnSpPr>
        <p:spPr>
          <a:xfrm>
            <a:off x="31623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0992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3" name="TextBox 72"/>
          <p:cNvSpPr txBox="1"/>
          <p:nvPr/>
        </p:nvSpPr>
        <p:spPr>
          <a:xfrm>
            <a:off x="3400425" y="320611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Foam-in-Place Packaging</a:t>
            </a:r>
          </a:p>
        </p:txBody>
      </p:sp>
      <p:cxnSp>
        <p:nvCxnSpPr>
          <p:cNvPr id="74" name="Connector 73"/>
          <p:cNvCxnSpPr/>
          <p:nvPr/>
        </p:nvCxnSpPr>
        <p:spPr>
          <a:xfrm>
            <a:off x="31623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3813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6" name="TextBox 75"/>
          <p:cNvSpPr txBox="1"/>
          <p:nvPr/>
        </p:nvSpPr>
        <p:spPr>
          <a:xfrm>
            <a:off x="35718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Direct-Dispensed Foam-in-Place</a:t>
            </a:r>
          </a:p>
        </p:txBody>
      </p:sp>
      <p:cxnSp>
        <p:nvCxnSpPr>
          <p:cNvPr id="77" name="Connector 76"/>
          <p:cNvCxnSpPr/>
          <p:nvPr/>
        </p:nvCxnSpPr>
        <p:spPr>
          <a:xfrm>
            <a:off x="31623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33813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3571875" y="356044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Foam-in-Bag / On-Demand Foam Cushions</a:t>
            </a:r>
          </a:p>
        </p:txBody>
      </p:sp>
      <p:cxnSp>
        <p:nvCxnSpPr>
          <p:cNvPr id="80" name="Connector 79"/>
          <p:cNvCxnSpPr/>
          <p:nvPr/>
        </p:nvCxnSpPr>
        <p:spPr>
          <a:xfrm>
            <a:off x="31623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320992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2" name="TextBox 81"/>
          <p:cNvSpPr txBox="1"/>
          <p:nvPr/>
        </p:nvSpPr>
        <p:spPr>
          <a:xfrm>
            <a:off x="3400425" y="391477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Foam Pouches, Bags &amp; Sleeves</a:t>
            </a:r>
          </a:p>
        </p:txBody>
      </p:sp>
      <p:cxnSp>
        <p:nvCxnSpPr>
          <p:cNvPr id="83" name="Connector 82"/>
          <p:cNvCxnSpPr/>
          <p:nvPr/>
        </p:nvCxnSpPr>
        <p:spPr>
          <a:xfrm>
            <a:off x="31623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33813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5" name="TextBox 84"/>
          <p:cNvSpPr txBox="1"/>
          <p:nvPr/>
        </p:nvSpPr>
        <p:spPr>
          <a:xfrm>
            <a:off x="35718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Pre-Fabricated Foam Pouches &amp; Bags</a:t>
            </a:r>
          </a:p>
        </p:txBody>
      </p:sp>
      <p:cxnSp>
        <p:nvCxnSpPr>
          <p:cNvPr id="86" name="Connector 85"/>
          <p:cNvCxnSpPr/>
          <p:nvPr/>
        </p:nvCxnSpPr>
        <p:spPr>
          <a:xfrm>
            <a:off x="31623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3813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8" name="TextBox 87"/>
          <p:cNvSpPr txBox="1"/>
          <p:nvPr/>
        </p:nvSpPr>
        <p:spPr>
          <a:xfrm>
            <a:off x="35718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Pre-Fabricated Foam Sleeves</a:t>
            </a:r>
          </a:p>
        </p:txBody>
      </p:sp>
      <p:cxnSp>
        <p:nvCxnSpPr>
          <p:cNvPr id="89" name="Connector 88"/>
          <p:cNvCxnSpPr/>
          <p:nvPr/>
        </p:nvCxnSpPr>
        <p:spPr>
          <a:xfrm>
            <a:off x="31623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320992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3400425" y="444627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Foam Loose-Fill Packaging</a:t>
            </a:r>
          </a:p>
        </p:txBody>
      </p:sp>
      <p:cxnSp>
        <p:nvCxnSpPr>
          <p:cNvPr id="92" name="Connector 91"/>
          <p:cNvCxnSpPr/>
          <p:nvPr/>
        </p:nvCxnSpPr>
        <p:spPr>
          <a:xfrm>
            <a:off x="31623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33813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3571875" y="462343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Foam Packing Peanuts / Loose-Fill Shapes</a:t>
            </a:r>
          </a:p>
        </p:txBody>
      </p:sp>
      <p:sp>
        <p:nvSpPr>
          <p:cNvPr id="95" name="Rectangle 94"/>
          <p:cNvSpPr/>
          <p:nvPr/>
        </p:nvSpPr>
        <p:spPr>
          <a:xfrm>
            <a:off x="6162675" y="1028700"/>
            <a:ext cx="2876550" cy="55435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1626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End-use Industry (1/2)</a:t>
            </a:r>
          </a:p>
        </p:txBody>
      </p:sp>
      <p:sp>
        <p:nvSpPr>
          <p:cNvPr id="98" name="TextBox 97"/>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9" name="TextBox 98"/>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Electronics &amp; Electrical</a:t>
            </a:r>
          </a:p>
        </p:txBody>
      </p:sp>
      <p:cxnSp>
        <p:nvCxnSpPr>
          <p:cNvPr id="100" name="Connector 99"/>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3912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2" name="TextBox 101"/>
          <p:cNvSpPr txBox="1"/>
          <p:nvPr/>
        </p:nvSpPr>
        <p:spPr>
          <a:xfrm>
            <a:off x="65817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Consumer Electronics</a:t>
            </a:r>
          </a:p>
        </p:txBody>
      </p:sp>
      <p:cxnSp>
        <p:nvCxnSpPr>
          <p:cNvPr id="103" name="Connector 102"/>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63912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5" name="TextBox 104"/>
          <p:cNvSpPr txBox="1"/>
          <p:nvPr/>
        </p:nvSpPr>
        <p:spPr>
          <a:xfrm>
            <a:off x="6581775" y="161163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Electrical &amp; IT / Telecommunications Equipment</a:t>
            </a:r>
          </a:p>
        </p:txBody>
      </p:sp>
      <p:cxnSp>
        <p:nvCxnSpPr>
          <p:cNvPr id="106" name="Connector 105"/>
          <p:cNvCxnSpPr/>
          <p:nvPr/>
        </p:nvCxnSpPr>
        <p:spPr>
          <a:xfrm>
            <a:off x="61722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2198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8" name="TextBox 107"/>
          <p:cNvSpPr txBox="1"/>
          <p:nvPr/>
        </p:nvSpPr>
        <p:spPr>
          <a:xfrm>
            <a:off x="6410325" y="19659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Automotive</a:t>
            </a:r>
          </a:p>
        </p:txBody>
      </p:sp>
      <p:cxnSp>
        <p:nvCxnSpPr>
          <p:cNvPr id="109" name="Connector 108"/>
          <p:cNvCxnSpPr/>
          <p:nvPr/>
        </p:nvCxnSpPr>
        <p:spPr>
          <a:xfrm>
            <a:off x="61722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63912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1" name="TextBox 110"/>
          <p:cNvSpPr txBox="1"/>
          <p:nvPr/>
        </p:nvSpPr>
        <p:spPr>
          <a:xfrm>
            <a:off x="65817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Automotive Components &amp; Spare Parts</a:t>
            </a:r>
          </a:p>
        </p:txBody>
      </p:sp>
      <p:cxnSp>
        <p:nvCxnSpPr>
          <p:cNvPr id="112" name="Connector 111"/>
          <p:cNvCxnSpPr/>
          <p:nvPr/>
        </p:nvCxnSpPr>
        <p:spPr>
          <a:xfrm>
            <a:off x="61722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63912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6581775" y="232029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EV Batteries &amp; Sensitive Automotive Components</a:t>
            </a:r>
          </a:p>
        </p:txBody>
      </p:sp>
      <p:cxnSp>
        <p:nvCxnSpPr>
          <p:cNvPr id="115" name="Connector 114"/>
          <p:cNvCxnSpPr/>
          <p:nvPr/>
        </p:nvCxnSpPr>
        <p:spPr>
          <a:xfrm>
            <a:off x="61722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62198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6410325" y="267462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Healthcare &amp; Pharmaceuticals</a:t>
            </a:r>
          </a:p>
        </p:txBody>
      </p:sp>
      <p:cxnSp>
        <p:nvCxnSpPr>
          <p:cNvPr id="118" name="Connector 117"/>
          <p:cNvCxnSpPr/>
          <p:nvPr/>
        </p:nvCxnSpPr>
        <p:spPr>
          <a:xfrm>
            <a:off x="61722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63912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0" name="TextBox 119"/>
          <p:cNvSpPr txBox="1"/>
          <p:nvPr/>
        </p:nvSpPr>
        <p:spPr>
          <a:xfrm>
            <a:off x="6581775" y="285178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Medical Devices &amp; Diagnostic Equipment</a:t>
            </a:r>
          </a:p>
        </p:txBody>
      </p:sp>
      <p:cxnSp>
        <p:nvCxnSpPr>
          <p:cNvPr id="121" name="Connector 120"/>
          <p:cNvCxnSpPr/>
          <p:nvPr/>
        </p:nvCxnSpPr>
        <p:spPr>
          <a:xfrm>
            <a:off x="61722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63912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3" name="TextBox 122"/>
          <p:cNvSpPr txBox="1"/>
          <p:nvPr/>
        </p:nvSpPr>
        <p:spPr>
          <a:xfrm>
            <a:off x="6581775" y="320611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Pharmaceutical &amp; Biopharmaceutical Products</a:t>
            </a:r>
          </a:p>
        </p:txBody>
      </p:sp>
      <p:cxnSp>
        <p:nvCxnSpPr>
          <p:cNvPr id="124" name="Connector 123"/>
          <p:cNvCxnSpPr/>
          <p:nvPr/>
        </p:nvCxnSpPr>
        <p:spPr>
          <a:xfrm>
            <a:off x="61722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621982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6" name="TextBox 125"/>
          <p:cNvSpPr txBox="1"/>
          <p:nvPr/>
        </p:nvSpPr>
        <p:spPr>
          <a:xfrm>
            <a:off x="6410325" y="356044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Industrial Machinery &amp; Equipment</a:t>
            </a:r>
          </a:p>
        </p:txBody>
      </p:sp>
      <p:cxnSp>
        <p:nvCxnSpPr>
          <p:cNvPr id="127" name="Connector 126"/>
          <p:cNvCxnSpPr/>
          <p:nvPr/>
        </p:nvCxnSpPr>
        <p:spPr>
          <a:xfrm>
            <a:off x="61722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639127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9" name="TextBox 128"/>
          <p:cNvSpPr txBox="1"/>
          <p:nvPr/>
        </p:nvSpPr>
        <p:spPr>
          <a:xfrm>
            <a:off x="6581775" y="373761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Heavy Machinery &amp; Industrial Components</a:t>
            </a:r>
          </a:p>
        </p:txBody>
      </p:sp>
      <p:cxnSp>
        <p:nvCxnSpPr>
          <p:cNvPr id="130" name="Connector 129"/>
          <p:cNvCxnSpPr/>
          <p:nvPr/>
        </p:nvCxnSpPr>
        <p:spPr>
          <a:xfrm>
            <a:off x="61722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63912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2" name="TextBox 131"/>
          <p:cNvSpPr txBox="1"/>
          <p:nvPr/>
        </p:nvSpPr>
        <p:spPr>
          <a:xfrm>
            <a:off x="6581775" y="409194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Precision Instruments &amp; Scientific Equipment</a:t>
            </a:r>
          </a:p>
        </p:txBody>
      </p:sp>
      <p:cxnSp>
        <p:nvCxnSpPr>
          <p:cNvPr id="133" name="Connector 132"/>
          <p:cNvCxnSpPr/>
          <p:nvPr/>
        </p:nvCxnSpPr>
        <p:spPr>
          <a:xfrm>
            <a:off x="61722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621982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5" name="TextBox 134"/>
          <p:cNvSpPr txBox="1"/>
          <p:nvPr/>
        </p:nvSpPr>
        <p:spPr>
          <a:xfrm>
            <a:off x="6410325" y="444627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Consumer Goods &amp; Home Products</a:t>
            </a:r>
          </a:p>
        </p:txBody>
      </p:sp>
      <p:cxnSp>
        <p:nvCxnSpPr>
          <p:cNvPr id="136" name="Connector 135"/>
          <p:cNvCxnSpPr/>
          <p:nvPr/>
        </p:nvCxnSpPr>
        <p:spPr>
          <a:xfrm>
            <a:off x="61722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63912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8" name="TextBox 137"/>
          <p:cNvSpPr txBox="1"/>
          <p:nvPr/>
        </p:nvSpPr>
        <p:spPr>
          <a:xfrm>
            <a:off x="65817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Home Appliances</a:t>
            </a:r>
          </a:p>
        </p:txBody>
      </p:sp>
      <p:cxnSp>
        <p:nvCxnSpPr>
          <p:cNvPr id="139" name="Connector 138"/>
          <p:cNvCxnSpPr/>
          <p:nvPr/>
        </p:nvCxnSpPr>
        <p:spPr>
          <a:xfrm>
            <a:off x="61722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639127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1" name="TextBox 140"/>
          <p:cNvSpPr txBox="1"/>
          <p:nvPr/>
        </p:nvSpPr>
        <p:spPr>
          <a:xfrm>
            <a:off x="6581775" y="480060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Furniture &amp; Home Furnishings</a:t>
            </a:r>
          </a:p>
        </p:txBody>
      </p:sp>
      <p:cxnSp>
        <p:nvCxnSpPr>
          <p:cNvPr id="142" name="Connector 141"/>
          <p:cNvCxnSpPr/>
          <p:nvPr/>
        </p:nvCxnSpPr>
        <p:spPr>
          <a:xfrm>
            <a:off x="61722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63912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4" name="TextBox 143"/>
          <p:cNvSpPr txBox="1"/>
          <p:nvPr/>
        </p:nvSpPr>
        <p:spPr>
          <a:xfrm>
            <a:off x="6581775" y="497776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Glassware, Ceramics &amp; Fragile Consumer Goods</a:t>
            </a:r>
          </a:p>
        </p:txBody>
      </p:sp>
      <p:cxnSp>
        <p:nvCxnSpPr>
          <p:cNvPr id="145" name="Connector 144"/>
          <p:cNvCxnSpPr/>
          <p:nvPr/>
        </p:nvCxnSpPr>
        <p:spPr>
          <a:xfrm>
            <a:off x="61722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621982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7" name="TextBox 146"/>
          <p:cNvSpPr txBox="1"/>
          <p:nvPr/>
        </p:nvSpPr>
        <p:spPr>
          <a:xfrm>
            <a:off x="6410325" y="53320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Food &amp; Beverage</a:t>
            </a:r>
          </a:p>
        </p:txBody>
      </p:sp>
      <p:cxnSp>
        <p:nvCxnSpPr>
          <p:cNvPr id="148" name="Connector 147"/>
          <p:cNvCxnSpPr/>
          <p:nvPr/>
        </p:nvCxnSpPr>
        <p:spPr>
          <a:xfrm>
            <a:off x="61722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63912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0" name="TextBox 149"/>
          <p:cNvSpPr txBox="1"/>
          <p:nvPr/>
        </p:nvSpPr>
        <p:spPr>
          <a:xfrm>
            <a:off x="6581775" y="550926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Temperature-Controlled Food &amp; Beverage Packaging</a:t>
            </a:r>
          </a:p>
        </p:txBody>
      </p:sp>
      <p:cxnSp>
        <p:nvCxnSpPr>
          <p:cNvPr id="151" name="Connector 150"/>
          <p:cNvCxnSpPr/>
          <p:nvPr/>
        </p:nvCxnSpPr>
        <p:spPr>
          <a:xfrm>
            <a:off x="61722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639127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3" name="TextBox 152"/>
          <p:cNvSpPr txBox="1"/>
          <p:nvPr/>
        </p:nvSpPr>
        <p:spPr>
          <a:xfrm>
            <a:off x="6581775" y="586359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Other Food &amp; Beverage Protective Packaging</a:t>
            </a:r>
          </a:p>
        </p:txBody>
      </p:sp>
      <p:cxnSp>
        <p:nvCxnSpPr>
          <p:cNvPr id="154" name="Connector 153"/>
          <p:cNvCxnSpPr/>
          <p:nvPr/>
        </p:nvCxnSpPr>
        <p:spPr>
          <a:xfrm>
            <a:off x="61722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621982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6" name="TextBox 155"/>
          <p:cNvSpPr txBox="1"/>
          <p:nvPr/>
        </p:nvSpPr>
        <p:spPr>
          <a:xfrm>
            <a:off x="6410325" y="621792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Aerospace &amp; Defense</a:t>
            </a:r>
          </a:p>
        </p:txBody>
      </p:sp>
      <p:cxnSp>
        <p:nvCxnSpPr>
          <p:cNvPr id="157" name="Connector 156"/>
          <p:cNvCxnSpPr/>
          <p:nvPr/>
        </p:nvCxnSpPr>
        <p:spPr>
          <a:xfrm>
            <a:off x="6172200" y="63950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6391275" y="63950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59" name="TextBox 158"/>
          <p:cNvSpPr txBox="1"/>
          <p:nvPr/>
        </p:nvSpPr>
        <p:spPr>
          <a:xfrm>
            <a:off x="6581775" y="63950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Aerospace Components &amp; Equipment</a:t>
            </a:r>
          </a:p>
        </p:txBody>
      </p:sp>
      <p:sp>
        <p:nvSpPr>
          <p:cNvPr id="160" name="Rectangle 159"/>
          <p:cNvSpPr/>
          <p:nvPr/>
        </p:nvSpPr>
        <p:spPr>
          <a:xfrm>
            <a:off x="91725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91725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End-use Industry (2/2)</a:t>
            </a:r>
          </a:p>
        </p:txBody>
      </p:sp>
      <p:sp>
        <p:nvSpPr>
          <p:cNvPr id="163" name="TextBox 162"/>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4" name="TextBox 163"/>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Aerospace &amp; Defense</a:t>
            </a:r>
          </a:p>
        </p:txBody>
      </p:sp>
      <p:cxnSp>
        <p:nvCxnSpPr>
          <p:cNvPr id="165" name="Connector 164"/>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94011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67" name="TextBox 166"/>
          <p:cNvSpPr txBox="1"/>
          <p:nvPr/>
        </p:nvSpPr>
        <p:spPr>
          <a:xfrm>
            <a:off x="9591675" y="143446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Defense Equipment &amp; Sensitive Components</a:t>
            </a:r>
          </a:p>
        </p:txBody>
      </p:sp>
      <p:cxnSp>
        <p:nvCxnSpPr>
          <p:cNvPr id="168" name="Connector 167"/>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0" name="TextBox 169"/>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Others</a:t>
            </a:r>
          </a:p>
        </p:txBody>
      </p:sp>
      <p:sp>
        <p:nvSpPr>
          <p:cNvPr id="171" name="Rectangle 17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Company Coverage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7" name="TextBox 6"/>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Foam Protective Packaging Market profiled and benchmarked in the Competition Assessment section.</a:t>
            </a:r>
          </a:p>
        </p:txBody>
      </p:sp>
      <p:sp>
        <p:nvSpPr>
          <p:cNvPr id="8" name="Rectangle 7"/>
          <p:cNvSpPr/>
          <p:nvPr/>
        </p:nvSpPr>
        <p:spPr>
          <a:xfrm>
            <a:off x="142875" y="1554872"/>
            <a:ext cx="5857875"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2875" y="1554872"/>
            <a:ext cx="5857875"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875" y="1618760"/>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1" name="TextBox 10"/>
          <p:cNvSpPr txBox="1"/>
          <p:nvPr/>
        </p:nvSpPr>
        <p:spPr>
          <a:xfrm>
            <a:off x="333375" y="1828677"/>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2" name="TextBox 11"/>
          <p:cNvSpPr txBox="1"/>
          <p:nvPr/>
        </p:nvSpPr>
        <p:spPr>
          <a:xfrm>
            <a:off x="581025" y="1828677"/>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Sealed Air Corporation</a:t>
            </a:r>
          </a:p>
        </p:txBody>
      </p:sp>
      <p:sp>
        <p:nvSpPr>
          <p:cNvPr id="13" name="Rectangle 12"/>
          <p:cNvSpPr/>
          <p:nvPr/>
        </p:nvSpPr>
        <p:spPr>
          <a:xfrm>
            <a:off x="152400" y="2193751"/>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52400" y="219375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33375" y="2193751"/>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6" name="TextBox 15"/>
          <p:cNvSpPr txBox="1"/>
          <p:nvPr/>
        </p:nvSpPr>
        <p:spPr>
          <a:xfrm>
            <a:off x="581025" y="2193751"/>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Company</a:t>
            </a:r>
          </a:p>
        </p:txBody>
      </p:sp>
      <p:cxnSp>
        <p:nvCxnSpPr>
          <p:cNvPr id="17" name="Connector 16"/>
          <p:cNvCxnSpPr/>
          <p:nvPr/>
        </p:nvCxnSpPr>
        <p:spPr>
          <a:xfrm>
            <a:off x="152400" y="25588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558825"/>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558825"/>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BOBST Group SA</a:t>
            </a:r>
          </a:p>
        </p:txBody>
      </p:sp>
      <p:sp>
        <p:nvSpPr>
          <p:cNvPr id="20" name="Rectangle 19"/>
          <p:cNvSpPr/>
          <p:nvPr/>
        </p:nvSpPr>
        <p:spPr>
          <a:xfrm>
            <a:off x="152400" y="2923899"/>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52400" y="292389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33375" y="2923899"/>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3" name="TextBox 22"/>
          <p:cNvSpPr txBox="1"/>
          <p:nvPr/>
        </p:nvSpPr>
        <p:spPr>
          <a:xfrm>
            <a:off x="581025" y="2923899"/>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BHS Corrugated Maschinen- und Anlagenbau GmbH</a:t>
            </a:r>
          </a:p>
        </p:txBody>
      </p:sp>
      <p:cxnSp>
        <p:nvCxnSpPr>
          <p:cNvPr id="24" name="Connector 23"/>
          <p:cNvCxnSpPr/>
          <p:nvPr/>
        </p:nvCxnSpPr>
        <p:spPr>
          <a:xfrm>
            <a:off x="152400" y="328897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288973"/>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288973"/>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BW Papersystems</a:t>
            </a:r>
          </a:p>
        </p:txBody>
      </p:sp>
      <p:sp>
        <p:nvSpPr>
          <p:cNvPr id="27" name="Rectangle 26"/>
          <p:cNvSpPr/>
          <p:nvPr/>
        </p:nvSpPr>
        <p:spPr>
          <a:xfrm>
            <a:off x="152400" y="3654047"/>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52400" y="365404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33375" y="3654047"/>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0" name="TextBox 29"/>
          <p:cNvSpPr txBox="1"/>
          <p:nvPr/>
        </p:nvSpPr>
        <p:spPr>
          <a:xfrm>
            <a:off x="581025" y="3654047"/>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Fosber Group</a:t>
            </a:r>
          </a:p>
        </p:txBody>
      </p:sp>
      <p:cxnSp>
        <p:nvCxnSpPr>
          <p:cNvPr id="31" name="Connector 30"/>
          <p:cNvCxnSpPr/>
          <p:nvPr/>
        </p:nvCxnSpPr>
        <p:spPr>
          <a:xfrm>
            <a:off x="152400"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019121"/>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019121"/>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Mitsubishi Heavy Industries Machinery Systems, Ltd.</a:t>
            </a:r>
          </a:p>
        </p:txBody>
      </p:sp>
      <p:sp>
        <p:nvSpPr>
          <p:cNvPr id="34" name="Rectangle 33"/>
          <p:cNvSpPr/>
          <p:nvPr/>
        </p:nvSpPr>
        <p:spPr>
          <a:xfrm>
            <a:off x="152400" y="4384195"/>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52400" y="438419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33375" y="4384195"/>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7" name="TextBox 36"/>
          <p:cNvSpPr txBox="1"/>
          <p:nvPr/>
        </p:nvSpPr>
        <p:spPr>
          <a:xfrm>
            <a:off x="581025" y="4384195"/>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EMBA Machinery AB</a:t>
            </a:r>
          </a:p>
        </p:txBody>
      </p:sp>
      <p:cxnSp>
        <p:nvCxnSpPr>
          <p:cNvPr id="38" name="Connector 37"/>
          <p:cNvCxnSpPr/>
          <p:nvPr/>
        </p:nvCxnSpPr>
        <p:spPr>
          <a:xfrm>
            <a:off x="152400" y="474926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4749269"/>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4749269"/>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Koenig &amp; Bauer Celmacch</a:t>
            </a:r>
          </a:p>
        </p:txBody>
      </p:sp>
      <p:sp>
        <p:nvSpPr>
          <p:cNvPr id="41" name="Rectangle 40"/>
          <p:cNvSpPr/>
          <p:nvPr/>
        </p:nvSpPr>
        <p:spPr>
          <a:xfrm>
            <a:off x="152400" y="5114343"/>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52400" y="511434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33375" y="5114343"/>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4" name="TextBox 43"/>
          <p:cNvSpPr txBox="1"/>
          <p:nvPr/>
        </p:nvSpPr>
        <p:spPr>
          <a:xfrm>
            <a:off x="581025" y="5114343"/>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Göpfert Maschinen GmbH</a:t>
            </a:r>
          </a:p>
        </p:txBody>
      </p:sp>
      <p:cxnSp>
        <p:nvCxnSpPr>
          <p:cNvPr id="45" name="Connector 44"/>
          <p:cNvCxnSpPr/>
          <p:nvPr/>
        </p:nvCxnSpPr>
        <p:spPr>
          <a:xfrm>
            <a:off x="152400" y="54794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33375" y="5479417"/>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7" name="TextBox 46"/>
          <p:cNvSpPr txBox="1"/>
          <p:nvPr/>
        </p:nvSpPr>
        <p:spPr>
          <a:xfrm>
            <a:off x="581025" y="5479417"/>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SUN Automation Group</a:t>
            </a:r>
          </a:p>
        </p:txBody>
      </p:sp>
      <p:sp>
        <p:nvSpPr>
          <p:cNvPr id="48" name="Rectangle 47"/>
          <p:cNvSpPr/>
          <p:nvPr/>
        </p:nvSpPr>
        <p:spPr>
          <a:xfrm>
            <a:off x="152400" y="5844491"/>
            <a:ext cx="5838825" cy="355947"/>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52400" y="584449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3375" y="5844491"/>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1" name="TextBox 50"/>
          <p:cNvSpPr txBox="1"/>
          <p:nvPr/>
        </p:nvSpPr>
        <p:spPr>
          <a:xfrm>
            <a:off x="581025" y="5844491"/>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KOLBUS GmbH &amp; Co. KG</a:t>
            </a:r>
          </a:p>
        </p:txBody>
      </p:sp>
      <p:sp>
        <p:nvSpPr>
          <p:cNvPr id="52" name="Rectangle 51"/>
          <p:cNvSpPr/>
          <p:nvPr/>
        </p:nvSpPr>
        <p:spPr>
          <a:xfrm>
            <a:off x="6191250" y="1554872"/>
            <a:ext cx="5857875"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91250" y="1554872"/>
            <a:ext cx="5857875"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91250" y="1618760"/>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55" name="TextBox 54"/>
          <p:cNvSpPr txBox="1"/>
          <p:nvPr/>
        </p:nvSpPr>
        <p:spPr>
          <a:xfrm>
            <a:off x="6381750" y="1828677"/>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6" name="TextBox 55"/>
          <p:cNvSpPr txBox="1"/>
          <p:nvPr/>
        </p:nvSpPr>
        <p:spPr>
          <a:xfrm>
            <a:off x="6629400" y="1828677"/>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ISOWA Corporation</a:t>
            </a:r>
          </a:p>
        </p:txBody>
      </p:sp>
      <p:sp>
        <p:nvSpPr>
          <p:cNvPr id="57" name="Rectangle 56"/>
          <p:cNvSpPr/>
          <p:nvPr/>
        </p:nvSpPr>
        <p:spPr>
          <a:xfrm>
            <a:off x="6200775" y="2193751"/>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6200775" y="219375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381750" y="2193751"/>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0" name="TextBox 59"/>
          <p:cNvSpPr txBox="1"/>
          <p:nvPr/>
        </p:nvSpPr>
        <p:spPr>
          <a:xfrm>
            <a:off x="6629400" y="2193751"/>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Guangdong Dongfang Precision Science &amp; Technology Co., Ltd.</a:t>
            </a:r>
          </a:p>
        </p:txBody>
      </p:sp>
      <p:cxnSp>
        <p:nvCxnSpPr>
          <p:cNvPr id="61" name="Connector 60"/>
          <p:cNvCxnSpPr/>
          <p:nvPr/>
        </p:nvCxnSpPr>
        <p:spPr>
          <a:xfrm>
            <a:off x="6200775" y="255882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381750" y="2558825"/>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3" name="TextBox 62"/>
          <p:cNvSpPr txBox="1"/>
          <p:nvPr/>
        </p:nvSpPr>
        <p:spPr>
          <a:xfrm>
            <a:off x="6629400" y="2558825"/>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TCY Machinery Mfg. Co., Ltd.</a:t>
            </a:r>
          </a:p>
        </p:txBody>
      </p:sp>
      <p:sp>
        <p:nvSpPr>
          <p:cNvPr id="64" name="Rectangle 63"/>
          <p:cNvSpPr/>
          <p:nvPr/>
        </p:nvSpPr>
        <p:spPr>
          <a:xfrm>
            <a:off x="6200775" y="2923899"/>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6200775" y="292389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6381750" y="2923899"/>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7" name="TextBox 66"/>
          <p:cNvSpPr txBox="1"/>
          <p:nvPr/>
        </p:nvSpPr>
        <p:spPr>
          <a:xfrm>
            <a:off x="6629400" y="2923899"/>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BAHMÜLLER</a:t>
            </a:r>
          </a:p>
        </p:txBody>
      </p:sp>
      <p:cxnSp>
        <p:nvCxnSpPr>
          <p:cNvPr id="68" name="Connector 67"/>
          <p:cNvCxnSpPr/>
          <p:nvPr/>
        </p:nvCxnSpPr>
        <p:spPr>
          <a:xfrm>
            <a:off x="6200775" y="328897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6381750" y="3288973"/>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0" name="TextBox 69"/>
          <p:cNvSpPr txBox="1"/>
          <p:nvPr/>
        </p:nvSpPr>
        <p:spPr>
          <a:xfrm>
            <a:off x="6629400" y="3288973"/>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Electronics For Imaging, Inc. (EFI)</a:t>
            </a:r>
          </a:p>
        </p:txBody>
      </p:sp>
      <p:sp>
        <p:nvSpPr>
          <p:cNvPr id="71" name="Rectangle 70"/>
          <p:cNvSpPr/>
          <p:nvPr/>
        </p:nvSpPr>
        <p:spPr>
          <a:xfrm>
            <a:off x="6200775" y="3654047"/>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6200775" y="365404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381750" y="3654047"/>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4" name="TextBox 73"/>
          <p:cNvSpPr txBox="1"/>
          <p:nvPr/>
        </p:nvSpPr>
        <p:spPr>
          <a:xfrm>
            <a:off x="6629400" y="3654047"/>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Fosber America, Inc.</a:t>
            </a:r>
          </a:p>
        </p:txBody>
      </p:sp>
      <p:cxnSp>
        <p:nvCxnSpPr>
          <p:cNvPr id="75" name="Connector 74"/>
          <p:cNvCxnSpPr/>
          <p:nvPr/>
        </p:nvCxnSpPr>
        <p:spPr>
          <a:xfrm>
            <a:off x="6200775" y="401912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381750" y="4019121"/>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7" name="TextBox 76"/>
          <p:cNvSpPr txBox="1"/>
          <p:nvPr/>
        </p:nvSpPr>
        <p:spPr>
          <a:xfrm>
            <a:off x="6629400" y="4019121"/>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BGM Bahmüller und Göpfert Maschinen GmbH</a:t>
            </a:r>
          </a:p>
        </p:txBody>
      </p:sp>
      <p:sp>
        <p:nvSpPr>
          <p:cNvPr id="78" name="Rectangle 77"/>
          <p:cNvSpPr/>
          <p:nvPr/>
        </p:nvSpPr>
        <p:spPr>
          <a:xfrm>
            <a:off x="6200775" y="4384195"/>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6200775" y="438419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381750" y="4384195"/>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1" name="TextBox 80"/>
          <p:cNvSpPr txBox="1"/>
          <p:nvPr/>
        </p:nvSpPr>
        <p:spPr>
          <a:xfrm>
            <a:off x="6629400" y="4384195"/>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Hsieh Hsu Machinery Co., Ltd.</a:t>
            </a:r>
          </a:p>
        </p:txBody>
      </p:sp>
      <p:cxnSp>
        <p:nvCxnSpPr>
          <p:cNvPr id="82" name="Connector 81"/>
          <p:cNvCxnSpPr/>
          <p:nvPr/>
        </p:nvCxnSpPr>
        <p:spPr>
          <a:xfrm>
            <a:off x="6200775" y="474926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6381750" y="4749269"/>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4" name="TextBox 83"/>
          <p:cNvSpPr txBox="1"/>
          <p:nvPr/>
        </p:nvSpPr>
        <p:spPr>
          <a:xfrm>
            <a:off x="6629400" y="4749269"/>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Ming Wei Paperware Machinery Co., Ltd.</a:t>
            </a:r>
          </a:p>
        </p:txBody>
      </p:sp>
      <p:sp>
        <p:nvSpPr>
          <p:cNvPr id="85" name="Rectangle 84"/>
          <p:cNvSpPr/>
          <p:nvPr/>
        </p:nvSpPr>
        <p:spPr>
          <a:xfrm>
            <a:off x="6200775" y="5114343"/>
            <a:ext cx="5838825" cy="36507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6200775" y="511434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6381750" y="5114343"/>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8" name="TextBox 87"/>
          <p:cNvSpPr txBox="1"/>
          <p:nvPr/>
        </p:nvSpPr>
        <p:spPr>
          <a:xfrm>
            <a:off x="6629400" y="5114343"/>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Guangdong Wanlian Precision Technology Co., Ltd.</a:t>
            </a:r>
          </a:p>
        </p:txBody>
      </p:sp>
      <p:cxnSp>
        <p:nvCxnSpPr>
          <p:cNvPr id="89" name="Connector 88"/>
          <p:cNvCxnSpPr/>
          <p:nvPr/>
        </p:nvCxnSpPr>
        <p:spPr>
          <a:xfrm>
            <a:off x="6200775" y="547941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6381750" y="5479417"/>
            <a:ext cx="190500" cy="36507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91" name="TextBox 90"/>
          <p:cNvSpPr txBox="1"/>
          <p:nvPr/>
        </p:nvSpPr>
        <p:spPr>
          <a:xfrm>
            <a:off x="6629400" y="5479417"/>
            <a:ext cx="5324475" cy="365074"/>
          </a:xfrm>
          <a:prstGeom prst="rect">
            <a:avLst/>
          </a:prstGeom>
          <a:noFill/>
        </p:spPr>
        <p:txBody>
          <a:bodyPr wrap="square" lIns="28575" rIns="28575" tIns="9525" bIns="9525" anchor="ctr">
            <a:spAutoFit/>
          </a:bodyPr>
          <a:lstStyle/>
          <a:p>
            <a:pPr algn="l"/>
            <a:r>
              <a:rPr sz="1100" b="0">
                <a:solidFill>
                  <a:srgbClr val="2E2E2E"/>
                </a:solidFill>
                <a:latin typeface="Calibri"/>
              </a:rPr>
              <a:t>J.S. Machine</a:t>
            </a:r>
          </a:p>
        </p:txBody>
      </p:sp>
      <p:sp>
        <p:nvSpPr>
          <p:cNvPr id="92" name="Rectangle 91"/>
          <p:cNvSpPr/>
          <p:nvPr/>
        </p:nvSpPr>
        <p:spPr>
          <a:xfrm>
            <a:off x="6200775" y="5844491"/>
            <a:ext cx="5838825" cy="355947"/>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6200775" y="584449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95" name="Rectangle 9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(Value- Volume) Analysis 2021-2036, By Material Type</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3.5.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3.5.1.</a:t>
                      </a:r>
                      <a:r>
                        <a:rPr sz="700" b="0" i="0">
                          <a:solidFill>
                            <a:srgbClr val="000000"/>
                          </a:solidFill>
                          <a:latin typeface="Times New Roman"/>
                        </a:rPr>
                        <a:t>   </a:t>
                      </a:r>
                      <a:r>
                        <a:rPr sz="1100" b="0" i="0">
                          <a:solidFill>
                            <a:srgbClr val="000000"/>
                          </a:solidFill>
                          <a:latin typeface="Calibri"/>
                        </a:rPr>
                        <a:t>Polyethylene (PE) Foam</a:t>
                      </a:r>
                      <a:endParaRPr sz="1100"/>
                    </a:p>
                  </a:txBody>
                  <a:tcPr marL="771525" marR="9525" marT="9525" marB="0" anchor="ctr"/>
                </a:tc>
              </a:tr>
              <a:tr h="175260">
                <a:tc>
                  <a:txBody>
                    <a:bodyPr wrap="square"/>
                    <a:lstStyle/>
                    <a:p>
                      <a:pPr algn="l"/>
                      <a:r>
                        <a:rPr sz="1100" b="0" i="1">
                          <a:solidFill>
                            <a:srgbClr val="000000"/>
                          </a:solidFill>
                          <a:latin typeface="Calibri"/>
                        </a:rPr>
                        <a:t>3.5.1.1.</a:t>
                      </a:r>
                      <a:r>
                        <a:rPr sz="700" b="0" i="1">
                          <a:solidFill>
                            <a:srgbClr val="000000"/>
                          </a:solidFill>
                          <a:latin typeface="Times New Roman"/>
                        </a:rPr>
                        <a:t>    </a:t>
                      </a:r>
                      <a:r>
                        <a:rPr sz="1100" b="0" i="1">
                          <a:solidFill>
                            <a:srgbClr val="000000"/>
                          </a:solidFill>
                          <a:latin typeface="Calibri"/>
                        </a:rPr>
                        <a:t>Non-Crosslinked PE Foam (EPE)</a:t>
                      </a:r>
                      <a:endParaRPr sz="1100"/>
                    </a:p>
                  </a:txBody>
                  <a:tcPr marL="1028700" marR="9525" marT="9525" marB="0" anchor="ctr"/>
                </a:tc>
              </a:tr>
              <a:tr h="175260">
                <a:tc>
                  <a:txBody>
                    <a:bodyPr wrap="square"/>
                    <a:lstStyle/>
                    <a:p>
                      <a:pPr algn="l"/>
                      <a:r>
                        <a:rPr sz="1100" b="0" i="1">
                          <a:solidFill>
                            <a:srgbClr val="000000"/>
                          </a:solidFill>
                          <a:latin typeface="Calibri"/>
                        </a:rPr>
                        <a:t>3.5.1.2.</a:t>
                      </a:r>
                      <a:r>
                        <a:rPr sz="700" b="0" i="1">
                          <a:solidFill>
                            <a:srgbClr val="000000"/>
                          </a:solidFill>
                          <a:latin typeface="Times New Roman"/>
                        </a:rPr>
                        <a:t>    </a:t>
                      </a:r>
                      <a:r>
                        <a:rPr sz="1100" b="0" i="1">
                          <a:solidFill>
                            <a:srgbClr val="000000"/>
                          </a:solidFill>
                          <a:latin typeface="Calibri"/>
                        </a:rPr>
                        <a:t>Crosslinked PE Foam (XLPE)</a:t>
                      </a:r>
                      <a:endParaRPr sz="1100"/>
                    </a:p>
                  </a:txBody>
                  <a:tcPr marL="1028700" marR="9525" marT="9525" marB="0" anchor="ctr"/>
                </a:tc>
              </a:tr>
              <a:tr h="175260">
                <a:tc>
                  <a:txBody>
                    <a:bodyPr wrap="square"/>
                    <a:lstStyle/>
                    <a:p>
                      <a:pPr algn="l"/>
                      <a:r>
                        <a:rPr sz="1100" b="0" i="0">
                          <a:solidFill>
                            <a:srgbClr val="000000"/>
                          </a:solidFill>
                          <a:latin typeface="Calibri"/>
                        </a:rPr>
                        <a:t>3.5.2.</a:t>
                      </a:r>
                      <a:r>
                        <a:rPr sz="700" b="0" i="0">
                          <a:solidFill>
                            <a:srgbClr val="000000"/>
                          </a:solidFill>
                          <a:latin typeface="Times New Roman"/>
                        </a:rPr>
                        <a:t>   </a:t>
                      </a:r>
                      <a:r>
                        <a:rPr sz="1100" b="0" i="0">
                          <a:solidFill>
                            <a:srgbClr val="000000"/>
                          </a:solidFill>
                          <a:latin typeface="Calibri"/>
                        </a:rPr>
                        <a:t>Expanded Polystyrene (EPS)</a:t>
                      </a:r>
                      <a:endParaRPr sz="1100"/>
                    </a:p>
                  </a:txBody>
                  <a:tcPr marL="771525" marR="9525" marT="9525" marB="0" anchor="ctr"/>
                </a:tc>
              </a:tr>
              <a:tr h="175260">
                <a:tc>
                  <a:txBody>
                    <a:bodyPr wrap="square"/>
                    <a:lstStyle/>
                    <a:p>
                      <a:pPr algn="l"/>
                      <a:r>
                        <a:rPr sz="1100" b="0" i="0">
                          <a:solidFill>
                            <a:srgbClr val="000000"/>
                          </a:solidFill>
                          <a:latin typeface="Calibri"/>
                        </a:rPr>
                        <a:t>3.5.3.</a:t>
                      </a:r>
                      <a:r>
                        <a:rPr sz="700" b="0" i="0">
                          <a:solidFill>
                            <a:srgbClr val="000000"/>
                          </a:solidFill>
                          <a:latin typeface="Times New Roman"/>
                        </a:rPr>
                        <a:t>   </a:t>
                      </a:r>
                      <a:r>
                        <a:rPr sz="1100" b="0" i="0">
                          <a:solidFill>
                            <a:srgbClr val="000000"/>
                          </a:solidFill>
                          <a:latin typeface="Calibri"/>
                        </a:rPr>
                        <a:t>Polyurethane (PU) Foam</a:t>
                      </a:r>
                      <a:endParaRPr sz="1100"/>
                    </a:p>
                  </a:txBody>
                  <a:tcPr marL="771525" marR="9525" marT="9525" marB="0" anchor="ctr"/>
                </a:tc>
              </a:tr>
              <a:tr h="175260">
                <a:tc>
                  <a:txBody>
                    <a:bodyPr wrap="square"/>
                    <a:lstStyle/>
                    <a:p>
                      <a:pPr algn="l"/>
                      <a:r>
                        <a:rPr sz="1100" b="0" i="0">
                          <a:solidFill>
                            <a:srgbClr val="000000"/>
                          </a:solidFill>
                          <a:latin typeface="Calibri"/>
                        </a:rPr>
                        <a:t>3.5.4.</a:t>
                      </a:r>
                      <a:r>
                        <a:rPr sz="700" b="0" i="0">
                          <a:solidFill>
                            <a:srgbClr val="000000"/>
                          </a:solidFill>
                          <a:latin typeface="Times New Roman"/>
                        </a:rPr>
                        <a:t>   </a:t>
                      </a:r>
                      <a:r>
                        <a:rPr sz="1100" b="0" i="0">
                          <a:solidFill>
                            <a:srgbClr val="000000"/>
                          </a:solidFill>
                          <a:latin typeface="Calibri"/>
                        </a:rPr>
                        <a:t>Expanded Polypropylene (EPP)</a:t>
                      </a:r>
                      <a:endParaRPr sz="1100"/>
                    </a:p>
                  </a:txBody>
                  <a:tcPr marL="771525" marR="9525" marT="9525" marB="0" anchor="ctr"/>
                </a:tc>
              </a:tr>
              <a:tr h="175260">
                <a:tc>
                  <a:txBody>
                    <a:bodyPr wrap="square"/>
                    <a:lstStyle/>
                    <a:p>
                      <a:pPr algn="l"/>
                      <a:r>
                        <a:rPr sz="1100" b="0" i="0">
                          <a:solidFill>
                            <a:srgbClr val="000000"/>
                          </a:solidFill>
                          <a:latin typeface="Calibri"/>
                        </a:rPr>
                        <a:t>3.5.5.</a:t>
                      </a:r>
                      <a:r>
                        <a:rPr sz="700" b="0" i="0">
                          <a:solidFill>
                            <a:srgbClr val="000000"/>
                          </a:solidFill>
                          <a:latin typeface="Times New Roman"/>
                        </a:rPr>
                        <a:t>   </a:t>
                      </a:r>
                      <a:r>
                        <a:rPr sz="1100" b="0" i="0">
                          <a:solidFill>
                            <a:srgbClr val="000000"/>
                          </a:solidFill>
                          <a:latin typeface="Calibri"/>
                        </a:rPr>
                        <a:t>Other Foam Materials</a:t>
                      </a:r>
                      <a:endParaRPr sz="1100"/>
                    </a:p>
                  </a:txBody>
                  <a:tcPr marL="771525" marR="9525" marT="9525" marB="0" anchor="ctr"/>
                </a:tc>
              </a:tr>
              <a:tr h="175260">
                <a:tc>
                  <a:txBody>
                    <a:bodyPr wrap="square"/>
                    <a:lstStyle/>
                    <a:p>
                      <a:pPr algn="l"/>
                      <a:r>
                        <a:rPr sz="1100" b="0" i="1">
                          <a:solidFill>
                            <a:srgbClr val="000000"/>
                          </a:solidFill>
                          <a:latin typeface="Calibri"/>
                        </a:rPr>
                        <a:t>3.5.5.1.</a:t>
                      </a:r>
                      <a:r>
                        <a:rPr sz="700" b="0" i="1">
                          <a:solidFill>
                            <a:srgbClr val="000000"/>
                          </a:solidFill>
                          <a:latin typeface="Times New Roman"/>
                        </a:rPr>
                        <a:t>    </a:t>
                      </a:r>
                      <a:r>
                        <a:rPr sz="1100" b="0" i="1">
                          <a:solidFill>
                            <a:srgbClr val="000000"/>
                          </a:solidFill>
                          <a:latin typeface="Calibri"/>
                        </a:rPr>
                        <a:t>Extruded Polystyrene (XPS) Foam</a:t>
                      </a:r>
                      <a:endParaRPr sz="1100"/>
                    </a:p>
                  </a:txBody>
                  <a:tcPr marL="1028700" marR="9525" marT="9525" marB="0" anchor="ctr"/>
                </a:tc>
              </a:tr>
              <a:tr h="175260">
                <a:tc>
                  <a:txBody>
                    <a:bodyPr wrap="square"/>
                    <a:lstStyle/>
                    <a:p>
                      <a:pPr algn="l"/>
                      <a:r>
                        <a:rPr sz="1100" b="0" i="1">
                          <a:solidFill>
                            <a:srgbClr val="000000"/>
                          </a:solidFill>
                          <a:latin typeface="Calibri"/>
                        </a:rPr>
                        <a:t>3.5.5.2.</a:t>
                      </a:r>
                      <a:r>
                        <a:rPr sz="700" b="0" i="1">
                          <a:solidFill>
                            <a:srgbClr val="000000"/>
                          </a:solidFill>
                          <a:latin typeface="Times New Roman"/>
                        </a:rPr>
                        <a:t>    </a:t>
                      </a:r>
                      <a:r>
                        <a:rPr sz="1100" b="0" i="1">
                          <a:solidFill>
                            <a:srgbClr val="000000"/>
                          </a:solidFill>
                          <a:latin typeface="Calibri"/>
                        </a:rPr>
                        <a:t>Other Polyolefin &amp; Specialty Polymer Foams</a:t>
                      </a:r>
                      <a:endParaRPr sz="1100"/>
                    </a:p>
                  </a:txBody>
                  <a:tcPr marL="1028700"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3.5.5.3.</a:t>
                      </a:r>
                      <a:r>
                        <a:rPr sz="700" b="0" i="1">
                          <a:solidFill>
                            <a:srgbClr val="000000"/>
                          </a:solidFill>
                          <a:latin typeface="Times New Roman"/>
                        </a:rPr>
                        <a:t>    </a:t>
                      </a:r>
                      <a:r>
                        <a:rPr sz="1100" b="0" i="1">
                          <a:solidFill>
                            <a:srgbClr val="000000"/>
                          </a:solidFill>
                          <a:latin typeface="Calibri"/>
                        </a:rPr>
                        <a:t>Bio-based / Starch-based Foams</a:t>
                      </a:r>
                      <a:endParaRPr sz="1100"/>
                    </a:p>
                  </a:txBody>
                  <a:tcPr marL="1028700"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Product Form</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Foam Sheets, Rolls &amp; Planks</a:t>
                      </a:r>
                      <a:endParaRPr sz="1100"/>
                    </a:p>
                  </a:txBody>
                  <a:tcPr marL="771525" marR="9525" marT="9525" marB="0" anchor="ctr"/>
                </a:tc>
              </a:tr>
              <a:tr h="175260">
                <a:tc>
                  <a:txBody>
                    <a:bodyPr wrap="square"/>
                    <a:lstStyle/>
                    <a:p>
                      <a:pPr algn="l"/>
                      <a:r>
                        <a:rPr sz="1100" b="0" i="1">
                          <a:solidFill>
                            <a:srgbClr val="000000"/>
                          </a:solidFill>
                          <a:latin typeface="Calibri"/>
                        </a:rPr>
                        <a:t>4.5.1.1.</a:t>
                      </a:r>
                      <a:r>
                        <a:rPr sz="700" b="0" i="1">
                          <a:solidFill>
                            <a:srgbClr val="000000"/>
                          </a:solidFill>
                          <a:latin typeface="Times New Roman"/>
                        </a:rPr>
                        <a:t>    </a:t>
                      </a:r>
                      <a:r>
                        <a:rPr sz="1100" b="0" i="1">
                          <a:solidFill>
                            <a:srgbClr val="000000"/>
                          </a:solidFill>
                          <a:latin typeface="Calibri"/>
                        </a:rPr>
                        <a:t>Foam Sheets &amp; Rolls</a:t>
                      </a:r>
                      <a:endParaRPr sz="1100"/>
                    </a:p>
                  </a:txBody>
                  <a:tcPr marL="1028700" marR="9525" marT="9525" marB="0" anchor="ctr"/>
                </a:tc>
              </a:tr>
              <a:tr h="175260">
                <a:tc>
                  <a:txBody>
                    <a:bodyPr wrap="square"/>
                    <a:lstStyle/>
                    <a:p>
                      <a:pPr algn="l"/>
                      <a:r>
                        <a:rPr sz="1100" b="0" i="1">
                          <a:solidFill>
                            <a:srgbClr val="000000"/>
                          </a:solidFill>
                          <a:latin typeface="Calibri"/>
                        </a:rPr>
                        <a:t>4.5.1.2.</a:t>
                      </a:r>
                      <a:r>
                        <a:rPr sz="700" b="0" i="1">
                          <a:solidFill>
                            <a:srgbClr val="000000"/>
                          </a:solidFill>
                          <a:latin typeface="Times New Roman"/>
                        </a:rPr>
                        <a:t>    </a:t>
                      </a:r>
                      <a:r>
                        <a:rPr sz="1100" b="0" i="1">
                          <a:solidFill>
                            <a:srgbClr val="000000"/>
                          </a:solidFill>
                          <a:latin typeface="Calibri"/>
                        </a:rPr>
                        <a:t>Foam Planks &amp; Blocks</a:t>
                      </a:r>
                      <a:endParaRPr sz="1100"/>
                    </a:p>
                  </a:txBody>
                  <a:tcPr marL="1028700" marR="9525" marT="9525" marB="0" anchor="ctr"/>
                </a:tc>
              </a:tr>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Fabricated Foam Packaging</a:t>
                      </a:r>
                      <a:endParaRPr sz="1100"/>
                    </a:p>
                  </a:txBody>
                  <a:tcPr marL="771525" marR="9525" marT="9525" marB="0" anchor="ctr"/>
                </a:tc>
              </a:tr>
              <a:tr h="175260">
                <a:tc>
                  <a:txBody>
                    <a:bodyPr wrap="square"/>
                    <a:lstStyle/>
                    <a:p>
                      <a:pPr algn="l"/>
                      <a:r>
                        <a:rPr sz="1100" b="0" i="1">
                          <a:solidFill>
                            <a:srgbClr val="000000"/>
                          </a:solidFill>
                          <a:latin typeface="Calibri"/>
                        </a:rPr>
                        <a:t>4.5.2.1.</a:t>
                      </a:r>
                      <a:r>
                        <a:rPr sz="700" b="0" i="1">
                          <a:solidFill>
                            <a:srgbClr val="000000"/>
                          </a:solidFill>
                          <a:latin typeface="Times New Roman"/>
                        </a:rPr>
                        <a:t>    </a:t>
                      </a:r>
                      <a:r>
                        <a:rPr sz="1100" b="0" i="1">
                          <a:solidFill>
                            <a:srgbClr val="000000"/>
                          </a:solidFill>
                          <a:latin typeface="Calibri"/>
                        </a:rPr>
                        <a:t>Die-Cut / CNC-Cut Foam Inserts &amp; Pads</a:t>
                      </a:r>
                      <a:endParaRPr sz="1100"/>
                    </a:p>
                  </a:txBody>
                  <a:tcPr marL="1028700" marR="9525" marT="9525" marB="0" anchor="ctr"/>
                </a:tc>
              </a:tr>
              <a:tr h="175260">
                <a:tc>
                  <a:txBody>
                    <a:bodyPr wrap="square"/>
                    <a:lstStyle/>
                    <a:p>
                      <a:pPr algn="l"/>
                      <a:r>
                        <a:rPr sz="1100" b="0" i="1">
                          <a:solidFill>
                            <a:srgbClr val="000000"/>
                          </a:solidFill>
                          <a:latin typeface="Calibri"/>
                        </a:rPr>
                        <a:t>4.5.2.2.</a:t>
                      </a:r>
                      <a:r>
                        <a:rPr sz="700" b="0" i="1">
                          <a:solidFill>
                            <a:srgbClr val="000000"/>
                          </a:solidFill>
                          <a:latin typeface="Times New Roman"/>
                        </a:rPr>
                        <a:t>    </a:t>
                      </a:r>
                      <a:r>
                        <a:rPr sz="1100" b="0" i="1">
                          <a:solidFill>
                            <a:srgbClr val="000000"/>
                          </a:solidFill>
                          <a:latin typeface="Calibri"/>
                        </a:rPr>
                        <a:t>Foam Corner &amp; Edge Protectors / Profiles</a:t>
                      </a:r>
                      <a:endParaRPr sz="1100"/>
                    </a:p>
                  </a:txBody>
                  <a:tcPr marL="1028700" marR="9525" marT="9525" marB="0" anchor="ctr"/>
                </a:tc>
              </a:tr>
              <a:tr h="175260">
                <a:tc>
                  <a:txBody>
                    <a:bodyPr wrap="square"/>
                    <a:lstStyle/>
                    <a:p>
                      <a:pPr algn="l"/>
                      <a:r>
                        <a:rPr sz="1100" b="0" i="1">
                          <a:solidFill>
                            <a:srgbClr val="000000"/>
                          </a:solidFill>
                          <a:latin typeface="Calibri"/>
                        </a:rPr>
                        <a:t>4.5.2.3.</a:t>
                      </a:r>
                      <a:r>
                        <a:rPr sz="700" b="0" i="1">
                          <a:solidFill>
                            <a:srgbClr val="000000"/>
                          </a:solidFill>
                          <a:latin typeface="Times New Roman"/>
                        </a:rPr>
                        <a:t>    </a:t>
                      </a:r>
                      <a:r>
                        <a:rPr sz="1100" b="0" i="1">
                          <a:solidFill>
                            <a:srgbClr val="000000"/>
                          </a:solidFill>
                          <a:latin typeface="Calibri"/>
                        </a:rPr>
                        <a:t>Foam Dividers &amp; Separators</a:t>
                      </a:r>
                      <a:endParaRPr sz="1100"/>
                    </a:p>
                  </a:txBody>
                  <a:tcPr marL="1028700" marR="9525" marT="9525" marB="0" anchor="ctr"/>
                </a:tc>
              </a:tr>
              <a:tr h="175260">
                <a:tc>
                  <a:txBody>
                    <a:bodyPr wrap="square"/>
                    <a:lstStyle/>
                    <a:p>
                      <a:pPr algn="l"/>
                      <a:r>
                        <a:rPr sz="1100" b="0" i="0">
                          <a:solidFill>
                            <a:srgbClr val="000000"/>
                          </a:solidFill>
                          <a:latin typeface="Calibri"/>
                        </a:rPr>
                        <a:t>4.5.3.</a:t>
                      </a:r>
                      <a:r>
                        <a:rPr sz="700" b="0" i="0">
                          <a:solidFill>
                            <a:srgbClr val="000000"/>
                          </a:solidFill>
                          <a:latin typeface="Times New Roman"/>
                        </a:rPr>
                        <a:t>   </a:t>
                      </a:r>
                      <a:r>
                        <a:rPr sz="1100" b="0" i="0">
                          <a:solidFill>
                            <a:srgbClr val="000000"/>
                          </a:solidFill>
                          <a:latin typeface="Calibri"/>
                        </a:rPr>
                        <a:t>Molded Foam Packaging</a:t>
                      </a:r>
                      <a:endParaRPr sz="1100"/>
                    </a:p>
                  </a:txBody>
                  <a:tcPr marL="771525" marR="9525" marT="9525" marB="0" anchor="ctr"/>
                </a:tc>
              </a:tr>
              <a:tr h="175260">
                <a:tc>
                  <a:txBody>
                    <a:bodyPr wrap="square"/>
                    <a:lstStyle/>
                    <a:p>
                      <a:pPr algn="l"/>
                      <a:r>
                        <a:rPr sz="1100" b="0" i="1">
                          <a:solidFill>
                            <a:srgbClr val="000000"/>
                          </a:solidFill>
                          <a:latin typeface="Calibri"/>
                        </a:rPr>
                        <a:t>4.5.3.1.</a:t>
                      </a:r>
                      <a:r>
                        <a:rPr sz="700" b="0" i="1">
                          <a:solidFill>
                            <a:srgbClr val="000000"/>
                          </a:solidFill>
                          <a:latin typeface="Times New Roman"/>
                        </a:rPr>
                        <a:t>    </a:t>
                      </a:r>
                      <a:r>
                        <a:rPr sz="1100" b="0" i="1">
                          <a:solidFill>
                            <a:srgbClr val="000000"/>
                          </a:solidFill>
                          <a:latin typeface="Calibri"/>
                        </a:rPr>
                        <a:t>Molded Inserts, End Caps &amp; Cradles</a:t>
                      </a:r>
                      <a:endParaRPr sz="1100"/>
                    </a:p>
                  </a:txBody>
                  <a:tcPr marL="1028700" marR="9525" marT="9525" marB="0" anchor="ctr"/>
                </a:tc>
              </a:tr>
              <a:tr h="175260">
                <a:tc>
                  <a:txBody>
                    <a:bodyPr wrap="square"/>
                    <a:lstStyle/>
                    <a:p>
                      <a:pPr algn="l"/>
                      <a:r>
                        <a:rPr sz="1100" b="0" i="1">
                          <a:solidFill>
                            <a:srgbClr val="000000"/>
                          </a:solidFill>
                          <a:latin typeface="Calibri"/>
                        </a:rPr>
                        <a:t>4.5.3.2.</a:t>
                      </a:r>
                      <a:r>
                        <a:rPr sz="700" b="0" i="1">
                          <a:solidFill>
                            <a:srgbClr val="000000"/>
                          </a:solidFill>
                          <a:latin typeface="Times New Roman"/>
                        </a:rPr>
                        <a:t>    </a:t>
                      </a:r>
                      <a:r>
                        <a:rPr sz="1100" b="0" i="1">
                          <a:solidFill>
                            <a:srgbClr val="000000"/>
                          </a:solidFill>
                          <a:latin typeface="Calibri"/>
                        </a:rPr>
                        <a:t>Molded Protective Trays &amp; Containers</a:t>
                      </a:r>
                      <a:endParaRPr sz="1100"/>
                    </a:p>
                  </a:txBody>
                  <a:tcPr marL="1028700" marR="9525" marT="9525" marB="0" anchor="ctr"/>
                </a:tc>
              </a:tr>
              <a:tr h="175260">
                <a:tc>
                  <a:txBody>
                    <a:bodyPr wrap="square"/>
                    <a:lstStyle/>
                    <a:p>
                      <a:pPr algn="l"/>
                      <a:r>
                        <a:rPr sz="1100" b="0" i="0">
                          <a:solidFill>
                            <a:srgbClr val="000000"/>
                          </a:solidFill>
                          <a:latin typeface="Calibri"/>
                        </a:rPr>
                        <a:t>4.5.4.</a:t>
                      </a:r>
                      <a:r>
                        <a:rPr sz="700" b="0" i="0">
                          <a:solidFill>
                            <a:srgbClr val="000000"/>
                          </a:solidFill>
                          <a:latin typeface="Times New Roman"/>
                        </a:rPr>
                        <a:t>   </a:t>
                      </a:r>
                      <a:r>
                        <a:rPr sz="1100" b="0" i="0">
                          <a:solidFill>
                            <a:srgbClr val="000000"/>
                          </a:solidFill>
                          <a:latin typeface="Calibri"/>
                        </a:rPr>
                        <a:t>Foam-in-Place Packaging</a:t>
                      </a:r>
                      <a:endParaRPr sz="1100"/>
                    </a:p>
                  </a:txBody>
                  <a:tcPr marL="771525" marR="9525" marT="9525" marB="0" anchor="ctr"/>
                </a:tc>
              </a:tr>
              <a:tr h="175260">
                <a:tc>
                  <a:txBody>
                    <a:bodyPr wrap="square"/>
                    <a:lstStyle/>
                    <a:p>
                      <a:pPr algn="l"/>
                      <a:r>
                        <a:rPr sz="1100" b="0" i="1">
                          <a:solidFill>
                            <a:srgbClr val="000000"/>
                          </a:solidFill>
                          <a:latin typeface="Calibri"/>
                        </a:rPr>
                        <a:t>4.5.4.1.</a:t>
                      </a:r>
                      <a:r>
                        <a:rPr sz="700" b="0" i="1">
                          <a:solidFill>
                            <a:srgbClr val="000000"/>
                          </a:solidFill>
                          <a:latin typeface="Times New Roman"/>
                        </a:rPr>
                        <a:t>    </a:t>
                      </a:r>
                      <a:r>
                        <a:rPr sz="1100" b="0" i="1">
                          <a:solidFill>
                            <a:srgbClr val="000000"/>
                          </a:solidFill>
                          <a:latin typeface="Calibri"/>
                        </a:rPr>
                        <a:t>Direct-Dispensed Foam-in-Place</a:t>
                      </a:r>
                      <a:endParaRPr sz="1100"/>
                    </a:p>
                  </a:txBody>
                  <a:tcPr marL="1028700" marR="9525" marT="9525" marB="0" anchor="ctr"/>
                </a:tc>
              </a:tr>
              <a:tr h="175260">
                <a:tc>
                  <a:txBody>
                    <a:bodyPr wrap="square"/>
                    <a:lstStyle/>
                    <a:p>
                      <a:pPr algn="l"/>
                      <a:r>
                        <a:rPr sz="1100" b="0" i="1">
                          <a:solidFill>
                            <a:srgbClr val="000000"/>
                          </a:solidFill>
                          <a:latin typeface="Calibri"/>
                        </a:rPr>
                        <a:t>4.5.4.2.</a:t>
                      </a:r>
                      <a:r>
                        <a:rPr sz="700" b="0" i="1">
                          <a:solidFill>
                            <a:srgbClr val="000000"/>
                          </a:solidFill>
                          <a:latin typeface="Times New Roman"/>
                        </a:rPr>
                        <a:t>    </a:t>
                      </a:r>
                      <a:r>
                        <a:rPr sz="1100" b="0" i="1">
                          <a:solidFill>
                            <a:srgbClr val="000000"/>
                          </a:solidFill>
                          <a:latin typeface="Calibri"/>
                        </a:rPr>
                        <a:t>Foam-in-Bag / On-Demand Foam Cushions</a:t>
                      </a:r>
                      <a:endParaRPr sz="1100"/>
                    </a:p>
                  </a:txBody>
                  <a:tcPr marL="1028700" marR="9525" marT="9525" marB="0" anchor="ctr"/>
                </a:tc>
              </a:tr>
              <a:tr h="175260">
                <a:tc>
                  <a:txBody>
                    <a:bodyPr wrap="square"/>
                    <a:lstStyle/>
                    <a:p>
                      <a:pPr algn="l"/>
                      <a:r>
                        <a:rPr sz="1100" b="0" i="0">
                          <a:solidFill>
                            <a:srgbClr val="000000"/>
                          </a:solidFill>
                          <a:latin typeface="Calibri"/>
                        </a:rPr>
                        <a:t>4.5.5.</a:t>
                      </a:r>
                      <a:r>
                        <a:rPr sz="700" b="0" i="0">
                          <a:solidFill>
                            <a:srgbClr val="000000"/>
                          </a:solidFill>
                          <a:latin typeface="Times New Roman"/>
                        </a:rPr>
                        <a:t>   </a:t>
                      </a:r>
                      <a:r>
                        <a:rPr sz="1100" b="0" i="0">
                          <a:solidFill>
                            <a:srgbClr val="000000"/>
                          </a:solidFill>
                          <a:latin typeface="Calibri"/>
                        </a:rPr>
                        <a:t>Foam Pouches, Bags &amp; Sleeves</a:t>
                      </a:r>
                      <a:endParaRPr sz="1100"/>
                    </a:p>
                  </a:txBody>
                  <a:tcPr marL="771525" marR="9525" marT="9525" marB="0" anchor="ctr"/>
                </a:tc>
              </a:tr>
              <a:tr h="175260">
                <a:tc>
                  <a:txBody>
                    <a:bodyPr wrap="square"/>
                    <a:lstStyle/>
                    <a:p>
                      <a:pPr algn="l"/>
                      <a:r>
                        <a:rPr sz="1100" b="0" i="1">
                          <a:solidFill>
                            <a:srgbClr val="000000"/>
                          </a:solidFill>
                          <a:latin typeface="Calibri"/>
                        </a:rPr>
                        <a:t>4.5.5.1.</a:t>
                      </a:r>
                      <a:r>
                        <a:rPr sz="700" b="0" i="1">
                          <a:solidFill>
                            <a:srgbClr val="000000"/>
                          </a:solidFill>
                          <a:latin typeface="Times New Roman"/>
                        </a:rPr>
                        <a:t>    </a:t>
                      </a:r>
                      <a:r>
                        <a:rPr sz="1100" b="0" i="1">
                          <a:solidFill>
                            <a:srgbClr val="000000"/>
                          </a:solidFill>
                          <a:latin typeface="Calibri"/>
                        </a:rPr>
                        <a:t>Pre-Fabricated Foam Pouches &amp; Bags</a:t>
                      </a:r>
                      <a:endParaRPr sz="1100"/>
                    </a:p>
                  </a:txBody>
                  <a:tcPr marL="1028700" marR="9525" marT="9525" marB="0" anchor="ctr"/>
                </a:tc>
              </a:tr>
              <a:tr h="175260">
                <a:tc>
                  <a:txBody>
                    <a:bodyPr wrap="square"/>
                    <a:lstStyle/>
                    <a:p>
                      <a:pPr algn="l"/>
                      <a:r>
                        <a:rPr sz="1100" b="0" i="1">
                          <a:solidFill>
                            <a:srgbClr val="000000"/>
                          </a:solidFill>
                          <a:latin typeface="Calibri"/>
                        </a:rPr>
                        <a:t>4.5.5.2.</a:t>
                      </a:r>
                      <a:r>
                        <a:rPr sz="700" b="0" i="1">
                          <a:solidFill>
                            <a:srgbClr val="000000"/>
                          </a:solidFill>
                          <a:latin typeface="Times New Roman"/>
                        </a:rPr>
                        <a:t>    </a:t>
                      </a:r>
                      <a:r>
                        <a:rPr sz="1100" b="0" i="1">
                          <a:solidFill>
                            <a:srgbClr val="000000"/>
                          </a:solidFill>
                          <a:latin typeface="Calibri"/>
                        </a:rPr>
                        <a:t>Pre-Fabricated Foam Sleeves</a:t>
                      </a:r>
                      <a:endParaRPr sz="1100"/>
                    </a:p>
                  </a:txBody>
                  <a:tcPr marL="1028700" marR="9525" marT="9525" marB="0" anchor="ctr"/>
                </a:tc>
              </a:tr>
              <a:tr h="175260">
                <a:tc>
                  <a:txBody>
                    <a:bodyPr wrap="square"/>
                    <a:lstStyle/>
                    <a:p>
                      <a:pPr algn="l"/>
                      <a:r>
                        <a:rPr sz="1100" b="0" i="0">
                          <a:solidFill>
                            <a:srgbClr val="000000"/>
                          </a:solidFill>
                          <a:latin typeface="Calibri"/>
                        </a:rPr>
                        <a:t>4.5.6.</a:t>
                      </a:r>
                      <a:r>
                        <a:rPr sz="700" b="0" i="0">
                          <a:solidFill>
                            <a:srgbClr val="000000"/>
                          </a:solidFill>
                          <a:latin typeface="Times New Roman"/>
                        </a:rPr>
                        <a:t>   </a:t>
                      </a:r>
                      <a:r>
                        <a:rPr sz="1100" b="0" i="0">
                          <a:solidFill>
                            <a:srgbClr val="000000"/>
                          </a:solidFill>
                          <a:latin typeface="Calibri"/>
                        </a:rPr>
                        <a:t>Foam Loose-Fill Packaging</a:t>
                      </a:r>
                      <a:endParaRPr sz="1100"/>
                    </a:p>
                  </a:txBody>
                  <a:tcPr marL="771525" marR="9525" marT="9525" marB="0" anchor="ctr"/>
                </a:tc>
              </a:tr>
              <a:tr h="175260">
                <a:tc>
                  <a:txBody>
                    <a:bodyPr wrap="square"/>
                    <a:lstStyle/>
                    <a:p>
                      <a:pPr algn="l"/>
                      <a:r>
                        <a:rPr sz="1100" b="0" i="1">
                          <a:solidFill>
                            <a:srgbClr val="000000"/>
                          </a:solidFill>
                          <a:latin typeface="Calibri"/>
                        </a:rPr>
                        <a:t>4.5.6.1.</a:t>
                      </a:r>
                      <a:r>
                        <a:rPr sz="700" b="0" i="1">
                          <a:solidFill>
                            <a:srgbClr val="000000"/>
                          </a:solidFill>
                          <a:latin typeface="Times New Roman"/>
                        </a:rPr>
                        <a:t>    </a:t>
                      </a:r>
                      <a:r>
                        <a:rPr sz="1100" b="0" i="1">
                          <a:solidFill>
                            <a:srgbClr val="000000"/>
                          </a:solidFill>
                          <a:latin typeface="Calibri"/>
                        </a:rPr>
                        <a:t>Foam Packing Peanuts / Loose-Fill Shapes</a:t>
                      </a:r>
                      <a:endParaRPr sz="1100"/>
                    </a:p>
                  </a:txBody>
                  <a:tcPr marL="1028700"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End-Use Industry</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Electronics &amp; Electrical</a:t>
                      </a:r>
                      <a:endParaRPr sz="1100"/>
                    </a:p>
                  </a:txBody>
                  <a:tcPr marL="771525" marR="9525" marT="9525" marB="0" anchor="ctr"/>
                </a:tc>
              </a:tr>
              <a:tr h="175260">
                <a:tc>
                  <a:txBody>
                    <a:bodyPr wrap="square"/>
                    <a:lstStyle/>
                    <a:p>
                      <a:pPr algn="l"/>
                      <a:r>
                        <a:rPr sz="1100" b="0" i="1">
                          <a:solidFill>
                            <a:srgbClr val="000000"/>
                          </a:solidFill>
                          <a:latin typeface="Calibri"/>
                        </a:rPr>
                        <a:t>5.5.1.1.</a:t>
                      </a:r>
                      <a:r>
                        <a:rPr sz="700" b="0" i="1">
                          <a:solidFill>
                            <a:srgbClr val="000000"/>
                          </a:solidFill>
                          <a:latin typeface="Times New Roman"/>
                        </a:rPr>
                        <a:t>    </a:t>
                      </a:r>
                      <a:r>
                        <a:rPr sz="1100" b="0" i="1">
                          <a:solidFill>
                            <a:srgbClr val="000000"/>
                          </a:solidFill>
                          <a:latin typeface="Calibri"/>
                        </a:rPr>
                        <a:t>Consumer Electronics</a:t>
                      </a:r>
                      <a:endParaRPr sz="1100"/>
                    </a:p>
                  </a:txBody>
                  <a:tcPr marL="1028700" marR="9525" marT="9525" marB="0" anchor="ctr"/>
                </a:tc>
              </a:tr>
              <a:tr h="175260">
                <a:tc>
                  <a:txBody>
                    <a:bodyPr wrap="square"/>
                    <a:lstStyle/>
                    <a:p>
                      <a:pPr algn="l"/>
                      <a:r>
                        <a:rPr sz="1100" b="0" i="1">
                          <a:solidFill>
                            <a:srgbClr val="000000"/>
                          </a:solidFill>
                          <a:latin typeface="Calibri"/>
                        </a:rPr>
                        <a:t>5.5.1.2.</a:t>
                      </a:r>
                      <a:r>
                        <a:rPr sz="700" b="0" i="1">
                          <a:solidFill>
                            <a:srgbClr val="000000"/>
                          </a:solidFill>
                          <a:latin typeface="Times New Roman"/>
                        </a:rPr>
                        <a:t>    </a:t>
                      </a:r>
                      <a:r>
                        <a:rPr sz="1100" b="0" i="1">
                          <a:solidFill>
                            <a:srgbClr val="000000"/>
                          </a:solidFill>
                          <a:latin typeface="Calibri"/>
                        </a:rPr>
                        <a:t>Electrical &amp; IT / Telecommunications Equipment</a:t>
                      </a:r>
                      <a:endParaRPr sz="1100"/>
                    </a:p>
                  </a:txBody>
                  <a:tcPr marL="1028700"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Automotive</a:t>
                      </a:r>
                      <a:endParaRPr sz="1100"/>
                    </a:p>
                  </a:txBody>
                  <a:tcPr marL="771525" marR="9525" marT="9525" marB="0" anchor="ctr"/>
                </a:tc>
              </a:tr>
              <a:tr h="175260">
                <a:tc>
                  <a:txBody>
                    <a:bodyPr wrap="square"/>
                    <a:lstStyle/>
                    <a:p>
                      <a:pPr algn="l"/>
                      <a:r>
                        <a:rPr sz="1100" b="0" i="1">
                          <a:solidFill>
                            <a:srgbClr val="000000"/>
                          </a:solidFill>
                          <a:latin typeface="Calibri"/>
                        </a:rPr>
                        <a:t>5.5.2.1.</a:t>
                      </a:r>
                      <a:r>
                        <a:rPr sz="700" b="0" i="1">
                          <a:solidFill>
                            <a:srgbClr val="000000"/>
                          </a:solidFill>
                          <a:latin typeface="Times New Roman"/>
                        </a:rPr>
                        <a:t>    </a:t>
                      </a:r>
                      <a:r>
                        <a:rPr sz="1100" b="0" i="1">
                          <a:solidFill>
                            <a:srgbClr val="000000"/>
                          </a:solidFill>
                          <a:latin typeface="Calibri"/>
                        </a:rPr>
                        <a:t>Automotive Components &amp; Spare Parts</a:t>
                      </a:r>
                      <a:endParaRPr sz="1100"/>
                    </a:p>
                  </a:txBody>
                  <a:tcPr marL="1028700" marR="9525" marT="9525" marB="0" anchor="ctr"/>
                </a:tc>
              </a:tr>
              <a:tr h="175260">
                <a:tc>
                  <a:txBody>
                    <a:bodyPr wrap="square"/>
                    <a:lstStyle/>
                    <a:p>
                      <a:pPr algn="l"/>
                      <a:r>
                        <a:rPr sz="1100" b="0" i="1">
                          <a:solidFill>
                            <a:srgbClr val="000000"/>
                          </a:solidFill>
                          <a:latin typeface="Calibri"/>
                        </a:rPr>
                        <a:t>5.5.2.2.</a:t>
                      </a:r>
                      <a:r>
                        <a:rPr sz="700" b="0" i="1">
                          <a:solidFill>
                            <a:srgbClr val="000000"/>
                          </a:solidFill>
                          <a:latin typeface="Times New Roman"/>
                        </a:rPr>
                        <a:t>    </a:t>
                      </a:r>
                      <a:r>
                        <a:rPr sz="1100" b="0" i="1">
                          <a:solidFill>
                            <a:srgbClr val="000000"/>
                          </a:solidFill>
                          <a:latin typeface="Calibri"/>
                        </a:rPr>
                        <a:t>EV Batteries &amp; Sensitive Automotive Components</a:t>
                      </a:r>
                      <a:endParaRPr sz="1100"/>
                    </a:p>
                  </a:txBody>
                  <a:tcPr marL="1028700" marR="9525" marT="9525" marB="0" anchor="ctr"/>
                </a:tc>
              </a:tr>
              <a:tr h="175260">
                <a:tc>
                  <a:txBody>
                    <a:bodyPr wrap="square"/>
                    <a:lstStyle/>
                    <a:p>
                      <a:pPr algn="l"/>
                      <a:r>
                        <a:rPr sz="1100" b="0" i="0">
                          <a:solidFill>
                            <a:srgbClr val="000000"/>
                          </a:solidFill>
                          <a:latin typeface="Calibri"/>
                        </a:rPr>
                        <a:t>5.5.3.</a:t>
                      </a:r>
                      <a:r>
                        <a:rPr sz="700" b="0" i="0">
                          <a:solidFill>
                            <a:srgbClr val="000000"/>
                          </a:solidFill>
                          <a:latin typeface="Times New Roman"/>
                        </a:rPr>
                        <a:t>   </a:t>
                      </a:r>
                      <a:r>
                        <a:rPr sz="1100" b="0" i="0">
                          <a:solidFill>
                            <a:srgbClr val="000000"/>
                          </a:solidFill>
                          <a:latin typeface="Calibri"/>
                        </a:rPr>
                        <a:t>Healthcare &amp; Pharmaceuticals</a:t>
                      </a:r>
                      <a:endParaRPr sz="1100"/>
                    </a:p>
                  </a:txBody>
                  <a:tcPr marL="771525" marR="9525" marT="9525" marB="0" anchor="ctr"/>
                </a:tc>
              </a:tr>
              <a:tr h="175260">
                <a:tc>
                  <a:txBody>
                    <a:bodyPr wrap="square"/>
                    <a:lstStyle/>
                    <a:p>
                      <a:pPr algn="l"/>
                      <a:r>
                        <a:rPr sz="1100" b="0" i="1">
                          <a:solidFill>
                            <a:srgbClr val="000000"/>
                          </a:solidFill>
                          <a:latin typeface="Calibri"/>
                        </a:rPr>
                        <a:t>5.5.3.1.</a:t>
                      </a:r>
                      <a:r>
                        <a:rPr sz="700" b="0" i="1">
                          <a:solidFill>
                            <a:srgbClr val="000000"/>
                          </a:solidFill>
                          <a:latin typeface="Times New Roman"/>
                        </a:rPr>
                        <a:t>    </a:t>
                      </a:r>
                      <a:r>
                        <a:rPr sz="1100" b="0" i="1">
                          <a:solidFill>
                            <a:srgbClr val="000000"/>
                          </a:solidFill>
                          <a:latin typeface="Calibri"/>
                        </a:rPr>
                        <a:t>Medical Devices &amp; Diagnostic Equipment</a:t>
                      </a:r>
                      <a:endParaRPr sz="1100"/>
                    </a:p>
                  </a:txBody>
                  <a:tcPr marL="1028700" marR="9525" marT="9525" marB="0" anchor="ctr"/>
                </a:tc>
              </a:tr>
              <a:tr h="175260">
                <a:tc>
                  <a:txBody>
                    <a:bodyPr wrap="square"/>
                    <a:lstStyle/>
                    <a:p>
                      <a:pPr algn="l"/>
                      <a:r>
                        <a:rPr sz="1100" b="0" i="1">
                          <a:solidFill>
                            <a:srgbClr val="000000"/>
                          </a:solidFill>
                          <a:latin typeface="Calibri"/>
                        </a:rPr>
                        <a:t>5.5.3.2.</a:t>
                      </a:r>
                      <a:r>
                        <a:rPr sz="700" b="0" i="1">
                          <a:solidFill>
                            <a:srgbClr val="000000"/>
                          </a:solidFill>
                          <a:latin typeface="Times New Roman"/>
                        </a:rPr>
                        <a:t>    </a:t>
                      </a:r>
                      <a:r>
                        <a:rPr sz="1100" b="0" i="1">
                          <a:solidFill>
                            <a:srgbClr val="000000"/>
                          </a:solidFill>
                          <a:latin typeface="Calibri"/>
                        </a:rPr>
                        <a:t>Pharmaceutical &amp; Biopharmaceutical Products</a:t>
                      </a:r>
                      <a:endParaRPr sz="1100"/>
                    </a:p>
                  </a:txBody>
                  <a:tcPr marL="1028700" marR="9525" marT="9525" marB="0" anchor="ctr"/>
                </a:tc>
              </a:tr>
              <a:tr h="175260">
                <a:tc>
                  <a:txBody>
                    <a:bodyPr wrap="square"/>
                    <a:lstStyle/>
                    <a:p>
                      <a:pPr algn="l"/>
                      <a:r>
                        <a:rPr sz="1100" b="0" i="0">
                          <a:solidFill>
                            <a:srgbClr val="000000"/>
                          </a:solidFill>
                          <a:latin typeface="Calibri"/>
                        </a:rPr>
                        <a:t>5.5.4.</a:t>
                      </a:r>
                      <a:r>
                        <a:rPr sz="700" b="0" i="0">
                          <a:solidFill>
                            <a:srgbClr val="000000"/>
                          </a:solidFill>
                          <a:latin typeface="Times New Roman"/>
                        </a:rPr>
                        <a:t>   </a:t>
                      </a:r>
                      <a:r>
                        <a:rPr sz="1100" b="0" i="0">
                          <a:solidFill>
                            <a:srgbClr val="000000"/>
                          </a:solidFill>
                          <a:latin typeface="Calibri"/>
                        </a:rPr>
                        <a:t>Industrial Machinery &amp; Equipment</a:t>
                      </a:r>
                      <a:endParaRPr sz="1100"/>
                    </a:p>
                  </a:txBody>
                  <a:tcPr marL="771525" marR="9525" marT="9525" marB="0" anchor="ctr"/>
                </a:tc>
              </a:tr>
              <a:tr h="175260">
                <a:tc>
                  <a:txBody>
                    <a:bodyPr wrap="square"/>
                    <a:lstStyle/>
                    <a:p>
                      <a:pPr algn="l"/>
                      <a:r>
                        <a:rPr sz="1100" b="0" i="1">
                          <a:solidFill>
                            <a:srgbClr val="000000"/>
                          </a:solidFill>
                          <a:latin typeface="Calibri"/>
                        </a:rPr>
                        <a:t>5.5.4.1.</a:t>
                      </a:r>
                      <a:r>
                        <a:rPr sz="700" b="0" i="1">
                          <a:solidFill>
                            <a:srgbClr val="000000"/>
                          </a:solidFill>
                          <a:latin typeface="Times New Roman"/>
                        </a:rPr>
                        <a:t>    </a:t>
                      </a:r>
                      <a:r>
                        <a:rPr sz="1100" b="0" i="1">
                          <a:solidFill>
                            <a:srgbClr val="000000"/>
                          </a:solidFill>
                          <a:latin typeface="Calibri"/>
                        </a:rPr>
                        <a:t>Heavy Machinery &amp; Industrial Components</a:t>
                      </a:r>
                      <a:endParaRPr sz="1100"/>
                    </a:p>
                  </a:txBody>
                  <a:tcPr marL="1028700" marR="9525" marT="9525" marB="0" anchor="ctr"/>
                </a:tc>
              </a:tr>
              <a:tr h="175260">
                <a:tc>
                  <a:txBody>
                    <a:bodyPr wrap="square"/>
                    <a:lstStyle/>
                    <a:p>
                      <a:pPr algn="l"/>
                      <a:r>
                        <a:rPr sz="1100" b="0" i="1">
                          <a:solidFill>
                            <a:srgbClr val="000000"/>
                          </a:solidFill>
                          <a:latin typeface="Calibri"/>
                        </a:rPr>
                        <a:t>5.5.4.2.</a:t>
                      </a:r>
                      <a:r>
                        <a:rPr sz="700" b="0" i="1">
                          <a:solidFill>
                            <a:srgbClr val="000000"/>
                          </a:solidFill>
                          <a:latin typeface="Times New Roman"/>
                        </a:rPr>
                        <a:t>    </a:t>
                      </a:r>
                      <a:r>
                        <a:rPr sz="1100" b="0" i="1">
                          <a:solidFill>
                            <a:srgbClr val="000000"/>
                          </a:solidFill>
                          <a:latin typeface="Calibri"/>
                        </a:rPr>
                        <a:t>Precision Instruments &amp; Scientific Equipment</a:t>
                      </a:r>
                      <a:endParaRPr sz="1100"/>
                    </a:p>
                  </a:txBody>
                  <a:tcPr marL="1028700" marR="9525" marT="9525" marB="0" anchor="ctr"/>
                </a:tc>
              </a:tr>
              <a:tr h="175260">
                <a:tc>
                  <a:txBody>
                    <a:bodyPr wrap="square"/>
                    <a:lstStyle/>
                    <a:p>
                      <a:pPr algn="l"/>
                      <a:r>
                        <a:rPr sz="1100" b="0" i="0">
                          <a:solidFill>
                            <a:srgbClr val="000000"/>
                          </a:solidFill>
                          <a:latin typeface="Calibri"/>
                        </a:rPr>
                        <a:t>5.5.5.</a:t>
                      </a:r>
                      <a:r>
                        <a:rPr sz="700" b="0" i="0">
                          <a:solidFill>
                            <a:srgbClr val="000000"/>
                          </a:solidFill>
                          <a:latin typeface="Times New Roman"/>
                        </a:rPr>
                        <a:t>   </a:t>
                      </a:r>
                      <a:r>
                        <a:rPr sz="1100" b="0" i="0">
                          <a:solidFill>
                            <a:srgbClr val="000000"/>
                          </a:solidFill>
                          <a:latin typeface="Calibri"/>
                        </a:rPr>
                        <a:t>Consumer Goods &amp; Home Products</a:t>
                      </a:r>
                      <a:endParaRPr sz="1100"/>
                    </a:p>
                  </a:txBody>
                  <a:tcPr marL="771525" marR="9525" marT="9525" marB="0" anchor="ctr"/>
                </a:tc>
              </a:tr>
              <a:tr h="175260">
                <a:tc>
                  <a:txBody>
                    <a:bodyPr wrap="square"/>
                    <a:lstStyle/>
                    <a:p>
                      <a:pPr algn="l"/>
                      <a:r>
                        <a:rPr sz="1100" b="0" i="1">
                          <a:solidFill>
                            <a:srgbClr val="000000"/>
                          </a:solidFill>
                          <a:latin typeface="Calibri"/>
                        </a:rPr>
                        <a:t>5.5.5.1.</a:t>
                      </a:r>
                      <a:r>
                        <a:rPr sz="700" b="0" i="1">
                          <a:solidFill>
                            <a:srgbClr val="000000"/>
                          </a:solidFill>
                          <a:latin typeface="Times New Roman"/>
                        </a:rPr>
                        <a:t>    </a:t>
                      </a:r>
                      <a:r>
                        <a:rPr sz="1100" b="0" i="1">
                          <a:solidFill>
                            <a:srgbClr val="000000"/>
                          </a:solidFill>
                          <a:latin typeface="Calibri"/>
                        </a:rPr>
                        <a:t>Home Appliances</a:t>
                      </a:r>
                      <a:endParaRPr sz="1100"/>
                    </a:p>
                  </a:txBody>
                  <a:tcPr marL="1028700" marR="9525" marT="9525" marB="0" anchor="ctr"/>
                </a:tc>
              </a:tr>
              <a:tr h="175260">
                <a:tc>
                  <a:txBody>
                    <a:bodyPr wrap="square"/>
                    <a:lstStyle/>
                    <a:p>
                      <a:pPr algn="l"/>
                      <a:r>
                        <a:rPr sz="1100" b="0" i="1">
                          <a:solidFill>
                            <a:srgbClr val="000000"/>
                          </a:solidFill>
                          <a:latin typeface="Calibri"/>
                        </a:rPr>
                        <a:t>5.5.5.2.</a:t>
                      </a:r>
                      <a:r>
                        <a:rPr sz="700" b="0" i="1">
                          <a:solidFill>
                            <a:srgbClr val="000000"/>
                          </a:solidFill>
                          <a:latin typeface="Times New Roman"/>
                        </a:rPr>
                        <a:t>    </a:t>
                      </a:r>
                      <a:r>
                        <a:rPr sz="1100" b="0" i="1">
                          <a:solidFill>
                            <a:srgbClr val="000000"/>
                          </a:solidFill>
                          <a:latin typeface="Calibri"/>
                        </a:rPr>
                        <a:t>Furniture &amp; Home Furnishings</a:t>
                      </a:r>
                      <a:endParaRPr sz="1100"/>
                    </a:p>
                  </a:txBody>
                  <a:tcPr marL="1028700" marR="9525" marT="9525" marB="0" anchor="ctr"/>
                </a:tc>
              </a:tr>
              <a:tr h="175260">
                <a:tc>
                  <a:txBody>
                    <a:bodyPr wrap="square"/>
                    <a:lstStyle/>
                    <a:p>
                      <a:pPr algn="l"/>
                      <a:r>
                        <a:rPr sz="1100" b="0" i="1">
                          <a:solidFill>
                            <a:srgbClr val="000000"/>
                          </a:solidFill>
                          <a:latin typeface="Calibri"/>
                        </a:rPr>
                        <a:t>5.5.5.3.</a:t>
                      </a:r>
                      <a:r>
                        <a:rPr sz="700" b="0" i="1">
                          <a:solidFill>
                            <a:srgbClr val="000000"/>
                          </a:solidFill>
                          <a:latin typeface="Times New Roman"/>
                        </a:rPr>
                        <a:t>    </a:t>
                      </a:r>
                      <a:r>
                        <a:rPr sz="1100" b="0" i="1">
                          <a:solidFill>
                            <a:srgbClr val="000000"/>
                          </a:solidFill>
                          <a:latin typeface="Calibri"/>
                        </a:rPr>
                        <a:t>Glassware, Ceramics &amp; Fragile Consumer Goods</a:t>
                      </a:r>
                      <a:endParaRPr sz="1100"/>
                    </a:p>
                  </a:txBody>
                  <a:tcPr marL="1028700" marR="9525" marT="9525" marB="0" anchor="ctr"/>
                </a:tc>
              </a:tr>
              <a:tr h="175260">
                <a:tc>
                  <a:txBody>
                    <a:bodyPr wrap="square"/>
                    <a:lstStyle/>
                    <a:p>
                      <a:pPr algn="l"/>
                      <a:r>
                        <a:rPr sz="1100" b="0" i="0">
                          <a:solidFill>
                            <a:srgbClr val="000000"/>
                          </a:solidFill>
                          <a:latin typeface="Calibri"/>
                        </a:rPr>
                        <a:t>5.5.6.</a:t>
                      </a:r>
                      <a:r>
                        <a:rPr sz="700" b="0" i="0">
                          <a:solidFill>
                            <a:srgbClr val="000000"/>
                          </a:solidFill>
                          <a:latin typeface="Times New Roman"/>
                        </a:rPr>
                        <a:t>   </a:t>
                      </a:r>
                      <a:r>
                        <a:rPr sz="1100" b="0" i="0">
                          <a:solidFill>
                            <a:srgbClr val="000000"/>
                          </a:solidFill>
                          <a:latin typeface="Calibri"/>
                        </a:rPr>
                        <a:t>Food &amp; Beverage</a:t>
                      </a:r>
                      <a:endParaRPr sz="1100"/>
                    </a:p>
                  </a:txBody>
                  <a:tcPr marL="771525" marR="9525" marT="9525" marB="0" anchor="ctr"/>
                </a:tc>
              </a:tr>
              <a:tr h="175260">
                <a:tc>
                  <a:txBody>
                    <a:bodyPr wrap="square"/>
                    <a:lstStyle/>
                    <a:p>
                      <a:pPr algn="l"/>
                      <a:r>
                        <a:rPr sz="1100" b="0" i="1">
                          <a:solidFill>
                            <a:srgbClr val="000000"/>
                          </a:solidFill>
                          <a:latin typeface="Calibri"/>
                        </a:rPr>
                        <a:t>5.5.6.1.</a:t>
                      </a:r>
                      <a:r>
                        <a:rPr sz="700" b="0" i="1">
                          <a:solidFill>
                            <a:srgbClr val="000000"/>
                          </a:solidFill>
                          <a:latin typeface="Times New Roman"/>
                        </a:rPr>
                        <a:t>    </a:t>
                      </a:r>
                      <a:r>
                        <a:rPr sz="1100" b="0" i="1">
                          <a:solidFill>
                            <a:srgbClr val="000000"/>
                          </a:solidFill>
                          <a:latin typeface="Calibri"/>
                        </a:rPr>
                        <a:t>Temperature-Controlled Food &amp; Beverage Packaging</a:t>
                      </a:r>
                      <a:endParaRPr sz="1100"/>
                    </a:p>
                  </a:txBody>
                  <a:tcPr marL="1028700" marR="9525" marT="9525" marB="0" anchor="ctr"/>
                </a:tc>
              </a:tr>
              <a:tr h="175260">
                <a:tc>
                  <a:txBody>
                    <a:bodyPr wrap="square"/>
                    <a:lstStyle/>
                    <a:p>
                      <a:pPr algn="l"/>
                      <a:r>
                        <a:rPr sz="1100" b="0" i="1">
                          <a:solidFill>
                            <a:srgbClr val="000000"/>
                          </a:solidFill>
                          <a:latin typeface="Calibri"/>
                        </a:rPr>
                        <a:t>5.5.6.2.</a:t>
                      </a:r>
                      <a:r>
                        <a:rPr sz="700" b="0" i="1">
                          <a:solidFill>
                            <a:srgbClr val="000000"/>
                          </a:solidFill>
                          <a:latin typeface="Times New Roman"/>
                        </a:rPr>
                        <a:t>    </a:t>
                      </a:r>
                      <a:r>
                        <a:rPr sz="1100" b="0" i="1">
                          <a:solidFill>
                            <a:srgbClr val="000000"/>
                          </a:solidFill>
                          <a:latin typeface="Calibri"/>
                        </a:rPr>
                        <a:t>Other Food &amp; Beverage Protective Packaging</a:t>
                      </a:r>
                      <a:endParaRPr sz="1100"/>
                    </a:p>
                  </a:txBody>
                  <a:tcPr marL="1028700" marR="9525" marT="9525" marB="0" anchor="ctr"/>
                </a:tc>
              </a:tr>
              <a:tr h="175260">
                <a:tc>
                  <a:txBody>
                    <a:bodyPr wrap="square"/>
                    <a:lstStyle/>
                    <a:p>
                      <a:pPr algn="l"/>
                      <a:r>
                        <a:rPr sz="1100" b="0" i="0">
                          <a:solidFill>
                            <a:srgbClr val="000000"/>
                          </a:solidFill>
                          <a:latin typeface="Calibri"/>
                        </a:rPr>
                        <a:t>5.5.7.</a:t>
                      </a:r>
                      <a:r>
                        <a:rPr sz="700" b="0" i="0">
                          <a:solidFill>
                            <a:srgbClr val="000000"/>
                          </a:solidFill>
                          <a:latin typeface="Times New Roman"/>
                        </a:rPr>
                        <a:t>   </a:t>
                      </a:r>
                      <a:r>
                        <a:rPr sz="1100" b="0" i="0">
                          <a:solidFill>
                            <a:srgbClr val="000000"/>
                          </a:solidFill>
                          <a:latin typeface="Calibri"/>
                        </a:rPr>
                        <a:t>Aerospace &amp; Defense</a:t>
                      </a:r>
                      <a:endParaRPr sz="1100"/>
                    </a:p>
                  </a:txBody>
                  <a:tcPr marL="771525" marR="9525" marT="9525" marB="0" anchor="ctr"/>
                </a:tc>
              </a:tr>
              <a:tr h="175260">
                <a:tc>
                  <a:txBody>
                    <a:bodyPr wrap="square"/>
                    <a:lstStyle/>
                    <a:p>
                      <a:pPr algn="l"/>
                      <a:r>
                        <a:rPr sz="1100" b="0" i="1">
                          <a:solidFill>
                            <a:srgbClr val="000000"/>
                          </a:solidFill>
                          <a:latin typeface="Calibri"/>
                        </a:rPr>
                        <a:t>5.5.7.1.</a:t>
                      </a:r>
                      <a:r>
                        <a:rPr sz="700" b="0" i="1">
                          <a:solidFill>
                            <a:srgbClr val="000000"/>
                          </a:solidFill>
                          <a:latin typeface="Times New Roman"/>
                        </a:rPr>
                        <a:t>    </a:t>
                      </a:r>
                      <a:r>
                        <a:rPr sz="1100" b="0" i="1">
                          <a:solidFill>
                            <a:srgbClr val="000000"/>
                          </a:solidFill>
                          <a:latin typeface="Calibri"/>
                        </a:rPr>
                        <a:t>Aerospace Components &amp; Equipment</a:t>
                      </a:r>
                      <a:endParaRPr sz="1100"/>
                    </a:p>
                  </a:txBody>
                  <a:tcPr marL="1028700" marR="9525" marT="9525" marB="0" anchor="ctr"/>
                </a:tc>
              </a:tr>
              <a:tr h="175260">
                <a:tc>
                  <a:txBody>
                    <a:bodyPr wrap="square"/>
                    <a:lstStyle/>
                    <a:p>
                      <a:pPr algn="l"/>
                      <a:r>
                        <a:rPr sz="1100" b="0" i="1">
                          <a:solidFill>
                            <a:srgbClr val="000000"/>
                          </a:solidFill>
                          <a:latin typeface="Calibri"/>
                        </a:rPr>
                        <a:t>5.5.7.2.</a:t>
                      </a:r>
                      <a:r>
                        <a:rPr sz="700" b="0" i="1">
                          <a:solidFill>
                            <a:srgbClr val="000000"/>
                          </a:solidFill>
                          <a:latin typeface="Times New Roman"/>
                        </a:rPr>
                        <a:t>    </a:t>
                      </a:r>
                      <a:r>
                        <a:rPr sz="1100" b="0" i="1">
                          <a:solidFill>
                            <a:srgbClr val="000000"/>
                          </a:solidFill>
                          <a:latin typeface="Calibri"/>
                        </a:rPr>
                        <a:t>Defense Equipment &amp; Sensitive Components</a:t>
                      </a:r>
                      <a:endParaRPr sz="1100"/>
                    </a:p>
                  </a:txBody>
                  <a:tcPr marL="1028700" marR="9525" marT="9525" marB="0" anchor="ctr"/>
                </a:tc>
              </a:tr>
              <a:tr h="175260">
                <a:tc>
                  <a:txBody>
                    <a:bodyPr wrap="square"/>
                    <a:lstStyle/>
                    <a:p>
                      <a:pPr algn="l"/>
                      <a:r>
                        <a:rPr sz="1100" b="0" i="0">
                          <a:solidFill>
                            <a:srgbClr val="000000"/>
                          </a:solidFill>
                          <a:latin typeface="Calibri"/>
                        </a:rPr>
                        <a:t>5.5.8.</a:t>
                      </a:r>
                      <a:r>
                        <a:rPr sz="700" b="0" i="0">
                          <a:solidFill>
                            <a:srgbClr val="000000"/>
                          </a:solidFill>
                          <a:latin typeface="Times New Roman"/>
                        </a:rPr>
                        <a:t>   </a:t>
                      </a:r>
                      <a:r>
                        <a:rPr sz="1100" b="0" i="0">
                          <a:solidFill>
                            <a:srgbClr val="000000"/>
                          </a:solidFill>
                          <a:latin typeface="Calibri"/>
                        </a:rPr>
                        <a:t>Others</a:t>
                      </a:r>
                      <a:endParaRPr sz="1100"/>
                    </a:p>
                  </a:txBody>
                  <a:tcPr marL="7715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6.5.1.1.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6.5.1.2.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6.5.2.1.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6.5.2.2.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6.5.2.3.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6.5.3.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6.5.3.1.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6.5.3.2.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6.5.3.3.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6.5.4.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6.5.4.1.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6.5.4.2.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6.5.4.3.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6.5.4.4.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6.5.4.5.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6.5.4.6.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6.5.4.7.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6.5.4.8.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6.5.4.9.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6.5.5.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6.5.5.1.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6.5.5.2.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6.5.5.3.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6.5.5.4.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6.5.5.5.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6.5.5.6.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r h="175260">
                <a:tc>
                  <a:txBody>
                    <a:bodyPr wrap="square"/>
                    <a:lstStyle/>
                    <a:p>
                      <a:pPr algn="l"/>
                      <a:r>
                        <a:rPr sz="1100" b="0" i="1">
                          <a:solidFill>
                            <a:srgbClr val="000000"/>
                          </a:solidFill>
                          <a:latin typeface="Calibri"/>
                        </a:rPr>
                        <a:t>6.5.5.7.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6.5.5.8.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6.5.5.9.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6.5.5.10.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6.5.5.11.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6.5.5.12.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6.5.6.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6.5.6.1.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6.5.6.2.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6.5.6.3.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6.5.6.4.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6.5.6.5.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6.5.6.6.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6.5.6.7.</a:t>
                      </a:r>
                      <a:r>
                        <a:rPr sz="700" b="0" i="1">
                          <a:solidFill>
                            <a:srgbClr val="000000"/>
                          </a:solidFill>
                          <a:latin typeface="Times New Roman"/>
                        </a:rPr>
                        <a:t>    </a:t>
                      </a:r>
                      <a:r>
                        <a:rPr sz="1100" b="0" i="1">
                          <a:solidFill>
                            <a:srgbClr val="000000"/>
                          </a:solidFill>
                          <a:latin typeface="Calibri"/>
                        </a:rPr>
                        <a:t>Rest if MEA</a:t>
                      </a:r>
                      <a:endParaRPr sz="1100"/>
                    </a:p>
                  </a:txBody>
                  <a:tcPr marL="1028700" marR="9525" marT="9525" marB="0" anchor="ctr"/>
                </a:tc>
              </a:tr>
              <a:tr h="175260">
                <a:tc>
                  <a:txBody>
                    <a:bodyPr wrap="square"/>
                    <a:lstStyle/>
                    <a:p>
                      <a:pPr algn="l"/>
                      <a:r>
                        <a:rPr sz="1100" b="0" i="1">
                          <a:solidFill>
                            <a:srgbClr val="EE0000"/>
                          </a:solidFill>
                          <a:latin typeface="Calibri"/>
                        </a:rPr>
                        <a:t>Note: Value &amp; Volume (US$ Mn / MT)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Material type X Product Form</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Product Form X End use Industry</a:t>
                      </a:r>
                      <a:endParaRPr sz="1100"/>
                    </a:p>
                  </a:txBody>
                  <a:tcPr marL="428625" marR="9525" marT="9525" marB="0" anchor="ctr"/>
                </a:tc>
              </a:tr>
              <a:tr h="175260">
                <a:tc>
                  <a:txBody>
                    <a:bodyPr wrap="square"/>
                    <a:lstStyle/>
                    <a:p>
                      <a:pPr algn="l"/>
                      <a:r>
                        <a:rPr sz="1100" b="0" i="1">
                          <a:solidFill>
                            <a:srgbClr val="EE0000"/>
                          </a:solidFill>
                          <a:latin typeface="Calibri"/>
                        </a:rPr>
                        <a:t>Note: Cross Sectional Assessment shall be provided on custom request</a:t>
                      </a:r>
                      <a:endParaRPr sz="1100"/>
                    </a:p>
                  </a:txBody>
                  <a:tcPr marL="9525" marR="9525" marT="9525" marB="0" anchor="ctr"/>
                </a:tc>
              </a:tr>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By Material Type</a:t>
                      </a:r>
                      <a:endParaRPr sz="1100"/>
                    </a:p>
                  </a:txBody>
                  <a:tcPr marL="771525"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0" i="0">
                          <a:solidFill>
                            <a:srgbClr val="000000"/>
                          </a:solidFill>
                          <a:latin typeface="Calibri"/>
                        </a:rPr>
                        <a:t>8.4.4.</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9.4.1.</a:t>
                      </a:r>
                      <a:r>
                        <a:rPr sz="700" b="0" i="0">
                          <a:solidFill>
                            <a:srgbClr val="000000"/>
                          </a:solidFill>
                          <a:latin typeface="Times New Roman"/>
                        </a:rPr>
                        <a:t>   </a:t>
                      </a:r>
                      <a:r>
                        <a:rPr sz="1100" b="0" i="0">
                          <a:solidFill>
                            <a:srgbClr val="000000"/>
                          </a:solidFill>
                          <a:latin typeface="Calibri"/>
                        </a:rPr>
                        <a:t>By Material Type</a:t>
                      </a:r>
                      <a:endParaRPr sz="1100"/>
                    </a:p>
                  </a:txBody>
                  <a:tcPr marL="771525" marR="9525" marT="9525" marB="0" anchor="ctr"/>
                </a:tc>
              </a:tr>
              <a:tr h="175260">
                <a:tc>
                  <a:txBody>
                    <a:bodyPr wrap="square"/>
                    <a:lstStyle/>
                    <a:p>
                      <a:pPr algn="l"/>
                      <a:r>
                        <a:rPr sz="1100" b="0" i="0">
                          <a:solidFill>
                            <a:srgbClr val="000000"/>
                          </a:solidFill>
                          <a:latin typeface="Calibri"/>
                        </a:rPr>
                        <a:t>9.4.2.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9.4.3.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0" i="0">
                          <a:solidFill>
                            <a:srgbClr val="000000"/>
                          </a:solidFill>
                          <a:latin typeface="Calibri"/>
                        </a:rPr>
                        <a:t>9.4.4.</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10.4.1.</a:t>
                      </a:r>
                      <a:r>
                        <a:rPr sz="700" b="0" i="0">
                          <a:solidFill>
                            <a:srgbClr val="000000"/>
                          </a:solidFill>
                          <a:latin typeface="Times New Roman"/>
                        </a:rPr>
                        <a:t> </a:t>
                      </a:r>
                      <a:r>
                        <a:rPr sz="1100" b="0" i="0">
                          <a:solidFill>
                            <a:srgbClr val="000000"/>
                          </a:solidFill>
                          <a:latin typeface="Calibri"/>
                        </a:rPr>
                        <a:t>By Material Type</a:t>
                      </a:r>
                      <a:endParaRPr sz="1100"/>
                    </a:p>
                  </a:txBody>
                  <a:tcPr marL="771525" marR="9525" marT="9525" marB="0" anchor="ctr"/>
                </a:tc>
              </a:tr>
              <a:tr h="175260">
                <a:tc>
                  <a:txBody>
                    <a:bodyPr wrap="square"/>
                    <a:lstStyle/>
                    <a:p>
                      <a:pPr algn="l"/>
                      <a:r>
                        <a:rPr sz="1100" b="0" i="0">
                          <a:solidFill>
                            <a:srgbClr val="000000"/>
                          </a:solidFill>
                          <a:latin typeface="Calibri"/>
                        </a:rPr>
                        <a:t>10.4.2.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10.4.3.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0" i="0">
                          <a:solidFill>
                            <a:srgbClr val="000000"/>
                          </a:solidFill>
                          <a:latin typeface="Calibri"/>
                        </a:rPr>
                        <a:t>10.4.4.</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By Material Type</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0" i="0">
                          <a:solidFill>
                            <a:srgbClr val="000000"/>
                          </a:solidFill>
                          <a:latin typeface="Calibri"/>
                        </a:rPr>
                        <a:t>11.4.4.</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12.4.1.</a:t>
                      </a:r>
                      <a:r>
                        <a:rPr sz="700" b="0" i="0">
                          <a:solidFill>
                            <a:srgbClr val="000000"/>
                          </a:solidFill>
                          <a:latin typeface="Times New Roman"/>
                        </a:rPr>
                        <a:t> </a:t>
                      </a:r>
                      <a:r>
                        <a:rPr sz="1100" b="0" i="0">
                          <a:solidFill>
                            <a:srgbClr val="000000"/>
                          </a:solidFill>
                          <a:latin typeface="Calibri"/>
                        </a:rPr>
                        <a:t>By Material Type</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12.4.2.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12.4.3.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0" i="0">
                          <a:solidFill>
                            <a:srgbClr val="000000"/>
                          </a:solidFill>
                          <a:latin typeface="Calibri"/>
                        </a:rPr>
                        <a:t>12.4.4.</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Material Type</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Product Form</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End-Use Industry</a:t>
                      </a:r>
                      <a:endParaRPr sz="1100"/>
                    </a:p>
                  </a:txBody>
                  <a:tcPr marL="771525"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Section 3: Pricing Assessment</a:t>
                      </a:r>
                      <a:endParaRPr sz="1100"/>
                    </a:p>
                  </a:txBody>
                  <a:tcPr marL="9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Pricing Analysis</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Regional Price Assessment</a:t>
                      </a:r>
                      <a:endParaRPr sz="1100"/>
                    </a:p>
                  </a:txBody>
                  <a:tcPr marL="428625" marR="9525" marT="9525" marB="0" anchor="ctr"/>
                </a:tc>
              </a:tr>
              <a:tr h="175260">
                <a:tc>
                  <a:txBody>
                    <a:bodyPr wrap="square"/>
                    <a:lstStyle/>
                    <a:p>
                      <a:pPr algn="l"/>
                      <a:r>
                        <a:rPr sz="1100" b="0" i="0">
                          <a:solidFill>
                            <a:srgbClr val="000000"/>
                          </a:solidFill>
                          <a:latin typeface="Calibri"/>
                        </a:rPr>
                        <a:t>14.1.1.</a:t>
                      </a:r>
                      <a:r>
                        <a:rPr sz="700" b="0" i="0">
                          <a:solidFill>
                            <a:srgbClr val="000000"/>
                          </a:solidFill>
                          <a:latin typeface="Times New Roman"/>
                        </a:rPr>
                        <a:t> </a:t>
                      </a:r>
                      <a:r>
                        <a:rPr sz="1100" b="0" i="0">
                          <a:solidFill>
                            <a:srgbClr val="000000"/>
                          </a:solidFill>
                          <a:latin typeface="Calibri"/>
                        </a:rPr>
                        <a:t>Manufacturer Level Pricing</a:t>
                      </a:r>
                      <a:endParaRPr sz="1100"/>
                    </a:p>
                  </a:txBody>
                  <a:tcPr marL="771525" marR="9525" marT="9525" marB="0" anchor="ctr"/>
                </a:tc>
              </a:tr>
              <a:tr h="175260">
                <a:tc>
                  <a:txBody>
                    <a:bodyPr wrap="square"/>
                    <a:lstStyle/>
                    <a:p>
                      <a:pPr algn="l"/>
                      <a:r>
                        <a:rPr sz="1100" b="0" i="0">
                          <a:solidFill>
                            <a:srgbClr val="000000"/>
                          </a:solidFill>
                          <a:latin typeface="Calibri"/>
                        </a:rPr>
                        <a:t>14.1.2.</a:t>
                      </a:r>
                      <a:r>
                        <a:rPr sz="700" b="0" i="0">
                          <a:solidFill>
                            <a:srgbClr val="000000"/>
                          </a:solidFill>
                          <a:latin typeface="Times New Roman"/>
                        </a:rPr>
                        <a:t> </a:t>
                      </a:r>
                      <a:r>
                        <a:rPr sz="1100" b="0" i="0">
                          <a:solidFill>
                            <a:srgbClr val="000000"/>
                          </a:solidFill>
                          <a:latin typeface="Calibri"/>
                        </a:rPr>
                        <a:t>Distributor Level Pricing</a:t>
                      </a:r>
                      <a:endParaRPr sz="1100"/>
                    </a:p>
                  </a:txBody>
                  <a:tcPr marL="771525" marR="9525" marT="9525" marB="0" anchor="ctr"/>
                </a:tc>
              </a:tr>
              <a:tr h="175260">
                <a:tc>
                  <a:txBody>
                    <a:bodyPr wrap="square"/>
                    <a:lstStyle/>
                    <a:p>
                      <a:pPr algn="l"/>
                      <a:r>
                        <a:rPr sz="1100" b="0" i="0">
                          <a:solidFill>
                            <a:srgbClr val="000000"/>
                          </a:solidFill>
                          <a:latin typeface="Calibri"/>
                        </a:rPr>
                        <a:t>14.1.3.</a:t>
                      </a:r>
                      <a:r>
                        <a:rPr sz="700" b="0" i="0">
                          <a:solidFill>
                            <a:srgbClr val="000000"/>
                          </a:solidFill>
                          <a:latin typeface="Times New Roman"/>
                        </a:rPr>
                        <a:t> </a:t>
                      </a:r>
                      <a:r>
                        <a:rPr sz="1100" b="0" i="0">
                          <a:solidFill>
                            <a:srgbClr val="000000"/>
                          </a:solidFill>
                          <a:latin typeface="Calibri"/>
                        </a:rPr>
                        <a:t>Retail Pricing (where applicable)</a:t>
                      </a:r>
                      <a:endParaRPr sz="1100"/>
                    </a:p>
                  </a:txBody>
                  <a:tcPr marL="771525" marR="9525" marT="9525" marB="0" anchor="ctr"/>
                </a:tc>
              </a:tr>
              <a:tr h="35052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Global and Regional Foam Protective Packaging Selling Price Benchmarks by Material (USD/kg, USD/m³)</a:t>
                      </a:r>
                      <a:endParaRPr sz="1100"/>
                    </a:p>
                  </a:txBody>
                  <a:tcPr marL="428625" marR="9525" marT="9525" marB="0" anchor="ctr"/>
                </a:tc>
              </a:tr>
              <a:tr h="35052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Product Form-wise Pricing - Sheets, Rolls, Fabricated Inserts, Molded Packaging and Foam-in-Place (USD/unit, USD/kg)</a:t>
                      </a:r>
                      <a:endParaRPr sz="1100"/>
                    </a:p>
                  </a:txBody>
                  <a:tcPr marL="428625" marR="9525" marT="9525" marB="0" anchor="ctr"/>
                </a:tc>
              </a:tr>
              <a:tr h="35052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Raw Material Price Trend Analysis - PE, PS, PU Chemicals and PP Feedstocks (USD/MT; 2020-2026)</a:t>
                      </a:r>
                      <a:endParaRPr sz="1100"/>
                    </a:p>
                  </a:txBody>
                  <a:tcPr marL="428625" marR="9525" marT="9525" marB="0" anchor="ctr"/>
                </a:tc>
              </a:tr>
              <a:tr h="350520">
                <a:tc>
                  <a:txBody>
                    <a:bodyPr wrap="square"/>
                    <a:lstStyle/>
                    <a:p>
                      <a:pPr algn="l"/>
                      <a:r>
                        <a:rPr sz="1100" b="0" i="0">
                          <a:solidFill>
                            <a:srgbClr val="0070C0"/>
                          </a:solidFill>
                          <a:latin typeface="Calibri"/>
                        </a:rPr>
                        <a:t>14.5.</a:t>
                      </a:r>
                      <a:r>
                        <a:rPr sz="700" b="0" i="0">
                          <a:solidFill>
                            <a:srgbClr val="0070C0"/>
                          </a:solidFill>
                          <a:latin typeface="Times New Roman"/>
                        </a:rPr>
                        <a:t>  </a:t>
                      </a:r>
                      <a:r>
                        <a:rPr sz="1100" b="0" i="0">
                          <a:solidFill>
                            <a:srgbClr val="0070C0"/>
                          </a:solidFill>
                          <a:latin typeface="Calibri"/>
                        </a:rPr>
                        <a:t>Standard vs Engineered Foam Packaging Price Premium and Estimated Manufacturer Profitability (%)</a:t>
                      </a:r>
                      <a:endParaRPr sz="1100"/>
                    </a:p>
                  </a:txBody>
                  <a:tcPr marL="428625" marR="9525" marT="9525" marB="0" anchor="ctr"/>
                </a:tc>
              </a:tr>
              <a:tr h="175260">
                <a:tc>
                  <a:txBody>
                    <a:bodyPr wrap="square"/>
                    <a:lstStyle/>
                    <a:p>
                      <a:pPr algn="l"/>
                      <a:r>
                        <a:rPr sz="1100" b="0" i="0">
                          <a:solidFill>
                            <a:srgbClr val="0070C0"/>
                          </a:solidFill>
                          <a:latin typeface="Calibri"/>
                        </a:rPr>
                        <a:t>14.6.</a:t>
                      </a:r>
                      <a:r>
                        <a:rPr sz="700" b="0" i="0">
                          <a:solidFill>
                            <a:srgbClr val="0070C0"/>
                          </a:solidFill>
                          <a:latin typeface="Times New Roman"/>
                        </a:rPr>
                        <a:t>  </a:t>
                      </a:r>
                      <a:r>
                        <a:rPr sz="1100" b="0" i="0">
                          <a:solidFill>
                            <a:srgbClr val="0070C0"/>
                          </a:solidFill>
                          <a:latin typeface="Calibri"/>
                        </a:rPr>
                        <a:t>Country-wise Price Comparison (Material Type)</a:t>
                      </a:r>
                      <a:endParaRPr sz="1100"/>
                    </a:p>
                  </a:txBody>
                  <a:tcPr marL="428625" marR="9525" marT="9525" marB="0" anchor="ctr"/>
                </a:tc>
              </a:tr>
              <a:tr h="175260">
                <a:tc>
                  <a:txBody>
                    <a:bodyPr wrap="square"/>
                    <a:lstStyle/>
                    <a:p>
                      <a:pPr algn="l"/>
                      <a:r>
                        <a:rPr sz="1100" b="0" i="0">
                          <a:solidFill>
                            <a:srgbClr val="0070C0"/>
                          </a:solidFill>
                          <a:latin typeface="Calibri"/>
                        </a:rPr>
                        <a:t>14.7.</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tr>
              <a:tr h="175260">
                <a:tc>
                  <a:txBody>
                    <a:bodyPr wrap="square"/>
                    <a:lstStyle/>
                    <a:p>
                      <a:pPr algn="l"/>
                      <a:r>
                        <a:rPr sz="1100" b="0" i="0">
                          <a:solidFill>
                            <a:srgbClr val="0070C0"/>
                          </a:solidFill>
                          <a:latin typeface="Calibri"/>
                        </a:rPr>
                        <a:t>14.8.</a:t>
                      </a:r>
                      <a:r>
                        <a:rPr sz="700" b="0" i="0">
                          <a:solidFill>
                            <a:srgbClr val="0070C0"/>
                          </a:solidFill>
                          <a:latin typeface="Times New Roman"/>
                        </a:rPr>
                        <a:t>  </a:t>
                      </a:r>
                      <a:r>
                        <a:rPr sz="1100" b="0" i="0">
                          <a:solidFill>
                            <a:srgbClr val="0070C0"/>
                          </a:solidFill>
                          <a:latin typeface="Calibri"/>
                        </a:rPr>
                        <a:t>Factors Impacting Pricing</a:t>
                      </a:r>
                      <a:endParaRPr sz="1100"/>
                    </a:p>
                  </a:txBody>
                  <a:tcPr marL="428625" marR="9525" marT="9525" marB="0" anchor="ctr"/>
                </a:tc>
              </a:tr>
              <a:tr h="175260">
                <a:tc>
                  <a:txBody>
                    <a:bodyPr wrap="square"/>
                    <a:lstStyle/>
                    <a:p>
                      <a:pPr algn="l"/>
                      <a:r>
                        <a:rPr sz="1100" b="0" i="0">
                          <a:solidFill>
                            <a:srgbClr val="0070C0"/>
                          </a:solidFill>
                          <a:latin typeface="Calibri"/>
                        </a:rPr>
                        <a:t>14.9.</a:t>
                      </a:r>
                      <a:r>
                        <a:rPr sz="700" b="0" i="0">
                          <a:solidFill>
                            <a:srgbClr val="0070C0"/>
                          </a:solidFill>
                          <a:latin typeface="Times New Roman"/>
                        </a:rPr>
                        <a:t>  </a:t>
                      </a:r>
                      <a:r>
                        <a:rPr sz="1100" b="0" i="0">
                          <a:solidFill>
                            <a:srgbClr val="0070C0"/>
                          </a:solidFill>
                          <a:latin typeface="Calibri"/>
                        </a:rPr>
                        <a:t>Competitor Pricing Strategies</a:t>
                      </a:r>
                      <a:endParaRPr sz="1100"/>
                    </a:p>
                  </a:txBody>
                  <a:tcPr marL="4286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15.1.1.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15.1.2.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r h="175260">
                <a:tc>
                  <a:txBody>
                    <a:bodyPr wrap="square"/>
                    <a:lstStyle/>
                    <a:p>
                      <a:pPr algn="l"/>
                      <a:r>
                        <a:rPr sz="1100" b="0" i="0">
                          <a:solidFill>
                            <a:srgbClr val="000000"/>
                          </a:solidFill>
                          <a:latin typeface="Calibri"/>
                        </a:rPr>
                        <a:t>15.1.3.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Product Launches &amp; Development</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16.1.1.</a:t>
                      </a:r>
                      <a:r>
                        <a:rPr sz="700" b="0" i="0">
                          <a:solidFill>
                            <a:srgbClr val="000000"/>
                          </a:solidFill>
                          <a:latin typeface="Times New Roman"/>
                        </a:rPr>
                        <a:t> </a:t>
                      </a:r>
                      <a:r>
                        <a:rPr sz="1100" b="0" i="0">
                          <a:solidFill>
                            <a:srgbClr val="000000"/>
                          </a:solidFill>
                          <a:latin typeface="Calibri"/>
                        </a:rPr>
                        <a:t>Manufacturers</a:t>
                      </a:r>
                      <a:endParaRPr sz="1100"/>
                    </a:p>
                  </a:txBody>
                  <a:tcPr marL="771525" marR="9525" marT="9525" marB="0" anchor="ctr"/>
                </a:tc>
              </a:tr>
              <a:tr h="175260">
                <a:tc>
                  <a:txBody>
                    <a:bodyPr wrap="square"/>
                    <a:lstStyle/>
                    <a:p>
                      <a:pPr algn="l"/>
                      <a:r>
                        <a:rPr sz="1100" b="0" i="0">
                          <a:solidFill>
                            <a:srgbClr val="000000"/>
                          </a:solidFill>
                          <a:latin typeface="Calibri"/>
                        </a:rPr>
                        <a:t>16.1.2.</a:t>
                      </a:r>
                      <a:r>
                        <a:rPr sz="700" b="0" i="0">
                          <a:solidFill>
                            <a:srgbClr val="000000"/>
                          </a:solidFill>
                          <a:latin typeface="Times New Roman"/>
                        </a:rPr>
                        <a:t> </a:t>
                      </a:r>
                      <a:r>
                        <a:rPr sz="1100" b="0" i="0">
                          <a:solidFill>
                            <a:srgbClr val="000000"/>
                          </a:solidFill>
                          <a:latin typeface="Calibri"/>
                        </a:rPr>
                        <a:t>Customers</a:t>
                      </a:r>
                      <a:endParaRPr sz="1100"/>
                    </a:p>
                  </a:txBody>
                  <a:tcPr marL="771525" marR="9525" marT="9525" marB="0" anchor="ctr"/>
                </a:tc>
              </a:tr>
              <a:tr h="175260">
                <a:tc>
                  <a:txBody>
                    <a:bodyPr wrap="square"/>
                    <a:lstStyle/>
                    <a:p>
                      <a:pPr algn="l"/>
                      <a:r>
                        <a:rPr sz="1100" b="0" i="0">
                          <a:solidFill>
                            <a:srgbClr val="000000"/>
                          </a:solidFill>
                          <a:latin typeface="Calibri"/>
                        </a:rPr>
                        <a:t>16.1.3.</a:t>
                      </a:r>
                      <a:r>
                        <a:rPr sz="700" b="0" i="0">
                          <a:solidFill>
                            <a:srgbClr val="000000"/>
                          </a:solidFill>
                          <a:latin typeface="Times New Roman"/>
                        </a:rPr>
                        <a:t> </a:t>
                      </a:r>
                      <a:r>
                        <a:rPr sz="1100" b="0" i="0">
                          <a:solidFill>
                            <a:srgbClr val="000000"/>
                          </a:solidFill>
                          <a:latin typeface="Calibri"/>
                        </a:rPr>
                        <a:t>Distributors</a:t>
                      </a:r>
                      <a:endParaRPr sz="1100"/>
                    </a:p>
                  </a:txBody>
                  <a:tcPr marL="7715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16.2.1.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16.2.2.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16.2.3.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Forecast Factors - Top 20 Drivers by Relevance &amp; Impact</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Regional Macro-&amp; Micro Economic Indicators</a:t>
                      </a:r>
                      <a:endParaRPr sz="1100"/>
                    </a:p>
                  </a:txBody>
                  <a:tcPr marL="428625" marR="9525" marT="9525" marB="0" anchor="ctr"/>
                </a:tc>
              </a:tr>
              <a:tr h="175260">
                <a:tc>
                  <a:txBody>
                    <a:bodyPr wrap="square"/>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PESTEL Analysis</a:t>
                      </a:r>
                      <a:endParaRPr sz="1100"/>
                    </a:p>
                  </a:txBody>
                  <a:tcPr marL="428625" marR="9525" marT="9525" marB="0" anchor="ctr"/>
                </a:tc>
              </a:tr>
              <a:tr h="175260">
                <a:tc>
                  <a:txBody>
                    <a:bodyPr wrap="square"/>
                    <a:lstStyle/>
                    <a:p>
                      <a:pPr algn="l"/>
                      <a:r>
                        <a:rPr sz="1100" b="0" i="0">
                          <a:solidFill>
                            <a:srgbClr val="0070C0"/>
                          </a:solidFill>
                          <a:latin typeface="Calibri"/>
                        </a:rPr>
                        <a:t>16.9.</a:t>
                      </a:r>
                      <a:r>
                        <a:rPr sz="700" b="0" i="0">
                          <a:solidFill>
                            <a:srgbClr val="0070C0"/>
                          </a:solidFill>
                          <a:latin typeface="Times New Roman"/>
                        </a:rPr>
                        <a:t>  </a:t>
                      </a:r>
                      <a:r>
                        <a:rPr sz="1100" b="0" i="0">
                          <a:solidFill>
                            <a:srgbClr val="0070C0"/>
                          </a:solidFill>
                          <a:latin typeface="Calibri"/>
                        </a:rPr>
                        <a:t>Porter’s Analysis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Regulatory, Sustainability, and Material Transition Analysis</a:t>
                      </a:r>
                      <a:endParaRPr sz="1100"/>
                    </a:p>
                  </a:txBody>
                  <a:tcPr marL="171450" marR="9525" marT="9525" marB="0" anchor="ctr"/>
                </a:tc>
              </a:tr>
              <a:tr h="35052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Country-wise EPS and Single-use Foam Packaging Restrictions by Application and Implementation Timeline</a:t>
                      </a:r>
                      <a:endParaRPr sz="1100"/>
                    </a:p>
                  </a:txBody>
                  <a:tcPr marL="428625" marR="9525" marT="9525" marB="0" anchor="ctr"/>
                </a:tc>
              </a:tr>
              <a:tr h="35052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Packaging Waste and EPR Compliance Requirements by Region - Europe, North America and Asia-Pacific</a:t>
                      </a:r>
                      <a:endParaRPr sz="1100"/>
                    </a:p>
                  </a:txBody>
                  <a:tcPr marL="428625" marR="9525" marT="9525" marB="0" anchor="ctr"/>
                </a:tc>
              </a:tr>
              <a:tr h="35052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Sustainability Transition Analysis - Conventional Foam vs Recyclable PE/EPP vs Bio-based Foam (% Adoption, 2026-2036)</a:t>
                      </a:r>
                      <a:endParaRPr sz="1100"/>
                    </a:p>
                  </a:txBody>
                  <a:tcPr marL="4286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(5/6)</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Foam-to-Alternative Material Substitution Potential - Molded Fiber, Corrugated Inserts and Paper Cushioning (%)</a:t>
                      </a:r>
                      <a:endParaRPr sz="1100"/>
                    </a:p>
                  </a:txBody>
                  <a:tcPr marL="428625" marR="9525" marT="9525" marB="0" anchor="ctr"/>
                </a:tc>
              </a:tr>
              <a:tr h="175260">
                <a:tc>
                  <a:txBody>
                    <a:bodyPr wrap="square"/>
                    <a:lstStyle/>
                    <a:p>
                      <a:pPr algn="l"/>
                      <a:r>
                        <a:rPr sz="1100" b="0" i="0">
                          <a:solidFill>
                            <a:srgbClr val="0070C0"/>
                          </a:solidFill>
                          <a:latin typeface="Calibri"/>
                        </a:rPr>
                        <a:t>17.5.</a:t>
                      </a:r>
                      <a:r>
                        <a:rPr sz="700" b="0" i="0">
                          <a:solidFill>
                            <a:srgbClr val="0070C0"/>
                          </a:solidFill>
                          <a:latin typeface="Times New Roman"/>
                        </a:rPr>
                        <a:t>  </a:t>
                      </a:r>
                      <a:r>
                        <a:rPr sz="1100" b="0" i="0">
                          <a:solidFill>
                            <a:srgbClr val="0070C0"/>
                          </a:solidFill>
                          <a:latin typeface="Calibri"/>
                        </a:rPr>
                        <a:t>Sustainability-driven Material Demand Shift and Forecast Market Share (2026-2036)</a:t>
                      </a:r>
                      <a:endParaRPr sz="1100"/>
                    </a:p>
                  </a:txBody>
                  <a:tcPr marL="428625" marR="9525" marT="9525" marB="0" anchor="ctr"/>
                </a:tc>
              </a:tr>
              <a:tr h="175260">
                <a:tc>
                  <a:txBody>
                    <a:bodyPr wrap="square"/>
                    <a:lstStyle/>
                    <a:p>
                      <a:pPr algn="l"/>
                      <a:r>
                        <a:rPr sz="1100" b="1" i="0">
                          <a:solidFill>
                            <a:srgbClr val="000000"/>
                          </a:solidFill>
                          <a:latin typeface="Calibri"/>
                        </a:rPr>
                        <a:t>Section 5: Production and Trade Outlook</a:t>
                      </a:r>
                      <a:endParaRPr sz="1100"/>
                    </a:p>
                  </a:txBody>
                  <a:tcPr marL="95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Global Market- Production and Trade Analysis</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Production Volume (MT), (2021-2026) by Region/ Country</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Exports: Key Countries, Share &amp; Value (US$ Mn / MT)</a:t>
                      </a:r>
                      <a:endParaRPr sz="1100"/>
                    </a:p>
                  </a:txBody>
                  <a:tcPr marL="4286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Imports: Key Countries, Share &amp; Value (US$ Mn / MT)</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Global Supply-Demand Overview (Prod., Sales, Import, Export)</a:t>
                      </a:r>
                      <a:endParaRPr sz="1100"/>
                    </a:p>
                  </a:txBody>
                  <a:tcPr marL="4286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Supply-Side and Capacity Landscape</a:t>
                      </a:r>
                      <a:endParaRPr sz="1100"/>
                    </a:p>
                  </a:txBody>
                  <a:tcPr marL="171450" marR="9525" marT="9525" marB="0" anchor="ctr"/>
                </a:tc>
              </a:tr>
              <a:tr h="35052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Global and Regional Foam Protective Packaging Installed Production Capacity by Material (Metric Tons/year; 2025-2026)</a:t>
                      </a:r>
                      <a:endParaRPr sz="1100"/>
                    </a:p>
                  </a:txBody>
                  <a:tcPr marL="428625" marR="9525" marT="9525" marB="0" anchor="ctr"/>
                </a:tc>
              </a:tr>
              <a:tr h="35052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Country-wise Foam Manufacturing and Conversion Capacity Distribution (Metric Tons/year)</a:t>
                      </a:r>
                      <a:endParaRPr sz="1100"/>
                    </a:p>
                  </a:txBody>
                  <a:tcPr marL="428625" marR="9525" marT="9525" marB="0" anchor="ctr"/>
                </a:tc>
              </a:tr>
              <a:tr h="35052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Manufacturer and Converter-Level Capacity Benchmarking by Leading Players (Metric Tons/year)</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Production Output and Capacity Utilization by Material × Region (%)</a:t>
                      </a:r>
                      <a:endParaRPr sz="1100"/>
                    </a:p>
                  </a:txBody>
                  <a:tcPr marL="428625" marR="9525" marT="9525" marB="0" anchor="ctr"/>
                </a:tc>
              </a:tr>
              <a:tr h="35052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Supply Risk and Sourcing Dependence Analysis - Resin Availability, Supplier Concentration and Import Reliance (%)</a:t>
                      </a:r>
                      <a:endParaRPr sz="1100"/>
                    </a:p>
                  </a:txBody>
                  <a:tcPr marL="428625" marR="9525" marT="9525" marB="0" anchor="ctr"/>
                </a:tc>
              </a:tr>
              <a:tr h="35052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Regional Capacity Expansion Pipeline and Announced Manufacturing Investments (Metric Tons/year, USD Million)</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Supply-Demand Balance and Capacity Gap Forecast by Material × Region (2026-2036)</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20.1.1.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20.1.2.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20.3.1.</a:t>
                      </a:r>
                      <a:r>
                        <a:rPr sz="700" b="0" i="0">
                          <a:solidFill>
                            <a:srgbClr val="000000"/>
                          </a:solidFill>
                          <a:latin typeface="Times New Roman"/>
                        </a:rPr>
                        <a:t> </a:t>
                      </a:r>
                      <a:r>
                        <a:rPr sz="1100" b="0" i="0">
                          <a:solidFill>
                            <a:srgbClr val="000000"/>
                          </a:solidFill>
                          <a:latin typeface="Calibri"/>
                        </a:rPr>
                        <a:t>Product Manufacturers/ Key Brands</a:t>
                      </a:r>
                      <a:endParaRPr sz="1100"/>
                    </a:p>
                  </a:txBody>
                  <a:tcPr marL="771525" marR="9525" marT="9525" marB="0" anchor="ctr"/>
                </a:tc>
              </a:tr>
              <a:tr h="175260">
                <a:tc>
                  <a:txBody>
                    <a:bodyPr wrap="square"/>
                    <a:lstStyle/>
                    <a:p>
                      <a:pPr algn="l"/>
                      <a:r>
                        <a:rPr sz="1100" b="0" i="0">
                          <a:solidFill>
                            <a:srgbClr val="000000"/>
                          </a:solidFill>
                          <a:latin typeface="Calibri"/>
                        </a:rPr>
                        <a:t>20.3.2.</a:t>
                      </a:r>
                      <a:r>
                        <a:rPr sz="700" b="0" i="0">
                          <a:solidFill>
                            <a:srgbClr val="000000"/>
                          </a:solidFill>
                          <a:latin typeface="Times New Roman"/>
                        </a:rPr>
                        <a:t> </a:t>
                      </a:r>
                      <a:r>
                        <a:rPr sz="1100" b="0" i="0">
                          <a:solidFill>
                            <a:srgbClr val="000000"/>
                          </a:solidFill>
                          <a:latin typeface="Calibri"/>
                        </a:rPr>
                        <a:t>Distributors/Suppliers</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20.3.3.</a:t>
                      </a:r>
                      <a:r>
                        <a:rPr sz="700" b="0" i="0">
                          <a:solidFill>
                            <a:srgbClr val="000000"/>
                          </a:solidFill>
                          <a:latin typeface="Times New Roman"/>
                        </a:rPr>
                        <a:t> </a:t>
                      </a:r>
                      <a:r>
                        <a:rPr sz="1100" b="0" i="0">
                          <a:solidFill>
                            <a:srgbClr val="000000"/>
                          </a:solidFill>
                          <a:latin typeface="Calibri"/>
                        </a:rPr>
                        <a:t>End Users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Section 6: Competition Assessment</a:t>
                      </a:r>
                      <a:endParaRPr sz="1100"/>
                    </a:p>
                  </a:txBody>
                  <a:tcPr marL="95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By Material Type</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Company Share Breakdown (2026)</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Company Profile</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Sealed Air Corporation</a:t>
                      </a:r>
                      <a:endParaRPr sz="1100"/>
                    </a:p>
                  </a:txBody>
                  <a:tcPr marL="428625" marR="9525" marT="9525" marB="0" anchor="ctr"/>
                </a:tc>
              </a:tr>
              <a:tr h="175260">
                <a:tc>
                  <a:txBody>
                    <a:bodyPr wrap="square"/>
                    <a:lstStyle/>
                    <a:p>
                      <a:pPr algn="l"/>
                      <a:r>
                        <a:rPr sz="1100" b="0" i="0">
                          <a:solidFill>
                            <a:srgbClr val="000000"/>
                          </a:solidFill>
                          <a:latin typeface="Calibri"/>
                        </a:rPr>
                        <a:t>24.1.1.</a:t>
                      </a:r>
                      <a:r>
                        <a:rPr sz="700" b="0" i="0">
                          <a:solidFill>
                            <a:srgbClr val="000000"/>
                          </a:solidFill>
                          <a:latin typeface="Times New Roman"/>
                        </a:rPr>
                        <a:t> </a:t>
                      </a:r>
                      <a:r>
                        <a:rPr sz="1100" b="0" i="0">
                          <a:solidFill>
                            <a:srgbClr val="000000"/>
                          </a:solidFill>
                          <a:latin typeface="Calibri"/>
                        </a:rPr>
                        <a:t>Product Portfolio</a:t>
                      </a:r>
                      <a:endParaRPr sz="1100"/>
                    </a:p>
                  </a:txBody>
                  <a:tcPr marL="771525" marR="9525" marT="9525" marB="0" anchor="ctr"/>
                </a:tc>
              </a:tr>
              <a:tr h="175260">
                <a:tc>
                  <a:txBody>
                    <a:bodyPr wrap="square"/>
                    <a:lstStyle/>
                    <a:p>
                      <a:pPr algn="l"/>
                      <a:r>
                        <a:rPr sz="1100" b="0" i="0">
                          <a:solidFill>
                            <a:srgbClr val="000000"/>
                          </a:solidFill>
                          <a:latin typeface="Calibri"/>
                        </a:rPr>
                        <a:t>24.1.2.</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24.1.3.</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24.1.3.1.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24.1.3.2.</a:t>
                      </a:r>
                      <a:r>
                        <a:rPr sz="700" b="0" i="1">
                          <a:solidFill>
                            <a:srgbClr val="000000"/>
                          </a:solidFill>
                          <a:latin typeface="Times New Roman"/>
                        </a:rPr>
                        <a:t> </a:t>
                      </a:r>
                      <a:r>
                        <a:rPr sz="1100" b="0" i="1">
                          <a:solidFill>
                            <a:srgbClr val="000000"/>
                          </a:solidFill>
                          <a:latin typeface="Calibri"/>
                        </a:rPr>
                        <a:t>Product Strategy</a:t>
                      </a:r>
                      <a:endParaRPr sz="1100"/>
                    </a:p>
                  </a:txBody>
                  <a:tcPr marL="1028700" marR="9525" marT="9525" marB="0" anchor="ctr"/>
                </a:tc>
              </a:tr>
              <a:tr h="175260">
                <a:tc>
                  <a:txBody>
                    <a:bodyPr wrap="square"/>
                    <a:lstStyle/>
                    <a:p>
                      <a:pPr algn="l"/>
                      <a:r>
                        <a:rPr sz="1100" b="0" i="1">
                          <a:solidFill>
                            <a:srgbClr val="000000"/>
                          </a:solidFill>
                          <a:latin typeface="Calibri"/>
                        </a:rPr>
                        <a:t>24.1.3.3.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000000"/>
                          </a:solidFill>
                          <a:latin typeface="Calibri"/>
                        </a:rPr>
                        <a:t>24.1.3.4.</a:t>
                      </a:r>
                      <a:r>
                        <a:rPr sz="700" b="0" i="1">
                          <a:solidFill>
                            <a:srgbClr val="000000"/>
                          </a:solidFill>
                          <a:latin typeface="Times New Roman"/>
                        </a:rPr>
                        <a:t> </a:t>
                      </a:r>
                      <a:r>
                        <a:rPr sz="1100" b="0" i="1">
                          <a:solidFill>
                            <a:srgbClr val="000000"/>
                          </a:solidFill>
                          <a:latin typeface="Calibri"/>
                        </a:rPr>
                        <a:t>Pricing Strategy</a:t>
                      </a:r>
                      <a:endParaRPr sz="1100"/>
                    </a:p>
                  </a:txBody>
                  <a:tcPr marL="1028700" marR="9525" marT="9525" marB="0" anchor="ctr"/>
                </a:tc>
              </a:tr>
              <a:tr h="175260">
                <a:tc>
                  <a:txBody>
                    <a:bodyPr wrap="square"/>
                    <a:lstStyle/>
                    <a:p>
                      <a:pPr algn="l"/>
                      <a:r>
                        <a:rPr sz="1100" b="0" i="0">
                          <a:solidFill>
                            <a:srgbClr val="000000"/>
                          </a:solidFill>
                          <a:latin typeface="Calibri"/>
                        </a:rPr>
                        <a:t>24.1.4.</a:t>
                      </a:r>
                      <a:r>
                        <a:rPr sz="700" b="0" i="0">
                          <a:solidFill>
                            <a:srgbClr val="000000"/>
                          </a:solidFill>
                          <a:latin typeface="Times New Roman"/>
                        </a:rPr>
                        <a:t> </a:t>
                      </a:r>
                      <a:r>
                        <a:rPr sz="1100" b="0" i="0">
                          <a:solidFill>
                            <a:srgbClr val="000000"/>
                          </a:solidFill>
                          <a:latin typeface="Calibri"/>
                        </a:rPr>
                        <a:t>SWOT</a:t>
                      </a:r>
                      <a:endParaRPr sz="1100"/>
                    </a:p>
                  </a:txBody>
                  <a:tcPr marL="771525" marR="9525" marT="9525" marB="0" anchor="ctr"/>
                </a:tc>
              </a:tr>
              <a:tr h="175260">
                <a:tc>
                  <a:txBody>
                    <a:bodyPr wrap="square"/>
                    <a:lstStyle/>
                    <a:p>
                      <a:pPr algn="l"/>
                      <a:r>
                        <a:rPr sz="1100" b="0" i="0">
                          <a:solidFill>
                            <a:srgbClr val="000000"/>
                          </a:solidFill>
                          <a:latin typeface="Calibri"/>
                        </a:rPr>
                        <a:t>24.1.5.</a:t>
                      </a:r>
                      <a:r>
                        <a:rPr sz="700" b="0" i="0">
                          <a:solidFill>
                            <a:srgbClr val="000000"/>
                          </a:solidFill>
                          <a:latin typeface="Times New Roman"/>
                        </a:rPr>
                        <a:t> </a:t>
                      </a:r>
                      <a:r>
                        <a:rPr sz="1100" b="0" i="0">
                          <a:solidFill>
                            <a:srgbClr val="000000"/>
                          </a:solidFill>
                          <a:latin typeface="Calibri"/>
                        </a:rPr>
                        <a:t>Analyst Comment</a:t>
                      </a:r>
                      <a:endParaRPr sz="1100"/>
                    </a:p>
                  </a:txBody>
                  <a:tcPr marL="771525" marR="9525" marT="9525" marB="0" anchor="ctr"/>
                </a:tc>
              </a:tr>
              <a:tr h="175260">
                <a:tc>
                  <a:txBody>
                    <a:bodyPr wrap="square"/>
                    <a:lstStyle/>
                    <a:p>
                      <a:pPr algn="l"/>
                      <a:r>
                        <a:rPr sz="1100" b="0" i="1">
                          <a:solidFill>
                            <a:srgbClr val="EE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Pregis LLC</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Storopack</a:t>
                      </a:r>
                      <a:endParaRPr sz="1100"/>
                    </a:p>
                  </a:txBody>
                  <a:tcPr marL="428625" marR="9525" marT="9525" marB="0" anchor="ctr"/>
                </a:tc>
              </a:tr>
              <a:tr h="175260">
                <a:tc>
                  <a:txBody>
                    <a:bodyPr wrap="square"/>
                    <a:lstStyle/>
                    <a:p>
                      <a:pPr algn="l"/>
                      <a:r>
                        <a:rPr sz="1100" b="0" i="0">
                          <a:solidFill>
                            <a:srgbClr val="0070C0"/>
                          </a:solidFill>
                          <a:latin typeface="Calibri"/>
                        </a:rPr>
                        <a:t>24.4.</a:t>
                      </a:r>
                      <a:r>
                        <a:rPr sz="700" b="0" i="0">
                          <a:solidFill>
                            <a:srgbClr val="0070C0"/>
                          </a:solidFill>
                          <a:latin typeface="Times New Roman"/>
                        </a:rPr>
                        <a:t>  </a:t>
                      </a:r>
                      <a:r>
                        <a:rPr sz="1100" b="0" i="0">
                          <a:solidFill>
                            <a:srgbClr val="0070C0"/>
                          </a:solidFill>
                          <a:latin typeface="Calibri"/>
                        </a:rPr>
                        <a:t>Knauf Industries</a:t>
                      </a:r>
                      <a:endParaRPr sz="1100"/>
                    </a:p>
                  </a:txBody>
                  <a:tcPr marL="428625" marR="9525" marT="9525" marB="0" anchor="ctr"/>
                </a:tc>
              </a:tr>
              <a:tr h="175260">
                <a:tc>
                  <a:txBody>
                    <a:bodyPr wrap="square"/>
                    <a:lstStyle/>
                    <a:p>
                      <a:pPr algn="l"/>
                      <a:r>
                        <a:rPr sz="1100" b="0" i="0">
                          <a:solidFill>
                            <a:srgbClr val="0070C0"/>
                          </a:solidFill>
                          <a:latin typeface="Calibri"/>
                        </a:rPr>
                        <a:t>24.5.</a:t>
                      </a:r>
                      <a:r>
                        <a:rPr sz="700" b="0" i="0">
                          <a:solidFill>
                            <a:srgbClr val="0070C0"/>
                          </a:solidFill>
                          <a:latin typeface="Times New Roman"/>
                        </a:rPr>
                        <a:t>  </a:t>
                      </a:r>
                      <a:r>
                        <a:rPr sz="1100" b="0" i="0">
                          <a:solidFill>
                            <a:srgbClr val="0070C0"/>
                          </a:solidFill>
                          <a:latin typeface="Calibri"/>
                        </a:rPr>
                        <a:t>Atlas Molded Products</a:t>
                      </a:r>
                      <a:endParaRPr sz="1100"/>
                    </a:p>
                  </a:txBody>
                  <a:tcPr marL="428625" marR="9525" marT="9525" marB="0" anchor="ctr"/>
                </a:tc>
              </a:tr>
              <a:tr h="175260">
                <a:tc>
                  <a:txBody>
                    <a:bodyPr wrap="square"/>
                    <a:lstStyle/>
                    <a:p>
                      <a:pPr algn="l"/>
                      <a:r>
                        <a:rPr sz="1100" b="0" i="0">
                          <a:solidFill>
                            <a:srgbClr val="0070C0"/>
                          </a:solidFill>
                          <a:latin typeface="Calibri"/>
                        </a:rPr>
                        <a:t>24.6.</a:t>
                      </a:r>
                      <a:r>
                        <a:rPr sz="700" b="0" i="0">
                          <a:solidFill>
                            <a:srgbClr val="0070C0"/>
                          </a:solidFill>
                          <a:latin typeface="Times New Roman"/>
                        </a:rPr>
                        <a:t>  </a:t>
                      </a:r>
                      <a:r>
                        <a:rPr sz="1100" b="0" i="0">
                          <a:solidFill>
                            <a:srgbClr val="0070C0"/>
                          </a:solidFill>
                          <a:latin typeface="Calibri"/>
                        </a:rPr>
                        <a:t>JSP Corporation</a:t>
                      </a:r>
                      <a:endParaRPr sz="1100"/>
                    </a:p>
                  </a:txBody>
                  <a:tcPr marL="428625" marR="9525" marT="9525" marB="0" anchor="ctr"/>
                </a:tc>
              </a:tr>
              <a:tr h="175260">
                <a:tc>
                  <a:txBody>
                    <a:bodyPr wrap="square"/>
                    <a:lstStyle/>
                    <a:p>
                      <a:pPr algn="l"/>
                      <a:r>
                        <a:rPr sz="1100" b="0" i="0">
                          <a:solidFill>
                            <a:srgbClr val="0070C0"/>
                          </a:solidFill>
                          <a:latin typeface="Calibri"/>
                        </a:rPr>
                        <a:t>24.7.</a:t>
                      </a:r>
                      <a:r>
                        <a:rPr sz="700" b="0" i="0">
                          <a:solidFill>
                            <a:srgbClr val="0070C0"/>
                          </a:solidFill>
                          <a:latin typeface="Times New Roman"/>
                        </a:rPr>
                        <a:t>  </a:t>
                      </a:r>
                      <a:r>
                        <a:rPr sz="1100" b="0" i="0">
                          <a:solidFill>
                            <a:srgbClr val="0070C0"/>
                          </a:solidFill>
                          <a:latin typeface="Calibri"/>
                        </a:rPr>
                        <a:t>Kaneka Corporation</a:t>
                      </a:r>
                      <a:endParaRPr sz="1100"/>
                    </a:p>
                  </a:txBody>
                  <a:tcPr marL="4286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(6/6)</a:t>
            </a:r>
          </a:p>
        </p:txBody>
      </p:sp>
      <p:graphicFrame>
        <p:nvGraphicFramePr>
          <p:cNvPr id="6" name="TMR Contents Table"/>
          <p:cNvGraphicFramePr>
            <a:graphicFrameLocks noGrp="1"/>
          </p:cNvGraphicFramePr>
          <p:nvPr/>
        </p:nvGraphicFramePr>
        <p:xfrm>
          <a:off x="142875" y="981075"/>
          <a:ext cx="5876925" cy="26289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24.8.</a:t>
                      </a:r>
                      <a:r>
                        <a:rPr sz="700" b="0" i="0">
                          <a:solidFill>
                            <a:srgbClr val="0070C0"/>
                          </a:solidFill>
                          <a:latin typeface="Times New Roman"/>
                        </a:rPr>
                        <a:t>  </a:t>
                      </a:r>
                      <a:r>
                        <a:rPr sz="1100" b="0" i="0">
                          <a:solidFill>
                            <a:srgbClr val="0070C0"/>
                          </a:solidFill>
                          <a:latin typeface="Calibri"/>
                        </a:rPr>
                        <a:t>Nomaco</a:t>
                      </a:r>
                      <a:endParaRPr sz="1100"/>
                    </a:p>
                  </a:txBody>
                  <a:tcPr marL="428625" marR="9525" marT="9525" marB="0" anchor="ctr"/>
                </a:tc>
              </a:tr>
              <a:tr h="175260">
                <a:tc>
                  <a:txBody>
                    <a:bodyPr wrap="square"/>
                    <a:lstStyle/>
                    <a:p>
                      <a:pPr algn="l"/>
                      <a:r>
                        <a:rPr sz="1100" b="0" i="0">
                          <a:solidFill>
                            <a:srgbClr val="0070C0"/>
                          </a:solidFill>
                          <a:latin typeface="Calibri"/>
                        </a:rPr>
                        <a:t>24.9.</a:t>
                      </a:r>
                      <a:r>
                        <a:rPr sz="700" b="0" i="0">
                          <a:solidFill>
                            <a:srgbClr val="0070C0"/>
                          </a:solidFill>
                          <a:latin typeface="Times New Roman"/>
                        </a:rPr>
                        <a:t>  </a:t>
                      </a:r>
                      <a:r>
                        <a:rPr sz="1100" b="0" i="0">
                          <a:solidFill>
                            <a:srgbClr val="0070C0"/>
                          </a:solidFill>
                          <a:latin typeface="Calibri"/>
                        </a:rPr>
                        <a:t>Wolters Europe</a:t>
                      </a:r>
                      <a:endParaRPr sz="1100"/>
                    </a:p>
                  </a:txBody>
                  <a:tcPr marL="428625" marR="9525" marT="9525" marB="0" anchor="ctr"/>
                </a:tc>
              </a:tr>
              <a:tr h="175260">
                <a:tc>
                  <a:txBody>
                    <a:bodyPr wrap="square"/>
                    <a:lstStyle/>
                    <a:p>
                      <a:pPr algn="l"/>
                      <a:r>
                        <a:rPr sz="1100" b="0" i="0">
                          <a:solidFill>
                            <a:srgbClr val="0070C0"/>
                          </a:solidFill>
                          <a:latin typeface="Calibri"/>
                        </a:rPr>
                        <a:t>24.10.</a:t>
                      </a:r>
                      <a:r>
                        <a:rPr sz="700" b="0" i="0">
                          <a:solidFill>
                            <a:srgbClr val="0070C0"/>
                          </a:solidFill>
                          <a:latin typeface="Times New Roman"/>
                        </a:rPr>
                        <a:t> </a:t>
                      </a:r>
                      <a:r>
                        <a:rPr sz="1100" b="0" i="0">
                          <a:solidFill>
                            <a:srgbClr val="0070C0"/>
                          </a:solidFill>
                          <a:latin typeface="Calibri"/>
                        </a:rPr>
                        <a:t>Sapronit</a:t>
                      </a:r>
                      <a:endParaRPr sz="1100"/>
                    </a:p>
                  </a:txBody>
                  <a:tcPr marL="428625" marR="9525" marT="9525" marB="0" anchor="ctr"/>
                </a:tc>
              </a:tr>
              <a:tr h="175260">
                <a:tc>
                  <a:txBody>
                    <a:bodyPr wrap="square"/>
                    <a:lstStyle/>
                    <a:p>
                      <a:pPr algn="l"/>
                      <a:r>
                        <a:rPr sz="1100" b="0" i="0">
                          <a:solidFill>
                            <a:srgbClr val="0070C0"/>
                          </a:solidFill>
                          <a:latin typeface="Calibri"/>
                        </a:rPr>
                        <a:t>24.11.</a:t>
                      </a:r>
                      <a:r>
                        <a:rPr sz="700" b="0" i="0">
                          <a:solidFill>
                            <a:srgbClr val="0070C0"/>
                          </a:solidFill>
                          <a:latin typeface="Times New Roman"/>
                        </a:rPr>
                        <a:t> </a:t>
                      </a:r>
                      <a:r>
                        <a:rPr sz="1100" b="0" i="0">
                          <a:solidFill>
                            <a:srgbClr val="0070C0"/>
                          </a:solidFill>
                          <a:latin typeface="Calibri"/>
                        </a:rPr>
                        <a:t>DE-PACK GmbH &amp; Co. KG</a:t>
                      </a:r>
                      <a:endParaRPr sz="1100"/>
                    </a:p>
                  </a:txBody>
                  <a:tcPr marL="428625" marR="9525" marT="9525" marB="0" anchor="ctr"/>
                </a:tc>
              </a:tr>
              <a:tr h="175260">
                <a:tc>
                  <a:txBody>
                    <a:bodyPr wrap="square"/>
                    <a:lstStyle/>
                    <a:p>
                      <a:pPr algn="l"/>
                      <a:r>
                        <a:rPr sz="1100" b="0" i="0">
                          <a:solidFill>
                            <a:srgbClr val="0070C0"/>
                          </a:solidFill>
                          <a:latin typeface="Calibri"/>
                        </a:rPr>
                        <a:t>24.12.</a:t>
                      </a:r>
                      <a:r>
                        <a:rPr sz="700" b="0" i="0">
                          <a:solidFill>
                            <a:srgbClr val="0070C0"/>
                          </a:solidFill>
                          <a:latin typeface="Times New Roman"/>
                        </a:rPr>
                        <a:t> </a:t>
                      </a:r>
                      <a:r>
                        <a:rPr sz="1100" b="0" i="0">
                          <a:solidFill>
                            <a:srgbClr val="0070C0"/>
                          </a:solidFill>
                          <a:latin typeface="Calibri"/>
                        </a:rPr>
                        <a:t>Polyfoam Australia</a:t>
                      </a:r>
                      <a:endParaRPr sz="1100"/>
                    </a:p>
                  </a:txBody>
                  <a:tcPr marL="428625" marR="9525" marT="9525" marB="0" anchor="ctr"/>
                </a:tc>
              </a:tr>
              <a:tr h="175260">
                <a:tc>
                  <a:txBody>
                    <a:bodyPr wrap="square"/>
                    <a:lstStyle/>
                    <a:p>
                      <a:pPr algn="l"/>
                      <a:r>
                        <a:rPr sz="1100" b="0" i="0">
                          <a:solidFill>
                            <a:srgbClr val="0070C0"/>
                          </a:solidFill>
                          <a:latin typeface="Calibri"/>
                        </a:rPr>
                        <a:t>24.13.</a:t>
                      </a:r>
                      <a:r>
                        <a:rPr sz="700" b="0" i="0">
                          <a:solidFill>
                            <a:srgbClr val="0070C0"/>
                          </a:solidFill>
                          <a:latin typeface="Times New Roman"/>
                        </a:rPr>
                        <a:t> </a:t>
                      </a:r>
                      <a:r>
                        <a:rPr sz="1100" b="0" i="0">
                          <a:solidFill>
                            <a:srgbClr val="0070C0"/>
                          </a:solidFill>
                          <a:latin typeface="Calibri"/>
                        </a:rPr>
                        <a:t>Termotécnica</a:t>
                      </a:r>
                      <a:endParaRPr sz="1100"/>
                    </a:p>
                  </a:txBody>
                  <a:tcPr marL="428625" marR="9525" marT="9525" marB="0" anchor="ctr"/>
                </a:tc>
              </a:tr>
              <a:tr h="175260">
                <a:tc>
                  <a:txBody>
                    <a:bodyPr wrap="square"/>
                    <a:lstStyle/>
                    <a:p>
                      <a:pPr algn="l"/>
                      <a:r>
                        <a:rPr sz="1100" b="0" i="0">
                          <a:solidFill>
                            <a:srgbClr val="0070C0"/>
                          </a:solidFill>
                          <a:latin typeface="Calibri"/>
                        </a:rPr>
                        <a:t>24.14.</a:t>
                      </a:r>
                      <a:r>
                        <a:rPr sz="700" b="0" i="0">
                          <a:solidFill>
                            <a:srgbClr val="0070C0"/>
                          </a:solidFill>
                          <a:latin typeface="Times New Roman"/>
                        </a:rPr>
                        <a:t> </a:t>
                      </a:r>
                      <a:r>
                        <a:rPr sz="1100" b="0" i="0">
                          <a:solidFill>
                            <a:srgbClr val="0070C0"/>
                          </a:solidFill>
                          <a:latin typeface="Calibri"/>
                        </a:rPr>
                        <a:t>Polyglobal</a:t>
                      </a:r>
                      <a:endParaRPr sz="1100"/>
                    </a:p>
                  </a:txBody>
                  <a:tcPr marL="428625" marR="9525" marT="9525" marB="0" anchor="ctr"/>
                </a:tc>
              </a:tr>
              <a:tr h="175260">
                <a:tc>
                  <a:txBody>
                    <a:bodyPr wrap="square"/>
                    <a:lstStyle/>
                    <a:p>
                      <a:pPr algn="l"/>
                      <a:r>
                        <a:rPr sz="1100" b="0" i="0">
                          <a:solidFill>
                            <a:srgbClr val="0070C0"/>
                          </a:solidFill>
                          <a:latin typeface="Calibri"/>
                        </a:rPr>
                        <a:t>24.15.</a:t>
                      </a:r>
                      <a:r>
                        <a:rPr sz="700" b="0" i="0">
                          <a:solidFill>
                            <a:srgbClr val="0070C0"/>
                          </a:solidFill>
                          <a:latin typeface="Times New Roman"/>
                        </a:rPr>
                        <a:t> </a:t>
                      </a:r>
                      <a:r>
                        <a:rPr sz="1100" b="0" i="0">
                          <a:solidFill>
                            <a:srgbClr val="0070C0"/>
                          </a:solidFill>
                          <a:latin typeface="Calibri"/>
                        </a:rPr>
                        <a:t>CA-SA &amp; PACKING</a:t>
                      </a:r>
                      <a:endParaRPr sz="1100"/>
                    </a:p>
                  </a:txBody>
                  <a:tcPr marL="428625" marR="9525" marT="9525" marB="0" anchor="ctr"/>
                </a:tc>
              </a:tr>
              <a:tr h="175260">
                <a:tc>
                  <a:txBody>
                    <a:bodyPr wrap="square"/>
                    <a:lstStyle/>
                    <a:p>
                      <a:pPr algn="l"/>
                      <a:r>
                        <a:rPr sz="1100" b="0" i="0">
                          <a:solidFill>
                            <a:srgbClr val="0070C0"/>
                          </a:solidFill>
                          <a:latin typeface="Calibri"/>
                        </a:rPr>
                        <a:t>24.16.</a:t>
                      </a:r>
                      <a:r>
                        <a:rPr sz="700" b="0" i="0">
                          <a:solidFill>
                            <a:srgbClr val="0070C0"/>
                          </a:solidFill>
                          <a:latin typeface="Times New Roman"/>
                        </a:rPr>
                        <a:t> </a:t>
                      </a:r>
                      <a:r>
                        <a:rPr sz="1100" b="0" i="0">
                          <a:solidFill>
                            <a:srgbClr val="0070C0"/>
                          </a:solidFill>
                          <a:latin typeface="Calibri"/>
                        </a:rPr>
                        <a:t>Leo Packing</a:t>
                      </a:r>
                      <a:endParaRPr sz="1100"/>
                    </a:p>
                  </a:txBody>
                  <a:tcPr marL="428625" marR="9525" marT="9525" marB="0" anchor="ctr"/>
                </a:tc>
              </a:tr>
              <a:tr h="175260">
                <a:tc>
                  <a:txBody>
                    <a:bodyPr wrap="square"/>
                    <a:lstStyle/>
                    <a:p>
                      <a:pPr algn="l"/>
                      <a:r>
                        <a:rPr sz="1100" b="0" i="0">
                          <a:solidFill>
                            <a:srgbClr val="0070C0"/>
                          </a:solidFill>
                          <a:latin typeface="Calibri"/>
                        </a:rPr>
                        <a:t>24.17.</a:t>
                      </a:r>
                      <a:r>
                        <a:rPr sz="700" b="0" i="0">
                          <a:solidFill>
                            <a:srgbClr val="0070C0"/>
                          </a:solidFill>
                          <a:latin typeface="Times New Roman"/>
                        </a:rPr>
                        <a:t> </a:t>
                      </a:r>
                      <a:r>
                        <a:rPr sz="1100" b="0" i="0">
                          <a:solidFill>
                            <a:srgbClr val="0070C0"/>
                          </a:solidFill>
                          <a:latin typeface="Calibri"/>
                        </a:rPr>
                        <a:t>MEF</a:t>
                      </a:r>
                      <a:endParaRPr sz="1100"/>
                    </a:p>
                  </a:txBody>
                  <a:tcPr marL="428625" marR="9525" marT="9525" marB="0" anchor="ctr"/>
                </a:tc>
              </a:tr>
              <a:tr h="175260">
                <a:tc>
                  <a:txBody>
                    <a:bodyPr wrap="square"/>
                    <a:lstStyle/>
                    <a:p>
                      <a:pPr algn="l"/>
                      <a:r>
                        <a:rPr sz="1100" b="0" i="0">
                          <a:solidFill>
                            <a:srgbClr val="0070C0"/>
                          </a:solidFill>
                          <a:latin typeface="Calibri"/>
                        </a:rPr>
                        <a:t>24.18.</a:t>
                      </a:r>
                      <a:r>
                        <a:rPr sz="700" b="0" i="0">
                          <a:solidFill>
                            <a:srgbClr val="0070C0"/>
                          </a:solidFill>
                          <a:latin typeface="Times New Roman"/>
                        </a:rPr>
                        <a:t> </a:t>
                      </a:r>
                      <a:r>
                        <a:rPr sz="1100" b="0" i="0">
                          <a:solidFill>
                            <a:srgbClr val="0070C0"/>
                          </a:solidFill>
                          <a:latin typeface="Calibri"/>
                        </a:rPr>
                        <a:t>MDE Empaque Industrial</a:t>
                      </a:r>
                      <a:endParaRPr sz="1100"/>
                    </a:p>
                  </a:txBody>
                  <a:tcPr marL="428625" marR="9525" marT="9525" marB="0" anchor="ctr"/>
                </a:tc>
              </a:tr>
              <a:tr h="175260">
                <a:tc>
                  <a:txBody>
                    <a:bodyPr wrap="square"/>
                    <a:lstStyle/>
                    <a:p>
                      <a:pPr algn="l"/>
                      <a:r>
                        <a:rPr sz="1100" b="0" i="0">
                          <a:solidFill>
                            <a:srgbClr val="0070C0"/>
                          </a:solidFill>
                          <a:latin typeface="Calibri"/>
                        </a:rPr>
                        <a:t>24.19.</a:t>
                      </a:r>
                      <a:r>
                        <a:rPr sz="700" b="0" i="0">
                          <a:solidFill>
                            <a:srgbClr val="0070C0"/>
                          </a:solidFill>
                          <a:latin typeface="Times New Roman"/>
                        </a:rPr>
                        <a:t> </a:t>
                      </a:r>
                      <a:r>
                        <a:rPr sz="1100" b="0" i="0">
                          <a:solidFill>
                            <a:srgbClr val="0070C0"/>
                          </a:solidFill>
                          <a:latin typeface="Calibri"/>
                        </a:rPr>
                        <a:t>Epsilyte</a:t>
                      </a:r>
                      <a:endParaRPr sz="1100"/>
                    </a:p>
                  </a:txBody>
                  <a:tcPr marL="428625" marR="9525" marT="9525" marB="0" anchor="ctr"/>
                </a:tc>
              </a:tr>
              <a:tr h="175260">
                <a:tc>
                  <a:txBody>
                    <a:bodyPr wrap="square"/>
                    <a:lstStyle/>
                    <a:p>
                      <a:pPr algn="l"/>
                      <a:r>
                        <a:rPr sz="1100" b="0" i="0">
                          <a:solidFill>
                            <a:srgbClr val="0070C0"/>
                          </a:solidFill>
                          <a:latin typeface="Calibri"/>
                        </a:rPr>
                        <a:t>24.20.</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7" name="Rectangle 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Material Type,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Product Form,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End-use Industry,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Region,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Incremental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 Global Market Key Demand Drivers Impact Assessment, 2026–2036</a:t>
                      </a:r>
                      <a:endParaRPr sz="1050"/>
                    </a:p>
                  </a:txBody>
                  <a:tcPr marL="9525" marR="9525" marT="9525" marB="0" anchor="ctr"/>
                </a:tc>
              </a:tr>
              <a:tr h="169606">
                <a:tc>
                  <a:txBody>
                    <a:bodyPr wrap="square"/>
                    <a:lstStyle/>
                    <a:p>
                      <a:pPr algn="l"/>
                      <a:r>
                        <a:rPr sz="1050" b="0" i="0">
                          <a:solidFill>
                            <a:srgbClr val="000000"/>
                          </a:solidFill>
                          <a:latin typeface="Calibri"/>
                        </a:rPr>
                        <a:t>Figure 10: Global Market Key Restraints Impact Assessment, 2026–2036</a:t>
                      </a:r>
                      <a:endParaRPr sz="1050"/>
                    </a:p>
                  </a:txBody>
                  <a:tcPr marL="9525" marR="9525" marT="9525" marB="0" anchor="ctr"/>
                </a:tc>
              </a:tr>
              <a:tr h="169606">
                <a:tc>
                  <a:txBody>
                    <a:bodyPr wrap="square"/>
                    <a:lstStyle/>
                    <a:p>
                      <a:pPr algn="l"/>
                      <a:r>
                        <a:rPr sz="1050" b="0" i="0">
                          <a:solidFill>
                            <a:srgbClr val="000000"/>
                          </a:solidFill>
                          <a:latin typeface="Calibri"/>
                        </a:rPr>
                        <a:t>Figure 11: Global Market Value Forecast by Scenario,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13: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Cumulative Value Addition, US$ Mn, 2026–2036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Five-Year Absolute $ Opportunity, US$ Mn, 2026–2031</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Material Type,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Product Form,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Value by End-use Industry, US$ Mn, 2021–2036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Material Type,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Product Form,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End-use Industry,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Absolute $ Opportunity by Material Type, US$ Mn, 2026–2036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171152">
                <a:tc>
                  <a:txBody>
                    <a:bodyPr wrap="square"/>
                    <a:lstStyle/>
                    <a:p>
                      <a:pPr algn="l"/>
                      <a:r>
                        <a:rPr sz="1050" b="0" i="0">
                          <a:solidFill>
                            <a:srgbClr val="000000"/>
                          </a:solidFill>
                          <a:latin typeface="Calibri"/>
                        </a:rPr>
                        <a:t>Figure 32: Global Market Absolute $ Opportunity by Product Form, US$ Mn, 2026–2036</a:t>
                      </a:r>
                      <a:endParaRPr sz="1050"/>
                    </a:p>
                  </a:txBody>
                  <a:tcPr marL="9525" marR="9525" marT="9525" marB="0" anchor="ctr"/>
                </a:tc>
              </a:tr>
              <a:tr h="171152">
                <a:tc>
                  <a:txBody>
                    <a:bodyPr wrap="square"/>
                    <a:lstStyle/>
                    <a:p>
                      <a:pPr algn="l"/>
                      <a:r>
                        <a:rPr sz="1050" b="0" i="0">
                          <a:solidFill>
                            <a:srgbClr val="000000"/>
                          </a:solidFill>
                          <a:latin typeface="Calibri"/>
                        </a:rPr>
                        <a:t>Figure 33: Global Market Absolute $ Opportunity by End-use Industry, US$ Mn, 2026–2036</a:t>
                      </a:r>
                      <a:endParaRPr sz="1050"/>
                    </a:p>
                  </a:txBody>
                  <a:tcPr marL="9525" marR="9525" marT="9525" marB="0" anchor="ctr"/>
                </a:tc>
              </a:tr>
              <a:tr h="171152">
                <a:tc>
                  <a:txBody>
                    <a:bodyPr wrap="square"/>
                    <a:lstStyle/>
                    <a:p>
                      <a:pPr algn="l"/>
                      <a:r>
                        <a:rPr sz="1050" b="0" i="0">
                          <a:solidFill>
                            <a:srgbClr val="000000"/>
                          </a:solidFill>
                          <a:latin typeface="Calibri"/>
                        </a:rPr>
                        <a:t>Figure 34: Global Market BPS Share Change by Material Type, 2026–2036</a:t>
                      </a:r>
                      <a:endParaRPr sz="1050"/>
                    </a:p>
                  </a:txBody>
                  <a:tcPr marL="9525" marR="9525" marT="9525" marB="0" anchor="ctr"/>
                </a:tc>
              </a:tr>
              <a:tr h="171152">
                <a:tc>
                  <a:txBody>
                    <a:bodyPr wrap="square"/>
                    <a:lstStyle/>
                    <a:p>
                      <a:pPr algn="l"/>
                      <a:r>
                        <a:rPr sz="1050" b="0" i="0">
                          <a:solidFill>
                            <a:srgbClr val="000000"/>
                          </a:solidFill>
                          <a:latin typeface="Calibri"/>
                        </a:rPr>
                        <a:t>Figure 35: Global Market BPS Share Change by Product Form, 2026–2036</a:t>
                      </a:r>
                      <a:endParaRPr sz="1050"/>
                    </a:p>
                  </a:txBody>
                  <a:tcPr marL="9525" marR="9525" marT="9525" marB="0" anchor="ctr"/>
                </a:tc>
              </a:tr>
              <a:tr h="171152">
                <a:tc>
                  <a:txBody>
                    <a:bodyPr wrap="square"/>
                    <a:lstStyle/>
                    <a:p>
                      <a:pPr algn="l"/>
                      <a:r>
                        <a:rPr sz="1050" b="0" i="0">
                          <a:solidFill>
                            <a:srgbClr val="000000"/>
                          </a:solidFill>
                          <a:latin typeface="Calibri"/>
                        </a:rPr>
                        <a:t>Figure 36: Global Market BPS Share Change by End-use Industry, 2026–2036</a:t>
                      </a:r>
                      <a:endParaRPr sz="1050"/>
                    </a:p>
                  </a:txBody>
                  <a:tcPr marL="9525" marR="9525" marT="9525" marB="0" anchor="ctr"/>
                </a:tc>
              </a:tr>
              <a:tr h="171152">
                <a:tc>
                  <a:txBody>
                    <a:bodyPr wrap="square"/>
                    <a:lstStyle/>
                    <a:p>
                      <a:pPr algn="l"/>
                      <a:r>
                        <a:rPr sz="1050" b="0" i="0">
                          <a:solidFill>
                            <a:srgbClr val="000000"/>
                          </a:solidFill>
                          <a:latin typeface="Calibri"/>
                        </a:rPr>
                        <a:t>Figure 37: Global Market YoY Growth by Material Type, %, 2026–2036</a:t>
                      </a:r>
                      <a:endParaRPr sz="1050"/>
                    </a:p>
                  </a:txBody>
                  <a:tcPr marL="9525" marR="9525" marT="9525" marB="0" anchor="ctr"/>
                </a:tc>
              </a:tr>
              <a:tr h="171152">
                <a:tc>
                  <a:txBody>
                    <a:bodyPr wrap="square"/>
                    <a:lstStyle/>
                    <a:p>
                      <a:pPr algn="l"/>
                      <a:r>
                        <a:rPr sz="1050" b="0" i="0">
                          <a:solidFill>
                            <a:srgbClr val="000000"/>
                          </a:solidFill>
                          <a:latin typeface="Calibri"/>
                        </a:rPr>
                        <a:t>Figure 38: Global Market YoY Growth by Product Form, %, 2026–2036</a:t>
                      </a:r>
                      <a:endParaRPr sz="1050"/>
                    </a:p>
                  </a:txBody>
                  <a:tcPr marL="9525" marR="9525" marT="9525" marB="0" anchor="ctr"/>
                </a:tc>
              </a:tr>
              <a:tr h="171152">
                <a:tc>
                  <a:txBody>
                    <a:bodyPr wrap="square"/>
                    <a:lstStyle/>
                    <a:p>
                      <a:pPr algn="l"/>
                      <a:r>
                        <a:rPr sz="1050" b="0" i="0">
                          <a:solidFill>
                            <a:srgbClr val="000000"/>
                          </a:solidFill>
                          <a:latin typeface="Calibri"/>
                        </a:rPr>
                        <a:t>Figure 39: Global Market YoY Growth by End-use Industry, %, 2026–2036</a:t>
                      </a:r>
                      <a:endParaRPr sz="1050"/>
                    </a:p>
                  </a:txBody>
                  <a:tcPr marL="9525" marR="9525" marT="9525" marB="0" anchor="ctr"/>
                </a:tc>
              </a:tr>
              <a:tr h="171152">
                <a:tc>
                  <a:txBody>
                    <a:bodyPr wrap="square"/>
                    <a:lstStyle/>
                    <a:p>
                      <a:pPr algn="l"/>
                      <a:r>
                        <a:rPr sz="1050" b="0" i="0">
                          <a:solidFill>
                            <a:srgbClr val="000000"/>
                          </a:solidFill>
                          <a:latin typeface="Calibri"/>
                        </a:rPr>
                        <a:t>Figure 40: Global Market Attractiveness by Material Type, 2026–2036</a:t>
                      </a:r>
                      <a:endParaRPr sz="1050"/>
                    </a:p>
                  </a:txBody>
                  <a:tcPr marL="9525" marR="9525" marT="9525" marB="0" anchor="ctr"/>
                </a:tc>
              </a:tr>
              <a:tr h="171152">
                <a:tc>
                  <a:txBody>
                    <a:bodyPr wrap="square"/>
                    <a:lstStyle/>
                    <a:p>
                      <a:pPr algn="l"/>
                      <a:r>
                        <a:rPr sz="1050" b="0" i="0">
                          <a:solidFill>
                            <a:srgbClr val="000000"/>
                          </a:solidFill>
                          <a:latin typeface="Calibri"/>
                        </a:rPr>
                        <a:t>Figure 41: Global Market Attractiveness by Product Form, 2026–2036</a:t>
                      </a:r>
                      <a:endParaRPr sz="1050"/>
                    </a:p>
                  </a:txBody>
                  <a:tcPr marL="9525" marR="9525" marT="9525" marB="0" anchor="ctr"/>
                </a:tc>
              </a:tr>
              <a:tr h="171152">
                <a:tc>
                  <a:txBody>
                    <a:bodyPr wrap="square"/>
                    <a:lstStyle/>
                    <a:p>
                      <a:pPr algn="l"/>
                      <a:r>
                        <a:rPr sz="1050" b="0" i="0">
                          <a:solidFill>
                            <a:srgbClr val="000000"/>
                          </a:solidFill>
                          <a:latin typeface="Calibri"/>
                        </a:rPr>
                        <a:t>Figure 42: Global Market Attractiveness by End-use Industry, 2026–2036</a:t>
                      </a:r>
                      <a:endParaRPr sz="1050"/>
                    </a:p>
                  </a:txBody>
                  <a:tcPr marL="9525" marR="9525" marT="9525" marB="0" anchor="ctr"/>
                </a:tc>
              </a:tr>
              <a:tr h="171152">
                <a:tc>
                  <a:txBody>
                    <a:bodyPr wrap="square"/>
                    <a:lstStyle/>
                    <a:p>
                      <a:pPr algn="l"/>
                      <a:r>
                        <a:rPr sz="1050" b="0" i="0">
                          <a:solidFill>
                            <a:srgbClr val="000000"/>
                          </a:solidFill>
                          <a:latin typeface="Calibri"/>
                        </a:rPr>
                        <a:t>Figure 43: Global Market Volume by Material Type, MT, 2021–2036</a:t>
                      </a:r>
                      <a:endParaRPr sz="1050"/>
                    </a:p>
                  </a:txBody>
                  <a:tcPr marL="9525" marR="9525" marT="9525" marB="0" anchor="ctr"/>
                </a:tc>
              </a:tr>
              <a:tr h="171152">
                <a:tc>
                  <a:txBody>
                    <a:bodyPr wrap="square"/>
                    <a:lstStyle/>
                    <a:p>
                      <a:pPr algn="l"/>
                      <a:r>
                        <a:rPr sz="1050" b="0" i="0">
                          <a:solidFill>
                            <a:srgbClr val="000000"/>
                          </a:solidFill>
                          <a:latin typeface="Calibri"/>
                        </a:rPr>
                        <a:t>Figure 44: Global Market Volume by Product Form, MT, 2021–2036</a:t>
                      </a:r>
                      <a:endParaRPr sz="1050"/>
                    </a:p>
                  </a:txBody>
                  <a:tcPr marL="9525" marR="9525" marT="9525" marB="0" anchor="ctr"/>
                </a:tc>
              </a:tr>
              <a:tr h="171152">
                <a:tc>
                  <a:txBody>
                    <a:bodyPr wrap="square"/>
                    <a:lstStyle/>
                    <a:p>
                      <a:pPr algn="l"/>
                      <a:r>
                        <a:rPr sz="1050" b="0" i="0">
                          <a:solidFill>
                            <a:srgbClr val="000000"/>
                          </a:solidFill>
                          <a:latin typeface="Calibri"/>
                        </a:rPr>
                        <a:t>Figure 45: Global Market Volume by End-use Industry, MT, 2021–2036</a:t>
                      </a:r>
                      <a:endParaRPr sz="1050"/>
                    </a:p>
                  </a:txBody>
                  <a:tcPr marL="9525" marR="9525" marT="9525" marB="0" anchor="ctr"/>
                </a:tc>
              </a:tr>
              <a:tr h="171152">
                <a:tc>
                  <a:txBody>
                    <a:bodyPr wrap="square"/>
                    <a:lstStyle/>
                    <a:p>
                      <a:pPr algn="l"/>
                      <a:r>
                        <a:rPr sz="1050" b="0" i="0">
                          <a:solidFill>
                            <a:srgbClr val="000000"/>
                          </a:solidFill>
                          <a:latin typeface="Calibri"/>
                        </a:rPr>
                        <a:t>Figure 46: Global Market Average Selling Price by Material Type, US$/MT, 2021–2036</a:t>
                      </a:r>
                      <a:endParaRPr sz="1050"/>
                    </a:p>
                  </a:txBody>
                  <a:tcPr marL="9525" marR="9525" marT="9525" marB="0" anchor="ctr"/>
                </a:tc>
              </a:tr>
              <a:tr h="171152">
                <a:tc>
                  <a:txBody>
                    <a:bodyPr wrap="square"/>
                    <a:lstStyle/>
                    <a:p>
                      <a:pPr algn="l"/>
                      <a:r>
                        <a:rPr sz="1050" b="0" i="0">
                          <a:solidFill>
                            <a:srgbClr val="000000"/>
                          </a:solidFill>
                          <a:latin typeface="Calibri"/>
                        </a:rPr>
                        <a:t>Figure 47: Global Market Average Selling Price by Product Form, US$/MT, 2021–2036</a:t>
                      </a:r>
                      <a:endParaRPr sz="1050"/>
                    </a:p>
                  </a:txBody>
                  <a:tcPr marL="9525" marR="9525" marT="9525" marB="0" anchor="ctr"/>
                </a:tc>
              </a:tr>
              <a:tr h="171152">
                <a:tc>
                  <a:txBody>
                    <a:bodyPr wrap="square"/>
                    <a:lstStyle/>
                    <a:p>
                      <a:pPr algn="l"/>
                      <a:r>
                        <a:rPr sz="1050" b="0" i="0">
                          <a:solidFill>
                            <a:srgbClr val="000000"/>
                          </a:solidFill>
                          <a:latin typeface="Calibri"/>
                        </a:rPr>
                        <a:t>Figure 48: Global Market Average Selling Price by End-use Industry, US$/MT, 2021–2036</a:t>
                      </a:r>
                      <a:endParaRPr sz="1050"/>
                    </a:p>
                  </a:txBody>
                  <a:tcPr marL="9525" marR="9525" marT="9525" marB="0" anchor="ctr"/>
                </a:tc>
              </a:tr>
              <a:tr h="335459">
                <a:tc>
                  <a:txBody>
                    <a:bodyPr wrap="square"/>
                    <a:lstStyle/>
                    <a:p>
                      <a:pPr algn="l"/>
                      <a:r>
                        <a:rPr sz="1050" b="0" i="0">
                          <a:solidFill>
                            <a:srgbClr val="000000"/>
                          </a:solidFill>
                          <a:latin typeface="Calibri"/>
                        </a:rPr>
                        <a:t>Figure 49: Global Market Value and YoY Growth, Polyethylene (PE) Foam (Material Type), US$ Mn and %, 2021–2036</a:t>
                      </a:r>
                      <a:endParaRPr sz="1050"/>
                    </a:p>
                  </a:txBody>
                  <a:tcPr marL="9525" marR="9525" marT="9525" marB="0" anchor="ctr"/>
                </a:tc>
              </a:tr>
              <a:tr h="335459">
                <a:tc>
                  <a:txBody>
                    <a:bodyPr wrap="square"/>
                    <a:lstStyle/>
                    <a:p>
                      <a:pPr algn="l"/>
                      <a:r>
                        <a:rPr sz="1050" b="0" i="0">
                          <a:solidFill>
                            <a:srgbClr val="000000"/>
                          </a:solidFill>
                          <a:latin typeface="Calibri"/>
                        </a:rPr>
                        <a:t>Figure 50: Global Market Value and YoY Growth, Foam Sheets, Rolls &amp; Planks (Product Form), US$ Mn and %, 2021–2036</a:t>
                      </a:r>
                      <a:endParaRPr sz="1050"/>
                    </a:p>
                  </a:txBody>
                  <a:tcPr marL="9525" marR="9525" marT="9525" marB="0" anchor="ctr"/>
                </a:tc>
              </a:tr>
              <a:tr h="335459">
                <a:tc>
                  <a:txBody>
                    <a:bodyPr wrap="square"/>
                    <a:lstStyle/>
                    <a:p>
                      <a:pPr algn="l"/>
                      <a:r>
                        <a:rPr sz="1050" b="0" i="0">
                          <a:solidFill>
                            <a:srgbClr val="000000"/>
                          </a:solidFill>
                          <a:latin typeface="Calibri"/>
                        </a:rPr>
                        <a:t>Figure 51: Global Market Value and YoY Growth, Electronics &amp; Electrical (End-use Industry), US$ Mn and %, 2021–2036</a:t>
                      </a:r>
                      <a:endParaRPr sz="1050"/>
                    </a:p>
                  </a:txBody>
                  <a:tcPr marL="9525" marR="9525" marT="9525" marB="0" anchor="ctr"/>
                </a:tc>
              </a:tr>
              <a:tr h="335459">
                <a:tc>
                  <a:txBody>
                    <a:bodyPr wrap="square"/>
                    <a:lstStyle/>
                    <a:p>
                      <a:pPr algn="l"/>
                      <a:r>
                        <a:rPr sz="1050" b="0" i="0">
                          <a:solidFill>
                            <a:srgbClr val="000000"/>
                          </a:solidFill>
                          <a:latin typeface="Calibri"/>
                        </a:rPr>
                        <a:t>Figure 52: Global Market Value and YoY Growth, Expanded Polystyrene (EPS) (Material Type), US$ Mn and %, 2021–2036</a:t>
                      </a:r>
                      <a:endParaRPr sz="1050"/>
                    </a:p>
                  </a:txBody>
                  <a:tcPr marL="9525" marR="9525" marT="9525" marB="0" anchor="ctr"/>
                </a:tc>
              </a:tr>
              <a:tr h="335459">
                <a:tc>
                  <a:txBody>
                    <a:bodyPr wrap="square"/>
                    <a:lstStyle/>
                    <a:p>
                      <a:pPr algn="l"/>
                      <a:r>
                        <a:rPr sz="1050" b="0" i="0">
                          <a:solidFill>
                            <a:srgbClr val="000000"/>
                          </a:solidFill>
                          <a:latin typeface="Calibri"/>
                        </a:rPr>
                        <a:t>Figure 53: Global Market Value and YoY Growth, Fabricated Foam Packaging (Product Form), US$ Mn and %, 2021–2036</a:t>
                      </a:r>
                      <a:endParaRPr sz="1050"/>
                    </a:p>
                  </a:txBody>
                  <a:tcPr marL="9525" marR="9525" marT="9525" marB="0" anchor="ctr"/>
                </a:tc>
              </a:tr>
              <a:tr h="335459">
                <a:tc>
                  <a:txBody>
                    <a:bodyPr wrap="square"/>
                    <a:lstStyle/>
                    <a:p>
                      <a:pPr algn="l"/>
                      <a:r>
                        <a:rPr sz="1050" b="0" i="0">
                          <a:solidFill>
                            <a:srgbClr val="000000"/>
                          </a:solidFill>
                          <a:latin typeface="Calibri"/>
                        </a:rPr>
                        <a:t>Figure 54: Global Market Value and YoY Growth, Automotive (End-use Industry), US$ Mn and %, 2021–2036</a:t>
                      </a:r>
                      <a:endParaRPr sz="1050"/>
                    </a:p>
                  </a:txBody>
                  <a:tcPr marL="9525" marR="9525" marT="9525" marB="0" anchor="ctr"/>
                </a:tc>
              </a:tr>
              <a:tr h="335459">
                <a:tc>
                  <a:txBody>
                    <a:bodyPr wrap="square"/>
                    <a:lstStyle/>
                    <a:p>
                      <a:pPr algn="l"/>
                      <a:r>
                        <a:rPr sz="1050" b="0" i="0">
                          <a:solidFill>
                            <a:srgbClr val="000000"/>
                          </a:solidFill>
                          <a:latin typeface="Calibri"/>
                        </a:rPr>
                        <a:t>Figure 55: Global Market Value and YoY Growth, Polyurethane (PU) Foam (Material Type), US$ Mn and %, 2021–2036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56: Material Type × Product Form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57: Material Type × End-use Industry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58: Product Form × End-use Industry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59: Region × Material Type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60: Region × Product Form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61: Region × End-use Industry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62: Global Market Value by Material Type and Product Form, US$ Mn, 2036</a:t>
                      </a:r>
                      <a:endParaRPr sz="1050"/>
                    </a:p>
                  </a:txBody>
                  <a:tcPr marL="9525" marR="9525" marT="9525" marB="0" anchor="ctr"/>
                </a:tc>
              </a:tr>
              <a:tr h="169606">
                <a:tc>
                  <a:txBody>
                    <a:bodyPr wrap="square"/>
                    <a:lstStyle/>
                    <a:p>
                      <a:pPr algn="l"/>
                      <a:r>
                        <a:rPr sz="1050" b="0" i="0">
                          <a:solidFill>
                            <a:srgbClr val="000000"/>
                          </a:solidFill>
                          <a:latin typeface="Calibri"/>
                        </a:rPr>
                        <a:t>Figure 63: Global Market Value by Material Type and End-use Industry, US$ Mn, 2036</a:t>
                      </a:r>
                      <a:endParaRPr sz="1050"/>
                    </a:p>
                  </a:txBody>
                  <a:tcPr marL="9525" marR="9525" marT="9525" marB="0" anchor="ctr"/>
                </a:tc>
              </a:tr>
              <a:tr h="169606">
                <a:tc>
                  <a:txBody>
                    <a:bodyPr wrap="square"/>
                    <a:lstStyle/>
                    <a:p>
                      <a:pPr algn="l"/>
                      <a:r>
                        <a:rPr sz="1050" b="0" i="0">
                          <a:solidFill>
                            <a:srgbClr val="000000"/>
                          </a:solidFill>
                          <a:latin typeface="Calibri"/>
                        </a:rPr>
                        <a:t>Figure 64: Global Market Value by Product Form and End-use Industry, US$ Mn, 2036</a:t>
                      </a:r>
                      <a:endParaRPr sz="1050"/>
                    </a:p>
                  </a:txBody>
                  <a:tcPr marL="9525" marR="9525" marT="9525" marB="0" anchor="ctr"/>
                </a:tc>
              </a:tr>
              <a:tr h="169606">
                <a:tc>
                  <a:txBody>
                    <a:bodyPr wrap="square"/>
                    <a:lstStyle/>
                    <a:p>
                      <a:pPr algn="l"/>
                      <a:r>
                        <a:rPr sz="1050" b="0" i="0">
                          <a:solidFill>
                            <a:srgbClr val="000000"/>
                          </a:solidFill>
                          <a:latin typeface="Calibri"/>
                        </a:rPr>
                        <a:t>Figure 65: Global Market Material Type Mix by Region, %, 2036</a:t>
                      </a:r>
                      <a:endParaRPr sz="1050"/>
                    </a:p>
                  </a:txBody>
                  <a:tcPr marL="9525" marR="9525" marT="9525" marB="0" anchor="ctr"/>
                </a:tc>
              </a:tr>
              <a:tr h="169606">
                <a:tc>
                  <a:txBody>
                    <a:bodyPr wrap="square"/>
                    <a:lstStyle/>
                    <a:p>
                      <a:pPr algn="l"/>
                      <a:r>
                        <a:rPr sz="1050" b="0" i="0">
                          <a:solidFill>
                            <a:srgbClr val="000000"/>
                          </a:solidFill>
                          <a:latin typeface="Calibri"/>
                        </a:rPr>
                        <a:t>Figure 66: Global Market Product Form Mix by Region, %, 2036</a:t>
                      </a:r>
                      <a:endParaRPr sz="1050"/>
                    </a:p>
                  </a:txBody>
                  <a:tcPr marL="9525" marR="9525" marT="9525" marB="0" anchor="ctr"/>
                </a:tc>
              </a:tr>
              <a:tr h="169606">
                <a:tc>
                  <a:txBody>
                    <a:bodyPr wrap="square"/>
                    <a:lstStyle/>
                    <a:p>
                      <a:pPr algn="l"/>
                      <a:r>
                        <a:rPr sz="1050" b="0" i="0">
                          <a:solidFill>
                            <a:srgbClr val="000000"/>
                          </a:solidFill>
                          <a:latin typeface="Calibri"/>
                        </a:rPr>
                        <a:t>Figure 67: Global Market End-use Industry Mix by Region, %, 2036</a:t>
                      </a:r>
                      <a:endParaRPr sz="1050"/>
                    </a:p>
                  </a:txBody>
                  <a:tcPr marL="9525" marR="9525" marT="9525" marB="0" anchor="ctr"/>
                </a:tc>
              </a:tr>
              <a:tr h="169606">
                <a:tc>
                  <a:txBody>
                    <a:bodyPr wrap="square"/>
                    <a:lstStyle/>
                    <a:p>
                      <a:pPr algn="l"/>
                      <a:r>
                        <a:rPr sz="1050" b="0" i="0">
                          <a:solidFill>
                            <a:srgbClr val="000000"/>
                          </a:solidFill>
                          <a:latin typeface="Calibri"/>
                        </a:rPr>
                        <a:t>Figure 68: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69: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70: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71: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72: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73: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74: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75: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76: Europe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77: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78: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79: Middle East and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80: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81: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82: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83: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84: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85: Middle East and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86: North America Market Value by Country, US$ Mn, 2026 and 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87: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88: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89: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90: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91: Middle East and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92: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93: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94: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95: East Asia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96: South Asia &amp; Pacific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97: Middle East and Africa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98: North America Market Attractiveness by Country, 2026–2036</a:t>
                      </a:r>
                      <a:endParaRPr sz="1050"/>
                    </a:p>
                  </a:txBody>
                  <a:tcPr marL="9525" marR="9525" marT="9525" marB="0" anchor="ctr"/>
                </a:tc>
              </a:tr>
              <a:tr h="169606">
                <a:tc>
                  <a:txBody>
                    <a:bodyPr wrap="square"/>
                    <a:lstStyle/>
                    <a:p>
                      <a:pPr algn="l"/>
                      <a:r>
                        <a:rPr sz="1050" b="0" i="0">
                          <a:solidFill>
                            <a:srgbClr val="000000"/>
                          </a:solidFill>
                          <a:latin typeface="Calibri"/>
                        </a:rPr>
                        <a:t>Figure 99: Latin America Market Attractiveness by Country, 2026–2036</a:t>
                      </a:r>
                      <a:endParaRPr sz="1050"/>
                    </a:p>
                  </a:txBody>
                  <a:tcPr marL="9525" marR="9525" marT="9525" marB="0" anchor="ctr"/>
                </a:tc>
              </a:tr>
              <a:tr h="169606">
                <a:tc>
                  <a:txBody>
                    <a:bodyPr wrap="square"/>
                    <a:lstStyle/>
                    <a:p>
                      <a:pPr algn="l"/>
                      <a:r>
                        <a:rPr sz="1050" b="0" i="0">
                          <a:solidFill>
                            <a:srgbClr val="000000"/>
                          </a:solidFill>
                          <a:latin typeface="Calibri"/>
                        </a:rPr>
                        <a:t>Figure 100: Europe Market Attractiveness by Country, 2026–2036</a:t>
                      </a:r>
                      <a:endParaRPr sz="1050"/>
                    </a:p>
                  </a:txBody>
                  <a:tcPr marL="9525" marR="9525" marT="9525" marB="0" anchor="ctr"/>
                </a:tc>
              </a:tr>
              <a:tr h="169606">
                <a:tc>
                  <a:txBody>
                    <a:bodyPr wrap="square"/>
                    <a:lstStyle/>
                    <a:p>
                      <a:pPr algn="l"/>
                      <a:r>
                        <a:rPr sz="1050" b="0" i="0">
                          <a:solidFill>
                            <a:srgbClr val="000000"/>
                          </a:solidFill>
                          <a:latin typeface="Calibri"/>
                        </a:rPr>
                        <a:t>Figure 101: East Asia Market Attractiveness by Country, 2026–2036</a:t>
                      </a:r>
                      <a:endParaRPr sz="1050"/>
                    </a:p>
                  </a:txBody>
                  <a:tcPr marL="9525" marR="9525" marT="9525" marB="0" anchor="ctr"/>
                </a:tc>
              </a:tr>
              <a:tr h="169606">
                <a:tc>
                  <a:txBody>
                    <a:bodyPr wrap="square"/>
                    <a:lstStyle/>
                    <a:p>
                      <a:pPr algn="l"/>
                      <a:r>
                        <a:rPr sz="1050" b="0" i="0">
                          <a:solidFill>
                            <a:srgbClr val="000000"/>
                          </a:solidFill>
                          <a:latin typeface="Calibri"/>
                        </a:rPr>
                        <a:t>Figure 102: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103: U.S.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104: U.S. Market Value by End-use Industry,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105: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106: U.S. Market Value by Product Form,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107: U.S.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108: U.S.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109: U.S. Market Leading Suppliers Share, %, 2026</a:t>
                      </a:r>
                      <a:endParaRPr sz="1050"/>
                    </a:p>
                  </a:txBody>
                  <a:tcPr marL="9525" marR="9525" marT="9525" marB="0" anchor="ctr"/>
                </a:tc>
              </a:tr>
              <a:tr h="169606">
                <a:tc>
                  <a:txBody>
                    <a:bodyPr wrap="square"/>
                    <a:lstStyle/>
                    <a:p>
                      <a:pPr algn="l"/>
                      <a:r>
                        <a:rPr sz="1050" b="0" i="0">
                          <a:solidFill>
                            <a:srgbClr val="000000"/>
                          </a:solidFill>
                          <a:latin typeface="Calibri"/>
                        </a:rPr>
                        <a:t>Figure 110: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111: Germany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112: Germany Market Value by End-use Industry,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113: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114: Germany Market Value by Product Form,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Germany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116: Germany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117: Germany Market Leading Suppliers Share, %, 2026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118: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119: Canada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Canada Market Value by End-use Industry,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121: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122: Canada Market Value by Product Form,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Canada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124: Canada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125: Canada Market Leading Suppliers Share, %, 2026</a:t>
                      </a:r>
                      <a:endParaRPr sz="1050"/>
                    </a:p>
                  </a:txBody>
                  <a:tcPr marL="9525" marR="9525" marT="9525" marB="0" anchor="ctr"/>
                </a:tc>
              </a:tr>
              <a:tr h="169606">
                <a:tc>
                  <a:txBody>
                    <a:bodyPr wrap="square"/>
                    <a:lstStyle/>
                    <a:p>
                      <a:pPr algn="l"/>
                      <a:r>
                        <a:rPr sz="1050" b="0" i="0">
                          <a:solidFill>
                            <a:srgbClr val="000000"/>
                          </a:solidFill>
                          <a:latin typeface="Calibri"/>
                        </a:rPr>
                        <a:t>Figure 126: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127: China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China Market Value by End-use Industry,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129: China Market Share within East Asia, %, 2026 and 2036</a:t>
                      </a:r>
                      <a:endParaRPr sz="1050"/>
                    </a:p>
                  </a:txBody>
                  <a:tcPr marL="9525" marR="9525" marT="9525" marB="0" anchor="ctr"/>
                </a:tc>
              </a:tr>
              <a:tr h="169606">
                <a:tc>
                  <a:txBody>
                    <a:bodyPr wrap="square"/>
                    <a:lstStyle/>
                    <a:p>
                      <a:pPr algn="l"/>
                      <a:r>
                        <a:rPr sz="1050" b="0" i="0">
                          <a:solidFill>
                            <a:srgbClr val="000000"/>
                          </a:solidFill>
                          <a:latin typeface="Calibri"/>
                        </a:rPr>
                        <a:t>Figure 130: China Market Value by Product Form,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China Market Volume and YoY Growth, MT and %, 2021–2036</a:t>
                      </a:r>
                      <a:endParaRPr sz="1050"/>
                    </a:p>
                  </a:txBody>
                  <a:tcPr marL="9525" marR="9525" marT="9525" marB="0" anchor="ctr"/>
                </a:tc>
              </a:tr>
              <a:tr h="169606">
                <a:tc>
                  <a:txBody>
                    <a:bodyPr wrap="square"/>
                    <a:lstStyle/>
                    <a:p>
                      <a:pPr algn="l"/>
                      <a:r>
                        <a:rPr sz="1050" b="0" i="0">
                          <a:solidFill>
                            <a:srgbClr val="000000"/>
                          </a:solidFill>
                          <a:latin typeface="Calibri"/>
                        </a:rPr>
                        <a:t>Figure 132: China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Figure 133: China Market Leading Suppliers Share, %, 2026</a:t>
                      </a:r>
                      <a:endParaRPr sz="1050"/>
                    </a:p>
                  </a:txBody>
                  <a:tcPr marL="9525" marR="9525" marT="9525" marB="0" anchor="ctr"/>
                </a:tc>
              </a:tr>
              <a:tr h="169606">
                <a:tc>
                  <a:txBody>
                    <a:bodyPr wrap="square"/>
                    <a:lstStyle/>
                    <a:p>
                      <a:pPr algn="l"/>
                      <a:r>
                        <a:rPr sz="1050" b="0" i="0">
                          <a:solidFill>
                            <a:srgbClr val="000000"/>
                          </a:solidFill>
                          <a:latin typeface="Calibri"/>
                        </a:rPr>
                        <a:t>Figure 134: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135: India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136: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137: Brazil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138: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139: U.K.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140: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141: Japan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France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143: France Market Value by Material Type,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144: Global Market Average Selling Price Trend, US$/MT, 2021–2036</a:t>
                      </a:r>
                      <a:endParaRPr sz="1050"/>
                    </a:p>
                  </a:txBody>
                  <a:tcPr marL="9525" marR="9525" marT="9525" marB="0" anchor="ctr"/>
                </a:tc>
              </a:tr>
              <a:tr h="169606">
                <a:tc>
                  <a:txBody>
                    <a:bodyPr wrap="square"/>
                    <a:lstStyle/>
                    <a:p>
                      <a:pPr algn="l"/>
                      <a:r>
                        <a:rPr sz="1050" b="0" i="0">
                          <a:solidFill>
                            <a:srgbClr val="000000"/>
                          </a:solidFill>
                          <a:latin typeface="Calibri"/>
                        </a:rPr>
                        <a:t>Figure 145: Global Market Average Selling Price by Region, US$/MT, 2026 and 2036</a:t>
                      </a:r>
                      <a:endParaRPr sz="1050"/>
                    </a:p>
                  </a:txBody>
                  <a:tcPr marL="9525" marR="9525" marT="9525" marB="0" anchor="ctr"/>
                </a:tc>
              </a:tr>
              <a:tr h="169606">
                <a:tc>
                  <a:txBody>
                    <a:bodyPr wrap="square"/>
                    <a:lstStyle/>
                    <a:p>
                      <a:pPr algn="l"/>
                      <a:r>
                        <a:rPr sz="1050" b="0" i="0">
                          <a:solidFill>
                            <a:srgbClr val="000000"/>
                          </a:solidFill>
                          <a:latin typeface="Calibri"/>
                        </a:rPr>
                        <a:t>Figure 146: Global Market Average Selling Price by Material Type, US$/MT, 2026 and 2036</a:t>
                      </a:r>
                      <a:endParaRPr sz="1050"/>
                    </a:p>
                  </a:txBody>
                  <a:tcPr marL="9525" marR="9525" marT="9525" marB="0" anchor="ctr"/>
                </a:tc>
              </a:tr>
              <a:tr h="169606">
                <a:tc>
                  <a:txBody>
                    <a:bodyPr wrap="square"/>
                    <a:lstStyle/>
                    <a:p>
                      <a:pPr algn="l"/>
                      <a:r>
                        <a:rPr sz="1050" b="0" i="0">
                          <a:solidFill>
                            <a:srgbClr val="000000"/>
                          </a:solidFill>
                          <a:latin typeface="Calibri"/>
                        </a:rPr>
                        <a:t>Figure 147: Global Market Average Selling Price by Product Form, US$/MT, 2026 and 2036</a:t>
                      </a:r>
                      <a:endParaRPr sz="1050"/>
                    </a:p>
                  </a:txBody>
                  <a:tcPr marL="9525" marR="9525" marT="9525" marB="0" anchor="ctr"/>
                </a:tc>
              </a:tr>
              <a:tr h="169606">
                <a:tc>
                  <a:txBody>
                    <a:bodyPr wrap="square"/>
                    <a:lstStyle/>
                    <a:p>
                      <a:pPr algn="l"/>
                      <a:r>
                        <a:rPr sz="1050" b="0" i="0">
                          <a:solidFill>
                            <a:srgbClr val="000000"/>
                          </a:solidFill>
                          <a:latin typeface="Calibri"/>
                        </a:rPr>
                        <a:t>Figure 148: Global Market Average Selling Price by End-use Industry, US$/MT, 2026 and 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Figure 149: Global Market Value Chain Structure, 2026</a:t>
                      </a:r>
                      <a:endParaRPr sz="1050"/>
                    </a:p>
                  </a:txBody>
                  <a:tcPr marL="9525" marR="9525" marT="9525" marB="0" anchor="ctr"/>
                </a:tc>
              </a:tr>
              <a:tr h="170045">
                <a:tc>
                  <a:txBody>
                    <a:bodyPr wrap="square"/>
                    <a:lstStyle/>
                    <a:p>
                      <a:pPr algn="l"/>
                      <a:r>
                        <a:rPr sz="1050" b="0" i="0">
                          <a:solidFill>
                            <a:srgbClr val="000000"/>
                          </a:solidFill>
                          <a:latin typeface="Calibri"/>
                        </a:rPr>
                        <a:t>Figure 150: Global Market Margin Distribution across the Value Chain, %, 2026</a:t>
                      </a:r>
                      <a:endParaRPr sz="1050"/>
                    </a:p>
                  </a:txBody>
                  <a:tcPr marL="9525" marR="9525" marT="9525" marB="0" anchor="ctr"/>
                </a:tc>
              </a:tr>
              <a:tr h="170045">
                <a:tc>
                  <a:txBody>
                    <a:bodyPr wrap="square"/>
                    <a:lstStyle/>
                    <a:p>
                      <a:pPr algn="l"/>
                      <a:r>
                        <a:rPr sz="1050" b="0" i="0">
                          <a:solidFill>
                            <a:srgbClr val="000000"/>
                          </a:solidFill>
                          <a:latin typeface="Calibri"/>
                        </a:rPr>
                        <a:t>Figure 151: Global Market Cost Structure Breakdown, %, 2026</a:t>
                      </a:r>
                      <a:endParaRPr sz="1050"/>
                    </a:p>
                  </a:txBody>
                  <a:tcPr marL="9525" marR="9525" marT="9525" marB="0" anchor="ctr"/>
                </a:tc>
              </a:tr>
              <a:tr h="170045">
                <a:tc>
                  <a:txBody>
                    <a:bodyPr wrap="square"/>
                    <a:lstStyle/>
                    <a:p>
                      <a:pPr algn="l"/>
                      <a:r>
                        <a:rPr sz="1050" b="0" i="0">
                          <a:solidFill>
                            <a:srgbClr val="000000"/>
                          </a:solidFill>
                          <a:latin typeface="Calibri"/>
                        </a:rPr>
                        <a:t>Figure 152: Global Market Pricing Pressure Assessment by Material Type, 2026–2036</a:t>
                      </a:r>
                      <a:endParaRPr sz="1050"/>
                    </a:p>
                  </a:txBody>
                  <a:tcPr marL="9525" marR="9525" marT="9525" marB="0" anchor="ctr"/>
                </a:tc>
              </a:tr>
              <a:tr h="170045">
                <a:tc>
                  <a:txBody>
                    <a:bodyPr wrap="square"/>
                    <a:lstStyle/>
                    <a:p>
                      <a:pPr algn="l"/>
                      <a:r>
                        <a:rPr sz="1050" b="0" i="0">
                          <a:solidFill>
                            <a:srgbClr val="000000"/>
                          </a:solidFill>
                          <a:latin typeface="Calibri"/>
                        </a:rPr>
                        <a:t>Figure 153: Global Market Import and Export Share by Region, %, 2025</a:t>
                      </a:r>
                      <a:endParaRPr sz="1050"/>
                    </a:p>
                  </a:txBody>
                  <a:tcPr marL="9525" marR="9525" marT="9525" marB="0" anchor="ctr"/>
                </a:tc>
              </a:tr>
              <a:tr h="170045">
                <a:tc>
                  <a:txBody>
                    <a:bodyPr wrap="square"/>
                    <a:lstStyle/>
                    <a:p>
                      <a:pPr algn="l"/>
                      <a:r>
                        <a:rPr sz="1050" b="0" i="0">
                          <a:solidFill>
                            <a:srgbClr val="000000"/>
                          </a:solidFill>
                          <a:latin typeface="Calibri"/>
                        </a:rPr>
                        <a:t>Figure 154: Global Market Trade Balance by Leading Country, US$ Mn, 2025</a:t>
                      </a:r>
                      <a:endParaRPr sz="1050"/>
                    </a:p>
                  </a:txBody>
                  <a:tcPr marL="9525" marR="9525" marT="9525" marB="0" anchor="ctr"/>
                </a:tc>
              </a:tr>
              <a:tr h="170045">
                <a:tc>
                  <a:txBody>
                    <a:bodyPr wrap="square"/>
                    <a:lstStyle/>
                    <a:p>
                      <a:pPr algn="l"/>
                      <a:r>
                        <a:rPr sz="1050" b="0" i="0">
                          <a:solidFill>
                            <a:srgbClr val="000000"/>
                          </a:solidFill>
                          <a:latin typeface="Calibri"/>
                        </a:rPr>
                        <a:t>Figure 155: Global Market Raw Material Price Index, 2025=100, 2021–2036</a:t>
                      </a:r>
                      <a:endParaRPr sz="1050"/>
                    </a:p>
                  </a:txBody>
                  <a:tcPr marL="9525" marR="9525" marT="9525" marB="0" anchor="ctr"/>
                </a:tc>
              </a:tr>
              <a:tr h="170045">
                <a:tc>
                  <a:txBody>
                    <a:bodyPr wrap="square"/>
                    <a:lstStyle/>
                    <a:p>
                      <a:pPr algn="l"/>
                      <a:r>
                        <a:rPr sz="1050" b="0" i="0">
                          <a:solidFill>
                            <a:srgbClr val="000000"/>
                          </a:solidFill>
                          <a:latin typeface="Calibri"/>
                        </a:rPr>
                        <a:t>Figure 156: Global Market Distribution Channel Margin Comparison, %, 2026</a:t>
                      </a:r>
                      <a:endParaRPr sz="1050"/>
                    </a:p>
                  </a:txBody>
                  <a:tcPr marL="9525" marR="9525" marT="9525" marB="0" anchor="ctr"/>
                </a:tc>
              </a:tr>
              <a:tr h="170045">
                <a:tc>
                  <a:txBody>
                    <a:bodyPr wrap="square"/>
                    <a:lstStyle/>
                    <a:p>
                      <a:pPr algn="l"/>
                      <a:r>
                        <a:rPr sz="1050" b="0" i="0">
                          <a:solidFill>
                            <a:srgbClr val="000000"/>
                          </a:solidFill>
                          <a:latin typeface="Calibri"/>
                        </a:rPr>
                        <a:t>Figure 157: Global Market Price Band Distribution by Material Type, %, 2026</a:t>
                      </a:r>
                      <a:endParaRPr sz="1050"/>
                    </a:p>
                  </a:txBody>
                  <a:tcPr marL="9525" marR="9525" marT="9525" marB="0" anchor="ctr"/>
                </a:tc>
              </a:tr>
              <a:tr h="170045">
                <a:tc>
                  <a:txBody>
                    <a:bodyPr wrap="square"/>
                    <a:lstStyle/>
                    <a:p>
                      <a:pPr algn="l"/>
                      <a:r>
                        <a:rPr sz="1050" b="0" i="0">
                          <a:solidFill>
                            <a:srgbClr val="000000"/>
                          </a:solidFill>
                          <a:latin typeface="Calibri"/>
                        </a:rPr>
                        <a:t>Figure 158: Global Market Pricing Factors Impact Assessment, 2026–2036</a:t>
                      </a:r>
                      <a:endParaRPr sz="1050"/>
                    </a:p>
                  </a:txBody>
                  <a:tcPr marL="9525" marR="9525" marT="9525" marB="0" anchor="ctr"/>
                </a:tc>
              </a:tr>
              <a:tr h="170045">
                <a:tc>
                  <a:txBody>
                    <a:bodyPr wrap="square"/>
                    <a:lstStyle/>
                    <a:p>
                      <a:pPr algn="l"/>
                      <a:r>
                        <a:rPr sz="1050" b="0" i="0">
                          <a:solidFill>
                            <a:srgbClr val="000000"/>
                          </a:solidFill>
                          <a:latin typeface="Calibri"/>
                        </a:rPr>
                        <a:t>Figure 159: Global Market Supply Chain Risk Assessment, 2026</a:t>
                      </a:r>
                      <a:endParaRPr sz="1050"/>
                    </a:p>
                  </a:txBody>
                  <a:tcPr marL="9525" marR="9525" marT="9525" marB="0" anchor="ctr"/>
                </a:tc>
              </a:tr>
              <a:tr h="170045">
                <a:tc>
                  <a:txBody>
                    <a:bodyPr wrap="square"/>
                    <a:lstStyle/>
                    <a:p>
                      <a:pPr algn="l"/>
                      <a:r>
                        <a:rPr sz="1050" b="0" i="0">
                          <a:solidFill>
                            <a:srgbClr val="000000"/>
                          </a:solidFill>
                          <a:latin typeface="Calibri"/>
                        </a:rPr>
                        <a:t>Figure 160: Company Market Share in the Global Market, %, 2026</a:t>
                      </a:r>
                      <a:endParaRPr sz="1050"/>
                    </a:p>
                  </a:txBody>
                  <a:tcPr marL="9525" marR="9525" marT="9525" marB="0" anchor="ctr"/>
                </a:tc>
              </a:tr>
              <a:tr h="170045">
                <a:tc>
                  <a:txBody>
                    <a:bodyPr wrap="square"/>
                    <a:lstStyle/>
                    <a:p>
                      <a:pPr algn="l"/>
                      <a:r>
                        <a:rPr sz="1050" b="0" i="0">
                          <a:solidFill>
                            <a:srgbClr val="000000"/>
                          </a:solidFill>
                          <a:latin typeface="Calibri"/>
                        </a:rPr>
                        <a:t>Figure 161: Competitive Positioning of Leading Foam Protective Packaging Manufacturers, 2026</a:t>
                      </a:r>
                      <a:endParaRPr sz="1050"/>
                    </a:p>
                  </a:txBody>
                  <a:tcPr marL="9525" marR="9525" marT="9525" marB="0" anchor="ctr"/>
                </a:tc>
              </a:tr>
              <a:tr h="170045">
                <a:tc>
                  <a:txBody>
                    <a:bodyPr wrap="square"/>
                    <a:lstStyle/>
                    <a:p>
                      <a:pPr algn="l"/>
                      <a:r>
                        <a:rPr sz="1050" b="0" i="0">
                          <a:solidFill>
                            <a:srgbClr val="000000"/>
                          </a:solidFill>
                          <a:latin typeface="Calibri"/>
                        </a:rPr>
                        <a:t>Figure 162: Company Revenue from the Global Market, US$ Mn, 2026</a:t>
                      </a:r>
                      <a:endParaRPr sz="1050"/>
                    </a:p>
                  </a:txBody>
                  <a:tcPr marL="9525" marR="9525" marT="9525" marB="0" anchor="ctr"/>
                </a:tc>
              </a:tr>
              <a:tr h="170045">
                <a:tc>
                  <a:txBody>
                    <a:bodyPr wrap="square"/>
                    <a:lstStyle/>
                    <a:p>
                      <a:pPr algn="l"/>
                      <a:r>
                        <a:rPr sz="1050" b="0" i="0">
                          <a:solidFill>
                            <a:srgbClr val="000000"/>
                          </a:solidFill>
                          <a:latin typeface="Calibri"/>
                        </a:rPr>
                        <a:t>Figure 163: Global Market Concentration by Company Tier, %, 2026</a:t>
                      </a:r>
                      <a:endParaRPr sz="1050"/>
                    </a:p>
                  </a:txBody>
                  <a:tcPr marL="9525" marR="9525" marT="9525" marB="0" anchor="ctr"/>
                </a:tc>
              </a:tr>
              <a:tr h="170045">
                <a:tc>
                  <a:txBody>
                    <a:bodyPr wrap="square"/>
                    <a:lstStyle/>
                    <a:p>
                      <a:pPr algn="l"/>
                      <a:r>
                        <a:rPr sz="1050" b="0" i="0">
                          <a:solidFill>
                            <a:srgbClr val="000000"/>
                          </a:solidFill>
                          <a:latin typeface="Calibri"/>
                        </a:rPr>
                        <a:t>Figure 164: Global Market Competitive Intensity Assessment, 2026</a:t>
                      </a:r>
                      <a:endParaRPr sz="1050"/>
                    </a:p>
                  </a:txBody>
                  <a:tcPr marL="9525" marR="9525" marT="9525" marB="0" anchor="ctr"/>
                </a:tc>
              </a:tr>
              <a:tr h="170045">
                <a:tc>
                  <a:txBody>
                    <a:bodyPr wrap="square"/>
                    <a:lstStyle/>
                    <a:p>
                      <a:pPr algn="l"/>
                      <a:r>
                        <a:rPr sz="1050" b="0" i="0">
                          <a:solidFill>
                            <a:srgbClr val="000000"/>
                          </a:solidFill>
                          <a:latin typeface="Calibri"/>
                        </a:rPr>
                        <a:t>Figure 165: Company Market Share in the North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166: Company Market Share in the Latin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167: Company Market Share in the Europe Market, %, 2026</a:t>
                      </a:r>
                      <a:endParaRPr sz="1050"/>
                    </a:p>
                  </a:txBody>
                  <a:tcPr marL="9525" marR="9525" marT="9525" marB="0" anchor="ctr"/>
                </a:tc>
              </a:tr>
              <a:tr h="170045">
                <a:tc>
                  <a:txBody>
                    <a:bodyPr wrap="square"/>
                    <a:lstStyle/>
                    <a:p>
                      <a:pPr algn="l"/>
                      <a:r>
                        <a:rPr sz="1050" b="0" i="0">
                          <a:solidFill>
                            <a:srgbClr val="000000"/>
                          </a:solidFill>
                          <a:latin typeface="Calibri"/>
                        </a:rPr>
                        <a:t>Figure 168: Company Market Share in the East Asia Market, %, 2026</a:t>
                      </a:r>
                      <a:endParaRPr sz="1050"/>
                    </a:p>
                  </a:txBody>
                  <a:tcPr marL="9525" marR="9525" marT="9525" marB="0" anchor="ctr"/>
                </a:tc>
              </a:tr>
              <a:tr h="170045">
                <a:tc>
                  <a:txBody>
                    <a:bodyPr wrap="square"/>
                    <a:lstStyle/>
                    <a:p>
                      <a:pPr algn="l"/>
                      <a:r>
                        <a:rPr sz="1050" b="0" i="0">
                          <a:solidFill>
                            <a:srgbClr val="000000"/>
                          </a:solidFill>
                          <a:latin typeface="Calibri"/>
                        </a:rPr>
                        <a:t>Figure 169: Company Market Share in the South Asia &amp; Pacific Market, %, 2026</a:t>
                      </a:r>
                      <a:endParaRPr sz="1050"/>
                    </a:p>
                  </a:txBody>
                  <a:tcPr marL="9525" marR="9525" marT="9525" marB="0" anchor="ctr"/>
                </a:tc>
              </a:tr>
              <a:tr h="170045">
                <a:tc>
                  <a:txBody>
                    <a:bodyPr wrap="square"/>
                    <a:lstStyle/>
                    <a:p>
                      <a:pPr algn="l"/>
                      <a:r>
                        <a:rPr sz="1050" b="0" i="0">
                          <a:solidFill>
                            <a:srgbClr val="000000"/>
                          </a:solidFill>
                          <a:latin typeface="Calibri"/>
                        </a:rPr>
                        <a:t>Figure 170: Company Market Share in the Middle East and Africa Market, %, 2026</a:t>
                      </a:r>
                      <a:endParaRPr sz="1050"/>
                    </a:p>
                  </a:txBody>
                  <a:tcPr marL="9525" marR="9525" marT="9525" marB="0" anchor="ctr"/>
                </a:tc>
              </a:tr>
              <a:tr h="170045">
                <a:tc>
                  <a:txBody>
                    <a:bodyPr wrap="square"/>
                    <a:lstStyle/>
                    <a:p>
                      <a:pPr algn="l"/>
                      <a:r>
                        <a:rPr sz="1050" b="0" i="0">
                          <a:solidFill>
                            <a:srgbClr val="000000"/>
                          </a:solidFill>
                          <a:latin typeface="Calibri"/>
                        </a:rPr>
                        <a:t>Figure 171: Sealed Air Corporation: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172: Company: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173: BOBST Group SA: Revenue from the Global Market and Share, US$ Mn and %, 2026</a:t>
                      </a:r>
                      <a:endParaRPr sz="1050"/>
                    </a:p>
                  </a:txBody>
                  <a:tcPr marL="9525" marR="9525" marT="9525" marB="0" anchor="ctr"/>
                </a:tc>
              </a:tr>
              <a:tr h="333289">
                <a:tc>
                  <a:txBody>
                    <a:bodyPr wrap="square"/>
                    <a:lstStyle/>
                    <a:p>
                      <a:pPr algn="l"/>
                      <a:r>
                        <a:rPr sz="1050" b="0" i="0">
                          <a:solidFill>
                            <a:srgbClr val="000000"/>
                          </a:solidFill>
                          <a:latin typeface="Calibri"/>
                        </a:rPr>
                        <a:t>Figure 174: BHS Corrugated Maschinen- und Anlagenbau GmbH: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175: BW Papersystems: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176: Fosber Group: Revenue from the Global Market and Share, US$ Mn and %, 2026</a:t>
                      </a:r>
                      <a:endParaRPr sz="1050"/>
                    </a:p>
                  </a:txBody>
                  <a:tcPr marL="9525" marR="9525" marT="9525" marB="0" anchor="ctr"/>
                </a:tc>
              </a:tr>
              <a:tr h="333289">
                <a:tc>
                  <a:txBody>
                    <a:bodyPr wrap="square"/>
                    <a:lstStyle/>
                    <a:p>
                      <a:pPr algn="l"/>
                      <a:r>
                        <a:rPr sz="1050" b="0" i="0">
                          <a:solidFill>
                            <a:srgbClr val="000000"/>
                          </a:solidFill>
                          <a:latin typeface="Calibri"/>
                        </a:rPr>
                        <a:t>Figure 177: Mitsubishi Heavy Industries Machinery Systems, Ltd.: Revenue from the Global Market and Share, US$ Mn and %, 2026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6" name="TMR Contents Table"/>
          <p:cNvGraphicFramePr>
            <a:graphicFrameLocks noGrp="1"/>
          </p:cNvGraphicFramePr>
          <p:nvPr/>
        </p:nvGraphicFramePr>
        <p:xfrm>
          <a:off x="142875" y="981075"/>
          <a:ext cx="5876925" cy="4153864"/>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178: EMBA Machinery AB: Revenue from the Global Market and Share, US$ Mn and %, 2026</a:t>
                      </a:r>
                      <a:endParaRPr sz="1050"/>
                    </a:p>
                  </a:txBody>
                  <a:tcPr marL="9525" marR="9525" marT="9525" marB="0" anchor="ctr"/>
                </a:tc>
              </a:tr>
              <a:tr h="326708">
                <a:tc>
                  <a:txBody>
                    <a:bodyPr wrap="square"/>
                    <a:lstStyle/>
                    <a:p>
                      <a:pPr algn="l"/>
                      <a:r>
                        <a:rPr sz="1050" b="0" i="0">
                          <a:solidFill>
                            <a:srgbClr val="000000"/>
                          </a:solidFill>
                          <a:latin typeface="Calibri"/>
                        </a:rPr>
                        <a:t>Figure 179: Koenig &amp; Bauer Celmacch: Revenue from the Global Market and Share, US$ Mn and %, 2026</a:t>
                      </a:r>
                      <a:endParaRPr sz="1050"/>
                    </a:p>
                  </a:txBody>
                  <a:tcPr marL="9525" marR="9525" marT="9525" marB="0" anchor="ctr"/>
                </a:tc>
              </a:tr>
              <a:tr h="326708">
                <a:tc>
                  <a:txBody>
                    <a:bodyPr wrap="square"/>
                    <a:lstStyle/>
                    <a:p>
                      <a:pPr algn="l"/>
                      <a:r>
                        <a:rPr sz="1050" b="0" i="0">
                          <a:solidFill>
                            <a:srgbClr val="000000"/>
                          </a:solidFill>
                          <a:latin typeface="Calibri"/>
                        </a:rPr>
                        <a:t>Figure 180: Göpfert Maschinen GmbH: Revenue from the Global Market and Share, US$ Mn and %, 2026</a:t>
                      </a:r>
                      <a:endParaRPr sz="1050"/>
                    </a:p>
                  </a:txBody>
                  <a:tcPr marL="9525" marR="9525" marT="9525" marB="0" anchor="ctr"/>
                </a:tc>
              </a:tr>
              <a:tr h="166688">
                <a:tc>
                  <a:txBody>
                    <a:bodyPr wrap="square"/>
                    <a:lstStyle/>
                    <a:p>
                      <a:pPr algn="l"/>
                      <a:r>
                        <a:rPr sz="1050" b="0" i="0">
                          <a:solidFill>
                            <a:srgbClr val="000000"/>
                          </a:solidFill>
                          <a:latin typeface="Calibri"/>
                        </a:rPr>
                        <a:t>Figure 181: Global Market Strategic Developments by Type, %, 2025–2026</a:t>
                      </a:r>
                      <a:endParaRPr sz="1050"/>
                    </a:p>
                  </a:txBody>
                  <a:tcPr marL="9525" marR="9525" marT="9525" marB="0" anchor="ctr"/>
                </a:tc>
              </a:tr>
              <a:tr h="166688">
                <a:tc>
                  <a:txBody>
                    <a:bodyPr wrap="square"/>
                    <a:lstStyle/>
                    <a:p>
                      <a:pPr algn="l"/>
                      <a:r>
                        <a:rPr sz="1050" b="0" i="0">
                          <a:solidFill>
                            <a:srgbClr val="000000"/>
                          </a:solidFill>
                          <a:latin typeface="Calibri"/>
                        </a:rPr>
                        <a:t>Figure 182: Global Market Company Footprint by Region, 2026</a:t>
                      </a:r>
                      <a:endParaRPr sz="1050"/>
                    </a:p>
                  </a:txBody>
                  <a:tcPr marL="9525" marR="9525" marT="9525" marB="0" anchor="ctr"/>
                </a:tc>
              </a:tr>
              <a:tr h="166688">
                <a:tc>
                  <a:txBody>
                    <a:bodyPr wrap="square"/>
                    <a:lstStyle/>
                    <a:p>
                      <a:pPr algn="l"/>
                      <a:r>
                        <a:rPr sz="1050" b="0" i="0">
                          <a:solidFill>
                            <a:srgbClr val="000000"/>
                          </a:solidFill>
                          <a:latin typeface="Calibri"/>
                        </a:rPr>
                        <a:t>Figure 183: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184: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185: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186: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Opportunity Map by Region and Material Type,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Emerging Opportunity Pockets by Material Type, US$ Mn,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194: Global Market Demand Shift Analysis by Material Type, %,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196: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197: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198: Global Market Unmet Needs Analysis by Material Type, 2026</a:t>
                      </a:r>
                      <a:endParaRPr sz="1050"/>
                    </a:p>
                  </a:txBody>
                  <a:tcPr marL="9525" marR="9525" marT="9525" marB="0" anchor="ctr"/>
                </a:tc>
              </a:tr>
              <a:tr h="166688">
                <a:tc>
                  <a:txBody>
                    <a:bodyPr wrap="square"/>
                    <a:lstStyle/>
                    <a:p>
                      <a:pPr algn="l"/>
                      <a:r>
                        <a:rPr sz="1050" b="0" i="0">
                          <a:solidFill>
                            <a:srgbClr val="000000"/>
                          </a:solidFill>
                          <a:latin typeface="Calibri"/>
                        </a:rPr>
                        <a:t>Figure 199: Global Market Right-to-Win Assessment,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Entry Strategy Scorecard, 2026–2036</a:t>
                      </a:r>
                      <a:endParaRPr sz="1050"/>
                    </a:p>
                  </a:txBody>
                  <a:tcPr marL="9525" marR="9525" marT="9525" marB="0" anchor="ctr"/>
                </a:tc>
              </a:tr>
            </a:tbl>
          </a:graphicData>
        </a:graphic>
      </p:graphicFrame>
      <p:sp>
        <p:nvSpPr>
          <p:cNvPr id="7" name="Rectangle 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6" name="TMR Contents Table"/>
          <p:cNvGraphicFramePr>
            <a:graphicFrameLocks noGrp="1"/>
          </p:cNvGraphicFramePr>
          <p:nvPr/>
        </p:nvGraphicFramePr>
        <p:xfrm>
          <a:off x="142875"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69826">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69826">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69826">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69826">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69826">
                <a:tc>
                  <a:txBody>
                    <a:bodyPr wrap="square"/>
                    <a:lstStyle/>
                    <a:p>
                      <a:pPr algn="l"/>
                      <a:r>
                        <a:rPr sz="1050" b="0" i="0">
                          <a:solidFill>
                            <a:srgbClr val="000000"/>
                          </a:solidFill>
                          <a:latin typeface="Calibri"/>
                        </a:rPr>
                        <a:t>Table 8: Global Market Research Methodology and Data Sources, 2026</a:t>
                      </a:r>
                      <a:endParaRPr sz="1050"/>
                    </a:p>
                  </a:txBody>
                  <a:tcPr marL="9525" marR="9525" marT="9525" marB="0" anchor="ctr"/>
                </a:tc>
              </a:tr>
              <a:tr h="169826">
                <a:tc>
                  <a:txBody>
                    <a:bodyPr wrap="square"/>
                    <a:lstStyle/>
                    <a:p>
                      <a:pPr algn="l"/>
                      <a:r>
                        <a:rPr sz="1050" b="0" i="0">
                          <a:solidFill>
                            <a:srgbClr val="000000"/>
                          </a:solidFill>
                          <a:latin typeface="Calibri"/>
                        </a:rPr>
                        <a:t>Table 9: Global Market Value and YoY Growth, US$ Mn and %, 2021–2036</a:t>
                      </a:r>
                      <a:endParaRPr sz="1050"/>
                    </a:p>
                  </a:txBody>
                  <a:tcPr marL="9525" marR="9525" marT="9525" marB="0" anchor="ctr"/>
                </a:tc>
              </a:tr>
              <a:tr h="169826">
                <a:tc>
                  <a:txBody>
                    <a:bodyPr wrap="square"/>
                    <a:lstStyle/>
                    <a:p>
                      <a:pPr algn="l"/>
                      <a:r>
                        <a:rPr sz="1050" b="0" i="0">
                          <a:solidFill>
                            <a:srgbClr val="000000"/>
                          </a:solidFill>
                          <a:latin typeface="Calibri"/>
                        </a:rPr>
                        <a:t>Table 10: Global Market Historical Value Analysis, US$ Mn, 2021–2025</a:t>
                      </a:r>
                      <a:endParaRPr sz="1050"/>
                    </a:p>
                  </a:txBody>
                  <a:tcPr marL="9525" marR="9525" marT="9525" marB="0" anchor="ctr"/>
                </a:tc>
              </a:tr>
              <a:tr h="169826">
                <a:tc>
                  <a:txBody>
                    <a:bodyPr wrap="square"/>
                    <a:lstStyle/>
                    <a:p>
                      <a:pPr algn="l"/>
                      <a:r>
                        <a:rPr sz="1050" b="0" i="0">
                          <a:solidFill>
                            <a:srgbClr val="000000"/>
                          </a:solidFill>
                          <a:latin typeface="Calibri"/>
                        </a:rPr>
                        <a:t>Table 11: Global Market Forecast Value Analysis, US$ Mn, 2026–2036</a:t>
                      </a:r>
                      <a:endParaRPr sz="1050"/>
                    </a:p>
                  </a:txBody>
                  <a:tcPr marL="9525" marR="9525" marT="9525" marB="0" anchor="ctr"/>
                </a:tc>
              </a:tr>
              <a:tr h="169826">
                <a:tc>
                  <a:txBody>
                    <a:bodyPr wrap="square"/>
                    <a:lstStyle/>
                    <a:p>
                      <a:pPr algn="l"/>
                      <a:r>
                        <a:rPr sz="1050" b="0" i="0">
                          <a:solidFill>
                            <a:srgbClr val="000000"/>
                          </a:solidFill>
                          <a:latin typeface="Calibri"/>
                        </a:rPr>
                        <a:t>Table 12: Global Market Volume and YoY Growth, MT and %, 2021–2036</a:t>
                      </a:r>
                      <a:endParaRPr sz="1050"/>
                    </a:p>
                  </a:txBody>
                  <a:tcPr marL="9525" marR="9525" marT="9525" marB="0" anchor="ctr"/>
                </a:tc>
              </a:tr>
              <a:tr h="169826">
                <a:tc>
                  <a:txBody>
                    <a:bodyPr wrap="square"/>
                    <a:lstStyle/>
                    <a:p>
                      <a:pPr algn="l"/>
                      <a:r>
                        <a:rPr sz="1050" b="0" i="0">
                          <a:solidFill>
                            <a:srgbClr val="000000"/>
                          </a:solidFill>
                          <a:latin typeface="Calibri"/>
                        </a:rPr>
                        <a:t>Table 13: Global Market Volume Forecast, MT, 2026–2036</a:t>
                      </a:r>
                      <a:endParaRPr sz="1050"/>
                    </a:p>
                  </a:txBody>
                  <a:tcPr marL="9525" marR="9525" marT="9525" marB="0" anchor="ctr"/>
                </a:tc>
              </a:tr>
              <a:tr h="169826">
                <a:tc>
                  <a:txBody>
                    <a:bodyPr wrap="square"/>
                    <a:lstStyle/>
                    <a:p>
                      <a:pPr algn="l"/>
                      <a:r>
                        <a:rPr sz="1050" b="0" i="0">
                          <a:solidFill>
                            <a:srgbClr val="000000"/>
                          </a:solidFill>
                          <a:latin typeface="Calibri"/>
                        </a:rPr>
                        <a:t>Table 14: Global Market Average Selling Price, US$/MT, 2021–2036</a:t>
                      </a:r>
                      <a:endParaRPr sz="1050"/>
                    </a:p>
                  </a:txBody>
                  <a:tcPr marL="9525" marR="9525" marT="9525" marB="0" anchor="ctr"/>
                </a:tc>
              </a:tr>
              <a:tr h="169826">
                <a:tc>
                  <a:txBody>
                    <a:bodyPr wrap="square"/>
                    <a:lstStyle/>
                    <a:p>
                      <a:pPr algn="l"/>
                      <a:r>
                        <a:rPr sz="1050" b="0" i="0">
                          <a:solidFill>
                            <a:srgbClr val="000000"/>
                          </a:solidFill>
                          <a:latin typeface="Calibri"/>
                        </a:rPr>
                        <a:t>Table 15: Global Market Average Selling Price YoY Change, %, 2026–2036</a:t>
                      </a:r>
                      <a:endParaRPr sz="1050"/>
                    </a:p>
                  </a:txBody>
                  <a:tcPr marL="9525" marR="9525" marT="9525" marB="0" anchor="ctr"/>
                </a:tc>
              </a:tr>
              <a:tr h="169826">
                <a:tc>
                  <a:txBody>
                    <a:bodyPr wrap="square"/>
                    <a:lstStyle/>
                    <a:p>
                      <a:pPr algn="l"/>
                      <a:r>
                        <a:rPr sz="1050" b="0" i="0">
                          <a:solidFill>
                            <a:srgbClr val="000000"/>
                          </a:solidFill>
                          <a:latin typeface="Calibri"/>
                        </a:rPr>
                        <a:t>Table 16: Global Market CAGR and Absolute $ Opportunity, %, US$ Mn, 2026–2036</a:t>
                      </a:r>
                      <a:endParaRPr sz="1050"/>
                    </a:p>
                  </a:txBody>
                  <a:tcPr marL="9525" marR="9525" marT="9525" marB="0" anchor="ctr"/>
                </a:tc>
              </a:tr>
              <a:tr h="169826">
                <a:tc>
                  <a:txBody>
                    <a:bodyPr wrap="square"/>
                    <a:lstStyle/>
                    <a:p>
                      <a:pPr algn="l"/>
                      <a:r>
                        <a:rPr sz="1050" b="0" i="0">
                          <a:solidFill>
                            <a:srgbClr val="000000"/>
                          </a:solidFill>
                          <a:latin typeface="Calibri"/>
                        </a:rPr>
                        <a:t>Table 17: Global Market Absolute $ Opportunity by Year, US$ Mn, 2026–2036</a:t>
                      </a:r>
                      <a:endParaRPr sz="1050"/>
                    </a:p>
                  </a:txBody>
                  <a:tcPr marL="9525" marR="9525" marT="9525" marB="0" anchor="ctr"/>
                </a:tc>
              </a:tr>
              <a:tr h="169826">
                <a:tc>
                  <a:txBody>
                    <a:bodyPr wrap="square"/>
                    <a:lstStyle/>
                    <a:p>
                      <a:pPr algn="l"/>
                      <a:r>
                        <a:rPr sz="1050" b="0" i="0">
                          <a:solidFill>
                            <a:srgbClr val="000000"/>
                          </a:solidFill>
                          <a:latin typeface="Calibri"/>
                        </a:rPr>
                        <a:t>Table 18: Global Market Value by Scenario (Optimistic, Likely, Pessimistic), US$ Mn, 2026–2036</a:t>
                      </a:r>
                      <a:endParaRPr sz="1050"/>
                    </a:p>
                  </a:txBody>
                  <a:tcPr marL="9525" marR="9525" marT="9525" marB="0" anchor="ctr"/>
                </a:tc>
              </a:tr>
              <a:tr h="169826">
                <a:tc>
                  <a:txBody>
                    <a:bodyPr wrap="square"/>
                    <a:lstStyle/>
                    <a:p>
                      <a:pPr algn="l"/>
                      <a:r>
                        <a:rPr sz="1050" b="0" i="0">
                          <a:solidFill>
                            <a:srgbClr val="000000"/>
                          </a:solidFill>
                          <a:latin typeface="Calibri"/>
                        </a:rPr>
                        <a:t>Table 19: Global Market Scenario CAGR Comparison, %, 2026–2036</a:t>
                      </a:r>
                      <a:endParaRPr sz="1050"/>
                    </a:p>
                  </a:txBody>
                  <a:tcPr marL="9525" marR="9525" marT="9525" marB="0" anchor="ctr"/>
                </a:tc>
              </a:tr>
              <a:tr h="169826">
                <a:tc>
                  <a:txBody>
                    <a:bodyPr wrap="square"/>
                    <a:lstStyle/>
                    <a:p>
                      <a:pPr algn="l"/>
                      <a:r>
                        <a:rPr sz="1050" b="0" i="0">
                          <a:solidFill>
                            <a:srgbClr val="000000"/>
                          </a:solidFill>
                          <a:latin typeface="Calibri"/>
                        </a:rPr>
                        <a:t>Table 20: Global Market Historical vs Forecast Growth Comparison, %, 2021–2036</a:t>
                      </a:r>
                      <a:endParaRPr sz="1050"/>
                    </a:p>
                  </a:txBody>
                  <a:tcPr marL="9525" marR="9525" marT="9525" marB="0" anchor="ctr"/>
                </a:tc>
              </a:tr>
              <a:tr h="169826">
                <a:tc>
                  <a:txBody>
                    <a:bodyPr wrap="square"/>
                    <a:lstStyle/>
                    <a:p>
                      <a:pPr algn="l"/>
                      <a:r>
                        <a:rPr sz="1050" b="0" i="0">
                          <a:solidFill>
                            <a:srgbClr val="000000"/>
                          </a:solidFill>
                          <a:latin typeface="Calibri"/>
                        </a:rPr>
                        <a:t>Table 21: Global Market Five-Year Block Value Summary, US$ Mn, 2021–2036</a:t>
                      </a:r>
                      <a:endParaRPr sz="1050"/>
                    </a:p>
                  </a:txBody>
                  <a:tcPr marL="9525" marR="9525" marT="9525" marB="0" anchor="ctr"/>
                </a:tc>
              </a:tr>
              <a:tr h="169826">
                <a:tc>
                  <a:txBody>
                    <a:bodyPr wrap="square"/>
                    <a:lstStyle/>
                    <a:p>
                      <a:pPr algn="l"/>
                      <a:r>
                        <a:rPr sz="1050" b="0" i="0">
                          <a:solidFill>
                            <a:srgbClr val="000000"/>
                          </a:solidFill>
                          <a:latin typeface="Calibri"/>
                        </a:rPr>
                        <a:t>Table 22: Global Market Size Evolution Index, 2025=100, 2021–2036</a:t>
                      </a:r>
                      <a:endParaRPr sz="1050"/>
                    </a:p>
                  </a:txBody>
                  <a:tcPr marL="9525" marR="9525" marT="9525" marB="0" anchor="ctr"/>
                </a:tc>
              </a:tr>
              <a:tr h="169826">
                <a:tc>
                  <a:txBody>
                    <a:bodyPr wrap="square"/>
                    <a:lstStyle/>
                    <a:p>
                      <a:pPr algn="l"/>
                      <a:r>
                        <a:rPr sz="1050" b="0" i="0">
                          <a:solidFill>
                            <a:srgbClr val="000000"/>
                          </a:solidFill>
                          <a:latin typeface="Calibri"/>
                        </a:rPr>
                        <a:t>Table 23: Global Market Key Forecast Assumptions, 2026–2036</a:t>
                      </a:r>
                      <a:endParaRPr sz="1050"/>
                    </a:p>
                  </a:txBody>
                  <a:tcPr marL="9525" marR="9525" marT="9525" marB="0" anchor="ctr"/>
                </a:tc>
              </a:tr>
              <a:tr h="169826">
                <a:tc>
                  <a:txBody>
                    <a:bodyPr wrap="square"/>
                    <a:lstStyle/>
                    <a:p>
                      <a:pPr algn="l"/>
                      <a:r>
                        <a:rPr sz="1050" b="0" i="0">
                          <a:solidFill>
                            <a:srgbClr val="000000"/>
                          </a:solidFill>
                          <a:latin typeface="Calibri"/>
                        </a:rPr>
                        <a:t>Table 24: Global Market Value by Material Type, US$ Mn, 2021–2036</a:t>
                      </a:r>
                      <a:endParaRPr sz="1050"/>
                    </a:p>
                  </a:txBody>
                  <a:tcPr marL="9525" marR="9525" marT="9525" marB="0" anchor="ctr"/>
                </a:tc>
              </a:tr>
              <a:tr h="169826">
                <a:tc>
                  <a:txBody>
                    <a:bodyPr wrap="square"/>
                    <a:lstStyle/>
                    <a:p>
                      <a:pPr algn="l"/>
                      <a:r>
                        <a:rPr sz="1050" b="0" i="0">
                          <a:solidFill>
                            <a:srgbClr val="000000"/>
                          </a:solidFill>
                          <a:latin typeface="Calibri"/>
                        </a:rPr>
                        <a:t>Table 25: Global Market Value by Product Form, US$ Mn, 2021–2036</a:t>
                      </a:r>
                      <a:endParaRPr sz="1050"/>
                    </a:p>
                  </a:txBody>
                  <a:tcPr marL="9525" marR="9525" marT="9525" marB="0" anchor="ctr"/>
                </a:tc>
              </a:tr>
              <a:tr h="169826">
                <a:tc>
                  <a:txBody>
                    <a:bodyPr wrap="square"/>
                    <a:lstStyle/>
                    <a:p>
                      <a:pPr algn="l"/>
                      <a:r>
                        <a:rPr sz="1050" b="0" i="0">
                          <a:solidFill>
                            <a:srgbClr val="000000"/>
                          </a:solidFill>
                          <a:latin typeface="Calibri"/>
                        </a:rPr>
                        <a:t>Table 26: Global Market Value by End-use Industry, US$ Mn, 2021–2036</a:t>
                      </a:r>
                      <a:endParaRPr sz="1050"/>
                    </a:p>
                  </a:txBody>
                  <a:tcPr marL="9525" marR="9525" marT="9525" marB="0" anchor="ctr"/>
                </a:tc>
              </a:tr>
              <a:tr h="169826">
                <a:tc>
                  <a:txBody>
                    <a:bodyPr wrap="square"/>
                    <a:lstStyle/>
                    <a:p>
                      <a:pPr algn="l"/>
                      <a:r>
                        <a:rPr sz="1050" b="0" i="0">
                          <a:solidFill>
                            <a:srgbClr val="000000"/>
                          </a:solidFill>
                          <a:latin typeface="Calibri"/>
                        </a:rPr>
                        <a:t>Table 27: Global Market CAGR and Absolute $ Opportunity by Material Type, %, US$ Mn, 2026–2036</a:t>
                      </a:r>
                      <a:endParaRPr sz="1050"/>
                    </a:p>
                  </a:txBody>
                  <a:tcPr marL="9525" marR="9525" marT="9525" marB="0" anchor="ctr"/>
                </a:tc>
              </a:tr>
              <a:tr h="169826">
                <a:tc>
                  <a:txBody>
                    <a:bodyPr wrap="square"/>
                    <a:lstStyle/>
                    <a:p>
                      <a:pPr algn="l"/>
                      <a:r>
                        <a:rPr sz="1050" b="0" i="0">
                          <a:solidFill>
                            <a:srgbClr val="000000"/>
                          </a:solidFill>
                          <a:latin typeface="Calibri"/>
                        </a:rPr>
                        <a:t>Table 28: Global Market CAGR and Absolute $ Opportunity by Product Form, %, US$ Mn, 2026–2036</a:t>
                      </a:r>
                      <a:endParaRPr sz="1050"/>
                    </a:p>
                  </a:txBody>
                  <a:tcPr marL="9525" marR="9525" marT="9525" marB="0" anchor="ctr"/>
                </a:tc>
              </a:tr>
              <a:tr h="332858">
                <a:tc>
                  <a:txBody>
                    <a:bodyPr wrap="square"/>
                    <a:lstStyle/>
                    <a:p>
                      <a:pPr algn="l"/>
                      <a:r>
                        <a:rPr sz="1050" b="0" i="0">
                          <a:solidFill>
                            <a:srgbClr val="000000"/>
                          </a:solidFill>
                          <a:latin typeface="Calibri"/>
                        </a:rPr>
                        <a:t>Table 29: Global Market CAGR and Absolute $ Opportunity by End-use Industry, %, US$ Mn, 2026–2036</a:t>
                      </a:r>
                      <a:endParaRPr sz="1050"/>
                    </a:p>
                  </a:txBody>
                  <a:tcPr marL="9525" marR="9525" marT="9525" marB="0" anchor="ctr"/>
                </a:tc>
              </a:tr>
              <a:tr h="169826">
                <a:tc>
                  <a:txBody>
                    <a:bodyPr wrap="square"/>
                    <a:lstStyle/>
                    <a:p>
                      <a:pPr algn="l"/>
                      <a:r>
                        <a:rPr sz="1050" b="0" i="0">
                          <a:solidFill>
                            <a:srgbClr val="000000"/>
                          </a:solidFill>
                          <a:latin typeface="Calibri"/>
                        </a:rPr>
                        <a:t>Table 30: Global Market Share and BPS Change by Material Type, %, 2025, 2026 and 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31: Global Market Share and BPS Change by Product Form, %, 2025, 2026 and 2036</a:t>
                      </a:r>
                      <a:endParaRPr sz="1050"/>
                    </a:p>
                  </a:txBody>
                  <a:tcPr marL="9525" marR="9525" marT="9525" marB="0" anchor="ctr"/>
                </a:tc>
              </a:tr>
              <a:tr h="169606">
                <a:tc>
                  <a:txBody>
                    <a:bodyPr wrap="square"/>
                    <a:lstStyle/>
                    <a:p>
                      <a:pPr algn="l"/>
                      <a:r>
                        <a:rPr sz="1050" b="0" i="0">
                          <a:solidFill>
                            <a:srgbClr val="000000"/>
                          </a:solidFill>
                          <a:latin typeface="Calibri"/>
                        </a:rPr>
                        <a:t>Table 32: Global Market Share and BPS Change by End-use Industry, %, 2025, 2026 and 2036</a:t>
                      </a:r>
                      <a:endParaRPr sz="1050"/>
                    </a:p>
                  </a:txBody>
                  <a:tcPr marL="9525" marR="9525" marT="9525" marB="0" anchor="ctr"/>
                </a:tc>
              </a:tr>
              <a:tr h="169606">
                <a:tc>
                  <a:txBody>
                    <a:bodyPr wrap="square"/>
                    <a:lstStyle/>
                    <a:p>
                      <a:pPr algn="l"/>
                      <a:r>
                        <a:rPr sz="1050" b="0" i="0">
                          <a:solidFill>
                            <a:srgbClr val="000000"/>
                          </a:solidFill>
                          <a:latin typeface="Calibri"/>
                        </a:rPr>
                        <a:t>Table 33: Global Market YoY Growth by Material Type, %, 2026–2036</a:t>
                      </a:r>
                      <a:endParaRPr sz="1050"/>
                    </a:p>
                  </a:txBody>
                  <a:tcPr marL="9525" marR="9525" marT="9525" marB="0" anchor="ctr"/>
                </a:tc>
              </a:tr>
              <a:tr h="169606">
                <a:tc>
                  <a:txBody>
                    <a:bodyPr wrap="square"/>
                    <a:lstStyle/>
                    <a:p>
                      <a:pPr algn="l"/>
                      <a:r>
                        <a:rPr sz="1050" b="0" i="0">
                          <a:solidFill>
                            <a:srgbClr val="000000"/>
                          </a:solidFill>
                          <a:latin typeface="Calibri"/>
                        </a:rPr>
                        <a:t>Table 34: Global Market YoY Growth by Product Form, %, 2026–2036</a:t>
                      </a:r>
                      <a:endParaRPr sz="1050"/>
                    </a:p>
                  </a:txBody>
                  <a:tcPr marL="9525" marR="9525" marT="9525" marB="0" anchor="ctr"/>
                </a:tc>
              </a:tr>
              <a:tr h="169606">
                <a:tc>
                  <a:txBody>
                    <a:bodyPr wrap="square"/>
                    <a:lstStyle/>
                    <a:p>
                      <a:pPr algn="l"/>
                      <a:r>
                        <a:rPr sz="1050" b="0" i="0">
                          <a:solidFill>
                            <a:srgbClr val="000000"/>
                          </a:solidFill>
                          <a:latin typeface="Calibri"/>
                        </a:rPr>
                        <a:t>Table 35: Global Market YoY Growth by End-use Industry, %, 2026–2036</a:t>
                      </a:r>
                      <a:endParaRPr sz="1050"/>
                    </a:p>
                  </a:txBody>
                  <a:tcPr marL="9525" marR="9525" marT="9525" marB="0" anchor="ctr"/>
                </a:tc>
              </a:tr>
              <a:tr h="169606">
                <a:tc>
                  <a:txBody>
                    <a:bodyPr wrap="square"/>
                    <a:lstStyle/>
                    <a:p>
                      <a:pPr algn="l"/>
                      <a:r>
                        <a:rPr sz="1050" b="0" i="0">
                          <a:solidFill>
                            <a:srgbClr val="000000"/>
                          </a:solidFill>
                          <a:latin typeface="Calibri"/>
                        </a:rPr>
                        <a:t>Table 36: Global Market Volume by Material Type, MT, 2021–2036</a:t>
                      </a:r>
                      <a:endParaRPr sz="1050"/>
                    </a:p>
                  </a:txBody>
                  <a:tcPr marL="9525" marR="9525" marT="9525" marB="0" anchor="ctr"/>
                </a:tc>
              </a:tr>
              <a:tr h="169606">
                <a:tc>
                  <a:txBody>
                    <a:bodyPr wrap="square"/>
                    <a:lstStyle/>
                    <a:p>
                      <a:pPr algn="l"/>
                      <a:r>
                        <a:rPr sz="1050" b="0" i="0">
                          <a:solidFill>
                            <a:srgbClr val="000000"/>
                          </a:solidFill>
                          <a:latin typeface="Calibri"/>
                        </a:rPr>
                        <a:t>Table 37: Global Market Volume by Product Form, MT, 2021–2036</a:t>
                      </a:r>
                      <a:endParaRPr sz="1050"/>
                    </a:p>
                  </a:txBody>
                  <a:tcPr marL="9525" marR="9525" marT="9525" marB="0" anchor="ctr"/>
                </a:tc>
              </a:tr>
              <a:tr h="169606">
                <a:tc>
                  <a:txBody>
                    <a:bodyPr wrap="square"/>
                    <a:lstStyle/>
                    <a:p>
                      <a:pPr algn="l"/>
                      <a:r>
                        <a:rPr sz="1050" b="0" i="0">
                          <a:solidFill>
                            <a:srgbClr val="000000"/>
                          </a:solidFill>
                          <a:latin typeface="Calibri"/>
                        </a:rPr>
                        <a:t>Table 38: Global Market Volume by End-use Industry, MT, 2021–2036</a:t>
                      </a:r>
                      <a:endParaRPr sz="1050"/>
                    </a:p>
                  </a:txBody>
                  <a:tcPr marL="9525" marR="9525" marT="9525" marB="0" anchor="ctr"/>
                </a:tc>
              </a:tr>
              <a:tr h="169606">
                <a:tc>
                  <a:txBody>
                    <a:bodyPr wrap="square"/>
                    <a:lstStyle/>
                    <a:p>
                      <a:pPr algn="l"/>
                      <a:r>
                        <a:rPr sz="1050" b="0" i="0">
                          <a:solidFill>
                            <a:srgbClr val="000000"/>
                          </a:solidFill>
                          <a:latin typeface="Calibri"/>
                        </a:rPr>
                        <a:t>Table 39: Global Market Average Selling Price by Material Type, US$/MT, 2021–2036</a:t>
                      </a:r>
                      <a:endParaRPr sz="1050"/>
                    </a:p>
                  </a:txBody>
                  <a:tcPr marL="9525" marR="9525" marT="9525" marB="0" anchor="ctr"/>
                </a:tc>
              </a:tr>
              <a:tr h="169606">
                <a:tc>
                  <a:txBody>
                    <a:bodyPr wrap="square"/>
                    <a:lstStyle/>
                    <a:p>
                      <a:pPr algn="l"/>
                      <a:r>
                        <a:rPr sz="1050" b="0" i="0">
                          <a:solidFill>
                            <a:srgbClr val="000000"/>
                          </a:solidFill>
                          <a:latin typeface="Calibri"/>
                        </a:rPr>
                        <a:t>Table 40: Global Market Average Selling Price by Product Form, US$/MT, 2021–2036</a:t>
                      </a:r>
                      <a:endParaRPr sz="1050"/>
                    </a:p>
                  </a:txBody>
                  <a:tcPr marL="9525" marR="9525" marT="9525" marB="0" anchor="ctr"/>
                </a:tc>
              </a:tr>
              <a:tr h="169606">
                <a:tc>
                  <a:txBody>
                    <a:bodyPr wrap="square"/>
                    <a:lstStyle/>
                    <a:p>
                      <a:pPr algn="l"/>
                      <a:r>
                        <a:rPr sz="1050" b="0" i="0">
                          <a:solidFill>
                            <a:srgbClr val="000000"/>
                          </a:solidFill>
                          <a:latin typeface="Calibri"/>
                        </a:rPr>
                        <a:t>Table 41: Global Market Average Selling Price by End-use Industry, US$/MT, 2021–2036</a:t>
                      </a:r>
                      <a:endParaRPr sz="1050"/>
                    </a:p>
                  </a:txBody>
                  <a:tcPr marL="9525" marR="9525" marT="9525" marB="0" anchor="ctr"/>
                </a:tc>
              </a:tr>
              <a:tr h="169606">
                <a:tc>
                  <a:txBody>
                    <a:bodyPr wrap="square"/>
                    <a:lstStyle/>
                    <a:p>
                      <a:pPr algn="l"/>
                      <a:r>
                        <a:rPr sz="1050" b="0" i="0">
                          <a:solidFill>
                            <a:srgbClr val="000000"/>
                          </a:solidFill>
                          <a:latin typeface="Calibri"/>
                        </a:rPr>
                        <a:t>Table 42: Global Market Attractiveness Index by Material Type, 2026–2036</a:t>
                      </a:r>
                      <a:endParaRPr sz="1050"/>
                    </a:p>
                  </a:txBody>
                  <a:tcPr marL="9525" marR="9525" marT="9525" marB="0" anchor="ctr"/>
                </a:tc>
              </a:tr>
              <a:tr h="169606">
                <a:tc>
                  <a:txBody>
                    <a:bodyPr wrap="square"/>
                    <a:lstStyle/>
                    <a:p>
                      <a:pPr algn="l"/>
                      <a:r>
                        <a:rPr sz="1050" b="0" i="0">
                          <a:solidFill>
                            <a:srgbClr val="000000"/>
                          </a:solidFill>
                          <a:latin typeface="Calibri"/>
                        </a:rPr>
                        <a:t>Table 43: Global Market Attractiveness Index by Product Form, 2026–2036</a:t>
                      </a:r>
                      <a:endParaRPr sz="1050"/>
                    </a:p>
                  </a:txBody>
                  <a:tcPr marL="9525" marR="9525" marT="9525" marB="0" anchor="ctr"/>
                </a:tc>
              </a:tr>
              <a:tr h="169606">
                <a:tc>
                  <a:txBody>
                    <a:bodyPr wrap="square"/>
                    <a:lstStyle/>
                    <a:p>
                      <a:pPr algn="l"/>
                      <a:r>
                        <a:rPr sz="1050" b="0" i="0">
                          <a:solidFill>
                            <a:srgbClr val="000000"/>
                          </a:solidFill>
                          <a:latin typeface="Calibri"/>
                        </a:rPr>
                        <a:t>Table 44: Global Market Attractiveness Index by End-use Industry, 2026–2036</a:t>
                      </a:r>
                      <a:endParaRPr sz="1050"/>
                    </a:p>
                  </a:txBody>
                  <a:tcPr marL="9525" marR="9525" marT="9525" marB="0" anchor="ctr"/>
                </a:tc>
              </a:tr>
              <a:tr h="169606">
                <a:tc>
                  <a:txBody>
                    <a:bodyPr wrap="square"/>
                    <a:lstStyle/>
                    <a:p>
                      <a:pPr algn="l"/>
                      <a:r>
                        <a:rPr sz="1050" b="0" i="0">
                          <a:solidFill>
                            <a:srgbClr val="000000"/>
                          </a:solidFill>
                          <a:latin typeface="Calibri"/>
                        </a:rPr>
                        <a:t>Table 45: Global Market Value of Polyethylene (PE) Foam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46: Global Market Value of Foam Sheets, Rolls &amp; Planks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47: Global Market Value of Electronics &amp; Electrical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48: Global Market Value of Expanded Polystyrene (EPS)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49: Global Market Value of Fabricated Foam Packaging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50: Global Market Value of Automotive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51: Global Market Value of Polyurethane (PU) Foam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52: Global Market Value of Molded Foam Packaging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53: Global Market Value of Healthcare &amp; Pharmaceuticals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54: Global Market Value of Expanded Polypropylene (EPP)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55: Global Market Value of Foam-in-Place Packaging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56: Global Market Value of Industrial Machinery &amp; Equipment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57: Global Market Value of Other Foam Materials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58: Global Market Value of Foam Pouches, Bags &amp; Sleeves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59: Global Market Value of Consumer Goods &amp; Home Products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60: Global Market Value by Material Type by Scenario, US$ Mn, 2036</a:t>
                      </a:r>
                      <a:endParaRPr sz="1050"/>
                    </a:p>
                  </a:txBody>
                  <a:tcPr marL="9525" marR="9525" marT="9525" marB="0" anchor="ctr"/>
                </a:tc>
              </a:tr>
              <a:tr h="169606">
                <a:tc>
                  <a:txBody>
                    <a:bodyPr wrap="square"/>
                    <a:lstStyle/>
                    <a:p>
                      <a:pPr algn="l"/>
                      <a:r>
                        <a:rPr sz="1050" b="0" i="0">
                          <a:solidFill>
                            <a:srgbClr val="000000"/>
                          </a:solidFill>
                          <a:latin typeface="Calibri"/>
                        </a:rPr>
                        <a:t>Table 61: Global Market Value of Foam Loose-Fill Packaging by Region, US$ Mn, 2021–2036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62: Global Market Value of Food &amp; Beverage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63: Global Market Value by Product Form by Scenario, US$ Mn, 2036</a:t>
                      </a:r>
                      <a:endParaRPr sz="1050"/>
                    </a:p>
                  </a:txBody>
                  <a:tcPr marL="9525" marR="9525" marT="9525" marB="0" anchor="ctr"/>
                </a:tc>
              </a:tr>
              <a:tr h="169606">
                <a:tc>
                  <a:txBody>
                    <a:bodyPr wrap="square"/>
                    <a:lstStyle/>
                    <a:p>
                      <a:pPr algn="l"/>
                      <a:r>
                        <a:rPr sz="1050" b="0" i="0">
                          <a:solidFill>
                            <a:srgbClr val="000000"/>
                          </a:solidFill>
                          <a:latin typeface="Calibri"/>
                        </a:rPr>
                        <a:t>Table 64: Global Market Value of Aerospace &amp; Defense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65: Global Market Value of Others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66: Global Market Value by End-use Industry by Scenario, US$ Mn, 2036</a:t>
                      </a:r>
                      <a:endParaRPr sz="1050"/>
                    </a:p>
                  </a:txBody>
                  <a:tcPr marL="9525" marR="9525" marT="9525" marB="0" anchor="ctr"/>
                </a:tc>
              </a:tr>
              <a:tr h="169606">
                <a:tc>
                  <a:txBody>
                    <a:bodyPr wrap="square"/>
                    <a:lstStyle/>
                    <a:p>
                      <a:pPr algn="l"/>
                      <a:r>
                        <a:rPr sz="1050" b="0" i="0">
                          <a:solidFill>
                            <a:srgbClr val="000000"/>
                          </a:solidFill>
                          <a:latin typeface="Calibri"/>
                        </a:rPr>
                        <a:t>Table 67: Global Market Value by Material Type and Product Form, US$ Mn, 2026–2036</a:t>
                      </a:r>
                      <a:endParaRPr sz="1050"/>
                    </a:p>
                  </a:txBody>
                  <a:tcPr marL="9525" marR="9525" marT="9525" marB="0" anchor="ctr"/>
                </a:tc>
              </a:tr>
              <a:tr h="169606">
                <a:tc>
                  <a:txBody>
                    <a:bodyPr wrap="square"/>
                    <a:lstStyle/>
                    <a:p>
                      <a:pPr algn="l"/>
                      <a:r>
                        <a:rPr sz="1050" b="0" i="0">
                          <a:solidFill>
                            <a:srgbClr val="000000"/>
                          </a:solidFill>
                          <a:latin typeface="Calibri"/>
                        </a:rPr>
                        <a:t>Table 68: Global Market Value by Material Type and End-use Industry, US$ Mn, 2026–2036</a:t>
                      </a:r>
                      <a:endParaRPr sz="1050"/>
                    </a:p>
                  </a:txBody>
                  <a:tcPr marL="9525" marR="9525" marT="9525" marB="0" anchor="ctr"/>
                </a:tc>
              </a:tr>
              <a:tr h="169606">
                <a:tc>
                  <a:txBody>
                    <a:bodyPr wrap="square"/>
                    <a:lstStyle/>
                    <a:p>
                      <a:pPr algn="l"/>
                      <a:r>
                        <a:rPr sz="1050" b="0" i="0">
                          <a:solidFill>
                            <a:srgbClr val="000000"/>
                          </a:solidFill>
                          <a:latin typeface="Calibri"/>
                        </a:rPr>
                        <a:t>Table 69: Global Market Value by Product Form and End-use Industry, US$ Mn, 2026–2036</a:t>
                      </a:r>
                      <a:endParaRPr sz="1050"/>
                    </a:p>
                  </a:txBody>
                  <a:tcPr marL="9525" marR="9525" marT="9525" marB="0" anchor="ctr"/>
                </a:tc>
              </a:tr>
              <a:tr h="169606">
                <a:tc>
                  <a:txBody>
                    <a:bodyPr wrap="square"/>
                    <a:lstStyle/>
                    <a:p>
                      <a:pPr algn="l"/>
                      <a:r>
                        <a:rPr sz="1050" b="0" i="0">
                          <a:solidFill>
                            <a:srgbClr val="000000"/>
                          </a:solidFill>
                          <a:latin typeface="Calibri"/>
                        </a:rPr>
                        <a:t>Table 70: Global Market Value by Region and Material Type, US$ Mn, 2026–2036</a:t>
                      </a:r>
                      <a:endParaRPr sz="1050"/>
                    </a:p>
                  </a:txBody>
                  <a:tcPr marL="9525" marR="9525" marT="9525" marB="0" anchor="ctr"/>
                </a:tc>
              </a:tr>
              <a:tr h="169606">
                <a:tc>
                  <a:txBody>
                    <a:bodyPr wrap="square"/>
                    <a:lstStyle/>
                    <a:p>
                      <a:pPr algn="l"/>
                      <a:r>
                        <a:rPr sz="1050" b="0" i="0">
                          <a:solidFill>
                            <a:srgbClr val="000000"/>
                          </a:solidFill>
                          <a:latin typeface="Calibri"/>
                        </a:rPr>
                        <a:t>Table 71: Global Market Value by Region and Product Form, US$ Mn, 2026–2036</a:t>
                      </a:r>
                      <a:endParaRPr sz="1050"/>
                    </a:p>
                  </a:txBody>
                  <a:tcPr marL="9525" marR="9525" marT="9525" marB="0" anchor="ctr"/>
                </a:tc>
              </a:tr>
              <a:tr h="169606">
                <a:tc>
                  <a:txBody>
                    <a:bodyPr wrap="square"/>
                    <a:lstStyle/>
                    <a:p>
                      <a:pPr algn="l"/>
                      <a:r>
                        <a:rPr sz="1050" b="0" i="0">
                          <a:solidFill>
                            <a:srgbClr val="000000"/>
                          </a:solidFill>
                          <a:latin typeface="Calibri"/>
                        </a:rPr>
                        <a:t>Table 72: Global Market Value by Region and End-use Industry, US$ Mn, 2026–2036</a:t>
                      </a:r>
                      <a:endParaRPr sz="1050"/>
                    </a:p>
                  </a:txBody>
                  <a:tcPr marL="9525" marR="9525" marT="9525" marB="0" anchor="ctr"/>
                </a:tc>
              </a:tr>
              <a:tr h="169606">
                <a:tc>
                  <a:txBody>
                    <a:bodyPr wrap="square"/>
                    <a:lstStyle/>
                    <a:p>
                      <a:pPr algn="l"/>
                      <a:r>
                        <a:rPr sz="1050" b="0" i="0">
                          <a:solidFill>
                            <a:srgbClr val="000000"/>
                          </a:solidFill>
                          <a:latin typeface="Calibri"/>
                        </a:rPr>
                        <a:t>Table 73: Global Market CAGR by Material Type and Product Form, %, 2026–2036</a:t>
                      </a:r>
                      <a:endParaRPr sz="1050"/>
                    </a:p>
                  </a:txBody>
                  <a:tcPr marL="9525" marR="9525" marT="9525" marB="0" anchor="ctr"/>
                </a:tc>
              </a:tr>
              <a:tr h="169606">
                <a:tc>
                  <a:txBody>
                    <a:bodyPr wrap="square"/>
                    <a:lstStyle/>
                    <a:p>
                      <a:pPr algn="l"/>
                      <a:r>
                        <a:rPr sz="1050" b="0" i="0">
                          <a:solidFill>
                            <a:srgbClr val="000000"/>
                          </a:solidFill>
                          <a:latin typeface="Calibri"/>
                        </a:rPr>
                        <a:t>Table 74: Global Market CAGR by Material Type and End-use Industry, %, 2026–2036</a:t>
                      </a:r>
                      <a:endParaRPr sz="1050"/>
                    </a:p>
                  </a:txBody>
                  <a:tcPr marL="9525" marR="9525" marT="9525" marB="0" anchor="ctr"/>
                </a:tc>
              </a:tr>
              <a:tr h="169606">
                <a:tc>
                  <a:txBody>
                    <a:bodyPr wrap="square"/>
                    <a:lstStyle/>
                    <a:p>
                      <a:pPr algn="l"/>
                      <a:r>
                        <a:rPr sz="1050" b="0" i="0">
                          <a:solidFill>
                            <a:srgbClr val="000000"/>
                          </a:solidFill>
                          <a:latin typeface="Calibri"/>
                        </a:rPr>
                        <a:t>Table 75: Global Market CAGR by Product Form and End-use Industry, %, 2026–2036</a:t>
                      </a:r>
                      <a:endParaRPr sz="1050"/>
                    </a:p>
                  </a:txBody>
                  <a:tcPr marL="9525" marR="9525" marT="9525" marB="0" anchor="ctr"/>
                </a:tc>
              </a:tr>
              <a:tr h="169606">
                <a:tc>
                  <a:txBody>
                    <a:bodyPr wrap="square"/>
                    <a:lstStyle/>
                    <a:p>
                      <a:pPr algn="l"/>
                      <a:r>
                        <a:rPr sz="1050" b="0" i="0">
                          <a:solidFill>
                            <a:srgbClr val="000000"/>
                          </a:solidFill>
                          <a:latin typeface="Calibri"/>
                        </a:rPr>
                        <a:t>Table 76: Global Market CAGR by Region and Material Type, %, 2026–2036</a:t>
                      </a:r>
                      <a:endParaRPr sz="1050"/>
                    </a:p>
                  </a:txBody>
                  <a:tcPr marL="9525" marR="9525" marT="9525" marB="0" anchor="ctr"/>
                </a:tc>
              </a:tr>
              <a:tr h="169606">
                <a:tc>
                  <a:txBody>
                    <a:bodyPr wrap="square"/>
                    <a:lstStyle/>
                    <a:p>
                      <a:pPr algn="l"/>
                      <a:r>
                        <a:rPr sz="1050" b="0" i="0">
                          <a:solidFill>
                            <a:srgbClr val="000000"/>
                          </a:solidFill>
                          <a:latin typeface="Calibri"/>
                        </a:rPr>
                        <a:t>Table 77: Global Market CAGR by Region and Product Form, %, 2026–2036</a:t>
                      </a:r>
                      <a:endParaRPr sz="1050"/>
                    </a:p>
                  </a:txBody>
                  <a:tcPr marL="9525" marR="9525" marT="9525" marB="0" anchor="ctr"/>
                </a:tc>
              </a:tr>
              <a:tr h="169606">
                <a:tc>
                  <a:txBody>
                    <a:bodyPr wrap="square"/>
                    <a:lstStyle/>
                    <a:p>
                      <a:pPr algn="l"/>
                      <a:r>
                        <a:rPr sz="1050" b="0" i="0">
                          <a:solidFill>
                            <a:srgbClr val="000000"/>
                          </a:solidFill>
                          <a:latin typeface="Calibri"/>
                        </a:rPr>
                        <a:t>Table 78: Global Market CAGR by Region and End-use Industry, %, 2026–2036</a:t>
                      </a:r>
                      <a:endParaRPr sz="1050"/>
                    </a:p>
                  </a:txBody>
                  <a:tcPr marL="9525" marR="9525" marT="9525" marB="0" anchor="ctr"/>
                </a:tc>
              </a:tr>
              <a:tr h="169606">
                <a:tc>
                  <a:txBody>
                    <a:bodyPr wrap="square"/>
                    <a:lstStyle/>
                    <a:p>
                      <a:pPr algn="l"/>
                      <a:r>
                        <a:rPr sz="1050" b="0" i="0">
                          <a:solidFill>
                            <a:srgbClr val="000000"/>
                          </a:solidFill>
                          <a:latin typeface="Calibri"/>
                        </a:rPr>
                        <a:t>Table 79: Global Market Share of Product Form within Material Type, %, 2026 and 2036</a:t>
                      </a:r>
                      <a:endParaRPr sz="1050"/>
                    </a:p>
                  </a:txBody>
                  <a:tcPr marL="9525" marR="9525" marT="9525" marB="0" anchor="ctr"/>
                </a:tc>
              </a:tr>
              <a:tr h="169606">
                <a:tc>
                  <a:txBody>
                    <a:bodyPr wrap="square"/>
                    <a:lstStyle/>
                    <a:p>
                      <a:pPr algn="l"/>
                      <a:r>
                        <a:rPr sz="1050" b="0" i="0">
                          <a:solidFill>
                            <a:srgbClr val="000000"/>
                          </a:solidFill>
                          <a:latin typeface="Calibri"/>
                        </a:rPr>
                        <a:t>Table 80: Global Market Share of End-use Industry within Material Type, %, 2026 and 2036</a:t>
                      </a:r>
                      <a:endParaRPr sz="1050"/>
                    </a:p>
                  </a:txBody>
                  <a:tcPr marL="9525" marR="9525" marT="9525" marB="0" anchor="ctr"/>
                </a:tc>
              </a:tr>
              <a:tr h="169606">
                <a:tc>
                  <a:txBody>
                    <a:bodyPr wrap="square"/>
                    <a:lstStyle/>
                    <a:p>
                      <a:pPr algn="l"/>
                      <a:r>
                        <a:rPr sz="1050" b="0" i="0">
                          <a:solidFill>
                            <a:srgbClr val="000000"/>
                          </a:solidFill>
                          <a:latin typeface="Calibri"/>
                        </a:rPr>
                        <a:t>Table 81: Global Market Share of End-use Industry within Product Form, %, 2026 and 2036</a:t>
                      </a:r>
                      <a:endParaRPr sz="1050"/>
                    </a:p>
                  </a:txBody>
                  <a:tcPr marL="9525" marR="9525" marT="9525" marB="0" anchor="ctr"/>
                </a:tc>
              </a:tr>
              <a:tr h="169606">
                <a:tc>
                  <a:txBody>
                    <a:bodyPr wrap="square"/>
                    <a:lstStyle/>
                    <a:p>
                      <a:pPr algn="l"/>
                      <a:r>
                        <a:rPr sz="1050" b="0" i="0">
                          <a:solidFill>
                            <a:srgbClr val="000000"/>
                          </a:solidFill>
                          <a:latin typeface="Calibri"/>
                        </a:rPr>
                        <a:t>Table 82: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Table 83: Global Market CAGR and Absolute $ Opportunity by Region, %, US$ Mn, 2026–2036</a:t>
                      </a:r>
                      <a:endParaRPr sz="1050"/>
                    </a:p>
                  </a:txBody>
                  <a:tcPr marL="9525" marR="9525" marT="9525" marB="0" anchor="ctr"/>
                </a:tc>
              </a:tr>
              <a:tr h="169606">
                <a:tc>
                  <a:txBody>
                    <a:bodyPr wrap="square"/>
                    <a:lstStyle/>
                    <a:p>
                      <a:pPr algn="l"/>
                      <a:r>
                        <a:rPr sz="1050" b="0" i="0">
                          <a:solidFill>
                            <a:srgbClr val="000000"/>
                          </a:solidFill>
                          <a:latin typeface="Calibri"/>
                        </a:rPr>
                        <a:t>Table 84: Global Market Share and BPS Change by Region, %, 2026 and 2036</a:t>
                      </a:r>
                      <a:endParaRPr sz="1050"/>
                    </a:p>
                  </a:txBody>
                  <a:tcPr marL="9525" marR="9525" marT="9525" marB="0" anchor="ctr"/>
                </a:tc>
              </a:tr>
              <a:tr h="169606">
                <a:tc>
                  <a:txBody>
                    <a:bodyPr wrap="square"/>
                    <a:lstStyle/>
                    <a:p>
                      <a:pPr algn="l"/>
                      <a:r>
                        <a:rPr sz="1050" b="0" i="0">
                          <a:solidFill>
                            <a:srgbClr val="000000"/>
                          </a:solidFill>
                          <a:latin typeface="Calibri"/>
                        </a:rPr>
                        <a:t>Table 85: Global Market Volume by Region, MT, 2021–2036</a:t>
                      </a:r>
                      <a:endParaRPr sz="1050"/>
                    </a:p>
                  </a:txBody>
                  <a:tcPr marL="9525" marR="9525" marT="9525" marB="0" anchor="ctr"/>
                </a:tc>
              </a:tr>
              <a:tr h="169606">
                <a:tc>
                  <a:txBody>
                    <a:bodyPr wrap="square"/>
                    <a:lstStyle/>
                    <a:p>
                      <a:pPr algn="l"/>
                      <a:r>
                        <a:rPr sz="1050" b="0" i="0">
                          <a:solidFill>
                            <a:srgbClr val="000000"/>
                          </a:solidFill>
                          <a:latin typeface="Calibri"/>
                        </a:rPr>
                        <a:t>Table 86: North America Market Value by Country, US$ Mn, 2021–2036</a:t>
                      </a:r>
                      <a:endParaRPr sz="1050"/>
                    </a:p>
                  </a:txBody>
                  <a:tcPr marL="9525" marR="9525" marT="9525" marB="0" anchor="ctr"/>
                </a:tc>
              </a:tr>
              <a:tr h="169606">
                <a:tc>
                  <a:txBody>
                    <a:bodyPr wrap="square"/>
                    <a:lstStyle/>
                    <a:p>
                      <a:pPr algn="l"/>
                      <a:r>
                        <a:rPr sz="1050" b="0" i="0">
                          <a:solidFill>
                            <a:srgbClr val="000000"/>
                          </a:solidFill>
                          <a:latin typeface="Calibri"/>
                        </a:rPr>
                        <a:t>Table 87: Latin America Market Value by Country, US$ Mn, 2021–2036</a:t>
                      </a:r>
                      <a:endParaRPr sz="1050"/>
                    </a:p>
                  </a:txBody>
                  <a:tcPr marL="9525" marR="9525" marT="9525" marB="0" anchor="ctr"/>
                </a:tc>
              </a:tr>
              <a:tr h="169606">
                <a:tc>
                  <a:txBody>
                    <a:bodyPr wrap="square"/>
                    <a:lstStyle/>
                    <a:p>
                      <a:pPr algn="l"/>
                      <a:r>
                        <a:rPr sz="1050" b="0" i="0">
                          <a:solidFill>
                            <a:srgbClr val="000000"/>
                          </a:solidFill>
                          <a:latin typeface="Calibri"/>
                        </a:rPr>
                        <a:t>Table 88: Europe Market Value by Country, US$ Mn, 2021–2036</a:t>
                      </a:r>
                      <a:endParaRPr sz="1050"/>
                    </a:p>
                  </a:txBody>
                  <a:tcPr marL="9525" marR="9525" marT="9525" marB="0" anchor="ctr"/>
                </a:tc>
              </a:tr>
              <a:tr h="169606">
                <a:tc>
                  <a:txBody>
                    <a:bodyPr wrap="square"/>
                    <a:lstStyle/>
                    <a:p>
                      <a:pPr algn="l"/>
                      <a:r>
                        <a:rPr sz="1050" b="0" i="0">
                          <a:solidFill>
                            <a:srgbClr val="000000"/>
                          </a:solidFill>
                          <a:latin typeface="Calibri"/>
                        </a:rPr>
                        <a:t>Table 89: East Asia Market Value by Country, US$ Mn, 2021–2036</a:t>
                      </a:r>
                      <a:endParaRPr sz="1050"/>
                    </a:p>
                  </a:txBody>
                  <a:tcPr marL="9525" marR="9525" marT="9525" marB="0" anchor="ctr"/>
                </a:tc>
              </a:tr>
              <a:tr h="169606">
                <a:tc>
                  <a:txBody>
                    <a:bodyPr wrap="square"/>
                    <a:lstStyle/>
                    <a:p>
                      <a:pPr algn="l"/>
                      <a:r>
                        <a:rPr sz="1050" b="0" i="0">
                          <a:solidFill>
                            <a:srgbClr val="000000"/>
                          </a:solidFill>
                          <a:latin typeface="Calibri"/>
                        </a:rPr>
                        <a:t>Table 90: South Asia &amp; Pacific Market Value by Country, US$ Mn, 2021–2036</a:t>
                      </a:r>
                      <a:endParaRPr sz="1050"/>
                    </a:p>
                  </a:txBody>
                  <a:tcPr marL="9525" marR="9525" marT="9525" marB="0" anchor="ctr"/>
                </a:tc>
              </a:tr>
              <a:tr h="169606">
                <a:tc>
                  <a:txBody>
                    <a:bodyPr wrap="square"/>
                    <a:lstStyle/>
                    <a:p>
                      <a:pPr algn="l"/>
                      <a:r>
                        <a:rPr sz="1050" b="0" i="0">
                          <a:solidFill>
                            <a:srgbClr val="000000"/>
                          </a:solidFill>
                          <a:latin typeface="Calibri"/>
                        </a:rPr>
                        <a:t>Table 91: Middle East and Africa Market Value by Country, US$ Mn, 2021–2036</a:t>
                      </a:r>
                      <a:endParaRPr sz="1050"/>
                    </a:p>
                  </a:txBody>
                  <a:tcPr marL="9525" marR="9525" marT="9525" marB="0" anchor="ctr"/>
                </a:tc>
              </a:tr>
              <a:tr h="169606">
                <a:tc>
                  <a:txBody>
                    <a:bodyPr wrap="square"/>
                    <a:lstStyle/>
                    <a:p>
                      <a:pPr algn="l"/>
                      <a:r>
                        <a:rPr sz="1050" b="0" i="0">
                          <a:solidFill>
                            <a:srgbClr val="000000"/>
                          </a:solidFill>
                          <a:latin typeface="Calibri"/>
                        </a:rPr>
                        <a:t>Table 92: North America Market CAGR and Absolute $ Opportunity by Country, %, US$ Mn, 2026–2036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Table 93: Latin America Market CAGR and Absolute $ Opportunity by Country, %, US$ Mn, 2026–2036</a:t>
                      </a:r>
                      <a:endParaRPr sz="1050"/>
                    </a:p>
                  </a:txBody>
                  <a:tcPr marL="9525" marR="9525" marT="9525" marB="0" anchor="ctr"/>
                </a:tc>
              </a:tr>
              <a:tr h="170045">
                <a:tc>
                  <a:txBody>
                    <a:bodyPr wrap="square"/>
                    <a:lstStyle/>
                    <a:p>
                      <a:pPr algn="l"/>
                      <a:r>
                        <a:rPr sz="1050" b="0" i="0">
                          <a:solidFill>
                            <a:srgbClr val="000000"/>
                          </a:solidFill>
                          <a:latin typeface="Calibri"/>
                        </a:rPr>
                        <a:t>Table 94: Europe Market CAGR and Absolute $ Opportunity by Country, %, US$ Mn, 2026–2036</a:t>
                      </a:r>
                      <a:endParaRPr sz="1050"/>
                    </a:p>
                  </a:txBody>
                  <a:tcPr marL="9525" marR="9525" marT="9525" marB="0" anchor="ctr"/>
                </a:tc>
              </a:tr>
              <a:tr h="170045">
                <a:tc>
                  <a:txBody>
                    <a:bodyPr wrap="square"/>
                    <a:lstStyle/>
                    <a:p>
                      <a:pPr algn="l"/>
                      <a:r>
                        <a:rPr sz="1050" b="0" i="0">
                          <a:solidFill>
                            <a:srgbClr val="000000"/>
                          </a:solidFill>
                          <a:latin typeface="Calibri"/>
                        </a:rPr>
                        <a:t>Table 95: East Asia Market CAGR and Absolute $ Opportunity by Country, %, US$ Mn, 2026–2036</a:t>
                      </a:r>
                      <a:endParaRPr sz="1050"/>
                    </a:p>
                  </a:txBody>
                  <a:tcPr marL="9525" marR="9525" marT="9525" marB="0" anchor="ctr"/>
                </a:tc>
              </a:tr>
              <a:tr h="333289">
                <a:tc>
                  <a:txBody>
                    <a:bodyPr wrap="square"/>
                    <a:lstStyle/>
                    <a:p>
                      <a:pPr algn="l"/>
                      <a:r>
                        <a:rPr sz="1050" b="0" i="0">
                          <a:solidFill>
                            <a:srgbClr val="000000"/>
                          </a:solidFill>
                          <a:latin typeface="Calibri"/>
                        </a:rPr>
                        <a:t>Table 96: South Asia &amp; Pacific Market CAGR and Absolute $ Opportunity by Country, %, US$ Mn, 2026–2036</a:t>
                      </a:r>
                      <a:endParaRPr sz="1050"/>
                    </a:p>
                  </a:txBody>
                  <a:tcPr marL="9525" marR="9525" marT="9525" marB="0" anchor="ctr"/>
                </a:tc>
              </a:tr>
              <a:tr h="333289">
                <a:tc>
                  <a:txBody>
                    <a:bodyPr wrap="square"/>
                    <a:lstStyle/>
                    <a:p>
                      <a:pPr algn="l"/>
                      <a:r>
                        <a:rPr sz="1050" b="0" i="0">
                          <a:solidFill>
                            <a:srgbClr val="000000"/>
                          </a:solidFill>
                          <a:latin typeface="Calibri"/>
                        </a:rPr>
                        <a:t>Table 97: Middle East and Africa Market CAGR and Absolute $ Opportunity by Country, %, US$ Mn, 2026–2036</a:t>
                      </a:r>
                      <a:endParaRPr sz="1050"/>
                    </a:p>
                  </a:txBody>
                  <a:tcPr marL="9525" marR="9525" marT="9525" marB="0" anchor="ctr"/>
                </a:tc>
              </a:tr>
              <a:tr h="170045">
                <a:tc>
                  <a:txBody>
                    <a:bodyPr wrap="square"/>
                    <a:lstStyle/>
                    <a:p>
                      <a:pPr algn="l"/>
                      <a:r>
                        <a:rPr sz="1050" b="0" i="0">
                          <a:solidFill>
                            <a:srgbClr val="000000"/>
                          </a:solidFill>
                          <a:latin typeface="Calibri"/>
                        </a:rPr>
                        <a:t>Table 98: North America Market Value by Material Type, US$ Mn, 2021–2036</a:t>
                      </a:r>
                      <a:endParaRPr sz="1050"/>
                    </a:p>
                  </a:txBody>
                  <a:tcPr marL="9525" marR="9525" marT="9525" marB="0" anchor="ctr"/>
                </a:tc>
              </a:tr>
              <a:tr h="170045">
                <a:tc>
                  <a:txBody>
                    <a:bodyPr wrap="square"/>
                    <a:lstStyle/>
                    <a:p>
                      <a:pPr algn="l"/>
                      <a:r>
                        <a:rPr sz="1050" b="0" i="0">
                          <a:solidFill>
                            <a:srgbClr val="000000"/>
                          </a:solidFill>
                          <a:latin typeface="Calibri"/>
                        </a:rPr>
                        <a:t>Table 99: Latin America Market Value by Material Type, US$ Mn, 2021–2036</a:t>
                      </a:r>
                      <a:endParaRPr sz="1050"/>
                    </a:p>
                  </a:txBody>
                  <a:tcPr marL="9525" marR="9525" marT="9525" marB="0" anchor="ctr"/>
                </a:tc>
              </a:tr>
              <a:tr h="170045">
                <a:tc>
                  <a:txBody>
                    <a:bodyPr wrap="square"/>
                    <a:lstStyle/>
                    <a:p>
                      <a:pPr algn="l"/>
                      <a:r>
                        <a:rPr sz="1050" b="0" i="0">
                          <a:solidFill>
                            <a:srgbClr val="000000"/>
                          </a:solidFill>
                          <a:latin typeface="Calibri"/>
                        </a:rPr>
                        <a:t>Table 100: Europe Market Value by Material Type, US$ Mn, 2021–2036</a:t>
                      </a:r>
                      <a:endParaRPr sz="1050"/>
                    </a:p>
                  </a:txBody>
                  <a:tcPr marL="9525" marR="9525" marT="9525" marB="0" anchor="ctr"/>
                </a:tc>
              </a:tr>
              <a:tr h="170045">
                <a:tc>
                  <a:txBody>
                    <a:bodyPr wrap="square"/>
                    <a:lstStyle/>
                    <a:p>
                      <a:pPr algn="l"/>
                      <a:r>
                        <a:rPr sz="1050" b="0" i="0">
                          <a:solidFill>
                            <a:srgbClr val="000000"/>
                          </a:solidFill>
                          <a:latin typeface="Calibri"/>
                        </a:rPr>
                        <a:t>Table 101: East Asia Market Value by Material Type, US$ Mn, 2021–2036</a:t>
                      </a:r>
                      <a:endParaRPr sz="1050"/>
                    </a:p>
                  </a:txBody>
                  <a:tcPr marL="9525" marR="9525" marT="9525" marB="0" anchor="ctr"/>
                </a:tc>
              </a:tr>
              <a:tr h="170045">
                <a:tc>
                  <a:txBody>
                    <a:bodyPr wrap="square"/>
                    <a:lstStyle/>
                    <a:p>
                      <a:pPr algn="l"/>
                      <a:r>
                        <a:rPr sz="1050" b="0" i="0">
                          <a:solidFill>
                            <a:srgbClr val="000000"/>
                          </a:solidFill>
                          <a:latin typeface="Calibri"/>
                        </a:rPr>
                        <a:t>Table 102: South Asia &amp; Pacific Market Value by Material Type, US$ Mn, 2021–2036</a:t>
                      </a:r>
                      <a:endParaRPr sz="1050"/>
                    </a:p>
                  </a:txBody>
                  <a:tcPr marL="9525" marR="9525" marT="9525" marB="0" anchor="ctr"/>
                </a:tc>
              </a:tr>
              <a:tr h="170045">
                <a:tc>
                  <a:txBody>
                    <a:bodyPr wrap="square"/>
                    <a:lstStyle/>
                    <a:p>
                      <a:pPr algn="l"/>
                      <a:r>
                        <a:rPr sz="1050" b="0" i="0">
                          <a:solidFill>
                            <a:srgbClr val="000000"/>
                          </a:solidFill>
                          <a:latin typeface="Calibri"/>
                        </a:rPr>
                        <a:t>Table 103: Middle East and Africa Market Value by Material Type, US$ Mn, 2021–2036</a:t>
                      </a:r>
                      <a:endParaRPr sz="1050"/>
                    </a:p>
                  </a:txBody>
                  <a:tcPr marL="9525" marR="9525" marT="9525" marB="0" anchor="ctr"/>
                </a:tc>
              </a:tr>
              <a:tr h="170045">
                <a:tc>
                  <a:txBody>
                    <a:bodyPr wrap="square"/>
                    <a:lstStyle/>
                    <a:p>
                      <a:pPr algn="l"/>
                      <a:r>
                        <a:rPr sz="1050" b="0" i="0">
                          <a:solidFill>
                            <a:srgbClr val="000000"/>
                          </a:solidFill>
                          <a:latin typeface="Calibri"/>
                        </a:rPr>
                        <a:t>Table 104: North America Market Value by Product Form, US$ Mn, 2021–2036</a:t>
                      </a:r>
                      <a:endParaRPr sz="1050"/>
                    </a:p>
                  </a:txBody>
                  <a:tcPr marL="9525" marR="9525" marT="9525" marB="0" anchor="ctr"/>
                </a:tc>
              </a:tr>
              <a:tr h="170045">
                <a:tc>
                  <a:txBody>
                    <a:bodyPr wrap="square"/>
                    <a:lstStyle/>
                    <a:p>
                      <a:pPr algn="l"/>
                      <a:r>
                        <a:rPr sz="1050" b="0" i="0">
                          <a:solidFill>
                            <a:srgbClr val="000000"/>
                          </a:solidFill>
                          <a:latin typeface="Calibri"/>
                        </a:rPr>
                        <a:t>Table 105: Latin America Market Value by Product Form, US$ Mn, 2021–2036</a:t>
                      </a:r>
                      <a:endParaRPr sz="1050"/>
                    </a:p>
                  </a:txBody>
                  <a:tcPr marL="9525" marR="9525" marT="9525" marB="0" anchor="ctr"/>
                </a:tc>
              </a:tr>
              <a:tr h="170045">
                <a:tc>
                  <a:txBody>
                    <a:bodyPr wrap="square"/>
                    <a:lstStyle/>
                    <a:p>
                      <a:pPr algn="l"/>
                      <a:r>
                        <a:rPr sz="1050" b="0" i="0">
                          <a:solidFill>
                            <a:srgbClr val="000000"/>
                          </a:solidFill>
                          <a:latin typeface="Calibri"/>
                        </a:rPr>
                        <a:t>Table 106: Europe Market Value by Product Form, US$ Mn, 2021–2036</a:t>
                      </a:r>
                      <a:endParaRPr sz="1050"/>
                    </a:p>
                  </a:txBody>
                  <a:tcPr marL="9525" marR="9525" marT="9525" marB="0" anchor="ctr"/>
                </a:tc>
              </a:tr>
              <a:tr h="170045">
                <a:tc>
                  <a:txBody>
                    <a:bodyPr wrap="square"/>
                    <a:lstStyle/>
                    <a:p>
                      <a:pPr algn="l"/>
                      <a:r>
                        <a:rPr sz="1050" b="0" i="0">
                          <a:solidFill>
                            <a:srgbClr val="000000"/>
                          </a:solidFill>
                          <a:latin typeface="Calibri"/>
                        </a:rPr>
                        <a:t>Table 107: East Asia Market Value by Product Form, US$ Mn, 2021–2036</a:t>
                      </a:r>
                      <a:endParaRPr sz="1050"/>
                    </a:p>
                  </a:txBody>
                  <a:tcPr marL="9525" marR="9525" marT="9525" marB="0" anchor="ctr"/>
                </a:tc>
              </a:tr>
              <a:tr h="170045">
                <a:tc>
                  <a:txBody>
                    <a:bodyPr wrap="square"/>
                    <a:lstStyle/>
                    <a:p>
                      <a:pPr algn="l"/>
                      <a:r>
                        <a:rPr sz="1050" b="0" i="0">
                          <a:solidFill>
                            <a:srgbClr val="000000"/>
                          </a:solidFill>
                          <a:latin typeface="Calibri"/>
                        </a:rPr>
                        <a:t>Table 108: South Asia &amp; Pacific Market Value by Product Form, US$ Mn, 2021–2036</a:t>
                      </a:r>
                      <a:endParaRPr sz="1050"/>
                    </a:p>
                  </a:txBody>
                  <a:tcPr marL="9525" marR="9525" marT="9525" marB="0" anchor="ctr"/>
                </a:tc>
              </a:tr>
              <a:tr h="170045">
                <a:tc>
                  <a:txBody>
                    <a:bodyPr wrap="square"/>
                    <a:lstStyle/>
                    <a:p>
                      <a:pPr algn="l"/>
                      <a:r>
                        <a:rPr sz="1050" b="0" i="0">
                          <a:solidFill>
                            <a:srgbClr val="000000"/>
                          </a:solidFill>
                          <a:latin typeface="Calibri"/>
                        </a:rPr>
                        <a:t>Table 109: Middle East and Africa Market Value by Product Form, US$ Mn, 2021–2036</a:t>
                      </a:r>
                      <a:endParaRPr sz="1050"/>
                    </a:p>
                  </a:txBody>
                  <a:tcPr marL="9525" marR="9525" marT="9525" marB="0" anchor="ctr"/>
                </a:tc>
              </a:tr>
              <a:tr h="170045">
                <a:tc>
                  <a:txBody>
                    <a:bodyPr wrap="square"/>
                    <a:lstStyle/>
                    <a:p>
                      <a:pPr algn="l"/>
                      <a:r>
                        <a:rPr sz="1050" b="0" i="0">
                          <a:solidFill>
                            <a:srgbClr val="000000"/>
                          </a:solidFill>
                          <a:latin typeface="Calibri"/>
                        </a:rPr>
                        <a:t>Table 110: North America Market Value by End-use Industry, US$ Mn, 2021–2036</a:t>
                      </a:r>
                      <a:endParaRPr sz="1050"/>
                    </a:p>
                  </a:txBody>
                  <a:tcPr marL="9525" marR="9525" marT="9525" marB="0" anchor="ctr"/>
                </a:tc>
              </a:tr>
              <a:tr h="170045">
                <a:tc>
                  <a:txBody>
                    <a:bodyPr wrap="square"/>
                    <a:lstStyle/>
                    <a:p>
                      <a:pPr algn="l"/>
                      <a:r>
                        <a:rPr sz="1050" b="0" i="0">
                          <a:solidFill>
                            <a:srgbClr val="000000"/>
                          </a:solidFill>
                          <a:latin typeface="Calibri"/>
                        </a:rPr>
                        <a:t>Table 111: Latin America Market Value by End-use Industry, US$ Mn, 2021–2036</a:t>
                      </a:r>
                      <a:endParaRPr sz="1050"/>
                    </a:p>
                  </a:txBody>
                  <a:tcPr marL="9525" marR="9525" marT="9525" marB="0" anchor="ctr"/>
                </a:tc>
              </a:tr>
              <a:tr h="170045">
                <a:tc>
                  <a:txBody>
                    <a:bodyPr wrap="square"/>
                    <a:lstStyle/>
                    <a:p>
                      <a:pPr algn="l"/>
                      <a:r>
                        <a:rPr sz="1050" b="0" i="0">
                          <a:solidFill>
                            <a:srgbClr val="000000"/>
                          </a:solidFill>
                          <a:latin typeface="Calibri"/>
                        </a:rPr>
                        <a:t>Table 112: Europe Market Value by End-use Industry, US$ Mn, 2021–2036</a:t>
                      </a:r>
                      <a:endParaRPr sz="1050"/>
                    </a:p>
                  </a:txBody>
                  <a:tcPr marL="9525" marR="9525" marT="9525" marB="0" anchor="ctr"/>
                </a:tc>
              </a:tr>
              <a:tr h="170045">
                <a:tc>
                  <a:txBody>
                    <a:bodyPr wrap="square"/>
                    <a:lstStyle/>
                    <a:p>
                      <a:pPr algn="l"/>
                      <a:r>
                        <a:rPr sz="1050" b="0" i="0">
                          <a:solidFill>
                            <a:srgbClr val="000000"/>
                          </a:solidFill>
                          <a:latin typeface="Calibri"/>
                        </a:rPr>
                        <a:t>Table 113: East Asia Market Value by End-use Industry, US$ Mn, 2021–2036</a:t>
                      </a:r>
                      <a:endParaRPr sz="1050"/>
                    </a:p>
                  </a:txBody>
                  <a:tcPr marL="9525" marR="9525" marT="9525" marB="0" anchor="ctr"/>
                </a:tc>
              </a:tr>
              <a:tr h="170045">
                <a:tc>
                  <a:txBody>
                    <a:bodyPr wrap="square"/>
                    <a:lstStyle/>
                    <a:p>
                      <a:pPr algn="l"/>
                      <a:r>
                        <a:rPr sz="1050" b="0" i="0">
                          <a:solidFill>
                            <a:srgbClr val="000000"/>
                          </a:solidFill>
                          <a:latin typeface="Calibri"/>
                        </a:rPr>
                        <a:t>Table 114: South Asia &amp; Pacific Market Value by End-use Industry, US$ Mn, 2021–2036</a:t>
                      </a:r>
                      <a:endParaRPr sz="1050"/>
                    </a:p>
                  </a:txBody>
                  <a:tcPr marL="9525" marR="9525" marT="9525" marB="0" anchor="ctr"/>
                </a:tc>
              </a:tr>
              <a:tr h="170045">
                <a:tc>
                  <a:txBody>
                    <a:bodyPr wrap="square"/>
                    <a:lstStyle/>
                    <a:p>
                      <a:pPr algn="l"/>
                      <a:r>
                        <a:rPr sz="1050" b="0" i="0">
                          <a:solidFill>
                            <a:srgbClr val="000000"/>
                          </a:solidFill>
                          <a:latin typeface="Calibri"/>
                        </a:rPr>
                        <a:t>Table 115: Middle East and Africa Market Value by End-use Industry, US$ Mn, 2021–2036</a:t>
                      </a:r>
                      <a:endParaRPr sz="1050"/>
                    </a:p>
                  </a:txBody>
                  <a:tcPr marL="9525" marR="9525" marT="9525" marB="0" anchor="ctr"/>
                </a:tc>
              </a:tr>
              <a:tr h="170045">
                <a:tc>
                  <a:txBody>
                    <a:bodyPr wrap="square"/>
                    <a:lstStyle/>
                    <a:p>
                      <a:pPr algn="l"/>
                      <a:r>
                        <a:rPr sz="1050" b="0" i="0">
                          <a:solidFill>
                            <a:srgbClr val="000000"/>
                          </a:solidFill>
                          <a:latin typeface="Calibri"/>
                        </a:rPr>
                        <a:t>Table 116: North America Market Volume by Country, MT, 2021–2036</a:t>
                      </a:r>
                      <a:endParaRPr sz="1050"/>
                    </a:p>
                  </a:txBody>
                  <a:tcPr marL="9525" marR="9525" marT="9525" marB="0" anchor="ctr"/>
                </a:tc>
              </a:tr>
              <a:tr h="170045">
                <a:tc>
                  <a:txBody>
                    <a:bodyPr wrap="square"/>
                    <a:lstStyle/>
                    <a:p>
                      <a:pPr algn="l"/>
                      <a:r>
                        <a:rPr sz="1050" b="0" i="0">
                          <a:solidFill>
                            <a:srgbClr val="000000"/>
                          </a:solidFill>
                          <a:latin typeface="Calibri"/>
                        </a:rPr>
                        <a:t>Table 117: Latin America Market Volume by Country, MT, 2021–2036</a:t>
                      </a:r>
                      <a:endParaRPr sz="1050"/>
                    </a:p>
                  </a:txBody>
                  <a:tcPr marL="9525" marR="9525" marT="9525" marB="0" anchor="ctr"/>
                </a:tc>
              </a:tr>
              <a:tr h="170045">
                <a:tc>
                  <a:txBody>
                    <a:bodyPr wrap="square"/>
                    <a:lstStyle/>
                    <a:p>
                      <a:pPr algn="l"/>
                      <a:r>
                        <a:rPr sz="1050" b="0" i="0">
                          <a:solidFill>
                            <a:srgbClr val="000000"/>
                          </a:solidFill>
                          <a:latin typeface="Calibri"/>
                        </a:rPr>
                        <a:t>Table 118: Europe Market Volume by Country, MT, 2021–2036</a:t>
                      </a:r>
                      <a:endParaRPr sz="1050"/>
                    </a:p>
                  </a:txBody>
                  <a:tcPr marL="9525" marR="9525" marT="9525" marB="0" anchor="ctr"/>
                </a:tc>
              </a:tr>
              <a:tr h="170045">
                <a:tc>
                  <a:txBody>
                    <a:bodyPr wrap="square"/>
                    <a:lstStyle/>
                    <a:p>
                      <a:pPr algn="l"/>
                      <a:r>
                        <a:rPr sz="1050" b="0" i="0">
                          <a:solidFill>
                            <a:srgbClr val="000000"/>
                          </a:solidFill>
                          <a:latin typeface="Calibri"/>
                        </a:rPr>
                        <a:t>Table 119: U.S. Market Value by Material Type, US$ Mn, 2021–2036</a:t>
                      </a:r>
                      <a:endParaRPr sz="1050"/>
                    </a:p>
                  </a:txBody>
                  <a:tcPr marL="9525" marR="9525" marT="9525" marB="0" anchor="ctr"/>
                </a:tc>
              </a:tr>
              <a:tr h="170045">
                <a:tc>
                  <a:txBody>
                    <a:bodyPr wrap="square"/>
                    <a:lstStyle/>
                    <a:p>
                      <a:pPr algn="l"/>
                      <a:r>
                        <a:rPr sz="1050" b="0" i="0">
                          <a:solidFill>
                            <a:srgbClr val="000000"/>
                          </a:solidFill>
                          <a:latin typeface="Calibri"/>
                        </a:rPr>
                        <a:t>Table 120: U.S. Market Historical and Forecast Growth, %, 2021–2036</a:t>
                      </a:r>
                      <a:endParaRPr sz="1050"/>
                    </a:p>
                  </a:txBody>
                  <a:tcPr marL="9525" marR="9525" marT="9525" marB="0" anchor="ctr"/>
                </a:tc>
              </a:tr>
              <a:tr h="170045">
                <a:tc>
                  <a:txBody>
                    <a:bodyPr wrap="square"/>
                    <a:lstStyle/>
                    <a:p>
                      <a:pPr algn="l"/>
                      <a:r>
                        <a:rPr sz="1050" b="0" i="0">
                          <a:solidFill>
                            <a:srgbClr val="000000"/>
                          </a:solidFill>
                          <a:latin typeface="Calibri"/>
                        </a:rPr>
                        <a:t>Table 121: U.S. Market Value by End-use Industry, US$ Mn, 2021–2036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122: U.S.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123: U.S. Market Value by Product Form, US$ Mn, 2021–2036</a:t>
                      </a:r>
                      <a:endParaRPr sz="1050"/>
                    </a:p>
                  </a:txBody>
                  <a:tcPr marL="9525" marR="9525" marT="9525" marB="0" anchor="ctr"/>
                </a:tc>
              </a:tr>
              <a:tr h="169606">
                <a:tc>
                  <a:txBody>
                    <a:bodyPr wrap="square"/>
                    <a:lstStyle/>
                    <a:p>
                      <a:pPr algn="l"/>
                      <a:r>
                        <a:rPr sz="1050" b="0" i="0">
                          <a:solidFill>
                            <a:srgbClr val="000000"/>
                          </a:solidFill>
                          <a:latin typeface="Calibri"/>
                        </a:rPr>
                        <a:t>Table 124: U.S. Market Volume by Material Type, MT, 2021–2036</a:t>
                      </a:r>
                      <a:endParaRPr sz="1050"/>
                    </a:p>
                  </a:txBody>
                  <a:tcPr marL="9525" marR="9525" marT="9525" marB="0" anchor="ctr"/>
                </a:tc>
              </a:tr>
              <a:tr h="169606">
                <a:tc>
                  <a:txBody>
                    <a:bodyPr wrap="square"/>
                    <a:lstStyle/>
                    <a:p>
                      <a:pPr algn="l"/>
                      <a:r>
                        <a:rPr sz="1050" b="0" i="0">
                          <a:solidFill>
                            <a:srgbClr val="000000"/>
                          </a:solidFill>
                          <a:latin typeface="Calibri"/>
                        </a:rPr>
                        <a:t>Table 125: U.S.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Table 126: U.S. Market Leading Suppliers and Brands, 2026</a:t>
                      </a:r>
                      <a:endParaRPr sz="1050"/>
                    </a:p>
                  </a:txBody>
                  <a:tcPr marL="9525" marR="9525" marT="9525" marB="0" anchor="ctr"/>
                </a:tc>
              </a:tr>
              <a:tr h="169606">
                <a:tc>
                  <a:txBody>
                    <a:bodyPr wrap="square"/>
                    <a:lstStyle/>
                    <a:p>
                      <a:pPr algn="l"/>
                      <a:r>
                        <a:rPr sz="1050" b="0" i="0">
                          <a:solidFill>
                            <a:srgbClr val="000000"/>
                          </a:solidFill>
                          <a:latin typeface="Calibri"/>
                        </a:rPr>
                        <a:t>Table 127: Germany Market Value by Material Type, US$ Mn, 2021–2036</a:t>
                      </a:r>
                      <a:endParaRPr sz="1050"/>
                    </a:p>
                  </a:txBody>
                  <a:tcPr marL="9525" marR="9525" marT="9525" marB="0" anchor="ctr"/>
                </a:tc>
              </a:tr>
              <a:tr h="169606">
                <a:tc>
                  <a:txBody>
                    <a:bodyPr wrap="square"/>
                    <a:lstStyle/>
                    <a:p>
                      <a:pPr algn="l"/>
                      <a:r>
                        <a:rPr sz="1050" b="0" i="0">
                          <a:solidFill>
                            <a:srgbClr val="000000"/>
                          </a:solidFill>
                          <a:latin typeface="Calibri"/>
                        </a:rPr>
                        <a:t>Table 128: Germany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129: Germany Market Value by End-use Industry, US$ Mn, 2021–2036</a:t>
                      </a:r>
                      <a:endParaRPr sz="1050"/>
                    </a:p>
                  </a:txBody>
                  <a:tcPr marL="9525" marR="9525" marT="9525" marB="0" anchor="ctr"/>
                </a:tc>
              </a:tr>
              <a:tr h="169606">
                <a:tc>
                  <a:txBody>
                    <a:bodyPr wrap="square"/>
                    <a:lstStyle/>
                    <a:p>
                      <a:pPr algn="l"/>
                      <a:r>
                        <a:rPr sz="1050" b="0" i="0">
                          <a:solidFill>
                            <a:srgbClr val="000000"/>
                          </a:solidFill>
                          <a:latin typeface="Calibri"/>
                        </a:rPr>
                        <a:t>Table 130: Germany Market Share within Europe, %, 2025, 2026 and 2036</a:t>
                      </a:r>
                      <a:endParaRPr sz="1050"/>
                    </a:p>
                  </a:txBody>
                  <a:tcPr marL="9525" marR="9525" marT="9525" marB="0" anchor="ctr"/>
                </a:tc>
              </a:tr>
              <a:tr h="169606">
                <a:tc>
                  <a:txBody>
                    <a:bodyPr wrap="square"/>
                    <a:lstStyle/>
                    <a:p>
                      <a:pPr algn="l"/>
                      <a:r>
                        <a:rPr sz="1050" b="0" i="0">
                          <a:solidFill>
                            <a:srgbClr val="000000"/>
                          </a:solidFill>
                          <a:latin typeface="Calibri"/>
                        </a:rPr>
                        <a:t>Table 131: Germany Market Value by Product Form, US$ Mn, 2021–2036</a:t>
                      </a:r>
                      <a:endParaRPr sz="1050"/>
                    </a:p>
                  </a:txBody>
                  <a:tcPr marL="9525" marR="9525" marT="9525" marB="0" anchor="ctr"/>
                </a:tc>
              </a:tr>
              <a:tr h="169606">
                <a:tc>
                  <a:txBody>
                    <a:bodyPr wrap="square"/>
                    <a:lstStyle/>
                    <a:p>
                      <a:pPr algn="l"/>
                      <a:r>
                        <a:rPr sz="1050" b="0" i="0">
                          <a:solidFill>
                            <a:srgbClr val="000000"/>
                          </a:solidFill>
                          <a:latin typeface="Calibri"/>
                        </a:rPr>
                        <a:t>Table 132: Germany Market Volume by Material Type, MT, 2021–2036</a:t>
                      </a:r>
                      <a:endParaRPr sz="1050"/>
                    </a:p>
                  </a:txBody>
                  <a:tcPr marL="9525" marR="9525" marT="9525" marB="0" anchor="ctr"/>
                </a:tc>
              </a:tr>
              <a:tr h="169606">
                <a:tc>
                  <a:txBody>
                    <a:bodyPr wrap="square"/>
                    <a:lstStyle/>
                    <a:p>
                      <a:pPr algn="l"/>
                      <a:r>
                        <a:rPr sz="1050" b="0" i="0">
                          <a:solidFill>
                            <a:srgbClr val="000000"/>
                          </a:solidFill>
                          <a:latin typeface="Calibri"/>
                        </a:rPr>
                        <a:t>Table 133: Germany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Table 134: Germany Market Leading Suppliers and Brands, 2026</a:t>
                      </a:r>
                      <a:endParaRPr sz="1050"/>
                    </a:p>
                  </a:txBody>
                  <a:tcPr marL="9525" marR="9525" marT="9525" marB="0" anchor="ctr"/>
                </a:tc>
              </a:tr>
              <a:tr h="169606">
                <a:tc>
                  <a:txBody>
                    <a:bodyPr wrap="square"/>
                    <a:lstStyle/>
                    <a:p>
                      <a:pPr algn="l"/>
                      <a:r>
                        <a:rPr sz="1050" b="0" i="0">
                          <a:solidFill>
                            <a:srgbClr val="000000"/>
                          </a:solidFill>
                          <a:latin typeface="Calibri"/>
                        </a:rPr>
                        <a:t>Table 135: Canada Market Value by Material Type, US$ Mn, 2021–2036</a:t>
                      </a:r>
                      <a:endParaRPr sz="1050"/>
                    </a:p>
                  </a:txBody>
                  <a:tcPr marL="9525" marR="9525" marT="9525" marB="0" anchor="ctr"/>
                </a:tc>
              </a:tr>
              <a:tr h="169606">
                <a:tc>
                  <a:txBody>
                    <a:bodyPr wrap="square"/>
                    <a:lstStyle/>
                    <a:p>
                      <a:pPr algn="l"/>
                      <a:r>
                        <a:rPr sz="1050" b="0" i="0">
                          <a:solidFill>
                            <a:srgbClr val="000000"/>
                          </a:solidFill>
                          <a:latin typeface="Calibri"/>
                        </a:rPr>
                        <a:t>Table 136: Canada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137: Canada Market Value by End-use Industry, US$ Mn, 2021–2036</a:t>
                      </a:r>
                      <a:endParaRPr sz="1050"/>
                    </a:p>
                  </a:txBody>
                  <a:tcPr marL="9525" marR="9525" marT="9525" marB="0" anchor="ctr"/>
                </a:tc>
              </a:tr>
              <a:tr h="169606">
                <a:tc>
                  <a:txBody>
                    <a:bodyPr wrap="square"/>
                    <a:lstStyle/>
                    <a:p>
                      <a:pPr algn="l"/>
                      <a:r>
                        <a:rPr sz="1050" b="0" i="0">
                          <a:solidFill>
                            <a:srgbClr val="000000"/>
                          </a:solidFill>
                          <a:latin typeface="Calibri"/>
                        </a:rPr>
                        <a:t>Table 138: Canada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139: Canada Market Value by Product Form, US$ Mn, 2021–2036</a:t>
                      </a:r>
                      <a:endParaRPr sz="1050"/>
                    </a:p>
                  </a:txBody>
                  <a:tcPr marL="9525" marR="9525" marT="9525" marB="0" anchor="ctr"/>
                </a:tc>
              </a:tr>
              <a:tr h="169606">
                <a:tc>
                  <a:txBody>
                    <a:bodyPr wrap="square"/>
                    <a:lstStyle/>
                    <a:p>
                      <a:pPr algn="l"/>
                      <a:r>
                        <a:rPr sz="1050" b="0" i="0">
                          <a:solidFill>
                            <a:srgbClr val="000000"/>
                          </a:solidFill>
                          <a:latin typeface="Calibri"/>
                        </a:rPr>
                        <a:t>Table 140: Canada Market Volume by Material Type, MT, 2021–2036</a:t>
                      </a:r>
                      <a:endParaRPr sz="1050"/>
                    </a:p>
                  </a:txBody>
                  <a:tcPr marL="9525" marR="9525" marT="9525" marB="0" anchor="ctr"/>
                </a:tc>
              </a:tr>
              <a:tr h="169606">
                <a:tc>
                  <a:txBody>
                    <a:bodyPr wrap="square"/>
                    <a:lstStyle/>
                    <a:p>
                      <a:pPr algn="l"/>
                      <a:r>
                        <a:rPr sz="1050" b="0" i="0">
                          <a:solidFill>
                            <a:srgbClr val="000000"/>
                          </a:solidFill>
                          <a:latin typeface="Calibri"/>
                        </a:rPr>
                        <a:t>Table 141: Canada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Table 142: Canada Market Leading Suppliers and Brands, 2026</a:t>
                      </a:r>
                      <a:endParaRPr sz="1050"/>
                    </a:p>
                  </a:txBody>
                  <a:tcPr marL="9525" marR="9525" marT="9525" marB="0" anchor="ctr"/>
                </a:tc>
              </a:tr>
              <a:tr h="169606">
                <a:tc>
                  <a:txBody>
                    <a:bodyPr wrap="square"/>
                    <a:lstStyle/>
                    <a:p>
                      <a:pPr algn="l"/>
                      <a:r>
                        <a:rPr sz="1050" b="0" i="0">
                          <a:solidFill>
                            <a:srgbClr val="000000"/>
                          </a:solidFill>
                          <a:latin typeface="Calibri"/>
                        </a:rPr>
                        <a:t>Table 143: China Market Value by Material Type, US$ Mn, 2021–2036</a:t>
                      </a:r>
                      <a:endParaRPr sz="1050"/>
                    </a:p>
                  </a:txBody>
                  <a:tcPr marL="9525" marR="9525" marT="9525" marB="0" anchor="ctr"/>
                </a:tc>
              </a:tr>
              <a:tr h="169606">
                <a:tc>
                  <a:txBody>
                    <a:bodyPr wrap="square"/>
                    <a:lstStyle/>
                    <a:p>
                      <a:pPr algn="l"/>
                      <a:r>
                        <a:rPr sz="1050" b="0" i="0">
                          <a:solidFill>
                            <a:srgbClr val="000000"/>
                          </a:solidFill>
                          <a:latin typeface="Calibri"/>
                        </a:rPr>
                        <a:t>Table 144: China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145: China Market Value by End-use Industry, US$ Mn, 2021–2036</a:t>
                      </a:r>
                      <a:endParaRPr sz="1050"/>
                    </a:p>
                  </a:txBody>
                  <a:tcPr marL="9525" marR="9525" marT="9525" marB="0" anchor="ctr"/>
                </a:tc>
              </a:tr>
              <a:tr h="169606">
                <a:tc>
                  <a:txBody>
                    <a:bodyPr wrap="square"/>
                    <a:lstStyle/>
                    <a:p>
                      <a:pPr algn="l"/>
                      <a:r>
                        <a:rPr sz="1050" b="0" i="0">
                          <a:solidFill>
                            <a:srgbClr val="000000"/>
                          </a:solidFill>
                          <a:latin typeface="Calibri"/>
                        </a:rPr>
                        <a:t>Table 146: China Market Share within East Asia,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147: China Market Value by Product Form, US$ Mn, 2021–2036</a:t>
                      </a:r>
                      <a:endParaRPr sz="1050"/>
                    </a:p>
                  </a:txBody>
                  <a:tcPr marL="9525" marR="9525" marT="9525" marB="0" anchor="ctr"/>
                </a:tc>
              </a:tr>
              <a:tr h="169606">
                <a:tc>
                  <a:txBody>
                    <a:bodyPr wrap="square"/>
                    <a:lstStyle/>
                    <a:p>
                      <a:pPr algn="l"/>
                      <a:r>
                        <a:rPr sz="1050" b="0" i="0">
                          <a:solidFill>
                            <a:srgbClr val="000000"/>
                          </a:solidFill>
                          <a:latin typeface="Calibri"/>
                        </a:rPr>
                        <a:t>Table 148: China Market Volume by Material Type, MT, 2021–2036</a:t>
                      </a:r>
                      <a:endParaRPr sz="1050"/>
                    </a:p>
                  </a:txBody>
                  <a:tcPr marL="9525" marR="9525" marT="9525" marB="0" anchor="ctr"/>
                </a:tc>
              </a:tr>
              <a:tr h="169606">
                <a:tc>
                  <a:txBody>
                    <a:bodyPr wrap="square"/>
                    <a:lstStyle/>
                    <a:p>
                      <a:pPr algn="l"/>
                      <a:r>
                        <a:rPr sz="1050" b="0" i="0">
                          <a:solidFill>
                            <a:srgbClr val="000000"/>
                          </a:solidFill>
                          <a:latin typeface="Calibri"/>
                        </a:rPr>
                        <a:t>Table 149: China Market Average Selling Price, US$/MT, 2021–2036</a:t>
                      </a:r>
                      <a:endParaRPr sz="1050"/>
                    </a:p>
                  </a:txBody>
                  <a:tcPr marL="9525" marR="9525" marT="9525" marB="0" anchor="ctr"/>
                </a:tc>
              </a:tr>
              <a:tr h="169606">
                <a:tc>
                  <a:txBody>
                    <a:bodyPr wrap="square"/>
                    <a:lstStyle/>
                    <a:p>
                      <a:pPr algn="l"/>
                      <a:r>
                        <a:rPr sz="1050" b="0" i="0">
                          <a:solidFill>
                            <a:srgbClr val="000000"/>
                          </a:solidFill>
                          <a:latin typeface="Calibri"/>
                        </a:rPr>
                        <a:t>Table 150: China Market Leading Suppliers and Brands, 2026</a:t>
                      </a:r>
                      <a:endParaRPr sz="1050"/>
                    </a:p>
                  </a:txBody>
                  <a:tcPr marL="9525" marR="9525" marT="9525" marB="0" anchor="ctr"/>
                </a:tc>
              </a:tr>
              <a:tr h="169606">
                <a:tc>
                  <a:txBody>
                    <a:bodyPr wrap="square"/>
                    <a:lstStyle/>
                    <a:p>
                      <a:pPr algn="l"/>
                      <a:r>
                        <a:rPr sz="1050" b="0" i="0">
                          <a:solidFill>
                            <a:srgbClr val="000000"/>
                          </a:solidFill>
                          <a:latin typeface="Calibri"/>
                        </a:rPr>
                        <a:t>Table 151: India Market Value by Material Type, US$ Mn, 2021–2036</a:t>
                      </a:r>
                      <a:endParaRPr sz="1050"/>
                    </a:p>
                  </a:txBody>
                  <a:tcPr marL="9525" marR="9525" marT="9525" marB="0" anchor="ctr"/>
                </a:tc>
              </a:tr>
              <a:tr h="169606">
                <a:tc>
                  <a:txBody>
                    <a:bodyPr wrap="square"/>
                    <a:lstStyle/>
                    <a:p>
                      <a:pPr algn="l"/>
                      <a:r>
                        <a:rPr sz="1050" b="0" i="0">
                          <a:solidFill>
                            <a:srgbClr val="000000"/>
                          </a:solidFill>
                          <a:latin typeface="Calibri"/>
                        </a:rPr>
                        <a:t>Table 152: India Market Historical and Forecast Growth, %, 2021–2036</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153: India Market Value by End-use Industry, US$ Mn, 2021–2036</a:t>
                      </a:r>
                      <a:endParaRPr sz="1050"/>
                    </a:p>
                  </a:txBody>
                  <a:tcPr marL="9525" marR="9525" marT="9525" marB="0" anchor="ctr"/>
                </a:tc>
              </a:tr>
              <a:tr h="169826">
                <a:tc>
                  <a:txBody>
                    <a:bodyPr wrap="square"/>
                    <a:lstStyle/>
                    <a:p>
                      <a:pPr algn="l"/>
                      <a:r>
                        <a:rPr sz="1050" b="0" i="0">
                          <a:solidFill>
                            <a:srgbClr val="000000"/>
                          </a:solidFill>
                          <a:latin typeface="Calibri"/>
                        </a:rPr>
                        <a:t>Table 154: Brazil Market Value by Material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155: Brazil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156: U.K. Market Value by Material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157: U.K.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158: Japan Market Value by Material Type, US$ Mn, 2021–2036</a:t>
                      </a:r>
                      <a:endParaRPr sz="1050"/>
                    </a:p>
                  </a:txBody>
                  <a:tcPr marL="9525" marR="9525" marT="9525" marB="0" anchor="ctr"/>
                </a:tc>
              </a:tr>
              <a:tr h="169826">
                <a:tc>
                  <a:txBody>
                    <a:bodyPr wrap="square"/>
                    <a:lstStyle/>
                    <a:p>
                      <a:pPr algn="l"/>
                      <a:r>
                        <a:rPr sz="1050" b="0" i="0">
                          <a:solidFill>
                            <a:srgbClr val="000000"/>
                          </a:solidFill>
                          <a:latin typeface="Calibri"/>
                        </a:rPr>
                        <a:t>Table 159: Japan Market Historical and Forecast Growth, %, 2021–2036</a:t>
                      </a:r>
                      <a:endParaRPr sz="1050"/>
                    </a:p>
                  </a:txBody>
                  <a:tcPr marL="9525" marR="9525" marT="9525" marB="0" anchor="ctr"/>
                </a:tc>
              </a:tr>
              <a:tr h="169826">
                <a:tc>
                  <a:txBody>
                    <a:bodyPr wrap="square"/>
                    <a:lstStyle/>
                    <a:p>
                      <a:pPr algn="l"/>
                      <a:r>
                        <a:rPr sz="1050" b="0" i="0">
                          <a:solidFill>
                            <a:srgbClr val="000000"/>
                          </a:solidFill>
                          <a:latin typeface="Calibri"/>
                        </a:rPr>
                        <a:t>Table 160: Market Product Price Comparison by Company and Material Type, US$/MT, 2026</a:t>
                      </a:r>
                      <a:endParaRPr sz="1050"/>
                    </a:p>
                  </a:txBody>
                  <a:tcPr marL="9525" marR="9525" marT="9525" marB="0" anchor="ctr"/>
                </a:tc>
              </a:tr>
              <a:tr h="169826">
                <a:tc>
                  <a:txBody>
                    <a:bodyPr wrap="square"/>
                    <a:lstStyle/>
                    <a:p>
                      <a:pPr algn="l"/>
                      <a:r>
                        <a:rPr sz="1050" b="0" i="0">
                          <a:solidFill>
                            <a:srgbClr val="000000"/>
                          </a:solidFill>
                          <a:latin typeface="Calibri"/>
                        </a:rPr>
                        <a:t>Table 161: Global Market Average Selling Price by Region, US$/MT, 2021–2036</a:t>
                      </a:r>
                      <a:endParaRPr sz="1050"/>
                    </a:p>
                  </a:txBody>
                  <a:tcPr marL="9525" marR="9525" marT="9525" marB="0" anchor="ctr"/>
                </a:tc>
              </a:tr>
              <a:tr h="169826">
                <a:tc>
                  <a:txBody>
                    <a:bodyPr wrap="square"/>
                    <a:lstStyle/>
                    <a:p>
                      <a:pPr algn="l"/>
                      <a:r>
                        <a:rPr sz="1050" b="0" i="0">
                          <a:solidFill>
                            <a:srgbClr val="000000"/>
                          </a:solidFill>
                          <a:latin typeface="Calibri"/>
                        </a:rPr>
                        <a:t>Table 162: Global Market Average Selling Price by Material Type, US$/MT, 2021–2036</a:t>
                      </a:r>
                      <a:endParaRPr sz="1050"/>
                    </a:p>
                  </a:txBody>
                  <a:tcPr marL="9525" marR="9525" marT="9525" marB="0" anchor="ctr"/>
                </a:tc>
              </a:tr>
              <a:tr h="169826">
                <a:tc>
                  <a:txBody>
                    <a:bodyPr wrap="square"/>
                    <a:lstStyle/>
                    <a:p>
                      <a:pPr algn="l"/>
                      <a:r>
                        <a:rPr sz="1050" b="0" i="0">
                          <a:solidFill>
                            <a:srgbClr val="000000"/>
                          </a:solidFill>
                          <a:latin typeface="Calibri"/>
                        </a:rPr>
                        <a:t>Table 163: Global Market Average Selling Price by Product Form, US$/MT, 2021–2036</a:t>
                      </a:r>
                      <a:endParaRPr sz="1050"/>
                    </a:p>
                  </a:txBody>
                  <a:tcPr marL="9525" marR="9525" marT="9525" marB="0" anchor="ctr"/>
                </a:tc>
              </a:tr>
              <a:tr h="169826">
                <a:tc>
                  <a:txBody>
                    <a:bodyPr wrap="square"/>
                    <a:lstStyle/>
                    <a:p>
                      <a:pPr algn="l"/>
                      <a:r>
                        <a:rPr sz="1050" b="0" i="0">
                          <a:solidFill>
                            <a:srgbClr val="000000"/>
                          </a:solidFill>
                          <a:latin typeface="Calibri"/>
                        </a:rPr>
                        <a:t>Table 164: Global Market Average Selling Price by End-use Industry, US$/MT, 2021–2036</a:t>
                      </a:r>
                      <a:endParaRPr sz="1050"/>
                    </a:p>
                  </a:txBody>
                  <a:tcPr marL="9525" marR="9525" marT="9525" marB="0" anchor="ctr"/>
                </a:tc>
              </a:tr>
              <a:tr h="169826">
                <a:tc>
                  <a:txBody>
                    <a:bodyPr wrap="square"/>
                    <a:lstStyle/>
                    <a:p>
                      <a:pPr algn="l"/>
                      <a:r>
                        <a:rPr sz="1050" b="0" i="0">
                          <a:solidFill>
                            <a:srgbClr val="000000"/>
                          </a:solidFill>
                          <a:latin typeface="Calibri"/>
                        </a:rPr>
                        <a:t>Table 165: Supplier-to-Customer Relationship Mapping in U.S., 2026</a:t>
                      </a:r>
                      <a:endParaRPr sz="1050"/>
                    </a:p>
                  </a:txBody>
                  <a:tcPr marL="9525" marR="9525" marT="9525" marB="0" anchor="ctr"/>
                </a:tc>
              </a:tr>
              <a:tr h="169826">
                <a:tc>
                  <a:txBody>
                    <a:bodyPr wrap="square"/>
                    <a:lstStyle/>
                    <a:p>
                      <a:pPr algn="l"/>
                      <a:r>
                        <a:rPr sz="1050" b="0" i="0">
                          <a:solidFill>
                            <a:srgbClr val="000000"/>
                          </a:solidFill>
                          <a:latin typeface="Calibri"/>
                        </a:rPr>
                        <a:t>Table 166: Global Market Value Chain Participants by Stage, 2026</a:t>
                      </a:r>
                      <a:endParaRPr sz="1050"/>
                    </a:p>
                  </a:txBody>
                  <a:tcPr marL="9525" marR="9525" marT="9525" marB="0" anchor="ctr"/>
                </a:tc>
              </a:tr>
              <a:tr h="169826">
                <a:tc>
                  <a:txBody>
                    <a:bodyPr wrap="square"/>
                    <a:lstStyle/>
                    <a:p>
                      <a:pPr algn="l"/>
                      <a:r>
                        <a:rPr sz="1050" b="0" i="0">
                          <a:solidFill>
                            <a:srgbClr val="000000"/>
                          </a:solidFill>
                          <a:latin typeface="Calibri"/>
                        </a:rPr>
                        <a:t>Table 167: Global Market Margin Analysis by Value Chain Stage, %, 2026</a:t>
                      </a:r>
                      <a:endParaRPr sz="1050"/>
                    </a:p>
                  </a:txBody>
                  <a:tcPr marL="9525" marR="9525" marT="9525" marB="0" anchor="ctr"/>
                </a:tc>
              </a:tr>
              <a:tr h="169826">
                <a:tc>
                  <a:txBody>
                    <a:bodyPr wrap="square"/>
                    <a:lstStyle/>
                    <a:p>
                      <a:pPr algn="l"/>
                      <a:r>
                        <a:rPr sz="1050" b="0" i="0">
                          <a:solidFill>
                            <a:srgbClr val="000000"/>
                          </a:solidFill>
                          <a:latin typeface="Calibri"/>
                        </a:rPr>
                        <a:t>Table 168: Global Market Cost Structure by Component, %, 2026</a:t>
                      </a:r>
                      <a:endParaRPr sz="1050"/>
                    </a:p>
                  </a:txBody>
                  <a:tcPr marL="9525" marR="9525" marT="9525" marB="0" anchor="ctr"/>
                </a:tc>
              </a:tr>
              <a:tr h="169826">
                <a:tc>
                  <a:txBody>
                    <a:bodyPr wrap="square"/>
                    <a:lstStyle/>
                    <a:p>
                      <a:pPr algn="l"/>
                      <a:r>
                        <a:rPr sz="1050" b="0" i="0">
                          <a:solidFill>
                            <a:srgbClr val="000000"/>
                          </a:solidFill>
                          <a:latin typeface="Calibri"/>
                        </a:rPr>
                        <a:t>Table 169: Global Market Import Value by Leading Country, US$ Mn, 2021–2025</a:t>
                      </a:r>
                      <a:endParaRPr sz="1050"/>
                    </a:p>
                  </a:txBody>
                  <a:tcPr marL="9525" marR="9525" marT="9525" marB="0" anchor="ctr"/>
                </a:tc>
              </a:tr>
              <a:tr h="169826">
                <a:tc>
                  <a:txBody>
                    <a:bodyPr wrap="square"/>
                    <a:lstStyle/>
                    <a:p>
                      <a:pPr algn="l"/>
                      <a:r>
                        <a:rPr sz="1050" b="0" i="0">
                          <a:solidFill>
                            <a:srgbClr val="000000"/>
                          </a:solidFill>
                          <a:latin typeface="Calibri"/>
                        </a:rPr>
                        <a:t>Table 170: Global Market Export Value by Leading Country, US$ Mn, 2021–2025</a:t>
                      </a:r>
                      <a:endParaRPr sz="1050"/>
                    </a:p>
                  </a:txBody>
                  <a:tcPr marL="9525" marR="9525" marT="9525" marB="0" anchor="ctr"/>
                </a:tc>
              </a:tr>
              <a:tr h="169826">
                <a:tc>
                  <a:txBody>
                    <a:bodyPr wrap="square"/>
                    <a:lstStyle/>
                    <a:p>
                      <a:pPr algn="l"/>
                      <a:r>
                        <a:rPr sz="1050" b="0" i="0">
                          <a:solidFill>
                            <a:srgbClr val="000000"/>
                          </a:solidFill>
                          <a:latin typeface="Calibri"/>
                        </a:rPr>
                        <a:t>Table 171: Global Market Trade Flow Matrix by Region, US$ Mn, 2025</a:t>
                      </a:r>
                      <a:endParaRPr sz="1050"/>
                    </a:p>
                  </a:txBody>
                  <a:tcPr marL="9525" marR="9525" marT="9525" marB="0" anchor="ctr"/>
                </a:tc>
              </a:tr>
              <a:tr h="169826">
                <a:tc>
                  <a:txBody>
                    <a:bodyPr wrap="square"/>
                    <a:lstStyle/>
                    <a:p>
                      <a:pPr algn="l"/>
                      <a:r>
                        <a:rPr sz="1050" b="0" i="0">
                          <a:solidFill>
                            <a:srgbClr val="000000"/>
                          </a:solidFill>
                          <a:latin typeface="Calibri"/>
                        </a:rPr>
                        <a:t>Table 172: Global Market Pricing Factors and Impact Rating, 2026–2036</a:t>
                      </a:r>
                      <a:endParaRPr sz="1050"/>
                    </a:p>
                  </a:txBody>
                  <a:tcPr marL="9525" marR="9525" marT="9525" marB="0" anchor="ctr"/>
                </a:tc>
              </a:tr>
              <a:tr h="169826">
                <a:tc>
                  <a:txBody>
                    <a:bodyPr wrap="square"/>
                    <a:lstStyle/>
                    <a:p>
                      <a:pPr algn="l"/>
                      <a:r>
                        <a:rPr sz="1050" b="0" i="0">
                          <a:solidFill>
                            <a:srgbClr val="000000"/>
                          </a:solidFill>
                          <a:latin typeface="Calibri"/>
                        </a:rPr>
                        <a:t>Table 173: Global Market Raw Material Price Trend, US$, 2021–2036</a:t>
                      </a:r>
                      <a:endParaRPr sz="1050"/>
                    </a:p>
                  </a:txBody>
                  <a:tcPr marL="9525" marR="9525" marT="9525" marB="0" anchor="ctr"/>
                </a:tc>
              </a:tr>
              <a:tr h="169826">
                <a:tc>
                  <a:txBody>
                    <a:bodyPr wrap="square"/>
                    <a:lstStyle/>
                    <a:p>
                      <a:pPr algn="l"/>
                      <a:r>
                        <a:rPr sz="1050" b="0" i="0">
                          <a:solidFill>
                            <a:srgbClr val="000000"/>
                          </a:solidFill>
                          <a:latin typeface="Calibri"/>
                        </a:rPr>
                        <a:t>Table 174: Global Market Distribution Channel Margin Structure, %, 2026</a:t>
                      </a:r>
                      <a:endParaRPr sz="1050"/>
                    </a:p>
                  </a:txBody>
                  <a:tcPr marL="9525" marR="9525" marT="9525" marB="0" anchor="ctr"/>
                </a:tc>
              </a:tr>
              <a:tr h="169826">
                <a:tc>
                  <a:txBody>
                    <a:bodyPr wrap="square"/>
                    <a:lstStyle/>
                    <a:p>
                      <a:pPr algn="l"/>
                      <a:r>
                        <a:rPr sz="1050" b="0" i="0">
                          <a:solidFill>
                            <a:srgbClr val="000000"/>
                          </a:solidFill>
                          <a:latin typeface="Calibri"/>
                        </a:rPr>
                        <a:t>Table 175: Global Market Regulatory and Tariff Overview by Country, 2026</a:t>
                      </a:r>
                      <a:endParaRPr sz="1050"/>
                    </a:p>
                  </a:txBody>
                  <a:tcPr marL="9525" marR="9525" marT="9525" marB="0" anchor="ctr"/>
                </a:tc>
              </a:tr>
              <a:tr h="169826">
                <a:tc>
                  <a:txBody>
                    <a:bodyPr wrap="square"/>
                    <a:lstStyle/>
                    <a:p>
                      <a:pPr algn="l"/>
                      <a:r>
                        <a:rPr sz="1050" b="0" i="0">
                          <a:solidFill>
                            <a:srgbClr val="000000"/>
                          </a:solidFill>
                          <a:latin typeface="Calibri"/>
                        </a:rPr>
                        <a:t>Table 176: Global Market Price Forecast by Material Type, US$/MT, 2026–2036</a:t>
                      </a:r>
                      <a:endParaRPr sz="1050"/>
                    </a:p>
                  </a:txBody>
                  <a:tcPr marL="9525" marR="9525" marT="9525" marB="0" anchor="ctr"/>
                </a:tc>
              </a:tr>
              <a:tr h="169826">
                <a:tc>
                  <a:txBody>
                    <a:bodyPr wrap="square"/>
                    <a:lstStyle/>
                    <a:p>
                      <a:pPr algn="l"/>
                      <a:r>
                        <a:rPr sz="1050" b="0" i="0">
                          <a:solidFill>
                            <a:srgbClr val="000000"/>
                          </a:solidFill>
                          <a:latin typeface="Calibri"/>
                        </a:rPr>
                        <a:t>Table 177: Global Market Supply Chain Risk Matrix, 2026</a:t>
                      </a:r>
                      <a:endParaRPr sz="1050"/>
                    </a:p>
                  </a:txBody>
                  <a:tcPr marL="9525" marR="9525" marT="9525" marB="0" anchor="ctr"/>
                </a:tc>
              </a:tr>
              <a:tr h="332858">
                <a:tc>
                  <a:txBody>
                    <a:bodyPr wrap="square"/>
                    <a:lstStyle/>
                    <a:p>
                      <a:pPr algn="l"/>
                      <a:r>
                        <a:rPr sz="1050" b="0" i="0">
                          <a:solidFill>
                            <a:srgbClr val="000000"/>
                          </a:solidFill>
                          <a:latin typeface="Calibri"/>
                        </a:rPr>
                        <a:t>Table 178: Leading Foam Protective Packaging Manufacturers: Product Portfolio and Geographic Presence, 2026</a:t>
                      </a:r>
                      <a:endParaRPr sz="1050"/>
                    </a:p>
                  </a:txBody>
                  <a:tcPr marL="9525" marR="9525" marT="9525" marB="0" anchor="ctr"/>
                </a:tc>
              </a:tr>
              <a:tr h="169826">
                <a:tc>
                  <a:txBody>
                    <a:bodyPr wrap="square"/>
                    <a:lstStyle/>
                    <a:p>
                      <a:pPr algn="l"/>
                      <a:r>
                        <a:rPr sz="1050" b="0" i="0">
                          <a:solidFill>
                            <a:srgbClr val="000000"/>
                          </a:solidFill>
                          <a:latin typeface="Calibri"/>
                        </a:rPr>
                        <a:t>Table 179: Company Revenue from the Global Market, US$ Mn, 2025–2026</a:t>
                      </a:r>
                      <a:endParaRPr sz="1050"/>
                    </a:p>
                  </a:txBody>
                  <a:tcPr marL="9525" marR="9525" marT="9525" marB="0" anchor="ctr"/>
                </a:tc>
              </a:tr>
              <a:tr h="169826">
                <a:tc>
                  <a:txBody>
                    <a:bodyPr wrap="square"/>
                    <a:lstStyle/>
                    <a:p>
                      <a:pPr algn="l"/>
                      <a:r>
                        <a:rPr sz="1050" b="0" i="0">
                          <a:solidFill>
                            <a:srgbClr val="000000"/>
                          </a:solidFill>
                          <a:latin typeface="Calibri"/>
                        </a:rPr>
                        <a:t>Table 180: Company Market Share in the Global Market by Region, %, 2026</a:t>
                      </a:r>
                      <a:endParaRPr sz="1050"/>
                    </a:p>
                  </a:txBody>
                  <a:tcPr marL="9525" marR="9525" marT="9525" marB="0" anchor="ctr"/>
                </a:tc>
              </a:tr>
              <a:tr h="169826">
                <a:tc>
                  <a:txBody>
                    <a:bodyPr wrap="square"/>
                    <a:lstStyle/>
                    <a:p>
                      <a:pPr algn="l"/>
                      <a:r>
                        <a:rPr sz="1050" b="0" i="0">
                          <a:solidFill>
                            <a:srgbClr val="000000"/>
                          </a:solidFill>
                          <a:latin typeface="Calibri"/>
                        </a:rPr>
                        <a:t>Table 181: Global Market Competitive Benchmarking Matrix, 2026</a:t>
                      </a:r>
                      <a:endParaRPr sz="1050"/>
                    </a:p>
                  </a:txBody>
                  <a:tcPr marL="9525" marR="9525" marT="9525" marB="0" anchor="ctr"/>
                </a:tc>
              </a:tr>
              <a:tr h="169826">
                <a:tc>
                  <a:txBody>
                    <a:bodyPr wrap="square"/>
                    <a:lstStyle/>
                    <a:p>
                      <a:pPr algn="l"/>
                      <a:r>
                        <a:rPr sz="1050" b="0" i="0">
                          <a:solidFill>
                            <a:srgbClr val="000000"/>
                          </a:solidFill>
                          <a:latin typeface="Calibri"/>
                        </a:rPr>
                        <a:t>Table 182: Global Market Mergers, Acquisitions and Partnerships, 2021–2026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6" name="TMR Contents Table"/>
          <p:cNvGraphicFramePr>
            <a:graphicFrameLocks noGrp="1"/>
          </p:cNvGraphicFramePr>
          <p:nvPr/>
        </p:nvGraphicFramePr>
        <p:xfrm>
          <a:off x="142875" y="981075"/>
          <a:ext cx="5876925" cy="3320424"/>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183: Sealed Air Corporation: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184: Company: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BOBST Group SA: Company Overview, Products and Strategy, 2026</a:t>
                      </a:r>
                      <a:endParaRPr sz="1050"/>
                    </a:p>
                  </a:txBody>
                  <a:tcPr marL="9525" marR="9525" marT="9525" marB="0" anchor="ctr"/>
                </a:tc>
              </a:tr>
              <a:tr h="326708">
                <a:tc>
                  <a:txBody>
                    <a:bodyPr wrap="square"/>
                    <a:lstStyle/>
                    <a:p>
                      <a:pPr algn="l"/>
                      <a:r>
                        <a:rPr sz="1050" b="0" i="0">
                          <a:solidFill>
                            <a:srgbClr val="000000"/>
                          </a:solidFill>
                          <a:latin typeface="Calibri"/>
                        </a:rPr>
                        <a:t>Table 186: BHS Corrugated Maschinen- und Anlagenbau GmbH: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BW Papersystems: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Fosber Group: Company Overview, Products and Strategy, 2026</a:t>
                      </a:r>
                      <a:endParaRPr sz="1050"/>
                    </a:p>
                  </a:txBody>
                  <a:tcPr marL="9525" marR="9525" marT="9525" marB="0" anchor="ctr"/>
                </a:tc>
              </a:tr>
              <a:tr h="326708">
                <a:tc>
                  <a:txBody>
                    <a:bodyPr wrap="square"/>
                    <a:lstStyle/>
                    <a:p>
                      <a:pPr algn="l"/>
                      <a:r>
                        <a:rPr sz="1050" b="0" i="0">
                          <a:solidFill>
                            <a:srgbClr val="000000"/>
                          </a:solidFill>
                          <a:latin typeface="Calibri"/>
                        </a:rPr>
                        <a:t>Table 189: Mitsubishi Heavy Industries Machinery Systems, Ltd.: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EMBA Machinery AB: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Koenig &amp; Bauer Celmacch: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Göpfert Maschinen GmbH: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194: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Opportunity Assessment by Material Type, US$ Mn,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Risk Register and Mitigation,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Material Type,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Material Type,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7" name="Rectangle 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114550"/>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2419350"/>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124200"/>
            <a:ext cx="7124700" cy="30480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Material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End-use Industry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Material Type × Product 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Form × End-use Industry</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Summary, By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740050" cy="186689"/>
          </a:xfrm>
          <a:prstGeom prst="rect">
            <a:avLst/>
          </a:prstGeom>
          <a:noFill/>
        </p:spPr>
        <p:txBody>
          <a:bodyPr wrap="none" lIns="0" rIns="0" tIns="0" bIns="0">
            <a:spAutoFit/>
          </a:bodyPr>
          <a:lstStyle/>
          <a:p>
            <a:r>
              <a:rPr sz="1100" b="0">
                <a:solidFill>
                  <a:srgbClr val="2E2E2E"/>
                </a:solidFill>
                <a:latin typeface="Calibri"/>
              </a:rPr>
              <a:t>Global foam protective packaging market is projected to register</a:t>
            </a:r>
          </a:p>
        </p:txBody>
      </p:sp>
      <p:pic>
        <p:nvPicPr>
          <p:cNvPr id="33" name="Picture 32" descr="lock.png"/>
          <p:cNvPicPr>
            <a:picLocks noChangeAspect="1"/>
          </p:cNvPicPr>
          <p:nvPr/>
        </p:nvPicPr>
        <p:blipFill>
          <a:blip r:embed="rId6"/>
          <a:stretch>
            <a:fillRect/>
          </a:stretch>
        </p:blipFill>
        <p:spPr>
          <a:xfrm>
            <a:off x="8035157" y="2204848"/>
            <a:ext cx="128699" cy="187198"/>
          </a:xfrm>
          <a:prstGeom prst="rect">
            <a:avLst/>
          </a:prstGeom>
        </p:spPr>
      </p:pic>
      <p:sp>
        <p:nvSpPr>
          <p:cNvPr id="34" name="TextBox 33"/>
          <p:cNvSpPr txBox="1"/>
          <p:nvPr/>
        </p:nvSpPr>
        <p:spPr>
          <a:xfrm>
            <a:off x="8202653" y="2214627"/>
            <a:ext cx="3314948"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a:t>
            </a:r>
          </a:p>
        </p:txBody>
      </p:sp>
      <p:sp>
        <p:nvSpPr>
          <p:cNvPr id="35" name="TextBox 34"/>
          <p:cNvSpPr txBox="1"/>
          <p:nvPr/>
        </p:nvSpPr>
        <p:spPr>
          <a:xfrm>
            <a:off x="8048625" y="2382267"/>
            <a:ext cx="3376066" cy="186689"/>
          </a:xfrm>
          <a:prstGeom prst="rect">
            <a:avLst/>
          </a:prstGeom>
          <a:noFill/>
        </p:spPr>
        <p:txBody>
          <a:bodyPr wrap="none" lIns="0" rIns="0" tIns="0" bIns="0">
            <a:spAutoFit/>
          </a:bodyPr>
          <a:lstStyle/>
          <a:p>
            <a:r>
              <a:rPr sz="1100" b="0">
                <a:solidFill>
                  <a:srgbClr val="2E2E2E"/>
                </a:solidFill>
                <a:latin typeface="Calibri"/>
              </a:rPr>
              <a:t>Global foam protective packaging market volume stood at</a:t>
            </a:r>
          </a:p>
        </p:txBody>
      </p:sp>
      <p:pic>
        <p:nvPicPr>
          <p:cNvPr id="36" name="Picture 35" descr="lock.png"/>
          <p:cNvPicPr>
            <a:picLocks noChangeAspect="1"/>
          </p:cNvPicPr>
          <p:nvPr/>
        </p:nvPicPr>
        <p:blipFill>
          <a:blip r:embed="rId6"/>
          <a:stretch>
            <a:fillRect/>
          </a:stretch>
        </p:blipFill>
        <p:spPr>
          <a:xfrm>
            <a:off x="11372743" y="2372488"/>
            <a:ext cx="128699" cy="187198"/>
          </a:xfrm>
          <a:prstGeom prst="rect">
            <a:avLst/>
          </a:prstGeom>
        </p:spPr>
      </p:pic>
      <p:sp>
        <p:nvSpPr>
          <p:cNvPr id="37" name="TextBox 36"/>
          <p:cNvSpPr txBox="1"/>
          <p:nvPr/>
        </p:nvSpPr>
        <p:spPr>
          <a:xfrm>
            <a:off x="11540239" y="2382267"/>
            <a:ext cx="263921" cy="186689"/>
          </a:xfrm>
          <a:prstGeom prst="rect">
            <a:avLst/>
          </a:prstGeom>
          <a:noFill/>
        </p:spPr>
        <p:txBody>
          <a:bodyPr wrap="none" lIns="0" rIns="0" tIns="0" bIns="0">
            <a:spAutoFit/>
          </a:bodyPr>
          <a:lstStyle/>
          <a:p>
            <a:r>
              <a:rPr sz="1100" b="0">
                <a:solidFill>
                  <a:srgbClr val="2E2E2E"/>
                </a:solidFill>
                <a:latin typeface="Calibri"/>
              </a:rPr>
              <a:t>MT</a:t>
            </a:r>
          </a:p>
        </p:txBody>
      </p:sp>
      <p:sp>
        <p:nvSpPr>
          <p:cNvPr id="38" name="TextBox 37"/>
          <p:cNvSpPr txBox="1"/>
          <p:nvPr/>
        </p:nvSpPr>
        <p:spPr>
          <a:xfrm>
            <a:off x="8048625" y="2549907"/>
            <a:ext cx="1916583" cy="186689"/>
          </a:xfrm>
          <a:prstGeom prst="rect">
            <a:avLst/>
          </a:prstGeom>
          <a:noFill/>
        </p:spPr>
        <p:txBody>
          <a:bodyPr wrap="none" lIns="0" rIns="0" tIns="0" bIns="0">
            <a:spAutoFit/>
          </a:bodyPr>
          <a:lstStyle/>
          <a:p>
            <a:r>
              <a:rPr sz="1100" b="0">
                <a:solidFill>
                  <a:srgbClr val="2E2E2E"/>
                </a:solidFill>
                <a:latin typeface="Calibri"/>
              </a:rPr>
              <a:t>in 2025 and is expected to reach</a:t>
            </a:r>
          </a:p>
        </p:txBody>
      </p:sp>
      <p:pic>
        <p:nvPicPr>
          <p:cNvPr id="39" name="Picture 38" descr="lock.png"/>
          <p:cNvPicPr>
            <a:picLocks noChangeAspect="1"/>
          </p:cNvPicPr>
          <p:nvPr/>
        </p:nvPicPr>
        <p:blipFill>
          <a:blip r:embed="rId6"/>
          <a:stretch>
            <a:fillRect/>
          </a:stretch>
        </p:blipFill>
        <p:spPr>
          <a:xfrm>
            <a:off x="9913260" y="2540128"/>
            <a:ext cx="128699" cy="187198"/>
          </a:xfrm>
          <a:prstGeom prst="rect">
            <a:avLst/>
          </a:prstGeom>
        </p:spPr>
      </p:pic>
      <p:sp>
        <p:nvSpPr>
          <p:cNvPr id="40" name="TextBox 39"/>
          <p:cNvSpPr txBox="1"/>
          <p:nvPr/>
        </p:nvSpPr>
        <p:spPr>
          <a:xfrm>
            <a:off x="10080756" y="2549907"/>
            <a:ext cx="1773319" cy="186689"/>
          </a:xfrm>
          <a:prstGeom prst="rect">
            <a:avLst/>
          </a:prstGeom>
          <a:noFill/>
        </p:spPr>
        <p:txBody>
          <a:bodyPr wrap="none" lIns="0" rIns="0" tIns="0" bIns="0">
            <a:spAutoFit/>
          </a:bodyPr>
          <a:lstStyle/>
          <a:p>
            <a:r>
              <a:rPr sz="1100" b="0">
                <a:solidFill>
                  <a:srgbClr val="2E2E2E"/>
                </a:solidFill>
                <a:latin typeface="Calibri"/>
              </a:rPr>
              <a:t>MT by 2036 end, at a CAGR of</a:t>
            </a:r>
          </a:p>
        </p:txBody>
      </p:sp>
      <p:pic>
        <p:nvPicPr>
          <p:cNvPr id="41" name="Picture 40" descr="lock.png"/>
          <p:cNvPicPr>
            <a:picLocks noChangeAspect="1"/>
          </p:cNvPicPr>
          <p:nvPr/>
        </p:nvPicPr>
        <p:blipFill>
          <a:blip r:embed="rId6"/>
          <a:stretch>
            <a:fillRect/>
          </a:stretch>
        </p:blipFill>
        <p:spPr>
          <a:xfrm>
            <a:off x="8035157" y="2707768"/>
            <a:ext cx="128699" cy="187198"/>
          </a:xfrm>
          <a:prstGeom prst="rect">
            <a:avLst/>
          </a:prstGeom>
        </p:spPr>
      </p:pic>
      <p:sp>
        <p:nvSpPr>
          <p:cNvPr id="42" name="TextBox 41"/>
          <p:cNvSpPr txBox="1"/>
          <p:nvPr/>
        </p:nvSpPr>
        <p:spPr>
          <a:xfrm>
            <a:off x="82026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3" name="TextBox 42"/>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4" name="TextBox 43"/>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5" name="TextBox 44"/>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6" name="Picture 45" descr="lock.png"/>
          <p:cNvPicPr>
            <a:picLocks noChangeAspect="1"/>
          </p:cNvPicPr>
          <p:nvPr/>
        </p:nvPicPr>
        <p:blipFill>
          <a:blip r:embed="rId6"/>
          <a:stretch>
            <a:fillRect/>
          </a:stretch>
        </p:blipFill>
        <p:spPr>
          <a:xfrm>
            <a:off x="10866614" y="4446251"/>
            <a:ext cx="134549" cy="195707"/>
          </a:xfrm>
          <a:prstGeom prst="rect">
            <a:avLst/>
          </a:prstGeom>
        </p:spPr>
      </p:pic>
      <p:sp>
        <p:nvSpPr>
          <p:cNvPr id="47" name="TextBox 46"/>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8" name="TextBox 47"/>
          <p:cNvSpPr txBox="1"/>
          <p:nvPr/>
        </p:nvSpPr>
        <p:spPr>
          <a:xfrm>
            <a:off x="8048625" y="4684312"/>
            <a:ext cx="3425905" cy="194310"/>
          </a:xfrm>
          <a:prstGeom prst="rect">
            <a:avLst/>
          </a:prstGeom>
          <a:noFill/>
        </p:spPr>
        <p:txBody>
          <a:bodyPr wrap="none" lIns="0" rIns="0" tIns="0" bIns="0">
            <a:spAutoFit/>
          </a:bodyPr>
          <a:lstStyle/>
          <a:p>
            <a:r>
              <a:rPr sz="1150" b="0">
                <a:solidFill>
                  <a:srgbClr val="2E2E2E"/>
                </a:solidFill>
                <a:latin typeface="Calibri"/>
              </a:rPr>
              <a:t>▪ Demand concentrates in 'Other Foam Materials' within</a:t>
            </a:r>
          </a:p>
        </p:txBody>
      </p:sp>
      <p:sp>
        <p:nvSpPr>
          <p:cNvPr id="49" name="TextBox 48"/>
          <p:cNvSpPr txBox="1"/>
          <p:nvPr/>
        </p:nvSpPr>
        <p:spPr>
          <a:xfrm>
            <a:off x="8048625" y="4859572"/>
            <a:ext cx="937952" cy="194310"/>
          </a:xfrm>
          <a:prstGeom prst="rect">
            <a:avLst/>
          </a:prstGeom>
          <a:noFill/>
        </p:spPr>
        <p:txBody>
          <a:bodyPr wrap="none" lIns="0" rIns="0" tIns="0" bIns="0">
            <a:spAutoFit/>
          </a:bodyPr>
          <a:lstStyle/>
          <a:p>
            <a:r>
              <a:rPr sz="1150" b="0">
                <a:solidFill>
                  <a:srgbClr val="2E2E2E"/>
                </a:solidFill>
                <a:latin typeface="Calibri"/>
              </a:rPr>
              <a:t>Material Type.</a:t>
            </a:r>
          </a:p>
        </p:txBody>
      </p:sp>
      <p:sp>
        <p:nvSpPr>
          <p:cNvPr id="50" name="TextBox 49"/>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1" name="TextBox 50"/>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2"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Material Type  ·  range across 2021–2036 (US$/MT)</a:t>
            </a:r>
          </a:p>
        </p:txBody>
      </p:sp>
      <p:cxnSp>
        <p:nvCxnSpPr>
          <p:cNvPr id="9" name="Connector 8"/>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TMR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TMR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TMR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358265" y="2622321"/>
            <a:ext cx="0" cy="43656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2682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26820" y="262232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139190" y="2736430"/>
            <a:ext cx="438150" cy="217968"/>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139190" y="2847002"/>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2469921"/>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2760345" y="2558190"/>
            <a:ext cx="0" cy="30347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28900" y="286166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28900" y="255819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541270" y="2632129"/>
            <a:ext cx="438150" cy="151845"/>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541270" y="2707426"/>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59305" y="2405790"/>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4162425" y="1662416"/>
            <a:ext cx="0" cy="39161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030980" y="205402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0309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943350" y="1758187"/>
            <a:ext cx="438150" cy="195933"/>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943350" y="1855463"/>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461385" y="151001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1" name="Connector 40"/>
          <p:cNvCxnSpPr/>
          <p:nvPr/>
        </p:nvCxnSpPr>
        <p:spPr>
          <a:xfrm flipV="1">
            <a:off x="5564505" y="2778309"/>
            <a:ext cx="0" cy="27662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33060" y="30549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433060" y="277830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45430" y="2845610"/>
            <a:ext cx="438150" cy="138393"/>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5345430" y="2914195"/>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863465" y="2625909"/>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7" name="Connector 46"/>
          <p:cNvCxnSpPr/>
          <p:nvPr/>
        </p:nvCxnSpPr>
        <p:spPr>
          <a:xfrm flipV="1">
            <a:off x="6966585" y="2514410"/>
            <a:ext cx="0" cy="27003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835140" y="278444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835140" y="251441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747510" y="2578316"/>
            <a:ext cx="438150" cy="135311"/>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6747510" y="2644829"/>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65545" y="2362010"/>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53" name="TextBox 52"/>
          <p:cNvSpPr txBox="1"/>
          <p:nvPr/>
        </p:nvSpPr>
        <p:spPr>
          <a:xfrm>
            <a:off x="65722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Polyethylene (PE) Foam</a:t>
            </a:r>
          </a:p>
        </p:txBody>
      </p:sp>
      <p:sp>
        <p:nvSpPr>
          <p:cNvPr id="54" name="TextBox 53"/>
          <p:cNvSpPr txBox="1"/>
          <p:nvPr/>
        </p:nvSpPr>
        <p:spPr>
          <a:xfrm>
            <a:off x="205930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Polystyrene</a:t>
            </a:r>
          </a:p>
        </p:txBody>
      </p:sp>
      <p:sp>
        <p:nvSpPr>
          <p:cNvPr id="55" name="TextBox 54"/>
          <p:cNvSpPr txBox="1"/>
          <p:nvPr/>
        </p:nvSpPr>
        <p:spPr>
          <a:xfrm>
            <a:off x="346138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Polyurethane (PU) Foam</a:t>
            </a:r>
          </a:p>
        </p:txBody>
      </p:sp>
      <p:sp>
        <p:nvSpPr>
          <p:cNvPr id="56" name="TextBox 55"/>
          <p:cNvSpPr txBox="1"/>
          <p:nvPr/>
        </p:nvSpPr>
        <p:spPr>
          <a:xfrm>
            <a:off x="486346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Polypropylene</a:t>
            </a:r>
          </a:p>
        </p:txBody>
      </p:sp>
      <p:sp>
        <p:nvSpPr>
          <p:cNvPr id="57" name="TextBox 56"/>
          <p:cNvSpPr txBox="1"/>
          <p:nvPr/>
        </p:nvSpPr>
        <p:spPr>
          <a:xfrm>
            <a:off x="626554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Other Foam Materials</a:t>
            </a:r>
          </a:p>
        </p:txBody>
      </p:sp>
      <p:sp>
        <p:nvSpPr>
          <p:cNvPr id="58" name="Rounded Rectangle 57"/>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60" name="Connector 59"/>
          <p:cNvCxnSpPr/>
          <p:nvPr/>
        </p:nvCxnSpPr>
        <p:spPr>
          <a:xfrm>
            <a:off x="619125" y="431786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125" y="472881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19125" y="555073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19125" y="596169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19125" y="4317861"/>
            <a:ext cx="0" cy="164383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90550" y="431786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90550" y="472881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90550" y="555073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90550" y="596169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1" name="TMR Scale tick"/>
          <p:cNvSpPr txBox="1"/>
          <p:nvPr/>
        </p:nvSpPr>
        <p:spPr>
          <a:xfrm>
            <a:off x="219075" y="4251186"/>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72" name="TMR Scale tick"/>
          <p:cNvSpPr txBox="1"/>
          <p:nvPr/>
        </p:nvSpPr>
        <p:spPr>
          <a:xfrm>
            <a:off x="219075" y="4662143"/>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73" name="TMR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74" name="TMR Scale tick"/>
          <p:cNvSpPr txBox="1"/>
          <p:nvPr/>
        </p:nvSpPr>
        <p:spPr>
          <a:xfrm>
            <a:off x="219075" y="5484058"/>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75" name="TMR Scale tick"/>
          <p:cNvSpPr txBox="1"/>
          <p:nvPr/>
        </p:nvSpPr>
        <p:spPr>
          <a:xfrm>
            <a:off x="219075" y="5895016"/>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76" name="Connector 7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MR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Rectangle 78"/>
          <p:cNvSpPr/>
          <p:nvPr/>
        </p:nvSpPr>
        <p:spPr>
          <a:xfrm>
            <a:off x="2152650" y="5139776"/>
            <a:ext cx="457200" cy="7180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MR Data Label"/>
          <p:cNvSpPr txBox="1"/>
          <p:nvPr/>
        </p:nvSpPr>
        <p:spPr>
          <a:xfrm>
            <a:off x="1793875" y="522110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1" name="Rectangle 80"/>
          <p:cNvSpPr/>
          <p:nvPr/>
        </p:nvSpPr>
        <p:spPr>
          <a:xfrm>
            <a:off x="3327400" y="4702735"/>
            <a:ext cx="457200" cy="43704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MR Data Label"/>
          <p:cNvSpPr txBox="1"/>
          <p:nvPr/>
        </p:nvSpPr>
        <p:spPr>
          <a:xfrm>
            <a:off x="2968625" y="455986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3" name="Rectangle 82"/>
          <p:cNvSpPr/>
          <p:nvPr/>
        </p:nvSpPr>
        <p:spPr>
          <a:xfrm>
            <a:off x="4502150" y="5139776"/>
            <a:ext cx="457200" cy="51885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MR Data Label"/>
          <p:cNvSpPr txBox="1"/>
          <p:nvPr/>
        </p:nvSpPr>
        <p:spPr>
          <a:xfrm>
            <a:off x="4143375" y="566815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5" name="Rectangle 84"/>
          <p:cNvSpPr/>
          <p:nvPr/>
        </p:nvSpPr>
        <p:spPr>
          <a:xfrm>
            <a:off x="5676900" y="5139776"/>
            <a:ext cx="457200" cy="66948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MR Data Label"/>
          <p:cNvSpPr txBox="1"/>
          <p:nvPr/>
        </p:nvSpPr>
        <p:spPr>
          <a:xfrm>
            <a:off x="5318125" y="5818781"/>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7" name="Rectangle 86"/>
          <p:cNvSpPr/>
          <p:nvPr/>
        </p:nvSpPr>
        <p:spPr>
          <a:xfrm>
            <a:off x="6851650" y="5139776"/>
            <a:ext cx="457200" cy="139599"/>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MR Data Label"/>
          <p:cNvSpPr txBox="1"/>
          <p:nvPr/>
        </p:nvSpPr>
        <p:spPr>
          <a:xfrm>
            <a:off x="6492875" y="528890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9" name="TextBox 88"/>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90" name="TextBox 89"/>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91" name="TextBox 90"/>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92" name="TextBox 91"/>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93" name="TextBox 92"/>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94" name="TextBox 93"/>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and Africa</a:t>
            </a:r>
          </a:p>
        </p:txBody>
      </p:sp>
      <p:sp>
        <p:nvSpPr>
          <p:cNvPr id="95" name="Rounded Rectangle 94"/>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97" name="Rectangle 96"/>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99" name="Rectangle 9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01" name="Picture 100" descr="lock.png"/>
          <p:cNvPicPr>
            <a:picLocks noChangeAspect="1"/>
          </p:cNvPicPr>
          <p:nvPr/>
        </p:nvPicPr>
        <p:blipFill>
          <a:blip r:embed="rId4"/>
          <a:stretch>
            <a:fillRect/>
          </a:stretch>
        </p:blipFill>
        <p:spPr>
          <a:xfrm>
            <a:off x="1293915" y="2442997"/>
            <a:ext cx="128699" cy="187198"/>
          </a:xfrm>
          <a:prstGeom prst="rect">
            <a:avLst/>
          </a:prstGeom>
        </p:spPr>
      </p:pic>
      <p:pic>
        <p:nvPicPr>
          <p:cNvPr id="102" name="Picture 101" descr="lock.png"/>
          <p:cNvPicPr>
            <a:picLocks noChangeAspect="1"/>
          </p:cNvPicPr>
          <p:nvPr/>
        </p:nvPicPr>
        <p:blipFill>
          <a:blip r:embed="rId4"/>
          <a:stretch>
            <a:fillRect/>
          </a:stretch>
        </p:blipFill>
        <p:spPr>
          <a:xfrm>
            <a:off x="2695995" y="2378866"/>
            <a:ext cx="128699" cy="187198"/>
          </a:xfrm>
          <a:prstGeom prst="rect">
            <a:avLst/>
          </a:prstGeom>
        </p:spPr>
      </p:pic>
      <p:pic>
        <p:nvPicPr>
          <p:cNvPr id="103" name="Picture 102" descr="lock.png"/>
          <p:cNvPicPr>
            <a:picLocks noChangeAspect="1"/>
          </p:cNvPicPr>
          <p:nvPr/>
        </p:nvPicPr>
        <p:blipFill>
          <a:blip r:embed="rId4"/>
          <a:stretch>
            <a:fillRect/>
          </a:stretch>
        </p:blipFill>
        <p:spPr>
          <a:xfrm>
            <a:off x="4098075" y="1483092"/>
            <a:ext cx="128699" cy="187198"/>
          </a:xfrm>
          <a:prstGeom prst="rect">
            <a:avLst/>
          </a:prstGeom>
        </p:spPr>
      </p:pic>
      <p:pic>
        <p:nvPicPr>
          <p:cNvPr id="104" name="Picture 103" descr="lock.png"/>
          <p:cNvPicPr>
            <a:picLocks noChangeAspect="1"/>
          </p:cNvPicPr>
          <p:nvPr/>
        </p:nvPicPr>
        <p:blipFill>
          <a:blip r:embed="rId4"/>
          <a:stretch>
            <a:fillRect/>
          </a:stretch>
        </p:blipFill>
        <p:spPr>
          <a:xfrm>
            <a:off x="5500155" y="2598985"/>
            <a:ext cx="128699" cy="187198"/>
          </a:xfrm>
          <a:prstGeom prst="rect">
            <a:avLst/>
          </a:prstGeom>
        </p:spPr>
      </p:pic>
      <p:pic>
        <p:nvPicPr>
          <p:cNvPr id="105" name="Picture 104" descr="lock.png"/>
          <p:cNvPicPr>
            <a:picLocks noChangeAspect="1"/>
          </p:cNvPicPr>
          <p:nvPr/>
        </p:nvPicPr>
        <p:blipFill>
          <a:blip r:embed="rId4"/>
          <a:stretch>
            <a:fillRect/>
          </a:stretch>
        </p:blipFill>
        <p:spPr>
          <a:xfrm>
            <a:off x="6902235" y="2335086"/>
            <a:ext cx="128699" cy="187198"/>
          </a:xfrm>
          <a:prstGeom prst="rect">
            <a:avLst/>
          </a:prstGeom>
        </p:spPr>
      </p:pic>
      <p:pic>
        <p:nvPicPr>
          <p:cNvPr id="106" name="Picture 105" descr="lock.png"/>
          <p:cNvPicPr>
            <a:picLocks noChangeAspect="1"/>
          </p:cNvPicPr>
          <p:nvPr/>
        </p:nvPicPr>
        <p:blipFill>
          <a:blip r:embed="rId4"/>
          <a:stretch>
            <a:fillRect/>
          </a:stretch>
        </p:blipFill>
        <p:spPr>
          <a:xfrm>
            <a:off x="1142150" y="4253659"/>
            <a:ext cx="128699" cy="187198"/>
          </a:xfrm>
          <a:prstGeom prst="rect">
            <a:avLst/>
          </a:prstGeom>
        </p:spPr>
      </p:pic>
      <p:pic>
        <p:nvPicPr>
          <p:cNvPr id="107" name="Picture 106" descr="lock.png"/>
          <p:cNvPicPr>
            <a:picLocks noChangeAspect="1"/>
          </p:cNvPicPr>
          <p:nvPr/>
        </p:nvPicPr>
        <p:blipFill>
          <a:blip r:embed="rId4"/>
          <a:stretch>
            <a:fillRect/>
          </a:stretch>
        </p:blipFill>
        <p:spPr>
          <a:xfrm>
            <a:off x="2316900" y="5194185"/>
            <a:ext cx="128699" cy="187198"/>
          </a:xfrm>
          <a:prstGeom prst="rect">
            <a:avLst/>
          </a:prstGeom>
        </p:spPr>
      </p:pic>
      <p:pic>
        <p:nvPicPr>
          <p:cNvPr id="108" name="Picture 107" descr="lock.png"/>
          <p:cNvPicPr>
            <a:picLocks noChangeAspect="1"/>
          </p:cNvPicPr>
          <p:nvPr/>
        </p:nvPicPr>
        <p:blipFill>
          <a:blip r:embed="rId4"/>
          <a:stretch>
            <a:fillRect/>
          </a:stretch>
        </p:blipFill>
        <p:spPr>
          <a:xfrm>
            <a:off x="3491650" y="4532936"/>
            <a:ext cx="128699" cy="187198"/>
          </a:xfrm>
          <a:prstGeom prst="rect">
            <a:avLst/>
          </a:prstGeom>
        </p:spPr>
      </p:pic>
      <p:pic>
        <p:nvPicPr>
          <p:cNvPr id="109" name="Picture 108" descr="lock.png"/>
          <p:cNvPicPr>
            <a:picLocks noChangeAspect="1"/>
          </p:cNvPicPr>
          <p:nvPr/>
        </p:nvPicPr>
        <p:blipFill>
          <a:blip r:embed="rId4"/>
          <a:stretch>
            <a:fillRect/>
          </a:stretch>
        </p:blipFill>
        <p:spPr>
          <a:xfrm>
            <a:off x="4666400" y="5641235"/>
            <a:ext cx="128699" cy="187198"/>
          </a:xfrm>
          <a:prstGeom prst="rect">
            <a:avLst/>
          </a:prstGeom>
        </p:spPr>
      </p:pic>
      <p:pic>
        <p:nvPicPr>
          <p:cNvPr id="110" name="Picture 109" descr="lock.png"/>
          <p:cNvPicPr>
            <a:picLocks noChangeAspect="1"/>
          </p:cNvPicPr>
          <p:nvPr/>
        </p:nvPicPr>
        <p:blipFill>
          <a:blip r:embed="rId4"/>
          <a:stretch>
            <a:fillRect/>
          </a:stretch>
        </p:blipFill>
        <p:spPr>
          <a:xfrm>
            <a:off x="5841150" y="5791857"/>
            <a:ext cx="128699" cy="187198"/>
          </a:xfrm>
          <a:prstGeom prst="rect">
            <a:avLst/>
          </a:prstGeom>
        </p:spPr>
      </p:pic>
      <p:pic>
        <p:nvPicPr>
          <p:cNvPr id="111" name="Picture 110" descr="lock.png"/>
          <p:cNvPicPr>
            <a:picLocks noChangeAspect="1"/>
          </p:cNvPicPr>
          <p:nvPr/>
        </p:nvPicPr>
        <p:blipFill>
          <a:blip r:embed="rId4"/>
          <a:stretch>
            <a:fillRect/>
          </a:stretch>
        </p:blipFill>
        <p:spPr>
          <a:xfrm>
            <a:off x="7015900" y="5261976"/>
            <a:ext cx="128699" cy="187198"/>
          </a:xfrm>
          <a:prstGeom prst="rect">
            <a:avLst/>
          </a:prstGeom>
        </p:spPr>
      </p:pic>
      <p:sp>
        <p:nvSpPr>
          <p:cNvPr id="112" name="TextBox 111"/>
          <p:cNvSpPr txBox="1"/>
          <p:nvPr/>
        </p:nvSpPr>
        <p:spPr>
          <a:xfrm>
            <a:off x="8048625" y="1471995"/>
            <a:ext cx="3775657" cy="194310"/>
          </a:xfrm>
          <a:prstGeom prst="rect">
            <a:avLst/>
          </a:prstGeom>
          <a:noFill/>
        </p:spPr>
        <p:txBody>
          <a:bodyPr wrap="none" lIns="0" rIns="0" tIns="0" bIns="0">
            <a:spAutoFit/>
          </a:bodyPr>
          <a:lstStyle/>
          <a:p>
            <a:r>
              <a:rPr sz="1150" b="0">
                <a:solidFill>
                  <a:srgbClr val="2E2E2E"/>
                </a:solidFill>
                <a:latin typeface="Calibri"/>
              </a:rPr>
              <a:t>Polyurethane (PU) foam segment is expected to command the</a:t>
            </a:r>
          </a:p>
        </p:txBody>
      </p:sp>
      <p:sp>
        <p:nvSpPr>
          <p:cNvPr id="113" name="TextBox 112"/>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114" name="Picture 113" descr="lock.png"/>
          <p:cNvPicPr>
            <a:picLocks noChangeAspect="1"/>
          </p:cNvPicPr>
          <p:nvPr/>
        </p:nvPicPr>
        <p:blipFill>
          <a:blip r:embed="rId4"/>
          <a:stretch>
            <a:fillRect/>
          </a:stretch>
        </p:blipFill>
        <p:spPr>
          <a:xfrm>
            <a:off x="9764678" y="1637031"/>
            <a:ext cx="134549" cy="195707"/>
          </a:xfrm>
          <a:prstGeom prst="rect">
            <a:avLst/>
          </a:prstGeom>
        </p:spPr>
      </p:pic>
      <p:sp>
        <p:nvSpPr>
          <p:cNvPr id="115" name="TextBox 114"/>
          <p:cNvSpPr txBox="1"/>
          <p:nvPr/>
        </p:nvSpPr>
        <p:spPr>
          <a:xfrm>
            <a:off x="9939788" y="1647255"/>
            <a:ext cx="1534663" cy="194310"/>
          </a:xfrm>
          <a:prstGeom prst="rect">
            <a:avLst/>
          </a:prstGeom>
          <a:noFill/>
        </p:spPr>
        <p:txBody>
          <a:bodyPr wrap="none" lIns="0" rIns="0" tIns="0" bIns="0">
            <a:spAutoFit/>
          </a:bodyPr>
          <a:lstStyle/>
          <a:p>
            <a:r>
              <a:rPr sz="1150" b="0">
                <a:solidFill>
                  <a:srgbClr val="2E2E2E"/>
                </a:solidFill>
                <a:latin typeface="Calibri"/>
              </a:rPr>
              <a:t>per MT in 2036. Average</a:t>
            </a:r>
          </a:p>
        </p:txBody>
      </p:sp>
      <p:sp>
        <p:nvSpPr>
          <p:cNvPr id="116" name="TextBox 115"/>
          <p:cNvSpPr txBox="1"/>
          <p:nvPr/>
        </p:nvSpPr>
        <p:spPr>
          <a:xfrm>
            <a:off x="8048625" y="1822515"/>
            <a:ext cx="3720889" cy="194310"/>
          </a:xfrm>
          <a:prstGeom prst="rect">
            <a:avLst/>
          </a:prstGeom>
          <a:noFill/>
        </p:spPr>
        <p:txBody>
          <a:bodyPr wrap="none" lIns="0" rIns="0" tIns="0" bIns="0">
            <a:spAutoFit/>
          </a:bodyPr>
          <a:lstStyle/>
          <a:p>
            <a:r>
              <a:rPr sz="1150" b="0">
                <a:solidFill>
                  <a:srgbClr val="2E2E2E"/>
                </a:solidFill>
                <a:latin typeface="Calibri"/>
              </a:rPr>
              <a:t>selling price of foam protective packaging is estimated at US$</a:t>
            </a:r>
          </a:p>
        </p:txBody>
      </p:sp>
      <p:pic>
        <p:nvPicPr>
          <p:cNvPr id="117" name="Picture 116" descr="lock.png"/>
          <p:cNvPicPr>
            <a:picLocks noChangeAspect="1"/>
          </p:cNvPicPr>
          <p:nvPr/>
        </p:nvPicPr>
        <p:blipFill>
          <a:blip r:embed="rId4"/>
          <a:stretch>
            <a:fillRect/>
          </a:stretch>
        </p:blipFill>
        <p:spPr>
          <a:xfrm>
            <a:off x="8034545" y="1987551"/>
            <a:ext cx="134549" cy="195707"/>
          </a:xfrm>
          <a:prstGeom prst="rect">
            <a:avLst/>
          </a:prstGeom>
        </p:spPr>
      </p:pic>
      <p:sp>
        <p:nvSpPr>
          <p:cNvPr id="118" name="TextBox 117"/>
          <p:cNvSpPr txBox="1"/>
          <p:nvPr/>
        </p:nvSpPr>
        <p:spPr>
          <a:xfrm>
            <a:off x="8209654" y="1997775"/>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119" name="Picture 118" descr="lock.png"/>
          <p:cNvPicPr>
            <a:picLocks noChangeAspect="1"/>
          </p:cNvPicPr>
          <p:nvPr/>
        </p:nvPicPr>
        <p:blipFill>
          <a:blip r:embed="rId4"/>
          <a:stretch>
            <a:fillRect/>
          </a:stretch>
        </p:blipFill>
        <p:spPr>
          <a:xfrm>
            <a:off x="11239873" y="1987551"/>
            <a:ext cx="134549" cy="195707"/>
          </a:xfrm>
          <a:prstGeom prst="rect">
            <a:avLst/>
          </a:prstGeom>
        </p:spPr>
      </p:pic>
      <p:sp>
        <p:nvSpPr>
          <p:cNvPr id="120" name="TextBox 119"/>
          <p:cNvSpPr txBox="1"/>
          <p:nvPr/>
        </p:nvSpPr>
        <p:spPr>
          <a:xfrm>
            <a:off x="11414982" y="199777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21" name="TextBox 120"/>
          <p:cNvSpPr txBox="1"/>
          <p:nvPr/>
        </p:nvSpPr>
        <p:spPr>
          <a:xfrm>
            <a:off x="8048625" y="2173035"/>
            <a:ext cx="815007" cy="194310"/>
          </a:xfrm>
          <a:prstGeom prst="rect">
            <a:avLst/>
          </a:prstGeom>
          <a:noFill/>
        </p:spPr>
        <p:txBody>
          <a:bodyPr wrap="none" lIns="0" rIns="0" tIns="0" bIns="0">
            <a:spAutoFit/>
          </a:bodyPr>
          <a:lstStyle/>
          <a:p>
            <a:r>
              <a:rPr sz="1150" b="0">
                <a:solidFill>
                  <a:srgbClr val="2E2E2E"/>
                </a:solidFill>
                <a:latin typeface="Calibri"/>
              </a:rPr>
              <a:t>MT by 2036.</a:t>
            </a:r>
          </a:p>
        </p:txBody>
      </p:sp>
      <p:sp>
        <p:nvSpPr>
          <p:cNvPr id="122" name="TextBox 121"/>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23" name="TextBox 122"/>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24" name="TextBox 123"/>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25" name="Picture 124" descr="lock.png"/>
          <p:cNvPicPr>
            <a:picLocks noChangeAspect="1"/>
          </p:cNvPicPr>
          <p:nvPr/>
        </p:nvPicPr>
        <p:blipFill>
          <a:blip r:embed="rId4"/>
          <a:stretch>
            <a:fillRect/>
          </a:stretch>
        </p:blipFill>
        <p:spPr>
          <a:xfrm>
            <a:off x="8524680" y="2741169"/>
            <a:ext cx="134549" cy="195707"/>
          </a:xfrm>
          <a:prstGeom prst="rect">
            <a:avLst/>
          </a:prstGeom>
        </p:spPr>
      </p:pic>
      <p:sp>
        <p:nvSpPr>
          <p:cNvPr id="126" name="TextBox 125"/>
          <p:cNvSpPr txBox="1"/>
          <p:nvPr/>
        </p:nvSpPr>
        <p:spPr>
          <a:xfrm>
            <a:off x="8699789" y="2751393"/>
            <a:ext cx="2962399" cy="194310"/>
          </a:xfrm>
          <a:prstGeom prst="rect">
            <a:avLst/>
          </a:prstGeom>
          <a:noFill/>
        </p:spPr>
        <p:txBody>
          <a:bodyPr wrap="none" lIns="0" rIns="0" tIns="0" bIns="0">
            <a:spAutoFit/>
          </a:bodyPr>
          <a:lstStyle/>
          <a:p>
            <a:r>
              <a:rPr sz="1150" b="0">
                <a:solidFill>
                  <a:srgbClr val="2E2E2E"/>
                </a:solidFill>
                <a:latin typeface="Calibri"/>
              </a:rPr>
              <a:t>US$/MT, 2 of 6 regions price above and 4 below.</a:t>
            </a:r>
          </a:p>
        </p:txBody>
      </p:sp>
      <p:sp>
        <p:nvSpPr>
          <p:cNvPr id="127" name="TextBox 126"/>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28" name="Picture 127" descr="lock.png"/>
          <p:cNvPicPr>
            <a:picLocks noChangeAspect="1"/>
          </p:cNvPicPr>
          <p:nvPr/>
        </p:nvPicPr>
        <p:blipFill>
          <a:blip r:embed="rId4"/>
          <a:stretch>
            <a:fillRect/>
          </a:stretch>
        </p:blipFill>
        <p:spPr>
          <a:xfrm>
            <a:off x="10105842" y="2969007"/>
            <a:ext cx="134549" cy="195707"/>
          </a:xfrm>
          <a:prstGeom prst="rect">
            <a:avLst/>
          </a:prstGeom>
        </p:spPr>
      </p:pic>
      <p:sp>
        <p:nvSpPr>
          <p:cNvPr id="129" name="TextBox 128"/>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30" name="TextBox 129"/>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31" name="Picture 130" descr="lock.png"/>
          <p:cNvPicPr>
            <a:picLocks noChangeAspect="1"/>
          </p:cNvPicPr>
          <p:nvPr/>
        </p:nvPicPr>
        <p:blipFill>
          <a:blip r:embed="rId4"/>
          <a:stretch>
            <a:fillRect/>
          </a:stretch>
        </p:blipFill>
        <p:spPr>
          <a:xfrm>
            <a:off x="9651433" y="3144267"/>
            <a:ext cx="134549" cy="195707"/>
          </a:xfrm>
          <a:prstGeom prst="rect">
            <a:avLst/>
          </a:prstGeom>
        </p:spPr>
      </p:pic>
      <p:sp>
        <p:nvSpPr>
          <p:cNvPr id="132" name="TextBox 131"/>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33" name="TextBox 132"/>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512907" cy="194310"/>
          </a:xfrm>
          <a:prstGeom prst="rect">
            <a:avLst/>
          </a:prstGeom>
          <a:noFill/>
        </p:spPr>
        <p:txBody>
          <a:bodyPr wrap="none" lIns="0" rIns="0" tIns="0" bIns="0">
            <a:spAutoFit/>
          </a:bodyPr>
          <a:lstStyle/>
          <a:p>
            <a:r>
              <a:rPr sz="1150" b="0">
                <a:solidFill>
                  <a:srgbClr val="2E2E2E"/>
                </a:solidFill>
                <a:latin typeface="Calibri"/>
              </a:rPr>
              <a:t>Foam protective packaging market is projected to register</a:t>
            </a:r>
          </a:p>
        </p:txBody>
      </p:sp>
      <p:pic>
        <p:nvPicPr>
          <p:cNvPr id="33" name="Picture 32" descr="lock.png"/>
          <p:cNvPicPr>
            <a:picLocks noChangeAspect="1"/>
          </p:cNvPicPr>
          <p:nvPr/>
        </p:nvPicPr>
        <p:blipFill>
          <a:blip r:embed="rId6"/>
          <a:stretch>
            <a:fillRect/>
          </a:stretch>
        </p:blipFill>
        <p:spPr>
          <a:xfrm>
            <a:off x="11510686" y="2036763"/>
            <a:ext cx="134549" cy="195707"/>
          </a:xfrm>
          <a:prstGeom prst="rect">
            <a:avLst/>
          </a:prstGeom>
        </p:spPr>
      </p:pic>
      <p:sp>
        <p:nvSpPr>
          <p:cNvPr id="34" name="TextBox 33"/>
          <p:cNvSpPr txBox="1"/>
          <p:nvPr/>
        </p:nvSpPr>
        <p:spPr>
          <a:xfrm>
            <a:off x="11685796"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5" name="TextBox 34"/>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6" name="TextBox 35"/>
          <p:cNvSpPr txBox="1"/>
          <p:nvPr/>
        </p:nvSpPr>
        <p:spPr>
          <a:xfrm>
            <a:off x="8048625" y="2397507"/>
            <a:ext cx="3572842" cy="194310"/>
          </a:xfrm>
          <a:prstGeom prst="rect">
            <a:avLst/>
          </a:prstGeom>
          <a:noFill/>
        </p:spPr>
        <p:txBody>
          <a:bodyPr wrap="none" lIns="0" rIns="0" tIns="0" bIns="0">
            <a:spAutoFit/>
          </a:bodyPr>
          <a:lstStyle/>
          <a:p>
            <a:r>
              <a:rPr sz="1150" b="0">
                <a:solidFill>
                  <a:srgbClr val="2E2E2E"/>
                </a:solidFill>
                <a:latin typeface="Calibri"/>
              </a:rPr>
              <a:t>Global foam protective packaging market is expected to be</a:t>
            </a:r>
          </a:p>
        </p:txBody>
      </p:sp>
      <p:sp>
        <p:nvSpPr>
          <p:cNvPr id="37" name="TextBox 36"/>
          <p:cNvSpPr txBox="1"/>
          <p:nvPr/>
        </p:nvSpPr>
        <p:spPr>
          <a:xfrm>
            <a:off x="8048625" y="2572767"/>
            <a:ext cx="892026" cy="194310"/>
          </a:xfrm>
          <a:prstGeom prst="rect">
            <a:avLst/>
          </a:prstGeom>
          <a:noFill/>
        </p:spPr>
        <p:txBody>
          <a:bodyPr wrap="none" lIns="0" rIns="0" tIns="0" bIns="0">
            <a:spAutoFit/>
          </a:bodyPr>
          <a:lstStyle/>
          <a:p>
            <a:r>
              <a:rPr sz="1150" b="0">
                <a:solidFill>
                  <a:srgbClr val="2E2E2E"/>
                </a:solidFill>
                <a:latin typeface="Calibri"/>
              </a:rPr>
              <a:t>valued at US$</a:t>
            </a:r>
          </a:p>
        </p:txBody>
      </p:sp>
      <p:pic>
        <p:nvPicPr>
          <p:cNvPr id="38" name="Picture 37" descr="lock.png"/>
          <p:cNvPicPr>
            <a:picLocks noChangeAspect="1"/>
          </p:cNvPicPr>
          <p:nvPr/>
        </p:nvPicPr>
        <p:blipFill>
          <a:blip r:embed="rId6"/>
          <a:stretch>
            <a:fillRect/>
          </a:stretch>
        </p:blipFill>
        <p:spPr>
          <a:xfrm>
            <a:off x="8889805" y="2562543"/>
            <a:ext cx="134549" cy="195707"/>
          </a:xfrm>
          <a:prstGeom prst="rect">
            <a:avLst/>
          </a:prstGeom>
        </p:spPr>
      </p:pic>
      <p:sp>
        <p:nvSpPr>
          <p:cNvPr id="39" name="TextBox 38"/>
          <p:cNvSpPr txBox="1"/>
          <p:nvPr/>
        </p:nvSpPr>
        <p:spPr>
          <a:xfrm>
            <a:off x="9064914"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0" name="TextBox 39"/>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1" name="Picture 40" descr="lock.png"/>
          <p:cNvPicPr>
            <a:picLocks noChangeAspect="1"/>
          </p:cNvPicPr>
          <p:nvPr/>
        </p:nvPicPr>
        <p:blipFill>
          <a:blip r:embed="rId6"/>
          <a:stretch>
            <a:fillRect/>
          </a:stretch>
        </p:blipFill>
        <p:spPr>
          <a:xfrm>
            <a:off x="8034545" y="2965641"/>
            <a:ext cx="134549" cy="195707"/>
          </a:xfrm>
          <a:prstGeom prst="rect">
            <a:avLst/>
          </a:prstGeom>
        </p:spPr>
      </p:pic>
      <p:sp>
        <p:nvSpPr>
          <p:cNvPr id="42" name="TextBox 41"/>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3" name="TextBox 42"/>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4" name="Picture 43" descr="lock.png"/>
          <p:cNvPicPr>
            <a:picLocks noChangeAspect="1"/>
          </p:cNvPicPr>
          <p:nvPr/>
        </p:nvPicPr>
        <p:blipFill>
          <a:blip r:embed="rId6"/>
          <a:stretch>
            <a:fillRect/>
          </a:stretch>
        </p:blipFill>
        <p:spPr>
          <a:xfrm>
            <a:off x="10866614" y="4446251"/>
            <a:ext cx="134549" cy="195707"/>
          </a:xfrm>
          <a:prstGeom prst="rect">
            <a:avLst/>
          </a:prstGeom>
        </p:spPr>
      </p:pic>
      <p:sp>
        <p:nvSpPr>
          <p:cNvPr id="45" name="TextBox 44"/>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6" name="TextBox 45"/>
          <p:cNvSpPr txBox="1"/>
          <p:nvPr/>
        </p:nvSpPr>
        <p:spPr>
          <a:xfrm>
            <a:off x="8048625" y="4684312"/>
            <a:ext cx="3425905" cy="194310"/>
          </a:xfrm>
          <a:prstGeom prst="rect">
            <a:avLst/>
          </a:prstGeom>
          <a:noFill/>
        </p:spPr>
        <p:txBody>
          <a:bodyPr wrap="none" lIns="0" rIns="0" tIns="0" bIns="0">
            <a:spAutoFit/>
          </a:bodyPr>
          <a:lstStyle/>
          <a:p>
            <a:r>
              <a:rPr sz="1150" b="0">
                <a:solidFill>
                  <a:srgbClr val="2E2E2E"/>
                </a:solidFill>
                <a:latin typeface="Calibri"/>
              </a:rPr>
              <a:t>▪ Demand concentrates in 'Other Foam Materials' within</a:t>
            </a:r>
          </a:p>
        </p:txBody>
      </p:sp>
      <p:sp>
        <p:nvSpPr>
          <p:cNvPr id="47" name="TextBox 46"/>
          <p:cNvSpPr txBox="1"/>
          <p:nvPr/>
        </p:nvSpPr>
        <p:spPr>
          <a:xfrm>
            <a:off x="8048625" y="4859572"/>
            <a:ext cx="937952" cy="194310"/>
          </a:xfrm>
          <a:prstGeom prst="rect">
            <a:avLst/>
          </a:prstGeom>
          <a:noFill/>
        </p:spPr>
        <p:txBody>
          <a:bodyPr wrap="none" lIns="0" rIns="0" tIns="0" bIns="0">
            <a:spAutoFit/>
          </a:bodyPr>
          <a:lstStyle/>
          <a:p>
            <a:r>
              <a:rPr sz="1150" b="0">
                <a:solidFill>
                  <a:srgbClr val="2E2E2E"/>
                </a:solidFill>
                <a:latin typeface="Calibri"/>
              </a:rPr>
              <a:t>Material Type.</a:t>
            </a:r>
          </a:p>
        </p:txBody>
      </p:sp>
      <p:sp>
        <p:nvSpPr>
          <p:cNvPr id="48" name="TextBox 47"/>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9" name="TextBox 48"/>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0"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7" name="Rounded Rectangle 6"/>
          <p:cNvSpPr/>
          <p:nvPr/>
        </p:nvSpPr>
        <p:spPr>
          <a:xfrm>
            <a:off x="142875" y="981075"/>
            <a:ext cx="4695825"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9" name="Chart 8"/>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2" name="Chart 11"/>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 </a:t>
            </a:r>
          </a:p>
        </p:txBody>
      </p:sp>
      <p:sp>
        <p:nvSpPr>
          <p:cNvPr id="15" name="Rounded Rectangle 14"/>
          <p:cNvSpPr/>
          <p:nvPr/>
        </p:nvSpPr>
        <p:spPr>
          <a:xfrm>
            <a:off x="54768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552950"/>
            <a:ext cx="11906250" cy="2057400"/>
          </a:xfrm>
          <a:prstGeom prst="roundRect">
            <a:avLst>
              <a:gd name="adj" fmla="val 37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&amp; Value Analysis</a:t>
            </a:r>
          </a:p>
        </p:txBody>
      </p:sp>
      <p:sp>
        <p:nvSpPr>
          <p:cNvPr id="19" name="Rectangle 18"/>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3894" y="2050946"/>
            <a:ext cx="205327" cy="298657"/>
          </a:xfrm>
          <a:prstGeom prst="rect">
            <a:avLst/>
          </a:prstGeom>
        </p:spPr>
      </p:pic>
      <p:pic>
        <p:nvPicPr>
          <p:cNvPr id="24" name="Picture 23" descr="lock.png"/>
          <p:cNvPicPr>
            <a:picLocks noChangeAspect="1"/>
          </p:cNvPicPr>
          <p:nvPr/>
        </p:nvPicPr>
        <p:blipFill>
          <a:blip r:embed="rId6"/>
          <a:stretch>
            <a:fillRect/>
          </a:stretch>
        </p:blipFill>
        <p:spPr>
          <a:xfrm>
            <a:off x="8530846" y="2011501"/>
            <a:ext cx="259564" cy="377547"/>
          </a:xfrm>
          <a:prstGeom prst="rect">
            <a:avLst/>
          </a:prstGeom>
        </p:spPr>
      </p:pic>
      <p:pic>
        <p:nvPicPr>
          <p:cNvPr id="25" name="Picture 24" descr="lock.png"/>
          <p:cNvPicPr>
            <a:picLocks noChangeAspect="1"/>
          </p:cNvPicPr>
          <p:nvPr/>
        </p:nvPicPr>
        <p:blipFill>
          <a:blip r:embed="rId6"/>
          <a:stretch>
            <a:fillRect/>
          </a:stretch>
        </p:blipFill>
        <p:spPr>
          <a:xfrm>
            <a:off x="1321594" y="4022407"/>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4022407"/>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4022407"/>
            <a:ext cx="157162" cy="228600"/>
          </a:xfrm>
          <a:prstGeom prst="rect">
            <a:avLst/>
          </a:prstGeom>
        </p:spPr>
      </p:pic>
      <p:sp>
        <p:nvSpPr>
          <p:cNvPr id="29" name="TextBox 28"/>
          <p:cNvSpPr txBox="1"/>
          <p:nvPr/>
        </p:nvSpPr>
        <p:spPr>
          <a:xfrm>
            <a:off x="276225" y="4972050"/>
            <a:ext cx="3512907" cy="194310"/>
          </a:xfrm>
          <a:prstGeom prst="rect">
            <a:avLst/>
          </a:prstGeom>
          <a:noFill/>
        </p:spPr>
        <p:txBody>
          <a:bodyPr wrap="none" lIns="0" rIns="0" tIns="0" bIns="0">
            <a:spAutoFit/>
          </a:bodyPr>
          <a:lstStyle/>
          <a:p>
            <a:r>
              <a:rPr sz="1150" b="0">
                <a:solidFill>
                  <a:srgbClr val="2E2E2E"/>
                </a:solidFill>
                <a:latin typeface="Calibri"/>
              </a:rPr>
              <a:t>Foam protective packaging market is projected to register</a:t>
            </a:r>
          </a:p>
        </p:txBody>
      </p:sp>
      <p:pic>
        <p:nvPicPr>
          <p:cNvPr id="30" name="Picture 29" descr="lock.png"/>
          <p:cNvPicPr>
            <a:picLocks noChangeAspect="1"/>
          </p:cNvPicPr>
          <p:nvPr/>
        </p:nvPicPr>
        <p:blipFill>
          <a:blip r:embed="rId6"/>
          <a:stretch>
            <a:fillRect/>
          </a:stretch>
        </p:blipFill>
        <p:spPr>
          <a:xfrm>
            <a:off x="3738286" y="4961826"/>
            <a:ext cx="134549" cy="195707"/>
          </a:xfrm>
          <a:prstGeom prst="rect">
            <a:avLst/>
          </a:prstGeom>
        </p:spPr>
      </p:pic>
      <p:sp>
        <p:nvSpPr>
          <p:cNvPr id="31" name="TextBox 30"/>
          <p:cNvSpPr txBox="1"/>
          <p:nvPr/>
        </p:nvSpPr>
        <p:spPr>
          <a:xfrm>
            <a:off x="3913396" y="4972050"/>
            <a:ext cx="7791462"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foam protective packaging market is expected to be valued at</a:t>
            </a:r>
          </a:p>
        </p:txBody>
      </p:sp>
      <p:sp>
        <p:nvSpPr>
          <p:cNvPr id="32" name="TextBox 31"/>
          <p:cNvSpPr txBox="1"/>
          <p:nvPr/>
        </p:nvSpPr>
        <p:spPr>
          <a:xfrm>
            <a:off x="276225" y="5147310"/>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3" name="Picture 32" descr="lock.png"/>
          <p:cNvPicPr>
            <a:picLocks noChangeAspect="1"/>
          </p:cNvPicPr>
          <p:nvPr/>
        </p:nvPicPr>
        <p:blipFill>
          <a:blip r:embed="rId6"/>
          <a:stretch>
            <a:fillRect/>
          </a:stretch>
        </p:blipFill>
        <p:spPr>
          <a:xfrm>
            <a:off x="536628" y="5137086"/>
            <a:ext cx="134549" cy="195707"/>
          </a:xfrm>
          <a:prstGeom prst="rect">
            <a:avLst/>
          </a:prstGeom>
        </p:spPr>
      </p:pic>
      <p:sp>
        <p:nvSpPr>
          <p:cNvPr id="34" name="TextBox 33"/>
          <p:cNvSpPr txBox="1"/>
          <p:nvPr/>
        </p:nvSpPr>
        <p:spPr>
          <a:xfrm>
            <a:off x="711737" y="514731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5" name="TextBox 34"/>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6" name="Picture 35" descr="lock.png"/>
          <p:cNvPicPr>
            <a:picLocks noChangeAspect="1"/>
          </p:cNvPicPr>
          <p:nvPr/>
        </p:nvPicPr>
        <p:blipFill>
          <a:blip r:embed="rId6"/>
          <a:stretch>
            <a:fillRect/>
          </a:stretch>
        </p:blipFill>
        <p:spPr>
          <a:xfrm>
            <a:off x="4037834" y="5364924"/>
            <a:ext cx="134549" cy="195707"/>
          </a:xfrm>
          <a:prstGeom prst="rect">
            <a:avLst/>
          </a:prstGeom>
        </p:spPr>
      </p:pic>
      <p:sp>
        <p:nvSpPr>
          <p:cNvPr id="37" name="TextBox 36"/>
          <p:cNvSpPr txBox="1"/>
          <p:nvPr/>
        </p:nvSpPr>
        <p:spPr>
          <a:xfrm>
            <a:off x="4212943" y="5375147"/>
            <a:ext cx="5319166" cy="194310"/>
          </a:xfrm>
          <a:prstGeom prst="rect">
            <a:avLst/>
          </a:prstGeom>
          <a:noFill/>
        </p:spPr>
        <p:txBody>
          <a:bodyPr wrap="none" lIns="0" rIns="0" tIns="0" bIns="0">
            <a:spAutoFit/>
          </a:bodyPr>
          <a:lstStyle/>
          <a:p>
            <a:r>
              <a:rPr sz="1150" b="0">
                <a:solidFill>
                  <a:srgbClr val="2E2E2E"/>
                </a:solidFill>
                <a:latin typeface="Calibri"/>
              </a:rPr>
              <a:t>Mn from 2025 to 2036. Global foam protective packaging market is projected to register</a:t>
            </a:r>
          </a:p>
        </p:txBody>
      </p:sp>
      <p:pic>
        <p:nvPicPr>
          <p:cNvPr id="38" name="Picture 37" descr="lock.png"/>
          <p:cNvPicPr>
            <a:picLocks noChangeAspect="1"/>
          </p:cNvPicPr>
          <p:nvPr/>
        </p:nvPicPr>
        <p:blipFill>
          <a:blip r:embed="rId6"/>
          <a:stretch>
            <a:fillRect/>
          </a:stretch>
        </p:blipFill>
        <p:spPr>
          <a:xfrm>
            <a:off x="9481264" y="5364924"/>
            <a:ext cx="134549" cy="195707"/>
          </a:xfrm>
          <a:prstGeom prst="rect">
            <a:avLst/>
          </a:prstGeom>
        </p:spPr>
      </p:pic>
      <p:sp>
        <p:nvSpPr>
          <p:cNvPr id="39" name="TextBox 38"/>
          <p:cNvSpPr txBox="1"/>
          <p:nvPr/>
        </p:nvSpPr>
        <p:spPr>
          <a:xfrm>
            <a:off x="9656373"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40" name="TextBox 39"/>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41" name="TextBox 40"/>
          <p:cNvSpPr txBox="1"/>
          <p:nvPr/>
        </p:nvSpPr>
        <p:spPr>
          <a:xfrm>
            <a:off x="276225" y="5778245"/>
            <a:ext cx="3526060" cy="194310"/>
          </a:xfrm>
          <a:prstGeom prst="rect">
            <a:avLst/>
          </a:prstGeom>
          <a:noFill/>
        </p:spPr>
        <p:txBody>
          <a:bodyPr wrap="none" lIns="0" rIns="0" tIns="0" bIns="0">
            <a:spAutoFit/>
          </a:bodyPr>
          <a:lstStyle/>
          <a:p>
            <a:r>
              <a:rPr sz="1150" b="0">
                <a:solidFill>
                  <a:srgbClr val="2E2E2E"/>
                </a:solidFill>
                <a:latin typeface="Calibri"/>
              </a:rPr>
              <a:t>Global foam protective packaging market volume stood at</a:t>
            </a:r>
          </a:p>
        </p:txBody>
      </p:sp>
      <p:pic>
        <p:nvPicPr>
          <p:cNvPr id="42" name="Picture 41" descr="lock.png"/>
          <p:cNvPicPr>
            <a:picLocks noChangeAspect="1"/>
          </p:cNvPicPr>
          <p:nvPr/>
        </p:nvPicPr>
        <p:blipFill>
          <a:blip r:embed="rId6"/>
          <a:stretch>
            <a:fillRect/>
          </a:stretch>
        </p:blipFill>
        <p:spPr>
          <a:xfrm>
            <a:off x="3751439" y="5768022"/>
            <a:ext cx="134549" cy="195707"/>
          </a:xfrm>
          <a:prstGeom prst="rect">
            <a:avLst/>
          </a:prstGeom>
        </p:spPr>
      </p:pic>
      <p:sp>
        <p:nvSpPr>
          <p:cNvPr id="43" name="TextBox 42"/>
          <p:cNvSpPr txBox="1"/>
          <p:nvPr/>
        </p:nvSpPr>
        <p:spPr>
          <a:xfrm>
            <a:off x="3926548" y="5778245"/>
            <a:ext cx="2229581" cy="194310"/>
          </a:xfrm>
          <a:prstGeom prst="rect">
            <a:avLst/>
          </a:prstGeom>
          <a:noFill/>
        </p:spPr>
        <p:txBody>
          <a:bodyPr wrap="none" lIns="0" rIns="0" tIns="0" bIns="0">
            <a:spAutoFit/>
          </a:bodyPr>
          <a:lstStyle/>
          <a:p>
            <a:r>
              <a:rPr sz="1150" b="0">
                <a:solidFill>
                  <a:srgbClr val="2E2E2E"/>
                </a:solidFill>
                <a:latin typeface="Calibri"/>
              </a:rPr>
              <a:t>MT in 2025 and is expected to reach</a:t>
            </a:r>
          </a:p>
        </p:txBody>
      </p:sp>
      <p:pic>
        <p:nvPicPr>
          <p:cNvPr id="44" name="Picture 43" descr="lock.png"/>
          <p:cNvPicPr>
            <a:picLocks noChangeAspect="1"/>
          </p:cNvPicPr>
          <p:nvPr/>
        </p:nvPicPr>
        <p:blipFill>
          <a:blip r:embed="rId6"/>
          <a:stretch>
            <a:fillRect/>
          </a:stretch>
        </p:blipFill>
        <p:spPr>
          <a:xfrm>
            <a:off x="6105284" y="5768022"/>
            <a:ext cx="134549" cy="195707"/>
          </a:xfrm>
          <a:prstGeom prst="rect">
            <a:avLst/>
          </a:prstGeom>
        </p:spPr>
      </p:pic>
      <p:sp>
        <p:nvSpPr>
          <p:cNvPr id="45" name="TextBox 44"/>
          <p:cNvSpPr txBox="1"/>
          <p:nvPr/>
        </p:nvSpPr>
        <p:spPr>
          <a:xfrm>
            <a:off x="6280393" y="5778245"/>
            <a:ext cx="1850461" cy="194310"/>
          </a:xfrm>
          <a:prstGeom prst="rect">
            <a:avLst/>
          </a:prstGeom>
          <a:noFill/>
        </p:spPr>
        <p:txBody>
          <a:bodyPr wrap="none" lIns="0" rIns="0" tIns="0" bIns="0">
            <a:spAutoFit/>
          </a:bodyPr>
          <a:lstStyle/>
          <a:p>
            <a:r>
              <a:rPr sz="1150" b="0">
                <a:solidFill>
                  <a:srgbClr val="2E2E2E"/>
                </a:solidFill>
                <a:latin typeface="Calibri"/>
              </a:rPr>
              <a:t>MT by 2036 end, at a CAGR of</a:t>
            </a:r>
          </a:p>
        </p:txBody>
      </p:sp>
      <p:pic>
        <p:nvPicPr>
          <p:cNvPr id="46" name="Picture 45" descr="lock.png"/>
          <p:cNvPicPr>
            <a:picLocks noChangeAspect="1"/>
          </p:cNvPicPr>
          <p:nvPr/>
        </p:nvPicPr>
        <p:blipFill>
          <a:blip r:embed="rId6"/>
          <a:stretch>
            <a:fillRect/>
          </a:stretch>
        </p:blipFill>
        <p:spPr>
          <a:xfrm>
            <a:off x="8080009" y="5768022"/>
            <a:ext cx="134549" cy="195707"/>
          </a:xfrm>
          <a:prstGeom prst="rect">
            <a:avLst/>
          </a:prstGeom>
        </p:spPr>
      </p:pic>
      <p:sp>
        <p:nvSpPr>
          <p:cNvPr id="47" name="TextBox 46"/>
          <p:cNvSpPr txBox="1"/>
          <p:nvPr/>
        </p:nvSpPr>
        <p:spPr>
          <a:xfrm>
            <a:off x="8255118" y="5778245"/>
            <a:ext cx="3395699"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a:t>
            </a:r>
          </a:p>
        </p:txBody>
      </p:sp>
      <p:sp>
        <p:nvSpPr>
          <p:cNvPr id="48" name="TextBox 47"/>
          <p:cNvSpPr txBox="1"/>
          <p:nvPr/>
        </p:nvSpPr>
        <p:spPr>
          <a:xfrm>
            <a:off x="276225" y="5953505"/>
            <a:ext cx="3701206" cy="194310"/>
          </a:xfrm>
          <a:prstGeom prst="rect">
            <a:avLst/>
          </a:prstGeom>
          <a:noFill/>
        </p:spPr>
        <p:txBody>
          <a:bodyPr wrap="none" lIns="0" rIns="0" tIns="0" bIns="0">
            <a:spAutoFit/>
          </a:bodyPr>
          <a:lstStyle/>
          <a:p>
            <a:r>
              <a:rPr sz="1150" b="0">
                <a:solidFill>
                  <a:srgbClr val="2E2E2E"/>
                </a:solidFill>
                <a:latin typeface="Calibri"/>
              </a:rPr>
              <a:t>forecast period, owing to an increase in average selling price.</a:t>
            </a:r>
          </a:p>
        </p:txBody>
      </p:sp>
      <p:sp>
        <p:nvSpPr>
          <p:cNvPr id="49" name="lockshield_9"/>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lockshield_12"/>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Summary Country Indices (Value)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gridCol w="969873"/>
                <a:gridCol w="661933"/>
                <a:gridCol w="1269060"/>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2374032" cy="2004399"/>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6584082" y="1293011"/>
            <a:ext cx="1369293" cy="2004399"/>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7" name="Rectangle 16"/>
          <p:cNvSpPr/>
          <p:nvPr/>
        </p:nvSpPr>
        <p:spPr>
          <a:xfrm>
            <a:off x="4210050" y="3297410"/>
            <a:ext cx="1575606" cy="1459081"/>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8" name="Rectangle 17"/>
          <p:cNvSpPr/>
          <p:nvPr/>
        </p:nvSpPr>
        <p:spPr>
          <a:xfrm>
            <a:off x="4210050" y="4756491"/>
            <a:ext cx="1575606" cy="1122118"/>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9" name="Rectangle 18"/>
          <p:cNvSpPr/>
          <p:nvPr/>
        </p:nvSpPr>
        <p:spPr>
          <a:xfrm>
            <a:off x="5785656" y="3297410"/>
            <a:ext cx="1189588" cy="1132386"/>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0" name="Rectangle 19"/>
          <p:cNvSpPr/>
          <p:nvPr/>
        </p:nvSpPr>
        <p:spPr>
          <a:xfrm>
            <a:off x="6975244" y="3297410"/>
            <a:ext cx="978131" cy="1132386"/>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Brazil</a:t>
            </a:r>
          </a:p>
          <a:p>
            <a:pPr algn="ctr"/>
            <a:r>
              <a:rPr sz="1100" b="0">
                <a:solidFill>
                  <a:srgbClr val="2E2E2E"/>
                </a:solidFill>
                <a:latin typeface="Calibri"/>
              </a:rPr>
              <a:t> </a:t>
            </a:r>
          </a:p>
        </p:txBody>
      </p:sp>
      <p:sp>
        <p:nvSpPr>
          <p:cNvPr id="21" name="Rectangle 20"/>
          <p:cNvSpPr/>
          <p:nvPr/>
        </p:nvSpPr>
        <p:spPr>
          <a:xfrm>
            <a:off x="5785656" y="4429795"/>
            <a:ext cx="1187161" cy="808402"/>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2" name="Rectangle 21"/>
          <p:cNvSpPr/>
          <p:nvPr/>
        </p:nvSpPr>
        <p:spPr>
          <a:xfrm>
            <a:off x="5785656" y="5238198"/>
            <a:ext cx="1187161" cy="640412"/>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3" name="Rectangle 22"/>
          <p:cNvSpPr/>
          <p:nvPr/>
        </p:nvSpPr>
        <p:spPr>
          <a:xfrm>
            <a:off x="6972817" y="4429795"/>
            <a:ext cx="980558" cy="761836"/>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France</a:t>
            </a:r>
          </a:p>
          <a:p>
            <a:pPr algn="ctr"/>
            <a:r>
              <a:rPr sz="1100" b="0">
                <a:solidFill>
                  <a:srgbClr val="2E2E2E"/>
                </a:solidFill>
                <a:latin typeface="Calibri"/>
              </a:rPr>
              <a:t> </a:t>
            </a:r>
          </a:p>
        </p:txBody>
      </p:sp>
      <p:sp>
        <p:nvSpPr>
          <p:cNvPr id="24" name="Rectangle 23"/>
          <p:cNvSpPr/>
          <p:nvPr/>
        </p:nvSpPr>
        <p:spPr>
          <a:xfrm>
            <a:off x="6972817" y="5191631"/>
            <a:ext cx="980558" cy="686979"/>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Turkey</a:t>
            </a:r>
          </a:p>
          <a:p>
            <a:pPr algn="ctr"/>
            <a:r>
              <a:rPr sz="1100" b="0">
                <a:solidFill>
                  <a:srgbClr val="2E2E2E"/>
                </a:solidFill>
                <a:latin typeface="Calibri"/>
              </a:rPr>
              <a:t> </a:t>
            </a:r>
          </a:p>
        </p:txBody>
      </p:sp>
      <p:sp>
        <p:nvSpPr>
          <p:cNvPr id="25" name="Rounded Rectangle 24"/>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7" name="Chart 26"/>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8" name="Rounded Rectangle 27"/>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9" name="Table 28"/>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0" name="TextBox 29"/>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31" name="Rounded Rectangle 30"/>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6"/>
          <a:stretch>
            <a:fillRect/>
          </a:stretch>
        </p:blipFill>
        <p:spPr>
          <a:xfrm>
            <a:off x="3188017" y="2125483"/>
            <a:ext cx="183356" cy="266700"/>
          </a:xfrm>
          <a:prstGeom prst="rect">
            <a:avLst/>
          </a:prstGeom>
        </p:spPr>
      </p:pic>
      <p:pic>
        <p:nvPicPr>
          <p:cNvPr id="35" name="Picture 34" descr="lock.png"/>
          <p:cNvPicPr>
            <a:picLocks noChangeAspect="1"/>
          </p:cNvPicPr>
          <p:nvPr/>
        </p:nvPicPr>
        <p:blipFill>
          <a:blip r:embed="rId6"/>
          <a:stretch>
            <a:fillRect/>
          </a:stretch>
        </p:blipFill>
        <p:spPr>
          <a:xfrm>
            <a:off x="2447283" y="4512977"/>
            <a:ext cx="332867" cy="484170"/>
          </a:xfrm>
          <a:prstGeom prst="rect">
            <a:avLst/>
          </a:prstGeom>
        </p:spPr>
      </p:pic>
      <p:pic>
        <p:nvPicPr>
          <p:cNvPr id="36" name="Picture 35" descr="lock.png"/>
          <p:cNvPicPr>
            <a:picLocks noChangeAspect="1"/>
          </p:cNvPicPr>
          <p:nvPr/>
        </p:nvPicPr>
        <p:blipFill>
          <a:blip r:embed="rId6"/>
          <a:stretch>
            <a:fillRect/>
          </a:stretch>
        </p:blipFill>
        <p:spPr>
          <a:xfrm>
            <a:off x="5339440" y="2295210"/>
            <a:ext cx="115252" cy="167639"/>
          </a:xfrm>
          <a:prstGeom prst="rect">
            <a:avLst/>
          </a:prstGeom>
        </p:spPr>
      </p:pic>
      <p:pic>
        <p:nvPicPr>
          <p:cNvPr id="37" name="Picture 36" descr="lock.png"/>
          <p:cNvPicPr>
            <a:picLocks noChangeAspect="1"/>
          </p:cNvPicPr>
          <p:nvPr/>
        </p:nvPicPr>
        <p:blipFill>
          <a:blip r:embed="rId6"/>
          <a:stretch>
            <a:fillRect/>
          </a:stretch>
        </p:blipFill>
        <p:spPr>
          <a:xfrm>
            <a:off x="7211102" y="2295210"/>
            <a:ext cx="115252" cy="167639"/>
          </a:xfrm>
          <a:prstGeom prst="rect">
            <a:avLst/>
          </a:prstGeom>
        </p:spPr>
      </p:pic>
      <p:pic>
        <p:nvPicPr>
          <p:cNvPr id="38" name="Picture 37" descr="lock.png"/>
          <p:cNvPicPr>
            <a:picLocks noChangeAspect="1"/>
          </p:cNvPicPr>
          <p:nvPr/>
        </p:nvPicPr>
        <p:blipFill>
          <a:blip r:embed="rId6"/>
          <a:stretch>
            <a:fillRect/>
          </a:stretch>
        </p:blipFill>
        <p:spPr>
          <a:xfrm>
            <a:off x="4940227" y="4026950"/>
            <a:ext cx="115252" cy="167639"/>
          </a:xfrm>
          <a:prstGeom prst="rect">
            <a:avLst/>
          </a:prstGeom>
        </p:spPr>
      </p:pic>
      <p:pic>
        <p:nvPicPr>
          <p:cNvPr id="39" name="Picture 38" descr="lock.png"/>
          <p:cNvPicPr>
            <a:picLocks noChangeAspect="1"/>
          </p:cNvPicPr>
          <p:nvPr/>
        </p:nvPicPr>
        <p:blipFill>
          <a:blip r:embed="rId6"/>
          <a:stretch>
            <a:fillRect/>
          </a:stretch>
        </p:blipFill>
        <p:spPr>
          <a:xfrm>
            <a:off x="4940227" y="5317550"/>
            <a:ext cx="115252" cy="167639"/>
          </a:xfrm>
          <a:prstGeom prst="rect">
            <a:avLst/>
          </a:prstGeom>
        </p:spPr>
      </p:pic>
      <p:pic>
        <p:nvPicPr>
          <p:cNvPr id="40" name="Picture 39" descr="lock.png"/>
          <p:cNvPicPr>
            <a:picLocks noChangeAspect="1"/>
          </p:cNvPicPr>
          <p:nvPr/>
        </p:nvPicPr>
        <p:blipFill>
          <a:blip r:embed="rId6"/>
          <a:stretch>
            <a:fillRect/>
          </a:stretch>
        </p:blipFill>
        <p:spPr>
          <a:xfrm>
            <a:off x="6322824" y="3863603"/>
            <a:ext cx="115252" cy="167639"/>
          </a:xfrm>
          <a:prstGeom prst="rect">
            <a:avLst/>
          </a:prstGeom>
        </p:spPr>
      </p:pic>
      <p:pic>
        <p:nvPicPr>
          <p:cNvPr id="41" name="Picture 40" descr="lock.png"/>
          <p:cNvPicPr>
            <a:picLocks noChangeAspect="1"/>
          </p:cNvPicPr>
          <p:nvPr/>
        </p:nvPicPr>
        <p:blipFill>
          <a:blip r:embed="rId6"/>
          <a:stretch>
            <a:fillRect/>
          </a:stretch>
        </p:blipFill>
        <p:spPr>
          <a:xfrm>
            <a:off x="7406683" y="3863603"/>
            <a:ext cx="115252" cy="167639"/>
          </a:xfrm>
          <a:prstGeom prst="rect">
            <a:avLst/>
          </a:prstGeom>
        </p:spPr>
      </p:pic>
      <p:pic>
        <p:nvPicPr>
          <p:cNvPr id="42" name="Picture 41" descr="lock.png"/>
          <p:cNvPicPr>
            <a:picLocks noChangeAspect="1"/>
          </p:cNvPicPr>
          <p:nvPr/>
        </p:nvPicPr>
        <p:blipFill>
          <a:blip r:embed="rId6"/>
          <a:stretch>
            <a:fillRect/>
          </a:stretch>
        </p:blipFill>
        <p:spPr>
          <a:xfrm>
            <a:off x="6321610" y="4833996"/>
            <a:ext cx="115252" cy="167639"/>
          </a:xfrm>
          <a:prstGeom prst="rect">
            <a:avLst/>
          </a:prstGeom>
        </p:spPr>
      </p:pic>
      <p:pic>
        <p:nvPicPr>
          <p:cNvPr id="43" name="Picture 42" descr="lock.png"/>
          <p:cNvPicPr>
            <a:picLocks noChangeAspect="1"/>
          </p:cNvPicPr>
          <p:nvPr/>
        </p:nvPicPr>
        <p:blipFill>
          <a:blip r:embed="rId6"/>
          <a:stretch>
            <a:fillRect/>
          </a:stretch>
        </p:blipFill>
        <p:spPr>
          <a:xfrm>
            <a:off x="6321610" y="5558404"/>
            <a:ext cx="115252" cy="167639"/>
          </a:xfrm>
          <a:prstGeom prst="rect">
            <a:avLst/>
          </a:prstGeom>
        </p:spPr>
      </p:pic>
      <p:pic>
        <p:nvPicPr>
          <p:cNvPr id="44" name="Picture 43" descr="lock.png"/>
          <p:cNvPicPr>
            <a:picLocks noChangeAspect="1"/>
          </p:cNvPicPr>
          <p:nvPr/>
        </p:nvPicPr>
        <p:blipFill>
          <a:blip r:embed="rId6"/>
          <a:stretch>
            <a:fillRect/>
          </a:stretch>
        </p:blipFill>
        <p:spPr>
          <a:xfrm>
            <a:off x="7405470" y="4810713"/>
            <a:ext cx="115252" cy="167639"/>
          </a:xfrm>
          <a:prstGeom prst="rect">
            <a:avLst/>
          </a:prstGeom>
        </p:spPr>
      </p:pic>
      <p:pic>
        <p:nvPicPr>
          <p:cNvPr id="45" name="Picture 44" descr="lock.png"/>
          <p:cNvPicPr>
            <a:picLocks noChangeAspect="1"/>
          </p:cNvPicPr>
          <p:nvPr/>
        </p:nvPicPr>
        <p:blipFill>
          <a:blip r:embed="rId6"/>
          <a:stretch>
            <a:fillRect/>
          </a:stretch>
        </p:blipFill>
        <p:spPr>
          <a:xfrm>
            <a:off x="7405470" y="5535120"/>
            <a:ext cx="115252" cy="167639"/>
          </a:xfrm>
          <a:prstGeom prst="rect">
            <a:avLst/>
          </a:prstGeom>
        </p:spPr>
      </p:pic>
      <p:pic>
        <p:nvPicPr>
          <p:cNvPr id="46" name="Picture 45" descr="lock.png"/>
          <p:cNvPicPr>
            <a:picLocks noChangeAspect="1"/>
          </p:cNvPicPr>
          <p:nvPr/>
        </p:nvPicPr>
        <p:blipFill>
          <a:blip r:embed="rId6"/>
          <a:stretch>
            <a:fillRect/>
          </a:stretch>
        </p:blipFill>
        <p:spPr>
          <a:xfrm>
            <a:off x="11131867" y="2120920"/>
            <a:ext cx="183356" cy="266700"/>
          </a:xfrm>
          <a:prstGeom prst="rect">
            <a:avLst/>
          </a:prstGeom>
        </p:spPr>
      </p:pic>
      <p:pic>
        <p:nvPicPr>
          <p:cNvPr id="47" name="Picture 46" descr="lock.png"/>
          <p:cNvPicPr>
            <a:picLocks noChangeAspect="1"/>
          </p:cNvPicPr>
          <p:nvPr/>
        </p:nvPicPr>
        <p:blipFill>
          <a:blip r:embed="rId6"/>
          <a:stretch>
            <a:fillRect/>
          </a:stretch>
        </p:blipFill>
        <p:spPr>
          <a:xfrm>
            <a:off x="10208848" y="4492667"/>
            <a:ext cx="354517" cy="515661"/>
          </a:xfrm>
          <a:prstGeom prst="rect">
            <a:avLst/>
          </a:prstGeom>
        </p:spPr>
      </p:pic>
      <p:sp>
        <p:nvSpPr>
          <p:cNvPr id="48" name="TextBox 47"/>
          <p:cNvSpPr txBox="1"/>
          <p:nvPr/>
        </p:nvSpPr>
        <p:spPr>
          <a:xfrm>
            <a:off x="257175" y="6160574"/>
            <a:ext cx="3840733" cy="186689"/>
          </a:xfrm>
          <a:prstGeom prst="rect">
            <a:avLst/>
          </a:prstGeom>
          <a:noFill/>
        </p:spPr>
        <p:txBody>
          <a:bodyPr wrap="none" lIns="0" rIns="0" tIns="0" bIns="0">
            <a:spAutoFit/>
          </a:bodyPr>
          <a:lstStyle/>
          <a:p>
            <a:r>
              <a:rPr sz="1100" b="0">
                <a:solidFill>
                  <a:srgbClr val="2E2E2E"/>
                </a:solidFill>
                <a:latin typeface="Calibri"/>
              </a:rPr>
              <a:t>The U.S. foam protective packaging market is projected to register</a:t>
            </a:r>
          </a:p>
        </p:txBody>
      </p:sp>
      <p:pic>
        <p:nvPicPr>
          <p:cNvPr id="49" name="Picture 48" descr="lock.png"/>
          <p:cNvPicPr>
            <a:picLocks noChangeAspect="1"/>
          </p:cNvPicPr>
          <p:nvPr/>
        </p:nvPicPr>
        <p:blipFill>
          <a:blip r:embed="rId6"/>
          <a:stretch>
            <a:fillRect/>
          </a:stretch>
        </p:blipFill>
        <p:spPr>
          <a:xfrm>
            <a:off x="4045959" y="6150795"/>
            <a:ext cx="128699" cy="187198"/>
          </a:xfrm>
          <a:prstGeom prst="rect">
            <a:avLst/>
          </a:prstGeom>
        </p:spPr>
      </p:pic>
      <p:sp>
        <p:nvSpPr>
          <p:cNvPr id="50" name="TextBox 49"/>
          <p:cNvSpPr txBox="1"/>
          <p:nvPr/>
        </p:nvSpPr>
        <p:spPr>
          <a:xfrm>
            <a:off x="4213455"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1" name="Picture 50" descr="lock.png"/>
          <p:cNvPicPr>
            <a:picLocks noChangeAspect="1"/>
          </p:cNvPicPr>
          <p:nvPr/>
        </p:nvPicPr>
        <p:blipFill>
          <a:blip r:embed="rId6"/>
          <a:stretch>
            <a:fillRect/>
          </a:stretch>
        </p:blipFill>
        <p:spPr>
          <a:xfrm>
            <a:off x="8460340" y="6150795"/>
            <a:ext cx="128699" cy="187198"/>
          </a:xfrm>
          <a:prstGeom prst="rect">
            <a:avLst/>
          </a:prstGeom>
        </p:spPr>
      </p:pic>
      <p:sp>
        <p:nvSpPr>
          <p:cNvPr id="52" name="TextBox 51"/>
          <p:cNvSpPr txBox="1"/>
          <p:nvPr/>
        </p:nvSpPr>
        <p:spPr>
          <a:xfrm>
            <a:off x="8627836"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3" name="Picture 52" descr="lock.png"/>
          <p:cNvPicPr>
            <a:picLocks noChangeAspect="1"/>
          </p:cNvPicPr>
          <p:nvPr/>
        </p:nvPicPr>
        <p:blipFill>
          <a:blip r:embed="rId6"/>
          <a:stretch>
            <a:fillRect/>
          </a:stretch>
        </p:blipFill>
        <p:spPr>
          <a:xfrm>
            <a:off x="9365867" y="6150795"/>
            <a:ext cx="128699" cy="187198"/>
          </a:xfrm>
          <a:prstGeom prst="rect">
            <a:avLst/>
          </a:prstGeom>
        </p:spPr>
      </p:pic>
      <p:sp>
        <p:nvSpPr>
          <p:cNvPr id="54" name="TextBox 53"/>
          <p:cNvSpPr txBox="1"/>
          <p:nvPr/>
        </p:nvSpPr>
        <p:spPr>
          <a:xfrm>
            <a:off x="9533363"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5" name="TextBox 54"/>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6" name="Picture 55" descr="lock.png"/>
          <p:cNvPicPr>
            <a:picLocks noChangeAspect="1"/>
          </p:cNvPicPr>
          <p:nvPr/>
        </p:nvPicPr>
        <p:blipFill>
          <a:blip r:embed="rId6"/>
          <a:stretch>
            <a:fillRect/>
          </a:stretch>
        </p:blipFill>
        <p:spPr>
          <a:xfrm>
            <a:off x="3785386" y="6318435"/>
            <a:ext cx="128699" cy="187198"/>
          </a:xfrm>
          <a:prstGeom prst="rect">
            <a:avLst/>
          </a:prstGeom>
        </p:spPr>
      </p:pic>
      <p:sp>
        <p:nvSpPr>
          <p:cNvPr id="57" name="TextBox 56"/>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58" name="Picture 57" descr="lock.png"/>
          <p:cNvPicPr>
            <a:picLocks noChangeAspect="1"/>
          </p:cNvPicPr>
          <p:nvPr/>
        </p:nvPicPr>
        <p:blipFill>
          <a:blip r:embed="rId6"/>
          <a:stretch>
            <a:fillRect/>
          </a:stretch>
        </p:blipFill>
        <p:spPr>
          <a:xfrm>
            <a:off x="7212880" y="6318435"/>
            <a:ext cx="128699" cy="187198"/>
          </a:xfrm>
          <a:prstGeom prst="rect">
            <a:avLst/>
          </a:prstGeom>
        </p:spPr>
      </p:pic>
      <p:sp>
        <p:nvSpPr>
          <p:cNvPr id="59" name="TextBox 58"/>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0"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7"/>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Summary Country Indices (Value)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9810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9" name="TextBox 8"/>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0" name="Rounded Rectangle 9"/>
          <p:cNvSpPr/>
          <p:nvPr/>
        </p:nvSpPr>
        <p:spPr>
          <a:xfrm>
            <a:off x="142875" y="290512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2981325"/>
          <a:ext cx="11887201" cy="1485896"/>
        </p:xfrm>
        <a:graphic>
          <a:graphicData uri="http://schemas.openxmlformats.org/drawingml/2006/table">
            <a:tbl>
              <a:tblPr>
                <a:tableStyleId>{5C22544A-7EE6-4342-B048-85BDC9FD1C3A}</a:tableStyleId>
              </a:tblPr>
              <a:tblGrid>
                <a:gridCol w="1943458"/>
                <a:gridCol w="3314581"/>
                <a:gridCol w="3314581"/>
                <a:gridCol w="331458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4"/>
          <a:stretch>
            <a:fillRect/>
          </a:stretch>
        </p:blipFill>
        <p:spPr>
          <a:xfrm>
            <a:off x="6906537" y="1656588"/>
            <a:ext cx="366712" cy="533400"/>
          </a:xfrm>
          <a:prstGeom prst="rect">
            <a:avLst/>
          </a:prstGeom>
        </p:spPr>
      </p:pic>
      <p:pic>
        <p:nvPicPr>
          <p:cNvPr id="16" name="Picture 15" descr="lock.png"/>
          <p:cNvPicPr>
            <a:picLocks noChangeAspect="1"/>
          </p:cNvPicPr>
          <p:nvPr/>
        </p:nvPicPr>
        <p:blipFill>
          <a:blip r:embed="rId4"/>
          <a:stretch>
            <a:fillRect/>
          </a:stretch>
        </p:blipFill>
        <p:spPr>
          <a:xfrm>
            <a:off x="6881039" y="3580638"/>
            <a:ext cx="366712" cy="5334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57500"/>
            <a:ext cx="11906250" cy="1628775"/>
          </a:xfrm>
          <a:prstGeom prst="roundRect">
            <a:avLst>
              <a:gd name="adj" fmla="val 46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813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619625"/>
            <a:ext cx="3943350"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9434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'Expanded Polypropylene (EPP)'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5 material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874070" cy="194310"/>
          </a:xfrm>
          <a:prstGeom prst="rect">
            <a:avLst/>
          </a:prstGeom>
          <a:noFill/>
        </p:spPr>
        <p:txBody>
          <a:bodyPr wrap="none" lIns="0" rIns="0" tIns="0" bIns="0">
            <a:spAutoFit/>
          </a:bodyPr>
          <a:lstStyle/>
          <a:p>
            <a:r>
              <a:rPr sz="1150" b="0">
                <a:solidFill>
                  <a:srgbClr val="2E2E2E"/>
                </a:solidFill>
                <a:latin typeface="Calibri"/>
              </a:rPr>
              <a:t>Global foam protective packaging market is expected to witness</a:t>
            </a:r>
          </a:p>
        </p:txBody>
      </p:sp>
      <p:pic>
        <p:nvPicPr>
          <p:cNvPr id="30" name="Picture 29" descr="lock.png"/>
          <p:cNvPicPr>
            <a:picLocks noChangeAspect="1"/>
          </p:cNvPicPr>
          <p:nvPr/>
        </p:nvPicPr>
        <p:blipFill>
          <a:blip r:embed="rId4"/>
          <a:stretch>
            <a:fillRect/>
          </a:stretch>
        </p:blipFill>
        <p:spPr>
          <a:xfrm>
            <a:off x="4099449" y="1389951"/>
            <a:ext cx="134549" cy="195707"/>
          </a:xfrm>
          <a:prstGeom prst="rect">
            <a:avLst/>
          </a:prstGeom>
        </p:spPr>
      </p:pic>
      <p:sp>
        <p:nvSpPr>
          <p:cNvPr id="31" name="TextBox 30"/>
          <p:cNvSpPr txBox="1"/>
          <p:nvPr/>
        </p:nvSpPr>
        <p:spPr>
          <a:xfrm>
            <a:off x="4274558" y="1400175"/>
            <a:ext cx="5762736" cy="194310"/>
          </a:xfrm>
          <a:prstGeom prst="rect">
            <a:avLst/>
          </a:prstGeom>
          <a:noFill/>
        </p:spPr>
        <p:txBody>
          <a:bodyPr wrap="none" lIns="0" rIns="0" tIns="0" bIns="0">
            <a:spAutoFit/>
          </a:bodyPr>
          <a:lstStyle/>
          <a:p>
            <a:r>
              <a:rPr sz="1150" b="0">
                <a:solidFill>
                  <a:srgbClr val="2E2E2E"/>
                </a:solidFill>
                <a:latin typeface="Calibri"/>
              </a:rPr>
              <a:t>X increase in revenue by 2036 end. Global foam protective packaging market accounted for US$</a:t>
            </a:r>
          </a:p>
        </p:txBody>
      </p:sp>
      <p:pic>
        <p:nvPicPr>
          <p:cNvPr id="32" name="Picture 31" descr="lock.png"/>
          <p:cNvPicPr>
            <a:picLocks noChangeAspect="1"/>
          </p:cNvPicPr>
          <p:nvPr/>
        </p:nvPicPr>
        <p:blipFill>
          <a:blip r:embed="rId4"/>
          <a:stretch>
            <a:fillRect/>
          </a:stretch>
        </p:blipFill>
        <p:spPr>
          <a:xfrm>
            <a:off x="9986449" y="1389951"/>
            <a:ext cx="134549" cy="195707"/>
          </a:xfrm>
          <a:prstGeom prst="rect">
            <a:avLst/>
          </a:prstGeom>
        </p:spPr>
      </p:pic>
      <p:sp>
        <p:nvSpPr>
          <p:cNvPr id="33" name="TextBox 32"/>
          <p:cNvSpPr txBox="1"/>
          <p:nvPr/>
        </p:nvSpPr>
        <p:spPr>
          <a:xfrm>
            <a:off x="10161558" y="1400175"/>
            <a:ext cx="1297942" cy="194310"/>
          </a:xfrm>
          <a:prstGeom prst="rect">
            <a:avLst/>
          </a:prstGeom>
          <a:noFill/>
        </p:spPr>
        <p:txBody>
          <a:bodyPr wrap="none" lIns="0" rIns="0" tIns="0" bIns="0">
            <a:spAutoFit/>
          </a:bodyPr>
          <a:lstStyle/>
          <a:p>
            <a:r>
              <a:rPr sz="1150" b="0">
                <a:solidFill>
                  <a:srgbClr val="2E2E2E"/>
                </a:solidFill>
                <a:latin typeface="Calibri"/>
              </a:rPr>
              <a:t>Mn in 2025, which is</a:t>
            </a:r>
          </a:p>
        </p:txBody>
      </p:sp>
      <p:sp>
        <p:nvSpPr>
          <p:cNvPr id="34" name="TextBox 33"/>
          <p:cNvSpPr txBox="1"/>
          <p:nvPr/>
        </p:nvSpPr>
        <p:spPr>
          <a:xfrm>
            <a:off x="276225" y="1575435"/>
            <a:ext cx="1737518" cy="194310"/>
          </a:xfrm>
          <a:prstGeom prst="rect">
            <a:avLst/>
          </a:prstGeom>
          <a:noFill/>
        </p:spPr>
        <p:txBody>
          <a:bodyPr wrap="none" lIns="0" rIns="0" tIns="0" bIns="0">
            <a:spAutoFit/>
          </a:bodyPr>
          <a:lstStyle/>
          <a:p>
            <a:r>
              <a:rPr sz="1150" b="0">
                <a:solidFill>
                  <a:srgbClr val="2E2E2E"/>
                </a:solidFill>
                <a:latin typeface="Calibri"/>
              </a:rPr>
              <a:t>expected to increase to US$</a:t>
            </a:r>
          </a:p>
        </p:txBody>
      </p:sp>
      <p:pic>
        <p:nvPicPr>
          <p:cNvPr id="35" name="Picture 34" descr="lock.png"/>
          <p:cNvPicPr>
            <a:picLocks noChangeAspect="1"/>
          </p:cNvPicPr>
          <p:nvPr/>
        </p:nvPicPr>
        <p:blipFill>
          <a:blip r:embed="rId4"/>
          <a:stretch>
            <a:fillRect/>
          </a:stretch>
        </p:blipFill>
        <p:spPr>
          <a:xfrm>
            <a:off x="1962897" y="1565211"/>
            <a:ext cx="134549" cy="195707"/>
          </a:xfrm>
          <a:prstGeom prst="rect">
            <a:avLst/>
          </a:prstGeom>
        </p:spPr>
      </p:pic>
      <p:sp>
        <p:nvSpPr>
          <p:cNvPr id="36" name="TextBox 35"/>
          <p:cNvSpPr txBox="1"/>
          <p:nvPr/>
        </p:nvSpPr>
        <p:spPr>
          <a:xfrm>
            <a:off x="213800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7" name="Picture 36" descr="lock.png"/>
          <p:cNvPicPr>
            <a:picLocks noChangeAspect="1"/>
          </p:cNvPicPr>
          <p:nvPr/>
        </p:nvPicPr>
        <p:blipFill>
          <a:blip r:embed="rId4"/>
          <a:stretch>
            <a:fillRect/>
          </a:stretch>
        </p:blipFill>
        <p:spPr>
          <a:xfrm>
            <a:off x="3614714" y="1565211"/>
            <a:ext cx="134549" cy="195707"/>
          </a:xfrm>
          <a:prstGeom prst="rect">
            <a:avLst/>
          </a:prstGeom>
        </p:spPr>
      </p:pic>
      <p:sp>
        <p:nvSpPr>
          <p:cNvPr id="38" name="TextBox 37"/>
          <p:cNvSpPr txBox="1"/>
          <p:nvPr/>
        </p:nvSpPr>
        <p:spPr>
          <a:xfrm>
            <a:off x="37898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9" name="TextBox 38"/>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foam protective packaging market has been analysed on the basis of material type, product form and end-use industry across the globe. North America is expected to remain the largest</a:t>
            </a:r>
          </a:p>
        </p:txBody>
      </p:sp>
      <p:sp>
        <p:nvSpPr>
          <p:cNvPr id="40" name="TextBox 39"/>
          <p:cNvSpPr txBox="1"/>
          <p:nvPr/>
        </p:nvSpPr>
        <p:spPr>
          <a:xfrm>
            <a:off x="276225" y="1978533"/>
            <a:ext cx="7370124" cy="194310"/>
          </a:xfrm>
          <a:prstGeom prst="rect">
            <a:avLst/>
          </a:prstGeom>
          <a:noFill/>
        </p:spPr>
        <p:txBody>
          <a:bodyPr wrap="none" lIns="0" rIns="0" tIns="0" bIns="0">
            <a:spAutoFit/>
          </a:bodyPr>
          <a:lstStyle/>
          <a:p>
            <a:r>
              <a:rPr sz="1150" b="0">
                <a:solidFill>
                  <a:srgbClr val="2E2E2E"/>
                </a:solidFill>
                <a:latin typeface="Calibri"/>
              </a:rPr>
              <a:t>market for foam protective packaging, while demand in South Asia &amp; Pacific is projected to increase at the highest CAGR of</a:t>
            </a:r>
          </a:p>
        </p:txBody>
      </p:sp>
      <p:pic>
        <p:nvPicPr>
          <p:cNvPr id="41" name="Picture 40" descr="lock.png"/>
          <p:cNvPicPr>
            <a:picLocks noChangeAspect="1"/>
          </p:cNvPicPr>
          <p:nvPr/>
        </p:nvPicPr>
        <p:blipFill>
          <a:blip r:embed="rId4"/>
          <a:stretch>
            <a:fillRect/>
          </a:stretch>
        </p:blipFill>
        <p:spPr>
          <a:xfrm>
            <a:off x="7595503" y="1968309"/>
            <a:ext cx="134549" cy="195707"/>
          </a:xfrm>
          <a:prstGeom prst="rect">
            <a:avLst/>
          </a:prstGeom>
        </p:spPr>
      </p:pic>
      <p:sp>
        <p:nvSpPr>
          <p:cNvPr id="42" name="TextBox 41"/>
          <p:cNvSpPr txBox="1"/>
          <p:nvPr/>
        </p:nvSpPr>
        <p:spPr>
          <a:xfrm>
            <a:off x="7770612"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3" name="TextBox 42"/>
          <p:cNvSpPr txBox="1"/>
          <p:nvPr/>
        </p:nvSpPr>
        <p:spPr>
          <a:xfrm>
            <a:off x="276225" y="3276600"/>
            <a:ext cx="5629777" cy="194310"/>
          </a:xfrm>
          <a:prstGeom prst="rect">
            <a:avLst/>
          </a:prstGeom>
          <a:noFill/>
        </p:spPr>
        <p:txBody>
          <a:bodyPr wrap="none" lIns="0" rIns="0" tIns="0" bIns="0">
            <a:spAutoFit/>
          </a:bodyPr>
          <a:lstStyle/>
          <a:p>
            <a:r>
              <a:rPr sz="1150" b="0">
                <a:solidFill>
                  <a:srgbClr val="2E2E2E"/>
                </a:solidFill>
                <a:latin typeface="Calibri"/>
              </a:rPr>
              <a:t>▪ The market is consolidated: the leading material type category 'Other Foam Materials' holds</a:t>
            </a:r>
          </a:p>
        </p:txBody>
      </p:sp>
      <p:pic>
        <p:nvPicPr>
          <p:cNvPr id="44" name="Picture 43" descr="lock.png"/>
          <p:cNvPicPr>
            <a:picLocks noChangeAspect="1"/>
          </p:cNvPicPr>
          <p:nvPr/>
        </p:nvPicPr>
        <p:blipFill>
          <a:blip r:embed="rId4"/>
          <a:stretch>
            <a:fillRect/>
          </a:stretch>
        </p:blipFill>
        <p:spPr>
          <a:xfrm>
            <a:off x="5855156" y="3266376"/>
            <a:ext cx="134549" cy="195707"/>
          </a:xfrm>
          <a:prstGeom prst="rect">
            <a:avLst/>
          </a:prstGeom>
        </p:spPr>
      </p:pic>
      <p:sp>
        <p:nvSpPr>
          <p:cNvPr id="45" name="TextBox 44"/>
          <p:cNvSpPr txBox="1"/>
          <p:nvPr/>
        </p:nvSpPr>
        <p:spPr>
          <a:xfrm>
            <a:off x="6030265"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3504437"/>
            <a:ext cx="4938352" cy="194310"/>
          </a:xfrm>
          <a:prstGeom prst="rect">
            <a:avLst/>
          </a:prstGeom>
          <a:noFill/>
        </p:spPr>
        <p:txBody>
          <a:bodyPr wrap="none" lIns="0" rIns="0" tIns="0" bIns="0">
            <a:spAutoFit/>
          </a:bodyPr>
          <a:lstStyle/>
          <a:p>
            <a:r>
              <a:rPr sz="1150" b="0">
                <a:solidFill>
                  <a:srgbClr val="2E2E2E"/>
                </a:solidFill>
                <a:latin typeface="Calibri"/>
              </a:rPr>
              <a:t>▪ Demand spans 6 regions and 5 segmentation lenses (5 material type categories).</a:t>
            </a:r>
          </a:p>
        </p:txBody>
      </p:sp>
      <p:sp>
        <p:nvSpPr>
          <p:cNvPr id="47" name="TextBox 46"/>
          <p:cNvSpPr txBox="1"/>
          <p:nvPr/>
        </p:nvSpPr>
        <p:spPr>
          <a:xfrm>
            <a:off x="276225" y="373227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8" name="Picture 47" descr="lock.png"/>
          <p:cNvPicPr>
            <a:picLocks noChangeAspect="1"/>
          </p:cNvPicPr>
          <p:nvPr/>
        </p:nvPicPr>
        <p:blipFill>
          <a:blip r:embed="rId4"/>
          <a:stretch>
            <a:fillRect/>
          </a:stretch>
        </p:blipFill>
        <p:spPr>
          <a:xfrm>
            <a:off x="3176367" y="3722052"/>
            <a:ext cx="134549" cy="195707"/>
          </a:xfrm>
          <a:prstGeom prst="rect">
            <a:avLst/>
          </a:prstGeom>
        </p:spPr>
      </p:pic>
      <p:sp>
        <p:nvSpPr>
          <p:cNvPr id="49" name="TextBox 48"/>
          <p:cNvSpPr txBox="1"/>
          <p:nvPr/>
        </p:nvSpPr>
        <p:spPr>
          <a:xfrm>
            <a:off x="3351477"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0" name="TextBox 49"/>
          <p:cNvSpPr txBox="1"/>
          <p:nvPr/>
        </p:nvSpPr>
        <p:spPr>
          <a:xfrm>
            <a:off x="276225" y="5038725"/>
            <a:ext cx="3411673" cy="194310"/>
          </a:xfrm>
          <a:prstGeom prst="rect">
            <a:avLst/>
          </a:prstGeom>
          <a:noFill/>
        </p:spPr>
        <p:txBody>
          <a:bodyPr wrap="none" lIns="0" rIns="0" tIns="0" bIns="0">
            <a:spAutoFit/>
          </a:bodyPr>
          <a:lstStyle/>
          <a:p>
            <a:r>
              <a:rPr sz="1150" b="0">
                <a:solidFill>
                  <a:srgbClr val="2E2E2E"/>
                </a:solidFill>
                <a:latin typeface="Calibri"/>
              </a:rPr>
              <a:t>▪ Accelerating uptake of 'Expanded Polypropylene (EPP)'</a:t>
            </a:r>
          </a:p>
        </p:txBody>
      </p:sp>
      <p:sp>
        <p:nvSpPr>
          <p:cNvPr id="51" name="TextBox 50"/>
          <p:cNvSpPr txBox="1"/>
          <p:nvPr/>
        </p:nvSpPr>
        <p:spPr>
          <a:xfrm>
            <a:off x="276225" y="521398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345793" y="5203761"/>
            <a:ext cx="134549" cy="195707"/>
          </a:xfrm>
          <a:prstGeom prst="rect">
            <a:avLst/>
          </a:prstGeom>
        </p:spPr>
      </p:pic>
      <p:sp>
        <p:nvSpPr>
          <p:cNvPr id="53" name="TextBox 52"/>
          <p:cNvSpPr txBox="1"/>
          <p:nvPr/>
        </p:nvSpPr>
        <p:spPr>
          <a:xfrm>
            <a:off x="520902" y="52139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4" name="TextBox 53"/>
          <p:cNvSpPr txBox="1"/>
          <p:nvPr/>
        </p:nvSpPr>
        <p:spPr>
          <a:xfrm>
            <a:off x="276225" y="544182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5" name="Picture 54" descr="lock.png"/>
          <p:cNvPicPr>
            <a:picLocks noChangeAspect="1"/>
          </p:cNvPicPr>
          <p:nvPr/>
        </p:nvPicPr>
        <p:blipFill>
          <a:blip r:embed="rId4"/>
          <a:stretch>
            <a:fillRect/>
          </a:stretch>
        </p:blipFill>
        <p:spPr>
          <a:xfrm>
            <a:off x="3102424" y="5431599"/>
            <a:ext cx="134549" cy="195707"/>
          </a:xfrm>
          <a:prstGeom prst="rect">
            <a:avLst/>
          </a:prstGeom>
        </p:spPr>
      </p:pic>
      <p:sp>
        <p:nvSpPr>
          <p:cNvPr id="56" name="TextBox 55"/>
          <p:cNvSpPr txBox="1"/>
          <p:nvPr/>
        </p:nvSpPr>
        <p:spPr>
          <a:xfrm>
            <a:off x="3277533" y="54418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276225" y="5669660"/>
            <a:ext cx="2966963" cy="194310"/>
          </a:xfrm>
          <a:prstGeom prst="rect">
            <a:avLst/>
          </a:prstGeom>
          <a:noFill/>
        </p:spPr>
        <p:txBody>
          <a:bodyPr wrap="none" lIns="0" rIns="0" tIns="0" bIns="0">
            <a:spAutoFit/>
          </a:bodyPr>
          <a:lstStyle/>
          <a:p>
            <a:r>
              <a:rPr sz="1150" b="0">
                <a:solidFill>
                  <a:srgbClr val="2E2E2E"/>
                </a:solidFill>
                <a:latin typeface="Calibri"/>
              </a:rPr>
              <a:t>▪ Momentum in Others within end-use industry (</a:t>
            </a:r>
          </a:p>
        </p:txBody>
      </p:sp>
      <p:pic>
        <p:nvPicPr>
          <p:cNvPr id="58" name="Picture 57" descr="lock.png"/>
          <p:cNvPicPr>
            <a:picLocks noChangeAspect="1"/>
          </p:cNvPicPr>
          <p:nvPr/>
        </p:nvPicPr>
        <p:blipFill>
          <a:blip r:embed="rId4"/>
          <a:stretch>
            <a:fillRect/>
          </a:stretch>
        </p:blipFill>
        <p:spPr>
          <a:xfrm>
            <a:off x="3192342" y="5659437"/>
            <a:ext cx="134549" cy="195707"/>
          </a:xfrm>
          <a:prstGeom prst="rect">
            <a:avLst/>
          </a:prstGeom>
        </p:spPr>
      </p:pic>
      <p:sp>
        <p:nvSpPr>
          <p:cNvPr id="59" name="TextBox 58"/>
          <p:cNvSpPr txBox="1"/>
          <p:nvPr/>
        </p:nvSpPr>
        <p:spPr>
          <a:xfrm>
            <a:off x="3367451"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4371975" y="5038725"/>
            <a:ext cx="3073331" cy="194310"/>
          </a:xfrm>
          <a:prstGeom prst="rect">
            <a:avLst/>
          </a:prstGeom>
          <a:noFill/>
        </p:spPr>
        <p:txBody>
          <a:bodyPr wrap="none" lIns="0" rIns="0" tIns="0" bIns="0">
            <a:spAutoFit/>
          </a:bodyPr>
          <a:lstStyle/>
          <a:p>
            <a:r>
              <a:rPr sz="1150" b="0">
                <a:solidFill>
                  <a:srgbClr val="2E2E2E"/>
                </a:solidFill>
                <a:latin typeface="Calibri"/>
              </a:rPr>
              <a:t>▪ Slower momentum in 'Polyurethane (PU) Foam' (</a:t>
            </a:r>
          </a:p>
        </p:txBody>
      </p:sp>
      <p:pic>
        <p:nvPicPr>
          <p:cNvPr id="61" name="Picture 60" descr="lock.png"/>
          <p:cNvPicPr>
            <a:picLocks noChangeAspect="1"/>
          </p:cNvPicPr>
          <p:nvPr/>
        </p:nvPicPr>
        <p:blipFill>
          <a:blip r:embed="rId4"/>
          <a:stretch>
            <a:fillRect/>
          </a:stretch>
        </p:blipFill>
        <p:spPr>
          <a:xfrm>
            <a:off x="7394460" y="5028501"/>
            <a:ext cx="134549" cy="195707"/>
          </a:xfrm>
          <a:prstGeom prst="rect">
            <a:avLst/>
          </a:prstGeom>
        </p:spPr>
      </p:pic>
      <p:sp>
        <p:nvSpPr>
          <p:cNvPr id="62" name="TextBox 61"/>
          <p:cNvSpPr txBox="1"/>
          <p:nvPr/>
        </p:nvSpPr>
        <p:spPr>
          <a:xfrm>
            <a:off x="7569569"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3" name="TextBox 62"/>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4" name="TextBox 63"/>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5" name="Picture 64" descr="lock.png"/>
          <p:cNvPicPr>
            <a:picLocks noChangeAspect="1"/>
          </p:cNvPicPr>
          <p:nvPr/>
        </p:nvPicPr>
        <p:blipFill>
          <a:blip r:embed="rId4"/>
          <a:stretch>
            <a:fillRect/>
          </a:stretch>
        </p:blipFill>
        <p:spPr>
          <a:xfrm>
            <a:off x="4883401" y="5431599"/>
            <a:ext cx="134549" cy="195707"/>
          </a:xfrm>
          <a:prstGeom prst="rect">
            <a:avLst/>
          </a:prstGeom>
        </p:spPr>
      </p:pic>
      <p:sp>
        <p:nvSpPr>
          <p:cNvPr id="66" name="TextBox 65"/>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7" name="TextBox 66"/>
          <p:cNvSpPr txBox="1"/>
          <p:nvPr/>
        </p:nvSpPr>
        <p:spPr>
          <a:xfrm>
            <a:off x="4371975" y="5669660"/>
            <a:ext cx="3284134" cy="194310"/>
          </a:xfrm>
          <a:prstGeom prst="rect">
            <a:avLst/>
          </a:prstGeom>
          <a:noFill/>
        </p:spPr>
        <p:txBody>
          <a:bodyPr wrap="none" lIns="0" rIns="0" tIns="0" bIns="0">
            <a:spAutoFit/>
          </a:bodyPr>
          <a:lstStyle/>
          <a:p>
            <a:r>
              <a:rPr sz="1150" b="0">
                <a:solidFill>
                  <a:srgbClr val="2E2E2E"/>
                </a:solidFill>
                <a:latin typeface="Calibri"/>
              </a:rPr>
              <a:t>▪ Value concentration in 'Other Foam Materials' raises</a:t>
            </a:r>
          </a:p>
        </p:txBody>
      </p:sp>
      <p:sp>
        <p:nvSpPr>
          <p:cNvPr id="68" name="TextBox 67"/>
          <p:cNvSpPr txBox="1"/>
          <p:nvPr/>
        </p:nvSpPr>
        <p:spPr>
          <a:xfrm>
            <a:off x="4371975" y="58449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'Expanded Polypropylene (EPP)' and South Asia &amp; Pacific.</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material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North America and South Asia &amp; Pacific.</a:t>
            </a:r>
          </a:p>
        </p:txBody>
      </p:sp>
      <p:sp>
        <p:nvSpPr>
          <p:cNvPr id="11" name="Rounded Rectangle 10"/>
          <p:cNvSpPr/>
          <p:nvPr/>
        </p:nvSpPr>
        <p:spPr>
          <a:xfrm>
            <a:off x="6172200"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ounded Rectangle 22"/>
          <p:cNvSpPr/>
          <p:nvPr/>
        </p:nvSpPr>
        <p:spPr>
          <a:xfrm>
            <a:off x="142875" y="44100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material type share (2036)</a:t>
            </a:r>
          </a:p>
        </p:txBody>
      </p:sp>
      <p:graphicFrame>
        <p:nvGraphicFramePr>
          <p:cNvPr id="25" name="Chart 24"/>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6" name="TextBox 25"/>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43964" y="5349744"/>
            <a:ext cx="366052" cy="532439"/>
          </a:xfrm>
          <a:prstGeom prst="rect">
            <a:avLst/>
          </a:prstGeom>
        </p:spPr>
      </p:pic>
      <p:sp>
        <p:nvSpPr>
          <p:cNvPr id="30" name="TextBox 29"/>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1" name="Picture 30" descr="lock.png"/>
          <p:cNvPicPr>
            <a:picLocks noChangeAspect="1"/>
          </p:cNvPicPr>
          <p:nvPr/>
        </p:nvPicPr>
        <p:blipFill>
          <a:blip r:embed="rId5"/>
          <a:stretch>
            <a:fillRect/>
          </a:stretch>
        </p:blipFill>
        <p:spPr>
          <a:xfrm>
            <a:off x="6937714" y="1390396"/>
            <a:ext cx="128699" cy="187198"/>
          </a:xfrm>
          <a:prstGeom prst="rect">
            <a:avLst/>
          </a:prstGeom>
        </p:spPr>
      </p:pic>
      <p:sp>
        <p:nvSpPr>
          <p:cNvPr id="32" name="TextBox 31"/>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3" name="Picture 32" descr="lock.png"/>
          <p:cNvPicPr>
            <a:picLocks noChangeAspect="1"/>
          </p:cNvPicPr>
          <p:nvPr/>
        </p:nvPicPr>
        <p:blipFill>
          <a:blip r:embed="rId5"/>
          <a:stretch>
            <a:fillRect/>
          </a:stretch>
        </p:blipFill>
        <p:spPr>
          <a:xfrm>
            <a:off x="7931645" y="1390396"/>
            <a:ext cx="128699" cy="187198"/>
          </a:xfrm>
          <a:prstGeom prst="rect">
            <a:avLst/>
          </a:prstGeom>
        </p:spPr>
      </p:pic>
      <p:sp>
        <p:nvSpPr>
          <p:cNvPr id="34" name="TextBox 33"/>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6" name="Picture 35" descr="lock.png"/>
          <p:cNvPicPr>
            <a:picLocks noChangeAspect="1"/>
          </p:cNvPicPr>
          <p:nvPr/>
        </p:nvPicPr>
        <p:blipFill>
          <a:blip r:embed="rId5"/>
          <a:stretch>
            <a:fillRect/>
          </a:stretch>
        </p:blipFill>
        <p:spPr>
          <a:xfrm>
            <a:off x="7245444" y="1608328"/>
            <a:ext cx="128699" cy="187198"/>
          </a:xfrm>
          <a:prstGeom prst="rect">
            <a:avLst/>
          </a:prstGeom>
        </p:spPr>
      </p:pic>
      <p:sp>
        <p:nvSpPr>
          <p:cNvPr id="37" name="TextBox 36"/>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38" name="TextBox 37"/>
          <p:cNvSpPr txBox="1"/>
          <p:nvPr/>
        </p:nvSpPr>
        <p:spPr>
          <a:xfrm>
            <a:off x="6305550" y="1836039"/>
            <a:ext cx="2293089" cy="186689"/>
          </a:xfrm>
          <a:prstGeom prst="rect">
            <a:avLst/>
          </a:prstGeom>
          <a:noFill/>
        </p:spPr>
        <p:txBody>
          <a:bodyPr wrap="none" lIns="0" rIns="0" tIns="0" bIns="0">
            <a:spAutoFit/>
          </a:bodyPr>
          <a:lstStyle/>
          <a:p>
            <a:r>
              <a:rPr sz="1100" b="0">
                <a:solidFill>
                  <a:srgbClr val="2E2E2E"/>
                </a:solidFill>
                <a:latin typeface="Calibri"/>
              </a:rPr>
              <a:t>▪ Lead category 'Other Foam Materials'</a:t>
            </a:r>
          </a:p>
        </p:txBody>
      </p:sp>
      <p:pic>
        <p:nvPicPr>
          <p:cNvPr id="39" name="Picture 38" descr="lock.png"/>
          <p:cNvPicPr>
            <a:picLocks noChangeAspect="1"/>
          </p:cNvPicPr>
          <p:nvPr/>
        </p:nvPicPr>
        <p:blipFill>
          <a:blip r:embed="rId5"/>
          <a:stretch>
            <a:fillRect/>
          </a:stretch>
        </p:blipFill>
        <p:spPr>
          <a:xfrm>
            <a:off x="8546690" y="1826260"/>
            <a:ext cx="128699" cy="187198"/>
          </a:xfrm>
          <a:prstGeom prst="rect">
            <a:avLst/>
          </a:prstGeom>
        </p:spPr>
      </p:pic>
      <p:sp>
        <p:nvSpPr>
          <p:cNvPr id="40" name="TextBox 39"/>
          <p:cNvSpPr txBox="1"/>
          <p:nvPr/>
        </p:nvSpPr>
        <p:spPr>
          <a:xfrm>
            <a:off x="8714186"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1" name="TextBox 40"/>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2" name="Picture 41" descr="lock.png"/>
          <p:cNvPicPr>
            <a:picLocks noChangeAspect="1"/>
          </p:cNvPicPr>
          <p:nvPr/>
        </p:nvPicPr>
        <p:blipFill>
          <a:blip r:embed="rId5"/>
          <a:stretch>
            <a:fillRect/>
          </a:stretch>
        </p:blipFill>
        <p:spPr>
          <a:xfrm>
            <a:off x="7939898" y="2044192"/>
            <a:ext cx="128699" cy="187198"/>
          </a:xfrm>
          <a:prstGeom prst="rect">
            <a:avLst/>
          </a:prstGeom>
        </p:spPr>
      </p:pic>
      <p:sp>
        <p:nvSpPr>
          <p:cNvPr id="43" name="TextBox 42"/>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5" name="Picture 44" descr="lock.png"/>
          <p:cNvPicPr>
            <a:picLocks noChangeAspect="1"/>
          </p:cNvPicPr>
          <p:nvPr/>
        </p:nvPicPr>
        <p:blipFill>
          <a:blip r:embed="rId5"/>
          <a:stretch>
            <a:fillRect/>
          </a:stretch>
        </p:blipFill>
        <p:spPr>
          <a:xfrm>
            <a:off x="7808384" y="2262124"/>
            <a:ext cx="128699" cy="187198"/>
          </a:xfrm>
          <a:prstGeom prst="rect">
            <a:avLst/>
          </a:prstGeom>
        </p:spPr>
      </p:pic>
      <p:sp>
        <p:nvSpPr>
          <p:cNvPr id="46" name="TextBox 45"/>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7" name="TextBox 46"/>
          <p:cNvSpPr txBox="1"/>
          <p:nvPr/>
        </p:nvSpPr>
        <p:spPr>
          <a:xfrm>
            <a:off x="276225" y="3267075"/>
            <a:ext cx="5084663"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'Expanded Polypropylene (EPP)' (</a:t>
            </a:r>
          </a:p>
        </p:txBody>
      </p:sp>
      <p:pic>
        <p:nvPicPr>
          <p:cNvPr id="48" name="Picture 47" descr="lock.png"/>
          <p:cNvPicPr>
            <a:picLocks noChangeAspect="1"/>
          </p:cNvPicPr>
          <p:nvPr/>
        </p:nvPicPr>
        <p:blipFill>
          <a:blip r:embed="rId5"/>
          <a:stretch>
            <a:fillRect/>
          </a:stretch>
        </p:blipFill>
        <p:spPr>
          <a:xfrm>
            <a:off x="5308939" y="3257296"/>
            <a:ext cx="128699" cy="187198"/>
          </a:xfrm>
          <a:prstGeom prst="rect">
            <a:avLst/>
          </a:prstGeom>
        </p:spPr>
      </p:pic>
      <p:sp>
        <p:nvSpPr>
          <p:cNvPr id="49" name="TextBox 48"/>
          <p:cNvSpPr txBox="1"/>
          <p:nvPr/>
        </p:nvSpPr>
        <p:spPr>
          <a:xfrm>
            <a:off x="5476435" y="326707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0" name="TextBox 49"/>
          <p:cNvSpPr txBox="1"/>
          <p:nvPr/>
        </p:nvSpPr>
        <p:spPr>
          <a:xfrm>
            <a:off x="276225" y="3485007"/>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51" name="Picture 50" descr="lock.png"/>
          <p:cNvPicPr>
            <a:picLocks noChangeAspect="1"/>
          </p:cNvPicPr>
          <p:nvPr/>
        </p:nvPicPr>
        <p:blipFill>
          <a:blip r:embed="rId5"/>
          <a:stretch>
            <a:fillRect/>
          </a:stretch>
        </p:blipFill>
        <p:spPr>
          <a:xfrm>
            <a:off x="1576057" y="3475228"/>
            <a:ext cx="128699" cy="187198"/>
          </a:xfrm>
          <a:prstGeom prst="rect">
            <a:avLst/>
          </a:prstGeom>
        </p:spPr>
      </p:pic>
      <p:sp>
        <p:nvSpPr>
          <p:cNvPr id="52" name="TextBox 51"/>
          <p:cNvSpPr txBox="1"/>
          <p:nvPr/>
        </p:nvSpPr>
        <p:spPr>
          <a:xfrm>
            <a:off x="1743553" y="3485007"/>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53" name="TextBox 52"/>
          <p:cNvSpPr txBox="1"/>
          <p:nvPr/>
        </p:nvSpPr>
        <p:spPr>
          <a:xfrm>
            <a:off x="276225" y="3702939"/>
            <a:ext cx="3173308" cy="186689"/>
          </a:xfrm>
          <a:prstGeom prst="rect">
            <a:avLst/>
          </a:prstGeom>
          <a:noFill/>
        </p:spPr>
        <p:txBody>
          <a:bodyPr wrap="none" lIns="0" rIns="0" tIns="0" bIns="0">
            <a:spAutoFit/>
          </a:bodyPr>
          <a:lstStyle/>
          <a:p>
            <a:r>
              <a:rPr sz="1100" b="0">
                <a:solidFill>
                  <a:srgbClr val="2E2E2E"/>
                </a:solidFill>
                <a:latin typeface="Calibri"/>
              </a:rPr>
              <a:t>▪ Scale players anchor around 'Other Foam Materials' (</a:t>
            </a:r>
          </a:p>
        </p:txBody>
      </p:sp>
      <p:pic>
        <p:nvPicPr>
          <p:cNvPr id="54" name="Picture 53" descr="lock.png"/>
          <p:cNvPicPr>
            <a:picLocks noChangeAspect="1"/>
          </p:cNvPicPr>
          <p:nvPr/>
        </p:nvPicPr>
        <p:blipFill>
          <a:blip r:embed="rId5"/>
          <a:stretch>
            <a:fillRect/>
          </a:stretch>
        </p:blipFill>
        <p:spPr>
          <a:xfrm>
            <a:off x="3397584" y="3693160"/>
            <a:ext cx="128699" cy="187198"/>
          </a:xfrm>
          <a:prstGeom prst="rect">
            <a:avLst/>
          </a:prstGeom>
        </p:spPr>
      </p:pic>
      <p:sp>
        <p:nvSpPr>
          <p:cNvPr id="55" name="TextBox 54"/>
          <p:cNvSpPr txBox="1"/>
          <p:nvPr/>
        </p:nvSpPr>
        <p:spPr>
          <a:xfrm>
            <a:off x="3565080" y="370293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6" name="TextBox 55"/>
          <p:cNvSpPr txBox="1"/>
          <p:nvPr/>
        </p:nvSpPr>
        <p:spPr>
          <a:xfrm>
            <a:off x="6305550" y="3267075"/>
            <a:ext cx="5481389" cy="186689"/>
          </a:xfrm>
          <a:prstGeom prst="rect">
            <a:avLst/>
          </a:prstGeom>
          <a:noFill/>
        </p:spPr>
        <p:txBody>
          <a:bodyPr wrap="none" lIns="0" rIns="0" tIns="0" bIns="0">
            <a:spAutoFit/>
          </a:bodyPr>
          <a:lstStyle/>
          <a:p>
            <a:r>
              <a:rPr sz="1100" b="0">
                <a:solidFill>
                  <a:srgbClr val="2E2E2E"/>
                </a:solidFill>
                <a:latin typeface="Calibri"/>
              </a:rPr>
              <a:t>▪ R&amp;D aligns with the migration to 'Expanded Polypropylene (EPP)' and adjacent premium tiers.</a:t>
            </a:r>
          </a:p>
        </p:txBody>
      </p:sp>
      <p:sp>
        <p:nvSpPr>
          <p:cNvPr id="57" name="TextBox 56"/>
          <p:cNvSpPr txBox="1"/>
          <p:nvPr/>
        </p:nvSpPr>
        <p:spPr>
          <a:xfrm>
            <a:off x="6305550" y="3485007"/>
            <a:ext cx="4432548" cy="186689"/>
          </a:xfrm>
          <a:prstGeom prst="rect">
            <a:avLst/>
          </a:prstGeom>
          <a:noFill/>
        </p:spPr>
        <p:txBody>
          <a:bodyPr wrap="none" lIns="0" rIns="0" tIns="0" bIns="0">
            <a:spAutoFit/>
          </a:bodyPr>
          <a:lstStyle/>
          <a:p>
            <a:r>
              <a:rPr sz="1100" b="0">
                <a:solidFill>
                  <a:srgbClr val="2E2E2E"/>
                </a:solidFill>
                <a:latin typeface="Calibri"/>
              </a:rPr>
              <a:t>▪ Development spend targets material type categories gaining share to 2036.</a:t>
            </a:r>
          </a:p>
        </p:txBody>
      </p:sp>
      <p:sp>
        <p:nvSpPr>
          <p:cNvPr id="58" name="TextBox 57"/>
          <p:cNvSpPr txBox="1"/>
          <p:nvPr/>
        </p:nvSpPr>
        <p:spPr>
          <a:xfrm>
            <a:off x="6305550" y="370293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59" name="Picture 58" descr="lock.png"/>
          <p:cNvPicPr>
            <a:picLocks noChangeAspect="1"/>
          </p:cNvPicPr>
          <p:nvPr/>
        </p:nvPicPr>
        <p:blipFill>
          <a:blip r:embed="rId5"/>
          <a:stretch>
            <a:fillRect/>
          </a:stretch>
        </p:blipFill>
        <p:spPr>
          <a:xfrm>
            <a:off x="7847947" y="3693160"/>
            <a:ext cx="128699" cy="187198"/>
          </a:xfrm>
          <a:prstGeom prst="rect">
            <a:avLst/>
          </a:prstGeom>
        </p:spPr>
      </p:pic>
      <p:sp>
        <p:nvSpPr>
          <p:cNvPr id="60" name="TextBox 59"/>
          <p:cNvSpPr txBox="1"/>
          <p:nvPr/>
        </p:nvSpPr>
        <p:spPr>
          <a:xfrm>
            <a:off x="8015443" y="3702939"/>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1" name="lockshield_25"/>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'Expanded Polypropylene (EPP)' tier and Others within end-use industry.</a:t>
            </a:r>
          </a:p>
        </p:txBody>
      </p:sp>
      <p:sp>
        <p:nvSpPr>
          <p:cNvPr id="15" name="Rounded Rectangle 14"/>
          <p:cNvSpPr/>
          <p:nvPr/>
        </p:nvSpPr>
        <p:spPr>
          <a:xfrm>
            <a:off x="142875"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Region</a:t>
            </a:r>
          </a:p>
        </p:txBody>
      </p:sp>
      <p:sp>
        <p:nvSpPr>
          <p:cNvPr id="21" name="Rectangle 20"/>
          <p:cNvSpPr/>
          <p:nvPr/>
        </p:nvSpPr>
        <p:spPr>
          <a:xfrm>
            <a:off x="6305550"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619625"/>
            <a:ext cx="11906250" cy="2000250"/>
          </a:xfrm>
          <a:prstGeom prst="roundRect">
            <a:avLst>
              <a:gd name="adj" fmla="val 38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9434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482015" cy="194310"/>
          </a:xfrm>
          <a:prstGeom prst="rect">
            <a:avLst/>
          </a:prstGeom>
          <a:noFill/>
        </p:spPr>
        <p:txBody>
          <a:bodyPr wrap="none" lIns="0" rIns="0" tIns="0" bIns="0">
            <a:spAutoFit/>
          </a:bodyPr>
          <a:lstStyle/>
          <a:p>
            <a:r>
              <a:rPr sz="1150" b="0">
                <a:solidFill>
                  <a:srgbClr val="2E2E2E"/>
                </a:solidFill>
                <a:latin typeface="Calibri"/>
              </a:rPr>
              <a:t>▪ Balance scale in 'Other Foam Materials' with targeted growth in 'Expanded Polypropylene</a:t>
            </a:r>
          </a:p>
        </p:txBody>
      </p:sp>
      <p:sp>
        <p:nvSpPr>
          <p:cNvPr id="30" name="TextBox 29"/>
          <p:cNvSpPr txBox="1"/>
          <p:nvPr/>
        </p:nvSpPr>
        <p:spPr>
          <a:xfrm>
            <a:off x="276225" y="1575435"/>
            <a:ext cx="1238039" cy="194310"/>
          </a:xfrm>
          <a:prstGeom prst="rect">
            <a:avLst/>
          </a:prstGeom>
          <a:noFill/>
        </p:spPr>
        <p:txBody>
          <a:bodyPr wrap="none" lIns="0" rIns="0" tIns="0" bIns="0">
            <a:spAutoFit/>
          </a:bodyPr>
          <a:lstStyle/>
          <a:p>
            <a:r>
              <a:rPr sz="1150" b="0">
                <a:solidFill>
                  <a:srgbClr val="2E2E2E"/>
                </a:solidFill>
                <a:latin typeface="Calibri"/>
              </a:rPr>
              <a:t>(EPP)', pursuing the</a:t>
            </a:r>
          </a:p>
        </p:txBody>
      </p:sp>
      <p:pic>
        <p:nvPicPr>
          <p:cNvPr id="31" name="Picture 30" descr="lock.png"/>
          <p:cNvPicPr>
            <a:picLocks noChangeAspect="1"/>
          </p:cNvPicPr>
          <p:nvPr/>
        </p:nvPicPr>
        <p:blipFill>
          <a:blip r:embed="rId4"/>
          <a:stretch>
            <a:fillRect/>
          </a:stretch>
        </p:blipFill>
        <p:spPr>
          <a:xfrm>
            <a:off x="1463418" y="1565211"/>
            <a:ext cx="134549" cy="195707"/>
          </a:xfrm>
          <a:prstGeom prst="rect">
            <a:avLst/>
          </a:prstGeom>
        </p:spPr>
      </p:pic>
      <p:sp>
        <p:nvSpPr>
          <p:cNvPr id="32" name="TextBox 31"/>
          <p:cNvSpPr txBox="1"/>
          <p:nvPr/>
        </p:nvSpPr>
        <p:spPr>
          <a:xfrm>
            <a:off x="1638527"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19450"/>
            <a:ext cx="2687699" cy="194310"/>
          </a:xfrm>
          <a:prstGeom prst="rect">
            <a:avLst/>
          </a:prstGeom>
          <a:noFill/>
        </p:spPr>
        <p:txBody>
          <a:bodyPr wrap="none" lIns="0" rIns="0" tIns="0" bIns="0">
            <a:spAutoFit/>
          </a:bodyPr>
          <a:lstStyle/>
          <a:p>
            <a:r>
              <a:rPr sz="1150" b="0">
                <a:solidFill>
                  <a:srgbClr val="2E2E2E"/>
                </a:solidFill>
                <a:latin typeface="Calibri"/>
              </a:rPr>
              <a:t>▪ Prioritise 'Expanded Polypropylene (EPP)' (</a:t>
            </a:r>
          </a:p>
        </p:txBody>
      </p:sp>
      <p:pic>
        <p:nvPicPr>
          <p:cNvPr id="34" name="Picture 33" descr="lock.png"/>
          <p:cNvPicPr>
            <a:picLocks noChangeAspect="1"/>
          </p:cNvPicPr>
          <p:nvPr/>
        </p:nvPicPr>
        <p:blipFill>
          <a:blip r:embed="rId4"/>
          <a:stretch>
            <a:fillRect/>
          </a:stretch>
        </p:blipFill>
        <p:spPr>
          <a:xfrm>
            <a:off x="2913078" y="3209226"/>
            <a:ext cx="134549" cy="195707"/>
          </a:xfrm>
          <a:prstGeom prst="rect">
            <a:avLst/>
          </a:prstGeom>
        </p:spPr>
      </p:pic>
      <p:sp>
        <p:nvSpPr>
          <p:cNvPr id="35" name="TextBox 34"/>
          <p:cNvSpPr txBox="1"/>
          <p:nvPr/>
        </p:nvSpPr>
        <p:spPr>
          <a:xfrm>
            <a:off x="3088187" y="3219450"/>
            <a:ext cx="2065529" cy="194310"/>
          </a:xfrm>
          <a:prstGeom prst="rect">
            <a:avLst/>
          </a:prstGeom>
          <a:noFill/>
        </p:spPr>
        <p:txBody>
          <a:bodyPr wrap="none" lIns="0" rIns="0" tIns="0" bIns="0">
            <a:spAutoFit/>
          </a:bodyPr>
          <a:lstStyle/>
          <a:p>
            <a:r>
              <a:rPr sz="1150" b="0">
                <a:solidFill>
                  <a:srgbClr val="2E2E2E"/>
                </a:solidFill>
                <a:latin typeface="Calibri"/>
              </a:rPr>
              <a:t>); 'Other Foam Materials' anchors</a:t>
            </a:r>
          </a:p>
        </p:txBody>
      </p:sp>
      <p:pic>
        <p:nvPicPr>
          <p:cNvPr id="36" name="Picture 35" descr="lock.png"/>
          <p:cNvPicPr>
            <a:picLocks noChangeAspect="1"/>
          </p:cNvPicPr>
          <p:nvPr/>
        </p:nvPicPr>
        <p:blipFill>
          <a:blip r:embed="rId4"/>
          <a:stretch>
            <a:fillRect/>
          </a:stretch>
        </p:blipFill>
        <p:spPr>
          <a:xfrm>
            <a:off x="5102871" y="3209226"/>
            <a:ext cx="134549" cy="195707"/>
          </a:xfrm>
          <a:prstGeom prst="rect">
            <a:avLst/>
          </a:prstGeom>
        </p:spPr>
      </p:pic>
      <p:sp>
        <p:nvSpPr>
          <p:cNvPr id="37" name="TextBox 36"/>
          <p:cNvSpPr txBox="1"/>
          <p:nvPr/>
        </p:nvSpPr>
        <p:spPr>
          <a:xfrm>
            <a:off x="5277980" y="3219450"/>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38" name="TextBox 37"/>
          <p:cNvSpPr txBox="1"/>
          <p:nvPr/>
        </p:nvSpPr>
        <p:spPr>
          <a:xfrm>
            <a:off x="276225" y="3394710"/>
            <a:ext cx="431911" cy="194310"/>
          </a:xfrm>
          <a:prstGeom prst="rect">
            <a:avLst/>
          </a:prstGeom>
          <a:noFill/>
        </p:spPr>
        <p:txBody>
          <a:bodyPr wrap="none" lIns="0" rIns="0" tIns="0" bIns="0">
            <a:spAutoFit/>
          </a:bodyPr>
          <a:lstStyle/>
          <a:p>
            <a:r>
              <a:rPr sz="1150" b="0">
                <a:solidFill>
                  <a:srgbClr val="2E2E2E"/>
                </a:solidFill>
                <a:latin typeface="Calibri"/>
              </a:rPr>
              <a:t>value.</a:t>
            </a:r>
          </a:p>
        </p:txBody>
      </p:sp>
      <p:sp>
        <p:nvSpPr>
          <p:cNvPr id="39" name="TextBox 38"/>
          <p:cNvSpPr txBox="1"/>
          <p:nvPr/>
        </p:nvSpPr>
        <p:spPr>
          <a:xfrm>
            <a:off x="6305550" y="321945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0" name="Picture 39" descr="lock.png"/>
          <p:cNvPicPr>
            <a:picLocks noChangeAspect="1"/>
          </p:cNvPicPr>
          <p:nvPr/>
        </p:nvPicPr>
        <p:blipFill>
          <a:blip r:embed="rId4"/>
          <a:stretch>
            <a:fillRect/>
          </a:stretch>
        </p:blipFill>
        <p:spPr>
          <a:xfrm>
            <a:off x="7975392" y="3209226"/>
            <a:ext cx="134549" cy="195707"/>
          </a:xfrm>
          <a:prstGeom prst="rect">
            <a:avLst/>
          </a:prstGeom>
        </p:spPr>
      </p:pic>
      <p:sp>
        <p:nvSpPr>
          <p:cNvPr id="41" name="TextBox 40"/>
          <p:cNvSpPr txBox="1"/>
          <p:nvPr/>
        </p:nvSpPr>
        <p:spPr>
          <a:xfrm>
            <a:off x="8150501" y="321945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2" name="Picture 41" descr="lock.png"/>
          <p:cNvPicPr>
            <a:picLocks noChangeAspect="1"/>
          </p:cNvPicPr>
          <p:nvPr/>
        </p:nvPicPr>
        <p:blipFill>
          <a:blip r:embed="rId4"/>
          <a:stretch>
            <a:fillRect/>
          </a:stretch>
        </p:blipFill>
        <p:spPr>
          <a:xfrm>
            <a:off x="10602510" y="3209226"/>
            <a:ext cx="134549" cy="195707"/>
          </a:xfrm>
          <a:prstGeom prst="rect">
            <a:avLst/>
          </a:prstGeom>
        </p:spPr>
      </p:pic>
      <p:sp>
        <p:nvSpPr>
          <p:cNvPr id="43" name="TextBox 42"/>
          <p:cNvSpPr txBox="1"/>
          <p:nvPr/>
        </p:nvSpPr>
        <p:spPr>
          <a:xfrm>
            <a:off x="10777620"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038725"/>
            <a:ext cx="2071519" cy="194310"/>
          </a:xfrm>
          <a:prstGeom prst="rect">
            <a:avLst/>
          </a:prstGeom>
          <a:noFill/>
        </p:spPr>
        <p:txBody>
          <a:bodyPr wrap="none" lIns="0" rIns="0" tIns="0" bIns="0">
            <a:spAutoFit/>
          </a:bodyPr>
          <a:lstStyle/>
          <a:p>
            <a:r>
              <a:rPr sz="1150" b="0">
                <a:solidFill>
                  <a:srgbClr val="2E2E2E"/>
                </a:solidFill>
                <a:latin typeface="Calibri"/>
              </a:rPr>
              <a:t>▪ Foam Protective Packaging adds</a:t>
            </a:r>
          </a:p>
        </p:txBody>
      </p:sp>
      <p:pic>
        <p:nvPicPr>
          <p:cNvPr id="45" name="Picture 44" descr="lock.png"/>
          <p:cNvPicPr>
            <a:picLocks noChangeAspect="1"/>
          </p:cNvPicPr>
          <p:nvPr/>
        </p:nvPicPr>
        <p:blipFill>
          <a:blip r:embed="rId4"/>
          <a:stretch>
            <a:fillRect/>
          </a:stretch>
        </p:blipFill>
        <p:spPr>
          <a:xfrm>
            <a:off x="2296898" y="5028501"/>
            <a:ext cx="134549" cy="195707"/>
          </a:xfrm>
          <a:prstGeom prst="rect">
            <a:avLst/>
          </a:prstGeom>
        </p:spPr>
      </p:pic>
      <p:sp>
        <p:nvSpPr>
          <p:cNvPr id="46" name="TextBox 45"/>
          <p:cNvSpPr txBox="1"/>
          <p:nvPr/>
        </p:nvSpPr>
        <p:spPr>
          <a:xfrm>
            <a:off x="2472008"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4236269" y="5028501"/>
            <a:ext cx="134549" cy="195707"/>
          </a:xfrm>
          <a:prstGeom prst="rect">
            <a:avLst/>
          </a:prstGeom>
        </p:spPr>
      </p:pic>
      <p:sp>
        <p:nvSpPr>
          <p:cNvPr id="48" name="TextBox 47"/>
          <p:cNvSpPr txBox="1"/>
          <p:nvPr/>
        </p:nvSpPr>
        <p:spPr>
          <a:xfrm>
            <a:off x="4411379"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266563"/>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0" name="TextBox 49"/>
          <p:cNvSpPr txBox="1"/>
          <p:nvPr/>
        </p:nvSpPr>
        <p:spPr>
          <a:xfrm>
            <a:off x="276225" y="5494400"/>
            <a:ext cx="4666759" cy="194310"/>
          </a:xfrm>
          <a:prstGeom prst="rect">
            <a:avLst/>
          </a:prstGeom>
          <a:noFill/>
        </p:spPr>
        <p:txBody>
          <a:bodyPr wrap="none" lIns="0" rIns="0" tIns="0" bIns="0">
            <a:spAutoFit/>
          </a:bodyPr>
          <a:lstStyle/>
          <a:p>
            <a:r>
              <a:rPr sz="1150" b="0">
                <a:solidFill>
                  <a:srgbClr val="2E2E2E"/>
                </a:solidFill>
                <a:latin typeface="Calibri"/>
              </a:rPr>
              <a:t>▪ Defend share in 'Other Foam Materials' as the value anchor of the portfolio.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Foam Protective Packaging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70654"/>
            <a:ext cx="635826" cy="834646"/>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066191"/>
            <a:ext cx="635826" cy="123910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896124"/>
            <a:ext cx="635826" cy="14091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3284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2806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67566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57089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1849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1371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Foam Protective Packaging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6243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54217"/>
            <a:ext cx="108107" cy="157246"/>
          </a:xfrm>
          <a:prstGeom prst="rect">
            <a:avLst/>
          </a:prstGeom>
        </p:spPr>
      </p:pic>
      <p:sp>
        <p:nvSpPr>
          <p:cNvPr id="54" name="TextBox 53"/>
          <p:cNvSpPr txBox="1"/>
          <p:nvPr/>
        </p:nvSpPr>
        <p:spPr>
          <a:xfrm>
            <a:off x="2032418" y="260525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597042"/>
            <a:ext cx="108107" cy="157246"/>
          </a:xfrm>
          <a:prstGeom prst="rect">
            <a:avLst/>
          </a:prstGeom>
        </p:spPr>
      </p:pic>
      <p:sp>
        <p:nvSpPr>
          <p:cNvPr id="56" name="TextBox 55"/>
          <p:cNvSpPr txBox="1"/>
          <p:nvPr/>
        </p:nvSpPr>
        <p:spPr>
          <a:xfrm>
            <a:off x="2032418" y="234808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39867"/>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4" name="Picture 63" descr="lock.png"/>
          <p:cNvPicPr>
            <a:picLocks noChangeAspect="1"/>
          </p:cNvPicPr>
          <p:nvPr/>
        </p:nvPicPr>
        <p:blipFill>
          <a:blip r:embed="rId5"/>
          <a:stretch>
            <a:fillRect/>
          </a:stretch>
        </p:blipFill>
        <p:spPr>
          <a:xfrm>
            <a:off x="1673650" y="5589714"/>
            <a:ext cx="134549" cy="195707"/>
          </a:xfrm>
          <a:prstGeom prst="rect">
            <a:avLst/>
          </a:prstGeom>
        </p:spPr>
      </p:pic>
      <p:sp>
        <p:nvSpPr>
          <p:cNvPr id="65" name="TextBox 64"/>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6" name="Picture 65" descr="lock.png"/>
          <p:cNvPicPr>
            <a:picLocks noChangeAspect="1"/>
          </p:cNvPicPr>
          <p:nvPr/>
        </p:nvPicPr>
        <p:blipFill>
          <a:blip r:embed="rId5"/>
          <a:stretch>
            <a:fillRect/>
          </a:stretch>
        </p:blipFill>
        <p:spPr>
          <a:xfrm>
            <a:off x="2495966" y="5589714"/>
            <a:ext cx="134549" cy="195707"/>
          </a:xfrm>
          <a:prstGeom prst="rect">
            <a:avLst/>
          </a:prstGeom>
        </p:spPr>
      </p:pic>
      <p:sp>
        <p:nvSpPr>
          <p:cNvPr id="67" name="TextBox 66"/>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Foam Protective Packaging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 Regional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and Africa</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3_605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5_365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4_1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2_949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5_065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5_6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1_420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2_268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1_311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2_316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5_9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873_9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1_474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5_4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740_7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1_190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4_9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889026" cy="186689"/>
          </a:xfrm>
          <a:prstGeom prst="rect">
            <a:avLst/>
          </a:prstGeom>
          <a:noFill/>
        </p:spPr>
        <p:txBody>
          <a:bodyPr wrap="none" lIns="0" rIns="0" tIns="0" bIns="0">
            <a:spAutoFit/>
          </a:bodyPr>
          <a:lstStyle/>
          <a:p>
            <a:r>
              <a:rPr sz="1100" b="0">
                <a:solidFill>
                  <a:srgbClr val="2E2E2E"/>
                </a:solidFill>
                <a:latin typeface="Calibri"/>
              </a:rPr>
              <a:t>North America foam protective packaging market</a:t>
            </a:r>
          </a:p>
        </p:txBody>
      </p:sp>
      <p:sp>
        <p:nvSpPr>
          <p:cNvPr id="100" name="TextBox 99"/>
          <p:cNvSpPr txBox="1"/>
          <p:nvPr/>
        </p:nvSpPr>
        <p:spPr>
          <a:xfrm>
            <a:off x="485775" y="4397077"/>
            <a:ext cx="1362967" cy="186689"/>
          </a:xfrm>
          <a:prstGeom prst="rect">
            <a:avLst/>
          </a:prstGeom>
          <a:noFill/>
        </p:spPr>
        <p:txBody>
          <a:bodyPr wrap="none" lIns="0" rIns="0" tIns="0" bIns="0">
            <a:spAutoFit/>
          </a:bodyPr>
          <a:lstStyle/>
          <a:p>
            <a:r>
              <a:rPr sz="1100" b="0">
                <a:solidFill>
                  <a:srgbClr val="2E2E2E"/>
                </a:solidFill>
                <a:latin typeface="Calibri"/>
              </a:rPr>
              <a:t>is projected to register</a:t>
            </a:r>
          </a:p>
        </p:txBody>
      </p:sp>
      <p:pic>
        <p:nvPicPr>
          <p:cNvPr id="101" name="Picture 100" descr="lock.png"/>
          <p:cNvPicPr>
            <a:picLocks noChangeAspect="1"/>
          </p:cNvPicPr>
          <p:nvPr/>
        </p:nvPicPr>
        <p:blipFill>
          <a:blip r:embed="rId22"/>
          <a:stretch>
            <a:fillRect/>
          </a:stretch>
        </p:blipFill>
        <p:spPr>
          <a:xfrm>
            <a:off x="1796794" y="4387298"/>
            <a:ext cx="128699" cy="187198"/>
          </a:xfrm>
          <a:prstGeom prst="rect">
            <a:avLst/>
          </a:prstGeom>
        </p:spPr>
      </p:pic>
      <p:sp>
        <p:nvSpPr>
          <p:cNvPr id="102" name="TextBox 101"/>
          <p:cNvSpPr txBox="1"/>
          <p:nvPr/>
        </p:nvSpPr>
        <p:spPr>
          <a:xfrm>
            <a:off x="1964290"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3" name="TextBox 102"/>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Europe in 2036. Among foam protective packaging</a:t>
            </a:r>
          </a:p>
        </p:txBody>
      </p:sp>
      <p:sp>
        <p:nvSpPr>
          <p:cNvPr id="104" name="TextBox 103"/>
          <p:cNvSpPr txBox="1"/>
          <p:nvPr/>
        </p:nvSpPr>
        <p:spPr>
          <a:xfrm>
            <a:off x="485775" y="4732357"/>
            <a:ext cx="2619722" cy="186689"/>
          </a:xfrm>
          <a:prstGeom prst="rect">
            <a:avLst/>
          </a:prstGeom>
          <a:noFill/>
        </p:spPr>
        <p:txBody>
          <a:bodyPr wrap="none" lIns="0" rIns="0" tIns="0" bIns="0">
            <a:spAutoFit/>
          </a:bodyPr>
          <a:lstStyle/>
          <a:p>
            <a:r>
              <a:rPr sz="1100" b="0">
                <a:solidFill>
                  <a:srgbClr val="2E2E2E"/>
                </a:solidFill>
                <a:latin typeface="Calibri"/>
              </a:rPr>
              <a:t>by region, South Asia &amp; Pacific is expected to</a:t>
            </a:r>
          </a:p>
        </p:txBody>
      </p:sp>
      <p:sp>
        <p:nvSpPr>
          <p:cNvPr id="105" name="TextBox 104"/>
          <p:cNvSpPr txBox="1"/>
          <p:nvPr/>
        </p:nvSpPr>
        <p:spPr>
          <a:xfrm>
            <a:off x="485775" y="489999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06" name="Picture 105" descr="lock.png"/>
          <p:cNvPicPr>
            <a:picLocks noChangeAspect="1"/>
          </p:cNvPicPr>
          <p:nvPr/>
        </p:nvPicPr>
        <p:blipFill>
          <a:blip r:embed="rId22"/>
          <a:stretch>
            <a:fillRect/>
          </a:stretch>
        </p:blipFill>
        <p:spPr>
          <a:xfrm>
            <a:off x="2108919" y="4890217"/>
            <a:ext cx="128699" cy="187198"/>
          </a:xfrm>
          <a:prstGeom prst="rect">
            <a:avLst/>
          </a:prstGeom>
        </p:spPr>
      </p:pic>
      <p:sp>
        <p:nvSpPr>
          <p:cNvPr id="107" name="TextBox 106"/>
          <p:cNvSpPr txBox="1"/>
          <p:nvPr/>
        </p:nvSpPr>
        <p:spPr>
          <a:xfrm>
            <a:off x="2276415" y="489999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08" name="TextBox 107"/>
          <p:cNvSpPr txBox="1"/>
          <p:nvPr/>
        </p:nvSpPr>
        <p:spPr>
          <a:xfrm>
            <a:off x="485775" y="5067637"/>
            <a:ext cx="482475" cy="186689"/>
          </a:xfrm>
          <a:prstGeom prst="rect">
            <a:avLst/>
          </a:prstGeom>
          <a:noFill/>
        </p:spPr>
        <p:txBody>
          <a:bodyPr wrap="none" lIns="0" rIns="0" tIns="0" bIns="0">
            <a:spAutoFit/>
          </a:bodyPr>
          <a:lstStyle/>
          <a:p>
            <a:r>
              <a:rPr sz="1100" b="0">
                <a:solidFill>
                  <a:srgbClr val="2E2E2E"/>
                </a:solidFill>
                <a:latin typeface="Calibri"/>
              </a:rPr>
              <a:t>period.</a:t>
            </a:r>
          </a:p>
        </p:txBody>
      </p:sp>
      <p:sp>
        <p:nvSpPr>
          <p:cNvPr id="109" name="TextBox 108"/>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0" name="TextBox 109"/>
          <p:cNvSpPr txBox="1"/>
          <p:nvPr/>
        </p:nvSpPr>
        <p:spPr>
          <a:xfrm>
            <a:off x="485775" y="545320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1" name="Picture 110" descr="lock.png"/>
          <p:cNvPicPr>
            <a:picLocks noChangeAspect="1"/>
          </p:cNvPicPr>
          <p:nvPr/>
        </p:nvPicPr>
        <p:blipFill>
          <a:blip r:embed="rId22"/>
          <a:stretch>
            <a:fillRect/>
          </a:stretch>
        </p:blipFill>
        <p:spPr>
          <a:xfrm>
            <a:off x="2822716" y="5443430"/>
            <a:ext cx="128699" cy="187198"/>
          </a:xfrm>
          <a:prstGeom prst="rect">
            <a:avLst/>
          </a:prstGeom>
        </p:spPr>
      </p:pic>
      <p:sp>
        <p:nvSpPr>
          <p:cNvPr id="112" name="TextBox 111"/>
          <p:cNvSpPr txBox="1"/>
          <p:nvPr/>
        </p:nvSpPr>
        <p:spPr>
          <a:xfrm>
            <a:off x="2990212" y="545320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3" name="TextBox 112"/>
          <p:cNvSpPr txBox="1"/>
          <p:nvPr/>
        </p:nvSpPr>
        <p:spPr>
          <a:xfrm>
            <a:off x="485775" y="562084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4" name="Picture 113" descr="lock.png"/>
          <p:cNvPicPr>
            <a:picLocks noChangeAspect="1"/>
          </p:cNvPicPr>
          <p:nvPr/>
        </p:nvPicPr>
        <p:blipFill>
          <a:blip r:embed="rId22"/>
          <a:stretch>
            <a:fillRect/>
          </a:stretch>
        </p:blipFill>
        <p:spPr>
          <a:xfrm>
            <a:off x="1576057" y="5611070"/>
            <a:ext cx="128699" cy="187198"/>
          </a:xfrm>
          <a:prstGeom prst="rect">
            <a:avLst/>
          </a:prstGeom>
        </p:spPr>
      </p:pic>
      <p:sp>
        <p:nvSpPr>
          <p:cNvPr id="115" name="TextBox 114"/>
          <p:cNvSpPr txBox="1"/>
          <p:nvPr/>
        </p:nvSpPr>
        <p:spPr>
          <a:xfrm>
            <a:off x="1743553"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6" name="TextBox 115"/>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7" name="Picture 116" descr="lock.png"/>
          <p:cNvPicPr>
            <a:picLocks noChangeAspect="1"/>
          </p:cNvPicPr>
          <p:nvPr/>
        </p:nvPicPr>
        <p:blipFill>
          <a:blip r:embed="rId22"/>
          <a:stretch>
            <a:fillRect/>
          </a:stretch>
        </p:blipFill>
        <p:spPr>
          <a:xfrm>
            <a:off x="4850003" y="4219658"/>
            <a:ext cx="128699" cy="187198"/>
          </a:xfrm>
          <a:prstGeom prst="rect">
            <a:avLst/>
          </a:prstGeom>
        </p:spPr>
      </p:pic>
      <p:sp>
        <p:nvSpPr>
          <p:cNvPr id="118" name="TextBox 117"/>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9" name="Picture 118" descr="lock.png"/>
          <p:cNvPicPr>
            <a:picLocks noChangeAspect="1"/>
          </p:cNvPicPr>
          <p:nvPr/>
        </p:nvPicPr>
        <p:blipFill>
          <a:blip r:embed="rId22"/>
          <a:stretch>
            <a:fillRect/>
          </a:stretch>
        </p:blipFill>
        <p:spPr>
          <a:xfrm>
            <a:off x="5876949" y="4219658"/>
            <a:ext cx="128699" cy="187198"/>
          </a:xfrm>
          <a:prstGeom prst="rect">
            <a:avLst/>
          </a:prstGeom>
        </p:spPr>
      </p:pic>
      <p:sp>
        <p:nvSpPr>
          <p:cNvPr id="120" name="TextBox 119"/>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1" name="TextBox 120"/>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2" name="Picture 121" descr="lock.png"/>
          <p:cNvPicPr>
            <a:picLocks noChangeAspect="1"/>
          </p:cNvPicPr>
          <p:nvPr/>
        </p:nvPicPr>
        <p:blipFill>
          <a:blip r:embed="rId22"/>
          <a:stretch>
            <a:fillRect/>
          </a:stretch>
        </p:blipFill>
        <p:spPr>
          <a:xfrm>
            <a:off x="4423263" y="4437590"/>
            <a:ext cx="128699" cy="187198"/>
          </a:xfrm>
          <a:prstGeom prst="rect">
            <a:avLst/>
          </a:prstGeom>
        </p:spPr>
      </p:pic>
      <p:sp>
        <p:nvSpPr>
          <p:cNvPr id="123" name="TextBox 122"/>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4" name="Picture 123" descr="lock.png"/>
          <p:cNvPicPr>
            <a:picLocks noChangeAspect="1"/>
          </p:cNvPicPr>
          <p:nvPr/>
        </p:nvPicPr>
        <p:blipFill>
          <a:blip r:embed="rId22"/>
          <a:stretch>
            <a:fillRect/>
          </a:stretch>
        </p:blipFill>
        <p:spPr>
          <a:xfrm>
            <a:off x="5450209" y="4437590"/>
            <a:ext cx="128699" cy="187198"/>
          </a:xfrm>
          <a:prstGeom prst="rect">
            <a:avLst/>
          </a:prstGeom>
        </p:spPr>
      </p:pic>
      <p:sp>
        <p:nvSpPr>
          <p:cNvPr id="125" name="TextBox 124"/>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6" name="TextBox 125"/>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7" name="Picture 126" descr="lock.png"/>
          <p:cNvPicPr>
            <a:picLocks noChangeAspect="1"/>
          </p:cNvPicPr>
          <p:nvPr/>
        </p:nvPicPr>
        <p:blipFill>
          <a:blip r:embed="rId22"/>
          <a:stretch>
            <a:fillRect/>
          </a:stretch>
        </p:blipFill>
        <p:spPr>
          <a:xfrm>
            <a:off x="4518727" y="4655522"/>
            <a:ext cx="128699" cy="187198"/>
          </a:xfrm>
          <a:prstGeom prst="rect">
            <a:avLst/>
          </a:prstGeom>
        </p:spPr>
      </p:pic>
      <p:sp>
        <p:nvSpPr>
          <p:cNvPr id="128" name="TextBox 127"/>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9" name="Picture 128" descr="lock.png"/>
          <p:cNvPicPr>
            <a:picLocks noChangeAspect="1"/>
          </p:cNvPicPr>
          <p:nvPr/>
        </p:nvPicPr>
        <p:blipFill>
          <a:blip r:embed="rId22"/>
          <a:stretch>
            <a:fillRect/>
          </a:stretch>
        </p:blipFill>
        <p:spPr>
          <a:xfrm>
            <a:off x="5545673" y="4655522"/>
            <a:ext cx="128699" cy="187198"/>
          </a:xfrm>
          <a:prstGeom prst="rect">
            <a:avLst/>
          </a:prstGeom>
        </p:spPr>
      </p:pic>
      <p:sp>
        <p:nvSpPr>
          <p:cNvPr id="130" name="TextBox 129"/>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1" name="TextBox 130"/>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2" name="Picture 131" descr="lock.png"/>
          <p:cNvPicPr>
            <a:picLocks noChangeAspect="1"/>
          </p:cNvPicPr>
          <p:nvPr/>
        </p:nvPicPr>
        <p:blipFill>
          <a:blip r:embed="rId22"/>
          <a:stretch>
            <a:fillRect/>
          </a:stretch>
        </p:blipFill>
        <p:spPr>
          <a:xfrm>
            <a:off x="5136770" y="4873454"/>
            <a:ext cx="128699" cy="187198"/>
          </a:xfrm>
          <a:prstGeom prst="rect">
            <a:avLst/>
          </a:prstGeom>
        </p:spPr>
      </p:pic>
      <p:sp>
        <p:nvSpPr>
          <p:cNvPr id="133" name="TextBox 132"/>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4" name="Picture 133" descr="lock.png"/>
          <p:cNvPicPr>
            <a:picLocks noChangeAspect="1"/>
          </p:cNvPicPr>
          <p:nvPr/>
        </p:nvPicPr>
        <p:blipFill>
          <a:blip r:embed="rId22"/>
          <a:stretch>
            <a:fillRect/>
          </a:stretch>
        </p:blipFill>
        <p:spPr>
          <a:xfrm>
            <a:off x="6163716" y="4873454"/>
            <a:ext cx="128699" cy="187198"/>
          </a:xfrm>
          <a:prstGeom prst="rect">
            <a:avLst/>
          </a:prstGeom>
        </p:spPr>
      </p:pic>
      <p:sp>
        <p:nvSpPr>
          <p:cNvPr id="135" name="TextBox 134"/>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6" name="TextBox 135"/>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7" name="Picture 136" descr="lock.png"/>
          <p:cNvPicPr>
            <a:picLocks noChangeAspect="1"/>
          </p:cNvPicPr>
          <p:nvPr/>
        </p:nvPicPr>
        <p:blipFill>
          <a:blip r:embed="rId22"/>
          <a:stretch>
            <a:fillRect/>
          </a:stretch>
        </p:blipFill>
        <p:spPr>
          <a:xfrm>
            <a:off x="4794887" y="5091385"/>
            <a:ext cx="128699" cy="187198"/>
          </a:xfrm>
          <a:prstGeom prst="rect">
            <a:avLst/>
          </a:prstGeom>
        </p:spPr>
      </p:pic>
      <p:sp>
        <p:nvSpPr>
          <p:cNvPr id="138" name="TextBox 137"/>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9" name="Picture 138" descr="lock.png"/>
          <p:cNvPicPr>
            <a:picLocks noChangeAspect="1"/>
          </p:cNvPicPr>
          <p:nvPr/>
        </p:nvPicPr>
        <p:blipFill>
          <a:blip r:embed="rId22"/>
          <a:stretch>
            <a:fillRect/>
          </a:stretch>
        </p:blipFill>
        <p:spPr>
          <a:xfrm>
            <a:off x="5821833" y="5091385"/>
            <a:ext cx="128699" cy="187198"/>
          </a:xfrm>
          <a:prstGeom prst="rect">
            <a:avLst/>
          </a:prstGeom>
        </p:spPr>
      </p:pic>
      <p:sp>
        <p:nvSpPr>
          <p:cNvPr id="140" name="TextBox 139"/>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1" name="TextBox 140"/>
          <p:cNvSpPr txBox="1"/>
          <p:nvPr/>
        </p:nvSpPr>
        <p:spPr>
          <a:xfrm>
            <a:off x="3838575" y="5319097"/>
            <a:ext cx="1505362" cy="186689"/>
          </a:xfrm>
          <a:prstGeom prst="rect">
            <a:avLst/>
          </a:prstGeom>
          <a:noFill/>
        </p:spPr>
        <p:txBody>
          <a:bodyPr wrap="none" lIns="0" rIns="0" tIns="0" bIns="0">
            <a:spAutoFit/>
          </a:bodyPr>
          <a:lstStyle/>
          <a:p>
            <a:r>
              <a:rPr sz="1100" b="0">
                <a:solidFill>
                  <a:srgbClr val="2E2E2E"/>
                </a:solidFill>
                <a:latin typeface="Calibri"/>
              </a:rPr>
              <a:t>● Middle East and Africa:</a:t>
            </a:r>
          </a:p>
        </p:txBody>
      </p:sp>
      <p:pic>
        <p:nvPicPr>
          <p:cNvPr id="142" name="Picture 141" descr="lock.png"/>
          <p:cNvPicPr>
            <a:picLocks noChangeAspect="1"/>
          </p:cNvPicPr>
          <p:nvPr/>
        </p:nvPicPr>
        <p:blipFill>
          <a:blip r:embed="rId22"/>
          <a:stretch>
            <a:fillRect/>
          </a:stretch>
        </p:blipFill>
        <p:spPr>
          <a:xfrm>
            <a:off x="5291988" y="5309317"/>
            <a:ext cx="128699" cy="187198"/>
          </a:xfrm>
          <a:prstGeom prst="rect">
            <a:avLst/>
          </a:prstGeom>
        </p:spPr>
      </p:pic>
      <p:sp>
        <p:nvSpPr>
          <p:cNvPr id="143" name="TextBox 142"/>
          <p:cNvSpPr txBox="1"/>
          <p:nvPr/>
        </p:nvSpPr>
        <p:spPr>
          <a:xfrm>
            <a:off x="5459484"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4" name="Picture 143" descr="lock.png"/>
          <p:cNvPicPr>
            <a:picLocks noChangeAspect="1"/>
          </p:cNvPicPr>
          <p:nvPr/>
        </p:nvPicPr>
        <p:blipFill>
          <a:blip r:embed="rId22"/>
          <a:stretch>
            <a:fillRect/>
          </a:stretch>
        </p:blipFill>
        <p:spPr>
          <a:xfrm>
            <a:off x="6318935" y="5309317"/>
            <a:ext cx="128699" cy="187198"/>
          </a:xfrm>
          <a:prstGeom prst="rect">
            <a:avLst/>
          </a:prstGeom>
        </p:spPr>
      </p:pic>
      <p:sp>
        <p:nvSpPr>
          <p:cNvPr id="145" name="TextBox 144"/>
          <p:cNvSpPr txBox="1"/>
          <p:nvPr/>
        </p:nvSpPr>
        <p:spPr>
          <a:xfrm>
            <a:off x="6486430" y="5319097"/>
            <a:ext cx="941395" cy="186689"/>
          </a:xfrm>
          <a:prstGeom prst="rect">
            <a:avLst/>
          </a:prstGeom>
          <a:noFill/>
        </p:spPr>
        <p:txBody>
          <a:bodyPr wrap="none" lIns="0" rIns="0" tIns="0" bIns="0">
            <a:spAutoFit/>
          </a:bodyPr>
          <a:lstStyle/>
          <a:p>
            <a:r>
              <a:rPr sz="1100" b="0">
                <a:solidFill>
                  <a:srgbClr val="2E2E2E"/>
                </a:solidFill>
                <a:latin typeface="Calibri"/>
              </a:rPr>
              <a:t>CAGR a smaller</a:t>
            </a:r>
          </a:p>
        </p:txBody>
      </p:sp>
      <p:sp>
        <p:nvSpPr>
          <p:cNvPr id="146" name="TextBox 145"/>
          <p:cNvSpPr txBox="1"/>
          <p:nvPr/>
        </p:nvSpPr>
        <p:spPr>
          <a:xfrm>
            <a:off x="3838575" y="5486737"/>
            <a:ext cx="518765" cy="186689"/>
          </a:xfrm>
          <a:prstGeom prst="rect">
            <a:avLst/>
          </a:prstGeom>
          <a:noFill/>
        </p:spPr>
        <p:txBody>
          <a:bodyPr wrap="none" lIns="0" rIns="0" tIns="0" bIns="0">
            <a:spAutoFit/>
          </a:bodyPr>
          <a:lstStyle/>
          <a:p>
            <a:r>
              <a:rPr sz="1100" b="0">
                <a:solidFill>
                  <a:srgbClr val="2E2E2E"/>
                </a:solidFill>
                <a:latin typeface="Calibri"/>
              </a:rPr>
              <a:t>market.</a:t>
            </a:r>
          </a:p>
        </p:txBody>
      </p:sp>
      <p:sp>
        <p:nvSpPr>
          <p:cNvPr id="147" name="TextBox 146"/>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48" name="TextBox 147"/>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49" name="Picture 148" descr="lock.png"/>
          <p:cNvPicPr>
            <a:picLocks noChangeAspect="1"/>
          </p:cNvPicPr>
          <p:nvPr/>
        </p:nvPicPr>
        <p:blipFill>
          <a:blip r:embed="rId22"/>
          <a:stretch>
            <a:fillRect/>
          </a:stretch>
        </p:blipFill>
        <p:spPr>
          <a:xfrm>
            <a:off x="8674884" y="6007677"/>
            <a:ext cx="134549" cy="195707"/>
          </a:xfrm>
          <a:prstGeom prst="rect">
            <a:avLst/>
          </a:prstGeom>
        </p:spPr>
      </p:pic>
      <p:sp>
        <p:nvSpPr>
          <p:cNvPr id="150" name="TextBox 149"/>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Analysis, By Region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597422"/>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5926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51645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and Africa</a:t>
            </a:r>
          </a:p>
        </p:txBody>
      </p:sp>
      <p:sp>
        <p:nvSpPr>
          <p:cNvPr id="15" name="BPS Value 1"/>
          <p:cNvSpPr txBox="1"/>
          <p:nvPr/>
        </p:nvSpPr>
        <p:spPr>
          <a:xfrm>
            <a:off x="6305550" y="157837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1891961"/>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88719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81099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19" name="BPS Value 2"/>
          <p:cNvSpPr txBox="1"/>
          <p:nvPr/>
        </p:nvSpPr>
        <p:spPr>
          <a:xfrm>
            <a:off x="6305550" y="187291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551045" y="240133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4712970" y="239656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232036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3" name="BPS Value 3"/>
          <p:cNvSpPr txBox="1"/>
          <p:nvPr/>
        </p:nvSpPr>
        <p:spPr>
          <a:xfrm>
            <a:off x="6305550" y="238228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551045" y="3124875"/>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4712970" y="312011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304391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27" name="BPS Value 4"/>
          <p:cNvSpPr txBox="1"/>
          <p:nvPr/>
        </p:nvSpPr>
        <p:spPr>
          <a:xfrm>
            <a:off x="6305550" y="310582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551045" y="390209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4712970" y="389733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38211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1" name="BPS Value 5"/>
          <p:cNvSpPr txBox="1"/>
          <p:nvPr/>
        </p:nvSpPr>
        <p:spPr>
          <a:xfrm>
            <a:off x="6305550" y="388304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TMR Legend Chip"/>
          <p:cNvSpPr/>
          <p:nvPr/>
        </p:nvSpPr>
        <p:spPr>
          <a:xfrm>
            <a:off x="4551045" y="4717573"/>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4712970" y="471281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463661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5" name="BPS Value 6"/>
          <p:cNvSpPr txBox="1"/>
          <p:nvPr/>
        </p:nvSpPr>
        <p:spPr>
          <a:xfrm>
            <a:off x="6305550" y="469852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38" name="Rectangle 37"/>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ounded Rectangle 39"/>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41" name="Rounded Rectangle 40"/>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42" name="Rounded Rectangle 41"/>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r>
          </a:p>
        </p:txBody>
      </p:sp>
      <p:sp>
        <p:nvSpPr>
          <p:cNvPr id="43" name="Rectangle 4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5" name="Picture 44" descr="lock.png"/>
          <p:cNvPicPr>
            <a:picLocks noChangeAspect="1"/>
          </p:cNvPicPr>
          <p:nvPr/>
        </p:nvPicPr>
        <p:blipFill>
          <a:blip r:embed="rId5"/>
          <a:stretch>
            <a:fillRect/>
          </a:stretch>
        </p:blipFill>
        <p:spPr>
          <a:xfrm>
            <a:off x="2333863" y="3121818"/>
            <a:ext cx="343793" cy="500062"/>
          </a:xfrm>
          <a:prstGeom prst="rect">
            <a:avLst/>
          </a:prstGeom>
        </p:spPr>
      </p:pic>
      <p:pic>
        <p:nvPicPr>
          <p:cNvPr id="46" name="Picture 45" descr="4_4__605E5C.png"/>
          <p:cNvPicPr>
            <a:picLocks noChangeAspect="1"/>
          </p:cNvPicPr>
          <p:nvPr/>
        </p:nvPicPr>
        <p:blipFill>
          <a:blip r:embed="rId6"/>
          <a:stretch>
            <a:fillRect/>
          </a:stretch>
        </p:blipFill>
        <p:spPr>
          <a:xfrm>
            <a:off x="9465355" y="5897562"/>
            <a:ext cx="1309912" cy="482599"/>
          </a:xfrm>
          <a:prstGeom prst="rect">
            <a:avLst/>
          </a:prstGeom>
        </p:spPr>
      </p:pic>
      <p:pic>
        <p:nvPicPr>
          <p:cNvPr id="47" name="Picture 46" descr="lock.png"/>
          <p:cNvPicPr>
            <a:picLocks noChangeAspect="1"/>
          </p:cNvPicPr>
          <p:nvPr/>
        </p:nvPicPr>
        <p:blipFill>
          <a:blip r:embed="rId5"/>
          <a:stretch>
            <a:fillRect/>
          </a:stretch>
        </p:blipFill>
        <p:spPr>
          <a:xfrm>
            <a:off x="10003631" y="5972175"/>
            <a:ext cx="229195" cy="333375"/>
          </a:xfrm>
          <a:prstGeom prst="rect">
            <a:avLst/>
          </a:prstGeom>
        </p:spPr>
      </p:pic>
      <p:sp>
        <p:nvSpPr>
          <p:cNvPr id="48" name="TextBox 47"/>
          <p:cNvSpPr txBox="1"/>
          <p:nvPr/>
        </p:nvSpPr>
        <p:spPr>
          <a:xfrm>
            <a:off x="7239000" y="1400175"/>
            <a:ext cx="4648200" cy="194310"/>
          </a:xfrm>
          <a:prstGeom prst="rect">
            <a:avLst/>
          </a:prstGeom>
          <a:noFill/>
        </p:spPr>
        <p:txBody>
          <a:bodyPr wrap="none" lIns="0" rIns="0" tIns="0" bIns="0">
            <a:spAutoFit/>
          </a:bodyPr>
          <a:lstStyle/>
          <a:p>
            <a:r>
              <a:rPr sz="1150" b="0">
                <a:solidFill>
                  <a:srgbClr val="2E2E2E"/>
                </a:solidFill>
                <a:latin typeface="Calibri"/>
              </a:rPr>
              <a:t>South Asia &amp; Pacific foam protective packaging market is projected to register</a:t>
            </a:r>
          </a:p>
        </p:txBody>
      </p:sp>
      <p:pic>
        <p:nvPicPr>
          <p:cNvPr id="49" name="Picture 48" descr="lock.png"/>
          <p:cNvPicPr>
            <a:picLocks noChangeAspect="1"/>
          </p:cNvPicPr>
          <p:nvPr/>
        </p:nvPicPr>
        <p:blipFill>
          <a:blip r:embed="rId5"/>
          <a:stretch>
            <a:fillRect/>
          </a:stretch>
        </p:blipFill>
        <p:spPr>
          <a:xfrm>
            <a:off x="7224920" y="1565211"/>
            <a:ext cx="134549" cy="195707"/>
          </a:xfrm>
          <a:prstGeom prst="rect">
            <a:avLst/>
          </a:prstGeom>
        </p:spPr>
      </p:pic>
      <p:sp>
        <p:nvSpPr>
          <p:cNvPr id="50" name="TextBox 49"/>
          <p:cNvSpPr txBox="1"/>
          <p:nvPr/>
        </p:nvSpPr>
        <p:spPr>
          <a:xfrm>
            <a:off x="7400029" y="1575435"/>
            <a:ext cx="4381537" cy="194310"/>
          </a:xfrm>
          <a:prstGeom prst="rect">
            <a:avLst/>
          </a:prstGeom>
          <a:noFill/>
        </p:spPr>
        <p:txBody>
          <a:bodyPr wrap="none" lIns="0" rIns="0" tIns="0" bIns="0">
            <a:spAutoFit/>
          </a:bodyPr>
          <a:lstStyle/>
          <a:p>
            <a:r>
              <a:rPr sz="1150" b="0">
                <a:solidFill>
                  <a:srgbClr val="2E2E2E"/>
                </a:solidFill>
                <a:latin typeface="Calibri"/>
              </a:rPr>
              <a:t>X higher volume than Europe in 2036. Among foam protective packaging</a:t>
            </a:r>
          </a:p>
        </p:txBody>
      </p:sp>
      <p:sp>
        <p:nvSpPr>
          <p:cNvPr id="51" name="TextBox 50"/>
          <p:cNvSpPr txBox="1"/>
          <p:nvPr/>
        </p:nvSpPr>
        <p:spPr>
          <a:xfrm>
            <a:off x="7239000" y="1750695"/>
            <a:ext cx="4439996" cy="194310"/>
          </a:xfrm>
          <a:prstGeom prst="rect">
            <a:avLst/>
          </a:prstGeom>
          <a:noFill/>
        </p:spPr>
        <p:txBody>
          <a:bodyPr wrap="none" lIns="0" rIns="0" tIns="0" bIns="0">
            <a:spAutoFit/>
          </a:bodyPr>
          <a:lstStyle/>
          <a:p>
            <a:r>
              <a:rPr sz="1150" b="0">
                <a:solidFill>
                  <a:srgbClr val="2E2E2E"/>
                </a:solidFill>
                <a:latin typeface="Calibri"/>
              </a:rPr>
              <a:t>by region, South Asia &amp; Pacific is expected to witness the highest CAGR of</a:t>
            </a:r>
          </a:p>
        </p:txBody>
      </p:sp>
      <p:pic>
        <p:nvPicPr>
          <p:cNvPr id="52" name="Picture 51" descr="lock.png"/>
          <p:cNvPicPr>
            <a:picLocks noChangeAspect="1"/>
          </p:cNvPicPr>
          <p:nvPr/>
        </p:nvPicPr>
        <p:blipFill>
          <a:blip r:embed="rId5"/>
          <a:stretch>
            <a:fillRect/>
          </a:stretch>
        </p:blipFill>
        <p:spPr>
          <a:xfrm>
            <a:off x="11628150" y="1740471"/>
            <a:ext cx="134549" cy="195707"/>
          </a:xfrm>
          <a:prstGeom prst="rect">
            <a:avLst/>
          </a:prstGeom>
        </p:spPr>
      </p:pic>
      <p:sp>
        <p:nvSpPr>
          <p:cNvPr id="53" name="TextBox 52"/>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4" name="TextBox 53"/>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55" name="TextBox 54"/>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6" name="Picture 55" descr="lock.png"/>
          <p:cNvPicPr>
            <a:picLocks noChangeAspect="1"/>
          </p:cNvPicPr>
          <p:nvPr/>
        </p:nvPicPr>
        <p:blipFill>
          <a:blip r:embed="rId5"/>
          <a:stretch>
            <a:fillRect/>
          </a:stretch>
        </p:blipFill>
        <p:spPr>
          <a:xfrm>
            <a:off x="9025226" y="2318829"/>
            <a:ext cx="134549" cy="195707"/>
          </a:xfrm>
          <a:prstGeom prst="rect">
            <a:avLst/>
          </a:prstGeom>
        </p:spPr>
      </p:pic>
      <p:sp>
        <p:nvSpPr>
          <p:cNvPr id="57" name="TextBox 56"/>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8" name="Picture 57" descr="lock.png"/>
          <p:cNvPicPr>
            <a:picLocks noChangeAspect="1"/>
          </p:cNvPicPr>
          <p:nvPr/>
        </p:nvPicPr>
        <p:blipFill>
          <a:blip r:embed="rId5"/>
          <a:stretch>
            <a:fillRect/>
          </a:stretch>
        </p:blipFill>
        <p:spPr>
          <a:xfrm>
            <a:off x="10595478" y="2318829"/>
            <a:ext cx="134549" cy="195707"/>
          </a:xfrm>
          <a:prstGeom prst="rect">
            <a:avLst/>
          </a:prstGeom>
        </p:spPr>
      </p:pic>
      <p:sp>
        <p:nvSpPr>
          <p:cNvPr id="59" name="TextBox 58"/>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0" name="TextBox 59"/>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1" name="Picture 60" descr="lock.png"/>
          <p:cNvPicPr>
            <a:picLocks noChangeAspect="1"/>
          </p:cNvPicPr>
          <p:nvPr/>
        </p:nvPicPr>
        <p:blipFill>
          <a:blip r:embed="rId5"/>
          <a:stretch>
            <a:fillRect/>
          </a:stretch>
        </p:blipFill>
        <p:spPr>
          <a:xfrm>
            <a:off x="9271685" y="2494089"/>
            <a:ext cx="134549" cy="195707"/>
          </a:xfrm>
          <a:prstGeom prst="rect">
            <a:avLst/>
          </a:prstGeom>
        </p:spPr>
      </p:pic>
      <p:sp>
        <p:nvSpPr>
          <p:cNvPr id="62" name="TextBox 61"/>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3" name="TextBox 62"/>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64" name="Picture 63" descr="lock.png"/>
          <p:cNvPicPr>
            <a:picLocks noChangeAspect="1"/>
          </p:cNvPicPr>
          <p:nvPr/>
        </p:nvPicPr>
        <p:blipFill>
          <a:blip r:embed="rId5"/>
          <a:stretch>
            <a:fillRect/>
          </a:stretch>
        </p:blipFill>
        <p:spPr>
          <a:xfrm>
            <a:off x="7943258" y="2669349"/>
            <a:ext cx="134549" cy="195707"/>
          </a:xfrm>
          <a:prstGeom prst="rect">
            <a:avLst/>
          </a:prstGeom>
        </p:spPr>
      </p:pic>
      <p:sp>
        <p:nvSpPr>
          <p:cNvPr id="65" name="TextBox 64"/>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TextBox 65"/>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67" name="Picture 66" descr="lock.png"/>
          <p:cNvPicPr>
            <a:picLocks noChangeAspect="1"/>
          </p:cNvPicPr>
          <p:nvPr/>
        </p:nvPicPr>
        <p:blipFill>
          <a:blip r:embed="rId5"/>
          <a:stretch>
            <a:fillRect/>
          </a:stretch>
        </p:blipFill>
        <p:spPr>
          <a:xfrm>
            <a:off x="1984327" y="6077648"/>
            <a:ext cx="233998" cy="340360"/>
          </a:xfrm>
          <a:prstGeom prst="rect">
            <a:avLst/>
          </a:prstGeom>
        </p:spPr>
      </p:pic>
      <p:sp>
        <p:nvSpPr>
          <p:cNvPr id="68" name="TextBox 67"/>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69" name="Picture 68" descr="lock.png"/>
          <p:cNvPicPr>
            <a:picLocks noChangeAspect="1"/>
          </p:cNvPicPr>
          <p:nvPr/>
        </p:nvPicPr>
        <p:blipFill>
          <a:blip r:embed="rId5"/>
          <a:stretch>
            <a:fillRect/>
          </a:stretch>
        </p:blipFill>
        <p:spPr>
          <a:xfrm>
            <a:off x="6018165" y="6077648"/>
            <a:ext cx="233998" cy="340360"/>
          </a:xfrm>
          <a:prstGeom prst="rect">
            <a:avLst/>
          </a:prstGeom>
        </p:spPr>
      </p:pic>
      <p:sp>
        <p:nvSpPr>
          <p:cNvPr id="70"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585545"/>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4712970" y="158078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50458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and Africa</a:t>
            </a:r>
          </a:p>
        </p:txBody>
      </p:sp>
      <p:sp>
        <p:nvSpPr>
          <p:cNvPr id="15" name="BPS Value 1"/>
          <p:cNvSpPr txBox="1"/>
          <p:nvPr/>
        </p:nvSpPr>
        <p:spPr>
          <a:xfrm>
            <a:off x="6305550" y="156649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551045" y="1861846"/>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85708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78088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19" name="BPS Value 2"/>
          <p:cNvSpPr txBox="1"/>
          <p:nvPr/>
        </p:nvSpPr>
        <p:spPr>
          <a:xfrm>
            <a:off x="6305550" y="184279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551045" y="2249968"/>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224520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216900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3" name="BPS Value 3"/>
          <p:cNvSpPr txBox="1"/>
          <p:nvPr/>
        </p:nvSpPr>
        <p:spPr>
          <a:xfrm>
            <a:off x="6305550" y="223091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551045" y="2725493"/>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7207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264453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27" name="BPS Value 4"/>
          <p:cNvSpPr txBox="1"/>
          <p:nvPr/>
        </p:nvSpPr>
        <p:spPr>
          <a:xfrm>
            <a:off x="6305550" y="27064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TMR Legend Chip"/>
          <p:cNvSpPr/>
          <p:nvPr/>
        </p:nvSpPr>
        <p:spPr>
          <a:xfrm>
            <a:off x="4551045" y="3491040"/>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4712970" y="348627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341007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1" name="BPS Value 5"/>
          <p:cNvSpPr txBox="1"/>
          <p:nvPr/>
        </p:nvSpPr>
        <p:spPr>
          <a:xfrm>
            <a:off x="6305550" y="347199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TMR Legend Chip"/>
          <p:cNvSpPr/>
          <p:nvPr/>
        </p:nvSpPr>
        <p:spPr>
          <a:xfrm>
            <a:off x="4551045" y="4572777"/>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456801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449181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5" name="BPS Value 6"/>
          <p:cNvSpPr txBox="1"/>
          <p:nvPr/>
        </p:nvSpPr>
        <p:spPr>
          <a:xfrm>
            <a:off x="6305550" y="455372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Rounded Rectangle 35"/>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38" name="Rectangle 37"/>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ounded Rectangle 39"/>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
            </a:r>
          </a:p>
        </p:txBody>
      </p:sp>
      <p:sp>
        <p:nvSpPr>
          <p:cNvPr id="41" name="Rounded Rectangle 40"/>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
            </a:r>
          </a:p>
        </p:txBody>
      </p:sp>
      <p:sp>
        <p:nvSpPr>
          <p:cNvPr id="42" name="Rounded Rectangle 41"/>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r>
          </a:p>
        </p:txBody>
      </p:sp>
      <p:sp>
        <p:nvSpPr>
          <p:cNvPr id="43" name="Rectangle 4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5" name="Picture 44" descr="lock.png"/>
          <p:cNvPicPr>
            <a:picLocks noChangeAspect="1"/>
          </p:cNvPicPr>
          <p:nvPr/>
        </p:nvPicPr>
        <p:blipFill>
          <a:blip r:embed="rId5"/>
          <a:stretch>
            <a:fillRect/>
          </a:stretch>
        </p:blipFill>
        <p:spPr>
          <a:xfrm>
            <a:off x="2333863" y="3121818"/>
            <a:ext cx="343793" cy="500062"/>
          </a:xfrm>
          <a:prstGeom prst="rect">
            <a:avLst/>
          </a:prstGeom>
        </p:spPr>
      </p:pic>
      <p:pic>
        <p:nvPicPr>
          <p:cNvPr id="46" name="Picture 45"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47" name="Picture 46" descr="17_679_605E5C.png"/>
          <p:cNvPicPr>
            <a:picLocks noChangeAspect="1"/>
          </p:cNvPicPr>
          <p:nvPr/>
        </p:nvPicPr>
        <p:blipFill>
          <a:blip r:embed="rId7"/>
          <a:stretch>
            <a:fillRect/>
          </a:stretch>
        </p:blipFill>
        <p:spPr>
          <a:xfrm>
            <a:off x="5209041" y="5897562"/>
            <a:ext cx="1878689" cy="482599"/>
          </a:xfrm>
          <a:prstGeom prst="rect">
            <a:avLst/>
          </a:prstGeom>
        </p:spPr>
      </p:pic>
      <p:pic>
        <p:nvPicPr>
          <p:cNvPr id="48" name="Picture 47"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49" name="Picture 48" descr="lock.png"/>
          <p:cNvPicPr>
            <a:picLocks noChangeAspect="1"/>
          </p:cNvPicPr>
          <p:nvPr/>
        </p:nvPicPr>
        <p:blipFill>
          <a:blip r:embed="rId5"/>
          <a:stretch>
            <a:fillRect/>
          </a:stretch>
        </p:blipFill>
        <p:spPr>
          <a:xfrm>
            <a:off x="5914657" y="5893409"/>
            <a:ext cx="337498" cy="490906"/>
          </a:xfrm>
          <a:prstGeom prst="rect">
            <a:avLst/>
          </a:prstGeom>
        </p:spPr>
      </p:pic>
      <p:sp>
        <p:nvSpPr>
          <p:cNvPr id="50" name="TextBox 49"/>
          <p:cNvSpPr txBox="1"/>
          <p:nvPr/>
        </p:nvSpPr>
        <p:spPr>
          <a:xfrm>
            <a:off x="7239000" y="1400175"/>
            <a:ext cx="4395229" cy="194310"/>
          </a:xfrm>
          <a:prstGeom prst="rect">
            <a:avLst/>
          </a:prstGeom>
          <a:noFill/>
        </p:spPr>
        <p:txBody>
          <a:bodyPr wrap="none" lIns="0" rIns="0" tIns="0" bIns="0">
            <a:spAutoFit/>
          </a:bodyPr>
          <a:lstStyle/>
          <a:p>
            <a:r>
              <a:rPr sz="1150" b="0">
                <a:solidFill>
                  <a:srgbClr val="2E2E2E"/>
                </a:solidFill>
                <a:latin typeface="Calibri"/>
              </a:rPr>
              <a:t>North America foam protective packaging market is projected to register</a:t>
            </a:r>
          </a:p>
        </p:txBody>
      </p:sp>
      <p:pic>
        <p:nvPicPr>
          <p:cNvPr id="51" name="Picture 50" descr="lock.png"/>
          <p:cNvPicPr>
            <a:picLocks noChangeAspect="1"/>
          </p:cNvPicPr>
          <p:nvPr/>
        </p:nvPicPr>
        <p:blipFill>
          <a:blip r:embed="rId5"/>
          <a:stretch>
            <a:fillRect/>
          </a:stretch>
        </p:blipFill>
        <p:spPr>
          <a:xfrm>
            <a:off x="7224920" y="1565211"/>
            <a:ext cx="134549" cy="195707"/>
          </a:xfrm>
          <a:prstGeom prst="rect">
            <a:avLst/>
          </a:prstGeom>
        </p:spPr>
      </p:pic>
      <p:sp>
        <p:nvSpPr>
          <p:cNvPr id="52" name="TextBox 51"/>
          <p:cNvSpPr txBox="1"/>
          <p:nvPr/>
        </p:nvSpPr>
        <p:spPr>
          <a:xfrm>
            <a:off x="7400029" y="1575435"/>
            <a:ext cx="4433738" cy="194310"/>
          </a:xfrm>
          <a:prstGeom prst="rect">
            <a:avLst/>
          </a:prstGeom>
          <a:noFill/>
        </p:spPr>
        <p:txBody>
          <a:bodyPr wrap="none" lIns="0" rIns="0" tIns="0" bIns="0">
            <a:spAutoFit/>
          </a:bodyPr>
          <a:lstStyle/>
          <a:p>
            <a:r>
              <a:rPr sz="1150" b="0">
                <a:solidFill>
                  <a:srgbClr val="2E2E2E"/>
                </a:solidFill>
                <a:latin typeface="Calibri"/>
              </a:rPr>
              <a:t>X higher value than Europe in 2036. Among foam protective packaging by</a:t>
            </a:r>
          </a:p>
        </p:txBody>
      </p:sp>
      <p:sp>
        <p:nvSpPr>
          <p:cNvPr id="53" name="TextBox 52"/>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54" name="Picture 53" descr="lock.png"/>
          <p:cNvPicPr>
            <a:picLocks noChangeAspect="1"/>
          </p:cNvPicPr>
          <p:nvPr/>
        </p:nvPicPr>
        <p:blipFill>
          <a:blip r:embed="rId5"/>
          <a:stretch>
            <a:fillRect/>
          </a:stretch>
        </p:blipFill>
        <p:spPr>
          <a:xfrm>
            <a:off x="11452148" y="1740471"/>
            <a:ext cx="134549" cy="195707"/>
          </a:xfrm>
          <a:prstGeom prst="rect">
            <a:avLst/>
          </a:prstGeom>
        </p:spPr>
      </p:pic>
      <p:sp>
        <p:nvSpPr>
          <p:cNvPr id="55" name="TextBox 54"/>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6" name="TextBox 55"/>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57" name="TextBox 56"/>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58" name="Picture 57" descr="lock.png"/>
          <p:cNvPicPr>
            <a:picLocks noChangeAspect="1"/>
          </p:cNvPicPr>
          <p:nvPr/>
        </p:nvPicPr>
        <p:blipFill>
          <a:blip r:embed="rId5"/>
          <a:stretch>
            <a:fillRect/>
          </a:stretch>
        </p:blipFill>
        <p:spPr>
          <a:xfrm>
            <a:off x="8106708" y="2318829"/>
            <a:ext cx="134549" cy="195707"/>
          </a:xfrm>
          <a:prstGeom prst="rect">
            <a:avLst/>
          </a:prstGeom>
        </p:spPr>
      </p:pic>
      <p:sp>
        <p:nvSpPr>
          <p:cNvPr id="59" name="TextBox 58"/>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0" name="Picture 59" descr="lock.png"/>
          <p:cNvPicPr>
            <a:picLocks noChangeAspect="1"/>
          </p:cNvPicPr>
          <p:nvPr/>
        </p:nvPicPr>
        <p:blipFill>
          <a:blip r:embed="rId5"/>
          <a:stretch>
            <a:fillRect/>
          </a:stretch>
        </p:blipFill>
        <p:spPr>
          <a:xfrm>
            <a:off x="9676961" y="2318829"/>
            <a:ext cx="134549" cy="195707"/>
          </a:xfrm>
          <a:prstGeom prst="rect">
            <a:avLst/>
          </a:prstGeom>
        </p:spPr>
      </p:pic>
      <p:sp>
        <p:nvSpPr>
          <p:cNvPr id="61" name="TextBox 60"/>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Share Analysis, By Region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7" name="Rounded Rectangle 6"/>
          <p:cNvSpPr/>
          <p:nvPr/>
        </p:nvSpPr>
        <p:spPr>
          <a:xfrm>
            <a:off x="142875" y="981075"/>
            <a:ext cx="11906250" cy="3019425"/>
          </a:xfrm>
          <a:prstGeom prst="roundRect">
            <a:avLst>
              <a:gd name="adj" fmla="val 252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(MT)</a:t>
            </a:r>
          </a:p>
        </p:txBody>
      </p:sp>
      <p:graphicFrame>
        <p:nvGraphicFramePr>
          <p:cNvPr id="9" name="Table 8"/>
          <p:cNvGraphicFramePr>
            <a:graphicFrameLocks noGrp="1"/>
          </p:cNvGraphicFramePr>
          <p:nvPr/>
        </p:nvGraphicFramePr>
        <p:xfrm>
          <a:off x="152400" y="1238250"/>
          <a:ext cx="11897441" cy="2552698"/>
        </p:xfrm>
        <a:graphic>
          <a:graphicData uri="http://schemas.openxmlformats.org/drawingml/2006/table">
            <a:tbl>
              <a:tblPr>
                <a:tableStyleId>{5C22544A-7EE6-4342-B048-85BDC9FD1C3A}</a:tableStyleId>
              </a:tblPr>
              <a:tblGrid>
                <a:gridCol w="1518557"/>
                <a:gridCol w="624254"/>
                <a:gridCol w="624254"/>
                <a:gridCol w="624254"/>
                <a:gridCol w="624254"/>
                <a:gridCol w="624254"/>
                <a:gridCol w="624254"/>
                <a:gridCol w="624254"/>
                <a:gridCol w="624254"/>
                <a:gridCol w="624254"/>
                <a:gridCol w="624254"/>
                <a:gridCol w="624254"/>
                <a:gridCol w="624254"/>
                <a:gridCol w="624254"/>
                <a:gridCol w="624254"/>
                <a:gridCol w="624254"/>
                <a:gridCol w="624254"/>
                <a:gridCol w="390820"/>
              </a:tblGrid>
              <a:tr h="438912">
                <a:tc>
                  <a:txBody>
                    <a:bodyPr wrap="none"/>
                    <a:lstStyle/>
                    <a:p>
                      <a:pPr algn="l"/>
                      <a:r>
                        <a:rPr sz="1100" b="1">
                          <a:solidFill>
                            <a:srgbClr val="0E2A5C"/>
                          </a:solidFill>
                          <a:latin typeface="Calibri"/>
                        </a:rPr>
                        <a:t>Region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246888">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Latin America</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888">
                <a:tc>
                  <a:txBody>
                    <a:bodyPr wrap="none"/>
                    <a:lstStyle/>
                    <a:p>
                      <a:pPr algn="l"/>
                      <a:r>
                        <a:rPr sz="1100" b="1">
                          <a:solidFill>
                            <a:srgbClr val="2E2E2E"/>
                          </a:solidFill>
                          <a:latin typeface="Calibri"/>
                        </a:rPr>
                        <a:t>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East Asia</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9673">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673">
                <a:tc>
                  <a:txBody>
                    <a:bodyPr wrap="none"/>
                    <a:lstStyle/>
                    <a:p>
                      <a:pPr algn="l"/>
                      <a:r>
                        <a:rPr sz="1100" b="1">
                          <a:solidFill>
                            <a:srgbClr val="2E2E2E"/>
                          </a:solidFill>
                          <a:latin typeface="Calibri"/>
                        </a:rPr>
                        <a:t>Middle East and</a:t>
                      </a:r>
                      <a:endParaRPr sz="1100"/>
                    </a:p>
                    <a:p>
                      <a:pPr algn="l"/>
                      <a:r>
                        <a:rPr sz="1100" b="1">
                          <a:solidFill>
                            <a:srgbClr val="2E2E2E"/>
                          </a:solidFill>
                          <a:latin typeface="Calibri"/>
                        </a:rPr>
                        <a:t>Africa</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888">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3800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133850"/>
            <a:ext cx="11906250" cy="2495550"/>
          </a:xfrm>
          <a:prstGeom prst="roundRect">
            <a:avLst>
              <a:gd name="adj" fmla="val 305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2195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Share Read-out, By Region</a:t>
            </a:r>
          </a:p>
        </p:txBody>
      </p:sp>
      <p:sp>
        <p:nvSpPr>
          <p:cNvPr id="13" name="Rectangle 12"/>
          <p:cNvSpPr/>
          <p:nvPr/>
        </p:nvSpPr>
        <p:spPr>
          <a:xfrm>
            <a:off x="276225" y="44577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543425"/>
            <a:ext cx="11639550" cy="20097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529244" y="2467355"/>
            <a:ext cx="366712" cy="533400"/>
          </a:xfrm>
          <a:prstGeom prst="rect">
            <a:avLst/>
          </a:prstGeom>
        </p:spPr>
      </p:pic>
      <p:sp>
        <p:nvSpPr>
          <p:cNvPr id="18" name="TextBox 17"/>
          <p:cNvSpPr txBox="1"/>
          <p:nvPr/>
        </p:nvSpPr>
        <p:spPr>
          <a:xfrm>
            <a:off x="276225" y="4552950"/>
            <a:ext cx="4695031" cy="194310"/>
          </a:xfrm>
          <a:prstGeom prst="rect">
            <a:avLst/>
          </a:prstGeom>
          <a:noFill/>
        </p:spPr>
        <p:txBody>
          <a:bodyPr wrap="none" lIns="0" rIns="0" tIns="0" bIns="0">
            <a:spAutoFit/>
          </a:bodyPr>
          <a:lstStyle/>
          <a:p>
            <a:r>
              <a:rPr sz="1150" b="0">
                <a:solidFill>
                  <a:srgbClr val="2E2E2E"/>
                </a:solidFill>
                <a:latin typeface="Calibri"/>
              </a:rPr>
              <a:t>South Asia &amp; Pacific foam protective packaging market is projected to register</a:t>
            </a:r>
          </a:p>
        </p:txBody>
      </p:sp>
      <p:pic>
        <p:nvPicPr>
          <p:cNvPr id="19" name="Picture 18" descr="lock.png"/>
          <p:cNvPicPr>
            <a:picLocks noChangeAspect="1"/>
          </p:cNvPicPr>
          <p:nvPr/>
        </p:nvPicPr>
        <p:blipFill>
          <a:blip r:embed="rId4"/>
          <a:stretch>
            <a:fillRect/>
          </a:stretch>
        </p:blipFill>
        <p:spPr>
          <a:xfrm>
            <a:off x="4920410" y="4542726"/>
            <a:ext cx="134549" cy="195707"/>
          </a:xfrm>
          <a:prstGeom prst="rect">
            <a:avLst/>
          </a:prstGeom>
        </p:spPr>
      </p:pic>
      <p:sp>
        <p:nvSpPr>
          <p:cNvPr id="20" name="TextBox 19"/>
          <p:cNvSpPr txBox="1"/>
          <p:nvPr/>
        </p:nvSpPr>
        <p:spPr>
          <a:xfrm>
            <a:off x="5095519" y="4552950"/>
            <a:ext cx="6335526" cy="194310"/>
          </a:xfrm>
          <a:prstGeom prst="rect">
            <a:avLst/>
          </a:prstGeom>
          <a:noFill/>
        </p:spPr>
        <p:txBody>
          <a:bodyPr wrap="none" lIns="0" rIns="0" tIns="0" bIns="0">
            <a:spAutoFit/>
          </a:bodyPr>
          <a:lstStyle/>
          <a:p>
            <a:r>
              <a:rPr sz="1150" b="0">
                <a:solidFill>
                  <a:srgbClr val="2E2E2E"/>
                </a:solidFill>
                <a:latin typeface="Calibri"/>
              </a:rPr>
              <a:t>X higher volume than Europe in 2036. Among foam protective packaging by region, South Asia &amp; Pacific is</a:t>
            </a:r>
          </a:p>
        </p:txBody>
      </p:sp>
      <p:sp>
        <p:nvSpPr>
          <p:cNvPr id="21" name="TextBox 20"/>
          <p:cNvSpPr txBox="1"/>
          <p:nvPr/>
        </p:nvSpPr>
        <p:spPr>
          <a:xfrm>
            <a:off x="276225" y="4728210"/>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22" name="Picture 21" descr="lock.png"/>
          <p:cNvPicPr>
            <a:picLocks noChangeAspect="1"/>
          </p:cNvPicPr>
          <p:nvPr/>
        </p:nvPicPr>
        <p:blipFill>
          <a:blip r:embed="rId4"/>
          <a:stretch>
            <a:fillRect/>
          </a:stretch>
        </p:blipFill>
        <p:spPr>
          <a:xfrm>
            <a:off x="2711386" y="4717986"/>
            <a:ext cx="134549" cy="195707"/>
          </a:xfrm>
          <a:prstGeom prst="rect">
            <a:avLst/>
          </a:prstGeom>
        </p:spPr>
      </p:pic>
      <p:sp>
        <p:nvSpPr>
          <p:cNvPr id="23" name="TextBox 22"/>
          <p:cNvSpPr txBox="1"/>
          <p:nvPr/>
        </p:nvSpPr>
        <p:spPr>
          <a:xfrm>
            <a:off x="2886495" y="47282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95604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5" name="Picture 24" descr="lock.png"/>
          <p:cNvPicPr>
            <a:picLocks noChangeAspect="1"/>
          </p:cNvPicPr>
          <p:nvPr/>
        </p:nvPicPr>
        <p:blipFill>
          <a:blip r:embed="rId4"/>
          <a:stretch>
            <a:fillRect/>
          </a:stretch>
        </p:blipFill>
        <p:spPr>
          <a:xfrm>
            <a:off x="6271943" y="4945824"/>
            <a:ext cx="134549" cy="195707"/>
          </a:xfrm>
          <a:prstGeom prst="rect">
            <a:avLst/>
          </a:prstGeom>
        </p:spPr>
      </p:pic>
      <p:sp>
        <p:nvSpPr>
          <p:cNvPr id="26" name="TextBox 25"/>
          <p:cNvSpPr txBox="1"/>
          <p:nvPr/>
        </p:nvSpPr>
        <p:spPr>
          <a:xfrm>
            <a:off x="6447052" y="49560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7842195" y="4945824"/>
            <a:ext cx="134549" cy="195707"/>
          </a:xfrm>
          <a:prstGeom prst="rect">
            <a:avLst/>
          </a:prstGeom>
        </p:spPr>
      </p:pic>
      <p:sp>
        <p:nvSpPr>
          <p:cNvPr id="28" name="TextBox 27"/>
          <p:cNvSpPr txBox="1"/>
          <p:nvPr/>
        </p:nvSpPr>
        <p:spPr>
          <a:xfrm>
            <a:off x="8017304" y="495604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29" name="Picture 28" descr="lock.png"/>
          <p:cNvPicPr>
            <a:picLocks noChangeAspect="1"/>
          </p:cNvPicPr>
          <p:nvPr/>
        </p:nvPicPr>
        <p:blipFill>
          <a:blip r:embed="rId4"/>
          <a:stretch>
            <a:fillRect/>
          </a:stretch>
        </p:blipFill>
        <p:spPr>
          <a:xfrm>
            <a:off x="10953104" y="4945824"/>
            <a:ext cx="134549" cy="195707"/>
          </a:xfrm>
          <a:prstGeom prst="rect">
            <a:avLst/>
          </a:prstGeom>
        </p:spPr>
      </p:pic>
      <p:sp>
        <p:nvSpPr>
          <p:cNvPr id="30" name="TextBox 29"/>
          <p:cNvSpPr txBox="1"/>
          <p:nvPr/>
        </p:nvSpPr>
        <p:spPr>
          <a:xfrm>
            <a:off x="11128213" y="495604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1" name="TextBox 30"/>
          <p:cNvSpPr txBox="1"/>
          <p:nvPr/>
        </p:nvSpPr>
        <p:spPr>
          <a:xfrm>
            <a:off x="276225" y="513130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2" name="Picture 31" descr="lock.png"/>
          <p:cNvPicPr>
            <a:picLocks noChangeAspect="1"/>
          </p:cNvPicPr>
          <p:nvPr/>
        </p:nvPicPr>
        <p:blipFill>
          <a:blip r:embed="rId4"/>
          <a:stretch>
            <a:fillRect/>
          </a:stretch>
        </p:blipFill>
        <p:spPr>
          <a:xfrm>
            <a:off x="2608427" y="5121084"/>
            <a:ext cx="134549" cy="195707"/>
          </a:xfrm>
          <a:prstGeom prst="rect">
            <a:avLst/>
          </a:prstGeom>
        </p:spPr>
      </p:pic>
      <p:sp>
        <p:nvSpPr>
          <p:cNvPr id="33" name="TextBox 32"/>
          <p:cNvSpPr txBox="1"/>
          <p:nvPr/>
        </p:nvSpPr>
        <p:spPr>
          <a:xfrm>
            <a:off x="2783536" y="51313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Share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7" name="Rounded Rectangle 6"/>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9" name="Table 8"/>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1595196"/>
                <a:gridCol w="605412"/>
                <a:gridCol w="605412"/>
                <a:gridCol w="605412"/>
                <a:gridCol w="605412"/>
                <a:gridCol w="605412"/>
                <a:gridCol w="605412"/>
                <a:gridCol w="605412"/>
                <a:gridCol w="605412"/>
                <a:gridCol w="605412"/>
                <a:gridCol w="605412"/>
                <a:gridCol w="605412"/>
                <a:gridCol w="605412"/>
                <a:gridCol w="605412"/>
                <a:gridCol w="605412"/>
                <a:gridCol w="605412"/>
                <a:gridCol w="605412"/>
                <a:gridCol w="605412"/>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52825"/>
            <a:ext cx="11906250" cy="3076575"/>
          </a:xfrm>
          <a:prstGeom prst="roundRect">
            <a:avLst>
              <a:gd name="adj" fmla="val 247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Share Read-out, By Region</a:t>
            </a:r>
          </a:p>
        </p:txBody>
      </p:sp>
      <p:sp>
        <p:nvSpPr>
          <p:cNvPr id="13" name="Rectangle 12"/>
          <p:cNvSpPr/>
          <p:nvPr/>
        </p:nvSpPr>
        <p:spPr>
          <a:xfrm>
            <a:off x="276225" y="38766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706908" y="2080450"/>
            <a:ext cx="366712" cy="533400"/>
          </a:xfrm>
          <a:prstGeom prst="rect">
            <a:avLst/>
          </a:prstGeom>
        </p:spPr>
      </p:pic>
      <p:sp>
        <p:nvSpPr>
          <p:cNvPr id="18" name="TextBox 17"/>
          <p:cNvSpPr txBox="1"/>
          <p:nvPr/>
        </p:nvSpPr>
        <p:spPr>
          <a:xfrm>
            <a:off x="276225" y="3971925"/>
            <a:ext cx="4395229" cy="194310"/>
          </a:xfrm>
          <a:prstGeom prst="rect">
            <a:avLst/>
          </a:prstGeom>
          <a:noFill/>
        </p:spPr>
        <p:txBody>
          <a:bodyPr wrap="none" lIns="0" rIns="0" tIns="0" bIns="0">
            <a:spAutoFit/>
          </a:bodyPr>
          <a:lstStyle/>
          <a:p>
            <a:r>
              <a:rPr sz="1150" b="0">
                <a:solidFill>
                  <a:srgbClr val="2E2E2E"/>
                </a:solidFill>
                <a:latin typeface="Calibri"/>
              </a:rPr>
              <a:t>North America foam protective packaging market is projected to register</a:t>
            </a:r>
          </a:p>
        </p:txBody>
      </p:sp>
      <p:pic>
        <p:nvPicPr>
          <p:cNvPr id="19" name="Picture 18" descr="lock.png"/>
          <p:cNvPicPr>
            <a:picLocks noChangeAspect="1"/>
          </p:cNvPicPr>
          <p:nvPr/>
        </p:nvPicPr>
        <p:blipFill>
          <a:blip r:embed="rId4"/>
          <a:stretch>
            <a:fillRect/>
          </a:stretch>
        </p:blipFill>
        <p:spPr>
          <a:xfrm>
            <a:off x="4620608" y="3961701"/>
            <a:ext cx="134549" cy="195707"/>
          </a:xfrm>
          <a:prstGeom prst="rect">
            <a:avLst/>
          </a:prstGeom>
        </p:spPr>
      </p:pic>
      <p:sp>
        <p:nvSpPr>
          <p:cNvPr id="20" name="TextBox 19"/>
          <p:cNvSpPr txBox="1"/>
          <p:nvPr/>
        </p:nvSpPr>
        <p:spPr>
          <a:xfrm>
            <a:off x="4795717" y="3971925"/>
            <a:ext cx="6949963" cy="194310"/>
          </a:xfrm>
          <a:prstGeom prst="rect">
            <a:avLst/>
          </a:prstGeom>
          <a:noFill/>
        </p:spPr>
        <p:txBody>
          <a:bodyPr wrap="none" lIns="0" rIns="0" tIns="0" bIns="0">
            <a:spAutoFit/>
          </a:bodyPr>
          <a:lstStyle/>
          <a:p>
            <a:r>
              <a:rPr sz="1150" b="0">
                <a:solidFill>
                  <a:srgbClr val="2E2E2E"/>
                </a:solidFill>
                <a:latin typeface="Calibri"/>
              </a:rPr>
              <a:t>X higher value than Europe in 2036. Among foam protective packaging by region, South Asia &amp; Pacific is expected to</a:t>
            </a:r>
          </a:p>
        </p:txBody>
      </p:sp>
      <p:sp>
        <p:nvSpPr>
          <p:cNvPr id="21" name="TextBox 20"/>
          <p:cNvSpPr txBox="1"/>
          <p:nvPr/>
        </p:nvSpPr>
        <p:spPr>
          <a:xfrm>
            <a:off x="276225" y="414718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2" name="Picture 21" descr="lock.png"/>
          <p:cNvPicPr>
            <a:picLocks noChangeAspect="1"/>
          </p:cNvPicPr>
          <p:nvPr/>
        </p:nvPicPr>
        <p:blipFill>
          <a:blip r:embed="rId4"/>
          <a:stretch>
            <a:fillRect/>
          </a:stretch>
        </p:blipFill>
        <p:spPr>
          <a:xfrm>
            <a:off x="1973149" y="4136961"/>
            <a:ext cx="134549" cy="195707"/>
          </a:xfrm>
          <a:prstGeom prst="rect">
            <a:avLst/>
          </a:prstGeom>
        </p:spPr>
      </p:pic>
      <p:sp>
        <p:nvSpPr>
          <p:cNvPr id="23" name="TextBox 22"/>
          <p:cNvSpPr txBox="1"/>
          <p:nvPr/>
        </p:nvSpPr>
        <p:spPr>
          <a:xfrm>
            <a:off x="21482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5" name="Picture 24" descr="lock.png"/>
          <p:cNvPicPr>
            <a:picLocks noChangeAspect="1"/>
          </p:cNvPicPr>
          <p:nvPr/>
        </p:nvPicPr>
        <p:blipFill>
          <a:blip r:embed="rId4"/>
          <a:stretch>
            <a:fillRect/>
          </a:stretch>
        </p:blipFill>
        <p:spPr>
          <a:xfrm>
            <a:off x="5767043" y="4364799"/>
            <a:ext cx="134549" cy="195707"/>
          </a:xfrm>
          <a:prstGeom prst="rect">
            <a:avLst/>
          </a:prstGeom>
        </p:spPr>
      </p:pic>
      <p:sp>
        <p:nvSpPr>
          <p:cNvPr id="26" name="TextBox 25"/>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7337296" y="4364799"/>
            <a:ext cx="134549" cy="195707"/>
          </a:xfrm>
          <a:prstGeom prst="rect">
            <a:avLst/>
          </a:prstGeom>
        </p:spPr>
      </p:pic>
      <p:sp>
        <p:nvSpPr>
          <p:cNvPr id="28" name="TextBox 27"/>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Trends, By Region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(MT)</a:t>
            </a:r>
          </a:p>
        </p:txBody>
      </p:sp>
      <p:graphicFrame>
        <p:nvGraphicFramePr>
          <p:cNvPr id="9" name="Chart 8"/>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9763125" y="1304925"/>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MR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2" name="TMR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E2A5C"/>
                </a:solidFill>
                <a:latin typeface="Calibri"/>
              </a:rPr>
              <a:t>■  </a:t>
            </a:r>
            <a:r>
              <a:rPr sz="750">
                <a:solidFill>
                  <a:srgbClr val="2E2E2E"/>
                </a:solidFill>
                <a:latin typeface="Calibri"/>
              </a:rPr>
              <a:t>   South Asia &amp; Pacific</a:t>
            </a:r>
          </a:p>
          <a:p>
            <a:pPr>
              <a:spcBef>
                <a:spcPts val="500"/>
              </a:spcBef>
            </a:pPr>
            <a:r>
              <a:rPr sz="900">
                <a:solidFill>
                  <a:srgbClr val="0081E2"/>
                </a:solidFill>
                <a:latin typeface="Calibri"/>
              </a:rPr>
              <a:t>■  </a:t>
            </a:r>
            <a:r>
              <a:rPr sz="750">
                <a:solidFill>
                  <a:srgbClr val="2E2E2E"/>
                </a:solidFill>
                <a:latin typeface="Calibri"/>
              </a:rPr>
              <a:t>   Europe</a:t>
            </a:r>
          </a:p>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0ACAC"/>
                </a:solidFill>
                <a:latin typeface="Calibri"/>
              </a:rPr>
              <a:t>■  </a:t>
            </a:r>
            <a:r>
              <a:rPr sz="750">
                <a:solidFill>
                  <a:srgbClr val="2E2E2E"/>
                </a:solidFill>
                <a:latin typeface="Calibri"/>
              </a:rPr>
              <a:t>   East Asia</a:t>
            </a:r>
          </a:p>
          <a:p>
            <a:pPr>
              <a:spcBef>
                <a:spcPts val="500"/>
              </a:spcBef>
            </a:pPr>
            <a:r>
              <a:rPr sz="900">
                <a:solidFill>
                  <a:srgbClr val="F47620"/>
                </a:solidFill>
                <a:latin typeface="Calibri"/>
              </a:rPr>
              <a:t>■  </a:t>
            </a:r>
            <a:r>
              <a:rPr sz="750">
                <a:solidFill>
                  <a:srgbClr val="2E2E2E"/>
                </a:solidFill>
                <a:latin typeface="Calibri"/>
              </a:rPr>
              <a:t>   Latin America</a:t>
            </a:r>
          </a:p>
          <a:p>
            <a:pPr>
              <a:spcBef>
                <a:spcPts val="500"/>
              </a:spcBef>
            </a:pPr>
            <a:r>
              <a:rPr sz="900">
                <a:solidFill>
                  <a:srgbClr val="79C3EC"/>
                </a:solidFill>
                <a:latin typeface="Calibri"/>
              </a:rPr>
              <a:t>■  </a:t>
            </a:r>
            <a:r>
              <a:rPr sz="750">
                <a:solidFill>
                  <a:srgbClr val="2E2E2E"/>
                </a:solidFill>
                <a:latin typeface="Calibri"/>
              </a:rPr>
              <a:t>   Middle East and Africa</a:t>
            </a:r>
          </a:p>
        </p:txBody>
      </p:sp>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5" name="Chart 14"/>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9763125" y="4191000"/>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MR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18" name="TMR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081E2"/>
                </a:solidFill>
                <a:latin typeface="Calibri"/>
              </a:rPr>
              <a:t>■  </a:t>
            </a:r>
            <a:r>
              <a:rPr sz="750">
                <a:solidFill>
                  <a:srgbClr val="2E2E2E"/>
                </a:solidFill>
                <a:latin typeface="Calibri"/>
              </a:rPr>
              <a:t>   Europe</a:t>
            </a:r>
          </a:p>
          <a:p>
            <a:pPr>
              <a:spcBef>
                <a:spcPts val="500"/>
              </a:spcBef>
            </a:pPr>
            <a:r>
              <a:rPr sz="900">
                <a:solidFill>
                  <a:srgbClr val="00ACAC"/>
                </a:solidFill>
                <a:latin typeface="Calibri"/>
              </a:rPr>
              <a:t>■  </a:t>
            </a:r>
            <a:r>
              <a:rPr sz="750">
                <a:solidFill>
                  <a:srgbClr val="2E2E2E"/>
                </a:solidFill>
                <a:latin typeface="Calibri"/>
              </a:rPr>
              <a:t>   South Asia &amp; Pacific</a:t>
            </a:r>
          </a:p>
          <a:p>
            <a:pPr>
              <a:spcBef>
                <a:spcPts val="500"/>
              </a:spcBef>
            </a:pPr>
            <a:r>
              <a:rPr sz="900">
                <a:solidFill>
                  <a:srgbClr val="0E2A5C"/>
                </a:solidFill>
                <a:latin typeface="Calibri"/>
              </a:rPr>
              <a:t>■  </a:t>
            </a:r>
            <a:r>
              <a:rPr sz="750">
                <a:solidFill>
                  <a:srgbClr val="2E2E2E"/>
                </a:solidFill>
                <a:latin typeface="Calibri"/>
              </a:rPr>
              <a:t>   East Asia</a:t>
            </a:r>
          </a:p>
          <a:p>
            <a:pPr>
              <a:spcBef>
                <a:spcPts val="500"/>
              </a:spcBef>
            </a:pPr>
            <a:r>
              <a:rPr sz="900">
                <a:solidFill>
                  <a:srgbClr val="F47620"/>
                </a:solidFill>
                <a:latin typeface="Calibri"/>
              </a:rPr>
              <a:t>■  </a:t>
            </a:r>
            <a:r>
              <a:rPr sz="750">
                <a:solidFill>
                  <a:srgbClr val="2E2E2E"/>
                </a:solidFill>
                <a:latin typeface="Calibri"/>
              </a:rPr>
              <a:t>   Latin America</a:t>
            </a:r>
          </a:p>
          <a:p>
            <a:pPr>
              <a:spcBef>
                <a:spcPts val="500"/>
              </a:spcBef>
            </a:pPr>
            <a:r>
              <a:rPr sz="900">
                <a:solidFill>
                  <a:srgbClr val="79C3EC"/>
                </a:solidFill>
                <a:latin typeface="Calibri"/>
              </a:rPr>
              <a:t>■  </a:t>
            </a:r>
            <a:r>
              <a:rPr sz="750">
                <a:solidFill>
                  <a:srgbClr val="2E2E2E"/>
                </a:solidFill>
                <a:latin typeface="Calibri"/>
              </a:rPr>
              <a:t>   Middle East and Africa</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1" name="TextBox 20"/>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2" name="TextBox 21"/>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3" name="lockshield_9"/>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shield_15"/>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Top 10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9" name="Rectangle 8"/>
          <p:cNvSpPr/>
          <p:nvPr/>
        </p:nvSpPr>
        <p:spPr>
          <a:xfrm>
            <a:off x="238125" y="1266825"/>
            <a:ext cx="3247784"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3485909" y="1266825"/>
            <a:ext cx="3442331" cy="2887119"/>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1" name="Rectangle 10"/>
          <p:cNvSpPr/>
          <p:nvPr/>
        </p:nvSpPr>
        <p:spPr>
          <a:xfrm>
            <a:off x="3485909" y="4153944"/>
            <a:ext cx="3442331" cy="2418306"/>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2" name="Rectangle 11"/>
          <p:cNvSpPr/>
          <p:nvPr/>
        </p:nvSpPr>
        <p:spPr>
          <a:xfrm>
            <a:off x="6928240" y="1266825"/>
            <a:ext cx="2852376" cy="2244483"/>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3" name="Rectangle 12"/>
          <p:cNvSpPr/>
          <p:nvPr/>
        </p:nvSpPr>
        <p:spPr>
          <a:xfrm>
            <a:off x="9780616" y="1266825"/>
            <a:ext cx="2173259" cy="2244483"/>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4" name="Rectangle 13"/>
          <p:cNvSpPr/>
          <p:nvPr/>
        </p:nvSpPr>
        <p:spPr>
          <a:xfrm>
            <a:off x="6928240" y="3511308"/>
            <a:ext cx="2445628" cy="1639977"/>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Brazil</a:t>
            </a:r>
          </a:p>
          <a:p>
            <a:pPr algn="ctr"/>
            <a:r>
              <a:rPr sz="1100" b="0">
                <a:solidFill>
                  <a:srgbClr val="2E2E2E"/>
                </a:solidFill>
                <a:latin typeface="Calibri"/>
              </a:rPr>
              <a:t> </a:t>
            </a:r>
          </a:p>
        </p:txBody>
      </p:sp>
      <p:sp>
        <p:nvSpPr>
          <p:cNvPr id="15" name="Rectangle 14"/>
          <p:cNvSpPr/>
          <p:nvPr/>
        </p:nvSpPr>
        <p:spPr>
          <a:xfrm>
            <a:off x="6928240" y="5151284"/>
            <a:ext cx="2445628" cy="1420966"/>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6" name="Rectangle 15"/>
          <p:cNvSpPr/>
          <p:nvPr/>
        </p:nvSpPr>
        <p:spPr>
          <a:xfrm>
            <a:off x="9373868" y="3511308"/>
            <a:ext cx="1301342" cy="2115506"/>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17" name="Rectangle 16"/>
          <p:cNvSpPr/>
          <p:nvPr/>
        </p:nvSpPr>
        <p:spPr>
          <a:xfrm>
            <a:off x="10675210" y="3511308"/>
            <a:ext cx="1278665" cy="2115506"/>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France</a:t>
            </a:r>
          </a:p>
          <a:p>
            <a:pPr algn="ctr"/>
            <a:r>
              <a:rPr sz="1100" b="0">
                <a:solidFill>
                  <a:srgbClr val="2E2E2E"/>
                </a:solidFill>
                <a:latin typeface="Calibri"/>
              </a:rPr>
              <a:t> </a:t>
            </a:r>
          </a:p>
        </p:txBody>
      </p:sp>
      <p:sp>
        <p:nvSpPr>
          <p:cNvPr id="18" name="Rectangle 17"/>
          <p:cNvSpPr/>
          <p:nvPr/>
        </p:nvSpPr>
        <p:spPr>
          <a:xfrm>
            <a:off x="9373868" y="5626814"/>
            <a:ext cx="2580007" cy="945436"/>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Turkey</a:t>
            </a:r>
          </a:p>
          <a:p>
            <a:pPr algn="ctr"/>
            <a:r>
              <a:rPr sz="1100" b="0">
                <a:solidFill>
                  <a:srgbClr val="2E2E2E"/>
                </a:solidFill>
                <a:latin typeface="Calibri"/>
              </a:rPr>
              <a:t> </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4"/>
          <a:stretch>
            <a:fillRect/>
          </a:stretch>
        </p:blipFill>
        <p:spPr>
          <a:xfrm>
            <a:off x="1707578" y="3919537"/>
            <a:ext cx="308877" cy="449275"/>
          </a:xfrm>
          <a:prstGeom prst="rect">
            <a:avLst/>
          </a:prstGeom>
        </p:spPr>
      </p:pic>
      <p:pic>
        <p:nvPicPr>
          <p:cNvPr id="22" name="Picture 21" descr="lock.png"/>
          <p:cNvPicPr>
            <a:picLocks noChangeAspect="1"/>
          </p:cNvPicPr>
          <p:nvPr/>
        </p:nvPicPr>
        <p:blipFill>
          <a:blip r:embed="rId4"/>
          <a:stretch>
            <a:fillRect/>
          </a:stretch>
        </p:blipFill>
        <p:spPr>
          <a:xfrm>
            <a:off x="5052636" y="2710384"/>
            <a:ext cx="308877" cy="449275"/>
          </a:xfrm>
          <a:prstGeom prst="rect">
            <a:avLst/>
          </a:prstGeom>
        </p:spPr>
      </p:pic>
      <p:pic>
        <p:nvPicPr>
          <p:cNvPr id="23" name="Picture 22" descr="lock.png"/>
          <p:cNvPicPr>
            <a:picLocks noChangeAspect="1"/>
          </p:cNvPicPr>
          <p:nvPr/>
        </p:nvPicPr>
        <p:blipFill>
          <a:blip r:embed="rId4"/>
          <a:stretch>
            <a:fillRect/>
          </a:stretch>
        </p:blipFill>
        <p:spPr>
          <a:xfrm>
            <a:off x="5052636" y="5363097"/>
            <a:ext cx="308877" cy="449275"/>
          </a:xfrm>
          <a:prstGeom prst="rect">
            <a:avLst/>
          </a:prstGeom>
        </p:spPr>
      </p:pic>
      <p:pic>
        <p:nvPicPr>
          <p:cNvPr id="24" name="Picture 23" descr="lock.png"/>
          <p:cNvPicPr>
            <a:picLocks noChangeAspect="1"/>
          </p:cNvPicPr>
          <p:nvPr/>
        </p:nvPicPr>
        <p:blipFill>
          <a:blip r:embed="rId4"/>
          <a:stretch>
            <a:fillRect/>
          </a:stretch>
        </p:blipFill>
        <p:spPr>
          <a:xfrm>
            <a:off x="8199989" y="2389066"/>
            <a:ext cx="308877" cy="449275"/>
          </a:xfrm>
          <a:prstGeom prst="rect">
            <a:avLst/>
          </a:prstGeom>
        </p:spPr>
      </p:pic>
      <p:pic>
        <p:nvPicPr>
          <p:cNvPr id="25" name="Picture 24" descr="lock.png"/>
          <p:cNvPicPr>
            <a:picLocks noChangeAspect="1"/>
          </p:cNvPicPr>
          <p:nvPr/>
        </p:nvPicPr>
        <p:blipFill>
          <a:blip r:embed="rId4"/>
          <a:stretch>
            <a:fillRect/>
          </a:stretch>
        </p:blipFill>
        <p:spPr>
          <a:xfrm>
            <a:off x="10712807" y="2389066"/>
            <a:ext cx="308877" cy="449275"/>
          </a:xfrm>
          <a:prstGeom prst="rect">
            <a:avLst/>
          </a:prstGeom>
        </p:spPr>
      </p:pic>
      <p:pic>
        <p:nvPicPr>
          <p:cNvPr id="26" name="Picture 25" descr="lock.png"/>
          <p:cNvPicPr>
            <a:picLocks noChangeAspect="1"/>
          </p:cNvPicPr>
          <p:nvPr/>
        </p:nvPicPr>
        <p:blipFill>
          <a:blip r:embed="rId4"/>
          <a:stretch>
            <a:fillRect/>
          </a:stretch>
        </p:blipFill>
        <p:spPr>
          <a:xfrm>
            <a:off x="7996615" y="4331296"/>
            <a:ext cx="308877" cy="449275"/>
          </a:xfrm>
          <a:prstGeom prst="rect">
            <a:avLst/>
          </a:prstGeom>
        </p:spPr>
      </p:pic>
      <p:pic>
        <p:nvPicPr>
          <p:cNvPr id="27" name="Picture 26" descr="lock.png"/>
          <p:cNvPicPr>
            <a:picLocks noChangeAspect="1"/>
          </p:cNvPicPr>
          <p:nvPr/>
        </p:nvPicPr>
        <p:blipFill>
          <a:blip r:embed="rId4"/>
          <a:stretch>
            <a:fillRect/>
          </a:stretch>
        </p:blipFill>
        <p:spPr>
          <a:xfrm>
            <a:off x="7996615" y="5861766"/>
            <a:ext cx="308877" cy="449275"/>
          </a:xfrm>
          <a:prstGeom prst="rect">
            <a:avLst/>
          </a:prstGeom>
        </p:spPr>
      </p:pic>
      <p:pic>
        <p:nvPicPr>
          <p:cNvPr id="28" name="Picture 27" descr="lock.png"/>
          <p:cNvPicPr>
            <a:picLocks noChangeAspect="1"/>
          </p:cNvPicPr>
          <p:nvPr/>
        </p:nvPicPr>
        <p:blipFill>
          <a:blip r:embed="rId4"/>
          <a:stretch>
            <a:fillRect/>
          </a:stretch>
        </p:blipFill>
        <p:spPr>
          <a:xfrm>
            <a:off x="9870100" y="4569061"/>
            <a:ext cx="308877" cy="449275"/>
          </a:xfrm>
          <a:prstGeom prst="rect">
            <a:avLst/>
          </a:prstGeom>
        </p:spPr>
      </p:pic>
      <p:pic>
        <p:nvPicPr>
          <p:cNvPr id="29" name="Picture 28" descr="lock.png"/>
          <p:cNvPicPr>
            <a:picLocks noChangeAspect="1"/>
          </p:cNvPicPr>
          <p:nvPr/>
        </p:nvPicPr>
        <p:blipFill>
          <a:blip r:embed="rId4"/>
          <a:stretch>
            <a:fillRect/>
          </a:stretch>
        </p:blipFill>
        <p:spPr>
          <a:xfrm>
            <a:off x="11160104" y="4569061"/>
            <a:ext cx="308877" cy="449275"/>
          </a:xfrm>
          <a:prstGeom prst="rect">
            <a:avLst/>
          </a:prstGeom>
        </p:spPr>
      </p:pic>
      <p:pic>
        <p:nvPicPr>
          <p:cNvPr id="30" name="Picture 29" descr="lock.png"/>
          <p:cNvPicPr>
            <a:picLocks noChangeAspect="1"/>
          </p:cNvPicPr>
          <p:nvPr/>
        </p:nvPicPr>
        <p:blipFill>
          <a:blip r:embed="rId4"/>
          <a:stretch>
            <a:fillRect/>
          </a:stretch>
        </p:blipFill>
        <p:spPr>
          <a:xfrm>
            <a:off x="10509433" y="6099532"/>
            <a:ext cx="308877" cy="449275"/>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Global Market Analysis By Segments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Material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Industry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Material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Material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Material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Material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Material Type segment categorizes the market by material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Foam Materials</a:t>
            </a:r>
          </a:p>
        </p:txBody>
      </p:sp>
      <p:sp>
        <p:nvSpPr>
          <p:cNvPr id="19" name="Rectangle 18"/>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Polystyrene</a:t>
            </a:r>
          </a:p>
        </p:txBody>
      </p:sp>
      <p:sp>
        <p:nvSpPr>
          <p:cNvPr id="26" name="Rectangle 25"/>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Polyethylene (PE) Foam</a:t>
            </a:r>
          </a:p>
        </p:txBody>
      </p:sp>
      <p:sp>
        <p:nvSpPr>
          <p:cNvPr id="33" name="Rectangle 32"/>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Polypropylene</a:t>
            </a:r>
          </a:p>
        </p:txBody>
      </p:sp>
      <p:sp>
        <p:nvSpPr>
          <p:cNvPr id="40" name="Rectangle 39"/>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Polyurethane (PU) Foam</a:t>
            </a:r>
          </a:p>
        </p:txBody>
      </p:sp>
      <p:sp>
        <p:nvSpPr>
          <p:cNvPr id="47" name="Rectangle 46"/>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3" name="Rectangle 52"/>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5" name="Rounded Rectangle 5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7" name="Rectangle 56"/>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59" name="Rounded Rectangle 5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1" name="Rectangle 60"/>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Material Type split shows how demand is distributed across material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63" name="Rectangle 6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5" name="TextBox 6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66" name="Rectangle 6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8" name="Picture 67" descr="5_658_605E5C.png"/>
          <p:cNvPicPr>
            <a:picLocks noChangeAspect="1"/>
          </p:cNvPicPr>
          <p:nvPr/>
        </p:nvPicPr>
        <p:blipFill>
          <a:blip r:embed="rId4"/>
          <a:stretch>
            <a:fillRect/>
          </a:stretch>
        </p:blipFill>
        <p:spPr>
          <a:xfrm>
            <a:off x="2223441" y="2286582"/>
            <a:ext cx="1195728" cy="361950"/>
          </a:xfrm>
          <a:prstGeom prst="rect">
            <a:avLst/>
          </a:prstGeom>
        </p:spPr>
      </p:pic>
      <p:pic>
        <p:nvPicPr>
          <p:cNvPr id="69" name="Picture 68" descr="8_413_605E5C.png"/>
          <p:cNvPicPr>
            <a:picLocks noChangeAspect="1"/>
          </p:cNvPicPr>
          <p:nvPr/>
        </p:nvPicPr>
        <p:blipFill>
          <a:blip r:embed="rId5"/>
          <a:stretch>
            <a:fillRect/>
          </a:stretch>
        </p:blipFill>
        <p:spPr>
          <a:xfrm>
            <a:off x="2223441" y="2779432"/>
            <a:ext cx="1195728" cy="361950"/>
          </a:xfrm>
          <a:prstGeom prst="rect">
            <a:avLst/>
          </a:prstGeom>
        </p:spPr>
      </p:pic>
      <p:pic>
        <p:nvPicPr>
          <p:cNvPr id="70" name="Picture 69" descr="4_0__605E5C.png"/>
          <p:cNvPicPr>
            <a:picLocks noChangeAspect="1"/>
          </p:cNvPicPr>
          <p:nvPr/>
        </p:nvPicPr>
        <p:blipFill>
          <a:blip r:embed="rId6"/>
          <a:stretch>
            <a:fillRect/>
          </a:stretch>
        </p:blipFill>
        <p:spPr>
          <a:xfrm>
            <a:off x="2330087" y="3272281"/>
            <a:ext cx="982436" cy="361950"/>
          </a:xfrm>
          <a:prstGeom prst="rect">
            <a:avLst/>
          </a:prstGeom>
        </p:spPr>
      </p:pic>
      <p:pic>
        <p:nvPicPr>
          <p:cNvPr id="71" name="Picture 70" descr="1_968_605E5C.png"/>
          <p:cNvPicPr>
            <a:picLocks noChangeAspect="1"/>
          </p:cNvPicPr>
          <p:nvPr/>
        </p:nvPicPr>
        <p:blipFill>
          <a:blip r:embed="rId7"/>
          <a:stretch>
            <a:fillRect/>
          </a:stretch>
        </p:blipFill>
        <p:spPr>
          <a:xfrm>
            <a:off x="4246551" y="2286582"/>
            <a:ext cx="1195728" cy="361950"/>
          </a:xfrm>
          <a:prstGeom prst="rect">
            <a:avLst/>
          </a:prstGeom>
        </p:spPr>
      </p:pic>
      <p:pic>
        <p:nvPicPr>
          <p:cNvPr id="72" name="Picture 71" descr="3_449_605E5C.png"/>
          <p:cNvPicPr>
            <a:picLocks noChangeAspect="1"/>
          </p:cNvPicPr>
          <p:nvPr/>
        </p:nvPicPr>
        <p:blipFill>
          <a:blip r:embed="rId8"/>
          <a:stretch>
            <a:fillRect/>
          </a:stretch>
        </p:blipFill>
        <p:spPr>
          <a:xfrm>
            <a:off x="4246551" y="2779432"/>
            <a:ext cx="1195728" cy="361950"/>
          </a:xfrm>
          <a:prstGeom prst="rect">
            <a:avLst/>
          </a:prstGeom>
        </p:spPr>
      </p:pic>
      <p:pic>
        <p:nvPicPr>
          <p:cNvPr id="73" name="Picture 72" descr="5_8__605E5C.png"/>
          <p:cNvPicPr>
            <a:picLocks noChangeAspect="1"/>
          </p:cNvPicPr>
          <p:nvPr/>
        </p:nvPicPr>
        <p:blipFill>
          <a:blip r:embed="rId9"/>
          <a:stretch>
            <a:fillRect/>
          </a:stretch>
        </p:blipFill>
        <p:spPr>
          <a:xfrm>
            <a:off x="4353197" y="3272281"/>
            <a:ext cx="982436" cy="361950"/>
          </a:xfrm>
          <a:prstGeom prst="rect">
            <a:avLst/>
          </a:prstGeom>
        </p:spPr>
      </p:pic>
      <p:pic>
        <p:nvPicPr>
          <p:cNvPr id="74" name="Picture 73" descr="1_330_605E5C.png"/>
          <p:cNvPicPr>
            <a:picLocks noChangeAspect="1"/>
          </p:cNvPicPr>
          <p:nvPr/>
        </p:nvPicPr>
        <p:blipFill>
          <a:blip r:embed="rId10"/>
          <a:stretch>
            <a:fillRect/>
          </a:stretch>
        </p:blipFill>
        <p:spPr>
          <a:xfrm>
            <a:off x="6269661" y="2286582"/>
            <a:ext cx="1195728" cy="361950"/>
          </a:xfrm>
          <a:prstGeom prst="rect">
            <a:avLst/>
          </a:prstGeom>
        </p:spPr>
      </p:pic>
      <p:pic>
        <p:nvPicPr>
          <p:cNvPr id="75" name="Picture 74" descr="2_385_605E5C.png"/>
          <p:cNvPicPr>
            <a:picLocks noChangeAspect="1"/>
          </p:cNvPicPr>
          <p:nvPr/>
        </p:nvPicPr>
        <p:blipFill>
          <a:blip r:embed="rId11"/>
          <a:stretch>
            <a:fillRect/>
          </a:stretch>
        </p:blipFill>
        <p:spPr>
          <a:xfrm>
            <a:off x="6269661" y="2779432"/>
            <a:ext cx="1195728" cy="361950"/>
          </a:xfrm>
          <a:prstGeom prst="rect">
            <a:avLst/>
          </a:prstGeom>
        </p:spPr>
      </p:pic>
      <p:pic>
        <p:nvPicPr>
          <p:cNvPr id="76" name="Picture 75" descr="6_0__605E5C.png"/>
          <p:cNvPicPr>
            <a:picLocks noChangeAspect="1"/>
          </p:cNvPicPr>
          <p:nvPr/>
        </p:nvPicPr>
        <p:blipFill>
          <a:blip r:embed="rId12"/>
          <a:stretch>
            <a:fillRect/>
          </a:stretch>
        </p:blipFill>
        <p:spPr>
          <a:xfrm>
            <a:off x="6376307" y="3272281"/>
            <a:ext cx="982436" cy="361950"/>
          </a:xfrm>
          <a:prstGeom prst="rect">
            <a:avLst/>
          </a:prstGeom>
        </p:spPr>
      </p:pic>
      <p:pic>
        <p:nvPicPr>
          <p:cNvPr id="77" name="Picture 76" descr="1_271_605E5C.png"/>
          <p:cNvPicPr>
            <a:picLocks noChangeAspect="1"/>
          </p:cNvPicPr>
          <p:nvPr/>
        </p:nvPicPr>
        <p:blipFill>
          <a:blip r:embed="rId13"/>
          <a:stretch>
            <a:fillRect/>
          </a:stretch>
        </p:blipFill>
        <p:spPr>
          <a:xfrm>
            <a:off x="8292771" y="2286582"/>
            <a:ext cx="1195728" cy="361950"/>
          </a:xfrm>
          <a:prstGeom prst="rect">
            <a:avLst/>
          </a:prstGeom>
        </p:spPr>
      </p:pic>
      <p:pic>
        <p:nvPicPr>
          <p:cNvPr id="78" name="Picture 77" descr="2_513_605E5C.png"/>
          <p:cNvPicPr>
            <a:picLocks noChangeAspect="1"/>
          </p:cNvPicPr>
          <p:nvPr/>
        </p:nvPicPr>
        <p:blipFill>
          <a:blip r:embed="rId14"/>
          <a:stretch>
            <a:fillRect/>
          </a:stretch>
        </p:blipFill>
        <p:spPr>
          <a:xfrm>
            <a:off x="8292771" y="2779432"/>
            <a:ext cx="1195728" cy="361950"/>
          </a:xfrm>
          <a:prstGeom prst="rect">
            <a:avLst/>
          </a:prstGeom>
        </p:spPr>
      </p:pic>
      <p:pic>
        <p:nvPicPr>
          <p:cNvPr id="79" name="Picture 78" descr="7_1__605E5C.png"/>
          <p:cNvPicPr>
            <a:picLocks noChangeAspect="1"/>
          </p:cNvPicPr>
          <p:nvPr/>
        </p:nvPicPr>
        <p:blipFill>
          <a:blip r:embed="rId15"/>
          <a:stretch>
            <a:fillRect/>
          </a:stretch>
        </p:blipFill>
        <p:spPr>
          <a:xfrm>
            <a:off x="8399417" y="3272281"/>
            <a:ext cx="982436" cy="361950"/>
          </a:xfrm>
          <a:prstGeom prst="rect">
            <a:avLst/>
          </a:prstGeom>
        </p:spPr>
      </p:pic>
      <p:pic>
        <p:nvPicPr>
          <p:cNvPr id="80" name="Picture 79" descr="672_2_605E5C.png"/>
          <p:cNvPicPr>
            <a:picLocks noChangeAspect="1"/>
          </p:cNvPicPr>
          <p:nvPr/>
        </p:nvPicPr>
        <p:blipFill>
          <a:blip r:embed="rId16"/>
          <a:stretch>
            <a:fillRect/>
          </a:stretch>
        </p:blipFill>
        <p:spPr>
          <a:xfrm>
            <a:off x="10315881" y="2286582"/>
            <a:ext cx="1195728" cy="361950"/>
          </a:xfrm>
          <a:prstGeom prst="rect">
            <a:avLst/>
          </a:prstGeom>
        </p:spPr>
      </p:pic>
      <p:pic>
        <p:nvPicPr>
          <p:cNvPr id="81" name="Picture 80" descr="919_2_605E5C.png"/>
          <p:cNvPicPr>
            <a:picLocks noChangeAspect="1"/>
          </p:cNvPicPr>
          <p:nvPr/>
        </p:nvPicPr>
        <p:blipFill>
          <a:blip r:embed="rId17"/>
          <a:stretch>
            <a:fillRect/>
          </a:stretch>
        </p:blipFill>
        <p:spPr>
          <a:xfrm>
            <a:off x="10315881" y="2779432"/>
            <a:ext cx="1195728" cy="361950"/>
          </a:xfrm>
          <a:prstGeom prst="rect">
            <a:avLst/>
          </a:prstGeom>
        </p:spPr>
      </p:pic>
      <p:pic>
        <p:nvPicPr>
          <p:cNvPr id="82" name="Picture 81" descr="3_2__605E5C.png"/>
          <p:cNvPicPr>
            <a:picLocks noChangeAspect="1"/>
          </p:cNvPicPr>
          <p:nvPr/>
        </p:nvPicPr>
        <p:blipFill>
          <a:blip r:embed="rId18"/>
          <a:stretch>
            <a:fillRect/>
          </a:stretch>
        </p:blipFill>
        <p:spPr>
          <a:xfrm>
            <a:off x="10422527" y="3272281"/>
            <a:ext cx="982436" cy="361950"/>
          </a:xfrm>
          <a:prstGeom prst="rect">
            <a:avLst/>
          </a:prstGeom>
        </p:spPr>
      </p:pic>
      <p:pic>
        <p:nvPicPr>
          <p:cNvPr id="83" name="Picture 82" descr="lock.png"/>
          <p:cNvPicPr>
            <a:picLocks noChangeAspect="1"/>
          </p:cNvPicPr>
          <p:nvPr/>
        </p:nvPicPr>
        <p:blipFill>
          <a:blip r:embed="rId19"/>
          <a:stretch>
            <a:fillRect/>
          </a:stretch>
        </p:blipFill>
        <p:spPr>
          <a:xfrm>
            <a:off x="2727960" y="2827057"/>
            <a:ext cx="183356" cy="266700"/>
          </a:xfrm>
          <a:prstGeom prst="rect">
            <a:avLst/>
          </a:prstGeom>
        </p:spPr>
      </p:pic>
      <p:pic>
        <p:nvPicPr>
          <p:cNvPr id="84" name="Picture 83" descr="lock.png"/>
          <p:cNvPicPr>
            <a:picLocks noChangeAspect="1"/>
          </p:cNvPicPr>
          <p:nvPr/>
        </p:nvPicPr>
        <p:blipFill>
          <a:blip r:embed="rId19"/>
          <a:stretch>
            <a:fillRect/>
          </a:stretch>
        </p:blipFill>
        <p:spPr>
          <a:xfrm>
            <a:off x="4751070" y="2827057"/>
            <a:ext cx="183356" cy="266700"/>
          </a:xfrm>
          <a:prstGeom prst="rect">
            <a:avLst/>
          </a:prstGeom>
        </p:spPr>
      </p:pic>
      <p:pic>
        <p:nvPicPr>
          <p:cNvPr id="85" name="Picture 84" descr="lock.png"/>
          <p:cNvPicPr>
            <a:picLocks noChangeAspect="1"/>
          </p:cNvPicPr>
          <p:nvPr/>
        </p:nvPicPr>
        <p:blipFill>
          <a:blip r:embed="rId19"/>
          <a:stretch>
            <a:fillRect/>
          </a:stretch>
        </p:blipFill>
        <p:spPr>
          <a:xfrm>
            <a:off x="677418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879729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10820400" y="2827057"/>
            <a:ext cx="183356" cy="266700"/>
          </a:xfrm>
          <a:prstGeom prst="rect">
            <a:avLst/>
          </a:prstGeom>
        </p:spPr>
      </p:pic>
      <p:sp>
        <p:nvSpPr>
          <p:cNvPr id="88" name="TextBox 87"/>
          <p:cNvSpPr txBox="1"/>
          <p:nvPr/>
        </p:nvSpPr>
        <p:spPr>
          <a:xfrm>
            <a:off x="485775" y="4229437"/>
            <a:ext cx="2696393" cy="186689"/>
          </a:xfrm>
          <a:prstGeom prst="rect">
            <a:avLst/>
          </a:prstGeom>
          <a:noFill/>
        </p:spPr>
        <p:txBody>
          <a:bodyPr wrap="none" lIns="0" rIns="0" tIns="0" bIns="0">
            <a:spAutoFit/>
          </a:bodyPr>
          <a:lstStyle/>
          <a:p>
            <a:r>
              <a:rPr sz="1100" b="0">
                <a:solidFill>
                  <a:srgbClr val="2E2E2E"/>
                </a:solidFill>
                <a:latin typeface="Calibri"/>
              </a:rPr>
              <a:t>Among foam protective packaging by material</a:t>
            </a:r>
          </a:p>
        </p:txBody>
      </p:sp>
      <p:sp>
        <p:nvSpPr>
          <p:cNvPr id="89" name="TextBox 88"/>
          <p:cNvSpPr txBox="1"/>
          <p:nvPr/>
        </p:nvSpPr>
        <p:spPr>
          <a:xfrm>
            <a:off x="485775" y="4397077"/>
            <a:ext cx="2778249" cy="186689"/>
          </a:xfrm>
          <a:prstGeom prst="rect">
            <a:avLst/>
          </a:prstGeom>
          <a:noFill/>
        </p:spPr>
        <p:txBody>
          <a:bodyPr wrap="none" lIns="0" rIns="0" tIns="0" bIns="0">
            <a:spAutoFit/>
          </a:bodyPr>
          <a:lstStyle/>
          <a:p>
            <a:r>
              <a:rPr sz="1100" b="0">
                <a:solidFill>
                  <a:srgbClr val="2E2E2E"/>
                </a:solidFill>
                <a:latin typeface="Calibri"/>
              </a:rPr>
              <a:t>type, expanded polypropylene (EPP) segment is</a:t>
            </a:r>
          </a:p>
        </p:txBody>
      </p:sp>
      <p:sp>
        <p:nvSpPr>
          <p:cNvPr id="90" name="TextBox 89"/>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91" name="Picture 90" descr="lock.png"/>
          <p:cNvPicPr>
            <a:picLocks noChangeAspect="1"/>
          </p:cNvPicPr>
          <p:nvPr/>
        </p:nvPicPr>
        <p:blipFill>
          <a:blip r:embed="rId19"/>
          <a:stretch>
            <a:fillRect/>
          </a:stretch>
        </p:blipFill>
        <p:spPr>
          <a:xfrm>
            <a:off x="2815059" y="4554938"/>
            <a:ext cx="128699" cy="187198"/>
          </a:xfrm>
          <a:prstGeom prst="rect">
            <a:avLst/>
          </a:prstGeom>
        </p:spPr>
      </p:pic>
      <p:sp>
        <p:nvSpPr>
          <p:cNvPr id="92" name="TextBox 91"/>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93" name="TextBox 92"/>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94" name="TextBox 93"/>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material type, the other foam materials segment is</a:t>
            </a:r>
          </a:p>
        </p:txBody>
      </p:sp>
      <p:sp>
        <p:nvSpPr>
          <p:cNvPr id="95" name="TextBox 94"/>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96" name="Picture 95" descr="lock.png"/>
          <p:cNvPicPr>
            <a:picLocks noChangeAspect="1"/>
          </p:cNvPicPr>
          <p:nvPr/>
        </p:nvPicPr>
        <p:blipFill>
          <a:blip r:embed="rId19"/>
          <a:stretch>
            <a:fillRect/>
          </a:stretch>
        </p:blipFill>
        <p:spPr>
          <a:xfrm>
            <a:off x="2822716" y="5057858"/>
            <a:ext cx="128699" cy="187198"/>
          </a:xfrm>
          <a:prstGeom prst="rect">
            <a:avLst/>
          </a:prstGeom>
        </p:spPr>
      </p:pic>
      <p:sp>
        <p:nvSpPr>
          <p:cNvPr id="97" name="TextBox 96"/>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98" name="TextBox 9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99" name="Picture 98" descr="lock.png"/>
          <p:cNvPicPr>
            <a:picLocks noChangeAspect="1"/>
          </p:cNvPicPr>
          <p:nvPr/>
        </p:nvPicPr>
        <p:blipFill>
          <a:blip r:embed="rId19"/>
          <a:stretch>
            <a:fillRect/>
          </a:stretch>
        </p:blipFill>
        <p:spPr>
          <a:xfrm>
            <a:off x="1576057" y="5225498"/>
            <a:ext cx="128699" cy="187198"/>
          </a:xfrm>
          <a:prstGeom prst="rect">
            <a:avLst/>
          </a:prstGeom>
        </p:spPr>
      </p:pic>
      <p:sp>
        <p:nvSpPr>
          <p:cNvPr id="100" name="TextBox 9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1" name="TextBox 100"/>
          <p:cNvSpPr txBox="1"/>
          <p:nvPr/>
        </p:nvSpPr>
        <p:spPr>
          <a:xfrm>
            <a:off x="485775" y="5453209"/>
            <a:ext cx="2668562" cy="186689"/>
          </a:xfrm>
          <a:prstGeom prst="rect">
            <a:avLst/>
          </a:prstGeom>
          <a:noFill/>
        </p:spPr>
        <p:txBody>
          <a:bodyPr wrap="none" lIns="0" rIns="0" tIns="0" bIns="0">
            <a:spAutoFit/>
          </a:bodyPr>
          <a:lstStyle/>
          <a:p>
            <a:r>
              <a:rPr sz="1100" b="0">
                <a:solidFill>
                  <a:srgbClr val="2E2E2E"/>
                </a:solidFill>
                <a:latin typeface="Calibri"/>
              </a:rPr>
              <a:t>Other foam materials segment is projected to</a:t>
            </a:r>
          </a:p>
        </p:txBody>
      </p:sp>
      <p:sp>
        <p:nvSpPr>
          <p:cNvPr id="102" name="TextBox 101"/>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3" name="Picture 102" descr="lock.png"/>
          <p:cNvPicPr>
            <a:picLocks noChangeAspect="1"/>
          </p:cNvPicPr>
          <p:nvPr/>
        </p:nvPicPr>
        <p:blipFill>
          <a:blip r:embed="rId19"/>
          <a:stretch>
            <a:fillRect/>
          </a:stretch>
        </p:blipFill>
        <p:spPr>
          <a:xfrm>
            <a:off x="946316" y="5611070"/>
            <a:ext cx="128699" cy="187198"/>
          </a:xfrm>
          <a:prstGeom prst="rect">
            <a:avLst/>
          </a:prstGeom>
        </p:spPr>
      </p:pic>
      <p:sp>
        <p:nvSpPr>
          <p:cNvPr id="104" name="TextBox 103"/>
          <p:cNvSpPr txBox="1"/>
          <p:nvPr/>
        </p:nvSpPr>
        <p:spPr>
          <a:xfrm>
            <a:off x="1113812" y="5620849"/>
            <a:ext cx="1764332" cy="186689"/>
          </a:xfrm>
          <a:prstGeom prst="rect">
            <a:avLst/>
          </a:prstGeom>
          <a:noFill/>
        </p:spPr>
        <p:txBody>
          <a:bodyPr wrap="none" lIns="0" rIns="0" tIns="0" bIns="0">
            <a:spAutoFit/>
          </a:bodyPr>
          <a:lstStyle/>
          <a:p>
            <a:r>
              <a:rPr sz="1100" b="0">
                <a:solidFill>
                  <a:srgbClr val="2E2E2E"/>
                </a:solidFill>
                <a:latin typeface="Calibri"/>
              </a:rPr>
              <a:t>X higher value than expanded</a:t>
            </a:r>
          </a:p>
        </p:txBody>
      </p:sp>
      <p:sp>
        <p:nvSpPr>
          <p:cNvPr id="105" name="TextBox 104"/>
          <p:cNvSpPr txBox="1"/>
          <p:nvPr/>
        </p:nvSpPr>
        <p:spPr>
          <a:xfrm>
            <a:off x="485775" y="5788489"/>
            <a:ext cx="2076747" cy="186689"/>
          </a:xfrm>
          <a:prstGeom prst="rect">
            <a:avLst/>
          </a:prstGeom>
          <a:noFill/>
        </p:spPr>
        <p:txBody>
          <a:bodyPr wrap="none" lIns="0" rIns="0" tIns="0" bIns="0">
            <a:spAutoFit/>
          </a:bodyPr>
          <a:lstStyle/>
          <a:p>
            <a:r>
              <a:rPr sz="1100" b="0">
                <a:solidFill>
                  <a:srgbClr val="2E2E2E"/>
                </a:solidFill>
                <a:latin typeface="Calibri"/>
              </a:rPr>
              <a:t>polystyrene (EPS) segment in 2036.</a:t>
            </a:r>
          </a:p>
        </p:txBody>
      </p:sp>
      <p:sp>
        <p:nvSpPr>
          <p:cNvPr id="106" name="TextBox 105"/>
          <p:cNvSpPr txBox="1"/>
          <p:nvPr/>
        </p:nvSpPr>
        <p:spPr>
          <a:xfrm>
            <a:off x="3838575" y="4229437"/>
            <a:ext cx="1477808" cy="186689"/>
          </a:xfrm>
          <a:prstGeom prst="rect">
            <a:avLst/>
          </a:prstGeom>
          <a:noFill/>
        </p:spPr>
        <p:txBody>
          <a:bodyPr wrap="none" lIns="0" rIns="0" tIns="0" bIns="0">
            <a:spAutoFit/>
          </a:bodyPr>
          <a:lstStyle/>
          <a:p>
            <a:r>
              <a:rPr sz="1100" b="0">
                <a:solidFill>
                  <a:srgbClr val="2E2E2E"/>
                </a:solidFill>
                <a:latin typeface="Calibri"/>
              </a:rPr>
              <a:t>● Other Foam Materials:</a:t>
            </a:r>
          </a:p>
        </p:txBody>
      </p:sp>
      <p:pic>
        <p:nvPicPr>
          <p:cNvPr id="107" name="Picture 106" descr="lock.png"/>
          <p:cNvPicPr>
            <a:picLocks noChangeAspect="1"/>
          </p:cNvPicPr>
          <p:nvPr/>
        </p:nvPicPr>
        <p:blipFill>
          <a:blip r:embed="rId19"/>
          <a:stretch>
            <a:fillRect/>
          </a:stretch>
        </p:blipFill>
        <p:spPr>
          <a:xfrm>
            <a:off x="5264435" y="4219658"/>
            <a:ext cx="128699" cy="187198"/>
          </a:xfrm>
          <a:prstGeom prst="rect">
            <a:avLst/>
          </a:prstGeom>
        </p:spPr>
      </p:pic>
      <p:sp>
        <p:nvSpPr>
          <p:cNvPr id="108" name="TextBox 107"/>
          <p:cNvSpPr txBox="1"/>
          <p:nvPr/>
        </p:nvSpPr>
        <p:spPr>
          <a:xfrm>
            <a:off x="543193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9"/>
          <a:stretch>
            <a:fillRect/>
          </a:stretch>
        </p:blipFill>
        <p:spPr>
          <a:xfrm>
            <a:off x="6291381" y="4219658"/>
            <a:ext cx="128699" cy="187198"/>
          </a:xfrm>
          <a:prstGeom prst="rect">
            <a:avLst/>
          </a:prstGeom>
        </p:spPr>
      </p:pic>
      <p:sp>
        <p:nvSpPr>
          <p:cNvPr id="110" name="TextBox 109"/>
          <p:cNvSpPr txBox="1"/>
          <p:nvPr/>
        </p:nvSpPr>
        <p:spPr>
          <a:xfrm>
            <a:off x="6458877"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11" name="TextBox 11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12" name="TextBox 111"/>
          <p:cNvSpPr txBox="1"/>
          <p:nvPr/>
        </p:nvSpPr>
        <p:spPr>
          <a:xfrm>
            <a:off x="3838575" y="4615009"/>
            <a:ext cx="1808534" cy="186689"/>
          </a:xfrm>
          <a:prstGeom prst="rect">
            <a:avLst/>
          </a:prstGeom>
          <a:noFill/>
        </p:spPr>
        <p:txBody>
          <a:bodyPr wrap="none" lIns="0" rIns="0" tIns="0" bIns="0">
            <a:spAutoFit/>
          </a:bodyPr>
          <a:lstStyle/>
          <a:p>
            <a:r>
              <a:rPr sz="1100" b="0">
                <a:solidFill>
                  <a:srgbClr val="2E2E2E"/>
                </a:solidFill>
                <a:latin typeface="Calibri"/>
              </a:rPr>
              <a:t>● Expanded Polystyrene (EPS):</a:t>
            </a:r>
          </a:p>
        </p:txBody>
      </p:sp>
      <p:pic>
        <p:nvPicPr>
          <p:cNvPr id="113" name="Picture 112" descr="lock.png"/>
          <p:cNvPicPr>
            <a:picLocks noChangeAspect="1"/>
          </p:cNvPicPr>
          <p:nvPr/>
        </p:nvPicPr>
        <p:blipFill>
          <a:blip r:embed="rId19"/>
          <a:stretch>
            <a:fillRect/>
          </a:stretch>
        </p:blipFill>
        <p:spPr>
          <a:xfrm>
            <a:off x="5595161" y="4605230"/>
            <a:ext cx="128699" cy="187198"/>
          </a:xfrm>
          <a:prstGeom prst="rect">
            <a:avLst/>
          </a:prstGeom>
        </p:spPr>
      </p:pic>
      <p:sp>
        <p:nvSpPr>
          <p:cNvPr id="114" name="TextBox 113"/>
          <p:cNvSpPr txBox="1"/>
          <p:nvPr/>
        </p:nvSpPr>
        <p:spPr>
          <a:xfrm>
            <a:off x="576265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6622107" y="4605230"/>
            <a:ext cx="128699" cy="187198"/>
          </a:xfrm>
          <a:prstGeom prst="rect">
            <a:avLst/>
          </a:prstGeom>
        </p:spPr>
      </p:pic>
      <p:sp>
        <p:nvSpPr>
          <p:cNvPr id="116" name="TextBox 115"/>
          <p:cNvSpPr txBox="1"/>
          <p:nvPr/>
        </p:nvSpPr>
        <p:spPr>
          <a:xfrm>
            <a:off x="6789603"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17" name="TextBox 116"/>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8" name="TextBox 117"/>
          <p:cNvSpPr txBox="1"/>
          <p:nvPr/>
        </p:nvSpPr>
        <p:spPr>
          <a:xfrm>
            <a:off x="3838575" y="5000581"/>
            <a:ext cx="1573579" cy="186689"/>
          </a:xfrm>
          <a:prstGeom prst="rect">
            <a:avLst/>
          </a:prstGeom>
          <a:noFill/>
        </p:spPr>
        <p:txBody>
          <a:bodyPr wrap="none" lIns="0" rIns="0" tIns="0" bIns="0">
            <a:spAutoFit/>
          </a:bodyPr>
          <a:lstStyle/>
          <a:p>
            <a:r>
              <a:rPr sz="1100" b="0">
                <a:solidFill>
                  <a:srgbClr val="2E2E2E"/>
                </a:solidFill>
                <a:latin typeface="Calibri"/>
              </a:rPr>
              <a:t>● Polyethylene (PE) Foam:</a:t>
            </a:r>
          </a:p>
        </p:txBody>
      </p:sp>
      <p:pic>
        <p:nvPicPr>
          <p:cNvPr id="119" name="Picture 118" descr="lock.png"/>
          <p:cNvPicPr>
            <a:picLocks noChangeAspect="1"/>
          </p:cNvPicPr>
          <p:nvPr/>
        </p:nvPicPr>
        <p:blipFill>
          <a:blip r:embed="rId19"/>
          <a:stretch>
            <a:fillRect/>
          </a:stretch>
        </p:blipFill>
        <p:spPr>
          <a:xfrm>
            <a:off x="5360206" y="4990801"/>
            <a:ext cx="128699" cy="187198"/>
          </a:xfrm>
          <a:prstGeom prst="rect">
            <a:avLst/>
          </a:prstGeom>
        </p:spPr>
      </p:pic>
      <p:sp>
        <p:nvSpPr>
          <p:cNvPr id="120" name="TextBox 119"/>
          <p:cNvSpPr txBox="1"/>
          <p:nvPr/>
        </p:nvSpPr>
        <p:spPr>
          <a:xfrm>
            <a:off x="552770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19"/>
          <a:stretch>
            <a:fillRect/>
          </a:stretch>
        </p:blipFill>
        <p:spPr>
          <a:xfrm>
            <a:off x="6387152" y="4990801"/>
            <a:ext cx="128699" cy="187198"/>
          </a:xfrm>
          <a:prstGeom prst="rect">
            <a:avLst/>
          </a:prstGeom>
        </p:spPr>
      </p:pic>
      <p:sp>
        <p:nvSpPr>
          <p:cNvPr id="122" name="TextBox 121"/>
          <p:cNvSpPr txBox="1"/>
          <p:nvPr/>
        </p:nvSpPr>
        <p:spPr>
          <a:xfrm>
            <a:off x="6554647"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3" name="TextBox 122"/>
          <p:cNvSpPr txBox="1"/>
          <p:nvPr/>
        </p:nvSpPr>
        <p:spPr>
          <a:xfrm>
            <a:off x="3838575" y="5218513"/>
            <a:ext cx="1967879" cy="186689"/>
          </a:xfrm>
          <a:prstGeom prst="rect">
            <a:avLst/>
          </a:prstGeom>
          <a:noFill/>
        </p:spPr>
        <p:txBody>
          <a:bodyPr wrap="none" lIns="0" rIns="0" tIns="0" bIns="0">
            <a:spAutoFit/>
          </a:bodyPr>
          <a:lstStyle/>
          <a:p>
            <a:r>
              <a:rPr sz="1100" b="0">
                <a:solidFill>
                  <a:srgbClr val="2E2E2E"/>
                </a:solidFill>
                <a:latin typeface="Calibri"/>
              </a:rPr>
              <a:t>● Expanded Polypropylene (EPP):</a:t>
            </a:r>
          </a:p>
        </p:txBody>
      </p:sp>
      <p:pic>
        <p:nvPicPr>
          <p:cNvPr id="124" name="Picture 123" descr="lock.png"/>
          <p:cNvPicPr>
            <a:picLocks noChangeAspect="1"/>
          </p:cNvPicPr>
          <p:nvPr/>
        </p:nvPicPr>
        <p:blipFill>
          <a:blip r:embed="rId19"/>
          <a:stretch>
            <a:fillRect/>
          </a:stretch>
        </p:blipFill>
        <p:spPr>
          <a:xfrm>
            <a:off x="5754506" y="5208733"/>
            <a:ext cx="128699" cy="187198"/>
          </a:xfrm>
          <a:prstGeom prst="rect">
            <a:avLst/>
          </a:prstGeom>
        </p:spPr>
      </p:pic>
      <p:sp>
        <p:nvSpPr>
          <p:cNvPr id="125" name="TextBox 124"/>
          <p:cNvSpPr txBox="1"/>
          <p:nvPr/>
        </p:nvSpPr>
        <p:spPr>
          <a:xfrm>
            <a:off x="5922002"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19"/>
          <a:stretch>
            <a:fillRect/>
          </a:stretch>
        </p:blipFill>
        <p:spPr>
          <a:xfrm>
            <a:off x="6781452" y="5208733"/>
            <a:ext cx="128699" cy="187198"/>
          </a:xfrm>
          <a:prstGeom prst="rect">
            <a:avLst/>
          </a:prstGeom>
        </p:spPr>
      </p:pic>
      <p:sp>
        <p:nvSpPr>
          <p:cNvPr id="127" name="TextBox 126"/>
          <p:cNvSpPr txBox="1"/>
          <p:nvPr/>
        </p:nvSpPr>
        <p:spPr>
          <a:xfrm>
            <a:off x="6948948" y="5218513"/>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28" name="TextBox 127"/>
          <p:cNvSpPr txBox="1"/>
          <p:nvPr/>
        </p:nvSpPr>
        <p:spPr>
          <a:xfrm>
            <a:off x="3838575" y="5386153"/>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29" name="TextBox 128"/>
          <p:cNvSpPr txBox="1"/>
          <p:nvPr/>
        </p:nvSpPr>
        <p:spPr>
          <a:xfrm>
            <a:off x="3838575" y="5604085"/>
            <a:ext cx="1619145" cy="186689"/>
          </a:xfrm>
          <a:prstGeom prst="rect">
            <a:avLst/>
          </a:prstGeom>
          <a:noFill/>
        </p:spPr>
        <p:txBody>
          <a:bodyPr wrap="none" lIns="0" rIns="0" tIns="0" bIns="0">
            <a:spAutoFit/>
          </a:bodyPr>
          <a:lstStyle/>
          <a:p>
            <a:r>
              <a:rPr sz="1100" b="0">
                <a:solidFill>
                  <a:srgbClr val="2E2E2E"/>
                </a:solidFill>
                <a:latin typeface="Calibri"/>
              </a:rPr>
              <a:t>● Polyurethane (PU) Foam:</a:t>
            </a:r>
          </a:p>
        </p:txBody>
      </p:sp>
      <p:pic>
        <p:nvPicPr>
          <p:cNvPr id="130" name="Picture 129" descr="lock.png"/>
          <p:cNvPicPr>
            <a:picLocks noChangeAspect="1"/>
          </p:cNvPicPr>
          <p:nvPr/>
        </p:nvPicPr>
        <p:blipFill>
          <a:blip r:embed="rId19"/>
          <a:stretch>
            <a:fillRect/>
          </a:stretch>
        </p:blipFill>
        <p:spPr>
          <a:xfrm>
            <a:off x="5405772" y="5594305"/>
            <a:ext cx="128699" cy="187198"/>
          </a:xfrm>
          <a:prstGeom prst="rect">
            <a:avLst/>
          </a:prstGeom>
        </p:spPr>
      </p:pic>
      <p:sp>
        <p:nvSpPr>
          <p:cNvPr id="131" name="TextBox 130"/>
          <p:cNvSpPr txBox="1"/>
          <p:nvPr/>
        </p:nvSpPr>
        <p:spPr>
          <a:xfrm>
            <a:off x="5573268"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19"/>
          <a:stretch>
            <a:fillRect/>
          </a:stretch>
        </p:blipFill>
        <p:spPr>
          <a:xfrm>
            <a:off x="6432718" y="5594305"/>
            <a:ext cx="128699" cy="187198"/>
          </a:xfrm>
          <a:prstGeom prst="rect">
            <a:avLst/>
          </a:prstGeom>
        </p:spPr>
      </p:pic>
      <p:sp>
        <p:nvSpPr>
          <p:cNvPr id="133" name="TextBox 132"/>
          <p:cNvSpPr txBox="1"/>
          <p:nvPr/>
        </p:nvSpPr>
        <p:spPr>
          <a:xfrm>
            <a:off x="6600214" y="560408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4" name="TextBox 133"/>
          <p:cNvSpPr txBox="1"/>
          <p:nvPr/>
        </p:nvSpPr>
        <p:spPr>
          <a:xfrm>
            <a:off x="3838575" y="577172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5" name="TextBox 134"/>
          <p:cNvSpPr txBox="1"/>
          <p:nvPr/>
        </p:nvSpPr>
        <p:spPr>
          <a:xfrm>
            <a:off x="8524875" y="5842641"/>
            <a:ext cx="3140967" cy="194310"/>
          </a:xfrm>
          <a:prstGeom prst="rect">
            <a:avLst/>
          </a:prstGeom>
          <a:noFill/>
        </p:spPr>
        <p:txBody>
          <a:bodyPr wrap="none" lIns="0" rIns="0" tIns="0" bIns="0">
            <a:spAutoFit/>
          </a:bodyPr>
          <a:lstStyle/>
          <a:p>
            <a:r>
              <a:rPr sz="1150" b="1">
                <a:solidFill>
                  <a:srgbClr val="0B2E4A"/>
                </a:solidFill>
                <a:latin typeface="Calibri"/>
              </a:rPr>
              <a:t>The Material Type segment is projected to grow at</a:t>
            </a:r>
          </a:p>
        </p:txBody>
      </p:sp>
      <p:sp>
        <p:nvSpPr>
          <p:cNvPr id="136" name="TextBox 135"/>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137" name="Picture 136" descr="lock.png"/>
          <p:cNvPicPr>
            <a:picLocks noChangeAspect="1"/>
          </p:cNvPicPr>
          <p:nvPr/>
        </p:nvPicPr>
        <p:blipFill>
          <a:blip r:embed="rId19"/>
          <a:stretch>
            <a:fillRect/>
          </a:stretch>
        </p:blipFill>
        <p:spPr>
          <a:xfrm>
            <a:off x="9154084" y="6007677"/>
            <a:ext cx="134549" cy="195707"/>
          </a:xfrm>
          <a:prstGeom prst="rect">
            <a:avLst/>
          </a:prstGeom>
        </p:spPr>
      </p:pic>
      <p:sp>
        <p:nvSpPr>
          <p:cNvPr id="138" name="TextBox 137"/>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Material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Material Type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Material Type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Material Type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50017" cy="186689"/>
          </a:xfrm>
          <a:prstGeom prst="rect">
            <a:avLst/>
          </a:prstGeom>
          <a:noFill/>
        </p:spPr>
        <p:txBody>
          <a:bodyPr wrap="none" lIns="0" rIns="0" tIns="0" bIns="0">
            <a:spAutoFit/>
          </a:bodyPr>
          <a:lstStyle/>
          <a:p>
            <a:r>
              <a:rPr sz="1100" b="0">
                <a:solidFill>
                  <a:srgbClr val="2E2E2E"/>
                </a:solidFill>
                <a:latin typeface="Calibri"/>
              </a:rPr>
              <a:t>Other foam materials followed by expanded polystyrene (EPS) are expected to be the two most attractive material type segments in the global foam protective packaging market in terms of value over the</a:t>
            </a:r>
          </a:p>
        </p:txBody>
      </p:sp>
      <p:sp>
        <p:nvSpPr>
          <p:cNvPr id="18" name="TextBox 17"/>
          <p:cNvSpPr txBox="1"/>
          <p:nvPr/>
        </p:nvSpPr>
        <p:spPr>
          <a:xfrm>
            <a:off x="257175" y="5861685"/>
            <a:ext cx="5443173" cy="186689"/>
          </a:xfrm>
          <a:prstGeom prst="rect">
            <a:avLst/>
          </a:prstGeom>
          <a:noFill/>
        </p:spPr>
        <p:txBody>
          <a:bodyPr wrap="none" lIns="0" rIns="0" tIns="0" bIns="0">
            <a:spAutoFit/>
          </a:bodyPr>
          <a:lstStyle/>
          <a:p>
            <a:r>
              <a:rPr sz="1100" b="0">
                <a:solidFill>
                  <a:srgbClr val="2E2E2E"/>
                </a:solidFill>
                <a:latin typeface="Calibri"/>
              </a:rPr>
              <a:t>forecast period. Other foam materials and expanded polystyrene (EPS) exhibit a CAGR index of</a:t>
            </a:r>
          </a:p>
        </p:txBody>
      </p:sp>
      <p:pic>
        <p:nvPicPr>
          <p:cNvPr id="19" name="Picture 18" descr="lock.png"/>
          <p:cNvPicPr>
            <a:picLocks noChangeAspect="1"/>
          </p:cNvPicPr>
          <p:nvPr/>
        </p:nvPicPr>
        <p:blipFill>
          <a:blip r:embed="rId6"/>
          <a:stretch>
            <a:fillRect/>
          </a:stretch>
        </p:blipFill>
        <p:spPr>
          <a:xfrm>
            <a:off x="5648399" y="5851905"/>
            <a:ext cx="128699" cy="187198"/>
          </a:xfrm>
          <a:prstGeom prst="rect">
            <a:avLst/>
          </a:prstGeom>
        </p:spPr>
      </p:pic>
      <p:sp>
        <p:nvSpPr>
          <p:cNvPr id="20" name="TextBox 19"/>
          <p:cNvSpPr txBox="1"/>
          <p:nvPr/>
        </p:nvSpPr>
        <p:spPr>
          <a:xfrm>
            <a:off x="581589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6053789" y="5851905"/>
            <a:ext cx="128699" cy="187198"/>
          </a:xfrm>
          <a:prstGeom prst="rect">
            <a:avLst/>
          </a:prstGeom>
        </p:spPr>
      </p:pic>
      <p:sp>
        <p:nvSpPr>
          <p:cNvPr id="22" name="TextBox 21"/>
          <p:cNvSpPr txBox="1"/>
          <p:nvPr/>
        </p:nvSpPr>
        <p:spPr>
          <a:xfrm>
            <a:off x="622128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830259" y="5851905"/>
            <a:ext cx="128699" cy="187198"/>
          </a:xfrm>
          <a:prstGeom prst="rect">
            <a:avLst/>
          </a:prstGeom>
        </p:spPr>
      </p:pic>
      <p:sp>
        <p:nvSpPr>
          <p:cNvPr id="24" name="TextBox 23"/>
          <p:cNvSpPr txBox="1"/>
          <p:nvPr/>
        </p:nvSpPr>
        <p:spPr>
          <a:xfrm>
            <a:off x="799775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8235649" y="5851905"/>
            <a:ext cx="128699" cy="187198"/>
          </a:xfrm>
          <a:prstGeom prst="rect">
            <a:avLst/>
          </a:prstGeom>
        </p:spPr>
      </p:pic>
      <p:sp>
        <p:nvSpPr>
          <p:cNvPr id="26" name="TextBox 25"/>
          <p:cNvSpPr txBox="1"/>
          <p:nvPr/>
        </p:nvSpPr>
        <p:spPr>
          <a:xfrm>
            <a:off x="8403145"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957549" y="5851905"/>
            <a:ext cx="128699" cy="187198"/>
          </a:xfrm>
          <a:prstGeom prst="rect">
            <a:avLst/>
          </a:prstGeom>
        </p:spPr>
      </p:pic>
      <p:sp>
        <p:nvSpPr>
          <p:cNvPr id="28" name="TextBox 27"/>
          <p:cNvSpPr txBox="1"/>
          <p:nvPr/>
        </p:nvSpPr>
        <p:spPr>
          <a:xfrm>
            <a:off x="11125045"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29" name="TextBox 28"/>
          <p:cNvSpPr txBox="1"/>
          <p:nvPr/>
        </p:nvSpPr>
        <p:spPr>
          <a:xfrm>
            <a:off x="257175" y="6029325"/>
            <a:ext cx="11324215" cy="186689"/>
          </a:xfrm>
          <a:prstGeom prst="rect">
            <a:avLst/>
          </a:prstGeom>
          <a:noFill/>
        </p:spPr>
        <p:txBody>
          <a:bodyPr wrap="none" lIns="0" rIns="0" tIns="0" bIns="0">
            <a:spAutoFit/>
          </a:bodyPr>
          <a:lstStyle/>
          <a:p>
            <a:r>
              <a:rPr sz="1100" b="0">
                <a:solidFill>
                  <a:srgbClr val="2E2E2E"/>
                </a:solidFill>
                <a:latin typeface="Calibri"/>
              </a:rPr>
              <a:t>polyurethane (PU) foam segment is expected to be less attractive as compared to other segments over the forecast period, owing to its lower CAGR and incremental opportunity. Bubbles right of the</a:t>
            </a:r>
          </a:p>
        </p:txBody>
      </p:sp>
      <p:sp>
        <p:nvSpPr>
          <p:cNvPr id="30" name="TextBox 29"/>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Material Type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Material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Polyethylene (PE) Foam</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Expanded Polystyrene (EPS)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Polyurethane (PU) Foam</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Expanded Polypropylene (EPP)</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Material Type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Material Type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Foam Materials</a:t>
            </a:r>
          </a:p>
        </p:txBody>
      </p:sp>
      <p:graphicFrame>
        <p:nvGraphicFramePr>
          <p:cNvPr id="9" name="Chart 8"/>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Material Type</a:t>
            </a:r>
          </a:p>
        </p:txBody>
      </p:sp>
      <p:sp>
        <p:nvSpPr>
          <p:cNvPr id="12" name="Rectangle 11"/>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5"/>
          <a:stretch>
            <a:fillRect/>
          </a:stretch>
        </p:blipFill>
        <p:spPr>
          <a:xfrm>
            <a:off x="3027556" y="3674659"/>
            <a:ext cx="395643" cy="575481"/>
          </a:xfrm>
          <a:prstGeom prst="rect">
            <a:avLst/>
          </a:prstGeom>
        </p:spPr>
      </p:pic>
      <p:sp>
        <p:nvSpPr>
          <p:cNvPr id="17" name="TextBox 16"/>
          <p:cNvSpPr txBox="1"/>
          <p:nvPr/>
        </p:nvSpPr>
        <p:spPr>
          <a:xfrm>
            <a:off x="6305550" y="1400175"/>
            <a:ext cx="4755768" cy="194310"/>
          </a:xfrm>
          <a:prstGeom prst="rect">
            <a:avLst/>
          </a:prstGeom>
          <a:noFill/>
        </p:spPr>
        <p:txBody>
          <a:bodyPr wrap="none" lIns="0" rIns="0" tIns="0" bIns="0">
            <a:spAutoFit/>
          </a:bodyPr>
          <a:lstStyle/>
          <a:p>
            <a:r>
              <a:rPr sz="1150" b="0">
                <a:solidFill>
                  <a:srgbClr val="2E2E2E"/>
                </a:solidFill>
                <a:latin typeface="Calibri"/>
              </a:rPr>
              <a:t>By 2036, other foam materials segment is anticipated to witness an increase of</a:t>
            </a:r>
          </a:p>
        </p:txBody>
      </p:sp>
      <p:pic>
        <p:nvPicPr>
          <p:cNvPr id="18" name="Picture 17" descr="lock.png"/>
          <p:cNvPicPr>
            <a:picLocks noChangeAspect="1"/>
          </p:cNvPicPr>
          <p:nvPr/>
        </p:nvPicPr>
        <p:blipFill>
          <a:blip r:embed="rId5"/>
          <a:stretch>
            <a:fillRect/>
          </a:stretch>
        </p:blipFill>
        <p:spPr>
          <a:xfrm>
            <a:off x="11010471" y="1389951"/>
            <a:ext cx="134549" cy="195707"/>
          </a:xfrm>
          <a:prstGeom prst="rect">
            <a:avLst/>
          </a:prstGeom>
        </p:spPr>
      </p:pic>
      <p:sp>
        <p:nvSpPr>
          <p:cNvPr id="19" name="TextBox 18"/>
          <p:cNvSpPr txBox="1"/>
          <p:nvPr/>
        </p:nvSpPr>
        <p:spPr>
          <a:xfrm>
            <a:off x="11185581" y="140017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0" name="TextBox 19"/>
          <p:cNvSpPr txBox="1"/>
          <p:nvPr/>
        </p:nvSpPr>
        <p:spPr>
          <a:xfrm>
            <a:off x="6305550" y="1575435"/>
            <a:ext cx="5411874" cy="194310"/>
          </a:xfrm>
          <a:prstGeom prst="rect">
            <a:avLst/>
          </a:prstGeom>
          <a:noFill/>
        </p:spPr>
        <p:txBody>
          <a:bodyPr wrap="none" lIns="0" rIns="0" tIns="0" bIns="0">
            <a:spAutoFit/>
          </a:bodyPr>
          <a:lstStyle/>
          <a:p>
            <a:r>
              <a:rPr sz="1150" b="0">
                <a:solidFill>
                  <a:srgbClr val="2E2E2E"/>
                </a:solidFill>
                <a:latin typeface="Calibri"/>
              </a:rPr>
              <a:t>of value as compared to 2026. The other foam materials segment is expected to create an</a:t>
            </a:r>
          </a:p>
        </p:txBody>
      </p:sp>
      <p:sp>
        <p:nvSpPr>
          <p:cNvPr id="21" name="TextBox 20"/>
          <p:cNvSpPr txBox="1"/>
          <p:nvPr/>
        </p:nvSpPr>
        <p:spPr>
          <a:xfrm>
            <a:off x="6305550" y="175069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2" name="Picture 21" descr="lock.png"/>
          <p:cNvPicPr>
            <a:picLocks noChangeAspect="1"/>
          </p:cNvPicPr>
          <p:nvPr/>
        </p:nvPicPr>
        <p:blipFill>
          <a:blip r:embed="rId5"/>
          <a:stretch>
            <a:fillRect/>
          </a:stretch>
        </p:blipFill>
        <p:spPr>
          <a:xfrm>
            <a:off x="8211582" y="1740471"/>
            <a:ext cx="134549" cy="195707"/>
          </a:xfrm>
          <a:prstGeom prst="rect">
            <a:avLst/>
          </a:prstGeom>
        </p:spPr>
      </p:pic>
      <p:sp>
        <p:nvSpPr>
          <p:cNvPr id="23" name="TextBox 22"/>
          <p:cNvSpPr txBox="1"/>
          <p:nvPr/>
        </p:nvSpPr>
        <p:spPr>
          <a:xfrm>
            <a:off x="8386692" y="1750695"/>
            <a:ext cx="3221124"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a:t>
            </a:r>
          </a:p>
        </p:txBody>
      </p:sp>
      <p:sp>
        <p:nvSpPr>
          <p:cNvPr id="24" name="TextBox 23"/>
          <p:cNvSpPr txBox="1"/>
          <p:nvPr/>
        </p:nvSpPr>
        <p:spPr>
          <a:xfrm>
            <a:off x="6305550" y="192595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25" name="TextBox 24"/>
          <p:cNvSpPr txBox="1"/>
          <p:nvPr/>
        </p:nvSpPr>
        <p:spPr>
          <a:xfrm>
            <a:off x="6305550" y="2153793"/>
            <a:ext cx="5591175" cy="194310"/>
          </a:xfrm>
          <a:prstGeom prst="rect">
            <a:avLst/>
          </a:prstGeom>
          <a:noFill/>
        </p:spPr>
        <p:txBody>
          <a:bodyPr wrap="none" lIns="0" rIns="0" tIns="0" bIns="0">
            <a:spAutoFit/>
          </a:bodyPr>
          <a:lstStyle/>
          <a:p>
            <a:r>
              <a:rPr sz="1150" b="0">
                <a:solidFill>
                  <a:srgbClr val="2E2E2E"/>
                </a:solidFill>
                <a:latin typeface="Calibri"/>
              </a:rPr>
              <a:t>The expanded polystyrene (EPS) segment is expected to create an incremental opportunity of</a:t>
            </a:r>
          </a:p>
        </p:txBody>
      </p:sp>
      <p:sp>
        <p:nvSpPr>
          <p:cNvPr id="26" name="TextBox 25"/>
          <p:cNvSpPr txBox="1"/>
          <p:nvPr/>
        </p:nvSpPr>
        <p:spPr>
          <a:xfrm>
            <a:off x="6305550" y="232905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7" name="Picture 26" descr="lock.png"/>
          <p:cNvPicPr>
            <a:picLocks noChangeAspect="1"/>
          </p:cNvPicPr>
          <p:nvPr/>
        </p:nvPicPr>
        <p:blipFill>
          <a:blip r:embed="rId5"/>
          <a:stretch>
            <a:fillRect/>
          </a:stretch>
        </p:blipFill>
        <p:spPr>
          <a:xfrm>
            <a:off x="6565953" y="2318829"/>
            <a:ext cx="134549" cy="195707"/>
          </a:xfrm>
          <a:prstGeom prst="rect">
            <a:avLst/>
          </a:prstGeom>
        </p:spPr>
      </p:pic>
      <p:sp>
        <p:nvSpPr>
          <p:cNvPr id="28" name="TextBox 27"/>
          <p:cNvSpPr txBox="1"/>
          <p:nvPr/>
        </p:nvSpPr>
        <p:spPr>
          <a:xfrm>
            <a:off x="6741062" y="2329053"/>
            <a:ext cx="4652813"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 The</a:t>
            </a:r>
          </a:p>
        </p:txBody>
      </p:sp>
      <p:sp>
        <p:nvSpPr>
          <p:cNvPr id="29" name="TextBox 28"/>
          <p:cNvSpPr txBox="1"/>
          <p:nvPr/>
        </p:nvSpPr>
        <p:spPr>
          <a:xfrm>
            <a:off x="6305550" y="2504313"/>
            <a:ext cx="5540809" cy="194310"/>
          </a:xfrm>
          <a:prstGeom prst="rect">
            <a:avLst/>
          </a:prstGeom>
          <a:noFill/>
        </p:spPr>
        <p:txBody>
          <a:bodyPr wrap="none" lIns="0" rIns="0" tIns="0" bIns="0">
            <a:spAutoFit/>
          </a:bodyPr>
          <a:lstStyle/>
          <a:p>
            <a:r>
              <a:rPr sz="1150" b="0">
                <a:solidFill>
                  <a:srgbClr val="2E2E2E"/>
                </a:solidFill>
                <a:latin typeface="Calibri"/>
              </a:rPr>
              <a:t>expanded polypropylene (EPP) segment is expected to create an incremental opportunity of</a:t>
            </a:r>
          </a:p>
        </p:txBody>
      </p:sp>
      <p:sp>
        <p:nvSpPr>
          <p:cNvPr id="30" name="TextBox 29"/>
          <p:cNvSpPr txBox="1"/>
          <p:nvPr/>
        </p:nvSpPr>
        <p:spPr>
          <a:xfrm>
            <a:off x="6305550" y="267957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1" name="Picture 30" descr="lock.png"/>
          <p:cNvPicPr>
            <a:picLocks noChangeAspect="1"/>
          </p:cNvPicPr>
          <p:nvPr/>
        </p:nvPicPr>
        <p:blipFill>
          <a:blip r:embed="rId5"/>
          <a:stretch>
            <a:fillRect/>
          </a:stretch>
        </p:blipFill>
        <p:spPr>
          <a:xfrm>
            <a:off x="6565953" y="2669349"/>
            <a:ext cx="134549" cy="195707"/>
          </a:xfrm>
          <a:prstGeom prst="rect">
            <a:avLst/>
          </a:prstGeom>
        </p:spPr>
      </p:pic>
      <p:sp>
        <p:nvSpPr>
          <p:cNvPr id="32" name="TextBox 31"/>
          <p:cNvSpPr txBox="1"/>
          <p:nvPr/>
        </p:nvSpPr>
        <p:spPr>
          <a:xfrm>
            <a:off x="6741062" y="2679573"/>
            <a:ext cx="4398937"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a:t>
            </a:r>
          </a:p>
        </p:txBody>
      </p:sp>
      <p:sp>
        <p:nvSpPr>
          <p:cNvPr id="33" name="lockshield_9"/>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Material Type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Material Type, 2021–2036, highlighting the sub-segments driving growth</a:t>
            </a:r>
          </a:p>
        </p:txBody>
      </p:sp>
      <p:sp>
        <p:nvSpPr>
          <p:cNvPr id="7" name="Rounded Rectangle 6"/>
          <p:cNvSpPr/>
          <p:nvPr/>
        </p:nvSpPr>
        <p:spPr>
          <a:xfrm>
            <a:off x="142875" y="981075"/>
            <a:ext cx="11906250" cy="3429000"/>
          </a:xfrm>
          <a:prstGeom prst="roundRect">
            <a:avLst>
              <a:gd name="adj" fmla="val 222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Material Type (US$ Mn)</a:t>
            </a:r>
          </a:p>
        </p:txBody>
      </p:sp>
      <p:graphicFrame>
        <p:nvGraphicFramePr>
          <p:cNvPr id="9" name="Table 8"/>
          <p:cNvGraphicFramePr>
            <a:graphicFrameLocks noGrp="1"/>
          </p:cNvGraphicFramePr>
          <p:nvPr/>
        </p:nvGraphicFramePr>
        <p:xfrm>
          <a:off x="152400" y="1238250"/>
          <a:ext cx="11887200" cy="2962279"/>
        </p:xfrm>
        <a:graphic>
          <a:graphicData uri="http://schemas.openxmlformats.org/drawingml/2006/table">
            <a:tbl>
              <a:tblPr>
                <a:tableStyleId>{5C22544A-7EE6-4342-B048-85BDC9FD1C3A}</a:tableStyleId>
              </a:tblPr>
              <a:tblGrid>
                <a:gridCol w="2953989"/>
                <a:gridCol w="504002"/>
                <a:gridCol w="504002"/>
                <a:gridCol w="504002"/>
                <a:gridCol w="526828"/>
                <a:gridCol w="526828"/>
                <a:gridCol w="526828"/>
                <a:gridCol w="526828"/>
                <a:gridCol w="526828"/>
                <a:gridCol w="526828"/>
                <a:gridCol w="526828"/>
                <a:gridCol w="526828"/>
                <a:gridCol w="526828"/>
                <a:gridCol w="526828"/>
                <a:gridCol w="526828"/>
                <a:gridCol w="526828"/>
                <a:gridCol w="526828"/>
                <a:gridCol w="572441"/>
              </a:tblGrid>
              <a:tr h="246126">
                <a:tc>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923">
                <a:tc>
                  <a:txBody>
                    <a:bodyPr wrap="none"/>
                    <a:lstStyle/>
                    <a:p>
                      <a:pPr algn="l"/>
                      <a:r>
                        <a:rPr sz="1100" b="1">
                          <a:solidFill>
                            <a:srgbClr val="2E2E2E"/>
                          </a:solidFill>
                          <a:latin typeface="Calibri"/>
                        </a:rPr>
                        <a:t>Polyethylene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Non-Crosslinked PE Foam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 Crosslinked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Expanded 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Polyurethane (PU)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Extruded Polystyrene (XPS) Foam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 Other Polyolefin &amp; Specialty Polymer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Bio-based / Starch-based Foams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4210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543425"/>
            <a:ext cx="11906250" cy="2085975"/>
          </a:xfrm>
          <a:prstGeom prst="roundRect">
            <a:avLst>
              <a:gd name="adj" fmla="val 365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62915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Material Type</a:t>
            </a:r>
          </a:p>
        </p:txBody>
      </p:sp>
      <p:sp>
        <p:nvSpPr>
          <p:cNvPr id="13" name="Rectangle 12"/>
          <p:cNvSpPr/>
          <p:nvPr/>
        </p:nvSpPr>
        <p:spPr>
          <a:xfrm>
            <a:off x="276225" y="48672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953000"/>
            <a:ext cx="11639550" cy="16002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386304" y="2575752"/>
            <a:ext cx="366712" cy="533400"/>
          </a:xfrm>
          <a:prstGeom prst="rect">
            <a:avLst/>
          </a:prstGeom>
        </p:spPr>
      </p:pic>
      <p:sp>
        <p:nvSpPr>
          <p:cNvPr id="18" name="TextBox 17"/>
          <p:cNvSpPr txBox="1"/>
          <p:nvPr/>
        </p:nvSpPr>
        <p:spPr>
          <a:xfrm>
            <a:off x="276225" y="4962525"/>
            <a:ext cx="3275607" cy="194310"/>
          </a:xfrm>
          <a:prstGeom prst="rect">
            <a:avLst/>
          </a:prstGeom>
          <a:noFill/>
        </p:spPr>
        <p:txBody>
          <a:bodyPr wrap="none" lIns="0" rIns="0" tIns="0" bIns="0">
            <a:spAutoFit/>
          </a:bodyPr>
          <a:lstStyle/>
          <a:p>
            <a:r>
              <a:rPr sz="1150" b="0">
                <a:solidFill>
                  <a:srgbClr val="2E2E2E"/>
                </a:solidFill>
                <a:latin typeface="Calibri"/>
              </a:rPr>
              <a:t>Other foam materials segment is projected to register</a:t>
            </a:r>
          </a:p>
        </p:txBody>
      </p:sp>
      <p:pic>
        <p:nvPicPr>
          <p:cNvPr id="19" name="Picture 18" descr="lock.png"/>
          <p:cNvPicPr>
            <a:picLocks noChangeAspect="1"/>
          </p:cNvPicPr>
          <p:nvPr/>
        </p:nvPicPr>
        <p:blipFill>
          <a:blip r:embed="rId4"/>
          <a:stretch>
            <a:fillRect/>
          </a:stretch>
        </p:blipFill>
        <p:spPr>
          <a:xfrm>
            <a:off x="3500986" y="4952301"/>
            <a:ext cx="134549" cy="195707"/>
          </a:xfrm>
          <a:prstGeom prst="rect">
            <a:avLst/>
          </a:prstGeom>
        </p:spPr>
      </p:pic>
      <p:sp>
        <p:nvSpPr>
          <p:cNvPr id="20" name="TextBox 19"/>
          <p:cNvSpPr txBox="1"/>
          <p:nvPr/>
        </p:nvSpPr>
        <p:spPr>
          <a:xfrm>
            <a:off x="3676096" y="4962525"/>
            <a:ext cx="7691053" cy="194310"/>
          </a:xfrm>
          <a:prstGeom prst="rect">
            <a:avLst/>
          </a:prstGeom>
          <a:noFill/>
        </p:spPr>
        <p:txBody>
          <a:bodyPr wrap="none" lIns="0" rIns="0" tIns="0" bIns="0">
            <a:spAutoFit/>
          </a:bodyPr>
          <a:lstStyle/>
          <a:p>
            <a:r>
              <a:rPr sz="1150" b="0">
                <a:solidFill>
                  <a:srgbClr val="2E2E2E"/>
                </a:solidFill>
                <a:latin typeface="Calibri"/>
              </a:rPr>
              <a:t>X higher value than expanded polystyrene (EPS) segment in 2036. Among foam protective packaging by material type, expanded</a:t>
            </a:r>
          </a:p>
        </p:txBody>
      </p:sp>
      <p:sp>
        <p:nvSpPr>
          <p:cNvPr id="21" name="TextBox 20"/>
          <p:cNvSpPr txBox="1"/>
          <p:nvPr/>
        </p:nvSpPr>
        <p:spPr>
          <a:xfrm>
            <a:off x="276225" y="5137785"/>
            <a:ext cx="4390932" cy="194310"/>
          </a:xfrm>
          <a:prstGeom prst="rect">
            <a:avLst/>
          </a:prstGeom>
          <a:noFill/>
        </p:spPr>
        <p:txBody>
          <a:bodyPr wrap="none" lIns="0" rIns="0" tIns="0" bIns="0">
            <a:spAutoFit/>
          </a:bodyPr>
          <a:lstStyle/>
          <a:p>
            <a:r>
              <a:rPr sz="1150" b="0">
                <a:solidFill>
                  <a:srgbClr val="2E2E2E"/>
                </a:solidFill>
                <a:latin typeface="Calibri"/>
              </a:rPr>
              <a:t>polypropylene (EPP) segment is expected to witness the highest CAGR of</a:t>
            </a:r>
          </a:p>
        </p:txBody>
      </p:sp>
      <p:pic>
        <p:nvPicPr>
          <p:cNvPr id="22" name="Picture 21" descr="lock.png"/>
          <p:cNvPicPr>
            <a:picLocks noChangeAspect="1"/>
          </p:cNvPicPr>
          <p:nvPr/>
        </p:nvPicPr>
        <p:blipFill>
          <a:blip r:embed="rId4"/>
          <a:stretch>
            <a:fillRect/>
          </a:stretch>
        </p:blipFill>
        <p:spPr>
          <a:xfrm>
            <a:off x="4616311" y="5127561"/>
            <a:ext cx="134549" cy="195707"/>
          </a:xfrm>
          <a:prstGeom prst="rect">
            <a:avLst/>
          </a:prstGeom>
        </p:spPr>
      </p:pic>
      <p:sp>
        <p:nvSpPr>
          <p:cNvPr id="23" name="TextBox 22"/>
          <p:cNvSpPr txBox="1"/>
          <p:nvPr/>
        </p:nvSpPr>
        <p:spPr>
          <a:xfrm>
            <a:off x="4791420" y="51377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5365622"/>
            <a:ext cx="7117407" cy="194310"/>
          </a:xfrm>
          <a:prstGeom prst="rect">
            <a:avLst/>
          </a:prstGeom>
          <a:noFill/>
        </p:spPr>
        <p:txBody>
          <a:bodyPr wrap="none" lIns="0" rIns="0" tIns="0" bIns="0">
            <a:spAutoFit/>
          </a:bodyPr>
          <a:lstStyle/>
          <a:p>
            <a:r>
              <a:rPr sz="1150" b="0">
                <a:solidFill>
                  <a:srgbClr val="2E2E2E"/>
                </a:solidFill>
                <a:latin typeface="Calibri"/>
              </a:rPr>
              <a:t>In terms of value share by material type, the other foam materials segment is expected to dominate the market, losing</a:t>
            </a:r>
          </a:p>
        </p:txBody>
      </p:sp>
      <p:pic>
        <p:nvPicPr>
          <p:cNvPr id="25" name="Picture 24" descr="lock.png"/>
          <p:cNvPicPr>
            <a:picLocks noChangeAspect="1"/>
          </p:cNvPicPr>
          <p:nvPr/>
        </p:nvPicPr>
        <p:blipFill>
          <a:blip r:embed="rId4"/>
          <a:stretch>
            <a:fillRect/>
          </a:stretch>
        </p:blipFill>
        <p:spPr>
          <a:xfrm>
            <a:off x="7342786" y="5355399"/>
            <a:ext cx="134549" cy="195707"/>
          </a:xfrm>
          <a:prstGeom prst="rect">
            <a:avLst/>
          </a:prstGeom>
        </p:spPr>
      </p:pic>
      <p:sp>
        <p:nvSpPr>
          <p:cNvPr id="26" name="TextBox 25"/>
          <p:cNvSpPr txBox="1"/>
          <p:nvPr/>
        </p:nvSpPr>
        <p:spPr>
          <a:xfrm>
            <a:off x="7517895" y="53656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913038" y="5355399"/>
            <a:ext cx="134549" cy="195707"/>
          </a:xfrm>
          <a:prstGeom prst="rect">
            <a:avLst/>
          </a:prstGeom>
        </p:spPr>
      </p:pic>
      <p:sp>
        <p:nvSpPr>
          <p:cNvPr id="28" name="TextBox 27"/>
          <p:cNvSpPr txBox="1"/>
          <p:nvPr/>
        </p:nvSpPr>
        <p:spPr>
          <a:xfrm>
            <a:off x="9088148" y="53656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Material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Material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Material Type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790127"/>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8536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091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Polyurethane (PU) Foam</a:t>
            </a:r>
          </a:p>
        </p:txBody>
      </p:sp>
      <p:sp>
        <p:nvSpPr>
          <p:cNvPr id="15" name="BPS Value 1"/>
          <p:cNvSpPr txBox="1"/>
          <p:nvPr/>
        </p:nvSpPr>
        <p:spPr>
          <a:xfrm>
            <a:off x="6896100" y="177107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217367"/>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21260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1364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Polyethylene (PE) Foam</a:t>
            </a:r>
          </a:p>
        </p:txBody>
      </p:sp>
      <p:sp>
        <p:nvSpPr>
          <p:cNvPr id="19" name="BPS Value 2"/>
          <p:cNvSpPr txBox="1"/>
          <p:nvPr/>
        </p:nvSpPr>
        <p:spPr>
          <a:xfrm>
            <a:off x="6896100" y="219831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2850686"/>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84592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76972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Polypropylene</a:t>
            </a:r>
          </a:p>
        </p:txBody>
      </p:sp>
      <p:sp>
        <p:nvSpPr>
          <p:cNvPr id="23" name="BPS Value 3"/>
          <p:cNvSpPr txBox="1"/>
          <p:nvPr/>
        </p:nvSpPr>
        <p:spPr>
          <a:xfrm>
            <a:off x="6896100" y="283163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3621621"/>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61685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5406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Polystyrene</a:t>
            </a:r>
          </a:p>
        </p:txBody>
      </p:sp>
      <p:sp>
        <p:nvSpPr>
          <p:cNvPr id="27" name="BPS Value 4"/>
          <p:cNvSpPr txBox="1"/>
          <p:nvPr/>
        </p:nvSpPr>
        <p:spPr>
          <a:xfrm>
            <a:off x="6896100" y="360257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TMR Legend Chip"/>
          <p:cNvSpPr/>
          <p:nvPr/>
        </p:nvSpPr>
        <p:spPr>
          <a:xfrm>
            <a:off x="4928997" y="5155622"/>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51508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50746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Foam Materials</a:t>
            </a:r>
          </a:p>
        </p:txBody>
      </p:sp>
      <p:sp>
        <p:nvSpPr>
          <p:cNvPr id="31" name="BPS Value 5"/>
          <p:cNvSpPr txBox="1"/>
          <p:nvPr/>
        </p:nvSpPr>
        <p:spPr>
          <a:xfrm>
            <a:off x="6896100" y="51365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Material Type</a:t>
            </a:r>
          </a:p>
        </p:txBody>
      </p:sp>
      <p:sp>
        <p:nvSpPr>
          <p:cNvPr id="34" name="Rectangle 33"/>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6" name="Rectangle 3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8" name="Picture 37" descr="lock.png"/>
          <p:cNvPicPr>
            <a:picLocks noChangeAspect="1"/>
          </p:cNvPicPr>
          <p:nvPr/>
        </p:nvPicPr>
        <p:blipFill>
          <a:blip r:embed="rId5"/>
          <a:stretch>
            <a:fillRect/>
          </a:stretch>
        </p:blipFill>
        <p:spPr>
          <a:xfrm>
            <a:off x="2557843" y="3833622"/>
            <a:ext cx="275034" cy="400050"/>
          </a:xfrm>
          <a:prstGeom prst="rect">
            <a:avLst/>
          </a:prstGeom>
        </p:spPr>
      </p:pic>
      <p:sp>
        <p:nvSpPr>
          <p:cNvPr id="39" name="TextBox 38"/>
          <p:cNvSpPr txBox="1"/>
          <p:nvPr/>
        </p:nvSpPr>
        <p:spPr>
          <a:xfrm>
            <a:off x="7829550" y="1400175"/>
            <a:ext cx="3768526" cy="194310"/>
          </a:xfrm>
          <a:prstGeom prst="rect">
            <a:avLst/>
          </a:prstGeom>
          <a:noFill/>
        </p:spPr>
        <p:txBody>
          <a:bodyPr wrap="none" lIns="0" rIns="0" tIns="0" bIns="0">
            <a:spAutoFit/>
          </a:bodyPr>
          <a:lstStyle/>
          <a:p>
            <a:r>
              <a:rPr sz="1150" b="0">
                <a:solidFill>
                  <a:srgbClr val="2E2E2E"/>
                </a:solidFill>
                <a:latin typeface="Calibri"/>
              </a:rPr>
              <a:t>Among foam protective packaging by material type, expanded</a:t>
            </a:r>
          </a:p>
        </p:txBody>
      </p:sp>
      <p:sp>
        <p:nvSpPr>
          <p:cNvPr id="40" name="TextBox 39"/>
          <p:cNvSpPr txBox="1"/>
          <p:nvPr/>
        </p:nvSpPr>
        <p:spPr>
          <a:xfrm>
            <a:off x="7829550" y="1575435"/>
            <a:ext cx="3869506" cy="194310"/>
          </a:xfrm>
          <a:prstGeom prst="rect">
            <a:avLst/>
          </a:prstGeom>
          <a:noFill/>
        </p:spPr>
        <p:txBody>
          <a:bodyPr wrap="none" lIns="0" rIns="0" tIns="0" bIns="0">
            <a:spAutoFit/>
          </a:bodyPr>
          <a:lstStyle/>
          <a:p>
            <a:r>
              <a:rPr sz="1150" b="0">
                <a:solidFill>
                  <a:srgbClr val="2E2E2E"/>
                </a:solidFill>
                <a:latin typeface="Calibri"/>
              </a:rPr>
              <a:t>polypropylene (EPP) segment is expected to witness the highest</a:t>
            </a:r>
          </a:p>
        </p:txBody>
      </p:sp>
      <p:sp>
        <p:nvSpPr>
          <p:cNvPr id="41" name="TextBox 40"/>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2" name="Picture 41" descr="lock.png"/>
          <p:cNvPicPr>
            <a:picLocks noChangeAspect="1"/>
          </p:cNvPicPr>
          <p:nvPr/>
        </p:nvPicPr>
        <p:blipFill>
          <a:blip r:embed="rId5"/>
          <a:stretch>
            <a:fillRect/>
          </a:stretch>
        </p:blipFill>
        <p:spPr>
          <a:xfrm>
            <a:off x="8343240" y="1740471"/>
            <a:ext cx="134549" cy="195707"/>
          </a:xfrm>
          <a:prstGeom prst="rect">
            <a:avLst/>
          </a:prstGeom>
        </p:spPr>
      </p:pic>
      <p:sp>
        <p:nvSpPr>
          <p:cNvPr id="43" name="TextBox 42"/>
          <p:cNvSpPr txBox="1"/>
          <p:nvPr/>
        </p:nvSpPr>
        <p:spPr>
          <a:xfrm>
            <a:off x="85183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4" name="TextBox 43"/>
          <p:cNvSpPr txBox="1"/>
          <p:nvPr/>
        </p:nvSpPr>
        <p:spPr>
          <a:xfrm>
            <a:off x="7829550" y="1978533"/>
            <a:ext cx="3995873" cy="194310"/>
          </a:xfrm>
          <a:prstGeom prst="rect">
            <a:avLst/>
          </a:prstGeom>
          <a:noFill/>
        </p:spPr>
        <p:txBody>
          <a:bodyPr wrap="none" lIns="0" rIns="0" tIns="0" bIns="0">
            <a:spAutoFit/>
          </a:bodyPr>
          <a:lstStyle/>
          <a:p>
            <a:r>
              <a:rPr sz="1150" b="0">
                <a:solidFill>
                  <a:srgbClr val="2E2E2E"/>
                </a:solidFill>
                <a:latin typeface="Calibri"/>
              </a:rPr>
              <a:t>In terms of value share by material type, the other foam materials</a:t>
            </a:r>
          </a:p>
        </p:txBody>
      </p:sp>
      <p:sp>
        <p:nvSpPr>
          <p:cNvPr id="45" name="TextBox 44"/>
          <p:cNvSpPr txBox="1"/>
          <p:nvPr/>
        </p:nvSpPr>
        <p:spPr>
          <a:xfrm>
            <a:off x="7829550" y="2153793"/>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46" name="Picture 45" descr="lock.png"/>
          <p:cNvPicPr>
            <a:picLocks noChangeAspect="1"/>
          </p:cNvPicPr>
          <p:nvPr/>
        </p:nvPicPr>
        <p:blipFill>
          <a:blip r:embed="rId5"/>
          <a:stretch>
            <a:fillRect/>
          </a:stretch>
        </p:blipFill>
        <p:spPr>
          <a:xfrm>
            <a:off x="10943347" y="2143569"/>
            <a:ext cx="134549" cy="195707"/>
          </a:xfrm>
          <a:prstGeom prst="rect">
            <a:avLst/>
          </a:prstGeom>
        </p:spPr>
      </p:pic>
      <p:sp>
        <p:nvSpPr>
          <p:cNvPr id="47" name="TextBox 46"/>
          <p:cNvSpPr txBox="1"/>
          <p:nvPr/>
        </p:nvSpPr>
        <p:spPr>
          <a:xfrm>
            <a:off x="11118457" y="2153793"/>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8" name="TextBox 47"/>
          <p:cNvSpPr txBox="1"/>
          <p:nvPr/>
        </p:nvSpPr>
        <p:spPr>
          <a:xfrm>
            <a:off x="7829550" y="2329053"/>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9" name="Picture 48" descr="lock.png"/>
          <p:cNvPicPr>
            <a:picLocks noChangeAspect="1"/>
          </p:cNvPicPr>
          <p:nvPr/>
        </p:nvPicPr>
        <p:blipFill>
          <a:blip r:embed="rId5"/>
          <a:stretch>
            <a:fillRect/>
          </a:stretch>
        </p:blipFill>
        <p:spPr>
          <a:xfrm>
            <a:off x="8712947" y="2318829"/>
            <a:ext cx="134549" cy="195707"/>
          </a:xfrm>
          <a:prstGeom prst="rect">
            <a:avLst/>
          </a:prstGeom>
        </p:spPr>
      </p:pic>
      <p:sp>
        <p:nvSpPr>
          <p:cNvPr id="50" name="TextBox 49"/>
          <p:cNvSpPr txBox="1"/>
          <p:nvPr/>
        </p:nvSpPr>
        <p:spPr>
          <a:xfrm>
            <a:off x="8888056"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Product Form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Product Form,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 segment categorizes the market by product form.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Pouches, Bags &amp; Sleeves</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Fabricated Foam Packaging</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Sheets, Rolls &amp; Planks</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Foam-in-Place Packaging</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Loose-Fill Packaging</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Molded Foam Packaging</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Product Form split shows how demand is distributed across product form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2_960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6_361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7_9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2_098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3_040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3_8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1_754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2_702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4_4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1_709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2_090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2_0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1_537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2_308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4_1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841_1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1_177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3_4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670199" cy="186689"/>
          </a:xfrm>
          <a:prstGeom prst="rect">
            <a:avLst/>
          </a:prstGeom>
          <a:noFill/>
        </p:spPr>
        <p:txBody>
          <a:bodyPr wrap="none" lIns="0" rIns="0" tIns="0" bIns="0">
            <a:spAutoFit/>
          </a:bodyPr>
          <a:lstStyle/>
          <a:p>
            <a:r>
              <a:rPr sz="1100" b="0">
                <a:solidFill>
                  <a:srgbClr val="2E2E2E"/>
                </a:solidFill>
                <a:latin typeface="Calibri"/>
              </a:rPr>
              <a:t>Among foam protective packaging by product</a:t>
            </a:r>
          </a:p>
        </p:txBody>
      </p:sp>
      <p:sp>
        <p:nvSpPr>
          <p:cNvPr id="100" name="TextBox 99"/>
          <p:cNvSpPr txBox="1"/>
          <p:nvPr/>
        </p:nvSpPr>
        <p:spPr>
          <a:xfrm>
            <a:off x="485775" y="4397077"/>
            <a:ext cx="2763242" cy="186689"/>
          </a:xfrm>
          <a:prstGeom prst="rect">
            <a:avLst/>
          </a:prstGeom>
          <a:noFill/>
        </p:spPr>
        <p:txBody>
          <a:bodyPr wrap="none" lIns="0" rIns="0" tIns="0" bIns="0">
            <a:spAutoFit/>
          </a:bodyPr>
          <a:lstStyle/>
          <a:p>
            <a:r>
              <a:rPr sz="1100" b="0">
                <a:solidFill>
                  <a:srgbClr val="2E2E2E"/>
                </a:solidFill>
                <a:latin typeface="Calibri"/>
              </a:rPr>
              <a:t>form, foam pouches, bags &amp; sleeves segment is</a:t>
            </a:r>
          </a:p>
        </p:txBody>
      </p:sp>
      <p:sp>
        <p:nvSpPr>
          <p:cNvPr id="101" name="TextBox 100"/>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2" name="Picture 101" descr="lock.png"/>
          <p:cNvPicPr>
            <a:picLocks noChangeAspect="1"/>
          </p:cNvPicPr>
          <p:nvPr/>
        </p:nvPicPr>
        <p:blipFill>
          <a:blip r:embed="rId22"/>
          <a:stretch>
            <a:fillRect/>
          </a:stretch>
        </p:blipFill>
        <p:spPr>
          <a:xfrm>
            <a:off x="2815059" y="4554938"/>
            <a:ext cx="128699" cy="187198"/>
          </a:xfrm>
          <a:prstGeom prst="rect">
            <a:avLst/>
          </a:prstGeom>
        </p:spPr>
      </p:pic>
      <p:sp>
        <p:nvSpPr>
          <p:cNvPr id="103" name="TextBox 102"/>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4" name="TextBox 103"/>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105" name="TextBox 104"/>
          <p:cNvSpPr txBox="1"/>
          <p:nvPr/>
        </p:nvSpPr>
        <p:spPr>
          <a:xfrm>
            <a:off x="485775" y="4899997"/>
            <a:ext cx="2823815" cy="186689"/>
          </a:xfrm>
          <a:prstGeom prst="rect">
            <a:avLst/>
          </a:prstGeom>
          <a:noFill/>
        </p:spPr>
        <p:txBody>
          <a:bodyPr wrap="none" lIns="0" rIns="0" tIns="0" bIns="0">
            <a:spAutoFit/>
          </a:bodyPr>
          <a:lstStyle/>
          <a:p>
            <a:r>
              <a:rPr sz="1100" b="0">
                <a:solidFill>
                  <a:srgbClr val="2E2E2E"/>
                </a:solidFill>
                <a:latin typeface="Calibri"/>
              </a:rPr>
              <a:t>product form, the foam pouches, bags &amp; sleeves</a:t>
            </a:r>
          </a:p>
        </p:txBody>
      </p:sp>
      <p:sp>
        <p:nvSpPr>
          <p:cNvPr id="106" name="TextBox 105"/>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107" name="TextBox 106"/>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108" name="Picture 107" descr="lock.png"/>
          <p:cNvPicPr>
            <a:picLocks noChangeAspect="1"/>
          </p:cNvPicPr>
          <p:nvPr/>
        </p:nvPicPr>
        <p:blipFill>
          <a:blip r:embed="rId22"/>
          <a:stretch>
            <a:fillRect/>
          </a:stretch>
        </p:blipFill>
        <p:spPr>
          <a:xfrm>
            <a:off x="919576" y="5225498"/>
            <a:ext cx="128699" cy="187198"/>
          </a:xfrm>
          <a:prstGeom prst="rect">
            <a:avLst/>
          </a:prstGeom>
        </p:spPr>
      </p:pic>
      <p:sp>
        <p:nvSpPr>
          <p:cNvPr id="109" name="TextBox 108"/>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0" name="Picture 109" descr="lock.png"/>
          <p:cNvPicPr>
            <a:picLocks noChangeAspect="1"/>
          </p:cNvPicPr>
          <p:nvPr/>
        </p:nvPicPr>
        <p:blipFill>
          <a:blip r:embed="rId22"/>
          <a:stretch>
            <a:fillRect/>
          </a:stretch>
        </p:blipFill>
        <p:spPr>
          <a:xfrm>
            <a:off x="2421557" y="5225498"/>
            <a:ext cx="128699" cy="187198"/>
          </a:xfrm>
          <a:prstGeom prst="rect">
            <a:avLst/>
          </a:prstGeom>
        </p:spPr>
      </p:pic>
      <p:sp>
        <p:nvSpPr>
          <p:cNvPr id="111" name="TextBox 110"/>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112" name="TextBox 111"/>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13" name="TextBox 112"/>
          <p:cNvSpPr txBox="1"/>
          <p:nvPr/>
        </p:nvSpPr>
        <p:spPr>
          <a:xfrm>
            <a:off x="485775" y="5620849"/>
            <a:ext cx="2441520" cy="186689"/>
          </a:xfrm>
          <a:prstGeom prst="rect">
            <a:avLst/>
          </a:prstGeom>
          <a:noFill/>
        </p:spPr>
        <p:txBody>
          <a:bodyPr wrap="none" lIns="0" rIns="0" tIns="0" bIns="0">
            <a:spAutoFit/>
          </a:bodyPr>
          <a:lstStyle/>
          <a:p>
            <a:r>
              <a:rPr sz="1100" b="0">
                <a:solidFill>
                  <a:srgbClr val="2E2E2E"/>
                </a:solidFill>
                <a:latin typeface="Calibri"/>
              </a:rPr>
              <a:t>Foam pouches, bags &amp; sleeves segment is</a:t>
            </a:r>
          </a:p>
        </p:txBody>
      </p:sp>
      <p:sp>
        <p:nvSpPr>
          <p:cNvPr id="114" name="TextBox 113"/>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5" name="Picture 114" descr="lock.png"/>
          <p:cNvPicPr>
            <a:picLocks noChangeAspect="1"/>
          </p:cNvPicPr>
          <p:nvPr/>
        </p:nvPicPr>
        <p:blipFill>
          <a:blip r:embed="rId22"/>
          <a:stretch>
            <a:fillRect/>
          </a:stretch>
        </p:blipFill>
        <p:spPr>
          <a:xfrm>
            <a:off x="1678376" y="5778710"/>
            <a:ext cx="128699" cy="187198"/>
          </a:xfrm>
          <a:prstGeom prst="rect">
            <a:avLst/>
          </a:prstGeom>
        </p:spPr>
      </p:pic>
      <p:sp>
        <p:nvSpPr>
          <p:cNvPr id="116" name="TextBox 115"/>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17" name="TextBox 116"/>
          <p:cNvSpPr txBox="1"/>
          <p:nvPr/>
        </p:nvSpPr>
        <p:spPr>
          <a:xfrm>
            <a:off x="485775" y="5956129"/>
            <a:ext cx="2591891" cy="186689"/>
          </a:xfrm>
          <a:prstGeom prst="rect">
            <a:avLst/>
          </a:prstGeom>
          <a:noFill/>
        </p:spPr>
        <p:txBody>
          <a:bodyPr wrap="none" lIns="0" rIns="0" tIns="0" bIns="0">
            <a:spAutoFit/>
          </a:bodyPr>
          <a:lstStyle/>
          <a:p>
            <a:r>
              <a:rPr sz="1100" b="0">
                <a:solidFill>
                  <a:srgbClr val="2E2E2E"/>
                </a:solidFill>
                <a:latin typeface="Calibri"/>
              </a:rPr>
              <a:t>fabricated foam packaging segment in 2036.</a:t>
            </a:r>
          </a:p>
        </p:txBody>
      </p:sp>
      <p:sp>
        <p:nvSpPr>
          <p:cNvPr id="118" name="TextBox 117"/>
          <p:cNvSpPr txBox="1"/>
          <p:nvPr/>
        </p:nvSpPr>
        <p:spPr>
          <a:xfrm>
            <a:off x="3838575" y="4229437"/>
            <a:ext cx="1889040" cy="179984"/>
          </a:xfrm>
          <a:prstGeom prst="rect">
            <a:avLst/>
          </a:prstGeom>
          <a:noFill/>
        </p:spPr>
        <p:txBody>
          <a:bodyPr wrap="none" lIns="0" rIns="0" tIns="0" bIns="0">
            <a:spAutoFit/>
          </a:bodyPr>
          <a:lstStyle/>
          <a:p>
            <a:r>
              <a:rPr sz="1055" b="0">
                <a:solidFill>
                  <a:srgbClr val="2E2E2E"/>
                </a:solidFill>
                <a:latin typeface="Calibri"/>
              </a:rPr>
              <a:t>● Foam Pouches, Bags &amp; Sleeves:</a:t>
            </a:r>
          </a:p>
        </p:txBody>
      </p:sp>
      <p:pic>
        <p:nvPicPr>
          <p:cNvPr id="119" name="Picture 118" descr="lock.png"/>
          <p:cNvPicPr>
            <a:picLocks noChangeAspect="1"/>
          </p:cNvPicPr>
          <p:nvPr/>
        </p:nvPicPr>
        <p:blipFill>
          <a:blip r:embed="rId22"/>
          <a:stretch>
            <a:fillRect/>
          </a:stretch>
        </p:blipFill>
        <p:spPr>
          <a:xfrm>
            <a:off x="5674697" y="4220049"/>
            <a:ext cx="123551" cy="179710"/>
          </a:xfrm>
          <a:prstGeom prst="rect">
            <a:avLst/>
          </a:prstGeom>
        </p:spPr>
      </p:pic>
      <p:sp>
        <p:nvSpPr>
          <p:cNvPr id="120" name="TextBox 119"/>
          <p:cNvSpPr txBox="1"/>
          <p:nvPr/>
        </p:nvSpPr>
        <p:spPr>
          <a:xfrm>
            <a:off x="5835493" y="4229437"/>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6660565" y="4220049"/>
            <a:ext cx="123551" cy="179710"/>
          </a:xfrm>
          <a:prstGeom prst="rect">
            <a:avLst/>
          </a:prstGeom>
        </p:spPr>
      </p:pic>
      <p:sp>
        <p:nvSpPr>
          <p:cNvPr id="122" name="TextBox 121"/>
          <p:cNvSpPr txBox="1"/>
          <p:nvPr/>
        </p:nvSpPr>
        <p:spPr>
          <a:xfrm>
            <a:off x="6821361" y="4229437"/>
            <a:ext cx="910454" cy="179984"/>
          </a:xfrm>
          <a:prstGeom prst="rect">
            <a:avLst/>
          </a:prstGeom>
          <a:noFill/>
        </p:spPr>
        <p:txBody>
          <a:bodyPr wrap="none" lIns="0" rIns="0" tIns="0" bIns="0">
            <a:spAutoFit/>
          </a:bodyPr>
          <a:lstStyle/>
          <a:p>
            <a:r>
              <a:rPr sz="1055" b="0">
                <a:solidFill>
                  <a:srgbClr val="2E2E2E"/>
                </a:solidFill>
                <a:latin typeface="Calibri"/>
              </a:rPr>
              <a:t>CAGR leads the</a:t>
            </a:r>
          </a:p>
        </p:txBody>
      </p:sp>
      <p:sp>
        <p:nvSpPr>
          <p:cNvPr id="123" name="TextBox 122"/>
          <p:cNvSpPr txBox="1"/>
          <p:nvPr/>
        </p:nvSpPr>
        <p:spPr>
          <a:xfrm>
            <a:off x="3838575" y="4390371"/>
            <a:ext cx="581739" cy="179984"/>
          </a:xfrm>
          <a:prstGeom prst="rect">
            <a:avLst/>
          </a:prstGeom>
          <a:noFill/>
        </p:spPr>
        <p:txBody>
          <a:bodyPr wrap="none" lIns="0" rIns="0" tIns="0" bIns="0">
            <a:spAutoFit/>
          </a:bodyPr>
          <a:lstStyle/>
          <a:p>
            <a:r>
              <a:rPr sz="1055" b="0">
                <a:solidFill>
                  <a:srgbClr val="2E2E2E"/>
                </a:solidFill>
                <a:latin typeface="Calibri"/>
              </a:rPr>
              <a:t>segment.</a:t>
            </a:r>
          </a:p>
        </p:txBody>
      </p:sp>
      <p:sp>
        <p:nvSpPr>
          <p:cNvPr id="124" name="TextBox 123"/>
          <p:cNvSpPr txBox="1"/>
          <p:nvPr/>
        </p:nvSpPr>
        <p:spPr>
          <a:xfrm>
            <a:off x="3838575" y="4599586"/>
            <a:ext cx="1708246" cy="179984"/>
          </a:xfrm>
          <a:prstGeom prst="rect">
            <a:avLst/>
          </a:prstGeom>
          <a:noFill/>
        </p:spPr>
        <p:txBody>
          <a:bodyPr wrap="none" lIns="0" rIns="0" tIns="0" bIns="0">
            <a:spAutoFit/>
          </a:bodyPr>
          <a:lstStyle/>
          <a:p>
            <a:r>
              <a:rPr sz="1055" b="0">
                <a:solidFill>
                  <a:srgbClr val="2E2E2E"/>
                </a:solidFill>
                <a:latin typeface="Calibri"/>
              </a:rPr>
              <a:t>● Fabricated Foam Packaging:</a:t>
            </a:r>
          </a:p>
        </p:txBody>
      </p:sp>
      <p:pic>
        <p:nvPicPr>
          <p:cNvPr id="125" name="Picture 124" descr="lock.png"/>
          <p:cNvPicPr>
            <a:picLocks noChangeAspect="1"/>
          </p:cNvPicPr>
          <p:nvPr/>
        </p:nvPicPr>
        <p:blipFill>
          <a:blip r:embed="rId22"/>
          <a:stretch>
            <a:fillRect/>
          </a:stretch>
        </p:blipFill>
        <p:spPr>
          <a:xfrm>
            <a:off x="5493903" y="4590198"/>
            <a:ext cx="123551" cy="179710"/>
          </a:xfrm>
          <a:prstGeom prst="rect">
            <a:avLst/>
          </a:prstGeom>
        </p:spPr>
      </p:pic>
      <p:sp>
        <p:nvSpPr>
          <p:cNvPr id="126" name="TextBox 125"/>
          <p:cNvSpPr txBox="1"/>
          <p:nvPr/>
        </p:nvSpPr>
        <p:spPr>
          <a:xfrm>
            <a:off x="5654699" y="4599586"/>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6479771" y="4590198"/>
            <a:ext cx="123551" cy="179710"/>
          </a:xfrm>
          <a:prstGeom prst="rect">
            <a:avLst/>
          </a:prstGeom>
        </p:spPr>
      </p:pic>
      <p:sp>
        <p:nvSpPr>
          <p:cNvPr id="128" name="TextBox 127"/>
          <p:cNvSpPr txBox="1"/>
          <p:nvPr/>
        </p:nvSpPr>
        <p:spPr>
          <a:xfrm>
            <a:off x="6640567" y="4599586"/>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29" name="TextBox 128"/>
          <p:cNvSpPr txBox="1"/>
          <p:nvPr/>
        </p:nvSpPr>
        <p:spPr>
          <a:xfrm>
            <a:off x="3838575" y="4808800"/>
            <a:ext cx="1742617" cy="179984"/>
          </a:xfrm>
          <a:prstGeom prst="rect">
            <a:avLst/>
          </a:prstGeom>
          <a:noFill/>
        </p:spPr>
        <p:txBody>
          <a:bodyPr wrap="none" lIns="0" rIns="0" tIns="0" bIns="0">
            <a:spAutoFit/>
          </a:bodyPr>
          <a:lstStyle/>
          <a:p>
            <a:r>
              <a:rPr sz="1055" b="0">
                <a:solidFill>
                  <a:srgbClr val="2E2E2E"/>
                </a:solidFill>
                <a:latin typeface="Calibri"/>
              </a:rPr>
              <a:t>● Foam Sheets, Rolls &amp; Planks:</a:t>
            </a:r>
          </a:p>
        </p:txBody>
      </p:sp>
      <p:pic>
        <p:nvPicPr>
          <p:cNvPr id="130" name="Picture 129" descr="lock.png"/>
          <p:cNvPicPr>
            <a:picLocks noChangeAspect="1"/>
          </p:cNvPicPr>
          <p:nvPr/>
        </p:nvPicPr>
        <p:blipFill>
          <a:blip r:embed="rId22"/>
          <a:stretch>
            <a:fillRect/>
          </a:stretch>
        </p:blipFill>
        <p:spPr>
          <a:xfrm>
            <a:off x="5528274" y="4799413"/>
            <a:ext cx="123551" cy="179710"/>
          </a:xfrm>
          <a:prstGeom prst="rect">
            <a:avLst/>
          </a:prstGeom>
        </p:spPr>
      </p:pic>
      <p:sp>
        <p:nvSpPr>
          <p:cNvPr id="131" name="TextBox 130"/>
          <p:cNvSpPr txBox="1"/>
          <p:nvPr/>
        </p:nvSpPr>
        <p:spPr>
          <a:xfrm>
            <a:off x="5689070" y="4808800"/>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514142" y="4799413"/>
            <a:ext cx="123551" cy="179710"/>
          </a:xfrm>
          <a:prstGeom prst="rect">
            <a:avLst/>
          </a:prstGeom>
        </p:spPr>
      </p:pic>
      <p:sp>
        <p:nvSpPr>
          <p:cNvPr id="133" name="TextBox 132"/>
          <p:cNvSpPr txBox="1"/>
          <p:nvPr/>
        </p:nvSpPr>
        <p:spPr>
          <a:xfrm>
            <a:off x="6674938" y="4808800"/>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34" name="TextBox 133"/>
          <p:cNvSpPr txBox="1"/>
          <p:nvPr/>
        </p:nvSpPr>
        <p:spPr>
          <a:xfrm>
            <a:off x="3838575" y="4969735"/>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35" name="TextBox 134"/>
          <p:cNvSpPr txBox="1"/>
          <p:nvPr/>
        </p:nvSpPr>
        <p:spPr>
          <a:xfrm>
            <a:off x="3838575" y="5178949"/>
            <a:ext cx="1572358" cy="179984"/>
          </a:xfrm>
          <a:prstGeom prst="rect">
            <a:avLst/>
          </a:prstGeom>
          <a:noFill/>
        </p:spPr>
        <p:txBody>
          <a:bodyPr wrap="none" lIns="0" rIns="0" tIns="0" bIns="0">
            <a:spAutoFit/>
          </a:bodyPr>
          <a:lstStyle/>
          <a:p>
            <a:r>
              <a:rPr sz="1055" b="0">
                <a:solidFill>
                  <a:srgbClr val="2E2E2E"/>
                </a:solidFill>
                <a:latin typeface="Calibri"/>
              </a:rPr>
              <a:t>● Foam-in-Place Packaging:</a:t>
            </a:r>
          </a:p>
        </p:txBody>
      </p:sp>
      <p:pic>
        <p:nvPicPr>
          <p:cNvPr id="136" name="Picture 135" descr="lock.png"/>
          <p:cNvPicPr>
            <a:picLocks noChangeAspect="1"/>
          </p:cNvPicPr>
          <p:nvPr/>
        </p:nvPicPr>
        <p:blipFill>
          <a:blip r:embed="rId22"/>
          <a:stretch>
            <a:fillRect/>
          </a:stretch>
        </p:blipFill>
        <p:spPr>
          <a:xfrm>
            <a:off x="5358014" y="5169562"/>
            <a:ext cx="123551" cy="179710"/>
          </a:xfrm>
          <a:prstGeom prst="rect">
            <a:avLst/>
          </a:prstGeom>
        </p:spPr>
      </p:pic>
      <p:sp>
        <p:nvSpPr>
          <p:cNvPr id="137" name="TextBox 136"/>
          <p:cNvSpPr txBox="1"/>
          <p:nvPr/>
        </p:nvSpPr>
        <p:spPr>
          <a:xfrm>
            <a:off x="5518810" y="5178949"/>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8" name="Picture 137" descr="lock.png"/>
          <p:cNvPicPr>
            <a:picLocks noChangeAspect="1"/>
          </p:cNvPicPr>
          <p:nvPr/>
        </p:nvPicPr>
        <p:blipFill>
          <a:blip r:embed="rId22"/>
          <a:stretch>
            <a:fillRect/>
          </a:stretch>
        </p:blipFill>
        <p:spPr>
          <a:xfrm>
            <a:off x="6343883" y="5169562"/>
            <a:ext cx="123551" cy="179710"/>
          </a:xfrm>
          <a:prstGeom prst="rect">
            <a:avLst/>
          </a:prstGeom>
        </p:spPr>
      </p:pic>
      <p:sp>
        <p:nvSpPr>
          <p:cNvPr id="139" name="TextBox 138"/>
          <p:cNvSpPr txBox="1"/>
          <p:nvPr/>
        </p:nvSpPr>
        <p:spPr>
          <a:xfrm>
            <a:off x="6504679" y="5178949"/>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0" name="TextBox 139"/>
          <p:cNvSpPr txBox="1"/>
          <p:nvPr/>
        </p:nvSpPr>
        <p:spPr>
          <a:xfrm>
            <a:off x="3838575" y="5388164"/>
            <a:ext cx="1643343" cy="179984"/>
          </a:xfrm>
          <a:prstGeom prst="rect">
            <a:avLst/>
          </a:prstGeom>
          <a:noFill/>
        </p:spPr>
        <p:txBody>
          <a:bodyPr wrap="none" lIns="0" rIns="0" tIns="0" bIns="0">
            <a:spAutoFit/>
          </a:bodyPr>
          <a:lstStyle/>
          <a:p>
            <a:r>
              <a:rPr sz="1055" b="0">
                <a:solidFill>
                  <a:srgbClr val="2E2E2E"/>
                </a:solidFill>
                <a:latin typeface="Calibri"/>
              </a:rPr>
              <a:t>● Foam Loose-Fill Packaging:</a:t>
            </a:r>
          </a:p>
        </p:txBody>
      </p:sp>
      <p:pic>
        <p:nvPicPr>
          <p:cNvPr id="141" name="Picture 140" descr="lock.png"/>
          <p:cNvPicPr>
            <a:picLocks noChangeAspect="1"/>
          </p:cNvPicPr>
          <p:nvPr/>
        </p:nvPicPr>
        <p:blipFill>
          <a:blip r:embed="rId22"/>
          <a:stretch>
            <a:fillRect/>
          </a:stretch>
        </p:blipFill>
        <p:spPr>
          <a:xfrm>
            <a:off x="5428999" y="5378776"/>
            <a:ext cx="123551" cy="179710"/>
          </a:xfrm>
          <a:prstGeom prst="rect">
            <a:avLst/>
          </a:prstGeom>
        </p:spPr>
      </p:pic>
      <p:sp>
        <p:nvSpPr>
          <p:cNvPr id="142" name="TextBox 141"/>
          <p:cNvSpPr txBox="1"/>
          <p:nvPr/>
        </p:nvSpPr>
        <p:spPr>
          <a:xfrm>
            <a:off x="5589795" y="5388164"/>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3" name="Picture 142" descr="lock.png"/>
          <p:cNvPicPr>
            <a:picLocks noChangeAspect="1"/>
          </p:cNvPicPr>
          <p:nvPr/>
        </p:nvPicPr>
        <p:blipFill>
          <a:blip r:embed="rId22"/>
          <a:stretch>
            <a:fillRect/>
          </a:stretch>
        </p:blipFill>
        <p:spPr>
          <a:xfrm>
            <a:off x="6414868" y="5378776"/>
            <a:ext cx="123551" cy="179710"/>
          </a:xfrm>
          <a:prstGeom prst="rect">
            <a:avLst/>
          </a:prstGeom>
        </p:spPr>
      </p:pic>
      <p:sp>
        <p:nvSpPr>
          <p:cNvPr id="144" name="TextBox 143"/>
          <p:cNvSpPr txBox="1"/>
          <p:nvPr/>
        </p:nvSpPr>
        <p:spPr>
          <a:xfrm>
            <a:off x="6575664" y="5388164"/>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5" name="TextBox 144"/>
          <p:cNvSpPr txBox="1"/>
          <p:nvPr/>
        </p:nvSpPr>
        <p:spPr>
          <a:xfrm>
            <a:off x="3838575" y="5597379"/>
            <a:ext cx="1555070" cy="179984"/>
          </a:xfrm>
          <a:prstGeom prst="rect">
            <a:avLst/>
          </a:prstGeom>
          <a:noFill/>
        </p:spPr>
        <p:txBody>
          <a:bodyPr wrap="none" lIns="0" rIns="0" tIns="0" bIns="0">
            <a:spAutoFit/>
          </a:bodyPr>
          <a:lstStyle/>
          <a:p>
            <a:r>
              <a:rPr sz="1055" b="0">
                <a:solidFill>
                  <a:srgbClr val="2E2E2E"/>
                </a:solidFill>
                <a:latin typeface="Calibri"/>
              </a:rPr>
              <a:t>● Molded Foam Packaging:</a:t>
            </a:r>
          </a:p>
        </p:txBody>
      </p:sp>
      <p:pic>
        <p:nvPicPr>
          <p:cNvPr id="146" name="Picture 145" descr="lock.png"/>
          <p:cNvPicPr>
            <a:picLocks noChangeAspect="1"/>
          </p:cNvPicPr>
          <p:nvPr/>
        </p:nvPicPr>
        <p:blipFill>
          <a:blip r:embed="rId22"/>
          <a:stretch>
            <a:fillRect/>
          </a:stretch>
        </p:blipFill>
        <p:spPr>
          <a:xfrm>
            <a:off x="5340727" y="5587991"/>
            <a:ext cx="123551" cy="179710"/>
          </a:xfrm>
          <a:prstGeom prst="rect">
            <a:avLst/>
          </a:prstGeom>
        </p:spPr>
      </p:pic>
      <p:sp>
        <p:nvSpPr>
          <p:cNvPr id="147" name="TextBox 146"/>
          <p:cNvSpPr txBox="1"/>
          <p:nvPr/>
        </p:nvSpPr>
        <p:spPr>
          <a:xfrm>
            <a:off x="5501522" y="5597379"/>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8" name="Picture 147" descr="lock.png"/>
          <p:cNvPicPr>
            <a:picLocks noChangeAspect="1"/>
          </p:cNvPicPr>
          <p:nvPr/>
        </p:nvPicPr>
        <p:blipFill>
          <a:blip r:embed="rId22"/>
          <a:stretch>
            <a:fillRect/>
          </a:stretch>
        </p:blipFill>
        <p:spPr>
          <a:xfrm>
            <a:off x="6326595" y="5587991"/>
            <a:ext cx="123551" cy="179710"/>
          </a:xfrm>
          <a:prstGeom prst="rect">
            <a:avLst/>
          </a:prstGeom>
        </p:spPr>
      </p:pic>
      <p:sp>
        <p:nvSpPr>
          <p:cNvPr id="149" name="TextBox 148"/>
          <p:cNvSpPr txBox="1"/>
          <p:nvPr/>
        </p:nvSpPr>
        <p:spPr>
          <a:xfrm>
            <a:off x="6487391" y="5597379"/>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50" name="TextBox 149"/>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Form segment is projected to grow at a</a:t>
            </a:r>
          </a:p>
        </p:txBody>
      </p:sp>
      <p:sp>
        <p:nvSpPr>
          <p:cNvPr id="151" name="TextBox 150"/>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2" name="Picture 151" descr="lock.png"/>
          <p:cNvPicPr>
            <a:picLocks noChangeAspect="1"/>
          </p:cNvPicPr>
          <p:nvPr/>
        </p:nvPicPr>
        <p:blipFill>
          <a:blip r:embed="rId22"/>
          <a:stretch>
            <a:fillRect/>
          </a:stretch>
        </p:blipFill>
        <p:spPr>
          <a:xfrm>
            <a:off x="9048826" y="6007677"/>
            <a:ext cx="134549" cy="195707"/>
          </a:xfrm>
          <a:prstGeom prst="rect">
            <a:avLst/>
          </a:prstGeom>
        </p:spPr>
      </p:pic>
      <p:sp>
        <p:nvSpPr>
          <p:cNvPr id="153" name="TextBox 152"/>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Product Form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Product Form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Form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67313" cy="186689"/>
          </a:xfrm>
          <a:prstGeom prst="rect">
            <a:avLst/>
          </a:prstGeom>
          <a:noFill/>
        </p:spPr>
        <p:txBody>
          <a:bodyPr wrap="none" lIns="0" rIns="0" tIns="0" bIns="0">
            <a:spAutoFit/>
          </a:bodyPr>
          <a:lstStyle/>
          <a:p>
            <a:r>
              <a:rPr sz="1100" b="0">
                <a:solidFill>
                  <a:srgbClr val="2E2E2E"/>
                </a:solidFill>
                <a:latin typeface="Calibri"/>
              </a:rPr>
              <a:t>Foam pouches, bags &amp; sleeves followed by fabricated foam packaging are expected to be the two most attractive product form segments in the global foam protective packaging market in terms of value</a:t>
            </a:r>
          </a:p>
        </p:txBody>
      </p:sp>
      <p:sp>
        <p:nvSpPr>
          <p:cNvPr id="18" name="TextBox 17"/>
          <p:cNvSpPr txBox="1"/>
          <p:nvPr/>
        </p:nvSpPr>
        <p:spPr>
          <a:xfrm>
            <a:off x="257175" y="5861685"/>
            <a:ext cx="6379842" cy="186689"/>
          </a:xfrm>
          <a:prstGeom prst="rect">
            <a:avLst/>
          </a:prstGeom>
          <a:noFill/>
        </p:spPr>
        <p:txBody>
          <a:bodyPr wrap="none" lIns="0" rIns="0" tIns="0" bIns="0">
            <a:spAutoFit/>
          </a:bodyPr>
          <a:lstStyle/>
          <a:p>
            <a:r>
              <a:rPr sz="1100" b="0">
                <a:solidFill>
                  <a:srgbClr val="2E2E2E"/>
                </a:solidFill>
                <a:latin typeface="Calibri"/>
              </a:rPr>
              <a:t>over the forecast period. Foam pouches, bags &amp; sleeves and fabricated foam packaging exhibit a CAGR index of</a:t>
            </a:r>
          </a:p>
        </p:txBody>
      </p:sp>
      <p:pic>
        <p:nvPicPr>
          <p:cNvPr id="19" name="Picture 18" descr="lock.png"/>
          <p:cNvPicPr>
            <a:picLocks noChangeAspect="1"/>
          </p:cNvPicPr>
          <p:nvPr/>
        </p:nvPicPr>
        <p:blipFill>
          <a:blip r:embed="rId6"/>
          <a:stretch>
            <a:fillRect/>
          </a:stretch>
        </p:blipFill>
        <p:spPr>
          <a:xfrm>
            <a:off x="6585069" y="5851905"/>
            <a:ext cx="128699" cy="187198"/>
          </a:xfrm>
          <a:prstGeom prst="rect">
            <a:avLst/>
          </a:prstGeom>
        </p:spPr>
      </p:pic>
      <p:sp>
        <p:nvSpPr>
          <p:cNvPr id="20" name="TextBox 19"/>
          <p:cNvSpPr txBox="1"/>
          <p:nvPr/>
        </p:nvSpPr>
        <p:spPr>
          <a:xfrm>
            <a:off x="675256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6990459" y="5851905"/>
            <a:ext cx="128699" cy="187198"/>
          </a:xfrm>
          <a:prstGeom prst="rect">
            <a:avLst/>
          </a:prstGeom>
        </p:spPr>
      </p:pic>
      <p:sp>
        <p:nvSpPr>
          <p:cNvPr id="22" name="TextBox 21"/>
          <p:cNvSpPr txBox="1"/>
          <p:nvPr/>
        </p:nvSpPr>
        <p:spPr>
          <a:xfrm>
            <a:off x="715795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8766928" y="5851905"/>
            <a:ext cx="128699" cy="187198"/>
          </a:xfrm>
          <a:prstGeom prst="rect">
            <a:avLst/>
          </a:prstGeom>
        </p:spPr>
      </p:pic>
      <p:sp>
        <p:nvSpPr>
          <p:cNvPr id="24" name="TextBox 23"/>
          <p:cNvSpPr txBox="1"/>
          <p:nvPr/>
        </p:nvSpPr>
        <p:spPr>
          <a:xfrm>
            <a:off x="893442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9172319" y="5851905"/>
            <a:ext cx="128699" cy="187198"/>
          </a:xfrm>
          <a:prstGeom prst="rect">
            <a:avLst/>
          </a:prstGeom>
        </p:spPr>
      </p:pic>
      <p:sp>
        <p:nvSpPr>
          <p:cNvPr id="26" name="TextBox 25"/>
          <p:cNvSpPr txBox="1"/>
          <p:nvPr/>
        </p:nvSpPr>
        <p:spPr>
          <a:xfrm>
            <a:off x="9339814" y="586168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7" name="TextBox 26"/>
          <p:cNvSpPr txBox="1"/>
          <p:nvPr/>
        </p:nvSpPr>
        <p:spPr>
          <a:xfrm>
            <a:off x="257175" y="602932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28" name="Picture 27" descr="lock.png"/>
          <p:cNvPicPr>
            <a:picLocks noChangeAspect="1"/>
          </p:cNvPicPr>
          <p:nvPr/>
        </p:nvPicPr>
        <p:blipFill>
          <a:blip r:embed="rId6"/>
          <a:stretch>
            <a:fillRect/>
          </a:stretch>
        </p:blipFill>
        <p:spPr>
          <a:xfrm>
            <a:off x="879790" y="6019545"/>
            <a:ext cx="128699" cy="187198"/>
          </a:xfrm>
          <a:prstGeom prst="rect">
            <a:avLst/>
          </a:prstGeom>
        </p:spPr>
      </p:pic>
      <p:sp>
        <p:nvSpPr>
          <p:cNvPr id="29" name="TextBox 28"/>
          <p:cNvSpPr txBox="1"/>
          <p:nvPr/>
        </p:nvSpPr>
        <p:spPr>
          <a:xfrm>
            <a:off x="1047285" y="6029325"/>
            <a:ext cx="10471008" cy="186689"/>
          </a:xfrm>
          <a:prstGeom prst="rect">
            <a:avLst/>
          </a:prstGeom>
          <a:noFill/>
        </p:spPr>
        <p:txBody>
          <a:bodyPr wrap="none" lIns="0" rIns="0" tIns="0" bIns="0">
            <a:spAutoFit/>
          </a:bodyPr>
          <a:lstStyle/>
          <a:p>
            <a:r>
              <a:rPr sz="1100" b="0">
                <a:solidFill>
                  <a:srgbClr val="2E2E2E"/>
                </a:solidFill>
                <a:latin typeface="Calibri"/>
              </a:rPr>
              <a:t>. The molded foam packaging segment is expected to be less attractive as compared to other segments over the forecast period, owing to its lower CAGR and incremental opportunity.</a:t>
            </a:r>
          </a:p>
        </p:txBody>
      </p:sp>
      <p:sp>
        <p:nvSpPr>
          <p:cNvPr id="30" name="TextBox 29"/>
          <p:cNvSpPr txBox="1"/>
          <p:nvPr/>
        </p:nvSpPr>
        <p:spPr>
          <a:xfrm>
            <a:off x="257175" y="6196965"/>
            <a:ext cx="4376869" cy="186689"/>
          </a:xfrm>
          <a:prstGeom prst="rect">
            <a:avLst/>
          </a:prstGeom>
          <a:noFill/>
        </p:spPr>
        <p:txBody>
          <a:bodyPr wrap="none" lIns="0" rIns="0" tIns="0" bIns="0">
            <a:spAutoFit/>
          </a:bodyPr>
          <a:lstStyle/>
          <a:p>
            <a:r>
              <a:rPr sz="1100" b="0">
                <a:solidFill>
                  <a:srgbClr val="2E2E2E"/>
                </a:solidFill>
                <a:latin typeface="Calibri"/>
              </a:rPr>
              <a:t>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Form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Foam Sheets, Rolls &amp; Planks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Fabricated Foam Packaging</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Molded Foam Packaging</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Foam-in-Place Packaging</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Product Form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Foam Pouches, Bags &amp; Sleeves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Foam Loose-Fill Packaging</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Product Form</a:t>
            </a:r>
          </a:p>
        </p:txBody>
      </p:sp>
      <p:sp>
        <p:nvSpPr>
          <p:cNvPr id="15" name="Rectangle 14"/>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400175"/>
            <a:ext cx="5280920" cy="194310"/>
          </a:xfrm>
          <a:prstGeom prst="rect">
            <a:avLst/>
          </a:prstGeom>
          <a:noFill/>
        </p:spPr>
        <p:txBody>
          <a:bodyPr wrap="none" lIns="0" rIns="0" tIns="0" bIns="0">
            <a:spAutoFit/>
          </a:bodyPr>
          <a:lstStyle/>
          <a:p>
            <a:r>
              <a:rPr sz="1150" b="0">
                <a:solidFill>
                  <a:srgbClr val="2E2E2E"/>
                </a:solidFill>
                <a:latin typeface="Calibri"/>
              </a:rPr>
              <a:t>By 2036, foam pouches, bags &amp; sleeves segment is anticipated to witness an increase of</a:t>
            </a:r>
          </a:p>
        </p:txBody>
      </p:sp>
      <p:pic>
        <p:nvPicPr>
          <p:cNvPr id="22" name="Picture 21" descr="lock.png"/>
          <p:cNvPicPr>
            <a:picLocks noChangeAspect="1"/>
          </p:cNvPicPr>
          <p:nvPr/>
        </p:nvPicPr>
        <p:blipFill>
          <a:blip r:embed="rId6"/>
          <a:stretch>
            <a:fillRect/>
          </a:stretch>
        </p:blipFill>
        <p:spPr>
          <a:xfrm>
            <a:off x="11535624" y="1389951"/>
            <a:ext cx="134549" cy="195707"/>
          </a:xfrm>
          <a:prstGeom prst="rect">
            <a:avLst/>
          </a:prstGeom>
        </p:spPr>
      </p:pic>
      <p:sp>
        <p:nvSpPr>
          <p:cNvPr id="23" name="TextBox 22"/>
          <p:cNvSpPr txBox="1"/>
          <p:nvPr/>
        </p:nvSpPr>
        <p:spPr>
          <a:xfrm>
            <a:off x="11710733"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24" name="TextBox 23"/>
          <p:cNvSpPr txBox="1"/>
          <p:nvPr/>
        </p:nvSpPr>
        <p:spPr>
          <a:xfrm>
            <a:off x="6305550" y="1575435"/>
            <a:ext cx="5131754" cy="194310"/>
          </a:xfrm>
          <a:prstGeom prst="rect">
            <a:avLst/>
          </a:prstGeom>
          <a:noFill/>
        </p:spPr>
        <p:txBody>
          <a:bodyPr wrap="none" lIns="0" rIns="0" tIns="0" bIns="0">
            <a:spAutoFit/>
          </a:bodyPr>
          <a:lstStyle/>
          <a:p>
            <a:r>
              <a:rPr sz="1150" b="0">
                <a:solidFill>
                  <a:srgbClr val="2E2E2E"/>
                </a:solidFill>
                <a:latin typeface="Calibri"/>
              </a:rPr>
              <a:t>in terms of value as compared to 2026. The foam pouches, bags &amp; sleeves segment is</a:t>
            </a:r>
          </a:p>
        </p:txBody>
      </p:sp>
      <p:sp>
        <p:nvSpPr>
          <p:cNvPr id="25" name="TextBox 24"/>
          <p:cNvSpPr txBox="1"/>
          <p:nvPr/>
        </p:nvSpPr>
        <p:spPr>
          <a:xfrm>
            <a:off x="6305550" y="1750695"/>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26" name="Picture 25" descr="lock.png"/>
          <p:cNvPicPr>
            <a:picLocks noChangeAspect="1"/>
          </p:cNvPicPr>
          <p:nvPr/>
        </p:nvPicPr>
        <p:blipFill>
          <a:blip r:embed="rId6"/>
          <a:stretch>
            <a:fillRect/>
          </a:stretch>
        </p:blipFill>
        <p:spPr>
          <a:xfrm>
            <a:off x="9540010" y="1740471"/>
            <a:ext cx="134549" cy="195707"/>
          </a:xfrm>
          <a:prstGeom prst="rect">
            <a:avLst/>
          </a:prstGeom>
        </p:spPr>
      </p:pic>
      <p:sp>
        <p:nvSpPr>
          <p:cNvPr id="27" name="TextBox 26"/>
          <p:cNvSpPr txBox="1"/>
          <p:nvPr/>
        </p:nvSpPr>
        <p:spPr>
          <a:xfrm>
            <a:off x="9715119" y="1750695"/>
            <a:ext cx="2136303" cy="194310"/>
          </a:xfrm>
          <a:prstGeom prst="rect">
            <a:avLst/>
          </a:prstGeom>
          <a:noFill/>
        </p:spPr>
        <p:txBody>
          <a:bodyPr wrap="none" lIns="0" rIns="0" tIns="0" bIns="0">
            <a:spAutoFit/>
          </a:bodyPr>
          <a:lstStyle/>
          <a:p>
            <a:r>
              <a:rPr sz="1150" b="0">
                <a:solidFill>
                  <a:srgbClr val="2E2E2E"/>
                </a:solidFill>
                <a:latin typeface="Calibri"/>
              </a:rPr>
              <a:t>Mn for the overall foam protective</a:t>
            </a:r>
          </a:p>
        </p:txBody>
      </p:sp>
      <p:sp>
        <p:nvSpPr>
          <p:cNvPr id="28" name="TextBox 27"/>
          <p:cNvSpPr txBox="1"/>
          <p:nvPr/>
        </p:nvSpPr>
        <p:spPr>
          <a:xfrm>
            <a:off x="6305550" y="1925955"/>
            <a:ext cx="2305744" cy="194310"/>
          </a:xfrm>
          <a:prstGeom prst="rect">
            <a:avLst/>
          </a:prstGeom>
          <a:noFill/>
        </p:spPr>
        <p:txBody>
          <a:bodyPr wrap="none" lIns="0" rIns="0" tIns="0" bIns="0">
            <a:spAutoFit/>
          </a:bodyPr>
          <a:lstStyle/>
          <a:p>
            <a:r>
              <a:rPr sz="1150" b="0">
                <a:solidFill>
                  <a:srgbClr val="2E2E2E"/>
                </a:solidFill>
                <a:latin typeface="Calibri"/>
              </a:rPr>
              <a:t>packaging market from 2026 to 2036.</a:t>
            </a:r>
          </a:p>
        </p:txBody>
      </p:sp>
      <p:sp>
        <p:nvSpPr>
          <p:cNvPr id="29" name="TextBox 28"/>
          <p:cNvSpPr txBox="1"/>
          <p:nvPr/>
        </p:nvSpPr>
        <p:spPr>
          <a:xfrm>
            <a:off x="6305550" y="2153793"/>
            <a:ext cx="5569619" cy="194310"/>
          </a:xfrm>
          <a:prstGeom prst="rect">
            <a:avLst/>
          </a:prstGeom>
          <a:noFill/>
        </p:spPr>
        <p:txBody>
          <a:bodyPr wrap="none" lIns="0" rIns="0" tIns="0" bIns="0">
            <a:spAutoFit/>
          </a:bodyPr>
          <a:lstStyle/>
          <a:p>
            <a:r>
              <a:rPr sz="1150" b="0">
                <a:solidFill>
                  <a:srgbClr val="2E2E2E"/>
                </a:solidFill>
                <a:latin typeface="Calibri"/>
              </a:rPr>
              <a:t>The foam sheets, rolls &amp; planks segment is expected to create an incremental opportunity of</a:t>
            </a:r>
          </a:p>
        </p:txBody>
      </p:sp>
      <p:sp>
        <p:nvSpPr>
          <p:cNvPr id="30" name="TextBox 29"/>
          <p:cNvSpPr txBox="1"/>
          <p:nvPr/>
        </p:nvSpPr>
        <p:spPr>
          <a:xfrm>
            <a:off x="6305550" y="232905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1" name="Picture 30" descr="lock.png"/>
          <p:cNvPicPr>
            <a:picLocks noChangeAspect="1"/>
          </p:cNvPicPr>
          <p:nvPr/>
        </p:nvPicPr>
        <p:blipFill>
          <a:blip r:embed="rId6"/>
          <a:stretch>
            <a:fillRect/>
          </a:stretch>
        </p:blipFill>
        <p:spPr>
          <a:xfrm>
            <a:off x="6565953" y="2318829"/>
            <a:ext cx="134549" cy="195707"/>
          </a:xfrm>
          <a:prstGeom prst="rect">
            <a:avLst/>
          </a:prstGeom>
        </p:spPr>
      </p:pic>
      <p:sp>
        <p:nvSpPr>
          <p:cNvPr id="32" name="TextBox 31"/>
          <p:cNvSpPr txBox="1"/>
          <p:nvPr/>
        </p:nvSpPr>
        <p:spPr>
          <a:xfrm>
            <a:off x="6741062" y="2329053"/>
            <a:ext cx="4652813"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 The</a:t>
            </a:r>
          </a:p>
        </p:txBody>
      </p:sp>
      <p:sp>
        <p:nvSpPr>
          <p:cNvPr id="33" name="TextBox 32"/>
          <p:cNvSpPr txBox="1"/>
          <p:nvPr/>
        </p:nvSpPr>
        <p:spPr>
          <a:xfrm>
            <a:off x="6305550" y="2504313"/>
            <a:ext cx="5562203" cy="194310"/>
          </a:xfrm>
          <a:prstGeom prst="rect">
            <a:avLst/>
          </a:prstGeom>
          <a:noFill/>
        </p:spPr>
        <p:txBody>
          <a:bodyPr wrap="none" lIns="0" rIns="0" tIns="0" bIns="0">
            <a:spAutoFit/>
          </a:bodyPr>
          <a:lstStyle/>
          <a:p>
            <a:r>
              <a:rPr sz="1150" b="0">
                <a:solidFill>
                  <a:srgbClr val="2E2E2E"/>
                </a:solidFill>
                <a:latin typeface="Calibri"/>
              </a:rPr>
              <a:t>fabricated foam packaging segment is expected to create an incremental opportunity of US$</a:t>
            </a:r>
          </a:p>
        </p:txBody>
      </p:sp>
      <p:pic>
        <p:nvPicPr>
          <p:cNvPr id="34" name="Picture 33" descr="lock.png"/>
          <p:cNvPicPr>
            <a:picLocks noChangeAspect="1"/>
          </p:cNvPicPr>
          <p:nvPr/>
        </p:nvPicPr>
        <p:blipFill>
          <a:blip r:embed="rId6"/>
          <a:stretch>
            <a:fillRect/>
          </a:stretch>
        </p:blipFill>
        <p:spPr>
          <a:xfrm>
            <a:off x="6291470" y="2669349"/>
            <a:ext cx="134549" cy="195707"/>
          </a:xfrm>
          <a:prstGeom prst="rect">
            <a:avLst/>
          </a:prstGeom>
        </p:spPr>
      </p:pic>
      <p:sp>
        <p:nvSpPr>
          <p:cNvPr id="35" name="TextBox 34"/>
          <p:cNvSpPr txBox="1"/>
          <p:nvPr/>
        </p:nvSpPr>
        <p:spPr>
          <a:xfrm>
            <a:off x="6466579" y="2679573"/>
            <a:ext cx="4398937"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a:t>
            </a:r>
          </a:p>
        </p:txBody>
      </p:sp>
      <p:sp>
        <p:nvSpPr>
          <p:cNvPr id="36"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Form (US$ Mn)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 2021–2036, highlighting the sub-segments driving growth</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Form (US$ Mn)</a:t>
            </a:r>
          </a:p>
        </p:txBody>
      </p:sp>
      <p:graphicFrame>
        <p:nvGraphicFramePr>
          <p:cNvPr id="9" name="Table 8"/>
          <p:cNvGraphicFramePr>
            <a:graphicFrameLocks noGrp="1"/>
          </p:cNvGraphicFramePr>
          <p:nvPr/>
        </p:nvGraphicFramePr>
        <p:xfrm>
          <a:off x="152400" y="1238250"/>
          <a:ext cx="11887198" cy="3200406"/>
        </p:xfrm>
        <a:graphic>
          <a:graphicData uri="http://schemas.openxmlformats.org/drawingml/2006/table">
            <a:tbl>
              <a:tblPr>
                <a:tableStyleId>{5C22544A-7EE6-4342-B048-85BDC9FD1C3A}</a:tableStyleId>
              </a:tblPr>
              <a:tblGrid>
                <a:gridCol w="2951450"/>
                <a:gridCol w="536757"/>
                <a:gridCol w="536757"/>
                <a:gridCol w="536757"/>
                <a:gridCol w="536757"/>
                <a:gridCol w="536757"/>
                <a:gridCol w="517849"/>
                <a:gridCol w="512447"/>
                <a:gridCol w="512447"/>
                <a:gridCol w="512447"/>
                <a:gridCol w="512447"/>
                <a:gridCol w="512447"/>
                <a:gridCol w="512447"/>
                <a:gridCol w="512447"/>
                <a:gridCol w="512447"/>
                <a:gridCol w="512447"/>
                <a:gridCol w="512447"/>
                <a:gridCol w="609644"/>
              </a:tblGrid>
              <a:tr h="24612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Foam Sheets, Rolls &amp; Planks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Foam Sheets &amp; Rolls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Foam Planks &amp; Blocks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Fabricated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Die-Cut / CNC-Cut Foam Inserts &amp; Pads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Foam Corner &amp; Edge Protectors / Profiles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Foam Dividers &amp; Separators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Molded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Molded Inserts, End Caps &amp; Cradles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Molded Protective Trays &amp; Containers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Foam-in-Place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Direct-Dispensed Foam-in-Place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385033" y="2694815"/>
            <a:ext cx="366712" cy="5334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Product Form (US$ Mn)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 2021–2036, highlighting the sub-segments driving growth</a:t>
            </a:r>
          </a:p>
        </p:txBody>
      </p:sp>
      <p:sp>
        <p:nvSpPr>
          <p:cNvPr id="7" name="Rounded Rectangle 6"/>
          <p:cNvSpPr/>
          <p:nvPr/>
        </p:nvSpPr>
        <p:spPr>
          <a:xfrm>
            <a:off x="142875" y="981075"/>
            <a:ext cx="11906250" cy="2190750"/>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Form (US$ Mn)</a:t>
            </a:r>
          </a:p>
        </p:txBody>
      </p:sp>
      <p:graphicFrame>
        <p:nvGraphicFramePr>
          <p:cNvPr id="9" name="Table 8"/>
          <p:cNvGraphicFramePr>
            <a:graphicFrameLocks noGrp="1"/>
          </p:cNvGraphicFramePr>
          <p:nvPr/>
        </p:nvGraphicFramePr>
        <p:xfrm>
          <a:off x="152400" y="1238250"/>
          <a:ext cx="11887205" cy="1724028"/>
        </p:xfrm>
        <a:graphic>
          <a:graphicData uri="http://schemas.openxmlformats.org/drawingml/2006/table">
            <a:tbl>
              <a:tblPr>
                <a:tableStyleId>{5C22544A-7EE6-4342-B048-85BDC9FD1C3A}</a:tableStyleId>
              </a:tblPr>
              <a:tblGrid>
                <a:gridCol w="2877063"/>
                <a:gridCol w="508342"/>
                <a:gridCol w="508342"/>
                <a:gridCol w="508342"/>
                <a:gridCol w="531365"/>
                <a:gridCol w="531365"/>
                <a:gridCol w="531365"/>
                <a:gridCol w="531365"/>
                <a:gridCol w="531365"/>
                <a:gridCol w="531365"/>
                <a:gridCol w="531365"/>
                <a:gridCol w="531365"/>
                <a:gridCol w="531365"/>
                <a:gridCol w="531365"/>
                <a:gridCol w="531365"/>
                <a:gridCol w="531365"/>
                <a:gridCol w="531365"/>
                <a:gridCol w="577371"/>
              </a:tblGrid>
              <a:tr h="24612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317">
                <a:tc>
                  <a:txBody>
                    <a:bodyPr wrap="none"/>
                    <a:lstStyle/>
                    <a:p>
                      <a:pPr algn="l"/>
                      <a:r>
                        <a:rPr sz="1100" b="1">
                          <a:solidFill>
                            <a:srgbClr val="2E2E2E"/>
                          </a:solidFill>
                          <a:latin typeface="Calibri"/>
                        </a:rPr>
                        <a:t>– Foam-in-Bag / On-Demand Foam Cushions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Foam Pouches, Bags &amp; Sleeves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Pre-Fabricated Foam Pouches &amp; Bags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Pre-Fabricated Foam Sleeves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Foam Loose-Fill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305175"/>
            <a:ext cx="11906250" cy="3324225"/>
          </a:xfrm>
          <a:prstGeom prst="roundRect">
            <a:avLst>
              <a:gd name="adj" fmla="val 22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Product Form</a:t>
            </a:r>
          </a:p>
        </p:txBody>
      </p:sp>
      <p:sp>
        <p:nvSpPr>
          <p:cNvPr id="13" name="Rectangle 12"/>
          <p:cNvSpPr/>
          <p:nvPr/>
        </p:nvSpPr>
        <p:spPr>
          <a:xfrm>
            <a:off x="276225" y="36290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347844" y="1956627"/>
            <a:ext cx="366712" cy="533400"/>
          </a:xfrm>
          <a:prstGeom prst="rect">
            <a:avLst/>
          </a:prstGeom>
        </p:spPr>
      </p:pic>
      <p:sp>
        <p:nvSpPr>
          <p:cNvPr id="18" name="TextBox 17"/>
          <p:cNvSpPr txBox="1"/>
          <p:nvPr/>
        </p:nvSpPr>
        <p:spPr>
          <a:xfrm>
            <a:off x="276225" y="3724275"/>
            <a:ext cx="3803581" cy="194310"/>
          </a:xfrm>
          <a:prstGeom prst="rect">
            <a:avLst/>
          </a:prstGeom>
          <a:noFill/>
        </p:spPr>
        <p:txBody>
          <a:bodyPr wrap="none" lIns="0" rIns="0" tIns="0" bIns="0">
            <a:spAutoFit/>
          </a:bodyPr>
          <a:lstStyle/>
          <a:p>
            <a:r>
              <a:rPr sz="1150" b="0">
                <a:solidFill>
                  <a:srgbClr val="2E2E2E"/>
                </a:solidFill>
                <a:latin typeface="Calibri"/>
              </a:rPr>
              <a:t>Foam pouches, bags &amp; sleeves segment is projected to register</a:t>
            </a:r>
          </a:p>
        </p:txBody>
      </p:sp>
      <p:pic>
        <p:nvPicPr>
          <p:cNvPr id="19" name="Picture 18" descr="lock.png"/>
          <p:cNvPicPr>
            <a:picLocks noChangeAspect="1"/>
          </p:cNvPicPr>
          <p:nvPr/>
        </p:nvPicPr>
        <p:blipFill>
          <a:blip r:embed="rId4"/>
          <a:stretch>
            <a:fillRect/>
          </a:stretch>
        </p:blipFill>
        <p:spPr>
          <a:xfrm>
            <a:off x="4028960" y="3714051"/>
            <a:ext cx="134549" cy="195707"/>
          </a:xfrm>
          <a:prstGeom prst="rect">
            <a:avLst/>
          </a:prstGeom>
        </p:spPr>
      </p:pic>
      <p:sp>
        <p:nvSpPr>
          <p:cNvPr id="20" name="TextBox 19"/>
          <p:cNvSpPr txBox="1"/>
          <p:nvPr/>
        </p:nvSpPr>
        <p:spPr>
          <a:xfrm>
            <a:off x="4204069" y="3724275"/>
            <a:ext cx="7330492" cy="194310"/>
          </a:xfrm>
          <a:prstGeom prst="rect">
            <a:avLst/>
          </a:prstGeom>
          <a:noFill/>
        </p:spPr>
        <p:txBody>
          <a:bodyPr wrap="none" lIns="0" rIns="0" tIns="0" bIns="0">
            <a:spAutoFit/>
          </a:bodyPr>
          <a:lstStyle/>
          <a:p>
            <a:r>
              <a:rPr sz="1150" b="0">
                <a:solidFill>
                  <a:srgbClr val="2E2E2E"/>
                </a:solidFill>
                <a:latin typeface="Calibri"/>
              </a:rPr>
              <a:t>X higher value than fabricated foam packaging segment in 2036. Among foam protective packaging by product form, foam</a:t>
            </a:r>
          </a:p>
        </p:txBody>
      </p:sp>
      <p:sp>
        <p:nvSpPr>
          <p:cNvPr id="21" name="TextBox 20"/>
          <p:cNvSpPr txBox="1"/>
          <p:nvPr/>
        </p:nvSpPr>
        <p:spPr>
          <a:xfrm>
            <a:off x="276225" y="3899535"/>
            <a:ext cx="4628264" cy="194310"/>
          </a:xfrm>
          <a:prstGeom prst="rect">
            <a:avLst/>
          </a:prstGeom>
          <a:noFill/>
        </p:spPr>
        <p:txBody>
          <a:bodyPr wrap="none" lIns="0" rIns="0" tIns="0" bIns="0">
            <a:spAutoFit/>
          </a:bodyPr>
          <a:lstStyle/>
          <a:p>
            <a:r>
              <a:rPr sz="1150" b="0">
                <a:solidFill>
                  <a:srgbClr val="2E2E2E"/>
                </a:solidFill>
                <a:latin typeface="Calibri"/>
              </a:rPr>
              <a:t>pouches, bags &amp; sleeves segment is expected to witness the highest CAGR of</a:t>
            </a:r>
          </a:p>
        </p:txBody>
      </p:sp>
      <p:pic>
        <p:nvPicPr>
          <p:cNvPr id="22" name="Picture 21" descr="lock.png"/>
          <p:cNvPicPr>
            <a:picLocks noChangeAspect="1"/>
          </p:cNvPicPr>
          <p:nvPr/>
        </p:nvPicPr>
        <p:blipFill>
          <a:blip r:embed="rId4"/>
          <a:stretch>
            <a:fillRect/>
          </a:stretch>
        </p:blipFill>
        <p:spPr>
          <a:xfrm>
            <a:off x="4853642" y="3889311"/>
            <a:ext cx="134549" cy="195707"/>
          </a:xfrm>
          <a:prstGeom prst="rect">
            <a:avLst/>
          </a:prstGeom>
        </p:spPr>
      </p:pic>
      <p:sp>
        <p:nvSpPr>
          <p:cNvPr id="23" name="TextBox 22"/>
          <p:cNvSpPr txBox="1"/>
          <p:nvPr/>
        </p:nvSpPr>
        <p:spPr>
          <a:xfrm>
            <a:off x="5028752"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127372"/>
            <a:ext cx="7721004" cy="194310"/>
          </a:xfrm>
          <a:prstGeom prst="rect">
            <a:avLst/>
          </a:prstGeom>
          <a:noFill/>
        </p:spPr>
        <p:txBody>
          <a:bodyPr wrap="none" lIns="0" rIns="0" tIns="0" bIns="0">
            <a:spAutoFit/>
          </a:bodyPr>
          <a:lstStyle/>
          <a:p>
            <a:r>
              <a:rPr sz="1150" b="0">
                <a:solidFill>
                  <a:srgbClr val="2E2E2E"/>
                </a:solidFill>
                <a:latin typeface="Calibri"/>
              </a:rPr>
              <a:t>In terms of value share by product form, the foam pouches, bags &amp; sleeves segment is expected to dominate the market, gaining</a:t>
            </a:r>
          </a:p>
        </p:txBody>
      </p:sp>
      <p:pic>
        <p:nvPicPr>
          <p:cNvPr id="25" name="Picture 24" descr="lock.png"/>
          <p:cNvPicPr>
            <a:picLocks noChangeAspect="1"/>
          </p:cNvPicPr>
          <p:nvPr/>
        </p:nvPicPr>
        <p:blipFill>
          <a:blip r:embed="rId4"/>
          <a:stretch>
            <a:fillRect/>
          </a:stretch>
        </p:blipFill>
        <p:spPr>
          <a:xfrm>
            <a:off x="7946383" y="4117149"/>
            <a:ext cx="134549" cy="195707"/>
          </a:xfrm>
          <a:prstGeom prst="rect">
            <a:avLst/>
          </a:prstGeom>
        </p:spPr>
      </p:pic>
      <p:sp>
        <p:nvSpPr>
          <p:cNvPr id="26" name="TextBox 25"/>
          <p:cNvSpPr txBox="1"/>
          <p:nvPr/>
        </p:nvSpPr>
        <p:spPr>
          <a:xfrm>
            <a:off x="8121492"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516636" y="4117149"/>
            <a:ext cx="134549" cy="195707"/>
          </a:xfrm>
          <a:prstGeom prst="rect">
            <a:avLst/>
          </a:prstGeom>
        </p:spPr>
      </p:pic>
      <p:sp>
        <p:nvSpPr>
          <p:cNvPr id="28" name="TextBox 27"/>
          <p:cNvSpPr txBox="1"/>
          <p:nvPr/>
        </p:nvSpPr>
        <p:spPr>
          <a:xfrm>
            <a:off x="9691745" y="41273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29" name="TextBox 28"/>
          <p:cNvSpPr txBox="1"/>
          <p:nvPr/>
        </p:nvSpPr>
        <p:spPr>
          <a:xfrm>
            <a:off x="276225" y="4302632"/>
            <a:ext cx="3207432" cy="194310"/>
          </a:xfrm>
          <a:prstGeom prst="rect">
            <a:avLst/>
          </a:prstGeom>
          <a:noFill/>
        </p:spPr>
        <p:txBody>
          <a:bodyPr wrap="none" lIns="0" rIns="0" tIns="0" bIns="0">
            <a:spAutoFit/>
          </a:bodyPr>
          <a:lstStyle/>
          <a:p>
            <a:r>
              <a:rPr sz="1150" b="0">
                <a:solidFill>
                  <a:srgbClr val="2E2E2E"/>
                </a:solidFill>
                <a:latin typeface="Calibri"/>
              </a:rPr>
              <a:t>foam-in-place packaging segment is expected to lose</a:t>
            </a:r>
          </a:p>
        </p:txBody>
      </p:sp>
      <p:pic>
        <p:nvPicPr>
          <p:cNvPr id="30" name="Picture 29" descr="lock.png"/>
          <p:cNvPicPr>
            <a:picLocks noChangeAspect="1"/>
          </p:cNvPicPr>
          <p:nvPr/>
        </p:nvPicPr>
        <p:blipFill>
          <a:blip r:embed="rId4"/>
          <a:stretch>
            <a:fillRect/>
          </a:stretch>
        </p:blipFill>
        <p:spPr>
          <a:xfrm>
            <a:off x="3432811" y="4292409"/>
            <a:ext cx="134549" cy="195707"/>
          </a:xfrm>
          <a:prstGeom prst="rect">
            <a:avLst/>
          </a:prstGeom>
        </p:spPr>
      </p:pic>
      <p:sp>
        <p:nvSpPr>
          <p:cNvPr id="31" name="TextBox 30"/>
          <p:cNvSpPr txBox="1"/>
          <p:nvPr/>
        </p:nvSpPr>
        <p:spPr>
          <a:xfrm>
            <a:off x="3607920"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195424" y="4292409"/>
            <a:ext cx="134549" cy="195707"/>
          </a:xfrm>
          <a:prstGeom prst="rect">
            <a:avLst/>
          </a:prstGeom>
        </p:spPr>
      </p:pic>
      <p:sp>
        <p:nvSpPr>
          <p:cNvPr id="33" name="TextBox 32"/>
          <p:cNvSpPr txBox="1"/>
          <p:nvPr/>
        </p:nvSpPr>
        <p:spPr>
          <a:xfrm>
            <a:off x="6370534"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Product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Form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Form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823505"/>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81874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4254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Molded Foam Packaging</a:t>
            </a:r>
          </a:p>
        </p:txBody>
      </p:sp>
      <p:sp>
        <p:nvSpPr>
          <p:cNvPr id="15" name="BPS Value 1"/>
          <p:cNvSpPr txBox="1"/>
          <p:nvPr/>
        </p:nvSpPr>
        <p:spPr>
          <a:xfrm>
            <a:off x="6896100" y="180445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246039"/>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24127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16507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Foam-in-Place Packaging</a:t>
            </a:r>
          </a:p>
        </p:txBody>
      </p:sp>
      <p:sp>
        <p:nvSpPr>
          <p:cNvPr id="19" name="BPS Value 2"/>
          <p:cNvSpPr txBox="1"/>
          <p:nvPr/>
        </p:nvSpPr>
        <p:spPr>
          <a:xfrm>
            <a:off x="6896100" y="222698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281479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8100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7338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Loose-Fill Packaging</a:t>
            </a:r>
          </a:p>
        </p:txBody>
      </p:sp>
      <p:sp>
        <p:nvSpPr>
          <p:cNvPr id="23" name="BPS Value 3"/>
          <p:cNvSpPr txBox="1"/>
          <p:nvPr/>
        </p:nvSpPr>
        <p:spPr>
          <a:xfrm>
            <a:off x="6896100" y="279574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928997" y="3462670"/>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45790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3817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Sheets, Rolls &amp; Planks</a:t>
            </a:r>
          </a:p>
        </p:txBody>
      </p:sp>
      <p:sp>
        <p:nvSpPr>
          <p:cNvPr id="27" name="BPS Value 4"/>
          <p:cNvSpPr txBox="1"/>
          <p:nvPr/>
        </p:nvSpPr>
        <p:spPr>
          <a:xfrm>
            <a:off x="6896100" y="344362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4205234"/>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20047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1242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Fabricated Foam Packaging</a:t>
            </a:r>
          </a:p>
        </p:txBody>
      </p:sp>
      <p:sp>
        <p:nvSpPr>
          <p:cNvPr id="31" name="BPS Value 5"/>
          <p:cNvSpPr txBox="1"/>
          <p:nvPr/>
        </p:nvSpPr>
        <p:spPr>
          <a:xfrm>
            <a:off x="6896100" y="418618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TMR Legend Chip"/>
          <p:cNvSpPr/>
          <p:nvPr/>
        </p:nvSpPr>
        <p:spPr>
          <a:xfrm>
            <a:off x="4928997" y="5421012"/>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4162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3400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Pouches, Bags &amp; Sleeves</a:t>
            </a:r>
          </a:p>
        </p:txBody>
      </p:sp>
      <p:sp>
        <p:nvSpPr>
          <p:cNvPr id="35" name="BPS Value 6"/>
          <p:cNvSpPr txBox="1"/>
          <p:nvPr/>
        </p:nvSpPr>
        <p:spPr>
          <a:xfrm>
            <a:off x="6896100" y="540196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Product Form</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833622"/>
            <a:ext cx="275034" cy="400050"/>
          </a:xfrm>
          <a:prstGeom prst="rect">
            <a:avLst/>
          </a:prstGeom>
        </p:spPr>
      </p:pic>
      <p:sp>
        <p:nvSpPr>
          <p:cNvPr id="43" name="TextBox 42"/>
          <p:cNvSpPr txBox="1"/>
          <p:nvPr/>
        </p:nvSpPr>
        <p:spPr>
          <a:xfrm>
            <a:off x="7829550" y="1400175"/>
            <a:ext cx="4056633" cy="194310"/>
          </a:xfrm>
          <a:prstGeom prst="rect">
            <a:avLst/>
          </a:prstGeom>
          <a:noFill/>
        </p:spPr>
        <p:txBody>
          <a:bodyPr wrap="none" lIns="0" rIns="0" tIns="0" bIns="0">
            <a:spAutoFit/>
          </a:bodyPr>
          <a:lstStyle/>
          <a:p>
            <a:r>
              <a:rPr sz="1150" b="0">
                <a:solidFill>
                  <a:srgbClr val="2E2E2E"/>
                </a:solidFill>
                <a:latin typeface="Calibri"/>
              </a:rPr>
              <a:t>Among foam protective packaging by product form, foam pouches,</a:t>
            </a:r>
          </a:p>
        </p:txBody>
      </p:sp>
      <p:sp>
        <p:nvSpPr>
          <p:cNvPr id="44" name="TextBox 43"/>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bags &amp; sleeves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3620479"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product</a:t>
            </a:r>
          </a:p>
        </p:txBody>
      </p:sp>
      <p:sp>
        <p:nvSpPr>
          <p:cNvPr id="47" name="TextBox 46"/>
          <p:cNvSpPr txBox="1"/>
          <p:nvPr/>
        </p:nvSpPr>
        <p:spPr>
          <a:xfrm>
            <a:off x="7829550" y="1925955"/>
            <a:ext cx="3855243" cy="194310"/>
          </a:xfrm>
          <a:prstGeom prst="rect">
            <a:avLst/>
          </a:prstGeom>
          <a:noFill/>
        </p:spPr>
        <p:txBody>
          <a:bodyPr wrap="none" lIns="0" rIns="0" tIns="0" bIns="0">
            <a:spAutoFit/>
          </a:bodyPr>
          <a:lstStyle/>
          <a:p>
            <a:r>
              <a:rPr sz="1150" b="0">
                <a:solidFill>
                  <a:srgbClr val="2E2E2E"/>
                </a:solidFill>
                <a:latin typeface="Calibri"/>
              </a:rPr>
              <a:t>form, the foam pouches, bags &amp; sleeves segment is expected to</a:t>
            </a:r>
          </a:p>
        </p:txBody>
      </p:sp>
      <p:sp>
        <p:nvSpPr>
          <p:cNvPr id="48" name="TextBox 47"/>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9" name="Picture 48" descr="lock.png"/>
          <p:cNvPicPr>
            <a:picLocks noChangeAspect="1"/>
          </p:cNvPicPr>
          <p:nvPr/>
        </p:nvPicPr>
        <p:blipFill>
          <a:blip r:embed="rId5"/>
          <a:stretch>
            <a:fillRect/>
          </a:stretch>
        </p:blipFill>
        <p:spPr>
          <a:xfrm>
            <a:off x="9615776" y="2090991"/>
            <a:ext cx="134549" cy="195707"/>
          </a:xfrm>
          <a:prstGeom prst="rect">
            <a:avLst/>
          </a:prstGeom>
        </p:spPr>
      </p:pic>
      <p:sp>
        <p:nvSpPr>
          <p:cNvPr id="50" name="TextBox 49"/>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11186028" y="2090991"/>
            <a:ext cx="134549" cy="195707"/>
          </a:xfrm>
          <a:prstGeom prst="rect">
            <a:avLst/>
          </a:prstGeom>
        </p:spPr>
      </p:pic>
      <p:sp>
        <p:nvSpPr>
          <p:cNvPr id="52" name="TextBox 51"/>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504313"/>
            <a:ext cx="3461308" cy="194310"/>
          </a:xfrm>
          <a:prstGeom prst="rect">
            <a:avLst/>
          </a:prstGeom>
          <a:noFill/>
        </p:spPr>
        <p:txBody>
          <a:bodyPr wrap="none" lIns="0" rIns="0" tIns="0" bIns="0">
            <a:spAutoFit/>
          </a:bodyPr>
          <a:lstStyle/>
          <a:p>
            <a:r>
              <a:rPr sz="1150" b="0">
                <a:solidFill>
                  <a:srgbClr val="2E2E2E"/>
                </a:solidFill>
                <a:latin typeface="Calibri"/>
              </a:rPr>
              <a:t>The foam-in-place packaging segment is expected to lose</a:t>
            </a:r>
          </a:p>
        </p:txBody>
      </p:sp>
      <p:pic>
        <p:nvPicPr>
          <p:cNvPr id="54" name="Picture 53" descr="lock.png"/>
          <p:cNvPicPr>
            <a:picLocks noChangeAspect="1"/>
          </p:cNvPicPr>
          <p:nvPr/>
        </p:nvPicPr>
        <p:blipFill>
          <a:blip r:embed="rId5"/>
          <a:stretch>
            <a:fillRect/>
          </a:stretch>
        </p:blipFill>
        <p:spPr>
          <a:xfrm>
            <a:off x="11240012" y="2494089"/>
            <a:ext cx="134549" cy="195707"/>
          </a:xfrm>
          <a:prstGeom prst="rect">
            <a:avLst/>
          </a:prstGeom>
        </p:spPr>
      </p:pic>
      <p:sp>
        <p:nvSpPr>
          <p:cNvPr id="55" name="TextBox 54"/>
          <p:cNvSpPr txBox="1"/>
          <p:nvPr/>
        </p:nvSpPr>
        <p:spPr>
          <a:xfrm>
            <a:off x="11415121" y="250431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6" name="TextBox 55"/>
          <p:cNvSpPr txBox="1"/>
          <p:nvPr/>
        </p:nvSpPr>
        <p:spPr>
          <a:xfrm>
            <a:off x="7829550" y="267957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7" name="Picture 56" descr="lock.png"/>
          <p:cNvPicPr>
            <a:picLocks noChangeAspect="1"/>
          </p:cNvPicPr>
          <p:nvPr/>
        </p:nvPicPr>
        <p:blipFill>
          <a:blip r:embed="rId5"/>
          <a:stretch>
            <a:fillRect/>
          </a:stretch>
        </p:blipFill>
        <p:spPr>
          <a:xfrm>
            <a:off x="10161752" y="2669349"/>
            <a:ext cx="134549" cy="195707"/>
          </a:xfrm>
          <a:prstGeom prst="rect">
            <a:avLst/>
          </a:prstGeom>
        </p:spPr>
      </p:pic>
      <p:sp>
        <p:nvSpPr>
          <p:cNvPr id="58" name="TextBox 57"/>
          <p:cNvSpPr txBox="1"/>
          <p:nvPr/>
        </p:nvSpPr>
        <p:spPr>
          <a:xfrm>
            <a:off x="10336861"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End-use Industry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Industry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Industry Segment Outlook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End-use Industry,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Industry segment categorizes the market by end-use industry.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Consumer Goods &amp; Home Products</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Healthcare &amp; Pharmaceuticals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Machinery &amp; Equipment</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Automotive</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End-use Industry split shows how demand is distributed across end-use industry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2_448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4_432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6_1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2_029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2_772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3_2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1_414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1_958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3_3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1_408_605E5C.png"/>
          <p:cNvPicPr>
            <a:picLocks noChangeAspect="1"/>
          </p:cNvPicPr>
          <p:nvPr/>
        </p:nvPicPr>
        <p:blipFill>
          <a:blip r:embed="rId13"/>
          <a:stretch>
            <a:fillRect/>
          </a:stretch>
        </p:blipFill>
        <p:spPr>
          <a:xfrm>
            <a:off x="10062992" y="2286582"/>
            <a:ext cx="1195728" cy="361950"/>
          </a:xfrm>
          <a:prstGeom prst="rect">
            <a:avLst/>
          </a:prstGeom>
        </p:spPr>
      </p:pic>
      <p:pic>
        <p:nvPicPr>
          <p:cNvPr id="71" name="Picture 70" descr="2_222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4_7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678112" cy="186689"/>
          </a:xfrm>
          <a:prstGeom prst="rect">
            <a:avLst/>
          </a:prstGeom>
          <a:noFill/>
        </p:spPr>
        <p:txBody>
          <a:bodyPr wrap="none" lIns="0" rIns="0" tIns="0" bIns="0">
            <a:spAutoFit/>
          </a:bodyPr>
          <a:lstStyle/>
          <a:p>
            <a:r>
              <a:rPr sz="1100" b="0">
                <a:solidFill>
                  <a:srgbClr val="2E2E2E"/>
                </a:solidFill>
                <a:latin typeface="Calibri"/>
              </a:rPr>
              <a:t>Among foam protective packaging by end-use</a:t>
            </a:r>
          </a:p>
        </p:txBody>
      </p:sp>
      <p:sp>
        <p:nvSpPr>
          <p:cNvPr id="78" name="TextBox 77"/>
          <p:cNvSpPr txBox="1"/>
          <p:nvPr/>
        </p:nvSpPr>
        <p:spPr>
          <a:xfrm>
            <a:off x="485775" y="4397077"/>
            <a:ext cx="2786161" cy="186689"/>
          </a:xfrm>
          <a:prstGeom prst="rect">
            <a:avLst/>
          </a:prstGeom>
          <a:noFill/>
        </p:spPr>
        <p:txBody>
          <a:bodyPr wrap="none" lIns="0" rIns="0" tIns="0" bIns="0">
            <a:spAutoFit/>
          </a:bodyPr>
          <a:lstStyle/>
          <a:p>
            <a:r>
              <a:rPr sz="1100" b="0">
                <a:solidFill>
                  <a:srgbClr val="2E2E2E"/>
                </a:solidFill>
                <a:latin typeface="Calibri"/>
              </a:rPr>
              <a:t>industry, others segment is expected to witness</a:t>
            </a:r>
          </a:p>
        </p:txBody>
      </p:sp>
      <p:sp>
        <p:nvSpPr>
          <p:cNvPr id="79" name="TextBox 78"/>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80" name="Picture 79" descr="lock.png"/>
          <p:cNvPicPr>
            <a:picLocks noChangeAspect="1"/>
          </p:cNvPicPr>
          <p:nvPr/>
        </p:nvPicPr>
        <p:blipFill>
          <a:blip r:embed="rId16"/>
          <a:stretch>
            <a:fillRect/>
          </a:stretch>
        </p:blipFill>
        <p:spPr>
          <a:xfrm>
            <a:off x="1646163" y="4554938"/>
            <a:ext cx="128699" cy="187198"/>
          </a:xfrm>
          <a:prstGeom prst="rect">
            <a:avLst/>
          </a:prstGeom>
        </p:spPr>
      </p:pic>
      <p:sp>
        <p:nvSpPr>
          <p:cNvPr id="81" name="TextBox 80"/>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82" name="TextBox 81"/>
          <p:cNvSpPr txBox="1"/>
          <p:nvPr/>
        </p:nvSpPr>
        <p:spPr>
          <a:xfrm>
            <a:off x="485775" y="4732357"/>
            <a:ext cx="2788344" cy="186689"/>
          </a:xfrm>
          <a:prstGeom prst="rect">
            <a:avLst/>
          </a:prstGeom>
          <a:noFill/>
        </p:spPr>
        <p:txBody>
          <a:bodyPr wrap="none" lIns="0" rIns="0" tIns="0" bIns="0">
            <a:spAutoFit/>
          </a:bodyPr>
          <a:lstStyle/>
          <a:p>
            <a:r>
              <a:rPr sz="1100" b="0">
                <a:solidFill>
                  <a:srgbClr val="2E2E2E"/>
                </a:solidFill>
                <a:latin typeface="Calibri"/>
              </a:rPr>
              <a:t>In terms of value share by end-use industry, the</a:t>
            </a:r>
          </a:p>
        </p:txBody>
      </p:sp>
      <p:sp>
        <p:nvSpPr>
          <p:cNvPr id="83" name="TextBox 82"/>
          <p:cNvSpPr txBox="1"/>
          <p:nvPr/>
        </p:nvSpPr>
        <p:spPr>
          <a:xfrm>
            <a:off x="485775" y="4899997"/>
            <a:ext cx="2676475" cy="186689"/>
          </a:xfrm>
          <a:prstGeom prst="rect">
            <a:avLst/>
          </a:prstGeom>
          <a:noFill/>
        </p:spPr>
        <p:txBody>
          <a:bodyPr wrap="none" lIns="0" rIns="0" tIns="0" bIns="0">
            <a:spAutoFit/>
          </a:bodyPr>
          <a:lstStyle/>
          <a:p>
            <a:r>
              <a:rPr sz="1100" b="0">
                <a:solidFill>
                  <a:srgbClr val="2E2E2E"/>
                </a:solidFill>
                <a:latin typeface="Calibri"/>
              </a:rPr>
              <a:t>consumer goods &amp; home products segment is</a:t>
            </a:r>
          </a:p>
        </p:txBody>
      </p:sp>
      <p:sp>
        <p:nvSpPr>
          <p:cNvPr id="84" name="TextBox 83"/>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5" name="Picture 84" descr="lock.png"/>
          <p:cNvPicPr>
            <a:picLocks noChangeAspect="1"/>
          </p:cNvPicPr>
          <p:nvPr/>
        </p:nvPicPr>
        <p:blipFill>
          <a:blip r:embed="rId16"/>
          <a:stretch>
            <a:fillRect/>
          </a:stretch>
        </p:blipFill>
        <p:spPr>
          <a:xfrm>
            <a:off x="2900479" y="5057858"/>
            <a:ext cx="128699" cy="187198"/>
          </a:xfrm>
          <a:prstGeom prst="rect">
            <a:avLst/>
          </a:prstGeom>
        </p:spPr>
      </p:pic>
      <p:sp>
        <p:nvSpPr>
          <p:cNvPr id="86" name="TextBox 85"/>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7" name="TextBox 86"/>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8" name="Picture 87" descr="lock.png"/>
          <p:cNvPicPr>
            <a:picLocks noChangeAspect="1"/>
          </p:cNvPicPr>
          <p:nvPr/>
        </p:nvPicPr>
        <p:blipFill>
          <a:blip r:embed="rId16"/>
          <a:stretch>
            <a:fillRect/>
          </a:stretch>
        </p:blipFill>
        <p:spPr>
          <a:xfrm>
            <a:off x="1576057" y="5225498"/>
            <a:ext cx="128699" cy="187198"/>
          </a:xfrm>
          <a:prstGeom prst="rect">
            <a:avLst/>
          </a:prstGeom>
        </p:spPr>
      </p:pic>
      <p:sp>
        <p:nvSpPr>
          <p:cNvPr id="89" name="TextBox 88"/>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453209"/>
            <a:ext cx="2691755" cy="186689"/>
          </a:xfrm>
          <a:prstGeom prst="rect">
            <a:avLst/>
          </a:prstGeom>
          <a:noFill/>
        </p:spPr>
        <p:txBody>
          <a:bodyPr wrap="none" lIns="0" rIns="0" tIns="0" bIns="0">
            <a:spAutoFit/>
          </a:bodyPr>
          <a:lstStyle/>
          <a:p>
            <a:r>
              <a:rPr sz="1100" b="0">
                <a:solidFill>
                  <a:srgbClr val="2E2E2E"/>
                </a:solidFill>
                <a:latin typeface="Calibri"/>
              </a:rPr>
              <a:t>Consumer goods &amp; home products segment is</a:t>
            </a:r>
          </a:p>
        </p:txBody>
      </p:sp>
      <p:sp>
        <p:nvSpPr>
          <p:cNvPr id="91" name="TextBox 90"/>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92" name="Picture 91" descr="lock.png"/>
          <p:cNvPicPr>
            <a:picLocks noChangeAspect="1"/>
          </p:cNvPicPr>
          <p:nvPr/>
        </p:nvPicPr>
        <p:blipFill>
          <a:blip r:embed="rId16"/>
          <a:stretch>
            <a:fillRect/>
          </a:stretch>
        </p:blipFill>
        <p:spPr>
          <a:xfrm>
            <a:off x="1678376" y="5611070"/>
            <a:ext cx="128699" cy="187198"/>
          </a:xfrm>
          <a:prstGeom prst="rect">
            <a:avLst/>
          </a:prstGeom>
        </p:spPr>
      </p:pic>
      <p:sp>
        <p:nvSpPr>
          <p:cNvPr id="93" name="TextBox 92"/>
          <p:cNvSpPr txBox="1"/>
          <p:nvPr/>
        </p:nvSpPr>
        <p:spPr>
          <a:xfrm>
            <a:off x="1845872" y="562084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94" name="TextBox 93"/>
          <p:cNvSpPr txBox="1"/>
          <p:nvPr/>
        </p:nvSpPr>
        <p:spPr>
          <a:xfrm>
            <a:off x="485775" y="5788489"/>
            <a:ext cx="2787525" cy="186689"/>
          </a:xfrm>
          <a:prstGeom prst="rect">
            <a:avLst/>
          </a:prstGeom>
          <a:noFill/>
        </p:spPr>
        <p:txBody>
          <a:bodyPr wrap="none" lIns="0" rIns="0" tIns="0" bIns="0">
            <a:spAutoFit/>
          </a:bodyPr>
          <a:lstStyle/>
          <a:p>
            <a:r>
              <a:rPr sz="1100" b="0">
                <a:solidFill>
                  <a:srgbClr val="2E2E2E"/>
                </a:solidFill>
                <a:latin typeface="Calibri"/>
              </a:rPr>
              <a:t>healthcare &amp; pharmaceuticals segment in 2036.</a:t>
            </a:r>
          </a:p>
        </p:txBody>
      </p:sp>
      <p:sp>
        <p:nvSpPr>
          <p:cNvPr id="95" name="TextBox 94"/>
          <p:cNvSpPr txBox="1"/>
          <p:nvPr/>
        </p:nvSpPr>
        <p:spPr>
          <a:xfrm>
            <a:off x="3838575" y="4229437"/>
            <a:ext cx="2238548" cy="186689"/>
          </a:xfrm>
          <a:prstGeom prst="rect">
            <a:avLst/>
          </a:prstGeom>
          <a:noFill/>
        </p:spPr>
        <p:txBody>
          <a:bodyPr wrap="none" lIns="0" rIns="0" tIns="0" bIns="0">
            <a:spAutoFit/>
          </a:bodyPr>
          <a:lstStyle/>
          <a:p>
            <a:r>
              <a:rPr sz="1100" b="0">
                <a:solidFill>
                  <a:srgbClr val="2E2E2E"/>
                </a:solidFill>
                <a:latin typeface="Calibri"/>
              </a:rPr>
              <a:t>● Consumer Goods &amp; Home Products:</a:t>
            </a:r>
          </a:p>
        </p:txBody>
      </p:sp>
      <p:pic>
        <p:nvPicPr>
          <p:cNvPr id="96" name="Picture 95" descr="lock.png"/>
          <p:cNvPicPr>
            <a:picLocks noChangeAspect="1"/>
          </p:cNvPicPr>
          <p:nvPr/>
        </p:nvPicPr>
        <p:blipFill>
          <a:blip r:embed="rId16"/>
          <a:stretch>
            <a:fillRect/>
          </a:stretch>
        </p:blipFill>
        <p:spPr>
          <a:xfrm>
            <a:off x="6025175" y="4219658"/>
            <a:ext cx="128699" cy="187198"/>
          </a:xfrm>
          <a:prstGeom prst="rect">
            <a:avLst/>
          </a:prstGeom>
        </p:spPr>
      </p:pic>
      <p:sp>
        <p:nvSpPr>
          <p:cNvPr id="97" name="TextBox 96"/>
          <p:cNvSpPr txBox="1"/>
          <p:nvPr/>
        </p:nvSpPr>
        <p:spPr>
          <a:xfrm>
            <a:off x="619267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6"/>
          <a:stretch>
            <a:fillRect/>
          </a:stretch>
        </p:blipFill>
        <p:spPr>
          <a:xfrm>
            <a:off x="7052121" y="4219658"/>
            <a:ext cx="128699" cy="187198"/>
          </a:xfrm>
          <a:prstGeom prst="rect">
            <a:avLst/>
          </a:prstGeom>
        </p:spPr>
      </p:pic>
      <p:sp>
        <p:nvSpPr>
          <p:cNvPr id="99" name="TextBox 98"/>
          <p:cNvSpPr txBox="1"/>
          <p:nvPr/>
        </p:nvSpPr>
        <p:spPr>
          <a:xfrm>
            <a:off x="7219617"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0" name="TextBox 99"/>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101" name="TextBox 100"/>
          <p:cNvSpPr txBox="1"/>
          <p:nvPr/>
        </p:nvSpPr>
        <p:spPr>
          <a:xfrm>
            <a:off x="3838575" y="4615009"/>
            <a:ext cx="1942504" cy="186689"/>
          </a:xfrm>
          <a:prstGeom prst="rect">
            <a:avLst/>
          </a:prstGeom>
          <a:noFill/>
        </p:spPr>
        <p:txBody>
          <a:bodyPr wrap="none" lIns="0" rIns="0" tIns="0" bIns="0">
            <a:spAutoFit/>
          </a:bodyPr>
          <a:lstStyle/>
          <a:p>
            <a:r>
              <a:rPr sz="1100" b="0">
                <a:solidFill>
                  <a:srgbClr val="2E2E2E"/>
                </a:solidFill>
                <a:latin typeface="Calibri"/>
              </a:rPr>
              <a:t>● Healthcare &amp; Pharmaceuticals:</a:t>
            </a:r>
          </a:p>
        </p:txBody>
      </p:sp>
      <p:pic>
        <p:nvPicPr>
          <p:cNvPr id="102" name="Picture 101" descr="lock.png"/>
          <p:cNvPicPr>
            <a:picLocks noChangeAspect="1"/>
          </p:cNvPicPr>
          <p:nvPr/>
        </p:nvPicPr>
        <p:blipFill>
          <a:blip r:embed="rId16"/>
          <a:stretch>
            <a:fillRect/>
          </a:stretch>
        </p:blipFill>
        <p:spPr>
          <a:xfrm>
            <a:off x="5729131" y="4605230"/>
            <a:ext cx="128699" cy="187198"/>
          </a:xfrm>
          <a:prstGeom prst="rect">
            <a:avLst/>
          </a:prstGeom>
        </p:spPr>
      </p:pic>
      <p:sp>
        <p:nvSpPr>
          <p:cNvPr id="103" name="TextBox 102"/>
          <p:cNvSpPr txBox="1"/>
          <p:nvPr/>
        </p:nvSpPr>
        <p:spPr>
          <a:xfrm>
            <a:off x="589662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6756077" y="4605230"/>
            <a:ext cx="128699" cy="187198"/>
          </a:xfrm>
          <a:prstGeom prst="rect">
            <a:avLst/>
          </a:prstGeom>
        </p:spPr>
      </p:pic>
      <p:sp>
        <p:nvSpPr>
          <p:cNvPr id="105" name="TextBox 104"/>
          <p:cNvSpPr txBox="1"/>
          <p:nvPr/>
        </p:nvSpPr>
        <p:spPr>
          <a:xfrm>
            <a:off x="6923573"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6" name="TextBox 105"/>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07" name="TextBox 106"/>
          <p:cNvSpPr txBox="1"/>
          <p:nvPr/>
        </p:nvSpPr>
        <p:spPr>
          <a:xfrm>
            <a:off x="3838575" y="5000581"/>
            <a:ext cx="2185039" cy="186689"/>
          </a:xfrm>
          <a:prstGeom prst="rect">
            <a:avLst/>
          </a:prstGeom>
          <a:noFill/>
        </p:spPr>
        <p:txBody>
          <a:bodyPr wrap="none" lIns="0" rIns="0" tIns="0" bIns="0">
            <a:spAutoFit/>
          </a:bodyPr>
          <a:lstStyle/>
          <a:p>
            <a:r>
              <a:rPr sz="1100" b="0">
                <a:solidFill>
                  <a:srgbClr val="2E2E2E"/>
                </a:solidFill>
                <a:latin typeface="Calibri"/>
              </a:rPr>
              <a:t>● Industrial Machinery &amp; Equipment:</a:t>
            </a:r>
          </a:p>
        </p:txBody>
      </p:sp>
      <p:pic>
        <p:nvPicPr>
          <p:cNvPr id="108" name="Picture 107" descr="lock.png"/>
          <p:cNvPicPr>
            <a:picLocks noChangeAspect="1"/>
          </p:cNvPicPr>
          <p:nvPr/>
        </p:nvPicPr>
        <p:blipFill>
          <a:blip r:embed="rId16"/>
          <a:stretch>
            <a:fillRect/>
          </a:stretch>
        </p:blipFill>
        <p:spPr>
          <a:xfrm>
            <a:off x="5971666" y="4990801"/>
            <a:ext cx="128699" cy="187198"/>
          </a:xfrm>
          <a:prstGeom prst="rect">
            <a:avLst/>
          </a:prstGeom>
        </p:spPr>
      </p:pic>
      <p:sp>
        <p:nvSpPr>
          <p:cNvPr id="109" name="TextBox 108"/>
          <p:cNvSpPr txBox="1"/>
          <p:nvPr/>
        </p:nvSpPr>
        <p:spPr>
          <a:xfrm>
            <a:off x="6139162"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6"/>
          <a:stretch>
            <a:fillRect/>
          </a:stretch>
        </p:blipFill>
        <p:spPr>
          <a:xfrm>
            <a:off x="6998612" y="4990801"/>
            <a:ext cx="128699" cy="187198"/>
          </a:xfrm>
          <a:prstGeom prst="rect">
            <a:avLst/>
          </a:prstGeom>
        </p:spPr>
      </p:pic>
      <p:sp>
        <p:nvSpPr>
          <p:cNvPr id="111" name="TextBox 110"/>
          <p:cNvSpPr txBox="1"/>
          <p:nvPr/>
        </p:nvSpPr>
        <p:spPr>
          <a:xfrm>
            <a:off x="7166108"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2" name="TextBox 111"/>
          <p:cNvSpPr txBox="1"/>
          <p:nvPr/>
        </p:nvSpPr>
        <p:spPr>
          <a:xfrm>
            <a:off x="3838575" y="5168221"/>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3" name="TextBox 112"/>
          <p:cNvSpPr txBox="1"/>
          <p:nvPr/>
        </p:nvSpPr>
        <p:spPr>
          <a:xfrm>
            <a:off x="3838575" y="5386153"/>
            <a:ext cx="901303" cy="186689"/>
          </a:xfrm>
          <a:prstGeom prst="rect">
            <a:avLst/>
          </a:prstGeom>
          <a:noFill/>
        </p:spPr>
        <p:txBody>
          <a:bodyPr wrap="none" lIns="0" rIns="0" tIns="0" bIns="0">
            <a:spAutoFit/>
          </a:bodyPr>
          <a:lstStyle/>
          <a:p>
            <a:r>
              <a:rPr sz="1100" b="0">
                <a:solidFill>
                  <a:srgbClr val="2E2E2E"/>
                </a:solidFill>
                <a:latin typeface="Calibri"/>
              </a:rPr>
              <a:t>● Automotive:</a:t>
            </a:r>
          </a:p>
        </p:txBody>
      </p:sp>
      <p:pic>
        <p:nvPicPr>
          <p:cNvPr id="114" name="Picture 113" descr="lock.png"/>
          <p:cNvPicPr>
            <a:picLocks noChangeAspect="1"/>
          </p:cNvPicPr>
          <p:nvPr/>
        </p:nvPicPr>
        <p:blipFill>
          <a:blip r:embed="rId16"/>
          <a:stretch>
            <a:fillRect/>
          </a:stretch>
        </p:blipFill>
        <p:spPr>
          <a:xfrm>
            <a:off x="4687929" y="5376373"/>
            <a:ext cx="128699" cy="187198"/>
          </a:xfrm>
          <a:prstGeom prst="rect">
            <a:avLst/>
          </a:prstGeom>
        </p:spPr>
      </p:pic>
      <p:sp>
        <p:nvSpPr>
          <p:cNvPr id="115" name="TextBox 114"/>
          <p:cNvSpPr txBox="1"/>
          <p:nvPr/>
        </p:nvSpPr>
        <p:spPr>
          <a:xfrm>
            <a:off x="4855425"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6"/>
          <a:stretch>
            <a:fillRect/>
          </a:stretch>
        </p:blipFill>
        <p:spPr>
          <a:xfrm>
            <a:off x="5714875" y="5376373"/>
            <a:ext cx="128699" cy="187198"/>
          </a:xfrm>
          <a:prstGeom prst="rect">
            <a:avLst/>
          </a:prstGeom>
        </p:spPr>
      </p:pic>
      <p:sp>
        <p:nvSpPr>
          <p:cNvPr id="117" name="TextBox 116"/>
          <p:cNvSpPr txBox="1"/>
          <p:nvPr/>
        </p:nvSpPr>
        <p:spPr>
          <a:xfrm>
            <a:off x="5882371" y="538615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8524875" y="5842641"/>
            <a:ext cx="3158653" cy="194310"/>
          </a:xfrm>
          <a:prstGeom prst="rect">
            <a:avLst/>
          </a:prstGeom>
          <a:noFill/>
        </p:spPr>
        <p:txBody>
          <a:bodyPr wrap="none" lIns="0" rIns="0" tIns="0" bIns="0">
            <a:spAutoFit/>
          </a:bodyPr>
          <a:lstStyle/>
          <a:p>
            <a:r>
              <a:rPr sz="1150" b="1">
                <a:solidFill>
                  <a:srgbClr val="0B2E4A"/>
                </a:solidFill>
                <a:latin typeface="Calibri"/>
              </a:rPr>
              <a:t>The End-use Industry segment is projected to grow</a:t>
            </a:r>
          </a:p>
        </p:txBody>
      </p:sp>
      <p:sp>
        <p:nvSpPr>
          <p:cNvPr id="119" name="TextBox 118"/>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20" name="Picture 119" descr="lock.png"/>
          <p:cNvPicPr>
            <a:picLocks noChangeAspect="1"/>
          </p:cNvPicPr>
          <p:nvPr/>
        </p:nvPicPr>
        <p:blipFill>
          <a:blip r:embed="rId16"/>
          <a:stretch>
            <a:fillRect/>
          </a:stretch>
        </p:blipFill>
        <p:spPr>
          <a:xfrm>
            <a:off x="9310118" y="6007677"/>
            <a:ext cx="134549" cy="195707"/>
          </a:xfrm>
          <a:prstGeom prst="rect">
            <a:avLst/>
          </a:prstGeom>
        </p:spPr>
      </p:pic>
      <p:sp>
        <p:nvSpPr>
          <p:cNvPr id="121" name="TextBox 120"/>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Industry Segment Outlook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End-use Industry,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Industry segment categorizes the market by end-use industry.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Electronics &amp; Electrical</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2" name="Oval 21"/>
          <p:cNvSpPr/>
          <p:nvPr/>
        </p:nvSpPr>
        <p:spPr>
          <a:xfrm>
            <a:off x="291226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3" name="Rounded Rectangle 22"/>
          <p:cNvSpPr/>
          <p:nvPr/>
        </p:nvSpPr>
        <p:spPr>
          <a:xfrm>
            <a:off x="4395788"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&amp; Beverage</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9" name="Oval 28"/>
          <p:cNvSpPr/>
          <p:nvPr/>
        </p:nvSpPr>
        <p:spPr>
          <a:xfrm>
            <a:off x="5441156"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0" name="Rounded Rectangle 29"/>
          <p:cNvSpPr/>
          <p:nvPr/>
        </p:nvSpPr>
        <p:spPr>
          <a:xfrm>
            <a:off x="6924675"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Others</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6" name="Oval 35"/>
          <p:cNvSpPr/>
          <p:nvPr/>
        </p:nvSpPr>
        <p:spPr>
          <a:xfrm>
            <a:off x="7970044"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37" name="Rounded Rectangle 36"/>
          <p:cNvSpPr/>
          <p:nvPr/>
        </p:nvSpPr>
        <p:spPr>
          <a:xfrm>
            <a:off x="9453562"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Aerospace &amp; Defense</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3" name="Oval 42"/>
          <p:cNvSpPr/>
          <p:nvPr/>
        </p:nvSpPr>
        <p:spPr>
          <a:xfrm>
            <a:off x="10498931"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4" name="Rounded Rectangle 43"/>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457200" y="4146897"/>
            <a:ext cx="112776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p:txBody>
      </p:sp>
      <p:sp>
        <p:nvSpPr>
          <p:cNvPr id="48" name="TextBox 4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9" name="Rectangle 4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1" name="Picture 50" descr="1_242_605E5C.png"/>
          <p:cNvPicPr>
            <a:picLocks noChangeAspect="1"/>
          </p:cNvPicPr>
          <p:nvPr/>
        </p:nvPicPr>
        <p:blipFill>
          <a:blip r:embed="rId4"/>
          <a:stretch>
            <a:fillRect/>
          </a:stretch>
        </p:blipFill>
        <p:spPr>
          <a:xfrm>
            <a:off x="2476330" y="2286582"/>
            <a:ext cx="1195728" cy="361950"/>
          </a:xfrm>
          <a:prstGeom prst="rect">
            <a:avLst/>
          </a:prstGeom>
        </p:spPr>
      </p:pic>
      <p:pic>
        <p:nvPicPr>
          <p:cNvPr id="52" name="Picture 51" descr="2_228_605E5C.png"/>
          <p:cNvPicPr>
            <a:picLocks noChangeAspect="1"/>
          </p:cNvPicPr>
          <p:nvPr/>
        </p:nvPicPr>
        <p:blipFill>
          <a:blip r:embed="rId5"/>
          <a:stretch>
            <a:fillRect/>
          </a:stretch>
        </p:blipFill>
        <p:spPr>
          <a:xfrm>
            <a:off x="2476330" y="2779432"/>
            <a:ext cx="1195728" cy="361950"/>
          </a:xfrm>
          <a:prstGeom prst="rect">
            <a:avLst/>
          </a:prstGeom>
        </p:spPr>
      </p:pic>
      <p:pic>
        <p:nvPicPr>
          <p:cNvPr id="53" name="Picture 52" descr="6_0__605E5C.png"/>
          <p:cNvPicPr>
            <a:picLocks noChangeAspect="1"/>
          </p:cNvPicPr>
          <p:nvPr/>
        </p:nvPicPr>
        <p:blipFill>
          <a:blip r:embed="rId6"/>
          <a:stretch>
            <a:fillRect/>
          </a:stretch>
        </p:blipFill>
        <p:spPr>
          <a:xfrm>
            <a:off x="2582976" y="3272281"/>
            <a:ext cx="982436" cy="361950"/>
          </a:xfrm>
          <a:prstGeom prst="rect">
            <a:avLst/>
          </a:prstGeom>
        </p:spPr>
      </p:pic>
      <p:pic>
        <p:nvPicPr>
          <p:cNvPr id="54" name="Picture 53" descr="1_012_605E5C.png"/>
          <p:cNvPicPr>
            <a:picLocks noChangeAspect="1"/>
          </p:cNvPicPr>
          <p:nvPr/>
        </p:nvPicPr>
        <p:blipFill>
          <a:blip r:embed="rId7"/>
          <a:stretch>
            <a:fillRect/>
          </a:stretch>
        </p:blipFill>
        <p:spPr>
          <a:xfrm>
            <a:off x="5005218" y="2286582"/>
            <a:ext cx="1195728" cy="361950"/>
          </a:xfrm>
          <a:prstGeom prst="rect">
            <a:avLst/>
          </a:prstGeom>
        </p:spPr>
      </p:pic>
      <p:pic>
        <p:nvPicPr>
          <p:cNvPr id="55" name="Picture 54" descr="1_676_605E5C.png"/>
          <p:cNvPicPr>
            <a:picLocks noChangeAspect="1"/>
          </p:cNvPicPr>
          <p:nvPr/>
        </p:nvPicPr>
        <p:blipFill>
          <a:blip r:embed="rId8"/>
          <a:stretch>
            <a:fillRect/>
          </a:stretch>
        </p:blipFill>
        <p:spPr>
          <a:xfrm>
            <a:off x="5005218" y="2779432"/>
            <a:ext cx="1195728" cy="361950"/>
          </a:xfrm>
          <a:prstGeom prst="rect">
            <a:avLst/>
          </a:prstGeom>
        </p:spPr>
      </p:pic>
      <p:pic>
        <p:nvPicPr>
          <p:cNvPr id="56" name="Picture 55" descr="5_2__605E5C.png"/>
          <p:cNvPicPr>
            <a:picLocks noChangeAspect="1"/>
          </p:cNvPicPr>
          <p:nvPr/>
        </p:nvPicPr>
        <p:blipFill>
          <a:blip r:embed="rId9"/>
          <a:stretch>
            <a:fillRect/>
          </a:stretch>
        </p:blipFill>
        <p:spPr>
          <a:xfrm>
            <a:off x="5111864" y="3272281"/>
            <a:ext cx="982436" cy="361950"/>
          </a:xfrm>
          <a:prstGeom prst="rect">
            <a:avLst/>
          </a:prstGeom>
        </p:spPr>
      </p:pic>
      <p:pic>
        <p:nvPicPr>
          <p:cNvPr id="57" name="Picture 56" descr="912_8_605E5C.png"/>
          <p:cNvPicPr>
            <a:picLocks noChangeAspect="1"/>
          </p:cNvPicPr>
          <p:nvPr/>
        </p:nvPicPr>
        <p:blipFill>
          <a:blip r:embed="rId10"/>
          <a:stretch>
            <a:fillRect/>
          </a:stretch>
        </p:blipFill>
        <p:spPr>
          <a:xfrm>
            <a:off x="7534105" y="2286582"/>
            <a:ext cx="1195728" cy="361950"/>
          </a:xfrm>
          <a:prstGeom prst="rect">
            <a:avLst/>
          </a:prstGeom>
        </p:spPr>
      </p:pic>
      <p:pic>
        <p:nvPicPr>
          <p:cNvPr id="58" name="Picture 57" descr="1_719_605E5C.png"/>
          <p:cNvPicPr>
            <a:picLocks noChangeAspect="1"/>
          </p:cNvPicPr>
          <p:nvPr/>
        </p:nvPicPr>
        <p:blipFill>
          <a:blip r:embed="rId11"/>
          <a:stretch>
            <a:fillRect/>
          </a:stretch>
        </p:blipFill>
        <p:spPr>
          <a:xfrm>
            <a:off x="7534105" y="2779432"/>
            <a:ext cx="1195728" cy="361950"/>
          </a:xfrm>
          <a:prstGeom prst="rect">
            <a:avLst/>
          </a:prstGeom>
        </p:spPr>
      </p:pic>
      <p:pic>
        <p:nvPicPr>
          <p:cNvPr id="59" name="Picture 58" descr="6_5__605E5C.png"/>
          <p:cNvPicPr>
            <a:picLocks noChangeAspect="1"/>
          </p:cNvPicPr>
          <p:nvPr/>
        </p:nvPicPr>
        <p:blipFill>
          <a:blip r:embed="rId12"/>
          <a:stretch>
            <a:fillRect/>
          </a:stretch>
        </p:blipFill>
        <p:spPr>
          <a:xfrm>
            <a:off x="7640751" y="3272281"/>
            <a:ext cx="982436" cy="361950"/>
          </a:xfrm>
          <a:prstGeom prst="rect">
            <a:avLst/>
          </a:prstGeom>
        </p:spPr>
      </p:pic>
      <p:pic>
        <p:nvPicPr>
          <p:cNvPr id="60" name="Picture 59" descr="435_6_605E5C.png"/>
          <p:cNvPicPr>
            <a:picLocks noChangeAspect="1"/>
          </p:cNvPicPr>
          <p:nvPr/>
        </p:nvPicPr>
        <p:blipFill>
          <a:blip r:embed="rId13"/>
          <a:stretch>
            <a:fillRect/>
          </a:stretch>
        </p:blipFill>
        <p:spPr>
          <a:xfrm>
            <a:off x="10062992" y="2286582"/>
            <a:ext cx="1195728" cy="361950"/>
          </a:xfrm>
          <a:prstGeom prst="rect">
            <a:avLst/>
          </a:prstGeom>
        </p:spPr>
      </p:pic>
      <p:pic>
        <p:nvPicPr>
          <p:cNvPr id="61" name="Picture 60" descr="672_9_605E5C.png"/>
          <p:cNvPicPr>
            <a:picLocks noChangeAspect="1"/>
          </p:cNvPicPr>
          <p:nvPr/>
        </p:nvPicPr>
        <p:blipFill>
          <a:blip r:embed="rId14"/>
          <a:stretch>
            <a:fillRect/>
          </a:stretch>
        </p:blipFill>
        <p:spPr>
          <a:xfrm>
            <a:off x="10062992" y="2779432"/>
            <a:ext cx="1195728" cy="361950"/>
          </a:xfrm>
          <a:prstGeom prst="rect">
            <a:avLst/>
          </a:prstGeom>
        </p:spPr>
      </p:pic>
      <p:pic>
        <p:nvPicPr>
          <p:cNvPr id="62" name="Picture 61" descr="4_4__605E5C.png"/>
          <p:cNvPicPr>
            <a:picLocks noChangeAspect="1"/>
          </p:cNvPicPr>
          <p:nvPr/>
        </p:nvPicPr>
        <p:blipFill>
          <a:blip r:embed="rId15"/>
          <a:stretch>
            <a:fillRect/>
          </a:stretch>
        </p:blipFill>
        <p:spPr>
          <a:xfrm>
            <a:off x="10169638" y="3272281"/>
            <a:ext cx="982436" cy="361950"/>
          </a:xfrm>
          <a:prstGeom prst="rect">
            <a:avLst/>
          </a:prstGeom>
        </p:spPr>
      </p:pic>
      <p:pic>
        <p:nvPicPr>
          <p:cNvPr id="63" name="Picture 62" descr="lock.png"/>
          <p:cNvPicPr>
            <a:picLocks noChangeAspect="1"/>
          </p:cNvPicPr>
          <p:nvPr/>
        </p:nvPicPr>
        <p:blipFill>
          <a:blip r:embed="rId16"/>
          <a:stretch>
            <a:fillRect/>
          </a:stretch>
        </p:blipFill>
        <p:spPr>
          <a:xfrm>
            <a:off x="2980848" y="2827057"/>
            <a:ext cx="183356" cy="266700"/>
          </a:xfrm>
          <a:prstGeom prst="rect">
            <a:avLst/>
          </a:prstGeom>
        </p:spPr>
      </p:pic>
      <p:pic>
        <p:nvPicPr>
          <p:cNvPr id="64" name="Picture 63" descr="lock.png"/>
          <p:cNvPicPr>
            <a:picLocks noChangeAspect="1"/>
          </p:cNvPicPr>
          <p:nvPr/>
        </p:nvPicPr>
        <p:blipFill>
          <a:blip r:embed="rId16"/>
          <a:stretch>
            <a:fillRect/>
          </a:stretch>
        </p:blipFill>
        <p:spPr>
          <a:xfrm>
            <a:off x="5509737" y="2827057"/>
            <a:ext cx="183356" cy="266700"/>
          </a:xfrm>
          <a:prstGeom prst="rect">
            <a:avLst/>
          </a:prstGeom>
        </p:spPr>
      </p:pic>
      <p:pic>
        <p:nvPicPr>
          <p:cNvPr id="65" name="Picture 64" descr="lock.png"/>
          <p:cNvPicPr>
            <a:picLocks noChangeAspect="1"/>
          </p:cNvPicPr>
          <p:nvPr/>
        </p:nvPicPr>
        <p:blipFill>
          <a:blip r:embed="rId16"/>
          <a:stretch>
            <a:fillRect/>
          </a:stretch>
        </p:blipFill>
        <p:spPr>
          <a:xfrm>
            <a:off x="8038624"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10567511" y="2827057"/>
            <a:ext cx="183356" cy="266700"/>
          </a:xfrm>
          <a:prstGeom prst="rect">
            <a:avLst/>
          </a:prstGeom>
        </p:spPr>
      </p:pic>
      <p:sp>
        <p:nvSpPr>
          <p:cNvPr id="67" name="TextBox 66"/>
          <p:cNvSpPr txBox="1"/>
          <p:nvPr/>
        </p:nvSpPr>
        <p:spPr>
          <a:xfrm>
            <a:off x="485775" y="4229437"/>
            <a:ext cx="1521494" cy="186689"/>
          </a:xfrm>
          <a:prstGeom prst="rect">
            <a:avLst/>
          </a:prstGeom>
          <a:noFill/>
        </p:spPr>
        <p:txBody>
          <a:bodyPr wrap="none" lIns="0" rIns="0" tIns="0" bIns="0">
            <a:spAutoFit/>
          </a:bodyPr>
          <a:lstStyle/>
          <a:p>
            <a:r>
              <a:rPr sz="1100" b="0">
                <a:solidFill>
                  <a:srgbClr val="2E2E2E"/>
                </a:solidFill>
                <a:latin typeface="Calibri"/>
              </a:rPr>
              <a:t>● Electronics &amp; Electrical:</a:t>
            </a:r>
          </a:p>
        </p:txBody>
      </p:sp>
      <p:pic>
        <p:nvPicPr>
          <p:cNvPr id="68" name="Picture 67" descr="lock.png"/>
          <p:cNvPicPr>
            <a:picLocks noChangeAspect="1"/>
          </p:cNvPicPr>
          <p:nvPr/>
        </p:nvPicPr>
        <p:blipFill>
          <a:blip r:embed="rId16"/>
          <a:stretch>
            <a:fillRect/>
          </a:stretch>
        </p:blipFill>
        <p:spPr>
          <a:xfrm>
            <a:off x="1955321" y="4219658"/>
            <a:ext cx="128699" cy="187198"/>
          </a:xfrm>
          <a:prstGeom prst="rect">
            <a:avLst/>
          </a:prstGeom>
        </p:spPr>
      </p:pic>
      <p:sp>
        <p:nvSpPr>
          <p:cNvPr id="69" name="TextBox 68"/>
          <p:cNvSpPr txBox="1"/>
          <p:nvPr/>
        </p:nvSpPr>
        <p:spPr>
          <a:xfrm>
            <a:off x="212281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0" name="Picture 69" descr="lock.png"/>
          <p:cNvPicPr>
            <a:picLocks noChangeAspect="1"/>
          </p:cNvPicPr>
          <p:nvPr/>
        </p:nvPicPr>
        <p:blipFill>
          <a:blip r:embed="rId16"/>
          <a:stretch>
            <a:fillRect/>
          </a:stretch>
        </p:blipFill>
        <p:spPr>
          <a:xfrm>
            <a:off x="2982267" y="4219658"/>
            <a:ext cx="128699" cy="187198"/>
          </a:xfrm>
          <a:prstGeom prst="rect">
            <a:avLst/>
          </a:prstGeom>
        </p:spPr>
      </p:pic>
      <p:sp>
        <p:nvSpPr>
          <p:cNvPr id="71" name="TextBox 70"/>
          <p:cNvSpPr txBox="1"/>
          <p:nvPr/>
        </p:nvSpPr>
        <p:spPr>
          <a:xfrm>
            <a:off x="3149763"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2" name="TextBox 71"/>
          <p:cNvSpPr txBox="1"/>
          <p:nvPr/>
        </p:nvSpPr>
        <p:spPr>
          <a:xfrm>
            <a:off x="485775" y="4447369"/>
            <a:ext cx="1202228" cy="186689"/>
          </a:xfrm>
          <a:prstGeom prst="rect">
            <a:avLst/>
          </a:prstGeom>
          <a:noFill/>
        </p:spPr>
        <p:txBody>
          <a:bodyPr wrap="none" lIns="0" rIns="0" tIns="0" bIns="0">
            <a:spAutoFit/>
          </a:bodyPr>
          <a:lstStyle/>
          <a:p>
            <a:r>
              <a:rPr sz="1100" b="0">
                <a:solidFill>
                  <a:srgbClr val="2E2E2E"/>
                </a:solidFill>
                <a:latin typeface="Calibri"/>
              </a:rPr>
              <a:t>● Food &amp; Beverage:</a:t>
            </a:r>
          </a:p>
        </p:txBody>
      </p:sp>
      <p:pic>
        <p:nvPicPr>
          <p:cNvPr id="73" name="Picture 72" descr="lock.png"/>
          <p:cNvPicPr>
            <a:picLocks noChangeAspect="1"/>
          </p:cNvPicPr>
          <p:nvPr/>
        </p:nvPicPr>
        <p:blipFill>
          <a:blip r:embed="rId16"/>
          <a:stretch>
            <a:fillRect/>
          </a:stretch>
        </p:blipFill>
        <p:spPr>
          <a:xfrm>
            <a:off x="1636055" y="4437590"/>
            <a:ext cx="128699" cy="187198"/>
          </a:xfrm>
          <a:prstGeom prst="rect">
            <a:avLst/>
          </a:prstGeom>
        </p:spPr>
      </p:pic>
      <p:sp>
        <p:nvSpPr>
          <p:cNvPr id="74" name="TextBox 73"/>
          <p:cNvSpPr txBox="1"/>
          <p:nvPr/>
        </p:nvSpPr>
        <p:spPr>
          <a:xfrm>
            <a:off x="180355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16"/>
          <a:stretch>
            <a:fillRect/>
          </a:stretch>
        </p:blipFill>
        <p:spPr>
          <a:xfrm>
            <a:off x="2663001" y="4437590"/>
            <a:ext cx="128699" cy="187198"/>
          </a:xfrm>
          <a:prstGeom prst="rect">
            <a:avLst/>
          </a:prstGeom>
        </p:spPr>
      </p:pic>
      <p:sp>
        <p:nvSpPr>
          <p:cNvPr id="76" name="TextBox 75"/>
          <p:cNvSpPr txBox="1"/>
          <p:nvPr/>
        </p:nvSpPr>
        <p:spPr>
          <a:xfrm>
            <a:off x="2830497"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7" name="TextBox 76"/>
          <p:cNvSpPr txBox="1"/>
          <p:nvPr/>
        </p:nvSpPr>
        <p:spPr>
          <a:xfrm>
            <a:off x="485775" y="4665301"/>
            <a:ext cx="615354" cy="186689"/>
          </a:xfrm>
          <a:prstGeom prst="rect">
            <a:avLst/>
          </a:prstGeom>
          <a:noFill/>
        </p:spPr>
        <p:txBody>
          <a:bodyPr wrap="none" lIns="0" rIns="0" tIns="0" bIns="0">
            <a:spAutoFit/>
          </a:bodyPr>
          <a:lstStyle/>
          <a:p>
            <a:r>
              <a:rPr sz="1100" b="0">
                <a:solidFill>
                  <a:srgbClr val="2E2E2E"/>
                </a:solidFill>
                <a:latin typeface="Calibri"/>
              </a:rPr>
              <a:t>● Others:</a:t>
            </a:r>
          </a:p>
        </p:txBody>
      </p:sp>
      <p:pic>
        <p:nvPicPr>
          <p:cNvPr id="78" name="Picture 77" descr="lock.png"/>
          <p:cNvPicPr>
            <a:picLocks noChangeAspect="1"/>
          </p:cNvPicPr>
          <p:nvPr/>
        </p:nvPicPr>
        <p:blipFill>
          <a:blip r:embed="rId16"/>
          <a:stretch>
            <a:fillRect/>
          </a:stretch>
        </p:blipFill>
        <p:spPr>
          <a:xfrm>
            <a:off x="1049181" y="4655522"/>
            <a:ext cx="128699" cy="187198"/>
          </a:xfrm>
          <a:prstGeom prst="rect">
            <a:avLst/>
          </a:prstGeom>
        </p:spPr>
      </p:pic>
      <p:sp>
        <p:nvSpPr>
          <p:cNvPr id="79" name="TextBox 78"/>
          <p:cNvSpPr txBox="1"/>
          <p:nvPr/>
        </p:nvSpPr>
        <p:spPr>
          <a:xfrm>
            <a:off x="121667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0" name="Picture 79" descr="lock.png"/>
          <p:cNvPicPr>
            <a:picLocks noChangeAspect="1"/>
          </p:cNvPicPr>
          <p:nvPr/>
        </p:nvPicPr>
        <p:blipFill>
          <a:blip r:embed="rId16"/>
          <a:stretch>
            <a:fillRect/>
          </a:stretch>
        </p:blipFill>
        <p:spPr>
          <a:xfrm>
            <a:off x="2076127" y="4655522"/>
            <a:ext cx="128699" cy="187198"/>
          </a:xfrm>
          <a:prstGeom prst="rect">
            <a:avLst/>
          </a:prstGeom>
        </p:spPr>
      </p:pic>
      <p:sp>
        <p:nvSpPr>
          <p:cNvPr id="81" name="TextBox 80"/>
          <p:cNvSpPr txBox="1"/>
          <p:nvPr/>
        </p:nvSpPr>
        <p:spPr>
          <a:xfrm>
            <a:off x="2243623"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2" name="TextBox 81"/>
          <p:cNvSpPr txBox="1"/>
          <p:nvPr/>
        </p:nvSpPr>
        <p:spPr>
          <a:xfrm>
            <a:off x="485775" y="4883233"/>
            <a:ext cx="1449734" cy="186689"/>
          </a:xfrm>
          <a:prstGeom prst="rect">
            <a:avLst/>
          </a:prstGeom>
          <a:noFill/>
        </p:spPr>
        <p:txBody>
          <a:bodyPr wrap="none" lIns="0" rIns="0" tIns="0" bIns="0">
            <a:spAutoFit/>
          </a:bodyPr>
          <a:lstStyle/>
          <a:p>
            <a:r>
              <a:rPr sz="1100" b="0">
                <a:solidFill>
                  <a:srgbClr val="2E2E2E"/>
                </a:solidFill>
                <a:latin typeface="Calibri"/>
              </a:rPr>
              <a:t>● Aerospace &amp; Defense:</a:t>
            </a:r>
          </a:p>
        </p:txBody>
      </p:sp>
      <p:pic>
        <p:nvPicPr>
          <p:cNvPr id="83" name="Picture 82" descr="lock.png"/>
          <p:cNvPicPr>
            <a:picLocks noChangeAspect="1"/>
          </p:cNvPicPr>
          <p:nvPr/>
        </p:nvPicPr>
        <p:blipFill>
          <a:blip r:embed="rId16"/>
          <a:stretch>
            <a:fillRect/>
          </a:stretch>
        </p:blipFill>
        <p:spPr>
          <a:xfrm>
            <a:off x="1883561" y="4873454"/>
            <a:ext cx="128699" cy="187198"/>
          </a:xfrm>
          <a:prstGeom prst="rect">
            <a:avLst/>
          </a:prstGeom>
        </p:spPr>
      </p:pic>
      <p:sp>
        <p:nvSpPr>
          <p:cNvPr id="84" name="TextBox 83"/>
          <p:cNvSpPr txBox="1"/>
          <p:nvPr/>
        </p:nvSpPr>
        <p:spPr>
          <a:xfrm>
            <a:off x="2051057"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5" name="Picture 84" descr="lock.png"/>
          <p:cNvPicPr>
            <a:picLocks noChangeAspect="1"/>
          </p:cNvPicPr>
          <p:nvPr/>
        </p:nvPicPr>
        <p:blipFill>
          <a:blip r:embed="rId16"/>
          <a:stretch>
            <a:fillRect/>
          </a:stretch>
        </p:blipFill>
        <p:spPr>
          <a:xfrm>
            <a:off x="2910507" y="4873454"/>
            <a:ext cx="128699" cy="187198"/>
          </a:xfrm>
          <a:prstGeom prst="rect">
            <a:avLst/>
          </a:prstGeom>
        </p:spPr>
      </p:pic>
      <p:sp>
        <p:nvSpPr>
          <p:cNvPr id="86" name="TextBox 85"/>
          <p:cNvSpPr txBox="1"/>
          <p:nvPr/>
        </p:nvSpPr>
        <p:spPr>
          <a:xfrm>
            <a:off x="3078003"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End-use Industry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End-use Industry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Industry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End-use Industry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Consumer goods &amp; home products followed by healthcare &amp; pharmaceuticals are expected to be the two most attractive end-use industry segments in the global foam protective packaging market in terms</a:t>
            </a:r>
          </a:p>
        </p:txBody>
      </p:sp>
      <p:sp>
        <p:nvSpPr>
          <p:cNvPr id="18" name="TextBox 17"/>
          <p:cNvSpPr txBox="1"/>
          <p:nvPr/>
        </p:nvSpPr>
        <p:spPr>
          <a:xfrm>
            <a:off x="257175" y="5861685"/>
            <a:ext cx="7310296" cy="186689"/>
          </a:xfrm>
          <a:prstGeom prst="rect">
            <a:avLst/>
          </a:prstGeom>
          <a:noFill/>
        </p:spPr>
        <p:txBody>
          <a:bodyPr wrap="none" lIns="0" rIns="0" tIns="0" bIns="0">
            <a:spAutoFit/>
          </a:bodyPr>
          <a:lstStyle/>
          <a:p>
            <a:r>
              <a:rPr sz="1100" b="0">
                <a:solidFill>
                  <a:srgbClr val="2E2E2E"/>
                </a:solidFill>
                <a:latin typeface="Calibri"/>
              </a:rPr>
              <a:t>of value over the forecast period. Consumer goods &amp; home products and healthcare &amp; pharmaceuticals exhibit a CAGR index of</a:t>
            </a:r>
          </a:p>
        </p:txBody>
      </p:sp>
      <p:pic>
        <p:nvPicPr>
          <p:cNvPr id="19" name="Picture 18" descr="lock.png"/>
          <p:cNvPicPr>
            <a:picLocks noChangeAspect="1"/>
          </p:cNvPicPr>
          <p:nvPr/>
        </p:nvPicPr>
        <p:blipFill>
          <a:blip r:embed="rId6"/>
          <a:stretch>
            <a:fillRect/>
          </a:stretch>
        </p:blipFill>
        <p:spPr>
          <a:xfrm>
            <a:off x="7515523" y="5851905"/>
            <a:ext cx="128699" cy="187198"/>
          </a:xfrm>
          <a:prstGeom prst="rect">
            <a:avLst/>
          </a:prstGeom>
        </p:spPr>
      </p:pic>
      <p:sp>
        <p:nvSpPr>
          <p:cNvPr id="20" name="TextBox 19"/>
          <p:cNvSpPr txBox="1"/>
          <p:nvPr/>
        </p:nvSpPr>
        <p:spPr>
          <a:xfrm>
            <a:off x="768301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7920913" y="5851905"/>
            <a:ext cx="128699" cy="187198"/>
          </a:xfrm>
          <a:prstGeom prst="rect">
            <a:avLst/>
          </a:prstGeom>
        </p:spPr>
      </p:pic>
      <p:sp>
        <p:nvSpPr>
          <p:cNvPr id="22" name="TextBox 21"/>
          <p:cNvSpPr txBox="1"/>
          <p:nvPr/>
        </p:nvSpPr>
        <p:spPr>
          <a:xfrm>
            <a:off x="8088409"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9697382" y="5851905"/>
            <a:ext cx="128699" cy="187198"/>
          </a:xfrm>
          <a:prstGeom prst="rect">
            <a:avLst/>
          </a:prstGeom>
        </p:spPr>
      </p:pic>
      <p:sp>
        <p:nvSpPr>
          <p:cNvPr id="24" name="TextBox 23"/>
          <p:cNvSpPr txBox="1"/>
          <p:nvPr/>
        </p:nvSpPr>
        <p:spPr>
          <a:xfrm>
            <a:off x="986487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102772" y="5851905"/>
            <a:ext cx="128699" cy="187198"/>
          </a:xfrm>
          <a:prstGeom prst="rect">
            <a:avLst/>
          </a:prstGeom>
        </p:spPr>
      </p:pic>
      <p:sp>
        <p:nvSpPr>
          <p:cNvPr id="26" name="TextBox 25"/>
          <p:cNvSpPr txBox="1"/>
          <p:nvPr/>
        </p:nvSpPr>
        <p:spPr>
          <a:xfrm>
            <a:off x="10270268" y="5861685"/>
            <a:ext cx="1231726" cy="186689"/>
          </a:xfrm>
          <a:prstGeom prst="rect">
            <a:avLst/>
          </a:prstGeom>
          <a:noFill/>
        </p:spPr>
        <p:txBody>
          <a:bodyPr wrap="none" lIns="0" rIns="0" tIns="0" bIns="0">
            <a:spAutoFit/>
          </a:bodyPr>
          <a:lstStyle/>
          <a:p>
            <a:r>
              <a:rPr sz="1100" b="0">
                <a:solidFill>
                  <a:srgbClr val="2E2E2E"/>
                </a:solidFill>
                <a:latin typeface="Calibri"/>
              </a:rPr>
              <a:t>respectively, against</a:t>
            </a:r>
          </a:p>
        </p:txBody>
      </p:sp>
      <p:sp>
        <p:nvSpPr>
          <p:cNvPr id="27" name="TextBox 26"/>
          <p:cNvSpPr txBox="1"/>
          <p:nvPr/>
        </p:nvSpPr>
        <p:spPr>
          <a:xfrm>
            <a:off x="257175" y="6029325"/>
            <a:ext cx="1419175" cy="186689"/>
          </a:xfrm>
          <a:prstGeom prst="rect">
            <a:avLst/>
          </a:prstGeom>
          <a:noFill/>
        </p:spPr>
        <p:txBody>
          <a:bodyPr wrap="none" lIns="0" rIns="0" tIns="0" bIns="0">
            <a:spAutoFit/>
          </a:bodyPr>
          <a:lstStyle/>
          <a:p>
            <a:r>
              <a:rPr sz="1100" b="0">
                <a:solidFill>
                  <a:srgbClr val="2E2E2E"/>
                </a:solidFill>
                <a:latin typeface="Calibri"/>
              </a:rPr>
              <a:t>the segment average of</a:t>
            </a:r>
          </a:p>
        </p:txBody>
      </p:sp>
      <p:pic>
        <p:nvPicPr>
          <p:cNvPr id="28" name="Picture 27" descr="lock.png"/>
          <p:cNvPicPr>
            <a:picLocks noChangeAspect="1"/>
          </p:cNvPicPr>
          <p:nvPr/>
        </p:nvPicPr>
        <p:blipFill>
          <a:blip r:embed="rId6"/>
          <a:stretch>
            <a:fillRect/>
          </a:stretch>
        </p:blipFill>
        <p:spPr>
          <a:xfrm>
            <a:off x="1624401" y="6019545"/>
            <a:ext cx="128699" cy="187198"/>
          </a:xfrm>
          <a:prstGeom prst="rect">
            <a:avLst/>
          </a:prstGeom>
        </p:spPr>
      </p:pic>
      <p:sp>
        <p:nvSpPr>
          <p:cNvPr id="29" name="TextBox 28"/>
          <p:cNvSpPr txBox="1"/>
          <p:nvPr/>
        </p:nvSpPr>
        <p:spPr>
          <a:xfrm>
            <a:off x="1791897" y="6029325"/>
            <a:ext cx="9559957" cy="186689"/>
          </a:xfrm>
          <a:prstGeom prst="rect">
            <a:avLst/>
          </a:prstGeom>
          <a:noFill/>
        </p:spPr>
        <p:txBody>
          <a:bodyPr wrap="none" lIns="0" rIns="0" tIns="0" bIns="0">
            <a:spAutoFit/>
          </a:bodyPr>
          <a:lstStyle/>
          <a:p>
            <a:r>
              <a:rPr sz="1100" b="0">
                <a:solidFill>
                  <a:srgbClr val="2E2E2E"/>
                </a:solidFill>
                <a:latin typeface="Calibri"/>
              </a:rPr>
              <a:t>. The aerospace &amp; defense segment is expected to be less attractive as compared to other segments over the forecast period, owing to its lower CAGR and incremental</a:t>
            </a:r>
          </a:p>
        </p:txBody>
      </p:sp>
      <p:sp>
        <p:nvSpPr>
          <p:cNvPr id="30" name="TextBox 29"/>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End-use Industry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Industry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Electronics &amp; Electrical</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Automotive</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Healthcare &amp; Pharmaceuticals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Industrial Machinery &amp; Equipment</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4151" y="2237234"/>
            <a:ext cx="263506" cy="383281"/>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End-use Industry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Industry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Consumer Goods &amp; Home Products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Food &amp; Beverage</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Aerospace &amp; Defense</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Others</a:t>
            </a:r>
          </a:p>
        </p:txBody>
      </p:sp>
      <p:graphicFrame>
        <p:nvGraphicFramePr>
          <p:cNvPr id="18" name="Chart 17"/>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4151" y="2237234"/>
            <a:ext cx="263506" cy="383281"/>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5123309"/>
            <a:ext cx="263506" cy="383281"/>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End-use Industry (US$ Mn)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Industry, 2021–2036, highlighting the sub-segments driving growth</a:t>
            </a:r>
          </a:p>
        </p:txBody>
      </p:sp>
      <p:sp>
        <p:nvSpPr>
          <p:cNvPr id="7" name="Rounded Rectangle 6"/>
          <p:cNvSpPr/>
          <p:nvPr/>
        </p:nvSpPr>
        <p:spPr>
          <a:xfrm>
            <a:off x="142875" y="981075"/>
            <a:ext cx="11906250" cy="5143500"/>
          </a:xfrm>
          <a:prstGeom prst="roundRect">
            <a:avLst>
              <a:gd name="adj" fmla="val 148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End-use Industry (US$ Mn)</a:t>
            </a:r>
          </a:p>
        </p:txBody>
      </p:sp>
      <p:graphicFrame>
        <p:nvGraphicFramePr>
          <p:cNvPr id="9" name="Table 8"/>
          <p:cNvGraphicFramePr>
            <a:graphicFrameLocks noGrp="1"/>
          </p:cNvGraphicFramePr>
          <p:nvPr/>
        </p:nvGraphicFramePr>
        <p:xfrm>
          <a:off x="152400" y="1238250"/>
          <a:ext cx="11887200" cy="4676772"/>
        </p:xfrm>
        <a:graphic>
          <a:graphicData uri="http://schemas.openxmlformats.org/drawingml/2006/table">
            <a:tbl>
              <a:tblPr>
                <a:tableStyleId>{5C22544A-7EE6-4342-B048-85BDC9FD1C3A}</a:tableStyleId>
              </a:tblPr>
              <a:tblGrid>
                <a:gridCol w="3485994"/>
                <a:gridCol w="504648"/>
                <a:gridCol w="504648"/>
                <a:gridCol w="504648"/>
                <a:gridCol w="504648"/>
                <a:gridCol w="504648"/>
                <a:gridCol w="486871"/>
                <a:gridCol w="481792"/>
                <a:gridCol w="481792"/>
                <a:gridCol w="481792"/>
                <a:gridCol w="481792"/>
                <a:gridCol w="481792"/>
                <a:gridCol w="481792"/>
                <a:gridCol w="481792"/>
                <a:gridCol w="481792"/>
                <a:gridCol w="481792"/>
                <a:gridCol w="481792"/>
                <a:gridCol w="573175"/>
              </a:tblGrid>
              <a:tr h="246126">
                <a:tc>
                  <a:txBody>
                    <a:bodyPr wrap="none"/>
                    <a:lstStyle/>
                    <a:p>
                      <a:pPr algn="l"/>
                      <a:r>
                        <a:rPr sz="1100" b="1">
                          <a:solidFill>
                            <a:srgbClr val="0E2A5C"/>
                          </a:solidFill>
                          <a:latin typeface="Calibri"/>
                        </a:rPr>
                        <a:t>End-use Industry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147">
                <a:tc>
                  <a:txBody>
                    <a:bodyPr wrap="none"/>
                    <a:lstStyle/>
                    <a:p>
                      <a:pPr algn="l"/>
                      <a:r>
                        <a:rPr sz="1100" b="1">
                          <a:solidFill>
                            <a:srgbClr val="2E2E2E"/>
                          </a:solidFill>
                          <a:latin typeface="Calibri"/>
                        </a:rPr>
                        <a:t>Electronics &amp; Electrical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Consumer Electronics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Electrical &amp; IT / Telecommunications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Automotive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Automotive Components &amp; Spare Parts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EV Batteries &amp; Sensitive Automotive Components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Healthcare &amp; Pharmaceuticals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Medical Devices &amp; Diagnostic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Pharmaceutical &amp; Biopharmaceutical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Industrial Machinery &amp;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Heavy Machinery &amp; Industrial Components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Precision Instruments &amp; Scientific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Consumer Goods &amp; Home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Home Appliances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Furniture &amp; Home Furnishings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Glassware, Ceramics &amp; Fragile Consumer Goods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Food &amp; Beverage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Temperature-Controlled Food &amp; Beverage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652307" y="3432998"/>
            <a:ext cx="366712" cy="5334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End-use Industry (US$ Mn)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Industry, 2021–2036, highlighting the sub-segments driving growth</a:t>
            </a:r>
          </a:p>
        </p:txBody>
      </p:sp>
      <p:sp>
        <p:nvSpPr>
          <p:cNvPr id="7" name="Rounded Rectangle 6"/>
          <p:cNvSpPr/>
          <p:nvPr/>
        </p:nvSpPr>
        <p:spPr>
          <a:xfrm>
            <a:off x="142875" y="981075"/>
            <a:ext cx="11906250" cy="2190750"/>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End-use Industry (US$ Mn)</a:t>
            </a:r>
          </a:p>
        </p:txBody>
      </p:sp>
      <p:graphicFrame>
        <p:nvGraphicFramePr>
          <p:cNvPr id="9" name="Table 8"/>
          <p:cNvGraphicFramePr>
            <a:graphicFrameLocks noGrp="1"/>
          </p:cNvGraphicFramePr>
          <p:nvPr/>
        </p:nvGraphicFramePr>
        <p:xfrm>
          <a:off x="152400" y="1238250"/>
          <a:ext cx="11887192" cy="1724028"/>
        </p:xfrm>
        <a:graphic>
          <a:graphicData uri="http://schemas.openxmlformats.org/drawingml/2006/table">
            <a:tbl>
              <a:tblPr>
                <a:tableStyleId>{5C22544A-7EE6-4342-B048-85BDC9FD1C3A}</a:tableStyleId>
              </a:tblPr>
              <a:tblGrid>
                <a:gridCol w="2988166"/>
                <a:gridCol w="502073"/>
                <a:gridCol w="502073"/>
                <a:gridCol w="502073"/>
                <a:gridCol w="524812"/>
                <a:gridCol w="524812"/>
                <a:gridCol w="524812"/>
                <a:gridCol w="524812"/>
                <a:gridCol w="524812"/>
                <a:gridCol w="524812"/>
                <a:gridCol w="524812"/>
                <a:gridCol w="524812"/>
                <a:gridCol w="524812"/>
                <a:gridCol w="524812"/>
                <a:gridCol w="524812"/>
                <a:gridCol w="524812"/>
                <a:gridCol w="524812"/>
                <a:gridCol w="570251"/>
              </a:tblGrid>
              <a:tr h="246126">
                <a:tc>
                  <a:txBody>
                    <a:bodyPr wrap="none"/>
                    <a:lstStyle/>
                    <a:p>
                      <a:pPr algn="l"/>
                      <a:r>
                        <a:rPr sz="1100" b="1">
                          <a:solidFill>
                            <a:srgbClr val="0E2A5C"/>
                          </a:solidFill>
                          <a:latin typeface="Calibri"/>
                        </a:rPr>
                        <a:t>End-use Industry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317">
                <a:tc>
                  <a:txBody>
                    <a:bodyPr wrap="none"/>
                    <a:lstStyle/>
                    <a:p>
                      <a:pPr algn="l"/>
                      <a:r>
                        <a:rPr sz="1100" b="1">
                          <a:solidFill>
                            <a:srgbClr val="2E2E2E"/>
                          </a:solidFill>
                          <a:latin typeface="Calibri"/>
                        </a:rPr>
                        <a:t>– Other Food &amp; Beverage Protective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Aerospace &amp; Defense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Aerospace Components &amp;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Defense Equipment &amp; Sensitive Components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Others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305175"/>
            <a:ext cx="11906250" cy="3324225"/>
          </a:xfrm>
          <a:prstGeom prst="roundRect">
            <a:avLst>
              <a:gd name="adj" fmla="val 22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End-use Industry</a:t>
            </a:r>
          </a:p>
        </p:txBody>
      </p:sp>
      <p:sp>
        <p:nvSpPr>
          <p:cNvPr id="13" name="Rectangle 12"/>
          <p:cNvSpPr/>
          <p:nvPr/>
        </p:nvSpPr>
        <p:spPr>
          <a:xfrm>
            <a:off x="276225" y="36290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403388" y="1956627"/>
            <a:ext cx="366712" cy="533400"/>
          </a:xfrm>
          <a:prstGeom prst="rect">
            <a:avLst/>
          </a:prstGeom>
        </p:spPr>
      </p:pic>
      <p:sp>
        <p:nvSpPr>
          <p:cNvPr id="18" name="TextBox 17"/>
          <p:cNvSpPr txBox="1"/>
          <p:nvPr/>
        </p:nvSpPr>
        <p:spPr>
          <a:xfrm>
            <a:off x="276225" y="3724275"/>
            <a:ext cx="4065190" cy="194310"/>
          </a:xfrm>
          <a:prstGeom prst="rect">
            <a:avLst/>
          </a:prstGeom>
          <a:noFill/>
        </p:spPr>
        <p:txBody>
          <a:bodyPr wrap="none" lIns="0" rIns="0" tIns="0" bIns="0">
            <a:spAutoFit/>
          </a:bodyPr>
          <a:lstStyle/>
          <a:p>
            <a:r>
              <a:rPr sz="1150" b="0">
                <a:solidFill>
                  <a:srgbClr val="2E2E2E"/>
                </a:solidFill>
                <a:latin typeface="Calibri"/>
              </a:rPr>
              <a:t>Consumer goods &amp; home products segment is projected to register</a:t>
            </a:r>
          </a:p>
        </p:txBody>
      </p:sp>
      <p:pic>
        <p:nvPicPr>
          <p:cNvPr id="19" name="Picture 18" descr="lock.png"/>
          <p:cNvPicPr>
            <a:picLocks noChangeAspect="1"/>
          </p:cNvPicPr>
          <p:nvPr/>
        </p:nvPicPr>
        <p:blipFill>
          <a:blip r:embed="rId4"/>
          <a:stretch>
            <a:fillRect/>
          </a:stretch>
        </p:blipFill>
        <p:spPr>
          <a:xfrm>
            <a:off x="4290569" y="3714051"/>
            <a:ext cx="134549" cy="195707"/>
          </a:xfrm>
          <a:prstGeom prst="rect">
            <a:avLst/>
          </a:prstGeom>
        </p:spPr>
      </p:pic>
      <p:sp>
        <p:nvSpPr>
          <p:cNvPr id="20" name="TextBox 19"/>
          <p:cNvSpPr txBox="1"/>
          <p:nvPr/>
        </p:nvSpPr>
        <p:spPr>
          <a:xfrm>
            <a:off x="4465678" y="3724275"/>
            <a:ext cx="7400094" cy="194310"/>
          </a:xfrm>
          <a:prstGeom prst="rect">
            <a:avLst/>
          </a:prstGeom>
          <a:noFill/>
        </p:spPr>
        <p:txBody>
          <a:bodyPr wrap="none" lIns="0" rIns="0" tIns="0" bIns="0">
            <a:spAutoFit/>
          </a:bodyPr>
          <a:lstStyle/>
          <a:p>
            <a:r>
              <a:rPr sz="1150" b="0">
                <a:solidFill>
                  <a:srgbClr val="2E2E2E"/>
                </a:solidFill>
                <a:latin typeface="Calibri"/>
              </a:rPr>
              <a:t>X higher value than healthcare &amp; pharmaceuticals segment in 2036. Among foam protective packaging by end-use industry,</a:t>
            </a:r>
          </a:p>
        </p:txBody>
      </p:sp>
      <p:sp>
        <p:nvSpPr>
          <p:cNvPr id="21" name="TextBox 20"/>
          <p:cNvSpPr txBox="1"/>
          <p:nvPr/>
        </p:nvSpPr>
        <p:spPr>
          <a:xfrm>
            <a:off x="276225" y="3899535"/>
            <a:ext cx="3573395" cy="194310"/>
          </a:xfrm>
          <a:prstGeom prst="rect">
            <a:avLst/>
          </a:prstGeom>
          <a:noFill/>
        </p:spPr>
        <p:txBody>
          <a:bodyPr wrap="none" lIns="0" rIns="0" tIns="0" bIns="0">
            <a:spAutoFit/>
          </a:bodyPr>
          <a:lstStyle/>
          <a:p>
            <a:r>
              <a:rPr sz="1150" b="0">
                <a:solidFill>
                  <a:srgbClr val="2E2E2E"/>
                </a:solidFill>
                <a:latin typeface="Calibri"/>
              </a:rPr>
              <a:t>others segment is expected to witness the highest CAGR of</a:t>
            </a:r>
          </a:p>
        </p:txBody>
      </p:sp>
      <p:pic>
        <p:nvPicPr>
          <p:cNvPr id="22" name="Picture 21" descr="lock.png"/>
          <p:cNvPicPr>
            <a:picLocks noChangeAspect="1"/>
          </p:cNvPicPr>
          <p:nvPr/>
        </p:nvPicPr>
        <p:blipFill>
          <a:blip r:embed="rId4"/>
          <a:stretch>
            <a:fillRect/>
          </a:stretch>
        </p:blipFill>
        <p:spPr>
          <a:xfrm>
            <a:off x="3798774" y="3889311"/>
            <a:ext cx="134549" cy="195707"/>
          </a:xfrm>
          <a:prstGeom prst="rect">
            <a:avLst/>
          </a:prstGeom>
        </p:spPr>
      </p:pic>
      <p:sp>
        <p:nvSpPr>
          <p:cNvPr id="23" name="TextBox 22"/>
          <p:cNvSpPr txBox="1"/>
          <p:nvPr/>
        </p:nvSpPr>
        <p:spPr>
          <a:xfrm>
            <a:off x="3973883"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127372"/>
            <a:ext cx="8195381" cy="194310"/>
          </a:xfrm>
          <a:prstGeom prst="rect">
            <a:avLst/>
          </a:prstGeom>
          <a:noFill/>
        </p:spPr>
        <p:txBody>
          <a:bodyPr wrap="none" lIns="0" rIns="0" tIns="0" bIns="0">
            <a:spAutoFit/>
          </a:bodyPr>
          <a:lstStyle/>
          <a:p>
            <a:r>
              <a:rPr sz="1150" b="0">
                <a:solidFill>
                  <a:srgbClr val="2E2E2E"/>
                </a:solidFill>
                <a:latin typeface="Calibri"/>
              </a:rPr>
              <a:t>In terms of value share by end-use industry, the consumer goods &amp; home products segment is expected to dominate the market, gaining</a:t>
            </a:r>
          </a:p>
        </p:txBody>
      </p:sp>
      <p:pic>
        <p:nvPicPr>
          <p:cNvPr id="25" name="Picture 24" descr="lock.png"/>
          <p:cNvPicPr>
            <a:picLocks noChangeAspect="1"/>
          </p:cNvPicPr>
          <p:nvPr/>
        </p:nvPicPr>
        <p:blipFill>
          <a:blip r:embed="rId4"/>
          <a:stretch>
            <a:fillRect/>
          </a:stretch>
        </p:blipFill>
        <p:spPr>
          <a:xfrm>
            <a:off x="8420760" y="4117149"/>
            <a:ext cx="134549" cy="195707"/>
          </a:xfrm>
          <a:prstGeom prst="rect">
            <a:avLst/>
          </a:prstGeom>
        </p:spPr>
      </p:pic>
      <p:sp>
        <p:nvSpPr>
          <p:cNvPr id="26" name="TextBox 25"/>
          <p:cNvSpPr txBox="1"/>
          <p:nvPr/>
        </p:nvSpPr>
        <p:spPr>
          <a:xfrm>
            <a:off x="8595870"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991013" y="4117149"/>
            <a:ext cx="134549" cy="195707"/>
          </a:xfrm>
          <a:prstGeom prst="rect">
            <a:avLst/>
          </a:prstGeom>
        </p:spPr>
      </p:pic>
      <p:sp>
        <p:nvSpPr>
          <p:cNvPr id="28" name="TextBox 27"/>
          <p:cNvSpPr txBox="1"/>
          <p:nvPr/>
        </p:nvSpPr>
        <p:spPr>
          <a:xfrm>
            <a:off x="10166122" y="41273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29" name="TextBox 28"/>
          <p:cNvSpPr txBox="1"/>
          <p:nvPr/>
        </p:nvSpPr>
        <p:spPr>
          <a:xfrm>
            <a:off x="276225" y="4302632"/>
            <a:ext cx="3536329" cy="194310"/>
          </a:xfrm>
          <a:prstGeom prst="rect">
            <a:avLst/>
          </a:prstGeom>
          <a:noFill/>
        </p:spPr>
        <p:txBody>
          <a:bodyPr wrap="none" lIns="0" rIns="0" tIns="0" bIns="0">
            <a:spAutoFit/>
          </a:bodyPr>
          <a:lstStyle/>
          <a:p>
            <a:r>
              <a:rPr sz="1150" b="0">
                <a:solidFill>
                  <a:srgbClr val="2E2E2E"/>
                </a:solidFill>
                <a:latin typeface="Calibri"/>
              </a:rPr>
              <a:t>healthcare &amp; pharmaceuticals segment is expected to lose</a:t>
            </a:r>
          </a:p>
        </p:txBody>
      </p:sp>
      <p:pic>
        <p:nvPicPr>
          <p:cNvPr id="30" name="Picture 29" descr="lock.png"/>
          <p:cNvPicPr>
            <a:picLocks noChangeAspect="1"/>
          </p:cNvPicPr>
          <p:nvPr/>
        </p:nvPicPr>
        <p:blipFill>
          <a:blip r:embed="rId4"/>
          <a:stretch>
            <a:fillRect/>
          </a:stretch>
        </p:blipFill>
        <p:spPr>
          <a:xfrm>
            <a:off x="3761708" y="4292409"/>
            <a:ext cx="134549" cy="195707"/>
          </a:xfrm>
          <a:prstGeom prst="rect">
            <a:avLst/>
          </a:prstGeom>
        </p:spPr>
      </p:pic>
      <p:sp>
        <p:nvSpPr>
          <p:cNvPr id="31" name="TextBox 30"/>
          <p:cNvSpPr txBox="1"/>
          <p:nvPr/>
        </p:nvSpPr>
        <p:spPr>
          <a:xfrm>
            <a:off x="3936818"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524322" y="4292409"/>
            <a:ext cx="134549" cy="195707"/>
          </a:xfrm>
          <a:prstGeom prst="rect">
            <a:avLst/>
          </a:prstGeom>
        </p:spPr>
      </p:pic>
      <p:sp>
        <p:nvSpPr>
          <p:cNvPr id="33" name="TextBox 32"/>
          <p:cNvSpPr txBox="1"/>
          <p:nvPr/>
        </p:nvSpPr>
        <p:spPr>
          <a:xfrm>
            <a:off x="6699431"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End-use Industry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End-use Industry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End-use Industry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758281"/>
            <a:ext cx="85725" cy="85725"/>
          </a:xfrm>
          <a:prstGeom prst="rect">
            <a:avLst/>
          </a:prstGeom>
          <a:solidFill>
            <a:srgbClr val="1F4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5351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67731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Aerospace &amp; Defense</a:t>
            </a:r>
          </a:p>
        </p:txBody>
      </p:sp>
      <p:sp>
        <p:nvSpPr>
          <p:cNvPr id="15" name="BPS Value 1"/>
          <p:cNvSpPr txBox="1"/>
          <p:nvPr/>
        </p:nvSpPr>
        <p:spPr>
          <a:xfrm>
            <a:off x="6896100" y="173923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062027"/>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05726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98106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&amp; Beverage</a:t>
            </a:r>
          </a:p>
        </p:txBody>
      </p:sp>
      <p:sp>
        <p:nvSpPr>
          <p:cNvPr id="19" name="BPS Value 2"/>
          <p:cNvSpPr txBox="1"/>
          <p:nvPr/>
        </p:nvSpPr>
        <p:spPr>
          <a:xfrm>
            <a:off x="6896100" y="204297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2501075"/>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49631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42011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Others</a:t>
            </a:r>
          </a:p>
        </p:txBody>
      </p:sp>
      <p:sp>
        <p:nvSpPr>
          <p:cNvPr id="23" name="BPS Value 3"/>
          <p:cNvSpPr txBox="1"/>
          <p:nvPr/>
        </p:nvSpPr>
        <p:spPr>
          <a:xfrm>
            <a:off x="6896100" y="248202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2976548"/>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297178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8955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Machinery &amp; Equipment</a:t>
            </a:r>
          </a:p>
        </p:txBody>
      </p:sp>
      <p:sp>
        <p:nvSpPr>
          <p:cNvPr id="27" name="BPS Value 4"/>
          <p:cNvSpPr txBox="1"/>
          <p:nvPr/>
        </p:nvSpPr>
        <p:spPr>
          <a:xfrm>
            <a:off x="6896100" y="29574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3517044"/>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351228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343608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Automotive</a:t>
            </a:r>
          </a:p>
        </p:txBody>
      </p:sp>
      <p:sp>
        <p:nvSpPr>
          <p:cNvPr id="31" name="BPS Value 5"/>
          <p:cNvSpPr txBox="1"/>
          <p:nvPr/>
        </p:nvSpPr>
        <p:spPr>
          <a:xfrm>
            <a:off x="6896100" y="349799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TMR Legend Chip"/>
          <p:cNvSpPr/>
          <p:nvPr/>
        </p:nvSpPr>
        <p:spPr>
          <a:xfrm>
            <a:off x="4928997" y="4092506"/>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408774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401154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Electronics &amp; Electrical</a:t>
            </a:r>
          </a:p>
        </p:txBody>
      </p:sp>
      <p:sp>
        <p:nvSpPr>
          <p:cNvPr id="35" name="BPS Value 6"/>
          <p:cNvSpPr txBox="1"/>
          <p:nvPr/>
        </p:nvSpPr>
        <p:spPr>
          <a:xfrm>
            <a:off x="6896100" y="407345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TMR Legend Chip"/>
          <p:cNvSpPr/>
          <p:nvPr/>
        </p:nvSpPr>
        <p:spPr>
          <a:xfrm>
            <a:off x="4928997" y="4739028"/>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5090922" y="473426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5233797" y="46580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Healthcare &amp; Pharmaceuticals</a:t>
            </a:r>
          </a:p>
        </p:txBody>
      </p:sp>
      <p:sp>
        <p:nvSpPr>
          <p:cNvPr id="39" name="BPS Value 7"/>
          <p:cNvSpPr txBox="1"/>
          <p:nvPr/>
        </p:nvSpPr>
        <p:spPr>
          <a:xfrm>
            <a:off x="6896100" y="471997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0" name="TMR Legend Chip"/>
          <p:cNvSpPr/>
          <p:nvPr/>
        </p:nvSpPr>
        <p:spPr>
          <a:xfrm>
            <a:off x="4928997" y="5670538"/>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5090922" y="566577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8"/>
          <p:cNvSpPr txBox="1"/>
          <p:nvPr/>
        </p:nvSpPr>
        <p:spPr>
          <a:xfrm>
            <a:off x="5233797" y="558957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Consumer Goods &amp; Home Products</a:t>
            </a:r>
          </a:p>
        </p:txBody>
      </p:sp>
      <p:sp>
        <p:nvSpPr>
          <p:cNvPr id="43" name="BPS Value 8"/>
          <p:cNvSpPr txBox="1"/>
          <p:nvPr/>
        </p:nvSpPr>
        <p:spPr>
          <a:xfrm>
            <a:off x="6896100" y="565148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4" name="Rounded Rectangle 43"/>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End-use Industry</a:t>
            </a:r>
          </a:p>
        </p:txBody>
      </p:sp>
      <p:sp>
        <p:nvSpPr>
          <p:cNvPr id="46" name="Rectangle 45"/>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Rectangle 4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0" name="Picture 49" descr="lock.png"/>
          <p:cNvPicPr>
            <a:picLocks noChangeAspect="1"/>
          </p:cNvPicPr>
          <p:nvPr/>
        </p:nvPicPr>
        <p:blipFill>
          <a:blip r:embed="rId5"/>
          <a:stretch>
            <a:fillRect/>
          </a:stretch>
        </p:blipFill>
        <p:spPr>
          <a:xfrm>
            <a:off x="2557843" y="3833622"/>
            <a:ext cx="275034" cy="400050"/>
          </a:xfrm>
          <a:prstGeom prst="rect">
            <a:avLst/>
          </a:prstGeom>
        </p:spPr>
      </p:pic>
      <p:sp>
        <p:nvSpPr>
          <p:cNvPr id="51" name="TextBox 50"/>
          <p:cNvSpPr txBox="1"/>
          <p:nvPr/>
        </p:nvSpPr>
        <p:spPr>
          <a:xfrm>
            <a:off x="7829550" y="1400175"/>
            <a:ext cx="3769952" cy="194310"/>
          </a:xfrm>
          <a:prstGeom prst="rect">
            <a:avLst/>
          </a:prstGeom>
          <a:noFill/>
        </p:spPr>
        <p:txBody>
          <a:bodyPr wrap="none" lIns="0" rIns="0" tIns="0" bIns="0">
            <a:spAutoFit/>
          </a:bodyPr>
          <a:lstStyle/>
          <a:p>
            <a:r>
              <a:rPr sz="1150" b="0">
                <a:solidFill>
                  <a:srgbClr val="2E2E2E"/>
                </a:solidFill>
                <a:latin typeface="Calibri"/>
              </a:rPr>
              <a:t>Among foam protective packaging by end-use industry, others</a:t>
            </a:r>
          </a:p>
        </p:txBody>
      </p:sp>
      <p:sp>
        <p:nvSpPr>
          <p:cNvPr id="52" name="TextBox 5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3" name="Picture 52" descr="lock.png"/>
          <p:cNvPicPr>
            <a:picLocks noChangeAspect="1"/>
          </p:cNvPicPr>
          <p:nvPr/>
        </p:nvPicPr>
        <p:blipFill>
          <a:blip r:embed="rId5"/>
          <a:stretch>
            <a:fillRect/>
          </a:stretch>
        </p:blipFill>
        <p:spPr>
          <a:xfrm>
            <a:off x="10935343" y="1565211"/>
            <a:ext cx="134549" cy="195707"/>
          </a:xfrm>
          <a:prstGeom prst="rect">
            <a:avLst/>
          </a:prstGeom>
        </p:spPr>
      </p:pic>
      <p:sp>
        <p:nvSpPr>
          <p:cNvPr id="54" name="TextBox 5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5" name="TextBox 54"/>
          <p:cNvSpPr txBox="1"/>
          <p:nvPr/>
        </p:nvSpPr>
        <p:spPr>
          <a:xfrm>
            <a:off x="7829550" y="1750695"/>
            <a:ext cx="3885765" cy="194310"/>
          </a:xfrm>
          <a:prstGeom prst="rect">
            <a:avLst/>
          </a:prstGeom>
          <a:noFill/>
        </p:spPr>
        <p:txBody>
          <a:bodyPr wrap="none" lIns="0" rIns="0" tIns="0" bIns="0">
            <a:spAutoFit/>
          </a:bodyPr>
          <a:lstStyle/>
          <a:p>
            <a:r>
              <a:rPr sz="1150" b="0">
                <a:solidFill>
                  <a:srgbClr val="2E2E2E"/>
                </a:solidFill>
                <a:latin typeface="Calibri"/>
              </a:rPr>
              <a:t>forecast period. In terms of value share by end-use industry, the</a:t>
            </a:r>
          </a:p>
        </p:txBody>
      </p:sp>
      <p:sp>
        <p:nvSpPr>
          <p:cNvPr id="56" name="TextBox 55"/>
          <p:cNvSpPr txBox="1"/>
          <p:nvPr/>
        </p:nvSpPr>
        <p:spPr>
          <a:xfrm>
            <a:off x="7829550" y="1925955"/>
            <a:ext cx="3532906" cy="194310"/>
          </a:xfrm>
          <a:prstGeom prst="rect">
            <a:avLst/>
          </a:prstGeom>
          <a:noFill/>
        </p:spPr>
        <p:txBody>
          <a:bodyPr wrap="none" lIns="0" rIns="0" tIns="0" bIns="0">
            <a:spAutoFit/>
          </a:bodyPr>
          <a:lstStyle/>
          <a:p>
            <a:r>
              <a:rPr sz="1150" b="0">
                <a:solidFill>
                  <a:srgbClr val="2E2E2E"/>
                </a:solidFill>
                <a:latin typeface="Calibri"/>
              </a:rPr>
              <a:t>consumer goods &amp; home products segment is expected to</a:t>
            </a:r>
          </a:p>
        </p:txBody>
      </p:sp>
      <p:sp>
        <p:nvSpPr>
          <p:cNvPr id="57" name="TextBox 56"/>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8" name="Picture 57" descr="lock.png"/>
          <p:cNvPicPr>
            <a:picLocks noChangeAspect="1"/>
          </p:cNvPicPr>
          <p:nvPr/>
        </p:nvPicPr>
        <p:blipFill>
          <a:blip r:embed="rId5"/>
          <a:stretch>
            <a:fillRect/>
          </a:stretch>
        </p:blipFill>
        <p:spPr>
          <a:xfrm>
            <a:off x="9615776" y="2090991"/>
            <a:ext cx="134549" cy="195707"/>
          </a:xfrm>
          <a:prstGeom prst="rect">
            <a:avLst/>
          </a:prstGeom>
        </p:spPr>
      </p:pic>
      <p:sp>
        <p:nvSpPr>
          <p:cNvPr id="59" name="TextBox 58"/>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0" name="Picture 59" descr="lock.png"/>
          <p:cNvPicPr>
            <a:picLocks noChangeAspect="1"/>
          </p:cNvPicPr>
          <p:nvPr/>
        </p:nvPicPr>
        <p:blipFill>
          <a:blip r:embed="rId5"/>
          <a:stretch>
            <a:fillRect/>
          </a:stretch>
        </p:blipFill>
        <p:spPr>
          <a:xfrm>
            <a:off x="11186028" y="2090991"/>
            <a:ext cx="134549" cy="195707"/>
          </a:xfrm>
          <a:prstGeom prst="rect">
            <a:avLst/>
          </a:prstGeom>
        </p:spPr>
      </p:pic>
      <p:sp>
        <p:nvSpPr>
          <p:cNvPr id="61" name="TextBox 60"/>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TextBox 61"/>
          <p:cNvSpPr txBox="1"/>
          <p:nvPr/>
        </p:nvSpPr>
        <p:spPr>
          <a:xfrm>
            <a:off x="7829550" y="2504313"/>
            <a:ext cx="3790205" cy="194310"/>
          </a:xfrm>
          <a:prstGeom prst="rect">
            <a:avLst/>
          </a:prstGeom>
          <a:noFill/>
        </p:spPr>
        <p:txBody>
          <a:bodyPr wrap="none" lIns="0" rIns="0" tIns="0" bIns="0">
            <a:spAutoFit/>
          </a:bodyPr>
          <a:lstStyle/>
          <a:p>
            <a:r>
              <a:rPr sz="1150" b="0">
                <a:solidFill>
                  <a:srgbClr val="2E2E2E"/>
                </a:solidFill>
                <a:latin typeface="Calibri"/>
              </a:rPr>
              <a:t>The healthcare &amp; pharmaceuticals segment is expected to lose</a:t>
            </a:r>
          </a:p>
        </p:txBody>
      </p:sp>
      <p:pic>
        <p:nvPicPr>
          <p:cNvPr id="63" name="Picture 62" descr="lock.png"/>
          <p:cNvPicPr>
            <a:picLocks noChangeAspect="1"/>
          </p:cNvPicPr>
          <p:nvPr/>
        </p:nvPicPr>
        <p:blipFill>
          <a:blip r:embed="rId5"/>
          <a:stretch>
            <a:fillRect/>
          </a:stretch>
        </p:blipFill>
        <p:spPr>
          <a:xfrm>
            <a:off x="11568909" y="2494089"/>
            <a:ext cx="134549" cy="195707"/>
          </a:xfrm>
          <a:prstGeom prst="rect">
            <a:avLst/>
          </a:prstGeom>
        </p:spPr>
      </p:pic>
      <p:sp>
        <p:nvSpPr>
          <p:cNvPr id="64" name="TextBox 63"/>
          <p:cNvSpPr txBox="1"/>
          <p:nvPr/>
        </p:nvSpPr>
        <p:spPr>
          <a:xfrm>
            <a:off x="7829550"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5" name="Picture 64" descr="lock.png"/>
          <p:cNvPicPr>
            <a:picLocks noChangeAspect="1"/>
          </p:cNvPicPr>
          <p:nvPr/>
        </p:nvPicPr>
        <p:blipFill>
          <a:blip r:embed="rId5"/>
          <a:stretch>
            <a:fillRect/>
          </a:stretch>
        </p:blipFill>
        <p:spPr>
          <a:xfrm>
            <a:off x="10417054" y="2669349"/>
            <a:ext cx="134549" cy="195707"/>
          </a:xfrm>
          <a:prstGeom prst="rect">
            <a:avLst/>
          </a:prstGeom>
        </p:spPr>
      </p:pic>
      <p:sp>
        <p:nvSpPr>
          <p:cNvPr id="66" name="TextBox 65"/>
          <p:cNvSpPr txBox="1"/>
          <p:nvPr/>
        </p:nvSpPr>
        <p:spPr>
          <a:xfrm>
            <a:off x="1059216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Cross-sectional Assessment</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Material Type × 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Form × End-use Industry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Material Type × Product Form</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Material Type × Product Form, 2026E vs 2036F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material type sub-segment across product form sub-segments</a:t>
            </a:r>
          </a:p>
        </p:txBody>
      </p:sp>
      <p:sp>
        <p:nvSpPr>
          <p:cNvPr id="7" name="Rounded Rectangle 6"/>
          <p:cNvSpPr/>
          <p:nvPr/>
        </p:nvSpPr>
        <p:spPr>
          <a:xfrm>
            <a:off x="142875" y="981075"/>
            <a:ext cx="11906250" cy="3400425"/>
          </a:xfrm>
          <a:prstGeom prst="roundRect">
            <a:avLst>
              <a:gd name="adj" fmla="val 22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Material Type × Product Form, 2026E and 2036F (US$ Mn)</a:t>
            </a:r>
          </a:p>
        </p:txBody>
      </p:sp>
      <p:graphicFrame>
        <p:nvGraphicFramePr>
          <p:cNvPr id="9" name="Table 8"/>
          <p:cNvGraphicFramePr>
            <a:graphicFrameLocks noGrp="1"/>
          </p:cNvGraphicFramePr>
          <p:nvPr/>
        </p:nvGraphicFramePr>
        <p:xfrm>
          <a:off x="152400" y="1238250"/>
          <a:ext cx="11890325" cy="2933702"/>
        </p:xfrm>
        <a:graphic>
          <a:graphicData uri="http://schemas.openxmlformats.org/drawingml/2006/table">
            <a:tbl>
              <a:tblPr>
                <a:tableStyleId>{5C22544A-7EE6-4342-B048-85BDC9FD1C3A}</a:tableStyleId>
              </a:tblPr>
              <a:tblGrid>
                <a:gridCol w="1648279"/>
                <a:gridCol w="425593"/>
                <a:gridCol w="420653"/>
                <a:gridCol w="425593"/>
                <a:gridCol w="420653"/>
                <a:gridCol w="425593"/>
                <a:gridCol w="420653"/>
                <a:gridCol w="425593"/>
                <a:gridCol w="420653"/>
                <a:gridCol w="425593"/>
                <a:gridCol w="420653"/>
                <a:gridCol w="425593"/>
                <a:gridCol w="420653"/>
                <a:gridCol w="425593"/>
                <a:gridCol w="420653"/>
                <a:gridCol w="425593"/>
                <a:gridCol w="420653"/>
                <a:gridCol w="425593"/>
                <a:gridCol w="420653"/>
                <a:gridCol w="425593"/>
                <a:gridCol w="420653"/>
                <a:gridCol w="425593"/>
                <a:gridCol w="420653"/>
                <a:gridCol w="465113"/>
                <a:gridCol w="468227"/>
              </a:tblGrid>
              <a:tr h="1017270">
                <a:tc rowSpan="2">
                  <a:txBody>
                    <a:bodyPr wrap="none"/>
                    <a:lstStyle/>
                    <a:p>
                      <a:pPr algn="l"/>
                      <a:r>
                        <a:rPr sz="1100" b="1">
                          <a:solidFill>
                            <a:srgbClr val="0E2A5C"/>
                          </a:solidFill>
                          <a:latin typeface="Calibri"/>
                        </a:rPr>
                        <a:t>Material Type</a:t>
                      </a: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Non-</a:t>
                      </a:r>
                      <a:endParaRPr sz="1100"/>
                    </a:p>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Sheets, Rolls</a:t>
                      </a:r>
                      <a:endParaRPr sz="1100"/>
                    </a:p>
                    <a:p>
                      <a:pPr algn="ctr"/>
                      <a:r>
                        <a:rPr sz="1100" b="1">
                          <a:solidFill>
                            <a:srgbClr val="0E2A5C"/>
                          </a:solidFill>
                          <a:latin typeface="Calibri"/>
                        </a:rPr>
                        <a:t>&amp; Planks</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Foam-in-</a:t>
                      </a:r>
                      <a:endParaRPr sz="1100"/>
                    </a:p>
                    <a:p>
                      <a:pPr algn="ctr"/>
                      <a:r>
                        <a:rPr sz="1100" b="1">
                          <a:solidFill>
                            <a:srgbClr val="0E2A5C"/>
                          </a:solidFill>
                          <a:latin typeface="Calibri"/>
                        </a:rPr>
                        <a:t>Place</a:t>
                      </a:r>
                      <a:endParaRPr sz="1100"/>
                    </a:p>
                    <a:p>
                      <a:pPr algn="ctr"/>
                      <a:r>
                        <a:rPr sz="1100" b="1">
                          <a:solidFill>
                            <a:srgbClr val="0E2A5C"/>
                          </a:solidFill>
                          <a:latin typeface="Calibri"/>
                        </a:rPr>
                        <a:t>Packaging</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Pouches,</a:t>
                      </a:r>
                      <a:endParaRPr sz="1100"/>
                    </a:p>
                    <a:p>
                      <a:pPr algn="ctr"/>
                      <a:r>
                        <a:rPr sz="1100" b="1">
                          <a:solidFill>
                            <a:srgbClr val="0E2A5C"/>
                          </a:solidFill>
                          <a:latin typeface="Calibri"/>
                        </a:rPr>
                        <a:t>Bags &amp;</a:t>
                      </a:r>
                      <a:endParaRPr sz="1100"/>
                    </a:p>
                    <a:p>
                      <a:pPr algn="ctr"/>
                      <a:r>
                        <a:rPr sz="1100" b="1">
                          <a:solidFill>
                            <a:srgbClr val="0E2A5C"/>
                          </a:solidFill>
                          <a:latin typeface="Calibri"/>
                        </a:rPr>
                        <a:t>Sleeves</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Foam Loose-</a:t>
                      </a:r>
                      <a:endParaRPr sz="1100"/>
                    </a:p>
                    <a:p>
                      <a:pPr algn="ctr"/>
                      <a:r>
                        <a:rPr sz="1100" b="1">
                          <a:solidFill>
                            <a:srgbClr val="0E2A5C"/>
                          </a:solidFill>
                          <a:latin typeface="Calibri"/>
                        </a:rPr>
                        <a:t>Fill</a:t>
                      </a:r>
                      <a:endParaRPr sz="1100"/>
                    </a:p>
                    <a:p>
                      <a:pPr algn="ctr"/>
                      <a:r>
                        <a:rPr sz="1100" b="1">
                          <a:solidFill>
                            <a:srgbClr val="0E2A5C"/>
                          </a:solidFill>
                          <a:latin typeface="Calibri"/>
                        </a:rPr>
                        <a:t>Packaging</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Extruded</a:t>
                      </a:r>
                      <a:endParaRPr sz="1100"/>
                    </a:p>
                    <a:p>
                      <a:pPr algn="ctr"/>
                      <a:r>
                        <a:rPr sz="1100" b="1">
                          <a:solidFill>
                            <a:srgbClr val="0E2A5C"/>
                          </a:solidFill>
                          <a:latin typeface="Calibri"/>
                        </a:rPr>
                        <a:t>Polystyrene</a:t>
                      </a:r>
                      <a:endParaRPr sz="1100"/>
                    </a:p>
                    <a:p>
                      <a:pPr algn="ctr"/>
                      <a:r>
                        <a:rPr sz="1100" b="1">
                          <a:solidFill>
                            <a:srgbClr val="0E2A5C"/>
                          </a:solidFill>
                          <a:latin typeface="Calibri"/>
                        </a:rPr>
                        <a:t>Foam</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Other</a:t>
                      </a:r>
                      <a:endParaRPr sz="1100"/>
                    </a:p>
                    <a:p>
                      <a:pPr algn="ctr"/>
                      <a:r>
                        <a:rPr sz="1100" b="1">
                          <a:solidFill>
                            <a:srgbClr val="0E2A5C"/>
                          </a:solidFill>
                          <a:latin typeface="Calibri"/>
                        </a:rPr>
                        <a:t>Polyolefin &amp;</a:t>
                      </a:r>
                      <a:endParaRPr sz="1100"/>
                    </a:p>
                    <a:p>
                      <a:pPr algn="ctr"/>
                      <a:r>
                        <a:rPr sz="1100" b="1">
                          <a:solidFill>
                            <a:srgbClr val="0E2A5C"/>
                          </a:solidFill>
                          <a:latin typeface="Calibri"/>
                        </a:rPr>
                        <a:t>Specialty</a:t>
                      </a:r>
                      <a:endParaRPr sz="1100"/>
                    </a:p>
                    <a:p>
                      <a:pPr algn="ctr"/>
                      <a:r>
                        <a:rPr sz="1100" b="1">
                          <a:solidFill>
                            <a:srgbClr val="0E2A5C"/>
                          </a:solidFill>
                          <a:latin typeface="Calibri"/>
                        </a:rPr>
                        <a:t>Polymer</a:t>
                      </a:r>
                      <a:endParaRPr sz="1100"/>
                    </a:p>
                    <a:p>
                      <a:pPr algn="ctr"/>
                      <a:r>
                        <a:rPr sz="1100" b="1">
                          <a:solidFill>
                            <a:srgbClr val="0E2A5C"/>
                          </a:solidFill>
                          <a:latin typeface="Calibri"/>
                        </a:rPr>
                        <a:t>Foams</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Bio-based /</a:t>
                      </a:r>
                      <a:endParaRPr sz="1100"/>
                    </a:p>
                    <a:p>
                      <a:pPr algn="ctr"/>
                      <a:r>
                        <a:rPr sz="1100" b="1">
                          <a:solidFill>
                            <a:srgbClr val="0E2A5C"/>
                          </a:solidFill>
                          <a:latin typeface="Calibri"/>
                        </a:rPr>
                        <a:t>Starch-based</a:t>
                      </a:r>
                      <a:endParaRPr sz="1100"/>
                    </a:p>
                    <a:p>
                      <a:pPr algn="ctr"/>
                      <a:r>
                        <a:rPr sz="1100" b="1">
                          <a:solidFill>
                            <a:srgbClr val="0E2A5C"/>
                          </a:solidFill>
                          <a:latin typeface="Calibri"/>
                        </a:rPr>
                        <a:t>Foams</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9050" marT="19050" marB="19050" anchor="ctr">
                    <a:solidFill>
                      <a:srgbClr val="EBF2F9"/>
                    </a:solidFill>
                  </a:tcPr>
                </a:tc>
                <a:tc hMerge="1">
                  <a:txBody>
                    <a:bodyPr wrap="none"/>
                    <a:lstStyle/>
                    <a:p>
                      <a:pPr algn="ctr"/>
                      <a:endParaRPr sz="1100"/>
                    </a:p>
                  </a:txBody>
                  <a:tcPr marL="19050" marR="19050" marT="19050" marB="19050" anchor="ctr">
                    <a:solidFill>
                      <a:srgbClr val="EBF2F9"/>
                    </a:solidFill>
                  </a:tcPr>
                </a:tc>
              </a:tr>
              <a:tr h="273776">
                <a:tc vMerge="1">
                  <a:txBody>
                    <a:bodyPr wrap="none"/>
                    <a:lstStyle/>
                    <a:p>
                      <a:pPr algn="l"/>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r>
              <a:tr h="273776">
                <a:tc>
                  <a:txBody>
                    <a:bodyPr wrap="none"/>
                    <a:lstStyle/>
                    <a:p>
                      <a:pPr algn="l"/>
                      <a:r>
                        <a:rPr sz="1100" b="1">
                          <a:solidFill>
                            <a:srgbClr val="2E2E2E"/>
                          </a:solidFill>
                          <a:latin typeface="Calibri"/>
                        </a:rPr>
                        <a:t>Polyethylene (PE) Foam</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73776">
                <a:tc>
                  <a:txBody>
                    <a:bodyPr wrap="none"/>
                    <a:lstStyle/>
                    <a:p>
                      <a:pPr algn="l"/>
                      <a:r>
                        <a:rPr sz="1100" b="1">
                          <a:solidFill>
                            <a:srgbClr val="2E2E2E"/>
                          </a:solidFill>
                          <a:latin typeface="Calibri"/>
                        </a:rPr>
                        <a:t>Expanded Polystyrene</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r>
              <a:tr h="273776">
                <a:tc>
                  <a:txBody>
                    <a:bodyPr wrap="none"/>
                    <a:lstStyle/>
                    <a:p>
                      <a:pPr algn="l"/>
                      <a:r>
                        <a:rPr sz="1100" b="1">
                          <a:solidFill>
                            <a:srgbClr val="2E2E2E"/>
                          </a:solidFill>
                          <a:latin typeface="Calibri"/>
                        </a:rPr>
                        <a:t>Polyurethane (PU) Foam</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73776">
                <a:tc>
                  <a:txBody>
                    <a:bodyPr wrap="none"/>
                    <a:lstStyle/>
                    <a:p>
                      <a:pPr algn="l"/>
                      <a:r>
                        <a:rPr sz="1100" b="1">
                          <a:solidFill>
                            <a:srgbClr val="2E2E2E"/>
                          </a:solidFill>
                          <a:latin typeface="Calibri"/>
                        </a:rPr>
                        <a:t>Expanded Polypropylene</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r>
              <a:tr h="273776">
                <a:tc>
                  <a:txBody>
                    <a:bodyPr wrap="none"/>
                    <a:lstStyle/>
                    <a:p>
                      <a:pPr algn="l"/>
                      <a:r>
                        <a:rPr sz="1100" b="1">
                          <a:solidFill>
                            <a:srgbClr val="2E2E2E"/>
                          </a:solidFill>
                          <a:latin typeface="Calibri"/>
                        </a:rPr>
                        <a:t>Other Foam Materials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73776">
                <a:tc>
                  <a:txBody>
                    <a:bodyPr wrap="none"/>
                    <a:lstStyle/>
                    <a:p>
                      <a:pPr algn="l"/>
                      <a:r>
                        <a:rPr sz="1100" b="1">
                          <a:solidFill>
                            <a:srgbClr val="2E2E2E"/>
                          </a:solidFill>
                          <a:latin typeface="Calibri"/>
                        </a:rPr>
                        <a:t>Total</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r>
            </a:tbl>
          </a:graphicData>
        </a:graphic>
      </p:graphicFrame>
      <p:sp>
        <p:nvSpPr>
          <p:cNvPr id="10" name="TextBox 9"/>
          <p:cNvSpPr txBox="1"/>
          <p:nvPr/>
        </p:nvSpPr>
        <p:spPr>
          <a:xfrm>
            <a:off x="219075" y="4181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699180" y="3083924"/>
            <a:ext cx="366712" cy="5334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Material Type × Product Form, 2026E vs 2036F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material type sub-segment across product form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Material Type → Product Form, 2036F (US$ Mn)</a:t>
            </a:r>
          </a:p>
        </p:txBody>
      </p:sp>
      <p:sp>
        <p:nvSpPr>
          <p:cNvPr id="9" name="Freeform 8"/>
          <p:cNvSpPr/>
          <p:nvPr/>
        </p:nvSpPr>
        <p:spPr>
          <a:xfrm>
            <a:off x="2057400" y="1304925"/>
            <a:ext cx="3743325" cy="657225"/>
          </a:xfrm>
          <a:custGeom>
            <a:avLst/>
            <a:gdLst/>
            <a:ahLst/>
            <a:cxnLst/>
            <a:rect l="l" t="t" r="r" b="b"/>
            <a:pathLst>
              <a:path w="393" h="69">
                <a:moveTo>
                  <a:pt x="0" y="18"/>
                </a:moveTo>
                <a:lnTo>
                  <a:pt x="16" y="18"/>
                </a:lnTo>
                <a:lnTo>
                  <a:pt x="33" y="18"/>
                </a:lnTo>
                <a:lnTo>
                  <a:pt x="49" y="17"/>
                </a:lnTo>
                <a:lnTo>
                  <a:pt x="65" y="17"/>
                </a:lnTo>
                <a:lnTo>
                  <a:pt x="82" y="16"/>
                </a:lnTo>
                <a:lnTo>
                  <a:pt x="98" y="15"/>
                </a:lnTo>
                <a:lnTo>
                  <a:pt x="114" y="14"/>
                </a:lnTo>
                <a:lnTo>
                  <a:pt x="131" y="13"/>
                </a:lnTo>
                <a:lnTo>
                  <a:pt x="147" y="12"/>
                </a:lnTo>
                <a:lnTo>
                  <a:pt x="164" y="11"/>
                </a:lnTo>
                <a:lnTo>
                  <a:pt x="180" y="10"/>
                </a:lnTo>
                <a:lnTo>
                  <a:pt x="196" y="9"/>
                </a:lnTo>
                <a:lnTo>
                  <a:pt x="213" y="8"/>
                </a:lnTo>
                <a:lnTo>
                  <a:pt x="229" y="7"/>
                </a:lnTo>
                <a:lnTo>
                  <a:pt x="246" y="6"/>
                </a:lnTo>
                <a:lnTo>
                  <a:pt x="262" y="5"/>
                </a:lnTo>
                <a:lnTo>
                  <a:pt x="278" y="4"/>
                </a:lnTo>
                <a:lnTo>
                  <a:pt x="295" y="3"/>
                </a:lnTo>
                <a:lnTo>
                  <a:pt x="311" y="2"/>
                </a:lnTo>
                <a:lnTo>
                  <a:pt x="327" y="1"/>
                </a:lnTo>
                <a:lnTo>
                  <a:pt x="344" y="1"/>
                </a:lnTo>
                <a:lnTo>
                  <a:pt x="360" y="0"/>
                </a:lnTo>
                <a:lnTo>
                  <a:pt x="377" y="0"/>
                </a:lnTo>
                <a:lnTo>
                  <a:pt x="393" y="0"/>
                </a:lnTo>
                <a:lnTo>
                  <a:pt x="393" y="51"/>
                </a:lnTo>
                <a:lnTo>
                  <a:pt x="377" y="51"/>
                </a:lnTo>
                <a:lnTo>
                  <a:pt x="360" y="51"/>
                </a:lnTo>
                <a:lnTo>
                  <a:pt x="344" y="52"/>
                </a:lnTo>
                <a:lnTo>
                  <a:pt x="327" y="52"/>
                </a:lnTo>
                <a:lnTo>
                  <a:pt x="311" y="53"/>
                </a:lnTo>
                <a:lnTo>
                  <a:pt x="295" y="54"/>
                </a:lnTo>
                <a:lnTo>
                  <a:pt x="278" y="55"/>
                </a:lnTo>
                <a:lnTo>
                  <a:pt x="262" y="56"/>
                </a:lnTo>
                <a:lnTo>
                  <a:pt x="246" y="57"/>
                </a:lnTo>
                <a:lnTo>
                  <a:pt x="229" y="58"/>
                </a:lnTo>
                <a:lnTo>
                  <a:pt x="213" y="59"/>
                </a:lnTo>
                <a:lnTo>
                  <a:pt x="196" y="60"/>
                </a:lnTo>
                <a:lnTo>
                  <a:pt x="180" y="61"/>
                </a:lnTo>
                <a:lnTo>
                  <a:pt x="164" y="62"/>
                </a:lnTo>
                <a:lnTo>
                  <a:pt x="147" y="63"/>
                </a:lnTo>
                <a:lnTo>
                  <a:pt x="131" y="64"/>
                </a:lnTo>
                <a:lnTo>
                  <a:pt x="114" y="65"/>
                </a:lnTo>
                <a:lnTo>
                  <a:pt x="98" y="66"/>
                </a:lnTo>
                <a:lnTo>
                  <a:pt x="82" y="67"/>
                </a:lnTo>
                <a:lnTo>
                  <a:pt x="65" y="68"/>
                </a:lnTo>
                <a:lnTo>
                  <a:pt x="49" y="68"/>
                </a:lnTo>
                <a:lnTo>
                  <a:pt x="33" y="69"/>
                </a:lnTo>
                <a:lnTo>
                  <a:pt x="16" y="69"/>
                </a:lnTo>
                <a:lnTo>
                  <a:pt x="0" y="69"/>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057400" y="1962150"/>
            <a:ext cx="3743325" cy="1085850"/>
          </a:xfrm>
          <a:custGeom>
            <a:avLst/>
            <a:gdLst/>
            <a:ahLst/>
            <a:cxnLst/>
            <a:rect l="l" t="t" r="r" b="b"/>
            <a:pathLst>
              <a:path w="393" h="114">
                <a:moveTo>
                  <a:pt x="0" y="0"/>
                </a:moveTo>
                <a:lnTo>
                  <a:pt x="16" y="0"/>
                </a:lnTo>
                <a:lnTo>
                  <a:pt x="33" y="2"/>
                </a:lnTo>
                <a:lnTo>
                  <a:pt x="49" y="4"/>
                </a:lnTo>
                <a:lnTo>
                  <a:pt x="65" y="7"/>
                </a:lnTo>
                <a:lnTo>
                  <a:pt x="82" y="10"/>
                </a:lnTo>
                <a:lnTo>
                  <a:pt x="98" y="14"/>
                </a:lnTo>
                <a:lnTo>
                  <a:pt x="114" y="18"/>
                </a:lnTo>
                <a:lnTo>
                  <a:pt x="131" y="23"/>
                </a:lnTo>
                <a:lnTo>
                  <a:pt x="147" y="28"/>
                </a:lnTo>
                <a:lnTo>
                  <a:pt x="164" y="34"/>
                </a:lnTo>
                <a:lnTo>
                  <a:pt x="180" y="39"/>
                </a:lnTo>
                <a:lnTo>
                  <a:pt x="196" y="45"/>
                </a:lnTo>
                <a:lnTo>
                  <a:pt x="213" y="50"/>
                </a:lnTo>
                <a:lnTo>
                  <a:pt x="229" y="56"/>
                </a:lnTo>
                <a:lnTo>
                  <a:pt x="246" y="61"/>
                </a:lnTo>
                <a:lnTo>
                  <a:pt x="262" y="67"/>
                </a:lnTo>
                <a:lnTo>
                  <a:pt x="278" y="71"/>
                </a:lnTo>
                <a:lnTo>
                  <a:pt x="295" y="76"/>
                </a:lnTo>
                <a:lnTo>
                  <a:pt x="311" y="80"/>
                </a:lnTo>
                <a:lnTo>
                  <a:pt x="327" y="83"/>
                </a:lnTo>
                <a:lnTo>
                  <a:pt x="344" y="86"/>
                </a:lnTo>
                <a:lnTo>
                  <a:pt x="360" y="88"/>
                </a:lnTo>
                <a:lnTo>
                  <a:pt x="377" y="89"/>
                </a:lnTo>
                <a:lnTo>
                  <a:pt x="393" y="90"/>
                </a:lnTo>
                <a:lnTo>
                  <a:pt x="393" y="114"/>
                </a:lnTo>
                <a:lnTo>
                  <a:pt x="377" y="114"/>
                </a:lnTo>
                <a:lnTo>
                  <a:pt x="360" y="112"/>
                </a:lnTo>
                <a:lnTo>
                  <a:pt x="344" y="110"/>
                </a:lnTo>
                <a:lnTo>
                  <a:pt x="327" y="107"/>
                </a:lnTo>
                <a:lnTo>
                  <a:pt x="311" y="104"/>
                </a:lnTo>
                <a:lnTo>
                  <a:pt x="295" y="100"/>
                </a:lnTo>
                <a:lnTo>
                  <a:pt x="278" y="96"/>
                </a:lnTo>
                <a:lnTo>
                  <a:pt x="262" y="91"/>
                </a:lnTo>
                <a:lnTo>
                  <a:pt x="246" y="86"/>
                </a:lnTo>
                <a:lnTo>
                  <a:pt x="229" y="80"/>
                </a:lnTo>
                <a:lnTo>
                  <a:pt x="213" y="75"/>
                </a:lnTo>
                <a:lnTo>
                  <a:pt x="196" y="69"/>
                </a:lnTo>
                <a:lnTo>
                  <a:pt x="180" y="64"/>
                </a:lnTo>
                <a:lnTo>
                  <a:pt x="164" y="58"/>
                </a:lnTo>
                <a:lnTo>
                  <a:pt x="147" y="53"/>
                </a:lnTo>
                <a:lnTo>
                  <a:pt x="131" y="48"/>
                </a:lnTo>
                <a:lnTo>
                  <a:pt x="114" y="43"/>
                </a:lnTo>
                <a:lnTo>
                  <a:pt x="98" y="38"/>
                </a:lnTo>
                <a:lnTo>
                  <a:pt x="82" y="34"/>
                </a:lnTo>
                <a:lnTo>
                  <a:pt x="65" y="31"/>
                </a:lnTo>
                <a:lnTo>
                  <a:pt x="49" y="28"/>
                </a:lnTo>
                <a:lnTo>
                  <a:pt x="33" y="26"/>
                </a:lnTo>
                <a:lnTo>
                  <a:pt x="16" y="25"/>
                </a:lnTo>
                <a:lnTo>
                  <a:pt x="0" y="24"/>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057400" y="2190750"/>
            <a:ext cx="3743325" cy="1581150"/>
          </a:xfrm>
          <a:custGeom>
            <a:avLst/>
            <a:gdLst/>
            <a:ahLst/>
            <a:cxnLst/>
            <a:rect l="l" t="t" r="r" b="b"/>
            <a:pathLst>
              <a:path w="393" h="166">
                <a:moveTo>
                  <a:pt x="0" y="0"/>
                </a:moveTo>
                <a:lnTo>
                  <a:pt x="16" y="1"/>
                </a:lnTo>
                <a:lnTo>
                  <a:pt x="33" y="3"/>
                </a:lnTo>
                <a:lnTo>
                  <a:pt x="49" y="6"/>
                </a:lnTo>
                <a:lnTo>
                  <a:pt x="65" y="11"/>
                </a:lnTo>
                <a:lnTo>
                  <a:pt x="82" y="16"/>
                </a:lnTo>
                <a:lnTo>
                  <a:pt x="98" y="23"/>
                </a:lnTo>
                <a:lnTo>
                  <a:pt x="114" y="30"/>
                </a:lnTo>
                <a:lnTo>
                  <a:pt x="131" y="38"/>
                </a:lnTo>
                <a:lnTo>
                  <a:pt x="147" y="46"/>
                </a:lnTo>
                <a:lnTo>
                  <a:pt x="164" y="55"/>
                </a:lnTo>
                <a:lnTo>
                  <a:pt x="180" y="64"/>
                </a:lnTo>
                <a:lnTo>
                  <a:pt x="196" y="73"/>
                </a:lnTo>
                <a:lnTo>
                  <a:pt x="213" y="82"/>
                </a:lnTo>
                <a:lnTo>
                  <a:pt x="229" y="90"/>
                </a:lnTo>
                <a:lnTo>
                  <a:pt x="246" y="99"/>
                </a:lnTo>
                <a:lnTo>
                  <a:pt x="262" y="107"/>
                </a:lnTo>
                <a:lnTo>
                  <a:pt x="278" y="115"/>
                </a:lnTo>
                <a:lnTo>
                  <a:pt x="295" y="122"/>
                </a:lnTo>
                <a:lnTo>
                  <a:pt x="311" y="129"/>
                </a:lnTo>
                <a:lnTo>
                  <a:pt x="327" y="134"/>
                </a:lnTo>
                <a:lnTo>
                  <a:pt x="344" y="139"/>
                </a:lnTo>
                <a:lnTo>
                  <a:pt x="360" y="142"/>
                </a:lnTo>
                <a:lnTo>
                  <a:pt x="377" y="144"/>
                </a:lnTo>
                <a:lnTo>
                  <a:pt x="393" y="145"/>
                </a:lnTo>
                <a:lnTo>
                  <a:pt x="393" y="166"/>
                </a:lnTo>
                <a:lnTo>
                  <a:pt x="377" y="166"/>
                </a:lnTo>
                <a:lnTo>
                  <a:pt x="360" y="164"/>
                </a:lnTo>
                <a:lnTo>
                  <a:pt x="344" y="160"/>
                </a:lnTo>
                <a:lnTo>
                  <a:pt x="327" y="156"/>
                </a:lnTo>
                <a:lnTo>
                  <a:pt x="311" y="150"/>
                </a:lnTo>
                <a:lnTo>
                  <a:pt x="295" y="144"/>
                </a:lnTo>
                <a:lnTo>
                  <a:pt x="278" y="137"/>
                </a:lnTo>
                <a:lnTo>
                  <a:pt x="262" y="129"/>
                </a:lnTo>
                <a:lnTo>
                  <a:pt x="246" y="121"/>
                </a:lnTo>
                <a:lnTo>
                  <a:pt x="229" y="112"/>
                </a:lnTo>
                <a:lnTo>
                  <a:pt x="213" y="103"/>
                </a:lnTo>
                <a:lnTo>
                  <a:pt x="196" y="94"/>
                </a:lnTo>
                <a:lnTo>
                  <a:pt x="180" y="85"/>
                </a:lnTo>
                <a:lnTo>
                  <a:pt x="164" y="76"/>
                </a:lnTo>
                <a:lnTo>
                  <a:pt x="147" y="68"/>
                </a:lnTo>
                <a:lnTo>
                  <a:pt x="131" y="59"/>
                </a:lnTo>
                <a:lnTo>
                  <a:pt x="114" y="52"/>
                </a:lnTo>
                <a:lnTo>
                  <a:pt x="98" y="44"/>
                </a:lnTo>
                <a:lnTo>
                  <a:pt x="82" y="38"/>
                </a:lnTo>
                <a:lnTo>
                  <a:pt x="65" y="33"/>
                </a:lnTo>
                <a:lnTo>
                  <a:pt x="49" y="28"/>
                </a:lnTo>
                <a:lnTo>
                  <a:pt x="33" y="25"/>
                </a:lnTo>
                <a:lnTo>
                  <a:pt x="16" y="23"/>
                </a:lnTo>
                <a:lnTo>
                  <a:pt x="0" y="22"/>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057400" y="2400300"/>
            <a:ext cx="3743325" cy="2019300"/>
          </a:xfrm>
          <a:custGeom>
            <a:avLst/>
            <a:gdLst/>
            <a:ahLst/>
            <a:cxnLst/>
            <a:rect l="l" t="t" r="r" b="b"/>
            <a:pathLst>
              <a:path w="393" h="212">
                <a:moveTo>
                  <a:pt x="0" y="0"/>
                </a:moveTo>
                <a:lnTo>
                  <a:pt x="16" y="1"/>
                </a:lnTo>
                <a:lnTo>
                  <a:pt x="33" y="4"/>
                </a:lnTo>
                <a:lnTo>
                  <a:pt x="49" y="8"/>
                </a:lnTo>
                <a:lnTo>
                  <a:pt x="65" y="14"/>
                </a:lnTo>
                <a:lnTo>
                  <a:pt x="82" y="22"/>
                </a:lnTo>
                <a:lnTo>
                  <a:pt x="98" y="30"/>
                </a:lnTo>
                <a:lnTo>
                  <a:pt x="114" y="40"/>
                </a:lnTo>
                <a:lnTo>
                  <a:pt x="131" y="50"/>
                </a:lnTo>
                <a:lnTo>
                  <a:pt x="147" y="61"/>
                </a:lnTo>
                <a:lnTo>
                  <a:pt x="164" y="73"/>
                </a:lnTo>
                <a:lnTo>
                  <a:pt x="180" y="85"/>
                </a:lnTo>
                <a:lnTo>
                  <a:pt x="196" y="97"/>
                </a:lnTo>
                <a:lnTo>
                  <a:pt x="213" y="109"/>
                </a:lnTo>
                <a:lnTo>
                  <a:pt x="229" y="121"/>
                </a:lnTo>
                <a:lnTo>
                  <a:pt x="246" y="132"/>
                </a:lnTo>
                <a:lnTo>
                  <a:pt x="262" y="143"/>
                </a:lnTo>
                <a:lnTo>
                  <a:pt x="278" y="154"/>
                </a:lnTo>
                <a:lnTo>
                  <a:pt x="295" y="163"/>
                </a:lnTo>
                <a:lnTo>
                  <a:pt x="311" y="172"/>
                </a:lnTo>
                <a:lnTo>
                  <a:pt x="327" y="179"/>
                </a:lnTo>
                <a:lnTo>
                  <a:pt x="344" y="185"/>
                </a:lnTo>
                <a:lnTo>
                  <a:pt x="360" y="190"/>
                </a:lnTo>
                <a:lnTo>
                  <a:pt x="377" y="193"/>
                </a:lnTo>
                <a:lnTo>
                  <a:pt x="393" y="194"/>
                </a:lnTo>
                <a:lnTo>
                  <a:pt x="393" y="212"/>
                </a:lnTo>
                <a:lnTo>
                  <a:pt x="377" y="211"/>
                </a:lnTo>
                <a:lnTo>
                  <a:pt x="360" y="208"/>
                </a:lnTo>
                <a:lnTo>
                  <a:pt x="344" y="204"/>
                </a:lnTo>
                <a:lnTo>
                  <a:pt x="327" y="198"/>
                </a:lnTo>
                <a:lnTo>
                  <a:pt x="311" y="190"/>
                </a:lnTo>
                <a:lnTo>
                  <a:pt x="295" y="182"/>
                </a:lnTo>
                <a:lnTo>
                  <a:pt x="278" y="172"/>
                </a:lnTo>
                <a:lnTo>
                  <a:pt x="262" y="162"/>
                </a:lnTo>
                <a:lnTo>
                  <a:pt x="246" y="151"/>
                </a:lnTo>
                <a:lnTo>
                  <a:pt x="229" y="139"/>
                </a:lnTo>
                <a:lnTo>
                  <a:pt x="213" y="127"/>
                </a:lnTo>
                <a:lnTo>
                  <a:pt x="196" y="115"/>
                </a:lnTo>
                <a:lnTo>
                  <a:pt x="180" y="103"/>
                </a:lnTo>
                <a:lnTo>
                  <a:pt x="164" y="91"/>
                </a:lnTo>
                <a:lnTo>
                  <a:pt x="147" y="80"/>
                </a:lnTo>
                <a:lnTo>
                  <a:pt x="131" y="69"/>
                </a:lnTo>
                <a:lnTo>
                  <a:pt x="114" y="58"/>
                </a:lnTo>
                <a:lnTo>
                  <a:pt x="98" y="49"/>
                </a:lnTo>
                <a:lnTo>
                  <a:pt x="82" y="40"/>
                </a:lnTo>
                <a:lnTo>
                  <a:pt x="65" y="33"/>
                </a:lnTo>
                <a:lnTo>
                  <a:pt x="49" y="27"/>
                </a:lnTo>
                <a:lnTo>
                  <a:pt x="33" y="22"/>
                </a:lnTo>
                <a:lnTo>
                  <a:pt x="16" y="19"/>
                </a:lnTo>
                <a:lnTo>
                  <a:pt x="0" y="18"/>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2571750"/>
            <a:ext cx="3743325" cy="2419350"/>
          </a:xfrm>
          <a:custGeom>
            <a:avLst/>
            <a:gdLst/>
            <a:ahLst/>
            <a:cxnLst/>
            <a:rect l="l" t="t" r="r" b="b"/>
            <a:pathLst>
              <a:path w="393" h="254">
                <a:moveTo>
                  <a:pt x="0" y="0"/>
                </a:moveTo>
                <a:lnTo>
                  <a:pt x="16" y="2"/>
                </a:lnTo>
                <a:lnTo>
                  <a:pt x="33" y="5"/>
                </a:lnTo>
                <a:lnTo>
                  <a:pt x="49" y="11"/>
                </a:lnTo>
                <a:lnTo>
                  <a:pt x="65" y="18"/>
                </a:lnTo>
                <a:lnTo>
                  <a:pt x="82" y="27"/>
                </a:lnTo>
                <a:lnTo>
                  <a:pt x="98" y="37"/>
                </a:lnTo>
                <a:lnTo>
                  <a:pt x="114" y="49"/>
                </a:lnTo>
                <a:lnTo>
                  <a:pt x="131" y="62"/>
                </a:lnTo>
                <a:lnTo>
                  <a:pt x="147" y="75"/>
                </a:lnTo>
                <a:lnTo>
                  <a:pt x="164" y="89"/>
                </a:lnTo>
                <a:lnTo>
                  <a:pt x="180" y="104"/>
                </a:lnTo>
                <a:lnTo>
                  <a:pt x="196" y="119"/>
                </a:lnTo>
                <a:lnTo>
                  <a:pt x="213" y="134"/>
                </a:lnTo>
                <a:lnTo>
                  <a:pt x="229" y="148"/>
                </a:lnTo>
                <a:lnTo>
                  <a:pt x="246" y="162"/>
                </a:lnTo>
                <a:lnTo>
                  <a:pt x="262" y="176"/>
                </a:lnTo>
                <a:lnTo>
                  <a:pt x="278" y="188"/>
                </a:lnTo>
                <a:lnTo>
                  <a:pt x="295" y="200"/>
                </a:lnTo>
                <a:lnTo>
                  <a:pt x="311" y="211"/>
                </a:lnTo>
                <a:lnTo>
                  <a:pt x="327" y="220"/>
                </a:lnTo>
                <a:lnTo>
                  <a:pt x="344" y="227"/>
                </a:lnTo>
                <a:lnTo>
                  <a:pt x="360" y="233"/>
                </a:lnTo>
                <a:lnTo>
                  <a:pt x="377" y="236"/>
                </a:lnTo>
                <a:lnTo>
                  <a:pt x="393" y="237"/>
                </a:lnTo>
                <a:lnTo>
                  <a:pt x="393" y="254"/>
                </a:lnTo>
                <a:lnTo>
                  <a:pt x="377" y="253"/>
                </a:lnTo>
                <a:lnTo>
                  <a:pt x="360" y="249"/>
                </a:lnTo>
                <a:lnTo>
                  <a:pt x="344" y="244"/>
                </a:lnTo>
                <a:lnTo>
                  <a:pt x="327" y="236"/>
                </a:lnTo>
                <a:lnTo>
                  <a:pt x="311" y="227"/>
                </a:lnTo>
                <a:lnTo>
                  <a:pt x="295" y="217"/>
                </a:lnTo>
                <a:lnTo>
                  <a:pt x="278" y="205"/>
                </a:lnTo>
                <a:lnTo>
                  <a:pt x="262" y="193"/>
                </a:lnTo>
                <a:lnTo>
                  <a:pt x="246" y="179"/>
                </a:lnTo>
                <a:lnTo>
                  <a:pt x="229" y="165"/>
                </a:lnTo>
                <a:lnTo>
                  <a:pt x="213" y="150"/>
                </a:lnTo>
                <a:lnTo>
                  <a:pt x="196" y="136"/>
                </a:lnTo>
                <a:lnTo>
                  <a:pt x="180" y="121"/>
                </a:lnTo>
                <a:lnTo>
                  <a:pt x="164" y="106"/>
                </a:lnTo>
                <a:lnTo>
                  <a:pt x="147" y="92"/>
                </a:lnTo>
                <a:lnTo>
                  <a:pt x="131" y="79"/>
                </a:lnTo>
                <a:lnTo>
                  <a:pt x="114" y="66"/>
                </a:lnTo>
                <a:lnTo>
                  <a:pt x="98" y="54"/>
                </a:lnTo>
                <a:lnTo>
                  <a:pt x="82" y="44"/>
                </a:lnTo>
                <a:lnTo>
                  <a:pt x="65" y="35"/>
                </a:lnTo>
                <a:lnTo>
                  <a:pt x="49" y="27"/>
                </a:lnTo>
                <a:lnTo>
                  <a:pt x="33" y="22"/>
                </a:lnTo>
                <a:lnTo>
                  <a:pt x="16" y="18"/>
                </a:lnTo>
                <a:lnTo>
                  <a:pt x="0" y="17"/>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733675"/>
            <a:ext cx="3743325" cy="2724150"/>
          </a:xfrm>
          <a:custGeom>
            <a:avLst/>
            <a:gdLst/>
            <a:ahLst/>
            <a:cxnLst/>
            <a:rect l="l" t="t" r="r" b="b"/>
            <a:pathLst>
              <a:path w="393" h="286">
                <a:moveTo>
                  <a:pt x="0" y="0"/>
                </a:moveTo>
                <a:lnTo>
                  <a:pt x="16" y="2"/>
                </a:lnTo>
                <a:lnTo>
                  <a:pt x="33" y="6"/>
                </a:lnTo>
                <a:lnTo>
                  <a:pt x="49" y="12"/>
                </a:lnTo>
                <a:lnTo>
                  <a:pt x="65" y="21"/>
                </a:lnTo>
                <a:lnTo>
                  <a:pt x="82" y="31"/>
                </a:lnTo>
                <a:lnTo>
                  <a:pt x="98" y="43"/>
                </a:lnTo>
                <a:lnTo>
                  <a:pt x="114" y="57"/>
                </a:lnTo>
                <a:lnTo>
                  <a:pt x="131" y="72"/>
                </a:lnTo>
                <a:lnTo>
                  <a:pt x="147" y="88"/>
                </a:lnTo>
                <a:lnTo>
                  <a:pt x="164" y="104"/>
                </a:lnTo>
                <a:lnTo>
                  <a:pt x="180" y="121"/>
                </a:lnTo>
                <a:lnTo>
                  <a:pt x="196" y="138"/>
                </a:lnTo>
                <a:lnTo>
                  <a:pt x="213" y="155"/>
                </a:lnTo>
                <a:lnTo>
                  <a:pt x="229" y="172"/>
                </a:lnTo>
                <a:lnTo>
                  <a:pt x="246" y="189"/>
                </a:lnTo>
                <a:lnTo>
                  <a:pt x="262" y="205"/>
                </a:lnTo>
                <a:lnTo>
                  <a:pt x="278" y="220"/>
                </a:lnTo>
                <a:lnTo>
                  <a:pt x="295" y="233"/>
                </a:lnTo>
                <a:lnTo>
                  <a:pt x="311" y="245"/>
                </a:lnTo>
                <a:lnTo>
                  <a:pt x="327" y="256"/>
                </a:lnTo>
                <a:lnTo>
                  <a:pt x="344" y="265"/>
                </a:lnTo>
                <a:lnTo>
                  <a:pt x="360" y="271"/>
                </a:lnTo>
                <a:lnTo>
                  <a:pt x="377" y="275"/>
                </a:lnTo>
                <a:lnTo>
                  <a:pt x="393" y="276"/>
                </a:lnTo>
                <a:lnTo>
                  <a:pt x="393" y="286"/>
                </a:lnTo>
                <a:lnTo>
                  <a:pt x="377" y="284"/>
                </a:lnTo>
                <a:lnTo>
                  <a:pt x="360" y="280"/>
                </a:lnTo>
                <a:lnTo>
                  <a:pt x="344" y="274"/>
                </a:lnTo>
                <a:lnTo>
                  <a:pt x="327" y="265"/>
                </a:lnTo>
                <a:lnTo>
                  <a:pt x="311" y="255"/>
                </a:lnTo>
                <a:lnTo>
                  <a:pt x="295" y="243"/>
                </a:lnTo>
                <a:lnTo>
                  <a:pt x="278" y="229"/>
                </a:lnTo>
                <a:lnTo>
                  <a:pt x="262" y="214"/>
                </a:lnTo>
                <a:lnTo>
                  <a:pt x="246" y="198"/>
                </a:lnTo>
                <a:lnTo>
                  <a:pt x="229" y="182"/>
                </a:lnTo>
                <a:lnTo>
                  <a:pt x="213" y="165"/>
                </a:lnTo>
                <a:lnTo>
                  <a:pt x="196" y="148"/>
                </a:lnTo>
                <a:lnTo>
                  <a:pt x="180" y="130"/>
                </a:lnTo>
                <a:lnTo>
                  <a:pt x="164" y="113"/>
                </a:lnTo>
                <a:lnTo>
                  <a:pt x="147" y="97"/>
                </a:lnTo>
                <a:lnTo>
                  <a:pt x="131" y="81"/>
                </a:lnTo>
                <a:lnTo>
                  <a:pt x="114" y="66"/>
                </a:lnTo>
                <a:lnTo>
                  <a:pt x="98" y="53"/>
                </a:lnTo>
                <a:lnTo>
                  <a:pt x="82" y="41"/>
                </a:lnTo>
                <a:lnTo>
                  <a:pt x="65" y="30"/>
                </a:lnTo>
                <a:lnTo>
                  <a:pt x="49" y="21"/>
                </a:lnTo>
                <a:lnTo>
                  <a:pt x="33" y="15"/>
                </a:lnTo>
                <a:lnTo>
                  <a:pt x="16" y="11"/>
                </a:lnTo>
                <a:lnTo>
                  <a:pt x="0" y="1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790700"/>
            <a:ext cx="3743325" cy="1571625"/>
          </a:xfrm>
          <a:custGeom>
            <a:avLst/>
            <a:gdLst/>
            <a:ahLst/>
            <a:cxnLst/>
            <a:rect l="l" t="t" r="r" b="b"/>
            <a:pathLst>
              <a:path w="393" h="165">
                <a:moveTo>
                  <a:pt x="0" y="115"/>
                </a:moveTo>
                <a:lnTo>
                  <a:pt x="16" y="114"/>
                </a:lnTo>
                <a:lnTo>
                  <a:pt x="33" y="112"/>
                </a:lnTo>
                <a:lnTo>
                  <a:pt x="49" y="110"/>
                </a:lnTo>
                <a:lnTo>
                  <a:pt x="65" y="106"/>
                </a:lnTo>
                <a:lnTo>
                  <a:pt x="82" y="102"/>
                </a:lnTo>
                <a:lnTo>
                  <a:pt x="98" y="97"/>
                </a:lnTo>
                <a:lnTo>
                  <a:pt x="114" y="91"/>
                </a:lnTo>
                <a:lnTo>
                  <a:pt x="131" y="85"/>
                </a:lnTo>
                <a:lnTo>
                  <a:pt x="147" y="78"/>
                </a:lnTo>
                <a:lnTo>
                  <a:pt x="164" y="71"/>
                </a:lnTo>
                <a:lnTo>
                  <a:pt x="180" y="64"/>
                </a:lnTo>
                <a:lnTo>
                  <a:pt x="196" y="57"/>
                </a:lnTo>
                <a:lnTo>
                  <a:pt x="213" y="50"/>
                </a:lnTo>
                <a:lnTo>
                  <a:pt x="229" y="43"/>
                </a:lnTo>
                <a:lnTo>
                  <a:pt x="246" y="36"/>
                </a:lnTo>
                <a:lnTo>
                  <a:pt x="262" y="30"/>
                </a:lnTo>
                <a:lnTo>
                  <a:pt x="278" y="23"/>
                </a:lnTo>
                <a:lnTo>
                  <a:pt x="295" y="18"/>
                </a:lnTo>
                <a:lnTo>
                  <a:pt x="311" y="13"/>
                </a:lnTo>
                <a:lnTo>
                  <a:pt x="327" y="8"/>
                </a:lnTo>
                <a:lnTo>
                  <a:pt x="344" y="5"/>
                </a:lnTo>
                <a:lnTo>
                  <a:pt x="360" y="2"/>
                </a:lnTo>
                <a:lnTo>
                  <a:pt x="377" y="1"/>
                </a:lnTo>
                <a:lnTo>
                  <a:pt x="393" y="0"/>
                </a:lnTo>
                <a:lnTo>
                  <a:pt x="393" y="51"/>
                </a:lnTo>
                <a:lnTo>
                  <a:pt x="377" y="51"/>
                </a:lnTo>
                <a:lnTo>
                  <a:pt x="360" y="53"/>
                </a:lnTo>
                <a:lnTo>
                  <a:pt x="344" y="56"/>
                </a:lnTo>
                <a:lnTo>
                  <a:pt x="327" y="59"/>
                </a:lnTo>
                <a:lnTo>
                  <a:pt x="311" y="64"/>
                </a:lnTo>
                <a:lnTo>
                  <a:pt x="295" y="69"/>
                </a:lnTo>
                <a:lnTo>
                  <a:pt x="278" y="74"/>
                </a:lnTo>
                <a:lnTo>
                  <a:pt x="262" y="81"/>
                </a:lnTo>
                <a:lnTo>
                  <a:pt x="246" y="87"/>
                </a:lnTo>
                <a:lnTo>
                  <a:pt x="229" y="94"/>
                </a:lnTo>
                <a:lnTo>
                  <a:pt x="213" y="101"/>
                </a:lnTo>
                <a:lnTo>
                  <a:pt x="196" y="108"/>
                </a:lnTo>
                <a:lnTo>
                  <a:pt x="180" y="115"/>
                </a:lnTo>
                <a:lnTo>
                  <a:pt x="164" y="122"/>
                </a:lnTo>
                <a:lnTo>
                  <a:pt x="147" y="129"/>
                </a:lnTo>
                <a:lnTo>
                  <a:pt x="131" y="136"/>
                </a:lnTo>
                <a:lnTo>
                  <a:pt x="114" y="142"/>
                </a:lnTo>
                <a:lnTo>
                  <a:pt x="98" y="148"/>
                </a:lnTo>
                <a:lnTo>
                  <a:pt x="82" y="153"/>
                </a:lnTo>
                <a:lnTo>
                  <a:pt x="65" y="157"/>
                </a:lnTo>
                <a:lnTo>
                  <a:pt x="49" y="161"/>
                </a:lnTo>
                <a:lnTo>
                  <a:pt x="33" y="163"/>
                </a:lnTo>
                <a:lnTo>
                  <a:pt x="16" y="165"/>
                </a:lnTo>
                <a:lnTo>
                  <a:pt x="0" y="165"/>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3048000"/>
            <a:ext cx="3743325" cy="552450"/>
          </a:xfrm>
          <a:custGeom>
            <a:avLst/>
            <a:gdLst/>
            <a:ahLst/>
            <a:cxnLst/>
            <a:rect l="l" t="t" r="r" b="b"/>
            <a:pathLst>
              <a:path w="393" h="58">
                <a:moveTo>
                  <a:pt x="0" y="33"/>
                </a:moveTo>
                <a:lnTo>
                  <a:pt x="16" y="33"/>
                </a:lnTo>
                <a:lnTo>
                  <a:pt x="33" y="33"/>
                </a:lnTo>
                <a:lnTo>
                  <a:pt x="49" y="32"/>
                </a:lnTo>
                <a:lnTo>
                  <a:pt x="65" y="31"/>
                </a:lnTo>
                <a:lnTo>
                  <a:pt x="82" y="30"/>
                </a:lnTo>
                <a:lnTo>
                  <a:pt x="98" y="28"/>
                </a:lnTo>
                <a:lnTo>
                  <a:pt x="114" y="27"/>
                </a:lnTo>
                <a:lnTo>
                  <a:pt x="131" y="25"/>
                </a:lnTo>
                <a:lnTo>
                  <a:pt x="147" y="23"/>
                </a:lnTo>
                <a:lnTo>
                  <a:pt x="164" y="21"/>
                </a:lnTo>
                <a:lnTo>
                  <a:pt x="180" y="19"/>
                </a:lnTo>
                <a:lnTo>
                  <a:pt x="196" y="17"/>
                </a:lnTo>
                <a:lnTo>
                  <a:pt x="213" y="15"/>
                </a:lnTo>
                <a:lnTo>
                  <a:pt x="229" y="13"/>
                </a:lnTo>
                <a:lnTo>
                  <a:pt x="246" y="11"/>
                </a:lnTo>
                <a:lnTo>
                  <a:pt x="262" y="9"/>
                </a:lnTo>
                <a:lnTo>
                  <a:pt x="278" y="7"/>
                </a:lnTo>
                <a:lnTo>
                  <a:pt x="295" y="5"/>
                </a:lnTo>
                <a:lnTo>
                  <a:pt x="311" y="4"/>
                </a:lnTo>
                <a:lnTo>
                  <a:pt x="327" y="3"/>
                </a:lnTo>
                <a:lnTo>
                  <a:pt x="344" y="2"/>
                </a:lnTo>
                <a:lnTo>
                  <a:pt x="360" y="1"/>
                </a:lnTo>
                <a:lnTo>
                  <a:pt x="377" y="0"/>
                </a:lnTo>
                <a:lnTo>
                  <a:pt x="393" y="0"/>
                </a:lnTo>
                <a:lnTo>
                  <a:pt x="393" y="24"/>
                </a:lnTo>
                <a:lnTo>
                  <a:pt x="377" y="25"/>
                </a:lnTo>
                <a:lnTo>
                  <a:pt x="360" y="25"/>
                </a:lnTo>
                <a:lnTo>
                  <a:pt x="344" y="26"/>
                </a:lnTo>
                <a:lnTo>
                  <a:pt x="327" y="27"/>
                </a:lnTo>
                <a:lnTo>
                  <a:pt x="311" y="28"/>
                </a:lnTo>
                <a:lnTo>
                  <a:pt x="295" y="30"/>
                </a:lnTo>
                <a:lnTo>
                  <a:pt x="278" y="31"/>
                </a:lnTo>
                <a:lnTo>
                  <a:pt x="262" y="33"/>
                </a:lnTo>
                <a:lnTo>
                  <a:pt x="246" y="35"/>
                </a:lnTo>
                <a:lnTo>
                  <a:pt x="229" y="37"/>
                </a:lnTo>
                <a:lnTo>
                  <a:pt x="213" y="39"/>
                </a:lnTo>
                <a:lnTo>
                  <a:pt x="196" y="41"/>
                </a:lnTo>
                <a:lnTo>
                  <a:pt x="180" y="43"/>
                </a:lnTo>
                <a:lnTo>
                  <a:pt x="164" y="45"/>
                </a:lnTo>
                <a:lnTo>
                  <a:pt x="147" y="47"/>
                </a:lnTo>
                <a:lnTo>
                  <a:pt x="131" y="49"/>
                </a:lnTo>
                <a:lnTo>
                  <a:pt x="114" y="51"/>
                </a:lnTo>
                <a:lnTo>
                  <a:pt x="98" y="53"/>
                </a:lnTo>
                <a:lnTo>
                  <a:pt x="82" y="54"/>
                </a:lnTo>
                <a:lnTo>
                  <a:pt x="65" y="55"/>
                </a:lnTo>
                <a:lnTo>
                  <a:pt x="49" y="56"/>
                </a:lnTo>
                <a:lnTo>
                  <a:pt x="33" y="57"/>
                </a:lnTo>
                <a:lnTo>
                  <a:pt x="16" y="58"/>
                </a:lnTo>
                <a:lnTo>
                  <a:pt x="0" y="58"/>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3600450"/>
            <a:ext cx="3743325" cy="381000"/>
          </a:xfrm>
          <a:custGeom>
            <a:avLst/>
            <a:gdLst/>
            <a:ahLst/>
            <a:cxnLst/>
            <a:rect l="l" t="t" r="r" b="b"/>
            <a:pathLst>
              <a:path w="393" h="40">
                <a:moveTo>
                  <a:pt x="0" y="0"/>
                </a:moveTo>
                <a:lnTo>
                  <a:pt x="16" y="0"/>
                </a:lnTo>
                <a:lnTo>
                  <a:pt x="33" y="0"/>
                </a:lnTo>
                <a:lnTo>
                  <a:pt x="49" y="1"/>
                </a:lnTo>
                <a:lnTo>
                  <a:pt x="65" y="1"/>
                </a:lnTo>
                <a:lnTo>
                  <a:pt x="82" y="2"/>
                </a:lnTo>
                <a:lnTo>
                  <a:pt x="98" y="3"/>
                </a:lnTo>
                <a:lnTo>
                  <a:pt x="114" y="4"/>
                </a:lnTo>
                <a:lnTo>
                  <a:pt x="131" y="5"/>
                </a:lnTo>
                <a:lnTo>
                  <a:pt x="147" y="6"/>
                </a:lnTo>
                <a:lnTo>
                  <a:pt x="164" y="7"/>
                </a:lnTo>
                <a:lnTo>
                  <a:pt x="180" y="8"/>
                </a:lnTo>
                <a:lnTo>
                  <a:pt x="196" y="9"/>
                </a:lnTo>
                <a:lnTo>
                  <a:pt x="213" y="10"/>
                </a:lnTo>
                <a:lnTo>
                  <a:pt x="229" y="11"/>
                </a:lnTo>
                <a:lnTo>
                  <a:pt x="246" y="13"/>
                </a:lnTo>
                <a:lnTo>
                  <a:pt x="262" y="14"/>
                </a:lnTo>
                <a:lnTo>
                  <a:pt x="278" y="15"/>
                </a:lnTo>
                <a:lnTo>
                  <a:pt x="295" y="16"/>
                </a:lnTo>
                <a:lnTo>
                  <a:pt x="311" y="16"/>
                </a:lnTo>
                <a:lnTo>
                  <a:pt x="327" y="17"/>
                </a:lnTo>
                <a:lnTo>
                  <a:pt x="344" y="18"/>
                </a:lnTo>
                <a:lnTo>
                  <a:pt x="360" y="18"/>
                </a:lnTo>
                <a:lnTo>
                  <a:pt x="377" y="18"/>
                </a:lnTo>
                <a:lnTo>
                  <a:pt x="393" y="18"/>
                </a:lnTo>
                <a:lnTo>
                  <a:pt x="393" y="40"/>
                </a:lnTo>
                <a:lnTo>
                  <a:pt x="377" y="40"/>
                </a:lnTo>
                <a:lnTo>
                  <a:pt x="360" y="40"/>
                </a:lnTo>
                <a:lnTo>
                  <a:pt x="344" y="39"/>
                </a:lnTo>
                <a:lnTo>
                  <a:pt x="327" y="39"/>
                </a:lnTo>
                <a:lnTo>
                  <a:pt x="311" y="38"/>
                </a:lnTo>
                <a:lnTo>
                  <a:pt x="295" y="37"/>
                </a:lnTo>
                <a:lnTo>
                  <a:pt x="278" y="36"/>
                </a:lnTo>
                <a:lnTo>
                  <a:pt x="262" y="35"/>
                </a:lnTo>
                <a:lnTo>
                  <a:pt x="246" y="34"/>
                </a:lnTo>
                <a:lnTo>
                  <a:pt x="229" y="33"/>
                </a:lnTo>
                <a:lnTo>
                  <a:pt x="213" y="32"/>
                </a:lnTo>
                <a:lnTo>
                  <a:pt x="196" y="31"/>
                </a:lnTo>
                <a:lnTo>
                  <a:pt x="180" y="30"/>
                </a:lnTo>
                <a:lnTo>
                  <a:pt x="164" y="28"/>
                </a:lnTo>
                <a:lnTo>
                  <a:pt x="147" y="27"/>
                </a:lnTo>
                <a:lnTo>
                  <a:pt x="131" y="26"/>
                </a:lnTo>
                <a:lnTo>
                  <a:pt x="114" y="25"/>
                </a:lnTo>
                <a:lnTo>
                  <a:pt x="98" y="24"/>
                </a:lnTo>
                <a:lnTo>
                  <a:pt x="82" y="24"/>
                </a:lnTo>
                <a:lnTo>
                  <a:pt x="65" y="23"/>
                </a:lnTo>
                <a:lnTo>
                  <a:pt x="49" y="22"/>
                </a:lnTo>
                <a:lnTo>
                  <a:pt x="33" y="22"/>
                </a:lnTo>
                <a:lnTo>
                  <a:pt x="16" y="22"/>
                </a:lnTo>
                <a:lnTo>
                  <a:pt x="0" y="21"/>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3800475"/>
            <a:ext cx="3743325" cy="800100"/>
          </a:xfrm>
          <a:custGeom>
            <a:avLst/>
            <a:gdLst/>
            <a:ahLst/>
            <a:cxnLst/>
            <a:rect l="l" t="t" r="r" b="b"/>
            <a:pathLst>
              <a:path w="393" h="84">
                <a:moveTo>
                  <a:pt x="0" y="0"/>
                </a:moveTo>
                <a:lnTo>
                  <a:pt x="16" y="1"/>
                </a:lnTo>
                <a:lnTo>
                  <a:pt x="33" y="2"/>
                </a:lnTo>
                <a:lnTo>
                  <a:pt x="49" y="3"/>
                </a:lnTo>
                <a:lnTo>
                  <a:pt x="65" y="5"/>
                </a:lnTo>
                <a:lnTo>
                  <a:pt x="82" y="8"/>
                </a:lnTo>
                <a:lnTo>
                  <a:pt x="98" y="11"/>
                </a:lnTo>
                <a:lnTo>
                  <a:pt x="114" y="14"/>
                </a:lnTo>
                <a:lnTo>
                  <a:pt x="131" y="17"/>
                </a:lnTo>
                <a:lnTo>
                  <a:pt x="147" y="21"/>
                </a:lnTo>
                <a:lnTo>
                  <a:pt x="164" y="25"/>
                </a:lnTo>
                <a:lnTo>
                  <a:pt x="180" y="29"/>
                </a:lnTo>
                <a:lnTo>
                  <a:pt x="196" y="33"/>
                </a:lnTo>
                <a:lnTo>
                  <a:pt x="213" y="37"/>
                </a:lnTo>
                <a:lnTo>
                  <a:pt x="229" y="41"/>
                </a:lnTo>
                <a:lnTo>
                  <a:pt x="246" y="45"/>
                </a:lnTo>
                <a:lnTo>
                  <a:pt x="262" y="48"/>
                </a:lnTo>
                <a:lnTo>
                  <a:pt x="278" y="52"/>
                </a:lnTo>
                <a:lnTo>
                  <a:pt x="295" y="55"/>
                </a:lnTo>
                <a:lnTo>
                  <a:pt x="311" y="58"/>
                </a:lnTo>
                <a:lnTo>
                  <a:pt x="327" y="60"/>
                </a:lnTo>
                <a:lnTo>
                  <a:pt x="344" y="62"/>
                </a:lnTo>
                <a:lnTo>
                  <a:pt x="360" y="64"/>
                </a:lnTo>
                <a:lnTo>
                  <a:pt x="377" y="65"/>
                </a:lnTo>
                <a:lnTo>
                  <a:pt x="393" y="65"/>
                </a:lnTo>
                <a:lnTo>
                  <a:pt x="393" y="84"/>
                </a:lnTo>
                <a:lnTo>
                  <a:pt x="377" y="83"/>
                </a:lnTo>
                <a:lnTo>
                  <a:pt x="360" y="82"/>
                </a:lnTo>
                <a:lnTo>
                  <a:pt x="344" y="81"/>
                </a:lnTo>
                <a:lnTo>
                  <a:pt x="327" y="79"/>
                </a:lnTo>
                <a:lnTo>
                  <a:pt x="311" y="76"/>
                </a:lnTo>
                <a:lnTo>
                  <a:pt x="295" y="74"/>
                </a:lnTo>
                <a:lnTo>
                  <a:pt x="278" y="70"/>
                </a:lnTo>
                <a:lnTo>
                  <a:pt x="262" y="67"/>
                </a:lnTo>
                <a:lnTo>
                  <a:pt x="246" y="63"/>
                </a:lnTo>
                <a:lnTo>
                  <a:pt x="229" y="59"/>
                </a:lnTo>
                <a:lnTo>
                  <a:pt x="213" y="55"/>
                </a:lnTo>
                <a:lnTo>
                  <a:pt x="196" y="51"/>
                </a:lnTo>
                <a:lnTo>
                  <a:pt x="180" y="47"/>
                </a:lnTo>
                <a:lnTo>
                  <a:pt x="164" y="43"/>
                </a:lnTo>
                <a:lnTo>
                  <a:pt x="147" y="39"/>
                </a:lnTo>
                <a:lnTo>
                  <a:pt x="131" y="36"/>
                </a:lnTo>
                <a:lnTo>
                  <a:pt x="114" y="32"/>
                </a:lnTo>
                <a:lnTo>
                  <a:pt x="98" y="29"/>
                </a:lnTo>
                <a:lnTo>
                  <a:pt x="82" y="26"/>
                </a:lnTo>
                <a:lnTo>
                  <a:pt x="65" y="24"/>
                </a:lnTo>
                <a:lnTo>
                  <a:pt x="49" y="22"/>
                </a:lnTo>
                <a:lnTo>
                  <a:pt x="33" y="20"/>
                </a:lnTo>
                <a:lnTo>
                  <a:pt x="16" y="19"/>
                </a:lnTo>
                <a:lnTo>
                  <a:pt x="0" y="19"/>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3981450"/>
            <a:ext cx="3743325" cy="1171575"/>
          </a:xfrm>
          <a:custGeom>
            <a:avLst/>
            <a:gdLst/>
            <a:ahLst/>
            <a:cxnLst/>
            <a:rect l="l" t="t" r="r" b="b"/>
            <a:pathLst>
              <a:path w="393" h="123">
                <a:moveTo>
                  <a:pt x="0" y="0"/>
                </a:moveTo>
                <a:lnTo>
                  <a:pt x="16" y="0"/>
                </a:lnTo>
                <a:lnTo>
                  <a:pt x="33" y="2"/>
                </a:lnTo>
                <a:lnTo>
                  <a:pt x="49" y="4"/>
                </a:lnTo>
                <a:lnTo>
                  <a:pt x="65" y="8"/>
                </a:lnTo>
                <a:lnTo>
                  <a:pt x="82" y="12"/>
                </a:lnTo>
                <a:lnTo>
                  <a:pt x="98" y="17"/>
                </a:lnTo>
                <a:lnTo>
                  <a:pt x="114" y="22"/>
                </a:lnTo>
                <a:lnTo>
                  <a:pt x="131" y="27"/>
                </a:lnTo>
                <a:lnTo>
                  <a:pt x="147" y="33"/>
                </a:lnTo>
                <a:lnTo>
                  <a:pt x="164" y="40"/>
                </a:lnTo>
                <a:lnTo>
                  <a:pt x="180" y="46"/>
                </a:lnTo>
                <a:lnTo>
                  <a:pt x="196" y="53"/>
                </a:lnTo>
                <a:lnTo>
                  <a:pt x="213" y="60"/>
                </a:lnTo>
                <a:lnTo>
                  <a:pt x="229" y="66"/>
                </a:lnTo>
                <a:lnTo>
                  <a:pt x="246" y="72"/>
                </a:lnTo>
                <a:lnTo>
                  <a:pt x="262" y="78"/>
                </a:lnTo>
                <a:lnTo>
                  <a:pt x="278" y="84"/>
                </a:lnTo>
                <a:lnTo>
                  <a:pt x="295" y="89"/>
                </a:lnTo>
                <a:lnTo>
                  <a:pt x="311" y="94"/>
                </a:lnTo>
                <a:lnTo>
                  <a:pt x="327" y="98"/>
                </a:lnTo>
                <a:lnTo>
                  <a:pt x="344" y="101"/>
                </a:lnTo>
                <a:lnTo>
                  <a:pt x="360" y="104"/>
                </a:lnTo>
                <a:lnTo>
                  <a:pt x="377" y="105"/>
                </a:lnTo>
                <a:lnTo>
                  <a:pt x="393" y="106"/>
                </a:lnTo>
                <a:lnTo>
                  <a:pt x="393" y="123"/>
                </a:lnTo>
                <a:lnTo>
                  <a:pt x="377" y="122"/>
                </a:lnTo>
                <a:lnTo>
                  <a:pt x="360" y="121"/>
                </a:lnTo>
                <a:lnTo>
                  <a:pt x="344" y="118"/>
                </a:lnTo>
                <a:lnTo>
                  <a:pt x="327" y="115"/>
                </a:lnTo>
                <a:lnTo>
                  <a:pt x="311" y="111"/>
                </a:lnTo>
                <a:lnTo>
                  <a:pt x="295" y="106"/>
                </a:lnTo>
                <a:lnTo>
                  <a:pt x="278" y="101"/>
                </a:lnTo>
                <a:lnTo>
                  <a:pt x="262" y="95"/>
                </a:lnTo>
                <a:lnTo>
                  <a:pt x="246" y="89"/>
                </a:lnTo>
                <a:lnTo>
                  <a:pt x="229" y="83"/>
                </a:lnTo>
                <a:lnTo>
                  <a:pt x="213" y="76"/>
                </a:lnTo>
                <a:lnTo>
                  <a:pt x="196" y="70"/>
                </a:lnTo>
                <a:lnTo>
                  <a:pt x="180" y="63"/>
                </a:lnTo>
                <a:lnTo>
                  <a:pt x="164" y="57"/>
                </a:lnTo>
                <a:lnTo>
                  <a:pt x="147" y="50"/>
                </a:lnTo>
                <a:lnTo>
                  <a:pt x="131" y="44"/>
                </a:lnTo>
                <a:lnTo>
                  <a:pt x="114" y="38"/>
                </a:lnTo>
                <a:lnTo>
                  <a:pt x="98" y="33"/>
                </a:lnTo>
                <a:lnTo>
                  <a:pt x="82" y="29"/>
                </a:lnTo>
                <a:lnTo>
                  <a:pt x="65" y="25"/>
                </a:lnTo>
                <a:lnTo>
                  <a:pt x="49" y="21"/>
                </a:lnTo>
                <a:lnTo>
                  <a:pt x="33" y="19"/>
                </a:lnTo>
                <a:lnTo>
                  <a:pt x="16" y="17"/>
                </a:lnTo>
                <a:lnTo>
                  <a:pt x="0" y="17"/>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143375"/>
            <a:ext cx="3743325" cy="1400175"/>
          </a:xfrm>
          <a:custGeom>
            <a:avLst/>
            <a:gdLst/>
            <a:ahLst/>
            <a:cxnLst/>
            <a:rect l="l" t="t" r="r" b="b"/>
            <a:pathLst>
              <a:path w="393" h="147">
                <a:moveTo>
                  <a:pt x="0" y="0"/>
                </a:moveTo>
                <a:lnTo>
                  <a:pt x="16" y="0"/>
                </a:lnTo>
                <a:lnTo>
                  <a:pt x="33" y="2"/>
                </a:lnTo>
                <a:lnTo>
                  <a:pt x="49" y="6"/>
                </a:lnTo>
                <a:lnTo>
                  <a:pt x="65" y="10"/>
                </a:lnTo>
                <a:lnTo>
                  <a:pt x="82" y="15"/>
                </a:lnTo>
                <a:lnTo>
                  <a:pt x="98" y="21"/>
                </a:lnTo>
                <a:lnTo>
                  <a:pt x="114" y="28"/>
                </a:lnTo>
                <a:lnTo>
                  <a:pt x="131" y="35"/>
                </a:lnTo>
                <a:lnTo>
                  <a:pt x="147" y="43"/>
                </a:lnTo>
                <a:lnTo>
                  <a:pt x="164" y="52"/>
                </a:lnTo>
                <a:lnTo>
                  <a:pt x="180" y="60"/>
                </a:lnTo>
                <a:lnTo>
                  <a:pt x="196" y="69"/>
                </a:lnTo>
                <a:lnTo>
                  <a:pt x="213" y="77"/>
                </a:lnTo>
                <a:lnTo>
                  <a:pt x="229" y="86"/>
                </a:lnTo>
                <a:lnTo>
                  <a:pt x="246" y="94"/>
                </a:lnTo>
                <a:lnTo>
                  <a:pt x="262" y="102"/>
                </a:lnTo>
                <a:lnTo>
                  <a:pt x="278" y="109"/>
                </a:lnTo>
                <a:lnTo>
                  <a:pt x="295" y="116"/>
                </a:lnTo>
                <a:lnTo>
                  <a:pt x="311" y="122"/>
                </a:lnTo>
                <a:lnTo>
                  <a:pt x="327" y="128"/>
                </a:lnTo>
                <a:lnTo>
                  <a:pt x="344" y="132"/>
                </a:lnTo>
                <a:lnTo>
                  <a:pt x="360" y="135"/>
                </a:lnTo>
                <a:lnTo>
                  <a:pt x="377" y="137"/>
                </a:lnTo>
                <a:lnTo>
                  <a:pt x="393" y="138"/>
                </a:lnTo>
                <a:lnTo>
                  <a:pt x="393" y="147"/>
                </a:lnTo>
                <a:lnTo>
                  <a:pt x="377" y="147"/>
                </a:lnTo>
                <a:lnTo>
                  <a:pt x="360" y="145"/>
                </a:lnTo>
                <a:lnTo>
                  <a:pt x="344" y="141"/>
                </a:lnTo>
                <a:lnTo>
                  <a:pt x="327" y="137"/>
                </a:lnTo>
                <a:lnTo>
                  <a:pt x="311" y="132"/>
                </a:lnTo>
                <a:lnTo>
                  <a:pt x="295" y="126"/>
                </a:lnTo>
                <a:lnTo>
                  <a:pt x="278" y="119"/>
                </a:lnTo>
                <a:lnTo>
                  <a:pt x="262" y="111"/>
                </a:lnTo>
                <a:lnTo>
                  <a:pt x="246" y="104"/>
                </a:lnTo>
                <a:lnTo>
                  <a:pt x="229" y="95"/>
                </a:lnTo>
                <a:lnTo>
                  <a:pt x="213" y="87"/>
                </a:lnTo>
                <a:lnTo>
                  <a:pt x="196" y="78"/>
                </a:lnTo>
                <a:lnTo>
                  <a:pt x="180" y="70"/>
                </a:lnTo>
                <a:lnTo>
                  <a:pt x="164" y="61"/>
                </a:lnTo>
                <a:lnTo>
                  <a:pt x="147" y="53"/>
                </a:lnTo>
                <a:lnTo>
                  <a:pt x="131" y="45"/>
                </a:lnTo>
                <a:lnTo>
                  <a:pt x="114" y="38"/>
                </a:lnTo>
                <a:lnTo>
                  <a:pt x="98" y="31"/>
                </a:lnTo>
                <a:lnTo>
                  <a:pt x="82" y="25"/>
                </a:lnTo>
                <a:lnTo>
                  <a:pt x="65" y="19"/>
                </a:lnTo>
                <a:lnTo>
                  <a:pt x="49" y="15"/>
                </a:lnTo>
                <a:lnTo>
                  <a:pt x="33" y="12"/>
                </a:lnTo>
                <a:lnTo>
                  <a:pt x="16" y="10"/>
                </a:lnTo>
                <a:lnTo>
                  <a:pt x="0" y="9"/>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276475"/>
            <a:ext cx="3743325" cy="2495550"/>
          </a:xfrm>
          <a:custGeom>
            <a:avLst/>
            <a:gdLst/>
            <a:ahLst/>
            <a:cxnLst/>
            <a:rect l="l" t="t" r="r" b="b"/>
            <a:pathLst>
              <a:path w="393" h="262">
                <a:moveTo>
                  <a:pt x="0" y="211"/>
                </a:moveTo>
                <a:lnTo>
                  <a:pt x="16" y="210"/>
                </a:lnTo>
                <a:lnTo>
                  <a:pt x="33" y="207"/>
                </a:lnTo>
                <a:lnTo>
                  <a:pt x="49" y="202"/>
                </a:lnTo>
                <a:lnTo>
                  <a:pt x="65" y="195"/>
                </a:lnTo>
                <a:lnTo>
                  <a:pt x="82" y="187"/>
                </a:lnTo>
                <a:lnTo>
                  <a:pt x="98" y="178"/>
                </a:lnTo>
                <a:lnTo>
                  <a:pt x="114" y="168"/>
                </a:lnTo>
                <a:lnTo>
                  <a:pt x="131" y="156"/>
                </a:lnTo>
                <a:lnTo>
                  <a:pt x="147" y="144"/>
                </a:lnTo>
                <a:lnTo>
                  <a:pt x="164" y="132"/>
                </a:lnTo>
                <a:lnTo>
                  <a:pt x="180" y="119"/>
                </a:lnTo>
                <a:lnTo>
                  <a:pt x="196" y="105"/>
                </a:lnTo>
                <a:lnTo>
                  <a:pt x="213" y="92"/>
                </a:lnTo>
                <a:lnTo>
                  <a:pt x="229" y="79"/>
                </a:lnTo>
                <a:lnTo>
                  <a:pt x="246" y="67"/>
                </a:lnTo>
                <a:lnTo>
                  <a:pt x="262" y="55"/>
                </a:lnTo>
                <a:lnTo>
                  <a:pt x="278" y="43"/>
                </a:lnTo>
                <a:lnTo>
                  <a:pt x="295" y="33"/>
                </a:lnTo>
                <a:lnTo>
                  <a:pt x="311" y="24"/>
                </a:lnTo>
                <a:lnTo>
                  <a:pt x="327" y="16"/>
                </a:lnTo>
                <a:lnTo>
                  <a:pt x="344" y="9"/>
                </a:lnTo>
                <a:lnTo>
                  <a:pt x="360" y="4"/>
                </a:lnTo>
                <a:lnTo>
                  <a:pt x="377" y="1"/>
                </a:lnTo>
                <a:lnTo>
                  <a:pt x="393" y="0"/>
                </a:lnTo>
                <a:lnTo>
                  <a:pt x="393" y="51"/>
                </a:lnTo>
                <a:lnTo>
                  <a:pt x="377" y="52"/>
                </a:lnTo>
                <a:lnTo>
                  <a:pt x="360" y="55"/>
                </a:lnTo>
                <a:lnTo>
                  <a:pt x="344" y="60"/>
                </a:lnTo>
                <a:lnTo>
                  <a:pt x="327" y="66"/>
                </a:lnTo>
                <a:lnTo>
                  <a:pt x="311" y="74"/>
                </a:lnTo>
                <a:lnTo>
                  <a:pt x="295" y="84"/>
                </a:lnTo>
                <a:lnTo>
                  <a:pt x="278" y="94"/>
                </a:lnTo>
                <a:lnTo>
                  <a:pt x="262" y="106"/>
                </a:lnTo>
                <a:lnTo>
                  <a:pt x="246" y="118"/>
                </a:lnTo>
                <a:lnTo>
                  <a:pt x="229" y="130"/>
                </a:lnTo>
                <a:lnTo>
                  <a:pt x="213" y="143"/>
                </a:lnTo>
                <a:lnTo>
                  <a:pt x="196" y="156"/>
                </a:lnTo>
                <a:lnTo>
                  <a:pt x="180" y="170"/>
                </a:lnTo>
                <a:lnTo>
                  <a:pt x="164" y="183"/>
                </a:lnTo>
                <a:lnTo>
                  <a:pt x="147" y="195"/>
                </a:lnTo>
                <a:lnTo>
                  <a:pt x="131" y="207"/>
                </a:lnTo>
                <a:lnTo>
                  <a:pt x="114" y="219"/>
                </a:lnTo>
                <a:lnTo>
                  <a:pt x="98" y="229"/>
                </a:lnTo>
                <a:lnTo>
                  <a:pt x="82" y="238"/>
                </a:lnTo>
                <a:lnTo>
                  <a:pt x="65" y="246"/>
                </a:lnTo>
                <a:lnTo>
                  <a:pt x="49" y="253"/>
                </a:lnTo>
                <a:lnTo>
                  <a:pt x="33" y="258"/>
                </a:lnTo>
                <a:lnTo>
                  <a:pt x="16" y="261"/>
                </a:lnTo>
                <a:lnTo>
                  <a:pt x="0" y="262"/>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276600"/>
            <a:ext cx="3743325" cy="1724025"/>
          </a:xfrm>
          <a:custGeom>
            <a:avLst/>
            <a:gdLst/>
            <a:ahLst/>
            <a:cxnLst/>
            <a:rect l="l" t="t" r="r" b="b"/>
            <a:pathLst>
              <a:path w="393" h="181">
                <a:moveTo>
                  <a:pt x="0" y="157"/>
                </a:moveTo>
                <a:lnTo>
                  <a:pt x="16" y="156"/>
                </a:lnTo>
                <a:lnTo>
                  <a:pt x="33" y="154"/>
                </a:lnTo>
                <a:lnTo>
                  <a:pt x="49" y="150"/>
                </a:lnTo>
                <a:lnTo>
                  <a:pt x="65" y="145"/>
                </a:lnTo>
                <a:lnTo>
                  <a:pt x="82" y="139"/>
                </a:lnTo>
                <a:lnTo>
                  <a:pt x="98" y="133"/>
                </a:lnTo>
                <a:lnTo>
                  <a:pt x="114" y="125"/>
                </a:lnTo>
                <a:lnTo>
                  <a:pt x="131" y="116"/>
                </a:lnTo>
                <a:lnTo>
                  <a:pt x="147" y="108"/>
                </a:lnTo>
                <a:lnTo>
                  <a:pt x="164" y="98"/>
                </a:lnTo>
                <a:lnTo>
                  <a:pt x="180" y="89"/>
                </a:lnTo>
                <a:lnTo>
                  <a:pt x="196" y="79"/>
                </a:lnTo>
                <a:lnTo>
                  <a:pt x="213" y="69"/>
                </a:lnTo>
                <a:lnTo>
                  <a:pt x="229" y="59"/>
                </a:lnTo>
                <a:lnTo>
                  <a:pt x="246" y="50"/>
                </a:lnTo>
                <a:lnTo>
                  <a:pt x="262" y="41"/>
                </a:lnTo>
                <a:lnTo>
                  <a:pt x="278" y="33"/>
                </a:lnTo>
                <a:lnTo>
                  <a:pt x="295" y="25"/>
                </a:lnTo>
                <a:lnTo>
                  <a:pt x="311" y="18"/>
                </a:lnTo>
                <a:lnTo>
                  <a:pt x="327" y="12"/>
                </a:lnTo>
                <a:lnTo>
                  <a:pt x="344" y="7"/>
                </a:lnTo>
                <a:lnTo>
                  <a:pt x="360" y="4"/>
                </a:lnTo>
                <a:lnTo>
                  <a:pt x="377" y="1"/>
                </a:lnTo>
                <a:lnTo>
                  <a:pt x="393" y="0"/>
                </a:lnTo>
                <a:lnTo>
                  <a:pt x="393" y="25"/>
                </a:lnTo>
                <a:lnTo>
                  <a:pt x="377" y="26"/>
                </a:lnTo>
                <a:lnTo>
                  <a:pt x="360" y="28"/>
                </a:lnTo>
                <a:lnTo>
                  <a:pt x="344" y="32"/>
                </a:lnTo>
                <a:lnTo>
                  <a:pt x="327" y="36"/>
                </a:lnTo>
                <a:lnTo>
                  <a:pt x="311" y="42"/>
                </a:lnTo>
                <a:lnTo>
                  <a:pt x="295" y="49"/>
                </a:lnTo>
                <a:lnTo>
                  <a:pt x="278" y="57"/>
                </a:lnTo>
                <a:lnTo>
                  <a:pt x="262" y="65"/>
                </a:lnTo>
                <a:lnTo>
                  <a:pt x="246" y="74"/>
                </a:lnTo>
                <a:lnTo>
                  <a:pt x="229" y="84"/>
                </a:lnTo>
                <a:lnTo>
                  <a:pt x="213" y="93"/>
                </a:lnTo>
                <a:lnTo>
                  <a:pt x="196" y="103"/>
                </a:lnTo>
                <a:lnTo>
                  <a:pt x="180" y="113"/>
                </a:lnTo>
                <a:lnTo>
                  <a:pt x="164" y="122"/>
                </a:lnTo>
                <a:lnTo>
                  <a:pt x="147" y="132"/>
                </a:lnTo>
                <a:lnTo>
                  <a:pt x="131" y="141"/>
                </a:lnTo>
                <a:lnTo>
                  <a:pt x="114" y="149"/>
                </a:lnTo>
                <a:lnTo>
                  <a:pt x="98" y="157"/>
                </a:lnTo>
                <a:lnTo>
                  <a:pt x="82" y="164"/>
                </a:lnTo>
                <a:lnTo>
                  <a:pt x="65" y="170"/>
                </a:lnTo>
                <a:lnTo>
                  <a:pt x="49" y="175"/>
                </a:lnTo>
                <a:lnTo>
                  <a:pt x="33" y="178"/>
                </a:lnTo>
                <a:lnTo>
                  <a:pt x="16" y="181"/>
                </a:lnTo>
                <a:lnTo>
                  <a:pt x="0" y="181"/>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3981450"/>
            <a:ext cx="3743325" cy="1228725"/>
          </a:xfrm>
          <a:custGeom>
            <a:avLst/>
            <a:gdLst/>
            <a:ahLst/>
            <a:cxnLst/>
            <a:rect l="l" t="t" r="r" b="b"/>
            <a:pathLst>
              <a:path w="393" h="129">
                <a:moveTo>
                  <a:pt x="0" y="107"/>
                </a:moveTo>
                <a:lnTo>
                  <a:pt x="16" y="107"/>
                </a:lnTo>
                <a:lnTo>
                  <a:pt x="33" y="105"/>
                </a:lnTo>
                <a:lnTo>
                  <a:pt x="49" y="103"/>
                </a:lnTo>
                <a:lnTo>
                  <a:pt x="65" y="99"/>
                </a:lnTo>
                <a:lnTo>
                  <a:pt x="82" y="95"/>
                </a:lnTo>
                <a:lnTo>
                  <a:pt x="98" y="91"/>
                </a:lnTo>
                <a:lnTo>
                  <a:pt x="114" y="85"/>
                </a:lnTo>
                <a:lnTo>
                  <a:pt x="131" y="80"/>
                </a:lnTo>
                <a:lnTo>
                  <a:pt x="147" y="73"/>
                </a:lnTo>
                <a:lnTo>
                  <a:pt x="164" y="67"/>
                </a:lnTo>
                <a:lnTo>
                  <a:pt x="180" y="60"/>
                </a:lnTo>
                <a:lnTo>
                  <a:pt x="196" y="54"/>
                </a:lnTo>
                <a:lnTo>
                  <a:pt x="213" y="47"/>
                </a:lnTo>
                <a:lnTo>
                  <a:pt x="229" y="40"/>
                </a:lnTo>
                <a:lnTo>
                  <a:pt x="246" y="34"/>
                </a:lnTo>
                <a:lnTo>
                  <a:pt x="262" y="28"/>
                </a:lnTo>
                <a:lnTo>
                  <a:pt x="278" y="22"/>
                </a:lnTo>
                <a:lnTo>
                  <a:pt x="295" y="17"/>
                </a:lnTo>
                <a:lnTo>
                  <a:pt x="311" y="12"/>
                </a:lnTo>
                <a:lnTo>
                  <a:pt x="327" y="8"/>
                </a:lnTo>
                <a:lnTo>
                  <a:pt x="344" y="5"/>
                </a:lnTo>
                <a:lnTo>
                  <a:pt x="360" y="2"/>
                </a:lnTo>
                <a:lnTo>
                  <a:pt x="377" y="1"/>
                </a:lnTo>
                <a:lnTo>
                  <a:pt x="393" y="0"/>
                </a:lnTo>
                <a:lnTo>
                  <a:pt x="393" y="22"/>
                </a:lnTo>
                <a:lnTo>
                  <a:pt x="377" y="22"/>
                </a:lnTo>
                <a:lnTo>
                  <a:pt x="360" y="24"/>
                </a:lnTo>
                <a:lnTo>
                  <a:pt x="344" y="26"/>
                </a:lnTo>
                <a:lnTo>
                  <a:pt x="327" y="30"/>
                </a:lnTo>
                <a:lnTo>
                  <a:pt x="311" y="34"/>
                </a:lnTo>
                <a:lnTo>
                  <a:pt x="295" y="38"/>
                </a:lnTo>
                <a:lnTo>
                  <a:pt x="278" y="44"/>
                </a:lnTo>
                <a:lnTo>
                  <a:pt x="262" y="50"/>
                </a:lnTo>
                <a:lnTo>
                  <a:pt x="246" y="56"/>
                </a:lnTo>
                <a:lnTo>
                  <a:pt x="229" y="62"/>
                </a:lnTo>
                <a:lnTo>
                  <a:pt x="213" y="69"/>
                </a:lnTo>
                <a:lnTo>
                  <a:pt x="196" y="75"/>
                </a:lnTo>
                <a:lnTo>
                  <a:pt x="180" y="82"/>
                </a:lnTo>
                <a:lnTo>
                  <a:pt x="164" y="89"/>
                </a:lnTo>
                <a:lnTo>
                  <a:pt x="147" y="95"/>
                </a:lnTo>
                <a:lnTo>
                  <a:pt x="131" y="101"/>
                </a:lnTo>
                <a:lnTo>
                  <a:pt x="114" y="107"/>
                </a:lnTo>
                <a:lnTo>
                  <a:pt x="98" y="112"/>
                </a:lnTo>
                <a:lnTo>
                  <a:pt x="82" y="117"/>
                </a:lnTo>
                <a:lnTo>
                  <a:pt x="65" y="121"/>
                </a:lnTo>
                <a:lnTo>
                  <a:pt x="49" y="124"/>
                </a:lnTo>
                <a:lnTo>
                  <a:pt x="33" y="127"/>
                </a:lnTo>
                <a:lnTo>
                  <a:pt x="16" y="128"/>
                </a:lnTo>
                <a:lnTo>
                  <a:pt x="0" y="129"/>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600575"/>
            <a:ext cx="3743325" cy="781050"/>
          </a:xfrm>
          <a:custGeom>
            <a:avLst/>
            <a:gdLst/>
            <a:ahLst/>
            <a:cxnLst/>
            <a:rect l="l" t="t" r="r" b="b"/>
            <a:pathLst>
              <a:path w="393" h="82">
                <a:moveTo>
                  <a:pt x="0" y="64"/>
                </a:moveTo>
                <a:lnTo>
                  <a:pt x="16" y="64"/>
                </a:lnTo>
                <a:lnTo>
                  <a:pt x="33" y="63"/>
                </a:lnTo>
                <a:lnTo>
                  <a:pt x="49" y="61"/>
                </a:lnTo>
                <a:lnTo>
                  <a:pt x="65" y="59"/>
                </a:lnTo>
                <a:lnTo>
                  <a:pt x="82" y="57"/>
                </a:lnTo>
                <a:lnTo>
                  <a:pt x="98" y="54"/>
                </a:lnTo>
                <a:lnTo>
                  <a:pt x="114" y="51"/>
                </a:lnTo>
                <a:lnTo>
                  <a:pt x="131" y="47"/>
                </a:lnTo>
                <a:lnTo>
                  <a:pt x="147" y="44"/>
                </a:lnTo>
                <a:lnTo>
                  <a:pt x="164" y="40"/>
                </a:lnTo>
                <a:lnTo>
                  <a:pt x="180" y="36"/>
                </a:lnTo>
                <a:lnTo>
                  <a:pt x="196" y="32"/>
                </a:lnTo>
                <a:lnTo>
                  <a:pt x="213" y="28"/>
                </a:lnTo>
                <a:lnTo>
                  <a:pt x="229" y="24"/>
                </a:lnTo>
                <a:lnTo>
                  <a:pt x="246" y="20"/>
                </a:lnTo>
                <a:lnTo>
                  <a:pt x="262" y="16"/>
                </a:lnTo>
                <a:lnTo>
                  <a:pt x="278" y="13"/>
                </a:lnTo>
                <a:lnTo>
                  <a:pt x="295" y="10"/>
                </a:lnTo>
                <a:lnTo>
                  <a:pt x="311" y="7"/>
                </a:lnTo>
                <a:lnTo>
                  <a:pt x="327" y="4"/>
                </a:lnTo>
                <a:lnTo>
                  <a:pt x="344" y="2"/>
                </a:lnTo>
                <a:lnTo>
                  <a:pt x="360" y="1"/>
                </a:lnTo>
                <a:lnTo>
                  <a:pt x="377" y="0"/>
                </a:lnTo>
                <a:lnTo>
                  <a:pt x="393" y="0"/>
                </a:lnTo>
                <a:lnTo>
                  <a:pt x="393" y="18"/>
                </a:lnTo>
                <a:lnTo>
                  <a:pt x="377" y="18"/>
                </a:lnTo>
                <a:lnTo>
                  <a:pt x="360" y="19"/>
                </a:lnTo>
                <a:lnTo>
                  <a:pt x="344" y="21"/>
                </a:lnTo>
                <a:lnTo>
                  <a:pt x="327" y="23"/>
                </a:lnTo>
                <a:lnTo>
                  <a:pt x="311" y="25"/>
                </a:lnTo>
                <a:lnTo>
                  <a:pt x="295" y="28"/>
                </a:lnTo>
                <a:lnTo>
                  <a:pt x="278" y="31"/>
                </a:lnTo>
                <a:lnTo>
                  <a:pt x="262" y="35"/>
                </a:lnTo>
                <a:lnTo>
                  <a:pt x="246" y="39"/>
                </a:lnTo>
                <a:lnTo>
                  <a:pt x="229" y="42"/>
                </a:lnTo>
                <a:lnTo>
                  <a:pt x="213" y="46"/>
                </a:lnTo>
                <a:lnTo>
                  <a:pt x="196" y="50"/>
                </a:lnTo>
                <a:lnTo>
                  <a:pt x="180" y="54"/>
                </a:lnTo>
                <a:lnTo>
                  <a:pt x="164" y="58"/>
                </a:lnTo>
                <a:lnTo>
                  <a:pt x="147" y="62"/>
                </a:lnTo>
                <a:lnTo>
                  <a:pt x="131" y="66"/>
                </a:lnTo>
                <a:lnTo>
                  <a:pt x="114" y="69"/>
                </a:lnTo>
                <a:lnTo>
                  <a:pt x="98" y="72"/>
                </a:lnTo>
                <a:lnTo>
                  <a:pt x="82" y="75"/>
                </a:lnTo>
                <a:lnTo>
                  <a:pt x="65" y="78"/>
                </a:lnTo>
                <a:lnTo>
                  <a:pt x="49" y="80"/>
                </a:lnTo>
                <a:lnTo>
                  <a:pt x="33" y="81"/>
                </a:lnTo>
                <a:lnTo>
                  <a:pt x="16" y="82"/>
                </a:lnTo>
                <a:lnTo>
                  <a:pt x="0" y="82"/>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153025"/>
            <a:ext cx="3743325" cy="390525"/>
          </a:xfrm>
          <a:custGeom>
            <a:avLst/>
            <a:gdLst/>
            <a:ahLst/>
            <a:cxnLst/>
            <a:rect l="l" t="t" r="r" b="b"/>
            <a:pathLst>
              <a:path w="393" h="41">
                <a:moveTo>
                  <a:pt x="0" y="24"/>
                </a:moveTo>
                <a:lnTo>
                  <a:pt x="16" y="24"/>
                </a:lnTo>
                <a:lnTo>
                  <a:pt x="33" y="24"/>
                </a:lnTo>
                <a:lnTo>
                  <a:pt x="49" y="23"/>
                </a:lnTo>
                <a:lnTo>
                  <a:pt x="65" y="23"/>
                </a:lnTo>
                <a:lnTo>
                  <a:pt x="82" y="22"/>
                </a:lnTo>
                <a:lnTo>
                  <a:pt x="98" y="21"/>
                </a:lnTo>
                <a:lnTo>
                  <a:pt x="114" y="19"/>
                </a:lnTo>
                <a:lnTo>
                  <a:pt x="131" y="18"/>
                </a:lnTo>
                <a:lnTo>
                  <a:pt x="147" y="17"/>
                </a:lnTo>
                <a:lnTo>
                  <a:pt x="164" y="15"/>
                </a:lnTo>
                <a:lnTo>
                  <a:pt x="180" y="14"/>
                </a:lnTo>
                <a:lnTo>
                  <a:pt x="196" y="12"/>
                </a:lnTo>
                <a:lnTo>
                  <a:pt x="213" y="11"/>
                </a:lnTo>
                <a:lnTo>
                  <a:pt x="229" y="9"/>
                </a:lnTo>
                <a:lnTo>
                  <a:pt x="246" y="8"/>
                </a:lnTo>
                <a:lnTo>
                  <a:pt x="262" y="6"/>
                </a:lnTo>
                <a:lnTo>
                  <a:pt x="278" y="5"/>
                </a:lnTo>
                <a:lnTo>
                  <a:pt x="295" y="4"/>
                </a:lnTo>
                <a:lnTo>
                  <a:pt x="311" y="2"/>
                </a:lnTo>
                <a:lnTo>
                  <a:pt x="327" y="1"/>
                </a:lnTo>
                <a:lnTo>
                  <a:pt x="344" y="1"/>
                </a:lnTo>
                <a:lnTo>
                  <a:pt x="360" y="0"/>
                </a:lnTo>
                <a:lnTo>
                  <a:pt x="377" y="0"/>
                </a:lnTo>
                <a:lnTo>
                  <a:pt x="393" y="0"/>
                </a:lnTo>
                <a:lnTo>
                  <a:pt x="393" y="16"/>
                </a:lnTo>
                <a:lnTo>
                  <a:pt x="377" y="17"/>
                </a:lnTo>
                <a:lnTo>
                  <a:pt x="360" y="17"/>
                </a:lnTo>
                <a:lnTo>
                  <a:pt x="344" y="17"/>
                </a:lnTo>
                <a:lnTo>
                  <a:pt x="327" y="18"/>
                </a:lnTo>
                <a:lnTo>
                  <a:pt x="311" y="19"/>
                </a:lnTo>
                <a:lnTo>
                  <a:pt x="295" y="20"/>
                </a:lnTo>
                <a:lnTo>
                  <a:pt x="278" y="21"/>
                </a:lnTo>
                <a:lnTo>
                  <a:pt x="262" y="23"/>
                </a:lnTo>
                <a:lnTo>
                  <a:pt x="246" y="24"/>
                </a:lnTo>
                <a:lnTo>
                  <a:pt x="229" y="26"/>
                </a:lnTo>
                <a:lnTo>
                  <a:pt x="213" y="27"/>
                </a:lnTo>
                <a:lnTo>
                  <a:pt x="196" y="29"/>
                </a:lnTo>
                <a:lnTo>
                  <a:pt x="180" y="30"/>
                </a:lnTo>
                <a:lnTo>
                  <a:pt x="164" y="32"/>
                </a:lnTo>
                <a:lnTo>
                  <a:pt x="147" y="33"/>
                </a:lnTo>
                <a:lnTo>
                  <a:pt x="131" y="35"/>
                </a:lnTo>
                <a:lnTo>
                  <a:pt x="114" y="36"/>
                </a:lnTo>
                <a:lnTo>
                  <a:pt x="98" y="37"/>
                </a:lnTo>
                <a:lnTo>
                  <a:pt x="82" y="38"/>
                </a:lnTo>
                <a:lnTo>
                  <a:pt x="65" y="39"/>
                </a:lnTo>
                <a:lnTo>
                  <a:pt x="49" y="40"/>
                </a:lnTo>
                <a:lnTo>
                  <a:pt x="33" y="41"/>
                </a:lnTo>
                <a:lnTo>
                  <a:pt x="16" y="41"/>
                </a:lnTo>
                <a:lnTo>
                  <a:pt x="0" y="41"/>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543550"/>
            <a:ext cx="3743325" cy="95250"/>
          </a:xfrm>
          <a:custGeom>
            <a:avLst/>
            <a:gdLst/>
            <a:ahLst/>
            <a:cxnLst/>
            <a:rect l="l" t="t" r="r" b="b"/>
            <a:pathLst>
              <a:path w="393" h="10">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0"/>
                </a:lnTo>
                <a:lnTo>
                  <a:pt x="377" y="10"/>
                </a:lnTo>
                <a:lnTo>
                  <a:pt x="360" y="10"/>
                </a:lnTo>
                <a:lnTo>
                  <a:pt x="344" y="10"/>
                </a:lnTo>
                <a:lnTo>
                  <a:pt x="327" y="10"/>
                </a:lnTo>
                <a:lnTo>
                  <a:pt x="311" y="10"/>
                </a:lnTo>
                <a:lnTo>
                  <a:pt x="295" y="10"/>
                </a:lnTo>
                <a:lnTo>
                  <a:pt x="278" y="10"/>
                </a:lnTo>
                <a:lnTo>
                  <a:pt x="262" y="10"/>
                </a:lnTo>
                <a:lnTo>
                  <a:pt x="246" y="10"/>
                </a:lnTo>
                <a:lnTo>
                  <a:pt x="229" y="10"/>
                </a:lnTo>
                <a:lnTo>
                  <a:pt x="213" y="10"/>
                </a:lnTo>
                <a:lnTo>
                  <a:pt x="196" y="10"/>
                </a:lnTo>
                <a:lnTo>
                  <a:pt x="180" y="10"/>
                </a:lnTo>
                <a:lnTo>
                  <a:pt x="164" y="10"/>
                </a:lnTo>
                <a:lnTo>
                  <a:pt x="147" y="10"/>
                </a:lnTo>
                <a:lnTo>
                  <a:pt x="131" y="10"/>
                </a:lnTo>
                <a:lnTo>
                  <a:pt x="114" y="10"/>
                </a:lnTo>
                <a:lnTo>
                  <a:pt x="98" y="10"/>
                </a:lnTo>
                <a:lnTo>
                  <a:pt x="82" y="10"/>
                </a:lnTo>
                <a:lnTo>
                  <a:pt x="65" y="10"/>
                </a:lnTo>
                <a:lnTo>
                  <a:pt x="49" y="10"/>
                </a:lnTo>
                <a:lnTo>
                  <a:pt x="33" y="10"/>
                </a:lnTo>
                <a:lnTo>
                  <a:pt x="16" y="10"/>
                </a:lnTo>
                <a:lnTo>
                  <a:pt x="0" y="1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695950"/>
            <a:ext cx="3743325" cy="476250"/>
          </a:xfrm>
          <a:custGeom>
            <a:avLst/>
            <a:gdLst/>
            <a:ahLst/>
            <a:cxnLst/>
            <a:rect l="l" t="t" r="r" b="b"/>
            <a:pathLst>
              <a:path w="393" h="50">
                <a:moveTo>
                  <a:pt x="0" y="0"/>
                </a:moveTo>
                <a:lnTo>
                  <a:pt x="16" y="0"/>
                </a:lnTo>
                <a:lnTo>
                  <a:pt x="33" y="0"/>
                </a:lnTo>
                <a:lnTo>
                  <a:pt x="49" y="1"/>
                </a:lnTo>
                <a:lnTo>
                  <a:pt x="65" y="2"/>
                </a:lnTo>
                <a:lnTo>
                  <a:pt x="82" y="4"/>
                </a:lnTo>
                <a:lnTo>
                  <a:pt x="98" y="6"/>
                </a:lnTo>
                <a:lnTo>
                  <a:pt x="114" y="7"/>
                </a:lnTo>
                <a:lnTo>
                  <a:pt x="131" y="9"/>
                </a:lnTo>
                <a:lnTo>
                  <a:pt x="147" y="12"/>
                </a:lnTo>
                <a:lnTo>
                  <a:pt x="164" y="14"/>
                </a:lnTo>
                <a:lnTo>
                  <a:pt x="180" y="16"/>
                </a:lnTo>
                <a:lnTo>
                  <a:pt x="196" y="19"/>
                </a:lnTo>
                <a:lnTo>
                  <a:pt x="213" y="21"/>
                </a:lnTo>
                <a:lnTo>
                  <a:pt x="229" y="23"/>
                </a:lnTo>
                <a:lnTo>
                  <a:pt x="246" y="25"/>
                </a:lnTo>
                <a:lnTo>
                  <a:pt x="262" y="28"/>
                </a:lnTo>
                <a:lnTo>
                  <a:pt x="278" y="30"/>
                </a:lnTo>
                <a:lnTo>
                  <a:pt x="295" y="31"/>
                </a:lnTo>
                <a:lnTo>
                  <a:pt x="311" y="33"/>
                </a:lnTo>
                <a:lnTo>
                  <a:pt x="327" y="35"/>
                </a:lnTo>
                <a:lnTo>
                  <a:pt x="344" y="36"/>
                </a:lnTo>
                <a:lnTo>
                  <a:pt x="360" y="37"/>
                </a:lnTo>
                <a:lnTo>
                  <a:pt x="377" y="37"/>
                </a:lnTo>
                <a:lnTo>
                  <a:pt x="393" y="37"/>
                </a:lnTo>
                <a:lnTo>
                  <a:pt x="393" y="50"/>
                </a:lnTo>
                <a:lnTo>
                  <a:pt x="377" y="50"/>
                </a:lnTo>
                <a:lnTo>
                  <a:pt x="360" y="50"/>
                </a:lnTo>
                <a:lnTo>
                  <a:pt x="344" y="49"/>
                </a:lnTo>
                <a:lnTo>
                  <a:pt x="327" y="47"/>
                </a:lnTo>
                <a:lnTo>
                  <a:pt x="311" y="46"/>
                </a:lnTo>
                <a:lnTo>
                  <a:pt x="295" y="44"/>
                </a:lnTo>
                <a:lnTo>
                  <a:pt x="278" y="43"/>
                </a:lnTo>
                <a:lnTo>
                  <a:pt x="262" y="40"/>
                </a:lnTo>
                <a:lnTo>
                  <a:pt x="246" y="38"/>
                </a:lnTo>
                <a:lnTo>
                  <a:pt x="229" y="36"/>
                </a:lnTo>
                <a:lnTo>
                  <a:pt x="213" y="34"/>
                </a:lnTo>
                <a:lnTo>
                  <a:pt x="196" y="31"/>
                </a:lnTo>
                <a:lnTo>
                  <a:pt x="180" y="29"/>
                </a:lnTo>
                <a:lnTo>
                  <a:pt x="164" y="27"/>
                </a:lnTo>
                <a:lnTo>
                  <a:pt x="147" y="24"/>
                </a:lnTo>
                <a:lnTo>
                  <a:pt x="131" y="22"/>
                </a:lnTo>
                <a:lnTo>
                  <a:pt x="114" y="20"/>
                </a:lnTo>
                <a:lnTo>
                  <a:pt x="98" y="18"/>
                </a:lnTo>
                <a:lnTo>
                  <a:pt x="82" y="17"/>
                </a:lnTo>
                <a:lnTo>
                  <a:pt x="65" y="15"/>
                </a:lnTo>
                <a:lnTo>
                  <a:pt x="49" y="14"/>
                </a:lnTo>
                <a:lnTo>
                  <a:pt x="33" y="13"/>
                </a:lnTo>
                <a:lnTo>
                  <a:pt x="16" y="13"/>
                </a:lnTo>
                <a:lnTo>
                  <a:pt x="0" y="13"/>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5819775"/>
            <a:ext cx="3743325" cy="533400"/>
          </a:xfrm>
          <a:custGeom>
            <a:avLst/>
            <a:gdLst/>
            <a:ahLst/>
            <a:cxnLst/>
            <a:rect l="l" t="t" r="r" b="b"/>
            <a:pathLst>
              <a:path w="393" h="56">
                <a:moveTo>
                  <a:pt x="0" y="0"/>
                </a:moveTo>
                <a:lnTo>
                  <a:pt x="16" y="0"/>
                </a:lnTo>
                <a:lnTo>
                  <a:pt x="33" y="0"/>
                </a:lnTo>
                <a:lnTo>
                  <a:pt x="49" y="1"/>
                </a:lnTo>
                <a:lnTo>
                  <a:pt x="65" y="3"/>
                </a:lnTo>
                <a:lnTo>
                  <a:pt x="82" y="4"/>
                </a:lnTo>
                <a:lnTo>
                  <a:pt x="98" y="6"/>
                </a:lnTo>
                <a:lnTo>
                  <a:pt x="114" y="9"/>
                </a:lnTo>
                <a:lnTo>
                  <a:pt x="131" y="11"/>
                </a:lnTo>
                <a:lnTo>
                  <a:pt x="147" y="13"/>
                </a:lnTo>
                <a:lnTo>
                  <a:pt x="164" y="16"/>
                </a:lnTo>
                <a:lnTo>
                  <a:pt x="180" y="19"/>
                </a:lnTo>
                <a:lnTo>
                  <a:pt x="196" y="21"/>
                </a:lnTo>
                <a:lnTo>
                  <a:pt x="213" y="24"/>
                </a:lnTo>
                <a:lnTo>
                  <a:pt x="229" y="27"/>
                </a:lnTo>
                <a:lnTo>
                  <a:pt x="246" y="29"/>
                </a:lnTo>
                <a:lnTo>
                  <a:pt x="262" y="32"/>
                </a:lnTo>
                <a:lnTo>
                  <a:pt x="278" y="34"/>
                </a:lnTo>
                <a:lnTo>
                  <a:pt x="295" y="36"/>
                </a:lnTo>
                <a:lnTo>
                  <a:pt x="311" y="38"/>
                </a:lnTo>
                <a:lnTo>
                  <a:pt x="327" y="40"/>
                </a:lnTo>
                <a:lnTo>
                  <a:pt x="344" y="41"/>
                </a:lnTo>
                <a:lnTo>
                  <a:pt x="360" y="42"/>
                </a:lnTo>
                <a:lnTo>
                  <a:pt x="377" y="43"/>
                </a:lnTo>
                <a:lnTo>
                  <a:pt x="393" y="43"/>
                </a:lnTo>
                <a:lnTo>
                  <a:pt x="393" y="56"/>
                </a:lnTo>
                <a:lnTo>
                  <a:pt x="377" y="56"/>
                </a:lnTo>
                <a:lnTo>
                  <a:pt x="360" y="55"/>
                </a:lnTo>
                <a:lnTo>
                  <a:pt x="344" y="54"/>
                </a:lnTo>
                <a:lnTo>
                  <a:pt x="327" y="53"/>
                </a:lnTo>
                <a:lnTo>
                  <a:pt x="311" y="51"/>
                </a:lnTo>
                <a:lnTo>
                  <a:pt x="295" y="49"/>
                </a:lnTo>
                <a:lnTo>
                  <a:pt x="278" y="47"/>
                </a:lnTo>
                <a:lnTo>
                  <a:pt x="262" y="45"/>
                </a:lnTo>
                <a:lnTo>
                  <a:pt x="246" y="42"/>
                </a:lnTo>
                <a:lnTo>
                  <a:pt x="229" y="40"/>
                </a:lnTo>
                <a:lnTo>
                  <a:pt x="213" y="37"/>
                </a:lnTo>
                <a:lnTo>
                  <a:pt x="196" y="34"/>
                </a:lnTo>
                <a:lnTo>
                  <a:pt x="180" y="32"/>
                </a:lnTo>
                <a:lnTo>
                  <a:pt x="164" y="29"/>
                </a:lnTo>
                <a:lnTo>
                  <a:pt x="147" y="26"/>
                </a:lnTo>
                <a:lnTo>
                  <a:pt x="131" y="24"/>
                </a:lnTo>
                <a:lnTo>
                  <a:pt x="114" y="21"/>
                </a:lnTo>
                <a:lnTo>
                  <a:pt x="98" y="19"/>
                </a:lnTo>
                <a:lnTo>
                  <a:pt x="82" y="17"/>
                </a:lnTo>
                <a:lnTo>
                  <a:pt x="65" y="16"/>
                </a:lnTo>
                <a:lnTo>
                  <a:pt x="49" y="14"/>
                </a:lnTo>
                <a:lnTo>
                  <a:pt x="33" y="13"/>
                </a:lnTo>
                <a:lnTo>
                  <a:pt x="16" y="13"/>
                </a:lnTo>
                <a:lnTo>
                  <a:pt x="0" y="12"/>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934075"/>
            <a:ext cx="3743325" cy="600075"/>
          </a:xfrm>
          <a:custGeom>
            <a:avLst/>
            <a:gdLst/>
            <a:ahLst/>
            <a:cxnLst/>
            <a:rect l="l" t="t" r="r" b="b"/>
            <a:pathLst>
              <a:path w="393" h="63">
                <a:moveTo>
                  <a:pt x="0" y="0"/>
                </a:moveTo>
                <a:lnTo>
                  <a:pt x="16" y="1"/>
                </a:lnTo>
                <a:lnTo>
                  <a:pt x="33" y="1"/>
                </a:lnTo>
                <a:lnTo>
                  <a:pt x="49" y="3"/>
                </a:lnTo>
                <a:lnTo>
                  <a:pt x="65" y="4"/>
                </a:lnTo>
                <a:lnTo>
                  <a:pt x="82" y="6"/>
                </a:lnTo>
                <a:lnTo>
                  <a:pt x="98" y="8"/>
                </a:lnTo>
                <a:lnTo>
                  <a:pt x="114" y="11"/>
                </a:lnTo>
                <a:lnTo>
                  <a:pt x="131" y="13"/>
                </a:lnTo>
                <a:lnTo>
                  <a:pt x="147" y="16"/>
                </a:lnTo>
                <a:lnTo>
                  <a:pt x="164" y="19"/>
                </a:lnTo>
                <a:lnTo>
                  <a:pt x="180" y="22"/>
                </a:lnTo>
                <a:lnTo>
                  <a:pt x="196" y="25"/>
                </a:lnTo>
                <a:lnTo>
                  <a:pt x="213" y="28"/>
                </a:lnTo>
                <a:lnTo>
                  <a:pt x="229" y="31"/>
                </a:lnTo>
                <a:lnTo>
                  <a:pt x="246" y="34"/>
                </a:lnTo>
                <a:lnTo>
                  <a:pt x="262" y="37"/>
                </a:lnTo>
                <a:lnTo>
                  <a:pt x="278" y="40"/>
                </a:lnTo>
                <a:lnTo>
                  <a:pt x="295" y="42"/>
                </a:lnTo>
                <a:lnTo>
                  <a:pt x="311" y="45"/>
                </a:lnTo>
                <a:lnTo>
                  <a:pt x="327" y="46"/>
                </a:lnTo>
                <a:lnTo>
                  <a:pt x="344" y="48"/>
                </a:lnTo>
                <a:lnTo>
                  <a:pt x="360" y="49"/>
                </a:lnTo>
                <a:lnTo>
                  <a:pt x="377" y="50"/>
                </a:lnTo>
                <a:lnTo>
                  <a:pt x="393" y="50"/>
                </a:lnTo>
                <a:lnTo>
                  <a:pt x="393" y="63"/>
                </a:lnTo>
                <a:lnTo>
                  <a:pt x="377" y="63"/>
                </a:lnTo>
                <a:lnTo>
                  <a:pt x="360" y="62"/>
                </a:lnTo>
                <a:lnTo>
                  <a:pt x="344" y="61"/>
                </a:lnTo>
                <a:lnTo>
                  <a:pt x="327" y="59"/>
                </a:lnTo>
                <a:lnTo>
                  <a:pt x="311" y="57"/>
                </a:lnTo>
                <a:lnTo>
                  <a:pt x="295" y="55"/>
                </a:lnTo>
                <a:lnTo>
                  <a:pt x="278" y="53"/>
                </a:lnTo>
                <a:lnTo>
                  <a:pt x="262" y="50"/>
                </a:lnTo>
                <a:lnTo>
                  <a:pt x="246" y="47"/>
                </a:lnTo>
                <a:lnTo>
                  <a:pt x="229" y="44"/>
                </a:lnTo>
                <a:lnTo>
                  <a:pt x="213" y="41"/>
                </a:lnTo>
                <a:lnTo>
                  <a:pt x="196" y="38"/>
                </a:lnTo>
                <a:lnTo>
                  <a:pt x="180" y="35"/>
                </a:lnTo>
                <a:lnTo>
                  <a:pt x="164" y="32"/>
                </a:lnTo>
                <a:lnTo>
                  <a:pt x="147" y="29"/>
                </a:lnTo>
                <a:lnTo>
                  <a:pt x="131" y="26"/>
                </a:lnTo>
                <a:lnTo>
                  <a:pt x="114" y="23"/>
                </a:lnTo>
                <a:lnTo>
                  <a:pt x="98" y="21"/>
                </a:lnTo>
                <a:lnTo>
                  <a:pt x="82" y="19"/>
                </a:lnTo>
                <a:lnTo>
                  <a:pt x="65" y="17"/>
                </a:lnTo>
                <a:lnTo>
                  <a:pt x="49" y="15"/>
                </a:lnTo>
                <a:lnTo>
                  <a:pt x="33" y="14"/>
                </a:lnTo>
                <a:lnTo>
                  <a:pt x="16" y="14"/>
                </a:lnTo>
                <a:lnTo>
                  <a:pt x="0" y="13"/>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695950"/>
            <a:ext cx="3743325" cy="542925"/>
          </a:xfrm>
          <a:custGeom>
            <a:avLst/>
            <a:gdLst/>
            <a:ahLst/>
            <a:cxnLst/>
            <a:rect l="l" t="t" r="r" b="b"/>
            <a:pathLst>
              <a:path w="393" h="57">
                <a:moveTo>
                  <a:pt x="0" y="44"/>
                </a:moveTo>
                <a:lnTo>
                  <a:pt x="16" y="44"/>
                </a:lnTo>
                <a:lnTo>
                  <a:pt x="33" y="43"/>
                </a:lnTo>
                <a:lnTo>
                  <a:pt x="49" y="42"/>
                </a:lnTo>
                <a:lnTo>
                  <a:pt x="65" y="41"/>
                </a:lnTo>
                <a:lnTo>
                  <a:pt x="82" y="39"/>
                </a:lnTo>
                <a:lnTo>
                  <a:pt x="98" y="37"/>
                </a:lnTo>
                <a:lnTo>
                  <a:pt x="114" y="35"/>
                </a:lnTo>
                <a:lnTo>
                  <a:pt x="131" y="33"/>
                </a:lnTo>
                <a:lnTo>
                  <a:pt x="147" y="30"/>
                </a:lnTo>
                <a:lnTo>
                  <a:pt x="164" y="27"/>
                </a:lnTo>
                <a:lnTo>
                  <a:pt x="180" y="25"/>
                </a:lnTo>
                <a:lnTo>
                  <a:pt x="196" y="22"/>
                </a:lnTo>
                <a:lnTo>
                  <a:pt x="213" y="19"/>
                </a:lnTo>
                <a:lnTo>
                  <a:pt x="229" y="16"/>
                </a:lnTo>
                <a:lnTo>
                  <a:pt x="246" y="14"/>
                </a:lnTo>
                <a:lnTo>
                  <a:pt x="262" y="11"/>
                </a:lnTo>
                <a:lnTo>
                  <a:pt x="278" y="9"/>
                </a:lnTo>
                <a:lnTo>
                  <a:pt x="295" y="7"/>
                </a:lnTo>
                <a:lnTo>
                  <a:pt x="311" y="5"/>
                </a:lnTo>
                <a:lnTo>
                  <a:pt x="327" y="3"/>
                </a:lnTo>
                <a:lnTo>
                  <a:pt x="344" y="2"/>
                </a:lnTo>
                <a:lnTo>
                  <a:pt x="360" y="1"/>
                </a:lnTo>
                <a:lnTo>
                  <a:pt x="377" y="0"/>
                </a:lnTo>
                <a:lnTo>
                  <a:pt x="393" y="0"/>
                </a:lnTo>
                <a:lnTo>
                  <a:pt x="393" y="13"/>
                </a:lnTo>
                <a:lnTo>
                  <a:pt x="377" y="13"/>
                </a:lnTo>
                <a:lnTo>
                  <a:pt x="360" y="13"/>
                </a:lnTo>
                <a:lnTo>
                  <a:pt x="344" y="14"/>
                </a:lnTo>
                <a:lnTo>
                  <a:pt x="327" y="16"/>
                </a:lnTo>
                <a:lnTo>
                  <a:pt x="311" y="18"/>
                </a:lnTo>
                <a:lnTo>
                  <a:pt x="295" y="19"/>
                </a:lnTo>
                <a:lnTo>
                  <a:pt x="278" y="22"/>
                </a:lnTo>
                <a:lnTo>
                  <a:pt x="262" y="24"/>
                </a:lnTo>
                <a:lnTo>
                  <a:pt x="246" y="27"/>
                </a:lnTo>
                <a:lnTo>
                  <a:pt x="229" y="29"/>
                </a:lnTo>
                <a:lnTo>
                  <a:pt x="213" y="32"/>
                </a:lnTo>
                <a:lnTo>
                  <a:pt x="196" y="35"/>
                </a:lnTo>
                <a:lnTo>
                  <a:pt x="180" y="38"/>
                </a:lnTo>
                <a:lnTo>
                  <a:pt x="164" y="40"/>
                </a:lnTo>
                <a:lnTo>
                  <a:pt x="147" y="43"/>
                </a:lnTo>
                <a:lnTo>
                  <a:pt x="131" y="46"/>
                </a:lnTo>
                <a:lnTo>
                  <a:pt x="114" y="48"/>
                </a:lnTo>
                <a:lnTo>
                  <a:pt x="98" y="50"/>
                </a:lnTo>
                <a:lnTo>
                  <a:pt x="82" y="52"/>
                </a:lnTo>
                <a:lnTo>
                  <a:pt x="65" y="54"/>
                </a:lnTo>
                <a:lnTo>
                  <a:pt x="49" y="55"/>
                </a:lnTo>
                <a:lnTo>
                  <a:pt x="33" y="56"/>
                </a:lnTo>
                <a:lnTo>
                  <a:pt x="16" y="57"/>
                </a:lnTo>
                <a:lnTo>
                  <a:pt x="0" y="57"/>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5876925"/>
            <a:ext cx="3743325" cy="485775"/>
          </a:xfrm>
          <a:custGeom>
            <a:avLst/>
            <a:gdLst/>
            <a:ahLst/>
            <a:cxnLst/>
            <a:rect l="l" t="t" r="r" b="b"/>
            <a:pathLst>
              <a:path w="393" h="51">
                <a:moveTo>
                  <a:pt x="0" y="38"/>
                </a:moveTo>
                <a:lnTo>
                  <a:pt x="16" y="38"/>
                </a:lnTo>
                <a:lnTo>
                  <a:pt x="33" y="37"/>
                </a:lnTo>
                <a:lnTo>
                  <a:pt x="49" y="36"/>
                </a:lnTo>
                <a:lnTo>
                  <a:pt x="65" y="35"/>
                </a:lnTo>
                <a:lnTo>
                  <a:pt x="82" y="34"/>
                </a:lnTo>
                <a:lnTo>
                  <a:pt x="98" y="32"/>
                </a:lnTo>
                <a:lnTo>
                  <a:pt x="114" y="30"/>
                </a:lnTo>
                <a:lnTo>
                  <a:pt x="131" y="28"/>
                </a:lnTo>
                <a:lnTo>
                  <a:pt x="147" y="26"/>
                </a:lnTo>
                <a:lnTo>
                  <a:pt x="164" y="24"/>
                </a:lnTo>
                <a:lnTo>
                  <a:pt x="180" y="21"/>
                </a:lnTo>
                <a:lnTo>
                  <a:pt x="196" y="19"/>
                </a:lnTo>
                <a:lnTo>
                  <a:pt x="213" y="16"/>
                </a:lnTo>
                <a:lnTo>
                  <a:pt x="229" y="14"/>
                </a:lnTo>
                <a:lnTo>
                  <a:pt x="246" y="12"/>
                </a:lnTo>
                <a:lnTo>
                  <a:pt x="262" y="10"/>
                </a:lnTo>
                <a:lnTo>
                  <a:pt x="278" y="7"/>
                </a:lnTo>
                <a:lnTo>
                  <a:pt x="295" y="6"/>
                </a:lnTo>
                <a:lnTo>
                  <a:pt x="311" y="4"/>
                </a:lnTo>
                <a:lnTo>
                  <a:pt x="327" y="2"/>
                </a:lnTo>
                <a:lnTo>
                  <a:pt x="344" y="1"/>
                </a:lnTo>
                <a:lnTo>
                  <a:pt x="360" y="0"/>
                </a:lnTo>
                <a:lnTo>
                  <a:pt x="377" y="0"/>
                </a:lnTo>
                <a:lnTo>
                  <a:pt x="393" y="0"/>
                </a:lnTo>
                <a:lnTo>
                  <a:pt x="393" y="12"/>
                </a:lnTo>
                <a:lnTo>
                  <a:pt x="377" y="13"/>
                </a:lnTo>
                <a:lnTo>
                  <a:pt x="360" y="13"/>
                </a:lnTo>
                <a:lnTo>
                  <a:pt x="344" y="14"/>
                </a:lnTo>
                <a:lnTo>
                  <a:pt x="327" y="15"/>
                </a:lnTo>
                <a:lnTo>
                  <a:pt x="311" y="17"/>
                </a:lnTo>
                <a:lnTo>
                  <a:pt x="295" y="18"/>
                </a:lnTo>
                <a:lnTo>
                  <a:pt x="278" y="20"/>
                </a:lnTo>
                <a:lnTo>
                  <a:pt x="262" y="22"/>
                </a:lnTo>
                <a:lnTo>
                  <a:pt x="246" y="25"/>
                </a:lnTo>
                <a:lnTo>
                  <a:pt x="229" y="27"/>
                </a:lnTo>
                <a:lnTo>
                  <a:pt x="213" y="29"/>
                </a:lnTo>
                <a:lnTo>
                  <a:pt x="196" y="32"/>
                </a:lnTo>
                <a:lnTo>
                  <a:pt x="180" y="34"/>
                </a:lnTo>
                <a:lnTo>
                  <a:pt x="164" y="36"/>
                </a:lnTo>
                <a:lnTo>
                  <a:pt x="147" y="39"/>
                </a:lnTo>
                <a:lnTo>
                  <a:pt x="131" y="41"/>
                </a:lnTo>
                <a:lnTo>
                  <a:pt x="114" y="43"/>
                </a:lnTo>
                <a:lnTo>
                  <a:pt x="98" y="45"/>
                </a:lnTo>
                <a:lnTo>
                  <a:pt x="82" y="47"/>
                </a:lnTo>
                <a:lnTo>
                  <a:pt x="65" y="48"/>
                </a:lnTo>
                <a:lnTo>
                  <a:pt x="49" y="49"/>
                </a:lnTo>
                <a:lnTo>
                  <a:pt x="33" y="50"/>
                </a:lnTo>
                <a:lnTo>
                  <a:pt x="16" y="51"/>
                </a:lnTo>
                <a:lnTo>
                  <a:pt x="0" y="51"/>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1476375"/>
            <a:ext cx="114300" cy="1348289"/>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41195" y="2881814"/>
            <a:ext cx="114300" cy="1348289"/>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41195" y="4287253"/>
            <a:ext cx="114300" cy="1348289"/>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41195" y="5692692"/>
            <a:ext cx="114300" cy="36771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6117557"/>
            <a:ext cx="114300" cy="245143"/>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1304925"/>
            <a:ext cx="114300" cy="145543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2817514"/>
            <a:ext cx="114300" cy="69559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0725" y="3570254"/>
            <a:ext cx="114300" cy="61819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800725" y="4245602"/>
            <a:ext cx="114300" cy="52806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00725" y="4830820"/>
            <a:ext cx="114300" cy="47820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5366173"/>
            <a:ext cx="114300" cy="26936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5692692"/>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5872413"/>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6052135"/>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00725" y="6231857"/>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0725" y="6411578"/>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7175" y="207908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348452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257175" y="488996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257175" y="580511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257175" y="616869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190882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304148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3755528"/>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TextBox 55"/>
          <p:cNvSpPr txBox="1"/>
          <p:nvPr/>
        </p:nvSpPr>
        <p:spPr>
          <a:xfrm>
            <a:off x="5972175" y="438581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7" name="TextBox 56"/>
          <p:cNvSpPr txBox="1"/>
          <p:nvPr/>
        </p:nvSpPr>
        <p:spPr>
          <a:xfrm>
            <a:off x="5972175" y="495300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8" name="TextBox 57"/>
          <p:cNvSpPr txBox="1"/>
          <p:nvPr/>
        </p:nvSpPr>
        <p:spPr>
          <a:xfrm>
            <a:off x="5972175" y="510540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9" name="TextBox 58"/>
          <p:cNvSpPr txBox="1"/>
          <p:nvPr/>
        </p:nvSpPr>
        <p:spPr>
          <a:xfrm>
            <a:off x="5972175" y="52578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0" name="TextBox 59"/>
          <p:cNvSpPr txBox="1"/>
          <p:nvPr/>
        </p:nvSpPr>
        <p:spPr>
          <a:xfrm>
            <a:off x="5972175" y="551497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1" name="TextBox 60"/>
          <p:cNvSpPr txBox="1"/>
          <p:nvPr/>
        </p:nvSpPr>
        <p:spPr>
          <a:xfrm>
            <a:off x="5972175" y="577215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2" name="TextBox 61"/>
          <p:cNvSpPr txBox="1"/>
          <p:nvPr/>
        </p:nvSpPr>
        <p:spPr>
          <a:xfrm>
            <a:off x="5972175" y="602932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3" name="TextBox 62"/>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ounded Rectangle 63"/>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66" name="Rectangle 65"/>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8" name="Rectangle 6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70" name="TextBox 69"/>
          <p:cNvSpPr txBox="1"/>
          <p:nvPr/>
        </p:nvSpPr>
        <p:spPr>
          <a:xfrm>
            <a:off x="589520" y="2090169"/>
            <a:ext cx="1240774" cy="139750"/>
          </a:xfrm>
          <a:prstGeom prst="rect">
            <a:avLst/>
          </a:prstGeom>
          <a:noFill/>
        </p:spPr>
        <p:txBody>
          <a:bodyPr wrap="none" lIns="0" rIns="0" tIns="0" bIns="0">
            <a:spAutoFit/>
          </a:bodyPr>
          <a:lstStyle/>
          <a:p>
            <a:r>
              <a:rPr sz="791" b="1">
                <a:solidFill>
                  <a:srgbClr val="2E2E2E"/>
                </a:solidFill>
                <a:latin typeface="Calibri"/>
              </a:rPr>
              <a:t>Expanded Polystyrene (EPS)</a:t>
            </a:r>
          </a:p>
        </p:txBody>
      </p:sp>
      <p:pic>
        <p:nvPicPr>
          <p:cNvPr id="71" name="Picture 70" descr="lock.png"/>
          <p:cNvPicPr>
            <a:picLocks noChangeAspect="1"/>
          </p:cNvPicPr>
          <p:nvPr/>
        </p:nvPicPr>
        <p:blipFill>
          <a:blip r:embed="rId4"/>
          <a:stretch>
            <a:fillRect/>
          </a:stretch>
        </p:blipFill>
        <p:spPr>
          <a:xfrm>
            <a:off x="1771555" y="2083128"/>
            <a:ext cx="92663" cy="134782"/>
          </a:xfrm>
          <a:prstGeom prst="rect">
            <a:avLst/>
          </a:prstGeom>
        </p:spPr>
      </p:pic>
      <p:sp>
        <p:nvSpPr>
          <p:cNvPr id="72" name="TextBox 71"/>
          <p:cNvSpPr txBox="1"/>
          <p:nvPr/>
        </p:nvSpPr>
        <p:spPr>
          <a:xfrm>
            <a:off x="471648" y="3495608"/>
            <a:ext cx="1358645" cy="139750"/>
          </a:xfrm>
          <a:prstGeom prst="rect">
            <a:avLst/>
          </a:prstGeom>
          <a:noFill/>
        </p:spPr>
        <p:txBody>
          <a:bodyPr wrap="none" lIns="0" rIns="0" tIns="0" bIns="0">
            <a:spAutoFit/>
          </a:bodyPr>
          <a:lstStyle/>
          <a:p>
            <a:r>
              <a:rPr sz="791" b="1">
                <a:solidFill>
                  <a:srgbClr val="2E2E2E"/>
                </a:solidFill>
                <a:latin typeface="Calibri"/>
              </a:rPr>
              <a:t>Expanded Polypropylene (EPP)</a:t>
            </a:r>
          </a:p>
        </p:txBody>
      </p:sp>
      <p:pic>
        <p:nvPicPr>
          <p:cNvPr id="73" name="Picture 72" descr="lock.png"/>
          <p:cNvPicPr>
            <a:picLocks noChangeAspect="1"/>
          </p:cNvPicPr>
          <p:nvPr/>
        </p:nvPicPr>
        <p:blipFill>
          <a:blip r:embed="rId4"/>
          <a:stretch>
            <a:fillRect/>
          </a:stretch>
        </p:blipFill>
        <p:spPr>
          <a:xfrm>
            <a:off x="1771555" y="3488567"/>
            <a:ext cx="92663" cy="134782"/>
          </a:xfrm>
          <a:prstGeom prst="rect">
            <a:avLst/>
          </a:prstGeom>
        </p:spPr>
      </p:pic>
      <p:sp>
        <p:nvSpPr>
          <p:cNvPr id="74" name="TextBox 73"/>
          <p:cNvSpPr txBox="1"/>
          <p:nvPr/>
        </p:nvSpPr>
        <p:spPr>
          <a:xfrm>
            <a:off x="730592" y="4901047"/>
            <a:ext cx="1099702" cy="139750"/>
          </a:xfrm>
          <a:prstGeom prst="rect">
            <a:avLst/>
          </a:prstGeom>
          <a:noFill/>
        </p:spPr>
        <p:txBody>
          <a:bodyPr wrap="none" lIns="0" rIns="0" tIns="0" bIns="0">
            <a:spAutoFit/>
          </a:bodyPr>
          <a:lstStyle/>
          <a:p>
            <a:r>
              <a:rPr sz="791" b="1">
                <a:solidFill>
                  <a:srgbClr val="2E2E2E"/>
                </a:solidFill>
                <a:latin typeface="Calibri"/>
              </a:rPr>
              <a:t>Polyurethane (PU) Foam</a:t>
            </a:r>
          </a:p>
        </p:txBody>
      </p:sp>
      <p:pic>
        <p:nvPicPr>
          <p:cNvPr id="75" name="Picture 74" descr="lock.png"/>
          <p:cNvPicPr>
            <a:picLocks noChangeAspect="1"/>
          </p:cNvPicPr>
          <p:nvPr/>
        </p:nvPicPr>
        <p:blipFill>
          <a:blip r:embed="rId4"/>
          <a:stretch>
            <a:fillRect/>
          </a:stretch>
        </p:blipFill>
        <p:spPr>
          <a:xfrm>
            <a:off x="1771555" y="4894006"/>
            <a:ext cx="92663" cy="134782"/>
          </a:xfrm>
          <a:prstGeom prst="rect">
            <a:avLst/>
          </a:prstGeom>
        </p:spPr>
      </p:pic>
      <p:sp>
        <p:nvSpPr>
          <p:cNvPr id="76" name="TextBox 75"/>
          <p:cNvSpPr txBox="1"/>
          <p:nvPr/>
        </p:nvSpPr>
        <p:spPr>
          <a:xfrm>
            <a:off x="834908" y="5816199"/>
            <a:ext cx="995385" cy="139750"/>
          </a:xfrm>
          <a:prstGeom prst="rect">
            <a:avLst/>
          </a:prstGeom>
          <a:noFill/>
        </p:spPr>
        <p:txBody>
          <a:bodyPr wrap="none" lIns="0" rIns="0" tIns="0" bIns="0">
            <a:spAutoFit/>
          </a:bodyPr>
          <a:lstStyle/>
          <a:p>
            <a:r>
              <a:rPr sz="791" b="1">
                <a:solidFill>
                  <a:srgbClr val="2E2E2E"/>
                </a:solidFill>
                <a:latin typeface="Calibri"/>
              </a:rPr>
              <a:t>Other Foam Materials</a:t>
            </a:r>
          </a:p>
        </p:txBody>
      </p:sp>
      <p:pic>
        <p:nvPicPr>
          <p:cNvPr id="77" name="Picture 76" descr="lock.png"/>
          <p:cNvPicPr>
            <a:picLocks noChangeAspect="1"/>
          </p:cNvPicPr>
          <p:nvPr/>
        </p:nvPicPr>
        <p:blipFill>
          <a:blip r:embed="rId4"/>
          <a:stretch>
            <a:fillRect/>
          </a:stretch>
        </p:blipFill>
        <p:spPr>
          <a:xfrm>
            <a:off x="1771555" y="5809158"/>
            <a:ext cx="92663" cy="134782"/>
          </a:xfrm>
          <a:prstGeom prst="rect">
            <a:avLst/>
          </a:prstGeom>
        </p:spPr>
      </p:pic>
      <p:sp>
        <p:nvSpPr>
          <p:cNvPr id="78" name="TextBox 77"/>
          <p:cNvSpPr txBox="1"/>
          <p:nvPr/>
        </p:nvSpPr>
        <p:spPr>
          <a:xfrm>
            <a:off x="763399" y="6179778"/>
            <a:ext cx="1066894" cy="139750"/>
          </a:xfrm>
          <a:prstGeom prst="rect">
            <a:avLst/>
          </a:prstGeom>
          <a:noFill/>
        </p:spPr>
        <p:txBody>
          <a:bodyPr wrap="none" lIns="0" rIns="0" tIns="0" bIns="0">
            <a:spAutoFit/>
          </a:bodyPr>
          <a:lstStyle/>
          <a:p>
            <a:r>
              <a:rPr sz="791" b="1">
                <a:solidFill>
                  <a:srgbClr val="2E2E2E"/>
                </a:solidFill>
                <a:latin typeface="Calibri"/>
              </a:rPr>
              <a:t>Polyethylene (PE) Foam</a:t>
            </a:r>
          </a:p>
        </p:txBody>
      </p:sp>
      <p:pic>
        <p:nvPicPr>
          <p:cNvPr id="79" name="Picture 78" descr="lock.png"/>
          <p:cNvPicPr>
            <a:picLocks noChangeAspect="1"/>
          </p:cNvPicPr>
          <p:nvPr/>
        </p:nvPicPr>
        <p:blipFill>
          <a:blip r:embed="rId4"/>
          <a:stretch>
            <a:fillRect/>
          </a:stretch>
        </p:blipFill>
        <p:spPr>
          <a:xfrm>
            <a:off x="1771555" y="6172737"/>
            <a:ext cx="92663" cy="134782"/>
          </a:xfrm>
          <a:prstGeom prst="rect">
            <a:avLst/>
          </a:prstGeom>
        </p:spPr>
      </p:pic>
      <p:sp>
        <p:nvSpPr>
          <p:cNvPr id="80" name="TextBox 79"/>
          <p:cNvSpPr txBox="1"/>
          <p:nvPr/>
        </p:nvSpPr>
        <p:spPr>
          <a:xfrm>
            <a:off x="5972175" y="1911944"/>
            <a:ext cx="1350376" cy="139750"/>
          </a:xfrm>
          <a:prstGeom prst="rect">
            <a:avLst/>
          </a:prstGeom>
          <a:noFill/>
        </p:spPr>
        <p:txBody>
          <a:bodyPr wrap="none" lIns="0" rIns="0" tIns="0" bIns="0">
            <a:spAutoFit/>
          </a:bodyPr>
          <a:lstStyle/>
          <a:p>
            <a:r>
              <a:rPr sz="791" b="1">
                <a:solidFill>
                  <a:srgbClr val="2E2E2E"/>
                </a:solidFill>
                <a:latin typeface="Calibri"/>
              </a:rPr>
              <a:t>Foam Pouches, Bags &amp; Sleeves</a:t>
            </a:r>
          </a:p>
        </p:txBody>
      </p:sp>
      <p:pic>
        <p:nvPicPr>
          <p:cNvPr id="81" name="Picture 80" descr="lock.png"/>
          <p:cNvPicPr>
            <a:picLocks noChangeAspect="1"/>
          </p:cNvPicPr>
          <p:nvPr/>
        </p:nvPicPr>
        <p:blipFill>
          <a:blip r:embed="rId4"/>
          <a:stretch>
            <a:fillRect/>
          </a:stretch>
        </p:blipFill>
        <p:spPr>
          <a:xfrm>
            <a:off x="5962478" y="2025604"/>
            <a:ext cx="92663" cy="134782"/>
          </a:xfrm>
          <a:prstGeom prst="rect">
            <a:avLst/>
          </a:prstGeom>
        </p:spPr>
      </p:pic>
      <p:sp>
        <p:nvSpPr>
          <p:cNvPr id="82" name="TextBox 81"/>
          <p:cNvSpPr txBox="1"/>
          <p:nvPr/>
        </p:nvSpPr>
        <p:spPr>
          <a:xfrm>
            <a:off x="5972175" y="3104958"/>
            <a:ext cx="1213012" cy="139750"/>
          </a:xfrm>
          <a:prstGeom prst="rect">
            <a:avLst/>
          </a:prstGeom>
          <a:noFill/>
        </p:spPr>
        <p:txBody>
          <a:bodyPr wrap="none" lIns="0" rIns="0" tIns="0" bIns="0">
            <a:spAutoFit/>
          </a:bodyPr>
          <a:lstStyle/>
          <a:p>
            <a:r>
              <a:rPr sz="791" b="1">
                <a:solidFill>
                  <a:srgbClr val="2E2E2E"/>
                </a:solidFill>
                <a:latin typeface="Calibri"/>
              </a:rPr>
              <a:t>Fabricated Foam Packaging</a:t>
            </a:r>
          </a:p>
        </p:txBody>
      </p:sp>
      <p:pic>
        <p:nvPicPr>
          <p:cNvPr id="83" name="Picture 82" descr="lock.png"/>
          <p:cNvPicPr>
            <a:picLocks noChangeAspect="1"/>
          </p:cNvPicPr>
          <p:nvPr/>
        </p:nvPicPr>
        <p:blipFill>
          <a:blip r:embed="rId4"/>
          <a:stretch>
            <a:fillRect/>
          </a:stretch>
        </p:blipFill>
        <p:spPr>
          <a:xfrm>
            <a:off x="7126448" y="3097917"/>
            <a:ext cx="92663" cy="134782"/>
          </a:xfrm>
          <a:prstGeom prst="rect">
            <a:avLst/>
          </a:prstGeom>
        </p:spPr>
      </p:pic>
      <p:sp>
        <p:nvSpPr>
          <p:cNvPr id="84" name="TextBox 83"/>
          <p:cNvSpPr txBox="1"/>
          <p:nvPr/>
        </p:nvSpPr>
        <p:spPr>
          <a:xfrm>
            <a:off x="5972175" y="3758652"/>
            <a:ext cx="1244684" cy="139750"/>
          </a:xfrm>
          <a:prstGeom prst="rect">
            <a:avLst/>
          </a:prstGeom>
          <a:noFill/>
        </p:spPr>
        <p:txBody>
          <a:bodyPr wrap="none" lIns="0" rIns="0" tIns="0" bIns="0">
            <a:spAutoFit/>
          </a:bodyPr>
          <a:lstStyle/>
          <a:p>
            <a:r>
              <a:rPr sz="791" b="1">
                <a:solidFill>
                  <a:srgbClr val="2E2E2E"/>
                </a:solidFill>
                <a:latin typeface="Calibri"/>
              </a:rPr>
              <a:t>Foam Sheets, Rolls &amp; Planks</a:t>
            </a:r>
          </a:p>
        </p:txBody>
      </p:sp>
      <p:pic>
        <p:nvPicPr>
          <p:cNvPr id="85" name="Picture 84" descr="lock.png"/>
          <p:cNvPicPr>
            <a:picLocks noChangeAspect="1"/>
          </p:cNvPicPr>
          <p:nvPr/>
        </p:nvPicPr>
        <p:blipFill>
          <a:blip r:embed="rId4"/>
          <a:stretch>
            <a:fillRect/>
          </a:stretch>
        </p:blipFill>
        <p:spPr>
          <a:xfrm>
            <a:off x="5962478" y="3872312"/>
            <a:ext cx="92663" cy="134782"/>
          </a:xfrm>
          <a:prstGeom prst="rect">
            <a:avLst/>
          </a:prstGeom>
        </p:spPr>
      </p:pic>
      <p:sp>
        <p:nvSpPr>
          <p:cNvPr id="86" name="TextBox 85"/>
          <p:cNvSpPr txBox="1"/>
          <p:nvPr/>
        </p:nvSpPr>
        <p:spPr>
          <a:xfrm>
            <a:off x="5972175" y="4445932"/>
            <a:ext cx="1224372" cy="146456"/>
          </a:xfrm>
          <a:prstGeom prst="rect">
            <a:avLst/>
          </a:prstGeom>
          <a:noFill/>
        </p:spPr>
        <p:txBody>
          <a:bodyPr wrap="none" lIns="0" rIns="0" tIns="0" bIns="0">
            <a:spAutoFit/>
          </a:bodyPr>
          <a:lstStyle/>
          <a:p>
            <a:r>
              <a:rPr sz="835" b="1">
                <a:solidFill>
                  <a:srgbClr val="2E2E2E"/>
                </a:solidFill>
                <a:latin typeface="Calibri"/>
              </a:rPr>
              <a:t>Foam Loose-Fill Packaging</a:t>
            </a:r>
          </a:p>
        </p:txBody>
      </p:sp>
      <p:pic>
        <p:nvPicPr>
          <p:cNvPr id="87" name="Picture 86" descr="lock.png"/>
          <p:cNvPicPr>
            <a:picLocks noChangeAspect="1"/>
          </p:cNvPicPr>
          <p:nvPr/>
        </p:nvPicPr>
        <p:blipFill>
          <a:blip r:embed="rId4"/>
          <a:stretch>
            <a:fillRect/>
          </a:stretch>
        </p:blipFill>
        <p:spPr>
          <a:xfrm>
            <a:off x="7138778" y="4438500"/>
            <a:ext cx="97811" cy="142270"/>
          </a:xfrm>
          <a:prstGeom prst="rect">
            <a:avLst/>
          </a:prstGeom>
        </p:spPr>
      </p:pic>
      <p:sp>
        <p:nvSpPr>
          <p:cNvPr id="88" name="TextBox 87"/>
          <p:cNvSpPr txBox="1"/>
          <p:nvPr/>
        </p:nvSpPr>
        <p:spPr>
          <a:xfrm>
            <a:off x="5972175" y="4964087"/>
            <a:ext cx="1109721" cy="139750"/>
          </a:xfrm>
          <a:prstGeom prst="rect">
            <a:avLst/>
          </a:prstGeom>
          <a:noFill/>
        </p:spPr>
        <p:txBody>
          <a:bodyPr wrap="none" lIns="0" rIns="0" tIns="0" bIns="0">
            <a:spAutoFit/>
          </a:bodyPr>
          <a:lstStyle/>
          <a:p>
            <a:r>
              <a:rPr sz="791" b="1">
                <a:solidFill>
                  <a:srgbClr val="2E2E2E"/>
                </a:solidFill>
                <a:latin typeface="Calibri"/>
              </a:rPr>
              <a:t>Foam-in-Place Packaging</a:t>
            </a:r>
          </a:p>
        </p:txBody>
      </p:sp>
      <p:pic>
        <p:nvPicPr>
          <p:cNvPr id="89" name="Picture 88" descr="lock.png"/>
          <p:cNvPicPr>
            <a:picLocks noChangeAspect="1"/>
          </p:cNvPicPr>
          <p:nvPr/>
        </p:nvPicPr>
        <p:blipFill>
          <a:blip r:embed="rId4"/>
          <a:stretch>
            <a:fillRect/>
          </a:stretch>
        </p:blipFill>
        <p:spPr>
          <a:xfrm>
            <a:off x="7023157" y="4957046"/>
            <a:ext cx="92663" cy="134782"/>
          </a:xfrm>
          <a:prstGeom prst="rect">
            <a:avLst/>
          </a:prstGeom>
        </p:spPr>
      </p:pic>
      <p:sp>
        <p:nvSpPr>
          <p:cNvPr id="90" name="TextBox 89"/>
          <p:cNvSpPr txBox="1"/>
          <p:nvPr/>
        </p:nvSpPr>
        <p:spPr>
          <a:xfrm>
            <a:off x="5972175" y="5116487"/>
            <a:ext cx="1096755" cy="139750"/>
          </a:xfrm>
          <a:prstGeom prst="rect">
            <a:avLst/>
          </a:prstGeom>
          <a:noFill/>
        </p:spPr>
        <p:txBody>
          <a:bodyPr wrap="none" lIns="0" rIns="0" tIns="0" bIns="0">
            <a:spAutoFit/>
          </a:bodyPr>
          <a:lstStyle/>
          <a:p>
            <a:r>
              <a:rPr sz="791" b="1">
                <a:solidFill>
                  <a:srgbClr val="2E2E2E"/>
                </a:solidFill>
                <a:latin typeface="Calibri"/>
              </a:rPr>
              <a:t>Molded Foam Packaging</a:t>
            </a:r>
          </a:p>
        </p:txBody>
      </p:sp>
      <p:pic>
        <p:nvPicPr>
          <p:cNvPr id="91" name="Picture 90" descr="lock.png"/>
          <p:cNvPicPr>
            <a:picLocks noChangeAspect="1"/>
          </p:cNvPicPr>
          <p:nvPr/>
        </p:nvPicPr>
        <p:blipFill>
          <a:blip r:embed="rId4"/>
          <a:stretch>
            <a:fillRect/>
          </a:stretch>
        </p:blipFill>
        <p:spPr>
          <a:xfrm>
            <a:off x="7010191" y="5109446"/>
            <a:ext cx="92663" cy="134782"/>
          </a:xfrm>
          <a:prstGeom prst="rect">
            <a:avLst/>
          </a:prstGeom>
        </p:spPr>
      </p:pic>
      <p:sp>
        <p:nvSpPr>
          <p:cNvPr id="92" name="TextBox 91"/>
          <p:cNvSpPr txBox="1"/>
          <p:nvPr/>
        </p:nvSpPr>
        <p:spPr>
          <a:xfrm>
            <a:off x="5972175" y="5260924"/>
            <a:ext cx="1362075" cy="139750"/>
          </a:xfrm>
          <a:prstGeom prst="rect">
            <a:avLst/>
          </a:prstGeom>
          <a:noFill/>
        </p:spPr>
        <p:txBody>
          <a:bodyPr wrap="none" lIns="0" rIns="0" tIns="0" bIns="0">
            <a:spAutoFit/>
          </a:bodyPr>
          <a:lstStyle/>
          <a:p>
            <a:r>
              <a:rPr sz="791" b="1">
                <a:solidFill>
                  <a:srgbClr val="2E2E2E"/>
                </a:solidFill>
                <a:latin typeface="Calibri"/>
              </a:rPr>
              <a:t>Non-Crosslinked PE Foam (EPE)</a:t>
            </a:r>
          </a:p>
        </p:txBody>
      </p:sp>
      <p:pic>
        <p:nvPicPr>
          <p:cNvPr id="93" name="Picture 92" descr="lock.png"/>
          <p:cNvPicPr>
            <a:picLocks noChangeAspect="1"/>
          </p:cNvPicPr>
          <p:nvPr/>
        </p:nvPicPr>
        <p:blipFill>
          <a:blip r:embed="rId4"/>
          <a:stretch>
            <a:fillRect/>
          </a:stretch>
        </p:blipFill>
        <p:spPr>
          <a:xfrm>
            <a:off x="5962478" y="5374584"/>
            <a:ext cx="92663" cy="134782"/>
          </a:xfrm>
          <a:prstGeom prst="rect">
            <a:avLst/>
          </a:prstGeom>
        </p:spPr>
      </p:pic>
      <p:sp>
        <p:nvSpPr>
          <p:cNvPr id="94" name="TextBox 93"/>
          <p:cNvSpPr txBox="1"/>
          <p:nvPr/>
        </p:nvSpPr>
        <p:spPr>
          <a:xfrm>
            <a:off x="5972175" y="5578449"/>
            <a:ext cx="1222485" cy="139750"/>
          </a:xfrm>
          <a:prstGeom prst="rect">
            <a:avLst/>
          </a:prstGeom>
          <a:noFill/>
        </p:spPr>
        <p:txBody>
          <a:bodyPr wrap="none" lIns="0" rIns="0" tIns="0" bIns="0">
            <a:spAutoFit/>
          </a:bodyPr>
          <a:lstStyle/>
          <a:p>
            <a:r>
              <a:rPr sz="791" b="1">
                <a:solidFill>
                  <a:srgbClr val="2E2E2E"/>
                </a:solidFill>
                <a:latin typeface="Calibri"/>
              </a:rPr>
              <a:t>Crosslinked PE Foam (XLPE)</a:t>
            </a:r>
          </a:p>
        </p:txBody>
      </p:sp>
      <p:pic>
        <p:nvPicPr>
          <p:cNvPr id="95" name="Picture 94" descr="lock.png"/>
          <p:cNvPicPr>
            <a:picLocks noChangeAspect="1"/>
          </p:cNvPicPr>
          <p:nvPr/>
        </p:nvPicPr>
        <p:blipFill>
          <a:blip r:embed="rId4"/>
          <a:stretch>
            <a:fillRect/>
          </a:stretch>
        </p:blipFill>
        <p:spPr>
          <a:xfrm>
            <a:off x="7135921" y="5571408"/>
            <a:ext cx="92663" cy="134782"/>
          </a:xfrm>
          <a:prstGeom prst="rect">
            <a:avLst/>
          </a:prstGeom>
        </p:spPr>
      </p:pic>
      <p:sp>
        <p:nvSpPr>
          <p:cNvPr id="96" name="TextBox 95"/>
          <p:cNvSpPr txBox="1"/>
          <p:nvPr/>
        </p:nvSpPr>
        <p:spPr>
          <a:xfrm>
            <a:off x="5972175" y="5775274"/>
            <a:ext cx="1214056" cy="139750"/>
          </a:xfrm>
          <a:prstGeom prst="rect">
            <a:avLst/>
          </a:prstGeom>
          <a:noFill/>
        </p:spPr>
        <p:txBody>
          <a:bodyPr wrap="none" lIns="0" rIns="0" tIns="0" bIns="0">
            <a:spAutoFit/>
          </a:bodyPr>
          <a:lstStyle/>
          <a:p>
            <a:r>
              <a:rPr sz="791" b="1">
                <a:solidFill>
                  <a:srgbClr val="2E2E2E"/>
                </a:solidFill>
                <a:latin typeface="Calibri"/>
              </a:rPr>
              <a:t>Extruded Polystyrene (XPS)</a:t>
            </a:r>
          </a:p>
        </p:txBody>
      </p:sp>
      <p:sp>
        <p:nvSpPr>
          <p:cNvPr id="97" name="TextBox 96"/>
          <p:cNvSpPr txBox="1"/>
          <p:nvPr/>
        </p:nvSpPr>
        <p:spPr>
          <a:xfrm>
            <a:off x="5972175" y="5895975"/>
            <a:ext cx="307996" cy="139750"/>
          </a:xfrm>
          <a:prstGeom prst="rect">
            <a:avLst/>
          </a:prstGeom>
          <a:noFill/>
        </p:spPr>
        <p:txBody>
          <a:bodyPr wrap="none" lIns="0" rIns="0" tIns="0" bIns="0">
            <a:spAutoFit/>
          </a:bodyPr>
          <a:lstStyle/>
          <a:p>
            <a:r>
              <a:rPr sz="791" b="1">
                <a:solidFill>
                  <a:srgbClr val="2E2E2E"/>
                </a:solidFill>
                <a:latin typeface="Calibri"/>
              </a:rPr>
              <a:t>Foam</a:t>
            </a:r>
          </a:p>
        </p:txBody>
      </p:sp>
      <p:pic>
        <p:nvPicPr>
          <p:cNvPr id="98" name="Picture 97" descr="lock.png"/>
          <p:cNvPicPr>
            <a:picLocks noChangeAspect="1"/>
          </p:cNvPicPr>
          <p:nvPr/>
        </p:nvPicPr>
        <p:blipFill>
          <a:blip r:embed="rId4"/>
          <a:stretch>
            <a:fillRect/>
          </a:stretch>
        </p:blipFill>
        <p:spPr>
          <a:xfrm>
            <a:off x="6221432" y="5888934"/>
            <a:ext cx="92663" cy="134782"/>
          </a:xfrm>
          <a:prstGeom prst="rect">
            <a:avLst/>
          </a:prstGeom>
        </p:spPr>
      </p:pic>
      <p:sp>
        <p:nvSpPr>
          <p:cNvPr id="99" name="TextBox 98"/>
          <p:cNvSpPr txBox="1"/>
          <p:nvPr/>
        </p:nvSpPr>
        <p:spPr>
          <a:xfrm>
            <a:off x="5972175" y="6032449"/>
            <a:ext cx="1255311" cy="139750"/>
          </a:xfrm>
          <a:prstGeom prst="rect">
            <a:avLst/>
          </a:prstGeom>
          <a:noFill/>
        </p:spPr>
        <p:txBody>
          <a:bodyPr wrap="none" lIns="0" rIns="0" tIns="0" bIns="0">
            <a:spAutoFit/>
          </a:bodyPr>
          <a:lstStyle/>
          <a:p>
            <a:r>
              <a:rPr sz="791" b="1">
                <a:solidFill>
                  <a:srgbClr val="2E2E2E"/>
                </a:solidFill>
                <a:latin typeface="Calibri"/>
              </a:rPr>
              <a:t>Other Polyolefin &amp; Specialty</a:t>
            </a:r>
          </a:p>
        </p:txBody>
      </p:sp>
      <p:sp>
        <p:nvSpPr>
          <p:cNvPr id="100" name="TextBox 99"/>
          <p:cNvSpPr txBox="1"/>
          <p:nvPr/>
        </p:nvSpPr>
        <p:spPr>
          <a:xfrm>
            <a:off x="5972175" y="6153150"/>
            <a:ext cx="719369" cy="139750"/>
          </a:xfrm>
          <a:prstGeom prst="rect">
            <a:avLst/>
          </a:prstGeom>
          <a:noFill/>
        </p:spPr>
        <p:txBody>
          <a:bodyPr wrap="none" lIns="0" rIns="0" tIns="0" bIns="0">
            <a:spAutoFit/>
          </a:bodyPr>
          <a:lstStyle/>
          <a:p>
            <a:r>
              <a:rPr sz="791" b="1">
                <a:solidFill>
                  <a:srgbClr val="2E2E2E"/>
                </a:solidFill>
                <a:latin typeface="Calibri"/>
              </a:rPr>
              <a:t>Polymer Foams</a:t>
            </a:r>
          </a:p>
        </p:txBody>
      </p:sp>
      <p:pic>
        <p:nvPicPr>
          <p:cNvPr id="101" name="Picture 100" descr="lock.png"/>
          <p:cNvPicPr>
            <a:picLocks noChangeAspect="1"/>
          </p:cNvPicPr>
          <p:nvPr/>
        </p:nvPicPr>
        <p:blipFill>
          <a:blip r:embed="rId4"/>
          <a:stretch>
            <a:fillRect/>
          </a:stretch>
        </p:blipFill>
        <p:spPr>
          <a:xfrm>
            <a:off x="6632805" y="6146109"/>
            <a:ext cx="92663" cy="134782"/>
          </a:xfrm>
          <a:prstGeom prst="rect">
            <a:avLst/>
          </a:prstGeom>
        </p:spPr>
      </p:pic>
      <p:sp>
        <p:nvSpPr>
          <p:cNvPr id="102" name="TextBox 101"/>
          <p:cNvSpPr txBox="1"/>
          <p:nvPr/>
        </p:nvSpPr>
        <p:spPr>
          <a:xfrm>
            <a:off x="5972175" y="6289624"/>
            <a:ext cx="1362075" cy="139750"/>
          </a:xfrm>
          <a:prstGeom prst="rect">
            <a:avLst/>
          </a:prstGeom>
          <a:noFill/>
        </p:spPr>
        <p:txBody>
          <a:bodyPr wrap="none" lIns="0" rIns="0" tIns="0" bIns="0">
            <a:spAutoFit/>
          </a:bodyPr>
          <a:lstStyle/>
          <a:p>
            <a:r>
              <a:rPr sz="791" b="1">
                <a:solidFill>
                  <a:srgbClr val="2E2E2E"/>
                </a:solidFill>
                <a:latin typeface="Calibri"/>
              </a:rPr>
              <a:t>Bio-based / Starch-based Foams</a:t>
            </a:r>
          </a:p>
        </p:txBody>
      </p:sp>
      <p:pic>
        <p:nvPicPr>
          <p:cNvPr id="103" name="Picture 102" descr="lock.png"/>
          <p:cNvPicPr>
            <a:picLocks noChangeAspect="1"/>
          </p:cNvPicPr>
          <p:nvPr/>
        </p:nvPicPr>
        <p:blipFill>
          <a:blip r:embed="rId4"/>
          <a:stretch>
            <a:fillRect/>
          </a:stretch>
        </p:blipFill>
        <p:spPr>
          <a:xfrm>
            <a:off x="5962478" y="6403284"/>
            <a:ext cx="92663" cy="134782"/>
          </a:xfrm>
          <a:prstGeom prst="rect">
            <a:avLst/>
          </a:prstGeom>
        </p:spPr>
      </p:pic>
      <p:sp>
        <p:nvSpPr>
          <p:cNvPr id="104" name="TextBox 103"/>
          <p:cNvSpPr txBox="1"/>
          <p:nvPr/>
        </p:nvSpPr>
        <p:spPr>
          <a:xfrm>
            <a:off x="7715250" y="1400175"/>
            <a:ext cx="4107693" cy="194310"/>
          </a:xfrm>
          <a:prstGeom prst="rect">
            <a:avLst/>
          </a:prstGeom>
          <a:noFill/>
        </p:spPr>
        <p:txBody>
          <a:bodyPr wrap="none" lIns="0" rIns="0" tIns="0" bIns="0">
            <a:spAutoFit/>
          </a:bodyPr>
          <a:lstStyle/>
          <a:p>
            <a:r>
              <a:rPr sz="1150" b="0">
                <a:solidFill>
                  <a:srgbClr val="2E2E2E"/>
                </a:solidFill>
                <a:latin typeface="Calibri"/>
              </a:rPr>
              <a:t>Expanded polystyrene (EPS) segment is projected to account for the</a:t>
            </a:r>
          </a:p>
        </p:txBody>
      </p:sp>
      <p:sp>
        <p:nvSpPr>
          <p:cNvPr id="105" name="TextBox 104"/>
          <p:cNvSpPr txBox="1"/>
          <p:nvPr/>
        </p:nvSpPr>
        <p:spPr>
          <a:xfrm>
            <a:off x="7715250" y="1575435"/>
            <a:ext cx="4115680" cy="194310"/>
          </a:xfrm>
          <a:prstGeom prst="rect">
            <a:avLst/>
          </a:prstGeom>
          <a:noFill/>
        </p:spPr>
        <p:txBody>
          <a:bodyPr wrap="none" lIns="0" rIns="0" tIns="0" bIns="0">
            <a:spAutoFit/>
          </a:bodyPr>
          <a:lstStyle/>
          <a:p>
            <a:r>
              <a:rPr sz="1150" b="0">
                <a:solidFill>
                  <a:srgbClr val="2E2E2E"/>
                </a:solidFill>
                <a:latin typeface="Calibri"/>
              </a:rPr>
              <a:t>largest share of the global foam protective packaging market, led by</a:t>
            </a:r>
          </a:p>
        </p:txBody>
      </p:sp>
      <p:sp>
        <p:nvSpPr>
          <p:cNvPr id="106" name="TextBox 105"/>
          <p:cNvSpPr txBox="1"/>
          <p:nvPr/>
        </p:nvSpPr>
        <p:spPr>
          <a:xfrm>
            <a:off x="7715250" y="1750695"/>
            <a:ext cx="2276078" cy="194310"/>
          </a:xfrm>
          <a:prstGeom prst="rect">
            <a:avLst/>
          </a:prstGeom>
          <a:noFill/>
        </p:spPr>
        <p:txBody>
          <a:bodyPr wrap="none" lIns="0" rIns="0" tIns="0" bIns="0">
            <a:spAutoFit/>
          </a:bodyPr>
          <a:lstStyle/>
          <a:p>
            <a:r>
              <a:rPr sz="1150" b="0">
                <a:solidFill>
                  <a:srgbClr val="2E2E2E"/>
                </a:solidFill>
                <a:latin typeface="Calibri"/>
              </a:rPr>
              <a:t>foam pouches, bags &amp; sleeves at US$</a:t>
            </a:r>
          </a:p>
        </p:txBody>
      </p:sp>
      <p:pic>
        <p:nvPicPr>
          <p:cNvPr id="107" name="Picture 106" descr="lock.png"/>
          <p:cNvPicPr>
            <a:picLocks noChangeAspect="1"/>
          </p:cNvPicPr>
          <p:nvPr/>
        </p:nvPicPr>
        <p:blipFill>
          <a:blip r:embed="rId4"/>
          <a:stretch>
            <a:fillRect/>
          </a:stretch>
        </p:blipFill>
        <p:spPr>
          <a:xfrm>
            <a:off x="9940482" y="1740471"/>
            <a:ext cx="134549" cy="195707"/>
          </a:xfrm>
          <a:prstGeom prst="rect">
            <a:avLst/>
          </a:prstGeom>
        </p:spPr>
      </p:pic>
      <p:sp>
        <p:nvSpPr>
          <p:cNvPr id="108" name="TextBox 107"/>
          <p:cNvSpPr txBox="1"/>
          <p:nvPr/>
        </p:nvSpPr>
        <p:spPr>
          <a:xfrm>
            <a:off x="10115591" y="1750695"/>
            <a:ext cx="1651372" cy="194310"/>
          </a:xfrm>
          <a:prstGeom prst="rect">
            <a:avLst/>
          </a:prstGeom>
          <a:noFill/>
        </p:spPr>
        <p:txBody>
          <a:bodyPr wrap="none" lIns="0" rIns="0" tIns="0" bIns="0">
            <a:spAutoFit/>
          </a:bodyPr>
          <a:lstStyle/>
          <a:p>
            <a:r>
              <a:rPr sz="1150" b="0">
                <a:solidFill>
                  <a:srgbClr val="2E2E2E"/>
                </a:solidFill>
                <a:latin typeface="Calibri"/>
              </a:rPr>
              <a:t>Mn in 2036. 'Polyurethane</a:t>
            </a:r>
          </a:p>
        </p:txBody>
      </p:sp>
      <p:sp>
        <p:nvSpPr>
          <p:cNvPr id="109" name="TextBox 108"/>
          <p:cNvSpPr txBox="1"/>
          <p:nvPr/>
        </p:nvSpPr>
        <p:spPr>
          <a:xfrm>
            <a:off x="7715250" y="1925955"/>
            <a:ext cx="3849191" cy="194310"/>
          </a:xfrm>
          <a:prstGeom prst="rect">
            <a:avLst/>
          </a:prstGeom>
          <a:noFill/>
        </p:spPr>
        <p:txBody>
          <a:bodyPr wrap="none" lIns="0" rIns="0" tIns="0" bIns="0">
            <a:spAutoFit/>
          </a:bodyPr>
          <a:lstStyle/>
          <a:p>
            <a:r>
              <a:rPr sz="1150" b="0">
                <a:solidFill>
                  <a:srgbClr val="2E2E2E"/>
                </a:solidFill>
                <a:latin typeface="Calibri"/>
              </a:rPr>
              <a:t>(PU) Foam × Foam Pouches, Bags &amp; Sleeves' is the single largest</a:t>
            </a:r>
          </a:p>
        </p:txBody>
      </p:sp>
      <p:sp>
        <p:nvSpPr>
          <p:cNvPr id="110" name="TextBox 109"/>
          <p:cNvSpPr txBox="1"/>
          <p:nvPr/>
        </p:nvSpPr>
        <p:spPr>
          <a:xfrm>
            <a:off x="7715250" y="2101215"/>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111" name="Picture 110" descr="lock.png"/>
          <p:cNvPicPr>
            <a:picLocks noChangeAspect="1"/>
          </p:cNvPicPr>
          <p:nvPr/>
        </p:nvPicPr>
        <p:blipFill>
          <a:blip r:embed="rId4"/>
          <a:stretch>
            <a:fillRect/>
          </a:stretch>
        </p:blipFill>
        <p:spPr>
          <a:xfrm>
            <a:off x="8933535" y="2090991"/>
            <a:ext cx="134549" cy="195707"/>
          </a:xfrm>
          <a:prstGeom prst="rect">
            <a:avLst/>
          </a:prstGeom>
        </p:spPr>
      </p:pic>
      <p:sp>
        <p:nvSpPr>
          <p:cNvPr id="112" name="TextBox 111"/>
          <p:cNvSpPr txBox="1"/>
          <p:nvPr/>
        </p:nvSpPr>
        <p:spPr>
          <a:xfrm>
            <a:off x="9108645" y="2101215"/>
            <a:ext cx="2068128" cy="194310"/>
          </a:xfrm>
          <a:prstGeom prst="rect">
            <a:avLst/>
          </a:prstGeom>
          <a:noFill/>
        </p:spPr>
        <p:txBody>
          <a:bodyPr wrap="none" lIns="0" rIns="0" tIns="0" bIns="0">
            <a:spAutoFit/>
          </a:bodyPr>
          <a:lstStyle/>
          <a:p>
            <a:r>
              <a:rPr sz="1150" b="0">
                <a:solidFill>
                  <a:srgbClr val="2E2E2E"/>
                </a:solidFill>
                <a:latin typeface="Calibri"/>
              </a:rPr>
              <a:t>US$ Mn, 2026E), while 'Expanded</a:t>
            </a:r>
          </a:p>
        </p:txBody>
      </p:sp>
      <p:sp>
        <p:nvSpPr>
          <p:cNvPr id="113" name="TextBox 112"/>
          <p:cNvSpPr txBox="1"/>
          <p:nvPr/>
        </p:nvSpPr>
        <p:spPr>
          <a:xfrm>
            <a:off x="7715250" y="2276475"/>
            <a:ext cx="4171950" cy="194310"/>
          </a:xfrm>
          <a:prstGeom prst="rect">
            <a:avLst/>
          </a:prstGeom>
          <a:noFill/>
        </p:spPr>
        <p:txBody>
          <a:bodyPr wrap="none" lIns="0" rIns="0" tIns="0" bIns="0">
            <a:spAutoFit/>
          </a:bodyPr>
          <a:lstStyle/>
          <a:p>
            <a:r>
              <a:rPr sz="1150" b="0">
                <a:solidFill>
                  <a:srgbClr val="2E2E2E"/>
                </a:solidFill>
                <a:latin typeface="Calibri"/>
              </a:rPr>
              <a:t>Polystyrene (EPS) × Foam Pouches, Bags &amp; Sleeves' records the fastest</a:t>
            </a:r>
          </a:p>
        </p:txBody>
      </p:sp>
      <p:sp>
        <p:nvSpPr>
          <p:cNvPr id="114" name="TextBox 113"/>
          <p:cNvSpPr txBox="1"/>
          <p:nvPr/>
        </p:nvSpPr>
        <p:spPr>
          <a:xfrm>
            <a:off x="7715250" y="2451735"/>
            <a:ext cx="1279668" cy="194310"/>
          </a:xfrm>
          <a:prstGeom prst="rect">
            <a:avLst/>
          </a:prstGeom>
          <a:noFill/>
        </p:spPr>
        <p:txBody>
          <a:bodyPr wrap="none" lIns="0" rIns="0" tIns="0" bIns="0">
            <a:spAutoFit/>
          </a:bodyPr>
          <a:lstStyle/>
          <a:p>
            <a:r>
              <a:rPr sz="1150" b="0">
                <a:solidFill>
                  <a:srgbClr val="2E2E2E"/>
                </a:solidFill>
                <a:latin typeface="Calibri"/>
              </a:rPr>
              <a:t>growth at a CAGR of</a:t>
            </a:r>
          </a:p>
        </p:txBody>
      </p:sp>
      <p:pic>
        <p:nvPicPr>
          <p:cNvPr id="115" name="Picture 114" descr="lock.png"/>
          <p:cNvPicPr>
            <a:picLocks noChangeAspect="1"/>
          </p:cNvPicPr>
          <p:nvPr/>
        </p:nvPicPr>
        <p:blipFill>
          <a:blip r:embed="rId4"/>
          <a:stretch>
            <a:fillRect/>
          </a:stretch>
        </p:blipFill>
        <p:spPr>
          <a:xfrm>
            <a:off x="8944072" y="2441511"/>
            <a:ext cx="134549" cy="195707"/>
          </a:xfrm>
          <a:prstGeom prst="rect">
            <a:avLst/>
          </a:prstGeom>
        </p:spPr>
      </p:pic>
      <p:sp>
        <p:nvSpPr>
          <p:cNvPr id="116" name="TextBox 115"/>
          <p:cNvSpPr txBox="1"/>
          <p:nvPr/>
        </p:nvSpPr>
        <p:spPr>
          <a:xfrm>
            <a:off x="9119181"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7" name="TextBox 116"/>
          <p:cNvSpPr txBox="1"/>
          <p:nvPr/>
        </p:nvSpPr>
        <p:spPr>
          <a:xfrm>
            <a:off x="7715250" y="2679573"/>
            <a:ext cx="4160750" cy="194310"/>
          </a:xfrm>
          <a:prstGeom prst="rect">
            <a:avLst/>
          </a:prstGeom>
          <a:noFill/>
        </p:spPr>
        <p:txBody>
          <a:bodyPr wrap="none" lIns="0" rIns="0" tIns="0" bIns="0">
            <a:spAutoFit/>
          </a:bodyPr>
          <a:lstStyle/>
          <a:p>
            <a:r>
              <a:rPr sz="1150" b="0">
                <a:solidFill>
                  <a:srgbClr val="2E2E2E"/>
                </a:solidFill>
                <a:latin typeface="Calibri"/>
              </a:rPr>
              <a:t>Combined, the top three material type × product form cells generate</a:t>
            </a:r>
          </a:p>
        </p:txBody>
      </p:sp>
      <p:sp>
        <p:nvSpPr>
          <p:cNvPr id="118" name="TextBox 117"/>
          <p:cNvSpPr txBox="1"/>
          <p:nvPr/>
        </p:nvSpPr>
        <p:spPr>
          <a:xfrm>
            <a:off x="7715250" y="2854832"/>
            <a:ext cx="1773745" cy="194310"/>
          </a:xfrm>
          <a:prstGeom prst="rect">
            <a:avLst/>
          </a:prstGeom>
          <a:noFill/>
        </p:spPr>
        <p:txBody>
          <a:bodyPr wrap="none" lIns="0" rIns="0" tIns="0" bIns="0">
            <a:spAutoFit/>
          </a:bodyPr>
          <a:lstStyle/>
          <a:p>
            <a:r>
              <a:rPr sz="1150" b="0">
                <a:solidFill>
                  <a:srgbClr val="2E2E2E"/>
                </a:solidFill>
                <a:latin typeface="Calibri"/>
              </a:rPr>
              <a:t>an absolute $ opportunity of</a:t>
            </a:r>
          </a:p>
        </p:txBody>
      </p:sp>
      <p:pic>
        <p:nvPicPr>
          <p:cNvPr id="119" name="Picture 118" descr="lock.png"/>
          <p:cNvPicPr>
            <a:picLocks noChangeAspect="1"/>
          </p:cNvPicPr>
          <p:nvPr/>
        </p:nvPicPr>
        <p:blipFill>
          <a:blip r:embed="rId4"/>
          <a:stretch>
            <a:fillRect/>
          </a:stretch>
        </p:blipFill>
        <p:spPr>
          <a:xfrm>
            <a:off x="9438149" y="2844609"/>
            <a:ext cx="134549" cy="195707"/>
          </a:xfrm>
          <a:prstGeom prst="rect">
            <a:avLst/>
          </a:prstGeom>
        </p:spPr>
      </p:pic>
      <p:sp>
        <p:nvSpPr>
          <p:cNvPr id="120" name="TextBox 119"/>
          <p:cNvSpPr txBox="1"/>
          <p:nvPr/>
        </p:nvSpPr>
        <p:spPr>
          <a:xfrm>
            <a:off x="961325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Material Type × Product Form, 2026E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product form sub-segments</a:t>
            </a:r>
          </a:p>
        </p:txBody>
      </p:sp>
      <p:sp>
        <p:nvSpPr>
          <p:cNvPr id="7" name="Rounded Rectangle 6"/>
          <p:cNvSpPr/>
          <p:nvPr/>
        </p:nvSpPr>
        <p:spPr>
          <a:xfrm>
            <a:off x="142875" y="981075"/>
            <a:ext cx="11906250" cy="2962275"/>
          </a:xfrm>
          <a:prstGeom prst="roundRect">
            <a:avLst>
              <a:gd name="adj" fmla="val 257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Material Type × Product Form, 2026E (% of each row)</a:t>
            </a:r>
          </a:p>
        </p:txBody>
      </p:sp>
      <p:graphicFrame>
        <p:nvGraphicFramePr>
          <p:cNvPr id="9" name="Table 8"/>
          <p:cNvGraphicFramePr>
            <a:graphicFrameLocks noGrp="1"/>
          </p:cNvGraphicFramePr>
          <p:nvPr/>
        </p:nvGraphicFramePr>
        <p:xfrm>
          <a:off x="152400" y="1238250"/>
          <a:ext cx="11889445" cy="2495550"/>
        </p:xfrm>
        <a:graphic>
          <a:graphicData uri="http://schemas.openxmlformats.org/drawingml/2006/table">
            <a:tbl>
              <a:tblPr>
                <a:tableStyleId>{5C22544A-7EE6-4342-B048-85BDC9FD1C3A}</a:tableStyleId>
              </a:tblPr>
              <a:tblGrid>
                <a:gridCol w="1648279"/>
                <a:gridCol w="934858"/>
                <a:gridCol w="884864"/>
                <a:gridCol w="750210"/>
                <a:gridCol w="904634"/>
                <a:gridCol w="846586"/>
                <a:gridCol w="849065"/>
                <a:gridCol w="862301"/>
                <a:gridCol w="862287"/>
                <a:gridCol w="971752"/>
                <a:gridCol w="1049799"/>
                <a:gridCol w="781004"/>
                <a:gridCol w="543806"/>
              </a:tblGrid>
              <a:tr h="1017270">
                <a:tc>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Non-Crosslinked PE Foam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Crosslinked PE Foam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Sheets, Rolls &amp; Planks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Fabricated Foam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Molded Foam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Foam-in-Place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Pouches, Bags &amp; Sleeves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Loose-Fill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Extruded Polystyrene Foam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Other Polyolefin &amp; Specialty Polymer Foams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Bio-based / Starch-based Foams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r>
              <a:tr h="246380">
                <a:tc>
                  <a:txBody>
                    <a:bodyPr wrap="none"/>
                    <a:lstStyle/>
                    <a:p>
                      <a:pPr algn="l"/>
                      <a:r>
                        <a:rPr sz="1100" b="1">
                          <a:solidFill>
                            <a:srgbClr val="2E2E2E"/>
                          </a:solidFill>
                          <a:latin typeface="Calibri"/>
                        </a:rPr>
                        <a:t>Polyethylene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80">
                <a:tc>
                  <a:txBody>
                    <a:bodyPr wrap="none"/>
                    <a:lstStyle/>
                    <a:p>
                      <a:pPr algn="l"/>
                      <a:r>
                        <a:rPr sz="1100" b="1">
                          <a:solidFill>
                            <a:srgbClr val="2E2E2E"/>
                          </a:solidFill>
                          <a:latin typeface="Calibri"/>
                        </a:rPr>
                        <a:t>Expanded 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80">
                <a:tc>
                  <a:txBody>
                    <a:bodyPr wrap="none"/>
                    <a:lstStyle/>
                    <a:p>
                      <a:pPr algn="l"/>
                      <a:r>
                        <a:rPr sz="1100" b="1">
                          <a:solidFill>
                            <a:srgbClr val="2E2E2E"/>
                          </a:solidFill>
                          <a:latin typeface="Calibri"/>
                        </a:rPr>
                        <a:t>Polyurethane (PU)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80">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80">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8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7433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076700"/>
            <a:ext cx="7286625" cy="2552700"/>
          </a:xfrm>
          <a:prstGeom prst="roundRect">
            <a:avLst>
              <a:gd name="adj" fmla="val 29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41338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Product Form Mix by Material Type, 2026E (% share)</a:t>
            </a:r>
          </a:p>
        </p:txBody>
      </p:sp>
      <p:graphicFrame>
        <p:nvGraphicFramePr>
          <p:cNvPr id="13" name="Chart 12"/>
          <p:cNvGraphicFramePr>
            <a:graphicFrameLocks noGrp="1"/>
          </p:cNvGraphicFramePr>
          <p:nvPr/>
        </p:nvGraphicFramePr>
        <p:xfrm>
          <a:off x="238125" y="4362450"/>
          <a:ext cx="7096125" cy="2209800"/>
        </p:xfrm>
        <a:graphic>
          <a:graphicData uri="http://schemas.openxmlformats.org/drawingml/2006/chart">
            <c:chart xmlns:c="http://schemas.openxmlformats.org/drawingml/2006/chart" r:id="rId3"/>
          </a:graphicData>
        </a:graphic>
      </p:graphicFrame>
      <p:sp>
        <p:nvSpPr>
          <p:cNvPr id="14" name="Rounded Rectangle 13"/>
          <p:cNvSpPr/>
          <p:nvPr/>
        </p:nvSpPr>
        <p:spPr>
          <a:xfrm>
            <a:off x="7581900" y="4076700"/>
            <a:ext cx="4457700" cy="2552700"/>
          </a:xfrm>
          <a:prstGeom prst="roundRect">
            <a:avLst>
              <a:gd name="adj" fmla="val 29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15250" y="4162425"/>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6" name="Rectangle 15"/>
          <p:cNvSpPr/>
          <p:nvPr/>
        </p:nvSpPr>
        <p:spPr>
          <a:xfrm>
            <a:off x="7715250" y="4400550"/>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5250" y="4486275"/>
            <a:ext cx="4191000" cy="2066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8" name="Rectangle 1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0" name="Picture 19" descr="lock.png"/>
          <p:cNvPicPr>
            <a:picLocks noChangeAspect="1"/>
          </p:cNvPicPr>
          <p:nvPr/>
        </p:nvPicPr>
        <p:blipFill>
          <a:blip r:embed="rId5"/>
          <a:stretch>
            <a:fillRect/>
          </a:stretch>
        </p:blipFill>
        <p:spPr>
          <a:xfrm>
            <a:off x="6712220" y="2727960"/>
            <a:ext cx="366712" cy="533400"/>
          </a:xfrm>
          <a:prstGeom prst="rect">
            <a:avLst/>
          </a:prstGeom>
        </p:spPr>
      </p:pic>
      <p:pic>
        <p:nvPicPr>
          <p:cNvPr id="21" name="Picture 20" descr="lock.png"/>
          <p:cNvPicPr>
            <a:picLocks noChangeAspect="1"/>
          </p:cNvPicPr>
          <p:nvPr/>
        </p:nvPicPr>
        <p:blipFill>
          <a:blip r:embed="rId5"/>
          <a:stretch>
            <a:fillRect/>
          </a:stretch>
        </p:blipFill>
        <p:spPr>
          <a:xfrm>
            <a:off x="3775138" y="4788408"/>
            <a:ext cx="311705" cy="453389"/>
          </a:xfrm>
          <a:prstGeom prst="rect">
            <a:avLst/>
          </a:prstGeom>
        </p:spPr>
      </p:pic>
      <p:sp>
        <p:nvSpPr>
          <p:cNvPr id="22" name="TextBox 21"/>
          <p:cNvSpPr txBox="1"/>
          <p:nvPr/>
        </p:nvSpPr>
        <p:spPr>
          <a:xfrm>
            <a:off x="7715250" y="4495800"/>
            <a:ext cx="3650685" cy="194310"/>
          </a:xfrm>
          <a:prstGeom prst="rect">
            <a:avLst/>
          </a:prstGeom>
          <a:noFill/>
        </p:spPr>
        <p:txBody>
          <a:bodyPr wrap="none" lIns="0" rIns="0" tIns="0" bIns="0">
            <a:spAutoFit/>
          </a:bodyPr>
          <a:lstStyle/>
          <a:p>
            <a:r>
              <a:rPr sz="1150" b="0">
                <a:solidFill>
                  <a:srgbClr val="2E2E2E"/>
                </a:solidFill>
                <a:latin typeface="Calibri"/>
              </a:rPr>
              <a:t>▪ 'Non-Crosslinked PE Foam (EPE)' holds the highest share of</a:t>
            </a:r>
          </a:p>
        </p:txBody>
      </p:sp>
      <p:sp>
        <p:nvSpPr>
          <p:cNvPr id="23" name="TextBox 22"/>
          <p:cNvSpPr txBox="1"/>
          <p:nvPr/>
        </p:nvSpPr>
        <p:spPr>
          <a:xfrm>
            <a:off x="7715250" y="4671060"/>
            <a:ext cx="1697837" cy="194310"/>
          </a:xfrm>
          <a:prstGeom prst="rect">
            <a:avLst/>
          </a:prstGeom>
          <a:noFill/>
        </p:spPr>
        <p:txBody>
          <a:bodyPr wrap="none" lIns="0" rIns="0" tIns="0" bIns="0">
            <a:spAutoFit/>
          </a:bodyPr>
          <a:lstStyle/>
          <a:p>
            <a:r>
              <a:rPr sz="1150" b="0">
                <a:solidFill>
                  <a:srgbClr val="2E2E2E"/>
                </a:solidFill>
                <a:latin typeface="Calibri"/>
              </a:rPr>
              <a:t>'Polyethylene (PE) Foam' at</a:t>
            </a:r>
          </a:p>
        </p:txBody>
      </p:sp>
      <p:pic>
        <p:nvPicPr>
          <p:cNvPr id="24" name="Picture 23" descr="lock.png"/>
          <p:cNvPicPr>
            <a:picLocks noChangeAspect="1"/>
          </p:cNvPicPr>
          <p:nvPr/>
        </p:nvPicPr>
        <p:blipFill>
          <a:blip r:embed="rId5"/>
          <a:stretch>
            <a:fillRect/>
          </a:stretch>
        </p:blipFill>
        <p:spPr>
          <a:xfrm>
            <a:off x="9362241" y="4660836"/>
            <a:ext cx="134549" cy="195707"/>
          </a:xfrm>
          <a:prstGeom prst="rect">
            <a:avLst/>
          </a:prstGeom>
        </p:spPr>
      </p:pic>
      <p:sp>
        <p:nvSpPr>
          <p:cNvPr id="25" name="TextBox 24"/>
          <p:cNvSpPr txBox="1"/>
          <p:nvPr/>
        </p:nvSpPr>
        <p:spPr>
          <a:xfrm>
            <a:off x="9537350" y="46710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6" name="TextBox 25"/>
          <p:cNvSpPr txBox="1"/>
          <p:nvPr/>
        </p:nvSpPr>
        <p:spPr>
          <a:xfrm>
            <a:off x="7715250" y="4898897"/>
            <a:ext cx="3975019" cy="194310"/>
          </a:xfrm>
          <a:prstGeom prst="rect">
            <a:avLst/>
          </a:prstGeom>
          <a:noFill/>
        </p:spPr>
        <p:txBody>
          <a:bodyPr wrap="none" lIns="0" rIns="0" tIns="0" bIns="0">
            <a:spAutoFit/>
          </a:bodyPr>
          <a:lstStyle/>
          <a:p>
            <a:r>
              <a:rPr sz="1150" b="0">
                <a:solidFill>
                  <a:srgbClr val="2E2E2E"/>
                </a:solidFill>
                <a:latin typeface="Calibri"/>
              </a:rPr>
              <a:t>▪ 'Polyethylene (PE) Foam' is the most concentrated material type</a:t>
            </a:r>
          </a:p>
        </p:txBody>
      </p:sp>
      <p:sp>
        <p:nvSpPr>
          <p:cNvPr id="27" name="TextBox 26"/>
          <p:cNvSpPr txBox="1"/>
          <p:nvPr/>
        </p:nvSpPr>
        <p:spPr>
          <a:xfrm>
            <a:off x="7715250" y="5074157"/>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8" name="Picture 27" descr="lock.png"/>
          <p:cNvPicPr>
            <a:picLocks noChangeAspect="1"/>
          </p:cNvPicPr>
          <p:nvPr/>
        </p:nvPicPr>
        <p:blipFill>
          <a:blip r:embed="rId5"/>
          <a:stretch>
            <a:fillRect/>
          </a:stretch>
        </p:blipFill>
        <p:spPr>
          <a:xfrm>
            <a:off x="8843110" y="5063934"/>
            <a:ext cx="134549" cy="195707"/>
          </a:xfrm>
          <a:prstGeom prst="rect">
            <a:avLst/>
          </a:prstGeom>
        </p:spPr>
      </p:pic>
      <p:sp>
        <p:nvSpPr>
          <p:cNvPr id="29" name="TextBox 28"/>
          <p:cNvSpPr txBox="1"/>
          <p:nvPr/>
        </p:nvSpPr>
        <p:spPr>
          <a:xfrm>
            <a:off x="9018219" y="5074157"/>
            <a:ext cx="2507102" cy="194310"/>
          </a:xfrm>
          <a:prstGeom prst="rect">
            <a:avLst/>
          </a:prstGeom>
          <a:noFill/>
        </p:spPr>
        <p:txBody>
          <a:bodyPr wrap="none" lIns="0" rIns="0" tIns="0" bIns="0">
            <a:spAutoFit/>
          </a:bodyPr>
          <a:lstStyle/>
          <a:p>
            <a:r>
              <a:rPr sz="1150" b="0">
                <a:solidFill>
                  <a:srgbClr val="2E2E2E"/>
                </a:solidFill>
                <a:latin typeface="Calibri"/>
              </a:rPr>
              <a:t>of its value via 'Non-Crosslinked PE Foam</a:t>
            </a:r>
          </a:p>
        </p:txBody>
      </p:sp>
      <p:sp>
        <p:nvSpPr>
          <p:cNvPr id="30" name="TextBox 29"/>
          <p:cNvSpPr txBox="1"/>
          <p:nvPr/>
        </p:nvSpPr>
        <p:spPr>
          <a:xfrm>
            <a:off x="7715250" y="5249417"/>
            <a:ext cx="451879" cy="194310"/>
          </a:xfrm>
          <a:prstGeom prst="rect">
            <a:avLst/>
          </a:prstGeom>
          <a:noFill/>
        </p:spPr>
        <p:txBody>
          <a:bodyPr wrap="none" lIns="0" rIns="0" tIns="0" bIns="0">
            <a:spAutoFit/>
          </a:bodyPr>
          <a:lstStyle/>
          <a:p>
            <a:r>
              <a:rPr sz="1150" b="0">
                <a:solidFill>
                  <a:srgbClr val="2E2E2E"/>
                </a:solidFill>
                <a:latin typeface="Calibri"/>
              </a:rPr>
              <a:t>(EPE)'.</a:t>
            </a:r>
          </a:p>
        </p:txBody>
      </p:sp>
      <p:sp>
        <p:nvSpPr>
          <p:cNvPr id="31" name="TextBox 30"/>
          <p:cNvSpPr txBox="1"/>
          <p:nvPr/>
        </p:nvSpPr>
        <p:spPr>
          <a:xfrm>
            <a:off x="7715250" y="5477255"/>
            <a:ext cx="2484282" cy="194310"/>
          </a:xfrm>
          <a:prstGeom prst="rect">
            <a:avLst/>
          </a:prstGeom>
          <a:noFill/>
        </p:spPr>
        <p:txBody>
          <a:bodyPr wrap="none" lIns="0" rIns="0" tIns="0" bIns="0">
            <a:spAutoFit/>
          </a:bodyPr>
          <a:lstStyle/>
          <a:p>
            <a:r>
              <a:rPr sz="1150" b="0">
                <a:solidFill>
                  <a:srgbClr val="2E2E2E"/>
                </a:solidFill>
                <a:latin typeface="Calibri"/>
              </a:rPr>
              <a:t>▪ 'Foam Pouches, Bags &amp; Sleeves' gains +</a:t>
            </a:r>
          </a:p>
        </p:txBody>
      </p:sp>
      <p:pic>
        <p:nvPicPr>
          <p:cNvPr id="32" name="Picture 31" descr="lock.png"/>
          <p:cNvPicPr>
            <a:picLocks noChangeAspect="1"/>
          </p:cNvPicPr>
          <p:nvPr/>
        </p:nvPicPr>
        <p:blipFill>
          <a:blip r:embed="rId5"/>
          <a:stretch>
            <a:fillRect/>
          </a:stretch>
        </p:blipFill>
        <p:spPr>
          <a:xfrm>
            <a:off x="10148686" y="5467032"/>
            <a:ext cx="134549" cy="195707"/>
          </a:xfrm>
          <a:prstGeom prst="rect">
            <a:avLst/>
          </a:prstGeom>
        </p:spPr>
      </p:pic>
      <p:sp>
        <p:nvSpPr>
          <p:cNvPr id="33" name="TextBox 32"/>
          <p:cNvSpPr txBox="1"/>
          <p:nvPr/>
        </p:nvSpPr>
        <p:spPr>
          <a:xfrm>
            <a:off x="10323795" y="5477255"/>
            <a:ext cx="1199815" cy="194310"/>
          </a:xfrm>
          <a:prstGeom prst="rect">
            <a:avLst/>
          </a:prstGeom>
          <a:noFill/>
        </p:spPr>
        <p:txBody>
          <a:bodyPr wrap="none" lIns="0" rIns="0" tIns="0" bIns="0">
            <a:spAutoFit/>
          </a:bodyPr>
          <a:lstStyle/>
          <a:p>
            <a:r>
              <a:rPr sz="1150" b="0">
                <a:solidFill>
                  <a:srgbClr val="2E2E2E"/>
                </a:solidFill>
                <a:latin typeface="Calibri"/>
              </a:rPr>
              <a:t>BPS of share of the</a:t>
            </a:r>
          </a:p>
        </p:txBody>
      </p:sp>
      <p:sp>
        <p:nvSpPr>
          <p:cNvPr id="34" name="TextBox 33"/>
          <p:cNvSpPr txBox="1"/>
          <p:nvPr/>
        </p:nvSpPr>
        <p:spPr>
          <a:xfrm>
            <a:off x="7715250" y="5652515"/>
            <a:ext cx="1878790" cy="194310"/>
          </a:xfrm>
          <a:prstGeom prst="rect">
            <a:avLst/>
          </a:prstGeom>
          <a:noFill/>
        </p:spPr>
        <p:txBody>
          <a:bodyPr wrap="none" lIns="0" rIns="0" tIns="0" bIns="0">
            <a:spAutoFit/>
          </a:bodyPr>
          <a:lstStyle/>
          <a:p>
            <a:r>
              <a:rPr sz="1150" b="0">
                <a:solidFill>
                  <a:srgbClr val="2E2E2E"/>
                </a:solidFill>
                <a:latin typeface="Calibri"/>
              </a:rPr>
              <a:t>Global cross-section by 2036F.</a:t>
            </a:r>
          </a:p>
        </p:txBody>
      </p:sp>
      <p:sp>
        <p:nvSpPr>
          <p:cNvPr id="35" name="lockshield_13"/>
          <p:cNvSpPr/>
          <p:nvPr/>
        </p:nvSpPr>
        <p:spPr>
          <a:xfrm>
            <a:off x="238125" y="4362450"/>
            <a:ext cx="7096125" cy="2209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Material Type × Product Form, 2026E–2036F</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3400425"/>
          </a:xfrm>
          <a:prstGeom prst="roundRect">
            <a:avLst>
              <a:gd name="adj" fmla="val 22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Material Type × Product Form, 2026E–2036F</a:t>
            </a:r>
          </a:p>
        </p:txBody>
      </p:sp>
      <p:graphicFrame>
        <p:nvGraphicFramePr>
          <p:cNvPr id="9" name="Table 8"/>
          <p:cNvGraphicFramePr>
            <a:graphicFrameLocks noGrp="1"/>
          </p:cNvGraphicFramePr>
          <p:nvPr/>
        </p:nvGraphicFramePr>
        <p:xfrm>
          <a:off x="152400" y="1238250"/>
          <a:ext cx="11889732" cy="2933701"/>
        </p:xfrm>
        <a:graphic>
          <a:graphicData uri="http://schemas.openxmlformats.org/drawingml/2006/table">
            <a:tbl>
              <a:tblPr>
                <a:tableStyleId>{5C22544A-7EE6-4342-B048-85BDC9FD1C3A}</a:tableStyleId>
              </a:tblPr>
              <a:tblGrid>
                <a:gridCol w="1648279"/>
                <a:gridCol w="431981"/>
                <a:gridCol w="421625"/>
                <a:gridCol w="431981"/>
                <a:gridCol w="421625"/>
                <a:gridCol w="431981"/>
                <a:gridCol w="421625"/>
                <a:gridCol w="431981"/>
                <a:gridCol w="421625"/>
                <a:gridCol w="431981"/>
                <a:gridCol w="421625"/>
                <a:gridCol w="431981"/>
                <a:gridCol w="421625"/>
                <a:gridCol w="429805"/>
                <a:gridCol w="421625"/>
                <a:gridCol w="431981"/>
                <a:gridCol w="421625"/>
                <a:gridCol w="431981"/>
                <a:gridCol w="421625"/>
                <a:gridCol w="431981"/>
                <a:gridCol w="421625"/>
                <a:gridCol w="431981"/>
                <a:gridCol w="421625"/>
                <a:gridCol w="429805"/>
                <a:gridCol w="424158"/>
              </a:tblGrid>
              <a:tr h="1017270">
                <a:tc rowSpan="2">
                  <a:txBody>
                    <a:bodyPr wrap="none"/>
                    <a:lstStyle/>
                    <a:p>
                      <a:pPr algn="l"/>
                      <a:r>
                        <a:rPr sz="1100" b="1">
                          <a:solidFill>
                            <a:srgbClr val="0E2A5C"/>
                          </a:solidFill>
                          <a:latin typeface="Calibri"/>
                        </a:rPr>
                        <a:t>Material Type</a:t>
                      </a: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Non-</a:t>
                      </a:r>
                      <a:endParaRPr sz="1100"/>
                    </a:p>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Sheets, Rolls</a:t>
                      </a:r>
                      <a:endParaRPr sz="1100"/>
                    </a:p>
                    <a:p>
                      <a:pPr algn="ctr"/>
                      <a:r>
                        <a:rPr sz="1100" b="1">
                          <a:solidFill>
                            <a:srgbClr val="0E2A5C"/>
                          </a:solidFill>
                          <a:latin typeface="Calibri"/>
                        </a:rPr>
                        <a:t>&amp; Planks</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Foam-in-</a:t>
                      </a:r>
                      <a:endParaRPr sz="1100"/>
                    </a:p>
                    <a:p>
                      <a:pPr algn="ctr"/>
                      <a:r>
                        <a:rPr sz="1100" b="1">
                          <a:solidFill>
                            <a:srgbClr val="0E2A5C"/>
                          </a:solidFill>
                          <a:latin typeface="Calibri"/>
                        </a:rPr>
                        <a:t>Place</a:t>
                      </a:r>
                      <a:endParaRPr sz="1100"/>
                    </a:p>
                    <a:p>
                      <a:pPr algn="ctr"/>
                      <a:r>
                        <a:rPr sz="1100" b="1">
                          <a:solidFill>
                            <a:srgbClr val="0E2A5C"/>
                          </a:solidFill>
                          <a:latin typeface="Calibri"/>
                        </a:rPr>
                        <a:t>Packaging</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Pouches,</a:t>
                      </a:r>
                      <a:endParaRPr sz="1100"/>
                    </a:p>
                    <a:p>
                      <a:pPr algn="ctr"/>
                      <a:r>
                        <a:rPr sz="1100" b="1">
                          <a:solidFill>
                            <a:srgbClr val="0E2A5C"/>
                          </a:solidFill>
                          <a:latin typeface="Calibri"/>
                        </a:rPr>
                        <a:t>Bags &amp;</a:t>
                      </a:r>
                      <a:endParaRPr sz="1100"/>
                    </a:p>
                    <a:p>
                      <a:pPr algn="ctr"/>
                      <a:r>
                        <a:rPr sz="1100" b="1">
                          <a:solidFill>
                            <a:srgbClr val="0E2A5C"/>
                          </a:solidFill>
                          <a:latin typeface="Calibri"/>
                        </a:rPr>
                        <a:t>Sleeves</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Foam Loose-</a:t>
                      </a:r>
                      <a:endParaRPr sz="1100"/>
                    </a:p>
                    <a:p>
                      <a:pPr algn="ctr"/>
                      <a:r>
                        <a:rPr sz="1100" b="1">
                          <a:solidFill>
                            <a:srgbClr val="0E2A5C"/>
                          </a:solidFill>
                          <a:latin typeface="Calibri"/>
                        </a:rPr>
                        <a:t>Fill</a:t>
                      </a:r>
                      <a:endParaRPr sz="1100"/>
                    </a:p>
                    <a:p>
                      <a:pPr algn="ctr"/>
                      <a:r>
                        <a:rPr sz="1100" b="1">
                          <a:solidFill>
                            <a:srgbClr val="0E2A5C"/>
                          </a:solidFill>
                          <a:latin typeface="Calibri"/>
                        </a:rPr>
                        <a:t>Packaging</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Extruded</a:t>
                      </a:r>
                      <a:endParaRPr sz="1100"/>
                    </a:p>
                    <a:p>
                      <a:pPr algn="ctr"/>
                      <a:r>
                        <a:rPr sz="1100" b="1">
                          <a:solidFill>
                            <a:srgbClr val="0E2A5C"/>
                          </a:solidFill>
                          <a:latin typeface="Calibri"/>
                        </a:rPr>
                        <a:t>Polystyrene</a:t>
                      </a:r>
                      <a:endParaRPr sz="1100"/>
                    </a:p>
                    <a:p>
                      <a:pPr algn="ctr"/>
                      <a:r>
                        <a:rPr sz="1100" b="1">
                          <a:solidFill>
                            <a:srgbClr val="0E2A5C"/>
                          </a:solidFill>
                          <a:latin typeface="Calibri"/>
                        </a:rPr>
                        <a:t>Foam</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Other</a:t>
                      </a:r>
                      <a:endParaRPr sz="1100"/>
                    </a:p>
                    <a:p>
                      <a:pPr algn="ctr"/>
                      <a:r>
                        <a:rPr sz="1100" b="1">
                          <a:solidFill>
                            <a:srgbClr val="0E2A5C"/>
                          </a:solidFill>
                          <a:latin typeface="Calibri"/>
                        </a:rPr>
                        <a:t>Polyolefin &amp;</a:t>
                      </a:r>
                      <a:endParaRPr sz="1100"/>
                    </a:p>
                    <a:p>
                      <a:pPr algn="ctr"/>
                      <a:r>
                        <a:rPr sz="1100" b="1">
                          <a:solidFill>
                            <a:srgbClr val="0E2A5C"/>
                          </a:solidFill>
                          <a:latin typeface="Calibri"/>
                        </a:rPr>
                        <a:t>Specialty</a:t>
                      </a:r>
                      <a:endParaRPr sz="1100"/>
                    </a:p>
                    <a:p>
                      <a:pPr algn="ctr"/>
                      <a:r>
                        <a:rPr sz="1100" b="1">
                          <a:solidFill>
                            <a:srgbClr val="0E2A5C"/>
                          </a:solidFill>
                          <a:latin typeface="Calibri"/>
                        </a:rPr>
                        <a:t>Polymer</a:t>
                      </a:r>
                      <a:endParaRPr sz="1100"/>
                    </a:p>
                    <a:p>
                      <a:pPr algn="ctr"/>
                      <a:r>
                        <a:rPr sz="1100" b="1">
                          <a:solidFill>
                            <a:srgbClr val="0E2A5C"/>
                          </a:solidFill>
                          <a:latin typeface="Calibri"/>
                        </a:rPr>
                        <a:t>Foams</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Bio-based /</a:t>
                      </a:r>
                      <a:endParaRPr sz="1100"/>
                    </a:p>
                    <a:p>
                      <a:pPr algn="ctr"/>
                      <a:r>
                        <a:rPr sz="1100" b="1">
                          <a:solidFill>
                            <a:srgbClr val="0E2A5C"/>
                          </a:solidFill>
                          <a:latin typeface="Calibri"/>
                        </a:rPr>
                        <a:t>Starch-</a:t>
                      </a:r>
                      <a:endParaRPr sz="1100"/>
                    </a:p>
                    <a:p>
                      <a:pPr algn="ctr"/>
                      <a:r>
                        <a:rPr sz="1100" b="1">
                          <a:solidFill>
                            <a:srgbClr val="0E2A5C"/>
                          </a:solidFill>
                          <a:latin typeface="Calibri"/>
                        </a:rPr>
                        <a:t>based</a:t>
                      </a:r>
                      <a:endParaRPr sz="1100"/>
                    </a:p>
                    <a:p>
                      <a:pPr algn="ctr"/>
                      <a:r>
                        <a:rPr sz="1100" b="1">
                          <a:solidFill>
                            <a:srgbClr val="0E2A5C"/>
                          </a:solidFill>
                          <a:latin typeface="Calibri"/>
                        </a:rPr>
                        <a:t>Foams</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38100" marR="28575" marT="19050" marB="19050" anchor="ctr">
                    <a:solidFill>
                      <a:srgbClr val="EBF2F9"/>
                    </a:solidFill>
                  </a:tcPr>
                </a:tc>
                <a:tc hMerge="1">
                  <a:txBody>
                    <a:bodyPr wrap="none"/>
                    <a:lstStyle/>
                    <a:p>
                      <a:pPr algn="ctr"/>
                      <a:endParaRPr sz="1100"/>
                    </a:p>
                  </a:txBody>
                  <a:tcPr marL="38100" marR="28575" marT="19050" marB="19050" anchor="ctr">
                    <a:solidFill>
                      <a:srgbClr val="EBF2F9"/>
                    </a:solidFill>
                  </a:tcPr>
                </a:tc>
              </a:tr>
              <a:tr h="439021">
                <a:tc vMerge="1">
                  <a:txBody>
                    <a:bodyPr wrap="none"/>
                    <a:lstStyle/>
                    <a:p>
                      <a:pPr algn="l"/>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US$ Mn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CAGR</a:t>
                      </a:r>
                      <a:endParaRPr sz="1100"/>
                    </a:p>
                  </a:txBody>
                  <a:tcPr marL="38100" marR="28575" marT="19050" marB="19050" anchor="ctr">
                    <a:solidFill>
                      <a:srgbClr val="EBF2F9"/>
                    </a:solidFill>
                  </a:tcPr>
                </a:tc>
              </a:tr>
              <a:tr h="246235">
                <a:tc>
                  <a:txBody>
                    <a:bodyPr wrap="none"/>
                    <a:lstStyle/>
                    <a:p>
                      <a:pPr algn="l"/>
                      <a:r>
                        <a:rPr sz="1100" b="1">
                          <a:solidFill>
                            <a:srgbClr val="2E2E2E"/>
                          </a:solidFill>
                          <a:latin typeface="Calibri"/>
                        </a:rPr>
                        <a:t>Polyethylene (PE) Foam</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35">
                <a:tc>
                  <a:txBody>
                    <a:bodyPr wrap="none"/>
                    <a:lstStyle/>
                    <a:p>
                      <a:pPr algn="l"/>
                      <a:r>
                        <a:rPr sz="1100" b="1">
                          <a:solidFill>
                            <a:srgbClr val="2E2E2E"/>
                          </a:solidFill>
                          <a:latin typeface="Calibri"/>
                        </a:rPr>
                        <a:t>Expanded Polystyrene</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35">
                <a:tc>
                  <a:txBody>
                    <a:bodyPr wrap="none"/>
                    <a:lstStyle/>
                    <a:p>
                      <a:pPr algn="l"/>
                      <a:r>
                        <a:rPr sz="1100" b="1">
                          <a:solidFill>
                            <a:srgbClr val="2E2E2E"/>
                          </a:solidFill>
                          <a:latin typeface="Calibri"/>
                        </a:rPr>
                        <a:t>Polyurethane (PU) Foam</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35">
                <a:tc>
                  <a:txBody>
                    <a:bodyPr wrap="none"/>
                    <a:lstStyle/>
                    <a:p>
                      <a:pPr algn="l"/>
                      <a:r>
                        <a:rPr sz="1100" b="1">
                          <a:solidFill>
                            <a:srgbClr val="2E2E2E"/>
                          </a:solidFill>
                          <a:latin typeface="Calibri"/>
                        </a:rPr>
                        <a:t>Expanded Polypropylene</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35">
                <a:tc>
                  <a:txBody>
                    <a:bodyPr wrap="none"/>
                    <a:lstStyle/>
                    <a:p>
                      <a:pPr algn="l"/>
                      <a:r>
                        <a:rPr sz="1100" b="1">
                          <a:solidFill>
                            <a:srgbClr val="2E2E2E"/>
                          </a:solidFill>
                          <a:latin typeface="Calibri"/>
                        </a:rPr>
                        <a:t>Other Foam Materials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b="0">
                          <a:solidFill>
                            <a:srgbClr val="2E2E2E"/>
                          </a:solidFill>
                          <a:latin typeface="Calibri"/>
                        </a:rPr>
                        <a:t>–</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l"/>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35">
                <a:tc>
                  <a:txBody>
                    <a:bodyPr wrap="none"/>
                    <a:lstStyle/>
                    <a:p>
                      <a:pPr algn="l"/>
                      <a:r>
                        <a:rPr sz="1100" b="1">
                          <a:solidFill>
                            <a:srgbClr val="2E2E2E"/>
                          </a:solidFill>
                          <a:latin typeface="Calibri"/>
                        </a:rPr>
                        <a:t>Total</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l"/>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l"/>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l"/>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l"/>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l"/>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r>
            </a:tbl>
          </a:graphicData>
        </a:graphic>
      </p:graphicFrame>
      <p:sp>
        <p:nvSpPr>
          <p:cNvPr id="10" name="TextBox 9"/>
          <p:cNvSpPr txBox="1"/>
          <p:nvPr/>
        </p:nvSpPr>
        <p:spPr>
          <a:xfrm>
            <a:off x="219075" y="4181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514850"/>
            <a:ext cx="5600700" cy="2114550"/>
          </a:xfrm>
          <a:prstGeom prst="roundRect">
            <a:avLst>
              <a:gd name="adj" fmla="val 36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600575"/>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13" name="Rectangle 12"/>
          <p:cNvSpPr/>
          <p:nvPr/>
        </p:nvSpPr>
        <p:spPr>
          <a:xfrm>
            <a:off x="276225" y="4838700"/>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924425"/>
            <a:ext cx="53340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5895975" y="4514850"/>
            <a:ext cx="1943100" cy="21145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29325" y="4600575"/>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7" name="Rectangle 16"/>
          <p:cNvSpPr/>
          <p:nvPr/>
        </p:nvSpPr>
        <p:spPr>
          <a:xfrm>
            <a:off x="6029325" y="48387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29325" y="4924425"/>
            <a:ext cx="16764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7991475" y="4514850"/>
            <a:ext cx="1943100" cy="21145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4825" y="4600575"/>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21" name="Rectangle 20"/>
          <p:cNvSpPr/>
          <p:nvPr/>
        </p:nvSpPr>
        <p:spPr>
          <a:xfrm>
            <a:off x="8124825" y="48387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4825" y="4924425"/>
            <a:ext cx="16764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0086975" y="4514850"/>
            <a:ext cx="1943100" cy="21145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20325" y="4600575"/>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5" name="Rectangle 24"/>
          <p:cNvSpPr/>
          <p:nvPr/>
        </p:nvSpPr>
        <p:spPr>
          <a:xfrm>
            <a:off x="10220325" y="48387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20325" y="4924425"/>
            <a:ext cx="16764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'Expanded Polystyrene × Foam Pouches, Bags &amp; Sleeves' ranks highest (5/5); 'Polyethylene Foam × Foam Sheets, Rolls &amp; Planks' lowest (1/5), a deprioritised cell.</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4"/>
          <a:stretch>
            <a:fillRect/>
          </a:stretch>
        </p:blipFill>
        <p:spPr>
          <a:xfrm>
            <a:off x="6702694" y="3166546"/>
            <a:ext cx="366712" cy="533400"/>
          </a:xfrm>
          <a:prstGeom prst="rect">
            <a:avLst/>
          </a:prstGeom>
        </p:spPr>
      </p:pic>
      <p:sp>
        <p:nvSpPr>
          <p:cNvPr id="30" name="TextBox 29"/>
          <p:cNvSpPr txBox="1"/>
          <p:nvPr/>
        </p:nvSpPr>
        <p:spPr>
          <a:xfrm>
            <a:off x="276225" y="4933950"/>
            <a:ext cx="3522285" cy="186689"/>
          </a:xfrm>
          <a:prstGeom prst="rect">
            <a:avLst/>
          </a:prstGeom>
          <a:noFill/>
        </p:spPr>
        <p:txBody>
          <a:bodyPr wrap="none" lIns="0" rIns="0" tIns="0" bIns="0">
            <a:spAutoFit/>
          </a:bodyPr>
          <a:lstStyle/>
          <a:p>
            <a:r>
              <a:rPr sz="1100" b="0">
                <a:solidFill>
                  <a:srgbClr val="2E2E2E"/>
                </a:solidFill>
                <a:latin typeface="Calibri"/>
              </a:rPr>
              <a:t>▪ 1. Expanded Polystyrene × Foam Pouches, Bags &amp; Sleeves –</a:t>
            </a:r>
          </a:p>
        </p:txBody>
      </p:sp>
      <p:pic>
        <p:nvPicPr>
          <p:cNvPr id="31" name="Picture 30" descr="lock.png"/>
          <p:cNvPicPr>
            <a:picLocks noChangeAspect="1"/>
          </p:cNvPicPr>
          <p:nvPr/>
        </p:nvPicPr>
        <p:blipFill>
          <a:blip r:embed="rId4"/>
          <a:stretch>
            <a:fillRect/>
          </a:stretch>
        </p:blipFill>
        <p:spPr>
          <a:xfrm>
            <a:off x="3746561" y="4924170"/>
            <a:ext cx="128699" cy="187198"/>
          </a:xfrm>
          <a:prstGeom prst="rect">
            <a:avLst/>
          </a:prstGeom>
        </p:spPr>
      </p:pic>
      <p:sp>
        <p:nvSpPr>
          <p:cNvPr id="32" name="TextBox 31"/>
          <p:cNvSpPr txBox="1"/>
          <p:nvPr/>
        </p:nvSpPr>
        <p:spPr>
          <a:xfrm>
            <a:off x="3914057" y="4933950"/>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3973507" y="4924170"/>
            <a:ext cx="128699" cy="187198"/>
          </a:xfrm>
          <a:prstGeom prst="rect">
            <a:avLst/>
          </a:prstGeom>
        </p:spPr>
      </p:pic>
      <p:sp>
        <p:nvSpPr>
          <p:cNvPr id="34" name="TextBox 33"/>
          <p:cNvSpPr txBox="1"/>
          <p:nvPr/>
        </p:nvSpPr>
        <p:spPr>
          <a:xfrm>
            <a:off x="4141003" y="4933950"/>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5" name="TextBox 34"/>
          <p:cNvSpPr txBox="1"/>
          <p:nvPr/>
        </p:nvSpPr>
        <p:spPr>
          <a:xfrm>
            <a:off x="276225" y="5151882"/>
            <a:ext cx="3673445" cy="186689"/>
          </a:xfrm>
          <a:prstGeom prst="rect">
            <a:avLst/>
          </a:prstGeom>
          <a:noFill/>
        </p:spPr>
        <p:txBody>
          <a:bodyPr wrap="none" lIns="0" rIns="0" tIns="0" bIns="0">
            <a:spAutoFit/>
          </a:bodyPr>
          <a:lstStyle/>
          <a:p>
            <a:r>
              <a:rPr sz="1100" b="0">
                <a:solidFill>
                  <a:srgbClr val="2E2E2E"/>
                </a:solidFill>
                <a:latin typeface="Calibri"/>
              </a:rPr>
              <a:t>▪ 2. Expanded Polypropylene × Foam Pouches, Bags &amp; Sleeves –</a:t>
            </a:r>
          </a:p>
        </p:txBody>
      </p:sp>
      <p:pic>
        <p:nvPicPr>
          <p:cNvPr id="36" name="Picture 35" descr="lock.png"/>
          <p:cNvPicPr>
            <a:picLocks noChangeAspect="1"/>
          </p:cNvPicPr>
          <p:nvPr/>
        </p:nvPicPr>
        <p:blipFill>
          <a:blip r:embed="rId4"/>
          <a:stretch>
            <a:fillRect/>
          </a:stretch>
        </p:blipFill>
        <p:spPr>
          <a:xfrm>
            <a:off x="3897721" y="5142102"/>
            <a:ext cx="128699" cy="187198"/>
          </a:xfrm>
          <a:prstGeom prst="rect">
            <a:avLst/>
          </a:prstGeom>
        </p:spPr>
      </p:pic>
      <p:sp>
        <p:nvSpPr>
          <p:cNvPr id="37" name="TextBox 36"/>
          <p:cNvSpPr txBox="1"/>
          <p:nvPr/>
        </p:nvSpPr>
        <p:spPr>
          <a:xfrm>
            <a:off x="4065217" y="5151882"/>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8" name="Picture 37" descr="lock.png"/>
          <p:cNvPicPr>
            <a:picLocks noChangeAspect="1"/>
          </p:cNvPicPr>
          <p:nvPr/>
        </p:nvPicPr>
        <p:blipFill>
          <a:blip r:embed="rId4"/>
          <a:stretch>
            <a:fillRect/>
          </a:stretch>
        </p:blipFill>
        <p:spPr>
          <a:xfrm>
            <a:off x="4124667" y="5142102"/>
            <a:ext cx="128699" cy="187198"/>
          </a:xfrm>
          <a:prstGeom prst="rect">
            <a:avLst/>
          </a:prstGeom>
        </p:spPr>
      </p:pic>
      <p:sp>
        <p:nvSpPr>
          <p:cNvPr id="39" name="TextBox 38"/>
          <p:cNvSpPr txBox="1"/>
          <p:nvPr/>
        </p:nvSpPr>
        <p:spPr>
          <a:xfrm>
            <a:off x="4292162" y="5151882"/>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0" name="TextBox 39"/>
          <p:cNvSpPr txBox="1"/>
          <p:nvPr/>
        </p:nvSpPr>
        <p:spPr>
          <a:xfrm>
            <a:off x="276225" y="5369814"/>
            <a:ext cx="3375461" cy="186689"/>
          </a:xfrm>
          <a:prstGeom prst="rect">
            <a:avLst/>
          </a:prstGeom>
          <a:noFill/>
        </p:spPr>
        <p:txBody>
          <a:bodyPr wrap="none" lIns="0" rIns="0" tIns="0" bIns="0">
            <a:spAutoFit/>
          </a:bodyPr>
          <a:lstStyle/>
          <a:p>
            <a:r>
              <a:rPr sz="1100" b="0">
                <a:solidFill>
                  <a:srgbClr val="2E2E2E"/>
                </a:solidFill>
                <a:latin typeface="Calibri"/>
              </a:rPr>
              <a:t>▪ 3. Polyurethane Foam × Foam Pouches, Bags &amp; Sleeves –</a:t>
            </a:r>
          </a:p>
        </p:txBody>
      </p:sp>
      <p:pic>
        <p:nvPicPr>
          <p:cNvPr id="41" name="Picture 40" descr="lock.png"/>
          <p:cNvPicPr>
            <a:picLocks noChangeAspect="1"/>
          </p:cNvPicPr>
          <p:nvPr/>
        </p:nvPicPr>
        <p:blipFill>
          <a:blip r:embed="rId4"/>
          <a:stretch>
            <a:fillRect/>
          </a:stretch>
        </p:blipFill>
        <p:spPr>
          <a:xfrm>
            <a:off x="3599738" y="5360034"/>
            <a:ext cx="128699" cy="187198"/>
          </a:xfrm>
          <a:prstGeom prst="rect">
            <a:avLst/>
          </a:prstGeom>
        </p:spPr>
      </p:pic>
      <p:sp>
        <p:nvSpPr>
          <p:cNvPr id="42" name="TextBox 41"/>
          <p:cNvSpPr txBox="1"/>
          <p:nvPr/>
        </p:nvSpPr>
        <p:spPr>
          <a:xfrm>
            <a:off x="3767233" y="5369814"/>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3" name="Picture 42" descr="lock.png"/>
          <p:cNvPicPr>
            <a:picLocks noChangeAspect="1"/>
          </p:cNvPicPr>
          <p:nvPr/>
        </p:nvPicPr>
        <p:blipFill>
          <a:blip r:embed="rId4"/>
          <a:stretch>
            <a:fillRect/>
          </a:stretch>
        </p:blipFill>
        <p:spPr>
          <a:xfrm>
            <a:off x="3826683" y="5360034"/>
            <a:ext cx="128699" cy="187198"/>
          </a:xfrm>
          <a:prstGeom prst="rect">
            <a:avLst/>
          </a:prstGeom>
        </p:spPr>
      </p:pic>
      <p:sp>
        <p:nvSpPr>
          <p:cNvPr id="44" name="TextBox 43"/>
          <p:cNvSpPr txBox="1"/>
          <p:nvPr/>
        </p:nvSpPr>
        <p:spPr>
          <a:xfrm>
            <a:off x="3994179" y="5369814"/>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5" name="TextBox 44"/>
          <p:cNvSpPr txBox="1"/>
          <p:nvPr/>
        </p:nvSpPr>
        <p:spPr>
          <a:xfrm>
            <a:off x="276225" y="5587746"/>
            <a:ext cx="3222937" cy="186689"/>
          </a:xfrm>
          <a:prstGeom prst="rect">
            <a:avLst/>
          </a:prstGeom>
          <a:noFill/>
        </p:spPr>
        <p:txBody>
          <a:bodyPr wrap="none" lIns="0" rIns="0" tIns="0" bIns="0">
            <a:spAutoFit/>
          </a:bodyPr>
          <a:lstStyle/>
          <a:p>
            <a:r>
              <a:rPr sz="1100" b="0">
                <a:solidFill>
                  <a:srgbClr val="2E2E2E"/>
                </a:solidFill>
                <a:latin typeface="Calibri"/>
              </a:rPr>
              <a:t>▪ 4. Polyurethane Foam × Foam Sheets, Rolls &amp; Planks –</a:t>
            </a:r>
          </a:p>
        </p:txBody>
      </p:sp>
      <p:pic>
        <p:nvPicPr>
          <p:cNvPr id="46" name="Picture 45" descr="lock.png"/>
          <p:cNvPicPr>
            <a:picLocks noChangeAspect="1"/>
          </p:cNvPicPr>
          <p:nvPr/>
        </p:nvPicPr>
        <p:blipFill>
          <a:blip r:embed="rId4"/>
          <a:stretch>
            <a:fillRect/>
          </a:stretch>
        </p:blipFill>
        <p:spPr>
          <a:xfrm>
            <a:off x="3447213" y="5577966"/>
            <a:ext cx="128699" cy="187198"/>
          </a:xfrm>
          <a:prstGeom prst="rect">
            <a:avLst/>
          </a:prstGeom>
        </p:spPr>
      </p:pic>
      <p:sp>
        <p:nvSpPr>
          <p:cNvPr id="47" name="TextBox 46"/>
          <p:cNvSpPr txBox="1"/>
          <p:nvPr/>
        </p:nvSpPr>
        <p:spPr>
          <a:xfrm>
            <a:off x="3614709" y="5587746"/>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3674159" y="5577966"/>
            <a:ext cx="128699" cy="187198"/>
          </a:xfrm>
          <a:prstGeom prst="rect">
            <a:avLst/>
          </a:prstGeom>
        </p:spPr>
      </p:pic>
      <p:sp>
        <p:nvSpPr>
          <p:cNvPr id="49" name="TextBox 48"/>
          <p:cNvSpPr txBox="1"/>
          <p:nvPr/>
        </p:nvSpPr>
        <p:spPr>
          <a:xfrm>
            <a:off x="3841655" y="5587746"/>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0" name="TextBox 49"/>
          <p:cNvSpPr txBox="1"/>
          <p:nvPr/>
        </p:nvSpPr>
        <p:spPr>
          <a:xfrm>
            <a:off x="276225" y="5805678"/>
            <a:ext cx="3520921" cy="186689"/>
          </a:xfrm>
          <a:prstGeom prst="rect">
            <a:avLst/>
          </a:prstGeom>
          <a:noFill/>
        </p:spPr>
        <p:txBody>
          <a:bodyPr wrap="none" lIns="0" rIns="0" tIns="0" bIns="0">
            <a:spAutoFit/>
          </a:bodyPr>
          <a:lstStyle/>
          <a:p>
            <a:r>
              <a:rPr sz="1100" b="0">
                <a:solidFill>
                  <a:srgbClr val="2E2E2E"/>
                </a:solidFill>
                <a:latin typeface="Calibri"/>
              </a:rPr>
              <a:t>▪ 5. Expanded Polypropylene × Foam Sheets, Rolls &amp; Planks –</a:t>
            </a:r>
          </a:p>
        </p:txBody>
      </p:sp>
      <p:pic>
        <p:nvPicPr>
          <p:cNvPr id="51" name="Picture 50" descr="lock.png"/>
          <p:cNvPicPr>
            <a:picLocks noChangeAspect="1"/>
          </p:cNvPicPr>
          <p:nvPr/>
        </p:nvPicPr>
        <p:blipFill>
          <a:blip r:embed="rId4"/>
          <a:stretch>
            <a:fillRect/>
          </a:stretch>
        </p:blipFill>
        <p:spPr>
          <a:xfrm>
            <a:off x="3745197" y="5795898"/>
            <a:ext cx="128699" cy="187198"/>
          </a:xfrm>
          <a:prstGeom prst="rect">
            <a:avLst/>
          </a:prstGeom>
        </p:spPr>
      </p:pic>
      <p:sp>
        <p:nvSpPr>
          <p:cNvPr id="52" name="TextBox 51"/>
          <p:cNvSpPr txBox="1"/>
          <p:nvPr/>
        </p:nvSpPr>
        <p:spPr>
          <a:xfrm>
            <a:off x="3912693" y="5805678"/>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3" name="Picture 52" descr="lock.png"/>
          <p:cNvPicPr>
            <a:picLocks noChangeAspect="1"/>
          </p:cNvPicPr>
          <p:nvPr/>
        </p:nvPicPr>
        <p:blipFill>
          <a:blip r:embed="rId4"/>
          <a:stretch>
            <a:fillRect/>
          </a:stretch>
        </p:blipFill>
        <p:spPr>
          <a:xfrm>
            <a:off x="3972142" y="5795898"/>
            <a:ext cx="128699" cy="187198"/>
          </a:xfrm>
          <a:prstGeom prst="rect">
            <a:avLst/>
          </a:prstGeom>
        </p:spPr>
      </p:pic>
      <p:sp>
        <p:nvSpPr>
          <p:cNvPr id="54" name="TextBox 53"/>
          <p:cNvSpPr txBox="1"/>
          <p:nvPr/>
        </p:nvSpPr>
        <p:spPr>
          <a:xfrm>
            <a:off x="4139638" y="5805678"/>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5" name="TextBox 54"/>
          <p:cNvSpPr txBox="1"/>
          <p:nvPr/>
        </p:nvSpPr>
        <p:spPr>
          <a:xfrm>
            <a:off x="6029325" y="4933950"/>
            <a:ext cx="1614289" cy="194310"/>
          </a:xfrm>
          <a:prstGeom prst="rect">
            <a:avLst/>
          </a:prstGeom>
          <a:noFill/>
        </p:spPr>
        <p:txBody>
          <a:bodyPr wrap="none" lIns="0" rIns="0" tIns="0" bIns="0">
            <a:spAutoFit/>
          </a:bodyPr>
          <a:lstStyle/>
          <a:p>
            <a:r>
              <a:rPr sz="1150" b="0">
                <a:solidFill>
                  <a:srgbClr val="2E2E2E"/>
                </a:solidFill>
                <a:latin typeface="Calibri"/>
              </a:rPr>
              <a:t>▪ 'Expanded Polystyrene ×</a:t>
            </a:r>
          </a:p>
        </p:txBody>
      </p:sp>
      <p:sp>
        <p:nvSpPr>
          <p:cNvPr id="56" name="TextBox 55"/>
          <p:cNvSpPr txBox="1"/>
          <p:nvPr/>
        </p:nvSpPr>
        <p:spPr>
          <a:xfrm>
            <a:off x="6029325" y="5109210"/>
            <a:ext cx="1415150" cy="194310"/>
          </a:xfrm>
          <a:prstGeom prst="rect">
            <a:avLst/>
          </a:prstGeom>
          <a:noFill/>
        </p:spPr>
        <p:txBody>
          <a:bodyPr wrap="none" lIns="0" rIns="0" tIns="0" bIns="0">
            <a:spAutoFit/>
          </a:bodyPr>
          <a:lstStyle/>
          <a:p>
            <a:r>
              <a:rPr sz="1150" b="0">
                <a:solidFill>
                  <a:srgbClr val="2E2E2E"/>
                </a:solidFill>
                <a:latin typeface="Calibri"/>
              </a:rPr>
              <a:t>Foam Pouches, Bags &amp;</a:t>
            </a:r>
          </a:p>
        </p:txBody>
      </p:sp>
      <p:sp>
        <p:nvSpPr>
          <p:cNvPr id="57" name="TextBox 56"/>
          <p:cNvSpPr txBox="1"/>
          <p:nvPr/>
        </p:nvSpPr>
        <p:spPr>
          <a:xfrm>
            <a:off x="6029325" y="5284470"/>
            <a:ext cx="863786" cy="194310"/>
          </a:xfrm>
          <a:prstGeom prst="rect">
            <a:avLst/>
          </a:prstGeom>
          <a:noFill/>
        </p:spPr>
        <p:txBody>
          <a:bodyPr wrap="none" lIns="0" rIns="0" tIns="0" bIns="0">
            <a:spAutoFit/>
          </a:bodyPr>
          <a:lstStyle/>
          <a:p>
            <a:r>
              <a:rPr sz="1150" b="0">
                <a:solidFill>
                  <a:srgbClr val="2E2E2E"/>
                </a:solidFill>
                <a:latin typeface="Calibri"/>
              </a:rPr>
              <a:t>Sleeves' adds</a:t>
            </a:r>
          </a:p>
        </p:txBody>
      </p:sp>
      <p:pic>
        <p:nvPicPr>
          <p:cNvPr id="58" name="Picture 57" descr="lock.png"/>
          <p:cNvPicPr>
            <a:picLocks noChangeAspect="1"/>
          </p:cNvPicPr>
          <p:nvPr/>
        </p:nvPicPr>
        <p:blipFill>
          <a:blip r:embed="rId4"/>
          <a:stretch>
            <a:fillRect/>
          </a:stretch>
        </p:blipFill>
        <p:spPr>
          <a:xfrm>
            <a:off x="6842264" y="5274246"/>
            <a:ext cx="134549" cy="195707"/>
          </a:xfrm>
          <a:prstGeom prst="rect">
            <a:avLst/>
          </a:prstGeom>
        </p:spPr>
      </p:pic>
      <p:sp>
        <p:nvSpPr>
          <p:cNvPr id="59" name="TextBox 58"/>
          <p:cNvSpPr txBox="1"/>
          <p:nvPr/>
        </p:nvSpPr>
        <p:spPr>
          <a:xfrm>
            <a:off x="7017374" y="5284470"/>
            <a:ext cx="546013"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0" name="TextBox 59"/>
          <p:cNvSpPr txBox="1"/>
          <p:nvPr/>
        </p:nvSpPr>
        <p:spPr>
          <a:xfrm>
            <a:off x="6029325" y="5459729"/>
            <a:ext cx="721729" cy="194310"/>
          </a:xfrm>
          <a:prstGeom prst="rect">
            <a:avLst/>
          </a:prstGeom>
          <a:noFill/>
        </p:spPr>
        <p:txBody>
          <a:bodyPr wrap="none" lIns="0" rIns="0" tIns="0" bIns="0">
            <a:spAutoFit/>
          </a:bodyPr>
          <a:lstStyle/>
          <a:p>
            <a:r>
              <a:rPr sz="1150" b="0">
                <a:solidFill>
                  <a:srgbClr val="2E2E2E"/>
                </a:solidFill>
                <a:latin typeface="Calibri"/>
              </a:rPr>
              <a:t>by 2036F –</a:t>
            </a:r>
          </a:p>
        </p:txBody>
      </p:sp>
      <p:pic>
        <p:nvPicPr>
          <p:cNvPr id="61" name="Picture 60" descr="lock.png"/>
          <p:cNvPicPr>
            <a:picLocks noChangeAspect="1"/>
          </p:cNvPicPr>
          <p:nvPr/>
        </p:nvPicPr>
        <p:blipFill>
          <a:blip r:embed="rId4"/>
          <a:stretch>
            <a:fillRect/>
          </a:stretch>
        </p:blipFill>
        <p:spPr>
          <a:xfrm>
            <a:off x="6700208" y="5449506"/>
            <a:ext cx="134549" cy="195707"/>
          </a:xfrm>
          <a:prstGeom prst="rect">
            <a:avLst/>
          </a:prstGeom>
        </p:spPr>
      </p:pic>
      <p:sp>
        <p:nvSpPr>
          <p:cNvPr id="62" name="TextBox 61"/>
          <p:cNvSpPr txBox="1"/>
          <p:nvPr/>
        </p:nvSpPr>
        <p:spPr>
          <a:xfrm>
            <a:off x="6875317" y="545972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3" name="TextBox 62"/>
          <p:cNvSpPr txBox="1"/>
          <p:nvPr/>
        </p:nvSpPr>
        <p:spPr>
          <a:xfrm>
            <a:off x="6029325" y="563498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4" name="TextBox 63"/>
          <p:cNvSpPr txBox="1"/>
          <p:nvPr/>
        </p:nvSpPr>
        <p:spPr>
          <a:xfrm>
            <a:off x="8124825" y="4933950"/>
            <a:ext cx="1614289" cy="194310"/>
          </a:xfrm>
          <a:prstGeom prst="rect">
            <a:avLst/>
          </a:prstGeom>
          <a:noFill/>
        </p:spPr>
        <p:txBody>
          <a:bodyPr wrap="none" lIns="0" rIns="0" tIns="0" bIns="0">
            <a:spAutoFit/>
          </a:bodyPr>
          <a:lstStyle/>
          <a:p>
            <a:r>
              <a:rPr sz="1150" b="0">
                <a:solidFill>
                  <a:srgbClr val="2E2E2E"/>
                </a:solidFill>
                <a:latin typeface="Calibri"/>
              </a:rPr>
              <a:t>▪ 'Expanded Polystyrene ×</a:t>
            </a:r>
          </a:p>
        </p:txBody>
      </p:sp>
      <p:sp>
        <p:nvSpPr>
          <p:cNvPr id="65" name="TextBox 64"/>
          <p:cNvSpPr txBox="1"/>
          <p:nvPr/>
        </p:nvSpPr>
        <p:spPr>
          <a:xfrm>
            <a:off x="8124825" y="5109210"/>
            <a:ext cx="1415150" cy="194310"/>
          </a:xfrm>
          <a:prstGeom prst="rect">
            <a:avLst/>
          </a:prstGeom>
          <a:noFill/>
        </p:spPr>
        <p:txBody>
          <a:bodyPr wrap="none" lIns="0" rIns="0" tIns="0" bIns="0">
            <a:spAutoFit/>
          </a:bodyPr>
          <a:lstStyle/>
          <a:p>
            <a:r>
              <a:rPr sz="1150" b="0">
                <a:solidFill>
                  <a:srgbClr val="2E2E2E"/>
                </a:solidFill>
                <a:latin typeface="Calibri"/>
              </a:rPr>
              <a:t>Foam Pouches, Bags &amp;</a:t>
            </a:r>
          </a:p>
        </p:txBody>
      </p:sp>
      <p:sp>
        <p:nvSpPr>
          <p:cNvPr id="66" name="TextBox 65"/>
          <p:cNvSpPr txBox="1"/>
          <p:nvPr/>
        </p:nvSpPr>
        <p:spPr>
          <a:xfrm>
            <a:off x="8124825" y="5284470"/>
            <a:ext cx="1196677" cy="194310"/>
          </a:xfrm>
          <a:prstGeom prst="rect">
            <a:avLst/>
          </a:prstGeom>
          <a:noFill/>
        </p:spPr>
        <p:txBody>
          <a:bodyPr wrap="none" lIns="0" rIns="0" tIns="0" bIns="0">
            <a:spAutoFit/>
          </a:bodyPr>
          <a:lstStyle/>
          <a:p>
            <a:r>
              <a:rPr sz="1150" b="0">
                <a:solidFill>
                  <a:srgbClr val="2E2E2E"/>
                </a:solidFill>
                <a:latin typeface="Calibri"/>
              </a:rPr>
              <a:t>Sleeves' grows at a</a:t>
            </a:r>
          </a:p>
        </p:txBody>
      </p:sp>
      <p:pic>
        <p:nvPicPr>
          <p:cNvPr id="67" name="Picture 66" descr="lock.png"/>
          <p:cNvPicPr>
            <a:picLocks noChangeAspect="1"/>
          </p:cNvPicPr>
          <p:nvPr/>
        </p:nvPicPr>
        <p:blipFill>
          <a:blip r:embed="rId4"/>
          <a:stretch>
            <a:fillRect/>
          </a:stretch>
        </p:blipFill>
        <p:spPr>
          <a:xfrm>
            <a:off x="9270656" y="5274246"/>
            <a:ext cx="134549" cy="195707"/>
          </a:xfrm>
          <a:prstGeom prst="rect">
            <a:avLst/>
          </a:prstGeom>
        </p:spPr>
      </p:pic>
      <p:sp>
        <p:nvSpPr>
          <p:cNvPr id="68" name="TextBox 67"/>
          <p:cNvSpPr txBox="1"/>
          <p:nvPr/>
        </p:nvSpPr>
        <p:spPr>
          <a:xfrm>
            <a:off x="8124825" y="545972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9" name="Picture 68" descr="lock.png"/>
          <p:cNvPicPr>
            <a:picLocks noChangeAspect="1"/>
          </p:cNvPicPr>
          <p:nvPr/>
        </p:nvPicPr>
        <p:blipFill>
          <a:blip r:embed="rId4"/>
          <a:stretch>
            <a:fillRect/>
          </a:stretch>
        </p:blipFill>
        <p:spPr>
          <a:xfrm>
            <a:off x="8520420" y="5449506"/>
            <a:ext cx="134549" cy="195707"/>
          </a:xfrm>
          <a:prstGeom prst="rect">
            <a:avLst/>
          </a:prstGeom>
        </p:spPr>
      </p:pic>
      <p:sp>
        <p:nvSpPr>
          <p:cNvPr id="70" name="TextBox 69"/>
          <p:cNvSpPr txBox="1"/>
          <p:nvPr/>
        </p:nvSpPr>
        <p:spPr>
          <a:xfrm>
            <a:off x="8695529" y="545972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1" name="TextBox 70"/>
          <p:cNvSpPr txBox="1"/>
          <p:nvPr/>
        </p:nvSpPr>
        <p:spPr>
          <a:xfrm>
            <a:off x="8124825" y="563498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Form × End-use Industry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Form × End-use Industry, 2026E vs 2036F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form sub-segment across end-use industry sub-segments</a:t>
            </a:r>
          </a:p>
        </p:txBody>
      </p:sp>
      <p:sp>
        <p:nvSpPr>
          <p:cNvPr id="7" name="Rounded Rectangle 6"/>
          <p:cNvSpPr/>
          <p:nvPr/>
        </p:nvSpPr>
        <p:spPr>
          <a:xfrm>
            <a:off x="142875" y="981075"/>
            <a:ext cx="11906250" cy="4810125"/>
          </a:xfrm>
          <a:prstGeom prst="roundRect">
            <a:avLst>
              <a:gd name="adj" fmla="val 158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Product Form × End-use Industry, 2026E and 2036F (US$ Mn)</a:t>
            </a:r>
          </a:p>
        </p:txBody>
      </p:sp>
      <p:graphicFrame>
        <p:nvGraphicFramePr>
          <p:cNvPr id="9" name="Table 8"/>
          <p:cNvGraphicFramePr>
            <a:graphicFrameLocks noGrp="1"/>
          </p:cNvGraphicFramePr>
          <p:nvPr/>
        </p:nvGraphicFramePr>
        <p:xfrm>
          <a:off x="152400" y="1238250"/>
          <a:ext cx="11929363" cy="4343398"/>
        </p:xfrm>
        <a:graphic>
          <a:graphicData uri="http://schemas.openxmlformats.org/drawingml/2006/table">
            <a:tbl>
              <a:tblPr>
                <a:tableStyleId>{5C22544A-7EE6-4342-B048-85BDC9FD1C3A}</a:tableStyleId>
              </a:tblPr>
              <a:tblGrid>
                <a:gridCol w="2007507"/>
                <a:gridCol w="379303"/>
                <a:gridCol w="374851"/>
                <a:gridCol w="379303"/>
                <a:gridCol w="374851"/>
                <a:gridCol w="379303"/>
                <a:gridCol w="374851"/>
                <a:gridCol w="379303"/>
                <a:gridCol w="374851"/>
                <a:gridCol w="379303"/>
                <a:gridCol w="374851"/>
                <a:gridCol w="379303"/>
                <a:gridCol w="374851"/>
                <a:gridCol w="379303"/>
                <a:gridCol w="374851"/>
                <a:gridCol w="379303"/>
                <a:gridCol w="374851"/>
                <a:gridCol w="379303"/>
                <a:gridCol w="374851"/>
                <a:gridCol w="379303"/>
                <a:gridCol w="374851"/>
                <a:gridCol w="379303"/>
                <a:gridCol w="374851"/>
                <a:gridCol w="379303"/>
                <a:gridCol w="374851"/>
                <a:gridCol w="414927"/>
                <a:gridCol w="457081"/>
              </a:tblGrid>
              <a:tr h="1017270">
                <a:tc rowSpan="2">
                  <a:txBody>
                    <a:bodyPr wrap="none"/>
                    <a:lstStyle/>
                    <a:p>
                      <a:pPr algn="l"/>
                      <a:r>
                        <a:rPr sz="1100" b="1">
                          <a:solidFill>
                            <a:srgbClr val="0E2A5C"/>
                          </a:solidFill>
                          <a:latin typeface="Calibri"/>
                        </a:rPr>
                        <a:t>Product Form</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 Sheets</a:t>
                      </a:r>
                      <a:endParaRPr sz="1100"/>
                    </a:p>
                    <a:p>
                      <a:pPr algn="ctr"/>
                      <a:r>
                        <a:rPr sz="1100" b="1">
                          <a:solidFill>
                            <a:srgbClr val="0E2A5C"/>
                          </a:solidFill>
                          <a:latin typeface="Calibri"/>
                        </a:rPr>
                        <a:t>&amp; Rolls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 Planks</a:t>
                      </a:r>
                      <a:endParaRPr sz="1100"/>
                    </a:p>
                    <a:p>
                      <a:pPr algn="ctr"/>
                      <a:r>
                        <a:rPr sz="1100" b="1">
                          <a:solidFill>
                            <a:srgbClr val="0E2A5C"/>
                          </a:solidFill>
                          <a:latin typeface="Calibri"/>
                        </a:rPr>
                        <a:t>&amp; Blocks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Die-Cut /</a:t>
                      </a:r>
                      <a:endParaRPr sz="1100"/>
                    </a:p>
                    <a:p>
                      <a:pPr algn="ctr"/>
                      <a:r>
                        <a:rPr sz="1100" b="1">
                          <a:solidFill>
                            <a:srgbClr val="0E2A5C"/>
                          </a:solidFill>
                          <a:latin typeface="Calibri"/>
                        </a:rPr>
                        <a:t>CNC-Cut</a:t>
                      </a:r>
                      <a:endParaRPr sz="1100"/>
                    </a:p>
                    <a:p>
                      <a:pPr algn="ctr"/>
                      <a:r>
                        <a:rPr sz="1100" b="1">
                          <a:solidFill>
                            <a:srgbClr val="0E2A5C"/>
                          </a:solidFill>
                          <a:latin typeface="Calibri"/>
                        </a:rPr>
                        <a:t>Foam Inserts</a:t>
                      </a:r>
                      <a:endParaRPr sz="1100"/>
                    </a:p>
                    <a:p>
                      <a:pPr algn="ctr"/>
                      <a:r>
                        <a:rPr sz="1100" b="1">
                          <a:solidFill>
                            <a:srgbClr val="0E2A5C"/>
                          </a:solidFill>
                          <a:latin typeface="Calibri"/>
                        </a:rPr>
                        <a:t>&amp; Pads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 Corner</a:t>
                      </a:r>
                      <a:endParaRPr sz="1100"/>
                    </a:p>
                    <a:p>
                      <a:pPr algn="ctr"/>
                      <a:r>
                        <a:rPr sz="1100" b="1">
                          <a:solidFill>
                            <a:srgbClr val="0E2A5C"/>
                          </a:solidFill>
                          <a:latin typeface="Calibri"/>
                        </a:rPr>
                        <a:t>&amp; Edge</a:t>
                      </a:r>
                      <a:endParaRPr sz="1100"/>
                    </a:p>
                    <a:p>
                      <a:pPr algn="ctr"/>
                      <a:r>
                        <a:rPr sz="1100" b="1">
                          <a:solidFill>
                            <a:srgbClr val="0E2A5C"/>
                          </a:solidFill>
                          <a:latin typeface="Calibri"/>
                        </a:rPr>
                        <a:t>Protectors /</a:t>
                      </a:r>
                      <a:endParaRPr sz="1100"/>
                    </a:p>
                    <a:p>
                      <a:pPr algn="ctr"/>
                      <a:r>
                        <a:rPr sz="1100" b="1">
                          <a:solidFill>
                            <a:srgbClr val="0E2A5C"/>
                          </a:solidFill>
                          <a:latin typeface="Calibri"/>
                        </a:rPr>
                        <a:t>Profiles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Dividers &amp;</a:t>
                      </a:r>
                      <a:endParaRPr sz="1100"/>
                    </a:p>
                    <a:p>
                      <a:pPr algn="ctr"/>
                      <a:r>
                        <a:rPr sz="1100" b="1">
                          <a:solidFill>
                            <a:srgbClr val="0E2A5C"/>
                          </a:solidFill>
                          <a:latin typeface="Calibri"/>
                        </a:rPr>
                        <a:t>Separators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Inserts, End</a:t>
                      </a:r>
                      <a:endParaRPr sz="1100"/>
                    </a:p>
                    <a:p>
                      <a:pPr algn="ctr"/>
                      <a:r>
                        <a:rPr sz="1100" b="1">
                          <a:solidFill>
                            <a:srgbClr val="0E2A5C"/>
                          </a:solidFill>
                          <a:latin typeface="Calibri"/>
                        </a:rPr>
                        <a:t>Caps &amp;</a:t>
                      </a:r>
                      <a:endParaRPr sz="1100"/>
                    </a:p>
                    <a:p>
                      <a:pPr algn="ctr"/>
                      <a:r>
                        <a:rPr sz="1100" b="1">
                          <a:solidFill>
                            <a:srgbClr val="0E2A5C"/>
                          </a:solidFill>
                          <a:latin typeface="Calibri"/>
                        </a:rPr>
                        <a:t>Cradles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Protective</a:t>
                      </a:r>
                      <a:endParaRPr sz="1100"/>
                    </a:p>
                    <a:p>
                      <a:pPr algn="ctr"/>
                      <a:r>
                        <a:rPr sz="1100" b="1">
                          <a:solidFill>
                            <a:srgbClr val="0E2A5C"/>
                          </a:solidFill>
                          <a:latin typeface="Calibri"/>
                        </a:rPr>
                        <a:t>Trays &amp;</a:t>
                      </a:r>
                      <a:endParaRPr sz="1100"/>
                    </a:p>
                    <a:p>
                      <a:pPr algn="ctr"/>
                      <a:r>
                        <a:rPr sz="1100" b="1">
                          <a:solidFill>
                            <a:srgbClr val="0E2A5C"/>
                          </a:solidFill>
                          <a:latin typeface="Calibri"/>
                        </a:rPr>
                        <a:t>Containers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Direct-</a:t>
                      </a:r>
                      <a:endParaRPr sz="1100"/>
                    </a:p>
                    <a:p>
                      <a:pPr algn="ctr"/>
                      <a:r>
                        <a:rPr sz="1100" b="1">
                          <a:solidFill>
                            <a:srgbClr val="0E2A5C"/>
                          </a:solidFill>
                          <a:latin typeface="Calibri"/>
                        </a:rPr>
                        <a:t>Dispensed</a:t>
                      </a:r>
                      <a:endParaRPr sz="1100"/>
                    </a:p>
                    <a:p>
                      <a:pPr algn="ctr"/>
                      <a:r>
                        <a:rPr sz="1100" b="1">
                          <a:solidFill>
                            <a:srgbClr val="0E2A5C"/>
                          </a:solidFill>
                          <a:latin typeface="Calibri"/>
                        </a:rPr>
                        <a:t>Foam-in-</a:t>
                      </a:r>
                      <a:endParaRPr sz="1100"/>
                    </a:p>
                    <a:p>
                      <a:pPr algn="ctr"/>
                      <a:r>
                        <a:rPr sz="1100" b="1">
                          <a:solidFill>
                            <a:srgbClr val="0E2A5C"/>
                          </a:solidFill>
                          <a:latin typeface="Calibri"/>
                        </a:rPr>
                        <a:t>Place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Foam-in-Bag</a:t>
                      </a:r>
                      <a:endParaRPr sz="1100"/>
                    </a:p>
                    <a:p>
                      <a:pPr algn="ctr"/>
                      <a:r>
                        <a:rPr sz="1100" b="1">
                          <a:solidFill>
                            <a:srgbClr val="0E2A5C"/>
                          </a:solidFill>
                          <a:latin typeface="Calibri"/>
                        </a:rPr>
                        <a:t>/ On-</a:t>
                      </a:r>
                      <a:endParaRPr sz="1100"/>
                    </a:p>
                    <a:p>
                      <a:pPr algn="ctr"/>
                      <a:r>
                        <a:rPr sz="1100" b="1">
                          <a:solidFill>
                            <a:srgbClr val="0E2A5C"/>
                          </a:solidFill>
                          <a:latin typeface="Calibri"/>
                        </a:rPr>
                        <a:t>Demand</a:t>
                      </a:r>
                      <a:endParaRPr sz="1100"/>
                    </a:p>
                    <a:p>
                      <a:pPr algn="ctr"/>
                      <a:r>
                        <a:rPr sz="1100" b="1">
                          <a:solidFill>
                            <a:srgbClr val="0E2A5C"/>
                          </a:solidFill>
                          <a:latin typeface="Calibri"/>
                        </a:rPr>
                        <a:t>Foam</a:t>
                      </a:r>
                      <a:endParaRPr sz="1100"/>
                    </a:p>
                    <a:p>
                      <a:pPr algn="ctr"/>
                      <a:r>
                        <a:rPr sz="1100" b="1">
                          <a:solidFill>
                            <a:srgbClr val="0E2A5C"/>
                          </a:solidFill>
                          <a:latin typeface="Calibri"/>
                        </a:rPr>
                        <a:t>Cushions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Pouches &amp;</a:t>
                      </a:r>
                      <a:endParaRPr sz="1100"/>
                    </a:p>
                    <a:p>
                      <a:pPr algn="ctr"/>
                      <a:r>
                        <a:rPr sz="1100" b="1">
                          <a:solidFill>
                            <a:srgbClr val="0E2A5C"/>
                          </a:solidFill>
                          <a:latin typeface="Calibri"/>
                        </a:rPr>
                        <a:t>Bags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Sleeves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Packing</a:t>
                      </a:r>
                      <a:endParaRPr sz="1100"/>
                    </a:p>
                    <a:p>
                      <a:pPr algn="ctr"/>
                      <a:r>
                        <a:rPr sz="1100" b="1">
                          <a:solidFill>
                            <a:srgbClr val="0E2A5C"/>
                          </a:solidFill>
                          <a:latin typeface="Calibri"/>
                        </a:rPr>
                        <a:t>Peanuts /</a:t>
                      </a:r>
                      <a:endParaRPr sz="1100"/>
                    </a:p>
                    <a:p>
                      <a:pPr algn="ctr"/>
                      <a:r>
                        <a:rPr sz="1100" b="1">
                          <a:solidFill>
                            <a:srgbClr val="0E2A5C"/>
                          </a:solidFill>
                          <a:latin typeface="Calibri"/>
                        </a:rPr>
                        <a:t>Loose-Fill</a:t>
                      </a:r>
                      <a:endParaRPr sz="1100"/>
                    </a:p>
                    <a:p>
                      <a:pPr algn="ctr"/>
                      <a:r>
                        <a:rPr sz="1100" b="1">
                          <a:solidFill>
                            <a:srgbClr val="0E2A5C"/>
                          </a:solidFill>
                          <a:latin typeface="Calibri"/>
                        </a:rPr>
                        <a:t>Shapes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247079">
                <a:tc vMerge="1">
                  <a:txBody>
                    <a:bodyPr wrap="none"/>
                    <a:lstStyle/>
                    <a:p>
                      <a:pPr algn="l"/>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r>
              <a:tr h="439864">
                <a:tc>
                  <a:txBody>
                    <a:bodyPr wrap="none"/>
                    <a:lstStyle/>
                    <a:p>
                      <a:pPr algn="l"/>
                      <a:r>
                        <a:rPr sz="1100" b="1">
                          <a:solidFill>
                            <a:srgbClr val="2E2E2E"/>
                          </a:solidFill>
                          <a:latin typeface="Calibri"/>
                        </a:rPr>
                        <a:t>Foam Sheets,</a:t>
                      </a:r>
                      <a:endParaRPr sz="1100"/>
                    </a:p>
                    <a:p>
                      <a:pPr algn="l"/>
                      <a:r>
                        <a:rPr sz="1100" b="1">
                          <a:solidFill>
                            <a:srgbClr val="2E2E2E"/>
                          </a:solidFill>
                          <a:latin typeface="Calibri"/>
                        </a:rPr>
                        <a:t>Rolls &amp; Planks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650">
                <a:tc>
                  <a:txBody>
                    <a:bodyPr wrap="none"/>
                    <a:lstStyle/>
                    <a:p>
                      <a:pPr algn="l"/>
                      <a:r>
                        <a:rPr sz="1100" b="1">
                          <a:solidFill>
                            <a:srgbClr val="2E2E2E"/>
                          </a:solidFill>
                          <a:latin typeface="Calibri"/>
                        </a:rPr>
                        <a:t>Fabricated</a:t>
                      </a:r>
                      <a:endParaRPr sz="1100"/>
                    </a:p>
                    <a:p>
                      <a:pPr algn="l"/>
                      <a:r>
                        <a:rPr sz="1100" b="1">
                          <a:solidFill>
                            <a:srgbClr val="2E2E2E"/>
                          </a:solidFill>
                          <a:latin typeface="Calibri"/>
                        </a:rPr>
                        <a:t>Foam</a:t>
                      </a:r>
                      <a:endParaRPr sz="1100"/>
                    </a:p>
                    <a:p>
                      <a:pPr algn="l"/>
                      <a:r>
                        <a:rPr sz="1100" b="1">
                          <a:solidFill>
                            <a:srgbClr val="2E2E2E"/>
                          </a:solidFill>
                          <a:latin typeface="Calibri"/>
                        </a:rPr>
                        <a:t>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9864">
                <a:tc>
                  <a:txBody>
                    <a:bodyPr wrap="none"/>
                    <a:lstStyle/>
                    <a:p>
                      <a:pPr algn="l"/>
                      <a:r>
                        <a:rPr sz="1100" b="1">
                          <a:solidFill>
                            <a:srgbClr val="2E2E2E"/>
                          </a:solidFill>
                          <a:latin typeface="Calibri"/>
                        </a:rPr>
                        <a:t>Molded Foam</a:t>
                      </a:r>
                      <a:endParaRPr sz="1100"/>
                    </a:p>
                    <a:p>
                      <a:pPr algn="l"/>
                      <a:r>
                        <a:rPr sz="1100" b="1">
                          <a:solidFill>
                            <a:srgbClr val="2E2E2E"/>
                          </a:solidFill>
                          <a:latin typeface="Calibri"/>
                        </a:rPr>
                        <a:t>Packaging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64">
                <a:tc>
                  <a:txBody>
                    <a:bodyPr wrap="none"/>
                    <a:lstStyle/>
                    <a:p>
                      <a:pPr algn="l"/>
                      <a:r>
                        <a:rPr sz="1100" b="1">
                          <a:solidFill>
                            <a:srgbClr val="2E2E2E"/>
                          </a:solidFill>
                          <a:latin typeface="Calibri"/>
                        </a:rPr>
                        <a:t>Foam-in-Place</a:t>
                      </a:r>
                      <a:endParaRPr sz="1100"/>
                    </a:p>
                    <a:p>
                      <a:pPr algn="l"/>
                      <a:r>
                        <a:rPr sz="1100" b="1">
                          <a:solidFill>
                            <a:srgbClr val="2E2E2E"/>
                          </a:solidFill>
                          <a:latin typeface="Calibri"/>
                        </a:rPr>
                        <a:t>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9864">
                <a:tc>
                  <a:txBody>
                    <a:bodyPr wrap="none"/>
                    <a:lstStyle/>
                    <a:p>
                      <a:pPr algn="l"/>
                      <a:r>
                        <a:rPr sz="1100" b="1">
                          <a:solidFill>
                            <a:srgbClr val="2E2E2E"/>
                          </a:solidFill>
                          <a:latin typeface="Calibri"/>
                        </a:rPr>
                        <a:t>Foam Pouches,</a:t>
                      </a:r>
                      <a:endParaRPr sz="1100"/>
                    </a:p>
                    <a:p>
                      <a:pPr algn="l"/>
                      <a:r>
                        <a:rPr sz="1100" b="1">
                          <a:solidFill>
                            <a:srgbClr val="2E2E2E"/>
                          </a:solidFill>
                          <a:latin typeface="Calibri"/>
                        </a:rPr>
                        <a:t>Bags &amp; Sleeves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64">
                <a:tc>
                  <a:txBody>
                    <a:bodyPr wrap="none"/>
                    <a:lstStyle/>
                    <a:p>
                      <a:pPr algn="l"/>
                      <a:r>
                        <a:rPr sz="1100" b="1">
                          <a:solidFill>
                            <a:srgbClr val="2E2E2E"/>
                          </a:solidFill>
                          <a:latin typeface="Calibri"/>
                        </a:rPr>
                        <a:t>Foam Loose-Fill</a:t>
                      </a:r>
                      <a:endParaRPr sz="1100"/>
                    </a:p>
                    <a:p>
                      <a:pPr algn="l"/>
                      <a:r>
                        <a:rPr sz="1100" b="1">
                          <a:solidFill>
                            <a:srgbClr val="2E2E2E"/>
                          </a:solidFill>
                          <a:latin typeface="Calibri"/>
                        </a:rPr>
                        <a:t>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7079">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591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411208" y="3775423"/>
            <a:ext cx="366712" cy="5334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Product Form × End-use Industry, 2026E vs 2036F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product form sub-segment across end-use industry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Product Form → End-use Industry, 2036F (US$ Mn)</a:t>
            </a:r>
          </a:p>
        </p:txBody>
      </p:sp>
      <p:sp>
        <p:nvSpPr>
          <p:cNvPr id="9" name="Freeform 8"/>
          <p:cNvSpPr/>
          <p:nvPr/>
        </p:nvSpPr>
        <p:spPr>
          <a:xfrm>
            <a:off x="2057400" y="1476375"/>
            <a:ext cx="3743325" cy="1095375"/>
          </a:xfrm>
          <a:custGeom>
            <a:avLst/>
            <a:gdLst/>
            <a:ahLst/>
            <a:cxnLst/>
            <a:rect l="l" t="t" r="r" b="b"/>
            <a:pathLst>
              <a:path w="393" h="115">
                <a:moveTo>
                  <a:pt x="0" y="0"/>
                </a:moveTo>
                <a:lnTo>
                  <a:pt x="16" y="0"/>
                </a:lnTo>
                <a:lnTo>
                  <a:pt x="33" y="1"/>
                </a:lnTo>
                <a:lnTo>
                  <a:pt x="49" y="3"/>
                </a:lnTo>
                <a:lnTo>
                  <a:pt x="65" y="6"/>
                </a:lnTo>
                <a:lnTo>
                  <a:pt x="82" y="8"/>
                </a:lnTo>
                <a:lnTo>
                  <a:pt x="98" y="12"/>
                </a:lnTo>
                <a:lnTo>
                  <a:pt x="114" y="15"/>
                </a:lnTo>
                <a:lnTo>
                  <a:pt x="131" y="19"/>
                </a:lnTo>
                <a:lnTo>
                  <a:pt x="147" y="24"/>
                </a:lnTo>
                <a:lnTo>
                  <a:pt x="164" y="28"/>
                </a:lnTo>
                <a:lnTo>
                  <a:pt x="180" y="33"/>
                </a:lnTo>
                <a:lnTo>
                  <a:pt x="196" y="37"/>
                </a:lnTo>
                <a:lnTo>
                  <a:pt x="213" y="42"/>
                </a:lnTo>
                <a:lnTo>
                  <a:pt x="229" y="46"/>
                </a:lnTo>
                <a:lnTo>
                  <a:pt x="246" y="51"/>
                </a:lnTo>
                <a:lnTo>
                  <a:pt x="262" y="55"/>
                </a:lnTo>
                <a:lnTo>
                  <a:pt x="278" y="59"/>
                </a:lnTo>
                <a:lnTo>
                  <a:pt x="295" y="63"/>
                </a:lnTo>
                <a:lnTo>
                  <a:pt x="311" y="66"/>
                </a:lnTo>
                <a:lnTo>
                  <a:pt x="327" y="69"/>
                </a:lnTo>
                <a:lnTo>
                  <a:pt x="344" y="71"/>
                </a:lnTo>
                <a:lnTo>
                  <a:pt x="360" y="73"/>
                </a:lnTo>
                <a:lnTo>
                  <a:pt x="377" y="74"/>
                </a:lnTo>
                <a:lnTo>
                  <a:pt x="393" y="75"/>
                </a:lnTo>
                <a:lnTo>
                  <a:pt x="393" y="115"/>
                </a:lnTo>
                <a:lnTo>
                  <a:pt x="377" y="114"/>
                </a:lnTo>
                <a:lnTo>
                  <a:pt x="360" y="113"/>
                </a:lnTo>
                <a:lnTo>
                  <a:pt x="344" y="112"/>
                </a:lnTo>
                <a:lnTo>
                  <a:pt x="327" y="109"/>
                </a:lnTo>
                <a:lnTo>
                  <a:pt x="311" y="106"/>
                </a:lnTo>
                <a:lnTo>
                  <a:pt x="295" y="103"/>
                </a:lnTo>
                <a:lnTo>
                  <a:pt x="278" y="99"/>
                </a:lnTo>
                <a:lnTo>
                  <a:pt x="262" y="95"/>
                </a:lnTo>
                <a:lnTo>
                  <a:pt x="246" y="91"/>
                </a:lnTo>
                <a:lnTo>
                  <a:pt x="229" y="87"/>
                </a:lnTo>
                <a:lnTo>
                  <a:pt x="213" y="82"/>
                </a:lnTo>
                <a:lnTo>
                  <a:pt x="196" y="78"/>
                </a:lnTo>
                <a:lnTo>
                  <a:pt x="180" y="73"/>
                </a:lnTo>
                <a:lnTo>
                  <a:pt x="164" y="68"/>
                </a:lnTo>
                <a:lnTo>
                  <a:pt x="147" y="64"/>
                </a:lnTo>
                <a:lnTo>
                  <a:pt x="131" y="60"/>
                </a:lnTo>
                <a:lnTo>
                  <a:pt x="114" y="56"/>
                </a:lnTo>
                <a:lnTo>
                  <a:pt x="98" y="52"/>
                </a:lnTo>
                <a:lnTo>
                  <a:pt x="82" y="49"/>
                </a:lnTo>
                <a:lnTo>
                  <a:pt x="65" y="46"/>
                </a:lnTo>
                <a:lnTo>
                  <a:pt x="49" y="43"/>
                </a:lnTo>
                <a:lnTo>
                  <a:pt x="33" y="42"/>
                </a:lnTo>
                <a:lnTo>
                  <a:pt x="16" y="41"/>
                </a:lnTo>
                <a:lnTo>
                  <a:pt x="0" y="4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057400" y="1857375"/>
            <a:ext cx="3743325" cy="1152525"/>
          </a:xfrm>
          <a:custGeom>
            <a:avLst/>
            <a:gdLst/>
            <a:ahLst/>
            <a:cxnLst/>
            <a:rect l="l" t="t" r="r" b="b"/>
            <a:pathLst>
              <a:path w="393" h="121">
                <a:moveTo>
                  <a:pt x="0" y="0"/>
                </a:moveTo>
                <a:lnTo>
                  <a:pt x="16" y="1"/>
                </a:lnTo>
                <a:lnTo>
                  <a:pt x="33" y="2"/>
                </a:lnTo>
                <a:lnTo>
                  <a:pt x="49" y="4"/>
                </a:lnTo>
                <a:lnTo>
                  <a:pt x="65" y="6"/>
                </a:lnTo>
                <a:lnTo>
                  <a:pt x="82" y="9"/>
                </a:lnTo>
                <a:lnTo>
                  <a:pt x="98" y="13"/>
                </a:lnTo>
                <a:lnTo>
                  <a:pt x="114" y="17"/>
                </a:lnTo>
                <a:lnTo>
                  <a:pt x="131" y="21"/>
                </a:lnTo>
                <a:lnTo>
                  <a:pt x="147" y="26"/>
                </a:lnTo>
                <a:lnTo>
                  <a:pt x="164" y="31"/>
                </a:lnTo>
                <a:lnTo>
                  <a:pt x="180" y="35"/>
                </a:lnTo>
                <a:lnTo>
                  <a:pt x="196" y="41"/>
                </a:lnTo>
                <a:lnTo>
                  <a:pt x="213" y="46"/>
                </a:lnTo>
                <a:lnTo>
                  <a:pt x="229" y="50"/>
                </a:lnTo>
                <a:lnTo>
                  <a:pt x="246" y="55"/>
                </a:lnTo>
                <a:lnTo>
                  <a:pt x="262" y="60"/>
                </a:lnTo>
                <a:lnTo>
                  <a:pt x="278" y="64"/>
                </a:lnTo>
                <a:lnTo>
                  <a:pt x="295" y="68"/>
                </a:lnTo>
                <a:lnTo>
                  <a:pt x="311" y="72"/>
                </a:lnTo>
                <a:lnTo>
                  <a:pt x="327" y="75"/>
                </a:lnTo>
                <a:lnTo>
                  <a:pt x="344" y="77"/>
                </a:lnTo>
                <a:lnTo>
                  <a:pt x="360" y="79"/>
                </a:lnTo>
                <a:lnTo>
                  <a:pt x="377" y="80"/>
                </a:lnTo>
                <a:lnTo>
                  <a:pt x="393" y="81"/>
                </a:lnTo>
                <a:lnTo>
                  <a:pt x="393" y="121"/>
                </a:lnTo>
                <a:lnTo>
                  <a:pt x="377" y="121"/>
                </a:lnTo>
                <a:lnTo>
                  <a:pt x="360" y="119"/>
                </a:lnTo>
                <a:lnTo>
                  <a:pt x="344" y="118"/>
                </a:lnTo>
                <a:lnTo>
                  <a:pt x="327" y="115"/>
                </a:lnTo>
                <a:lnTo>
                  <a:pt x="311" y="112"/>
                </a:lnTo>
                <a:lnTo>
                  <a:pt x="295" y="108"/>
                </a:lnTo>
                <a:lnTo>
                  <a:pt x="278" y="104"/>
                </a:lnTo>
                <a:lnTo>
                  <a:pt x="262" y="100"/>
                </a:lnTo>
                <a:lnTo>
                  <a:pt x="246" y="96"/>
                </a:lnTo>
                <a:lnTo>
                  <a:pt x="229" y="91"/>
                </a:lnTo>
                <a:lnTo>
                  <a:pt x="213" y="86"/>
                </a:lnTo>
                <a:lnTo>
                  <a:pt x="196" y="81"/>
                </a:lnTo>
                <a:lnTo>
                  <a:pt x="180" y="76"/>
                </a:lnTo>
                <a:lnTo>
                  <a:pt x="164" y="71"/>
                </a:lnTo>
                <a:lnTo>
                  <a:pt x="147" y="66"/>
                </a:lnTo>
                <a:lnTo>
                  <a:pt x="131" y="61"/>
                </a:lnTo>
                <a:lnTo>
                  <a:pt x="114" y="57"/>
                </a:lnTo>
                <a:lnTo>
                  <a:pt x="98" y="53"/>
                </a:lnTo>
                <a:lnTo>
                  <a:pt x="82" y="50"/>
                </a:lnTo>
                <a:lnTo>
                  <a:pt x="65" y="46"/>
                </a:lnTo>
                <a:lnTo>
                  <a:pt x="49" y="44"/>
                </a:lnTo>
                <a:lnTo>
                  <a:pt x="33" y="42"/>
                </a:lnTo>
                <a:lnTo>
                  <a:pt x="16" y="41"/>
                </a:lnTo>
                <a:lnTo>
                  <a:pt x="0" y="4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057400" y="2238375"/>
            <a:ext cx="3743325" cy="1209675"/>
          </a:xfrm>
          <a:custGeom>
            <a:avLst/>
            <a:gdLst/>
            <a:ahLst/>
            <a:cxnLst/>
            <a:rect l="l" t="t" r="r" b="b"/>
            <a:pathLst>
              <a:path w="393" h="127">
                <a:moveTo>
                  <a:pt x="0" y="0"/>
                </a:moveTo>
                <a:lnTo>
                  <a:pt x="16" y="1"/>
                </a:lnTo>
                <a:lnTo>
                  <a:pt x="33" y="2"/>
                </a:lnTo>
                <a:lnTo>
                  <a:pt x="49" y="4"/>
                </a:lnTo>
                <a:lnTo>
                  <a:pt x="65" y="7"/>
                </a:lnTo>
                <a:lnTo>
                  <a:pt x="82" y="10"/>
                </a:lnTo>
                <a:lnTo>
                  <a:pt x="98" y="14"/>
                </a:lnTo>
                <a:lnTo>
                  <a:pt x="114" y="18"/>
                </a:lnTo>
                <a:lnTo>
                  <a:pt x="131" y="23"/>
                </a:lnTo>
                <a:lnTo>
                  <a:pt x="147" y="28"/>
                </a:lnTo>
                <a:lnTo>
                  <a:pt x="164" y="33"/>
                </a:lnTo>
                <a:lnTo>
                  <a:pt x="180" y="38"/>
                </a:lnTo>
                <a:lnTo>
                  <a:pt x="196" y="44"/>
                </a:lnTo>
                <a:lnTo>
                  <a:pt x="213" y="49"/>
                </a:lnTo>
                <a:lnTo>
                  <a:pt x="229" y="54"/>
                </a:lnTo>
                <a:lnTo>
                  <a:pt x="246" y="60"/>
                </a:lnTo>
                <a:lnTo>
                  <a:pt x="262" y="65"/>
                </a:lnTo>
                <a:lnTo>
                  <a:pt x="278" y="69"/>
                </a:lnTo>
                <a:lnTo>
                  <a:pt x="295" y="73"/>
                </a:lnTo>
                <a:lnTo>
                  <a:pt x="311" y="77"/>
                </a:lnTo>
                <a:lnTo>
                  <a:pt x="327" y="81"/>
                </a:lnTo>
                <a:lnTo>
                  <a:pt x="344" y="83"/>
                </a:lnTo>
                <a:lnTo>
                  <a:pt x="360" y="85"/>
                </a:lnTo>
                <a:lnTo>
                  <a:pt x="377" y="87"/>
                </a:lnTo>
                <a:lnTo>
                  <a:pt x="393" y="87"/>
                </a:lnTo>
                <a:lnTo>
                  <a:pt x="393" y="127"/>
                </a:lnTo>
                <a:lnTo>
                  <a:pt x="377" y="127"/>
                </a:lnTo>
                <a:lnTo>
                  <a:pt x="360" y="126"/>
                </a:lnTo>
                <a:lnTo>
                  <a:pt x="344" y="124"/>
                </a:lnTo>
                <a:lnTo>
                  <a:pt x="327" y="121"/>
                </a:lnTo>
                <a:lnTo>
                  <a:pt x="311" y="118"/>
                </a:lnTo>
                <a:lnTo>
                  <a:pt x="295" y="114"/>
                </a:lnTo>
                <a:lnTo>
                  <a:pt x="278" y="109"/>
                </a:lnTo>
                <a:lnTo>
                  <a:pt x="262" y="105"/>
                </a:lnTo>
                <a:lnTo>
                  <a:pt x="246" y="100"/>
                </a:lnTo>
                <a:lnTo>
                  <a:pt x="229" y="95"/>
                </a:lnTo>
                <a:lnTo>
                  <a:pt x="213" y="89"/>
                </a:lnTo>
                <a:lnTo>
                  <a:pt x="196" y="84"/>
                </a:lnTo>
                <a:lnTo>
                  <a:pt x="180" y="79"/>
                </a:lnTo>
                <a:lnTo>
                  <a:pt x="164" y="73"/>
                </a:lnTo>
                <a:lnTo>
                  <a:pt x="147" y="68"/>
                </a:lnTo>
                <a:lnTo>
                  <a:pt x="131" y="63"/>
                </a:lnTo>
                <a:lnTo>
                  <a:pt x="114" y="59"/>
                </a:lnTo>
                <a:lnTo>
                  <a:pt x="98" y="54"/>
                </a:lnTo>
                <a:lnTo>
                  <a:pt x="82" y="50"/>
                </a:lnTo>
                <a:lnTo>
                  <a:pt x="65" y="47"/>
                </a:lnTo>
                <a:lnTo>
                  <a:pt x="49" y="44"/>
                </a:lnTo>
                <a:lnTo>
                  <a:pt x="33" y="42"/>
                </a:lnTo>
                <a:lnTo>
                  <a:pt x="16" y="41"/>
                </a:lnTo>
                <a:lnTo>
                  <a:pt x="0" y="41"/>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057400" y="1304925"/>
            <a:ext cx="3743325" cy="1762125"/>
          </a:xfrm>
          <a:custGeom>
            <a:avLst/>
            <a:gdLst/>
            <a:ahLst/>
            <a:cxnLst/>
            <a:rect l="l" t="t" r="r" b="b"/>
            <a:pathLst>
              <a:path w="393" h="185">
                <a:moveTo>
                  <a:pt x="0" y="145"/>
                </a:moveTo>
                <a:lnTo>
                  <a:pt x="16" y="144"/>
                </a:lnTo>
                <a:lnTo>
                  <a:pt x="33" y="142"/>
                </a:lnTo>
                <a:lnTo>
                  <a:pt x="49" y="139"/>
                </a:lnTo>
                <a:lnTo>
                  <a:pt x="65" y="134"/>
                </a:lnTo>
                <a:lnTo>
                  <a:pt x="82" y="129"/>
                </a:lnTo>
                <a:lnTo>
                  <a:pt x="98" y="122"/>
                </a:lnTo>
                <a:lnTo>
                  <a:pt x="114" y="115"/>
                </a:lnTo>
                <a:lnTo>
                  <a:pt x="131" y="107"/>
                </a:lnTo>
                <a:lnTo>
                  <a:pt x="147" y="99"/>
                </a:lnTo>
                <a:lnTo>
                  <a:pt x="164" y="90"/>
                </a:lnTo>
                <a:lnTo>
                  <a:pt x="180" y="81"/>
                </a:lnTo>
                <a:lnTo>
                  <a:pt x="196" y="72"/>
                </a:lnTo>
                <a:lnTo>
                  <a:pt x="213" y="63"/>
                </a:lnTo>
                <a:lnTo>
                  <a:pt x="229" y="54"/>
                </a:lnTo>
                <a:lnTo>
                  <a:pt x="246" y="46"/>
                </a:lnTo>
                <a:lnTo>
                  <a:pt x="262" y="38"/>
                </a:lnTo>
                <a:lnTo>
                  <a:pt x="278" y="30"/>
                </a:lnTo>
                <a:lnTo>
                  <a:pt x="295" y="23"/>
                </a:lnTo>
                <a:lnTo>
                  <a:pt x="311" y="16"/>
                </a:lnTo>
                <a:lnTo>
                  <a:pt x="327" y="11"/>
                </a:lnTo>
                <a:lnTo>
                  <a:pt x="344" y="6"/>
                </a:lnTo>
                <a:lnTo>
                  <a:pt x="360" y="3"/>
                </a:lnTo>
                <a:lnTo>
                  <a:pt x="377" y="1"/>
                </a:lnTo>
                <a:lnTo>
                  <a:pt x="393" y="0"/>
                </a:lnTo>
                <a:lnTo>
                  <a:pt x="393" y="40"/>
                </a:lnTo>
                <a:lnTo>
                  <a:pt x="377" y="41"/>
                </a:lnTo>
                <a:lnTo>
                  <a:pt x="360" y="43"/>
                </a:lnTo>
                <a:lnTo>
                  <a:pt x="344" y="46"/>
                </a:lnTo>
                <a:lnTo>
                  <a:pt x="327" y="51"/>
                </a:lnTo>
                <a:lnTo>
                  <a:pt x="311" y="56"/>
                </a:lnTo>
                <a:lnTo>
                  <a:pt x="295" y="63"/>
                </a:lnTo>
                <a:lnTo>
                  <a:pt x="278" y="70"/>
                </a:lnTo>
                <a:lnTo>
                  <a:pt x="262" y="78"/>
                </a:lnTo>
                <a:lnTo>
                  <a:pt x="246" y="86"/>
                </a:lnTo>
                <a:lnTo>
                  <a:pt x="229" y="95"/>
                </a:lnTo>
                <a:lnTo>
                  <a:pt x="213" y="104"/>
                </a:lnTo>
                <a:lnTo>
                  <a:pt x="196" y="113"/>
                </a:lnTo>
                <a:lnTo>
                  <a:pt x="180" y="122"/>
                </a:lnTo>
                <a:lnTo>
                  <a:pt x="164" y="131"/>
                </a:lnTo>
                <a:lnTo>
                  <a:pt x="147" y="139"/>
                </a:lnTo>
                <a:lnTo>
                  <a:pt x="131" y="147"/>
                </a:lnTo>
                <a:lnTo>
                  <a:pt x="114" y="155"/>
                </a:lnTo>
                <a:lnTo>
                  <a:pt x="98" y="162"/>
                </a:lnTo>
                <a:lnTo>
                  <a:pt x="82" y="169"/>
                </a:lnTo>
                <a:lnTo>
                  <a:pt x="65" y="174"/>
                </a:lnTo>
                <a:lnTo>
                  <a:pt x="49" y="179"/>
                </a:lnTo>
                <a:lnTo>
                  <a:pt x="33" y="182"/>
                </a:lnTo>
                <a:lnTo>
                  <a:pt x="16" y="184"/>
                </a:lnTo>
                <a:lnTo>
                  <a:pt x="0" y="185"/>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743075"/>
            <a:ext cx="3743325" cy="1704975"/>
          </a:xfrm>
          <a:custGeom>
            <a:avLst/>
            <a:gdLst/>
            <a:ahLst/>
            <a:cxnLst/>
            <a:rect l="l" t="t" r="r" b="b"/>
            <a:pathLst>
              <a:path w="393" h="179">
                <a:moveTo>
                  <a:pt x="0" y="139"/>
                </a:moveTo>
                <a:lnTo>
                  <a:pt x="16" y="138"/>
                </a:lnTo>
                <a:lnTo>
                  <a:pt x="33" y="136"/>
                </a:lnTo>
                <a:lnTo>
                  <a:pt x="49" y="133"/>
                </a:lnTo>
                <a:lnTo>
                  <a:pt x="65" y="129"/>
                </a:lnTo>
                <a:lnTo>
                  <a:pt x="82" y="123"/>
                </a:lnTo>
                <a:lnTo>
                  <a:pt x="98" y="117"/>
                </a:lnTo>
                <a:lnTo>
                  <a:pt x="114" y="110"/>
                </a:lnTo>
                <a:lnTo>
                  <a:pt x="131" y="103"/>
                </a:lnTo>
                <a:lnTo>
                  <a:pt x="147" y="95"/>
                </a:lnTo>
                <a:lnTo>
                  <a:pt x="164" y="87"/>
                </a:lnTo>
                <a:lnTo>
                  <a:pt x="180" y="78"/>
                </a:lnTo>
                <a:lnTo>
                  <a:pt x="196" y="70"/>
                </a:lnTo>
                <a:lnTo>
                  <a:pt x="213" y="61"/>
                </a:lnTo>
                <a:lnTo>
                  <a:pt x="229" y="52"/>
                </a:lnTo>
                <a:lnTo>
                  <a:pt x="246" y="44"/>
                </a:lnTo>
                <a:lnTo>
                  <a:pt x="262" y="36"/>
                </a:lnTo>
                <a:lnTo>
                  <a:pt x="278" y="29"/>
                </a:lnTo>
                <a:lnTo>
                  <a:pt x="295" y="22"/>
                </a:lnTo>
                <a:lnTo>
                  <a:pt x="311" y="16"/>
                </a:lnTo>
                <a:lnTo>
                  <a:pt x="327" y="11"/>
                </a:lnTo>
                <a:lnTo>
                  <a:pt x="344" y="6"/>
                </a:lnTo>
                <a:lnTo>
                  <a:pt x="360" y="3"/>
                </a:lnTo>
                <a:lnTo>
                  <a:pt x="377" y="1"/>
                </a:lnTo>
                <a:lnTo>
                  <a:pt x="393" y="0"/>
                </a:lnTo>
                <a:lnTo>
                  <a:pt x="393" y="41"/>
                </a:lnTo>
                <a:lnTo>
                  <a:pt x="377" y="41"/>
                </a:lnTo>
                <a:lnTo>
                  <a:pt x="360" y="43"/>
                </a:lnTo>
                <a:lnTo>
                  <a:pt x="344" y="46"/>
                </a:lnTo>
                <a:lnTo>
                  <a:pt x="327" y="51"/>
                </a:lnTo>
                <a:lnTo>
                  <a:pt x="311" y="56"/>
                </a:lnTo>
                <a:lnTo>
                  <a:pt x="295" y="62"/>
                </a:lnTo>
                <a:lnTo>
                  <a:pt x="278" y="69"/>
                </a:lnTo>
                <a:lnTo>
                  <a:pt x="262" y="76"/>
                </a:lnTo>
                <a:lnTo>
                  <a:pt x="246" y="84"/>
                </a:lnTo>
                <a:lnTo>
                  <a:pt x="229" y="93"/>
                </a:lnTo>
                <a:lnTo>
                  <a:pt x="213" y="101"/>
                </a:lnTo>
                <a:lnTo>
                  <a:pt x="196" y="110"/>
                </a:lnTo>
                <a:lnTo>
                  <a:pt x="180" y="119"/>
                </a:lnTo>
                <a:lnTo>
                  <a:pt x="164" y="127"/>
                </a:lnTo>
                <a:lnTo>
                  <a:pt x="147" y="135"/>
                </a:lnTo>
                <a:lnTo>
                  <a:pt x="131" y="143"/>
                </a:lnTo>
                <a:lnTo>
                  <a:pt x="114" y="151"/>
                </a:lnTo>
                <a:lnTo>
                  <a:pt x="98" y="158"/>
                </a:lnTo>
                <a:lnTo>
                  <a:pt x="82" y="164"/>
                </a:lnTo>
                <a:lnTo>
                  <a:pt x="65" y="169"/>
                </a:lnTo>
                <a:lnTo>
                  <a:pt x="49" y="173"/>
                </a:lnTo>
                <a:lnTo>
                  <a:pt x="33" y="177"/>
                </a:lnTo>
                <a:lnTo>
                  <a:pt x="16" y="179"/>
                </a:lnTo>
                <a:lnTo>
                  <a:pt x="0" y="179"/>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3505200"/>
            <a:ext cx="3743325" cy="390525"/>
          </a:xfrm>
          <a:custGeom>
            <a:avLst/>
            <a:gdLst/>
            <a:ahLst/>
            <a:cxnLst/>
            <a:rect l="l" t="t" r="r" b="b"/>
            <a:pathLst>
              <a:path w="393" h="4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41"/>
                </a:lnTo>
                <a:lnTo>
                  <a:pt x="377" y="41"/>
                </a:lnTo>
                <a:lnTo>
                  <a:pt x="360" y="41"/>
                </a:lnTo>
                <a:lnTo>
                  <a:pt x="344" y="41"/>
                </a:lnTo>
                <a:lnTo>
                  <a:pt x="327" y="41"/>
                </a:lnTo>
                <a:lnTo>
                  <a:pt x="311" y="41"/>
                </a:lnTo>
                <a:lnTo>
                  <a:pt x="295" y="41"/>
                </a:lnTo>
                <a:lnTo>
                  <a:pt x="278" y="41"/>
                </a:lnTo>
                <a:lnTo>
                  <a:pt x="262" y="41"/>
                </a:lnTo>
                <a:lnTo>
                  <a:pt x="246" y="41"/>
                </a:lnTo>
                <a:lnTo>
                  <a:pt x="229" y="41"/>
                </a:lnTo>
                <a:lnTo>
                  <a:pt x="213" y="41"/>
                </a:lnTo>
                <a:lnTo>
                  <a:pt x="196" y="41"/>
                </a:lnTo>
                <a:lnTo>
                  <a:pt x="180" y="41"/>
                </a:lnTo>
                <a:lnTo>
                  <a:pt x="164" y="41"/>
                </a:lnTo>
                <a:lnTo>
                  <a:pt x="147" y="41"/>
                </a:lnTo>
                <a:lnTo>
                  <a:pt x="131" y="41"/>
                </a:lnTo>
                <a:lnTo>
                  <a:pt x="114" y="41"/>
                </a:lnTo>
                <a:lnTo>
                  <a:pt x="98" y="41"/>
                </a:lnTo>
                <a:lnTo>
                  <a:pt x="82" y="41"/>
                </a:lnTo>
                <a:lnTo>
                  <a:pt x="65" y="41"/>
                </a:lnTo>
                <a:lnTo>
                  <a:pt x="49" y="41"/>
                </a:lnTo>
                <a:lnTo>
                  <a:pt x="33" y="41"/>
                </a:lnTo>
                <a:lnTo>
                  <a:pt x="16" y="41"/>
                </a:lnTo>
                <a:lnTo>
                  <a:pt x="0" y="41"/>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3895725"/>
            <a:ext cx="3743325" cy="438150"/>
          </a:xfrm>
          <a:custGeom>
            <a:avLst/>
            <a:gdLst/>
            <a:ahLst/>
            <a:cxnLst/>
            <a:rect l="l" t="t" r="r" b="b"/>
            <a:pathLst>
              <a:path w="393" h="46">
                <a:moveTo>
                  <a:pt x="0" y="0"/>
                </a:moveTo>
                <a:lnTo>
                  <a:pt x="16" y="0"/>
                </a:lnTo>
                <a:lnTo>
                  <a:pt x="33" y="0"/>
                </a:lnTo>
                <a:lnTo>
                  <a:pt x="49" y="0"/>
                </a:lnTo>
                <a:lnTo>
                  <a:pt x="65" y="0"/>
                </a:lnTo>
                <a:lnTo>
                  <a:pt x="82" y="0"/>
                </a:lnTo>
                <a:lnTo>
                  <a:pt x="98" y="0"/>
                </a:lnTo>
                <a:lnTo>
                  <a:pt x="114" y="1"/>
                </a:lnTo>
                <a:lnTo>
                  <a:pt x="131" y="1"/>
                </a:lnTo>
                <a:lnTo>
                  <a:pt x="147" y="1"/>
                </a:lnTo>
                <a:lnTo>
                  <a:pt x="164" y="2"/>
                </a:lnTo>
                <a:lnTo>
                  <a:pt x="180" y="2"/>
                </a:lnTo>
                <a:lnTo>
                  <a:pt x="196" y="3"/>
                </a:lnTo>
                <a:lnTo>
                  <a:pt x="213" y="3"/>
                </a:lnTo>
                <a:lnTo>
                  <a:pt x="229" y="3"/>
                </a:lnTo>
                <a:lnTo>
                  <a:pt x="246" y="4"/>
                </a:lnTo>
                <a:lnTo>
                  <a:pt x="262" y="4"/>
                </a:lnTo>
                <a:lnTo>
                  <a:pt x="278" y="4"/>
                </a:lnTo>
                <a:lnTo>
                  <a:pt x="295" y="5"/>
                </a:lnTo>
                <a:lnTo>
                  <a:pt x="311" y="5"/>
                </a:lnTo>
                <a:lnTo>
                  <a:pt x="327" y="5"/>
                </a:lnTo>
                <a:lnTo>
                  <a:pt x="344" y="5"/>
                </a:lnTo>
                <a:lnTo>
                  <a:pt x="360" y="5"/>
                </a:lnTo>
                <a:lnTo>
                  <a:pt x="377" y="5"/>
                </a:lnTo>
                <a:lnTo>
                  <a:pt x="393" y="6"/>
                </a:lnTo>
                <a:lnTo>
                  <a:pt x="393" y="46"/>
                </a:lnTo>
                <a:lnTo>
                  <a:pt x="377" y="46"/>
                </a:lnTo>
                <a:lnTo>
                  <a:pt x="360" y="46"/>
                </a:lnTo>
                <a:lnTo>
                  <a:pt x="344" y="45"/>
                </a:lnTo>
                <a:lnTo>
                  <a:pt x="327" y="45"/>
                </a:lnTo>
                <a:lnTo>
                  <a:pt x="311" y="45"/>
                </a:lnTo>
                <a:lnTo>
                  <a:pt x="295" y="45"/>
                </a:lnTo>
                <a:lnTo>
                  <a:pt x="278" y="45"/>
                </a:lnTo>
                <a:lnTo>
                  <a:pt x="262" y="44"/>
                </a:lnTo>
                <a:lnTo>
                  <a:pt x="246" y="44"/>
                </a:lnTo>
                <a:lnTo>
                  <a:pt x="229" y="43"/>
                </a:lnTo>
                <a:lnTo>
                  <a:pt x="213" y="43"/>
                </a:lnTo>
                <a:lnTo>
                  <a:pt x="196" y="43"/>
                </a:lnTo>
                <a:lnTo>
                  <a:pt x="180" y="42"/>
                </a:lnTo>
                <a:lnTo>
                  <a:pt x="164" y="42"/>
                </a:lnTo>
                <a:lnTo>
                  <a:pt x="147" y="42"/>
                </a:lnTo>
                <a:lnTo>
                  <a:pt x="131" y="41"/>
                </a:lnTo>
                <a:lnTo>
                  <a:pt x="114" y="41"/>
                </a:lnTo>
                <a:lnTo>
                  <a:pt x="98" y="41"/>
                </a:lnTo>
                <a:lnTo>
                  <a:pt x="82" y="40"/>
                </a:lnTo>
                <a:lnTo>
                  <a:pt x="65" y="40"/>
                </a:lnTo>
                <a:lnTo>
                  <a:pt x="49" y="40"/>
                </a:lnTo>
                <a:lnTo>
                  <a:pt x="33" y="40"/>
                </a:lnTo>
                <a:lnTo>
                  <a:pt x="16" y="40"/>
                </a:lnTo>
                <a:lnTo>
                  <a:pt x="0" y="4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4333875"/>
            <a:ext cx="3743325" cy="438150"/>
          </a:xfrm>
          <a:custGeom>
            <a:avLst/>
            <a:gdLst/>
            <a:ahLst/>
            <a:cxnLst/>
            <a:rect l="l" t="t" r="r" b="b"/>
            <a:pathLst>
              <a:path w="393" h="46">
                <a:moveTo>
                  <a:pt x="0" y="0"/>
                </a:moveTo>
                <a:lnTo>
                  <a:pt x="16" y="0"/>
                </a:lnTo>
                <a:lnTo>
                  <a:pt x="33" y="0"/>
                </a:lnTo>
                <a:lnTo>
                  <a:pt x="49" y="0"/>
                </a:lnTo>
                <a:lnTo>
                  <a:pt x="65" y="0"/>
                </a:lnTo>
                <a:lnTo>
                  <a:pt x="82" y="0"/>
                </a:lnTo>
                <a:lnTo>
                  <a:pt x="98" y="1"/>
                </a:lnTo>
                <a:lnTo>
                  <a:pt x="114" y="1"/>
                </a:lnTo>
                <a:lnTo>
                  <a:pt x="131" y="1"/>
                </a:lnTo>
                <a:lnTo>
                  <a:pt x="147" y="2"/>
                </a:lnTo>
                <a:lnTo>
                  <a:pt x="164" y="2"/>
                </a:lnTo>
                <a:lnTo>
                  <a:pt x="180" y="2"/>
                </a:lnTo>
                <a:lnTo>
                  <a:pt x="196" y="3"/>
                </a:lnTo>
                <a:lnTo>
                  <a:pt x="213" y="3"/>
                </a:lnTo>
                <a:lnTo>
                  <a:pt x="229" y="3"/>
                </a:lnTo>
                <a:lnTo>
                  <a:pt x="246" y="4"/>
                </a:lnTo>
                <a:lnTo>
                  <a:pt x="262" y="4"/>
                </a:lnTo>
                <a:lnTo>
                  <a:pt x="278" y="5"/>
                </a:lnTo>
                <a:lnTo>
                  <a:pt x="295" y="5"/>
                </a:lnTo>
                <a:lnTo>
                  <a:pt x="311" y="5"/>
                </a:lnTo>
                <a:lnTo>
                  <a:pt x="327" y="5"/>
                </a:lnTo>
                <a:lnTo>
                  <a:pt x="344" y="5"/>
                </a:lnTo>
                <a:lnTo>
                  <a:pt x="360" y="6"/>
                </a:lnTo>
                <a:lnTo>
                  <a:pt x="377" y="6"/>
                </a:lnTo>
                <a:lnTo>
                  <a:pt x="393" y="6"/>
                </a:lnTo>
                <a:lnTo>
                  <a:pt x="393" y="46"/>
                </a:lnTo>
                <a:lnTo>
                  <a:pt x="377" y="46"/>
                </a:lnTo>
                <a:lnTo>
                  <a:pt x="360" y="46"/>
                </a:lnTo>
                <a:lnTo>
                  <a:pt x="344" y="46"/>
                </a:lnTo>
                <a:lnTo>
                  <a:pt x="327" y="46"/>
                </a:lnTo>
                <a:lnTo>
                  <a:pt x="311" y="45"/>
                </a:lnTo>
                <a:lnTo>
                  <a:pt x="295" y="45"/>
                </a:lnTo>
                <a:lnTo>
                  <a:pt x="278" y="45"/>
                </a:lnTo>
                <a:lnTo>
                  <a:pt x="262" y="44"/>
                </a:lnTo>
                <a:lnTo>
                  <a:pt x="246" y="44"/>
                </a:lnTo>
                <a:lnTo>
                  <a:pt x="229" y="44"/>
                </a:lnTo>
                <a:lnTo>
                  <a:pt x="213" y="43"/>
                </a:lnTo>
                <a:lnTo>
                  <a:pt x="196" y="43"/>
                </a:lnTo>
                <a:lnTo>
                  <a:pt x="180" y="43"/>
                </a:lnTo>
                <a:lnTo>
                  <a:pt x="164" y="42"/>
                </a:lnTo>
                <a:lnTo>
                  <a:pt x="147" y="42"/>
                </a:lnTo>
                <a:lnTo>
                  <a:pt x="131" y="42"/>
                </a:lnTo>
                <a:lnTo>
                  <a:pt x="114" y="41"/>
                </a:lnTo>
                <a:lnTo>
                  <a:pt x="98" y="41"/>
                </a:lnTo>
                <a:lnTo>
                  <a:pt x="82" y="41"/>
                </a:lnTo>
                <a:lnTo>
                  <a:pt x="65" y="40"/>
                </a:lnTo>
                <a:lnTo>
                  <a:pt x="49" y="40"/>
                </a:lnTo>
                <a:lnTo>
                  <a:pt x="33" y="40"/>
                </a:lnTo>
                <a:lnTo>
                  <a:pt x="16" y="40"/>
                </a:lnTo>
                <a:lnTo>
                  <a:pt x="0" y="40"/>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714875"/>
            <a:ext cx="3743325" cy="495300"/>
          </a:xfrm>
          <a:custGeom>
            <a:avLst/>
            <a:gdLst/>
            <a:ahLst/>
            <a:cxnLst/>
            <a:rect l="l" t="t" r="r" b="b"/>
            <a:pathLst>
              <a:path w="393" h="52">
                <a:moveTo>
                  <a:pt x="0" y="0"/>
                </a:moveTo>
                <a:lnTo>
                  <a:pt x="16" y="0"/>
                </a:lnTo>
                <a:lnTo>
                  <a:pt x="33" y="0"/>
                </a:lnTo>
                <a:lnTo>
                  <a:pt x="49" y="1"/>
                </a:lnTo>
                <a:lnTo>
                  <a:pt x="65" y="1"/>
                </a:lnTo>
                <a:lnTo>
                  <a:pt x="82" y="1"/>
                </a:lnTo>
                <a:lnTo>
                  <a:pt x="98" y="2"/>
                </a:lnTo>
                <a:lnTo>
                  <a:pt x="114" y="2"/>
                </a:lnTo>
                <a:lnTo>
                  <a:pt x="131" y="3"/>
                </a:lnTo>
                <a:lnTo>
                  <a:pt x="147" y="4"/>
                </a:lnTo>
                <a:lnTo>
                  <a:pt x="164" y="5"/>
                </a:lnTo>
                <a:lnTo>
                  <a:pt x="180" y="5"/>
                </a:lnTo>
                <a:lnTo>
                  <a:pt x="196" y="6"/>
                </a:lnTo>
                <a:lnTo>
                  <a:pt x="213" y="7"/>
                </a:lnTo>
                <a:lnTo>
                  <a:pt x="229" y="7"/>
                </a:lnTo>
                <a:lnTo>
                  <a:pt x="246" y="8"/>
                </a:lnTo>
                <a:lnTo>
                  <a:pt x="262" y="9"/>
                </a:lnTo>
                <a:lnTo>
                  <a:pt x="278" y="10"/>
                </a:lnTo>
                <a:lnTo>
                  <a:pt x="295" y="10"/>
                </a:lnTo>
                <a:lnTo>
                  <a:pt x="311" y="11"/>
                </a:lnTo>
                <a:lnTo>
                  <a:pt x="327" y="11"/>
                </a:lnTo>
                <a:lnTo>
                  <a:pt x="344" y="11"/>
                </a:lnTo>
                <a:lnTo>
                  <a:pt x="360" y="12"/>
                </a:lnTo>
                <a:lnTo>
                  <a:pt x="377" y="12"/>
                </a:lnTo>
                <a:lnTo>
                  <a:pt x="393" y="12"/>
                </a:lnTo>
                <a:lnTo>
                  <a:pt x="393" y="52"/>
                </a:lnTo>
                <a:lnTo>
                  <a:pt x="377" y="52"/>
                </a:lnTo>
                <a:lnTo>
                  <a:pt x="360" y="52"/>
                </a:lnTo>
                <a:lnTo>
                  <a:pt x="344" y="52"/>
                </a:lnTo>
                <a:lnTo>
                  <a:pt x="327" y="51"/>
                </a:lnTo>
                <a:lnTo>
                  <a:pt x="311" y="51"/>
                </a:lnTo>
                <a:lnTo>
                  <a:pt x="295" y="50"/>
                </a:lnTo>
                <a:lnTo>
                  <a:pt x="278" y="50"/>
                </a:lnTo>
                <a:lnTo>
                  <a:pt x="262" y="49"/>
                </a:lnTo>
                <a:lnTo>
                  <a:pt x="246" y="48"/>
                </a:lnTo>
                <a:lnTo>
                  <a:pt x="229" y="48"/>
                </a:lnTo>
                <a:lnTo>
                  <a:pt x="213" y="47"/>
                </a:lnTo>
                <a:lnTo>
                  <a:pt x="196" y="46"/>
                </a:lnTo>
                <a:lnTo>
                  <a:pt x="180" y="46"/>
                </a:lnTo>
                <a:lnTo>
                  <a:pt x="164" y="45"/>
                </a:lnTo>
                <a:lnTo>
                  <a:pt x="147" y="44"/>
                </a:lnTo>
                <a:lnTo>
                  <a:pt x="131" y="43"/>
                </a:lnTo>
                <a:lnTo>
                  <a:pt x="114" y="43"/>
                </a:lnTo>
                <a:lnTo>
                  <a:pt x="98" y="42"/>
                </a:lnTo>
                <a:lnTo>
                  <a:pt x="82" y="42"/>
                </a:lnTo>
                <a:lnTo>
                  <a:pt x="65" y="41"/>
                </a:lnTo>
                <a:lnTo>
                  <a:pt x="49" y="41"/>
                </a:lnTo>
                <a:lnTo>
                  <a:pt x="33" y="40"/>
                </a:lnTo>
                <a:lnTo>
                  <a:pt x="16" y="40"/>
                </a:lnTo>
                <a:lnTo>
                  <a:pt x="0" y="40"/>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5153025"/>
            <a:ext cx="3743325" cy="504825"/>
          </a:xfrm>
          <a:custGeom>
            <a:avLst/>
            <a:gdLst/>
            <a:ahLst/>
            <a:cxnLst/>
            <a:rect l="l" t="t" r="r" b="b"/>
            <a:pathLst>
              <a:path w="393" h="53">
                <a:moveTo>
                  <a:pt x="0" y="0"/>
                </a:moveTo>
                <a:lnTo>
                  <a:pt x="16" y="0"/>
                </a:lnTo>
                <a:lnTo>
                  <a:pt x="33" y="0"/>
                </a:lnTo>
                <a:lnTo>
                  <a:pt x="49" y="1"/>
                </a:lnTo>
                <a:lnTo>
                  <a:pt x="65" y="1"/>
                </a:lnTo>
                <a:lnTo>
                  <a:pt x="82" y="2"/>
                </a:lnTo>
                <a:lnTo>
                  <a:pt x="98" y="2"/>
                </a:lnTo>
                <a:lnTo>
                  <a:pt x="114" y="3"/>
                </a:lnTo>
                <a:lnTo>
                  <a:pt x="131" y="3"/>
                </a:lnTo>
                <a:lnTo>
                  <a:pt x="147" y="4"/>
                </a:lnTo>
                <a:lnTo>
                  <a:pt x="164" y="5"/>
                </a:lnTo>
                <a:lnTo>
                  <a:pt x="180" y="6"/>
                </a:lnTo>
                <a:lnTo>
                  <a:pt x="196" y="6"/>
                </a:lnTo>
                <a:lnTo>
                  <a:pt x="213" y="7"/>
                </a:lnTo>
                <a:lnTo>
                  <a:pt x="229" y="8"/>
                </a:lnTo>
                <a:lnTo>
                  <a:pt x="246" y="8"/>
                </a:lnTo>
                <a:lnTo>
                  <a:pt x="262" y="9"/>
                </a:lnTo>
                <a:lnTo>
                  <a:pt x="278" y="10"/>
                </a:lnTo>
                <a:lnTo>
                  <a:pt x="295" y="10"/>
                </a:lnTo>
                <a:lnTo>
                  <a:pt x="311" y="11"/>
                </a:lnTo>
                <a:lnTo>
                  <a:pt x="327" y="11"/>
                </a:lnTo>
                <a:lnTo>
                  <a:pt x="344" y="12"/>
                </a:lnTo>
                <a:lnTo>
                  <a:pt x="360" y="12"/>
                </a:lnTo>
                <a:lnTo>
                  <a:pt x="377" y="12"/>
                </a:lnTo>
                <a:lnTo>
                  <a:pt x="393" y="12"/>
                </a:lnTo>
                <a:lnTo>
                  <a:pt x="393" y="53"/>
                </a:lnTo>
                <a:lnTo>
                  <a:pt x="377" y="52"/>
                </a:lnTo>
                <a:lnTo>
                  <a:pt x="360" y="52"/>
                </a:lnTo>
                <a:lnTo>
                  <a:pt x="344" y="52"/>
                </a:lnTo>
                <a:lnTo>
                  <a:pt x="327" y="52"/>
                </a:lnTo>
                <a:lnTo>
                  <a:pt x="311" y="51"/>
                </a:lnTo>
                <a:lnTo>
                  <a:pt x="295" y="51"/>
                </a:lnTo>
                <a:lnTo>
                  <a:pt x="278" y="50"/>
                </a:lnTo>
                <a:lnTo>
                  <a:pt x="262" y="49"/>
                </a:lnTo>
                <a:lnTo>
                  <a:pt x="246" y="49"/>
                </a:lnTo>
                <a:lnTo>
                  <a:pt x="229" y="48"/>
                </a:lnTo>
                <a:lnTo>
                  <a:pt x="213" y="47"/>
                </a:lnTo>
                <a:lnTo>
                  <a:pt x="196" y="47"/>
                </a:lnTo>
                <a:lnTo>
                  <a:pt x="180" y="46"/>
                </a:lnTo>
                <a:lnTo>
                  <a:pt x="164" y="45"/>
                </a:lnTo>
                <a:lnTo>
                  <a:pt x="147" y="44"/>
                </a:lnTo>
                <a:lnTo>
                  <a:pt x="131" y="44"/>
                </a:lnTo>
                <a:lnTo>
                  <a:pt x="114" y="43"/>
                </a:lnTo>
                <a:lnTo>
                  <a:pt x="98" y="42"/>
                </a:lnTo>
                <a:lnTo>
                  <a:pt x="82" y="42"/>
                </a:lnTo>
                <a:lnTo>
                  <a:pt x="65" y="41"/>
                </a:lnTo>
                <a:lnTo>
                  <a:pt x="49" y="41"/>
                </a:lnTo>
                <a:lnTo>
                  <a:pt x="33" y="41"/>
                </a:lnTo>
                <a:lnTo>
                  <a:pt x="16" y="41"/>
                </a:lnTo>
                <a:lnTo>
                  <a:pt x="0" y="41"/>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5543550"/>
            <a:ext cx="3743325" cy="552450"/>
          </a:xfrm>
          <a:custGeom>
            <a:avLst/>
            <a:gdLst/>
            <a:ahLst/>
            <a:cxnLst/>
            <a:rect l="l" t="t" r="r" b="b"/>
            <a:pathLst>
              <a:path w="393" h="58">
                <a:moveTo>
                  <a:pt x="0" y="0"/>
                </a:moveTo>
                <a:lnTo>
                  <a:pt x="16" y="0"/>
                </a:lnTo>
                <a:lnTo>
                  <a:pt x="33" y="0"/>
                </a:lnTo>
                <a:lnTo>
                  <a:pt x="49" y="0"/>
                </a:lnTo>
                <a:lnTo>
                  <a:pt x="65" y="1"/>
                </a:lnTo>
                <a:lnTo>
                  <a:pt x="82" y="2"/>
                </a:lnTo>
                <a:lnTo>
                  <a:pt x="98" y="2"/>
                </a:lnTo>
                <a:lnTo>
                  <a:pt x="114" y="3"/>
                </a:lnTo>
                <a:lnTo>
                  <a:pt x="131" y="4"/>
                </a:lnTo>
                <a:lnTo>
                  <a:pt x="147" y="5"/>
                </a:lnTo>
                <a:lnTo>
                  <a:pt x="164" y="6"/>
                </a:lnTo>
                <a:lnTo>
                  <a:pt x="180" y="7"/>
                </a:lnTo>
                <a:lnTo>
                  <a:pt x="196" y="9"/>
                </a:lnTo>
                <a:lnTo>
                  <a:pt x="213" y="10"/>
                </a:lnTo>
                <a:lnTo>
                  <a:pt x="229" y="11"/>
                </a:lnTo>
                <a:lnTo>
                  <a:pt x="246" y="12"/>
                </a:lnTo>
                <a:lnTo>
                  <a:pt x="262" y="13"/>
                </a:lnTo>
                <a:lnTo>
                  <a:pt x="278" y="14"/>
                </a:lnTo>
                <a:lnTo>
                  <a:pt x="295" y="15"/>
                </a:lnTo>
                <a:lnTo>
                  <a:pt x="311" y="15"/>
                </a:lnTo>
                <a:lnTo>
                  <a:pt x="327" y="16"/>
                </a:lnTo>
                <a:lnTo>
                  <a:pt x="344" y="17"/>
                </a:lnTo>
                <a:lnTo>
                  <a:pt x="360" y="17"/>
                </a:lnTo>
                <a:lnTo>
                  <a:pt x="377" y="17"/>
                </a:lnTo>
                <a:lnTo>
                  <a:pt x="393" y="18"/>
                </a:lnTo>
                <a:lnTo>
                  <a:pt x="393" y="58"/>
                </a:lnTo>
                <a:lnTo>
                  <a:pt x="377" y="58"/>
                </a:lnTo>
                <a:lnTo>
                  <a:pt x="360" y="57"/>
                </a:lnTo>
                <a:lnTo>
                  <a:pt x="344" y="57"/>
                </a:lnTo>
                <a:lnTo>
                  <a:pt x="327" y="56"/>
                </a:lnTo>
                <a:lnTo>
                  <a:pt x="311" y="56"/>
                </a:lnTo>
                <a:lnTo>
                  <a:pt x="295" y="55"/>
                </a:lnTo>
                <a:lnTo>
                  <a:pt x="278" y="54"/>
                </a:lnTo>
                <a:lnTo>
                  <a:pt x="262" y="53"/>
                </a:lnTo>
                <a:lnTo>
                  <a:pt x="246" y="52"/>
                </a:lnTo>
                <a:lnTo>
                  <a:pt x="229" y="51"/>
                </a:lnTo>
                <a:lnTo>
                  <a:pt x="213" y="50"/>
                </a:lnTo>
                <a:lnTo>
                  <a:pt x="196" y="49"/>
                </a:lnTo>
                <a:lnTo>
                  <a:pt x="180" y="48"/>
                </a:lnTo>
                <a:lnTo>
                  <a:pt x="164" y="47"/>
                </a:lnTo>
                <a:lnTo>
                  <a:pt x="147" y="45"/>
                </a:lnTo>
                <a:lnTo>
                  <a:pt x="131" y="44"/>
                </a:lnTo>
                <a:lnTo>
                  <a:pt x="114" y="43"/>
                </a:lnTo>
                <a:lnTo>
                  <a:pt x="98" y="43"/>
                </a:lnTo>
                <a:lnTo>
                  <a:pt x="82" y="42"/>
                </a:lnTo>
                <a:lnTo>
                  <a:pt x="65" y="41"/>
                </a:lnTo>
                <a:lnTo>
                  <a:pt x="49" y="41"/>
                </a:lnTo>
                <a:lnTo>
                  <a:pt x="33" y="40"/>
                </a:lnTo>
                <a:lnTo>
                  <a:pt x="16" y="40"/>
                </a:lnTo>
                <a:lnTo>
                  <a:pt x="0" y="40"/>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5981700"/>
            <a:ext cx="3743325" cy="552450"/>
          </a:xfrm>
          <a:custGeom>
            <a:avLst/>
            <a:gdLst/>
            <a:ahLst/>
            <a:cxnLst/>
            <a:rect l="l" t="t" r="r" b="b"/>
            <a:pathLst>
              <a:path w="393" h="58">
                <a:moveTo>
                  <a:pt x="0" y="0"/>
                </a:moveTo>
                <a:lnTo>
                  <a:pt x="16" y="0"/>
                </a:lnTo>
                <a:lnTo>
                  <a:pt x="33" y="0"/>
                </a:lnTo>
                <a:lnTo>
                  <a:pt x="49" y="1"/>
                </a:lnTo>
                <a:lnTo>
                  <a:pt x="65" y="1"/>
                </a:lnTo>
                <a:lnTo>
                  <a:pt x="82" y="2"/>
                </a:lnTo>
                <a:lnTo>
                  <a:pt x="98" y="3"/>
                </a:lnTo>
                <a:lnTo>
                  <a:pt x="114" y="3"/>
                </a:lnTo>
                <a:lnTo>
                  <a:pt x="131" y="4"/>
                </a:lnTo>
                <a:lnTo>
                  <a:pt x="147" y="5"/>
                </a:lnTo>
                <a:lnTo>
                  <a:pt x="164" y="7"/>
                </a:lnTo>
                <a:lnTo>
                  <a:pt x="180" y="8"/>
                </a:lnTo>
                <a:lnTo>
                  <a:pt x="196" y="9"/>
                </a:lnTo>
                <a:lnTo>
                  <a:pt x="213" y="10"/>
                </a:lnTo>
                <a:lnTo>
                  <a:pt x="229" y="11"/>
                </a:lnTo>
                <a:lnTo>
                  <a:pt x="246" y="12"/>
                </a:lnTo>
                <a:lnTo>
                  <a:pt x="262" y="13"/>
                </a:lnTo>
                <a:lnTo>
                  <a:pt x="278" y="14"/>
                </a:lnTo>
                <a:lnTo>
                  <a:pt x="295" y="15"/>
                </a:lnTo>
                <a:lnTo>
                  <a:pt x="311" y="16"/>
                </a:lnTo>
                <a:lnTo>
                  <a:pt x="327" y="16"/>
                </a:lnTo>
                <a:lnTo>
                  <a:pt x="344" y="17"/>
                </a:lnTo>
                <a:lnTo>
                  <a:pt x="360" y="17"/>
                </a:lnTo>
                <a:lnTo>
                  <a:pt x="377" y="18"/>
                </a:lnTo>
                <a:lnTo>
                  <a:pt x="393" y="18"/>
                </a:lnTo>
                <a:lnTo>
                  <a:pt x="393" y="58"/>
                </a:lnTo>
                <a:lnTo>
                  <a:pt x="377" y="58"/>
                </a:lnTo>
                <a:lnTo>
                  <a:pt x="360" y="58"/>
                </a:lnTo>
                <a:lnTo>
                  <a:pt x="344" y="57"/>
                </a:lnTo>
                <a:lnTo>
                  <a:pt x="327" y="57"/>
                </a:lnTo>
                <a:lnTo>
                  <a:pt x="311" y="56"/>
                </a:lnTo>
                <a:lnTo>
                  <a:pt x="295" y="55"/>
                </a:lnTo>
                <a:lnTo>
                  <a:pt x="278" y="54"/>
                </a:lnTo>
                <a:lnTo>
                  <a:pt x="262" y="53"/>
                </a:lnTo>
                <a:lnTo>
                  <a:pt x="246" y="52"/>
                </a:lnTo>
                <a:lnTo>
                  <a:pt x="229" y="51"/>
                </a:lnTo>
                <a:lnTo>
                  <a:pt x="213" y="50"/>
                </a:lnTo>
                <a:lnTo>
                  <a:pt x="196" y="49"/>
                </a:lnTo>
                <a:lnTo>
                  <a:pt x="180" y="48"/>
                </a:lnTo>
                <a:lnTo>
                  <a:pt x="164" y="47"/>
                </a:lnTo>
                <a:lnTo>
                  <a:pt x="147" y="46"/>
                </a:lnTo>
                <a:lnTo>
                  <a:pt x="131" y="45"/>
                </a:lnTo>
                <a:lnTo>
                  <a:pt x="114" y="44"/>
                </a:lnTo>
                <a:lnTo>
                  <a:pt x="98" y="43"/>
                </a:lnTo>
                <a:lnTo>
                  <a:pt x="82" y="42"/>
                </a:lnTo>
                <a:lnTo>
                  <a:pt x="65" y="41"/>
                </a:lnTo>
                <a:lnTo>
                  <a:pt x="49" y="41"/>
                </a:lnTo>
                <a:lnTo>
                  <a:pt x="33" y="40"/>
                </a:lnTo>
                <a:lnTo>
                  <a:pt x="16" y="40"/>
                </a:lnTo>
                <a:lnTo>
                  <a:pt x="0" y="40"/>
                </a:lnTo>
                <a:close/>
              </a:path>
            </a:pathLst>
          </a:custGeom>
          <a:solidFill>
            <a:srgbClr val="79C3E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1195" y="1476375"/>
            <a:ext cx="114300" cy="1150143"/>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941195" y="2683668"/>
            <a:ext cx="114300" cy="766763"/>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41195" y="3507582"/>
            <a:ext cx="114300" cy="766762"/>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41195" y="4331494"/>
            <a:ext cx="114300" cy="766762"/>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41195" y="5155407"/>
            <a:ext cx="114300" cy="766762"/>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41195" y="5979319"/>
            <a:ext cx="114300" cy="383381"/>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00725" y="1304925"/>
            <a:ext cx="114300" cy="38338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0725" y="1745457"/>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00725" y="2185988"/>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00725" y="2626520"/>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00725" y="3067051"/>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00725" y="3507582"/>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0725" y="3948113"/>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0725" y="4388644"/>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0725" y="4829175"/>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00725" y="5269707"/>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5710238"/>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6150769"/>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7175" y="198000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257175" y="299561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3819526"/>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257175" y="464343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257175" y="54673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TextBox 43"/>
          <p:cNvSpPr txBox="1"/>
          <p:nvPr/>
        </p:nvSpPr>
        <p:spPr>
          <a:xfrm>
            <a:off x="257175" y="609957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5" name="TextBox 44"/>
          <p:cNvSpPr txBox="1"/>
          <p:nvPr/>
        </p:nvSpPr>
        <p:spPr>
          <a:xfrm>
            <a:off x="5972175" y="142517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5972175" y="186571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5972175" y="225385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5972175" y="269438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5972175" y="3134916"/>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5972175" y="3575447"/>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5972175" y="401597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445651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489704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5337572"/>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5778103"/>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TextBox 55"/>
          <p:cNvSpPr txBox="1"/>
          <p:nvPr/>
        </p:nvSpPr>
        <p:spPr>
          <a:xfrm>
            <a:off x="5972175" y="621863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7" name="Rounded Rectangle 56"/>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59" name="Rectangle 58"/>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1" name="Rectangle 6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3" name="TextBox 62"/>
          <p:cNvSpPr txBox="1"/>
          <p:nvPr/>
        </p:nvSpPr>
        <p:spPr>
          <a:xfrm>
            <a:off x="617281" y="1991096"/>
            <a:ext cx="1213012" cy="139750"/>
          </a:xfrm>
          <a:prstGeom prst="rect">
            <a:avLst/>
          </a:prstGeom>
          <a:noFill/>
        </p:spPr>
        <p:txBody>
          <a:bodyPr wrap="none" lIns="0" rIns="0" tIns="0" bIns="0">
            <a:spAutoFit/>
          </a:bodyPr>
          <a:lstStyle/>
          <a:p>
            <a:r>
              <a:rPr sz="791" b="1">
                <a:solidFill>
                  <a:srgbClr val="2E2E2E"/>
                </a:solidFill>
                <a:latin typeface="Calibri"/>
              </a:rPr>
              <a:t>Fabricated Foam Packaging</a:t>
            </a:r>
          </a:p>
        </p:txBody>
      </p:sp>
      <p:pic>
        <p:nvPicPr>
          <p:cNvPr id="64" name="Picture 63" descr="lock.png"/>
          <p:cNvPicPr>
            <a:picLocks noChangeAspect="1"/>
          </p:cNvPicPr>
          <p:nvPr/>
        </p:nvPicPr>
        <p:blipFill>
          <a:blip r:embed="rId4"/>
          <a:stretch>
            <a:fillRect/>
          </a:stretch>
        </p:blipFill>
        <p:spPr>
          <a:xfrm>
            <a:off x="1771555" y="1984055"/>
            <a:ext cx="92663" cy="134782"/>
          </a:xfrm>
          <a:prstGeom prst="rect">
            <a:avLst/>
          </a:prstGeom>
        </p:spPr>
      </p:pic>
      <p:sp>
        <p:nvSpPr>
          <p:cNvPr id="65" name="TextBox 64"/>
          <p:cNvSpPr txBox="1"/>
          <p:nvPr/>
        </p:nvSpPr>
        <p:spPr>
          <a:xfrm>
            <a:off x="585609" y="3006700"/>
            <a:ext cx="1244684" cy="139750"/>
          </a:xfrm>
          <a:prstGeom prst="rect">
            <a:avLst/>
          </a:prstGeom>
          <a:noFill/>
        </p:spPr>
        <p:txBody>
          <a:bodyPr wrap="none" lIns="0" rIns="0" tIns="0" bIns="0">
            <a:spAutoFit/>
          </a:bodyPr>
          <a:lstStyle/>
          <a:p>
            <a:r>
              <a:rPr sz="791" b="1">
                <a:solidFill>
                  <a:srgbClr val="2E2E2E"/>
                </a:solidFill>
                <a:latin typeface="Calibri"/>
              </a:rPr>
              <a:t>Foam Sheets, Rolls &amp; Planks</a:t>
            </a:r>
          </a:p>
        </p:txBody>
      </p:sp>
      <p:pic>
        <p:nvPicPr>
          <p:cNvPr id="66" name="Picture 65" descr="lock.png"/>
          <p:cNvPicPr>
            <a:picLocks noChangeAspect="1"/>
          </p:cNvPicPr>
          <p:nvPr/>
        </p:nvPicPr>
        <p:blipFill>
          <a:blip r:embed="rId4"/>
          <a:stretch>
            <a:fillRect/>
          </a:stretch>
        </p:blipFill>
        <p:spPr>
          <a:xfrm>
            <a:off x="1771555" y="2999659"/>
            <a:ext cx="92663" cy="134782"/>
          </a:xfrm>
          <a:prstGeom prst="rect">
            <a:avLst/>
          </a:prstGeom>
        </p:spPr>
      </p:pic>
      <p:sp>
        <p:nvSpPr>
          <p:cNvPr id="67" name="TextBox 66"/>
          <p:cNvSpPr txBox="1"/>
          <p:nvPr/>
        </p:nvSpPr>
        <p:spPr>
          <a:xfrm>
            <a:off x="733538" y="3830613"/>
            <a:ext cx="1096755" cy="139750"/>
          </a:xfrm>
          <a:prstGeom prst="rect">
            <a:avLst/>
          </a:prstGeom>
          <a:noFill/>
        </p:spPr>
        <p:txBody>
          <a:bodyPr wrap="none" lIns="0" rIns="0" tIns="0" bIns="0">
            <a:spAutoFit/>
          </a:bodyPr>
          <a:lstStyle/>
          <a:p>
            <a:r>
              <a:rPr sz="791" b="1">
                <a:solidFill>
                  <a:srgbClr val="2E2E2E"/>
                </a:solidFill>
                <a:latin typeface="Calibri"/>
              </a:rPr>
              <a:t>Molded Foam Packaging</a:t>
            </a:r>
          </a:p>
        </p:txBody>
      </p:sp>
      <p:pic>
        <p:nvPicPr>
          <p:cNvPr id="68" name="Picture 67" descr="lock.png"/>
          <p:cNvPicPr>
            <a:picLocks noChangeAspect="1"/>
          </p:cNvPicPr>
          <p:nvPr/>
        </p:nvPicPr>
        <p:blipFill>
          <a:blip r:embed="rId4"/>
          <a:stretch>
            <a:fillRect/>
          </a:stretch>
        </p:blipFill>
        <p:spPr>
          <a:xfrm>
            <a:off x="1771555" y="3823572"/>
            <a:ext cx="92663" cy="134782"/>
          </a:xfrm>
          <a:prstGeom prst="rect">
            <a:avLst/>
          </a:prstGeom>
        </p:spPr>
      </p:pic>
      <p:sp>
        <p:nvSpPr>
          <p:cNvPr id="69" name="TextBox 68"/>
          <p:cNvSpPr txBox="1"/>
          <p:nvPr/>
        </p:nvSpPr>
        <p:spPr>
          <a:xfrm>
            <a:off x="720573" y="4654525"/>
            <a:ext cx="1109721" cy="139750"/>
          </a:xfrm>
          <a:prstGeom prst="rect">
            <a:avLst/>
          </a:prstGeom>
          <a:noFill/>
        </p:spPr>
        <p:txBody>
          <a:bodyPr wrap="none" lIns="0" rIns="0" tIns="0" bIns="0">
            <a:spAutoFit/>
          </a:bodyPr>
          <a:lstStyle/>
          <a:p>
            <a:r>
              <a:rPr sz="791" b="1">
                <a:solidFill>
                  <a:srgbClr val="2E2E2E"/>
                </a:solidFill>
                <a:latin typeface="Calibri"/>
              </a:rPr>
              <a:t>Foam-in-Place Packaging</a:t>
            </a:r>
          </a:p>
        </p:txBody>
      </p:sp>
      <p:pic>
        <p:nvPicPr>
          <p:cNvPr id="70" name="Picture 69" descr="lock.png"/>
          <p:cNvPicPr>
            <a:picLocks noChangeAspect="1"/>
          </p:cNvPicPr>
          <p:nvPr/>
        </p:nvPicPr>
        <p:blipFill>
          <a:blip r:embed="rId4"/>
          <a:stretch>
            <a:fillRect/>
          </a:stretch>
        </p:blipFill>
        <p:spPr>
          <a:xfrm>
            <a:off x="1771555" y="4647484"/>
            <a:ext cx="92663" cy="134782"/>
          </a:xfrm>
          <a:prstGeom prst="rect">
            <a:avLst/>
          </a:prstGeom>
        </p:spPr>
      </p:pic>
      <p:sp>
        <p:nvSpPr>
          <p:cNvPr id="71" name="TextBox 70"/>
          <p:cNvSpPr txBox="1"/>
          <p:nvPr/>
        </p:nvSpPr>
        <p:spPr>
          <a:xfrm>
            <a:off x="479917" y="5478437"/>
            <a:ext cx="1350376" cy="139750"/>
          </a:xfrm>
          <a:prstGeom prst="rect">
            <a:avLst/>
          </a:prstGeom>
          <a:noFill/>
        </p:spPr>
        <p:txBody>
          <a:bodyPr wrap="none" lIns="0" rIns="0" tIns="0" bIns="0">
            <a:spAutoFit/>
          </a:bodyPr>
          <a:lstStyle/>
          <a:p>
            <a:r>
              <a:rPr sz="791" b="1">
                <a:solidFill>
                  <a:srgbClr val="2E2E2E"/>
                </a:solidFill>
                <a:latin typeface="Calibri"/>
              </a:rPr>
              <a:t>Foam Pouches, Bags &amp; Sleeves</a:t>
            </a:r>
          </a:p>
        </p:txBody>
      </p:sp>
      <p:pic>
        <p:nvPicPr>
          <p:cNvPr id="72" name="Picture 71" descr="lock.png"/>
          <p:cNvPicPr>
            <a:picLocks noChangeAspect="1"/>
          </p:cNvPicPr>
          <p:nvPr/>
        </p:nvPicPr>
        <p:blipFill>
          <a:blip r:embed="rId4"/>
          <a:stretch>
            <a:fillRect/>
          </a:stretch>
        </p:blipFill>
        <p:spPr>
          <a:xfrm>
            <a:off x="1771555" y="5471396"/>
            <a:ext cx="92663" cy="134782"/>
          </a:xfrm>
          <a:prstGeom prst="rect">
            <a:avLst/>
          </a:prstGeom>
        </p:spPr>
      </p:pic>
      <p:sp>
        <p:nvSpPr>
          <p:cNvPr id="73" name="TextBox 72"/>
          <p:cNvSpPr txBox="1"/>
          <p:nvPr/>
        </p:nvSpPr>
        <p:spPr>
          <a:xfrm>
            <a:off x="666352" y="6110659"/>
            <a:ext cx="1163942" cy="139750"/>
          </a:xfrm>
          <a:prstGeom prst="rect">
            <a:avLst/>
          </a:prstGeom>
          <a:noFill/>
        </p:spPr>
        <p:txBody>
          <a:bodyPr wrap="none" lIns="0" rIns="0" tIns="0" bIns="0">
            <a:spAutoFit/>
          </a:bodyPr>
          <a:lstStyle/>
          <a:p>
            <a:r>
              <a:rPr sz="791" b="1">
                <a:solidFill>
                  <a:srgbClr val="2E2E2E"/>
                </a:solidFill>
                <a:latin typeface="Calibri"/>
              </a:rPr>
              <a:t>Foam Loose-Fill Packaging</a:t>
            </a:r>
          </a:p>
        </p:txBody>
      </p:sp>
      <p:pic>
        <p:nvPicPr>
          <p:cNvPr id="74" name="Picture 73" descr="lock.png"/>
          <p:cNvPicPr>
            <a:picLocks noChangeAspect="1"/>
          </p:cNvPicPr>
          <p:nvPr/>
        </p:nvPicPr>
        <p:blipFill>
          <a:blip r:embed="rId4"/>
          <a:stretch>
            <a:fillRect/>
          </a:stretch>
        </p:blipFill>
        <p:spPr>
          <a:xfrm>
            <a:off x="1771555" y="6103618"/>
            <a:ext cx="92663" cy="134782"/>
          </a:xfrm>
          <a:prstGeom prst="rect">
            <a:avLst/>
          </a:prstGeom>
        </p:spPr>
      </p:pic>
      <p:sp>
        <p:nvSpPr>
          <p:cNvPr id="75" name="TextBox 74"/>
          <p:cNvSpPr txBox="1"/>
          <p:nvPr/>
        </p:nvSpPr>
        <p:spPr>
          <a:xfrm>
            <a:off x="5972175" y="1436266"/>
            <a:ext cx="925448" cy="139750"/>
          </a:xfrm>
          <a:prstGeom prst="rect">
            <a:avLst/>
          </a:prstGeom>
          <a:noFill/>
        </p:spPr>
        <p:txBody>
          <a:bodyPr wrap="none" lIns="0" rIns="0" tIns="0" bIns="0">
            <a:spAutoFit/>
          </a:bodyPr>
          <a:lstStyle/>
          <a:p>
            <a:r>
              <a:rPr sz="791" b="1">
                <a:solidFill>
                  <a:srgbClr val="2E2E2E"/>
                </a:solidFill>
                <a:latin typeface="Calibri"/>
              </a:rPr>
              <a:t>Foam Sheets &amp; Rolls</a:t>
            </a:r>
          </a:p>
        </p:txBody>
      </p:sp>
      <p:pic>
        <p:nvPicPr>
          <p:cNvPr id="76" name="Picture 75" descr="lock.png"/>
          <p:cNvPicPr>
            <a:picLocks noChangeAspect="1"/>
          </p:cNvPicPr>
          <p:nvPr/>
        </p:nvPicPr>
        <p:blipFill>
          <a:blip r:embed="rId4"/>
          <a:stretch>
            <a:fillRect/>
          </a:stretch>
        </p:blipFill>
        <p:spPr>
          <a:xfrm>
            <a:off x="6838884" y="1429225"/>
            <a:ext cx="92663" cy="134782"/>
          </a:xfrm>
          <a:prstGeom prst="rect">
            <a:avLst/>
          </a:prstGeom>
        </p:spPr>
      </p:pic>
      <p:sp>
        <p:nvSpPr>
          <p:cNvPr id="77" name="TextBox 76"/>
          <p:cNvSpPr txBox="1"/>
          <p:nvPr/>
        </p:nvSpPr>
        <p:spPr>
          <a:xfrm>
            <a:off x="5972175" y="1876797"/>
            <a:ext cx="983402" cy="139750"/>
          </a:xfrm>
          <a:prstGeom prst="rect">
            <a:avLst/>
          </a:prstGeom>
          <a:noFill/>
        </p:spPr>
        <p:txBody>
          <a:bodyPr wrap="none" lIns="0" rIns="0" tIns="0" bIns="0">
            <a:spAutoFit/>
          </a:bodyPr>
          <a:lstStyle/>
          <a:p>
            <a:r>
              <a:rPr sz="791" b="1">
                <a:solidFill>
                  <a:srgbClr val="2E2E2E"/>
                </a:solidFill>
                <a:latin typeface="Calibri"/>
              </a:rPr>
              <a:t>Foam Planks &amp; Blocks</a:t>
            </a:r>
          </a:p>
        </p:txBody>
      </p:sp>
      <p:pic>
        <p:nvPicPr>
          <p:cNvPr id="78" name="Picture 77" descr="lock.png"/>
          <p:cNvPicPr>
            <a:picLocks noChangeAspect="1"/>
          </p:cNvPicPr>
          <p:nvPr/>
        </p:nvPicPr>
        <p:blipFill>
          <a:blip r:embed="rId4"/>
          <a:stretch>
            <a:fillRect/>
          </a:stretch>
        </p:blipFill>
        <p:spPr>
          <a:xfrm>
            <a:off x="6896838" y="1869756"/>
            <a:ext cx="92663" cy="134782"/>
          </a:xfrm>
          <a:prstGeom prst="rect">
            <a:avLst/>
          </a:prstGeom>
        </p:spPr>
      </p:pic>
      <p:sp>
        <p:nvSpPr>
          <p:cNvPr id="79" name="TextBox 78"/>
          <p:cNvSpPr txBox="1"/>
          <p:nvPr/>
        </p:nvSpPr>
        <p:spPr>
          <a:xfrm>
            <a:off x="5972175" y="2256978"/>
            <a:ext cx="1362075" cy="139750"/>
          </a:xfrm>
          <a:prstGeom prst="rect">
            <a:avLst/>
          </a:prstGeom>
          <a:noFill/>
        </p:spPr>
        <p:txBody>
          <a:bodyPr wrap="none" lIns="0" rIns="0" tIns="0" bIns="0">
            <a:spAutoFit/>
          </a:bodyPr>
          <a:lstStyle/>
          <a:p>
            <a:r>
              <a:rPr sz="791" b="1">
                <a:solidFill>
                  <a:srgbClr val="2E2E2E"/>
                </a:solidFill>
                <a:latin typeface="Calibri"/>
              </a:rPr>
              <a:t>Die-Cut / CNC-Cut Foam Inserts</a:t>
            </a:r>
          </a:p>
        </p:txBody>
      </p:sp>
      <p:sp>
        <p:nvSpPr>
          <p:cNvPr id="80" name="TextBox 79"/>
          <p:cNvSpPr txBox="1"/>
          <p:nvPr/>
        </p:nvSpPr>
        <p:spPr>
          <a:xfrm>
            <a:off x="5972175" y="2377679"/>
            <a:ext cx="367343" cy="139750"/>
          </a:xfrm>
          <a:prstGeom prst="rect">
            <a:avLst/>
          </a:prstGeom>
          <a:noFill/>
        </p:spPr>
        <p:txBody>
          <a:bodyPr wrap="none" lIns="0" rIns="0" tIns="0" bIns="0">
            <a:spAutoFit/>
          </a:bodyPr>
          <a:lstStyle/>
          <a:p>
            <a:r>
              <a:rPr sz="791" b="1">
                <a:solidFill>
                  <a:srgbClr val="2E2E2E"/>
                </a:solidFill>
                <a:latin typeface="Calibri"/>
              </a:rPr>
              <a:t>&amp; Pads</a:t>
            </a:r>
          </a:p>
        </p:txBody>
      </p:sp>
      <p:pic>
        <p:nvPicPr>
          <p:cNvPr id="81" name="Picture 80" descr="lock.png"/>
          <p:cNvPicPr>
            <a:picLocks noChangeAspect="1"/>
          </p:cNvPicPr>
          <p:nvPr/>
        </p:nvPicPr>
        <p:blipFill>
          <a:blip r:embed="rId4"/>
          <a:stretch>
            <a:fillRect/>
          </a:stretch>
        </p:blipFill>
        <p:spPr>
          <a:xfrm>
            <a:off x="6280779" y="2370638"/>
            <a:ext cx="92663" cy="134782"/>
          </a:xfrm>
          <a:prstGeom prst="rect">
            <a:avLst/>
          </a:prstGeom>
        </p:spPr>
      </p:pic>
      <p:sp>
        <p:nvSpPr>
          <p:cNvPr id="82" name="TextBox 81"/>
          <p:cNvSpPr txBox="1"/>
          <p:nvPr/>
        </p:nvSpPr>
        <p:spPr>
          <a:xfrm>
            <a:off x="5972175" y="2697509"/>
            <a:ext cx="1362075" cy="139750"/>
          </a:xfrm>
          <a:prstGeom prst="rect">
            <a:avLst/>
          </a:prstGeom>
          <a:noFill/>
        </p:spPr>
        <p:txBody>
          <a:bodyPr wrap="none" lIns="0" rIns="0" tIns="0" bIns="0">
            <a:spAutoFit/>
          </a:bodyPr>
          <a:lstStyle/>
          <a:p>
            <a:r>
              <a:rPr sz="791" b="1">
                <a:solidFill>
                  <a:srgbClr val="2E2E2E"/>
                </a:solidFill>
                <a:latin typeface="Calibri"/>
              </a:rPr>
              <a:t>Foam Corner &amp; Edge Protectors</a:t>
            </a:r>
          </a:p>
        </p:txBody>
      </p:sp>
      <p:sp>
        <p:nvSpPr>
          <p:cNvPr id="83" name="TextBox 82"/>
          <p:cNvSpPr txBox="1"/>
          <p:nvPr/>
        </p:nvSpPr>
        <p:spPr>
          <a:xfrm>
            <a:off x="5972175" y="2818210"/>
            <a:ext cx="457711" cy="139750"/>
          </a:xfrm>
          <a:prstGeom prst="rect">
            <a:avLst/>
          </a:prstGeom>
          <a:noFill/>
        </p:spPr>
        <p:txBody>
          <a:bodyPr wrap="none" lIns="0" rIns="0" tIns="0" bIns="0">
            <a:spAutoFit/>
          </a:bodyPr>
          <a:lstStyle/>
          <a:p>
            <a:r>
              <a:rPr sz="791" b="1">
                <a:solidFill>
                  <a:srgbClr val="2E2E2E"/>
                </a:solidFill>
                <a:latin typeface="Calibri"/>
              </a:rPr>
              <a:t>/ Profiles</a:t>
            </a:r>
          </a:p>
        </p:txBody>
      </p:sp>
      <p:pic>
        <p:nvPicPr>
          <p:cNvPr id="84" name="Picture 83" descr="lock.png"/>
          <p:cNvPicPr>
            <a:picLocks noChangeAspect="1"/>
          </p:cNvPicPr>
          <p:nvPr/>
        </p:nvPicPr>
        <p:blipFill>
          <a:blip r:embed="rId4"/>
          <a:stretch>
            <a:fillRect/>
          </a:stretch>
        </p:blipFill>
        <p:spPr>
          <a:xfrm>
            <a:off x="6371148" y="2811169"/>
            <a:ext cx="92663" cy="134782"/>
          </a:xfrm>
          <a:prstGeom prst="rect">
            <a:avLst/>
          </a:prstGeom>
        </p:spPr>
      </p:pic>
      <p:sp>
        <p:nvSpPr>
          <p:cNvPr id="85" name="TextBox 84"/>
          <p:cNvSpPr txBox="1"/>
          <p:nvPr/>
        </p:nvSpPr>
        <p:spPr>
          <a:xfrm>
            <a:off x="5972175" y="3138040"/>
            <a:ext cx="1240559" cy="139750"/>
          </a:xfrm>
          <a:prstGeom prst="rect">
            <a:avLst/>
          </a:prstGeom>
          <a:noFill/>
        </p:spPr>
        <p:txBody>
          <a:bodyPr wrap="none" lIns="0" rIns="0" tIns="0" bIns="0">
            <a:spAutoFit/>
          </a:bodyPr>
          <a:lstStyle/>
          <a:p>
            <a:r>
              <a:rPr sz="791" b="1">
                <a:solidFill>
                  <a:srgbClr val="2E2E2E"/>
                </a:solidFill>
                <a:latin typeface="Calibri"/>
              </a:rPr>
              <a:t>Foam Dividers &amp; Separators</a:t>
            </a:r>
          </a:p>
        </p:txBody>
      </p:sp>
      <p:pic>
        <p:nvPicPr>
          <p:cNvPr id="86" name="Picture 85" descr="lock.png"/>
          <p:cNvPicPr>
            <a:picLocks noChangeAspect="1"/>
          </p:cNvPicPr>
          <p:nvPr/>
        </p:nvPicPr>
        <p:blipFill>
          <a:blip r:embed="rId4"/>
          <a:stretch>
            <a:fillRect/>
          </a:stretch>
        </p:blipFill>
        <p:spPr>
          <a:xfrm>
            <a:off x="5962478" y="3251700"/>
            <a:ext cx="92663" cy="134782"/>
          </a:xfrm>
          <a:prstGeom prst="rect">
            <a:avLst/>
          </a:prstGeom>
        </p:spPr>
      </p:pic>
      <p:sp>
        <p:nvSpPr>
          <p:cNvPr id="87" name="TextBox 86"/>
          <p:cNvSpPr txBox="1"/>
          <p:nvPr/>
        </p:nvSpPr>
        <p:spPr>
          <a:xfrm>
            <a:off x="5972175" y="3578571"/>
            <a:ext cx="1226433" cy="139750"/>
          </a:xfrm>
          <a:prstGeom prst="rect">
            <a:avLst/>
          </a:prstGeom>
          <a:noFill/>
        </p:spPr>
        <p:txBody>
          <a:bodyPr wrap="none" lIns="0" rIns="0" tIns="0" bIns="0">
            <a:spAutoFit/>
          </a:bodyPr>
          <a:lstStyle/>
          <a:p>
            <a:r>
              <a:rPr sz="791" b="1">
                <a:solidFill>
                  <a:srgbClr val="2E2E2E"/>
                </a:solidFill>
                <a:latin typeface="Calibri"/>
              </a:rPr>
              <a:t>Molded Inserts, End Caps &amp;</a:t>
            </a:r>
          </a:p>
        </p:txBody>
      </p:sp>
      <p:sp>
        <p:nvSpPr>
          <p:cNvPr id="88" name="TextBox 87"/>
          <p:cNvSpPr txBox="1"/>
          <p:nvPr/>
        </p:nvSpPr>
        <p:spPr>
          <a:xfrm>
            <a:off x="5972175" y="3699272"/>
            <a:ext cx="384434" cy="139750"/>
          </a:xfrm>
          <a:prstGeom prst="rect">
            <a:avLst/>
          </a:prstGeom>
          <a:noFill/>
        </p:spPr>
        <p:txBody>
          <a:bodyPr wrap="none" lIns="0" rIns="0" tIns="0" bIns="0">
            <a:spAutoFit/>
          </a:bodyPr>
          <a:lstStyle/>
          <a:p>
            <a:r>
              <a:rPr sz="791" b="1">
                <a:solidFill>
                  <a:srgbClr val="2E2E2E"/>
                </a:solidFill>
                <a:latin typeface="Calibri"/>
              </a:rPr>
              <a:t>Cradles</a:t>
            </a:r>
          </a:p>
        </p:txBody>
      </p:sp>
      <p:pic>
        <p:nvPicPr>
          <p:cNvPr id="89" name="Picture 88" descr="lock.png"/>
          <p:cNvPicPr>
            <a:picLocks noChangeAspect="1"/>
          </p:cNvPicPr>
          <p:nvPr/>
        </p:nvPicPr>
        <p:blipFill>
          <a:blip r:embed="rId4"/>
          <a:stretch>
            <a:fillRect/>
          </a:stretch>
        </p:blipFill>
        <p:spPr>
          <a:xfrm>
            <a:off x="6297871" y="3692231"/>
            <a:ext cx="92663" cy="134782"/>
          </a:xfrm>
          <a:prstGeom prst="rect">
            <a:avLst/>
          </a:prstGeom>
        </p:spPr>
      </p:pic>
      <p:sp>
        <p:nvSpPr>
          <p:cNvPr id="90" name="TextBox 89"/>
          <p:cNvSpPr txBox="1"/>
          <p:nvPr/>
        </p:nvSpPr>
        <p:spPr>
          <a:xfrm>
            <a:off x="5972175" y="4019103"/>
            <a:ext cx="1193232" cy="139750"/>
          </a:xfrm>
          <a:prstGeom prst="rect">
            <a:avLst/>
          </a:prstGeom>
          <a:noFill/>
        </p:spPr>
        <p:txBody>
          <a:bodyPr wrap="none" lIns="0" rIns="0" tIns="0" bIns="0">
            <a:spAutoFit/>
          </a:bodyPr>
          <a:lstStyle/>
          <a:p>
            <a:r>
              <a:rPr sz="791" b="1">
                <a:solidFill>
                  <a:srgbClr val="2E2E2E"/>
                </a:solidFill>
                <a:latin typeface="Calibri"/>
              </a:rPr>
              <a:t>Molded Protective Trays &amp;</a:t>
            </a:r>
          </a:p>
        </p:txBody>
      </p:sp>
      <p:sp>
        <p:nvSpPr>
          <p:cNvPr id="91" name="TextBox 90"/>
          <p:cNvSpPr txBox="1"/>
          <p:nvPr/>
        </p:nvSpPr>
        <p:spPr>
          <a:xfrm>
            <a:off x="5972175" y="4139804"/>
            <a:ext cx="527452" cy="139750"/>
          </a:xfrm>
          <a:prstGeom prst="rect">
            <a:avLst/>
          </a:prstGeom>
          <a:noFill/>
        </p:spPr>
        <p:txBody>
          <a:bodyPr wrap="none" lIns="0" rIns="0" tIns="0" bIns="0">
            <a:spAutoFit/>
          </a:bodyPr>
          <a:lstStyle/>
          <a:p>
            <a:r>
              <a:rPr sz="791" b="1">
                <a:solidFill>
                  <a:srgbClr val="2E2E2E"/>
                </a:solidFill>
                <a:latin typeface="Calibri"/>
              </a:rPr>
              <a:t>Containers</a:t>
            </a:r>
          </a:p>
        </p:txBody>
      </p:sp>
      <p:pic>
        <p:nvPicPr>
          <p:cNvPr id="92" name="Picture 91" descr="lock.png"/>
          <p:cNvPicPr>
            <a:picLocks noChangeAspect="1"/>
          </p:cNvPicPr>
          <p:nvPr/>
        </p:nvPicPr>
        <p:blipFill>
          <a:blip r:embed="rId4"/>
          <a:stretch>
            <a:fillRect/>
          </a:stretch>
        </p:blipFill>
        <p:spPr>
          <a:xfrm>
            <a:off x="6440888" y="4132763"/>
            <a:ext cx="92663" cy="134782"/>
          </a:xfrm>
          <a:prstGeom prst="rect">
            <a:avLst/>
          </a:prstGeom>
        </p:spPr>
      </p:pic>
      <p:sp>
        <p:nvSpPr>
          <p:cNvPr id="93" name="TextBox 92"/>
          <p:cNvSpPr txBox="1"/>
          <p:nvPr/>
        </p:nvSpPr>
        <p:spPr>
          <a:xfrm>
            <a:off x="5972175" y="4459634"/>
            <a:ext cx="1362075" cy="139750"/>
          </a:xfrm>
          <a:prstGeom prst="rect">
            <a:avLst/>
          </a:prstGeom>
          <a:noFill/>
        </p:spPr>
        <p:txBody>
          <a:bodyPr wrap="none" lIns="0" rIns="0" tIns="0" bIns="0">
            <a:spAutoFit/>
          </a:bodyPr>
          <a:lstStyle/>
          <a:p>
            <a:r>
              <a:rPr sz="791" b="1">
                <a:solidFill>
                  <a:srgbClr val="2E2E2E"/>
                </a:solidFill>
                <a:latin typeface="Calibri"/>
              </a:rPr>
              <a:t>Direct-Dispensed Foam-in-Place</a:t>
            </a:r>
          </a:p>
        </p:txBody>
      </p:sp>
      <p:pic>
        <p:nvPicPr>
          <p:cNvPr id="94" name="Picture 93" descr="lock.png"/>
          <p:cNvPicPr>
            <a:picLocks noChangeAspect="1"/>
          </p:cNvPicPr>
          <p:nvPr/>
        </p:nvPicPr>
        <p:blipFill>
          <a:blip r:embed="rId4"/>
          <a:stretch>
            <a:fillRect/>
          </a:stretch>
        </p:blipFill>
        <p:spPr>
          <a:xfrm>
            <a:off x="5962478" y="4573294"/>
            <a:ext cx="92663" cy="134782"/>
          </a:xfrm>
          <a:prstGeom prst="rect">
            <a:avLst/>
          </a:prstGeom>
        </p:spPr>
      </p:pic>
      <p:sp>
        <p:nvSpPr>
          <p:cNvPr id="95" name="TextBox 94"/>
          <p:cNvSpPr txBox="1"/>
          <p:nvPr/>
        </p:nvSpPr>
        <p:spPr>
          <a:xfrm>
            <a:off x="5972175" y="4900165"/>
            <a:ext cx="1197732" cy="139750"/>
          </a:xfrm>
          <a:prstGeom prst="rect">
            <a:avLst/>
          </a:prstGeom>
          <a:noFill/>
        </p:spPr>
        <p:txBody>
          <a:bodyPr wrap="none" lIns="0" rIns="0" tIns="0" bIns="0">
            <a:spAutoFit/>
          </a:bodyPr>
          <a:lstStyle/>
          <a:p>
            <a:r>
              <a:rPr sz="791" b="1">
                <a:solidFill>
                  <a:srgbClr val="2E2E2E"/>
                </a:solidFill>
                <a:latin typeface="Calibri"/>
              </a:rPr>
              <a:t>Foam-in-Bag / On-Demand</a:t>
            </a:r>
          </a:p>
        </p:txBody>
      </p:sp>
      <p:sp>
        <p:nvSpPr>
          <p:cNvPr id="96" name="TextBox 95"/>
          <p:cNvSpPr txBox="1"/>
          <p:nvPr/>
        </p:nvSpPr>
        <p:spPr>
          <a:xfrm>
            <a:off x="5972175" y="5020866"/>
            <a:ext cx="705028" cy="139750"/>
          </a:xfrm>
          <a:prstGeom prst="rect">
            <a:avLst/>
          </a:prstGeom>
          <a:noFill/>
        </p:spPr>
        <p:txBody>
          <a:bodyPr wrap="none" lIns="0" rIns="0" tIns="0" bIns="0">
            <a:spAutoFit/>
          </a:bodyPr>
          <a:lstStyle/>
          <a:p>
            <a:r>
              <a:rPr sz="791" b="1">
                <a:solidFill>
                  <a:srgbClr val="2E2E2E"/>
                </a:solidFill>
                <a:latin typeface="Calibri"/>
              </a:rPr>
              <a:t>Foam Cushions</a:t>
            </a:r>
          </a:p>
        </p:txBody>
      </p:sp>
      <p:pic>
        <p:nvPicPr>
          <p:cNvPr id="97" name="Picture 96" descr="lock.png"/>
          <p:cNvPicPr>
            <a:picLocks noChangeAspect="1"/>
          </p:cNvPicPr>
          <p:nvPr/>
        </p:nvPicPr>
        <p:blipFill>
          <a:blip r:embed="rId4"/>
          <a:stretch>
            <a:fillRect/>
          </a:stretch>
        </p:blipFill>
        <p:spPr>
          <a:xfrm>
            <a:off x="6618464" y="5013825"/>
            <a:ext cx="92663" cy="134782"/>
          </a:xfrm>
          <a:prstGeom prst="rect">
            <a:avLst/>
          </a:prstGeom>
        </p:spPr>
      </p:pic>
      <p:sp>
        <p:nvSpPr>
          <p:cNvPr id="98" name="TextBox 97"/>
          <p:cNvSpPr txBox="1"/>
          <p:nvPr/>
        </p:nvSpPr>
        <p:spPr>
          <a:xfrm>
            <a:off x="5972175" y="5340696"/>
            <a:ext cx="1362075" cy="139750"/>
          </a:xfrm>
          <a:prstGeom prst="rect">
            <a:avLst/>
          </a:prstGeom>
          <a:noFill/>
        </p:spPr>
        <p:txBody>
          <a:bodyPr wrap="none" lIns="0" rIns="0" tIns="0" bIns="0">
            <a:spAutoFit/>
          </a:bodyPr>
          <a:lstStyle/>
          <a:p>
            <a:r>
              <a:rPr sz="791" b="1">
                <a:solidFill>
                  <a:srgbClr val="2E2E2E"/>
                </a:solidFill>
                <a:latin typeface="Calibri"/>
              </a:rPr>
              <a:t>Pre-Fabricated Foam Pouches &amp;</a:t>
            </a:r>
          </a:p>
        </p:txBody>
      </p:sp>
      <p:sp>
        <p:nvSpPr>
          <p:cNvPr id="99" name="TextBox 98"/>
          <p:cNvSpPr txBox="1"/>
          <p:nvPr/>
        </p:nvSpPr>
        <p:spPr>
          <a:xfrm>
            <a:off x="5972175" y="5461397"/>
            <a:ext cx="270099" cy="139750"/>
          </a:xfrm>
          <a:prstGeom prst="rect">
            <a:avLst/>
          </a:prstGeom>
          <a:noFill/>
        </p:spPr>
        <p:txBody>
          <a:bodyPr wrap="none" lIns="0" rIns="0" tIns="0" bIns="0">
            <a:spAutoFit/>
          </a:bodyPr>
          <a:lstStyle/>
          <a:p>
            <a:r>
              <a:rPr sz="791" b="1">
                <a:solidFill>
                  <a:srgbClr val="2E2E2E"/>
                </a:solidFill>
                <a:latin typeface="Calibri"/>
              </a:rPr>
              <a:t>Bags</a:t>
            </a:r>
          </a:p>
        </p:txBody>
      </p:sp>
      <p:pic>
        <p:nvPicPr>
          <p:cNvPr id="100" name="Picture 99" descr="lock.png"/>
          <p:cNvPicPr>
            <a:picLocks noChangeAspect="1"/>
          </p:cNvPicPr>
          <p:nvPr/>
        </p:nvPicPr>
        <p:blipFill>
          <a:blip r:embed="rId4"/>
          <a:stretch>
            <a:fillRect/>
          </a:stretch>
        </p:blipFill>
        <p:spPr>
          <a:xfrm>
            <a:off x="6183535" y="5454356"/>
            <a:ext cx="92663" cy="134782"/>
          </a:xfrm>
          <a:prstGeom prst="rect">
            <a:avLst/>
          </a:prstGeom>
        </p:spPr>
      </p:pic>
      <p:sp>
        <p:nvSpPr>
          <p:cNvPr id="101" name="TextBox 100"/>
          <p:cNvSpPr txBox="1"/>
          <p:nvPr/>
        </p:nvSpPr>
        <p:spPr>
          <a:xfrm>
            <a:off x="5972175" y="5781227"/>
            <a:ext cx="1278235" cy="139750"/>
          </a:xfrm>
          <a:prstGeom prst="rect">
            <a:avLst/>
          </a:prstGeom>
          <a:noFill/>
        </p:spPr>
        <p:txBody>
          <a:bodyPr wrap="none" lIns="0" rIns="0" tIns="0" bIns="0">
            <a:spAutoFit/>
          </a:bodyPr>
          <a:lstStyle/>
          <a:p>
            <a:r>
              <a:rPr sz="791" b="1">
                <a:solidFill>
                  <a:srgbClr val="2E2E2E"/>
                </a:solidFill>
                <a:latin typeface="Calibri"/>
              </a:rPr>
              <a:t>Pre-Fabricated Foam Sleeves</a:t>
            </a:r>
          </a:p>
        </p:txBody>
      </p:sp>
      <p:pic>
        <p:nvPicPr>
          <p:cNvPr id="102" name="Picture 101" descr="lock.png"/>
          <p:cNvPicPr>
            <a:picLocks noChangeAspect="1"/>
          </p:cNvPicPr>
          <p:nvPr/>
        </p:nvPicPr>
        <p:blipFill>
          <a:blip r:embed="rId4"/>
          <a:stretch>
            <a:fillRect/>
          </a:stretch>
        </p:blipFill>
        <p:spPr>
          <a:xfrm>
            <a:off x="5962478" y="5894887"/>
            <a:ext cx="92663" cy="134782"/>
          </a:xfrm>
          <a:prstGeom prst="rect">
            <a:avLst/>
          </a:prstGeom>
        </p:spPr>
      </p:pic>
      <p:sp>
        <p:nvSpPr>
          <p:cNvPr id="103" name="TextBox 102"/>
          <p:cNvSpPr txBox="1"/>
          <p:nvPr/>
        </p:nvSpPr>
        <p:spPr>
          <a:xfrm>
            <a:off x="5972175" y="6221758"/>
            <a:ext cx="1076913" cy="139750"/>
          </a:xfrm>
          <a:prstGeom prst="rect">
            <a:avLst/>
          </a:prstGeom>
          <a:noFill/>
        </p:spPr>
        <p:txBody>
          <a:bodyPr wrap="none" lIns="0" rIns="0" tIns="0" bIns="0">
            <a:spAutoFit/>
          </a:bodyPr>
          <a:lstStyle/>
          <a:p>
            <a:r>
              <a:rPr sz="791" b="1">
                <a:solidFill>
                  <a:srgbClr val="2E2E2E"/>
                </a:solidFill>
                <a:latin typeface="Calibri"/>
              </a:rPr>
              <a:t>Foam Packing Peanuts /</a:t>
            </a:r>
          </a:p>
        </p:txBody>
      </p:sp>
      <p:sp>
        <p:nvSpPr>
          <p:cNvPr id="104" name="TextBox 103"/>
          <p:cNvSpPr txBox="1"/>
          <p:nvPr/>
        </p:nvSpPr>
        <p:spPr>
          <a:xfrm>
            <a:off x="5972175" y="6342459"/>
            <a:ext cx="787753" cy="139750"/>
          </a:xfrm>
          <a:prstGeom prst="rect">
            <a:avLst/>
          </a:prstGeom>
          <a:noFill/>
        </p:spPr>
        <p:txBody>
          <a:bodyPr wrap="none" lIns="0" rIns="0" tIns="0" bIns="0">
            <a:spAutoFit/>
          </a:bodyPr>
          <a:lstStyle/>
          <a:p>
            <a:r>
              <a:rPr sz="791" b="1">
                <a:solidFill>
                  <a:srgbClr val="2E2E2E"/>
                </a:solidFill>
                <a:latin typeface="Calibri"/>
              </a:rPr>
              <a:t>Loose-Fill Shapes</a:t>
            </a:r>
          </a:p>
        </p:txBody>
      </p:sp>
      <p:pic>
        <p:nvPicPr>
          <p:cNvPr id="105" name="Picture 104" descr="lock.png"/>
          <p:cNvPicPr>
            <a:picLocks noChangeAspect="1"/>
          </p:cNvPicPr>
          <p:nvPr/>
        </p:nvPicPr>
        <p:blipFill>
          <a:blip r:embed="rId4"/>
          <a:stretch>
            <a:fillRect/>
          </a:stretch>
        </p:blipFill>
        <p:spPr>
          <a:xfrm>
            <a:off x="6701189" y="6335418"/>
            <a:ext cx="92663" cy="134782"/>
          </a:xfrm>
          <a:prstGeom prst="rect">
            <a:avLst/>
          </a:prstGeom>
        </p:spPr>
      </p:pic>
      <p:sp>
        <p:nvSpPr>
          <p:cNvPr id="106" name="TextBox 105"/>
          <p:cNvSpPr txBox="1"/>
          <p:nvPr/>
        </p:nvSpPr>
        <p:spPr>
          <a:xfrm>
            <a:off x="7715250" y="1400175"/>
            <a:ext cx="4051436" cy="194310"/>
          </a:xfrm>
          <a:prstGeom prst="rect">
            <a:avLst/>
          </a:prstGeom>
          <a:noFill/>
        </p:spPr>
        <p:txBody>
          <a:bodyPr wrap="none" lIns="0" rIns="0" tIns="0" bIns="0">
            <a:spAutoFit/>
          </a:bodyPr>
          <a:lstStyle/>
          <a:p>
            <a:r>
              <a:rPr sz="1150" b="0">
                <a:solidFill>
                  <a:srgbClr val="2E2E2E"/>
                </a:solidFill>
                <a:latin typeface="Calibri"/>
              </a:rPr>
              <a:t>Fabricated foam packaging segment is projected to account for the</a:t>
            </a:r>
          </a:p>
        </p:txBody>
      </p:sp>
      <p:sp>
        <p:nvSpPr>
          <p:cNvPr id="107" name="TextBox 106"/>
          <p:cNvSpPr txBox="1"/>
          <p:nvPr/>
        </p:nvSpPr>
        <p:spPr>
          <a:xfrm>
            <a:off x="7715250" y="1575435"/>
            <a:ext cx="4115680" cy="194310"/>
          </a:xfrm>
          <a:prstGeom prst="rect">
            <a:avLst/>
          </a:prstGeom>
          <a:noFill/>
        </p:spPr>
        <p:txBody>
          <a:bodyPr wrap="none" lIns="0" rIns="0" tIns="0" bIns="0">
            <a:spAutoFit/>
          </a:bodyPr>
          <a:lstStyle/>
          <a:p>
            <a:r>
              <a:rPr sz="1150" b="0">
                <a:solidFill>
                  <a:srgbClr val="2E2E2E"/>
                </a:solidFill>
                <a:latin typeface="Calibri"/>
              </a:rPr>
              <a:t>largest share of the global foam protective packaging market, led by</a:t>
            </a:r>
          </a:p>
        </p:txBody>
      </p:sp>
      <p:sp>
        <p:nvSpPr>
          <p:cNvPr id="108" name="TextBox 107"/>
          <p:cNvSpPr txBox="1"/>
          <p:nvPr/>
        </p:nvSpPr>
        <p:spPr>
          <a:xfrm>
            <a:off x="7715250" y="1750695"/>
            <a:ext cx="2685417" cy="194310"/>
          </a:xfrm>
          <a:prstGeom prst="rect">
            <a:avLst/>
          </a:prstGeom>
          <a:noFill/>
        </p:spPr>
        <p:txBody>
          <a:bodyPr wrap="none" lIns="0" rIns="0" tIns="0" bIns="0">
            <a:spAutoFit/>
          </a:bodyPr>
          <a:lstStyle/>
          <a:p>
            <a:r>
              <a:rPr sz="1150" b="0">
                <a:solidFill>
                  <a:srgbClr val="2E2E2E"/>
                </a:solidFill>
                <a:latin typeface="Calibri"/>
              </a:rPr>
              <a:t>die-cut / cnc-cut foam inserts &amp; pads at US$</a:t>
            </a:r>
          </a:p>
        </p:txBody>
      </p:sp>
      <p:pic>
        <p:nvPicPr>
          <p:cNvPr id="109" name="Picture 108" descr="lock.png"/>
          <p:cNvPicPr>
            <a:picLocks noChangeAspect="1"/>
          </p:cNvPicPr>
          <p:nvPr/>
        </p:nvPicPr>
        <p:blipFill>
          <a:blip r:embed="rId4"/>
          <a:stretch>
            <a:fillRect/>
          </a:stretch>
        </p:blipFill>
        <p:spPr>
          <a:xfrm>
            <a:off x="10349821" y="1740471"/>
            <a:ext cx="134549" cy="195707"/>
          </a:xfrm>
          <a:prstGeom prst="rect">
            <a:avLst/>
          </a:prstGeom>
        </p:spPr>
      </p:pic>
      <p:sp>
        <p:nvSpPr>
          <p:cNvPr id="110" name="TextBox 109"/>
          <p:cNvSpPr txBox="1"/>
          <p:nvPr/>
        </p:nvSpPr>
        <p:spPr>
          <a:xfrm>
            <a:off x="10524930" y="1750695"/>
            <a:ext cx="1183809" cy="194310"/>
          </a:xfrm>
          <a:prstGeom prst="rect">
            <a:avLst/>
          </a:prstGeom>
          <a:noFill/>
        </p:spPr>
        <p:txBody>
          <a:bodyPr wrap="none" lIns="0" rIns="0" tIns="0" bIns="0">
            <a:spAutoFit/>
          </a:bodyPr>
          <a:lstStyle/>
          <a:p>
            <a:r>
              <a:rPr sz="1150" b="0">
                <a:solidFill>
                  <a:srgbClr val="2E2E2E"/>
                </a:solidFill>
                <a:latin typeface="Calibri"/>
              </a:rPr>
              <a:t>Mn in 2036. 'Foam</a:t>
            </a:r>
          </a:p>
        </p:txBody>
      </p:sp>
      <p:sp>
        <p:nvSpPr>
          <p:cNvPr id="111" name="TextBox 110"/>
          <p:cNvSpPr txBox="1"/>
          <p:nvPr/>
        </p:nvSpPr>
        <p:spPr>
          <a:xfrm>
            <a:off x="7715250" y="1925955"/>
            <a:ext cx="3988996" cy="194310"/>
          </a:xfrm>
          <a:prstGeom prst="rect">
            <a:avLst/>
          </a:prstGeom>
          <a:noFill/>
        </p:spPr>
        <p:txBody>
          <a:bodyPr wrap="none" lIns="0" rIns="0" tIns="0" bIns="0">
            <a:spAutoFit/>
          </a:bodyPr>
          <a:lstStyle/>
          <a:p>
            <a:r>
              <a:rPr sz="1150" b="0">
                <a:solidFill>
                  <a:srgbClr val="2E2E2E"/>
                </a:solidFill>
                <a:latin typeface="Calibri"/>
              </a:rPr>
              <a:t>Sheets, Rolls &amp; Planks × Foam Planks &amp; Blocks' is the single largest</a:t>
            </a:r>
          </a:p>
        </p:txBody>
      </p:sp>
      <p:sp>
        <p:nvSpPr>
          <p:cNvPr id="112" name="TextBox 111"/>
          <p:cNvSpPr txBox="1"/>
          <p:nvPr/>
        </p:nvSpPr>
        <p:spPr>
          <a:xfrm>
            <a:off x="7715250" y="2101215"/>
            <a:ext cx="1269131" cy="194310"/>
          </a:xfrm>
          <a:prstGeom prst="rect">
            <a:avLst/>
          </a:prstGeom>
          <a:noFill/>
        </p:spPr>
        <p:txBody>
          <a:bodyPr wrap="none" lIns="0" rIns="0" tIns="0" bIns="0">
            <a:spAutoFit/>
          </a:bodyPr>
          <a:lstStyle/>
          <a:p>
            <a:r>
              <a:rPr sz="1150" b="0">
                <a:solidFill>
                  <a:srgbClr val="2E2E2E"/>
                </a:solidFill>
                <a:latin typeface="Calibri"/>
              </a:rPr>
              <a:t>cross-sectional cell (</a:t>
            </a:r>
          </a:p>
        </p:txBody>
      </p:sp>
      <p:pic>
        <p:nvPicPr>
          <p:cNvPr id="113" name="Picture 112" descr="lock.png"/>
          <p:cNvPicPr>
            <a:picLocks noChangeAspect="1"/>
          </p:cNvPicPr>
          <p:nvPr/>
        </p:nvPicPr>
        <p:blipFill>
          <a:blip r:embed="rId4"/>
          <a:stretch>
            <a:fillRect/>
          </a:stretch>
        </p:blipFill>
        <p:spPr>
          <a:xfrm>
            <a:off x="8933535" y="2090991"/>
            <a:ext cx="134549" cy="195707"/>
          </a:xfrm>
          <a:prstGeom prst="rect">
            <a:avLst/>
          </a:prstGeom>
        </p:spPr>
      </p:pic>
      <p:sp>
        <p:nvSpPr>
          <p:cNvPr id="114" name="TextBox 113"/>
          <p:cNvSpPr txBox="1"/>
          <p:nvPr/>
        </p:nvSpPr>
        <p:spPr>
          <a:xfrm>
            <a:off x="9108645" y="2101215"/>
            <a:ext cx="2725892" cy="194310"/>
          </a:xfrm>
          <a:prstGeom prst="rect">
            <a:avLst/>
          </a:prstGeom>
          <a:noFill/>
        </p:spPr>
        <p:txBody>
          <a:bodyPr wrap="none" lIns="0" rIns="0" tIns="0" bIns="0">
            <a:spAutoFit/>
          </a:bodyPr>
          <a:lstStyle/>
          <a:p>
            <a:r>
              <a:rPr sz="1150" b="0">
                <a:solidFill>
                  <a:srgbClr val="2E2E2E"/>
                </a:solidFill>
                <a:latin typeface="Calibri"/>
              </a:rPr>
              <a:t>US$ Mn, 2026E), while 'Foam Sheets, Rolls &amp;</a:t>
            </a:r>
          </a:p>
        </p:txBody>
      </p:sp>
      <p:sp>
        <p:nvSpPr>
          <p:cNvPr id="115" name="TextBox 114"/>
          <p:cNvSpPr txBox="1"/>
          <p:nvPr/>
        </p:nvSpPr>
        <p:spPr>
          <a:xfrm>
            <a:off x="7715250" y="2276475"/>
            <a:ext cx="4171950" cy="194310"/>
          </a:xfrm>
          <a:prstGeom prst="rect">
            <a:avLst/>
          </a:prstGeom>
          <a:noFill/>
        </p:spPr>
        <p:txBody>
          <a:bodyPr wrap="none" lIns="0" rIns="0" tIns="0" bIns="0">
            <a:spAutoFit/>
          </a:bodyPr>
          <a:lstStyle/>
          <a:p>
            <a:r>
              <a:rPr sz="1150" b="0">
                <a:solidFill>
                  <a:srgbClr val="2E2E2E"/>
                </a:solidFill>
                <a:latin typeface="Calibri"/>
              </a:rPr>
              <a:t>Planks × Foam Sheets &amp; Rolls' records the fastest growth at a CAGR of</a:t>
            </a:r>
          </a:p>
        </p:txBody>
      </p:sp>
      <p:pic>
        <p:nvPicPr>
          <p:cNvPr id="116" name="Picture 115" descr="lock.png"/>
          <p:cNvPicPr>
            <a:picLocks noChangeAspect="1"/>
          </p:cNvPicPr>
          <p:nvPr/>
        </p:nvPicPr>
        <p:blipFill>
          <a:blip r:embed="rId4"/>
          <a:stretch>
            <a:fillRect/>
          </a:stretch>
        </p:blipFill>
        <p:spPr>
          <a:xfrm>
            <a:off x="7701170" y="2441511"/>
            <a:ext cx="134549" cy="195707"/>
          </a:xfrm>
          <a:prstGeom prst="rect">
            <a:avLst/>
          </a:prstGeom>
        </p:spPr>
      </p:pic>
      <p:sp>
        <p:nvSpPr>
          <p:cNvPr id="117" name="TextBox 116"/>
          <p:cNvSpPr txBox="1"/>
          <p:nvPr/>
        </p:nvSpPr>
        <p:spPr>
          <a:xfrm>
            <a:off x="7876279"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8" name="TextBox 117"/>
          <p:cNvSpPr txBox="1"/>
          <p:nvPr/>
        </p:nvSpPr>
        <p:spPr>
          <a:xfrm>
            <a:off x="7715250" y="2679573"/>
            <a:ext cx="3797337" cy="194310"/>
          </a:xfrm>
          <a:prstGeom prst="rect">
            <a:avLst/>
          </a:prstGeom>
          <a:noFill/>
        </p:spPr>
        <p:txBody>
          <a:bodyPr wrap="none" lIns="0" rIns="0" tIns="0" bIns="0">
            <a:spAutoFit/>
          </a:bodyPr>
          <a:lstStyle/>
          <a:p>
            <a:r>
              <a:rPr sz="1150" b="0">
                <a:solidFill>
                  <a:srgbClr val="2E2E2E"/>
                </a:solidFill>
                <a:latin typeface="Calibri"/>
              </a:rPr>
              <a:t>Combined, the top three product form × end-use industry cells</a:t>
            </a:r>
          </a:p>
        </p:txBody>
      </p:sp>
      <p:sp>
        <p:nvSpPr>
          <p:cNvPr id="119" name="TextBox 118"/>
          <p:cNvSpPr txBox="1"/>
          <p:nvPr/>
        </p:nvSpPr>
        <p:spPr>
          <a:xfrm>
            <a:off x="7715250" y="285483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120" name="Picture 119" descr="lock.png"/>
          <p:cNvPicPr>
            <a:picLocks noChangeAspect="1"/>
          </p:cNvPicPr>
          <p:nvPr/>
        </p:nvPicPr>
        <p:blipFill>
          <a:blip r:embed="rId4"/>
          <a:stretch>
            <a:fillRect/>
          </a:stretch>
        </p:blipFill>
        <p:spPr>
          <a:xfrm>
            <a:off x="10004949" y="2844609"/>
            <a:ext cx="134549" cy="195707"/>
          </a:xfrm>
          <a:prstGeom prst="rect">
            <a:avLst/>
          </a:prstGeom>
        </p:spPr>
      </p:pic>
      <p:sp>
        <p:nvSpPr>
          <p:cNvPr id="121" name="TextBox 120"/>
          <p:cNvSpPr txBox="1"/>
          <p:nvPr/>
        </p:nvSpPr>
        <p:spPr>
          <a:xfrm>
            <a:off x="10180058"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Product Form × End-use Industry, 2026E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end-use industry sub-segments</a:t>
            </a:r>
          </a:p>
        </p:txBody>
      </p:sp>
      <p:sp>
        <p:nvSpPr>
          <p:cNvPr id="7" name="Rounded Rectangle 6"/>
          <p:cNvSpPr/>
          <p:nvPr/>
        </p:nvSpPr>
        <p:spPr>
          <a:xfrm>
            <a:off x="142875" y="981075"/>
            <a:ext cx="11906250" cy="3400425"/>
          </a:xfrm>
          <a:prstGeom prst="roundRect">
            <a:avLst>
              <a:gd name="adj" fmla="val 22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Product Form × End-use Industry, 2026E (% of each row)</a:t>
            </a:r>
          </a:p>
        </p:txBody>
      </p:sp>
      <p:graphicFrame>
        <p:nvGraphicFramePr>
          <p:cNvPr id="9" name="Table 8"/>
          <p:cNvGraphicFramePr>
            <a:graphicFrameLocks noGrp="1"/>
          </p:cNvGraphicFramePr>
          <p:nvPr/>
        </p:nvGraphicFramePr>
        <p:xfrm>
          <a:off x="152400" y="1238250"/>
          <a:ext cx="11888611" cy="2933701"/>
        </p:xfrm>
        <a:graphic>
          <a:graphicData uri="http://schemas.openxmlformats.org/drawingml/2006/table">
            <a:tbl>
              <a:tblPr>
                <a:tableStyleId>{5C22544A-7EE6-4342-B048-85BDC9FD1C3A}</a:tableStyleId>
              </a:tblPr>
              <a:tblGrid>
                <a:gridCol w="1967593"/>
                <a:gridCol w="580028"/>
                <a:gridCol w="574029"/>
                <a:gridCol w="686846"/>
                <a:gridCol w="898112"/>
                <a:gridCol w="848025"/>
                <a:gridCol w="725308"/>
                <a:gridCol w="901441"/>
                <a:gridCol w="845150"/>
                <a:gridCol w="827401"/>
                <a:gridCol w="882678"/>
                <a:gridCol w="837278"/>
                <a:gridCol w="770916"/>
                <a:gridCol w="543806"/>
              </a:tblGrid>
              <a:tr h="121005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Sheets &amp; Rolls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Planks &amp; Blocks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Die-Cut / CNC-Cut Foam Inserts &amp; Pads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Corner &amp; Edge Protectors / Profiles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Dividers &amp; Separators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Molded Inserts, End Caps &amp; Cradles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Molded Protective Trays &amp; Containers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Direct-Dispensed Foam-in-Place</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Foam-in-Bag / On-Demand Foam Cushions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Pre-Fabricated Foam Pouches &amp; Bags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Pre-Fabricated Foam Sleeves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Packing Peanuts / Loose-Fill Shapes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r>
              <a:tr h="246235">
                <a:tc>
                  <a:txBody>
                    <a:bodyPr wrap="none"/>
                    <a:lstStyle/>
                    <a:p>
                      <a:pPr algn="l"/>
                      <a:r>
                        <a:rPr sz="1100" b="1">
                          <a:solidFill>
                            <a:srgbClr val="2E2E2E"/>
                          </a:solidFill>
                          <a:latin typeface="Calibri"/>
                        </a:rPr>
                        <a:t>Foam Sheets, Rolls &amp; Planks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Fabricated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Molded Foam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Foam-in-Place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Foam Pouches, Bags &amp; Sleeves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Foam Loose-Fill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4181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880210" y="3043428"/>
            <a:ext cx="366712" cy="5334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Product Form × End-use Industry, 2026E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end-use industry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End-use Industry Mix by Product Form, 2026E (% share)</a:t>
            </a:r>
          </a:p>
        </p:txBody>
      </p:sp>
      <p:graphicFrame>
        <p:nvGraphicFramePr>
          <p:cNvPr id="9" name="Chart 8"/>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0" name="Rounded Rectangle 9"/>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2" name="Rectangle 11"/>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5"/>
          <a:stretch>
            <a:fillRect/>
          </a:stretch>
        </p:blipFill>
        <p:spPr>
          <a:xfrm>
            <a:off x="3712949" y="2656453"/>
            <a:ext cx="433863" cy="631074"/>
          </a:xfrm>
          <a:prstGeom prst="rect">
            <a:avLst/>
          </a:prstGeom>
        </p:spPr>
      </p:pic>
      <p:sp>
        <p:nvSpPr>
          <p:cNvPr id="17" name="TextBox 16"/>
          <p:cNvSpPr txBox="1"/>
          <p:nvPr/>
        </p:nvSpPr>
        <p:spPr>
          <a:xfrm>
            <a:off x="7715250" y="1400175"/>
            <a:ext cx="4101101" cy="194310"/>
          </a:xfrm>
          <a:prstGeom prst="rect">
            <a:avLst/>
          </a:prstGeom>
          <a:noFill/>
        </p:spPr>
        <p:txBody>
          <a:bodyPr wrap="none" lIns="0" rIns="0" tIns="0" bIns="0">
            <a:spAutoFit/>
          </a:bodyPr>
          <a:lstStyle/>
          <a:p>
            <a:r>
              <a:rPr sz="1150" b="0">
                <a:solidFill>
                  <a:srgbClr val="2E2E2E"/>
                </a:solidFill>
                <a:latin typeface="Calibri"/>
              </a:rPr>
              <a:t>▪ 'Foam Packing Peanuts / Loose-Fill Shapes' holds the highest share</a:t>
            </a:r>
          </a:p>
        </p:txBody>
      </p:sp>
      <p:sp>
        <p:nvSpPr>
          <p:cNvPr id="18" name="TextBox 17"/>
          <p:cNvSpPr txBox="1"/>
          <p:nvPr/>
        </p:nvSpPr>
        <p:spPr>
          <a:xfrm>
            <a:off x="7715250" y="1575435"/>
            <a:ext cx="1993645" cy="194310"/>
          </a:xfrm>
          <a:prstGeom prst="rect">
            <a:avLst/>
          </a:prstGeom>
          <a:noFill/>
        </p:spPr>
        <p:txBody>
          <a:bodyPr wrap="none" lIns="0" rIns="0" tIns="0" bIns="0">
            <a:spAutoFit/>
          </a:bodyPr>
          <a:lstStyle/>
          <a:p>
            <a:r>
              <a:rPr sz="1150" b="0">
                <a:solidFill>
                  <a:srgbClr val="2E2E2E"/>
                </a:solidFill>
                <a:latin typeface="Calibri"/>
              </a:rPr>
              <a:t>of 'Foam Loose-Fill Packaging' at</a:t>
            </a:r>
          </a:p>
        </p:txBody>
      </p:sp>
      <p:pic>
        <p:nvPicPr>
          <p:cNvPr id="19" name="Picture 18" descr="lock.png"/>
          <p:cNvPicPr>
            <a:picLocks noChangeAspect="1"/>
          </p:cNvPicPr>
          <p:nvPr/>
        </p:nvPicPr>
        <p:blipFill>
          <a:blip r:embed="rId5"/>
          <a:stretch>
            <a:fillRect/>
          </a:stretch>
        </p:blipFill>
        <p:spPr>
          <a:xfrm>
            <a:off x="9658049" y="1565211"/>
            <a:ext cx="134549" cy="195707"/>
          </a:xfrm>
          <a:prstGeom prst="rect">
            <a:avLst/>
          </a:prstGeom>
        </p:spPr>
      </p:pic>
      <p:sp>
        <p:nvSpPr>
          <p:cNvPr id="20" name="TextBox 19"/>
          <p:cNvSpPr txBox="1"/>
          <p:nvPr/>
        </p:nvSpPr>
        <p:spPr>
          <a:xfrm>
            <a:off x="9833158"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1" name="TextBox 20"/>
          <p:cNvSpPr txBox="1"/>
          <p:nvPr/>
        </p:nvSpPr>
        <p:spPr>
          <a:xfrm>
            <a:off x="7715250" y="1803273"/>
            <a:ext cx="4113367" cy="194310"/>
          </a:xfrm>
          <a:prstGeom prst="rect">
            <a:avLst/>
          </a:prstGeom>
          <a:noFill/>
        </p:spPr>
        <p:txBody>
          <a:bodyPr wrap="none" lIns="0" rIns="0" tIns="0" bIns="0">
            <a:spAutoFit/>
          </a:bodyPr>
          <a:lstStyle/>
          <a:p>
            <a:r>
              <a:rPr sz="1150" b="0">
                <a:solidFill>
                  <a:srgbClr val="2E2E2E"/>
                </a:solidFill>
                <a:latin typeface="Calibri"/>
              </a:rPr>
              <a:t>▪ 'Foam Loose-Fill Packaging' is the most concentrated product form</a:t>
            </a:r>
          </a:p>
        </p:txBody>
      </p:sp>
      <p:sp>
        <p:nvSpPr>
          <p:cNvPr id="22" name="TextBox 21"/>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3" name="Picture 22" descr="lock.png"/>
          <p:cNvPicPr>
            <a:picLocks noChangeAspect="1"/>
          </p:cNvPicPr>
          <p:nvPr/>
        </p:nvPicPr>
        <p:blipFill>
          <a:blip r:embed="rId5"/>
          <a:stretch>
            <a:fillRect/>
          </a:stretch>
        </p:blipFill>
        <p:spPr>
          <a:xfrm>
            <a:off x="8843110" y="1968309"/>
            <a:ext cx="134549" cy="195707"/>
          </a:xfrm>
          <a:prstGeom prst="rect">
            <a:avLst/>
          </a:prstGeom>
        </p:spPr>
      </p:pic>
      <p:sp>
        <p:nvSpPr>
          <p:cNvPr id="24" name="TextBox 23"/>
          <p:cNvSpPr txBox="1"/>
          <p:nvPr/>
        </p:nvSpPr>
        <p:spPr>
          <a:xfrm>
            <a:off x="9018219" y="1978533"/>
            <a:ext cx="2407548" cy="194310"/>
          </a:xfrm>
          <a:prstGeom prst="rect">
            <a:avLst/>
          </a:prstGeom>
          <a:noFill/>
        </p:spPr>
        <p:txBody>
          <a:bodyPr wrap="none" lIns="0" rIns="0" tIns="0" bIns="0">
            <a:spAutoFit/>
          </a:bodyPr>
          <a:lstStyle/>
          <a:p>
            <a:r>
              <a:rPr sz="1150" b="0">
                <a:solidFill>
                  <a:srgbClr val="2E2E2E"/>
                </a:solidFill>
                <a:latin typeface="Calibri"/>
              </a:rPr>
              <a:t>of its value via 'Foam Packing Peanuts /</a:t>
            </a:r>
          </a:p>
        </p:txBody>
      </p:sp>
      <p:sp>
        <p:nvSpPr>
          <p:cNvPr id="25" name="TextBox 24"/>
          <p:cNvSpPr txBox="1"/>
          <p:nvPr/>
        </p:nvSpPr>
        <p:spPr>
          <a:xfrm>
            <a:off x="7715250" y="2153793"/>
            <a:ext cx="1156456" cy="194310"/>
          </a:xfrm>
          <a:prstGeom prst="rect">
            <a:avLst/>
          </a:prstGeom>
          <a:noFill/>
        </p:spPr>
        <p:txBody>
          <a:bodyPr wrap="none" lIns="0" rIns="0" tIns="0" bIns="0">
            <a:spAutoFit/>
          </a:bodyPr>
          <a:lstStyle/>
          <a:p>
            <a:r>
              <a:rPr sz="1150" b="0">
                <a:solidFill>
                  <a:srgbClr val="2E2E2E"/>
                </a:solidFill>
                <a:latin typeface="Calibri"/>
              </a:rPr>
              <a:t>Loose-Fill Shapes'.</a:t>
            </a:r>
          </a:p>
        </p:txBody>
      </p:sp>
      <p:sp>
        <p:nvSpPr>
          <p:cNvPr id="26" name="TextBox 25"/>
          <p:cNvSpPr txBox="1"/>
          <p:nvPr/>
        </p:nvSpPr>
        <p:spPr>
          <a:xfrm>
            <a:off x="7715250" y="2381631"/>
            <a:ext cx="1875835" cy="194310"/>
          </a:xfrm>
          <a:prstGeom prst="rect">
            <a:avLst/>
          </a:prstGeom>
          <a:noFill/>
        </p:spPr>
        <p:txBody>
          <a:bodyPr wrap="none" lIns="0" rIns="0" tIns="0" bIns="0">
            <a:spAutoFit/>
          </a:bodyPr>
          <a:lstStyle/>
          <a:p>
            <a:r>
              <a:rPr sz="1150" b="0">
                <a:solidFill>
                  <a:srgbClr val="2E2E2E"/>
                </a:solidFill>
                <a:latin typeface="Calibri"/>
              </a:rPr>
              <a:t>▪ 'Foam Sheets &amp; Rolls' gains +</a:t>
            </a:r>
          </a:p>
        </p:txBody>
      </p:sp>
      <p:pic>
        <p:nvPicPr>
          <p:cNvPr id="27" name="Picture 26" descr="lock.png"/>
          <p:cNvPicPr>
            <a:picLocks noChangeAspect="1"/>
          </p:cNvPicPr>
          <p:nvPr/>
        </p:nvPicPr>
        <p:blipFill>
          <a:blip r:embed="rId5"/>
          <a:stretch>
            <a:fillRect/>
          </a:stretch>
        </p:blipFill>
        <p:spPr>
          <a:xfrm>
            <a:off x="9540239" y="2371407"/>
            <a:ext cx="134549" cy="195707"/>
          </a:xfrm>
          <a:prstGeom prst="rect">
            <a:avLst/>
          </a:prstGeom>
        </p:spPr>
      </p:pic>
      <p:sp>
        <p:nvSpPr>
          <p:cNvPr id="28" name="TextBox 27"/>
          <p:cNvSpPr txBox="1"/>
          <p:nvPr/>
        </p:nvSpPr>
        <p:spPr>
          <a:xfrm>
            <a:off x="9715348" y="2381631"/>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29" name="TextBox 28"/>
          <p:cNvSpPr txBox="1"/>
          <p:nvPr/>
        </p:nvSpPr>
        <p:spPr>
          <a:xfrm>
            <a:off x="7715250" y="2556891"/>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0" name="lockshield_9"/>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Form × End-use Industry, 2026E–2036F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3838575"/>
          </a:xfrm>
          <a:prstGeom prst="roundRect">
            <a:avLst>
              <a:gd name="adj" fmla="val 19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Form × End-use Industry, 2026E–2036F</a:t>
            </a:r>
          </a:p>
        </p:txBody>
      </p:sp>
      <p:graphicFrame>
        <p:nvGraphicFramePr>
          <p:cNvPr id="9" name="Table 8"/>
          <p:cNvGraphicFramePr>
            <a:graphicFrameLocks noGrp="1"/>
          </p:cNvGraphicFramePr>
          <p:nvPr/>
        </p:nvGraphicFramePr>
        <p:xfrm>
          <a:off x="152400" y="1238250"/>
          <a:ext cx="11895557" cy="3371850"/>
        </p:xfrm>
        <a:graphic>
          <a:graphicData uri="http://schemas.openxmlformats.org/drawingml/2006/table">
            <a:tbl>
              <a:tblPr>
                <a:tableStyleId>{5C22544A-7EE6-4342-B048-85BDC9FD1C3A}</a:tableStyleId>
              </a:tblPr>
              <a:tblGrid>
                <a:gridCol w="2007507"/>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5298"/>
                <a:gridCol w="390820"/>
              </a:tblGrid>
              <a:tr h="1017270">
                <a:tc rowSpan="2">
                  <a:txBody>
                    <a:bodyPr wrap="none"/>
                    <a:lstStyle/>
                    <a:p>
                      <a:pPr algn="l"/>
                      <a:r>
                        <a:rPr sz="1100" b="1">
                          <a:solidFill>
                            <a:srgbClr val="0E2A5C"/>
                          </a:solidFill>
                          <a:latin typeface="Calibri"/>
                        </a:rPr>
                        <a:t>Product Form</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Sheets &amp;</a:t>
                      </a:r>
                      <a:endParaRPr sz="1100"/>
                    </a:p>
                    <a:p>
                      <a:pPr algn="ctr"/>
                      <a:r>
                        <a:rPr sz="1100" b="1">
                          <a:solidFill>
                            <a:srgbClr val="0E2A5C"/>
                          </a:solidFill>
                          <a:latin typeface="Calibri"/>
                        </a:rPr>
                        <a:t>Rolls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Planks &amp;</a:t>
                      </a:r>
                      <a:endParaRPr sz="1100"/>
                    </a:p>
                    <a:p>
                      <a:pPr algn="ctr"/>
                      <a:r>
                        <a:rPr sz="1100" b="1">
                          <a:solidFill>
                            <a:srgbClr val="0E2A5C"/>
                          </a:solidFill>
                          <a:latin typeface="Calibri"/>
                        </a:rPr>
                        <a:t>Blocks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Die-Cut /</a:t>
                      </a:r>
                      <a:endParaRPr sz="1100"/>
                    </a:p>
                    <a:p>
                      <a:pPr algn="ctr"/>
                      <a:r>
                        <a:rPr sz="1100" b="1">
                          <a:solidFill>
                            <a:srgbClr val="0E2A5C"/>
                          </a:solidFill>
                          <a:latin typeface="Calibri"/>
                        </a:rPr>
                        <a:t>CNC-Cut</a:t>
                      </a:r>
                      <a:endParaRPr sz="1100"/>
                    </a:p>
                    <a:p>
                      <a:pPr algn="ctr"/>
                      <a:r>
                        <a:rPr sz="1100" b="1">
                          <a:solidFill>
                            <a:srgbClr val="0E2A5C"/>
                          </a:solidFill>
                          <a:latin typeface="Calibri"/>
                        </a:rPr>
                        <a:t>Foam</a:t>
                      </a:r>
                      <a:endParaRPr sz="1100"/>
                    </a:p>
                    <a:p>
                      <a:pPr algn="ctr"/>
                      <a:r>
                        <a:rPr sz="1100" b="1">
                          <a:solidFill>
                            <a:srgbClr val="0E2A5C"/>
                          </a:solidFill>
                          <a:latin typeface="Calibri"/>
                        </a:rPr>
                        <a:t>Inserts &amp;</a:t>
                      </a:r>
                      <a:endParaRPr sz="1100"/>
                    </a:p>
                    <a:p>
                      <a:pPr algn="ctr"/>
                      <a:r>
                        <a:rPr sz="1100" b="1">
                          <a:solidFill>
                            <a:srgbClr val="0E2A5C"/>
                          </a:solidFill>
                          <a:latin typeface="Calibri"/>
                        </a:rPr>
                        <a:t>Pads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Corner &amp;</a:t>
                      </a:r>
                      <a:endParaRPr sz="1100"/>
                    </a:p>
                    <a:p>
                      <a:pPr algn="ctr"/>
                      <a:r>
                        <a:rPr sz="1100" b="1">
                          <a:solidFill>
                            <a:srgbClr val="0E2A5C"/>
                          </a:solidFill>
                          <a:latin typeface="Calibri"/>
                        </a:rPr>
                        <a:t>Edge</a:t>
                      </a:r>
                      <a:endParaRPr sz="1100"/>
                    </a:p>
                    <a:p>
                      <a:pPr algn="ctr"/>
                      <a:r>
                        <a:rPr sz="1100" b="1">
                          <a:solidFill>
                            <a:srgbClr val="0E2A5C"/>
                          </a:solidFill>
                          <a:latin typeface="Calibri"/>
                        </a:rPr>
                        <a:t>Protectors /</a:t>
                      </a:r>
                      <a:endParaRPr sz="1100"/>
                    </a:p>
                    <a:p>
                      <a:pPr algn="ctr"/>
                      <a:r>
                        <a:rPr sz="1100" b="1">
                          <a:solidFill>
                            <a:srgbClr val="0E2A5C"/>
                          </a:solidFill>
                          <a:latin typeface="Calibri"/>
                        </a:rPr>
                        <a:t>Profiles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Dividers &amp;</a:t>
                      </a:r>
                      <a:endParaRPr sz="1100"/>
                    </a:p>
                    <a:p>
                      <a:pPr algn="ctr"/>
                      <a:r>
                        <a:rPr sz="1100" b="1">
                          <a:solidFill>
                            <a:srgbClr val="0E2A5C"/>
                          </a:solidFill>
                          <a:latin typeface="Calibri"/>
                        </a:rPr>
                        <a:t>Separators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Inserts, End</a:t>
                      </a:r>
                      <a:endParaRPr sz="1100"/>
                    </a:p>
                    <a:p>
                      <a:pPr algn="ctr"/>
                      <a:r>
                        <a:rPr sz="1100" b="1">
                          <a:solidFill>
                            <a:srgbClr val="0E2A5C"/>
                          </a:solidFill>
                          <a:latin typeface="Calibri"/>
                        </a:rPr>
                        <a:t>Caps &amp;</a:t>
                      </a:r>
                      <a:endParaRPr sz="1100"/>
                    </a:p>
                    <a:p>
                      <a:pPr algn="ctr"/>
                      <a:r>
                        <a:rPr sz="1100" b="1">
                          <a:solidFill>
                            <a:srgbClr val="0E2A5C"/>
                          </a:solidFill>
                          <a:latin typeface="Calibri"/>
                        </a:rPr>
                        <a:t>Cradles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Protective</a:t>
                      </a:r>
                      <a:endParaRPr sz="1100"/>
                    </a:p>
                    <a:p>
                      <a:pPr algn="ctr"/>
                      <a:r>
                        <a:rPr sz="1100" b="1">
                          <a:solidFill>
                            <a:srgbClr val="0E2A5C"/>
                          </a:solidFill>
                          <a:latin typeface="Calibri"/>
                        </a:rPr>
                        <a:t>Trays &amp;</a:t>
                      </a:r>
                      <a:endParaRPr sz="1100"/>
                    </a:p>
                    <a:p>
                      <a:pPr algn="ctr"/>
                      <a:r>
                        <a:rPr sz="1100" b="1">
                          <a:solidFill>
                            <a:srgbClr val="0E2A5C"/>
                          </a:solidFill>
                          <a:latin typeface="Calibri"/>
                        </a:rPr>
                        <a:t>Containers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Direct-</a:t>
                      </a:r>
                      <a:endParaRPr sz="1100"/>
                    </a:p>
                    <a:p>
                      <a:pPr algn="ctr"/>
                      <a:r>
                        <a:rPr sz="1100" b="1">
                          <a:solidFill>
                            <a:srgbClr val="0E2A5C"/>
                          </a:solidFill>
                          <a:latin typeface="Calibri"/>
                        </a:rPr>
                        <a:t>Dispensed</a:t>
                      </a:r>
                      <a:endParaRPr sz="1100"/>
                    </a:p>
                    <a:p>
                      <a:pPr algn="ctr"/>
                      <a:r>
                        <a:rPr sz="1100" b="1">
                          <a:solidFill>
                            <a:srgbClr val="0E2A5C"/>
                          </a:solidFill>
                          <a:latin typeface="Calibri"/>
                        </a:rPr>
                        <a:t>Foam-in-</a:t>
                      </a:r>
                      <a:endParaRPr sz="1100"/>
                    </a:p>
                    <a:p>
                      <a:pPr algn="ctr"/>
                      <a:r>
                        <a:rPr sz="1100" b="1">
                          <a:solidFill>
                            <a:srgbClr val="0E2A5C"/>
                          </a:solidFill>
                          <a:latin typeface="Calibri"/>
                        </a:rPr>
                        <a:t>Place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Foam-in-</a:t>
                      </a:r>
                      <a:endParaRPr sz="1100"/>
                    </a:p>
                    <a:p>
                      <a:pPr algn="ctr"/>
                      <a:r>
                        <a:rPr sz="1100" b="1">
                          <a:solidFill>
                            <a:srgbClr val="0E2A5C"/>
                          </a:solidFill>
                          <a:latin typeface="Calibri"/>
                        </a:rPr>
                        <a:t>Bag / On-</a:t>
                      </a:r>
                      <a:endParaRPr sz="1100"/>
                    </a:p>
                    <a:p>
                      <a:pPr algn="ctr"/>
                      <a:r>
                        <a:rPr sz="1100" b="1">
                          <a:solidFill>
                            <a:srgbClr val="0E2A5C"/>
                          </a:solidFill>
                          <a:latin typeface="Calibri"/>
                        </a:rPr>
                        <a:t>Demand</a:t>
                      </a:r>
                      <a:endParaRPr sz="1100"/>
                    </a:p>
                    <a:p>
                      <a:pPr algn="ctr"/>
                      <a:r>
                        <a:rPr sz="1100" b="1">
                          <a:solidFill>
                            <a:srgbClr val="0E2A5C"/>
                          </a:solidFill>
                          <a:latin typeface="Calibri"/>
                        </a:rPr>
                        <a:t>Foam</a:t>
                      </a:r>
                      <a:endParaRPr sz="1100"/>
                    </a:p>
                    <a:p>
                      <a:pPr algn="ctr"/>
                      <a:r>
                        <a:rPr sz="1100" b="1">
                          <a:solidFill>
                            <a:srgbClr val="0E2A5C"/>
                          </a:solidFill>
                          <a:latin typeface="Calibri"/>
                        </a:rPr>
                        <a:t>Cushions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Pouches &amp;</a:t>
                      </a:r>
                      <a:endParaRPr sz="1100"/>
                    </a:p>
                    <a:p>
                      <a:pPr algn="ctr"/>
                      <a:r>
                        <a:rPr sz="1100" b="1">
                          <a:solidFill>
                            <a:srgbClr val="0E2A5C"/>
                          </a:solidFill>
                          <a:latin typeface="Calibri"/>
                        </a:rPr>
                        <a:t>Bags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Sleeves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Packing</a:t>
                      </a:r>
                      <a:endParaRPr sz="1100"/>
                    </a:p>
                    <a:p>
                      <a:pPr algn="ctr"/>
                      <a:r>
                        <a:rPr sz="1100" b="1">
                          <a:solidFill>
                            <a:srgbClr val="0E2A5C"/>
                          </a:solidFill>
                          <a:latin typeface="Calibri"/>
                        </a:rPr>
                        <a:t>Peanuts /</a:t>
                      </a:r>
                      <a:endParaRPr sz="1100"/>
                    </a:p>
                    <a:p>
                      <a:pPr algn="ctr"/>
                      <a:r>
                        <a:rPr sz="1100" b="1">
                          <a:solidFill>
                            <a:srgbClr val="0E2A5C"/>
                          </a:solidFill>
                          <a:latin typeface="Calibri"/>
                        </a:rPr>
                        <a:t>Loose-Fill</a:t>
                      </a:r>
                      <a:endParaRPr sz="1100"/>
                    </a:p>
                    <a:p>
                      <a:pPr algn="ctr"/>
                      <a:r>
                        <a:rPr sz="1100" b="1">
                          <a:solidFill>
                            <a:srgbClr val="0E2A5C"/>
                          </a:solidFill>
                          <a:latin typeface="Calibri"/>
                        </a:rPr>
                        <a:t>Shapes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438912">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r>
              <a:tr h="246126">
                <a:tc>
                  <a:txBody>
                    <a:bodyPr wrap="none"/>
                    <a:lstStyle/>
                    <a:p>
                      <a:pPr algn="l"/>
                      <a:r>
                        <a:rPr sz="1100" b="1">
                          <a:solidFill>
                            <a:srgbClr val="2E2E2E"/>
                          </a:solidFill>
                          <a:latin typeface="Calibri"/>
                        </a:rPr>
                        <a:t>Foam Sheets, Rolls &amp; Planks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126">
                <a:tc>
                  <a:txBody>
                    <a:bodyPr wrap="none"/>
                    <a:lstStyle/>
                    <a:p>
                      <a:pPr algn="l"/>
                      <a:r>
                        <a:rPr sz="1100" b="1">
                          <a:solidFill>
                            <a:srgbClr val="2E2E2E"/>
                          </a:solidFill>
                          <a:latin typeface="Calibri"/>
                        </a:rPr>
                        <a:t>Fabricated Foam 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126">
                <a:tc>
                  <a:txBody>
                    <a:bodyPr wrap="none"/>
                    <a:lstStyle/>
                    <a:p>
                      <a:pPr algn="l"/>
                      <a:r>
                        <a:rPr sz="1100" b="1">
                          <a:solidFill>
                            <a:srgbClr val="2E2E2E"/>
                          </a:solidFill>
                          <a:latin typeface="Calibri"/>
                        </a:rPr>
                        <a:t>Molded Foam Packaging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126">
                <a:tc>
                  <a:txBody>
                    <a:bodyPr wrap="none"/>
                    <a:lstStyle/>
                    <a:p>
                      <a:pPr algn="l"/>
                      <a:r>
                        <a:rPr sz="1100" b="1">
                          <a:solidFill>
                            <a:srgbClr val="2E2E2E"/>
                          </a:solidFill>
                          <a:latin typeface="Calibri"/>
                        </a:rPr>
                        <a:t>Foam-in-Place 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8912">
                <a:tc>
                  <a:txBody>
                    <a:bodyPr wrap="none"/>
                    <a:lstStyle/>
                    <a:p>
                      <a:pPr algn="l"/>
                      <a:r>
                        <a:rPr sz="1100" b="1">
                          <a:solidFill>
                            <a:srgbClr val="2E2E2E"/>
                          </a:solidFill>
                          <a:latin typeface="Calibri"/>
                        </a:rPr>
                        <a:t>Foam Pouches, Bags &amp;</a:t>
                      </a:r>
                      <a:endParaRPr sz="1100"/>
                    </a:p>
                    <a:p>
                      <a:pPr algn="l"/>
                      <a:r>
                        <a:rPr sz="1100" b="1">
                          <a:solidFill>
                            <a:srgbClr val="2E2E2E"/>
                          </a:solidFill>
                          <a:latin typeface="Calibri"/>
                        </a:rPr>
                        <a:t>Sleeves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126">
                <a:tc>
                  <a:txBody>
                    <a:bodyPr wrap="none"/>
                    <a:lstStyle/>
                    <a:p>
                      <a:pPr algn="l"/>
                      <a:r>
                        <a:rPr sz="1100" b="1">
                          <a:solidFill>
                            <a:srgbClr val="2E2E2E"/>
                          </a:solidFill>
                          <a:latin typeface="Calibri"/>
                        </a:rPr>
                        <a:t>Foam Loose-Fill 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126">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46196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805111" y="3385566"/>
            <a:ext cx="366712" cy="5334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Product Form × End-use Industry, 2026E–2036F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5600700" cy="5648325"/>
          </a:xfrm>
          <a:prstGeom prst="roundRect">
            <a:avLst>
              <a:gd name="adj" fmla="val 13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9" name="Rectangle 8"/>
          <p:cNvSpPr/>
          <p:nvPr/>
        </p:nvSpPr>
        <p:spPr>
          <a:xfrm>
            <a:off x="276225" y="1304925"/>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5895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3" name="Rectangle 12"/>
          <p:cNvSpPr/>
          <p:nvPr/>
        </p:nvSpPr>
        <p:spPr>
          <a:xfrm>
            <a:off x="6029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79914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17" name="Rectangle 16"/>
          <p:cNvSpPr/>
          <p:nvPr/>
        </p:nvSpPr>
        <p:spPr>
          <a:xfrm>
            <a:off x="81248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10086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1" name="Rectangle 20"/>
          <p:cNvSpPr/>
          <p:nvPr/>
        </p:nvSpPr>
        <p:spPr>
          <a:xfrm>
            <a:off x="10220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'Foam Sheets, Rolls &amp; Planks × Foam Sheets &amp; Rolls' ranks highest (5/5); 'Foam Sheets, Rolls &amp; Planks × Die-Cut / CNC-Cut Foam Inserts &amp; Pads' lowest (1/5), a deprioritised cell.</a:t>
            </a:r>
          </a:p>
        </p:txBody>
      </p:sp>
      <p:sp>
        <p:nvSpPr>
          <p:cNvPr id="23" name="Rectangle 2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5" name="TextBox 24"/>
          <p:cNvSpPr txBox="1"/>
          <p:nvPr/>
        </p:nvSpPr>
        <p:spPr>
          <a:xfrm>
            <a:off x="276225" y="1400175"/>
            <a:ext cx="3409614" cy="194310"/>
          </a:xfrm>
          <a:prstGeom prst="rect">
            <a:avLst/>
          </a:prstGeom>
          <a:noFill/>
        </p:spPr>
        <p:txBody>
          <a:bodyPr wrap="none" lIns="0" rIns="0" tIns="0" bIns="0">
            <a:spAutoFit/>
          </a:bodyPr>
          <a:lstStyle/>
          <a:p>
            <a:r>
              <a:rPr sz="1150" b="0">
                <a:solidFill>
                  <a:srgbClr val="2E2E2E"/>
                </a:solidFill>
                <a:latin typeface="Calibri"/>
              </a:rPr>
              <a:t>▪ 1. Foam Sheets, Rolls &amp; Planks × Foam Sheets &amp; Rolls –</a:t>
            </a:r>
          </a:p>
        </p:txBody>
      </p:sp>
      <p:pic>
        <p:nvPicPr>
          <p:cNvPr id="26" name="Picture 25" descr="lock.png"/>
          <p:cNvPicPr>
            <a:picLocks noChangeAspect="1"/>
          </p:cNvPicPr>
          <p:nvPr/>
        </p:nvPicPr>
        <p:blipFill>
          <a:blip r:embed="rId4"/>
          <a:stretch>
            <a:fillRect/>
          </a:stretch>
        </p:blipFill>
        <p:spPr>
          <a:xfrm>
            <a:off x="3634993" y="1389951"/>
            <a:ext cx="134549" cy="195707"/>
          </a:xfrm>
          <a:prstGeom prst="rect">
            <a:avLst/>
          </a:prstGeom>
        </p:spPr>
      </p:pic>
      <p:sp>
        <p:nvSpPr>
          <p:cNvPr id="27" name="TextBox 26"/>
          <p:cNvSpPr txBox="1"/>
          <p:nvPr/>
        </p:nvSpPr>
        <p:spPr>
          <a:xfrm>
            <a:off x="3810102"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28" name="Picture 27" descr="lock.png"/>
          <p:cNvPicPr>
            <a:picLocks noChangeAspect="1"/>
          </p:cNvPicPr>
          <p:nvPr/>
        </p:nvPicPr>
        <p:blipFill>
          <a:blip r:embed="rId4"/>
          <a:stretch>
            <a:fillRect/>
          </a:stretch>
        </p:blipFill>
        <p:spPr>
          <a:xfrm>
            <a:off x="3872254" y="1389951"/>
            <a:ext cx="134549" cy="195707"/>
          </a:xfrm>
          <a:prstGeom prst="rect">
            <a:avLst/>
          </a:prstGeom>
        </p:spPr>
      </p:pic>
      <p:sp>
        <p:nvSpPr>
          <p:cNvPr id="29" name="TextBox 28"/>
          <p:cNvSpPr txBox="1"/>
          <p:nvPr/>
        </p:nvSpPr>
        <p:spPr>
          <a:xfrm>
            <a:off x="4047363"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0" name="TextBox 29"/>
          <p:cNvSpPr txBox="1"/>
          <p:nvPr/>
        </p:nvSpPr>
        <p:spPr>
          <a:xfrm>
            <a:off x="276225" y="1628013"/>
            <a:ext cx="3488630" cy="194310"/>
          </a:xfrm>
          <a:prstGeom prst="rect">
            <a:avLst/>
          </a:prstGeom>
          <a:noFill/>
        </p:spPr>
        <p:txBody>
          <a:bodyPr wrap="none" lIns="0" rIns="0" tIns="0" bIns="0">
            <a:spAutoFit/>
          </a:bodyPr>
          <a:lstStyle/>
          <a:p>
            <a:r>
              <a:rPr sz="1150" b="0">
                <a:solidFill>
                  <a:srgbClr val="2E2E2E"/>
                </a:solidFill>
                <a:latin typeface="Calibri"/>
              </a:rPr>
              <a:t>▪ 2. Foam Sheets, Rolls &amp; Planks × Foam Planks &amp; Blocks –</a:t>
            </a:r>
          </a:p>
        </p:txBody>
      </p:sp>
      <p:pic>
        <p:nvPicPr>
          <p:cNvPr id="31" name="Picture 30" descr="lock.png"/>
          <p:cNvPicPr>
            <a:picLocks noChangeAspect="1"/>
          </p:cNvPicPr>
          <p:nvPr/>
        </p:nvPicPr>
        <p:blipFill>
          <a:blip r:embed="rId4"/>
          <a:stretch>
            <a:fillRect/>
          </a:stretch>
        </p:blipFill>
        <p:spPr>
          <a:xfrm>
            <a:off x="3714009" y="1617789"/>
            <a:ext cx="134549" cy="195707"/>
          </a:xfrm>
          <a:prstGeom prst="rect">
            <a:avLst/>
          </a:prstGeom>
        </p:spPr>
      </p:pic>
      <p:sp>
        <p:nvSpPr>
          <p:cNvPr id="32" name="TextBox 31"/>
          <p:cNvSpPr txBox="1"/>
          <p:nvPr/>
        </p:nvSpPr>
        <p:spPr>
          <a:xfrm>
            <a:off x="3889118"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3951269" y="1617789"/>
            <a:ext cx="134549" cy="195707"/>
          </a:xfrm>
          <a:prstGeom prst="rect">
            <a:avLst/>
          </a:prstGeom>
        </p:spPr>
      </p:pic>
      <p:sp>
        <p:nvSpPr>
          <p:cNvPr id="34" name="TextBox 33"/>
          <p:cNvSpPr txBox="1"/>
          <p:nvPr/>
        </p:nvSpPr>
        <p:spPr>
          <a:xfrm>
            <a:off x="4126379" y="1628013"/>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35" name="TextBox 34"/>
          <p:cNvSpPr txBox="1"/>
          <p:nvPr/>
        </p:nvSpPr>
        <p:spPr>
          <a:xfrm>
            <a:off x="276225" y="1855851"/>
            <a:ext cx="4075049" cy="194310"/>
          </a:xfrm>
          <a:prstGeom prst="rect">
            <a:avLst/>
          </a:prstGeom>
          <a:noFill/>
        </p:spPr>
        <p:txBody>
          <a:bodyPr wrap="none" lIns="0" rIns="0" tIns="0" bIns="0">
            <a:spAutoFit/>
          </a:bodyPr>
          <a:lstStyle/>
          <a:p>
            <a:r>
              <a:rPr sz="1150" b="0">
                <a:solidFill>
                  <a:srgbClr val="2E2E2E"/>
                </a:solidFill>
                <a:latin typeface="Calibri"/>
              </a:rPr>
              <a:t>▪ 3. Foam Pouches, Bags &amp; Sleeves × Pre-Fabricated Foam Sleeves –</a:t>
            </a:r>
          </a:p>
        </p:txBody>
      </p:sp>
      <p:pic>
        <p:nvPicPr>
          <p:cNvPr id="36" name="Picture 35" descr="lock.png"/>
          <p:cNvPicPr>
            <a:picLocks noChangeAspect="1"/>
          </p:cNvPicPr>
          <p:nvPr/>
        </p:nvPicPr>
        <p:blipFill>
          <a:blip r:embed="rId4"/>
          <a:stretch>
            <a:fillRect/>
          </a:stretch>
        </p:blipFill>
        <p:spPr>
          <a:xfrm>
            <a:off x="4300428" y="1845627"/>
            <a:ext cx="134549" cy="195707"/>
          </a:xfrm>
          <a:prstGeom prst="rect">
            <a:avLst/>
          </a:prstGeom>
        </p:spPr>
      </p:pic>
      <p:sp>
        <p:nvSpPr>
          <p:cNvPr id="37" name="TextBox 36"/>
          <p:cNvSpPr txBox="1"/>
          <p:nvPr/>
        </p:nvSpPr>
        <p:spPr>
          <a:xfrm>
            <a:off x="4475537" y="185585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8" name="Picture 37" descr="lock.png"/>
          <p:cNvPicPr>
            <a:picLocks noChangeAspect="1"/>
          </p:cNvPicPr>
          <p:nvPr/>
        </p:nvPicPr>
        <p:blipFill>
          <a:blip r:embed="rId4"/>
          <a:stretch>
            <a:fillRect/>
          </a:stretch>
        </p:blipFill>
        <p:spPr>
          <a:xfrm>
            <a:off x="4537689" y="1845627"/>
            <a:ext cx="134549" cy="195707"/>
          </a:xfrm>
          <a:prstGeom prst="rect">
            <a:avLst/>
          </a:prstGeom>
        </p:spPr>
      </p:pic>
      <p:sp>
        <p:nvSpPr>
          <p:cNvPr id="39" name="TextBox 38"/>
          <p:cNvSpPr txBox="1"/>
          <p:nvPr/>
        </p:nvSpPr>
        <p:spPr>
          <a:xfrm>
            <a:off x="4712798" y="185585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0" name="TextBox 39"/>
          <p:cNvSpPr txBox="1"/>
          <p:nvPr/>
        </p:nvSpPr>
        <p:spPr>
          <a:xfrm>
            <a:off x="276225" y="2083689"/>
            <a:ext cx="4109088" cy="194310"/>
          </a:xfrm>
          <a:prstGeom prst="rect">
            <a:avLst/>
          </a:prstGeom>
          <a:noFill/>
        </p:spPr>
        <p:txBody>
          <a:bodyPr wrap="none" lIns="0" rIns="0" tIns="0" bIns="0">
            <a:spAutoFit/>
          </a:bodyPr>
          <a:lstStyle/>
          <a:p>
            <a:r>
              <a:rPr sz="1150" b="0">
                <a:solidFill>
                  <a:srgbClr val="2E2E2E"/>
                </a:solidFill>
                <a:latin typeface="Calibri"/>
              </a:rPr>
              <a:t>▪ 4. Molded Foam Packaging × Molded Inserts, End Caps &amp; Cradles –</a:t>
            </a:r>
          </a:p>
        </p:txBody>
      </p:sp>
      <p:pic>
        <p:nvPicPr>
          <p:cNvPr id="41" name="Picture 40" descr="lock.png"/>
          <p:cNvPicPr>
            <a:picLocks noChangeAspect="1"/>
          </p:cNvPicPr>
          <p:nvPr/>
        </p:nvPicPr>
        <p:blipFill>
          <a:blip r:embed="rId4"/>
          <a:stretch>
            <a:fillRect/>
          </a:stretch>
        </p:blipFill>
        <p:spPr>
          <a:xfrm>
            <a:off x="4334467" y="2073465"/>
            <a:ext cx="134549" cy="195707"/>
          </a:xfrm>
          <a:prstGeom prst="rect">
            <a:avLst/>
          </a:prstGeom>
        </p:spPr>
      </p:pic>
      <p:sp>
        <p:nvSpPr>
          <p:cNvPr id="42" name="TextBox 41"/>
          <p:cNvSpPr txBox="1"/>
          <p:nvPr/>
        </p:nvSpPr>
        <p:spPr>
          <a:xfrm>
            <a:off x="4509576" y="208368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3" name="Picture 42" descr="lock.png"/>
          <p:cNvPicPr>
            <a:picLocks noChangeAspect="1"/>
          </p:cNvPicPr>
          <p:nvPr/>
        </p:nvPicPr>
        <p:blipFill>
          <a:blip r:embed="rId4"/>
          <a:stretch>
            <a:fillRect/>
          </a:stretch>
        </p:blipFill>
        <p:spPr>
          <a:xfrm>
            <a:off x="4571728" y="2073465"/>
            <a:ext cx="134549" cy="195707"/>
          </a:xfrm>
          <a:prstGeom prst="rect">
            <a:avLst/>
          </a:prstGeom>
        </p:spPr>
      </p:pic>
      <p:sp>
        <p:nvSpPr>
          <p:cNvPr id="44" name="TextBox 43"/>
          <p:cNvSpPr txBox="1"/>
          <p:nvPr/>
        </p:nvSpPr>
        <p:spPr>
          <a:xfrm>
            <a:off x="4746837" y="2083689"/>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5" name="TextBox 44"/>
          <p:cNvSpPr txBox="1"/>
          <p:nvPr/>
        </p:nvSpPr>
        <p:spPr>
          <a:xfrm>
            <a:off x="276225" y="2311527"/>
            <a:ext cx="4259702" cy="194310"/>
          </a:xfrm>
          <a:prstGeom prst="rect">
            <a:avLst/>
          </a:prstGeom>
          <a:noFill/>
        </p:spPr>
        <p:txBody>
          <a:bodyPr wrap="none" lIns="0" rIns="0" tIns="0" bIns="0">
            <a:spAutoFit/>
          </a:bodyPr>
          <a:lstStyle/>
          <a:p>
            <a:r>
              <a:rPr sz="1150" b="0">
                <a:solidFill>
                  <a:srgbClr val="2E2E2E"/>
                </a:solidFill>
                <a:latin typeface="Calibri"/>
              </a:rPr>
              <a:t>▪ 5. Molded Foam Packaging × Molded Protective Trays &amp; Containers –</a:t>
            </a:r>
          </a:p>
        </p:txBody>
      </p:sp>
      <p:pic>
        <p:nvPicPr>
          <p:cNvPr id="46" name="Picture 45" descr="lock.png"/>
          <p:cNvPicPr>
            <a:picLocks noChangeAspect="1"/>
          </p:cNvPicPr>
          <p:nvPr/>
        </p:nvPicPr>
        <p:blipFill>
          <a:blip r:embed="rId4"/>
          <a:stretch>
            <a:fillRect/>
          </a:stretch>
        </p:blipFill>
        <p:spPr>
          <a:xfrm>
            <a:off x="4485081" y="2301303"/>
            <a:ext cx="134549" cy="195707"/>
          </a:xfrm>
          <a:prstGeom prst="rect">
            <a:avLst/>
          </a:prstGeom>
        </p:spPr>
      </p:pic>
      <p:sp>
        <p:nvSpPr>
          <p:cNvPr id="47" name="TextBox 46"/>
          <p:cNvSpPr txBox="1"/>
          <p:nvPr/>
        </p:nvSpPr>
        <p:spPr>
          <a:xfrm>
            <a:off x="4660190" y="231152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4722342" y="2301303"/>
            <a:ext cx="134549" cy="195707"/>
          </a:xfrm>
          <a:prstGeom prst="rect">
            <a:avLst/>
          </a:prstGeom>
        </p:spPr>
      </p:pic>
      <p:sp>
        <p:nvSpPr>
          <p:cNvPr id="49" name="TextBox 48"/>
          <p:cNvSpPr txBox="1"/>
          <p:nvPr/>
        </p:nvSpPr>
        <p:spPr>
          <a:xfrm>
            <a:off x="4897451" y="231152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0" name="TextBox 49"/>
          <p:cNvSpPr txBox="1"/>
          <p:nvPr/>
        </p:nvSpPr>
        <p:spPr>
          <a:xfrm>
            <a:off x="6029325" y="1400175"/>
            <a:ext cx="1435118" cy="194310"/>
          </a:xfrm>
          <a:prstGeom prst="rect">
            <a:avLst/>
          </a:prstGeom>
          <a:noFill/>
        </p:spPr>
        <p:txBody>
          <a:bodyPr wrap="none" lIns="0" rIns="0" tIns="0" bIns="0">
            <a:spAutoFit/>
          </a:bodyPr>
          <a:lstStyle/>
          <a:p>
            <a:r>
              <a:rPr sz="1150" b="0">
                <a:solidFill>
                  <a:srgbClr val="2E2E2E"/>
                </a:solidFill>
                <a:latin typeface="Calibri"/>
              </a:rPr>
              <a:t>▪ 'Foam Sheets, Rolls &amp;</a:t>
            </a:r>
          </a:p>
        </p:txBody>
      </p:sp>
      <p:sp>
        <p:nvSpPr>
          <p:cNvPr id="51" name="TextBox 50"/>
          <p:cNvSpPr txBox="1"/>
          <p:nvPr/>
        </p:nvSpPr>
        <p:spPr>
          <a:xfrm>
            <a:off x="6029325" y="1575435"/>
            <a:ext cx="1486178" cy="194310"/>
          </a:xfrm>
          <a:prstGeom prst="rect">
            <a:avLst/>
          </a:prstGeom>
          <a:noFill/>
        </p:spPr>
        <p:txBody>
          <a:bodyPr wrap="none" lIns="0" rIns="0" tIns="0" bIns="0">
            <a:spAutoFit/>
          </a:bodyPr>
          <a:lstStyle/>
          <a:p>
            <a:r>
              <a:rPr sz="1150" b="0">
                <a:solidFill>
                  <a:srgbClr val="2E2E2E"/>
                </a:solidFill>
                <a:latin typeface="Calibri"/>
              </a:rPr>
              <a:t>Planks × Foam Sheets &amp;</a:t>
            </a:r>
          </a:p>
        </p:txBody>
      </p:sp>
      <p:sp>
        <p:nvSpPr>
          <p:cNvPr id="52" name="TextBox 51"/>
          <p:cNvSpPr txBox="1"/>
          <p:nvPr/>
        </p:nvSpPr>
        <p:spPr>
          <a:xfrm>
            <a:off x="6029325" y="1750695"/>
            <a:ext cx="702617" cy="194310"/>
          </a:xfrm>
          <a:prstGeom prst="rect">
            <a:avLst/>
          </a:prstGeom>
          <a:noFill/>
        </p:spPr>
        <p:txBody>
          <a:bodyPr wrap="none" lIns="0" rIns="0" tIns="0" bIns="0">
            <a:spAutoFit/>
          </a:bodyPr>
          <a:lstStyle/>
          <a:p>
            <a:r>
              <a:rPr sz="1150" b="0">
                <a:solidFill>
                  <a:srgbClr val="2E2E2E"/>
                </a:solidFill>
                <a:latin typeface="Calibri"/>
              </a:rPr>
              <a:t>Rolls' adds</a:t>
            </a:r>
          </a:p>
        </p:txBody>
      </p:sp>
      <p:pic>
        <p:nvPicPr>
          <p:cNvPr id="53" name="Picture 52" descr="lock.png"/>
          <p:cNvPicPr>
            <a:picLocks noChangeAspect="1"/>
          </p:cNvPicPr>
          <p:nvPr/>
        </p:nvPicPr>
        <p:blipFill>
          <a:blip r:embed="rId4"/>
          <a:stretch>
            <a:fillRect/>
          </a:stretch>
        </p:blipFill>
        <p:spPr>
          <a:xfrm>
            <a:off x="6681096" y="1740471"/>
            <a:ext cx="134549" cy="195707"/>
          </a:xfrm>
          <a:prstGeom prst="rect">
            <a:avLst/>
          </a:prstGeom>
        </p:spPr>
      </p:pic>
      <p:sp>
        <p:nvSpPr>
          <p:cNvPr id="54" name="TextBox 53"/>
          <p:cNvSpPr txBox="1"/>
          <p:nvPr/>
        </p:nvSpPr>
        <p:spPr>
          <a:xfrm>
            <a:off x="6856205" y="1750695"/>
            <a:ext cx="722014" cy="194310"/>
          </a:xfrm>
          <a:prstGeom prst="rect">
            <a:avLst/>
          </a:prstGeom>
          <a:noFill/>
        </p:spPr>
        <p:txBody>
          <a:bodyPr wrap="none" lIns="0" rIns="0" tIns="0" bIns="0">
            <a:spAutoFit/>
          </a:bodyPr>
          <a:lstStyle/>
          <a:p>
            <a:r>
              <a:rPr sz="1150" b="0">
                <a:solidFill>
                  <a:srgbClr val="2E2E2E"/>
                </a:solidFill>
                <a:latin typeface="Calibri"/>
              </a:rPr>
              <a:t>US$ Mn by</a:t>
            </a:r>
          </a:p>
        </p:txBody>
      </p:sp>
      <p:sp>
        <p:nvSpPr>
          <p:cNvPr id="55" name="TextBox 54"/>
          <p:cNvSpPr txBox="1"/>
          <p:nvPr/>
        </p:nvSpPr>
        <p:spPr>
          <a:xfrm>
            <a:off x="6029325" y="1925955"/>
            <a:ext cx="545727" cy="194310"/>
          </a:xfrm>
          <a:prstGeom prst="rect">
            <a:avLst/>
          </a:prstGeom>
          <a:noFill/>
        </p:spPr>
        <p:txBody>
          <a:bodyPr wrap="none" lIns="0" rIns="0" tIns="0" bIns="0">
            <a:spAutoFit/>
          </a:bodyPr>
          <a:lstStyle/>
          <a:p>
            <a:r>
              <a:rPr sz="1150" b="0">
                <a:solidFill>
                  <a:srgbClr val="2E2E2E"/>
                </a:solidFill>
                <a:latin typeface="Calibri"/>
              </a:rPr>
              <a:t>2036F –</a:t>
            </a:r>
          </a:p>
        </p:txBody>
      </p:sp>
      <p:pic>
        <p:nvPicPr>
          <p:cNvPr id="56" name="Picture 55" descr="lock.png"/>
          <p:cNvPicPr>
            <a:picLocks noChangeAspect="1"/>
          </p:cNvPicPr>
          <p:nvPr/>
        </p:nvPicPr>
        <p:blipFill>
          <a:blip r:embed="rId4"/>
          <a:stretch>
            <a:fillRect/>
          </a:stretch>
        </p:blipFill>
        <p:spPr>
          <a:xfrm>
            <a:off x="6524206" y="1915731"/>
            <a:ext cx="134549" cy="195707"/>
          </a:xfrm>
          <a:prstGeom prst="rect">
            <a:avLst/>
          </a:prstGeom>
        </p:spPr>
      </p:pic>
      <p:sp>
        <p:nvSpPr>
          <p:cNvPr id="57" name="TextBox 56"/>
          <p:cNvSpPr txBox="1"/>
          <p:nvPr/>
        </p:nvSpPr>
        <p:spPr>
          <a:xfrm>
            <a:off x="6699316" y="1925955"/>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8" name="TextBox 57"/>
          <p:cNvSpPr txBox="1"/>
          <p:nvPr/>
        </p:nvSpPr>
        <p:spPr>
          <a:xfrm>
            <a:off x="6029325" y="2101215"/>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9" name="TextBox 58"/>
          <p:cNvSpPr txBox="1"/>
          <p:nvPr/>
        </p:nvSpPr>
        <p:spPr>
          <a:xfrm>
            <a:off x="8124825" y="1400175"/>
            <a:ext cx="1435118" cy="194310"/>
          </a:xfrm>
          <a:prstGeom prst="rect">
            <a:avLst/>
          </a:prstGeom>
          <a:noFill/>
        </p:spPr>
        <p:txBody>
          <a:bodyPr wrap="none" lIns="0" rIns="0" tIns="0" bIns="0">
            <a:spAutoFit/>
          </a:bodyPr>
          <a:lstStyle/>
          <a:p>
            <a:r>
              <a:rPr sz="1150" b="0">
                <a:solidFill>
                  <a:srgbClr val="2E2E2E"/>
                </a:solidFill>
                <a:latin typeface="Calibri"/>
              </a:rPr>
              <a:t>▪ 'Foam Sheets, Rolls &amp;</a:t>
            </a:r>
          </a:p>
        </p:txBody>
      </p:sp>
      <p:sp>
        <p:nvSpPr>
          <p:cNvPr id="60" name="TextBox 59"/>
          <p:cNvSpPr txBox="1"/>
          <p:nvPr/>
        </p:nvSpPr>
        <p:spPr>
          <a:xfrm>
            <a:off x="8124825" y="1575435"/>
            <a:ext cx="1486178" cy="194310"/>
          </a:xfrm>
          <a:prstGeom prst="rect">
            <a:avLst/>
          </a:prstGeom>
          <a:noFill/>
        </p:spPr>
        <p:txBody>
          <a:bodyPr wrap="none" lIns="0" rIns="0" tIns="0" bIns="0">
            <a:spAutoFit/>
          </a:bodyPr>
          <a:lstStyle/>
          <a:p>
            <a:r>
              <a:rPr sz="1150" b="0">
                <a:solidFill>
                  <a:srgbClr val="2E2E2E"/>
                </a:solidFill>
                <a:latin typeface="Calibri"/>
              </a:rPr>
              <a:t>Planks × Foam Sheets &amp;</a:t>
            </a:r>
          </a:p>
        </p:txBody>
      </p:sp>
      <p:sp>
        <p:nvSpPr>
          <p:cNvPr id="61" name="TextBox 60"/>
          <p:cNvSpPr txBox="1"/>
          <p:nvPr/>
        </p:nvSpPr>
        <p:spPr>
          <a:xfrm>
            <a:off x="8124825" y="1750695"/>
            <a:ext cx="1035508" cy="194310"/>
          </a:xfrm>
          <a:prstGeom prst="rect">
            <a:avLst/>
          </a:prstGeom>
          <a:noFill/>
        </p:spPr>
        <p:txBody>
          <a:bodyPr wrap="none" lIns="0" rIns="0" tIns="0" bIns="0">
            <a:spAutoFit/>
          </a:bodyPr>
          <a:lstStyle/>
          <a:p>
            <a:r>
              <a:rPr sz="1150" b="0">
                <a:solidFill>
                  <a:srgbClr val="2E2E2E"/>
                </a:solidFill>
                <a:latin typeface="Calibri"/>
              </a:rPr>
              <a:t>Rolls' grows at a</a:t>
            </a:r>
          </a:p>
        </p:txBody>
      </p:sp>
      <p:pic>
        <p:nvPicPr>
          <p:cNvPr id="62" name="Picture 61" descr="lock.png"/>
          <p:cNvPicPr>
            <a:picLocks noChangeAspect="1"/>
          </p:cNvPicPr>
          <p:nvPr/>
        </p:nvPicPr>
        <p:blipFill>
          <a:blip r:embed="rId4"/>
          <a:stretch>
            <a:fillRect/>
          </a:stretch>
        </p:blipFill>
        <p:spPr>
          <a:xfrm>
            <a:off x="9109487" y="1740471"/>
            <a:ext cx="134549" cy="195707"/>
          </a:xfrm>
          <a:prstGeom prst="rect">
            <a:avLst/>
          </a:prstGeom>
        </p:spPr>
      </p:pic>
      <p:sp>
        <p:nvSpPr>
          <p:cNvPr id="63" name="TextBox 62"/>
          <p:cNvSpPr txBox="1"/>
          <p:nvPr/>
        </p:nvSpPr>
        <p:spPr>
          <a:xfrm>
            <a:off x="9284597" y="17506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4" name="Picture 63" descr="lock.png"/>
          <p:cNvPicPr>
            <a:picLocks noChangeAspect="1"/>
          </p:cNvPicPr>
          <p:nvPr/>
        </p:nvPicPr>
        <p:blipFill>
          <a:blip r:embed="rId4"/>
          <a:stretch>
            <a:fillRect/>
          </a:stretch>
        </p:blipFill>
        <p:spPr>
          <a:xfrm>
            <a:off x="8110745" y="1915731"/>
            <a:ext cx="134549" cy="195707"/>
          </a:xfrm>
          <a:prstGeom prst="rect">
            <a:avLst/>
          </a:prstGeom>
        </p:spPr>
      </p:pic>
      <p:sp>
        <p:nvSpPr>
          <p:cNvPr id="65" name="TextBox 64"/>
          <p:cNvSpPr txBox="1"/>
          <p:nvPr/>
        </p:nvSpPr>
        <p:spPr>
          <a:xfrm>
            <a:off x="8285854" y="1925955"/>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6" name="TextBox 65"/>
          <p:cNvSpPr txBox="1"/>
          <p:nvPr/>
        </p:nvSpPr>
        <p:spPr>
          <a:xfrm>
            <a:off x="8124825" y="2101215"/>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1885950"/>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2190750"/>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352800"/>
            <a:ext cx="7124700" cy="304800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Material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Product 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End-use Industry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Material Type × Product 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Form × End-use Industry</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Summary, By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(MT)</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(MT)</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739505" cy="186689"/>
          </a:xfrm>
          <a:prstGeom prst="rect">
            <a:avLst/>
          </a:prstGeom>
          <a:noFill/>
        </p:spPr>
        <p:txBody>
          <a:bodyPr wrap="none" lIns="0" rIns="0" tIns="0" bIns="0">
            <a:spAutoFit/>
          </a:bodyPr>
          <a:lstStyle/>
          <a:p>
            <a:r>
              <a:rPr sz="1100" b="0">
                <a:solidFill>
                  <a:srgbClr val="2E2E2E"/>
                </a:solidFill>
                <a:latin typeface="Calibri"/>
              </a:rPr>
              <a:t>North America foam protective packaging market is projected to</a:t>
            </a:r>
          </a:p>
        </p:txBody>
      </p:sp>
      <p:sp>
        <p:nvSpPr>
          <p:cNvPr id="33" name="TextBox 32"/>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4" name="Picture 33" descr="lock.png"/>
          <p:cNvPicPr>
            <a:picLocks noChangeAspect="1"/>
          </p:cNvPicPr>
          <p:nvPr/>
        </p:nvPicPr>
        <p:blipFill>
          <a:blip r:embed="rId6"/>
          <a:stretch>
            <a:fillRect/>
          </a:stretch>
        </p:blipFill>
        <p:spPr>
          <a:xfrm>
            <a:off x="8509166" y="2204848"/>
            <a:ext cx="128699" cy="187198"/>
          </a:xfrm>
          <a:prstGeom prst="rect">
            <a:avLst/>
          </a:prstGeom>
        </p:spPr>
      </p:pic>
      <p:sp>
        <p:nvSpPr>
          <p:cNvPr id="35" name="TextBox 34"/>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6" name="TextBox 35"/>
          <p:cNvSpPr txBox="1"/>
          <p:nvPr/>
        </p:nvSpPr>
        <p:spPr>
          <a:xfrm>
            <a:off x="8048625" y="2382267"/>
            <a:ext cx="3694757" cy="186689"/>
          </a:xfrm>
          <a:prstGeom prst="rect">
            <a:avLst/>
          </a:prstGeom>
          <a:noFill/>
        </p:spPr>
        <p:txBody>
          <a:bodyPr wrap="none" lIns="0" rIns="0" tIns="0" bIns="0">
            <a:spAutoFit/>
          </a:bodyPr>
          <a:lstStyle/>
          <a:p>
            <a:r>
              <a:rPr sz="1100" b="0">
                <a:solidFill>
                  <a:srgbClr val="2E2E2E"/>
                </a:solidFill>
                <a:latin typeface="Calibri"/>
              </a:rPr>
              <a:t>2036. North America foam protective packaging market volume</a:t>
            </a:r>
          </a:p>
        </p:txBody>
      </p:sp>
      <p:sp>
        <p:nvSpPr>
          <p:cNvPr id="37" name="TextBox 36"/>
          <p:cNvSpPr txBox="1"/>
          <p:nvPr/>
        </p:nvSpPr>
        <p:spPr>
          <a:xfrm>
            <a:off x="8048625" y="2549907"/>
            <a:ext cx="543867" cy="186689"/>
          </a:xfrm>
          <a:prstGeom prst="rect">
            <a:avLst/>
          </a:prstGeom>
          <a:noFill/>
        </p:spPr>
        <p:txBody>
          <a:bodyPr wrap="none" lIns="0" rIns="0" tIns="0" bIns="0">
            <a:spAutoFit/>
          </a:bodyPr>
          <a:lstStyle/>
          <a:p>
            <a:r>
              <a:rPr sz="1100" b="0">
                <a:solidFill>
                  <a:srgbClr val="2E2E2E"/>
                </a:solidFill>
                <a:latin typeface="Calibri"/>
              </a:rPr>
              <a:t>stood at</a:t>
            </a:r>
          </a:p>
        </p:txBody>
      </p:sp>
      <p:pic>
        <p:nvPicPr>
          <p:cNvPr id="38" name="Picture 37" descr="lock.png"/>
          <p:cNvPicPr>
            <a:picLocks noChangeAspect="1"/>
          </p:cNvPicPr>
          <p:nvPr/>
        </p:nvPicPr>
        <p:blipFill>
          <a:blip r:embed="rId6"/>
          <a:stretch>
            <a:fillRect/>
          </a:stretch>
        </p:blipFill>
        <p:spPr>
          <a:xfrm>
            <a:off x="8540544" y="2540128"/>
            <a:ext cx="128699" cy="187198"/>
          </a:xfrm>
          <a:prstGeom prst="rect">
            <a:avLst/>
          </a:prstGeom>
        </p:spPr>
      </p:pic>
      <p:sp>
        <p:nvSpPr>
          <p:cNvPr id="39" name="TextBox 38"/>
          <p:cNvSpPr txBox="1"/>
          <p:nvPr/>
        </p:nvSpPr>
        <p:spPr>
          <a:xfrm>
            <a:off x="8708039" y="2549907"/>
            <a:ext cx="2135956" cy="186689"/>
          </a:xfrm>
          <a:prstGeom prst="rect">
            <a:avLst/>
          </a:prstGeom>
          <a:noFill/>
        </p:spPr>
        <p:txBody>
          <a:bodyPr wrap="none" lIns="0" rIns="0" tIns="0" bIns="0">
            <a:spAutoFit/>
          </a:bodyPr>
          <a:lstStyle/>
          <a:p>
            <a:r>
              <a:rPr sz="1100" b="0">
                <a:solidFill>
                  <a:srgbClr val="2E2E2E"/>
                </a:solidFill>
                <a:latin typeface="Calibri"/>
              </a:rPr>
              <a:t>MT in 2025 and is expected to reach</a:t>
            </a:r>
          </a:p>
        </p:txBody>
      </p:sp>
      <p:pic>
        <p:nvPicPr>
          <p:cNvPr id="40" name="Picture 39" descr="lock.png"/>
          <p:cNvPicPr>
            <a:picLocks noChangeAspect="1"/>
          </p:cNvPicPr>
          <p:nvPr/>
        </p:nvPicPr>
        <p:blipFill>
          <a:blip r:embed="rId6"/>
          <a:stretch>
            <a:fillRect/>
          </a:stretch>
        </p:blipFill>
        <p:spPr>
          <a:xfrm>
            <a:off x="10792048" y="2540128"/>
            <a:ext cx="128699" cy="187198"/>
          </a:xfrm>
          <a:prstGeom prst="rect">
            <a:avLst/>
          </a:prstGeom>
        </p:spPr>
      </p:pic>
      <p:sp>
        <p:nvSpPr>
          <p:cNvPr id="41" name="TextBox 40"/>
          <p:cNvSpPr txBox="1"/>
          <p:nvPr/>
        </p:nvSpPr>
        <p:spPr>
          <a:xfrm>
            <a:off x="10959543" y="2549907"/>
            <a:ext cx="747687" cy="186689"/>
          </a:xfrm>
          <a:prstGeom prst="rect">
            <a:avLst/>
          </a:prstGeom>
          <a:noFill/>
        </p:spPr>
        <p:txBody>
          <a:bodyPr wrap="none" lIns="0" rIns="0" tIns="0" bIns="0">
            <a:spAutoFit/>
          </a:bodyPr>
          <a:lstStyle/>
          <a:p>
            <a:r>
              <a:rPr sz="1100" b="0">
                <a:solidFill>
                  <a:srgbClr val="2E2E2E"/>
                </a:solidFill>
                <a:latin typeface="Calibri"/>
              </a:rPr>
              <a:t>MT by 2036</a:t>
            </a:r>
          </a:p>
        </p:txBody>
      </p:sp>
      <p:sp>
        <p:nvSpPr>
          <p:cNvPr id="42" name="TextBox 41"/>
          <p:cNvSpPr txBox="1"/>
          <p:nvPr/>
        </p:nvSpPr>
        <p:spPr>
          <a:xfrm>
            <a:off x="8048625" y="2717547"/>
            <a:ext cx="1070181" cy="186689"/>
          </a:xfrm>
          <a:prstGeom prst="rect">
            <a:avLst/>
          </a:prstGeom>
          <a:noFill/>
        </p:spPr>
        <p:txBody>
          <a:bodyPr wrap="none" lIns="0" rIns="0" tIns="0" bIns="0">
            <a:spAutoFit/>
          </a:bodyPr>
          <a:lstStyle/>
          <a:p>
            <a:r>
              <a:rPr sz="1100" b="0">
                <a:solidFill>
                  <a:srgbClr val="2E2E2E"/>
                </a:solidFill>
                <a:latin typeface="Calibri"/>
              </a:rPr>
              <a:t>end, at a CAGR of</a:t>
            </a:r>
          </a:p>
        </p:txBody>
      </p:sp>
      <p:pic>
        <p:nvPicPr>
          <p:cNvPr id="43" name="Picture 42" descr="lock.png"/>
          <p:cNvPicPr>
            <a:picLocks noChangeAspect="1"/>
          </p:cNvPicPr>
          <p:nvPr/>
        </p:nvPicPr>
        <p:blipFill>
          <a:blip r:embed="rId6"/>
          <a:stretch>
            <a:fillRect/>
          </a:stretch>
        </p:blipFill>
        <p:spPr>
          <a:xfrm>
            <a:off x="9066857" y="2707768"/>
            <a:ext cx="128699" cy="187198"/>
          </a:xfrm>
          <a:prstGeom prst="rect">
            <a:avLst/>
          </a:prstGeom>
        </p:spPr>
      </p:pic>
      <p:sp>
        <p:nvSpPr>
          <p:cNvPr id="44" name="TextBox 43"/>
          <p:cNvSpPr txBox="1"/>
          <p:nvPr/>
        </p:nvSpPr>
        <p:spPr>
          <a:xfrm>
            <a:off x="92343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6" name="TextBox 45"/>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7" name="TextBox 46"/>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48" name="Picture 47" descr="lock.png"/>
          <p:cNvPicPr>
            <a:picLocks noChangeAspect="1"/>
          </p:cNvPicPr>
          <p:nvPr/>
        </p:nvPicPr>
        <p:blipFill>
          <a:blip r:embed="rId6"/>
          <a:stretch>
            <a:fillRect/>
          </a:stretch>
        </p:blipFill>
        <p:spPr>
          <a:xfrm>
            <a:off x="10136079" y="4446251"/>
            <a:ext cx="134549" cy="195707"/>
          </a:xfrm>
          <a:prstGeom prst="rect">
            <a:avLst/>
          </a:prstGeom>
        </p:spPr>
      </p:pic>
      <p:sp>
        <p:nvSpPr>
          <p:cNvPr id="49" name="TextBox 48"/>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8048625" y="4684312"/>
            <a:ext cx="3425905" cy="194310"/>
          </a:xfrm>
          <a:prstGeom prst="rect">
            <a:avLst/>
          </a:prstGeom>
          <a:noFill/>
        </p:spPr>
        <p:txBody>
          <a:bodyPr wrap="none" lIns="0" rIns="0" tIns="0" bIns="0">
            <a:spAutoFit/>
          </a:bodyPr>
          <a:lstStyle/>
          <a:p>
            <a:r>
              <a:rPr sz="1150" b="0">
                <a:solidFill>
                  <a:srgbClr val="2E2E2E"/>
                </a:solidFill>
                <a:latin typeface="Calibri"/>
              </a:rPr>
              <a:t>▪ Demand concentrates in 'Other Foam Materials' within</a:t>
            </a:r>
          </a:p>
        </p:txBody>
      </p:sp>
      <p:sp>
        <p:nvSpPr>
          <p:cNvPr id="51" name="TextBox 50"/>
          <p:cNvSpPr txBox="1"/>
          <p:nvPr/>
        </p:nvSpPr>
        <p:spPr>
          <a:xfrm>
            <a:off x="8048625" y="4859572"/>
            <a:ext cx="937952" cy="194310"/>
          </a:xfrm>
          <a:prstGeom prst="rect">
            <a:avLst/>
          </a:prstGeom>
          <a:noFill/>
        </p:spPr>
        <p:txBody>
          <a:bodyPr wrap="none" lIns="0" rIns="0" tIns="0" bIns="0">
            <a:spAutoFit/>
          </a:bodyPr>
          <a:lstStyle/>
          <a:p>
            <a:r>
              <a:rPr sz="1150" b="0">
                <a:solidFill>
                  <a:srgbClr val="2E2E2E"/>
                </a:solidFill>
                <a:latin typeface="Calibri"/>
              </a:rPr>
              <a:t>Material Type.</a:t>
            </a:r>
          </a:p>
        </p:txBody>
      </p:sp>
      <p:sp>
        <p:nvSpPr>
          <p:cNvPr id="52" name="TextBox 51"/>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3" name="TextBox 52"/>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4"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Material Type  ·  range across 2021–2036 (US$/MT)</a:t>
            </a:r>
          </a:p>
        </p:txBody>
      </p:sp>
      <p:cxnSp>
        <p:nvCxnSpPr>
          <p:cNvPr id="9" name="Connector 8"/>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TMR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TMR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TMR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358265" y="2390908"/>
            <a:ext cx="0" cy="63951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26820" y="303042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26820" y="239090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139190" y="2569349"/>
            <a:ext cx="438150" cy="318646"/>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139190" y="2734651"/>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2238508"/>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2760345" y="2404444"/>
            <a:ext cx="0" cy="53388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28900" y="293832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28900" y="240444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541270" y="2549730"/>
            <a:ext cx="438150" cy="266412"/>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541270" y="2686777"/>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59305" y="2252044"/>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4162425" y="1662416"/>
            <a:ext cx="0" cy="68730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030980" y="234971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0309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943350" y="1849768"/>
            <a:ext cx="438150" cy="342933"/>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943350" y="2026274"/>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461385" y="151001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1" name="Connector 40"/>
          <p:cNvCxnSpPr/>
          <p:nvPr/>
        </p:nvCxnSpPr>
        <p:spPr>
          <a:xfrm flipV="1">
            <a:off x="5564505" y="2549682"/>
            <a:ext cx="0" cy="50920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3306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433060" y="254968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45430" y="2688384"/>
            <a:ext cx="438150" cy="254080"/>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5345430" y="2819127"/>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863465" y="2397282"/>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7" name="Connector 46"/>
          <p:cNvCxnSpPr/>
          <p:nvPr/>
        </p:nvCxnSpPr>
        <p:spPr>
          <a:xfrm flipV="1">
            <a:off x="6966585" y="2250676"/>
            <a:ext cx="0" cy="55899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835140" y="280967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835140" y="225067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747510" y="2401860"/>
            <a:ext cx="438150" cy="279155"/>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6747510" y="2545194"/>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65545" y="209827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53" name="TextBox 52"/>
          <p:cNvSpPr txBox="1"/>
          <p:nvPr/>
        </p:nvSpPr>
        <p:spPr>
          <a:xfrm>
            <a:off x="65722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Polyethylene (PE) Foam</a:t>
            </a:r>
          </a:p>
        </p:txBody>
      </p:sp>
      <p:sp>
        <p:nvSpPr>
          <p:cNvPr id="54" name="TextBox 53"/>
          <p:cNvSpPr txBox="1"/>
          <p:nvPr/>
        </p:nvSpPr>
        <p:spPr>
          <a:xfrm>
            <a:off x="205930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Polystyrene</a:t>
            </a:r>
          </a:p>
        </p:txBody>
      </p:sp>
      <p:sp>
        <p:nvSpPr>
          <p:cNvPr id="55" name="TextBox 54"/>
          <p:cNvSpPr txBox="1"/>
          <p:nvPr/>
        </p:nvSpPr>
        <p:spPr>
          <a:xfrm>
            <a:off x="346138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Polyurethane (PU) Foam</a:t>
            </a:r>
          </a:p>
        </p:txBody>
      </p:sp>
      <p:sp>
        <p:nvSpPr>
          <p:cNvPr id="56" name="TextBox 55"/>
          <p:cNvSpPr txBox="1"/>
          <p:nvPr/>
        </p:nvSpPr>
        <p:spPr>
          <a:xfrm>
            <a:off x="486346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Polypropylene</a:t>
            </a:r>
          </a:p>
        </p:txBody>
      </p:sp>
      <p:sp>
        <p:nvSpPr>
          <p:cNvPr id="57" name="TextBox 56"/>
          <p:cNvSpPr txBox="1"/>
          <p:nvPr/>
        </p:nvSpPr>
        <p:spPr>
          <a:xfrm>
            <a:off x="626554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Other Foam Materials</a:t>
            </a:r>
          </a:p>
        </p:txBody>
      </p:sp>
      <p:sp>
        <p:nvSpPr>
          <p:cNvPr id="58" name="Rounded Rectangle 57"/>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60" name="Connector 59"/>
          <p:cNvCxnSpPr/>
          <p:nvPr/>
        </p:nvCxnSpPr>
        <p:spPr>
          <a:xfrm>
            <a:off x="619125" y="432457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125" y="475884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19125" y="562738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19125" y="606165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19125" y="4324574"/>
            <a:ext cx="0" cy="173708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90550" y="432457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90550" y="47588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90550" y="562738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90550" y="606165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1" name="TMR Scale tick"/>
          <p:cNvSpPr txBox="1"/>
          <p:nvPr/>
        </p:nvSpPr>
        <p:spPr>
          <a:xfrm>
            <a:off x="138112" y="4257899"/>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72" name="TMR Scale tick"/>
          <p:cNvSpPr txBox="1"/>
          <p:nvPr/>
        </p:nvSpPr>
        <p:spPr>
          <a:xfrm>
            <a:off x="138112" y="4692170"/>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73" name="TMR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74" name="TMR Scale tick"/>
          <p:cNvSpPr txBox="1"/>
          <p:nvPr/>
        </p:nvSpPr>
        <p:spPr>
          <a:xfrm>
            <a:off x="164306" y="5560712"/>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75" name="TMR Scale tick"/>
          <p:cNvSpPr txBox="1"/>
          <p:nvPr/>
        </p:nvSpPr>
        <p:spPr>
          <a:xfrm>
            <a:off x="164306" y="5994983"/>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76" name="Connector 75"/>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2152650" y="5193116"/>
            <a:ext cx="457200" cy="33283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MR Data Label"/>
          <p:cNvSpPr txBox="1"/>
          <p:nvPr/>
        </p:nvSpPr>
        <p:spPr>
          <a:xfrm>
            <a:off x="619125" y="5535476"/>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Rectangle 78"/>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MR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1" name="TextBox 80"/>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82" name="TextBox 81"/>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83" name="Rounded Rectangle 82"/>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85" name="Rectangle 84"/>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87" name="Rectangle 8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89" name="Picture 88" descr="lock.png"/>
          <p:cNvPicPr>
            <a:picLocks noChangeAspect="1"/>
          </p:cNvPicPr>
          <p:nvPr/>
        </p:nvPicPr>
        <p:blipFill>
          <a:blip r:embed="rId4"/>
          <a:stretch>
            <a:fillRect/>
          </a:stretch>
        </p:blipFill>
        <p:spPr>
          <a:xfrm>
            <a:off x="1293915" y="2211584"/>
            <a:ext cx="128699" cy="187198"/>
          </a:xfrm>
          <a:prstGeom prst="rect">
            <a:avLst/>
          </a:prstGeom>
        </p:spPr>
      </p:pic>
      <p:pic>
        <p:nvPicPr>
          <p:cNvPr id="90" name="Picture 89" descr="lock.png"/>
          <p:cNvPicPr>
            <a:picLocks noChangeAspect="1"/>
          </p:cNvPicPr>
          <p:nvPr/>
        </p:nvPicPr>
        <p:blipFill>
          <a:blip r:embed="rId4"/>
          <a:stretch>
            <a:fillRect/>
          </a:stretch>
        </p:blipFill>
        <p:spPr>
          <a:xfrm>
            <a:off x="2695995" y="2225120"/>
            <a:ext cx="128699" cy="187198"/>
          </a:xfrm>
          <a:prstGeom prst="rect">
            <a:avLst/>
          </a:prstGeom>
        </p:spPr>
      </p:pic>
      <p:pic>
        <p:nvPicPr>
          <p:cNvPr id="91" name="Picture 90" descr="lock.png"/>
          <p:cNvPicPr>
            <a:picLocks noChangeAspect="1"/>
          </p:cNvPicPr>
          <p:nvPr/>
        </p:nvPicPr>
        <p:blipFill>
          <a:blip r:embed="rId4"/>
          <a:stretch>
            <a:fillRect/>
          </a:stretch>
        </p:blipFill>
        <p:spPr>
          <a:xfrm>
            <a:off x="4098075" y="1483092"/>
            <a:ext cx="128699" cy="187198"/>
          </a:xfrm>
          <a:prstGeom prst="rect">
            <a:avLst/>
          </a:prstGeom>
        </p:spPr>
      </p:pic>
      <p:pic>
        <p:nvPicPr>
          <p:cNvPr id="92" name="Picture 91" descr="lock.png"/>
          <p:cNvPicPr>
            <a:picLocks noChangeAspect="1"/>
          </p:cNvPicPr>
          <p:nvPr/>
        </p:nvPicPr>
        <p:blipFill>
          <a:blip r:embed="rId4"/>
          <a:stretch>
            <a:fillRect/>
          </a:stretch>
        </p:blipFill>
        <p:spPr>
          <a:xfrm>
            <a:off x="5500155" y="2370358"/>
            <a:ext cx="128699" cy="187198"/>
          </a:xfrm>
          <a:prstGeom prst="rect">
            <a:avLst/>
          </a:prstGeom>
        </p:spPr>
      </p:pic>
      <p:pic>
        <p:nvPicPr>
          <p:cNvPr id="93" name="Picture 92" descr="lock.png"/>
          <p:cNvPicPr>
            <a:picLocks noChangeAspect="1"/>
          </p:cNvPicPr>
          <p:nvPr/>
        </p:nvPicPr>
        <p:blipFill>
          <a:blip r:embed="rId4"/>
          <a:stretch>
            <a:fillRect/>
          </a:stretch>
        </p:blipFill>
        <p:spPr>
          <a:xfrm>
            <a:off x="6902235" y="2071352"/>
            <a:ext cx="128699" cy="187198"/>
          </a:xfrm>
          <a:prstGeom prst="rect">
            <a:avLst/>
          </a:prstGeom>
        </p:spPr>
      </p:pic>
      <p:pic>
        <p:nvPicPr>
          <p:cNvPr id="94" name="Picture 93" descr="lock.png"/>
          <p:cNvPicPr>
            <a:picLocks noChangeAspect="1"/>
          </p:cNvPicPr>
          <p:nvPr/>
        </p:nvPicPr>
        <p:blipFill>
          <a:blip r:embed="rId4"/>
          <a:stretch>
            <a:fillRect/>
          </a:stretch>
        </p:blipFill>
        <p:spPr>
          <a:xfrm>
            <a:off x="2316900" y="5508551"/>
            <a:ext cx="128699" cy="187198"/>
          </a:xfrm>
          <a:prstGeom prst="rect">
            <a:avLst/>
          </a:prstGeom>
        </p:spPr>
      </p:pic>
      <p:pic>
        <p:nvPicPr>
          <p:cNvPr id="95" name="Picture 94" descr="lock.png"/>
          <p:cNvPicPr>
            <a:picLocks noChangeAspect="1"/>
          </p:cNvPicPr>
          <p:nvPr/>
        </p:nvPicPr>
        <p:blipFill>
          <a:blip r:embed="rId4"/>
          <a:stretch>
            <a:fillRect/>
          </a:stretch>
        </p:blipFill>
        <p:spPr>
          <a:xfrm>
            <a:off x="5841150" y="4267488"/>
            <a:ext cx="128699" cy="187198"/>
          </a:xfrm>
          <a:prstGeom prst="rect">
            <a:avLst/>
          </a:prstGeom>
        </p:spPr>
      </p:pic>
      <p:sp>
        <p:nvSpPr>
          <p:cNvPr id="96" name="TextBox 95"/>
          <p:cNvSpPr txBox="1"/>
          <p:nvPr/>
        </p:nvSpPr>
        <p:spPr>
          <a:xfrm>
            <a:off x="8048625" y="1471995"/>
            <a:ext cx="3775657" cy="194310"/>
          </a:xfrm>
          <a:prstGeom prst="rect">
            <a:avLst/>
          </a:prstGeom>
          <a:noFill/>
        </p:spPr>
        <p:txBody>
          <a:bodyPr wrap="none" lIns="0" rIns="0" tIns="0" bIns="0">
            <a:spAutoFit/>
          </a:bodyPr>
          <a:lstStyle/>
          <a:p>
            <a:r>
              <a:rPr sz="1150" b="0">
                <a:solidFill>
                  <a:srgbClr val="2E2E2E"/>
                </a:solidFill>
                <a:latin typeface="Calibri"/>
              </a:rPr>
              <a:t>Polyurethane (PU) foam segment is expected to command the</a:t>
            </a:r>
          </a:p>
        </p:txBody>
      </p:sp>
      <p:sp>
        <p:nvSpPr>
          <p:cNvPr id="97" name="TextBox 96"/>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98" name="Picture 97" descr="lock.png"/>
          <p:cNvPicPr>
            <a:picLocks noChangeAspect="1"/>
          </p:cNvPicPr>
          <p:nvPr/>
        </p:nvPicPr>
        <p:blipFill>
          <a:blip r:embed="rId4"/>
          <a:stretch>
            <a:fillRect/>
          </a:stretch>
        </p:blipFill>
        <p:spPr>
          <a:xfrm>
            <a:off x="9764678" y="1637031"/>
            <a:ext cx="134549" cy="195707"/>
          </a:xfrm>
          <a:prstGeom prst="rect">
            <a:avLst/>
          </a:prstGeom>
        </p:spPr>
      </p:pic>
      <p:sp>
        <p:nvSpPr>
          <p:cNvPr id="99" name="TextBox 98"/>
          <p:cNvSpPr txBox="1"/>
          <p:nvPr/>
        </p:nvSpPr>
        <p:spPr>
          <a:xfrm>
            <a:off x="9939788" y="1647255"/>
            <a:ext cx="1534663" cy="194310"/>
          </a:xfrm>
          <a:prstGeom prst="rect">
            <a:avLst/>
          </a:prstGeom>
          <a:noFill/>
        </p:spPr>
        <p:txBody>
          <a:bodyPr wrap="none" lIns="0" rIns="0" tIns="0" bIns="0">
            <a:spAutoFit/>
          </a:bodyPr>
          <a:lstStyle/>
          <a:p>
            <a:r>
              <a:rPr sz="1150" b="0">
                <a:solidFill>
                  <a:srgbClr val="2E2E2E"/>
                </a:solidFill>
                <a:latin typeface="Calibri"/>
              </a:rPr>
              <a:t>per MT in 2036. Average</a:t>
            </a:r>
          </a:p>
        </p:txBody>
      </p:sp>
      <p:sp>
        <p:nvSpPr>
          <p:cNvPr id="100" name="TextBox 99"/>
          <p:cNvSpPr txBox="1"/>
          <p:nvPr/>
        </p:nvSpPr>
        <p:spPr>
          <a:xfrm>
            <a:off x="8048625" y="1822515"/>
            <a:ext cx="3720889" cy="194310"/>
          </a:xfrm>
          <a:prstGeom prst="rect">
            <a:avLst/>
          </a:prstGeom>
          <a:noFill/>
        </p:spPr>
        <p:txBody>
          <a:bodyPr wrap="none" lIns="0" rIns="0" tIns="0" bIns="0">
            <a:spAutoFit/>
          </a:bodyPr>
          <a:lstStyle/>
          <a:p>
            <a:r>
              <a:rPr sz="1150" b="0">
                <a:solidFill>
                  <a:srgbClr val="2E2E2E"/>
                </a:solidFill>
                <a:latin typeface="Calibri"/>
              </a:rPr>
              <a:t>selling price of foam protective packaging is estimated at US$</a:t>
            </a:r>
          </a:p>
        </p:txBody>
      </p:sp>
      <p:pic>
        <p:nvPicPr>
          <p:cNvPr id="101" name="Picture 100" descr="lock.png"/>
          <p:cNvPicPr>
            <a:picLocks noChangeAspect="1"/>
          </p:cNvPicPr>
          <p:nvPr/>
        </p:nvPicPr>
        <p:blipFill>
          <a:blip r:embed="rId4"/>
          <a:stretch>
            <a:fillRect/>
          </a:stretch>
        </p:blipFill>
        <p:spPr>
          <a:xfrm>
            <a:off x="8034545" y="1987551"/>
            <a:ext cx="134549" cy="195707"/>
          </a:xfrm>
          <a:prstGeom prst="rect">
            <a:avLst/>
          </a:prstGeom>
        </p:spPr>
      </p:pic>
      <p:sp>
        <p:nvSpPr>
          <p:cNvPr id="102" name="TextBox 101"/>
          <p:cNvSpPr txBox="1"/>
          <p:nvPr/>
        </p:nvSpPr>
        <p:spPr>
          <a:xfrm>
            <a:off x="8209654" y="1997775"/>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103" name="Picture 102" descr="lock.png"/>
          <p:cNvPicPr>
            <a:picLocks noChangeAspect="1"/>
          </p:cNvPicPr>
          <p:nvPr/>
        </p:nvPicPr>
        <p:blipFill>
          <a:blip r:embed="rId4"/>
          <a:stretch>
            <a:fillRect/>
          </a:stretch>
        </p:blipFill>
        <p:spPr>
          <a:xfrm>
            <a:off x="11239873" y="1987551"/>
            <a:ext cx="134549" cy="195707"/>
          </a:xfrm>
          <a:prstGeom prst="rect">
            <a:avLst/>
          </a:prstGeom>
        </p:spPr>
      </p:pic>
      <p:sp>
        <p:nvSpPr>
          <p:cNvPr id="104" name="TextBox 103"/>
          <p:cNvSpPr txBox="1"/>
          <p:nvPr/>
        </p:nvSpPr>
        <p:spPr>
          <a:xfrm>
            <a:off x="11414982" y="199777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05" name="TextBox 104"/>
          <p:cNvSpPr txBox="1"/>
          <p:nvPr/>
        </p:nvSpPr>
        <p:spPr>
          <a:xfrm>
            <a:off x="8048625" y="2173035"/>
            <a:ext cx="815007" cy="194310"/>
          </a:xfrm>
          <a:prstGeom prst="rect">
            <a:avLst/>
          </a:prstGeom>
          <a:noFill/>
        </p:spPr>
        <p:txBody>
          <a:bodyPr wrap="none" lIns="0" rIns="0" tIns="0" bIns="0">
            <a:spAutoFit/>
          </a:bodyPr>
          <a:lstStyle/>
          <a:p>
            <a:r>
              <a:rPr sz="1150" b="0">
                <a:solidFill>
                  <a:srgbClr val="2E2E2E"/>
                </a:solidFill>
                <a:latin typeface="Calibri"/>
              </a:rPr>
              <a:t>MT by 2036.</a:t>
            </a:r>
          </a:p>
        </p:txBody>
      </p:sp>
      <p:sp>
        <p:nvSpPr>
          <p:cNvPr id="106" name="TextBox 105"/>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107" name="TextBox 106"/>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08" name="Picture 107" descr="lock.png"/>
          <p:cNvPicPr>
            <a:picLocks noChangeAspect="1"/>
          </p:cNvPicPr>
          <p:nvPr/>
        </p:nvPicPr>
        <p:blipFill>
          <a:blip r:embed="rId4"/>
          <a:stretch>
            <a:fillRect/>
          </a:stretch>
        </p:blipFill>
        <p:spPr>
          <a:xfrm>
            <a:off x="8034545" y="2741169"/>
            <a:ext cx="134549" cy="195707"/>
          </a:xfrm>
          <a:prstGeom prst="rect">
            <a:avLst/>
          </a:prstGeom>
        </p:spPr>
      </p:pic>
      <p:sp>
        <p:nvSpPr>
          <p:cNvPr id="109" name="TextBox 108"/>
          <p:cNvSpPr txBox="1"/>
          <p:nvPr/>
        </p:nvSpPr>
        <p:spPr>
          <a:xfrm>
            <a:off x="8209654" y="2751393"/>
            <a:ext cx="3081349" cy="194310"/>
          </a:xfrm>
          <a:prstGeom prst="rect">
            <a:avLst/>
          </a:prstGeom>
          <a:noFill/>
        </p:spPr>
        <p:txBody>
          <a:bodyPr wrap="none" lIns="0" rIns="0" tIns="0" bIns="0">
            <a:spAutoFit/>
          </a:bodyPr>
          <a:lstStyle/>
          <a:p>
            <a:r>
              <a:rPr sz="1150" b="0">
                <a:solidFill>
                  <a:srgbClr val="2E2E2E"/>
                </a:solidFill>
                <a:latin typeface="Calibri"/>
              </a:rPr>
              <a:t>US$/MT, 1 of 2 countries price above and 1 below.</a:t>
            </a:r>
          </a:p>
        </p:txBody>
      </p:sp>
      <p:sp>
        <p:nvSpPr>
          <p:cNvPr id="110" name="TextBox 109"/>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11" name="Picture 110" descr="lock.png"/>
          <p:cNvPicPr>
            <a:picLocks noChangeAspect="1"/>
          </p:cNvPicPr>
          <p:nvPr/>
        </p:nvPicPr>
        <p:blipFill>
          <a:blip r:embed="rId4"/>
          <a:stretch>
            <a:fillRect/>
          </a:stretch>
        </p:blipFill>
        <p:spPr>
          <a:xfrm>
            <a:off x="9675109" y="2969007"/>
            <a:ext cx="134549" cy="195707"/>
          </a:xfrm>
          <a:prstGeom prst="rect">
            <a:avLst/>
          </a:prstGeom>
        </p:spPr>
      </p:pic>
      <p:sp>
        <p:nvSpPr>
          <p:cNvPr id="112" name="TextBox 111"/>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13" name="TextBox 112"/>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14" name="Picture 113" descr="lock.png"/>
          <p:cNvPicPr>
            <a:picLocks noChangeAspect="1"/>
          </p:cNvPicPr>
          <p:nvPr/>
        </p:nvPicPr>
        <p:blipFill>
          <a:blip r:embed="rId4"/>
          <a:stretch>
            <a:fillRect/>
          </a:stretch>
        </p:blipFill>
        <p:spPr>
          <a:xfrm>
            <a:off x="8840741" y="3144267"/>
            <a:ext cx="134549" cy="195707"/>
          </a:xfrm>
          <a:prstGeom prst="rect">
            <a:avLst/>
          </a:prstGeom>
        </p:spPr>
      </p:pic>
      <p:sp>
        <p:nvSpPr>
          <p:cNvPr id="115" name="TextBox 114"/>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16" name="TextBox 115"/>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3051231"/>
          </a:xfrm>
          <a:prstGeom prst="roundRect">
            <a:avLst>
              <a:gd name="adj" fmla="val 249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1" name="Rounded Rectangle 20"/>
          <p:cNvSpPr/>
          <p:nvPr/>
        </p:nvSpPr>
        <p:spPr>
          <a:xfrm>
            <a:off x="7915275" y="4733879"/>
            <a:ext cx="4133850" cy="1822506"/>
          </a:xfrm>
          <a:prstGeom prst="roundRect">
            <a:avLst>
              <a:gd name="adj" fmla="val 418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5057729"/>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502912" cy="186689"/>
          </a:xfrm>
          <a:prstGeom prst="rect">
            <a:avLst/>
          </a:prstGeom>
          <a:noFill/>
        </p:spPr>
        <p:txBody>
          <a:bodyPr wrap="none" lIns="0" rIns="0" tIns="0" bIns="0">
            <a:spAutoFit/>
          </a:bodyPr>
          <a:lstStyle/>
          <a:p>
            <a:r>
              <a:rPr sz="1100" b="0">
                <a:solidFill>
                  <a:srgbClr val="2E2E2E"/>
                </a:solidFill>
                <a:latin typeface="Calibri"/>
              </a:rPr>
              <a:t>Foam protective packaging market value in North America is</a:t>
            </a:r>
          </a:p>
        </p:txBody>
      </p:sp>
      <p:sp>
        <p:nvSpPr>
          <p:cNvPr id="33" name="TextBox 32"/>
          <p:cNvSpPr txBox="1"/>
          <p:nvPr/>
        </p:nvSpPr>
        <p:spPr>
          <a:xfrm>
            <a:off x="8048625" y="2214627"/>
            <a:ext cx="1256555" cy="186689"/>
          </a:xfrm>
          <a:prstGeom prst="rect">
            <a:avLst/>
          </a:prstGeom>
          <a:noFill/>
        </p:spPr>
        <p:txBody>
          <a:bodyPr wrap="none" lIns="0" rIns="0" tIns="0" bIns="0">
            <a:spAutoFit/>
          </a:bodyPr>
          <a:lstStyle/>
          <a:p>
            <a:r>
              <a:rPr sz="1100" b="0">
                <a:solidFill>
                  <a:srgbClr val="2E2E2E"/>
                </a:solidFill>
                <a:latin typeface="Calibri"/>
              </a:rPr>
              <a:t>expected to increase</a:t>
            </a:r>
          </a:p>
        </p:txBody>
      </p:sp>
      <p:pic>
        <p:nvPicPr>
          <p:cNvPr id="34" name="Picture 33" descr="lock.png"/>
          <p:cNvPicPr>
            <a:picLocks noChangeAspect="1"/>
          </p:cNvPicPr>
          <p:nvPr/>
        </p:nvPicPr>
        <p:blipFill>
          <a:blip r:embed="rId6"/>
          <a:stretch>
            <a:fillRect/>
          </a:stretch>
        </p:blipFill>
        <p:spPr>
          <a:xfrm>
            <a:off x="9253232" y="2204848"/>
            <a:ext cx="128699" cy="187198"/>
          </a:xfrm>
          <a:prstGeom prst="rect">
            <a:avLst/>
          </a:prstGeom>
        </p:spPr>
      </p:pic>
      <p:sp>
        <p:nvSpPr>
          <p:cNvPr id="35" name="TextBox 34"/>
          <p:cNvSpPr txBox="1"/>
          <p:nvPr/>
        </p:nvSpPr>
        <p:spPr>
          <a:xfrm>
            <a:off x="9420728" y="2214627"/>
            <a:ext cx="2306215" cy="186689"/>
          </a:xfrm>
          <a:prstGeom prst="rect">
            <a:avLst/>
          </a:prstGeom>
          <a:noFill/>
        </p:spPr>
        <p:txBody>
          <a:bodyPr wrap="none" lIns="0" rIns="0" tIns="0" bIns="0">
            <a:spAutoFit/>
          </a:bodyPr>
          <a:lstStyle/>
          <a:p>
            <a:r>
              <a:rPr sz="1100" b="0">
                <a:solidFill>
                  <a:srgbClr val="2E2E2E"/>
                </a:solidFill>
                <a:latin typeface="Calibri"/>
              </a:rPr>
              <a:t>X between 2025 and 2036. In 2025, the</a:t>
            </a:r>
          </a:p>
        </p:txBody>
      </p:sp>
      <p:sp>
        <p:nvSpPr>
          <p:cNvPr id="36" name="TextBox 35"/>
          <p:cNvSpPr txBox="1"/>
          <p:nvPr/>
        </p:nvSpPr>
        <p:spPr>
          <a:xfrm>
            <a:off x="8048625" y="2382267"/>
            <a:ext cx="3834730" cy="186689"/>
          </a:xfrm>
          <a:prstGeom prst="rect">
            <a:avLst/>
          </a:prstGeom>
          <a:noFill/>
        </p:spPr>
        <p:txBody>
          <a:bodyPr wrap="none" lIns="0" rIns="0" tIns="0" bIns="0">
            <a:spAutoFit/>
          </a:bodyPr>
          <a:lstStyle/>
          <a:p>
            <a:r>
              <a:rPr sz="1100" b="0">
                <a:solidFill>
                  <a:srgbClr val="2E2E2E"/>
                </a:solidFill>
                <a:latin typeface="Calibri"/>
              </a:rPr>
              <a:t>foam protective packaging market in North America was valued at</a:t>
            </a:r>
          </a:p>
        </p:txBody>
      </p:sp>
      <p:sp>
        <p:nvSpPr>
          <p:cNvPr id="37" name="TextBox 36"/>
          <p:cNvSpPr txBox="1"/>
          <p:nvPr/>
        </p:nvSpPr>
        <p:spPr>
          <a:xfrm>
            <a:off x="8048625" y="2549907"/>
            <a:ext cx="301029" cy="186689"/>
          </a:xfrm>
          <a:prstGeom prst="rect">
            <a:avLst/>
          </a:prstGeom>
          <a:noFill/>
        </p:spPr>
        <p:txBody>
          <a:bodyPr wrap="none" lIns="0" rIns="0" tIns="0" bIns="0">
            <a:spAutoFit/>
          </a:bodyPr>
          <a:lstStyle/>
          <a:p>
            <a:r>
              <a:rPr sz="1100" b="0">
                <a:solidFill>
                  <a:srgbClr val="2E2E2E"/>
                </a:solidFill>
                <a:latin typeface="Calibri"/>
              </a:rPr>
              <a:t>US$</a:t>
            </a:r>
          </a:p>
        </p:txBody>
      </p:sp>
      <p:pic>
        <p:nvPicPr>
          <p:cNvPr id="38" name="Picture 37" descr="lock.png"/>
          <p:cNvPicPr>
            <a:picLocks noChangeAspect="1"/>
          </p:cNvPicPr>
          <p:nvPr/>
        </p:nvPicPr>
        <p:blipFill>
          <a:blip r:embed="rId6"/>
          <a:stretch>
            <a:fillRect/>
          </a:stretch>
        </p:blipFill>
        <p:spPr>
          <a:xfrm>
            <a:off x="8297706" y="2540128"/>
            <a:ext cx="128699" cy="187198"/>
          </a:xfrm>
          <a:prstGeom prst="rect">
            <a:avLst/>
          </a:prstGeom>
        </p:spPr>
      </p:pic>
      <p:sp>
        <p:nvSpPr>
          <p:cNvPr id="39" name="TextBox 38"/>
          <p:cNvSpPr txBox="1"/>
          <p:nvPr/>
        </p:nvSpPr>
        <p:spPr>
          <a:xfrm>
            <a:off x="8465202" y="2549907"/>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40" name="Picture 39" descr="lock.png"/>
          <p:cNvPicPr>
            <a:picLocks noChangeAspect="1"/>
          </p:cNvPicPr>
          <p:nvPr/>
        </p:nvPicPr>
        <p:blipFill>
          <a:blip r:embed="rId6"/>
          <a:stretch>
            <a:fillRect/>
          </a:stretch>
        </p:blipFill>
        <p:spPr>
          <a:xfrm>
            <a:off x="10739114" y="2540128"/>
            <a:ext cx="128699" cy="187198"/>
          </a:xfrm>
          <a:prstGeom prst="rect">
            <a:avLst/>
          </a:prstGeom>
        </p:spPr>
      </p:pic>
      <p:sp>
        <p:nvSpPr>
          <p:cNvPr id="41" name="TextBox 40"/>
          <p:cNvSpPr txBox="1"/>
          <p:nvPr/>
        </p:nvSpPr>
        <p:spPr>
          <a:xfrm>
            <a:off x="10906610" y="2549907"/>
            <a:ext cx="907033" cy="186689"/>
          </a:xfrm>
          <a:prstGeom prst="rect">
            <a:avLst/>
          </a:prstGeom>
          <a:noFill/>
        </p:spPr>
        <p:txBody>
          <a:bodyPr wrap="none" lIns="0" rIns="0" tIns="0" bIns="0">
            <a:spAutoFit/>
          </a:bodyPr>
          <a:lstStyle/>
          <a:p>
            <a:r>
              <a:rPr sz="1100" b="0">
                <a:solidFill>
                  <a:srgbClr val="2E2E2E"/>
                </a:solidFill>
                <a:latin typeface="Calibri"/>
              </a:rPr>
              <a:t>Mn by the end</a:t>
            </a:r>
          </a:p>
        </p:txBody>
      </p:sp>
      <p:sp>
        <p:nvSpPr>
          <p:cNvPr id="42" name="TextBox 41"/>
          <p:cNvSpPr txBox="1"/>
          <p:nvPr/>
        </p:nvSpPr>
        <p:spPr>
          <a:xfrm>
            <a:off x="8048625" y="2717547"/>
            <a:ext cx="2392436" cy="186689"/>
          </a:xfrm>
          <a:prstGeom prst="rect">
            <a:avLst/>
          </a:prstGeom>
          <a:noFill/>
        </p:spPr>
        <p:txBody>
          <a:bodyPr wrap="none" lIns="0" rIns="0" tIns="0" bIns="0">
            <a:spAutoFit/>
          </a:bodyPr>
          <a:lstStyle/>
          <a:p>
            <a:r>
              <a:rPr sz="1100" b="0">
                <a:solidFill>
                  <a:srgbClr val="2E2E2E"/>
                </a:solidFill>
                <a:latin typeface="Calibri"/>
              </a:rPr>
              <a:t>of 2026, reflecting a Y-o-Y growth rate of</a:t>
            </a:r>
          </a:p>
        </p:txBody>
      </p:sp>
      <p:pic>
        <p:nvPicPr>
          <p:cNvPr id="43" name="Picture 42" descr="lock.png"/>
          <p:cNvPicPr>
            <a:picLocks noChangeAspect="1"/>
          </p:cNvPicPr>
          <p:nvPr/>
        </p:nvPicPr>
        <p:blipFill>
          <a:blip r:embed="rId6"/>
          <a:stretch>
            <a:fillRect/>
          </a:stretch>
        </p:blipFill>
        <p:spPr>
          <a:xfrm>
            <a:off x="10389113" y="2707768"/>
            <a:ext cx="128699" cy="187198"/>
          </a:xfrm>
          <a:prstGeom prst="rect">
            <a:avLst/>
          </a:prstGeom>
        </p:spPr>
      </p:pic>
      <p:sp>
        <p:nvSpPr>
          <p:cNvPr id="44" name="TextBox 43"/>
          <p:cNvSpPr txBox="1"/>
          <p:nvPr/>
        </p:nvSpPr>
        <p:spPr>
          <a:xfrm>
            <a:off x="10556609"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6" name="Picture 45" descr="lock.png"/>
          <p:cNvPicPr>
            <a:picLocks noChangeAspect="1"/>
          </p:cNvPicPr>
          <p:nvPr/>
        </p:nvPicPr>
        <p:blipFill>
          <a:blip r:embed="rId6"/>
          <a:stretch>
            <a:fillRect/>
          </a:stretch>
        </p:blipFill>
        <p:spPr>
          <a:xfrm>
            <a:off x="8035157" y="3093340"/>
            <a:ext cx="128699" cy="187198"/>
          </a:xfrm>
          <a:prstGeom prst="rect">
            <a:avLst/>
          </a:prstGeom>
        </p:spPr>
      </p:pic>
      <p:sp>
        <p:nvSpPr>
          <p:cNvPr id="47" name="TextBox 46"/>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48" name="Picture 47" descr="lock.png"/>
          <p:cNvPicPr>
            <a:picLocks noChangeAspect="1"/>
          </p:cNvPicPr>
          <p:nvPr/>
        </p:nvPicPr>
        <p:blipFill>
          <a:blip r:embed="rId6"/>
          <a:stretch>
            <a:fillRect/>
          </a:stretch>
        </p:blipFill>
        <p:spPr>
          <a:xfrm>
            <a:off x="9646261" y="3093340"/>
            <a:ext cx="128699" cy="187198"/>
          </a:xfrm>
          <a:prstGeom prst="rect">
            <a:avLst/>
          </a:prstGeom>
        </p:spPr>
      </p:pic>
      <p:sp>
        <p:nvSpPr>
          <p:cNvPr id="49" name="TextBox 48"/>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0" name="TextBox 49"/>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1" name="Picture 50" descr="lock.png"/>
          <p:cNvPicPr>
            <a:picLocks noChangeAspect="1"/>
          </p:cNvPicPr>
          <p:nvPr/>
        </p:nvPicPr>
        <p:blipFill>
          <a:blip r:embed="rId6"/>
          <a:stretch>
            <a:fillRect/>
          </a:stretch>
        </p:blipFill>
        <p:spPr>
          <a:xfrm>
            <a:off x="8035157" y="3428620"/>
            <a:ext cx="128699" cy="187198"/>
          </a:xfrm>
          <a:prstGeom prst="rect">
            <a:avLst/>
          </a:prstGeom>
        </p:spPr>
      </p:pic>
      <p:sp>
        <p:nvSpPr>
          <p:cNvPr id="52" name="TextBox 51"/>
          <p:cNvSpPr txBox="1"/>
          <p:nvPr/>
        </p:nvSpPr>
        <p:spPr>
          <a:xfrm>
            <a:off x="8202653" y="3438399"/>
            <a:ext cx="3392710" cy="186689"/>
          </a:xfrm>
          <a:prstGeom prst="rect">
            <a:avLst/>
          </a:prstGeom>
          <a:noFill/>
        </p:spPr>
        <p:txBody>
          <a:bodyPr wrap="none" lIns="0" rIns="0" tIns="0" bIns="0">
            <a:spAutoFit/>
          </a:bodyPr>
          <a:lstStyle/>
          <a:p>
            <a:r>
              <a:rPr sz="1100" b="0">
                <a:solidFill>
                  <a:srgbClr val="2E2E2E"/>
                </a:solidFill>
                <a:latin typeface="Calibri"/>
              </a:rPr>
              <a:t>Mn for the overall foam protective packaging market from</a:t>
            </a:r>
          </a:p>
        </p:txBody>
      </p:sp>
      <p:sp>
        <p:nvSpPr>
          <p:cNvPr id="53" name="TextBox 52"/>
          <p:cNvSpPr txBox="1"/>
          <p:nvPr/>
        </p:nvSpPr>
        <p:spPr>
          <a:xfrm>
            <a:off x="8048625" y="3606039"/>
            <a:ext cx="862831" cy="186689"/>
          </a:xfrm>
          <a:prstGeom prst="rect">
            <a:avLst/>
          </a:prstGeom>
          <a:noFill/>
        </p:spPr>
        <p:txBody>
          <a:bodyPr wrap="none" lIns="0" rIns="0" tIns="0" bIns="0">
            <a:spAutoFit/>
          </a:bodyPr>
          <a:lstStyle/>
          <a:p>
            <a:r>
              <a:rPr sz="1100" b="0">
                <a:solidFill>
                  <a:srgbClr val="2E2E2E"/>
                </a:solidFill>
                <a:latin typeface="Calibri"/>
              </a:rPr>
              <a:t>2025 to 2036.</a:t>
            </a:r>
          </a:p>
        </p:txBody>
      </p:sp>
      <p:sp>
        <p:nvSpPr>
          <p:cNvPr id="54" name="TextBox 53"/>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5" name="Picture 54" descr="lock.png"/>
          <p:cNvPicPr>
            <a:picLocks noChangeAspect="1"/>
          </p:cNvPicPr>
          <p:nvPr/>
        </p:nvPicPr>
        <p:blipFill>
          <a:blip r:embed="rId6"/>
          <a:stretch>
            <a:fillRect/>
          </a:stretch>
        </p:blipFill>
        <p:spPr>
          <a:xfrm>
            <a:off x="10833861" y="3814192"/>
            <a:ext cx="128699" cy="187198"/>
          </a:xfrm>
          <a:prstGeom prst="rect">
            <a:avLst/>
          </a:prstGeom>
        </p:spPr>
      </p:pic>
      <p:sp>
        <p:nvSpPr>
          <p:cNvPr id="56" name="TextBox 55"/>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7" name="TextBox 56"/>
          <p:cNvSpPr txBox="1"/>
          <p:nvPr/>
        </p:nvSpPr>
        <p:spPr>
          <a:xfrm>
            <a:off x="8048625" y="515297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8" name="Picture 57" descr="lock.png"/>
          <p:cNvPicPr>
            <a:picLocks noChangeAspect="1"/>
          </p:cNvPicPr>
          <p:nvPr/>
        </p:nvPicPr>
        <p:blipFill>
          <a:blip r:embed="rId6"/>
          <a:stretch>
            <a:fillRect/>
          </a:stretch>
        </p:blipFill>
        <p:spPr>
          <a:xfrm>
            <a:off x="10136079" y="5142755"/>
            <a:ext cx="134549" cy="195707"/>
          </a:xfrm>
          <a:prstGeom prst="rect">
            <a:avLst/>
          </a:prstGeom>
        </p:spPr>
      </p:pic>
      <p:sp>
        <p:nvSpPr>
          <p:cNvPr id="59" name="TextBox 58"/>
          <p:cNvSpPr txBox="1"/>
          <p:nvPr/>
        </p:nvSpPr>
        <p:spPr>
          <a:xfrm>
            <a:off x="10311188"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0" name="TextBox 59"/>
          <p:cNvSpPr txBox="1"/>
          <p:nvPr/>
        </p:nvSpPr>
        <p:spPr>
          <a:xfrm>
            <a:off x="8048625" y="5380816"/>
            <a:ext cx="3425905" cy="194310"/>
          </a:xfrm>
          <a:prstGeom prst="rect">
            <a:avLst/>
          </a:prstGeom>
          <a:noFill/>
        </p:spPr>
        <p:txBody>
          <a:bodyPr wrap="none" lIns="0" rIns="0" tIns="0" bIns="0">
            <a:spAutoFit/>
          </a:bodyPr>
          <a:lstStyle/>
          <a:p>
            <a:r>
              <a:rPr sz="1150" b="0">
                <a:solidFill>
                  <a:srgbClr val="2E2E2E"/>
                </a:solidFill>
                <a:latin typeface="Calibri"/>
              </a:rPr>
              <a:t>▪ Demand concentrates in 'Other Foam Materials' within</a:t>
            </a:r>
          </a:p>
        </p:txBody>
      </p:sp>
      <p:sp>
        <p:nvSpPr>
          <p:cNvPr id="61" name="TextBox 60"/>
          <p:cNvSpPr txBox="1"/>
          <p:nvPr/>
        </p:nvSpPr>
        <p:spPr>
          <a:xfrm>
            <a:off x="8048625" y="5556076"/>
            <a:ext cx="937952" cy="194310"/>
          </a:xfrm>
          <a:prstGeom prst="rect">
            <a:avLst/>
          </a:prstGeom>
          <a:noFill/>
        </p:spPr>
        <p:txBody>
          <a:bodyPr wrap="none" lIns="0" rIns="0" tIns="0" bIns="0">
            <a:spAutoFit/>
          </a:bodyPr>
          <a:lstStyle/>
          <a:p>
            <a:r>
              <a:rPr sz="1150" b="0">
                <a:solidFill>
                  <a:srgbClr val="2E2E2E"/>
                </a:solidFill>
                <a:latin typeface="Calibri"/>
              </a:rPr>
              <a:t>Material Type.</a:t>
            </a:r>
          </a:p>
        </p:txBody>
      </p:sp>
      <p:sp>
        <p:nvSpPr>
          <p:cNvPr id="62" name="TextBox 61"/>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3" name="TextBox 62"/>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4"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7" name="Rounded Rectangle 6"/>
          <p:cNvSpPr/>
          <p:nvPr/>
        </p:nvSpPr>
        <p:spPr>
          <a:xfrm>
            <a:off x="142875" y="981075"/>
            <a:ext cx="4695825"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9" name="Chart 8"/>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2" name="Chart 11"/>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 </a:t>
            </a:r>
          </a:p>
        </p:txBody>
      </p:sp>
      <p:sp>
        <p:nvSpPr>
          <p:cNvPr id="15" name="Rounded Rectangle 14"/>
          <p:cNvSpPr/>
          <p:nvPr/>
        </p:nvSpPr>
        <p:spPr>
          <a:xfrm>
            <a:off x="54768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457700"/>
            <a:ext cx="11906250" cy="2152650"/>
          </a:xfrm>
          <a:prstGeom prst="roundRect">
            <a:avLst>
              <a:gd name="adj" fmla="val 35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&amp; Value Analysis</a:t>
            </a:r>
          </a:p>
        </p:txBody>
      </p:sp>
      <p:sp>
        <p:nvSpPr>
          <p:cNvPr id="19" name="Rectangle 18"/>
          <p:cNvSpPr/>
          <p:nvPr/>
        </p:nvSpPr>
        <p:spPr>
          <a:xfrm>
            <a:off x="276225" y="47815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5356" y="2029222"/>
            <a:ext cx="202455" cy="294480"/>
          </a:xfrm>
          <a:prstGeom prst="rect">
            <a:avLst/>
          </a:prstGeom>
        </p:spPr>
      </p:pic>
      <p:pic>
        <p:nvPicPr>
          <p:cNvPr id="24" name="Picture 23" descr="lock.png"/>
          <p:cNvPicPr>
            <a:picLocks noChangeAspect="1"/>
          </p:cNvPicPr>
          <p:nvPr/>
        </p:nvPicPr>
        <p:blipFill>
          <a:blip r:embed="rId6"/>
          <a:stretch>
            <a:fillRect/>
          </a:stretch>
        </p:blipFill>
        <p:spPr>
          <a:xfrm>
            <a:off x="8532694" y="1990329"/>
            <a:ext cx="255933" cy="372266"/>
          </a:xfrm>
          <a:prstGeom prst="rect">
            <a:avLst/>
          </a:prstGeom>
        </p:spPr>
      </p:pic>
      <p:pic>
        <p:nvPicPr>
          <p:cNvPr id="25" name="Picture 24" descr="lock.png"/>
          <p:cNvPicPr>
            <a:picLocks noChangeAspect="1"/>
          </p:cNvPicPr>
          <p:nvPr/>
        </p:nvPicPr>
        <p:blipFill>
          <a:blip r:embed="rId6"/>
          <a:stretch>
            <a:fillRect/>
          </a:stretch>
        </p:blipFill>
        <p:spPr>
          <a:xfrm>
            <a:off x="1321594" y="3950970"/>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3950970"/>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3950970"/>
            <a:ext cx="157162" cy="228600"/>
          </a:xfrm>
          <a:prstGeom prst="rect">
            <a:avLst/>
          </a:prstGeom>
        </p:spPr>
      </p:pic>
      <p:sp>
        <p:nvSpPr>
          <p:cNvPr id="29" name="TextBox 28"/>
          <p:cNvSpPr txBox="1"/>
          <p:nvPr/>
        </p:nvSpPr>
        <p:spPr>
          <a:xfrm>
            <a:off x="276225" y="4876800"/>
            <a:ext cx="4714919" cy="186689"/>
          </a:xfrm>
          <a:prstGeom prst="rect">
            <a:avLst/>
          </a:prstGeom>
          <a:noFill/>
        </p:spPr>
        <p:txBody>
          <a:bodyPr wrap="none" lIns="0" rIns="0" tIns="0" bIns="0">
            <a:spAutoFit/>
          </a:bodyPr>
          <a:lstStyle/>
          <a:p>
            <a:r>
              <a:rPr sz="1100" b="0">
                <a:solidFill>
                  <a:srgbClr val="2E2E2E"/>
                </a:solidFill>
                <a:latin typeface="Calibri"/>
              </a:rPr>
              <a:t>Foam protective packaging market value in North America is expected to increase</a:t>
            </a:r>
          </a:p>
        </p:txBody>
      </p:sp>
      <p:pic>
        <p:nvPicPr>
          <p:cNvPr id="30" name="Picture 29" descr="lock.png"/>
          <p:cNvPicPr>
            <a:picLocks noChangeAspect="1"/>
          </p:cNvPicPr>
          <p:nvPr/>
        </p:nvPicPr>
        <p:blipFill>
          <a:blip r:embed="rId6"/>
          <a:stretch>
            <a:fillRect/>
          </a:stretch>
        </p:blipFill>
        <p:spPr>
          <a:xfrm>
            <a:off x="4939196" y="4867021"/>
            <a:ext cx="128699" cy="187198"/>
          </a:xfrm>
          <a:prstGeom prst="rect">
            <a:avLst/>
          </a:prstGeom>
        </p:spPr>
      </p:pic>
      <p:sp>
        <p:nvSpPr>
          <p:cNvPr id="31" name="TextBox 30"/>
          <p:cNvSpPr txBox="1"/>
          <p:nvPr/>
        </p:nvSpPr>
        <p:spPr>
          <a:xfrm>
            <a:off x="5106691" y="4876800"/>
            <a:ext cx="6352877" cy="186689"/>
          </a:xfrm>
          <a:prstGeom prst="rect">
            <a:avLst/>
          </a:prstGeom>
          <a:noFill/>
        </p:spPr>
        <p:txBody>
          <a:bodyPr wrap="none" lIns="0" rIns="0" tIns="0" bIns="0">
            <a:spAutoFit/>
          </a:bodyPr>
          <a:lstStyle/>
          <a:p>
            <a:r>
              <a:rPr sz="1100" b="0">
                <a:solidFill>
                  <a:srgbClr val="2E2E2E"/>
                </a:solidFill>
                <a:latin typeface="Calibri"/>
              </a:rPr>
              <a:t>X between 2025 and 2036. In 2025, the foam protective packaging market in North America was valued at US$</a:t>
            </a:r>
          </a:p>
        </p:txBody>
      </p:sp>
      <p:pic>
        <p:nvPicPr>
          <p:cNvPr id="32" name="Picture 31" descr="lock.png"/>
          <p:cNvPicPr>
            <a:picLocks noChangeAspect="1"/>
          </p:cNvPicPr>
          <p:nvPr/>
        </p:nvPicPr>
        <p:blipFill>
          <a:blip r:embed="rId6"/>
          <a:stretch>
            <a:fillRect/>
          </a:stretch>
        </p:blipFill>
        <p:spPr>
          <a:xfrm>
            <a:off x="262757" y="5034660"/>
            <a:ext cx="128699" cy="187198"/>
          </a:xfrm>
          <a:prstGeom prst="rect">
            <a:avLst/>
          </a:prstGeom>
        </p:spPr>
      </p:pic>
      <p:sp>
        <p:nvSpPr>
          <p:cNvPr id="33" name="TextBox 32"/>
          <p:cNvSpPr txBox="1"/>
          <p:nvPr/>
        </p:nvSpPr>
        <p:spPr>
          <a:xfrm>
            <a:off x="430253" y="5044440"/>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34" name="Picture 33" descr="lock.png"/>
          <p:cNvPicPr>
            <a:picLocks noChangeAspect="1"/>
          </p:cNvPicPr>
          <p:nvPr/>
        </p:nvPicPr>
        <p:blipFill>
          <a:blip r:embed="rId6"/>
          <a:stretch>
            <a:fillRect/>
          </a:stretch>
        </p:blipFill>
        <p:spPr>
          <a:xfrm>
            <a:off x="2704166" y="5034660"/>
            <a:ext cx="128699" cy="187198"/>
          </a:xfrm>
          <a:prstGeom prst="rect">
            <a:avLst/>
          </a:prstGeom>
        </p:spPr>
      </p:pic>
      <p:sp>
        <p:nvSpPr>
          <p:cNvPr id="35" name="TextBox 34"/>
          <p:cNvSpPr txBox="1"/>
          <p:nvPr/>
        </p:nvSpPr>
        <p:spPr>
          <a:xfrm>
            <a:off x="2871661" y="5044440"/>
            <a:ext cx="3254920" cy="186689"/>
          </a:xfrm>
          <a:prstGeom prst="rect">
            <a:avLst/>
          </a:prstGeom>
          <a:noFill/>
        </p:spPr>
        <p:txBody>
          <a:bodyPr wrap="none" lIns="0" rIns="0" tIns="0" bIns="0">
            <a:spAutoFit/>
          </a:bodyPr>
          <a:lstStyle/>
          <a:p>
            <a:r>
              <a:rPr sz="1100" b="0">
                <a:solidFill>
                  <a:srgbClr val="2E2E2E"/>
                </a:solidFill>
                <a:latin typeface="Calibri"/>
              </a:rPr>
              <a:t>Mn by the end of 2026, reflecting a Y-o-Y growth rate of</a:t>
            </a:r>
          </a:p>
        </p:txBody>
      </p:sp>
      <p:pic>
        <p:nvPicPr>
          <p:cNvPr id="36" name="Picture 35" descr="lock.png"/>
          <p:cNvPicPr>
            <a:picLocks noChangeAspect="1"/>
          </p:cNvPicPr>
          <p:nvPr/>
        </p:nvPicPr>
        <p:blipFill>
          <a:blip r:embed="rId6"/>
          <a:stretch>
            <a:fillRect/>
          </a:stretch>
        </p:blipFill>
        <p:spPr>
          <a:xfrm>
            <a:off x="6074634" y="5034660"/>
            <a:ext cx="128699" cy="187198"/>
          </a:xfrm>
          <a:prstGeom prst="rect">
            <a:avLst/>
          </a:prstGeom>
        </p:spPr>
      </p:pic>
      <p:sp>
        <p:nvSpPr>
          <p:cNvPr id="37" name="TextBox 36"/>
          <p:cNvSpPr txBox="1"/>
          <p:nvPr/>
        </p:nvSpPr>
        <p:spPr>
          <a:xfrm>
            <a:off x="6242130" y="5044440"/>
            <a:ext cx="3558058" cy="186689"/>
          </a:xfrm>
          <a:prstGeom prst="rect">
            <a:avLst/>
          </a:prstGeom>
          <a:noFill/>
        </p:spPr>
        <p:txBody>
          <a:bodyPr wrap="none" lIns="0" rIns="0" tIns="0" bIns="0">
            <a:spAutoFit/>
          </a:bodyPr>
          <a:lstStyle/>
          <a:p>
            <a:r>
              <a:rPr sz="1100" b="0">
                <a:solidFill>
                  <a:srgbClr val="2E2E2E"/>
                </a:solidFill>
                <a:latin typeface="Calibri"/>
              </a:rPr>
              <a:t>. The market in North America is expected to account for US$</a:t>
            </a:r>
          </a:p>
        </p:txBody>
      </p:sp>
      <p:pic>
        <p:nvPicPr>
          <p:cNvPr id="38" name="Picture 37" descr="lock.png"/>
          <p:cNvPicPr>
            <a:picLocks noChangeAspect="1"/>
          </p:cNvPicPr>
          <p:nvPr/>
        </p:nvPicPr>
        <p:blipFill>
          <a:blip r:embed="rId6"/>
          <a:stretch>
            <a:fillRect/>
          </a:stretch>
        </p:blipFill>
        <p:spPr>
          <a:xfrm>
            <a:off x="9748240" y="5034660"/>
            <a:ext cx="128699" cy="187198"/>
          </a:xfrm>
          <a:prstGeom prst="rect">
            <a:avLst/>
          </a:prstGeom>
        </p:spPr>
      </p:pic>
      <p:sp>
        <p:nvSpPr>
          <p:cNvPr id="39" name="TextBox 38"/>
          <p:cNvSpPr txBox="1"/>
          <p:nvPr/>
        </p:nvSpPr>
        <p:spPr>
          <a:xfrm>
            <a:off x="9915736" y="50444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40" name="Picture 39" descr="lock.png"/>
          <p:cNvPicPr>
            <a:picLocks noChangeAspect="1"/>
          </p:cNvPicPr>
          <p:nvPr/>
        </p:nvPicPr>
        <p:blipFill>
          <a:blip r:embed="rId6"/>
          <a:stretch>
            <a:fillRect/>
          </a:stretch>
        </p:blipFill>
        <p:spPr>
          <a:xfrm>
            <a:off x="262757" y="5202301"/>
            <a:ext cx="128699" cy="187198"/>
          </a:xfrm>
          <a:prstGeom prst="rect">
            <a:avLst/>
          </a:prstGeom>
        </p:spPr>
      </p:pic>
      <p:sp>
        <p:nvSpPr>
          <p:cNvPr id="41" name="TextBox 40"/>
          <p:cNvSpPr txBox="1"/>
          <p:nvPr/>
        </p:nvSpPr>
        <p:spPr>
          <a:xfrm>
            <a:off x="430253" y="5212080"/>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42" name="TextBox 41"/>
          <p:cNvSpPr txBox="1"/>
          <p:nvPr/>
        </p:nvSpPr>
        <p:spPr>
          <a:xfrm>
            <a:off x="276225" y="5430012"/>
            <a:ext cx="4129682" cy="186689"/>
          </a:xfrm>
          <a:prstGeom prst="rect">
            <a:avLst/>
          </a:prstGeom>
          <a:noFill/>
        </p:spPr>
        <p:txBody>
          <a:bodyPr wrap="none" lIns="0" rIns="0" tIns="0" bIns="0">
            <a:spAutoFit/>
          </a:bodyPr>
          <a:lstStyle/>
          <a:p>
            <a:r>
              <a:rPr sz="1100" b="0">
                <a:solidFill>
                  <a:srgbClr val="2E2E2E"/>
                </a:solidFill>
                <a:latin typeface="Calibri"/>
              </a:rPr>
              <a:t>North America is expected to create an incremental opportunity of US$</a:t>
            </a:r>
          </a:p>
        </p:txBody>
      </p:sp>
      <p:pic>
        <p:nvPicPr>
          <p:cNvPr id="43" name="Picture 42" descr="lock.png"/>
          <p:cNvPicPr>
            <a:picLocks noChangeAspect="1"/>
          </p:cNvPicPr>
          <p:nvPr/>
        </p:nvPicPr>
        <p:blipFill>
          <a:blip r:embed="rId6"/>
          <a:stretch>
            <a:fillRect/>
          </a:stretch>
        </p:blipFill>
        <p:spPr>
          <a:xfrm>
            <a:off x="4353959" y="5420233"/>
            <a:ext cx="128699" cy="187198"/>
          </a:xfrm>
          <a:prstGeom prst="rect">
            <a:avLst/>
          </a:prstGeom>
        </p:spPr>
      </p:pic>
      <p:sp>
        <p:nvSpPr>
          <p:cNvPr id="44" name="TextBox 43"/>
          <p:cNvSpPr txBox="1"/>
          <p:nvPr/>
        </p:nvSpPr>
        <p:spPr>
          <a:xfrm>
            <a:off x="4521455" y="5430012"/>
            <a:ext cx="7003628" cy="186689"/>
          </a:xfrm>
          <a:prstGeom prst="rect">
            <a:avLst/>
          </a:prstGeom>
          <a:noFill/>
        </p:spPr>
        <p:txBody>
          <a:bodyPr wrap="none" lIns="0" rIns="0" tIns="0" bIns="0">
            <a:spAutoFit/>
          </a:bodyPr>
          <a:lstStyle/>
          <a:p>
            <a:r>
              <a:rPr sz="1100" b="0">
                <a:solidFill>
                  <a:srgbClr val="2E2E2E"/>
                </a:solidFill>
                <a:latin typeface="Calibri"/>
              </a:rPr>
              <a:t>Mn for the overall foam protective packaging market from 2025 to 2036. Absolute $ value for 2026 is estimated to be US$</a:t>
            </a:r>
          </a:p>
        </p:txBody>
      </p:sp>
      <p:pic>
        <p:nvPicPr>
          <p:cNvPr id="45" name="Picture 44" descr="lock.png"/>
          <p:cNvPicPr>
            <a:picLocks noChangeAspect="1"/>
          </p:cNvPicPr>
          <p:nvPr/>
        </p:nvPicPr>
        <p:blipFill>
          <a:blip r:embed="rId6"/>
          <a:stretch>
            <a:fillRect/>
          </a:stretch>
        </p:blipFill>
        <p:spPr>
          <a:xfrm>
            <a:off x="262757" y="5587873"/>
            <a:ext cx="128699" cy="187198"/>
          </a:xfrm>
          <a:prstGeom prst="rect">
            <a:avLst/>
          </a:prstGeom>
        </p:spPr>
      </p:pic>
      <p:sp>
        <p:nvSpPr>
          <p:cNvPr id="46" name="TextBox 45"/>
          <p:cNvSpPr txBox="1"/>
          <p:nvPr/>
        </p:nvSpPr>
        <p:spPr>
          <a:xfrm>
            <a:off x="430253" y="5597652"/>
            <a:ext cx="4467200" cy="186689"/>
          </a:xfrm>
          <a:prstGeom prst="rect">
            <a:avLst/>
          </a:prstGeom>
          <a:noFill/>
        </p:spPr>
        <p:txBody>
          <a:bodyPr wrap="none" lIns="0" rIns="0" tIns="0" bIns="0">
            <a:spAutoFit/>
          </a:bodyPr>
          <a:lstStyle/>
          <a:p>
            <a:r>
              <a:rPr sz="1100" b="0">
                <a:solidFill>
                  <a:srgbClr val="2E2E2E"/>
                </a:solidFill>
                <a:latin typeface="Calibri"/>
              </a:rPr>
              <a:t>Mn. North America foam protective packaging market is projected to register</a:t>
            </a:r>
          </a:p>
        </p:txBody>
      </p:sp>
      <p:pic>
        <p:nvPicPr>
          <p:cNvPr id="47" name="Picture 46" descr="lock.png"/>
          <p:cNvPicPr>
            <a:picLocks noChangeAspect="1"/>
          </p:cNvPicPr>
          <p:nvPr/>
        </p:nvPicPr>
        <p:blipFill>
          <a:blip r:embed="rId6"/>
          <a:stretch>
            <a:fillRect/>
          </a:stretch>
        </p:blipFill>
        <p:spPr>
          <a:xfrm>
            <a:off x="4845505" y="5587873"/>
            <a:ext cx="128699" cy="187198"/>
          </a:xfrm>
          <a:prstGeom prst="rect">
            <a:avLst/>
          </a:prstGeom>
        </p:spPr>
      </p:pic>
      <p:sp>
        <p:nvSpPr>
          <p:cNvPr id="48" name="TextBox 47"/>
          <p:cNvSpPr txBox="1"/>
          <p:nvPr/>
        </p:nvSpPr>
        <p:spPr>
          <a:xfrm>
            <a:off x="5013001" y="5597652"/>
            <a:ext cx="3314948"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a:t>
            </a:r>
          </a:p>
        </p:txBody>
      </p:sp>
      <p:sp>
        <p:nvSpPr>
          <p:cNvPr id="49" name="TextBox 48"/>
          <p:cNvSpPr txBox="1"/>
          <p:nvPr/>
        </p:nvSpPr>
        <p:spPr>
          <a:xfrm>
            <a:off x="276225" y="5815584"/>
            <a:ext cx="3843461" cy="186689"/>
          </a:xfrm>
          <a:prstGeom prst="rect">
            <a:avLst/>
          </a:prstGeom>
          <a:noFill/>
        </p:spPr>
        <p:txBody>
          <a:bodyPr wrap="none" lIns="0" rIns="0" tIns="0" bIns="0">
            <a:spAutoFit/>
          </a:bodyPr>
          <a:lstStyle/>
          <a:p>
            <a:r>
              <a:rPr sz="1100" b="0">
                <a:solidFill>
                  <a:srgbClr val="2E2E2E"/>
                </a:solidFill>
                <a:latin typeface="Calibri"/>
              </a:rPr>
              <a:t>North America foam protective packaging market volume stood at</a:t>
            </a:r>
          </a:p>
        </p:txBody>
      </p:sp>
      <p:pic>
        <p:nvPicPr>
          <p:cNvPr id="50" name="Picture 49" descr="lock.png"/>
          <p:cNvPicPr>
            <a:picLocks noChangeAspect="1"/>
          </p:cNvPicPr>
          <p:nvPr/>
        </p:nvPicPr>
        <p:blipFill>
          <a:blip r:embed="rId6"/>
          <a:stretch>
            <a:fillRect/>
          </a:stretch>
        </p:blipFill>
        <p:spPr>
          <a:xfrm>
            <a:off x="4067738" y="5805805"/>
            <a:ext cx="128699" cy="187198"/>
          </a:xfrm>
          <a:prstGeom prst="rect">
            <a:avLst/>
          </a:prstGeom>
        </p:spPr>
      </p:pic>
      <p:sp>
        <p:nvSpPr>
          <p:cNvPr id="51" name="TextBox 50"/>
          <p:cNvSpPr txBox="1"/>
          <p:nvPr/>
        </p:nvSpPr>
        <p:spPr>
          <a:xfrm>
            <a:off x="4235233" y="5815584"/>
            <a:ext cx="2135956" cy="186689"/>
          </a:xfrm>
          <a:prstGeom prst="rect">
            <a:avLst/>
          </a:prstGeom>
          <a:noFill/>
        </p:spPr>
        <p:txBody>
          <a:bodyPr wrap="none" lIns="0" rIns="0" tIns="0" bIns="0">
            <a:spAutoFit/>
          </a:bodyPr>
          <a:lstStyle/>
          <a:p>
            <a:r>
              <a:rPr sz="1100" b="0">
                <a:solidFill>
                  <a:srgbClr val="2E2E2E"/>
                </a:solidFill>
                <a:latin typeface="Calibri"/>
              </a:rPr>
              <a:t>MT in 2025 and is expected to reach</a:t>
            </a:r>
          </a:p>
        </p:txBody>
      </p:sp>
      <p:pic>
        <p:nvPicPr>
          <p:cNvPr id="52" name="Picture 51" descr="lock.png"/>
          <p:cNvPicPr>
            <a:picLocks noChangeAspect="1"/>
          </p:cNvPicPr>
          <p:nvPr/>
        </p:nvPicPr>
        <p:blipFill>
          <a:blip r:embed="rId6"/>
          <a:stretch>
            <a:fillRect/>
          </a:stretch>
        </p:blipFill>
        <p:spPr>
          <a:xfrm>
            <a:off x="6319241" y="5805805"/>
            <a:ext cx="128699" cy="187198"/>
          </a:xfrm>
          <a:prstGeom prst="rect">
            <a:avLst/>
          </a:prstGeom>
        </p:spPr>
      </p:pic>
      <p:sp>
        <p:nvSpPr>
          <p:cNvPr id="53" name="TextBox 52"/>
          <p:cNvSpPr txBox="1"/>
          <p:nvPr/>
        </p:nvSpPr>
        <p:spPr>
          <a:xfrm>
            <a:off x="6486737" y="5815584"/>
            <a:ext cx="1773319" cy="186689"/>
          </a:xfrm>
          <a:prstGeom prst="rect">
            <a:avLst/>
          </a:prstGeom>
          <a:noFill/>
        </p:spPr>
        <p:txBody>
          <a:bodyPr wrap="none" lIns="0" rIns="0" tIns="0" bIns="0">
            <a:spAutoFit/>
          </a:bodyPr>
          <a:lstStyle/>
          <a:p>
            <a:r>
              <a:rPr sz="1100" b="0">
                <a:solidFill>
                  <a:srgbClr val="2E2E2E"/>
                </a:solidFill>
                <a:latin typeface="Calibri"/>
              </a:rPr>
              <a:t>MT by 2036 end, at a CAGR of</a:t>
            </a:r>
          </a:p>
        </p:txBody>
      </p:sp>
      <p:pic>
        <p:nvPicPr>
          <p:cNvPr id="54" name="Picture 53" descr="lock.png"/>
          <p:cNvPicPr>
            <a:picLocks noChangeAspect="1"/>
          </p:cNvPicPr>
          <p:nvPr/>
        </p:nvPicPr>
        <p:blipFill>
          <a:blip r:embed="rId6"/>
          <a:stretch>
            <a:fillRect/>
          </a:stretch>
        </p:blipFill>
        <p:spPr>
          <a:xfrm>
            <a:off x="8208109" y="5805805"/>
            <a:ext cx="128699" cy="187198"/>
          </a:xfrm>
          <a:prstGeom prst="rect">
            <a:avLst/>
          </a:prstGeom>
        </p:spPr>
      </p:pic>
      <p:sp>
        <p:nvSpPr>
          <p:cNvPr id="55" name="TextBox 54"/>
          <p:cNvSpPr txBox="1"/>
          <p:nvPr/>
        </p:nvSpPr>
        <p:spPr>
          <a:xfrm>
            <a:off x="8375604" y="5815584"/>
            <a:ext cx="3251373" cy="186689"/>
          </a:xfrm>
          <a:prstGeom prst="rect">
            <a:avLst/>
          </a:prstGeom>
          <a:noFill/>
        </p:spPr>
        <p:txBody>
          <a:bodyPr wrap="none" lIns="0" rIns="0" tIns="0" bIns="0">
            <a:spAutoFit/>
          </a:bodyPr>
          <a:lstStyle/>
          <a:p>
            <a:r>
              <a:rPr sz="1100" b="0">
                <a:solidFill>
                  <a:srgbClr val="2E2E2E"/>
                </a:solidFill>
                <a:latin typeface="Calibri"/>
              </a:rPr>
              <a:t>. Value is projected to grow faster than volume over the</a:t>
            </a:r>
          </a:p>
        </p:txBody>
      </p:sp>
      <p:sp>
        <p:nvSpPr>
          <p:cNvPr id="56" name="TextBox 55"/>
          <p:cNvSpPr txBox="1"/>
          <p:nvPr/>
        </p:nvSpPr>
        <p:spPr>
          <a:xfrm>
            <a:off x="276225" y="5983224"/>
            <a:ext cx="3543597" cy="186689"/>
          </a:xfrm>
          <a:prstGeom prst="rect">
            <a:avLst/>
          </a:prstGeom>
          <a:noFill/>
        </p:spPr>
        <p:txBody>
          <a:bodyPr wrap="none" lIns="0" rIns="0" tIns="0" bIns="0">
            <a:spAutoFit/>
          </a:bodyPr>
          <a:lstStyle/>
          <a:p>
            <a:r>
              <a:rPr sz="1100" b="0">
                <a:solidFill>
                  <a:srgbClr val="2E2E2E"/>
                </a:solidFill>
                <a:latin typeface="Calibri"/>
              </a:rPr>
              <a:t>forecast period, owing to an increase in average selling price.</a:t>
            </a:r>
          </a:p>
        </p:txBody>
      </p:sp>
      <p:sp>
        <p:nvSpPr>
          <p:cNvPr id="57" name="lockshield_9"/>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2"/>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Summary Country Indices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3743325" cy="3091856"/>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4210050" y="4384867"/>
            <a:ext cx="3743325" cy="1493743"/>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7" name="Rounded Rectangle 16"/>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19" name="Chart 18"/>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0" name="Rounded Rectangle 19"/>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1" name="Table 20"/>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22" name="TextBox 21"/>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3" name="Rounded Rectangle 22"/>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6" name="Picture 25" descr="lock.png"/>
          <p:cNvPicPr>
            <a:picLocks noChangeAspect="1"/>
          </p:cNvPicPr>
          <p:nvPr/>
        </p:nvPicPr>
        <p:blipFill>
          <a:blip r:embed="rId6"/>
          <a:stretch>
            <a:fillRect/>
          </a:stretch>
        </p:blipFill>
        <p:spPr>
          <a:xfrm>
            <a:off x="3188017" y="2125483"/>
            <a:ext cx="183356" cy="266700"/>
          </a:xfrm>
          <a:prstGeom prst="rect">
            <a:avLst/>
          </a:prstGeom>
        </p:spPr>
      </p:pic>
      <p:pic>
        <p:nvPicPr>
          <p:cNvPr id="27" name="Picture 26" descr="lock.png"/>
          <p:cNvPicPr>
            <a:picLocks noChangeAspect="1"/>
          </p:cNvPicPr>
          <p:nvPr/>
        </p:nvPicPr>
        <p:blipFill>
          <a:blip r:embed="rId6"/>
          <a:stretch>
            <a:fillRect/>
          </a:stretch>
        </p:blipFill>
        <p:spPr>
          <a:xfrm>
            <a:off x="2232897" y="4496595"/>
            <a:ext cx="355389" cy="516930"/>
          </a:xfrm>
          <a:prstGeom prst="rect">
            <a:avLst/>
          </a:prstGeom>
        </p:spPr>
      </p:pic>
      <p:pic>
        <p:nvPicPr>
          <p:cNvPr id="28" name="Picture 27" descr="lock.png"/>
          <p:cNvPicPr>
            <a:picLocks noChangeAspect="1"/>
          </p:cNvPicPr>
          <p:nvPr/>
        </p:nvPicPr>
        <p:blipFill>
          <a:blip r:embed="rId6"/>
          <a:stretch>
            <a:fillRect/>
          </a:stretch>
        </p:blipFill>
        <p:spPr>
          <a:xfrm>
            <a:off x="6024086" y="2838939"/>
            <a:ext cx="115252" cy="167639"/>
          </a:xfrm>
          <a:prstGeom prst="rect">
            <a:avLst/>
          </a:prstGeom>
        </p:spPr>
      </p:pic>
      <p:pic>
        <p:nvPicPr>
          <p:cNvPr id="29" name="Picture 28" descr="lock.png"/>
          <p:cNvPicPr>
            <a:picLocks noChangeAspect="1"/>
          </p:cNvPicPr>
          <p:nvPr/>
        </p:nvPicPr>
        <p:blipFill>
          <a:blip r:embed="rId6"/>
          <a:stretch>
            <a:fillRect/>
          </a:stretch>
        </p:blipFill>
        <p:spPr>
          <a:xfrm>
            <a:off x="6024086" y="5131738"/>
            <a:ext cx="115252" cy="167639"/>
          </a:xfrm>
          <a:prstGeom prst="rect">
            <a:avLst/>
          </a:prstGeom>
        </p:spPr>
      </p:pic>
      <p:pic>
        <p:nvPicPr>
          <p:cNvPr id="30" name="Picture 29" descr="lock.png"/>
          <p:cNvPicPr>
            <a:picLocks noChangeAspect="1"/>
          </p:cNvPicPr>
          <p:nvPr/>
        </p:nvPicPr>
        <p:blipFill>
          <a:blip r:embed="rId6"/>
          <a:stretch>
            <a:fillRect/>
          </a:stretch>
        </p:blipFill>
        <p:spPr>
          <a:xfrm>
            <a:off x="11131867" y="2120920"/>
            <a:ext cx="183356" cy="266700"/>
          </a:xfrm>
          <a:prstGeom prst="rect">
            <a:avLst/>
          </a:prstGeom>
        </p:spPr>
      </p:pic>
      <p:pic>
        <p:nvPicPr>
          <p:cNvPr id="31" name="Picture 30" descr="lock.png"/>
          <p:cNvPicPr>
            <a:picLocks noChangeAspect="1"/>
          </p:cNvPicPr>
          <p:nvPr/>
        </p:nvPicPr>
        <p:blipFill>
          <a:blip r:embed="rId6"/>
          <a:stretch>
            <a:fillRect/>
          </a:stretch>
        </p:blipFill>
        <p:spPr>
          <a:xfrm>
            <a:off x="10175439" y="4490163"/>
            <a:ext cx="357960" cy="520669"/>
          </a:xfrm>
          <a:prstGeom prst="rect">
            <a:avLst/>
          </a:prstGeom>
        </p:spPr>
      </p:pic>
      <p:sp>
        <p:nvSpPr>
          <p:cNvPr id="32" name="TextBox 31"/>
          <p:cNvSpPr txBox="1"/>
          <p:nvPr/>
        </p:nvSpPr>
        <p:spPr>
          <a:xfrm>
            <a:off x="257175" y="6160574"/>
            <a:ext cx="3840733" cy="186689"/>
          </a:xfrm>
          <a:prstGeom prst="rect">
            <a:avLst/>
          </a:prstGeom>
          <a:noFill/>
        </p:spPr>
        <p:txBody>
          <a:bodyPr wrap="none" lIns="0" rIns="0" tIns="0" bIns="0">
            <a:spAutoFit/>
          </a:bodyPr>
          <a:lstStyle/>
          <a:p>
            <a:r>
              <a:rPr sz="1100" b="0">
                <a:solidFill>
                  <a:srgbClr val="2E2E2E"/>
                </a:solidFill>
                <a:latin typeface="Calibri"/>
              </a:rPr>
              <a:t>The U.S. foam protective packaging market is projected to register</a:t>
            </a:r>
          </a:p>
        </p:txBody>
      </p:sp>
      <p:pic>
        <p:nvPicPr>
          <p:cNvPr id="33" name="Picture 32" descr="lock.png"/>
          <p:cNvPicPr>
            <a:picLocks noChangeAspect="1"/>
          </p:cNvPicPr>
          <p:nvPr/>
        </p:nvPicPr>
        <p:blipFill>
          <a:blip r:embed="rId6"/>
          <a:stretch>
            <a:fillRect/>
          </a:stretch>
        </p:blipFill>
        <p:spPr>
          <a:xfrm>
            <a:off x="4045959" y="6150795"/>
            <a:ext cx="128699" cy="187198"/>
          </a:xfrm>
          <a:prstGeom prst="rect">
            <a:avLst/>
          </a:prstGeom>
        </p:spPr>
      </p:pic>
      <p:sp>
        <p:nvSpPr>
          <p:cNvPr id="34" name="TextBox 33"/>
          <p:cNvSpPr txBox="1"/>
          <p:nvPr/>
        </p:nvSpPr>
        <p:spPr>
          <a:xfrm>
            <a:off x="4213455"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5" name="Picture 34" descr="lock.png"/>
          <p:cNvPicPr>
            <a:picLocks noChangeAspect="1"/>
          </p:cNvPicPr>
          <p:nvPr/>
        </p:nvPicPr>
        <p:blipFill>
          <a:blip r:embed="rId6"/>
          <a:stretch>
            <a:fillRect/>
          </a:stretch>
        </p:blipFill>
        <p:spPr>
          <a:xfrm>
            <a:off x="8501268" y="6150795"/>
            <a:ext cx="128699" cy="187198"/>
          </a:xfrm>
          <a:prstGeom prst="rect">
            <a:avLst/>
          </a:prstGeom>
        </p:spPr>
      </p:pic>
      <p:sp>
        <p:nvSpPr>
          <p:cNvPr id="36" name="TextBox 35"/>
          <p:cNvSpPr txBox="1"/>
          <p:nvPr/>
        </p:nvSpPr>
        <p:spPr>
          <a:xfrm>
            <a:off x="8668764"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7" name="Picture 36" descr="lock.png"/>
          <p:cNvPicPr>
            <a:picLocks noChangeAspect="1"/>
          </p:cNvPicPr>
          <p:nvPr/>
        </p:nvPicPr>
        <p:blipFill>
          <a:blip r:embed="rId6"/>
          <a:stretch>
            <a:fillRect/>
          </a:stretch>
        </p:blipFill>
        <p:spPr>
          <a:xfrm>
            <a:off x="9406795" y="6150795"/>
            <a:ext cx="128699" cy="187198"/>
          </a:xfrm>
          <a:prstGeom prst="rect">
            <a:avLst/>
          </a:prstGeom>
        </p:spPr>
      </p:pic>
      <p:sp>
        <p:nvSpPr>
          <p:cNvPr id="38" name="TextBox 37"/>
          <p:cNvSpPr txBox="1"/>
          <p:nvPr/>
        </p:nvSpPr>
        <p:spPr>
          <a:xfrm>
            <a:off x="9574291"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39" name="TextBox 38"/>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0" name="Picture 39" descr="lock.png"/>
          <p:cNvPicPr>
            <a:picLocks noChangeAspect="1"/>
          </p:cNvPicPr>
          <p:nvPr/>
        </p:nvPicPr>
        <p:blipFill>
          <a:blip r:embed="rId6"/>
          <a:stretch>
            <a:fillRect/>
          </a:stretch>
        </p:blipFill>
        <p:spPr>
          <a:xfrm>
            <a:off x="4286068" y="6318435"/>
            <a:ext cx="128699" cy="187198"/>
          </a:xfrm>
          <a:prstGeom prst="rect">
            <a:avLst/>
          </a:prstGeom>
        </p:spPr>
      </p:pic>
      <p:sp>
        <p:nvSpPr>
          <p:cNvPr id="41" name="TextBox 40"/>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2" name="Picture 41" descr="lock.png"/>
          <p:cNvPicPr>
            <a:picLocks noChangeAspect="1"/>
          </p:cNvPicPr>
          <p:nvPr/>
        </p:nvPicPr>
        <p:blipFill>
          <a:blip r:embed="rId6"/>
          <a:stretch>
            <a:fillRect/>
          </a:stretch>
        </p:blipFill>
        <p:spPr>
          <a:xfrm>
            <a:off x="7713563" y="6318435"/>
            <a:ext cx="128699" cy="187198"/>
          </a:xfrm>
          <a:prstGeom prst="rect">
            <a:avLst/>
          </a:prstGeom>
        </p:spPr>
      </p:pic>
      <p:sp>
        <p:nvSpPr>
          <p:cNvPr id="43" name="TextBox 42"/>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4"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9"/>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743075"/>
          </a:xfrm>
          <a:prstGeom prst="roundRect">
            <a:avLst>
              <a:gd name="adj" fmla="val 4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57500"/>
            <a:ext cx="11906250" cy="1628775"/>
          </a:xfrm>
          <a:prstGeom prst="roundRect">
            <a:avLst>
              <a:gd name="adj" fmla="val 46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813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67075"/>
            <a:ext cx="11639550" cy="11430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619625"/>
            <a:ext cx="3943350"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7053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9434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029200"/>
            <a:ext cx="36766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619625"/>
            <a:ext cx="3819525"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7053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9434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5029200"/>
            <a:ext cx="3552825"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'Expanded Polypropylene (EPP)'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5 material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874070" cy="194310"/>
          </a:xfrm>
          <a:prstGeom prst="rect">
            <a:avLst/>
          </a:prstGeom>
          <a:noFill/>
        </p:spPr>
        <p:txBody>
          <a:bodyPr wrap="none" lIns="0" rIns="0" tIns="0" bIns="0">
            <a:spAutoFit/>
          </a:bodyPr>
          <a:lstStyle/>
          <a:p>
            <a:r>
              <a:rPr sz="1150" b="0">
                <a:solidFill>
                  <a:srgbClr val="2E2E2E"/>
                </a:solidFill>
                <a:latin typeface="Calibri"/>
              </a:rPr>
              <a:t>Global foam protective packaging market is expected to witness</a:t>
            </a:r>
          </a:p>
        </p:txBody>
      </p:sp>
      <p:pic>
        <p:nvPicPr>
          <p:cNvPr id="30" name="Picture 29" descr="lock.png"/>
          <p:cNvPicPr>
            <a:picLocks noChangeAspect="1"/>
          </p:cNvPicPr>
          <p:nvPr/>
        </p:nvPicPr>
        <p:blipFill>
          <a:blip r:embed="rId4"/>
          <a:stretch>
            <a:fillRect/>
          </a:stretch>
        </p:blipFill>
        <p:spPr>
          <a:xfrm>
            <a:off x="4099449" y="1389951"/>
            <a:ext cx="134549" cy="195707"/>
          </a:xfrm>
          <a:prstGeom prst="rect">
            <a:avLst/>
          </a:prstGeom>
        </p:spPr>
      </p:pic>
      <p:sp>
        <p:nvSpPr>
          <p:cNvPr id="31" name="TextBox 30"/>
          <p:cNvSpPr txBox="1"/>
          <p:nvPr/>
        </p:nvSpPr>
        <p:spPr>
          <a:xfrm>
            <a:off x="4274558" y="1400175"/>
            <a:ext cx="5762736" cy="194310"/>
          </a:xfrm>
          <a:prstGeom prst="rect">
            <a:avLst/>
          </a:prstGeom>
          <a:noFill/>
        </p:spPr>
        <p:txBody>
          <a:bodyPr wrap="none" lIns="0" rIns="0" tIns="0" bIns="0">
            <a:spAutoFit/>
          </a:bodyPr>
          <a:lstStyle/>
          <a:p>
            <a:r>
              <a:rPr sz="1150" b="0">
                <a:solidFill>
                  <a:srgbClr val="2E2E2E"/>
                </a:solidFill>
                <a:latin typeface="Calibri"/>
              </a:rPr>
              <a:t>X increase in revenue by 2036 end. Global foam protective packaging market accounted for US$</a:t>
            </a:r>
          </a:p>
        </p:txBody>
      </p:sp>
      <p:pic>
        <p:nvPicPr>
          <p:cNvPr id="32" name="Picture 31" descr="lock.png"/>
          <p:cNvPicPr>
            <a:picLocks noChangeAspect="1"/>
          </p:cNvPicPr>
          <p:nvPr/>
        </p:nvPicPr>
        <p:blipFill>
          <a:blip r:embed="rId4"/>
          <a:stretch>
            <a:fillRect/>
          </a:stretch>
        </p:blipFill>
        <p:spPr>
          <a:xfrm>
            <a:off x="9986449" y="1389951"/>
            <a:ext cx="134549" cy="195707"/>
          </a:xfrm>
          <a:prstGeom prst="rect">
            <a:avLst/>
          </a:prstGeom>
        </p:spPr>
      </p:pic>
      <p:sp>
        <p:nvSpPr>
          <p:cNvPr id="33" name="TextBox 32"/>
          <p:cNvSpPr txBox="1"/>
          <p:nvPr/>
        </p:nvSpPr>
        <p:spPr>
          <a:xfrm>
            <a:off x="10161558" y="1400175"/>
            <a:ext cx="1297942" cy="194310"/>
          </a:xfrm>
          <a:prstGeom prst="rect">
            <a:avLst/>
          </a:prstGeom>
          <a:noFill/>
        </p:spPr>
        <p:txBody>
          <a:bodyPr wrap="none" lIns="0" rIns="0" tIns="0" bIns="0">
            <a:spAutoFit/>
          </a:bodyPr>
          <a:lstStyle/>
          <a:p>
            <a:r>
              <a:rPr sz="1150" b="0">
                <a:solidFill>
                  <a:srgbClr val="2E2E2E"/>
                </a:solidFill>
                <a:latin typeface="Calibri"/>
              </a:rPr>
              <a:t>Mn in 2025, which is</a:t>
            </a:r>
          </a:p>
        </p:txBody>
      </p:sp>
      <p:sp>
        <p:nvSpPr>
          <p:cNvPr id="34" name="TextBox 33"/>
          <p:cNvSpPr txBox="1"/>
          <p:nvPr/>
        </p:nvSpPr>
        <p:spPr>
          <a:xfrm>
            <a:off x="276225" y="1575435"/>
            <a:ext cx="1737518" cy="194310"/>
          </a:xfrm>
          <a:prstGeom prst="rect">
            <a:avLst/>
          </a:prstGeom>
          <a:noFill/>
        </p:spPr>
        <p:txBody>
          <a:bodyPr wrap="none" lIns="0" rIns="0" tIns="0" bIns="0">
            <a:spAutoFit/>
          </a:bodyPr>
          <a:lstStyle/>
          <a:p>
            <a:r>
              <a:rPr sz="1150" b="0">
                <a:solidFill>
                  <a:srgbClr val="2E2E2E"/>
                </a:solidFill>
                <a:latin typeface="Calibri"/>
              </a:rPr>
              <a:t>expected to increase to US$</a:t>
            </a:r>
          </a:p>
        </p:txBody>
      </p:sp>
      <p:pic>
        <p:nvPicPr>
          <p:cNvPr id="35" name="Picture 34" descr="lock.png"/>
          <p:cNvPicPr>
            <a:picLocks noChangeAspect="1"/>
          </p:cNvPicPr>
          <p:nvPr/>
        </p:nvPicPr>
        <p:blipFill>
          <a:blip r:embed="rId4"/>
          <a:stretch>
            <a:fillRect/>
          </a:stretch>
        </p:blipFill>
        <p:spPr>
          <a:xfrm>
            <a:off x="1962897" y="1565211"/>
            <a:ext cx="134549" cy="195707"/>
          </a:xfrm>
          <a:prstGeom prst="rect">
            <a:avLst/>
          </a:prstGeom>
        </p:spPr>
      </p:pic>
      <p:sp>
        <p:nvSpPr>
          <p:cNvPr id="36" name="TextBox 35"/>
          <p:cNvSpPr txBox="1"/>
          <p:nvPr/>
        </p:nvSpPr>
        <p:spPr>
          <a:xfrm>
            <a:off x="2138006"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7" name="Picture 36" descr="lock.png"/>
          <p:cNvPicPr>
            <a:picLocks noChangeAspect="1"/>
          </p:cNvPicPr>
          <p:nvPr/>
        </p:nvPicPr>
        <p:blipFill>
          <a:blip r:embed="rId4"/>
          <a:stretch>
            <a:fillRect/>
          </a:stretch>
        </p:blipFill>
        <p:spPr>
          <a:xfrm>
            <a:off x="3614714" y="1565211"/>
            <a:ext cx="134549" cy="195707"/>
          </a:xfrm>
          <a:prstGeom prst="rect">
            <a:avLst/>
          </a:prstGeom>
        </p:spPr>
      </p:pic>
      <p:sp>
        <p:nvSpPr>
          <p:cNvPr id="38" name="TextBox 37"/>
          <p:cNvSpPr txBox="1"/>
          <p:nvPr/>
        </p:nvSpPr>
        <p:spPr>
          <a:xfrm>
            <a:off x="3789824"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9" name="TextBox 38"/>
          <p:cNvSpPr txBox="1"/>
          <p:nvPr/>
        </p:nvSpPr>
        <p:spPr>
          <a:xfrm>
            <a:off x="276225" y="1803273"/>
            <a:ext cx="11506894" cy="194310"/>
          </a:xfrm>
          <a:prstGeom prst="rect">
            <a:avLst/>
          </a:prstGeom>
          <a:noFill/>
        </p:spPr>
        <p:txBody>
          <a:bodyPr wrap="none" lIns="0" rIns="0" tIns="0" bIns="0">
            <a:spAutoFit/>
          </a:bodyPr>
          <a:lstStyle/>
          <a:p>
            <a:r>
              <a:rPr sz="1150" b="0">
                <a:solidFill>
                  <a:srgbClr val="2E2E2E"/>
                </a:solidFill>
                <a:latin typeface="Calibri"/>
              </a:rPr>
              <a:t>The global foam protective packaging market has been analysed on the basis of material type, product form and end-use industry across the globe. U.S. is expected to remain the largest market</a:t>
            </a:r>
          </a:p>
        </p:txBody>
      </p:sp>
      <p:sp>
        <p:nvSpPr>
          <p:cNvPr id="40" name="TextBox 39"/>
          <p:cNvSpPr txBox="1"/>
          <p:nvPr/>
        </p:nvSpPr>
        <p:spPr>
          <a:xfrm>
            <a:off x="276225" y="1978533"/>
            <a:ext cx="6180615" cy="194310"/>
          </a:xfrm>
          <a:prstGeom prst="rect">
            <a:avLst/>
          </a:prstGeom>
          <a:noFill/>
        </p:spPr>
        <p:txBody>
          <a:bodyPr wrap="none" lIns="0" rIns="0" tIns="0" bIns="0">
            <a:spAutoFit/>
          </a:bodyPr>
          <a:lstStyle/>
          <a:p>
            <a:r>
              <a:rPr sz="1150" b="0">
                <a:solidFill>
                  <a:srgbClr val="2E2E2E"/>
                </a:solidFill>
                <a:latin typeface="Calibri"/>
              </a:rPr>
              <a:t>for foam protective packaging, while demand in Canada is projected to increase at the highest CAGR of</a:t>
            </a:r>
          </a:p>
        </p:txBody>
      </p:sp>
      <p:pic>
        <p:nvPicPr>
          <p:cNvPr id="41" name="Picture 40" descr="lock.png"/>
          <p:cNvPicPr>
            <a:picLocks noChangeAspect="1"/>
          </p:cNvPicPr>
          <p:nvPr/>
        </p:nvPicPr>
        <p:blipFill>
          <a:blip r:embed="rId4"/>
          <a:stretch>
            <a:fillRect/>
          </a:stretch>
        </p:blipFill>
        <p:spPr>
          <a:xfrm>
            <a:off x="6405994" y="1968309"/>
            <a:ext cx="134549" cy="195707"/>
          </a:xfrm>
          <a:prstGeom prst="rect">
            <a:avLst/>
          </a:prstGeom>
        </p:spPr>
      </p:pic>
      <p:sp>
        <p:nvSpPr>
          <p:cNvPr id="42" name="TextBox 41"/>
          <p:cNvSpPr txBox="1"/>
          <p:nvPr/>
        </p:nvSpPr>
        <p:spPr>
          <a:xfrm>
            <a:off x="6581103"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3" name="TextBox 42"/>
          <p:cNvSpPr txBox="1"/>
          <p:nvPr/>
        </p:nvSpPr>
        <p:spPr>
          <a:xfrm>
            <a:off x="276225" y="3276600"/>
            <a:ext cx="5629777" cy="194310"/>
          </a:xfrm>
          <a:prstGeom prst="rect">
            <a:avLst/>
          </a:prstGeom>
          <a:noFill/>
        </p:spPr>
        <p:txBody>
          <a:bodyPr wrap="none" lIns="0" rIns="0" tIns="0" bIns="0">
            <a:spAutoFit/>
          </a:bodyPr>
          <a:lstStyle/>
          <a:p>
            <a:r>
              <a:rPr sz="1150" b="0">
                <a:solidFill>
                  <a:srgbClr val="2E2E2E"/>
                </a:solidFill>
                <a:latin typeface="Calibri"/>
              </a:rPr>
              <a:t>▪ The market is consolidated: the leading material type category 'Other Foam Materials' holds</a:t>
            </a:r>
          </a:p>
        </p:txBody>
      </p:sp>
      <p:pic>
        <p:nvPicPr>
          <p:cNvPr id="44" name="Picture 43" descr="lock.png"/>
          <p:cNvPicPr>
            <a:picLocks noChangeAspect="1"/>
          </p:cNvPicPr>
          <p:nvPr/>
        </p:nvPicPr>
        <p:blipFill>
          <a:blip r:embed="rId4"/>
          <a:stretch>
            <a:fillRect/>
          </a:stretch>
        </p:blipFill>
        <p:spPr>
          <a:xfrm>
            <a:off x="5855156" y="3266376"/>
            <a:ext cx="134549" cy="195707"/>
          </a:xfrm>
          <a:prstGeom prst="rect">
            <a:avLst/>
          </a:prstGeom>
        </p:spPr>
      </p:pic>
      <p:sp>
        <p:nvSpPr>
          <p:cNvPr id="45" name="TextBox 44"/>
          <p:cNvSpPr txBox="1"/>
          <p:nvPr/>
        </p:nvSpPr>
        <p:spPr>
          <a:xfrm>
            <a:off x="6030265" y="327660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3504437"/>
            <a:ext cx="5057303" cy="194310"/>
          </a:xfrm>
          <a:prstGeom prst="rect">
            <a:avLst/>
          </a:prstGeom>
          <a:noFill/>
        </p:spPr>
        <p:txBody>
          <a:bodyPr wrap="none" lIns="0" rIns="0" tIns="0" bIns="0">
            <a:spAutoFit/>
          </a:bodyPr>
          <a:lstStyle/>
          <a:p>
            <a:r>
              <a:rPr sz="1150" b="0">
                <a:solidFill>
                  <a:srgbClr val="2E2E2E"/>
                </a:solidFill>
                <a:latin typeface="Calibri"/>
              </a:rPr>
              <a:t>▪ Demand spans 2 countries and 5 segmentation lenses (5 material type categories).</a:t>
            </a:r>
          </a:p>
        </p:txBody>
      </p:sp>
      <p:sp>
        <p:nvSpPr>
          <p:cNvPr id="47" name="TextBox 46"/>
          <p:cNvSpPr txBox="1"/>
          <p:nvPr/>
        </p:nvSpPr>
        <p:spPr>
          <a:xfrm>
            <a:off x="276225" y="373227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48" name="Picture 47" descr="lock.png"/>
          <p:cNvPicPr>
            <a:picLocks noChangeAspect="1"/>
          </p:cNvPicPr>
          <p:nvPr/>
        </p:nvPicPr>
        <p:blipFill>
          <a:blip r:embed="rId4"/>
          <a:stretch>
            <a:fillRect/>
          </a:stretch>
        </p:blipFill>
        <p:spPr>
          <a:xfrm>
            <a:off x="2514293" y="3722052"/>
            <a:ext cx="134549" cy="195707"/>
          </a:xfrm>
          <a:prstGeom prst="rect">
            <a:avLst/>
          </a:prstGeom>
        </p:spPr>
      </p:pic>
      <p:sp>
        <p:nvSpPr>
          <p:cNvPr id="49" name="TextBox 48"/>
          <p:cNvSpPr txBox="1"/>
          <p:nvPr/>
        </p:nvSpPr>
        <p:spPr>
          <a:xfrm>
            <a:off x="2689402" y="3732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0" name="TextBox 49"/>
          <p:cNvSpPr txBox="1"/>
          <p:nvPr/>
        </p:nvSpPr>
        <p:spPr>
          <a:xfrm>
            <a:off x="276225" y="5038725"/>
            <a:ext cx="3411673" cy="194310"/>
          </a:xfrm>
          <a:prstGeom prst="rect">
            <a:avLst/>
          </a:prstGeom>
          <a:noFill/>
        </p:spPr>
        <p:txBody>
          <a:bodyPr wrap="none" lIns="0" rIns="0" tIns="0" bIns="0">
            <a:spAutoFit/>
          </a:bodyPr>
          <a:lstStyle/>
          <a:p>
            <a:r>
              <a:rPr sz="1150" b="0">
                <a:solidFill>
                  <a:srgbClr val="2E2E2E"/>
                </a:solidFill>
                <a:latin typeface="Calibri"/>
              </a:rPr>
              <a:t>▪ Accelerating uptake of 'Expanded Polypropylene (EPP)'</a:t>
            </a:r>
          </a:p>
        </p:txBody>
      </p:sp>
      <p:sp>
        <p:nvSpPr>
          <p:cNvPr id="51" name="TextBox 50"/>
          <p:cNvSpPr txBox="1"/>
          <p:nvPr/>
        </p:nvSpPr>
        <p:spPr>
          <a:xfrm>
            <a:off x="276225" y="5213985"/>
            <a:ext cx="12041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345793" y="5203761"/>
            <a:ext cx="134549" cy="195707"/>
          </a:xfrm>
          <a:prstGeom prst="rect">
            <a:avLst/>
          </a:prstGeom>
        </p:spPr>
      </p:pic>
      <p:sp>
        <p:nvSpPr>
          <p:cNvPr id="53" name="TextBox 52"/>
          <p:cNvSpPr txBox="1"/>
          <p:nvPr/>
        </p:nvSpPr>
        <p:spPr>
          <a:xfrm>
            <a:off x="520902" y="52139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4" name="TextBox 53"/>
          <p:cNvSpPr txBox="1"/>
          <p:nvPr/>
        </p:nvSpPr>
        <p:spPr>
          <a:xfrm>
            <a:off x="276225" y="5441822"/>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5" name="Picture 54" descr="lock.png"/>
          <p:cNvPicPr>
            <a:picLocks noChangeAspect="1"/>
          </p:cNvPicPr>
          <p:nvPr/>
        </p:nvPicPr>
        <p:blipFill>
          <a:blip r:embed="rId4"/>
          <a:stretch>
            <a:fillRect/>
          </a:stretch>
        </p:blipFill>
        <p:spPr>
          <a:xfrm>
            <a:off x="2371889" y="5431599"/>
            <a:ext cx="134549" cy="195707"/>
          </a:xfrm>
          <a:prstGeom prst="rect">
            <a:avLst/>
          </a:prstGeom>
        </p:spPr>
      </p:pic>
      <p:sp>
        <p:nvSpPr>
          <p:cNvPr id="56" name="TextBox 55"/>
          <p:cNvSpPr txBox="1"/>
          <p:nvPr/>
        </p:nvSpPr>
        <p:spPr>
          <a:xfrm>
            <a:off x="2546998" y="54418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276225" y="5669660"/>
            <a:ext cx="2966963" cy="194310"/>
          </a:xfrm>
          <a:prstGeom prst="rect">
            <a:avLst/>
          </a:prstGeom>
          <a:noFill/>
        </p:spPr>
        <p:txBody>
          <a:bodyPr wrap="none" lIns="0" rIns="0" tIns="0" bIns="0">
            <a:spAutoFit/>
          </a:bodyPr>
          <a:lstStyle/>
          <a:p>
            <a:r>
              <a:rPr sz="1150" b="0">
                <a:solidFill>
                  <a:srgbClr val="2E2E2E"/>
                </a:solidFill>
                <a:latin typeface="Calibri"/>
              </a:rPr>
              <a:t>▪ Momentum in Others within end-use industry (</a:t>
            </a:r>
          </a:p>
        </p:txBody>
      </p:sp>
      <p:pic>
        <p:nvPicPr>
          <p:cNvPr id="58" name="Picture 57" descr="lock.png"/>
          <p:cNvPicPr>
            <a:picLocks noChangeAspect="1"/>
          </p:cNvPicPr>
          <p:nvPr/>
        </p:nvPicPr>
        <p:blipFill>
          <a:blip r:embed="rId4"/>
          <a:stretch>
            <a:fillRect/>
          </a:stretch>
        </p:blipFill>
        <p:spPr>
          <a:xfrm>
            <a:off x="3192342" y="5659437"/>
            <a:ext cx="134549" cy="195707"/>
          </a:xfrm>
          <a:prstGeom prst="rect">
            <a:avLst/>
          </a:prstGeom>
        </p:spPr>
      </p:pic>
      <p:sp>
        <p:nvSpPr>
          <p:cNvPr id="59" name="TextBox 58"/>
          <p:cNvSpPr txBox="1"/>
          <p:nvPr/>
        </p:nvSpPr>
        <p:spPr>
          <a:xfrm>
            <a:off x="3367451" y="56696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4371975" y="5038725"/>
            <a:ext cx="3073331" cy="194310"/>
          </a:xfrm>
          <a:prstGeom prst="rect">
            <a:avLst/>
          </a:prstGeom>
          <a:noFill/>
        </p:spPr>
        <p:txBody>
          <a:bodyPr wrap="none" lIns="0" rIns="0" tIns="0" bIns="0">
            <a:spAutoFit/>
          </a:bodyPr>
          <a:lstStyle/>
          <a:p>
            <a:r>
              <a:rPr sz="1150" b="0">
                <a:solidFill>
                  <a:srgbClr val="2E2E2E"/>
                </a:solidFill>
                <a:latin typeface="Calibri"/>
              </a:rPr>
              <a:t>▪ Slower momentum in 'Polyurethane (PU) Foam' (</a:t>
            </a:r>
          </a:p>
        </p:txBody>
      </p:sp>
      <p:pic>
        <p:nvPicPr>
          <p:cNvPr id="61" name="Picture 60" descr="lock.png"/>
          <p:cNvPicPr>
            <a:picLocks noChangeAspect="1"/>
          </p:cNvPicPr>
          <p:nvPr/>
        </p:nvPicPr>
        <p:blipFill>
          <a:blip r:embed="rId4"/>
          <a:stretch>
            <a:fillRect/>
          </a:stretch>
        </p:blipFill>
        <p:spPr>
          <a:xfrm>
            <a:off x="7394460" y="5028501"/>
            <a:ext cx="134549" cy="195707"/>
          </a:xfrm>
          <a:prstGeom prst="rect">
            <a:avLst/>
          </a:prstGeom>
        </p:spPr>
      </p:pic>
      <p:sp>
        <p:nvSpPr>
          <p:cNvPr id="62" name="TextBox 61"/>
          <p:cNvSpPr txBox="1"/>
          <p:nvPr/>
        </p:nvSpPr>
        <p:spPr>
          <a:xfrm>
            <a:off x="7569569" y="50387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3" name="TextBox 62"/>
          <p:cNvSpPr txBox="1"/>
          <p:nvPr/>
        </p:nvSpPr>
        <p:spPr>
          <a:xfrm>
            <a:off x="4371975" y="52665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4" name="TextBox 63"/>
          <p:cNvSpPr txBox="1"/>
          <p:nvPr/>
        </p:nvSpPr>
        <p:spPr>
          <a:xfrm>
            <a:off x="4371975" y="54418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5" name="Picture 64" descr="lock.png"/>
          <p:cNvPicPr>
            <a:picLocks noChangeAspect="1"/>
          </p:cNvPicPr>
          <p:nvPr/>
        </p:nvPicPr>
        <p:blipFill>
          <a:blip r:embed="rId4"/>
          <a:stretch>
            <a:fillRect/>
          </a:stretch>
        </p:blipFill>
        <p:spPr>
          <a:xfrm>
            <a:off x="4883401" y="5431599"/>
            <a:ext cx="134549" cy="195707"/>
          </a:xfrm>
          <a:prstGeom prst="rect">
            <a:avLst/>
          </a:prstGeom>
        </p:spPr>
      </p:pic>
      <p:sp>
        <p:nvSpPr>
          <p:cNvPr id="66" name="TextBox 65"/>
          <p:cNvSpPr txBox="1"/>
          <p:nvPr/>
        </p:nvSpPr>
        <p:spPr>
          <a:xfrm>
            <a:off x="5058510" y="54418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7" name="TextBox 66"/>
          <p:cNvSpPr txBox="1"/>
          <p:nvPr/>
        </p:nvSpPr>
        <p:spPr>
          <a:xfrm>
            <a:off x="4371975" y="5669660"/>
            <a:ext cx="3284134" cy="194310"/>
          </a:xfrm>
          <a:prstGeom prst="rect">
            <a:avLst/>
          </a:prstGeom>
          <a:noFill/>
        </p:spPr>
        <p:txBody>
          <a:bodyPr wrap="none" lIns="0" rIns="0" tIns="0" bIns="0">
            <a:spAutoFit/>
          </a:bodyPr>
          <a:lstStyle/>
          <a:p>
            <a:r>
              <a:rPr sz="1150" b="0">
                <a:solidFill>
                  <a:srgbClr val="2E2E2E"/>
                </a:solidFill>
                <a:latin typeface="Calibri"/>
              </a:rPr>
              <a:t>▪ Value concentration in 'Other Foam Materials' raises</a:t>
            </a:r>
          </a:p>
        </p:txBody>
      </p:sp>
      <p:sp>
        <p:nvSpPr>
          <p:cNvPr id="68" name="TextBox 67"/>
          <p:cNvSpPr txBox="1"/>
          <p:nvPr/>
        </p:nvSpPr>
        <p:spPr>
          <a:xfrm>
            <a:off x="4371975" y="5844920"/>
            <a:ext cx="1604305" cy="194310"/>
          </a:xfrm>
          <a:prstGeom prst="rect">
            <a:avLst/>
          </a:prstGeom>
          <a:noFill/>
        </p:spPr>
        <p:txBody>
          <a:bodyPr wrap="none" lIns="0" rIns="0" tIns="0" bIns="0">
            <a:spAutoFit/>
          </a:bodyPr>
          <a:lstStyle/>
          <a:p>
            <a:r>
              <a:rPr sz="1150" b="0">
                <a:solidFill>
                  <a:srgbClr val="2E2E2E"/>
                </a:solidFill>
                <a:latin typeface="Calibri"/>
              </a:rPr>
              <a:t>barriers for new entrants.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'Expanded Polypropylene (EPP)' and Canada.</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material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U.S. and Canada.</a:t>
            </a:r>
          </a:p>
        </p:txBody>
      </p:sp>
      <p:sp>
        <p:nvSpPr>
          <p:cNvPr id="11" name="Rounded Rectangle 10"/>
          <p:cNvSpPr/>
          <p:nvPr/>
        </p:nvSpPr>
        <p:spPr>
          <a:xfrm>
            <a:off x="6172200"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ounded Rectangle 22"/>
          <p:cNvSpPr/>
          <p:nvPr/>
        </p:nvSpPr>
        <p:spPr>
          <a:xfrm>
            <a:off x="142875" y="44100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material type share (2036)</a:t>
            </a:r>
          </a:p>
        </p:txBody>
      </p:sp>
      <p:graphicFrame>
        <p:nvGraphicFramePr>
          <p:cNvPr id="25" name="Chart 24"/>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6" name="TextBox 25"/>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43964" y="5349744"/>
            <a:ext cx="366052" cy="532439"/>
          </a:xfrm>
          <a:prstGeom prst="rect">
            <a:avLst/>
          </a:prstGeom>
        </p:spPr>
      </p:pic>
      <p:sp>
        <p:nvSpPr>
          <p:cNvPr id="30" name="TextBox 29"/>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1" name="Picture 30" descr="lock.png"/>
          <p:cNvPicPr>
            <a:picLocks noChangeAspect="1"/>
          </p:cNvPicPr>
          <p:nvPr/>
        </p:nvPicPr>
        <p:blipFill>
          <a:blip r:embed="rId5"/>
          <a:stretch>
            <a:fillRect/>
          </a:stretch>
        </p:blipFill>
        <p:spPr>
          <a:xfrm>
            <a:off x="6937714" y="1390396"/>
            <a:ext cx="128699" cy="187198"/>
          </a:xfrm>
          <a:prstGeom prst="rect">
            <a:avLst/>
          </a:prstGeom>
        </p:spPr>
      </p:pic>
      <p:sp>
        <p:nvSpPr>
          <p:cNvPr id="32" name="TextBox 31"/>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3" name="Picture 32" descr="lock.png"/>
          <p:cNvPicPr>
            <a:picLocks noChangeAspect="1"/>
          </p:cNvPicPr>
          <p:nvPr/>
        </p:nvPicPr>
        <p:blipFill>
          <a:blip r:embed="rId5"/>
          <a:stretch>
            <a:fillRect/>
          </a:stretch>
        </p:blipFill>
        <p:spPr>
          <a:xfrm>
            <a:off x="7931645" y="1390396"/>
            <a:ext cx="128699" cy="187198"/>
          </a:xfrm>
          <a:prstGeom prst="rect">
            <a:avLst/>
          </a:prstGeom>
        </p:spPr>
      </p:pic>
      <p:sp>
        <p:nvSpPr>
          <p:cNvPr id="34" name="TextBox 33"/>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6" name="Picture 35" descr="lock.png"/>
          <p:cNvPicPr>
            <a:picLocks noChangeAspect="1"/>
          </p:cNvPicPr>
          <p:nvPr/>
        </p:nvPicPr>
        <p:blipFill>
          <a:blip r:embed="rId5"/>
          <a:stretch>
            <a:fillRect/>
          </a:stretch>
        </p:blipFill>
        <p:spPr>
          <a:xfrm>
            <a:off x="7245444" y="1608328"/>
            <a:ext cx="128699" cy="187198"/>
          </a:xfrm>
          <a:prstGeom prst="rect">
            <a:avLst/>
          </a:prstGeom>
        </p:spPr>
      </p:pic>
      <p:sp>
        <p:nvSpPr>
          <p:cNvPr id="37" name="TextBox 36"/>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38" name="TextBox 37"/>
          <p:cNvSpPr txBox="1"/>
          <p:nvPr/>
        </p:nvSpPr>
        <p:spPr>
          <a:xfrm>
            <a:off x="6305550" y="1836039"/>
            <a:ext cx="2293089" cy="186689"/>
          </a:xfrm>
          <a:prstGeom prst="rect">
            <a:avLst/>
          </a:prstGeom>
          <a:noFill/>
        </p:spPr>
        <p:txBody>
          <a:bodyPr wrap="none" lIns="0" rIns="0" tIns="0" bIns="0">
            <a:spAutoFit/>
          </a:bodyPr>
          <a:lstStyle/>
          <a:p>
            <a:r>
              <a:rPr sz="1100" b="0">
                <a:solidFill>
                  <a:srgbClr val="2E2E2E"/>
                </a:solidFill>
                <a:latin typeface="Calibri"/>
              </a:rPr>
              <a:t>▪ Lead category 'Other Foam Materials'</a:t>
            </a:r>
          </a:p>
        </p:txBody>
      </p:sp>
      <p:pic>
        <p:nvPicPr>
          <p:cNvPr id="39" name="Picture 38" descr="lock.png"/>
          <p:cNvPicPr>
            <a:picLocks noChangeAspect="1"/>
          </p:cNvPicPr>
          <p:nvPr/>
        </p:nvPicPr>
        <p:blipFill>
          <a:blip r:embed="rId5"/>
          <a:stretch>
            <a:fillRect/>
          </a:stretch>
        </p:blipFill>
        <p:spPr>
          <a:xfrm>
            <a:off x="8546690" y="1826260"/>
            <a:ext cx="128699" cy="187198"/>
          </a:xfrm>
          <a:prstGeom prst="rect">
            <a:avLst/>
          </a:prstGeom>
        </p:spPr>
      </p:pic>
      <p:sp>
        <p:nvSpPr>
          <p:cNvPr id="40" name="TextBox 39"/>
          <p:cNvSpPr txBox="1"/>
          <p:nvPr/>
        </p:nvSpPr>
        <p:spPr>
          <a:xfrm>
            <a:off x="8714186"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1" name="TextBox 40"/>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2" name="Picture 41" descr="lock.png"/>
          <p:cNvPicPr>
            <a:picLocks noChangeAspect="1"/>
          </p:cNvPicPr>
          <p:nvPr/>
        </p:nvPicPr>
        <p:blipFill>
          <a:blip r:embed="rId5"/>
          <a:stretch>
            <a:fillRect/>
          </a:stretch>
        </p:blipFill>
        <p:spPr>
          <a:xfrm>
            <a:off x="7405655" y="2044192"/>
            <a:ext cx="128699" cy="187198"/>
          </a:xfrm>
          <a:prstGeom prst="rect">
            <a:avLst/>
          </a:prstGeom>
        </p:spPr>
      </p:pic>
      <p:sp>
        <p:nvSpPr>
          <p:cNvPr id="43" name="TextBox 42"/>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5" name="Picture 44" descr="lock.png"/>
          <p:cNvPicPr>
            <a:picLocks noChangeAspect="1"/>
          </p:cNvPicPr>
          <p:nvPr/>
        </p:nvPicPr>
        <p:blipFill>
          <a:blip r:embed="rId5"/>
          <a:stretch>
            <a:fillRect/>
          </a:stretch>
        </p:blipFill>
        <p:spPr>
          <a:xfrm>
            <a:off x="7808384" y="2262124"/>
            <a:ext cx="128699" cy="187198"/>
          </a:xfrm>
          <a:prstGeom prst="rect">
            <a:avLst/>
          </a:prstGeom>
        </p:spPr>
      </p:pic>
      <p:sp>
        <p:nvSpPr>
          <p:cNvPr id="46" name="TextBox 45"/>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7" name="TextBox 46"/>
          <p:cNvSpPr txBox="1"/>
          <p:nvPr/>
        </p:nvSpPr>
        <p:spPr>
          <a:xfrm>
            <a:off x="276225" y="3267075"/>
            <a:ext cx="5084663"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'Expanded Polypropylene (EPP)' (</a:t>
            </a:r>
          </a:p>
        </p:txBody>
      </p:sp>
      <p:pic>
        <p:nvPicPr>
          <p:cNvPr id="48" name="Picture 47" descr="lock.png"/>
          <p:cNvPicPr>
            <a:picLocks noChangeAspect="1"/>
          </p:cNvPicPr>
          <p:nvPr/>
        </p:nvPicPr>
        <p:blipFill>
          <a:blip r:embed="rId5"/>
          <a:stretch>
            <a:fillRect/>
          </a:stretch>
        </p:blipFill>
        <p:spPr>
          <a:xfrm>
            <a:off x="5308939" y="3257296"/>
            <a:ext cx="128699" cy="187198"/>
          </a:xfrm>
          <a:prstGeom prst="rect">
            <a:avLst/>
          </a:prstGeom>
        </p:spPr>
      </p:pic>
      <p:sp>
        <p:nvSpPr>
          <p:cNvPr id="49" name="TextBox 48"/>
          <p:cNvSpPr txBox="1"/>
          <p:nvPr/>
        </p:nvSpPr>
        <p:spPr>
          <a:xfrm>
            <a:off x="5476435" y="326707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0" name="TextBox 49"/>
          <p:cNvSpPr txBox="1"/>
          <p:nvPr/>
        </p:nvSpPr>
        <p:spPr>
          <a:xfrm>
            <a:off x="276225" y="3485007"/>
            <a:ext cx="653008" cy="186689"/>
          </a:xfrm>
          <a:prstGeom prst="rect">
            <a:avLst/>
          </a:prstGeom>
          <a:noFill/>
        </p:spPr>
        <p:txBody>
          <a:bodyPr wrap="none" lIns="0" rIns="0" tIns="0" bIns="0">
            <a:spAutoFit/>
          </a:bodyPr>
          <a:lstStyle/>
          <a:p>
            <a:r>
              <a:rPr sz="1100" b="0">
                <a:solidFill>
                  <a:srgbClr val="2E2E2E"/>
                </a:solidFill>
                <a:latin typeface="Calibri"/>
              </a:rPr>
              <a:t>▪ Canada (</a:t>
            </a:r>
          </a:p>
        </p:txBody>
      </p:sp>
      <p:pic>
        <p:nvPicPr>
          <p:cNvPr id="51" name="Picture 50" descr="lock.png"/>
          <p:cNvPicPr>
            <a:picLocks noChangeAspect="1"/>
          </p:cNvPicPr>
          <p:nvPr/>
        </p:nvPicPr>
        <p:blipFill>
          <a:blip r:embed="rId5"/>
          <a:stretch>
            <a:fillRect/>
          </a:stretch>
        </p:blipFill>
        <p:spPr>
          <a:xfrm>
            <a:off x="877284" y="3475228"/>
            <a:ext cx="128699" cy="187198"/>
          </a:xfrm>
          <a:prstGeom prst="rect">
            <a:avLst/>
          </a:prstGeom>
        </p:spPr>
      </p:pic>
      <p:sp>
        <p:nvSpPr>
          <p:cNvPr id="52" name="TextBox 51"/>
          <p:cNvSpPr txBox="1"/>
          <p:nvPr/>
        </p:nvSpPr>
        <p:spPr>
          <a:xfrm>
            <a:off x="1044780" y="3485007"/>
            <a:ext cx="2262832" cy="186689"/>
          </a:xfrm>
          <a:prstGeom prst="rect">
            <a:avLst/>
          </a:prstGeom>
          <a:noFill/>
        </p:spPr>
        <p:txBody>
          <a:bodyPr wrap="none" lIns="0" rIns="0" tIns="0" bIns="0">
            <a:spAutoFit/>
          </a:bodyPr>
          <a:lstStyle/>
          <a:p>
            <a:r>
              <a:rPr sz="1100" b="0">
                <a:solidFill>
                  <a:srgbClr val="2E2E2E"/>
                </a:solidFill>
                <a:latin typeface="Calibri"/>
              </a:rPr>
              <a:t>) is a priority country for new capacity.</a:t>
            </a:r>
          </a:p>
        </p:txBody>
      </p:sp>
      <p:sp>
        <p:nvSpPr>
          <p:cNvPr id="53" name="TextBox 52"/>
          <p:cNvSpPr txBox="1"/>
          <p:nvPr/>
        </p:nvSpPr>
        <p:spPr>
          <a:xfrm>
            <a:off x="276225" y="3702939"/>
            <a:ext cx="3173308" cy="186689"/>
          </a:xfrm>
          <a:prstGeom prst="rect">
            <a:avLst/>
          </a:prstGeom>
          <a:noFill/>
        </p:spPr>
        <p:txBody>
          <a:bodyPr wrap="none" lIns="0" rIns="0" tIns="0" bIns="0">
            <a:spAutoFit/>
          </a:bodyPr>
          <a:lstStyle/>
          <a:p>
            <a:r>
              <a:rPr sz="1100" b="0">
                <a:solidFill>
                  <a:srgbClr val="2E2E2E"/>
                </a:solidFill>
                <a:latin typeface="Calibri"/>
              </a:rPr>
              <a:t>▪ Scale players anchor around 'Other Foam Materials' (</a:t>
            </a:r>
          </a:p>
        </p:txBody>
      </p:sp>
      <p:pic>
        <p:nvPicPr>
          <p:cNvPr id="54" name="Picture 53" descr="lock.png"/>
          <p:cNvPicPr>
            <a:picLocks noChangeAspect="1"/>
          </p:cNvPicPr>
          <p:nvPr/>
        </p:nvPicPr>
        <p:blipFill>
          <a:blip r:embed="rId5"/>
          <a:stretch>
            <a:fillRect/>
          </a:stretch>
        </p:blipFill>
        <p:spPr>
          <a:xfrm>
            <a:off x="3397584" y="3693160"/>
            <a:ext cx="128699" cy="187198"/>
          </a:xfrm>
          <a:prstGeom prst="rect">
            <a:avLst/>
          </a:prstGeom>
        </p:spPr>
      </p:pic>
      <p:sp>
        <p:nvSpPr>
          <p:cNvPr id="55" name="TextBox 54"/>
          <p:cNvSpPr txBox="1"/>
          <p:nvPr/>
        </p:nvSpPr>
        <p:spPr>
          <a:xfrm>
            <a:off x="3565080" y="370293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6" name="TextBox 55"/>
          <p:cNvSpPr txBox="1"/>
          <p:nvPr/>
        </p:nvSpPr>
        <p:spPr>
          <a:xfrm>
            <a:off x="6305550" y="3267075"/>
            <a:ext cx="5481389" cy="186689"/>
          </a:xfrm>
          <a:prstGeom prst="rect">
            <a:avLst/>
          </a:prstGeom>
          <a:noFill/>
        </p:spPr>
        <p:txBody>
          <a:bodyPr wrap="none" lIns="0" rIns="0" tIns="0" bIns="0">
            <a:spAutoFit/>
          </a:bodyPr>
          <a:lstStyle/>
          <a:p>
            <a:r>
              <a:rPr sz="1100" b="0">
                <a:solidFill>
                  <a:srgbClr val="2E2E2E"/>
                </a:solidFill>
                <a:latin typeface="Calibri"/>
              </a:rPr>
              <a:t>▪ R&amp;D aligns with the migration to 'Expanded Polypropylene (EPP)' and adjacent premium tiers.</a:t>
            </a:r>
          </a:p>
        </p:txBody>
      </p:sp>
      <p:sp>
        <p:nvSpPr>
          <p:cNvPr id="57" name="TextBox 56"/>
          <p:cNvSpPr txBox="1"/>
          <p:nvPr/>
        </p:nvSpPr>
        <p:spPr>
          <a:xfrm>
            <a:off x="6305550" y="3485007"/>
            <a:ext cx="4432548" cy="186689"/>
          </a:xfrm>
          <a:prstGeom prst="rect">
            <a:avLst/>
          </a:prstGeom>
          <a:noFill/>
        </p:spPr>
        <p:txBody>
          <a:bodyPr wrap="none" lIns="0" rIns="0" tIns="0" bIns="0">
            <a:spAutoFit/>
          </a:bodyPr>
          <a:lstStyle/>
          <a:p>
            <a:r>
              <a:rPr sz="1100" b="0">
                <a:solidFill>
                  <a:srgbClr val="2E2E2E"/>
                </a:solidFill>
                <a:latin typeface="Calibri"/>
              </a:rPr>
              <a:t>▪ Development spend targets material type categories gaining share to 2036.</a:t>
            </a:r>
          </a:p>
        </p:txBody>
      </p:sp>
      <p:sp>
        <p:nvSpPr>
          <p:cNvPr id="58" name="TextBox 57"/>
          <p:cNvSpPr txBox="1"/>
          <p:nvPr/>
        </p:nvSpPr>
        <p:spPr>
          <a:xfrm>
            <a:off x="6305550" y="370293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59" name="Picture 58" descr="lock.png"/>
          <p:cNvPicPr>
            <a:picLocks noChangeAspect="1"/>
          </p:cNvPicPr>
          <p:nvPr/>
        </p:nvPicPr>
        <p:blipFill>
          <a:blip r:embed="rId5"/>
          <a:stretch>
            <a:fillRect/>
          </a:stretch>
        </p:blipFill>
        <p:spPr>
          <a:xfrm>
            <a:off x="7847947" y="3693160"/>
            <a:ext cx="128699" cy="187198"/>
          </a:xfrm>
          <a:prstGeom prst="rect">
            <a:avLst/>
          </a:prstGeom>
        </p:spPr>
      </p:pic>
      <p:sp>
        <p:nvSpPr>
          <p:cNvPr id="60" name="TextBox 59"/>
          <p:cNvSpPr txBox="1"/>
          <p:nvPr/>
        </p:nvSpPr>
        <p:spPr>
          <a:xfrm>
            <a:off x="8015443" y="3702939"/>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1" name="lockshield_25"/>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'Expanded Polypropylene (EPP)' tier and Others within end-use industry.</a:t>
            </a:r>
          </a:p>
        </p:txBody>
      </p:sp>
      <p:sp>
        <p:nvSpPr>
          <p:cNvPr id="15" name="Rounded Rectangle 14"/>
          <p:cNvSpPr/>
          <p:nvPr/>
        </p:nvSpPr>
        <p:spPr>
          <a:xfrm>
            <a:off x="142875"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Country</a:t>
            </a:r>
          </a:p>
        </p:txBody>
      </p:sp>
      <p:sp>
        <p:nvSpPr>
          <p:cNvPr id="21" name="Rectangle 20"/>
          <p:cNvSpPr/>
          <p:nvPr/>
        </p:nvSpPr>
        <p:spPr>
          <a:xfrm>
            <a:off x="6305550"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619625"/>
            <a:ext cx="11906250" cy="2000250"/>
          </a:xfrm>
          <a:prstGeom prst="roundRect">
            <a:avLst>
              <a:gd name="adj" fmla="val 38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9434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482015" cy="194310"/>
          </a:xfrm>
          <a:prstGeom prst="rect">
            <a:avLst/>
          </a:prstGeom>
          <a:noFill/>
        </p:spPr>
        <p:txBody>
          <a:bodyPr wrap="none" lIns="0" rIns="0" tIns="0" bIns="0">
            <a:spAutoFit/>
          </a:bodyPr>
          <a:lstStyle/>
          <a:p>
            <a:r>
              <a:rPr sz="1150" b="0">
                <a:solidFill>
                  <a:srgbClr val="2E2E2E"/>
                </a:solidFill>
                <a:latin typeface="Calibri"/>
              </a:rPr>
              <a:t>▪ Balance scale in 'Other Foam Materials' with targeted growth in 'Expanded Polypropylene</a:t>
            </a:r>
          </a:p>
        </p:txBody>
      </p:sp>
      <p:sp>
        <p:nvSpPr>
          <p:cNvPr id="30" name="TextBox 29"/>
          <p:cNvSpPr txBox="1"/>
          <p:nvPr/>
        </p:nvSpPr>
        <p:spPr>
          <a:xfrm>
            <a:off x="276225" y="1575435"/>
            <a:ext cx="1238039" cy="194310"/>
          </a:xfrm>
          <a:prstGeom prst="rect">
            <a:avLst/>
          </a:prstGeom>
          <a:noFill/>
        </p:spPr>
        <p:txBody>
          <a:bodyPr wrap="none" lIns="0" rIns="0" tIns="0" bIns="0">
            <a:spAutoFit/>
          </a:bodyPr>
          <a:lstStyle/>
          <a:p>
            <a:r>
              <a:rPr sz="1150" b="0">
                <a:solidFill>
                  <a:srgbClr val="2E2E2E"/>
                </a:solidFill>
                <a:latin typeface="Calibri"/>
              </a:rPr>
              <a:t>(EPP)', pursuing the</a:t>
            </a:r>
          </a:p>
        </p:txBody>
      </p:sp>
      <p:pic>
        <p:nvPicPr>
          <p:cNvPr id="31" name="Picture 30" descr="lock.png"/>
          <p:cNvPicPr>
            <a:picLocks noChangeAspect="1"/>
          </p:cNvPicPr>
          <p:nvPr/>
        </p:nvPicPr>
        <p:blipFill>
          <a:blip r:embed="rId4"/>
          <a:stretch>
            <a:fillRect/>
          </a:stretch>
        </p:blipFill>
        <p:spPr>
          <a:xfrm>
            <a:off x="1463418" y="1565211"/>
            <a:ext cx="134549" cy="195707"/>
          </a:xfrm>
          <a:prstGeom prst="rect">
            <a:avLst/>
          </a:prstGeom>
        </p:spPr>
      </p:pic>
      <p:sp>
        <p:nvSpPr>
          <p:cNvPr id="32" name="TextBox 31"/>
          <p:cNvSpPr txBox="1"/>
          <p:nvPr/>
        </p:nvSpPr>
        <p:spPr>
          <a:xfrm>
            <a:off x="1638527"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19450"/>
            <a:ext cx="2687699" cy="194310"/>
          </a:xfrm>
          <a:prstGeom prst="rect">
            <a:avLst/>
          </a:prstGeom>
          <a:noFill/>
        </p:spPr>
        <p:txBody>
          <a:bodyPr wrap="none" lIns="0" rIns="0" tIns="0" bIns="0">
            <a:spAutoFit/>
          </a:bodyPr>
          <a:lstStyle/>
          <a:p>
            <a:r>
              <a:rPr sz="1150" b="0">
                <a:solidFill>
                  <a:srgbClr val="2E2E2E"/>
                </a:solidFill>
                <a:latin typeface="Calibri"/>
              </a:rPr>
              <a:t>▪ Prioritise 'Expanded Polypropylene (EPP)' (</a:t>
            </a:r>
          </a:p>
        </p:txBody>
      </p:sp>
      <p:pic>
        <p:nvPicPr>
          <p:cNvPr id="34" name="Picture 33" descr="lock.png"/>
          <p:cNvPicPr>
            <a:picLocks noChangeAspect="1"/>
          </p:cNvPicPr>
          <p:nvPr/>
        </p:nvPicPr>
        <p:blipFill>
          <a:blip r:embed="rId4"/>
          <a:stretch>
            <a:fillRect/>
          </a:stretch>
        </p:blipFill>
        <p:spPr>
          <a:xfrm>
            <a:off x="2913078" y="3209226"/>
            <a:ext cx="134549" cy="195707"/>
          </a:xfrm>
          <a:prstGeom prst="rect">
            <a:avLst/>
          </a:prstGeom>
        </p:spPr>
      </p:pic>
      <p:sp>
        <p:nvSpPr>
          <p:cNvPr id="35" name="TextBox 34"/>
          <p:cNvSpPr txBox="1"/>
          <p:nvPr/>
        </p:nvSpPr>
        <p:spPr>
          <a:xfrm>
            <a:off x="3088187" y="3219450"/>
            <a:ext cx="2065529" cy="194310"/>
          </a:xfrm>
          <a:prstGeom prst="rect">
            <a:avLst/>
          </a:prstGeom>
          <a:noFill/>
        </p:spPr>
        <p:txBody>
          <a:bodyPr wrap="none" lIns="0" rIns="0" tIns="0" bIns="0">
            <a:spAutoFit/>
          </a:bodyPr>
          <a:lstStyle/>
          <a:p>
            <a:r>
              <a:rPr sz="1150" b="0">
                <a:solidFill>
                  <a:srgbClr val="2E2E2E"/>
                </a:solidFill>
                <a:latin typeface="Calibri"/>
              </a:rPr>
              <a:t>); 'Other Foam Materials' anchors</a:t>
            </a:r>
          </a:p>
        </p:txBody>
      </p:sp>
      <p:pic>
        <p:nvPicPr>
          <p:cNvPr id="36" name="Picture 35" descr="lock.png"/>
          <p:cNvPicPr>
            <a:picLocks noChangeAspect="1"/>
          </p:cNvPicPr>
          <p:nvPr/>
        </p:nvPicPr>
        <p:blipFill>
          <a:blip r:embed="rId4"/>
          <a:stretch>
            <a:fillRect/>
          </a:stretch>
        </p:blipFill>
        <p:spPr>
          <a:xfrm>
            <a:off x="5102871" y="3209226"/>
            <a:ext cx="134549" cy="195707"/>
          </a:xfrm>
          <a:prstGeom prst="rect">
            <a:avLst/>
          </a:prstGeom>
        </p:spPr>
      </p:pic>
      <p:sp>
        <p:nvSpPr>
          <p:cNvPr id="37" name="TextBox 36"/>
          <p:cNvSpPr txBox="1"/>
          <p:nvPr/>
        </p:nvSpPr>
        <p:spPr>
          <a:xfrm>
            <a:off x="5277980" y="3219450"/>
            <a:ext cx="197718" cy="194310"/>
          </a:xfrm>
          <a:prstGeom prst="rect">
            <a:avLst/>
          </a:prstGeom>
          <a:noFill/>
        </p:spPr>
        <p:txBody>
          <a:bodyPr wrap="none" lIns="0" rIns="0" tIns="0" bIns="0">
            <a:spAutoFit/>
          </a:bodyPr>
          <a:lstStyle/>
          <a:p>
            <a:r>
              <a:rPr sz="1150" b="0">
                <a:solidFill>
                  <a:srgbClr val="2E2E2E"/>
                </a:solidFill>
                <a:latin typeface="Calibri"/>
              </a:rPr>
              <a:t>of</a:t>
            </a:r>
          </a:p>
        </p:txBody>
      </p:sp>
      <p:sp>
        <p:nvSpPr>
          <p:cNvPr id="38" name="TextBox 37"/>
          <p:cNvSpPr txBox="1"/>
          <p:nvPr/>
        </p:nvSpPr>
        <p:spPr>
          <a:xfrm>
            <a:off x="276225" y="3394710"/>
            <a:ext cx="431911" cy="194310"/>
          </a:xfrm>
          <a:prstGeom prst="rect">
            <a:avLst/>
          </a:prstGeom>
          <a:noFill/>
        </p:spPr>
        <p:txBody>
          <a:bodyPr wrap="none" lIns="0" rIns="0" tIns="0" bIns="0">
            <a:spAutoFit/>
          </a:bodyPr>
          <a:lstStyle/>
          <a:p>
            <a:r>
              <a:rPr sz="1150" b="0">
                <a:solidFill>
                  <a:srgbClr val="2E2E2E"/>
                </a:solidFill>
                <a:latin typeface="Calibri"/>
              </a:rPr>
              <a:t>value.</a:t>
            </a:r>
          </a:p>
        </p:txBody>
      </p:sp>
      <p:sp>
        <p:nvSpPr>
          <p:cNvPr id="39" name="TextBox 38"/>
          <p:cNvSpPr txBox="1"/>
          <p:nvPr/>
        </p:nvSpPr>
        <p:spPr>
          <a:xfrm>
            <a:off x="6305550" y="321945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0" name="Picture 39" descr="lock.png"/>
          <p:cNvPicPr>
            <a:picLocks noChangeAspect="1"/>
          </p:cNvPicPr>
          <p:nvPr/>
        </p:nvPicPr>
        <p:blipFill>
          <a:blip r:embed="rId4"/>
          <a:stretch>
            <a:fillRect/>
          </a:stretch>
        </p:blipFill>
        <p:spPr>
          <a:xfrm>
            <a:off x="7338135" y="3209226"/>
            <a:ext cx="134549" cy="195707"/>
          </a:xfrm>
          <a:prstGeom prst="rect">
            <a:avLst/>
          </a:prstGeom>
        </p:spPr>
      </p:pic>
      <p:sp>
        <p:nvSpPr>
          <p:cNvPr id="41" name="TextBox 40"/>
          <p:cNvSpPr txBox="1"/>
          <p:nvPr/>
        </p:nvSpPr>
        <p:spPr>
          <a:xfrm>
            <a:off x="7513244" y="3219450"/>
            <a:ext cx="1772319" cy="194310"/>
          </a:xfrm>
          <a:prstGeom prst="rect">
            <a:avLst/>
          </a:prstGeom>
          <a:noFill/>
        </p:spPr>
        <p:txBody>
          <a:bodyPr wrap="none" lIns="0" rIns="0" tIns="0" bIns="0">
            <a:spAutoFit/>
          </a:bodyPr>
          <a:lstStyle/>
          <a:p>
            <a:r>
              <a:rPr sz="1150" b="0">
                <a:solidFill>
                  <a:srgbClr val="2E2E2E"/>
                </a:solidFill>
                <a:latin typeface="Calibri"/>
              </a:rPr>
              <a:t>); capture upside in Canada (</a:t>
            </a:r>
          </a:p>
        </p:txBody>
      </p:sp>
      <p:pic>
        <p:nvPicPr>
          <p:cNvPr id="42" name="Picture 41" descr="lock.png"/>
          <p:cNvPicPr>
            <a:picLocks noChangeAspect="1"/>
          </p:cNvPicPr>
          <p:nvPr/>
        </p:nvPicPr>
        <p:blipFill>
          <a:blip r:embed="rId4"/>
          <a:stretch>
            <a:fillRect/>
          </a:stretch>
        </p:blipFill>
        <p:spPr>
          <a:xfrm>
            <a:off x="9234718" y="3209226"/>
            <a:ext cx="134549" cy="195707"/>
          </a:xfrm>
          <a:prstGeom prst="rect">
            <a:avLst/>
          </a:prstGeom>
        </p:spPr>
      </p:pic>
      <p:sp>
        <p:nvSpPr>
          <p:cNvPr id="43" name="TextBox 42"/>
          <p:cNvSpPr txBox="1"/>
          <p:nvPr/>
        </p:nvSpPr>
        <p:spPr>
          <a:xfrm>
            <a:off x="9409827"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038725"/>
            <a:ext cx="2071519" cy="194310"/>
          </a:xfrm>
          <a:prstGeom prst="rect">
            <a:avLst/>
          </a:prstGeom>
          <a:noFill/>
        </p:spPr>
        <p:txBody>
          <a:bodyPr wrap="none" lIns="0" rIns="0" tIns="0" bIns="0">
            <a:spAutoFit/>
          </a:bodyPr>
          <a:lstStyle/>
          <a:p>
            <a:r>
              <a:rPr sz="1150" b="0">
                <a:solidFill>
                  <a:srgbClr val="2E2E2E"/>
                </a:solidFill>
                <a:latin typeface="Calibri"/>
              </a:rPr>
              <a:t>▪ Foam Protective Packaging adds</a:t>
            </a:r>
          </a:p>
        </p:txBody>
      </p:sp>
      <p:pic>
        <p:nvPicPr>
          <p:cNvPr id="45" name="Picture 44" descr="lock.png"/>
          <p:cNvPicPr>
            <a:picLocks noChangeAspect="1"/>
          </p:cNvPicPr>
          <p:nvPr/>
        </p:nvPicPr>
        <p:blipFill>
          <a:blip r:embed="rId4"/>
          <a:stretch>
            <a:fillRect/>
          </a:stretch>
        </p:blipFill>
        <p:spPr>
          <a:xfrm>
            <a:off x="2296898" y="5028501"/>
            <a:ext cx="134549" cy="195707"/>
          </a:xfrm>
          <a:prstGeom prst="rect">
            <a:avLst/>
          </a:prstGeom>
        </p:spPr>
      </p:pic>
      <p:sp>
        <p:nvSpPr>
          <p:cNvPr id="46" name="TextBox 45"/>
          <p:cNvSpPr txBox="1"/>
          <p:nvPr/>
        </p:nvSpPr>
        <p:spPr>
          <a:xfrm>
            <a:off x="2472008"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4236269" y="5028501"/>
            <a:ext cx="134549" cy="195707"/>
          </a:xfrm>
          <a:prstGeom prst="rect">
            <a:avLst/>
          </a:prstGeom>
        </p:spPr>
      </p:pic>
      <p:sp>
        <p:nvSpPr>
          <p:cNvPr id="48" name="TextBox 47"/>
          <p:cNvSpPr txBox="1"/>
          <p:nvPr/>
        </p:nvSpPr>
        <p:spPr>
          <a:xfrm>
            <a:off x="4411379"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266563"/>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0" name="TextBox 49"/>
          <p:cNvSpPr txBox="1"/>
          <p:nvPr/>
        </p:nvSpPr>
        <p:spPr>
          <a:xfrm>
            <a:off x="276225" y="5494400"/>
            <a:ext cx="4666759" cy="194310"/>
          </a:xfrm>
          <a:prstGeom prst="rect">
            <a:avLst/>
          </a:prstGeom>
          <a:noFill/>
        </p:spPr>
        <p:txBody>
          <a:bodyPr wrap="none" lIns="0" rIns="0" tIns="0" bIns="0">
            <a:spAutoFit/>
          </a:bodyPr>
          <a:lstStyle/>
          <a:p>
            <a:r>
              <a:rPr sz="1150" b="0">
                <a:solidFill>
                  <a:srgbClr val="2E2E2E"/>
                </a:solidFill>
                <a:latin typeface="Calibri"/>
              </a:rPr>
              <a:t>▪ Defend share in 'Other Foam Materials' as the value anchor of the portfolio.</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Foam Protective Packaging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26161"/>
            <a:ext cx="635826" cy="879139"/>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090057"/>
            <a:ext cx="635826" cy="1215243"/>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954397"/>
            <a:ext cx="635826" cy="135090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56707"/>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51932"/>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699532"/>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594757"/>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42357"/>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3758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Foam Protective Packaging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8629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78083"/>
            <a:ext cx="108107" cy="157246"/>
          </a:xfrm>
          <a:prstGeom prst="rect">
            <a:avLst/>
          </a:prstGeom>
        </p:spPr>
      </p:pic>
      <p:sp>
        <p:nvSpPr>
          <p:cNvPr id="54" name="TextBox 53"/>
          <p:cNvSpPr txBox="1"/>
          <p:nvPr/>
        </p:nvSpPr>
        <p:spPr>
          <a:xfrm>
            <a:off x="2032418" y="2629123"/>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620908"/>
            <a:ext cx="108107" cy="157246"/>
          </a:xfrm>
          <a:prstGeom prst="rect">
            <a:avLst/>
          </a:prstGeom>
        </p:spPr>
      </p:pic>
      <p:sp>
        <p:nvSpPr>
          <p:cNvPr id="56" name="TextBox 55"/>
          <p:cNvSpPr txBox="1"/>
          <p:nvPr/>
        </p:nvSpPr>
        <p:spPr>
          <a:xfrm>
            <a:off x="2032418" y="2371948"/>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63733"/>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4" name="Picture 63" descr="lock.png"/>
          <p:cNvPicPr>
            <a:picLocks noChangeAspect="1"/>
          </p:cNvPicPr>
          <p:nvPr/>
        </p:nvPicPr>
        <p:blipFill>
          <a:blip r:embed="rId5"/>
          <a:stretch>
            <a:fillRect/>
          </a:stretch>
        </p:blipFill>
        <p:spPr>
          <a:xfrm>
            <a:off x="1673650" y="5589714"/>
            <a:ext cx="134549" cy="195707"/>
          </a:xfrm>
          <a:prstGeom prst="rect">
            <a:avLst/>
          </a:prstGeom>
        </p:spPr>
      </p:pic>
      <p:sp>
        <p:nvSpPr>
          <p:cNvPr id="65" name="TextBox 64"/>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6" name="Picture 65" descr="lock.png"/>
          <p:cNvPicPr>
            <a:picLocks noChangeAspect="1"/>
          </p:cNvPicPr>
          <p:nvPr/>
        </p:nvPicPr>
        <p:blipFill>
          <a:blip r:embed="rId5"/>
          <a:stretch>
            <a:fillRect/>
          </a:stretch>
        </p:blipFill>
        <p:spPr>
          <a:xfrm>
            <a:off x="2495966" y="5589714"/>
            <a:ext cx="134549" cy="195707"/>
          </a:xfrm>
          <a:prstGeom prst="rect">
            <a:avLst/>
          </a:prstGeom>
        </p:spPr>
      </p:pic>
      <p:sp>
        <p:nvSpPr>
          <p:cNvPr id="67" name="TextBox 66"/>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Foam Protective Packaging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 Country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19" name="Rectangle 18"/>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0" name="Rectangle 19"/>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1" name="Rectangle 20"/>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2" name="Oval 21"/>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6" name="Rectangle 25"/>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7" name="Rectangle 26"/>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8" name="Rectangle 27"/>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9" name="Oval 28"/>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2" name="Rectangle 31"/>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4" name="Rounded Rectangle 3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36" name="Rectangle 35"/>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38" name="Rounded Rectangle 3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0" name="Rectangle 39"/>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42" name="Rectangle 4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4" name="TextBox 43"/>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5" name="Rectangle 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7" name="Picture 46" descr="lock.png"/>
          <p:cNvPicPr>
            <a:picLocks noChangeAspect="1"/>
          </p:cNvPicPr>
          <p:nvPr/>
        </p:nvPicPr>
        <p:blipFill>
          <a:blip r:embed="rId4"/>
          <a:stretch>
            <a:fillRect/>
          </a:stretch>
        </p:blipFill>
        <p:spPr>
          <a:xfrm>
            <a:off x="4250888" y="2339922"/>
            <a:ext cx="175498" cy="255270"/>
          </a:xfrm>
          <a:prstGeom prst="rect">
            <a:avLst/>
          </a:prstGeom>
        </p:spPr>
      </p:pic>
      <p:pic>
        <p:nvPicPr>
          <p:cNvPr id="48" name="Picture 47" descr="lock.png"/>
          <p:cNvPicPr>
            <a:picLocks noChangeAspect="1"/>
          </p:cNvPicPr>
          <p:nvPr/>
        </p:nvPicPr>
        <p:blipFill>
          <a:blip r:embed="rId4"/>
          <a:stretch>
            <a:fillRect/>
          </a:stretch>
        </p:blipFill>
        <p:spPr>
          <a:xfrm>
            <a:off x="4250888" y="2832772"/>
            <a:ext cx="175498" cy="255270"/>
          </a:xfrm>
          <a:prstGeom prst="rect">
            <a:avLst/>
          </a:prstGeom>
        </p:spPr>
      </p:pic>
      <p:pic>
        <p:nvPicPr>
          <p:cNvPr id="49" name="Picture 48" descr="lock.png"/>
          <p:cNvPicPr>
            <a:picLocks noChangeAspect="1"/>
          </p:cNvPicPr>
          <p:nvPr/>
        </p:nvPicPr>
        <p:blipFill>
          <a:blip r:embed="rId4"/>
          <a:stretch>
            <a:fillRect/>
          </a:stretch>
        </p:blipFill>
        <p:spPr>
          <a:xfrm>
            <a:off x="4250888" y="3325622"/>
            <a:ext cx="175498" cy="255270"/>
          </a:xfrm>
          <a:prstGeom prst="rect">
            <a:avLst/>
          </a:prstGeom>
        </p:spPr>
      </p:pic>
      <p:pic>
        <p:nvPicPr>
          <p:cNvPr id="50" name="Picture 49" descr="lock.png"/>
          <p:cNvPicPr>
            <a:picLocks noChangeAspect="1"/>
          </p:cNvPicPr>
          <p:nvPr/>
        </p:nvPicPr>
        <p:blipFill>
          <a:blip r:embed="rId4"/>
          <a:stretch>
            <a:fillRect/>
          </a:stretch>
        </p:blipFill>
        <p:spPr>
          <a:xfrm>
            <a:off x="9308663" y="2339922"/>
            <a:ext cx="175498" cy="255270"/>
          </a:xfrm>
          <a:prstGeom prst="rect">
            <a:avLst/>
          </a:prstGeom>
        </p:spPr>
      </p:pic>
      <p:pic>
        <p:nvPicPr>
          <p:cNvPr id="51" name="Picture 50" descr="lock.png"/>
          <p:cNvPicPr>
            <a:picLocks noChangeAspect="1"/>
          </p:cNvPicPr>
          <p:nvPr/>
        </p:nvPicPr>
        <p:blipFill>
          <a:blip r:embed="rId4"/>
          <a:stretch>
            <a:fillRect/>
          </a:stretch>
        </p:blipFill>
        <p:spPr>
          <a:xfrm>
            <a:off x="9308663" y="2832772"/>
            <a:ext cx="175498" cy="255270"/>
          </a:xfrm>
          <a:prstGeom prst="rect">
            <a:avLst/>
          </a:prstGeom>
        </p:spPr>
      </p:pic>
      <p:pic>
        <p:nvPicPr>
          <p:cNvPr id="52" name="Picture 51" descr="lock.png"/>
          <p:cNvPicPr>
            <a:picLocks noChangeAspect="1"/>
          </p:cNvPicPr>
          <p:nvPr/>
        </p:nvPicPr>
        <p:blipFill>
          <a:blip r:embed="rId4"/>
          <a:stretch>
            <a:fillRect/>
          </a:stretch>
        </p:blipFill>
        <p:spPr>
          <a:xfrm>
            <a:off x="9308663" y="3325622"/>
            <a:ext cx="175498" cy="255270"/>
          </a:xfrm>
          <a:prstGeom prst="rect">
            <a:avLst/>
          </a:prstGeom>
        </p:spPr>
      </p:pic>
      <p:sp>
        <p:nvSpPr>
          <p:cNvPr id="53" name="TextBox 52"/>
          <p:cNvSpPr txBox="1"/>
          <p:nvPr/>
        </p:nvSpPr>
        <p:spPr>
          <a:xfrm>
            <a:off x="485775" y="4229437"/>
            <a:ext cx="2640731" cy="186689"/>
          </a:xfrm>
          <a:prstGeom prst="rect">
            <a:avLst/>
          </a:prstGeom>
          <a:noFill/>
        </p:spPr>
        <p:txBody>
          <a:bodyPr wrap="none" lIns="0" rIns="0" tIns="0" bIns="0">
            <a:spAutoFit/>
          </a:bodyPr>
          <a:lstStyle/>
          <a:p>
            <a:r>
              <a:rPr sz="1100" b="0">
                <a:solidFill>
                  <a:srgbClr val="2E2E2E"/>
                </a:solidFill>
                <a:latin typeface="Calibri"/>
              </a:rPr>
              <a:t>The U.S. foam protective packaging market is</a:t>
            </a:r>
          </a:p>
        </p:txBody>
      </p:sp>
      <p:sp>
        <p:nvSpPr>
          <p:cNvPr id="54" name="TextBox 53"/>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55" name="Picture 54" descr="lock.png"/>
          <p:cNvPicPr>
            <a:picLocks noChangeAspect="1"/>
          </p:cNvPicPr>
          <p:nvPr/>
        </p:nvPicPr>
        <p:blipFill>
          <a:blip r:embed="rId4"/>
          <a:stretch>
            <a:fillRect/>
          </a:stretch>
        </p:blipFill>
        <p:spPr>
          <a:xfrm>
            <a:off x="1678376" y="4387298"/>
            <a:ext cx="128699" cy="187198"/>
          </a:xfrm>
          <a:prstGeom prst="rect">
            <a:avLst/>
          </a:prstGeom>
        </p:spPr>
      </p:pic>
      <p:sp>
        <p:nvSpPr>
          <p:cNvPr id="56" name="TextBox 55"/>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57" name="TextBox 56"/>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Canada in 2036. Among foam protective packaging</a:t>
            </a:r>
          </a:p>
        </p:txBody>
      </p:sp>
      <p:sp>
        <p:nvSpPr>
          <p:cNvPr id="58" name="TextBox 57"/>
          <p:cNvSpPr txBox="1"/>
          <p:nvPr/>
        </p:nvSpPr>
        <p:spPr>
          <a:xfrm>
            <a:off x="485775" y="4732357"/>
            <a:ext cx="2680568" cy="186689"/>
          </a:xfrm>
          <a:prstGeom prst="rect">
            <a:avLst/>
          </a:prstGeom>
          <a:noFill/>
        </p:spPr>
        <p:txBody>
          <a:bodyPr wrap="none" lIns="0" rIns="0" tIns="0" bIns="0">
            <a:spAutoFit/>
          </a:bodyPr>
          <a:lstStyle/>
          <a:p>
            <a:r>
              <a:rPr sz="1100" b="0">
                <a:solidFill>
                  <a:srgbClr val="2E2E2E"/>
                </a:solidFill>
                <a:latin typeface="Calibri"/>
              </a:rPr>
              <a:t>by country, Canada is expected to witness the</a:t>
            </a:r>
          </a:p>
        </p:txBody>
      </p:sp>
      <p:sp>
        <p:nvSpPr>
          <p:cNvPr id="59" name="TextBox 58"/>
          <p:cNvSpPr txBox="1"/>
          <p:nvPr/>
        </p:nvSpPr>
        <p:spPr>
          <a:xfrm>
            <a:off x="485775" y="4899997"/>
            <a:ext cx="990781" cy="186689"/>
          </a:xfrm>
          <a:prstGeom prst="rect">
            <a:avLst/>
          </a:prstGeom>
          <a:noFill/>
        </p:spPr>
        <p:txBody>
          <a:bodyPr wrap="none" lIns="0" rIns="0" tIns="0" bIns="0">
            <a:spAutoFit/>
          </a:bodyPr>
          <a:lstStyle/>
          <a:p>
            <a:r>
              <a:rPr sz="1100" b="0">
                <a:solidFill>
                  <a:srgbClr val="2E2E2E"/>
                </a:solidFill>
                <a:latin typeface="Calibri"/>
              </a:rPr>
              <a:t>highest CAGR of</a:t>
            </a:r>
          </a:p>
        </p:txBody>
      </p:sp>
      <p:pic>
        <p:nvPicPr>
          <p:cNvPr id="60" name="Picture 59" descr="lock.png"/>
          <p:cNvPicPr>
            <a:picLocks noChangeAspect="1"/>
          </p:cNvPicPr>
          <p:nvPr/>
        </p:nvPicPr>
        <p:blipFill>
          <a:blip r:embed="rId4"/>
          <a:stretch>
            <a:fillRect/>
          </a:stretch>
        </p:blipFill>
        <p:spPr>
          <a:xfrm>
            <a:off x="1424607" y="4890217"/>
            <a:ext cx="128699" cy="187198"/>
          </a:xfrm>
          <a:prstGeom prst="rect">
            <a:avLst/>
          </a:prstGeom>
        </p:spPr>
      </p:pic>
      <p:sp>
        <p:nvSpPr>
          <p:cNvPr id="61" name="TextBox 60"/>
          <p:cNvSpPr txBox="1"/>
          <p:nvPr/>
        </p:nvSpPr>
        <p:spPr>
          <a:xfrm>
            <a:off x="1592103"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2" name="TextBox 61"/>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3" name="TextBox 62"/>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4" name="Picture 63" descr="lock.png"/>
          <p:cNvPicPr>
            <a:picLocks noChangeAspect="1"/>
          </p:cNvPicPr>
          <p:nvPr/>
        </p:nvPicPr>
        <p:blipFill>
          <a:blip r:embed="rId4"/>
          <a:stretch>
            <a:fillRect/>
          </a:stretch>
        </p:blipFill>
        <p:spPr>
          <a:xfrm>
            <a:off x="2268827" y="5275790"/>
            <a:ext cx="128699" cy="187198"/>
          </a:xfrm>
          <a:prstGeom prst="rect">
            <a:avLst/>
          </a:prstGeom>
        </p:spPr>
      </p:pic>
      <p:sp>
        <p:nvSpPr>
          <p:cNvPr id="65" name="TextBox 64"/>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6" name="TextBox 65"/>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7" name="Picture 66" descr="lock.png"/>
          <p:cNvPicPr>
            <a:picLocks noChangeAspect="1"/>
          </p:cNvPicPr>
          <p:nvPr/>
        </p:nvPicPr>
        <p:blipFill>
          <a:blip r:embed="rId4"/>
          <a:stretch>
            <a:fillRect/>
          </a:stretch>
        </p:blipFill>
        <p:spPr>
          <a:xfrm>
            <a:off x="1330764" y="5443430"/>
            <a:ext cx="128699" cy="187198"/>
          </a:xfrm>
          <a:prstGeom prst="rect">
            <a:avLst/>
          </a:prstGeom>
        </p:spPr>
      </p:pic>
      <p:sp>
        <p:nvSpPr>
          <p:cNvPr id="68" name="TextBox 67"/>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9" name="TextBox 68"/>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0" name="Picture 69" descr="lock.png"/>
          <p:cNvPicPr>
            <a:picLocks noChangeAspect="1"/>
          </p:cNvPicPr>
          <p:nvPr/>
        </p:nvPicPr>
        <p:blipFill>
          <a:blip r:embed="rId4"/>
          <a:stretch>
            <a:fillRect/>
          </a:stretch>
        </p:blipFill>
        <p:spPr>
          <a:xfrm>
            <a:off x="4240453" y="4219658"/>
            <a:ext cx="128699" cy="187198"/>
          </a:xfrm>
          <a:prstGeom prst="rect">
            <a:avLst/>
          </a:prstGeom>
        </p:spPr>
      </p:pic>
      <p:sp>
        <p:nvSpPr>
          <p:cNvPr id="71" name="TextBox 70"/>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2" name="Picture 71" descr="lock.png"/>
          <p:cNvPicPr>
            <a:picLocks noChangeAspect="1"/>
          </p:cNvPicPr>
          <p:nvPr/>
        </p:nvPicPr>
        <p:blipFill>
          <a:blip r:embed="rId4"/>
          <a:stretch>
            <a:fillRect/>
          </a:stretch>
        </p:blipFill>
        <p:spPr>
          <a:xfrm>
            <a:off x="5267399" y="4219658"/>
            <a:ext cx="128699" cy="187198"/>
          </a:xfrm>
          <a:prstGeom prst="rect">
            <a:avLst/>
          </a:prstGeom>
        </p:spPr>
      </p:pic>
      <p:sp>
        <p:nvSpPr>
          <p:cNvPr id="73" name="TextBox 72"/>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4" name="TextBox 73"/>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5" name="Picture 74" descr="lock.png"/>
          <p:cNvPicPr>
            <a:picLocks noChangeAspect="1"/>
          </p:cNvPicPr>
          <p:nvPr/>
        </p:nvPicPr>
        <p:blipFill>
          <a:blip r:embed="rId4"/>
          <a:stretch>
            <a:fillRect/>
          </a:stretch>
        </p:blipFill>
        <p:spPr>
          <a:xfrm>
            <a:off x="4437997" y="4437590"/>
            <a:ext cx="128699" cy="187198"/>
          </a:xfrm>
          <a:prstGeom prst="rect">
            <a:avLst/>
          </a:prstGeom>
        </p:spPr>
      </p:pic>
      <p:sp>
        <p:nvSpPr>
          <p:cNvPr id="76" name="TextBox 75"/>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4"/>
          <a:stretch>
            <a:fillRect/>
          </a:stretch>
        </p:blipFill>
        <p:spPr>
          <a:xfrm>
            <a:off x="5464943" y="4437590"/>
            <a:ext cx="128699" cy="187198"/>
          </a:xfrm>
          <a:prstGeom prst="rect">
            <a:avLst/>
          </a:prstGeom>
        </p:spPr>
      </p:pic>
      <p:sp>
        <p:nvSpPr>
          <p:cNvPr id="78" name="TextBox 77"/>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79" name="TextBox 78"/>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0" name="TextBox 79"/>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1" name="Picture 80" descr="lock.png"/>
          <p:cNvPicPr>
            <a:picLocks noChangeAspect="1"/>
          </p:cNvPicPr>
          <p:nvPr/>
        </p:nvPicPr>
        <p:blipFill>
          <a:blip r:embed="rId4"/>
          <a:stretch>
            <a:fillRect/>
          </a:stretch>
        </p:blipFill>
        <p:spPr>
          <a:xfrm>
            <a:off x="9048826" y="6007677"/>
            <a:ext cx="134549" cy="195707"/>
          </a:xfrm>
          <a:prstGeom prst="rect">
            <a:avLst/>
          </a:prstGeom>
        </p:spPr>
      </p:pic>
      <p:sp>
        <p:nvSpPr>
          <p:cNvPr id="82" name="TextBox 81"/>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Analysis, By Country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2032585"/>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20278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951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5" name="BPS Value 1"/>
          <p:cNvSpPr txBox="1"/>
          <p:nvPr/>
        </p:nvSpPr>
        <p:spPr>
          <a:xfrm>
            <a:off x="6305550" y="2013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3866148"/>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4712970" y="386138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378518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19" name="BPS Value 2"/>
          <p:cNvSpPr txBox="1"/>
          <p:nvPr/>
        </p:nvSpPr>
        <p:spPr>
          <a:xfrm>
            <a:off x="6305550" y="38470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Rounded Rectangle 1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2" name="Rectangle 2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25" name="Rounded Rectangle 2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2000" b="1">
                <a:solidFill>
                  <a:srgbClr val="2A5F8F"/>
                </a:solidFill>
                <a:latin typeface="Calibri"/>
              </a:rPr>
              <a:t/>
            </a:r>
          </a:p>
        </p:txBody>
      </p:sp>
      <p:sp>
        <p:nvSpPr>
          <p:cNvPr id="26" name="Rounded Rectangle 2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2368867" y="3171825"/>
            <a:ext cx="275034" cy="400050"/>
          </a:xfrm>
          <a:prstGeom prst="rect">
            <a:avLst/>
          </a:prstGeom>
        </p:spPr>
      </p:pic>
      <p:pic>
        <p:nvPicPr>
          <p:cNvPr id="30" name="Picture 29" descr="lock.png"/>
          <p:cNvPicPr>
            <a:picLocks noChangeAspect="1"/>
          </p:cNvPicPr>
          <p:nvPr/>
        </p:nvPicPr>
        <p:blipFill>
          <a:blip r:embed="rId5"/>
          <a:stretch>
            <a:fillRect/>
          </a:stretch>
        </p:blipFill>
        <p:spPr>
          <a:xfrm>
            <a:off x="10015537" y="6070282"/>
            <a:ext cx="209550" cy="304800"/>
          </a:xfrm>
          <a:prstGeom prst="rect">
            <a:avLst/>
          </a:prstGeom>
        </p:spPr>
      </p:pic>
      <p:sp>
        <p:nvSpPr>
          <p:cNvPr id="31" name="TextBox 30"/>
          <p:cNvSpPr txBox="1"/>
          <p:nvPr/>
        </p:nvSpPr>
        <p:spPr>
          <a:xfrm>
            <a:off x="7239000" y="1400175"/>
            <a:ext cx="4011848" cy="194310"/>
          </a:xfrm>
          <a:prstGeom prst="rect">
            <a:avLst/>
          </a:prstGeom>
          <a:noFill/>
        </p:spPr>
        <p:txBody>
          <a:bodyPr wrap="none" lIns="0" rIns="0" tIns="0" bIns="0">
            <a:spAutoFit/>
          </a:bodyPr>
          <a:lstStyle/>
          <a:p>
            <a:r>
              <a:rPr sz="1150" b="0">
                <a:solidFill>
                  <a:srgbClr val="2E2E2E"/>
                </a:solidFill>
                <a:latin typeface="Calibri"/>
              </a:rPr>
              <a:t>The U.S. foam protective packaging market is projected to register</a:t>
            </a:r>
          </a:p>
        </p:txBody>
      </p:sp>
      <p:pic>
        <p:nvPicPr>
          <p:cNvPr id="32" name="Picture 31" descr="lock.png"/>
          <p:cNvPicPr>
            <a:picLocks noChangeAspect="1"/>
          </p:cNvPicPr>
          <p:nvPr/>
        </p:nvPicPr>
        <p:blipFill>
          <a:blip r:embed="rId5"/>
          <a:stretch>
            <a:fillRect/>
          </a:stretch>
        </p:blipFill>
        <p:spPr>
          <a:xfrm>
            <a:off x="11200002" y="1389951"/>
            <a:ext cx="134549" cy="195707"/>
          </a:xfrm>
          <a:prstGeom prst="rect">
            <a:avLst/>
          </a:prstGeom>
        </p:spPr>
      </p:pic>
      <p:sp>
        <p:nvSpPr>
          <p:cNvPr id="33" name="TextBox 32"/>
          <p:cNvSpPr txBox="1"/>
          <p:nvPr/>
        </p:nvSpPr>
        <p:spPr>
          <a:xfrm>
            <a:off x="11375111"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4" name="TextBox 33"/>
          <p:cNvSpPr txBox="1"/>
          <p:nvPr/>
        </p:nvSpPr>
        <p:spPr>
          <a:xfrm>
            <a:off x="7239000" y="1575435"/>
            <a:ext cx="4463975" cy="194310"/>
          </a:xfrm>
          <a:prstGeom prst="rect">
            <a:avLst/>
          </a:prstGeom>
          <a:noFill/>
        </p:spPr>
        <p:txBody>
          <a:bodyPr wrap="none" lIns="0" rIns="0" tIns="0" bIns="0">
            <a:spAutoFit/>
          </a:bodyPr>
          <a:lstStyle/>
          <a:p>
            <a:r>
              <a:rPr sz="1150" b="0">
                <a:solidFill>
                  <a:srgbClr val="2E2E2E"/>
                </a:solidFill>
                <a:latin typeface="Calibri"/>
              </a:rPr>
              <a:t>higher volume than Canada in 2036. Among foam protective packaging by</a:t>
            </a:r>
          </a:p>
        </p:txBody>
      </p:sp>
      <p:sp>
        <p:nvSpPr>
          <p:cNvPr id="35" name="TextBox 34"/>
          <p:cNvSpPr txBox="1"/>
          <p:nvPr/>
        </p:nvSpPr>
        <p:spPr>
          <a:xfrm>
            <a:off x="7239000" y="1750695"/>
            <a:ext cx="3612189" cy="194310"/>
          </a:xfrm>
          <a:prstGeom prst="rect">
            <a:avLst/>
          </a:prstGeom>
          <a:noFill/>
        </p:spPr>
        <p:txBody>
          <a:bodyPr wrap="none" lIns="0" rIns="0" tIns="0" bIns="0">
            <a:spAutoFit/>
          </a:bodyPr>
          <a:lstStyle/>
          <a:p>
            <a:r>
              <a:rPr sz="1150" b="0">
                <a:solidFill>
                  <a:srgbClr val="2E2E2E"/>
                </a:solidFill>
                <a:latin typeface="Calibri"/>
              </a:rPr>
              <a:t>country, Canada is expected to witness the highest CAGR of</a:t>
            </a:r>
          </a:p>
        </p:txBody>
      </p:sp>
      <p:pic>
        <p:nvPicPr>
          <p:cNvPr id="36" name="Picture 35" descr="lock.png"/>
          <p:cNvPicPr>
            <a:picLocks noChangeAspect="1"/>
          </p:cNvPicPr>
          <p:nvPr/>
        </p:nvPicPr>
        <p:blipFill>
          <a:blip r:embed="rId5"/>
          <a:stretch>
            <a:fillRect/>
          </a:stretch>
        </p:blipFill>
        <p:spPr>
          <a:xfrm>
            <a:off x="10800343" y="1740471"/>
            <a:ext cx="134549" cy="195707"/>
          </a:xfrm>
          <a:prstGeom prst="rect">
            <a:avLst/>
          </a:prstGeom>
        </p:spPr>
      </p:pic>
      <p:sp>
        <p:nvSpPr>
          <p:cNvPr id="37" name="TextBox 36"/>
          <p:cNvSpPr txBox="1"/>
          <p:nvPr/>
        </p:nvSpPr>
        <p:spPr>
          <a:xfrm>
            <a:off x="10975452"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8" name="TextBox 37"/>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39" name="TextBox 38"/>
          <p:cNvSpPr txBox="1"/>
          <p:nvPr/>
        </p:nvSpPr>
        <p:spPr>
          <a:xfrm>
            <a:off x="7239000" y="215379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0" name="TextBox 39"/>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1" name="Picture 40" descr="lock.png"/>
          <p:cNvPicPr>
            <a:picLocks noChangeAspect="1"/>
          </p:cNvPicPr>
          <p:nvPr/>
        </p:nvPicPr>
        <p:blipFill>
          <a:blip r:embed="rId5"/>
          <a:stretch>
            <a:fillRect/>
          </a:stretch>
        </p:blipFill>
        <p:spPr>
          <a:xfrm>
            <a:off x="8106708" y="2318829"/>
            <a:ext cx="134549" cy="195707"/>
          </a:xfrm>
          <a:prstGeom prst="rect">
            <a:avLst/>
          </a:prstGeom>
        </p:spPr>
      </p:pic>
      <p:sp>
        <p:nvSpPr>
          <p:cNvPr id="42" name="TextBox 41"/>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9676961" y="2318829"/>
            <a:ext cx="134549" cy="195707"/>
          </a:xfrm>
          <a:prstGeom prst="rect">
            <a:avLst/>
          </a:prstGeom>
        </p:spPr>
      </p:pic>
      <p:sp>
        <p:nvSpPr>
          <p:cNvPr id="44" name="TextBox 43"/>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1613208" y="5877496"/>
            <a:ext cx="1078882" cy="186689"/>
          </a:xfrm>
          <a:prstGeom prst="rect">
            <a:avLst/>
          </a:prstGeom>
          <a:noFill/>
        </p:spPr>
        <p:txBody>
          <a:bodyPr wrap="none" lIns="0" rIns="0" tIns="0" bIns="0">
            <a:spAutoFit/>
          </a:bodyPr>
          <a:lstStyle/>
          <a:p>
            <a:r>
              <a:rPr sz="1100" b="1">
                <a:solidFill>
                  <a:srgbClr val="6C7A89"/>
                </a:solidFill>
                <a:latin typeface="Calibri"/>
              </a:rPr>
              <a:t>2026 TOTAL (MT)</a:t>
            </a:r>
          </a:p>
        </p:txBody>
      </p:sp>
      <p:pic>
        <p:nvPicPr>
          <p:cNvPr id="46" name="Picture 45" descr="lock.png"/>
          <p:cNvPicPr>
            <a:picLocks noChangeAspect="1"/>
          </p:cNvPicPr>
          <p:nvPr/>
        </p:nvPicPr>
        <p:blipFill>
          <a:blip r:embed="rId5"/>
          <a:stretch>
            <a:fillRect/>
          </a:stretch>
        </p:blipFill>
        <p:spPr>
          <a:xfrm>
            <a:off x="1984327" y="6077648"/>
            <a:ext cx="233998" cy="340360"/>
          </a:xfrm>
          <a:prstGeom prst="rect">
            <a:avLst/>
          </a:prstGeom>
        </p:spPr>
      </p:pic>
      <p:sp>
        <p:nvSpPr>
          <p:cNvPr id="47" name="TextBox 46"/>
          <p:cNvSpPr txBox="1"/>
          <p:nvPr/>
        </p:nvSpPr>
        <p:spPr>
          <a:xfrm>
            <a:off x="5647046" y="5877496"/>
            <a:ext cx="1078882" cy="186689"/>
          </a:xfrm>
          <a:prstGeom prst="rect">
            <a:avLst/>
          </a:prstGeom>
          <a:noFill/>
        </p:spPr>
        <p:txBody>
          <a:bodyPr wrap="none" lIns="0" rIns="0" tIns="0" bIns="0">
            <a:spAutoFit/>
          </a:bodyPr>
          <a:lstStyle/>
          <a:p>
            <a:r>
              <a:rPr sz="1100" b="1">
                <a:solidFill>
                  <a:srgbClr val="6C7A89"/>
                </a:solidFill>
                <a:latin typeface="Calibri"/>
              </a:rPr>
              <a:t>2036 TOTAL (MT)</a:t>
            </a:r>
          </a:p>
        </p:txBody>
      </p:sp>
      <p:pic>
        <p:nvPicPr>
          <p:cNvPr id="48" name="Picture 47" descr="lock.png"/>
          <p:cNvPicPr>
            <a:picLocks noChangeAspect="1"/>
          </p:cNvPicPr>
          <p:nvPr/>
        </p:nvPicPr>
        <p:blipFill>
          <a:blip r:embed="rId5"/>
          <a:stretch>
            <a:fillRect/>
          </a:stretch>
        </p:blipFill>
        <p:spPr>
          <a:xfrm>
            <a:off x="6018165" y="6077648"/>
            <a:ext cx="233998" cy="340360"/>
          </a:xfrm>
          <a:prstGeom prst="rect">
            <a:avLst/>
          </a:prstGeom>
        </p:spPr>
      </p:pic>
      <p:sp>
        <p:nvSpPr>
          <p:cNvPr id="49"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2059364"/>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20546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9784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5" name="BPS Value 1"/>
          <p:cNvSpPr txBox="1"/>
          <p:nvPr/>
        </p:nvSpPr>
        <p:spPr>
          <a:xfrm>
            <a:off x="6305550" y="20403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3892927"/>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4712970" y="38881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38119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19" name="BPS Value 2"/>
          <p:cNvSpPr txBox="1"/>
          <p:nvPr/>
        </p:nvSpPr>
        <p:spPr>
          <a:xfrm>
            <a:off x="6305550" y="387387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Rounded Rectangle 1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2" name="Rectangle 2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 </a:t>
            </a:r>
          </a:p>
        </p:txBody>
      </p:sp>
      <p:sp>
        <p:nvSpPr>
          <p:cNvPr id="25" name="Rounded Rectangle 2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 </a:t>
            </a:r>
          </a:p>
        </p:txBody>
      </p:sp>
      <p:sp>
        <p:nvSpPr>
          <p:cNvPr id="26" name="Rounded Rectangle 2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2368867" y="3171825"/>
            <a:ext cx="275034" cy="400050"/>
          </a:xfrm>
          <a:prstGeom prst="rect">
            <a:avLst/>
          </a:prstGeom>
        </p:spPr>
      </p:pic>
      <p:pic>
        <p:nvPicPr>
          <p:cNvPr id="30" name="Picture 29" descr="lock.png"/>
          <p:cNvPicPr>
            <a:picLocks noChangeAspect="1"/>
          </p:cNvPicPr>
          <p:nvPr/>
        </p:nvPicPr>
        <p:blipFill>
          <a:blip r:embed="rId5"/>
          <a:stretch>
            <a:fillRect/>
          </a:stretch>
        </p:blipFill>
        <p:spPr>
          <a:xfrm>
            <a:off x="2009775" y="6070282"/>
            <a:ext cx="209550" cy="304800"/>
          </a:xfrm>
          <a:prstGeom prst="rect">
            <a:avLst/>
          </a:prstGeom>
        </p:spPr>
      </p:pic>
      <p:pic>
        <p:nvPicPr>
          <p:cNvPr id="31" name="Picture 30" descr="lock.png"/>
          <p:cNvPicPr>
            <a:picLocks noChangeAspect="1"/>
          </p:cNvPicPr>
          <p:nvPr/>
        </p:nvPicPr>
        <p:blipFill>
          <a:blip r:embed="rId5"/>
          <a:stretch>
            <a:fillRect/>
          </a:stretch>
        </p:blipFill>
        <p:spPr>
          <a:xfrm>
            <a:off x="6043612" y="6070282"/>
            <a:ext cx="209550" cy="304800"/>
          </a:xfrm>
          <a:prstGeom prst="rect">
            <a:avLst/>
          </a:prstGeom>
        </p:spPr>
      </p:pic>
      <p:pic>
        <p:nvPicPr>
          <p:cNvPr id="32" name="Picture 31" descr="lock.png"/>
          <p:cNvPicPr>
            <a:picLocks noChangeAspect="1"/>
          </p:cNvPicPr>
          <p:nvPr/>
        </p:nvPicPr>
        <p:blipFill>
          <a:blip r:embed="rId5"/>
          <a:stretch>
            <a:fillRect/>
          </a:stretch>
        </p:blipFill>
        <p:spPr>
          <a:xfrm>
            <a:off x="10015537" y="6070282"/>
            <a:ext cx="209550" cy="304800"/>
          </a:xfrm>
          <a:prstGeom prst="rect">
            <a:avLst/>
          </a:prstGeom>
        </p:spPr>
      </p:pic>
      <p:sp>
        <p:nvSpPr>
          <p:cNvPr id="33" name="TextBox 32"/>
          <p:cNvSpPr txBox="1"/>
          <p:nvPr/>
        </p:nvSpPr>
        <p:spPr>
          <a:xfrm>
            <a:off x="7239000" y="1400175"/>
            <a:ext cx="4011848" cy="194310"/>
          </a:xfrm>
          <a:prstGeom prst="rect">
            <a:avLst/>
          </a:prstGeom>
          <a:noFill/>
        </p:spPr>
        <p:txBody>
          <a:bodyPr wrap="none" lIns="0" rIns="0" tIns="0" bIns="0">
            <a:spAutoFit/>
          </a:bodyPr>
          <a:lstStyle/>
          <a:p>
            <a:r>
              <a:rPr sz="1150" b="0">
                <a:solidFill>
                  <a:srgbClr val="2E2E2E"/>
                </a:solidFill>
                <a:latin typeface="Calibri"/>
              </a:rPr>
              <a:t>The U.S. foam protective packaging market is projected to register</a:t>
            </a:r>
          </a:p>
        </p:txBody>
      </p:sp>
      <p:pic>
        <p:nvPicPr>
          <p:cNvPr id="34" name="Picture 33" descr="lock.png"/>
          <p:cNvPicPr>
            <a:picLocks noChangeAspect="1"/>
          </p:cNvPicPr>
          <p:nvPr/>
        </p:nvPicPr>
        <p:blipFill>
          <a:blip r:embed="rId5"/>
          <a:stretch>
            <a:fillRect/>
          </a:stretch>
        </p:blipFill>
        <p:spPr>
          <a:xfrm>
            <a:off x="11200002" y="1389951"/>
            <a:ext cx="134549" cy="195707"/>
          </a:xfrm>
          <a:prstGeom prst="rect">
            <a:avLst/>
          </a:prstGeom>
        </p:spPr>
      </p:pic>
      <p:sp>
        <p:nvSpPr>
          <p:cNvPr id="35" name="TextBox 34"/>
          <p:cNvSpPr txBox="1"/>
          <p:nvPr/>
        </p:nvSpPr>
        <p:spPr>
          <a:xfrm>
            <a:off x="11375111"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6" name="TextBox 35"/>
          <p:cNvSpPr txBox="1"/>
          <p:nvPr/>
        </p:nvSpPr>
        <p:spPr>
          <a:xfrm>
            <a:off x="7239000" y="1575435"/>
            <a:ext cx="4340175" cy="194310"/>
          </a:xfrm>
          <a:prstGeom prst="rect">
            <a:avLst/>
          </a:prstGeom>
          <a:noFill/>
        </p:spPr>
        <p:txBody>
          <a:bodyPr wrap="none" lIns="0" rIns="0" tIns="0" bIns="0">
            <a:spAutoFit/>
          </a:bodyPr>
          <a:lstStyle/>
          <a:p>
            <a:r>
              <a:rPr sz="1150" b="0">
                <a:solidFill>
                  <a:srgbClr val="2E2E2E"/>
                </a:solidFill>
                <a:latin typeface="Calibri"/>
              </a:rPr>
              <a:t>higher value than Canada in 2036. Among foam protective packaging by</a:t>
            </a:r>
          </a:p>
        </p:txBody>
      </p:sp>
      <p:sp>
        <p:nvSpPr>
          <p:cNvPr id="37" name="TextBox 36"/>
          <p:cNvSpPr txBox="1"/>
          <p:nvPr/>
        </p:nvSpPr>
        <p:spPr>
          <a:xfrm>
            <a:off x="7239000" y="1750695"/>
            <a:ext cx="3612189" cy="194310"/>
          </a:xfrm>
          <a:prstGeom prst="rect">
            <a:avLst/>
          </a:prstGeom>
          <a:noFill/>
        </p:spPr>
        <p:txBody>
          <a:bodyPr wrap="none" lIns="0" rIns="0" tIns="0" bIns="0">
            <a:spAutoFit/>
          </a:bodyPr>
          <a:lstStyle/>
          <a:p>
            <a:r>
              <a:rPr sz="1150" b="0">
                <a:solidFill>
                  <a:srgbClr val="2E2E2E"/>
                </a:solidFill>
                <a:latin typeface="Calibri"/>
              </a:rPr>
              <a:t>country, Canada is expected to witness the highest CAGR of</a:t>
            </a:r>
          </a:p>
        </p:txBody>
      </p:sp>
      <p:pic>
        <p:nvPicPr>
          <p:cNvPr id="38" name="Picture 37" descr="lock.png"/>
          <p:cNvPicPr>
            <a:picLocks noChangeAspect="1"/>
          </p:cNvPicPr>
          <p:nvPr/>
        </p:nvPicPr>
        <p:blipFill>
          <a:blip r:embed="rId5"/>
          <a:stretch>
            <a:fillRect/>
          </a:stretch>
        </p:blipFill>
        <p:spPr>
          <a:xfrm>
            <a:off x="10800343" y="1740471"/>
            <a:ext cx="134549" cy="195707"/>
          </a:xfrm>
          <a:prstGeom prst="rect">
            <a:avLst/>
          </a:prstGeom>
        </p:spPr>
      </p:pic>
      <p:sp>
        <p:nvSpPr>
          <p:cNvPr id="39" name="TextBox 38"/>
          <p:cNvSpPr txBox="1"/>
          <p:nvPr/>
        </p:nvSpPr>
        <p:spPr>
          <a:xfrm>
            <a:off x="10975452"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40" name="TextBox 39"/>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41" name="TextBox 40"/>
          <p:cNvSpPr txBox="1"/>
          <p:nvPr/>
        </p:nvSpPr>
        <p:spPr>
          <a:xfrm>
            <a:off x="7239000" y="215379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2" name="TextBox 41"/>
          <p:cNvSpPr txBox="1"/>
          <p:nvPr/>
        </p:nvSpPr>
        <p:spPr>
          <a:xfrm>
            <a:off x="723900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3" name="Picture 42" descr="lock.png"/>
          <p:cNvPicPr>
            <a:picLocks noChangeAspect="1"/>
          </p:cNvPicPr>
          <p:nvPr/>
        </p:nvPicPr>
        <p:blipFill>
          <a:blip r:embed="rId5"/>
          <a:stretch>
            <a:fillRect/>
          </a:stretch>
        </p:blipFill>
        <p:spPr>
          <a:xfrm>
            <a:off x="7611222" y="2318829"/>
            <a:ext cx="134549" cy="195707"/>
          </a:xfrm>
          <a:prstGeom prst="rect">
            <a:avLst/>
          </a:prstGeom>
        </p:spPr>
      </p:pic>
      <p:sp>
        <p:nvSpPr>
          <p:cNvPr id="44" name="TextBox 43"/>
          <p:cNvSpPr txBox="1"/>
          <p:nvPr/>
        </p:nvSpPr>
        <p:spPr>
          <a:xfrm>
            <a:off x="778633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5" name="Picture 44" descr="lock.png"/>
          <p:cNvPicPr>
            <a:picLocks noChangeAspect="1"/>
          </p:cNvPicPr>
          <p:nvPr/>
        </p:nvPicPr>
        <p:blipFill>
          <a:blip r:embed="rId5"/>
          <a:stretch>
            <a:fillRect/>
          </a:stretch>
        </p:blipFill>
        <p:spPr>
          <a:xfrm>
            <a:off x="9181475" y="2318829"/>
            <a:ext cx="134549" cy="195707"/>
          </a:xfrm>
          <a:prstGeom prst="rect">
            <a:avLst/>
          </a:prstGeom>
        </p:spPr>
      </p:pic>
      <p:sp>
        <p:nvSpPr>
          <p:cNvPr id="46" name="TextBox 45"/>
          <p:cNvSpPr txBox="1"/>
          <p:nvPr/>
        </p:nvSpPr>
        <p:spPr>
          <a:xfrm>
            <a:off x="935658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7"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Share Analysis, By Country Volume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(MT)</a:t>
            </a:r>
          </a:p>
        </p:txBody>
      </p:sp>
      <p:graphicFrame>
        <p:nvGraphicFramePr>
          <p:cNvPr id="9" name="Table 8"/>
          <p:cNvGraphicFramePr>
            <a:graphicFrameLocks noGrp="1"/>
          </p:cNvGraphicFramePr>
          <p:nvPr/>
        </p:nvGraphicFramePr>
        <p:xfrm>
          <a:off x="152400" y="1238250"/>
          <a:ext cx="11887205" cy="99060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Share Read-out, By Country</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240824" y="1589913"/>
            <a:ext cx="366712" cy="533400"/>
          </a:xfrm>
          <a:prstGeom prst="rect">
            <a:avLst/>
          </a:prstGeom>
        </p:spPr>
      </p:pic>
      <p:sp>
        <p:nvSpPr>
          <p:cNvPr id="18" name="TextBox 17"/>
          <p:cNvSpPr txBox="1"/>
          <p:nvPr/>
        </p:nvSpPr>
        <p:spPr>
          <a:xfrm>
            <a:off x="276225" y="2990850"/>
            <a:ext cx="4011848" cy="194310"/>
          </a:xfrm>
          <a:prstGeom prst="rect">
            <a:avLst/>
          </a:prstGeom>
          <a:noFill/>
        </p:spPr>
        <p:txBody>
          <a:bodyPr wrap="none" lIns="0" rIns="0" tIns="0" bIns="0">
            <a:spAutoFit/>
          </a:bodyPr>
          <a:lstStyle/>
          <a:p>
            <a:r>
              <a:rPr sz="1150" b="0">
                <a:solidFill>
                  <a:srgbClr val="2E2E2E"/>
                </a:solidFill>
                <a:latin typeface="Calibri"/>
              </a:rPr>
              <a:t>The U.S. foam protective packaging market is projected to register</a:t>
            </a:r>
          </a:p>
        </p:txBody>
      </p:sp>
      <p:pic>
        <p:nvPicPr>
          <p:cNvPr id="19" name="Picture 18" descr="lock.png"/>
          <p:cNvPicPr>
            <a:picLocks noChangeAspect="1"/>
          </p:cNvPicPr>
          <p:nvPr/>
        </p:nvPicPr>
        <p:blipFill>
          <a:blip r:embed="rId4"/>
          <a:stretch>
            <a:fillRect/>
          </a:stretch>
        </p:blipFill>
        <p:spPr>
          <a:xfrm>
            <a:off x="4237227" y="2980626"/>
            <a:ext cx="134549" cy="195707"/>
          </a:xfrm>
          <a:prstGeom prst="rect">
            <a:avLst/>
          </a:prstGeom>
        </p:spPr>
      </p:pic>
      <p:sp>
        <p:nvSpPr>
          <p:cNvPr id="20" name="TextBox 19"/>
          <p:cNvSpPr txBox="1"/>
          <p:nvPr/>
        </p:nvSpPr>
        <p:spPr>
          <a:xfrm>
            <a:off x="4412336" y="2990850"/>
            <a:ext cx="7152778" cy="194310"/>
          </a:xfrm>
          <a:prstGeom prst="rect">
            <a:avLst/>
          </a:prstGeom>
          <a:noFill/>
        </p:spPr>
        <p:txBody>
          <a:bodyPr wrap="none" lIns="0" rIns="0" tIns="0" bIns="0">
            <a:spAutoFit/>
          </a:bodyPr>
          <a:lstStyle/>
          <a:p>
            <a:r>
              <a:rPr sz="1150" b="0">
                <a:solidFill>
                  <a:srgbClr val="2E2E2E"/>
                </a:solidFill>
                <a:latin typeface="Calibri"/>
              </a:rPr>
              <a:t>X higher volume than Canada in 2036. Among foam protective packaging by country, Canada is expected to witness the</a:t>
            </a:r>
          </a:p>
        </p:txBody>
      </p:sp>
      <p:sp>
        <p:nvSpPr>
          <p:cNvPr id="21" name="TextBox 20"/>
          <p:cNvSpPr txBox="1"/>
          <p:nvPr/>
        </p:nvSpPr>
        <p:spPr>
          <a:xfrm>
            <a:off x="276225" y="316611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2" name="Picture 21" descr="lock.png"/>
          <p:cNvPicPr>
            <a:picLocks noChangeAspect="1"/>
          </p:cNvPicPr>
          <p:nvPr/>
        </p:nvPicPr>
        <p:blipFill>
          <a:blip r:embed="rId4"/>
          <a:stretch>
            <a:fillRect/>
          </a:stretch>
        </p:blipFill>
        <p:spPr>
          <a:xfrm>
            <a:off x="1257732" y="3155886"/>
            <a:ext cx="134549" cy="195707"/>
          </a:xfrm>
          <a:prstGeom prst="rect">
            <a:avLst/>
          </a:prstGeom>
        </p:spPr>
      </p:pic>
      <p:sp>
        <p:nvSpPr>
          <p:cNvPr id="23" name="TextBox 22"/>
          <p:cNvSpPr txBox="1"/>
          <p:nvPr/>
        </p:nvSpPr>
        <p:spPr>
          <a:xfrm>
            <a:off x="1432841"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5" name="Picture 24" descr="lock.png"/>
          <p:cNvPicPr>
            <a:picLocks noChangeAspect="1"/>
          </p:cNvPicPr>
          <p:nvPr/>
        </p:nvPicPr>
        <p:blipFill>
          <a:blip r:embed="rId4"/>
          <a:stretch>
            <a:fillRect/>
          </a:stretch>
        </p:blipFill>
        <p:spPr>
          <a:xfrm>
            <a:off x="5332316" y="3383724"/>
            <a:ext cx="134549" cy="195707"/>
          </a:xfrm>
          <a:prstGeom prst="rect">
            <a:avLst/>
          </a:prstGeom>
        </p:spPr>
      </p:pic>
      <p:sp>
        <p:nvSpPr>
          <p:cNvPr id="26" name="TextBox 25"/>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6902569" y="3383724"/>
            <a:ext cx="134549" cy="195707"/>
          </a:xfrm>
          <a:prstGeom prst="rect">
            <a:avLst/>
          </a:prstGeom>
        </p:spPr>
      </p:pic>
      <p:sp>
        <p:nvSpPr>
          <p:cNvPr id="28" name="TextBox 27"/>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Share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7" name="Rounded Rectangle 6"/>
          <p:cNvSpPr/>
          <p:nvPr/>
        </p:nvSpPr>
        <p:spPr>
          <a:xfrm>
            <a:off x="142875" y="981075"/>
            <a:ext cx="11906250" cy="1457325"/>
          </a:xfrm>
          <a:prstGeom prst="roundRect">
            <a:avLst>
              <a:gd name="adj" fmla="val 52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9" name="Table 8"/>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571750"/>
            <a:ext cx="11906250" cy="4057650"/>
          </a:xfrm>
          <a:prstGeom prst="roundRect">
            <a:avLst>
              <a:gd name="adj" fmla="val 18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Share Read-out, By Country</a:t>
            </a:r>
          </a:p>
        </p:txBody>
      </p:sp>
      <p:sp>
        <p:nvSpPr>
          <p:cNvPr id="13" name="Rectangle 12"/>
          <p:cNvSpPr/>
          <p:nvPr/>
        </p:nvSpPr>
        <p:spPr>
          <a:xfrm>
            <a:off x="276225" y="28956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257436" y="1589913"/>
            <a:ext cx="366712" cy="533400"/>
          </a:xfrm>
          <a:prstGeom prst="rect">
            <a:avLst/>
          </a:prstGeom>
        </p:spPr>
      </p:pic>
      <p:sp>
        <p:nvSpPr>
          <p:cNvPr id="18" name="TextBox 17"/>
          <p:cNvSpPr txBox="1"/>
          <p:nvPr/>
        </p:nvSpPr>
        <p:spPr>
          <a:xfrm>
            <a:off x="276225" y="2990850"/>
            <a:ext cx="4011848" cy="194310"/>
          </a:xfrm>
          <a:prstGeom prst="rect">
            <a:avLst/>
          </a:prstGeom>
          <a:noFill/>
        </p:spPr>
        <p:txBody>
          <a:bodyPr wrap="none" lIns="0" rIns="0" tIns="0" bIns="0">
            <a:spAutoFit/>
          </a:bodyPr>
          <a:lstStyle/>
          <a:p>
            <a:r>
              <a:rPr sz="1150" b="0">
                <a:solidFill>
                  <a:srgbClr val="2E2E2E"/>
                </a:solidFill>
                <a:latin typeface="Calibri"/>
              </a:rPr>
              <a:t>The U.S. foam protective packaging market is projected to register</a:t>
            </a:r>
          </a:p>
        </p:txBody>
      </p:sp>
      <p:pic>
        <p:nvPicPr>
          <p:cNvPr id="19" name="Picture 18" descr="lock.png"/>
          <p:cNvPicPr>
            <a:picLocks noChangeAspect="1"/>
          </p:cNvPicPr>
          <p:nvPr/>
        </p:nvPicPr>
        <p:blipFill>
          <a:blip r:embed="rId4"/>
          <a:stretch>
            <a:fillRect/>
          </a:stretch>
        </p:blipFill>
        <p:spPr>
          <a:xfrm>
            <a:off x="4237227" y="2980626"/>
            <a:ext cx="134549" cy="195707"/>
          </a:xfrm>
          <a:prstGeom prst="rect">
            <a:avLst/>
          </a:prstGeom>
        </p:spPr>
      </p:pic>
      <p:sp>
        <p:nvSpPr>
          <p:cNvPr id="20" name="TextBox 19"/>
          <p:cNvSpPr txBox="1"/>
          <p:nvPr/>
        </p:nvSpPr>
        <p:spPr>
          <a:xfrm>
            <a:off x="4412336" y="2990850"/>
            <a:ext cx="7028978" cy="194310"/>
          </a:xfrm>
          <a:prstGeom prst="rect">
            <a:avLst/>
          </a:prstGeom>
          <a:noFill/>
        </p:spPr>
        <p:txBody>
          <a:bodyPr wrap="none" lIns="0" rIns="0" tIns="0" bIns="0">
            <a:spAutoFit/>
          </a:bodyPr>
          <a:lstStyle/>
          <a:p>
            <a:r>
              <a:rPr sz="1150" b="0">
                <a:solidFill>
                  <a:srgbClr val="2E2E2E"/>
                </a:solidFill>
                <a:latin typeface="Calibri"/>
              </a:rPr>
              <a:t>X higher value than Canada in 2036. Among foam protective packaging by country, Canada is expected to witness the</a:t>
            </a:r>
          </a:p>
        </p:txBody>
      </p:sp>
      <p:sp>
        <p:nvSpPr>
          <p:cNvPr id="21" name="TextBox 20"/>
          <p:cNvSpPr txBox="1"/>
          <p:nvPr/>
        </p:nvSpPr>
        <p:spPr>
          <a:xfrm>
            <a:off x="276225" y="3166110"/>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22" name="Picture 21" descr="lock.png"/>
          <p:cNvPicPr>
            <a:picLocks noChangeAspect="1"/>
          </p:cNvPicPr>
          <p:nvPr/>
        </p:nvPicPr>
        <p:blipFill>
          <a:blip r:embed="rId4"/>
          <a:stretch>
            <a:fillRect/>
          </a:stretch>
        </p:blipFill>
        <p:spPr>
          <a:xfrm>
            <a:off x="1257732" y="3155886"/>
            <a:ext cx="134549" cy="195707"/>
          </a:xfrm>
          <a:prstGeom prst="rect">
            <a:avLst/>
          </a:prstGeom>
        </p:spPr>
      </p:pic>
      <p:sp>
        <p:nvSpPr>
          <p:cNvPr id="23" name="TextBox 22"/>
          <p:cNvSpPr txBox="1"/>
          <p:nvPr/>
        </p:nvSpPr>
        <p:spPr>
          <a:xfrm>
            <a:off x="1432841"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5" name="Picture 24" descr="lock.png"/>
          <p:cNvPicPr>
            <a:picLocks noChangeAspect="1"/>
          </p:cNvPicPr>
          <p:nvPr/>
        </p:nvPicPr>
        <p:blipFill>
          <a:blip r:embed="rId4"/>
          <a:stretch>
            <a:fillRect/>
          </a:stretch>
        </p:blipFill>
        <p:spPr>
          <a:xfrm>
            <a:off x="5208516" y="3383724"/>
            <a:ext cx="134549" cy="195707"/>
          </a:xfrm>
          <a:prstGeom prst="rect">
            <a:avLst/>
          </a:prstGeom>
        </p:spPr>
      </p:pic>
      <p:sp>
        <p:nvSpPr>
          <p:cNvPr id="26" name="TextBox 25"/>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6778769" y="3383724"/>
            <a:ext cx="134549" cy="195707"/>
          </a:xfrm>
          <a:prstGeom prst="rect">
            <a:avLst/>
          </a:prstGeom>
        </p:spPr>
      </p:pic>
      <p:sp>
        <p:nvSpPr>
          <p:cNvPr id="28" name="TextBox 27"/>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Trends, By Country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(MT)</a:t>
            </a:r>
          </a:p>
        </p:txBody>
      </p:sp>
      <p:graphicFrame>
        <p:nvGraphicFramePr>
          <p:cNvPr id="9" name="Chart 8"/>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2" name="Chart 11"/>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6058646" y="2026489"/>
            <a:ext cx="363375" cy="528545"/>
          </a:xfrm>
          <a:prstGeom prst="rect">
            <a:avLst/>
          </a:prstGeom>
        </p:spPr>
      </p:pic>
      <p:pic>
        <p:nvPicPr>
          <p:cNvPr id="16" name="Picture 15" descr="lock.png"/>
          <p:cNvPicPr>
            <a:picLocks noChangeAspect="1"/>
          </p:cNvPicPr>
          <p:nvPr/>
        </p:nvPicPr>
        <p:blipFill>
          <a:blip r:embed="rId6"/>
          <a:stretch>
            <a:fillRect/>
          </a:stretch>
        </p:blipFill>
        <p:spPr>
          <a:xfrm>
            <a:off x="6058646" y="4912564"/>
            <a:ext cx="363375" cy="528545"/>
          </a:xfrm>
          <a:prstGeom prst="rect">
            <a:avLst/>
          </a:prstGeom>
        </p:spPr>
      </p:pic>
      <p:sp>
        <p:nvSpPr>
          <p:cNvPr id="17" name="lockshield_9"/>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Foam Protective Packaging Market Top 2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9" name="Rectangle 8"/>
          <p:cNvSpPr/>
          <p:nvPr/>
        </p:nvSpPr>
        <p:spPr>
          <a:xfrm>
            <a:off x="238125" y="1266825"/>
            <a:ext cx="7899386"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8137511" y="1266825"/>
            <a:ext cx="3816364" cy="5305425"/>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4130192" y="3919537"/>
            <a:ext cx="115252" cy="167639"/>
          </a:xfrm>
          <a:prstGeom prst="rect">
            <a:avLst/>
          </a:prstGeom>
        </p:spPr>
      </p:pic>
      <p:pic>
        <p:nvPicPr>
          <p:cNvPr id="14" name="Picture 13" descr="lock.png"/>
          <p:cNvPicPr>
            <a:picLocks noChangeAspect="1"/>
          </p:cNvPicPr>
          <p:nvPr/>
        </p:nvPicPr>
        <p:blipFill>
          <a:blip r:embed="rId4"/>
          <a:stretch>
            <a:fillRect/>
          </a:stretch>
        </p:blipFill>
        <p:spPr>
          <a:xfrm>
            <a:off x="9988066" y="3919537"/>
            <a:ext cx="115252" cy="167639"/>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Segments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Material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Industry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Material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Material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Material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Material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Material Type segment categorizes the market by material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Foam Materials</a:t>
            </a:r>
          </a:p>
        </p:txBody>
      </p:sp>
      <p:sp>
        <p:nvSpPr>
          <p:cNvPr id="19" name="Rectangle 18"/>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Polystyrene</a:t>
            </a:r>
          </a:p>
        </p:txBody>
      </p:sp>
      <p:sp>
        <p:nvSpPr>
          <p:cNvPr id="26" name="Rectangle 25"/>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Polyethylene (PE) Foam</a:t>
            </a:r>
          </a:p>
        </p:txBody>
      </p:sp>
      <p:sp>
        <p:nvSpPr>
          <p:cNvPr id="33" name="Rectangle 32"/>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Polypropylene</a:t>
            </a:r>
          </a:p>
        </p:txBody>
      </p:sp>
      <p:sp>
        <p:nvSpPr>
          <p:cNvPr id="40" name="Rectangle 39"/>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Polyurethane (PU) Foam</a:t>
            </a:r>
          </a:p>
        </p:txBody>
      </p:sp>
      <p:sp>
        <p:nvSpPr>
          <p:cNvPr id="47" name="Rectangle 46"/>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3" name="Rectangle 52"/>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5" name="Rounded Rectangle 5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7" name="Rectangle 56"/>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59" name="Rounded Rectangle 5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1" name="Rectangle 60"/>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Material Type split shows how demand is distributed across material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63" name="Rectangle 6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5" name="TextBox 6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66" name="Rectangle 6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8" name="Picture 67" descr="1_802_605E5C.png"/>
          <p:cNvPicPr>
            <a:picLocks noChangeAspect="1"/>
          </p:cNvPicPr>
          <p:nvPr/>
        </p:nvPicPr>
        <p:blipFill>
          <a:blip r:embed="rId4"/>
          <a:stretch>
            <a:fillRect/>
          </a:stretch>
        </p:blipFill>
        <p:spPr>
          <a:xfrm>
            <a:off x="2223441" y="2286582"/>
            <a:ext cx="1195728" cy="361950"/>
          </a:xfrm>
          <a:prstGeom prst="rect">
            <a:avLst/>
          </a:prstGeom>
        </p:spPr>
      </p:pic>
      <p:pic>
        <p:nvPicPr>
          <p:cNvPr id="69" name="Picture 68" descr="2_445_605E5C.png"/>
          <p:cNvPicPr>
            <a:picLocks noChangeAspect="1"/>
          </p:cNvPicPr>
          <p:nvPr/>
        </p:nvPicPr>
        <p:blipFill>
          <a:blip r:embed="rId5"/>
          <a:stretch>
            <a:fillRect/>
          </a:stretch>
        </p:blipFill>
        <p:spPr>
          <a:xfrm>
            <a:off x="2223441" y="2779432"/>
            <a:ext cx="1195728" cy="361950"/>
          </a:xfrm>
          <a:prstGeom prst="rect">
            <a:avLst/>
          </a:prstGeom>
        </p:spPr>
      </p:pic>
      <p:pic>
        <p:nvPicPr>
          <p:cNvPr id="70" name="Picture 69" descr="3_1__605E5C.png"/>
          <p:cNvPicPr>
            <a:picLocks noChangeAspect="1"/>
          </p:cNvPicPr>
          <p:nvPr/>
        </p:nvPicPr>
        <p:blipFill>
          <a:blip r:embed="rId6"/>
          <a:stretch>
            <a:fillRect/>
          </a:stretch>
        </p:blipFill>
        <p:spPr>
          <a:xfrm>
            <a:off x="2330087" y="3272281"/>
            <a:ext cx="982436" cy="361950"/>
          </a:xfrm>
          <a:prstGeom prst="rect">
            <a:avLst/>
          </a:prstGeom>
        </p:spPr>
      </p:pic>
      <p:pic>
        <p:nvPicPr>
          <p:cNvPr id="71" name="Picture 70" descr="707_5_605E5C.png"/>
          <p:cNvPicPr>
            <a:picLocks noChangeAspect="1"/>
          </p:cNvPicPr>
          <p:nvPr/>
        </p:nvPicPr>
        <p:blipFill>
          <a:blip r:embed="rId7"/>
          <a:stretch>
            <a:fillRect/>
          </a:stretch>
        </p:blipFill>
        <p:spPr>
          <a:xfrm>
            <a:off x="4246551" y="2286582"/>
            <a:ext cx="1195728" cy="361950"/>
          </a:xfrm>
          <a:prstGeom prst="rect">
            <a:avLst/>
          </a:prstGeom>
        </p:spPr>
      </p:pic>
      <p:pic>
        <p:nvPicPr>
          <p:cNvPr id="72" name="Picture 71" descr="1_139_605E5C.png"/>
          <p:cNvPicPr>
            <a:picLocks noChangeAspect="1"/>
          </p:cNvPicPr>
          <p:nvPr/>
        </p:nvPicPr>
        <p:blipFill>
          <a:blip r:embed="rId8"/>
          <a:stretch>
            <a:fillRect/>
          </a:stretch>
        </p:blipFill>
        <p:spPr>
          <a:xfrm>
            <a:off x="4246551" y="2779432"/>
            <a:ext cx="1195728" cy="361950"/>
          </a:xfrm>
          <a:prstGeom prst="rect">
            <a:avLst/>
          </a:prstGeom>
        </p:spPr>
      </p:pic>
      <p:pic>
        <p:nvPicPr>
          <p:cNvPr id="73" name="Picture 72" descr="4_9__605E5C.png"/>
          <p:cNvPicPr>
            <a:picLocks noChangeAspect="1"/>
          </p:cNvPicPr>
          <p:nvPr/>
        </p:nvPicPr>
        <p:blipFill>
          <a:blip r:embed="rId9"/>
          <a:stretch>
            <a:fillRect/>
          </a:stretch>
        </p:blipFill>
        <p:spPr>
          <a:xfrm>
            <a:off x="4353197" y="3272281"/>
            <a:ext cx="982436" cy="361950"/>
          </a:xfrm>
          <a:prstGeom prst="rect">
            <a:avLst/>
          </a:prstGeom>
        </p:spPr>
      </p:pic>
      <p:pic>
        <p:nvPicPr>
          <p:cNvPr id="74" name="Picture 73" descr="441_0_605E5C.png"/>
          <p:cNvPicPr>
            <a:picLocks noChangeAspect="1"/>
          </p:cNvPicPr>
          <p:nvPr/>
        </p:nvPicPr>
        <p:blipFill>
          <a:blip r:embed="rId10"/>
          <a:stretch>
            <a:fillRect/>
          </a:stretch>
        </p:blipFill>
        <p:spPr>
          <a:xfrm>
            <a:off x="6269661" y="2286582"/>
            <a:ext cx="1195728" cy="361950"/>
          </a:xfrm>
          <a:prstGeom prst="rect">
            <a:avLst/>
          </a:prstGeom>
        </p:spPr>
      </p:pic>
      <p:pic>
        <p:nvPicPr>
          <p:cNvPr id="75" name="Picture 74" descr="730_1_605E5C.png"/>
          <p:cNvPicPr>
            <a:picLocks noChangeAspect="1"/>
          </p:cNvPicPr>
          <p:nvPr/>
        </p:nvPicPr>
        <p:blipFill>
          <a:blip r:embed="rId11"/>
          <a:stretch>
            <a:fillRect/>
          </a:stretch>
        </p:blipFill>
        <p:spPr>
          <a:xfrm>
            <a:off x="6269661" y="2779432"/>
            <a:ext cx="1195728" cy="361950"/>
          </a:xfrm>
          <a:prstGeom prst="rect">
            <a:avLst/>
          </a:prstGeom>
        </p:spPr>
      </p:pic>
      <p:pic>
        <p:nvPicPr>
          <p:cNvPr id="76" name="Picture 75" descr="5_2__605E5C.png"/>
          <p:cNvPicPr>
            <a:picLocks noChangeAspect="1"/>
          </p:cNvPicPr>
          <p:nvPr/>
        </p:nvPicPr>
        <p:blipFill>
          <a:blip r:embed="rId12"/>
          <a:stretch>
            <a:fillRect/>
          </a:stretch>
        </p:blipFill>
        <p:spPr>
          <a:xfrm>
            <a:off x="6376307" y="3272281"/>
            <a:ext cx="982436" cy="361950"/>
          </a:xfrm>
          <a:prstGeom prst="rect">
            <a:avLst/>
          </a:prstGeom>
        </p:spPr>
      </p:pic>
      <p:pic>
        <p:nvPicPr>
          <p:cNvPr id="77" name="Picture 76" descr="420_8_605E5C.png"/>
          <p:cNvPicPr>
            <a:picLocks noChangeAspect="1"/>
          </p:cNvPicPr>
          <p:nvPr/>
        </p:nvPicPr>
        <p:blipFill>
          <a:blip r:embed="rId13"/>
          <a:stretch>
            <a:fillRect/>
          </a:stretch>
        </p:blipFill>
        <p:spPr>
          <a:xfrm>
            <a:off x="8292771" y="2286582"/>
            <a:ext cx="1195728" cy="361950"/>
          </a:xfrm>
          <a:prstGeom prst="rect">
            <a:avLst/>
          </a:prstGeom>
        </p:spPr>
      </p:pic>
      <p:pic>
        <p:nvPicPr>
          <p:cNvPr id="78" name="Picture 77" descr="758_7_605E5C.png"/>
          <p:cNvPicPr>
            <a:picLocks noChangeAspect="1"/>
          </p:cNvPicPr>
          <p:nvPr/>
        </p:nvPicPr>
        <p:blipFill>
          <a:blip r:embed="rId14"/>
          <a:stretch>
            <a:fillRect/>
          </a:stretch>
        </p:blipFill>
        <p:spPr>
          <a:xfrm>
            <a:off x="8292771" y="2779432"/>
            <a:ext cx="1195728" cy="361950"/>
          </a:xfrm>
          <a:prstGeom prst="rect">
            <a:avLst/>
          </a:prstGeom>
        </p:spPr>
      </p:pic>
      <p:pic>
        <p:nvPicPr>
          <p:cNvPr id="79" name="Picture 78" descr="6_1__605E5C.png"/>
          <p:cNvPicPr>
            <a:picLocks noChangeAspect="1"/>
          </p:cNvPicPr>
          <p:nvPr/>
        </p:nvPicPr>
        <p:blipFill>
          <a:blip r:embed="rId15"/>
          <a:stretch>
            <a:fillRect/>
          </a:stretch>
        </p:blipFill>
        <p:spPr>
          <a:xfrm>
            <a:off x="8399417" y="3272281"/>
            <a:ext cx="982436" cy="361950"/>
          </a:xfrm>
          <a:prstGeom prst="rect">
            <a:avLst/>
          </a:prstGeom>
        </p:spPr>
      </p:pic>
      <p:pic>
        <p:nvPicPr>
          <p:cNvPr id="80" name="Picture 79" descr="233_3_605E5C.png"/>
          <p:cNvPicPr>
            <a:picLocks noChangeAspect="1"/>
          </p:cNvPicPr>
          <p:nvPr/>
        </p:nvPicPr>
        <p:blipFill>
          <a:blip r:embed="rId16"/>
          <a:stretch>
            <a:fillRect/>
          </a:stretch>
        </p:blipFill>
        <p:spPr>
          <a:xfrm>
            <a:off x="10315881" y="2286582"/>
            <a:ext cx="1195728" cy="361950"/>
          </a:xfrm>
          <a:prstGeom prst="rect">
            <a:avLst/>
          </a:prstGeom>
        </p:spPr>
      </p:pic>
      <p:pic>
        <p:nvPicPr>
          <p:cNvPr id="81" name="Picture 80" descr="292_3_605E5C.png"/>
          <p:cNvPicPr>
            <a:picLocks noChangeAspect="1"/>
          </p:cNvPicPr>
          <p:nvPr/>
        </p:nvPicPr>
        <p:blipFill>
          <a:blip r:embed="rId17"/>
          <a:stretch>
            <a:fillRect/>
          </a:stretch>
        </p:blipFill>
        <p:spPr>
          <a:xfrm>
            <a:off x="10315881" y="2779432"/>
            <a:ext cx="1195728" cy="361950"/>
          </a:xfrm>
          <a:prstGeom prst="rect">
            <a:avLst/>
          </a:prstGeom>
        </p:spPr>
      </p:pic>
      <p:pic>
        <p:nvPicPr>
          <p:cNvPr id="82" name="Picture 81" descr="2_3__605E5C.png"/>
          <p:cNvPicPr>
            <a:picLocks noChangeAspect="1"/>
          </p:cNvPicPr>
          <p:nvPr/>
        </p:nvPicPr>
        <p:blipFill>
          <a:blip r:embed="rId18"/>
          <a:stretch>
            <a:fillRect/>
          </a:stretch>
        </p:blipFill>
        <p:spPr>
          <a:xfrm>
            <a:off x="10422527" y="3272281"/>
            <a:ext cx="982436" cy="361950"/>
          </a:xfrm>
          <a:prstGeom prst="rect">
            <a:avLst/>
          </a:prstGeom>
        </p:spPr>
      </p:pic>
      <p:pic>
        <p:nvPicPr>
          <p:cNvPr id="83" name="Picture 82" descr="lock.png"/>
          <p:cNvPicPr>
            <a:picLocks noChangeAspect="1"/>
          </p:cNvPicPr>
          <p:nvPr/>
        </p:nvPicPr>
        <p:blipFill>
          <a:blip r:embed="rId19"/>
          <a:stretch>
            <a:fillRect/>
          </a:stretch>
        </p:blipFill>
        <p:spPr>
          <a:xfrm>
            <a:off x="2727960" y="2827057"/>
            <a:ext cx="183356" cy="266700"/>
          </a:xfrm>
          <a:prstGeom prst="rect">
            <a:avLst/>
          </a:prstGeom>
        </p:spPr>
      </p:pic>
      <p:pic>
        <p:nvPicPr>
          <p:cNvPr id="84" name="Picture 83" descr="lock.png"/>
          <p:cNvPicPr>
            <a:picLocks noChangeAspect="1"/>
          </p:cNvPicPr>
          <p:nvPr/>
        </p:nvPicPr>
        <p:blipFill>
          <a:blip r:embed="rId19"/>
          <a:stretch>
            <a:fillRect/>
          </a:stretch>
        </p:blipFill>
        <p:spPr>
          <a:xfrm>
            <a:off x="4751070" y="2827057"/>
            <a:ext cx="183356" cy="266700"/>
          </a:xfrm>
          <a:prstGeom prst="rect">
            <a:avLst/>
          </a:prstGeom>
        </p:spPr>
      </p:pic>
      <p:pic>
        <p:nvPicPr>
          <p:cNvPr id="85" name="Picture 84" descr="lock.png"/>
          <p:cNvPicPr>
            <a:picLocks noChangeAspect="1"/>
          </p:cNvPicPr>
          <p:nvPr/>
        </p:nvPicPr>
        <p:blipFill>
          <a:blip r:embed="rId19"/>
          <a:stretch>
            <a:fillRect/>
          </a:stretch>
        </p:blipFill>
        <p:spPr>
          <a:xfrm>
            <a:off x="6774180" y="2827057"/>
            <a:ext cx="183356" cy="266700"/>
          </a:xfrm>
          <a:prstGeom prst="rect">
            <a:avLst/>
          </a:prstGeom>
        </p:spPr>
      </p:pic>
      <p:pic>
        <p:nvPicPr>
          <p:cNvPr id="86" name="Picture 85" descr="lock.png"/>
          <p:cNvPicPr>
            <a:picLocks noChangeAspect="1"/>
          </p:cNvPicPr>
          <p:nvPr/>
        </p:nvPicPr>
        <p:blipFill>
          <a:blip r:embed="rId19"/>
          <a:stretch>
            <a:fillRect/>
          </a:stretch>
        </p:blipFill>
        <p:spPr>
          <a:xfrm>
            <a:off x="8797290" y="2827057"/>
            <a:ext cx="183356" cy="266700"/>
          </a:xfrm>
          <a:prstGeom prst="rect">
            <a:avLst/>
          </a:prstGeom>
        </p:spPr>
      </p:pic>
      <p:pic>
        <p:nvPicPr>
          <p:cNvPr id="87" name="Picture 86" descr="lock.png"/>
          <p:cNvPicPr>
            <a:picLocks noChangeAspect="1"/>
          </p:cNvPicPr>
          <p:nvPr/>
        </p:nvPicPr>
        <p:blipFill>
          <a:blip r:embed="rId19"/>
          <a:stretch>
            <a:fillRect/>
          </a:stretch>
        </p:blipFill>
        <p:spPr>
          <a:xfrm>
            <a:off x="10820400" y="2827057"/>
            <a:ext cx="183356" cy="266700"/>
          </a:xfrm>
          <a:prstGeom prst="rect">
            <a:avLst/>
          </a:prstGeom>
        </p:spPr>
      </p:pic>
      <p:sp>
        <p:nvSpPr>
          <p:cNvPr id="88" name="TextBox 87"/>
          <p:cNvSpPr txBox="1"/>
          <p:nvPr/>
        </p:nvSpPr>
        <p:spPr>
          <a:xfrm>
            <a:off x="485775" y="4229437"/>
            <a:ext cx="2696393" cy="186689"/>
          </a:xfrm>
          <a:prstGeom prst="rect">
            <a:avLst/>
          </a:prstGeom>
          <a:noFill/>
        </p:spPr>
        <p:txBody>
          <a:bodyPr wrap="none" lIns="0" rIns="0" tIns="0" bIns="0">
            <a:spAutoFit/>
          </a:bodyPr>
          <a:lstStyle/>
          <a:p>
            <a:r>
              <a:rPr sz="1100" b="0">
                <a:solidFill>
                  <a:srgbClr val="2E2E2E"/>
                </a:solidFill>
                <a:latin typeface="Calibri"/>
              </a:rPr>
              <a:t>Among foam protective packaging by material</a:t>
            </a:r>
          </a:p>
        </p:txBody>
      </p:sp>
      <p:sp>
        <p:nvSpPr>
          <p:cNvPr id="89" name="TextBox 88"/>
          <p:cNvSpPr txBox="1"/>
          <p:nvPr/>
        </p:nvSpPr>
        <p:spPr>
          <a:xfrm>
            <a:off x="485775" y="4397077"/>
            <a:ext cx="2778249" cy="186689"/>
          </a:xfrm>
          <a:prstGeom prst="rect">
            <a:avLst/>
          </a:prstGeom>
          <a:noFill/>
        </p:spPr>
        <p:txBody>
          <a:bodyPr wrap="none" lIns="0" rIns="0" tIns="0" bIns="0">
            <a:spAutoFit/>
          </a:bodyPr>
          <a:lstStyle/>
          <a:p>
            <a:r>
              <a:rPr sz="1100" b="0">
                <a:solidFill>
                  <a:srgbClr val="2E2E2E"/>
                </a:solidFill>
                <a:latin typeface="Calibri"/>
              </a:rPr>
              <a:t>type, expanded polypropylene (EPP) segment is</a:t>
            </a:r>
          </a:p>
        </p:txBody>
      </p:sp>
      <p:sp>
        <p:nvSpPr>
          <p:cNvPr id="90" name="TextBox 89"/>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91" name="Picture 90" descr="lock.png"/>
          <p:cNvPicPr>
            <a:picLocks noChangeAspect="1"/>
          </p:cNvPicPr>
          <p:nvPr/>
        </p:nvPicPr>
        <p:blipFill>
          <a:blip r:embed="rId19"/>
          <a:stretch>
            <a:fillRect/>
          </a:stretch>
        </p:blipFill>
        <p:spPr>
          <a:xfrm>
            <a:off x="2815059" y="4554938"/>
            <a:ext cx="128699" cy="187198"/>
          </a:xfrm>
          <a:prstGeom prst="rect">
            <a:avLst/>
          </a:prstGeom>
        </p:spPr>
      </p:pic>
      <p:sp>
        <p:nvSpPr>
          <p:cNvPr id="92" name="TextBox 91"/>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93" name="TextBox 92"/>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94" name="TextBox 93"/>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material type, the other foam materials segment is</a:t>
            </a:r>
          </a:p>
        </p:txBody>
      </p:sp>
      <p:sp>
        <p:nvSpPr>
          <p:cNvPr id="95" name="TextBox 94"/>
          <p:cNvSpPr txBox="1"/>
          <p:nvPr/>
        </p:nvSpPr>
        <p:spPr>
          <a:xfrm>
            <a:off x="485775" y="5067637"/>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96" name="Picture 95" descr="lock.png"/>
          <p:cNvPicPr>
            <a:picLocks noChangeAspect="1"/>
          </p:cNvPicPr>
          <p:nvPr/>
        </p:nvPicPr>
        <p:blipFill>
          <a:blip r:embed="rId19"/>
          <a:stretch>
            <a:fillRect/>
          </a:stretch>
        </p:blipFill>
        <p:spPr>
          <a:xfrm>
            <a:off x="2822716" y="5057858"/>
            <a:ext cx="128699" cy="187198"/>
          </a:xfrm>
          <a:prstGeom prst="rect">
            <a:avLst/>
          </a:prstGeom>
        </p:spPr>
      </p:pic>
      <p:sp>
        <p:nvSpPr>
          <p:cNvPr id="97" name="TextBox 96"/>
          <p:cNvSpPr txBox="1"/>
          <p:nvPr/>
        </p:nvSpPr>
        <p:spPr>
          <a:xfrm>
            <a:off x="2990212"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98" name="TextBox 97"/>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99" name="Picture 98" descr="lock.png"/>
          <p:cNvPicPr>
            <a:picLocks noChangeAspect="1"/>
          </p:cNvPicPr>
          <p:nvPr/>
        </p:nvPicPr>
        <p:blipFill>
          <a:blip r:embed="rId19"/>
          <a:stretch>
            <a:fillRect/>
          </a:stretch>
        </p:blipFill>
        <p:spPr>
          <a:xfrm>
            <a:off x="1576057" y="5225498"/>
            <a:ext cx="128699" cy="187198"/>
          </a:xfrm>
          <a:prstGeom prst="rect">
            <a:avLst/>
          </a:prstGeom>
        </p:spPr>
      </p:pic>
      <p:sp>
        <p:nvSpPr>
          <p:cNvPr id="100" name="TextBox 99"/>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01" name="TextBox 100"/>
          <p:cNvSpPr txBox="1"/>
          <p:nvPr/>
        </p:nvSpPr>
        <p:spPr>
          <a:xfrm>
            <a:off x="485775" y="5453209"/>
            <a:ext cx="2668562" cy="186689"/>
          </a:xfrm>
          <a:prstGeom prst="rect">
            <a:avLst/>
          </a:prstGeom>
          <a:noFill/>
        </p:spPr>
        <p:txBody>
          <a:bodyPr wrap="none" lIns="0" rIns="0" tIns="0" bIns="0">
            <a:spAutoFit/>
          </a:bodyPr>
          <a:lstStyle/>
          <a:p>
            <a:r>
              <a:rPr sz="1100" b="0">
                <a:solidFill>
                  <a:srgbClr val="2E2E2E"/>
                </a:solidFill>
                <a:latin typeface="Calibri"/>
              </a:rPr>
              <a:t>Other foam materials segment is projected to</a:t>
            </a:r>
          </a:p>
        </p:txBody>
      </p:sp>
      <p:sp>
        <p:nvSpPr>
          <p:cNvPr id="102" name="TextBox 101"/>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103" name="Picture 102" descr="lock.png"/>
          <p:cNvPicPr>
            <a:picLocks noChangeAspect="1"/>
          </p:cNvPicPr>
          <p:nvPr/>
        </p:nvPicPr>
        <p:blipFill>
          <a:blip r:embed="rId19"/>
          <a:stretch>
            <a:fillRect/>
          </a:stretch>
        </p:blipFill>
        <p:spPr>
          <a:xfrm>
            <a:off x="946316" y="5611070"/>
            <a:ext cx="128699" cy="187198"/>
          </a:xfrm>
          <a:prstGeom prst="rect">
            <a:avLst/>
          </a:prstGeom>
        </p:spPr>
      </p:pic>
      <p:sp>
        <p:nvSpPr>
          <p:cNvPr id="104" name="TextBox 103"/>
          <p:cNvSpPr txBox="1"/>
          <p:nvPr/>
        </p:nvSpPr>
        <p:spPr>
          <a:xfrm>
            <a:off x="1113812" y="5620849"/>
            <a:ext cx="1764332" cy="186689"/>
          </a:xfrm>
          <a:prstGeom prst="rect">
            <a:avLst/>
          </a:prstGeom>
          <a:noFill/>
        </p:spPr>
        <p:txBody>
          <a:bodyPr wrap="none" lIns="0" rIns="0" tIns="0" bIns="0">
            <a:spAutoFit/>
          </a:bodyPr>
          <a:lstStyle/>
          <a:p>
            <a:r>
              <a:rPr sz="1100" b="0">
                <a:solidFill>
                  <a:srgbClr val="2E2E2E"/>
                </a:solidFill>
                <a:latin typeface="Calibri"/>
              </a:rPr>
              <a:t>X higher value than expanded</a:t>
            </a:r>
          </a:p>
        </p:txBody>
      </p:sp>
      <p:sp>
        <p:nvSpPr>
          <p:cNvPr id="105" name="TextBox 104"/>
          <p:cNvSpPr txBox="1"/>
          <p:nvPr/>
        </p:nvSpPr>
        <p:spPr>
          <a:xfrm>
            <a:off x="485775" y="5788489"/>
            <a:ext cx="2076747" cy="186689"/>
          </a:xfrm>
          <a:prstGeom prst="rect">
            <a:avLst/>
          </a:prstGeom>
          <a:noFill/>
        </p:spPr>
        <p:txBody>
          <a:bodyPr wrap="none" lIns="0" rIns="0" tIns="0" bIns="0">
            <a:spAutoFit/>
          </a:bodyPr>
          <a:lstStyle/>
          <a:p>
            <a:r>
              <a:rPr sz="1100" b="0">
                <a:solidFill>
                  <a:srgbClr val="2E2E2E"/>
                </a:solidFill>
                <a:latin typeface="Calibri"/>
              </a:rPr>
              <a:t>polystyrene (EPS) segment in 2036.</a:t>
            </a:r>
          </a:p>
        </p:txBody>
      </p:sp>
      <p:sp>
        <p:nvSpPr>
          <p:cNvPr id="106" name="TextBox 105"/>
          <p:cNvSpPr txBox="1"/>
          <p:nvPr/>
        </p:nvSpPr>
        <p:spPr>
          <a:xfrm>
            <a:off x="3838575" y="4229437"/>
            <a:ext cx="1477808" cy="186689"/>
          </a:xfrm>
          <a:prstGeom prst="rect">
            <a:avLst/>
          </a:prstGeom>
          <a:noFill/>
        </p:spPr>
        <p:txBody>
          <a:bodyPr wrap="none" lIns="0" rIns="0" tIns="0" bIns="0">
            <a:spAutoFit/>
          </a:bodyPr>
          <a:lstStyle/>
          <a:p>
            <a:r>
              <a:rPr sz="1100" b="0">
                <a:solidFill>
                  <a:srgbClr val="2E2E2E"/>
                </a:solidFill>
                <a:latin typeface="Calibri"/>
              </a:rPr>
              <a:t>● Other Foam Materials:</a:t>
            </a:r>
          </a:p>
        </p:txBody>
      </p:sp>
      <p:pic>
        <p:nvPicPr>
          <p:cNvPr id="107" name="Picture 106" descr="lock.png"/>
          <p:cNvPicPr>
            <a:picLocks noChangeAspect="1"/>
          </p:cNvPicPr>
          <p:nvPr/>
        </p:nvPicPr>
        <p:blipFill>
          <a:blip r:embed="rId19"/>
          <a:stretch>
            <a:fillRect/>
          </a:stretch>
        </p:blipFill>
        <p:spPr>
          <a:xfrm>
            <a:off x="5264435" y="4219658"/>
            <a:ext cx="128699" cy="187198"/>
          </a:xfrm>
          <a:prstGeom prst="rect">
            <a:avLst/>
          </a:prstGeom>
        </p:spPr>
      </p:pic>
      <p:sp>
        <p:nvSpPr>
          <p:cNvPr id="108" name="TextBox 107"/>
          <p:cNvSpPr txBox="1"/>
          <p:nvPr/>
        </p:nvSpPr>
        <p:spPr>
          <a:xfrm>
            <a:off x="543193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9"/>
          <a:stretch>
            <a:fillRect/>
          </a:stretch>
        </p:blipFill>
        <p:spPr>
          <a:xfrm>
            <a:off x="6291381" y="4219658"/>
            <a:ext cx="128699" cy="187198"/>
          </a:xfrm>
          <a:prstGeom prst="rect">
            <a:avLst/>
          </a:prstGeom>
        </p:spPr>
      </p:pic>
      <p:sp>
        <p:nvSpPr>
          <p:cNvPr id="110" name="TextBox 109"/>
          <p:cNvSpPr txBox="1"/>
          <p:nvPr/>
        </p:nvSpPr>
        <p:spPr>
          <a:xfrm>
            <a:off x="6458877"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11" name="TextBox 11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12" name="TextBox 111"/>
          <p:cNvSpPr txBox="1"/>
          <p:nvPr/>
        </p:nvSpPr>
        <p:spPr>
          <a:xfrm>
            <a:off x="3838575" y="4615009"/>
            <a:ext cx="1808534" cy="186689"/>
          </a:xfrm>
          <a:prstGeom prst="rect">
            <a:avLst/>
          </a:prstGeom>
          <a:noFill/>
        </p:spPr>
        <p:txBody>
          <a:bodyPr wrap="none" lIns="0" rIns="0" tIns="0" bIns="0">
            <a:spAutoFit/>
          </a:bodyPr>
          <a:lstStyle/>
          <a:p>
            <a:r>
              <a:rPr sz="1100" b="0">
                <a:solidFill>
                  <a:srgbClr val="2E2E2E"/>
                </a:solidFill>
                <a:latin typeface="Calibri"/>
              </a:rPr>
              <a:t>● Expanded Polystyrene (EPS):</a:t>
            </a:r>
          </a:p>
        </p:txBody>
      </p:sp>
      <p:pic>
        <p:nvPicPr>
          <p:cNvPr id="113" name="Picture 112" descr="lock.png"/>
          <p:cNvPicPr>
            <a:picLocks noChangeAspect="1"/>
          </p:cNvPicPr>
          <p:nvPr/>
        </p:nvPicPr>
        <p:blipFill>
          <a:blip r:embed="rId19"/>
          <a:stretch>
            <a:fillRect/>
          </a:stretch>
        </p:blipFill>
        <p:spPr>
          <a:xfrm>
            <a:off x="5595161" y="4605230"/>
            <a:ext cx="128699" cy="187198"/>
          </a:xfrm>
          <a:prstGeom prst="rect">
            <a:avLst/>
          </a:prstGeom>
        </p:spPr>
      </p:pic>
      <p:sp>
        <p:nvSpPr>
          <p:cNvPr id="114" name="TextBox 113"/>
          <p:cNvSpPr txBox="1"/>
          <p:nvPr/>
        </p:nvSpPr>
        <p:spPr>
          <a:xfrm>
            <a:off x="576265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9"/>
          <a:stretch>
            <a:fillRect/>
          </a:stretch>
        </p:blipFill>
        <p:spPr>
          <a:xfrm>
            <a:off x="6622107" y="4605230"/>
            <a:ext cx="128699" cy="187198"/>
          </a:xfrm>
          <a:prstGeom prst="rect">
            <a:avLst/>
          </a:prstGeom>
        </p:spPr>
      </p:pic>
      <p:sp>
        <p:nvSpPr>
          <p:cNvPr id="116" name="TextBox 115"/>
          <p:cNvSpPr txBox="1"/>
          <p:nvPr/>
        </p:nvSpPr>
        <p:spPr>
          <a:xfrm>
            <a:off x="6789603"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17" name="TextBox 116"/>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18" name="TextBox 117"/>
          <p:cNvSpPr txBox="1"/>
          <p:nvPr/>
        </p:nvSpPr>
        <p:spPr>
          <a:xfrm>
            <a:off x="3838575" y="5000581"/>
            <a:ext cx="1573579" cy="186689"/>
          </a:xfrm>
          <a:prstGeom prst="rect">
            <a:avLst/>
          </a:prstGeom>
          <a:noFill/>
        </p:spPr>
        <p:txBody>
          <a:bodyPr wrap="none" lIns="0" rIns="0" tIns="0" bIns="0">
            <a:spAutoFit/>
          </a:bodyPr>
          <a:lstStyle/>
          <a:p>
            <a:r>
              <a:rPr sz="1100" b="0">
                <a:solidFill>
                  <a:srgbClr val="2E2E2E"/>
                </a:solidFill>
                <a:latin typeface="Calibri"/>
              </a:rPr>
              <a:t>● Polyethylene (PE) Foam:</a:t>
            </a:r>
          </a:p>
        </p:txBody>
      </p:sp>
      <p:pic>
        <p:nvPicPr>
          <p:cNvPr id="119" name="Picture 118" descr="lock.png"/>
          <p:cNvPicPr>
            <a:picLocks noChangeAspect="1"/>
          </p:cNvPicPr>
          <p:nvPr/>
        </p:nvPicPr>
        <p:blipFill>
          <a:blip r:embed="rId19"/>
          <a:stretch>
            <a:fillRect/>
          </a:stretch>
        </p:blipFill>
        <p:spPr>
          <a:xfrm>
            <a:off x="5360206" y="4990801"/>
            <a:ext cx="128699" cy="187198"/>
          </a:xfrm>
          <a:prstGeom prst="rect">
            <a:avLst/>
          </a:prstGeom>
        </p:spPr>
      </p:pic>
      <p:sp>
        <p:nvSpPr>
          <p:cNvPr id="120" name="TextBox 119"/>
          <p:cNvSpPr txBox="1"/>
          <p:nvPr/>
        </p:nvSpPr>
        <p:spPr>
          <a:xfrm>
            <a:off x="5527701"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1" name="Picture 120" descr="lock.png"/>
          <p:cNvPicPr>
            <a:picLocks noChangeAspect="1"/>
          </p:cNvPicPr>
          <p:nvPr/>
        </p:nvPicPr>
        <p:blipFill>
          <a:blip r:embed="rId19"/>
          <a:stretch>
            <a:fillRect/>
          </a:stretch>
        </p:blipFill>
        <p:spPr>
          <a:xfrm>
            <a:off x="6387152" y="4990801"/>
            <a:ext cx="128699" cy="187198"/>
          </a:xfrm>
          <a:prstGeom prst="rect">
            <a:avLst/>
          </a:prstGeom>
        </p:spPr>
      </p:pic>
      <p:sp>
        <p:nvSpPr>
          <p:cNvPr id="122" name="TextBox 121"/>
          <p:cNvSpPr txBox="1"/>
          <p:nvPr/>
        </p:nvSpPr>
        <p:spPr>
          <a:xfrm>
            <a:off x="6554647"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3" name="TextBox 122"/>
          <p:cNvSpPr txBox="1"/>
          <p:nvPr/>
        </p:nvSpPr>
        <p:spPr>
          <a:xfrm>
            <a:off x="3838575" y="5218513"/>
            <a:ext cx="1967879" cy="186689"/>
          </a:xfrm>
          <a:prstGeom prst="rect">
            <a:avLst/>
          </a:prstGeom>
          <a:noFill/>
        </p:spPr>
        <p:txBody>
          <a:bodyPr wrap="none" lIns="0" rIns="0" tIns="0" bIns="0">
            <a:spAutoFit/>
          </a:bodyPr>
          <a:lstStyle/>
          <a:p>
            <a:r>
              <a:rPr sz="1100" b="0">
                <a:solidFill>
                  <a:srgbClr val="2E2E2E"/>
                </a:solidFill>
                <a:latin typeface="Calibri"/>
              </a:rPr>
              <a:t>● Expanded Polypropylene (EPP):</a:t>
            </a:r>
          </a:p>
        </p:txBody>
      </p:sp>
      <p:pic>
        <p:nvPicPr>
          <p:cNvPr id="124" name="Picture 123" descr="lock.png"/>
          <p:cNvPicPr>
            <a:picLocks noChangeAspect="1"/>
          </p:cNvPicPr>
          <p:nvPr/>
        </p:nvPicPr>
        <p:blipFill>
          <a:blip r:embed="rId19"/>
          <a:stretch>
            <a:fillRect/>
          </a:stretch>
        </p:blipFill>
        <p:spPr>
          <a:xfrm>
            <a:off x="5754506" y="5208733"/>
            <a:ext cx="128699" cy="187198"/>
          </a:xfrm>
          <a:prstGeom prst="rect">
            <a:avLst/>
          </a:prstGeom>
        </p:spPr>
      </p:pic>
      <p:sp>
        <p:nvSpPr>
          <p:cNvPr id="125" name="TextBox 124"/>
          <p:cNvSpPr txBox="1"/>
          <p:nvPr/>
        </p:nvSpPr>
        <p:spPr>
          <a:xfrm>
            <a:off x="5922002"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6" name="Picture 125" descr="lock.png"/>
          <p:cNvPicPr>
            <a:picLocks noChangeAspect="1"/>
          </p:cNvPicPr>
          <p:nvPr/>
        </p:nvPicPr>
        <p:blipFill>
          <a:blip r:embed="rId19"/>
          <a:stretch>
            <a:fillRect/>
          </a:stretch>
        </p:blipFill>
        <p:spPr>
          <a:xfrm>
            <a:off x="6781452" y="5208733"/>
            <a:ext cx="128699" cy="187198"/>
          </a:xfrm>
          <a:prstGeom prst="rect">
            <a:avLst/>
          </a:prstGeom>
        </p:spPr>
      </p:pic>
      <p:sp>
        <p:nvSpPr>
          <p:cNvPr id="127" name="TextBox 126"/>
          <p:cNvSpPr txBox="1"/>
          <p:nvPr/>
        </p:nvSpPr>
        <p:spPr>
          <a:xfrm>
            <a:off x="6948948" y="5218513"/>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28" name="TextBox 127"/>
          <p:cNvSpPr txBox="1"/>
          <p:nvPr/>
        </p:nvSpPr>
        <p:spPr>
          <a:xfrm>
            <a:off x="3838575" y="5386153"/>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29" name="TextBox 128"/>
          <p:cNvSpPr txBox="1"/>
          <p:nvPr/>
        </p:nvSpPr>
        <p:spPr>
          <a:xfrm>
            <a:off x="3838575" y="5604085"/>
            <a:ext cx="1619145" cy="186689"/>
          </a:xfrm>
          <a:prstGeom prst="rect">
            <a:avLst/>
          </a:prstGeom>
          <a:noFill/>
        </p:spPr>
        <p:txBody>
          <a:bodyPr wrap="none" lIns="0" rIns="0" tIns="0" bIns="0">
            <a:spAutoFit/>
          </a:bodyPr>
          <a:lstStyle/>
          <a:p>
            <a:r>
              <a:rPr sz="1100" b="0">
                <a:solidFill>
                  <a:srgbClr val="2E2E2E"/>
                </a:solidFill>
                <a:latin typeface="Calibri"/>
              </a:rPr>
              <a:t>● Polyurethane (PU) Foam:</a:t>
            </a:r>
          </a:p>
        </p:txBody>
      </p:sp>
      <p:pic>
        <p:nvPicPr>
          <p:cNvPr id="130" name="Picture 129" descr="lock.png"/>
          <p:cNvPicPr>
            <a:picLocks noChangeAspect="1"/>
          </p:cNvPicPr>
          <p:nvPr/>
        </p:nvPicPr>
        <p:blipFill>
          <a:blip r:embed="rId19"/>
          <a:stretch>
            <a:fillRect/>
          </a:stretch>
        </p:blipFill>
        <p:spPr>
          <a:xfrm>
            <a:off x="5405772" y="5594305"/>
            <a:ext cx="128699" cy="187198"/>
          </a:xfrm>
          <a:prstGeom prst="rect">
            <a:avLst/>
          </a:prstGeom>
        </p:spPr>
      </p:pic>
      <p:sp>
        <p:nvSpPr>
          <p:cNvPr id="131" name="TextBox 130"/>
          <p:cNvSpPr txBox="1"/>
          <p:nvPr/>
        </p:nvSpPr>
        <p:spPr>
          <a:xfrm>
            <a:off x="5573268"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2" name="Picture 131" descr="lock.png"/>
          <p:cNvPicPr>
            <a:picLocks noChangeAspect="1"/>
          </p:cNvPicPr>
          <p:nvPr/>
        </p:nvPicPr>
        <p:blipFill>
          <a:blip r:embed="rId19"/>
          <a:stretch>
            <a:fillRect/>
          </a:stretch>
        </p:blipFill>
        <p:spPr>
          <a:xfrm>
            <a:off x="6432718" y="5594305"/>
            <a:ext cx="128699" cy="187198"/>
          </a:xfrm>
          <a:prstGeom prst="rect">
            <a:avLst/>
          </a:prstGeom>
        </p:spPr>
      </p:pic>
      <p:sp>
        <p:nvSpPr>
          <p:cNvPr id="133" name="TextBox 132"/>
          <p:cNvSpPr txBox="1"/>
          <p:nvPr/>
        </p:nvSpPr>
        <p:spPr>
          <a:xfrm>
            <a:off x="6600214" y="560408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4" name="TextBox 133"/>
          <p:cNvSpPr txBox="1"/>
          <p:nvPr/>
        </p:nvSpPr>
        <p:spPr>
          <a:xfrm>
            <a:off x="3838575" y="577172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5" name="TextBox 134"/>
          <p:cNvSpPr txBox="1"/>
          <p:nvPr/>
        </p:nvSpPr>
        <p:spPr>
          <a:xfrm>
            <a:off x="8524875" y="5842641"/>
            <a:ext cx="3140967" cy="194310"/>
          </a:xfrm>
          <a:prstGeom prst="rect">
            <a:avLst/>
          </a:prstGeom>
          <a:noFill/>
        </p:spPr>
        <p:txBody>
          <a:bodyPr wrap="none" lIns="0" rIns="0" tIns="0" bIns="0">
            <a:spAutoFit/>
          </a:bodyPr>
          <a:lstStyle/>
          <a:p>
            <a:r>
              <a:rPr sz="1150" b="1">
                <a:solidFill>
                  <a:srgbClr val="0B2E4A"/>
                </a:solidFill>
                <a:latin typeface="Calibri"/>
              </a:rPr>
              <a:t>The Material Type segment is projected to grow at</a:t>
            </a:r>
          </a:p>
        </p:txBody>
      </p:sp>
      <p:sp>
        <p:nvSpPr>
          <p:cNvPr id="136" name="TextBox 135"/>
          <p:cNvSpPr txBox="1"/>
          <p:nvPr/>
        </p:nvSpPr>
        <p:spPr>
          <a:xfrm>
            <a:off x="8524875" y="6017901"/>
            <a:ext cx="680055" cy="194310"/>
          </a:xfrm>
          <a:prstGeom prst="rect">
            <a:avLst/>
          </a:prstGeom>
          <a:noFill/>
        </p:spPr>
        <p:txBody>
          <a:bodyPr wrap="none" lIns="0" rIns="0" tIns="0" bIns="0">
            <a:spAutoFit/>
          </a:bodyPr>
          <a:lstStyle/>
          <a:p>
            <a:r>
              <a:rPr sz="1150" b="1">
                <a:solidFill>
                  <a:srgbClr val="0B2E4A"/>
                </a:solidFill>
                <a:latin typeface="Calibri"/>
              </a:rPr>
              <a:t>a CAGR of</a:t>
            </a:r>
          </a:p>
        </p:txBody>
      </p:sp>
      <p:pic>
        <p:nvPicPr>
          <p:cNvPr id="137" name="Picture 136" descr="lock.png"/>
          <p:cNvPicPr>
            <a:picLocks noChangeAspect="1"/>
          </p:cNvPicPr>
          <p:nvPr/>
        </p:nvPicPr>
        <p:blipFill>
          <a:blip r:embed="rId19"/>
          <a:stretch>
            <a:fillRect/>
          </a:stretch>
        </p:blipFill>
        <p:spPr>
          <a:xfrm>
            <a:off x="9154084" y="6007677"/>
            <a:ext cx="134549" cy="195707"/>
          </a:xfrm>
          <a:prstGeom prst="rect">
            <a:avLst/>
          </a:prstGeom>
        </p:spPr>
      </p:pic>
      <p:sp>
        <p:nvSpPr>
          <p:cNvPr id="138" name="TextBox 137"/>
          <p:cNvSpPr txBox="1"/>
          <p:nvPr/>
        </p:nvSpPr>
        <p:spPr>
          <a:xfrm>
            <a:off x="9329193"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Material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Material Type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Material Type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Material Type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31463" cy="186689"/>
          </a:xfrm>
          <a:prstGeom prst="rect">
            <a:avLst/>
          </a:prstGeom>
          <a:noFill/>
        </p:spPr>
        <p:txBody>
          <a:bodyPr wrap="none" lIns="0" rIns="0" tIns="0" bIns="0">
            <a:spAutoFit/>
          </a:bodyPr>
          <a:lstStyle/>
          <a:p>
            <a:r>
              <a:rPr sz="1100" b="0">
                <a:solidFill>
                  <a:srgbClr val="2E2E2E"/>
                </a:solidFill>
                <a:latin typeface="Calibri"/>
              </a:rPr>
              <a:t>Other foam materials followed by expanded polystyrene (EPS) are expected to be the two most attractive material type segments in the North America foam protective packaging market in terms of value</a:t>
            </a:r>
          </a:p>
        </p:txBody>
      </p:sp>
      <p:sp>
        <p:nvSpPr>
          <p:cNvPr id="18" name="TextBox 17"/>
          <p:cNvSpPr txBox="1"/>
          <p:nvPr/>
        </p:nvSpPr>
        <p:spPr>
          <a:xfrm>
            <a:off x="257175" y="5861685"/>
            <a:ext cx="5951495" cy="186689"/>
          </a:xfrm>
          <a:prstGeom prst="rect">
            <a:avLst/>
          </a:prstGeom>
          <a:noFill/>
        </p:spPr>
        <p:txBody>
          <a:bodyPr wrap="none" lIns="0" rIns="0" tIns="0" bIns="0">
            <a:spAutoFit/>
          </a:bodyPr>
          <a:lstStyle/>
          <a:p>
            <a:r>
              <a:rPr sz="1100" b="0">
                <a:solidFill>
                  <a:srgbClr val="2E2E2E"/>
                </a:solidFill>
                <a:latin typeface="Calibri"/>
              </a:rPr>
              <a:t>over the forecast period. Other foam materials and expanded polystyrene (EPS) exhibit a CAGR index of</a:t>
            </a:r>
          </a:p>
        </p:txBody>
      </p:sp>
      <p:pic>
        <p:nvPicPr>
          <p:cNvPr id="19" name="Picture 18" descr="lock.png"/>
          <p:cNvPicPr>
            <a:picLocks noChangeAspect="1"/>
          </p:cNvPicPr>
          <p:nvPr/>
        </p:nvPicPr>
        <p:blipFill>
          <a:blip r:embed="rId6"/>
          <a:stretch>
            <a:fillRect/>
          </a:stretch>
        </p:blipFill>
        <p:spPr>
          <a:xfrm>
            <a:off x="6156722" y="5851905"/>
            <a:ext cx="128699" cy="187198"/>
          </a:xfrm>
          <a:prstGeom prst="rect">
            <a:avLst/>
          </a:prstGeom>
        </p:spPr>
      </p:pic>
      <p:sp>
        <p:nvSpPr>
          <p:cNvPr id="20" name="TextBox 19"/>
          <p:cNvSpPr txBox="1"/>
          <p:nvPr/>
        </p:nvSpPr>
        <p:spPr>
          <a:xfrm>
            <a:off x="6324218"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6562112" y="5851905"/>
            <a:ext cx="128699" cy="187198"/>
          </a:xfrm>
          <a:prstGeom prst="rect">
            <a:avLst/>
          </a:prstGeom>
        </p:spPr>
      </p:pic>
      <p:sp>
        <p:nvSpPr>
          <p:cNvPr id="22" name="TextBox 21"/>
          <p:cNvSpPr txBox="1"/>
          <p:nvPr/>
        </p:nvSpPr>
        <p:spPr>
          <a:xfrm>
            <a:off x="6729608"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8338581" y="5851905"/>
            <a:ext cx="128699" cy="187198"/>
          </a:xfrm>
          <a:prstGeom prst="rect">
            <a:avLst/>
          </a:prstGeom>
        </p:spPr>
      </p:pic>
      <p:sp>
        <p:nvSpPr>
          <p:cNvPr id="24" name="TextBox 23"/>
          <p:cNvSpPr txBox="1"/>
          <p:nvPr/>
        </p:nvSpPr>
        <p:spPr>
          <a:xfrm>
            <a:off x="850607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8743971" y="5851905"/>
            <a:ext cx="128699" cy="187198"/>
          </a:xfrm>
          <a:prstGeom prst="rect">
            <a:avLst/>
          </a:prstGeom>
        </p:spPr>
      </p:pic>
      <p:sp>
        <p:nvSpPr>
          <p:cNvPr id="26" name="TextBox 25"/>
          <p:cNvSpPr txBox="1"/>
          <p:nvPr/>
        </p:nvSpPr>
        <p:spPr>
          <a:xfrm>
            <a:off x="8911467"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243707" y="6019545"/>
            <a:ext cx="128699" cy="187198"/>
          </a:xfrm>
          <a:prstGeom prst="rect">
            <a:avLst/>
          </a:prstGeom>
        </p:spPr>
      </p:pic>
      <p:sp>
        <p:nvSpPr>
          <p:cNvPr id="28" name="TextBox 27"/>
          <p:cNvSpPr txBox="1"/>
          <p:nvPr/>
        </p:nvSpPr>
        <p:spPr>
          <a:xfrm>
            <a:off x="411203" y="6029325"/>
            <a:ext cx="11412346" cy="186689"/>
          </a:xfrm>
          <a:prstGeom prst="rect">
            <a:avLst/>
          </a:prstGeom>
          <a:noFill/>
        </p:spPr>
        <p:txBody>
          <a:bodyPr wrap="none" lIns="0" rIns="0" tIns="0" bIns="0">
            <a:spAutoFit/>
          </a:bodyPr>
          <a:lstStyle/>
          <a:p>
            <a:r>
              <a:rPr sz="1100" b="0">
                <a:solidFill>
                  <a:srgbClr val="2E2E2E"/>
                </a:solidFill>
                <a:latin typeface="Calibri"/>
              </a:rPr>
              <a:t>. The polyurethane (PU) foam segment is expected to be less attractive as compared to other segments over the forecast period, owing to its lower CAGR and incremental opportunity. Bubbles right of</a:t>
            </a:r>
          </a:p>
        </p:txBody>
      </p:sp>
      <p:sp>
        <p:nvSpPr>
          <p:cNvPr id="29" name="TextBox 28"/>
          <p:cNvSpPr txBox="1"/>
          <p:nvPr/>
        </p:nvSpPr>
        <p:spPr>
          <a:xfrm>
            <a:off x="257175" y="6196965"/>
            <a:ext cx="3445899" cy="186689"/>
          </a:xfrm>
          <a:prstGeom prst="rect">
            <a:avLst/>
          </a:prstGeom>
          <a:noFill/>
        </p:spPr>
        <p:txBody>
          <a:bodyPr wrap="none" lIns="0" rIns="0" tIns="0" bIns="0">
            <a:spAutoFit/>
          </a:bodyPr>
          <a:lstStyle/>
          <a:p>
            <a:r>
              <a:rPr sz="1100" b="0">
                <a:solidFill>
                  <a:srgbClr val="2E2E2E"/>
                </a:solidFill>
                <a:latin typeface="Calibri"/>
              </a:rPr>
              <a:t>the CAGR-Index line 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Material Type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Material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Polyethylene (PE) Foam</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Expanded Polystyrene (EPS)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Polyurethane (PU) Foam</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Expanded Polypropylene (EPP)</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Material Type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Material Type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Foam Materials</a:t>
            </a:r>
          </a:p>
        </p:txBody>
      </p:sp>
      <p:graphicFrame>
        <p:nvGraphicFramePr>
          <p:cNvPr id="9" name="Chart 8"/>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Material Type</a:t>
            </a:r>
          </a:p>
        </p:txBody>
      </p:sp>
      <p:sp>
        <p:nvSpPr>
          <p:cNvPr id="12" name="Rectangle 11"/>
          <p:cNvSpPr/>
          <p:nvPr/>
        </p:nvSpPr>
        <p:spPr>
          <a:xfrm>
            <a:off x="6305550" y="150299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5"/>
          <a:stretch>
            <a:fillRect/>
          </a:stretch>
        </p:blipFill>
        <p:spPr>
          <a:xfrm>
            <a:off x="3027556" y="3674659"/>
            <a:ext cx="395643" cy="575481"/>
          </a:xfrm>
          <a:prstGeom prst="rect">
            <a:avLst/>
          </a:prstGeom>
        </p:spPr>
      </p:pic>
      <p:sp>
        <p:nvSpPr>
          <p:cNvPr id="17" name="TextBox 16"/>
          <p:cNvSpPr txBox="1"/>
          <p:nvPr/>
        </p:nvSpPr>
        <p:spPr>
          <a:xfrm>
            <a:off x="6305550" y="1598245"/>
            <a:ext cx="4755768" cy="194310"/>
          </a:xfrm>
          <a:prstGeom prst="rect">
            <a:avLst/>
          </a:prstGeom>
          <a:noFill/>
        </p:spPr>
        <p:txBody>
          <a:bodyPr wrap="none" lIns="0" rIns="0" tIns="0" bIns="0">
            <a:spAutoFit/>
          </a:bodyPr>
          <a:lstStyle/>
          <a:p>
            <a:r>
              <a:rPr sz="1150" b="0">
                <a:solidFill>
                  <a:srgbClr val="2E2E2E"/>
                </a:solidFill>
                <a:latin typeface="Calibri"/>
              </a:rPr>
              <a:t>By 2036, other foam materials segment is anticipated to witness an increase of</a:t>
            </a:r>
          </a:p>
        </p:txBody>
      </p:sp>
      <p:pic>
        <p:nvPicPr>
          <p:cNvPr id="18" name="Picture 17" descr="lock.png"/>
          <p:cNvPicPr>
            <a:picLocks noChangeAspect="1"/>
          </p:cNvPicPr>
          <p:nvPr/>
        </p:nvPicPr>
        <p:blipFill>
          <a:blip r:embed="rId5"/>
          <a:stretch>
            <a:fillRect/>
          </a:stretch>
        </p:blipFill>
        <p:spPr>
          <a:xfrm>
            <a:off x="11010471" y="1588021"/>
            <a:ext cx="134549" cy="195707"/>
          </a:xfrm>
          <a:prstGeom prst="rect">
            <a:avLst/>
          </a:prstGeom>
        </p:spPr>
      </p:pic>
      <p:sp>
        <p:nvSpPr>
          <p:cNvPr id="19" name="TextBox 18"/>
          <p:cNvSpPr txBox="1"/>
          <p:nvPr/>
        </p:nvSpPr>
        <p:spPr>
          <a:xfrm>
            <a:off x="11185581" y="1598245"/>
            <a:ext cx="675233" cy="194310"/>
          </a:xfrm>
          <a:prstGeom prst="rect">
            <a:avLst/>
          </a:prstGeom>
          <a:noFill/>
        </p:spPr>
        <p:txBody>
          <a:bodyPr wrap="none" lIns="0" rIns="0" tIns="0" bIns="0">
            <a:spAutoFit/>
          </a:bodyPr>
          <a:lstStyle/>
          <a:p>
            <a:r>
              <a:rPr sz="1150" b="0">
                <a:solidFill>
                  <a:srgbClr val="2E2E2E"/>
                </a:solidFill>
                <a:latin typeface="Calibri"/>
              </a:rPr>
              <a:t>X in terms</a:t>
            </a:r>
          </a:p>
        </p:txBody>
      </p:sp>
      <p:sp>
        <p:nvSpPr>
          <p:cNvPr id="20" name="TextBox 19"/>
          <p:cNvSpPr txBox="1"/>
          <p:nvPr/>
        </p:nvSpPr>
        <p:spPr>
          <a:xfrm>
            <a:off x="6305550" y="1773505"/>
            <a:ext cx="5411874" cy="194310"/>
          </a:xfrm>
          <a:prstGeom prst="rect">
            <a:avLst/>
          </a:prstGeom>
          <a:noFill/>
        </p:spPr>
        <p:txBody>
          <a:bodyPr wrap="none" lIns="0" rIns="0" tIns="0" bIns="0">
            <a:spAutoFit/>
          </a:bodyPr>
          <a:lstStyle/>
          <a:p>
            <a:r>
              <a:rPr sz="1150" b="0">
                <a:solidFill>
                  <a:srgbClr val="2E2E2E"/>
                </a:solidFill>
                <a:latin typeface="Calibri"/>
              </a:rPr>
              <a:t>of value as compared to 2026. The other foam materials segment is expected to create an</a:t>
            </a:r>
          </a:p>
        </p:txBody>
      </p:sp>
      <p:sp>
        <p:nvSpPr>
          <p:cNvPr id="21" name="TextBox 20"/>
          <p:cNvSpPr txBox="1"/>
          <p:nvPr/>
        </p:nvSpPr>
        <p:spPr>
          <a:xfrm>
            <a:off x="6305550" y="1948765"/>
            <a:ext cx="1956879" cy="194310"/>
          </a:xfrm>
          <a:prstGeom prst="rect">
            <a:avLst/>
          </a:prstGeom>
          <a:noFill/>
        </p:spPr>
        <p:txBody>
          <a:bodyPr wrap="none" lIns="0" rIns="0" tIns="0" bIns="0">
            <a:spAutoFit/>
          </a:bodyPr>
          <a:lstStyle/>
          <a:p>
            <a:r>
              <a:rPr sz="1150" b="0">
                <a:solidFill>
                  <a:srgbClr val="2E2E2E"/>
                </a:solidFill>
                <a:latin typeface="Calibri"/>
              </a:rPr>
              <a:t>incremental opportunity of US$</a:t>
            </a:r>
          </a:p>
        </p:txBody>
      </p:sp>
      <p:pic>
        <p:nvPicPr>
          <p:cNvPr id="22" name="Picture 21" descr="lock.png"/>
          <p:cNvPicPr>
            <a:picLocks noChangeAspect="1"/>
          </p:cNvPicPr>
          <p:nvPr/>
        </p:nvPicPr>
        <p:blipFill>
          <a:blip r:embed="rId5"/>
          <a:stretch>
            <a:fillRect/>
          </a:stretch>
        </p:blipFill>
        <p:spPr>
          <a:xfrm>
            <a:off x="8211582" y="1938541"/>
            <a:ext cx="134549" cy="195707"/>
          </a:xfrm>
          <a:prstGeom prst="rect">
            <a:avLst/>
          </a:prstGeom>
        </p:spPr>
      </p:pic>
      <p:sp>
        <p:nvSpPr>
          <p:cNvPr id="23" name="TextBox 22"/>
          <p:cNvSpPr txBox="1"/>
          <p:nvPr/>
        </p:nvSpPr>
        <p:spPr>
          <a:xfrm>
            <a:off x="8386692" y="1948765"/>
            <a:ext cx="3221124"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a:t>
            </a:r>
          </a:p>
        </p:txBody>
      </p:sp>
      <p:sp>
        <p:nvSpPr>
          <p:cNvPr id="24" name="TextBox 23"/>
          <p:cNvSpPr txBox="1"/>
          <p:nvPr/>
        </p:nvSpPr>
        <p:spPr>
          <a:xfrm>
            <a:off x="6305550" y="2124025"/>
            <a:ext cx="1220923" cy="194310"/>
          </a:xfrm>
          <a:prstGeom prst="rect">
            <a:avLst/>
          </a:prstGeom>
          <a:noFill/>
        </p:spPr>
        <p:txBody>
          <a:bodyPr wrap="none" lIns="0" rIns="0" tIns="0" bIns="0">
            <a:spAutoFit/>
          </a:bodyPr>
          <a:lstStyle/>
          <a:p>
            <a:r>
              <a:rPr sz="1150" b="0">
                <a:solidFill>
                  <a:srgbClr val="2E2E2E"/>
                </a:solidFill>
                <a:latin typeface="Calibri"/>
              </a:rPr>
              <a:t>from 2026 to 2036.</a:t>
            </a:r>
          </a:p>
        </p:txBody>
      </p:sp>
      <p:sp>
        <p:nvSpPr>
          <p:cNvPr id="25" name="TextBox 24"/>
          <p:cNvSpPr txBox="1"/>
          <p:nvPr/>
        </p:nvSpPr>
        <p:spPr>
          <a:xfrm>
            <a:off x="6305550" y="2351863"/>
            <a:ext cx="5591175" cy="194310"/>
          </a:xfrm>
          <a:prstGeom prst="rect">
            <a:avLst/>
          </a:prstGeom>
          <a:noFill/>
        </p:spPr>
        <p:txBody>
          <a:bodyPr wrap="none" lIns="0" rIns="0" tIns="0" bIns="0">
            <a:spAutoFit/>
          </a:bodyPr>
          <a:lstStyle/>
          <a:p>
            <a:r>
              <a:rPr sz="1150" b="0">
                <a:solidFill>
                  <a:srgbClr val="2E2E2E"/>
                </a:solidFill>
                <a:latin typeface="Calibri"/>
              </a:rPr>
              <a:t>The expanded polystyrene (EPS) segment is expected to create an incremental opportunity of</a:t>
            </a:r>
          </a:p>
        </p:txBody>
      </p:sp>
      <p:sp>
        <p:nvSpPr>
          <p:cNvPr id="26" name="TextBox 25"/>
          <p:cNvSpPr txBox="1"/>
          <p:nvPr/>
        </p:nvSpPr>
        <p:spPr>
          <a:xfrm>
            <a:off x="6305550" y="252712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27" name="Picture 26" descr="lock.png"/>
          <p:cNvPicPr>
            <a:picLocks noChangeAspect="1"/>
          </p:cNvPicPr>
          <p:nvPr/>
        </p:nvPicPr>
        <p:blipFill>
          <a:blip r:embed="rId5"/>
          <a:stretch>
            <a:fillRect/>
          </a:stretch>
        </p:blipFill>
        <p:spPr>
          <a:xfrm>
            <a:off x="6565953" y="2516899"/>
            <a:ext cx="134549" cy="195707"/>
          </a:xfrm>
          <a:prstGeom prst="rect">
            <a:avLst/>
          </a:prstGeom>
        </p:spPr>
      </p:pic>
      <p:sp>
        <p:nvSpPr>
          <p:cNvPr id="28" name="TextBox 27"/>
          <p:cNvSpPr txBox="1"/>
          <p:nvPr/>
        </p:nvSpPr>
        <p:spPr>
          <a:xfrm>
            <a:off x="6741062" y="2527123"/>
            <a:ext cx="4652813"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 The</a:t>
            </a:r>
          </a:p>
        </p:txBody>
      </p:sp>
      <p:sp>
        <p:nvSpPr>
          <p:cNvPr id="29" name="TextBox 28"/>
          <p:cNvSpPr txBox="1"/>
          <p:nvPr/>
        </p:nvSpPr>
        <p:spPr>
          <a:xfrm>
            <a:off x="6305550" y="2702383"/>
            <a:ext cx="5540809" cy="194310"/>
          </a:xfrm>
          <a:prstGeom prst="rect">
            <a:avLst/>
          </a:prstGeom>
          <a:noFill/>
        </p:spPr>
        <p:txBody>
          <a:bodyPr wrap="none" lIns="0" rIns="0" tIns="0" bIns="0">
            <a:spAutoFit/>
          </a:bodyPr>
          <a:lstStyle/>
          <a:p>
            <a:r>
              <a:rPr sz="1150" b="0">
                <a:solidFill>
                  <a:srgbClr val="2E2E2E"/>
                </a:solidFill>
                <a:latin typeface="Calibri"/>
              </a:rPr>
              <a:t>expanded polypropylene (EPP) segment is expected to create an incremental opportunity of</a:t>
            </a:r>
          </a:p>
        </p:txBody>
      </p:sp>
      <p:sp>
        <p:nvSpPr>
          <p:cNvPr id="30" name="TextBox 29"/>
          <p:cNvSpPr txBox="1"/>
          <p:nvPr/>
        </p:nvSpPr>
        <p:spPr>
          <a:xfrm>
            <a:off x="6305550" y="287764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1" name="Picture 30" descr="lock.png"/>
          <p:cNvPicPr>
            <a:picLocks noChangeAspect="1"/>
          </p:cNvPicPr>
          <p:nvPr/>
        </p:nvPicPr>
        <p:blipFill>
          <a:blip r:embed="rId5"/>
          <a:stretch>
            <a:fillRect/>
          </a:stretch>
        </p:blipFill>
        <p:spPr>
          <a:xfrm>
            <a:off x="6565953" y="2867419"/>
            <a:ext cx="134549" cy="195707"/>
          </a:xfrm>
          <a:prstGeom prst="rect">
            <a:avLst/>
          </a:prstGeom>
        </p:spPr>
      </p:pic>
      <p:sp>
        <p:nvSpPr>
          <p:cNvPr id="32" name="TextBox 31"/>
          <p:cNvSpPr txBox="1"/>
          <p:nvPr/>
        </p:nvSpPr>
        <p:spPr>
          <a:xfrm>
            <a:off x="6741062" y="2877643"/>
            <a:ext cx="4398937"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a:t>
            </a:r>
          </a:p>
        </p:txBody>
      </p:sp>
      <p:sp>
        <p:nvSpPr>
          <p:cNvPr id="33" name="lockshield_9"/>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Material Type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Material Type, 2021–2036, highlighting the sub-segments driving growth</a:t>
            </a:r>
          </a:p>
        </p:txBody>
      </p:sp>
      <p:sp>
        <p:nvSpPr>
          <p:cNvPr id="7" name="Rounded Rectangle 6"/>
          <p:cNvSpPr/>
          <p:nvPr/>
        </p:nvSpPr>
        <p:spPr>
          <a:xfrm>
            <a:off x="142875" y="981075"/>
            <a:ext cx="11906250" cy="3429000"/>
          </a:xfrm>
          <a:prstGeom prst="roundRect">
            <a:avLst>
              <a:gd name="adj" fmla="val 222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Material Type (US$ Mn)</a:t>
            </a:r>
          </a:p>
        </p:txBody>
      </p:sp>
      <p:graphicFrame>
        <p:nvGraphicFramePr>
          <p:cNvPr id="9" name="Table 8"/>
          <p:cNvGraphicFramePr>
            <a:graphicFrameLocks noGrp="1"/>
          </p:cNvGraphicFramePr>
          <p:nvPr/>
        </p:nvGraphicFramePr>
        <p:xfrm>
          <a:off x="152400" y="1238250"/>
          <a:ext cx="11887205" cy="2962279"/>
        </p:xfrm>
        <a:graphic>
          <a:graphicData uri="http://schemas.openxmlformats.org/drawingml/2006/table">
            <a:tbl>
              <a:tblPr>
                <a:tableStyleId>{5C22544A-7EE6-4342-B048-85BDC9FD1C3A}</a:tableStyleId>
              </a:tblPr>
              <a:tblGrid>
                <a:gridCol w="3095319"/>
                <a:gridCol w="528115"/>
                <a:gridCol w="528115"/>
                <a:gridCol w="528115"/>
                <a:gridCol w="528115"/>
                <a:gridCol w="528115"/>
                <a:gridCol w="509512"/>
                <a:gridCol w="504197"/>
                <a:gridCol w="504197"/>
                <a:gridCol w="504197"/>
                <a:gridCol w="504197"/>
                <a:gridCol w="504197"/>
                <a:gridCol w="504197"/>
                <a:gridCol w="504197"/>
                <a:gridCol w="504197"/>
                <a:gridCol w="504197"/>
                <a:gridCol w="504197"/>
                <a:gridCol w="599829"/>
              </a:tblGrid>
              <a:tr h="246126">
                <a:tc>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923">
                <a:tc>
                  <a:txBody>
                    <a:bodyPr wrap="none"/>
                    <a:lstStyle/>
                    <a:p>
                      <a:pPr algn="l"/>
                      <a:r>
                        <a:rPr sz="1100" b="1">
                          <a:solidFill>
                            <a:srgbClr val="2E2E2E"/>
                          </a:solidFill>
                          <a:latin typeface="Calibri"/>
                        </a:rPr>
                        <a:t>Polyethylene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Non-Crosslinked PE Foam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 Crosslinked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Expanded 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Polyurethane (PU)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Extruded Polystyrene (XPS) Foam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 Other Polyolefin &amp; Specialty Polymer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923">
                <a:tc>
                  <a:txBody>
                    <a:bodyPr wrap="none"/>
                    <a:lstStyle/>
                    <a:p>
                      <a:pPr algn="l"/>
                      <a:r>
                        <a:rPr sz="1100" b="1">
                          <a:solidFill>
                            <a:srgbClr val="2E2E2E"/>
                          </a:solidFill>
                          <a:latin typeface="Calibri"/>
                        </a:rPr>
                        <a:t>– Bio-based / Starch-based Foams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923">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4210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543425"/>
            <a:ext cx="11906250" cy="2085975"/>
          </a:xfrm>
          <a:prstGeom prst="roundRect">
            <a:avLst>
              <a:gd name="adj" fmla="val 365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62915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Material Type</a:t>
            </a:r>
          </a:p>
        </p:txBody>
      </p:sp>
      <p:sp>
        <p:nvSpPr>
          <p:cNvPr id="13" name="Rectangle 12"/>
          <p:cNvSpPr/>
          <p:nvPr/>
        </p:nvSpPr>
        <p:spPr>
          <a:xfrm>
            <a:off x="276225" y="48672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953000"/>
            <a:ext cx="11639550" cy="16002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456972" y="2575752"/>
            <a:ext cx="366712" cy="533400"/>
          </a:xfrm>
          <a:prstGeom prst="rect">
            <a:avLst/>
          </a:prstGeom>
        </p:spPr>
      </p:pic>
      <p:sp>
        <p:nvSpPr>
          <p:cNvPr id="18" name="TextBox 17"/>
          <p:cNvSpPr txBox="1"/>
          <p:nvPr/>
        </p:nvSpPr>
        <p:spPr>
          <a:xfrm>
            <a:off x="276225" y="4962525"/>
            <a:ext cx="3275607" cy="194310"/>
          </a:xfrm>
          <a:prstGeom prst="rect">
            <a:avLst/>
          </a:prstGeom>
          <a:noFill/>
        </p:spPr>
        <p:txBody>
          <a:bodyPr wrap="none" lIns="0" rIns="0" tIns="0" bIns="0">
            <a:spAutoFit/>
          </a:bodyPr>
          <a:lstStyle/>
          <a:p>
            <a:r>
              <a:rPr sz="1150" b="0">
                <a:solidFill>
                  <a:srgbClr val="2E2E2E"/>
                </a:solidFill>
                <a:latin typeface="Calibri"/>
              </a:rPr>
              <a:t>Other foam materials segment is projected to register</a:t>
            </a:r>
          </a:p>
        </p:txBody>
      </p:sp>
      <p:pic>
        <p:nvPicPr>
          <p:cNvPr id="19" name="Picture 18" descr="lock.png"/>
          <p:cNvPicPr>
            <a:picLocks noChangeAspect="1"/>
          </p:cNvPicPr>
          <p:nvPr/>
        </p:nvPicPr>
        <p:blipFill>
          <a:blip r:embed="rId4"/>
          <a:stretch>
            <a:fillRect/>
          </a:stretch>
        </p:blipFill>
        <p:spPr>
          <a:xfrm>
            <a:off x="3500986" y="4952301"/>
            <a:ext cx="134549" cy="195707"/>
          </a:xfrm>
          <a:prstGeom prst="rect">
            <a:avLst/>
          </a:prstGeom>
        </p:spPr>
      </p:pic>
      <p:sp>
        <p:nvSpPr>
          <p:cNvPr id="20" name="TextBox 19"/>
          <p:cNvSpPr txBox="1"/>
          <p:nvPr/>
        </p:nvSpPr>
        <p:spPr>
          <a:xfrm>
            <a:off x="3676096" y="4962525"/>
            <a:ext cx="7691053" cy="194310"/>
          </a:xfrm>
          <a:prstGeom prst="rect">
            <a:avLst/>
          </a:prstGeom>
          <a:noFill/>
        </p:spPr>
        <p:txBody>
          <a:bodyPr wrap="none" lIns="0" rIns="0" tIns="0" bIns="0">
            <a:spAutoFit/>
          </a:bodyPr>
          <a:lstStyle/>
          <a:p>
            <a:r>
              <a:rPr sz="1150" b="0">
                <a:solidFill>
                  <a:srgbClr val="2E2E2E"/>
                </a:solidFill>
                <a:latin typeface="Calibri"/>
              </a:rPr>
              <a:t>X higher value than expanded polystyrene (EPS) segment in 2036. Among foam protective packaging by material type, expanded</a:t>
            </a:r>
          </a:p>
        </p:txBody>
      </p:sp>
      <p:sp>
        <p:nvSpPr>
          <p:cNvPr id="21" name="TextBox 20"/>
          <p:cNvSpPr txBox="1"/>
          <p:nvPr/>
        </p:nvSpPr>
        <p:spPr>
          <a:xfrm>
            <a:off x="276225" y="5137785"/>
            <a:ext cx="4390932" cy="194310"/>
          </a:xfrm>
          <a:prstGeom prst="rect">
            <a:avLst/>
          </a:prstGeom>
          <a:noFill/>
        </p:spPr>
        <p:txBody>
          <a:bodyPr wrap="none" lIns="0" rIns="0" tIns="0" bIns="0">
            <a:spAutoFit/>
          </a:bodyPr>
          <a:lstStyle/>
          <a:p>
            <a:r>
              <a:rPr sz="1150" b="0">
                <a:solidFill>
                  <a:srgbClr val="2E2E2E"/>
                </a:solidFill>
                <a:latin typeface="Calibri"/>
              </a:rPr>
              <a:t>polypropylene (EPP) segment is expected to witness the highest CAGR of</a:t>
            </a:r>
          </a:p>
        </p:txBody>
      </p:sp>
      <p:pic>
        <p:nvPicPr>
          <p:cNvPr id="22" name="Picture 21" descr="lock.png"/>
          <p:cNvPicPr>
            <a:picLocks noChangeAspect="1"/>
          </p:cNvPicPr>
          <p:nvPr/>
        </p:nvPicPr>
        <p:blipFill>
          <a:blip r:embed="rId4"/>
          <a:stretch>
            <a:fillRect/>
          </a:stretch>
        </p:blipFill>
        <p:spPr>
          <a:xfrm>
            <a:off x="4616311" y="5127561"/>
            <a:ext cx="134549" cy="195707"/>
          </a:xfrm>
          <a:prstGeom prst="rect">
            <a:avLst/>
          </a:prstGeom>
        </p:spPr>
      </p:pic>
      <p:sp>
        <p:nvSpPr>
          <p:cNvPr id="23" name="TextBox 22"/>
          <p:cNvSpPr txBox="1"/>
          <p:nvPr/>
        </p:nvSpPr>
        <p:spPr>
          <a:xfrm>
            <a:off x="4791420" y="51377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5365622"/>
            <a:ext cx="7117407" cy="194310"/>
          </a:xfrm>
          <a:prstGeom prst="rect">
            <a:avLst/>
          </a:prstGeom>
          <a:noFill/>
        </p:spPr>
        <p:txBody>
          <a:bodyPr wrap="none" lIns="0" rIns="0" tIns="0" bIns="0">
            <a:spAutoFit/>
          </a:bodyPr>
          <a:lstStyle/>
          <a:p>
            <a:r>
              <a:rPr sz="1150" b="0">
                <a:solidFill>
                  <a:srgbClr val="2E2E2E"/>
                </a:solidFill>
                <a:latin typeface="Calibri"/>
              </a:rPr>
              <a:t>In terms of value share by material type, the other foam materials segment is expected to dominate the market, losing</a:t>
            </a:r>
          </a:p>
        </p:txBody>
      </p:sp>
      <p:pic>
        <p:nvPicPr>
          <p:cNvPr id="25" name="Picture 24" descr="lock.png"/>
          <p:cNvPicPr>
            <a:picLocks noChangeAspect="1"/>
          </p:cNvPicPr>
          <p:nvPr/>
        </p:nvPicPr>
        <p:blipFill>
          <a:blip r:embed="rId4"/>
          <a:stretch>
            <a:fillRect/>
          </a:stretch>
        </p:blipFill>
        <p:spPr>
          <a:xfrm>
            <a:off x="7342786" y="5355399"/>
            <a:ext cx="134549" cy="195707"/>
          </a:xfrm>
          <a:prstGeom prst="rect">
            <a:avLst/>
          </a:prstGeom>
        </p:spPr>
      </p:pic>
      <p:sp>
        <p:nvSpPr>
          <p:cNvPr id="26" name="TextBox 25"/>
          <p:cNvSpPr txBox="1"/>
          <p:nvPr/>
        </p:nvSpPr>
        <p:spPr>
          <a:xfrm>
            <a:off x="7517895" y="53656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8913038" y="5355399"/>
            <a:ext cx="134549" cy="195707"/>
          </a:xfrm>
          <a:prstGeom prst="rect">
            <a:avLst/>
          </a:prstGeom>
        </p:spPr>
      </p:pic>
      <p:sp>
        <p:nvSpPr>
          <p:cNvPr id="28" name="TextBox 27"/>
          <p:cNvSpPr txBox="1"/>
          <p:nvPr/>
        </p:nvSpPr>
        <p:spPr>
          <a:xfrm>
            <a:off x="9088148" y="53656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Material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Material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Material Type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795795"/>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9103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148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Polyurethane (PU) Foam</a:t>
            </a:r>
          </a:p>
        </p:txBody>
      </p:sp>
      <p:sp>
        <p:nvSpPr>
          <p:cNvPr id="15" name="BPS Value 1"/>
          <p:cNvSpPr txBox="1"/>
          <p:nvPr/>
        </p:nvSpPr>
        <p:spPr>
          <a:xfrm>
            <a:off x="6896100" y="177674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231458"/>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22669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1504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Polyethylene (PE) Foam</a:t>
            </a:r>
          </a:p>
        </p:txBody>
      </p:sp>
      <p:sp>
        <p:nvSpPr>
          <p:cNvPr id="19" name="BPS Value 2"/>
          <p:cNvSpPr txBox="1"/>
          <p:nvPr/>
        </p:nvSpPr>
        <p:spPr>
          <a:xfrm>
            <a:off x="6896100" y="221240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2865894"/>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8611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78493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Polypropylene</a:t>
            </a:r>
          </a:p>
        </p:txBody>
      </p:sp>
      <p:sp>
        <p:nvSpPr>
          <p:cNvPr id="23" name="BPS Value 3"/>
          <p:cNvSpPr txBox="1"/>
          <p:nvPr/>
        </p:nvSpPr>
        <p:spPr>
          <a:xfrm>
            <a:off x="6896100" y="284684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3674468"/>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366970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59350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Polystyrene</a:t>
            </a:r>
          </a:p>
        </p:txBody>
      </p:sp>
      <p:sp>
        <p:nvSpPr>
          <p:cNvPr id="27" name="BPS Value 4"/>
          <p:cNvSpPr txBox="1"/>
          <p:nvPr/>
        </p:nvSpPr>
        <p:spPr>
          <a:xfrm>
            <a:off x="6896100" y="365541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TMR Legend Chip"/>
          <p:cNvSpPr/>
          <p:nvPr/>
        </p:nvSpPr>
        <p:spPr>
          <a:xfrm>
            <a:off x="4928997" y="5201684"/>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519692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51207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Foam Materials</a:t>
            </a:r>
          </a:p>
        </p:txBody>
      </p:sp>
      <p:sp>
        <p:nvSpPr>
          <p:cNvPr id="31" name="BPS Value 5"/>
          <p:cNvSpPr txBox="1"/>
          <p:nvPr/>
        </p:nvSpPr>
        <p:spPr>
          <a:xfrm>
            <a:off x="6896100" y="518263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Material Type</a:t>
            </a:r>
          </a:p>
        </p:txBody>
      </p:sp>
      <p:sp>
        <p:nvSpPr>
          <p:cNvPr id="34" name="Rectangle 33"/>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6" name="Rectangle 3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8" name="Picture 37" descr="lock.png"/>
          <p:cNvPicPr>
            <a:picLocks noChangeAspect="1"/>
          </p:cNvPicPr>
          <p:nvPr/>
        </p:nvPicPr>
        <p:blipFill>
          <a:blip r:embed="rId5"/>
          <a:stretch>
            <a:fillRect/>
          </a:stretch>
        </p:blipFill>
        <p:spPr>
          <a:xfrm>
            <a:off x="2557843" y="3833622"/>
            <a:ext cx="275034" cy="400050"/>
          </a:xfrm>
          <a:prstGeom prst="rect">
            <a:avLst/>
          </a:prstGeom>
        </p:spPr>
      </p:pic>
      <p:sp>
        <p:nvSpPr>
          <p:cNvPr id="39" name="TextBox 38"/>
          <p:cNvSpPr txBox="1"/>
          <p:nvPr/>
        </p:nvSpPr>
        <p:spPr>
          <a:xfrm>
            <a:off x="7829550" y="1400175"/>
            <a:ext cx="3768526" cy="194310"/>
          </a:xfrm>
          <a:prstGeom prst="rect">
            <a:avLst/>
          </a:prstGeom>
          <a:noFill/>
        </p:spPr>
        <p:txBody>
          <a:bodyPr wrap="none" lIns="0" rIns="0" tIns="0" bIns="0">
            <a:spAutoFit/>
          </a:bodyPr>
          <a:lstStyle/>
          <a:p>
            <a:r>
              <a:rPr sz="1150" b="0">
                <a:solidFill>
                  <a:srgbClr val="2E2E2E"/>
                </a:solidFill>
                <a:latin typeface="Calibri"/>
              </a:rPr>
              <a:t>Among foam protective packaging by material type, expanded</a:t>
            </a:r>
          </a:p>
        </p:txBody>
      </p:sp>
      <p:sp>
        <p:nvSpPr>
          <p:cNvPr id="40" name="TextBox 39"/>
          <p:cNvSpPr txBox="1"/>
          <p:nvPr/>
        </p:nvSpPr>
        <p:spPr>
          <a:xfrm>
            <a:off x="7829550" y="1575435"/>
            <a:ext cx="3869506" cy="194310"/>
          </a:xfrm>
          <a:prstGeom prst="rect">
            <a:avLst/>
          </a:prstGeom>
          <a:noFill/>
        </p:spPr>
        <p:txBody>
          <a:bodyPr wrap="none" lIns="0" rIns="0" tIns="0" bIns="0">
            <a:spAutoFit/>
          </a:bodyPr>
          <a:lstStyle/>
          <a:p>
            <a:r>
              <a:rPr sz="1150" b="0">
                <a:solidFill>
                  <a:srgbClr val="2E2E2E"/>
                </a:solidFill>
                <a:latin typeface="Calibri"/>
              </a:rPr>
              <a:t>polypropylene (EPP) segment is expected to witness the highest</a:t>
            </a:r>
          </a:p>
        </p:txBody>
      </p:sp>
      <p:sp>
        <p:nvSpPr>
          <p:cNvPr id="41" name="TextBox 40"/>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2" name="Picture 41" descr="lock.png"/>
          <p:cNvPicPr>
            <a:picLocks noChangeAspect="1"/>
          </p:cNvPicPr>
          <p:nvPr/>
        </p:nvPicPr>
        <p:blipFill>
          <a:blip r:embed="rId5"/>
          <a:stretch>
            <a:fillRect/>
          </a:stretch>
        </p:blipFill>
        <p:spPr>
          <a:xfrm>
            <a:off x="8343240" y="1740471"/>
            <a:ext cx="134549" cy="195707"/>
          </a:xfrm>
          <a:prstGeom prst="rect">
            <a:avLst/>
          </a:prstGeom>
        </p:spPr>
      </p:pic>
      <p:sp>
        <p:nvSpPr>
          <p:cNvPr id="43" name="TextBox 42"/>
          <p:cNvSpPr txBox="1"/>
          <p:nvPr/>
        </p:nvSpPr>
        <p:spPr>
          <a:xfrm>
            <a:off x="85183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4" name="TextBox 43"/>
          <p:cNvSpPr txBox="1"/>
          <p:nvPr/>
        </p:nvSpPr>
        <p:spPr>
          <a:xfrm>
            <a:off x="7829550" y="1978533"/>
            <a:ext cx="3995873" cy="194310"/>
          </a:xfrm>
          <a:prstGeom prst="rect">
            <a:avLst/>
          </a:prstGeom>
          <a:noFill/>
        </p:spPr>
        <p:txBody>
          <a:bodyPr wrap="none" lIns="0" rIns="0" tIns="0" bIns="0">
            <a:spAutoFit/>
          </a:bodyPr>
          <a:lstStyle/>
          <a:p>
            <a:r>
              <a:rPr sz="1150" b="0">
                <a:solidFill>
                  <a:srgbClr val="2E2E2E"/>
                </a:solidFill>
                <a:latin typeface="Calibri"/>
              </a:rPr>
              <a:t>In terms of value share by material type, the other foam materials</a:t>
            </a:r>
          </a:p>
        </p:txBody>
      </p:sp>
      <p:sp>
        <p:nvSpPr>
          <p:cNvPr id="45" name="TextBox 44"/>
          <p:cNvSpPr txBox="1"/>
          <p:nvPr/>
        </p:nvSpPr>
        <p:spPr>
          <a:xfrm>
            <a:off x="7829550" y="2153793"/>
            <a:ext cx="3164644" cy="194310"/>
          </a:xfrm>
          <a:prstGeom prst="rect">
            <a:avLst/>
          </a:prstGeom>
          <a:noFill/>
        </p:spPr>
        <p:txBody>
          <a:bodyPr wrap="none" lIns="0" rIns="0" tIns="0" bIns="0">
            <a:spAutoFit/>
          </a:bodyPr>
          <a:lstStyle/>
          <a:p>
            <a:r>
              <a:rPr sz="1150" b="0">
                <a:solidFill>
                  <a:srgbClr val="2E2E2E"/>
                </a:solidFill>
                <a:latin typeface="Calibri"/>
              </a:rPr>
              <a:t>segment is expected to dominate the market, losing</a:t>
            </a:r>
          </a:p>
        </p:txBody>
      </p:sp>
      <p:pic>
        <p:nvPicPr>
          <p:cNvPr id="46" name="Picture 45" descr="lock.png"/>
          <p:cNvPicPr>
            <a:picLocks noChangeAspect="1"/>
          </p:cNvPicPr>
          <p:nvPr/>
        </p:nvPicPr>
        <p:blipFill>
          <a:blip r:embed="rId5"/>
          <a:stretch>
            <a:fillRect/>
          </a:stretch>
        </p:blipFill>
        <p:spPr>
          <a:xfrm>
            <a:off x="10943347" y="2143569"/>
            <a:ext cx="134549" cy="195707"/>
          </a:xfrm>
          <a:prstGeom prst="rect">
            <a:avLst/>
          </a:prstGeom>
        </p:spPr>
      </p:pic>
      <p:sp>
        <p:nvSpPr>
          <p:cNvPr id="47" name="TextBox 46"/>
          <p:cNvSpPr txBox="1"/>
          <p:nvPr/>
        </p:nvSpPr>
        <p:spPr>
          <a:xfrm>
            <a:off x="11118457" y="2153793"/>
            <a:ext cx="554856" cy="194310"/>
          </a:xfrm>
          <a:prstGeom prst="rect">
            <a:avLst/>
          </a:prstGeom>
          <a:noFill/>
        </p:spPr>
        <p:txBody>
          <a:bodyPr wrap="none" lIns="0" rIns="0" tIns="0" bIns="0">
            <a:spAutoFit/>
          </a:bodyPr>
          <a:lstStyle/>
          <a:p>
            <a:r>
              <a:rPr sz="1150" b="0">
                <a:solidFill>
                  <a:srgbClr val="2E2E2E"/>
                </a:solidFill>
                <a:latin typeface="Calibri"/>
              </a:rPr>
              <a:t>BPS and</a:t>
            </a:r>
          </a:p>
        </p:txBody>
      </p:sp>
      <p:sp>
        <p:nvSpPr>
          <p:cNvPr id="48" name="TextBox 47"/>
          <p:cNvSpPr txBox="1"/>
          <p:nvPr/>
        </p:nvSpPr>
        <p:spPr>
          <a:xfrm>
            <a:off x="7829550" y="2329053"/>
            <a:ext cx="934243" cy="194310"/>
          </a:xfrm>
          <a:prstGeom prst="rect">
            <a:avLst/>
          </a:prstGeom>
          <a:noFill/>
        </p:spPr>
        <p:txBody>
          <a:bodyPr wrap="none" lIns="0" rIns="0" tIns="0" bIns="0">
            <a:spAutoFit/>
          </a:bodyPr>
          <a:lstStyle/>
          <a:p>
            <a:r>
              <a:rPr sz="1150" b="0">
                <a:solidFill>
                  <a:srgbClr val="2E2E2E"/>
                </a:solidFill>
                <a:latin typeface="Calibri"/>
              </a:rPr>
              <a:t>accounting for</a:t>
            </a:r>
          </a:p>
        </p:txBody>
      </p:sp>
      <p:pic>
        <p:nvPicPr>
          <p:cNvPr id="49" name="Picture 48" descr="lock.png"/>
          <p:cNvPicPr>
            <a:picLocks noChangeAspect="1"/>
          </p:cNvPicPr>
          <p:nvPr/>
        </p:nvPicPr>
        <p:blipFill>
          <a:blip r:embed="rId5"/>
          <a:stretch>
            <a:fillRect/>
          </a:stretch>
        </p:blipFill>
        <p:spPr>
          <a:xfrm>
            <a:off x="8712947" y="2318829"/>
            <a:ext cx="134549" cy="195707"/>
          </a:xfrm>
          <a:prstGeom prst="rect">
            <a:avLst/>
          </a:prstGeom>
        </p:spPr>
      </p:pic>
      <p:sp>
        <p:nvSpPr>
          <p:cNvPr id="50" name="TextBox 49"/>
          <p:cNvSpPr txBox="1"/>
          <p:nvPr/>
        </p:nvSpPr>
        <p:spPr>
          <a:xfrm>
            <a:off x="8888056"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Product Form</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Product Form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Product Form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6 sub-segments of Product Form,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Product Form segment categorizes the market by product form.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Pouches, Bags &amp; Sleeves</a:t>
            </a:r>
          </a:p>
        </p:txBody>
      </p:sp>
      <p:sp>
        <p:nvSpPr>
          <p:cNvPr id="19" name="Rectangle 18"/>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Fabricated Foam Packaging</a:t>
            </a:r>
          </a:p>
        </p:txBody>
      </p:sp>
      <p:sp>
        <p:nvSpPr>
          <p:cNvPr id="26" name="Rectangle 25"/>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Foam-in-Place Packaging</a:t>
            </a:r>
          </a:p>
        </p:txBody>
      </p:sp>
      <p:sp>
        <p:nvSpPr>
          <p:cNvPr id="33" name="Rectangle 32"/>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Sheets, Rolls &amp; Planks</a:t>
            </a:r>
          </a:p>
        </p:txBody>
      </p:sp>
      <p:sp>
        <p:nvSpPr>
          <p:cNvPr id="40" name="Rectangle 39"/>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Loose-Fill Packaging</a:t>
            </a:r>
          </a:p>
        </p:txBody>
      </p:sp>
      <p:sp>
        <p:nvSpPr>
          <p:cNvPr id="47" name="Rectangle 46"/>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Molded Foam Packaging</a:t>
            </a:r>
          </a:p>
        </p:txBody>
      </p:sp>
      <p:sp>
        <p:nvSpPr>
          <p:cNvPr id="54" name="Rectangle 53"/>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0" name="Rectangle 59"/>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2" name="Rounded Rectangle 61"/>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4" name="Rectangle 63"/>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4219912"/>
            <a:ext cx="421005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05000"/>
              </a:lnSpc>
              <a:spcBef>
                <a:spcPts val="0"/>
              </a:spcBef>
              <a:spcAft>
                <a:spcPts val="3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6" name="Rounded Rectangle 65"/>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8" name="Rectangle 67"/>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Product Form split shows how demand is distributed across product form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70" name="Rectangle 69"/>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2" name="TextBox 71"/>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73" name="Rectangle 7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5" name="Picture 74" descr="1_008_605E5C.png"/>
          <p:cNvPicPr>
            <a:picLocks noChangeAspect="1"/>
          </p:cNvPicPr>
          <p:nvPr/>
        </p:nvPicPr>
        <p:blipFill>
          <a:blip r:embed="rId4"/>
          <a:stretch>
            <a:fillRect/>
          </a:stretch>
        </p:blipFill>
        <p:spPr>
          <a:xfrm>
            <a:off x="2054848" y="2286582"/>
            <a:ext cx="1195728" cy="361950"/>
          </a:xfrm>
          <a:prstGeom prst="rect">
            <a:avLst/>
          </a:prstGeom>
        </p:spPr>
      </p:pic>
      <p:pic>
        <p:nvPicPr>
          <p:cNvPr id="76" name="Picture 75" descr="1_988_605E5C.png"/>
          <p:cNvPicPr>
            <a:picLocks noChangeAspect="1"/>
          </p:cNvPicPr>
          <p:nvPr/>
        </p:nvPicPr>
        <p:blipFill>
          <a:blip r:embed="rId5"/>
          <a:stretch>
            <a:fillRect/>
          </a:stretch>
        </p:blipFill>
        <p:spPr>
          <a:xfrm>
            <a:off x="2054848" y="2779432"/>
            <a:ext cx="1195728" cy="361950"/>
          </a:xfrm>
          <a:prstGeom prst="rect">
            <a:avLst/>
          </a:prstGeom>
        </p:spPr>
      </p:pic>
      <p:pic>
        <p:nvPicPr>
          <p:cNvPr id="77" name="Picture 76" descr="7_0__605E5C.png"/>
          <p:cNvPicPr>
            <a:picLocks noChangeAspect="1"/>
          </p:cNvPicPr>
          <p:nvPr/>
        </p:nvPicPr>
        <p:blipFill>
          <a:blip r:embed="rId6"/>
          <a:stretch>
            <a:fillRect/>
          </a:stretch>
        </p:blipFill>
        <p:spPr>
          <a:xfrm>
            <a:off x="2161494" y="3272281"/>
            <a:ext cx="982436" cy="361950"/>
          </a:xfrm>
          <a:prstGeom prst="rect">
            <a:avLst/>
          </a:prstGeom>
        </p:spPr>
      </p:pic>
      <p:pic>
        <p:nvPicPr>
          <p:cNvPr id="78" name="Picture 77" descr="767_7_605E5C.png"/>
          <p:cNvPicPr>
            <a:picLocks noChangeAspect="1"/>
          </p:cNvPicPr>
          <p:nvPr/>
        </p:nvPicPr>
        <p:blipFill>
          <a:blip r:embed="rId7"/>
          <a:stretch>
            <a:fillRect/>
          </a:stretch>
        </p:blipFill>
        <p:spPr>
          <a:xfrm>
            <a:off x="3740773" y="2286582"/>
            <a:ext cx="1195728" cy="361950"/>
          </a:xfrm>
          <a:prstGeom prst="rect">
            <a:avLst/>
          </a:prstGeom>
        </p:spPr>
      </p:pic>
      <p:pic>
        <p:nvPicPr>
          <p:cNvPr id="79" name="Picture 78" descr="1_015_605E5C.png"/>
          <p:cNvPicPr>
            <a:picLocks noChangeAspect="1"/>
          </p:cNvPicPr>
          <p:nvPr/>
        </p:nvPicPr>
        <p:blipFill>
          <a:blip r:embed="rId8"/>
          <a:stretch>
            <a:fillRect/>
          </a:stretch>
        </p:blipFill>
        <p:spPr>
          <a:xfrm>
            <a:off x="3740773" y="2779432"/>
            <a:ext cx="1195728" cy="361950"/>
          </a:xfrm>
          <a:prstGeom prst="rect">
            <a:avLst/>
          </a:prstGeom>
        </p:spPr>
      </p:pic>
      <p:pic>
        <p:nvPicPr>
          <p:cNvPr id="80" name="Picture 79" descr="2_8__605E5C.png"/>
          <p:cNvPicPr>
            <a:picLocks noChangeAspect="1"/>
          </p:cNvPicPr>
          <p:nvPr/>
        </p:nvPicPr>
        <p:blipFill>
          <a:blip r:embed="rId9"/>
          <a:stretch>
            <a:fillRect/>
          </a:stretch>
        </p:blipFill>
        <p:spPr>
          <a:xfrm>
            <a:off x="3847419" y="3272281"/>
            <a:ext cx="982436" cy="361950"/>
          </a:xfrm>
          <a:prstGeom prst="rect">
            <a:avLst/>
          </a:prstGeom>
        </p:spPr>
      </p:pic>
      <p:pic>
        <p:nvPicPr>
          <p:cNvPr id="81" name="Picture 80" descr="550_8_605E5C.png"/>
          <p:cNvPicPr>
            <a:picLocks noChangeAspect="1"/>
          </p:cNvPicPr>
          <p:nvPr/>
        </p:nvPicPr>
        <p:blipFill>
          <a:blip r:embed="rId10"/>
          <a:stretch>
            <a:fillRect/>
          </a:stretch>
        </p:blipFill>
        <p:spPr>
          <a:xfrm>
            <a:off x="5426698" y="2286582"/>
            <a:ext cx="1195728" cy="361950"/>
          </a:xfrm>
          <a:prstGeom prst="rect">
            <a:avLst/>
          </a:prstGeom>
        </p:spPr>
      </p:pic>
      <p:pic>
        <p:nvPicPr>
          <p:cNvPr id="82" name="Picture 81" descr="618_9_605E5C.png"/>
          <p:cNvPicPr>
            <a:picLocks noChangeAspect="1"/>
          </p:cNvPicPr>
          <p:nvPr/>
        </p:nvPicPr>
        <p:blipFill>
          <a:blip r:embed="rId11"/>
          <a:stretch>
            <a:fillRect/>
          </a:stretch>
        </p:blipFill>
        <p:spPr>
          <a:xfrm>
            <a:off x="5426698" y="2779432"/>
            <a:ext cx="1195728" cy="361950"/>
          </a:xfrm>
          <a:prstGeom prst="rect">
            <a:avLst/>
          </a:prstGeom>
        </p:spPr>
      </p:pic>
      <p:pic>
        <p:nvPicPr>
          <p:cNvPr id="83" name="Picture 82" descr="1_2__605E5C.png"/>
          <p:cNvPicPr>
            <a:picLocks noChangeAspect="1"/>
          </p:cNvPicPr>
          <p:nvPr/>
        </p:nvPicPr>
        <p:blipFill>
          <a:blip r:embed="rId12"/>
          <a:stretch>
            <a:fillRect/>
          </a:stretch>
        </p:blipFill>
        <p:spPr>
          <a:xfrm>
            <a:off x="5533344" y="3272281"/>
            <a:ext cx="982436" cy="361950"/>
          </a:xfrm>
          <a:prstGeom prst="rect">
            <a:avLst/>
          </a:prstGeom>
        </p:spPr>
      </p:pic>
      <p:pic>
        <p:nvPicPr>
          <p:cNvPr id="84" name="Picture 83" descr="547_6_605E5C.png"/>
          <p:cNvPicPr>
            <a:picLocks noChangeAspect="1"/>
          </p:cNvPicPr>
          <p:nvPr/>
        </p:nvPicPr>
        <p:blipFill>
          <a:blip r:embed="rId13"/>
          <a:stretch>
            <a:fillRect/>
          </a:stretch>
        </p:blipFill>
        <p:spPr>
          <a:xfrm>
            <a:off x="7112623" y="2286582"/>
            <a:ext cx="1195728" cy="361950"/>
          </a:xfrm>
          <a:prstGeom prst="rect">
            <a:avLst/>
          </a:prstGeom>
        </p:spPr>
      </p:pic>
      <p:pic>
        <p:nvPicPr>
          <p:cNvPr id="85" name="Picture 84" descr="766_6_605E5C.png"/>
          <p:cNvPicPr>
            <a:picLocks noChangeAspect="1"/>
          </p:cNvPicPr>
          <p:nvPr/>
        </p:nvPicPr>
        <p:blipFill>
          <a:blip r:embed="rId14"/>
          <a:stretch>
            <a:fillRect/>
          </a:stretch>
        </p:blipFill>
        <p:spPr>
          <a:xfrm>
            <a:off x="7112623" y="2779432"/>
            <a:ext cx="1195728" cy="361950"/>
          </a:xfrm>
          <a:prstGeom prst="rect">
            <a:avLst/>
          </a:prstGeom>
        </p:spPr>
      </p:pic>
      <p:pic>
        <p:nvPicPr>
          <p:cNvPr id="86" name="Picture 85" descr="3_4__605E5C.png"/>
          <p:cNvPicPr>
            <a:picLocks noChangeAspect="1"/>
          </p:cNvPicPr>
          <p:nvPr/>
        </p:nvPicPr>
        <p:blipFill>
          <a:blip r:embed="rId15"/>
          <a:stretch>
            <a:fillRect/>
          </a:stretch>
        </p:blipFill>
        <p:spPr>
          <a:xfrm>
            <a:off x="7219269" y="3272281"/>
            <a:ext cx="982436" cy="361950"/>
          </a:xfrm>
          <a:prstGeom prst="rect">
            <a:avLst/>
          </a:prstGeom>
        </p:spPr>
      </p:pic>
      <p:pic>
        <p:nvPicPr>
          <p:cNvPr id="87" name="Picture 86" descr="446_0_605E5C.png"/>
          <p:cNvPicPr>
            <a:picLocks noChangeAspect="1"/>
          </p:cNvPicPr>
          <p:nvPr/>
        </p:nvPicPr>
        <p:blipFill>
          <a:blip r:embed="rId16"/>
          <a:stretch>
            <a:fillRect/>
          </a:stretch>
        </p:blipFill>
        <p:spPr>
          <a:xfrm>
            <a:off x="8798548" y="2286582"/>
            <a:ext cx="1195728" cy="361950"/>
          </a:xfrm>
          <a:prstGeom prst="rect">
            <a:avLst/>
          </a:prstGeom>
        </p:spPr>
      </p:pic>
      <p:pic>
        <p:nvPicPr>
          <p:cNvPr id="88" name="Picture 87" descr="609_8_605E5C.png"/>
          <p:cNvPicPr>
            <a:picLocks noChangeAspect="1"/>
          </p:cNvPicPr>
          <p:nvPr/>
        </p:nvPicPr>
        <p:blipFill>
          <a:blip r:embed="rId17"/>
          <a:stretch>
            <a:fillRect/>
          </a:stretch>
        </p:blipFill>
        <p:spPr>
          <a:xfrm>
            <a:off x="8798548" y="2779432"/>
            <a:ext cx="1195728" cy="361950"/>
          </a:xfrm>
          <a:prstGeom prst="rect">
            <a:avLst/>
          </a:prstGeom>
        </p:spPr>
      </p:pic>
      <p:pic>
        <p:nvPicPr>
          <p:cNvPr id="89" name="Picture 88" descr="3_2__605E5C.png"/>
          <p:cNvPicPr>
            <a:picLocks noChangeAspect="1"/>
          </p:cNvPicPr>
          <p:nvPr/>
        </p:nvPicPr>
        <p:blipFill>
          <a:blip r:embed="rId18"/>
          <a:stretch>
            <a:fillRect/>
          </a:stretch>
        </p:blipFill>
        <p:spPr>
          <a:xfrm>
            <a:off x="8905194" y="3272281"/>
            <a:ext cx="982436" cy="361950"/>
          </a:xfrm>
          <a:prstGeom prst="rect">
            <a:avLst/>
          </a:prstGeom>
        </p:spPr>
      </p:pic>
      <p:pic>
        <p:nvPicPr>
          <p:cNvPr id="90" name="Picture 89" descr="284_5_605E5C.png"/>
          <p:cNvPicPr>
            <a:picLocks noChangeAspect="1"/>
          </p:cNvPicPr>
          <p:nvPr/>
        </p:nvPicPr>
        <p:blipFill>
          <a:blip r:embed="rId19"/>
          <a:stretch>
            <a:fillRect/>
          </a:stretch>
        </p:blipFill>
        <p:spPr>
          <a:xfrm>
            <a:off x="10484473" y="2286582"/>
            <a:ext cx="1195728" cy="361950"/>
          </a:xfrm>
          <a:prstGeom prst="rect">
            <a:avLst/>
          </a:prstGeom>
        </p:spPr>
      </p:pic>
      <p:pic>
        <p:nvPicPr>
          <p:cNvPr id="91" name="Picture 90" descr="367_0_605E5C.png"/>
          <p:cNvPicPr>
            <a:picLocks noChangeAspect="1"/>
          </p:cNvPicPr>
          <p:nvPr/>
        </p:nvPicPr>
        <p:blipFill>
          <a:blip r:embed="rId20"/>
          <a:stretch>
            <a:fillRect/>
          </a:stretch>
        </p:blipFill>
        <p:spPr>
          <a:xfrm>
            <a:off x="10484473" y="2779432"/>
            <a:ext cx="1195728" cy="361950"/>
          </a:xfrm>
          <a:prstGeom prst="rect">
            <a:avLst/>
          </a:prstGeom>
        </p:spPr>
      </p:pic>
      <p:pic>
        <p:nvPicPr>
          <p:cNvPr id="92" name="Picture 91" descr="2_6__605E5C.png"/>
          <p:cNvPicPr>
            <a:picLocks noChangeAspect="1"/>
          </p:cNvPicPr>
          <p:nvPr/>
        </p:nvPicPr>
        <p:blipFill>
          <a:blip r:embed="rId21"/>
          <a:stretch>
            <a:fillRect/>
          </a:stretch>
        </p:blipFill>
        <p:spPr>
          <a:xfrm>
            <a:off x="10591119" y="3272281"/>
            <a:ext cx="982436" cy="361950"/>
          </a:xfrm>
          <a:prstGeom prst="rect">
            <a:avLst/>
          </a:prstGeom>
        </p:spPr>
      </p:pic>
      <p:pic>
        <p:nvPicPr>
          <p:cNvPr id="93" name="Picture 92" descr="lock.png"/>
          <p:cNvPicPr>
            <a:picLocks noChangeAspect="1"/>
          </p:cNvPicPr>
          <p:nvPr/>
        </p:nvPicPr>
        <p:blipFill>
          <a:blip r:embed="rId22"/>
          <a:stretch>
            <a:fillRect/>
          </a:stretch>
        </p:blipFill>
        <p:spPr>
          <a:xfrm>
            <a:off x="2559367" y="2827057"/>
            <a:ext cx="183356" cy="266700"/>
          </a:xfrm>
          <a:prstGeom prst="rect">
            <a:avLst/>
          </a:prstGeom>
        </p:spPr>
      </p:pic>
      <p:pic>
        <p:nvPicPr>
          <p:cNvPr id="94" name="Picture 93" descr="lock.png"/>
          <p:cNvPicPr>
            <a:picLocks noChangeAspect="1"/>
          </p:cNvPicPr>
          <p:nvPr/>
        </p:nvPicPr>
        <p:blipFill>
          <a:blip r:embed="rId22"/>
          <a:stretch>
            <a:fillRect/>
          </a:stretch>
        </p:blipFill>
        <p:spPr>
          <a:xfrm>
            <a:off x="4245292" y="2827057"/>
            <a:ext cx="183356" cy="266700"/>
          </a:xfrm>
          <a:prstGeom prst="rect">
            <a:avLst/>
          </a:prstGeom>
        </p:spPr>
      </p:pic>
      <p:pic>
        <p:nvPicPr>
          <p:cNvPr id="95" name="Picture 94" descr="lock.png"/>
          <p:cNvPicPr>
            <a:picLocks noChangeAspect="1"/>
          </p:cNvPicPr>
          <p:nvPr/>
        </p:nvPicPr>
        <p:blipFill>
          <a:blip r:embed="rId22"/>
          <a:stretch>
            <a:fillRect/>
          </a:stretch>
        </p:blipFill>
        <p:spPr>
          <a:xfrm>
            <a:off x="593121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761714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930306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10988992" y="2827057"/>
            <a:ext cx="183356" cy="266700"/>
          </a:xfrm>
          <a:prstGeom prst="rect">
            <a:avLst/>
          </a:prstGeom>
        </p:spPr>
      </p:pic>
      <p:sp>
        <p:nvSpPr>
          <p:cNvPr id="99" name="TextBox 98"/>
          <p:cNvSpPr txBox="1"/>
          <p:nvPr/>
        </p:nvSpPr>
        <p:spPr>
          <a:xfrm>
            <a:off x="485775" y="4229437"/>
            <a:ext cx="2670199" cy="186689"/>
          </a:xfrm>
          <a:prstGeom prst="rect">
            <a:avLst/>
          </a:prstGeom>
          <a:noFill/>
        </p:spPr>
        <p:txBody>
          <a:bodyPr wrap="none" lIns="0" rIns="0" tIns="0" bIns="0">
            <a:spAutoFit/>
          </a:bodyPr>
          <a:lstStyle/>
          <a:p>
            <a:r>
              <a:rPr sz="1100" b="0">
                <a:solidFill>
                  <a:srgbClr val="2E2E2E"/>
                </a:solidFill>
                <a:latin typeface="Calibri"/>
              </a:rPr>
              <a:t>Among foam protective packaging by product</a:t>
            </a:r>
          </a:p>
        </p:txBody>
      </p:sp>
      <p:sp>
        <p:nvSpPr>
          <p:cNvPr id="100" name="TextBox 99"/>
          <p:cNvSpPr txBox="1"/>
          <p:nvPr/>
        </p:nvSpPr>
        <p:spPr>
          <a:xfrm>
            <a:off x="485775" y="4397077"/>
            <a:ext cx="2763242" cy="186689"/>
          </a:xfrm>
          <a:prstGeom prst="rect">
            <a:avLst/>
          </a:prstGeom>
          <a:noFill/>
        </p:spPr>
        <p:txBody>
          <a:bodyPr wrap="none" lIns="0" rIns="0" tIns="0" bIns="0">
            <a:spAutoFit/>
          </a:bodyPr>
          <a:lstStyle/>
          <a:p>
            <a:r>
              <a:rPr sz="1100" b="0">
                <a:solidFill>
                  <a:srgbClr val="2E2E2E"/>
                </a:solidFill>
                <a:latin typeface="Calibri"/>
              </a:rPr>
              <a:t>form, foam pouches, bags &amp; sleeves segment is</a:t>
            </a:r>
          </a:p>
        </p:txBody>
      </p:sp>
      <p:sp>
        <p:nvSpPr>
          <p:cNvPr id="101" name="TextBox 100"/>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102" name="Picture 101" descr="lock.png"/>
          <p:cNvPicPr>
            <a:picLocks noChangeAspect="1"/>
          </p:cNvPicPr>
          <p:nvPr/>
        </p:nvPicPr>
        <p:blipFill>
          <a:blip r:embed="rId22"/>
          <a:stretch>
            <a:fillRect/>
          </a:stretch>
        </p:blipFill>
        <p:spPr>
          <a:xfrm>
            <a:off x="2815059" y="4554938"/>
            <a:ext cx="128699" cy="187198"/>
          </a:xfrm>
          <a:prstGeom prst="rect">
            <a:avLst/>
          </a:prstGeom>
        </p:spPr>
      </p:pic>
      <p:sp>
        <p:nvSpPr>
          <p:cNvPr id="103" name="TextBox 102"/>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104" name="TextBox 103"/>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105" name="TextBox 104"/>
          <p:cNvSpPr txBox="1"/>
          <p:nvPr/>
        </p:nvSpPr>
        <p:spPr>
          <a:xfrm>
            <a:off x="485775" y="4899997"/>
            <a:ext cx="2823815" cy="186689"/>
          </a:xfrm>
          <a:prstGeom prst="rect">
            <a:avLst/>
          </a:prstGeom>
          <a:noFill/>
        </p:spPr>
        <p:txBody>
          <a:bodyPr wrap="none" lIns="0" rIns="0" tIns="0" bIns="0">
            <a:spAutoFit/>
          </a:bodyPr>
          <a:lstStyle/>
          <a:p>
            <a:r>
              <a:rPr sz="1100" b="0">
                <a:solidFill>
                  <a:srgbClr val="2E2E2E"/>
                </a:solidFill>
                <a:latin typeface="Calibri"/>
              </a:rPr>
              <a:t>product form, the foam pouches, bags &amp; sleeves</a:t>
            </a:r>
          </a:p>
        </p:txBody>
      </p:sp>
      <p:sp>
        <p:nvSpPr>
          <p:cNvPr id="106" name="TextBox 105"/>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107" name="TextBox 106"/>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108" name="Picture 107" descr="lock.png"/>
          <p:cNvPicPr>
            <a:picLocks noChangeAspect="1"/>
          </p:cNvPicPr>
          <p:nvPr/>
        </p:nvPicPr>
        <p:blipFill>
          <a:blip r:embed="rId22"/>
          <a:stretch>
            <a:fillRect/>
          </a:stretch>
        </p:blipFill>
        <p:spPr>
          <a:xfrm>
            <a:off x="919576" y="5225498"/>
            <a:ext cx="128699" cy="187198"/>
          </a:xfrm>
          <a:prstGeom prst="rect">
            <a:avLst/>
          </a:prstGeom>
        </p:spPr>
      </p:pic>
      <p:sp>
        <p:nvSpPr>
          <p:cNvPr id="109" name="TextBox 108"/>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110" name="Picture 109" descr="lock.png"/>
          <p:cNvPicPr>
            <a:picLocks noChangeAspect="1"/>
          </p:cNvPicPr>
          <p:nvPr/>
        </p:nvPicPr>
        <p:blipFill>
          <a:blip r:embed="rId22"/>
          <a:stretch>
            <a:fillRect/>
          </a:stretch>
        </p:blipFill>
        <p:spPr>
          <a:xfrm>
            <a:off x="2421557" y="5225498"/>
            <a:ext cx="128699" cy="187198"/>
          </a:xfrm>
          <a:prstGeom prst="rect">
            <a:avLst/>
          </a:prstGeom>
        </p:spPr>
      </p:pic>
      <p:sp>
        <p:nvSpPr>
          <p:cNvPr id="111" name="TextBox 110"/>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112" name="TextBox 111"/>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13" name="TextBox 112"/>
          <p:cNvSpPr txBox="1"/>
          <p:nvPr/>
        </p:nvSpPr>
        <p:spPr>
          <a:xfrm>
            <a:off x="485775" y="5620849"/>
            <a:ext cx="2441520" cy="186689"/>
          </a:xfrm>
          <a:prstGeom prst="rect">
            <a:avLst/>
          </a:prstGeom>
          <a:noFill/>
        </p:spPr>
        <p:txBody>
          <a:bodyPr wrap="none" lIns="0" rIns="0" tIns="0" bIns="0">
            <a:spAutoFit/>
          </a:bodyPr>
          <a:lstStyle/>
          <a:p>
            <a:r>
              <a:rPr sz="1100" b="0">
                <a:solidFill>
                  <a:srgbClr val="2E2E2E"/>
                </a:solidFill>
                <a:latin typeface="Calibri"/>
              </a:rPr>
              <a:t>Foam pouches, bags &amp; sleeves segment is</a:t>
            </a:r>
          </a:p>
        </p:txBody>
      </p:sp>
      <p:sp>
        <p:nvSpPr>
          <p:cNvPr id="114" name="TextBox 113"/>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5" name="Picture 114" descr="lock.png"/>
          <p:cNvPicPr>
            <a:picLocks noChangeAspect="1"/>
          </p:cNvPicPr>
          <p:nvPr/>
        </p:nvPicPr>
        <p:blipFill>
          <a:blip r:embed="rId22"/>
          <a:stretch>
            <a:fillRect/>
          </a:stretch>
        </p:blipFill>
        <p:spPr>
          <a:xfrm>
            <a:off x="1678376" y="5778710"/>
            <a:ext cx="128699" cy="187198"/>
          </a:xfrm>
          <a:prstGeom prst="rect">
            <a:avLst/>
          </a:prstGeom>
        </p:spPr>
      </p:pic>
      <p:sp>
        <p:nvSpPr>
          <p:cNvPr id="116" name="TextBox 115"/>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17" name="TextBox 116"/>
          <p:cNvSpPr txBox="1"/>
          <p:nvPr/>
        </p:nvSpPr>
        <p:spPr>
          <a:xfrm>
            <a:off x="485775" y="5956129"/>
            <a:ext cx="2591891" cy="186689"/>
          </a:xfrm>
          <a:prstGeom prst="rect">
            <a:avLst/>
          </a:prstGeom>
          <a:noFill/>
        </p:spPr>
        <p:txBody>
          <a:bodyPr wrap="none" lIns="0" rIns="0" tIns="0" bIns="0">
            <a:spAutoFit/>
          </a:bodyPr>
          <a:lstStyle/>
          <a:p>
            <a:r>
              <a:rPr sz="1100" b="0">
                <a:solidFill>
                  <a:srgbClr val="2E2E2E"/>
                </a:solidFill>
                <a:latin typeface="Calibri"/>
              </a:rPr>
              <a:t>fabricated foam packaging segment in 2036.</a:t>
            </a:r>
          </a:p>
        </p:txBody>
      </p:sp>
      <p:sp>
        <p:nvSpPr>
          <p:cNvPr id="118" name="TextBox 117"/>
          <p:cNvSpPr txBox="1"/>
          <p:nvPr/>
        </p:nvSpPr>
        <p:spPr>
          <a:xfrm>
            <a:off x="3838575" y="4229437"/>
            <a:ext cx="1889040" cy="179984"/>
          </a:xfrm>
          <a:prstGeom prst="rect">
            <a:avLst/>
          </a:prstGeom>
          <a:noFill/>
        </p:spPr>
        <p:txBody>
          <a:bodyPr wrap="none" lIns="0" rIns="0" tIns="0" bIns="0">
            <a:spAutoFit/>
          </a:bodyPr>
          <a:lstStyle/>
          <a:p>
            <a:r>
              <a:rPr sz="1055" b="0">
                <a:solidFill>
                  <a:srgbClr val="2E2E2E"/>
                </a:solidFill>
                <a:latin typeface="Calibri"/>
              </a:rPr>
              <a:t>● Foam Pouches, Bags &amp; Sleeves:</a:t>
            </a:r>
          </a:p>
        </p:txBody>
      </p:sp>
      <p:pic>
        <p:nvPicPr>
          <p:cNvPr id="119" name="Picture 118" descr="lock.png"/>
          <p:cNvPicPr>
            <a:picLocks noChangeAspect="1"/>
          </p:cNvPicPr>
          <p:nvPr/>
        </p:nvPicPr>
        <p:blipFill>
          <a:blip r:embed="rId22"/>
          <a:stretch>
            <a:fillRect/>
          </a:stretch>
        </p:blipFill>
        <p:spPr>
          <a:xfrm>
            <a:off x="5674697" y="4220049"/>
            <a:ext cx="123551" cy="179710"/>
          </a:xfrm>
          <a:prstGeom prst="rect">
            <a:avLst/>
          </a:prstGeom>
        </p:spPr>
      </p:pic>
      <p:sp>
        <p:nvSpPr>
          <p:cNvPr id="120" name="TextBox 119"/>
          <p:cNvSpPr txBox="1"/>
          <p:nvPr/>
        </p:nvSpPr>
        <p:spPr>
          <a:xfrm>
            <a:off x="5835493" y="4229437"/>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1" name="Picture 120" descr="lock.png"/>
          <p:cNvPicPr>
            <a:picLocks noChangeAspect="1"/>
          </p:cNvPicPr>
          <p:nvPr/>
        </p:nvPicPr>
        <p:blipFill>
          <a:blip r:embed="rId22"/>
          <a:stretch>
            <a:fillRect/>
          </a:stretch>
        </p:blipFill>
        <p:spPr>
          <a:xfrm>
            <a:off x="6660565" y="4220049"/>
            <a:ext cx="123551" cy="179710"/>
          </a:xfrm>
          <a:prstGeom prst="rect">
            <a:avLst/>
          </a:prstGeom>
        </p:spPr>
      </p:pic>
      <p:sp>
        <p:nvSpPr>
          <p:cNvPr id="122" name="TextBox 121"/>
          <p:cNvSpPr txBox="1"/>
          <p:nvPr/>
        </p:nvSpPr>
        <p:spPr>
          <a:xfrm>
            <a:off x="6821361" y="4229437"/>
            <a:ext cx="910454" cy="179984"/>
          </a:xfrm>
          <a:prstGeom prst="rect">
            <a:avLst/>
          </a:prstGeom>
          <a:noFill/>
        </p:spPr>
        <p:txBody>
          <a:bodyPr wrap="none" lIns="0" rIns="0" tIns="0" bIns="0">
            <a:spAutoFit/>
          </a:bodyPr>
          <a:lstStyle/>
          <a:p>
            <a:r>
              <a:rPr sz="1055" b="0">
                <a:solidFill>
                  <a:srgbClr val="2E2E2E"/>
                </a:solidFill>
                <a:latin typeface="Calibri"/>
              </a:rPr>
              <a:t>CAGR leads the</a:t>
            </a:r>
          </a:p>
        </p:txBody>
      </p:sp>
      <p:sp>
        <p:nvSpPr>
          <p:cNvPr id="123" name="TextBox 122"/>
          <p:cNvSpPr txBox="1"/>
          <p:nvPr/>
        </p:nvSpPr>
        <p:spPr>
          <a:xfrm>
            <a:off x="3838575" y="4390371"/>
            <a:ext cx="581739" cy="179984"/>
          </a:xfrm>
          <a:prstGeom prst="rect">
            <a:avLst/>
          </a:prstGeom>
          <a:noFill/>
        </p:spPr>
        <p:txBody>
          <a:bodyPr wrap="none" lIns="0" rIns="0" tIns="0" bIns="0">
            <a:spAutoFit/>
          </a:bodyPr>
          <a:lstStyle/>
          <a:p>
            <a:r>
              <a:rPr sz="1055" b="0">
                <a:solidFill>
                  <a:srgbClr val="2E2E2E"/>
                </a:solidFill>
                <a:latin typeface="Calibri"/>
              </a:rPr>
              <a:t>segment.</a:t>
            </a:r>
          </a:p>
        </p:txBody>
      </p:sp>
      <p:sp>
        <p:nvSpPr>
          <p:cNvPr id="124" name="TextBox 123"/>
          <p:cNvSpPr txBox="1"/>
          <p:nvPr/>
        </p:nvSpPr>
        <p:spPr>
          <a:xfrm>
            <a:off x="3838575" y="4599586"/>
            <a:ext cx="1708246" cy="179984"/>
          </a:xfrm>
          <a:prstGeom prst="rect">
            <a:avLst/>
          </a:prstGeom>
          <a:noFill/>
        </p:spPr>
        <p:txBody>
          <a:bodyPr wrap="none" lIns="0" rIns="0" tIns="0" bIns="0">
            <a:spAutoFit/>
          </a:bodyPr>
          <a:lstStyle/>
          <a:p>
            <a:r>
              <a:rPr sz="1055" b="0">
                <a:solidFill>
                  <a:srgbClr val="2E2E2E"/>
                </a:solidFill>
                <a:latin typeface="Calibri"/>
              </a:rPr>
              <a:t>● Fabricated Foam Packaging:</a:t>
            </a:r>
          </a:p>
        </p:txBody>
      </p:sp>
      <p:pic>
        <p:nvPicPr>
          <p:cNvPr id="125" name="Picture 124" descr="lock.png"/>
          <p:cNvPicPr>
            <a:picLocks noChangeAspect="1"/>
          </p:cNvPicPr>
          <p:nvPr/>
        </p:nvPicPr>
        <p:blipFill>
          <a:blip r:embed="rId22"/>
          <a:stretch>
            <a:fillRect/>
          </a:stretch>
        </p:blipFill>
        <p:spPr>
          <a:xfrm>
            <a:off x="5493903" y="4590198"/>
            <a:ext cx="123551" cy="179710"/>
          </a:xfrm>
          <a:prstGeom prst="rect">
            <a:avLst/>
          </a:prstGeom>
        </p:spPr>
      </p:pic>
      <p:sp>
        <p:nvSpPr>
          <p:cNvPr id="126" name="TextBox 125"/>
          <p:cNvSpPr txBox="1"/>
          <p:nvPr/>
        </p:nvSpPr>
        <p:spPr>
          <a:xfrm>
            <a:off x="5654699" y="4599586"/>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27" name="Picture 126" descr="lock.png"/>
          <p:cNvPicPr>
            <a:picLocks noChangeAspect="1"/>
          </p:cNvPicPr>
          <p:nvPr/>
        </p:nvPicPr>
        <p:blipFill>
          <a:blip r:embed="rId22"/>
          <a:stretch>
            <a:fillRect/>
          </a:stretch>
        </p:blipFill>
        <p:spPr>
          <a:xfrm>
            <a:off x="6479771" y="4590198"/>
            <a:ext cx="123551" cy="179710"/>
          </a:xfrm>
          <a:prstGeom prst="rect">
            <a:avLst/>
          </a:prstGeom>
        </p:spPr>
      </p:pic>
      <p:sp>
        <p:nvSpPr>
          <p:cNvPr id="128" name="TextBox 127"/>
          <p:cNvSpPr txBox="1"/>
          <p:nvPr/>
        </p:nvSpPr>
        <p:spPr>
          <a:xfrm>
            <a:off x="6640567" y="4599586"/>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29" name="TextBox 128"/>
          <p:cNvSpPr txBox="1"/>
          <p:nvPr/>
        </p:nvSpPr>
        <p:spPr>
          <a:xfrm>
            <a:off x="3838575" y="4808800"/>
            <a:ext cx="1572358" cy="179984"/>
          </a:xfrm>
          <a:prstGeom prst="rect">
            <a:avLst/>
          </a:prstGeom>
          <a:noFill/>
        </p:spPr>
        <p:txBody>
          <a:bodyPr wrap="none" lIns="0" rIns="0" tIns="0" bIns="0">
            <a:spAutoFit/>
          </a:bodyPr>
          <a:lstStyle/>
          <a:p>
            <a:r>
              <a:rPr sz="1055" b="0">
                <a:solidFill>
                  <a:srgbClr val="2E2E2E"/>
                </a:solidFill>
                <a:latin typeface="Calibri"/>
              </a:rPr>
              <a:t>● Foam-in-Place Packaging:</a:t>
            </a:r>
          </a:p>
        </p:txBody>
      </p:sp>
      <p:pic>
        <p:nvPicPr>
          <p:cNvPr id="130" name="Picture 129" descr="lock.png"/>
          <p:cNvPicPr>
            <a:picLocks noChangeAspect="1"/>
          </p:cNvPicPr>
          <p:nvPr/>
        </p:nvPicPr>
        <p:blipFill>
          <a:blip r:embed="rId22"/>
          <a:stretch>
            <a:fillRect/>
          </a:stretch>
        </p:blipFill>
        <p:spPr>
          <a:xfrm>
            <a:off x="5358014" y="4799413"/>
            <a:ext cx="123551" cy="179710"/>
          </a:xfrm>
          <a:prstGeom prst="rect">
            <a:avLst/>
          </a:prstGeom>
        </p:spPr>
      </p:pic>
      <p:sp>
        <p:nvSpPr>
          <p:cNvPr id="131" name="TextBox 130"/>
          <p:cNvSpPr txBox="1"/>
          <p:nvPr/>
        </p:nvSpPr>
        <p:spPr>
          <a:xfrm>
            <a:off x="5518810" y="4808800"/>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2" name="Picture 131" descr="lock.png"/>
          <p:cNvPicPr>
            <a:picLocks noChangeAspect="1"/>
          </p:cNvPicPr>
          <p:nvPr/>
        </p:nvPicPr>
        <p:blipFill>
          <a:blip r:embed="rId22"/>
          <a:stretch>
            <a:fillRect/>
          </a:stretch>
        </p:blipFill>
        <p:spPr>
          <a:xfrm>
            <a:off x="6343883" y="4799413"/>
            <a:ext cx="123551" cy="179710"/>
          </a:xfrm>
          <a:prstGeom prst="rect">
            <a:avLst/>
          </a:prstGeom>
        </p:spPr>
      </p:pic>
      <p:sp>
        <p:nvSpPr>
          <p:cNvPr id="133" name="TextBox 132"/>
          <p:cNvSpPr txBox="1"/>
          <p:nvPr/>
        </p:nvSpPr>
        <p:spPr>
          <a:xfrm>
            <a:off x="6504679" y="4808800"/>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34" name="TextBox 133"/>
          <p:cNvSpPr txBox="1"/>
          <p:nvPr/>
        </p:nvSpPr>
        <p:spPr>
          <a:xfrm>
            <a:off x="3838575" y="5018015"/>
            <a:ext cx="1742617" cy="179984"/>
          </a:xfrm>
          <a:prstGeom prst="rect">
            <a:avLst/>
          </a:prstGeom>
          <a:noFill/>
        </p:spPr>
        <p:txBody>
          <a:bodyPr wrap="none" lIns="0" rIns="0" tIns="0" bIns="0">
            <a:spAutoFit/>
          </a:bodyPr>
          <a:lstStyle/>
          <a:p>
            <a:r>
              <a:rPr sz="1055" b="0">
                <a:solidFill>
                  <a:srgbClr val="2E2E2E"/>
                </a:solidFill>
                <a:latin typeface="Calibri"/>
              </a:rPr>
              <a:t>● Foam Sheets, Rolls &amp; Planks:</a:t>
            </a:r>
          </a:p>
        </p:txBody>
      </p:sp>
      <p:pic>
        <p:nvPicPr>
          <p:cNvPr id="135" name="Picture 134" descr="lock.png"/>
          <p:cNvPicPr>
            <a:picLocks noChangeAspect="1"/>
          </p:cNvPicPr>
          <p:nvPr/>
        </p:nvPicPr>
        <p:blipFill>
          <a:blip r:embed="rId22"/>
          <a:stretch>
            <a:fillRect/>
          </a:stretch>
        </p:blipFill>
        <p:spPr>
          <a:xfrm>
            <a:off x="5528274" y="5008627"/>
            <a:ext cx="123551" cy="179710"/>
          </a:xfrm>
          <a:prstGeom prst="rect">
            <a:avLst/>
          </a:prstGeom>
        </p:spPr>
      </p:pic>
      <p:sp>
        <p:nvSpPr>
          <p:cNvPr id="136" name="TextBox 135"/>
          <p:cNvSpPr txBox="1"/>
          <p:nvPr/>
        </p:nvSpPr>
        <p:spPr>
          <a:xfrm>
            <a:off x="5689070" y="5018015"/>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37" name="Picture 136" descr="lock.png"/>
          <p:cNvPicPr>
            <a:picLocks noChangeAspect="1"/>
          </p:cNvPicPr>
          <p:nvPr/>
        </p:nvPicPr>
        <p:blipFill>
          <a:blip r:embed="rId22"/>
          <a:stretch>
            <a:fillRect/>
          </a:stretch>
        </p:blipFill>
        <p:spPr>
          <a:xfrm>
            <a:off x="6514142" y="5008627"/>
            <a:ext cx="123551" cy="179710"/>
          </a:xfrm>
          <a:prstGeom prst="rect">
            <a:avLst/>
          </a:prstGeom>
        </p:spPr>
      </p:pic>
      <p:sp>
        <p:nvSpPr>
          <p:cNvPr id="138" name="TextBox 137"/>
          <p:cNvSpPr txBox="1"/>
          <p:nvPr/>
        </p:nvSpPr>
        <p:spPr>
          <a:xfrm>
            <a:off x="6674938" y="5018015"/>
            <a:ext cx="853352" cy="179984"/>
          </a:xfrm>
          <a:prstGeom prst="rect">
            <a:avLst/>
          </a:prstGeom>
          <a:noFill/>
        </p:spPr>
        <p:txBody>
          <a:bodyPr wrap="none" lIns="0" rIns="0" tIns="0" bIns="0">
            <a:spAutoFit/>
          </a:bodyPr>
          <a:lstStyle/>
          <a:p>
            <a:r>
              <a:rPr sz="1055" b="0">
                <a:solidFill>
                  <a:srgbClr val="2E2E2E"/>
                </a:solidFill>
                <a:latin typeface="Calibri"/>
              </a:rPr>
              <a:t>CAGR serves a</a:t>
            </a:r>
          </a:p>
        </p:txBody>
      </p:sp>
      <p:sp>
        <p:nvSpPr>
          <p:cNvPr id="139" name="TextBox 138"/>
          <p:cNvSpPr txBox="1"/>
          <p:nvPr/>
        </p:nvSpPr>
        <p:spPr>
          <a:xfrm>
            <a:off x="3838575" y="5178949"/>
            <a:ext cx="405455" cy="179984"/>
          </a:xfrm>
          <a:prstGeom prst="rect">
            <a:avLst/>
          </a:prstGeom>
          <a:noFill/>
        </p:spPr>
        <p:txBody>
          <a:bodyPr wrap="none" lIns="0" rIns="0" tIns="0" bIns="0">
            <a:spAutoFit/>
          </a:bodyPr>
          <a:lstStyle/>
          <a:p>
            <a:r>
              <a:rPr sz="1055" b="0">
                <a:solidFill>
                  <a:srgbClr val="2E2E2E"/>
                </a:solidFill>
                <a:latin typeface="Calibri"/>
              </a:rPr>
              <a:t>niche.</a:t>
            </a:r>
          </a:p>
        </p:txBody>
      </p:sp>
      <p:sp>
        <p:nvSpPr>
          <p:cNvPr id="140" name="TextBox 139"/>
          <p:cNvSpPr txBox="1"/>
          <p:nvPr/>
        </p:nvSpPr>
        <p:spPr>
          <a:xfrm>
            <a:off x="3838575" y="5388164"/>
            <a:ext cx="1643343" cy="179984"/>
          </a:xfrm>
          <a:prstGeom prst="rect">
            <a:avLst/>
          </a:prstGeom>
          <a:noFill/>
        </p:spPr>
        <p:txBody>
          <a:bodyPr wrap="none" lIns="0" rIns="0" tIns="0" bIns="0">
            <a:spAutoFit/>
          </a:bodyPr>
          <a:lstStyle/>
          <a:p>
            <a:r>
              <a:rPr sz="1055" b="0">
                <a:solidFill>
                  <a:srgbClr val="2E2E2E"/>
                </a:solidFill>
                <a:latin typeface="Calibri"/>
              </a:rPr>
              <a:t>● Foam Loose-Fill Packaging:</a:t>
            </a:r>
          </a:p>
        </p:txBody>
      </p:sp>
      <p:pic>
        <p:nvPicPr>
          <p:cNvPr id="141" name="Picture 140" descr="lock.png"/>
          <p:cNvPicPr>
            <a:picLocks noChangeAspect="1"/>
          </p:cNvPicPr>
          <p:nvPr/>
        </p:nvPicPr>
        <p:blipFill>
          <a:blip r:embed="rId22"/>
          <a:stretch>
            <a:fillRect/>
          </a:stretch>
        </p:blipFill>
        <p:spPr>
          <a:xfrm>
            <a:off x="5428999" y="5378776"/>
            <a:ext cx="123551" cy="179710"/>
          </a:xfrm>
          <a:prstGeom prst="rect">
            <a:avLst/>
          </a:prstGeom>
        </p:spPr>
      </p:pic>
      <p:sp>
        <p:nvSpPr>
          <p:cNvPr id="142" name="TextBox 141"/>
          <p:cNvSpPr txBox="1"/>
          <p:nvPr/>
        </p:nvSpPr>
        <p:spPr>
          <a:xfrm>
            <a:off x="5589795" y="5388164"/>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3" name="Picture 142" descr="lock.png"/>
          <p:cNvPicPr>
            <a:picLocks noChangeAspect="1"/>
          </p:cNvPicPr>
          <p:nvPr/>
        </p:nvPicPr>
        <p:blipFill>
          <a:blip r:embed="rId22"/>
          <a:stretch>
            <a:fillRect/>
          </a:stretch>
        </p:blipFill>
        <p:spPr>
          <a:xfrm>
            <a:off x="6414868" y="5378776"/>
            <a:ext cx="123551" cy="179710"/>
          </a:xfrm>
          <a:prstGeom prst="rect">
            <a:avLst/>
          </a:prstGeom>
        </p:spPr>
      </p:pic>
      <p:sp>
        <p:nvSpPr>
          <p:cNvPr id="144" name="TextBox 143"/>
          <p:cNvSpPr txBox="1"/>
          <p:nvPr/>
        </p:nvSpPr>
        <p:spPr>
          <a:xfrm>
            <a:off x="6575664" y="5388164"/>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45" name="TextBox 144"/>
          <p:cNvSpPr txBox="1"/>
          <p:nvPr/>
        </p:nvSpPr>
        <p:spPr>
          <a:xfrm>
            <a:off x="3838575" y="5597379"/>
            <a:ext cx="1555070" cy="179984"/>
          </a:xfrm>
          <a:prstGeom prst="rect">
            <a:avLst/>
          </a:prstGeom>
          <a:noFill/>
        </p:spPr>
        <p:txBody>
          <a:bodyPr wrap="none" lIns="0" rIns="0" tIns="0" bIns="0">
            <a:spAutoFit/>
          </a:bodyPr>
          <a:lstStyle/>
          <a:p>
            <a:r>
              <a:rPr sz="1055" b="0">
                <a:solidFill>
                  <a:srgbClr val="2E2E2E"/>
                </a:solidFill>
                <a:latin typeface="Calibri"/>
              </a:rPr>
              <a:t>● Molded Foam Packaging:</a:t>
            </a:r>
          </a:p>
        </p:txBody>
      </p:sp>
      <p:pic>
        <p:nvPicPr>
          <p:cNvPr id="146" name="Picture 145" descr="lock.png"/>
          <p:cNvPicPr>
            <a:picLocks noChangeAspect="1"/>
          </p:cNvPicPr>
          <p:nvPr/>
        </p:nvPicPr>
        <p:blipFill>
          <a:blip r:embed="rId22"/>
          <a:stretch>
            <a:fillRect/>
          </a:stretch>
        </p:blipFill>
        <p:spPr>
          <a:xfrm>
            <a:off x="5340727" y="5587991"/>
            <a:ext cx="123551" cy="179710"/>
          </a:xfrm>
          <a:prstGeom prst="rect">
            <a:avLst/>
          </a:prstGeom>
        </p:spPr>
      </p:pic>
      <p:sp>
        <p:nvSpPr>
          <p:cNvPr id="147" name="TextBox 146"/>
          <p:cNvSpPr txBox="1"/>
          <p:nvPr/>
        </p:nvSpPr>
        <p:spPr>
          <a:xfrm>
            <a:off x="5501522" y="5597379"/>
            <a:ext cx="877990" cy="179984"/>
          </a:xfrm>
          <a:prstGeom prst="rect">
            <a:avLst/>
          </a:prstGeom>
          <a:noFill/>
        </p:spPr>
        <p:txBody>
          <a:bodyPr wrap="none" lIns="0" rIns="0" tIns="0" bIns="0">
            <a:spAutoFit/>
          </a:bodyPr>
          <a:lstStyle/>
          <a:p>
            <a:r>
              <a:rPr sz="1055" b="0">
                <a:solidFill>
                  <a:srgbClr val="2E2E2E"/>
                </a:solidFill>
                <a:latin typeface="Calibri"/>
              </a:rPr>
              <a:t>of 2026 value ·</a:t>
            </a:r>
          </a:p>
        </p:txBody>
      </p:sp>
      <p:pic>
        <p:nvPicPr>
          <p:cNvPr id="148" name="Picture 147" descr="lock.png"/>
          <p:cNvPicPr>
            <a:picLocks noChangeAspect="1"/>
          </p:cNvPicPr>
          <p:nvPr/>
        </p:nvPicPr>
        <p:blipFill>
          <a:blip r:embed="rId22"/>
          <a:stretch>
            <a:fillRect/>
          </a:stretch>
        </p:blipFill>
        <p:spPr>
          <a:xfrm>
            <a:off x="6326595" y="5587991"/>
            <a:ext cx="123551" cy="179710"/>
          </a:xfrm>
          <a:prstGeom prst="rect">
            <a:avLst/>
          </a:prstGeom>
        </p:spPr>
      </p:pic>
      <p:sp>
        <p:nvSpPr>
          <p:cNvPr id="149" name="TextBox 148"/>
          <p:cNvSpPr txBox="1"/>
          <p:nvPr/>
        </p:nvSpPr>
        <p:spPr>
          <a:xfrm>
            <a:off x="6487391" y="5597379"/>
            <a:ext cx="1212992" cy="179984"/>
          </a:xfrm>
          <a:prstGeom prst="rect">
            <a:avLst/>
          </a:prstGeom>
          <a:noFill/>
        </p:spPr>
        <p:txBody>
          <a:bodyPr wrap="none" lIns="0" rIns="0" tIns="0" bIns="0">
            <a:spAutoFit/>
          </a:bodyPr>
          <a:lstStyle/>
          <a:p>
            <a:r>
              <a:rPr sz="1055" b="0">
                <a:solidFill>
                  <a:srgbClr val="2E2E2E"/>
                </a:solidFill>
                <a:latin typeface="Calibri"/>
              </a:rPr>
              <a:t>CAGR serves a niche.</a:t>
            </a:r>
          </a:p>
        </p:txBody>
      </p:sp>
      <p:sp>
        <p:nvSpPr>
          <p:cNvPr id="150" name="TextBox 149"/>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Product Form segment is projected to grow at a</a:t>
            </a:r>
          </a:p>
        </p:txBody>
      </p:sp>
      <p:sp>
        <p:nvSpPr>
          <p:cNvPr id="151" name="TextBox 150"/>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52" name="Picture 151" descr="lock.png"/>
          <p:cNvPicPr>
            <a:picLocks noChangeAspect="1"/>
          </p:cNvPicPr>
          <p:nvPr/>
        </p:nvPicPr>
        <p:blipFill>
          <a:blip r:embed="rId22"/>
          <a:stretch>
            <a:fillRect/>
          </a:stretch>
        </p:blipFill>
        <p:spPr>
          <a:xfrm>
            <a:off x="9048826" y="6007677"/>
            <a:ext cx="134549" cy="195707"/>
          </a:xfrm>
          <a:prstGeom prst="rect">
            <a:avLst/>
          </a:prstGeom>
        </p:spPr>
      </p:pic>
      <p:sp>
        <p:nvSpPr>
          <p:cNvPr id="153" name="TextBox 152"/>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Product Form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Product Form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Form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Foam pouches, bags &amp; sleeves followed by fabricated foam packaging are expected to be the two most attractive product form segments in the North America foam protective packaging market in terms of</a:t>
            </a:r>
          </a:p>
        </p:txBody>
      </p:sp>
      <p:sp>
        <p:nvSpPr>
          <p:cNvPr id="18" name="TextBox 17"/>
          <p:cNvSpPr txBox="1"/>
          <p:nvPr/>
        </p:nvSpPr>
        <p:spPr>
          <a:xfrm>
            <a:off x="257175" y="5861685"/>
            <a:ext cx="6716541" cy="186689"/>
          </a:xfrm>
          <a:prstGeom prst="rect">
            <a:avLst/>
          </a:prstGeom>
          <a:noFill/>
        </p:spPr>
        <p:txBody>
          <a:bodyPr wrap="none" lIns="0" rIns="0" tIns="0" bIns="0">
            <a:spAutoFit/>
          </a:bodyPr>
          <a:lstStyle/>
          <a:p>
            <a:r>
              <a:rPr sz="1100" b="0">
                <a:solidFill>
                  <a:srgbClr val="2E2E2E"/>
                </a:solidFill>
                <a:latin typeface="Calibri"/>
              </a:rPr>
              <a:t>value over the forecast period. Foam pouches, bags &amp; sleeves and fabricated foam packaging exhibit a CAGR index of</a:t>
            </a:r>
          </a:p>
        </p:txBody>
      </p:sp>
      <p:pic>
        <p:nvPicPr>
          <p:cNvPr id="19" name="Picture 18" descr="lock.png"/>
          <p:cNvPicPr>
            <a:picLocks noChangeAspect="1"/>
          </p:cNvPicPr>
          <p:nvPr/>
        </p:nvPicPr>
        <p:blipFill>
          <a:blip r:embed="rId6"/>
          <a:stretch>
            <a:fillRect/>
          </a:stretch>
        </p:blipFill>
        <p:spPr>
          <a:xfrm>
            <a:off x="6921768" y="5851905"/>
            <a:ext cx="128699" cy="187198"/>
          </a:xfrm>
          <a:prstGeom prst="rect">
            <a:avLst/>
          </a:prstGeom>
        </p:spPr>
      </p:pic>
      <p:sp>
        <p:nvSpPr>
          <p:cNvPr id="20" name="TextBox 19"/>
          <p:cNvSpPr txBox="1"/>
          <p:nvPr/>
        </p:nvSpPr>
        <p:spPr>
          <a:xfrm>
            <a:off x="708926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7327158" y="5851905"/>
            <a:ext cx="128699" cy="187198"/>
          </a:xfrm>
          <a:prstGeom prst="rect">
            <a:avLst/>
          </a:prstGeom>
        </p:spPr>
      </p:pic>
      <p:sp>
        <p:nvSpPr>
          <p:cNvPr id="22" name="TextBox 21"/>
          <p:cNvSpPr txBox="1"/>
          <p:nvPr/>
        </p:nvSpPr>
        <p:spPr>
          <a:xfrm>
            <a:off x="749465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9103627" y="5851905"/>
            <a:ext cx="128699" cy="187198"/>
          </a:xfrm>
          <a:prstGeom prst="rect">
            <a:avLst/>
          </a:prstGeom>
        </p:spPr>
      </p:pic>
      <p:sp>
        <p:nvSpPr>
          <p:cNvPr id="24" name="TextBox 23"/>
          <p:cNvSpPr txBox="1"/>
          <p:nvPr/>
        </p:nvSpPr>
        <p:spPr>
          <a:xfrm>
            <a:off x="927112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9509017" y="5851905"/>
            <a:ext cx="128699" cy="187198"/>
          </a:xfrm>
          <a:prstGeom prst="rect">
            <a:avLst/>
          </a:prstGeom>
        </p:spPr>
      </p:pic>
      <p:sp>
        <p:nvSpPr>
          <p:cNvPr id="26" name="TextBox 25"/>
          <p:cNvSpPr txBox="1"/>
          <p:nvPr/>
        </p:nvSpPr>
        <p:spPr>
          <a:xfrm>
            <a:off x="9676513" y="586168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27" name="TextBox 26"/>
          <p:cNvSpPr txBox="1"/>
          <p:nvPr/>
        </p:nvSpPr>
        <p:spPr>
          <a:xfrm>
            <a:off x="257175" y="602932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28" name="Picture 27" descr="lock.png"/>
          <p:cNvPicPr>
            <a:picLocks noChangeAspect="1"/>
          </p:cNvPicPr>
          <p:nvPr/>
        </p:nvPicPr>
        <p:blipFill>
          <a:blip r:embed="rId6"/>
          <a:stretch>
            <a:fillRect/>
          </a:stretch>
        </p:blipFill>
        <p:spPr>
          <a:xfrm>
            <a:off x="1402846" y="6019545"/>
            <a:ext cx="128699" cy="187198"/>
          </a:xfrm>
          <a:prstGeom prst="rect">
            <a:avLst/>
          </a:prstGeom>
        </p:spPr>
      </p:pic>
      <p:sp>
        <p:nvSpPr>
          <p:cNvPr id="29" name="TextBox 28"/>
          <p:cNvSpPr txBox="1"/>
          <p:nvPr/>
        </p:nvSpPr>
        <p:spPr>
          <a:xfrm>
            <a:off x="1570342" y="6029325"/>
            <a:ext cx="9725032" cy="186689"/>
          </a:xfrm>
          <a:prstGeom prst="rect">
            <a:avLst/>
          </a:prstGeom>
          <a:noFill/>
        </p:spPr>
        <p:txBody>
          <a:bodyPr wrap="none" lIns="0" rIns="0" tIns="0" bIns="0">
            <a:spAutoFit/>
          </a:bodyPr>
          <a:lstStyle/>
          <a:p>
            <a:r>
              <a:rPr sz="1100" b="0">
                <a:solidFill>
                  <a:srgbClr val="2E2E2E"/>
                </a:solidFill>
                <a:latin typeface="Calibri"/>
              </a:rPr>
              <a:t>. The molded foam packaging segment is expected to be less attractive as compared to other segments over the forecast period, owing to its lower CAGR and incremental</a:t>
            </a:r>
          </a:p>
        </p:txBody>
      </p:sp>
      <p:sp>
        <p:nvSpPr>
          <p:cNvPr id="30" name="TextBox 29"/>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Form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Foam Sheets, Rolls &amp; Planks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Fabricated Foam Packaging</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Molded Foam Packaging</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Foam-in-Place Packaging</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Product Form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Product Form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Foam Pouches, Bags &amp; Sleeves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Foam Loose-Fill Packaging</a:t>
            </a:r>
          </a:p>
        </p:txBody>
      </p:sp>
      <p:graphicFrame>
        <p:nvGraphicFramePr>
          <p:cNvPr id="12" name="Chart 11"/>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Product Form</a:t>
            </a:r>
          </a:p>
        </p:txBody>
      </p:sp>
      <p:sp>
        <p:nvSpPr>
          <p:cNvPr id="15" name="Rectangle 14"/>
          <p:cNvSpPr/>
          <p:nvPr/>
        </p:nvSpPr>
        <p:spPr>
          <a:xfrm>
            <a:off x="6305550" y="150299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7" name="Rectangle 1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9" name="Picture 18" descr="lock.png"/>
          <p:cNvPicPr>
            <a:picLocks noChangeAspect="1"/>
          </p:cNvPicPr>
          <p:nvPr/>
        </p:nvPicPr>
        <p:blipFill>
          <a:blip r:embed="rId6"/>
          <a:stretch>
            <a:fillRect/>
          </a:stretch>
        </p:blipFill>
        <p:spPr>
          <a:xfrm>
            <a:off x="3100230" y="2330679"/>
            <a:ext cx="252890" cy="367840"/>
          </a:xfrm>
          <a:prstGeom prst="rect">
            <a:avLst/>
          </a:prstGeom>
        </p:spPr>
      </p:pic>
      <p:pic>
        <p:nvPicPr>
          <p:cNvPr id="20" name="Picture 19" descr="lock.png"/>
          <p:cNvPicPr>
            <a:picLocks noChangeAspect="1"/>
          </p:cNvPicPr>
          <p:nvPr/>
        </p:nvPicPr>
        <p:blipFill>
          <a:blip r:embed="rId6"/>
          <a:stretch>
            <a:fillRect/>
          </a:stretch>
        </p:blipFill>
        <p:spPr>
          <a:xfrm>
            <a:off x="3100230" y="5216754"/>
            <a:ext cx="252890" cy="367840"/>
          </a:xfrm>
          <a:prstGeom prst="rect">
            <a:avLst/>
          </a:prstGeom>
        </p:spPr>
      </p:pic>
      <p:sp>
        <p:nvSpPr>
          <p:cNvPr id="21" name="TextBox 20"/>
          <p:cNvSpPr txBox="1"/>
          <p:nvPr/>
        </p:nvSpPr>
        <p:spPr>
          <a:xfrm>
            <a:off x="6305550" y="1598245"/>
            <a:ext cx="5280920" cy="194310"/>
          </a:xfrm>
          <a:prstGeom prst="rect">
            <a:avLst/>
          </a:prstGeom>
          <a:noFill/>
        </p:spPr>
        <p:txBody>
          <a:bodyPr wrap="none" lIns="0" rIns="0" tIns="0" bIns="0">
            <a:spAutoFit/>
          </a:bodyPr>
          <a:lstStyle/>
          <a:p>
            <a:r>
              <a:rPr sz="1150" b="0">
                <a:solidFill>
                  <a:srgbClr val="2E2E2E"/>
                </a:solidFill>
                <a:latin typeface="Calibri"/>
              </a:rPr>
              <a:t>By 2036, foam pouches, bags &amp; sleeves segment is anticipated to witness an increase of</a:t>
            </a:r>
          </a:p>
        </p:txBody>
      </p:sp>
      <p:pic>
        <p:nvPicPr>
          <p:cNvPr id="22" name="Picture 21" descr="lock.png"/>
          <p:cNvPicPr>
            <a:picLocks noChangeAspect="1"/>
          </p:cNvPicPr>
          <p:nvPr/>
        </p:nvPicPr>
        <p:blipFill>
          <a:blip r:embed="rId6"/>
          <a:stretch>
            <a:fillRect/>
          </a:stretch>
        </p:blipFill>
        <p:spPr>
          <a:xfrm>
            <a:off x="11535624" y="1588021"/>
            <a:ext cx="134549" cy="195707"/>
          </a:xfrm>
          <a:prstGeom prst="rect">
            <a:avLst/>
          </a:prstGeom>
        </p:spPr>
      </p:pic>
      <p:sp>
        <p:nvSpPr>
          <p:cNvPr id="23" name="TextBox 22"/>
          <p:cNvSpPr txBox="1"/>
          <p:nvPr/>
        </p:nvSpPr>
        <p:spPr>
          <a:xfrm>
            <a:off x="11710733" y="159824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24" name="TextBox 23"/>
          <p:cNvSpPr txBox="1"/>
          <p:nvPr/>
        </p:nvSpPr>
        <p:spPr>
          <a:xfrm>
            <a:off x="6305550" y="1773505"/>
            <a:ext cx="5131754" cy="194310"/>
          </a:xfrm>
          <a:prstGeom prst="rect">
            <a:avLst/>
          </a:prstGeom>
          <a:noFill/>
        </p:spPr>
        <p:txBody>
          <a:bodyPr wrap="none" lIns="0" rIns="0" tIns="0" bIns="0">
            <a:spAutoFit/>
          </a:bodyPr>
          <a:lstStyle/>
          <a:p>
            <a:r>
              <a:rPr sz="1150" b="0">
                <a:solidFill>
                  <a:srgbClr val="2E2E2E"/>
                </a:solidFill>
                <a:latin typeface="Calibri"/>
              </a:rPr>
              <a:t>in terms of value as compared to 2026. The foam pouches, bags &amp; sleeves segment is</a:t>
            </a:r>
          </a:p>
        </p:txBody>
      </p:sp>
      <p:sp>
        <p:nvSpPr>
          <p:cNvPr id="25" name="TextBox 24"/>
          <p:cNvSpPr txBox="1"/>
          <p:nvPr/>
        </p:nvSpPr>
        <p:spPr>
          <a:xfrm>
            <a:off x="6305550" y="1948765"/>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26" name="Picture 25" descr="lock.png"/>
          <p:cNvPicPr>
            <a:picLocks noChangeAspect="1"/>
          </p:cNvPicPr>
          <p:nvPr/>
        </p:nvPicPr>
        <p:blipFill>
          <a:blip r:embed="rId6"/>
          <a:stretch>
            <a:fillRect/>
          </a:stretch>
        </p:blipFill>
        <p:spPr>
          <a:xfrm>
            <a:off x="9540010" y="1938541"/>
            <a:ext cx="134549" cy="195707"/>
          </a:xfrm>
          <a:prstGeom prst="rect">
            <a:avLst/>
          </a:prstGeom>
        </p:spPr>
      </p:pic>
      <p:sp>
        <p:nvSpPr>
          <p:cNvPr id="27" name="TextBox 26"/>
          <p:cNvSpPr txBox="1"/>
          <p:nvPr/>
        </p:nvSpPr>
        <p:spPr>
          <a:xfrm>
            <a:off x="9715119" y="1948765"/>
            <a:ext cx="2136303" cy="194310"/>
          </a:xfrm>
          <a:prstGeom prst="rect">
            <a:avLst/>
          </a:prstGeom>
          <a:noFill/>
        </p:spPr>
        <p:txBody>
          <a:bodyPr wrap="none" lIns="0" rIns="0" tIns="0" bIns="0">
            <a:spAutoFit/>
          </a:bodyPr>
          <a:lstStyle/>
          <a:p>
            <a:r>
              <a:rPr sz="1150" b="0">
                <a:solidFill>
                  <a:srgbClr val="2E2E2E"/>
                </a:solidFill>
                <a:latin typeface="Calibri"/>
              </a:rPr>
              <a:t>Mn for the overall foam protective</a:t>
            </a:r>
          </a:p>
        </p:txBody>
      </p:sp>
      <p:sp>
        <p:nvSpPr>
          <p:cNvPr id="28" name="TextBox 27"/>
          <p:cNvSpPr txBox="1"/>
          <p:nvPr/>
        </p:nvSpPr>
        <p:spPr>
          <a:xfrm>
            <a:off x="6305550" y="2124025"/>
            <a:ext cx="2305744" cy="194310"/>
          </a:xfrm>
          <a:prstGeom prst="rect">
            <a:avLst/>
          </a:prstGeom>
          <a:noFill/>
        </p:spPr>
        <p:txBody>
          <a:bodyPr wrap="none" lIns="0" rIns="0" tIns="0" bIns="0">
            <a:spAutoFit/>
          </a:bodyPr>
          <a:lstStyle/>
          <a:p>
            <a:r>
              <a:rPr sz="1150" b="0">
                <a:solidFill>
                  <a:srgbClr val="2E2E2E"/>
                </a:solidFill>
                <a:latin typeface="Calibri"/>
              </a:rPr>
              <a:t>packaging market from 2026 to 2036.</a:t>
            </a:r>
          </a:p>
        </p:txBody>
      </p:sp>
      <p:sp>
        <p:nvSpPr>
          <p:cNvPr id="29" name="TextBox 28"/>
          <p:cNvSpPr txBox="1"/>
          <p:nvPr/>
        </p:nvSpPr>
        <p:spPr>
          <a:xfrm>
            <a:off x="6305550" y="2351863"/>
            <a:ext cx="5547940" cy="194310"/>
          </a:xfrm>
          <a:prstGeom prst="rect">
            <a:avLst/>
          </a:prstGeom>
          <a:noFill/>
        </p:spPr>
        <p:txBody>
          <a:bodyPr wrap="none" lIns="0" rIns="0" tIns="0" bIns="0">
            <a:spAutoFit/>
          </a:bodyPr>
          <a:lstStyle/>
          <a:p>
            <a:r>
              <a:rPr sz="1150" b="0">
                <a:solidFill>
                  <a:srgbClr val="2E2E2E"/>
                </a:solidFill>
                <a:latin typeface="Calibri"/>
              </a:rPr>
              <a:t>The fabricated foam packaging segment is expected to create an incremental opportunity of</a:t>
            </a:r>
          </a:p>
        </p:txBody>
      </p:sp>
      <p:sp>
        <p:nvSpPr>
          <p:cNvPr id="30" name="TextBox 29"/>
          <p:cNvSpPr txBox="1"/>
          <p:nvPr/>
        </p:nvSpPr>
        <p:spPr>
          <a:xfrm>
            <a:off x="6305550" y="252712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1" name="Picture 30" descr="lock.png"/>
          <p:cNvPicPr>
            <a:picLocks noChangeAspect="1"/>
          </p:cNvPicPr>
          <p:nvPr/>
        </p:nvPicPr>
        <p:blipFill>
          <a:blip r:embed="rId6"/>
          <a:stretch>
            <a:fillRect/>
          </a:stretch>
        </p:blipFill>
        <p:spPr>
          <a:xfrm>
            <a:off x="6565953" y="2516899"/>
            <a:ext cx="134549" cy="195707"/>
          </a:xfrm>
          <a:prstGeom prst="rect">
            <a:avLst/>
          </a:prstGeom>
        </p:spPr>
      </p:pic>
      <p:sp>
        <p:nvSpPr>
          <p:cNvPr id="32" name="TextBox 31"/>
          <p:cNvSpPr txBox="1"/>
          <p:nvPr/>
        </p:nvSpPr>
        <p:spPr>
          <a:xfrm>
            <a:off x="6741062" y="2527123"/>
            <a:ext cx="4993977"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 The foam</a:t>
            </a:r>
          </a:p>
        </p:txBody>
      </p:sp>
      <p:sp>
        <p:nvSpPr>
          <p:cNvPr id="33" name="TextBox 32"/>
          <p:cNvSpPr txBox="1"/>
          <p:nvPr/>
        </p:nvSpPr>
        <p:spPr>
          <a:xfrm>
            <a:off x="6305550" y="2702383"/>
            <a:ext cx="5242718" cy="194310"/>
          </a:xfrm>
          <a:prstGeom prst="rect">
            <a:avLst/>
          </a:prstGeom>
          <a:noFill/>
        </p:spPr>
        <p:txBody>
          <a:bodyPr wrap="none" lIns="0" rIns="0" tIns="0" bIns="0">
            <a:spAutoFit/>
          </a:bodyPr>
          <a:lstStyle/>
          <a:p>
            <a:r>
              <a:rPr sz="1150" b="0">
                <a:solidFill>
                  <a:srgbClr val="2E2E2E"/>
                </a:solidFill>
                <a:latin typeface="Calibri"/>
              </a:rPr>
              <a:t>sheets, rolls &amp; planks segment is expected to create an incremental opportunity of US$</a:t>
            </a:r>
          </a:p>
        </p:txBody>
      </p:sp>
      <p:pic>
        <p:nvPicPr>
          <p:cNvPr id="34" name="Picture 33" descr="lock.png"/>
          <p:cNvPicPr>
            <a:picLocks noChangeAspect="1"/>
          </p:cNvPicPr>
          <p:nvPr/>
        </p:nvPicPr>
        <p:blipFill>
          <a:blip r:embed="rId6"/>
          <a:stretch>
            <a:fillRect/>
          </a:stretch>
        </p:blipFill>
        <p:spPr>
          <a:xfrm>
            <a:off x="6291470" y="2867419"/>
            <a:ext cx="134549" cy="195707"/>
          </a:xfrm>
          <a:prstGeom prst="rect">
            <a:avLst/>
          </a:prstGeom>
        </p:spPr>
      </p:pic>
      <p:sp>
        <p:nvSpPr>
          <p:cNvPr id="35" name="TextBox 34"/>
          <p:cNvSpPr txBox="1"/>
          <p:nvPr/>
        </p:nvSpPr>
        <p:spPr>
          <a:xfrm>
            <a:off x="6466579" y="2877643"/>
            <a:ext cx="4398937" cy="194310"/>
          </a:xfrm>
          <a:prstGeom prst="rect">
            <a:avLst/>
          </a:prstGeom>
          <a:noFill/>
        </p:spPr>
        <p:txBody>
          <a:bodyPr wrap="none" lIns="0" rIns="0" tIns="0" bIns="0">
            <a:spAutoFit/>
          </a:bodyPr>
          <a:lstStyle/>
          <a:p>
            <a:r>
              <a:rPr sz="1150" b="0">
                <a:solidFill>
                  <a:srgbClr val="2E2E2E"/>
                </a:solidFill>
                <a:latin typeface="Calibri"/>
              </a:rPr>
              <a:t>Mn for the overall foam protective packaging market from 2026 to 2036.</a:t>
            </a:r>
          </a:p>
        </p:txBody>
      </p:sp>
      <p:sp>
        <p:nvSpPr>
          <p:cNvPr id="36"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ockshield_12"/>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Form (US$ Mn)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 2021–2036, highlighting the sub-segments driving growth</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Form (US$ Mn)</a:t>
            </a:r>
          </a:p>
        </p:txBody>
      </p:sp>
      <p:graphicFrame>
        <p:nvGraphicFramePr>
          <p:cNvPr id="9" name="Table 8"/>
          <p:cNvGraphicFramePr>
            <a:graphicFrameLocks noGrp="1"/>
          </p:cNvGraphicFramePr>
          <p:nvPr/>
        </p:nvGraphicFramePr>
        <p:xfrm>
          <a:off x="152400" y="1238250"/>
          <a:ext cx="11887198" cy="3200406"/>
        </p:xfrm>
        <a:graphic>
          <a:graphicData uri="http://schemas.openxmlformats.org/drawingml/2006/table">
            <a:tbl>
              <a:tblPr>
                <a:tableStyleId>{5C22544A-7EE6-4342-B048-85BDC9FD1C3A}</a:tableStyleId>
              </a:tblPr>
              <a:tblGrid>
                <a:gridCol w="2951450"/>
                <a:gridCol w="536757"/>
                <a:gridCol w="536757"/>
                <a:gridCol w="536757"/>
                <a:gridCol w="536757"/>
                <a:gridCol w="536757"/>
                <a:gridCol w="517849"/>
                <a:gridCol w="512447"/>
                <a:gridCol w="512447"/>
                <a:gridCol w="512447"/>
                <a:gridCol w="512447"/>
                <a:gridCol w="512447"/>
                <a:gridCol w="512447"/>
                <a:gridCol w="512447"/>
                <a:gridCol w="512447"/>
                <a:gridCol w="512447"/>
                <a:gridCol w="512447"/>
                <a:gridCol w="609644"/>
              </a:tblGrid>
              <a:tr h="24612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Foam Sheets, Rolls &amp; Planks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Foam Sheets &amp; Rolls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Foam Planks &amp; Blocks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Fabricated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Die-Cut / CNC-Cut Foam Inserts &amp; Pads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Foam Corner &amp; Edge Protectors / Profiles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Foam Dividers &amp; Separators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Molded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Molded Inserts, End Caps &amp; Cradles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Molded Protective Trays &amp; Containers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Foam-in-Place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Direct-Dispensed Foam-in-Place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385033" y="2694815"/>
            <a:ext cx="366712" cy="533400"/>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Product Form (US$ Mn)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Product Form, 2021–2036, highlighting the sub-segments driving growth</a:t>
            </a:r>
          </a:p>
        </p:txBody>
      </p:sp>
      <p:sp>
        <p:nvSpPr>
          <p:cNvPr id="7" name="Rounded Rectangle 6"/>
          <p:cNvSpPr/>
          <p:nvPr/>
        </p:nvSpPr>
        <p:spPr>
          <a:xfrm>
            <a:off x="142875" y="981075"/>
            <a:ext cx="11906250" cy="2190750"/>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Product Form (US$ Mn)</a:t>
            </a:r>
          </a:p>
        </p:txBody>
      </p:sp>
      <p:graphicFrame>
        <p:nvGraphicFramePr>
          <p:cNvPr id="9" name="Table 8"/>
          <p:cNvGraphicFramePr>
            <a:graphicFrameLocks noGrp="1"/>
          </p:cNvGraphicFramePr>
          <p:nvPr/>
        </p:nvGraphicFramePr>
        <p:xfrm>
          <a:off x="152400" y="1238250"/>
          <a:ext cx="11887199" cy="1724028"/>
        </p:xfrm>
        <a:graphic>
          <a:graphicData uri="http://schemas.openxmlformats.org/drawingml/2006/table">
            <a:tbl>
              <a:tblPr>
                <a:tableStyleId>{5C22544A-7EE6-4342-B048-85BDC9FD1C3A}</a:tableStyleId>
              </a:tblPr>
              <a:tblGrid>
                <a:gridCol w="3015955"/>
                <a:gridCol w="532882"/>
                <a:gridCol w="532882"/>
                <a:gridCol w="532882"/>
                <a:gridCol w="532882"/>
                <a:gridCol w="532882"/>
                <a:gridCol w="514111"/>
                <a:gridCol w="508748"/>
                <a:gridCol w="508748"/>
                <a:gridCol w="508748"/>
                <a:gridCol w="508748"/>
                <a:gridCol w="508748"/>
                <a:gridCol w="508748"/>
                <a:gridCol w="508748"/>
                <a:gridCol w="508748"/>
                <a:gridCol w="508748"/>
                <a:gridCol w="508748"/>
                <a:gridCol w="605243"/>
              </a:tblGrid>
              <a:tr h="24612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317">
                <a:tc>
                  <a:txBody>
                    <a:bodyPr wrap="none"/>
                    <a:lstStyle/>
                    <a:p>
                      <a:pPr algn="l"/>
                      <a:r>
                        <a:rPr sz="1100" b="1">
                          <a:solidFill>
                            <a:srgbClr val="2E2E2E"/>
                          </a:solidFill>
                          <a:latin typeface="Calibri"/>
                        </a:rPr>
                        <a:t>– Foam-in-Bag / On-Demand Foam Cushions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Foam Pouches, Bags &amp; Sleeves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Pre-Fabricated Foam Pouches &amp; Bags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Pre-Fabricated Foam Sleeves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Foam Loose-Fill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305175"/>
            <a:ext cx="11906250" cy="3324225"/>
          </a:xfrm>
          <a:prstGeom prst="roundRect">
            <a:avLst>
              <a:gd name="adj" fmla="val 22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Product Form</a:t>
            </a:r>
          </a:p>
        </p:txBody>
      </p:sp>
      <p:sp>
        <p:nvSpPr>
          <p:cNvPr id="13" name="Rectangle 12"/>
          <p:cNvSpPr/>
          <p:nvPr/>
        </p:nvSpPr>
        <p:spPr>
          <a:xfrm>
            <a:off x="276225" y="36290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417287" y="1956627"/>
            <a:ext cx="366712" cy="533400"/>
          </a:xfrm>
          <a:prstGeom prst="rect">
            <a:avLst/>
          </a:prstGeom>
        </p:spPr>
      </p:pic>
      <p:sp>
        <p:nvSpPr>
          <p:cNvPr id="18" name="TextBox 17"/>
          <p:cNvSpPr txBox="1"/>
          <p:nvPr/>
        </p:nvSpPr>
        <p:spPr>
          <a:xfrm>
            <a:off x="276225" y="3724275"/>
            <a:ext cx="3803581" cy="194310"/>
          </a:xfrm>
          <a:prstGeom prst="rect">
            <a:avLst/>
          </a:prstGeom>
          <a:noFill/>
        </p:spPr>
        <p:txBody>
          <a:bodyPr wrap="none" lIns="0" rIns="0" tIns="0" bIns="0">
            <a:spAutoFit/>
          </a:bodyPr>
          <a:lstStyle/>
          <a:p>
            <a:r>
              <a:rPr sz="1150" b="0">
                <a:solidFill>
                  <a:srgbClr val="2E2E2E"/>
                </a:solidFill>
                <a:latin typeface="Calibri"/>
              </a:rPr>
              <a:t>Foam pouches, bags &amp; sleeves segment is projected to register</a:t>
            </a:r>
          </a:p>
        </p:txBody>
      </p:sp>
      <p:pic>
        <p:nvPicPr>
          <p:cNvPr id="19" name="Picture 18" descr="lock.png"/>
          <p:cNvPicPr>
            <a:picLocks noChangeAspect="1"/>
          </p:cNvPicPr>
          <p:nvPr/>
        </p:nvPicPr>
        <p:blipFill>
          <a:blip r:embed="rId4"/>
          <a:stretch>
            <a:fillRect/>
          </a:stretch>
        </p:blipFill>
        <p:spPr>
          <a:xfrm>
            <a:off x="4028960" y="3714051"/>
            <a:ext cx="134549" cy="195707"/>
          </a:xfrm>
          <a:prstGeom prst="rect">
            <a:avLst/>
          </a:prstGeom>
        </p:spPr>
      </p:pic>
      <p:sp>
        <p:nvSpPr>
          <p:cNvPr id="20" name="TextBox 19"/>
          <p:cNvSpPr txBox="1"/>
          <p:nvPr/>
        </p:nvSpPr>
        <p:spPr>
          <a:xfrm>
            <a:off x="4204069" y="3724275"/>
            <a:ext cx="7330492" cy="194310"/>
          </a:xfrm>
          <a:prstGeom prst="rect">
            <a:avLst/>
          </a:prstGeom>
          <a:noFill/>
        </p:spPr>
        <p:txBody>
          <a:bodyPr wrap="none" lIns="0" rIns="0" tIns="0" bIns="0">
            <a:spAutoFit/>
          </a:bodyPr>
          <a:lstStyle/>
          <a:p>
            <a:r>
              <a:rPr sz="1150" b="0">
                <a:solidFill>
                  <a:srgbClr val="2E2E2E"/>
                </a:solidFill>
                <a:latin typeface="Calibri"/>
              </a:rPr>
              <a:t>X higher value than fabricated foam packaging segment in 2036. Among foam protective packaging by product form, foam</a:t>
            </a:r>
          </a:p>
        </p:txBody>
      </p:sp>
      <p:sp>
        <p:nvSpPr>
          <p:cNvPr id="21" name="TextBox 20"/>
          <p:cNvSpPr txBox="1"/>
          <p:nvPr/>
        </p:nvSpPr>
        <p:spPr>
          <a:xfrm>
            <a:off x="276225" y="3899535"/>
            <a:ext cx="4628264" cy="194310"/>
          </a:xfrm>
          <a:prstGeom prst="rect">
            <a:avLst/>
          </a:prstGeom>
          <a:noFill/>
        </p:spPr>
        <p:txBody>
          <a:bodyPr wrap="none" lIns="0" rIns="0" tIns="0" bIns="0">
            <a:spAutoFit/>
          </a:bodyPr>
          <a:lstStyle/>
          <a:p>
            <a:r>
              <a:rPr sz="1150" b="0">
                <a:solidFill>
                  <a:srgbClr val="2E2E2E"/>
                </a:solidFill>
                <a:latin typeface="Calibri"/>
              </a:rPr>
              <a:t>pouches, bags &amp; sleeves segment is expected to witness the highest CAGR of</a:t>
            </a:r>
          </a:p>
        </p:txBody>
      </p:sp>
      <p:pic>
        <p:nvPicPr>
          <p:cNvPr id="22" name="Picture 21" descr="lock.png"/>
          <p:cNvPicPr>
            <a:picLocks noChangeAspect="1"/>
          </p:cNvPicPr>
          <p:nvPr/>
        </p:nvPicPr>
        <p:blipFill>
          <a:blip r:embed="rId4"/>
          <a:stretch>
            <a:fillRect/>
          </a:stretch>
        </p:blipFill>
        <p:spPr>
          <a:xfrm>
            <a:off x="4853642" y="3889311"/>
            <a:ext cx="134549" cy="195707"/>
          </a:xfrm>
          <a:prstGeom prst="rect">
            <a:avLst/>
          </a:prstGeom>
        </p:spPr>
      </p:pic>
      <p:sp>
        <p:nvSpPr>
          <p:cNvPr id="23" name="TextBox 22"/>
          <p:cNvSpPr txBox="1"/>
          <p:nvPr/>
        </p:nvSpPr>
        <p:spPr>
          <a:xfrm>
            <a:off x="5028752"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127372"/>
            <a:ext cx="7721004" cy="194310"/>
          </a:xfrm>
          <a:prstGeom prst="rect">
            <a:avLst/>
          </a:prstGeom>
          <a:noFill/>
        </p:spPr>
        <p:txBody>
          <a:bodyPr wrap="none" lIns="0" rIns="0" tIns="0" bIns="0">
            <a:spAutoFit/>
          </a:bodyPr>
          <a:lstStyle/>
          <a:p>
            <a:r>
              <a:rPr sz="1150" b="0">
                <a:solidFill>
                  <a:srgbClr val="2E2E2E"/>
                </a:solidFill>
                <a:latin typeface="Calibri"/>
              </a:rPr>
              <a:t>In terms of value share by product form, the foam pouches, bags &amp; sleeves segment is expected to dominate the market, gaining</a:t>
            </a:r>
          </a:p>
        </p:txBody>
      </p:sp>
      <p:pic>
        <p:nvPicPr>
          <p:cNvPr id="25" name="Picture 24" descr="lock.png"/>
          <p:cNvPicPr>
            <a:picLocks noChangeAspect="1"/>
          </p:cNvPicPr>
          <p:nvPr/>
        </p:nvPicPr>
        <p:blipFill>
          <a:blip r:embed="rId4"/>
          <a:stretch>
            <a:fillRect/>
          </a:stretch>
        </p:blipFill>
        <p:spPr>
          <a:xfrm>
            <a:off x="7946383" y="4117149"/>
            <a:ext cx="134549" cy="195707"/>
          </a:xfrm>
          <a:prstGeom prst="rect">
            <a:avLst/>
          </a:prstGeom>
        </p:spPr>
      </p:pic>
      <p:sp>
        <p:nvSpPr>
          <p:cNvPr id="26" name="TextBox 25"/>
          <p:cNvSpPr txBox="1"/>
          <p:nvPr/>
        </p:nvSpPr>
        <p:spPr>
          <a:xfrm>
            <a:off x="8121492"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516636" y="4117149"/>
            <a:ext cx="134549" cy="195707"/>
          </a:xfrm>
          <a:prstGeom prst="rect">
            <a:avLst/>
          </a:prstGeom>
        </p:spPr>
      </p:pic>
      <p:sp>
        <p:nvSpPr>
          <p:cNvPr id="28" name="TextBox 27"/>
          <p:cNvSpPr txBox="1"/>
          <p:nvPr/>
        </p:nvSpPr>
        <p:spPr>
          <a:xfrm>
            <a:off x="9691745" y="41273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29" name="TextBox 28"/>
          <p:cNvSpPr txBox="1"/>
          <p:nvPr/>
        </p:nvSpPr>
        <p:spPr>
          <a:xfrm>
            <a:off x="276225" y="4302632"/>
            <a:ext cx="3207432" cy="194310"/>
          </a:xfrm>
          <a:prstGeom prst="rect">
            <a:avLst/>
          </a:prstGeom>
          <a:noFill/>
        </p:spPr>
        <p:txBody>
          <a:bodyPr wrap="none" lIns="0" rIns="0" tIns="0" bIns="0">
            <a:spAutoFit/>
          </a:bodyPr>
          <a:lstStyle/>
          <a:p>
            <a:r>
              <a:rPr sz="1150" b="0">
                <a:solidFill>
                  <a:srgbClr val="2E2E2E"/>
                </a:solidFill>
                <a:latin typeface="Calibri"/>
              </a:rPr>
              <a:t>foam-in-place packaging segment is expected to lose</a:t>
            </a:r>
          </a:p>
        </p:txBody>
      </p:sp>
      <p:pic>
        <p:nvPicPr>
          <p:cNvPr id="30" name="Picture 29" descr="lock.png"/>
          <p:cNvPicPr>
            <a:picLocks noChangeAspect="1"/>
          </p:cNvPicPr>
          <p:nvPr/>
        </p:nvPicPr>
        <p:blipFill>
          <a:blip r:embed="rId4"/>
          <a:stretch>
            <a:fillRect/>
          </a:stretch>
        </p:blipFill>
        <p:spPr>
          <a:xfrm>
            <a:off x="3432811" y="4292409"/>
            <a:ext cx="134549" cy="195707"/>
          </a:xfrm>
          <a:prstGeom prst="rect">
            <a:avLst/>
          </a:prstGeom>
        </p:spPr>
      </p:pic>
      <p:sp>
        <p:nvSpPr>
          <p:cNvPr id="31" name="TextBox 30"/>
          <p:cNvSpPr txBox="1"/>
          <p:nvPr/>
        </p:nvSpPr>
        <p:spPr>
          <a:xfrm>
            <a:off x="3607920"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195424" y="4292409"/>
            <a:ext cx="134549" cy="195707"/>
          </a:xfrm>
          <a:prstGeom prst="rect">
            <a:avLst/>
          </a:prstGeom>
        </p:spPr>
      </p:pic>
      <p:sp>
        <p:nvSpPr>
          <p:cNvPr id="33" name="TextBox 32"/>
          <p:cNvSpPr txBox="1"/>
          <p:nvPr/>
        </p:nvSpPr>
        <p:spPr>
          <a:xfrm>
            <a:off x="6370534"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Product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Product Form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Product Form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827648"/>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82288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466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Molded Foam Packaging</a:t>
            </a:r>
          </a:p>
        </p:txBody>
      </p:sp>
      <p:sp>
        <p:nvSpPr>
          <p:cNvPr id="15" name="BPS Value 1"/>
          <p:cNvSpPr txBox="1"/>
          <p:nvPr/>
        </p:nvSpPr>
        <p:spPr>
          <a:xfrm>
            <a:off x="6896100" y="18085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243909"/>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23914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16294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Loose-Fill Packaging</a:t>
            </a:r>
          </a:p>
        </p:txBody>
      </p:sp>
      <p:sp>
        <p:nvSpPr>
          <p:cNvPr id="19" name="BPS Value 2"/>
          <p:cNvSpPr txBox="1"/>
          <p:nvPr/>
        </p:nvSpPr>
        <p:spPr>
          <a:xfrm>
            <a:off x="6896100" y="222485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2767498"/>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27627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68653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Foam-in-Place Packaging</a:t>
            </a:r>
          </a:p>
        </p:txBody>
      </p:sp>
      <p:sp>
        <p:nvSpPr>
          <p:cNvPr id="23" name="BPS Value 3"/>
          <p:cNvSpPr txBox="1"/>
          <p:nvPr/>
        </p:nvSpPr>
        <p:spPr>
          <a:xfrm>
            <a:off x="6896100" y="27484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928997" y="3357898"/>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335313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327693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Sheets, Rolls &amp; Planks</a:t>
            </a:r>
          </a:p>
        </p:txBody>
      </p:sp>
      <p:sp>
        <p:nvSpPr>
          <p:cNvPr id="27" name="BPS Value 4"/>
          <p:cNvSpPr txBox="1"/>
          <p:nvPr/>
        </p:nvSpPr>
        <p:spPr>
          <a:xfrm>
            <a:off x="6896100" y="333884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4117085"/>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5090922" y="411232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403612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Fabricated Foam Packaging</a:t>
            </a:r>
          </a:p>
        </p:txBody>
      </p:sp>
      <p:sp>
        <p:nvSpPr>
          <p:cNvPr id="31" name="BPS Value 5"/>
          <p:cNvSpPr txBox="1"/>
          <p:nvPr/>
        </p:nvSpPr>
        <p:spPr>
          <a:xfrm>
            <a:off x="6896100" y="409803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TMR Legend Chip"/>
          <p:cNvSpPr/>
          <p:nvPr/>
        </p:nvSpPr>
        <p:spPr>
          <a:xfrm>
            <a:off x="4928997" y="5396615"/>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5090922" y="539185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531565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Pouches, Bags &amp; Sleeves</a:t>
            </a:r>
          </a:p>
        </p:txBody>
      </p:sp>
      <p:sp>
        <p:nvSpPr>
          <p:cNvPr id="35" name="BPS Value 6"/>
          <p:cNvSpPr txBox="1"/>
          <p:nvPr/>
        </p:nvSpPr>
        <p:spPr>
          <a:xfrm>
            <a:off x="6896100" y="537756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Rounded Rectangle 35"/>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Product Form</a:t>
            </a:r>
          </a:p>
        </p:txBody>
      </p:sp>
      <p:sp>
        <p:nvSpPr>
          <p:cNvPr id="38" name="Rectangle 37"/>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0" name="Rectangle 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2" name="Picture 41" descr="lock.png"/>
          <p:cNvPicPr>
            <a:picLocks noChangeAspect="1"/>
          </p:cNvPicPr>
          <p:nvPr/>
        </p:nvPicPr>
        <p:blipFill>
          <a:blip r:embed="rId5"/>
          <a:stretch>
            <a:fillRect/>
          </a:stretch>
        </p:blipFill>
        <p:spPr>
          <a:xfrm>
            <a:off x="2557843" y="3833622"/>
            <a:ext cx="275034" cy="400050"/>
          </a:xfrm>
          <a:prstGeom prst="rect">
            <a:avLst/>
          </a:prstGeom>
        </p:spPr>
      </p:pic>
      <p:sp>
        <p:nvSpPr>
          <p:cNvPr id="43" name="TextBox 42"/>
          <p:cNvSpPr txBox="1"/>
          <p:nvPr/>
        </p:nvSpPr>
        <p:spPr>
          <a:xfrm>
            <a:off x="7829550" y="1400175"/>
            <a:ext cx="4056633" cy="194310"/>
          </a:xfrm>
          <a:prstGeom prst="rect">
            <a:avLst/>
          </a:prstGeom>
          <a:noFill/>
        </p:spPr>
        <p:txBody>
          <a:bodyPr wrap="none" lIns="0" rIns="0" tIns="0" bIns="0">
            <a:spAutoFit/>
          </a:bodyPr>
          <a:lstStyle/>
          <a:p>
            <a:r>
              <a:rPr sz="1150" b="0">
                <a:solidFill>
                  <a:srgbClr val="2E2E2E"/>
                </a:solidFill>
                <a:latin typeface="Calibri"/>
              </a:rPr>
              <a:t>Among foam protective packaging by product form, foam pouches,</a:t>
            </a:r>
          </a:p>
        </p:txBody>
      </p:sp>
      <p:sp>
        <p:nvSpPr>
          <p:cNvPr id="44" name="TextBox 43"/>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bags &amp; sleeves segment is expected to witness the highest CAGR of</a:t>
            </a:r>
          </a:p>
        </p:txBody>
      </p:sp>
      <p:pic>
        <p:nvPicPr>
          <p:cNvPr id="45" name="Picture 44" descr="lock.png"/>
          <p:cNvPicPr>
            <a:picLocks noChangeAspect="1"/>
          </p:cNvPicPr>
          <p:nvPr/>
        </p:nvPicPr>
        <p:blipFill>
          <a:blip r:embed="rId5"/>
          <a:stretch>
            <a:fillRect/>
          </a:stretch>
        </p:blipFill>
        <p:spPr>
          <a:xfrm>
            <a:off x="7815470" y="1740471"/>
            <a:ext cx="134549" cy="195707"/>
          </a:xfrm>
          <a:prstGeom prst="rect">
            <a:avLst/>
          </a:prstGeom>
        </p:spPr>
      </p:pic>
      <p:sp>
        <p:nvSpPr>
          <p:cNvPr id="46" name="TextBox 45"/>
          <p:cNvSpPr txBox="1"/>
          <p:nvPr/>
        </p:nvSpPr>
        <p:spPr>
          <a:xfrm>
            <a:off x="7990579" y="1750695"/>
            <a:ext cx="3620479"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product</a:t>
            </a:r>
          </a:p>
        </p:txBody>
      </p:sp>
      <p:sp>
        <p:nvSpPr>
          <p:cNvPr id="47" name="TextBox 46"/>
          <p:cNvSpPr txBox="1"/>
          <p:nvPr/>
        </p:nvSpPr>
        <p:spPr>
          <a:xfrm>
            <a:off x="7829550" y="1925955"/>
            <a:ext cx="3855243" cy="194310"/>
          </a:xfrm>
          <a:prstGeom prst="rect">
            <a:avLst/>
          </a:prstGeom>
          <a:noFill/>
        </p:spPr>
        <p:txBody>
          <a:bodyPr wrap="none" lIns="0" rIns="0" tIns="0" bIns="0">
            <a:spAutoFit/>
          </a:bodyPr>
          <a:lstStyle/>
          <a:p>
            <a:r>
              <a:rPr sz="1150" b="0">
                <a:solidFill>
                  <a:srgbClr val="2E2E2E"/>
                </a:solidFill>
                <a:latin typeface="Calibri"/>
              </a:rPr>
              <a:t>form, the foam pouches, bags &amp; sleeves segment is expected to</a:t>
            </a:r>
          </a:p>
        </p:txBody>
      </p:sp>
      <p:sp>
        <p:nvSpPr>
          <p:cNvPr id="48" name="TextBox 47"/>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9" name="Picture 48" descr="lock.png"/>
          <p:cNvPicPr>
            <a:picLocks noChangeAspect="1"/>
          </p:cNvPicPr>
          <p:nvPr/>
        </p:nvPicPr>
        <p:blipFill>
          <a:blip r:embed="rId5"/>
          <a:stretch>
            <a:fillRect/>
          </a:stretch>
        </p:blipFill>
        <p:spPr>
          <a:xfrm>
            <a:off x="9615776" y="2090991"/>
            <a:ext cx="134549" cy="195707"/>
          </a:xfrm>
          <a:prstGeom prst="rect">
            <a:avLst/>
          </a:prstGeom>
        </p:spPr>
      </p:pic>
      <p:sp>
        <p:nvSpPr>
          <p:cNvPr id="50" name="TextBox 49"/>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51" name="Picture 50" descr="lock.png"/>
          <p:cNvPicPr>
            <a:picLocks noChangeAspect="1"/>
          </p:cNvPicPr>
          <p:nvPr/>
        </p:nvPicPr>
        <p:blipFill>
          <a:blip r:embed="rId5"/>
          <a:stretch>
            <a:fillRect/>
          </a:stretch>
        </p:blipFill>
        <p:spPr>
          <a:xfrm>
            <a:off x="11186028" y="2090991"/>
            <a:ext cx="134549" cy="195707"/>
          </a:xfrm>
          <a:prstGeom prst="rect">
            <a:avLst/>
          </a:prstGeom>
        </p:spPr>
      </p:pic>
      <p:sp>
        <p:nvSpPr>
          <p:cNvPr id="52" name="TextBox 51"/>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3" name="TextBox 52"/>
          <p:cNvSpPr txBox="1"/>
          <p:nvPr/>
        </p:nvSpPr>
        <p:spPr>
          <a:xfrm>
            <a:off x="7829550" y="2504313"/>
            <a:ext cx="3461308" cy="194310"/>
          </a:xfrm>
          <a:prstGeom prst="rect">
            <a:avLst/>
          </a:prstGeom>
          <a:noFill/>
        </p:spPr>
        <p:txBody>
          <a:bodyPr wrap="none" lIns="0" rIns="0" tIns="0" bIns="0">
            <a:spAutoFit/>
          </a:bodyPr>
          <a:lstStyle/>
          <a:p>
            <a:r>
              <a:rPr sz="1150" b="0">
                <a:solidFill>
                  <a:srgbClr val="2E2E2E"/>
                </a:solidFill>
                <a:latin typeface="Calibri"/>
              </a:rPr>
              <a:t>The foam-in-place packaging segment is expected to lose</a:t>
            </a:r>
          </a:p>
        </p:txBody>
      </p:sp>
      <p:pic>
        <p:nvPicPr>
          <p:cNvPr id="54" name="Picture 53" descr="lock.png"/>
          <p:cNvPicPr>
            <a:picLocks noChangeAspect="1"/>
          </p:cNvPicPr>
          <p:nvPr/>
        </p:nvPicPr>
        <p:blipFill>
          <a:blip r:embed="rId5"/>
          <a:stretch>
            <a:fillRect/>
          </a:stretch>
        </p:blipFill>
        <p:spPr>
          <a:xfrm>
            <a:off x="11240012" y="2494089"/>
            <a:ext cx="134549" cy="195707"/>
          </a:xfrm>
          <a:prstGeom prst="rect">
            <a:avLst/>
          </a:prstGeom>
        </p:spPr>
      </p:pic>
      <p:sp>
        <p:nvSpPr>
          <p:cNvPr id="55" name="TextBox 54"/>
          <p:cNvSpPr txBox="1"/>
          <p:nvPr/>
        </p:nvSpPr>
        <p:spPr>
          <a:xfrm>
            <a:off x="11415121" y="250431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56" name="TextBox 55"/>
          <p:cNvSpPr txBox="1"/>
          <p:nvPr/>
        </p:nvSpPr>
        <p:spPr>
          <a:xfrm>
            <a:off x="7829550" y="267957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57" name="Picture 56" descr="lock.png"/>
          <p:cNvPicPr>
            <a:picLocks noChangeAspect="1"/>
          </p:cNvPicPr>
          <p:nvPr/>
        </p:nvPicPr>
        <p:blipFill>
          <a:blip r:embed="rId5"/>
          <a:stretch>
            <a:fillRect/>
          </a:stretch>
        </p:blipFill>
        <p:spPr>
          <a:xfrm>
            <a:off x="10161752" y="2669349"/>
            <a:ext cx="134549" cy="195707"/>
          </a:xfrm>
          <a:prstGeom prst="rect">
            <a:avLst/>
          </a:prstGeom>
        </p:spPr>
      </p:pic>
      <p:sp>
        <p:nvSpPr>
          <p:cNvPr id="58" name="TextBox 57"/>
          <p:cNvSpPr txBox="1"/>
          <p:nvPr/>
        </p:nvSpPr>
        <p:spPr>
          <a:xfrm>
            <a:off x="10336861"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9"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End-use Industry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End-use Industry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Industry Segment Outlook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End-use Industry,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Industry segment categorizes the market by end-use industry.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Consumer Goods &amp; Home Products</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Healthcare &amp; Pharmaceuticals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Automotive</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Machinery &amp; Equipment</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End-use Industry split shows how demand is distributed across end-use industry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830_0_605E5C.png"/>
          <p:cNvPicPr>
            <a:picLocks noChangeAspect="1"/>
          </p:cNvPicPr>
          <p:nvPr/>
        </p:nvPicPr>
        <p:blipFill>
          <a:blip r:embed="rId4"/>
          <a:stretch>
            <a:fillRect/>
          </a:stretch>
        </p:blipFill>
        <p:spPr>
          <a:xfrm>
            <a:off x="2476330" y="2286582"/>
            <a:ext cx="1195728" cy="361950"/>
          </a:xfrm>
          <a:prstGeom prst="rect">
            <a:avLst/>
          </a:prstGeom>
        </p:spPr>
      </p:pic>
      <p:pic>
        <p:nvPicPr>
          <p:cNvPr id="62" name="Picture 61" descr="1_375_605E5C.png"/>
          <p:cNvPicPr>
            <a:picLocks noChangeAspect="1"/>
          </p:cNvPicPr>
          <p:nvPr/>
        </p:nvPicPr>
        <p:blipFill>
          <a:blip r:embed="rId5"/>
          <a:stretch>
            <a:fillRect/>
          </a:stretch>
        </p:blipFill>
        <p:spPr>
          <a:xfrm>
            <a:off x="2476330" y="2779432"/>
            <a:ext cx="1195728" cy="361950"/>
          </a:xfrm>
          <a:prstGeom prst="rect">
            <a:avLst/>
          </a:prstGeom>
        </p:spPr>
      </p:pic>
      <p:pic>
        <p:nvPicPr>
          <p:cNvPr id="63" name="Picture 62" descr="5_2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662_0_605E5C.png"/>
          <p:cNvPicPr>
            <a:picLocks noChangeAspect="1"/>
          </p:cNvPicPr>
          <p:nvPr/>
        </p:nvPicPr>
        <p:blipFill>
          <a:blip r:embed="rId7"/>
          <a:stretch>
            <a:fillRect/>
          </a:stretch>
        </p:blipFill>
        <p:spPr>
          <a:xfrm>
            <a:off x="5005218" y="2286582"/>
            <a:ext cx="1195728" cy="361950"/>
          </a:xfrm>
          <a:prstGeom prst="rect">
            <a:avLst/>
          </a:prstGeom>
        </p:spPr>
      </p:pic>
      <p:pic>
        <p:nvPicPr>
          <p:cNvPr id="65" name="Picture 64" descr="831_0_605E5C.png"/>
          <p:cNvPicPr>
            <a:picLocks noChangeAspect="1"/>
          </p:cNvPicPr>
          <p:nvPr/>
        </p:nvPicPr>
        <p:blipFill>
          <a:blip r:embed="rId8"/>
          <a:stretch>
            <a:fillRect/>
          </a:stretch>
        </p:blipFill>
        <p:spPr>
          <a:xfrm>
            <a:off x="5005218" y="2779432"/>
            <a:ext cx="1195728" cy="361950"/>
          </a:xfrm>
          <a:prstGeom prst="rect">
            <a:avLst/>
          </a:prstGeom>
        </p:spPr>
      </p:pic>
      <p:pic>
        <p:nvPicPr>
          <p:cNvPr id="66" name="Picture 65" descr="2_3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478_5_605E5C.png"/>
          <p:cNvPicPr>
            <a:picLocks noChangeAspect="1"/>
          </p:cNvPicPr>
          <p:nvPr/>
        </p:nvPicPr>
        <p:blipFill>
          <a:blip r:embed="rId10"/>
          <a:stretch>
            <a:fillRect/>
          </a:stretch>
        </p:blipFill>
        <p:spPr>
          <a:xfrm>
            <a:off x="7534105" y="2286582"/>
            <a:ext cx="1195728" cy="361950"/>
          </a:xfrm>
          <a:prstGeom prst="rect">
            <a:avLst/>
          </a:prstGeom>
        </p:spPr>
      </p:pic>
      <p:pic>
        <p:nvPicPr>
          <p:cNvPr id="68" name="Picture 67" descr="692_7_605E5C.png"/>
          <p:cNvPicPr>
            <a:picLocks noChangeAspect="1"/>
          </p:cNvPicPr>
          <p:nvPr/>
        </p:nvPicPr>
        <p:blipFill>
          <a:blip r:embed="rId11"/>
          <a:stretch>
            <a:fillRect/>
          </a:stretch>
        </p:blipFill>
        <p:spPr>
          <a:xfrm>
            <a:off x="7534105" y="2779432"/>
            <a:ext cx="1195728" cy="361950"/>
          </a:xfrm>
          <a:prstGeom prst="rect">
            <a:avLst/>
          </a:prstGeom>
        </p:spPr>
      </p:pic>
      <p:pic>
        <p:nvPicPr>
          <p:cNvPr id="69" name="Picture 68" descr="3_8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445_6_605E5C.png"/>
          <p:cNvPicPr>
            <a:picLocks noChangeAspect="1"/>
          </p:cNvPicPr>
          <p:nvPr/>
        </p:nvPicPr>
        <p:blipFill>
          <a:blip r:embed="rId13"/>
          <a:stretch>
            <a:fillRect/>
          </a:stretch>
        </p:blipFill>
        <p:spPr>
          <a:xfrm>
            <a:off x="10062992" y="2286582"/>
            <a:ext cx="1195728" cy="361950"/>
          </a:xfrm>
          <a:prstGeom prst="rect">
            <a:avLst/>
          </a:prstGeom>
        </p:spPr>
      </p:pic>
      <p:pic>
        <p:nvPicPr>
          <p:cNvPr id="71" name="Picture 70" descr="561_4_605E5C.png"/>
          <p:cNvPicPr>
            <a:picLocks noChangeAspect="1"/>
          </p:cNvPicPr>
          <p:nvPr/>
        </p:nvPicPr>
        <p:blipFill>
          <a:blip r:embed="rId14"/>
          <a:stretch>
            <a:fillRect/>
          </a:stretch>
        </p:blipFill>
        <p:spPr>
          <a:xfrm>
            <a:off x="10062992" y="2779432"/>
            <a:ext cx="1195728" cy="361950"/>
          </a:xfrm>
          <a:prstGeom prst="rect">
            <a:avLst/>
          </a:prstGeom>
        </p:spPr>
      </p:pic>
      <p:pic>
        <p:nvPicPr>
          <p:cNvPr id="72" name="Picture 71" descr="2_3__605E5C.png"/>
          <p:cNvPicPr>
            <a:picLocks noChangeAspect="1"/>
          </p:cNvPicPr>
          <p:nvPr/>
        </p:nvPicPr>
        <p:blipFill>
          <a:blip r:embed="rId9"/>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5"/>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5"/>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5"/>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5"/>
          <a:stretch>
            <a:fillRect/>
          </a:stretch>
        </p:blipFill>
        <p:spPr>
          <a:xfrm>
            <a:off x="10567511" y="2827057"/>
            <a:ext cx="183356" cy="266700"/>
          </a:xfrm>
          <a:prstGeom prst="rect">
            <a:avLst/>
          </a:prstGeom>
        </p:spPr>
      </p:pic>
      <p:sp>
        <p:nvSpPr>
          <p:cNvPr id="77" name="TextBox 76"/>
          <p:cNvSpPr txBox="1"/>
          <p:nvPr/>
        </p:nvSpPr>
        <p:spPr>
          <a:xfrm>
            <a:off x="485775" y="4229437"/>
            <a:ext cx="2678112" cy="186689"/>
          </a:xfrm>
          <a:prstGeom prst="rect">
            <a:avLst/>
          </a:prstGeom>
          <a:noFill/>
        </p:spPr>
        <p:txBody>
          <a:bodyPr wrap="none" lIns="0" rIns="0" tIns="0" bIns="0">
            <a:spAutoFit/>
          </a:bodyPr>
          <a:lstStyle/>
          <a:p>
            <a:r>
              <a:rPr sz="1100" b="0">
                <a:solidFill>
                  <a:srgbClr val="2E2E2E"/>
                </a:solidFill>
                <a:latin typeface="Calibri"/>
              </a:rPr>
              <a:t>Among foam protective packaging by end-use</a:t>
            </a:r>
          </a:p>
        </p:txBody>
      </p:sp>
      <p:sp>
        <p:nvSpPr>
          <p:cNvPr id="78" name="TextBox 77"/>
          <p:cNvSpPr txBox="1"/>
          <p:nvPr/>
        </p:nvSpPr>
        <p:spPr>
          <a:xfrm>
            <a:off x="485775" y="4397077"/>
            <a:ext cx="2786161" cy="186689"/>
          </a:xfrm>
          <a:prstGeom prst="rect">
            <a:avLst/>
          </a:prstGeom>
          <a:noFill/>
        </p:spPr>
        <p:txBody>
          <a:bodyPr wrap="none" lIns="0" rIns="0" tIns="0" bIns="0">
            <a:spAutoFit/>
          </a:bodyPr>
          <a:lstStyle/>
          <a:p>
            <a:r>
              <a:rPr sz="1100" b="0">
                <a:solidFill>
                  <a:srgbClr val="2E2E2E"/>
                </a:solidFill>
                <a:latin typeface="Calibri"/>
              </a:rPr>
              <a:t>industry, others segment is expected to witness</a:t>
            </a:r>
          </a:p>
        </p:txBody>
      </p:sp>
      <p:sp>
        <p:nvSpPr>
          <p:cNvPr id="79" name="TextBox 78"/>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80" name="Picture 79" descr="lock.png"/>
          <p:cNvPicPr>
            <a:picLocks noChangeAspect="1"/>
          </p:cNvPicPr>
          <p:nvPr/>
        </p:nvPicPr>
        <p:blipFill>
          <a:blip r:embed="rId15"/>
          <a:stretch>
            <a:fillRect/>
          </a:stretch>
        </p:blipFill>
        <p:spPr>
          <a:xfrm>
            <a:off x="1646163" y="4554938"/>
            <a:ext cx="128699" cy="187198"/>
          </a:xfrm>
          <a:prstGeom prst="rect">
            <a:avLst/>
          </a:prstGeom>
        </p:spPr>
      </p:pic>
      <p:sp>
        <p:nvSpPr>
          <p:cNvPr id="81" name="TextBox 80"/>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82" name="TextBox 81"/>
          <p:cNvSpPr txBox="1"/>
          <p:nvPr/>
        </p:nvSpPr>
        <p:spPr>
          <a:xfrm>
            <a:off x="485775" y="4732357"/>
            <a:ext cx="2788344" cy="186689"/>
          </a:xfrm>
          <a:prstGeom prst="rect">
            <a:avLst/>
          </a:prstGeom>
          <a:noFill/>
        </p:spPr>
        <p:txBody>
          <a:bodyPr wrap="none" lIns="0" rIns="0" tIns="0" bIns="0">
            <a:spAutoFit/>
          </a:bodyPr>
          <a:lstStyle/>
          <a:p>
            <a:r>
              <a:rPr sz="1100" b="0">
                <a:solidFill>
                  <a:srgbClr val="2E2E2E"/>
                </a:solidFill>
                <a:latin typeface="Calibri"/>
              </a:rPr>
              <a:t>In terms of value share by end-use industry, the</a:t>
            </a:r>
          </a:p>
        </p:txBody>
      </p:sp>
      <p:sp>
        <p:nvSpPr>
          <p:cNvPr id="83" name="TextBox 82"/>
          <p:cNvSpPr txBox="1"/>
          <p:nvPr/>
        </p:nvSpPr>
        <p:spPr>
          <a:xfrm>
            <a:off x="485775" y="4899997"/>
            <a:ext cx="2676475" cy="186689"/>
          </a:xfrm>
          <a:prstGeom prst="rect">
            <a:avLst/>
          </a:prstGeom>
          <a:noFill/>
        </p:spPr>
        <p:txBody>
          <a:bodyPr wrap="none" lIns="0" rIns="0" tIns="0" bIns="0">
            <a:spAutoFit/>
          </a:bodyPr>
          <a:lstStyle/>
          <a:p>
            <a:r>
              <a:rPr sz="1100" b="0">
                <a:solidFill>
                  <a:srgbClr val="2E2E2E"/>
                </a:solidFill>
                <a:latin typeface="Calibri"/>
              </a:rPr>
              <a:t>consumer goods &amp; home products segment is</a:t>
            </a:r>
          </a:p>
        </p:txBody>
      </p:sp>
      <p:sp>
        <p:nvSpPr>
          <p:cNvPr id="84" name="TextBox 83"/>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5" name="Picture 84" descr="lock.png"/>
          <p:cNvPicPr>
            <a:picLocks noChangeAspect="1"/>
          </p:cNvPicPr>
          <p:nvPr/>
        </p:nvPicPr>
        <p:blipFill>
          <a:blip r:embed="rId15"/>
          <a:stretch>
            <a:fillRect/>
          </a:stretch>
        </p:blipFill>
        <p:spPr>
          <a:xfrm>
            <a:off x="2900479" y="5057858"/>
            <a:ext cx="128699" cy="187198"/>
          </a:xfrm>
          <a:prstGeom prst="rect">
            <a:avLst/>
          </a:prstGeom>
        </p:spPr>
      </p:pic>
      <p:sp>
        <p:nvSpPr>
          <p:cNvPr id="86" name="TextBox 85"/>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7" name="TextBox 86"/>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8" name="Picture 87" descr="lock.png"/>
          <p:cNvPicPr>
            <a:picLocks noChangeAspect="1"/>
          </p:cNvPicPr>
          <p:nvPr/>
        </p:nvPicPr>
        <p:blipFill>
          <a:blip r:embed="rId15"/>
          <a:stretch>
            <a:fillRect/>
          </a:stretch>
        </p:blipFill>
        <p:spPr>
          <a:xfrm>
            <a:off x="1576057" y="5225498"/>
            <a:ext cx="128699" cy="187198"/>
          </a:xfrm>
          <a:prstGeom prst="rect">
            <a:avLst/>
          </a:prstGeom>
        </p:spPr>
      </p:pic>
      <p:sp>
        <p:nvSpPr>
          <p:cNvPr id="89" name="TextBox 88"/>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453209"/>
            <a:ext cx="2691755" cy="186689"/>
          </a:xfrm>
          <a:prstGeom prst="rect">
            <a:avLst/>
          </a:prstGeom>
          <a:noFill/>
        </p:spPr>
        <p:txBody>
          <a:bodyPr wrap="none" lIns="0" rIns="0" tIns="0" bIns="0">
            <a:spAutoFit/>
          </a:bodyPr>
          <a:lstStyle/>
          <a:p>
            <a:r>
              <a:rPr sz="1100" b="0">
                <a:solidFill>
                  <a:srgbClr val="2E2E2E"/>
                </a:solidFill>
                <a:latin typeface="Calibri"/>
              </a:rPr>
              <a:t>Consumer goods &amp; home products segment is</a:t>
            </a:r>
          </a:p>
        </p:txBody>
      </p:sp>
      <p:sp>
        <p:nvSpPr>
          <p:cNvPr id="91" name="TextBox 90"/>
          <p:cNvSpPr txBox="1"/>
          <p:nvPr/>
        </p:nvSpPr>
        <p:spPr>
          <a:xfrm>
            <a:off x="485775" y="562084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92" name="Picture 91" descr="lock.png"/>
          <p:cNvPicPr>
            <a:picLocks noChangeAspect="1"/>
          </p:cNvPicPr>
          <p:nvPr/>
        </p:nvPicPr>
        <p:blipFill>
          <a:blip r:embed="rId15"/>
          <a:stretch>
            <a:fillRect/>
          </a:stretch>
        </p:blipFill>
        <p:spPr>
          <a:xfrm>
            <a:off x="1678376" y="5611070"/>
            <a:ext cx="128699" cy="187198"/>
          </a:xfrm>
          <a:prstGeom prst="rect">
            <a:avLst/>
          </a:prstGeom>
        </p:spPr>
      </p:pic>
      <p:sp>
        <p:nvSpPr>
          <p:cNvPr id="93" name="TextBox 92"/>
          <p:cNvSpPr txBox="1"/>
          <p:nvPr/>
        </p:nvSpPr>
        <p:spPr>
          <a:xfrm>
            <a:off x="1845872" y="562084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94" name="TextBox 93"/>
          <p:cNvSpPr txBox="1"/>
          <p:nvPr/>
        </p:nvSpPr>
        <p:spPr>
          <a:xfrm>
            <a:off x="485775" y="5788489"/>
            <a:ext cx="2787525" cy="186689"/>
          </a:xfrm>
          <a:prstGeom prst="rect">
            <a:avLst/>
          </a:prstGeom>
          <a:noFill/>
        </p:spPr>
        <p:txBody>
          <a:bodyPr wrap="none" lIns="0" rIns="0" tIns="0" bIns="0">
            <a:spAutoFit/>
          </a:bodyPr>
          <a:lstStyle/>
          <a:p>
            <a:r>
              <a:rPr sz="1100" b="0">
                <a:solidFill>
                  <a:srgbClr val="2E2E2E"/>
                </a:solidFill>
                <a:latin typeface="Calibri"/>
              </a:rPr>
              <a:t>healthcare &amp; pharmaceuticals segment in 2036.</a:t>
            </a:r>
          </a:p>
        </p:txBody>
      </p:sp>
      <p:sp>
        <p:nvSpPr>
          <p:cNvPr id="95" name="TextBox 94"/>
          <p:cNvSpPr txBox="1"/>
          <p:nvPr/>
        </p:nvSpPr>
        <p:spPr>
          <a:xfrm>
            <a:off x="3838575" y="4229437"/>
            <a:ext cx="2238548" cy="186689"/>
          </a:xfrm>
          <a:prstGeom prst="rect">
            <a:avLst/>
          </a:prstGeom>
          <a:noFill/>
        </p:spPr>
        <p:txBody>
          <a:bodyPr wrap="none" lIns="0" rIns="0" tIns="0" bIns="0">
            <a:spAutoFit/>
          </a:bodyPr>
          <a:lstStyle/>
          <a:p>
            <a:r>
              <a:rPr sz="1100" b="0">
                <a:solidFill>
                  <a:srgbClr val="2E2E2E"/>
                </a:solidFill>
                <a:latin typeface="Calibri"/>
              </a:rPr>
              <a:t>● Consumer Goods &amp; Home Products:</a:t>
            </a:r>
          </a:p>
        </p:txBody>
      </p:sp>
      <p:pic>
        <p:nvPicPr>
          <p:cNvPr id="96" name="Picture 95" descr="lock.png"/>
          <p:cNvPicPr>
            <a:picLocks noChangeAspect="1"/>
          </p:cNvPicPr>
          <p:nvPr/>
        </p:nvPicPr>
        <p:blipFill>
          <a:blip r:embed="rId15"/>
          <a:stretch>
            <a:fillRect/>
          </a:stretch>
        </p:blipFill>
        <p:spPr>
          <a:xfrm>
            <a:off x="6025175" y="4219658"/>
            <a:ext cx="128699" cy="187198"/>
          </a:xfrm>
          <a:prstGeom prst="rect">
            <a:avLst/>
          </a:prstGeom>
        </p:spPr>
      </p:pic>
      <p:sp>
        <p:nvSpPr>
          <p:cNvPr id="97" name="TextBox 96"/>
          <p:cNvSpPr txBox="1"/>
          <p:nvPr/>
        </p:nvSpPr>
        <p:spPr>
          <a:xfrm>
            <a:off x="619267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5"/>
          <a:stretch>
            <a:fillRect/>
          </a:stretch>
        </p:blipFill>
        <p:spPr>
          <a:xfrm>
            <a:off x="7052121" y="4219658"/>
            <a:ext cx="128699" cy="187198"/>
          </a:xfrm>
          <a:prstGeom prst="rect">
            <a:avLst/>
          </a:prstGeom>
        </p:spPr>
      </p:pic>
      <p:sp>
        <p:nvSpPr>
          <p:cNvPr id="99" name="TextBox 98"/>
          <p:cNvSpPr txBox="1"/>
          <p:nvPr/>
        </p:nvSpPr>
        <p:spPr>
          <a:xfrm>
            <a:off x="7219617"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00" name="TextBox 99"/>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101" name="TextBox 100"/>
          <p:cNvSpPr txBox="1"/>
          <p:nvPr/>
        </p:nvSpPr>
        <p:spPr>
          <a:xfrm>
            <a:off x="3838575" y="4615009"/>
            <a:ext cx="1942504" cy="186689"/>
          </a:xfrm>
          <a:prstGeom prst="rect">
            <a:avLst/>
          </a:prstGeom>
          <a:noFill/>
        </p:spPr>
        <p:txBody>
          <a:bodyPr wrap="none" lIns="0" rIns="0" tIns="0" bIns="0">
            <a:spAutoFit/>
          </a:bodyPr>
          <a:lstStyle/>
          <a:p>
            <a:r>
              <a:rPr sz="1100" b="0">
                <a:solidFill>
                  <a:srgbClr val="2E2E2E"/>
                </a:solidFill>
                <a:latin typeface="Calibri"/>
              </a:rPr>
              <a:t>● Healthcare &amp; Pharmaceuticals:</a:t>
            </a:r>
          </a:p>
        </p:txBody>
      </p:sp>
      <p:pic>
        <p:nvPicPr>
          <p:cNvPr id="102" name="Picture 101" descr="lock.png"/>
          <p:cNvPicPr>
            <a:picLocks noChangeAspect="1"/>
          </p:cNvPicPr>
          <p:nvPr/>
        </p:nvPicPr>
        <p:blipFill>
          <a:blip r:embed="rId15"/>
          <a:stretch>
            <a:fillRect/>
          </a:stretch>
        </p:blipFill>
        <p:spPr>
          <a:xfrm>
            <a:off x="5729131" y="4605230"/>
            <a:ext cx="128699" cy="187198"/>
          </a:xfrm>
          <a:prstGeom prst="rect">
            <a:avLst/>
          </a:prstGeom>
        </p:spPr>
      </p:pic>
      <p:sp>
        <p:nvSpPr>
          <p:cNvPr id="103" name="TextBox 102"/>
          <p:cNvSpPr txBox="1"/>
          <p:nvPr/>
        </p:nvSpPr>
        <p:spPr>
          <a:xfrm>
            <a:off x="589662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5"/>
          <a:stretch>
            <a:fillRect/>
          </a:stretch>
        </p:blipFill>
        <p:spPr>
          <a:xfrm>
            <a:off x="6756077" y="4605230"/>
            <a:ext cx="128699" cy="187198"/>
          </a:xfrm>
          <a:prstGeom prst="rect">
            <a:avLst/>
          </a:prstGeom>
        </p:spPr>
      </p:pic>
      <p:sp>
        <p:nvSpPr>
          <p:cNvPr id="105" name="TextBox 104"/>
          <p:cNvSpPr txBox="1"/>
          <p:nvPr/>
        </p:nvSpPr>
        <p:spPr>
          <a:xfrm>
            <a:off x="6923573"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6" name="TextBox 105"/>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07" name="TextBox 106"/>
          <p:cNvSpPr txBox="1"/>
          <p:nvPr/>
        </p:nvSpPr>
        <p:spPr>
          <a:xfrm>
            <a:off x="3838575" y="5000581"/>
            <a:ext cx="901303" cy="186689"/>
          </a:xfrm>
          <a:prstGeom prst="rect">
            <a:avLst/>
          </a:prstGeom>
          <a:noFill/>
        </p:spPr>
        <p:txBody>
          <a:bodyPr wrap="none" lIns="0" rIns="0" tIns="0" bIns="0">
            <a:spAutoFit/>
          </a:bodyPr>
          <a:lstStyle/>
          <a:p>
            <a:r>
              <a:rPr sz="1100" b="0">
                <a:solidFill>
                  <a:srgbClr val="2E2E2E"/>
                </a:solidFill>
                <a:latin typeface="Calibri"/>
              </a:rPr>
              <a:t>● Automotive:</a:t>
            </a:r>
          </a:p>
        </p:txBody>
      </p:sp>
      <p:pic>
        <p:nvPicPr>
          <p:cNvPr id="108" name="Picture 107" descr="lock.png"/>
          <p:cNvPicPr>
            <a:picLocks noChangeAspect="1"/>
          </p:cNvPicPr>
          <p:nvPr/>
        </p:nvPicPr>
        <p:blipFill>
          <a:blip r:embed="rId15"/>
          <a:stretch>
            <a:fillRect/>
          </a:stretch>
        </p:blipFill>
        <p:spPr>
          <a:xfrm>
            <a:off x="4687929" y="4990801"/>
            <a:ext cx="128699" cy="187198"/>
          </a:xfrm>
          <a:prstGeom prst="rect">
            <a:avLst/>
          </a:prstGeom>
        </p:spPr>
      </p:pic>
      <p:sp>
        <p:nvSpPr>
          <p:cNvPr id="109" name="TextBox 108"/>
          <p:cNvSpPr txBox="1"/>
          <p:nvPr/>
        </p:nvSpPr>
        <p:spPr>
          <a:xfrm>
            <a:off x="4855425"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5"/>
          <a:stretch>
            <a:fillRect/>
          </a:stretch>
        </p:blipFill>
        <p:spPr>
          <a:xfrm>
            <a:off x="5714875" y="4990801"/>
            <a:ext cx="128699" cy="187198"/>
          </a:xfrm>
          <a:prstGeom prst="rect">
            <a:avLst/>
          </a:prstGeom>
        </p:spPr>
      </p:pic>
      <p:sp>
        <p:nvSpPr>
          <p:cNvPr id="111" name="TextBox 110"/>
          <p:cNvSpPr txBox="1"/>
          <p:nvPr/>
        </p:nvSpPr>
        <p:spPr>
          <a:xfrm>
            <a:off x="5882371"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2" name="TextBox 111"/>
          <p:cNvSpPr txBox="1"/>
          <p:nvPr/>
        </p:nvSpPr>
        <p:spPr>
          <a:xfrm>
            <a:off x="3838575" y="5218513"/>
            <a:ext cx="2185039" cy="186689"/>
          </a:xfrm>
          <a:prstGeom prst="rect">
            <a:avLst/>
          </a:prstGeom>
          <a:noFill/>
        </p:spPr>
        <p:txBody>
          <a:bodyPr wrap="none" lIns="0" rIns="0" tIns="0" bIns="0">
            <a:spAutoFit/>
          </a:bodyPr>
          <a:lstStyle/>
          <a:p>
            <a:r>
              <a:rPr sz="1100" b="0">
                <a:solidFill>
                  <a:srgbClr val="2E2E2E"/>
                </a:solidFill>
                <a:latin typeface="Calibri"/>
              </a:rPr>
              <a:t>● Industrial Machinery &amp; Equipment:</a:t>
            </a:r>
          </a:p>
        </p:txBody>
      </p:sp>
      <p:pic>
        <p:nvPicPr>
          <p:cNvPr id="113" name="Picture 112" descr="lock.png"/>
          <p:cNvPicPr>
            <a:picLocks noChangeAspect="1"/>
          </p:cNvPicPr>
          <p:nvPr/>
        </p:nvPicPr>
        <p:blipFill>
          <a:blip r:embed="rId15"/>
          <a:stretch>
            <a:fillRect/>
          </a:stretch>
        </p:blipFill>
        <p:spPr>
          <a:xfrm>
            <a:off x="5971666" y="5208733"/>
            <a:ext cx="128699" cy="187198"/>
          </a:xfrm>
          <a:prstGeom prst="rect">
            <a:avLst/>
          </a:prstGeom>
        </p:spPr>
      </p:pic>
      <p:sp>
        <p:nvSpPr>
          <p:cNvPr id="114" name="TextBox 113"/>
          <p:cNvSpPr txBox="1"/>
          <p:nvPr/>
        </p:nvSpPr>
        <p:spPr>
          <a:xfrm>
            <a:off x="6139162"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5" name="Picture 114" descr="lock.png"/>
          <p:cNvPicPr>
            <a:picLocks noChangeAspect="1"/>
          </p:cNvPicPr>
          <p:nvPr/>
        </p:nvPicPr>
        <p:blipFill>
          <a:blip r:embed="rId15"/>
          <a:stretch>
            <a:fillRect/>
          </a:stretch>
        </p:blipFill>
        <p:spPr>
          <a:xfrm>
            <a:off x="6998612" y="5208733"/>
            <a:ext cx="128699" cy="187198"/>
          </a:xfrm>
          <a:prstGeom prst="rect">
            <a:avLst/>
          </a:prstGeom>
        </p:spPr>
      </p:pic>
      <p:sp>
        <p:nvSpPr>
          <p:cNvPr id="116" name="TextBox 115"/>
          <p:cNvSpPr txBox="1"/>
          <p:nvPr/>
        </p:nvSpPr>
        <p:spPr>
          <a:xfrm>
            <a:off x="7166108" y="5218513"/>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7" name="TextBox 116"/>
          <p:cNvSpPr txBox="1"/>
          <p:nvPr/>
        </p:nvSpPr>
        <p:spPr>
          <a:xfrm>
            <a:off x="3838575" y="538615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8" name="TextBox 117"/>
          <p:cNvSpPr txBox="1"/>
          <p:nvPr/>
        </p:nvSpPr>
        <p:spPr>
          <a:xfrm>
            <a:off x="8524875" y="5842641"/>
            <a:ext cx="3158653" cy="194310"/>
          </a:xfrm>
          <a:prstGeom prst="rect">
            <a:avLst/>
          </a:prstGeom>
          <a:noFill/>
        </p:spPr>
        <p:txBody>
          <a:bodyPr wrap="none" lIns="0" rIns="0" tIns="0" bIns="0">
            <a:spAutoFit/>
          </a:bodyPr>
          <a:lstStyle/>
          <a:p>
            <a:r>
              <a:rPr sz="1150" b="1">
                <a:solidFill>
                  <a:srgbClr val="0B2E4A"/>
                </a:solidFill>
                <a:latin typeface="Calibri"/>
              </a:rPr>
              <a:t>The End-use Industry segment is projected to grow</a:t>
            </a:r>
          </a:p>
        </p:txBody>
      </p:sp>
      <p:sp>
        <p:nvSpPr>
          <p:cNvPr id="119" name="TextBox 118"/>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20" name="Picture 119" descr="lock.png"/>
          <p:cNvPicPr>
            <a:picLocks noChangeAspect="1"/>
          </p:cNvPicPr>
          <p:nvPr/>
        </p:nvPicPr>
        <p:blipFill>
          <a:blip r:embed="rId15"/>
          <a:stretch>
            <a:fillRect/>
          </a:stretch>
        </p:blipFill>
        <p:spPr>
          <a:xfrm>
            <a:off x="9310118" y="6007677"/>
            <a:ext cx="134549" cy="195707"/>
          </a:xfrm>
          <a:prstGeom prst="rect">
            <a:avLst/>
          </a:prstGeom>
        </p:spPr>
      </p:pic>
      <p:sp>
        <p:nvSpPr>
          <p:cNvPr id="121" name="TextBox 120"/>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End-use Industry Segment Outlook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8 sub-segments of End-use Industry,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End-use Industry segment categorizes the market by end-use industry.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Electronics &amp; Electrical</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22" name="Oval 21"/>
          <p:cNvSpPr/>
          <p:nvPr/>
        </p:nvSpPr>
        <p:spPr>
          <a:xfrm>
            <a:off x="291226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23" name="Rounded Rectangle 22"/>
          <p:cNvSpPr/>
          <p:nvPr/>
        </p:nvSpPr>
        <p:spPr>
          <a:xfrm>
            <a:off x="4395788" y="1773916"/>
            <a:ext cx="2414588"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Food &amp; Beverage</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29" name="Oval 28"/>
          <p:cNvSpPr/>
          <p:nvPr/>
        </p:nvSpPr>
        <p:spPr>
          <a:xfrm>
            <a:off x="5441156"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30" name="Rounded Rectangle 29"/>
          <p:cNvSpPr/>
          <p:nvPr/>
        </p:nvSpPr>
        <p:spPr>
          <a:xfrm>
            <a:off x="6924675" y="1773916"/>
            <a:ext cx="2414588"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Others</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36" name="Oval 35"/>
          <p:cNvSpPr/>
          <p:nvPr/>
        </p:nvSpPr>
        <p:spPr>
          <a:xfrm>
            <a:off x="7970044"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37" name="Rounded Rectangle 36"/>
          <p:cNvSpPr/>
          <p:nvPr/>
        </p:nvSpPr>
        <p:spPr>
          <a:xfrm>
            <a:off x="9453562"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Aerospace &amp; Defense</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43" name="Oval 42"/>
          <p:cNvSpPr/>
          <p:nvPr/>
        </p:nvSpPr>
        <p:spPr>
          <a:xfrm>
            <a:off x="10498931"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44" name="Rounded Rectangle 43"/>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46" name="Rectangle 45"/>
          <p:cNvSpPr/>
          <p:nvPr/>
        </p:nvSpPr>
        <p:spPr>
          <a:xfrm>
            <a:off x="457200" y="4146897"/>
            <a:ext cx="112776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p:txBody>
      </p:sp>
      <p:sp>
        <p:nvSpPr>
          <p:cNvPr id="48" name="TextBox 4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49" name="Rectangle 4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1" name="Picture 50" descr="398_2_605E5C.png"/>
          <p:cNvPicPr>
            <a:picLocks noChangeAspect="1"/>
          </p:cNvPicPr>
          <p:nvPr/>
        </p:nvPicPr>
        <p:blipFill>
          <a:blip r:embed="rId4"/>
          <a:stretch>
            <a:fillRect/>
          </a:stretch>
        </p:blipFill>
        <p:spPr>
          <a:xfrm>
            <a:off x="2476330" y="2286582"/>
            <a:ext cx="1195728" cy="361950"/>
          </a:xfrm>
          <a:prstGeom prst="rect">
            <a:avLst/>
          </a:prstGeom>
        </p:spPr>
      </p:pic>
      <p:pic>
        <p:nvPicPr>
          <p:cNvPr id="52" name="Picture 51" descr="656_6_605E5C.png"/>
          <p:cNvPicPr>
            <a:picLocks noChangeAspect="1"/>
          </p:cNvPicPr>
          <p:nvPr/>
        </p:nvPicPr>
        <p:blipFill>
          <a:blip r:embed="rId5"/>
          <a:stretch>
            <a:fillRect/>
          </a:stretch>
        </p:blipFill>
        <p:spPr>
          <a:xfrm>
            <a:off x="2476330" y="2779432"/>
            <a:ext cx="1195728" cy="361950"/>
          </a:xfrm>
          <a:prstGeom prst="rect">
            <a:avLst/>
          </a:prstGeom>
        </p:spPr>
      </p:pic>
      <p:pic>
        <p:nvPicPr>
          <p:cNvPr id="53" name="Picture 52" descr="5_1__605E5C.png"/>
          <p:cNvPicPr>
            <a:picLocks noChangeAspect="1"/>
          </p:cNvPicPr>
          <p:nvPr/>
        </p:nvPicPr>
        <p:blipFill>
          <a:blip r:embed="rId6"/>
          <a:stretch>
            <a:fillRect/>
          </a:stretch>
        </p:blipFill>
        <p:spPr>
          <a:xfrm>
            <a:off x="2582976" y="3272281"/>
            <a:ext cx="982436" cy="361950"/>
          </a:xfrm>
          <a:prstGeom prst="rect">
            <a:avLst/>
          </a:prstGeom>
        </p:spPr>
      </p:pic>
      <p:pic>
        <p:nvPicPr>
          <p:cNvPr id="54" name="Picture 53" descr="350_3_605E5C.png"/>
          <p:cNvPicPr>
            <a:picLocks noChangeAspect="1"/>
          </p:cNvPicPr>
          <p:nvPr/>
        </p:nvPicPr>
        <p:blipFill>
          <a:blip r:embed="rId7"/>
          <a:stretch>
            <a:fillRect/>
          </a:stretch>
        </p:blipFill>
        <p:spPr>
          <a:xfrm>
            <a:off x="5005218" y="2286582"/>
            <a:ext cx="1195728" cy="361950"/>
          </a:xfrm>
          <a:prstGeom prst="rect">
            <a:avLst/>
          </a:prstGeom>
        </p:spPr>
      </p:pic>
      <p:pic>
        <p:nvPicPr>
          <p:cNvPr id="55" name="Picture 54" descr="532_1_605E5C.png"/>
          <p:cNvPicPr>
            <a:picLocks noChangeAspect="1"/>
          </p:cNvPicPr>
          <p:nvPr/>
        </p:nvPicPr>
        <p:blipFill>
          <a:blip r:embed="rId8"/>
          <a:stretch>
            <a:fillRect/>
          </a:stretch>
        </p:blipFill>
        <p:spPr>
          <a:xfrm>
            <a:off x="5005218" y="2779432"/>
            <a:ext cx="1195728" cy="361950"/>
          </a:xfrm>
          <a:prstGeom prst="rect">
            <a:avLst/>
          </a:prstGeom>
        </p:spPr>
      </p:pic>
      <p:pic>
        <p:nvPicPr>
          <p:cNvPr id="56" name="Picture 55" descr="4_3__605E5C.png"/>
          <p:cNvPicPr>
            <a:picLocks noChangeAspect="1"/>
          </p:cNvPicPr>
          <p:nvPr/>
        </p:nvPicPr>
        <p:blipFill>
          <a:blip r:embed="rId9"/>
          <a:stretch>
            <a:fillRect/>
          </a:stretch>
        </p:blipFill>
        <p:spPr>
          <a:xfrm>
            <a:off x="5111864" y="3272281"/>
            <a:ext cx="982436" cy="361950"/>
          </a:xfrm>
          <a:prstGeom prst="rect">
            <a:avLst/>
          </a:prstGeom>
        </p:spPr>
      </p:pic>
      <p:pic>
        <p:nvPicPr>
          <p:cNvPr id="57" name="Picture 56" descr="301_6_605E5C.png"/>
          <p:cNvPicPr>
            <a:picLocks noChangeAspect="1"/>
          </p:cNvPicPr>
          <p:nvPr/>
        </p:nvPicPr>
        <p:blipFill>
          <a:blip r:embed="rId10"/>
          <a:stretch>
            <a:fillRect/>
          </a:stretch>
        </p:blipFill>
        <p:spPr>
          <a:xfrm>
            <a:off x="7534105" y="2286582"/>
            <a:ext cx="1195728" cy="361950"/>
          </a:xfrm>
          <a:prstGeom prst="rect">
            <a:avLst/>
          </a:prstGeom>
        </p:spPr>
      </p:pic>
      <p:pic>
        <p:nvPicPr>
          <p:cNvPr id="58" name="Picture 57" descr="521_8_605E5C.png"/>
          <p:cNvPicPr>
            <a:picLocks noChangeAspect="1"/>
          </p:cNvPicPr>
          <p:nvPr/>
        </p:nvPicPr>
        <p:blipFill>
          <a:blip r:embed="rId11"/>
          <a:stretch>
            <a:fillRect/>
          </a:stretch>
        </p:blipFill>
        <p:spPr>
          <a:xfrm>
            <a:off x="7534105" y="2779432"/>
            <a:ext cx="1195728" cy="361950"/>
          </a:xfrm>
          <a:prstGeom prst="rect">
            <a:avLst/>
          </a:prstGeom>
        </p:spPr>
      </p:pic>
      <p:pic>
        <p:nvPicPr>
          <p:cNvPr id="59" name="Picture 58" descr="5_6__605E5C.png"/>
          <p:cNvPicPr>
            <a:picLocks noChangeAspect="1"/>
          </p:cNvPicPr>
          <p:nvPr/>
        </p:nvPicPr>
        <p:blipFill>
          <a:blip r:embed="rId12"/>
          <a:stretch>
            <a:fillRect/>
          </a:stretch>
        </p:blipFill>
        <p:spPr>
          <a:xfrm>
            <a:off x="7640751" y="3272281"/>
            <a:ext cx="982436" cy="361950"/>
          </a:xfrm>
          <a:prstGeom prst="rect">
            <a:avLst/>
          </a:prstGeom>
        </p:spPr>
      </p:pic>
      <p:pic>
        <p:nvPicPr>
          <p:cNvPr id="60" name="Picture 59" descr="138_7_605E5C.png"/>
          <p:cNvPicPr>
            <a:picLocks noChangeAspect="1"/>
          </p:cNvPicPr>
          <p:nvPr/>
        </p:nvPicPr>
        <p:blipFill>
          <a:blip r:embed="rId13"/>
          <a:stretch>
            <a:fillRect/>
          </a:stretch>
        </p:blipFill>
        <p:spPr>
          <a:xfrm>
            <a:off x="10062992" y="2286582"/>
            <a:ext cx="1195728" cy="361950"/>
          </a:xfrm>
          <a:prstGeom prst="rect">
            <a:avLst/>
          </a:prstGeom>
        </p:spPr>
      </p:pic>
      <p:pic>
        <p:nvPicPr>
          <p:cNvPr id="61" name="Picture 60" descr="194_6_605E5C.png"/>
          <p:cNvPicPr>
            <a:picLocks noChangeAspect="1"/>
          </p:cNvPicPr>
          <p:nvPr/>
        </p:nvPicPr>
        <p:blipFill>
          <a:blip r:embed="rId14"/>
          <a:stretch>
            <a:fillRect/>
          </a:stretch>
        </p:blipFill>
        <p:spPr>
          <a:xfrm>
            <a:off x="10062992" y="2779432"/>
            <a:ext cx="1195728" cy="361950"/>
          </a:xfrm>
          <a:prstGeom prst="rect">
            <a:avLst/>
          </a:prstGeom>
        </p:spPr>
      </p:pic>
      <p:pic>
        <p:nvPicPr>
          <p:cNvPr id="62" name="Picture 61" descr="3_4__605E5C.png"/>
          <p:cNvPicPr>
            <a:picLocks noChangeAspect="1"/>
          </p:cNvPicPr>
          <p:nvPr/>
        </p:nvPicPr>
        <p:blipFill>
          <a:blip r:embed="rId15"/>
          <a:stretch>
            <a:fillRect/>
          </a:stretch>
        </p:blipFill>
        <p:spPr>
          <a:xfrm>
            <a:off x="10169638" y="3272281"/>
            <a:ext cx="982436" cy="361950"/>
          </a:xfrm>
          <a:prstGeom prst="rect">
            <a:avLst/>
          </a:prstGeom>
        </p:spPr>
      </p:pic>
      <p:pic>
        <p:nvPicPr>
          <p:cNvPr id="63" name="Picture 62" descr="lock.png"/>
          <p:cNvPicPr>
            <a:picLocks noChangeAspect="1"/>
          </p:cNvPicPr>
          <p:nvPr/>
        </p:nvPicPr>
        <p:blipFill>
          <a:blip r:embed="rId16"/>
          <a:stretch>
            <a:fillRect/>
          </a:stretch>
        </p:blipFill>
        <p:spPr>
          <a:xfrm>
            <a:off x="2980848" y="2827057"/>
            <a:ext cx="183356" cy="266700"/>
          </a:xfrm>
          <a:prstGeom prst="rect">
            <a:avLst/>
          </a:prstGeom>
        </p:spPr>
      </p:pic>
      <p:pic>
        <p:nvPicPr>
          <p:cNvPr id="64" name="Picture 63" descr="lock.png"/>
          <p:cNvPicPr>
            <a:picLocks noChangeAspect="1"/>
          </p:cNvPicPr>
          <p:nvPr/>
        </p:nvPicPr>
        <p:blipFill>
          <a:blip r:embed="rId16"/>
          <a:stretch>
            <a:fillRect/>
          </a:stretch>
        </p:blipFill>
        <p:spPr>
          <a:xfrm>
            <a:off x="5509737" y="2827057"/>
            <a:ext cx="183356" cy="266700"/>
          </a:xfrm>
          <a:prstGeom prst="rect">
            <a:avLst/>
          </a:prstGeom>
        </p:spPr>
      </p:pic>
      <p:pic>
        <p:nvPicPr>
          <p:cNvPr id="65" name="Picture 64" descr="lock.png"/>
          <p:cNvPicPr>
            <a:picLocks noChangeAspect="1"/>
          </p:cNvPicPr>
          <p:nvPr/>
        </p:nvPicPr>
        <p:blipFill>
          <a:blip r:embed="rId16"/>
          <a:stretch>
            <a:fillRect/>
          </a:stretch>
        </p:blipFill>
        <p:spPr>
          <a:xfrm>
            <a:off x="8038624" y="2827057"/>
            <a:ext cx="183356" cy="266700"/>
          </a:xfrm>
          <a:prstGeom prst="rect">
            <a:avLst/>
          </a:prstGeom>
        </p:spPr>
      </p:pic>
      <p:pic>
        <p:nvPicPr>
          <p:cNvPr id="66" name="Picture 65" descr="lock.png"/>
          <p:cNvPicPr>
            <a:picLocks noChangeAspect="1"/>
          </p:cNvPicPr>
          <p:nvPr/>
        </p:nvPicPr>
        <p:blipFill>
          <a:blip r:embed="rId16"/>
          <a:stretch>
            <a:fillRect/>
          </a:stretch>
        </p:blipFill>
        <p:spPr>
          <a:xfrm>
            <a:off x="10567511" y="2827057"/>
            <a:ext cx="183356" cy="266700"/>
          </a:xfrm>
          <a:prstGeom prst="rect">
            <a:avLst/>
          </a:prstGeom>
        </p:spPr>
      </p:pic>
      <p:sp>
        <p:nvSpPr>
          <p:cNvPr id="67" name="TextBox 66"/>
          <p:cNvSpPr txBox="1"/>
          <p:nvPr/>
        </p:nvSpPr>
        <p:spPr>
          <a:xfrm>
            <a:off x="485775" y="4229437"/>
            <a:ext cx="1521494" cy="186689"/>
          </a:xfrm>
          <a:prstGeom prst="rect">
            <a:avLst/>
          </a:prstGeom>
          <a:noFill/>
        </p:spPr>
        <p:txBody>
          <a:bodyPr wrap="none" lIns="0" rIns="0" tIns="0" bIns="0">
            <a:spAutoFit/>
          </a:bodyPr>
          <a:lstStyle/>
          <a:p>
            <a:r>
              <a:rPr sz="1100" b="0">
                <a:solidFill>
                  <a:srgbClr val="2E2E2E"/>
                </a:solidFill>
                <a:latin typeface="Calibri"/>
              </a:rPr>
              <a:t>● Electronics &amp; Electrical:</a:t>
            </a:r>
          </a:p>
        </p:txBody>
      </p:sp>
      <p:pic>
        <p:nvPicPr>
          <p:cNvPr id="68" name="Picture 67" descr="lock.png"/>
          <p:cNvPicPr>
            <a:picLocks noChangeAspect="1"/>
          </p:cNvPicPr>
          <p:nvPr/>
        </p:nvPicPr>
        <p:blipFill>
          <a:blip r:embed="rId16"/>
          <a:stretch>
            <a:fillRect/>
          </a:stretch>
        </p:blipFill>
        <p:spPr>
          <a:xfrm>
            <a:off x="1955321" y="4219658"/>
            <a:ext cx="128699" cy="187198"/>
          </a:xfrm>
          <a:prstGeom prst="rect">
            <a:avLst/>
          </a:prstGeom>
        </p:spPr>
      </p:pic>
      <p:sp>
        <p:nvSpPr>
          <p:cNvPr id="69" name="TextBox 68"/>
          <p:cNvSpPr txBox="1"/>
          <p:nvPr/>
        </p:nvSpPr>
        <p:spPr>
          <a:xfrm>
            <a:off x="2122817"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0" name="Picture 69" descr="lock.png"/>
          <p:cNvPicPr>
            <a:picLocks noChangeAspect="1"/>
          </p:cNvPicPr>
          <p:nvPr/>
        </p:nvPicPr>
        <p:blipFill>
          <a:blip r:embed="rId16"/>
          <a:stretch>
            <a:fillRect/>
          </a:stretch>
        </p:blipFill>
        <p:spPr>
          <a:xfrm>
            <a:off x="2982267" y="4219658"/>
            <a:ext cx="128699" cy="187198"/>
          </a:xfrm>
          <a:prstGeom prst="rect">
            <a:avLst/>
          </a:prstGeom>
        </p:spPr>
      </p:pic>
      <p:sp>
        <p:nvSpPr>
          <p:cNvPr id="71" name="TextBox 70"/>
          <p:cNvSpPr txBox="1"/>
          <p:nvPr/>
        </p:nvSpPr>
        <p:spPr>
          <a:xfrm>
            <a:off x="3149763" y="4229437"/>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2" name="TextBox 71"/>
          <p:cNvSpPr txBox="1"/>
          <p:nvPr/>
        </p:nvSpPr>
        <p:spPr>
          <a:xfrm>
            <a:off x="485775" y="4447369"/>
            <a:ext cx="1202228" cy="186689"/>
          </a:xfrm>
          <a:prstGeom prst="rect">
            <a:avLst/>
          </a:prstGeom>
          <a:noFill/>
        </p:spPr>
        <p:txBody>
          <a:bodyPr wrap="none" lIns="0" rIns="0" tIns="0" bIns="0">
            <a:spAutoFit/>
          </a:bodyPr>
          <a:lstStyle/>
          <a:p>
            <a:r>
              <a:rPr sz="1100" b="0">
                <a:solidFill>
                  <a:srgbClr val="2E2E2E"/>
                </a:solidFill>
                <a:latin typeface="Calibri"/>
              </a:rPr>
              <a:t>● Food &amp; Beverage:</a:t>
            </a:r>
          </a:p>
        </p:txBody>
      </p:sp>
      <p:pic>
        <p:nvPicPr>
          <p:cNvPr id="73" name="Picture 72" descr="lock.png"/>
          <p:cNvPicPr>
            <a:picLocks noChangeAspect="1"/>
          </p:cNvPicPr>
          <p:nvPr/>
        </p:nvPicPr>
        <p:blipFill>
          <a:blip r:embed="rId16"/>
          <a:stretch>
            <a:fillRect/>
          </a:stretch>
        </p:blipFill>
        <p:spPr>
          <a:xfrm>
            <a:off x="1636055" y="4437590"/>
            <a:ext cx="128699" cy="187198"/>
          </a:xfrm>
          <a:prstGeom prst="rect">
            <a:avLst/>
          </a:prstGeom>
        </p:spPr>
      </p:pic>
      <p:sp>
        <p:nvSpPr>
          <p:cNvPr id="74" name="TextBox 73"/>
          <p:cNvSpPr txBox="1"/>
          <p:nvPr/>
        </p:nvSpPr>
        <p:spPr>
          <a:xfrm>
            <a:off x="1803550"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5" name="Picture 74" descr="lock.png"/>
          <p:cNvPicPr>
            <a:picLocks noChangeAspect="1"/>
          </p:cNvPicPr>
          <p:nvPr/>
        </p:nvPicPr>
        <p:blipFill>
          <a:blip r:embed="rId16"/>
          <a:stretch>
            <a:fillRect/>
          </a:stretch>
        </p:blipFill>
        <p:spPr>
          <a:xfrm>
            <a:off x="2663001" y="4437590"/>
            <a:ext cx="128699" cy="187198"/>
          </a:xfrm>
          <a:prstGeom prst="rect">
            <a:avLst/>
          </a:prstGeom>
        </p:spPr>
      </p:pic>
      <p:sp>
        <p:nvSpPr>
          <p:cNvPr id="76" name="TextBox 75"/>
          <p:cNvSpPr txBox="1"/>
          <p:nvPr/>
        </p:nvSpPr>
        <p:spPr>
          <a:xfrm>
            <a:off x="2830497"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77" name="TextBox 76"/>
          <p:cNvSpPr txBox="1"/>
          <p:nvPr/>
        </p:nvSpPr>
        <p:spPr>
          <a:xfrm>
            <a:off x="485775" y="4665301"/>
            <a:ext cx="615354" cy="186689"/>
          </a:xfrm>
          <a:prstGeom prst="rect">
            <a:avLst/>
          </a:prstGeom>
          <a:noFill/>
        </p:spPr>
        <p:txBody>
          <a:bodyPr wrap="none" lIns="0" rIns="0" tIns="0" bIns="0">
            <a:spAutoFit/>
          </a:bodyPr>
          <a:lstStyle/>
          <a:p>
            <a:r>
              <a:rPr sz="1100" b="0">
                <a:solidFill>
                  <a:srgbClr val="2E2E2E"/>
                </a:solidFill>
                <a:latin typeface="Calibri"/>
              </a:rPr>
              <a:t>● Others:</a:t>
            </a:r>
          </a:p>
        </p:txBody>
      </p:sp>
      <p:pic>
        <p:nvPicPr>
          <p:cNvPr id="78" name="Picture 77" descr="lock.png"/>
          <p:cNvPicPr>
            <a:picLocks noChangeAspect="1"/>
          </p:cNvPicPr>
          <p:nvPr/>
        </p:nvPicPr>
        <p:blipFill>
          <a:blip r:embed="rId16"/>
          <a:stretch>
            <a:fillRect/>
          </a:stretch>
        </p:blipFill>
        <p:spPr>
          <a:xfrm>
            <a:off x="1049181" y="4655522"/>
            <a:ext cx="128699" cy="187198"/>
          </a:xfrm>
          <a:prstGeom prst="rect">
            <a:avLst/>
          </a:prstGeom>
        </p:spPr>
      </p:pic>
      <p:sp>
        <p:nvSpPr>
          <p:cNvPr id="79" name="TextBox 78"/>
          <p:cNvSpPr txBox="1"/>
          <p:nvPr/>
        </p:nvSpPr>
        <p:spPr>
          <a:xfrm>
            <a:off x="1216677"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0" name="Picture 79" descr="lock.png"/>
          <p:cNvPicPr>
            <a:picLocks noChangeAspect="1"/>
          </p:cNvPicPr>
          <p:nvPr/>
        </p:nvPicPr>
        <p:blipFill>
          <a:blip r:embed="rId16"/>
          <a:stretch>
            <a:fillRect/>
          </a:stretch>
        </p:blipFill>
        <p:spPr>
          <a:xfrm>
            <a:off x="2076127" y="4655522"/>
            <a:ext cx="128699" cy="187198"/>
          </a:xfrm>
          <a:prstGeom prst="rect">
            <a:avLst/>
          </a:prstGeom>
        </p:spPr>
      </p:pic>
      <p:sp>
        <p:nvSpPr>
          <p:cNvPr id="81" name="TextBox 80"/>
          <p:cNvSpPr txBox="1"/>
          <p:nvPr/>
        </p:nvSpPr>
        <p:spPr>
          <a:xfrm>
            <a:off x="2243623"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2" name="TextBox 81"/>
          <p:cNvSpPr txBox="1"/>
          <p:nvPr/>
        </p:nvSpPr>
        <p:spPr>
          <a:xfrm>
            <a:off x="485775" y="4883233"/>
            <a:ext cx="1449734" cy="186689"/>
          </a:xfrm>
          <a:prstGeom prst="rect">
            <a:avLst/>
          </a:prstGeom>
          <a:noFill/>
        </p:spPr>
        <p:txBody>
          <a:bodyPr wrap="none" lIns="0" rIns="0" tIns="0" bIns="0">
            <a:spAutoFit/>
          </a:bodyPr>
          <a:lstStyle/>
          <a:p>
            <a:r>
              <a:rPr sz="1100" b="0">
                <a:solidFill>
                  <a:srgbClr val="2E2E2E"/>
                </a:solidFill>
                <a:latin typeface="Calibri"/>
              </a:rPr>
              <a:t>● Aerospace &amp; Defense:</a:t>
            </a:r>
          </a:p>
        </p:txBody>
      </p:sp>
      <p:pic>
        <p:nvPicPr>
          <p:cNvPr id="83" name="Picture 82" descr="lock.png"/>
          <p:cNvPicPr>
            <a:picLocks noChangeAspect="1"/>
          </p:cNvPicPr>
          <p:nvPr/>
        </p:nvPicPr>
        <p:blipFill>
          <a:blip r:embed="rId16"/>
          <a:stretch>
            <a:fillRect/>
          </a:stretch>
        </p:blipFill>
        <p:spPr>
          <a:xfrm>
            <a:off x="1883561" y="4873454"/>
            <a:ext cx="128699" cy="187198"/>
          </a:xfrm>
          <a:prstGeom prst="rect">
            <a:avLst/>
          </a:prstGeom>
        </p:spPr>
      </p:pic>
      <p:sp>
        <p:nvSpPr>
          <p:cNvPr id="84" name="TextBox 83"/>
          <p:cNvSpPr txBox="1"/>
          <p:nvPr/>
        </p:nvSpPr>
        <p:spPr>
          <a:xfrm>
            <a:off x="2051057"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5" name="Picture 84" descr="lock.png"/>
          <p:cNvPicPr>
            <a:picLocks noChangeAspect="1"/>
          </p:cNvPicPr>
          <p:nvPr/>
        </p:nvPicPr>
        <p:blipFill>
          <a:blip r:embed="rId16"/>
          <a:stretch>
            <a:fillRect/>
          </a:stretch>
        </p:blipFill>
        <p:spPr>
          <a:xfrm>
            <a:off x="2910507" y="4873454"/>
            <a:ext cx="128699" cy="187198"/>
          </a:xfrm>
          <a:prstGeom prst="rect">
            <a:avLst/>
          </a:prstGeom>
        </p:spPr>
      </p:pic>
      <p:sp>
        <p:nvSpPr>
          <p:cNvPr id="86" name="TextBox 85"/>
          <p:cNvSpPr txBox="1"/>
          <p:nvPr/>
        </p:nvSpPr>
        <p:spPr>
          <a:xfrm>
            <a:off x="3078003" y="488323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End-use Industry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End-use Industry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Industry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End-use Industry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46743" cy="186689"/>
          </a:xfrm>
          <a:prstGeom prst="rect">
            <a:avLst/>
          </a:prstGeom>
          <a:noFill/>
        </p:spPr>
        <p:txBody>
          <a:bodyPr wrap="none" lIns="0" rIns="0" tIns="0" bIns="0">
            <a:spAutoFit/>
          </a:bodyPr>
          <a:lstStyle/>
          <a:p>
            <a:r>
              <a:rPr sz="1100" b="0">
                <a:solidFill>
                  <a:srgbClr val="2E2E2E"/>
                </a:solidFill>
                <a:latin typeface="Calibri"/>
              </a:rPr>
              <a:t>Consumer goods &amp; home products followed by electronics &amp; electrical are expected to be the two most attractive end-use industry segments in the North America foam protective packaging market in</a:t>
            </a:r>
          </a:p>
        </p:txBody>
      </p:sp>
      <p:sp>
        <p:nvSpPr>
          <p:cNvPr id="18" name="TextBox 17"/>
          <p:cNvSpPr txBox="1"/>
          <p:nvPr/>
        </p:nvSpPr>
        <p:spPr>
          <a:xfrm>
            <a:off x="257175" y="5861685"/>
            <a:ext cx="7267731" cy="186689"/>
          </a:xfrm>
          <a:prstGeom prst="rect">
            <a:avLst/>
          </a:prstGeom>
          <a:noFill/>
        </p:spPr>
        <p:txBody>
          <a:bodyPr wrap="none" lIns="0" rIns="0" tIns="0" bIns="0">
            <a:spAutoFit/>
          </a:bodyPr>
          <a:lstStyle/>
          <a:p>
            <a:r>
              <a:rPr sz="1100" b="0">
                <a:solidFill>
                  <a:srgbClr val="2E2E2E"/>
                </a:solidFill>
                <a:latin typeface="Calibri"/>
              </a:rPr>
              <a:t>terms of value over the forecast period. Consumer goods &amp; home products and electronics &amp; electrical exhibit a CAGR index of</a:t>
            </a:r>
          </a:p>
        </p:txBody>
      </p:sp>
      <p:pic>
        <p:nvPicPr>
          <p:cNvPr id="19" name="Picture 18" descr="lock.png"/>
          <p:cNvPicPr>
            <a:picLocks noChangeAspect="1"/>
          </p:cNvPicPr>
          <p:nvPr/>
        </p:nvPicPr>
        <p:blipFill>
          <a:blip r:embed="rId6"/>
          <a:stretch>
            <a:fillRect/>
          </a:stretch>
        </p:blipFill>
        <p:spPr>
          <a:xfrm>
            <a:off x="7472958" y="5851905"/>
            <a:ext cx="128699" cy="187198"/>
          </a:xfrm>
          <a:prstGeom prst="rect">
            <a:avLst/>
          </a:prstGeom>
        </p:spPr>
      </p:pic>
      <p:sp>
        <p:nvSpPr>
          <p:cNvPr id="20" name="TextBox 19"/>
          <p:cNvSpPr txBox="1"/>
          <p:nvPr/>
        </p:nvSpPr>
        <p:spPr>
          <a:xfrm>
            <a:off x="764045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7878348" y="5851905"/>
            <a:ext cx="128699" cy="187198"/>
          </a:xfrm>
          <a:prstGeom prst="rect">
            <a:avLst/>
          </a:prstGeom>
        </p:spPr>
      </p:pic>
      <p:sp>
        <p:nvSpPr>
          <p:cNvPr id="22" name="TextBox 21"/>
          <p:cNvSpPr txBox="1"/>
          <p:nvPr/>
        </p:nvSpPr>
        <p:spPr>
          <a:xfrm>
            <a:off x="804584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9654817" y="5851905"/>
            <a:ext cx="128699" cy="187198"/>
          </a:xfrm>
          <a:prstGeom prst="rect">
            <a:avLst/>
          </a:prstGeom>
        </p:spPr>
      </p:pic>
      <p:sp>
        <p:nvSpPr>
          <p:cNvPr id="24" name="TextBox 23"/>
          <p:cNvSpPr txBox="1"/>
          <p:nvPr/>
        </p:nvSpPr>
        <p:spPr>
          <a:xfrm>
            <a:off x="982231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060207" y="5851905"/>
            <a:ext cx="128699" cy="187198"/>
          </a:xfrm>
          <a:prstGeom prst="rect">
            <a:avLst/>
          </a:prstGeom>
        </p:spPr>
      </p:pic>
      <p:sp>
        <p:nvSpPr>
          <p:cNvPr id="26" name="TextBox 25"/>
          <p:cNvSpPr txBox="1"/>
          <p:nvPr/>
        </p:nvSpPr>
        <p:spPr>
          <a:xfrm>
            <a:off x="10227703" y="5861685"/>
            <a:ext cx="1231726" cy="186689"/>
          </a:xfrm>
          <a:prstGeom prst="rect">
            <a:avLst/>
          </a:prstGeom>
          <a:noFill/>
        </p:spPr>
        <p:txBody>
          <a:bodyPr wrap="none" lIns="0" rIns="0" tIns="0" bIns="0">
            <a:spAutoFit/>
          </a:bodyPr>
          <a:lstStyle/>
          <a:p>
            <a:r>
              <a:rPr sz="1100" b="0">
                <a:solidFill>
                  <a:srgbClr val="2E2E2E"/>
                </a:solidFill>
                <a:latin typeface="Calibri"/>
              </a:rPr>
              <a:t>respectively, against</a:t>
            </a:r>
          </a:p>
        </p:txBody>
      </p:sp>
      <p:sp>
        <p:nvSpPr>
          <p:cNvPr id="27" name="TextBox 26"/>
          <p:cNvSpPr txBox="1"/>
          <p:nvPr/>
        </p:nvSpPr>
        <p:spPr>
          <a:xfrm>
            <a:off x="257175" y="6029325"/>
            <a:ext cx="1419175" cy="186689"/>
          </a:xfrm>
          <a:prstGeom prst="rect">
            <a:avLst/>
          </a:prstGeom>
          <a:noFill/>
        </p:spPr>
        <p:txBody>
          <a:bodyPr wrap="none" lIns="0" rIns="0" tIns="0" bIns="0">
            <a:spAutoFit/>
          </a:bodyPr>
          <a:lstStyle/>
          <a:p>
            <a:r>
              <a:rPr sz="1100" b="0">
                <a:solidFill>
                  <a:srgbClr val="2E2E2E"/>
                </a:solidFill>
                <a:latin typeface="Calibri"/>
              </a:rPr>
              <a:t>the segment average of</a:t>
            </a:r>
          </a:p>
        </p:txBody>
      </p:sp>
      <p:pic>
        <p:nvPicPr>
          <p:cNvPr id="28" name="Picture 27" descr="lock.png"/>
          <p:cNvPicPr>
            <a:picLocks noChangeAspect="1"/>
          </p:cNvPicPr>
          <p:nvPr/>
        </p:nvPicPr>
        <p:blipFill>
          <a:blip r:embed="rId6"/>
          <a:stretch>
            <a:fillRect/>
          </a:stretch>
        </p:blipFill>
        <p:spPr>
          <a:xfrm>
            <a:off x="1624401" y="6019545"/>
            <a:ext cx="128699" cy="187198"/>
          </a:xfrm>
          <a:prstGeom prst="rect">
            <a:avLst/>
          </a:prstGeom>
        </p:spPr>
      </p:pic>
      <p:sp>
        <p:nvSpPr>
          <p:cNvPr id="29" name="TextBox 28"/>
          <p:cNvSpPr txBox="1"/>
          <p:nvPr/>
        </p:nvSpPr>
        <p:spPr>
          <a:xfrm>
            <a:off x="1791897" y="6029325"/>
            <a:ext cx="9559957" cy="186689"/>
          </a:xfrm>
          <a:prstGeom prst="rect">
            <a:avLst/>
          </a:prstGeom>
          <a:noFill/>
        </p:spPr>
        <p:txBody>
          <a:bodyPr wrap="none" lIns="0" rIns="0" tIns="0" bIns="0">
            <a:spAutoFit/>
          </a:bodyPr>
          <a:lstStyle/>
          <a:p>
            <a:r>
              <a:rPr sz="1100" b="0">
                <a:solidFill>
                  <a:srgbClr val="2E2E2E"/>
                </a:solidFill>
                <a:latin typeface="Calibri"/>
              </a:rPr>
              <a:t>. The aerospace &amp; defense segment is expected to be less attractive as compared to other segments over the forecast period, owing to its lower CAGR and incremental</a:t>
            </a:r>
          </a:p>
        </p:txBody>
      </p:sp>
      <p:sp>
        <p:nvSpPr>
          <p:cNvPr id="30" name="TextBox 29"/>
          <p:cNvSpPr txBox="1"/>
          <p:nvPr/>
        </p:nvSpPr>
        <p:spPr>
          <a:xfrm>
            <a:off x="257175" y="6196965"/>
            <a:ext cx="5122845" cy="186689"/>
          </a:xfrm>
          <a:prstGeom prst="rect">
            <a:avLst/>
          </a:prstGeom>
          <a:noFill/>
        </p:spPr>
        <p:txBody>
          <a:bodyPr wrap="none" lIns="0" rIns="0" tIns="0" bIns="0">
            <a:spAutoFit/>
          </a:bodyPr>
          <a:lstStyle/>
          <a:p>
            <a:r>
              <a:rPr sz="1100" b="0">
                <a:solidFill>
                  <a:srgbClr val="2E2E2E"/>
                </a:solidFill>
                <a:latin typeface="Calibri"/>
              </a:rPr>
              <a:t>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End-use Industry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Industry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Electronics &amp; Electrical</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Automotive</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Healthcare &amp; Pharmaceuticals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Industrial Machinery &amp; Equipment</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4151" y="2237234"/>
            <a:ext cx="263506" cy="383281"/>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End-use Industry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End-use Industry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Consumer Goods &amp; Home Products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Food &amp; Beverage</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Aerospace &amp; Defense</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Others</a:t>
            </a:r>
          </a:p>
        </p:txBody>
      </p:sp>
      <p:graphicFrame>
        <p:nvGraphicFramePr>
          <p:cNvPr id="18" name="Chart 17"/>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4151" y="5123309"/>
            <a:ext cx="263506" cy="383281"/>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End-use Industry (US$ Mn)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Industry, 2021–2036, highlighting the sub-segments driving growth</a:t>
            </a:r>
          </a:p>
        </p:txBody>
      </p:sp>
      <p:sp>
        <p:nvSpPr>
          <p:cNvPr id="7" name="Rounded Rectangle 6"/>
          <p:cNvSpPr/>
          <p:nvPr/>
        </p:nvSpPr>
        <p:spPr>
          <a:xfrm>
            <a:off x="142875" y="981075"/>
            <a:ext cx="11906250" cy="5143500"/>
          </a:xfrm>
          <a:prstGeom prst="roundRect">
            <a:avLst>
              <a:gd name="adj" fmla="val 148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End-use Industry (US$ Mn)</a:t>
            </a:r>
          </a:p>
        </p:txBody>
      </p:sp>
      <p:graphicFrame>
        <p:nvGraphicFramePr>
          <p:cNvPr id="9" name="Table 8"/>
          <p:cNvGraphicFramePr>
            <a:graphicFrameLocks noGrp="1"/>
          </p:cNvGraphicFramePr>
          <p:nvPr/>
        </p:nvGraphicFramePr>
        <p:xfrm>
          <a:off x="152400" y="1238250"/>
          <a:ext cx="11887200" cy="4676772"/>
        </p:xfrm>
        <a:graphic>
          <a:graphicData uri="http://schemas.openxmlformats.org/drawingml/2006/table">
            <a:tbl>
              <a:tblPr>
                <a:tableStyleId>{5C22544A-7EE6-4342-B048-85BDC9FD1C3A}</a:tableStyleId>
              </a:tblPr>
              <a:tblGrid>
                <a:gridCol w="3485994"/>
                <a:gridCol w="504648"/>
                <a:gridCol w="504648"/>
                <a:gridCol w="504648"/>
                <a:gridCol w="504648"/>
                <a:gridCol w="504648"/>
                <a:gridCol w="486871"/>
                <a:gridCol w="481792"/>
                <a:gridCol w="481792"/>
                <a:gridCol w="481792"/>
                <a:gridCol w="481792"/>
                <a:gridCol w="481792"/>
                <a:gridCol w="481792"/>
                <a:gridCol w="481792"/>
                <a:gridCol w="481792"/>
                <a:gridCol w="481792"/>
                <a:gridCol w="481792"/>
                <a:gridCol w="573175"/>
              </a:tblGrid>
              <a:tr h="246126">
                <a:tc>
                  <a:txBody>
                    <a:bodyPr wrap="none"/>
                    <a:lstStyle/>
                    <a:p>
                      <a:pPr algn="l"/>
                      <a:r>
                        <a:rPr sz="1100" b="1">
                          <a:solidFill>
                            <a:srgbClr val="0E2A5C"/>
                          </a:solidFill>
                          <a:latin typeface="Calibri"/>
                        </a:rPr>
                        <a:t>End-use Industry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147">
                <a:tc>
                  <a:txBody>
                    <a:bodyPr wrap="none"/>
                    <a:lstStyle/>
                    <a:p>
                      <a:pPr algn="l"/>
                      <a:r>
                        <a:rPr sz="1100" b="1">
                          <a:solidFill>
                            <a:srgbClr val="2E2E2E"/>
                          </a:solidFill>
                          <a:latin typeface="Calibri"/>
                        </a:rPr>
                        <a:t>Electronics &amp; Electrical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Consumer Electronics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Electrical &amp; IT / Telecommunications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Automotive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Automotive Components &amp; Spare Parts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EV Batteries &amp; Sensitive Automotive Components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Healthcare &amp; Pharmaceuticals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Medical Devices &amp; Diagnostic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Pharmaceutical &amp; Biopharmaceutical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Industrial Machinery &amp;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Heavy Machinery &amp; Industrial Components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Precision Instruments &amp; Scientific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Consumer Goods &amp; Home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Home Appliances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Furniture &amp; Home Furnishings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Glassware, Ceramics &amp; Fragile Consumer Goods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Food &amp; Beverage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Temperature-Controlled Food &amp; Beverage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652307" y="3432998"/>
            <a:ext cx="366712" cy="533400"/>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End-use Industry (US$ Mn)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End-use Industry, 2021–2036, highlighting the sub-segments driving growth</a:t>
            </a:r>
          </a:p>
        </p:txBody>
      </p:sp>
      <p:sp>
        <p:nvSpPr>
          <p:cNvPr id="7" name="Rounded Rectangle 6"/>
          <p:cNvSpPr/>
          <p:nvPr/>
        </p:nvSpPr>
        <p:spPr>
          <a:xfrm>
            <a:off x="142875" y="981075"/>
            <a:ext cx="11906250" cy="2190750"/>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End-use Industry (US$ Mn)</a:t>
            </a:r>
          </a:p>
        </p:txBody>
      </p:sp>
      <p:graphicFrame>
        <p:nvGraphicFramePr>
          <p:cNvPr id="9" name="Table 8"/>
          <p:cNvGraphicFramePr>
            <a:graphicFrameLocks noGrp="1"/>
          </p:cNvGraphicFramePr>
          <p:nvPr/>
        </p:nvGraphicFramePr>
        <p:xfrm>
          <a:off x="152400" y="1238250"/>
          <a:ext cx="11887203" cy="1724028"/>
        </p:xfrm>
        <a:graphic>
          <a:graphicData uri="http://schemas.openxmlformats.org/drawingml/2006/table">
            <a:tbl>
              <a:tblPr>
                <a:tableStyleId>{5C22544A-7EE6-4342-B048-85BDC9FD1C3A}</a:tableStyleId>
              </a:tblPr>
              <a:tblGrid>
                <a:gridCol w="3130558"/>
                <a:gridCol w="525998"/>
                <a:gridCol w="525998"/>
                <a:gridCol w="525998"/>
                <a:gridCol w="525998"/>
                <a:gridCol w="525998"/>
                <a:gridCol w="507470"/>
                <a:gridCol w="502176"/>
                <a:gridCol w="502176"/>
                <a:gridCol w="502176"/>
                <a:gridCol w="502176"/>
                <a:gridCol w="502176"/>
                <a:gridCol w="502176"/>
                <a:gridCol w="502176"/>
                <a:gridCol w="502176"/>
                <a:gridCol w="502176"/>
                <a:gridCol w="502176"/>
                <a:gridCol w="597425"/>
              </a:tblGrid>
              <a:tr h="246126">
                <a:tc>
                  <a:txBody>
                    <a:bodyPr wrap="none"/>
                    <a:lstStyle/>
                    <a:p>
                      <a:pPr algn="l"/>
                      <a:r>
                        <a:rPr sz="1100" b="1">
                          <a:solidFill>
                            <a:srgbClr val="0E2A5C"/>
                          </a:solidFill>
                          <a:latin typeface="Calibri"/>
                        </a:rPr>
                        <a:t>End-use Industry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317">
                <a:tc>
                  <a:txBody>
                    <a:bodyPr wrap="none"/>
                    <a:lstStyle/>
                    <a:p>
                      <a:pPr algn="l"/>
                      <a:r>
                        <a:rPr sz="1100" b="1">
                          <a:solidFill>
                            <a:srgbClr val="2E2E2E"/>
                          </a:solidFill>
                          <a:latin typeface="Calibri"/>
                        </a:rPr>
                        <a:t>– Other Food &amp; Beverage Protective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Aerospace &amp; Defense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Aerospace Components &amp;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Defense Equipment &amp; Sensitive Components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Others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305175"/>
            <a:ext cx="11906250" cy="3324225"/>
          </a:xfrm>
          <a:prstGeom prst="roundRect">
            <a:avLst>
              <a:gd name="adj" fmla="val 22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End-use Industry</a:t>
            </a:r>
          </a:p>
        </p:txBody>
      </p:sp>
      <p:sp>
        <p:nvSpPr>
          <p:cNvPr id="13" name="Rectangle 12"/>
          <p:cNvSpPr/>
          <p:nvPr/>
        </p:nvSpPr>
        <p:spPr>
          <a:xfrm>
            <a:off x="276225" y="36290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474590" y="1956627"/>
            <a:ext cx="366712" cy="533400"/>
          </a:xfrm>
          <a:prstGeom prst="rect">
            <a:avLst/>
          </a:prstGeom>
        </p:spPr>
      </p:pic>
      <p:sp>
        <p:nvSpPr>
          <p:cNvPr id="18" name="TextBox 17"/>
          <p:cNvSpPr txBox="1"/>
          <p:nvPr/>
        </p:nvSpPr>
        <p:spPr>
          <a:xfrm>
            <a:off x="276225" y="3724275"/>
            <a:ext cx="4065190" cy="194310"/>
          </a:xfrm>
          <a:prstGeom prst="rect">
            <a:avLst/>
          </a:prstGeom>
          <a:noFill/>
        </p:spPr>
        <p:txBody>
          <a:bodyPr wrap="none" lIns="0" rIns="0" tIns="0" bIns="0">
            <a:spAutoFit/>
          </a:bodyPr>
          <a:lstStyle/>
          <a:p>
            <a:r>
              <a:rPr sz="1150" b="0">
                <a:solidFill>
                  <a:srgbClr val="2E2E2E"/>
                </a:solidFill>
                <a:latin typeface="Calibri"/>
              </a:rPr>
              <a:t>Consumer goods &amp; home products segment is projected to register</a:t>
            </a:r>
          </a:p>
        </p:txBody>
      </p:sp>
      <p:pic>
        <p:nvPicPr>
          <p:cNvPr id="19" name="Picture 18" descr="lock.png"/>
          <p:cNvPicPr>
            <a:picLocks noChangeAspect="1"/>
          </p:cNvPicPr>
          <p:nvPr/>
        </p:nvPicPr>
        <p:blipFill>
          <a:blip r:embed="rId4"/>
          <a:stretch>
            <a:fillRect/>
          </a:stretch>
        </p:blipFill>
        <p:spPr>
          <a:xfrm>
            <a:off x="4290569" y="3714051"/>
            <a:ext cx="134549" cy="195707"/>
          </a:xfrm>
          <a:prstGeom prst="rect">
            <a:avLst/>
          </a:prstGeom>
        </p:spPr>
      </p:pic>
      <p:sp>
        <p:nvSpPr>
          <p:cNvPr id="20" name="TextBox 19"/>
          <p:cNvSpPr txBox="1"/>
          <p:nvPr/>
        </p:nvSpPr>
        <p:spPr>
          <a:xfrm>
            <a:off x="4465678" y="3724275"/>
            <a:ext cx="7400094" cy="194310"/>
          </a:xfrm>
          <a:prstGeom prst="rect">
            <a:avLst/>
          </a:prstGeom>
          <a:noFill/>
        </p:spPr>
        <p:txBody>
          <a:bodyPr wrap="none" lIns="0" rIns="0" tIns="0" bIns="0">
            <a:spAutoFit/>
          </a:bodyPr>
          <a:lstStyle/>
          <a:p>
            <a:r>
              <a:rPr sz="1150" b="0">
                <a:solidFill>
                  <a:srgbClr val="2E2E2E"/>
                </a:solidFill>
                <a:latin typeface="Calibri"/>
              </a:rPr>
              <a:t>X higher value than healthcare &amp; pharmaceuticals segment in 2036. Among foam protective packaging by end-use industry,</a:t>
            </a:r>
          </a:p>
        </p:txBody>
      </p:sp>
      <p:sp>
        <p:nvSpPr>
          <p:cNvPr id="21" name="TextBox 20"/>
          <p:cNvSpPr txBox="1"/>
          <p:nvPr/>
        </p:nvSpPr>
        <p:spPr>
          <a:xfrm>
            <a:off x="276225" y="3899535"/>
            <a:ext cx="3573395" cy="194310"/>
          </a:xfrm>
          <a:prstGeom prst="rect">
            <a:avLst/>
          </a:prstGeom>
          <a:noFill/>
        </p:spPr>
        <p:txBody>
          <a:bodyPr wrap="none" lIns="0" rIns="0" tIns="0" bIns="0">
            <a:spAutoFit/>
          </a:bodyPr>
          <a:lstStyle/>
          <a:p>
            <a:r>
              <a:rPr sz="1150" b="0">
                <a:solidFill>
                  <a:srgbClr val="2E2E2E"/>
                </a:solidFill>
                <a:latin typeface="Calibri"/>
              </a:rPr>
              <a:t>others segment is expected to witness the highest CAGR of</a:t>
            </a:r>
          </a:p>
        </p:txBody>
      </p:sp>
      <p:pic>
        <p:nvPicPr>
          <p:cNvPr id="22" name="Picture 21" descr="lock.png"/>
          <p:cNvPicPr>
            <a:picLocks noChangeAspect="1"/>
          </p:cNvPicPr>
          <p:nvPr/>
        </p:nvPicPr>
        <p:blipFill>
          <a:blip r:embed="rId4"/>
          <a:stretch>
            <a:fillRect/>
          </a:stretch>
        </p:blipFill>
        <p:spPr>
          <a:xfrm>
            <a:off x="3798774" y="3889311"/>
            <a:ext cx="134549" cy="195707"/>
          </a:xfrm>
          <a:prstGeom prst="rect">
            <a:avLst/>
          </a:prstGeom>
        </p:spPr>
      </p:pic>
      <p:sp>
        <p:nvSpPr>
          <p:cNvPr id="23" name="TextBox 22"/>
          <p:cNvSpPr txBox="1"/>
          <p:nvPr/>
        </p:nvSpPr>
        <p:spPr>
          <a:xfrm>
            <a:off x="3973883"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127372"/>
            <a:ext cx="8195381" cy="194310"/>
          </a:xfrm>
          <a:prstGeom prst="rect">
            <a:avLst/>
          </a:prstGeom>
          <a:noFill/>
        </p:spPr>
        <p:txBody>
          <a:bodyPr wrap="none" lIns="0" rIns="0" tIns="0" bIns="0">
            <a:spAutoFit/>
          </a:bodyPr>
          <a:lstStyle/>
          <a:p>
            <a:r>
              <a:rPr sz="1150" b="0">
                <a:solidFill>
                  <a:srgbClr val="2E2E2E"/>
                </a:solidFill>
                <a:latin typeface="Calibri"/>
              </a:rPr>
              <a:t>In terms of value share by end-use industry, the consumer goods &amp; home products segment is expected to dominate the market, gaining</a:t>
            </a:r>
          </a:p>
        </p:txBody>
      </p:sp>
      <p:pic>
        <p:nvPicPr>
          <p:cNvPr id="25" name="Picture 24" descr="lock.png"/>
          <p:cNvPicPr>
            <a:picLocks noChangeAspect="1"/>
          </p:cNvPicPr>
          <p:nvPr/>
        </p:nvPicPr>
        <p:blipFill>
          <a:blip r:embed="rId4"/>
          <a:stretch>
            <a:fillRect/>
          </a:stretch>
        </p:blipFill>
        <p:spPr>
          <a:xfrm>
            <a:off x="8420760" y="4117149"/>
            <a:ext cx="134549" cy="195707"/>
          </a:xfrm>
          <a:prstGeom prst="rect">
            <a:avLst/>
          </a:prstGeom>
        </p:spPr>
      </p:pic>
      <p:sp>
        <p:nvSpPr>
          <p:cNvPr id="26" name="TextBox 25"/>
          <p:cNvSpPr txBox="1"/>
          <p:nvPr/>
        </p:nvSpPr>
        <p:spPr>
          <a:xfrm>
            <a:off x="8595870"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991013" y="4117149"/>
            <a:ext cx="134549" cy="195707"/>
          </a:xfrm>
          <a:prstGeom prst="rect">
            <a:avLst/>
          </a:prstGeom>
        </p:spPr>
      </p:pic>
      <p:sp>
        <p:nvSpPr>
          <p:cNvPr id="28" name="TextBox 27"/>
          <p:cNvSpPr txBox="1"/>
          <p:nvPr/>
        </p:nvSpPr>
        <p:spPr>
          <a:xfrm>
            <a:off x="10166122" y="41273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29" name="TextBox 28"/>
          <p:cNvSpPr txBox="1"/>
          <p:nvPr/>
        </p:nvSpPr>
        <p:spPr>
          <a:xfrm>
            <a:off x="276225" y="4302632"/>
            <a:ext cx="3536329" cy="194310"/>
          </a:xfrm>
          <a:prstGeom prst="rect">
            <a:avLst/>
          </a:prstGeom>
          <a:noFill/>
        </p:spPr>
        <p:txBody>
          <a:bodyPr wrap="none" lIns="0" rIns="0" tIns="0" bIns="0">
            <a:spAutoFit/>
          </a:bodyPr>
          <a:lstStyle/>
          <a:p>
            <a:r>
              <a:rPr sz="1150" b="0">
                <a:solidFill>
                  <a:srgbClr val="2E2E2E"/>
                </a:solidFill>
                <a:latin typeface="Calibri"/>
              </a:rPr>
              <a:t>healthcare &amp; pharmaceuticals segment is expected to lose</a:t>
            </a:r>
          </a:p>
        </p:txBody>
      </p:sp>
      <p:pic>
        <p:nvPicPr>
          <p:cNvPr id="30" name="Picture 29" descr="lock.png"/>
          <p:cNvPicPr>
            <a:picLocks noChangeAspect="1"/>
          </p:cNvPicPr>
          <p:nvPr/>
        </p:nvPicPr>
        <p:blipFill>
          <a:blip r:embed="rId4"/>
          <a:stretch>
            <a:fillRect/>
          </a:stretch>
        </p:blipFill>
        <p:spPr>
          <a:xfrm>
            <a:off x="3761708" y="4292409"/>
            <a:ext cx="134549" cy="195707"/>
          </a:xfrm>
          <a:prstGeom prst="rect">
            <a:avLst/>
          </a:prstGeom>
        </p:spPr>
      </p:pic>
      <p:sp>
        <p:nvSpPr>
          <p:cNvPr id="31" name="TextBox 30"/>
          <p:cNvSpPr txBox="1"/>
          <p:nvPr/>
        </p:nvSpPr>
        <p:spPr>
          <a:xfrm>
            <a:off x="3936818"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6524322" y="4292409"/>
            <a:ext cx="134549" cy="195707"/>
          </a:xfrm>
          <a:prstGeom prst="rect">
            <a:avLst/>
          </a:prstGeom>
        </p:spPr>
      </p:pic>
      <p:sp>
        <p:nvSpPr>
          <p:cNvPr id="33" name="TextBox 32"/>
          <p:cNvSpPr txBox="1"/>
          <p:nvPr/>
        </p:nvSpPr>
        <p:spPr>
          <a:xfrm>
            <a:off x="6699431"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End-use Industry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End-use Industry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End-use Industry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754169"/>
            <a:ext cx="85725" cy="85725"/>
          </a:xfrm>
          <a:prstGeom prst="rect">
            <a:avLst/>
          </a:prstGeom>
          <a:solidFill>
            <a:srgbClr val="1F4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4940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67320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Aerospace &amp; Defense</a:t>
            </a:r>
          </a:p>
        </p:txBody>
      </p:sp>
      <p:sp>
        <p:nvSpPr>
          <p:cNvPr id="15" name="BPS Value 1"/>
          <p:cNvSpPr txBox="1"/>
          <p:nvPr/>
        </p:nvSpPr>
        <p:spPr>
          <a:xfrm>
            <a:off x="6896100" y="173511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059452"/>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05469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19784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Others</a:t>
            </a:r>
          </a:p>
        </p:txBody>
      </p:sp>
      <p:sp>
        <p:nvSpPr>
          <p:cNvPr id="19" name="BPS Value 2"/>
          <p:cNvSpPr txBox="1"/>
          <p:nvPr/>
        </p:nvSpPr>
        <p:spPr>
          <a:xfrm>
            <a:off x="6896100" y="204040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2508564"/>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250380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242760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Food &amp; Beverage</a:t>
            </a:r>
          </a:p>
        </p:txBody>
      </p:sp>
      <p:sp>
        <p:nvSpPr>
          <p:cNvPr id="23" name="BPS Value 3"/>
          <p:cNvSpPr txBox="1"/>
          <p:nvPr/>
        </p:nvSpPr>
        <p:spPr>
          <a:xfrm>
            <a:off x="6896100" y="24895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2974541"/>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296977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289357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Machinery &amp; Equipment</a:t>
            </a:r>
          </a:p>
        </p:txBody>
      </p:sp>
      <p:sp>
        <p:nvSpPr>
          <p:cNvPr id="27" name="BPS Value 4"/>
          <p:cNvSpPr txBox="1"/>
          <p:nvPr/>
        </p:nvSpPr>
        <p:spPr>
          <a:xfrm>
            <a:off x="6896100" y="295549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3493585"/>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348882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341262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Electronics &amp; Electrical</a:t>
            </a:r>
          </a:p>
        </p:txBody>
      </p:sp>
      <p:sp>
        <p:nvSpPr>
          <p:cNvPr id="31" name="BPS Value 5"/>
          <p:cNvSpPr txBox="1"/>
          <p:nvPr/>
        </p:nvSpPr>
        <p:spPr>
          <a:xfrm>
            <a:off x="6896100" y="3474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TMR Legend Chip"/>
          <p:cNvSpPr/>
          <p:nvPr/>
        </p:nvSpPr>
        <p:spPr>
          <a:xfrm>
            <a:off x="4928997" y="4068563"/>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5090922" y="406380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5233797" y="398760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Automotive</a:t>
            </a:r>
          </a:p>
        </p:txBody>
      </p:sp>
      <p:sp>
        <p:nvSpPr>
          <p:cNvPr id="35" name="BPS Value 6"/>
          <p:cNvSpPr txBox="1"/>
          <p:nvPr/>
        </p:nvSpPr>
        <p:spPr>
          <a:xfrm>
            <a:off x="6896100" y="404951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TMR Legend Chip"/>
          <p:cNvSpPr/>
          <p:nvPr/>
        </p:nvSpPr>
        <p:spPr>
          <a:xfrm>
            <a:off x="4928997" y="4717858"/>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5090922" y="471309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5233797" y="463689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Healthcare &amp; Pharmaceuticals</a:t>
            </a:r>
          </a:p>
        </p:txBody>
      </p:sp>
      <p:sp>
        <p:nvSpPr>
          <p:cNvPr id="39" name="BPS Value 7"/>
          <p:cNvSpPr txBox="1"/>
          <p:nvPr/>
        </p:nvSpPr>
        <p:spPr>
          <a:xfrm>
            <a:off x="6896100" y="469880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0" name="TMR Legend Chip"/>
          <p:cNvSpPr/>
          <p:nvPr/>
        </p:nvSpPr>
        <p:spPr>
          <a:xfrm>
            <a:off x="4928997" y="5657811"/>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5090922" y="565304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PS Name 8"/>
          <p:cNvSpPr txBox="1"/>
          <p:nvPr/>
        </p:nvSpPr>
        <p:spPr>
          <a:xfrm>
            <a:off x="5233797" y="557684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Consumer Goods &amp; Home Products</a:t>
            </a:r>
          </a:p>
        </p:txBody>
      </p:sp>
      <p:sp>
        <p:nvSpPr>
          <p:cNvPr id="43" name="BPS Value 8"/>
          <p:cNvSpPr txBox="1"/>
          <p:nvPr/>
        </p:nvSpPr>
        <p:spPr>
          <a:xfrm>
            <a:off x="6896100" y="563876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4" name="Rounded Rectangle 43"/>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End-use Industry</a:t>
            </a:r>
          </a:p>
        </p:txBody>
      </p:sp>
      <p:sp>
        <p:nvSpPr>
          <p:cNvPr id="46" name="Rectangle 45"/>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Rectangle 4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0" name="Picture 49" descr="lock.png"/>
          <p:cNvPicPr>
            <a:picLocks noChangeAspect="1"/>
          </p:cNvPicPr>
          <p:nvPr/>
        </p:nvPicPr>
        <p:blipFill>
          <a:blip r:embed="rId5"/>
          <a:stretch>
            <a:fillRect/>
          </a:stretch>
        </p:blipFill>
        <p:spPr>
          <a:xfrm>
            <a:off x="2557843" y="3833622"/>
            <a:ext cx="275034" cy="400050"/>
          </a:xfrm>
          <a:prstGeom prst="rect">
            <a:avLst/>
          </a:prstGeom>
        </p:spPr>
      </p:pic>
      <p:sp>
        <p:nvSpPr>
          <p:cNvPr id="51" name="TextBox 50"/>
          <p:cNvSpPr txBox="1"/>
          <p:nvPr/>
        </p:nvSpPr>
        <p:spPr>
          <a:xfrm>
            <a:off x="7829550" y="1400175"/>
            <a:ext cx="3769952" cy="194310"/>
          </a:xfrm>
          <a:prstGeom prst="rect">
            <a:avLst/>
          </a:prstGeom>
          <a:noFill/>
        </p:spPr>
        <p:txBody>
          <a:bodyPr wrap="none" lIns="0" rIns="0" tIns="0" bIns="0">
            <a:spAutoFit/>
          </a:bodyPr>
          <a:lstStyle/>
          <a:p>
            <a:r>
              <a:rPr sz="1150" b="0">
                <a:solidFill>
                  <a:srgbClr val="2E2E2E"/>
                </a:solidFill>
                <a:latin typeface="Calibri"/>
              </a:rPr>
              <a:t>Among foam protective packaging by end-use industry, others</a:t>
            </a:r>
          </a:p>
        </p:txBody>
      </p:sp>
      <p:sp>
        <p:nvSpPr>
          <p:cNvPr id="52" name="TextBox 51"/>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53" name="Picture 52" descr="lock.png"/>
          <p:cNvPicPr>
            <a:picLocks noChangeAspect="1"/>
          </p:cNvPicPr>
          <p:nvPr/>
        </p:nvPicPr>
        <p:blipFill>
          <a:blip r:embed="rId5"/>
          <a:stretch>
            <a:fillRect/>
          </a:stretch>
        </p:blipFill>
        <p:spPr>
          <a:xfrm>
            <a:off x="10935343" y="1565211"/>
            <a:ext cx="134549" cy="195707"/>
          </a:xfrm>
          <a:prstGeom prst="rect">
            <a:avLst/>
          </a:prstGeom>
        </p:spPr>
      </p:pic>
      <p:sp>
        <p:nvSpPr>
          <p:cNvPr id="54" name="TextBox 53"/>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5" name="TextBox 54"/>
          <p:cNvSpPr txBox="1"/>
          <p:nvPr/>
        </p:nvSpPr>
        <p:spPr>
          <a:xfrm>
            <a:off x="7829550" y="1750695"/>
            <a:ext cx="3885765" cy="194310"/>
          </a:xfrm>
          <a:prstGeom prst="rect">
            <a:avLst/>
          </a:prstGeom>
          <a:noFill/>
        </p:spPr>
        <p:txBody>
          <a:bodyPr wrap="none" lIns="0" rIns="0" tIns="0" bIns="0">
            <a:spAutoFit/>
          </a:bodyPr>
          <a:lstStyle/>
          <a:p>
            <a:r>
              <a:rPr sz="1150" b="0">
                <a:solidFill>
                  <a:srgbClr val="2E2E2E"/>
                </a:solidFill>
                <a:latin typeface="Calibri"/>
              </a:rPr>
              <a:t>forecast period. In terms of value share by end-use industry, the</a:t>
            </a:r>
          </a:p>
        </p:txBody>
      </p:sp>
      <p:sp>
        <p:nvSpPr>
          <p:cNvPr id="56" name="TextBox 55"/>
          <p:cNvSpPr txBox="1"/>
          <p:nvPr/>
        </p:nvSpPr>
        <p:spPr>
          <a:xfrm>
            <a:off x="7829550" y="1925955"/>
            <a:ext cx="3532906" cy="194310"/>
          </a:xfrm>
          <a:prstGeom prst="rect">
            <a:avLst/>
          </a:prstGeom>
          <a:noFill/>
        </p:spPr>
        <p:txBody>
          <a:bodyPr wrap="none" lIns="0" rIns="0" tIns="0" bIns="0">
            <a:spAutoFit/>
          </a:bodyPr>
          <a:lstStyle/>
          <a:p>
            <a:r>
              <a:rPr sz="1150" b="0">
                <a:solidFill>
                  <a:srgbClr val="2E2E2E"/>
                </a:solidFill>
                <a:latin typeface="Calibri"/>
              </a:rPr>
              <a:t>consumer goods &amp; home products segment is expected to</a:t>
            </a:r>
          </a:p>
        </p:txBody>
      </p:sp>
      <p:sp>
        <p:nvSpPr>
          <p:cNvPr id="57" name="TextBox 56"/>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58" name="Picture 57" descr="lock.png"/>
          <p:cNvPicPr>
            <a:picLocks noChangeAspect="1"/>
          </p:cNvPicPr>
          <p:nvPr/>
        </p:nvPicPr>
        <p:blipFill>
          <a:blip r:embed="rId5"/>
          <a:stretch>
            <a:fillRect/>
          </a:stretch>
        </p:blipFill>
        <p:spPr>
          <a:xfrm>
            <a:off x="9615776" y="2090991"/>
            <a:ext cx="134549" cy="195707"/>
          </a:xfrm>
          <a:prstGeom prst="rect">
            <a:avLst/>
          </a:prstGeom>
        </p:spPr>
      </p:pic>
      <p:sp>
        <p:nvSpPr>
          <p:cNvPr id="59" name="TextBox 58"/>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0" name="Picture 59" descr="lock.png"/>
          <p:cNvPicPr>
            <a:picLocks noChangeAspect="1"/>
          </p:cNvPicPr>
          <p:nvPr/>
        </p:nvPicPr>
        <p:blipFill>
          <a:blip r:embed="rId5"/>
          <a:stretch>
            <a:fillRect/>
          </a:stretch>
        </p:blipFill>
        <p:spPr>
          <a:xfrm>
            <a:off x="11186028" y="2090991"/>
            <a:ext cx="134549" cy="195707"/>
          </a:xfrm>
          <a:prstGeom prst="rect">
            <a:avLst/>
          </a:prstGeom>
        </p:spPr>
      </p:pic>
      <p:sp>
        <p:nvSpPr>
          <p:cNvPr id="61" name="TextBox 60"/>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2" name="TextBox 61"/>
          <p:cNvSpPr txBox="1"/>
          <p:nvPr/>
        </p:nvSpPr>
        <p:spPr>
          <a:xfrm>
            <a:off x="7829550" y="2504313"/>
            <a:ext cx="3790205" cy="194310"/>
          </a:xfrm>
          <a:prstGeom prst="rect">
            <a:avLst/>
          </a:prstGeom>
          <a:noFill/>
        </p:spPr>
        <p:txBody>
          <a:bodyPr wrap="none" lIns="0" rIns="0" tIns="0" bIns="0">
            <a:spAutoFit/>
          </a:bodyPr>
          <a:lstStyle/>
          <a:p>
            <a:r>
              <a:rPr sz="1150" b="0">
                <a:solidFill>
                  <a:srgbClr val="2E2E2E"/>
                </a:solidFill>
                <a:latin typeface="Calibri"/>
              </a:rPr>
              <a:t>The healthcare &amp; pharmaceuticals segment is expected to lose</a:t>
            </a:r>
          </a:p>
        </p:txBody>
      </p:sp>
      <p:pic>
        <p:nvPicPr>
          <p:cNvPr id="63" name="Picture 62" descr="lock.png"/>
          <p:cNvPicPr>
            <a:picLocks noChangeAspect="1"/>
          </p:cNvPicPr>
          <p:nvPr/>
        </p:nvPicPr>
        <p:blipFill>
          <a:blip r:embed="rId5"/>
          <a:stretch>
            <a:fillRect/>
          </a:stretch>
        </p:blipFill>
        <p:spPr>
          <a:xfrm>
            <a:off x="11568909" y="2494089"/>
            <a:ext cx="134549" cy="195707"/>
          </a:xfrm>
          <a:prstGeom prst="rect">
            <a:avLst/>
          </a:prstGeom>
        </p:spPr>
      </p:pic>
      <p:sp>
        <p:nvSpPr>
          <p:cNvPr id="64" name="TextBox 63"/>
          <p:cNvSpPr txBox="1"/>
          <p:nvPr/>
        </p:nvSpPr>
        <p:spPr>
          <a:xfrm>
            <a:off x="7829550"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65" name="Picture 64" descr="lock.png"/>
          <p:cNvPicPr>
            <a:picLocks noChangeAspect="1"/>
          </p:cNvPicPr>
          <p:nvPr/>
        </p:nvPicPr>
        <p:blipFill>
          <a:blip r:embed="rId5"/>
          <a:stretch>
            <a:fillRect/>
          </a:stretch>
        </p:blipFill>
        <p:spPr>
          <a:xfrm>
            <a:off x="10417054" y="2669349"/>
            <a:ext cx="134549" cy="195707"/>
          </a:xfrm>
          <a:prstGeom prst="rect">
            <a:avLst/>
          </a:prstGeom>
        </p:spPr>
      </p:pic>
      <p:sp>
        <p:nvSpPr>
          <p:cNvPr id="66" name="TextBox 65"/>
          <p:cNvSpPr txBox="1"/>
          <p:nvPr/>
        </p:nvSpPr>
        <p:spPr>
          <a:xfrm>
            <a:off x="1059216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Cross-sectional Assessment</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Material Type × 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Form × End-use Industry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Material Type × Product Form</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Material Type × Product Form, 2026E vs 2036F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material type sub-segment across product form sub-segments</a:t>
            </a:r>
          </a:p>
        </p:txBody>
      </p:sp>
      <p:sp>
        <p:nvSpPr>
          <p:cNvPr id="7" name="Rounded Rectangle 6"/>
          <p:cNvSpPr/>
          <p:nvPr/>
        </p:nvSpPr>
        <p:spPr>
          <a:xfrm>
            <a:off x="142875" y="981075"/>
            <a:ext cx="11906250" cy="3209925"/>
          </a:xfrm>
          <a:prstGeom prst="roundRect">
            <a:avLst>
              <a:gd name="adj" fmla="val 237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Material Type × Product Form, 2026E and 2036F (US$ Mn)</a:t>
            </a:r>
          </a:p>
        </p:txBody>
      </p:sp>
      <p:graphicFrame>
        <p:nvGraphicFramePr>
          <p:cNvPr id="9" name="Table 8"/>
          <p:cNvGraphicFramePr>
            <a:graphicFrameLocks noGrp="1"/>
          </p:cNvGraphicFramePr>
          <p:nvPr/>
        </p:nvGraphicFramePr>
        <p:xfrm>
          <a:off x="152400" y="1238250"/>
          <a:ext cx="11890504" cy="2743197"/>
        </p:xfrm>
        <a:graphic>
          <a:graphicData uri="http://schemas.openxmlformats.org/drawingml/2006/table">
            <a:tbl>
              <a:tblPr>
                <a:tableStyleId>{5C22544A-7EE6-4342-B048-85BDC9FD1C3A}</a:tableStyleId>
              </a:tblPr>
              <a:tblGrid>
                <a:gridCol w="1648279"/>
                <a:gridCol w="429057"/>
                <a:gridCol w="424187"/>
                <a:gridCol w="429057"/>
                <a:gridCol w="424187"/>
                <a:gridCol w="429057"/>
                <a:gridCol w="424187"/>
                <a:gridCol w="429057"/>
                <a:gridCol w="424187"/>
                <a:gridCol w="429057"/>
                <a:gridCol w="424187"/>
                <a:gridCol w="429057"/>
                <a:gridCol w="424187"/>
                <a:gridCol w="429057"/>
                <a:gridCol w="424187"/>
                <a:gridCol w="429057"/>
                <a:gridCol w="424187"/>
                <a:gridCol w="429057"/>
                <a:gridCol w="424187"/>
                <a:gridCol w="429057"/>
                <a:gridCol w="424187"/>
                <a:gridCol w="429057"/>
                <a:gridCol w="424187"/>
                <a:gridCol w="429057"/>
                <a:gridCol w="427484"/>
              </a:tblGrid>
              <a:tr h="1017270">
                <a:tc rowSpan="2">
                  <a:txBody>
                    <a:bodyPr wrap="none"/>
                    <a:lstStyle/>
                    <a:p>
                      <a:pPr algn="l"/>
                      <a:r>
                        <a:rPr sz="1100" b="1">
                          <a:solidFill>
                            <a:srgbClr val="0E2A5C"/>
                          </a:solidFill>
                          <a:latin typeface="Calibri"/>
                        </a:rPr>
                        <a:t>Material Type</a:t>
                      </a: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Non-</a:t>
                      </a:r>
                      <a:endParaRPr sz="1100"/>
                    </a:p>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Sheets, Rolls</a:t>
                      </a:r>
                      <a:endParaRPr sz="1100"/>
                    </a:p>
                    <a:p>
                      <a:pPr algn="ctr"/>
                      <a:r>
                        <a:rPr sz="1100" b="1">
                          <a:solidFill>
                            <a:srgbClr val="0E2A5C"/>
                          </a:solidFill>
                          <a:latin typeface="Calibri"/>
                        </a:rPr>
                        <a:t>&amp; Planks</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Foam-in-</a:t>
                      </a:r>
                      <a:endParaRPr sz="1100"/>
                    </a:p>
                    <a:p>
                      <a:pPr algn="ctr"/>
                      <a:r>
                        <a:rPr sz="1100" b="1">
                          <a:solidFill>
                            <a:srgbClr val="0E2A5C"/>
                          </a:solidFill>
                          <a:latin typeface="Calibri"/>
                        </a:rPr>
                        <a:t>Place</a:t>
                      </a:r>
                      <a:endParaRPr sz="1100"/>
                    </a:p>
                    <a:p>
                      <a:pPr algn="ctr"/>
                      <a:r>
                        <a:rPr sz="1100" b="1">
                          <a:solidFill>
                            <a:srgbClr val="0E2A5C"/>
                          </a:solidFill>
                          <a:latin typeface="Calibri"/>
                        </a:rPr>
                        <a:t>Packaging</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Pouches,</a:t>
                      </a:r>
                      <a:endParaRPr sz="1100"/>
                    </a:p>
                    <a:p>
                      <a:pPr algn="ctr"/>
                      <a:r>
                        <a:rPr sz="1100" b="1">
                          <a:solidFill>
                            <a:srgbClr val="0E2A5C"/>
                          </a:solidFill>
                          <a:latin typeface="Calibri"/>
                        </a:rPr>
                        <a:t>Bags &amp;</a:t>
                      </a:r>
                      <a:endParaRPr sz="1100"/>
                    </a:p>
                    <a:p>
                      <a:pPr algn="ctr"/>
                      <a:r>
                        <a:rPr sz="1100" b="1">
                          <a:solidFill>
                            <a:srgbClr val="0E2A5C"/>
                          </a:solidFill>
                          <a:latin typeface="Calibri"/>
                        </a:rPr>
                        <a:t>Sleeves</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Foam Loose-</a:t>
                      </a:r>
                      <a:endParaRPr sz="1100"/>
                    </a:p>
                    <a:p>
                      <a:pPr algn="ctr"/>
                      <a:r>
                        <a:rPr sz="1100" b="1">
                          <a:solidFill>
                            <a:srgbClr val="0E2A5C"/>
                          </a:solidFill>
                          <a:latin typeface="Calibri"/>
                        </a:rPr>
                        <a:t>Fill</a:t>
                      </a:r>
                      <a:endParaRPr sz="1100"/>
                    </a:p>
                    <a:p>
                      <a:pPr algn="ctr"/>
                      <a:r>
                        <a:rPr sz="1100" b="1">
                          <a:solidFill>
                            <a:srgbClr val="0E2A5C"/>
                          </a:solidFill>
                          <a:latin typeface="Calibri"/>
                        </a:rPr>
                        <a:t>Packaging</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Extruded</a:t>
                      </a:r>
                      <a:endParaRPr sz="1100"/>
                    </a:p>
                    <a:p>
                      <a:pPr algn="ctr"/>
                      <a:r>
                        <a:rPr sz="1100" b="1">
                          <a:solidFill>
                            <a:srgbClr val="0E2A5C"/>
                          </a:solidFill>
                          <a:latin typeface="Calibri"/>
                        </a:rPr>
                        <a:t>Polystyrene</a:t>
                      </a:r>
                      <a:endParaRPr sz="1100"/>
                    </a:p>
                    <a:p>
                      <a:pPr algn="ctr"/>
                      <a:r>
                        <a:rPr sz="1100" b="1">
                          <a:solidFill>
                            <a:srgbClr val="0E2A5C"/>
                          </a:solidFill>
                          <a:latin typeface="Calibri"/>
                        </a:rPr>
                        <a:t>Foam</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Other</a:t>
                      </a:r>
                      <a:endParaRPr sz="1100"/>
                    </a:p>
                    <a:p>
                      <a:pPr algn="ctr"/>
                      <a:r>
                        <a:rPr sz="1100" b="1">
                          <a:solidFill>
                            <a:srgbClr val="0E2A5C"/>
                          </a:solidFill>
                          <a:latin typeface="Calibri"/>
                        </a:rPr>
                        <a:t>Polyolefin &amp;</a:t>
                      </a:r>
                      <a:endParaRPr sz="1100"/>
                    </a:p>
                    <a:p>
                      <a:pPr algn="ctr"/>
                      <a:r>
                        <a:rPr sz="1100" b="1">
                          <a:solidFill>
                            <a:srgbClr val="0E2A5C"/>
                          </a:solidFill>
                          <a:latin typeface="Calibri"/>
                        </a:rPr>
                        <a:t>Specialty</a:t>
                      </a:r>
                      <a:endParaRPr sz="1100"/>
                    </a:p>
                    <a:p>
                      <a:pPr algn="ctr"/>
                      <a:r>
                        <a:rPr sz="1100" b="1">
                          <a:solidFill>
                            <a:srgbClr val="0E2A5C"/>
                          </a:solidFill>
                          <a:latin typeface="Calibri"/>
                        </a:rPr>
                        <a:t>Polymer</a:t>
                      </a:r>
                      <a:endParaRPr sz="1100"/>
                    </a:p>
                    <a:p>
                      <a:pPr algn="ctr"/>
                      <a:r>
                        <a:rPr sz="1100" b="1">
                          <a:solidFill>
                            <a:srgbClr val="0E2A5C"/>
                          </a:solidFill>
                          <a:latin typeface="Calibri"/>
                        </a:rPr>
                        <a:t>Foams</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Bio-based /</a:t>
                      </a:r>
                      <a:endParaRPr sz="1100"/>
                    </a:p>
                    <a:p>
                      <a:pPr algn="ctr"/>
                      <a:r>
                        <a:rPr sz="1100" b="1">
                          <a:solidFill>
                            <a:srgbClr val="0E2A5C"/>
                          </a:solidFill>
                          <a:latin typeface="Calibri"/>
                        </a:rPr>
                        <a:t>Starch-based</a:t>
                      </a:r>
                      <a:endParaRPr sz="1100"/>
                    </a:p>
                    <a:p>
                      <a:pPr algn="ctr"/>
                      <a:r>
                        <a:rPr sz="1100" b="1">
                          <a:solidFill>
                            <a:srgbClr val="0E2A5C"/>
                          </a:solidFill>
                          <a:latin typeface="Calibri"/>
                        </a:rPr>
                        <a:t>Foams</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28575" marR="19050" marT="19050" marB="19050" anchor="ctr">
                    <a:solidFill>
                      <a:srgbClr val="EBF2F9"/>
                    </a:solidFill>
                  </a:tcPr>
                </a:tc>
                <a:tc hMerge="1">
                  <a:txBody>
                    <a:bodyPr wrap="none"/>
                    <a:lstStyle/>
                    <a:p>
                      <a:pPr algn="ctr"/>
                      <a:endParaRPr sz="1100"/>
                    </a:p>
                  </a:txBody>
                  <a:tcPr marL="28575" marR="19050" marT="19050" marB="19050" anchor="ctr">
                    <a:solidFill>
                      <a:srgbClr val="EBF2F9"/>
                    </a:solidFill>
                  </a:tcPr>
                </a:tc>
              </a:tr>
              <a:tr h="246561">
                <a:tc vMerge="1">
                  <a:txBody>
                    <a:bodyPr wrap="none"/>
                    <a:lstStyle/>
                    <a:p>
                      <a:pPr algn="l"/>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r>
              <a:tr h="246561">
                <a:tc>
                  <a:txBody>
                    <a:bodyPr wrap="none"/>
                    <a:lstStyle/>
                    <a:p>
                      <a:pPr algn="l"/>
                      <a:r>
                        <a:rPr sz="1100" b="1">
                          <a:solidFill>
                            <a:srgbClr val="2E2E2E"/>
                          </a:solidFill>
                          <a:latin typeface="Calibri"/>
                        </a:rPr>
                        <a:t>Polyethylene (PE) Foam</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6561">
                <a:tc>
                  <a:txBody>
                    <a:bodyPr wrap="none"/>
                    <a:lstStyle/>
                    <a:p>
                      <a:pPr algn="l"/>
                      <a:r>
                        <a:rPr sz="1100" b="1">
                          <a:solidFill>
                            <a:srgbClr val="2E2E2E"/>
                          </a:solidFill>
                          <a:latin typeface="Calibri"/>
                        </a:rPr>
                        <a:t>Expanded Polystyrene</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246561">
                <a:tc>
                  <a:txBody>
                    <a:bodyPr wrap="none"/>
                    <a:lstStyle/>
                    <a:p>
                      <a:pPr algn="l"/>
                      <a:r>
                        <a:rPr sz="1100" b="1">
                          <a:solidFill>
                            <a:srgbClr val="2E2E2E"/>
                          </a:solidFill>
                          <a:latin typeface="Calibri"/>
                        </a:rPr>
                        <a:t>Polyurethane (PU) Foam</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6561">
                <a:tc>
                  <a:txBody>
                    <a:bodyPr wrap="none"/>
                    <a:lstStyle/>
                    <a:p>
                      <a:pPr algn="l"/>
                      <a:r>
                        <a:rPr sz="1100" b="1">
                          <a:solidFill>
                            <a:srgbClr val="2E2E2E"/>
                          </a:solidFill>
                          <a:latin typeface="Calibri"/>
                        </a:rPr>
                        <a:t>Expanded Polypropylene</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246561">
                <a:tc>
                  <a:txBody>
                    <a:bodyPr wrap="none"/>
                    <a:lstStyle/>
                    <a:p>
                      <a:pPr algn="l"/>
                      <a:r>
                        <a:rPr sz="1100" b="1">
                          <a:solidFill>
                            <a:srgbClr val="2E2E2E"/>
                          </a:solidFill>
                          <a:latin typeface="Calibri"/>
                        </a:rPr>
                        <a:t>Other Foam Materials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6561">
                <a:tc>
                  <a:txBody>
                    <a:bodyPr wrap="none"/>
                    <a:lstStyle/>
                    <a:p>
                      <a:pPr algn="l"/>
                      <a:r>
                        <a:rPr sz="1100" b="1">
                          <a:solidFill>
                            <a:srgbClr val="2E2E2E"/>
                          </a:solidFill>
                          <a:latin typeface="Calibri"/>
                        </a:rPr>
                        <a:t>Total</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r>
            </a:tbl>
          </a:graphicData>
        </a:graphic>
      </p:graphicFrame>
      <p:sp>
        <p:nvSpPr>
          <p:cNvPr id="10" name="TextBox 9"/>
          <p:cNvSpPr txBox="1"/>
          <p:nvPr/>
        </p:nvSpPr>
        <p:spPr>
          <a:xfrm>
            <a:off x="219075" y="3990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693653" y="2975063"/>
            <a:ext cx="366712" cy="533400"/>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Material Type × Product Form, 2026E vs 2036F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material type sub-segment across product form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Material Type → Product Form, 2036F (US$ Mn)</a:t>
            </a:r>
          </a:p>
        </p:txBody>
      </p:sp>
      <p:sp>
        <p:nvSpPr>
          <p:cNvPr id="9" name="Freeform 8"/>
          <p:cNvSpPr/>
          <p:nvPr/>
        </p:nvSpPr>
        <p:spPr>
          <a:xfrm>
            <a:off x="2057400" y="1304925"/>
            <a:ext cx="3743325" cy="666750"/>
          </a:xfrm>
          <a:custGeom>
            <a:avLst/>
            <a:gdLst/>
            <a:ahLst/>
            <a:cxnLst/>
            <a:rect l="l" t="t" r="r" b="b"/>
            <a:pathLst>
              <a:path w="393" h="70">
                <a:moveTo>
                  <a:pt x="0" y="18"/>
                </a:moveTo>
                <a:lnTo>
                  <a:pt x="16" y="18"/>
                </a:lnTo>
                <a:lnTo>
                  <a:pt x="33" y="18"/>
                </a:lnTo>
                <a:lnTo>
                  <a:pt x="49" y="17"/>
                </a:lnTo>
                <a:lnTo>
                  <a:pt x="65" y="17"/>
                </a:lnTo>
                <a:lnTo>
                  <a:pt x="82" y="16"/>
                </a:lnTo>
                <a:lnTo>
                  <a:pt x="98" y="15"/>
                </a:lnTo>
                <a:lnTo>
                  <a:pt x="114" y="14"/>
                </a:lnTo>
                <a:lnTo>
                  <a:pt x="131" y="13"/>
                </a:lnTo>
                <a:lnTo>
                  <a:pt x="147" y="12"/>
                </a:lnTo>
                <a:lnTo>
                  <a:pt x="164" y="11"/>
                </a:lnTo>
                <a:lnTo>
                  <a:pt x="180" y="10"/>
                </a:lnTo>
                <a:lnTo>
                  <a:pt x="196" y="9"/>
                </a:lnTo>
                <a:lnTo>
                  <a:pt x="213" y="8"/>
                </a:lnTo>
                <a:lnTo>
                  <a:pt x="229" y="7"/>
                </a:lnTo>
                <a:lnTo>
                  <a:pt x="246" y="6"/>
                </a:lnTo>
                <a:lnTo>
                  <a:pt x="262" y="5"/>
                </a:lnTo>
                <a:lnTo>
                  <a:pt x="278" y="4"/>
                </a:lnTo>
                <a:lnTo>
                  <a:pt x="295" y="3"/>
                </a:lnTo>
                <a:lnTo>
                  <a:pt x="311" y="2"/>
                </a:lnTo>
                <a:lnTo>
                  <a:pt x="327" y="1"/>
                </a:lnTo>
                <a:lnTo>
                  <a:pt x="344" y="1"/>
                </a:lnTo>
                <a:lnTo>
                  <a:pt x="360" y="0"/>
                </a:lnTo>
                <a:lnTo>
                  <a:pt x="377" y="0"/>
                </a:lnTo>
                <a:lnTo>
                  <a:pt x="393" y="0"/>
                </a:lnTo>
                <a:lnTo>
                  <a:pt x="393" y="52"/>
                </a:lnTo>
                <a:lnTo>
                  <a:pt x="377" y="53"/>
                </a:lnTo>
                <a:lnTo>
                  <a:pt x="360" y="53"/>
                </a:lnTo>
                <a:lnTo>
                  <a:pt x="344" y="53"/>
                </a:lnTo>
                <a:lnTo>
                  <a:pt x="327" y="54"/>
                </a:lnTo>
                <a:lnTo>
                  <a:pt x="311" y="54"/>
                </a:lnTo>
                <a:lnTo>
                  <a:pt x="295" y="55"/>
                </a:lnTo>
                <a:lnTo>
                  <a:pt x="278" y="56"/>
                </a:lnTo>
                <a:lnTo>
                  <a:pt x="262" y="57"/>
                </a:lnTo>
                <a:lnTo>
                  <a:pt x="246" y="58"/>
                </a:lnTo>
                <a:lnTo>
                  <a:pt x="229" y="59"/>
                </a:lnTo>
                <a:lnTo>
                  <a:pt x="213" y="60"/>
                </a:lnTo>
                <a:lnTo>
                  <a:pt x="196" y="61"/>
                </a:lnTo>
                <a:lnTo>
                  <a:pt x="180" y="63"/>
                </a:lnTo>
                <a:lnTo>
                  <a:pt x="164" y="64"/>
                </a:lnTo>
                <a:lnTo>
                  <a:pt x="147" y="65"/>
                </a:lnTo>
                <a:lnTo>
                  <a:pt x="131" y="66"/>
                </a:lnTo>
                <a:lnTo>
                  <a:pt x="114" y="67"/>
                </a:lnTo>
                <a:lnTo>
                  <a:pt x="98" y="68"/>
                </a:lnTo>
                <a:lnTo>
                  <a:pt x="82" y="68"/>
                </a:lnTo>
                <a:lnTo>
                  <a:pt x="65" y="69"/>
                </a:lnTo>
                <a:lnTo>
                  <a:pt x="49" y="70"/>
                </a:lnTo>
                <a:lnTo>
                  <a:pt x="33" y="70"/>
                </a:lnTo>
                <a:lnTo>
                  <a:pt x="16" y="70"/>
                </a:lnTo>
                <a:lnTo>
                  <a:pt x="0" y="7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057400" y="1971675"/>
            <a:ext cx="3743325" cy="1143000"/>
          </a:xfrm>
          <a:custGeom>
            <a:avLst/>
            <a:gdLst/>
            <a:ahLst/>
            <a:cxnLst/>
            <a:rect l="l" t="t" r="r" b="b"/>
            <a:pathLst>
              <a:path w="393" h="120">
                <a:moveTo>
                  <a:pt x="0" y="0"/>
                </a:moveTo>
                <a:lnTo>
                  <a:pt x="16" y="1"/>
                </a:lnTo>
                <a:lnTo>
                  <a:pt x="33" y="2"/>
                </a:lnTo>
                <a:lnTo>
                  <a:pt x="49" y="4"/>
                </a:lnTo>
                <a:lnTo>
                  <a:pt x="65" y="7"/>
                </a:lnTo>
                <a:lnTo>
                  <a:pt x="82" y="11"/>
                </a:lnTo>
                <a:lnTo>
                  <a:pt x="98" y="15"/>
                </a:lnTo>
                <a:lnTo>
                  <a:pt x="114" y="20"/>
                </a:lnTo>
                <a:lnTo>
                  <a:pt x="131" y="25"/>
                </a:lnTo>
                <a:lnTo>
                  <a:pt x="147" y="30"/>
                </a:lnTo>
                <a:lnTo>
                  <a:pt x="164" y="35"/>
                </a:lnTo>
                <a:lnTo>
                  <a:pt x="180" y="41"/>
                </a:lnTo>
                <a:lnTo>
                  <a:pt x="196" y="47"/>
                </a:lnTo>
                <a:lnTo>
                  <a:pt x="213" y="53"/>
                </a:lnTo>
                <a:lnTo>
                  <a:pt x="229" y="58"/>
                </a:lnTo>
                <a:lnTo>
                  <a:pt x="246" y="64"/>
                </a:lnTo>
                <a:lnTo>
                  <a:pt x="262" y="69"/>
                </a:lnTo>
                <a:lnTo>
                  <a:pt x="278" y="74"/>
                </a:lnTo>
                <a:lnTo>
                  <a:pt x="295" y="79"/>
                </a:lnTo>
                <a:lnTo>
                  <a:pt x="311" y="83"/>
                </a:lnTo>
                <a:lnTo>
                  <a:pt x="327" y="86"/>
                </a:lnTo>
                <a:lnTo>
                  <a:pt x="344" y="89"/>
                </a:lnTo>
                <a:lnTo>
                  <a:pt x="360" y="92"/>
                </a:lnTo>
                <a:lnTo>
                  <a:pt x="377" y="93"/>
                </a:lnTo>
                <a:lnTo>
                  <a:pt x="393" y="93"/>
                </a:lnTo>
                <a:lnTo>
                  <a:pt x="393" y="120"/>
                </a:lnTo>
                <a:lnTo>
                  <a:pt x="377" y="120"/>
                </a:lnTo>
                <a:lnTo>
                  <a:pt x="360" y="118"/>
                </a:lnTo>
                <a:lnTo>
                  <a:pt x="344" y="116"/>
                </a:lnTo>
                <a:lnTo>
                  <a:pt x="327" y="113"/>
                </a:lnTo>
                <a:lnTo>
                  <a:pt x="311" y="110"/>
                </a:lnTo>
                <a:lnTo>
                  <a:pt x="295" y="106"/>
                </a:lnTo>
                <a:lnTo>
                  <a:pt x="278" y="101"/>
                </a:lnTo>
                <a:lnTo>
                  <a:pt x="262" y="96"/>
                </a:lnTo>
                <a:lnTo>
                  <a:pt x="246" y="91"/>
                </a:lnTo>
                <a:lnTo>
                  <a:pt x="229" y="85"/>
                </a:lnTo>
                <a:lnTo>
                  <a:pt x="213" y="79"/>
                </a:lnTo>
                <a:lnTo>
                  <a:pt x="196" y="74"/>
                </a:lnTo>
                <a:lnTo>
                  <a:pt x="180" y="68"/>
                </a:lnTo>
                <a:lnTo>
                  <a:pt x="164" y="62"/>
                </a:lnTo>
                <a:lnTo>
                  <a:pt x="147" y="57"/>
                </a:lnTo>
                <a:lnTo>
                  <a:pt x="131" y="51"/>
                </a:lnTo>
                <a:lnTo>
                  <a:pt x="114" y="46"/>
                </a:lnTo>
                <a:lnTo>
                  <a:pt x="98" y="42"/>
                </a:lnTo>
                <a:lnTo>
                  <a:pt x="82" y="38"/>
                </a:lnTo>
                <a:lnTo>
                  <a:pt x="65" y="34"/>
                </a:lnTo>
                <a:lnTo>
                  <a:pt x="49" y="31"/>
                </a:lnTo>
                <a:lnTo>
                  <a:pt x="33" y="29"/>
                </a:lnTo>
                <a:lnTo>
                  <a:pt x="16" y="28"/>
                </a:lnTo>
                <a:lnTo>
                  <a:pt x="0" y="27"/>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057400" y="2228850"/>
            <a:ext cx="3743325" cy="1647825"/>
          </a:xfrm>
          <a:custGeom>
            <a:avLst/>
            <a:gdLst/>
            <a:ahLst/>
            <a:cxnLst/>
            <a:rect l="l" t="t" r="r" b="b"/>
            <a:pathLst>
              <a:path w="393" h="173">
                <a:moveTo>
                  <a:pt x="0" y="0"/>
                </a:moveTo>
                <a:lnTo>
                  <a:pt x="16" y="1"/>
                </a:lnTo>
                <a:lnTo>
                  <a:pt x="33" y="3"/>
                </a:lnTo>
                <a:lnTo>
                  <a:pt x="49" y="7"/>
                </a:lnTo>
                <a:lnTo>
                  <a:pt x="65" y="12"/>
                </a:lnTo>
                <a:lnTo>
                  <a:pt x="82" y="17"/>
                </a:lnTo>
                <a:lnTo>
                  <a:pt x="98" y="24"/>
                </a:lnTo>
                <a:lnTo>
                  <a:pt x="114" y="32"/>
                </a:lnTo>
                <a:lnTo>
                  <a:pt x="131" y="40"/>
                </a:lnTo>
                <a:lnTo>
                  <a:pt x="147" y="48"/>
                </a:lnTo>
                <a:lnTo>
                  <a:pt x="164" y="58"/>
                </a:lnTo>
                <a:lnTo>
                  <a:pt x="180" y="67"/>
                </a:lnTo>
                <a:lnTo>
                  <a:pt x="196" y="76"/>
                </a:lnTo>
                <a:lnTo>
                  <a:pt x="213" y="86"/>
                </a:lnTo>
                <a:lnTo>
                  <a:pt x="229" y="95"/>
                </a:lnTo>
                <a:lnTo>
                  <a:pt x="246" y="104"/>
                </a:lnTo>
                <a:lnTo>
                  <a:pt x="262" y="113"/>
                </a:lnTo>
                <a:lnTo>
                  <a:pt x="278" y="121"/>
                </a:lnTo>
                <a:lnTo>
                  <a:pt x="295" y="129"/>
                </a:lnTo>
                <a:lnTo>
                  <a:pt x="311" y="136"/>
                </a:lnTo>
                <a:lnTo>
                  <a:pt x="327" y="141"/>
                </a:lnTo>
                <a:lnTo>
                  <a:pt x="344" y="146"/>
                </a:lnTo>
                <a:lnTo>
                  <a:pt x="360" y="150"/>
                </a:lnTo>
                <a:lnTo>
                  <a:pt x="377" y="152"/>
                </a:lnTo>
                <a:lnTo>
                  <a:pt x="393" y="153"/>
                </a:lnTo>
                <a:lnTo>
                  <a:pt x="393" y="173"/>
                </a:lnTo>
                <a:lnTo>
                  <a:pt x="377" y="172"/>
                </a:lnTo>
                <a:lnTo>
                  <a:pt x="360" y="170"/>
                </a:lnTo>
                <a:lnTo>
                  <a:pt x="344" y="166"/>
                </a:lnTo>
                <a:lnTo>
                  <a:pt x="327" y="162"/>
                </a:lnTo>
                <a:lnTo>
                  <a:pt x="311" y="156"/>
                </a:lnTo>
                <a:lnTo>
                  <a:pt x="295" y="149"/>
                </a:lnTo>
                <a:lnTo>
                  <a:pt x="278" y="142"/>
                </a:lnTo>
                <a:lnTo>
                  <a:pt x="262" y="133"/>
                </a:lnTo>
                <a:lnTo>
                  <a:pt x="246" y="125"/>
                </a:lnTo>
                <a:lnTo>
                  <a:pt x="229" y="116"/>
                </a:lnTo>
                <a:lnTo>
                  <a:pt x="213" y="106"/>
                </a:lnTo>
                <a:lnTo>
                  <a:pt x="196" y="97"/>
                </a:lnTo>
                <a:lnTo>
                  <a:pt x="180" y="87"/>
                </a:lnTo>
                <a:lnTo>
                  <a:pt x="164" y="78"/>
                </a:lnTo>
                <a:lnTo>
                  <a:pt x="147" y="69"/>
                </a:lnTo>
                <a:lnTo>
                  <a:pt x="131" y="60"/>
                </a:lnTo>
                <a:lnTo>
                  <a:pt x="114" y="52"/>
                </a:lnTo>
                <a:lnTo>
                  <a:pt x="98" y="44"/>
                </a:lnTo>
                <a:lnTo>
                  <a:pt x="82" y="38"/>
                </a:lnTo>
                <a:lnTo>
                  <a:pt x="65" y="32"/>
                </a:lnTo>
                <a:lnTo>
                  <a:pt x="49" y="27"/>
                </a:lnTo>
                <a:lnTo>
                  <a:pt x="33" y="23"/>
                </a:lnTo>
                <a:lnTo>
                  <a:pt x="16" y="21"/>
                </a:lnTo>
                <a:lnTo>
                  <a:pt x="0" y="2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057400" y="2419350"/>
            <a:ext cx="3743325" cy="2057400"/>
          </a:xfrm>
          <a:custGeom>
            <a:avLst/>
            <a:gdLst/>
            <a:ahLst/>
            <a:cxnLst/>
            <a:rect l="l" t="t" r="r" b="b"/>
            <a:pathLst>
              <a:path w="393" h="216">
                <a:moveTo>
                  <a:pt x="0" y="0"/>
                </a:moveTo>
                <a:lnTo>
                  <a:pt x="16" y="1"/>
                </a:lnTo>
                <a:lnTo>
                  <a:pt x="33" y="4"/>
                </a:lnTo>
                <a:lnTo>
                  <a:pt x="49" y="9"/>
                </a:lnTo>
                <a:lnTo>
                  <a:pt x="65" y="15"/>
                </a:lnTo>
                <a:lnTo>
                  <a:pt x="82" y="23"/>
                </a:lnTo>
                <a:lnTo>
                  <a:pt x="98" y="32"/>
                </a:lnTo>
                <a:lnTo>
                  <a:pt x="114" y="41"/>
                </a:lnTo>
                <a:lnTo>
                  <a:pt x="131" y="52"/>
                </a:lnTo>
                <a:lnTo>
                  <a:pt x="147" y="63"/>
                </a:lnTo>
                <a:lnTo>
                  <a:pt x="164" y="75"/>
                </a:lnTo>
                <a:lnTo>
                  <a:pt x="180" y="87"/>
                </a:lnTo>
                <a:lnTo>
                  <a:pt x="196" y="100"/>
                </a:lnTo>
                <a:lnTo>
                  <a:pt x="213" y="112"/>
                </a:lnTo>
                <a:lnTo>
                  <a:pt x="229" y="125"/>
                </a:lnTo>
                <a:lnTo>
                  <a:pt x="246" y="136"/>
                </a:lnTo>
                <a:lnTo>
                  <a:pt x="262" y="148"/>
                </a:lnTo>
                <a:lnTo>
                  <a:pt x="278" y="158"/>
                </a:lnTo>
                <a:lnTo>
                  <a:pt x="295" y="168"/>
                </a:lnTo>
                <a:lnTo>
                  <a:pt x="311" y="177"/>
                </a:lnTo>
                <a:lnTo>
                  <a:pt x="327" y="185"/>
                </a:lnTo>
                <a:lnTo>
                  <a:pt x="344" y="191"/>
                </a:lnTo>
                <a:lnTo>
                  <a:pt x="360" y="195"/>
                </a:lnTo>
                <a:lnTo>
                  <a:pt x="377" y="198"/>
                </a:lnTo>
                <a:lnTo>
                  <a:pt x="393" y="199"/>
                </a:lnTo>
                <a:lnTo>
                  <a:pt x="393" y="216"/>
                </a:lnTo>
                <a:lnTo>
                  <a:pt x="377" y="215"/>
                </a:lnTo>
                <a:lnTo>
                  <a:pt x="360" y="212"/>
                </a:lnTo>
                <a:lnTo>
                  <a:pt x="344" y="207"/>
                </a:lnTo>
                <a:lnTo>
                  <a:pt x="327" y="201"/>
                </a:lnTo>
                <a:lnTo>
                  <a:pt x="311" y="193"/>
                </a:lnTo>
                <a:lnTo>
                  <a:pt x="295" y="185"/>
                </a:lnTo>
                <a:lnTo>
                  <a:pt x="278" y="175"/>
                </a:lnTo>
                <a:lnTo>
                  <a:pt x="262" y="164"/>
                </a:lnTo>
                <a:lnTo>
                  <a:pt x="246" y="153"/>
                </a:lnTo>
                <a:lnTo>
                  <a:pt x="229" y="141"/>
                </a:lnTo>
                <a:lnTo>
                  <a:pt x="213" y="129"/>
                </a:lnTo>
                <a:lnTo>
                  <a:pt x="196" y="116"/>
                </a:lnTo>
                <a:lnTo>
                  <a:pt x="180" y="104"/>
                </a:lnTo>
                <a:lnTo>
                  <a:pt x="164" y="92"/>
                </a:lnTo>
                <a:lnTo>
                  <a:pt x="147" y="80"/>
                </a:lnTo>
                <a:lnTo>
                  <a:pt x="131" y="68"/>
                </a:lnTo>
                <a:lnTo>
                  <a:pt x="114" y="58"/>
                </a:lnTo>
                <a:lnTo>
                  <a:pt x="98" y="48"/>
                </a:lnTo>
                <a:lnTo>
                  <a:pt x="82" y="39"/>
                </a:lnTo>
                <a:lnTo>
                  <a:pt x="65" y="32"/>
                </a:lnTo>
                <a:lnTo>
                  <a:pt x="49" y="25"/>
                </a:lnTo>
                <a:lnTo>
                  <a:pt x="33" y="21"/>
                </a:lnTo>
                <a:lnTo>
                  <a:pt x="16" y="18"/>
                </a:lnTo>
                <a:lnTo>
                  <a:pt x="0" y="17"/>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2581275"/>
            <a:ext cx="3743325" cy="2409825"/>
          </a:xfrm>
          <a:custGeom>
            <a:avLst/>
            <a:gdLst/>
            <a:ahLst/>
            <a:cxnLst/>
            <a:rect l="l" t="t" r="r" b="b"/>
            <a:pathLst>
              <a:path w="393" h="253">
                <a:moveTo>
                  <a:pt x="0" y="0"/>
                </a:moveTo>
                <a:lnTo>
                  <a:pt x="16" y="1"/>
                </a:lnTo>
                <a:lnTo>
                  <a:pt x="33" y="4"/>
                </a:lnTo>
                <a:lnTo>
                  <a:pt x="49" y="10"/>
                </a:lnTo>
                <a:lnTo>
                  <a:pt x="65" y="17"/>
                </a:lnTo>
                <a:lnTo>
                  <a:pt x="82" y="26"/>
                </a:lnTo>
                <a:lnTo>
                  <a:pt x="98" y="37"/>
                </a:lnTo>
                <a:lnTo>
                  <a:pt x="114" y="49"/>
                </a:lnTo>
                <a:lnTo>
                  <a:pt x="131" y="61"/>
                </a:lnTo>
                <a:lnTo>
                  <a:pt x="147" y="75"/>
                </a:lnTo>
                <a:lnTo>
                  <a:pt x="164" y="89"/>
                </a:lnTo>
                <a:lnTo>
                  <a:pt x="180" y="104"/>
                </a:lnTo>
                <a:lnTo>
                  <a:pt x="196" y="119"/>
                </a:lnTo>
                <a:lnTo>
                  <a:pt x="213" y="133"/>
                </a:lnTo>
                <a:lnTo>
                  <a:pt x="229" y="148"/>
                </a:lnTo>
                <a:lnTo>
                  <a:pt x="246" y="162"/>
                </a:lnTo>
                <a:lnTo>
                  <a:pt x="262" y="176"/>
                </a:lnTo>
                <a:lnTo>
                  <a:pt x="278" y="188"/>
                </a:lnTo>
                <a:lnTo>
                  <a:pt x="295" y="200"/>
                </a:lnTo>
                <a:lnTo>
                  <a:pt x="311" y="211"/>
                </a:lnTo>
                <a:lnTo>
                  <a:pt x="327" y="220"/>
                </a:lnTo>
                <a:lnTo>
                  <a:pt x="344" y="227"/>
                </a:lnTo>
                <a:lnTo>
                  <a:pt x="360" y="233"/>
                </a:lnTo>
                <a:lnTo>
                  <a:pt x="377" y="236"/>
                </a:lnTo>
                <a:lnTo>
                  <a:pt x="393" y="237"/>
                </a:lnTo>
                <a:lnTo>
                  <a:pt x="393" y="253"/>
                </a:lnTo>
                <a:lnTo>
                  <a:pt x="377" y="252"/>
                </a:lnTo>
                <a:lnTo>
                  <a:pt x="360" y="249"/>
                </a:lnTo>
                <a:lnTo>
                  <a:pt x="344" y="243"/>
                </a:lnTo>
                <a:lnTo>
                  <a:pt x="327" y="236"/>
                </a:lnTo>
                <a:lnTo>
                  <a:pt x="311" y="227"/>
                </a:lnTo>
                <a:lnTo>
                  <a:pt x="295" y="216"/>
                </a:lnTo>
                <a:lnTo>
                  <a:pt x="278" y="205"/>
                </a:lnTo>
                <a:lnTo>
                  <a:pt x="262" y="192"/>
                </a:lnTo>
                <a:lnTo>
                  <a:pt x="246" y="178"/>
                </a:lnTo>
                <a:lnTo>
                  <a:pt x="229" y="164"/>
                </a:lnTo>
                <a:lnTo>
                  <a:pt x="213" y="149"/>
                </a:lnTo>
                <a:lnTo>
                  <a:pt x="196" y="135"/>
                </a:lnTo>
                <a:lnTo>
                  <a:pt x="180" y="120"/>
                </a:lnTo>
                <a:lnTo>
                  <a:pt x="164" y="105"/>
                </a:lnTo>
                <a:lnTo>
                  <a:pt x="147" y="91"/>
                </a:lnTo>
                <a:lnTo>
                  <a:pt x="131" y="77"/>
                </a:lnTo>
                <a:lnTo>
                  <a:pt x="114" y="65"/>
                </a:lnTo>
                <a:lnTo>
                  <a:pt x="98" y="53"/>
                </a:lnTo>
                <a:lnTo>
                  <a:pt x="82" y="43"/>
                </a:lnTo>
                <a:lnTo>
                  <a:pt x="65" y="33"/>
                </a:lnTo>
                <a:lnTo>
                  <a:pt x="49" y="26"/>
                </a:lnTo>
                <a:lnTo>
                  <a:pt x="33" y="21"/>
                </a:lnTo>
                <a:lnTo>
                  <a:pt x="16" y="17"/>
                </a:lnTo>
                <a:lnTo>
                  <a:pt x="0" y="16"/>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733675"/>
            <a:ext cx="3743325" cy="2714625"/>
          </a:xfrm>
          <a:custGeom>
            <a:avLst/>
            <a:gdLst/>
            <a:ahLst/>
            <a:cxnLst/>
            <a:rect l="l" t="t" r="r" b="b"/>
            <a:pathLst>
              <a:path w="393" h="285">
                <a:moveTo>
                  <a:pt x="0" y="0"/>
                </a:moveTo>
                <a:lnTo>
                  <a:pt x="16" y="1"/>
                </a:lnTo>
                <a:lnTo>
                  <a:pt x="33" y="5"/>
                </a:lnTo>
                <a:lnTo>
                  <a:pt x="49" y="12"/>
                </a:lnTo>
                <a:lnTo>
                  <a:pt x="65" y="20"/>
                </a:lnTo>
                <a:lnTo>
                  <a:pt x="82" y="31"/>
                </a:lnTo>
                <a:lnTo>
                  <a:pt x="98" y="43"/>
                </a:lnTo>
                <a:lnTo>
                  <a:pt x="114" y="57"/>
                </a:lnTo>
                <a:lnTo>
                  <a:pt x="131" y="71"/>
                </a:lnTo>
                <a:lnTo>
                  <a:pt x="147" y="87"/>
                </a:lnTo>
                <a:lnTo>
                  <a:pt x="164" y="104"/>
                </a:lnTo>
                <a:lnTo>
                  <a:pt x="180" y="121"/>
                </a:lnTo>
                <a:lnTo>
                  <a:pt x="196" y="138"/>
                </a:lnTo>
                <a:lnTo>
                  <a:pt x="213" y="155"/>
                </a:lnTo>
                <a:lnTo>
                  <a:pt x="229" y="172"/>
                </a:lnTo>
                <a:lnTo>
                  <a:pt x="246" y="188"/>
                </a:lnTo>
                <a:lnTo>
                  <a:pt x="262" y="204"/>
                </a:lnTo>
                <a:lnTo>
                  <a:pt x="278" y="219"/>
                </a:lnTo>
                <a:lnTo>
                  <a:pt x="295" y="233"/>
                </a:lnTo>
                <a:lnTo>
                  <a:pt x="311" y="245"/>
                </a:lnTo>
                <a:lnTo>
                  <a:pt x="327" y="255"/>
                </a:lnTo>
                <a:lnTo>
                  <a:pt x="344" y="264"/>
                </a:lnTo>
                <a:lnTo>
                  <a:pt x="360" y="270"/>
                </a:lnTo>
                <a:lnTo>
                  <a:pt x="377" y="274"/>
                </a:lnTo>
                <a:lnTo>
                  <a:pt x="393" y="276"/>
                </a:lnTo>
                <a:lnTo>
                  <a:pt x="393" y="285"/>
                </a:lnTo>
                <a:lnTo>
                  <a:pt x="377" y="284"/>
                </a:lnTo>
                <a:lnTo>
                  <a:pt x="360" y="280"/>
                </a:lnTo>
                <a:lnTo>
                  <a:pt x="344" y="273"/>
                </a:lnTo>
                <a:lnTo>
                  <a:pt x="327" y="265"/>
                </a:lnTo>
                <a:lnTo>
                  <a:pt x="311" y="254"/>
                </a:lnTo>
                <a:lnTo>
                  <a:pt x="295" y="242"/>
                </a:lnTo>
                <a:lnTo>
                  <a:pt x="278" y="229"/>
                </a:lnTo>
                <a:lnTo>
                  <a:pt x="262" y="214"/>
                </a:lnTo>
                <a:lnTo>
                  <a:pt x="246" y="198"/>
                </a:lnTo>
                <a:lnTo>
                  <a:pt x="229" y="182"/>
                </a:lnTo>
                <a:lnTo>
                  <a:pt x="213" y="165"/>
                </a:lnTo>
                <a:lnTo>
                  <a:pt x="196" y="147"/>
                </a:lnTo>
                <a:lnTo>
                  <a:pt x="180" y="130"/>
                </a:lnTo>
                <a:lnTo>
                  <a:pt x="164" y="113"/>
                </a:lnTo>
                <a:lnTo>
                  <a:pt x="147" y="97"/>
                </a:lnTo>
                <a:lnTo>
                  <a:pt x="131" y="81"/>
                </a:lnTo>
                <a:lnTo>
                  <a:pt x="114" y="66"/>
                </a:lnTo>
                <a:lnTo>
                  <a:pt x="98" y="53"/>
                </a:lnTo>
                <a:lnTo>
                  <a:pt x="82" y="40"/>
                </a:lnTo>
                <a:lnTo>
                  <a:pt x="65" y="30"/>
                </a:lnTo>
                <a:lnTo>
                  <a:pt x="49" y="21"/>
                </a:lnTo>
                <a:lnTo>
                  <a:pt x="33" y="15"/>
                </a:lnTo>
                <a:lnTo>
                  <a:pt x="16" y="11"/>
                </a:lnTo>
                <a:lnTo>
                  <a:pt x="0" y="1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1800225"/>
            <a:ext cx="3743325" cy="1581150"/>
          </a:xfrm>
          <a:custGeom>
            <a:avLst/>
            <a:gdLst/>
            <a:ahLst/>
            <a:cxnLst/>
            <a:rect l="l" t="t" r="r" b="b"/>
            <a:pathLst>
              <a:path w="393" h="166">
                <a:moveTo>
                  <a:pt x="0" y="114"/>
                </a:moveTo>
                <a:lnTo>
                  <a:pt x="16" y="113"/>
                </a:lnTo>
                <a:lnTo>
                  <a:pt x="33" y="111"/>
                </a:lnTo>
                <a:lnTo>
                  <a:pt x="49" y="109"/>
                </a:lnTo>
                <a:lnTo>
                  <a:pt x="65" y="105"/>
                </a:lnTo>
                <a:lnTo>
                  <a:pt x="82" y="101"/>
                </a:lnTo>
                <a:lnTo>
                  <a:pt x="98" y="96"/>
                </a:lnTo>
                <a:lnTo>
                  <a:pt x="114" y="90"/>
                </a:lnTo>
                <a:lnTo>
                  <a:pt x="131" y="84"/>
                </a:lnTo>
                <a:lnTo>
                  <a:pt x="147" y="78"/>
                </a:lnTo>
                <a:lnTo>
                  <a:pt x="164" y="71"/>
                </a:lnTo>
                <a:lnTo>
                  <a:pt x="180" y="64"/>
                </a:lnTo>
                <a:lnTo>
                  <a:pt x="196" y="57"/>
                </a:lnTo>
                <a:lnTo>
                  <a:pt x="213" y="50"/>
                </a:lnTo>
                <a:lnTo>
                  <a:pt x="229" y="43"/>
                </a:lnTo>
                <a:lnTo>
                  <a:pt x="246" y="36"/>
                </a:lnTo>
                <a:lnTo>
                  <a:pt x="262" y="30"/>
                </a:lnTo>
                <a:lnTo>
                  <a:pt x="278" y="24"/>
                </a:lnTo>
                <a:lnTo>
                  <a:pt x="295" y="18"/>
                </a:lnTo>
                <a:lnTo>
                  <a:pt x="311" y="13"/>
                </a:lnTo>
                <a:lnTo>
                  <a:pt x="327" y="9"/>
                </a:lnTo>
                <a:lnTo>
                  <a:pt x="344" y="5"/>
                </a:lnTo>
                <a:lnTo>
                  <a:pt x="360" y="3"/>
                </a:lnTo>
                <a:lnTo>
                  <a:pt x="377" y="1"/>
                </a:lnTo>
                <a:lnTo>
                  <a:pt x="393" y="0"/>
                </a:lnTo>
                <a:lnTo>
                  <a:pt x="393" y="53"/>
                </a:lnTo>
                <a:lnTo>
                  <a:pt x="377" y="53"/>
                </a:lnTo>
                <a:lnTo>
                  <a:pt x="360" y="55"/>
                </a:lnTo>
                <a:lnTo>
                  <a:pt x="344" y="58"/>
                </a:lnTo>
                <a:lnTo>
                  <a:pt x="327" y="61"/>
                </a:lnTo>
                <a:lnTo>
                  <a:pt x="311" y="66"/>
                </a:lnTo>
                <a:lnTo>
                  <a:pt x="295" y="71"/>
                </a:lnTo>
                <a:lnTo>
                  <a:pt x="278" y="76"/>
                </a:lnTo>
                <a:lnTo>
                  <a:pt x="262" y="82"/>
                </a:lnTo>
                <a:lnTo>
                  <a:pt x="246" y="89"/>
                </a:lnTo>
                <a:lnTo>
                  <a:pt x="229" y="95"/>
                </a:lnTo>
                <a:lnTo>
                  <a:pt x="213" y="102"/>
                </a:lnTo>
                <a:lnTo>
                  <a:pt x="196" y="109"/>
                </a:lnTo>
                <a:lnTo>
                  <a:pt x="180" y="116"/>
                </a:lnTo>
                <a:lnTo>
                  <a:pt x="164" y="123"/>
                </a:lnTo>
                <a:lnTo>
                  <a:pt x="147" y="130"/>
                </a:lnTo>
                <a:lnTo>
                  <a:pt x="131" y="137"/>
                </a:lnTo>
                <a:lnTo>
                  <a:pt x="114" y="143"/>
                </a:lnTo>
                <a:lnTo>
                  <a:pt x="98" y="148"/>
                </a:lnTo>
                <a:lnTo>
                  <a:pt x="82" y="153"/>
                </a:lnTo>
                <a:lnTo>
                  <a:pt x="65" y="158"/>
                </a:lnTo>
                <a:lnTo>
                  <a:pt x="49" y="161"/>
                </a:lnTo>
                <a:lnTo>
                  <a:pt x="33" y="164"/>
                </a:lnTo>
                <a:lnTo>
                  <a:pt x="16" y="165"/>
                </a:lnTo>
                <a:lnTo>
                  <a:pt x="0" y="166"/>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3114675"/>
            <a:ext cx="3743325" cy="523875"/>
          </a:xfrm>
          <a:custGeom>
            <a:avLst/>
            <a:gdLst/>
            <a:ahLst/>
            <a:cxnLst/>
            <a:rect l="l" t="t" r="r" b="b"/>
            <a:pathLst>
              <a:path w="393" h="55">
                <a:moveTo>
                  <a:pt x="0" y="28"/>
                </a:moveTo>
                <a:lnTo>
                  <a:pt x="16" y="28"/>
                </a:lnTo>
                <a:lnTo>
                  <a:pt x="33" y="27"/>
                </a:lnTo>
                <a:lnTo>
                  <a:pt x="49" y="27"/>
                </a:lnTo>
                <a:lnTo>
                  <a:pt x="65" y="26"/>
                </a:lnTo>
                <a:lnTo>
                  <a:pt x="82" y="25"/>
                </a:lnTo>
                <a:lnTo>
                  <a:pt x="98" y="24"/>
                </a:lnTo>
                <a:lnTo>
                  <a:pt x="114" y="22"/>
                </a:lnTo>
                <a:lnTo>
                  <a:pt x="131" y="21"/>
                </a:lnTo>
                <a:lnTo>
                  <a:pt x="147" y="19"/>
                </a:lnTo>
                <a:lnTo>
                  <a:pt x="164" y="18"/>
                </a:lnTo>
                <a:lnTo>
                  <a:pt x="180" y="16"/>
                </a:lnTo>
                <a:lnTo>
                  <a:pt x="196" y="14"/>
                </a:lnTo>
                <a:lnTo>
                  <a:pt x="213" y="12"/>
                </a:lnTo>
                <a:lnTo>
                  <a:pt x="229" y="11"/>
                </a:lnTo>
                <a:lnTo>
                  <a:pt x="246" y="9"/>
                </a:lnTo>
                <a:lnTo>
                  <a:pt x="262" y="7"/>
                </a:lnTo>
                <a:lnTo>
                  <a:pt x="278" y="6"/>
                </a:lnTo>
                <a:lnTo>
                  <a:pt x="295" y="4"/>
                </a:lnTo>
                <a:lnTo>
                  <a:pt x="311" y="3"/>
                </a:lnTo>
                <a:lnTo>
                  <a:pt x="327" y="2"/>
                </a:lnTo>
                <a:lnTo>
                  <a:pt x="344" y="1"/>
                </a:lnTo>
                <a:lnTo>
                  <a:pt x="360" y="1"/>
                </a:lnTo>
                <a:lnTo>
                  <a:pt x="377" y="0"/>
                </a:lnTo>
                <a:lnTo>
                  <a:pt x="393" y="0"/>
                </a:lnTo>
                <a:lnTo>
                  <a:pt x="393" y="27"/>
                </a:lnTo>
                <a:lnTo>
                  <a:pt x="377" y="27"/>
                </a:lnTo>
                <a:lnTo>
                  <a:pt x="360" y="27"/>
                </a:lnTo>
                <a:lnTo>
                  <a:pt x="344" y="28"/>
                </a:lnTo>
                <a:lnTo>
                  <a:pt x="327" y="29"/>
                </a:lnTo>
                <a:lnTo>
                  <a:pt x="311" y="30"/>
                </a:lnTo>
                <a:lnTo>
                  <a:pt x="295" y="31"/>
                </a:lnTo>
                <a:lnTo>
                  <a:pt x="278" y="33"/>
                </a:lnTo>
                <a:lnTo>
                  <a:pt x="262" y="34"/>
                </a:lnTo>
                <a:lnTo>
                  <a:pt x="246" y="36"/>
                </a:lnTo>
                <a:lnTo>
                  <a:pt x="229" y="37"/>
                </a:lnTo>
                <a:lnTo>
                  <a:pt x="213" y="39"/>
                </a:lnTo>
                <a:lnTo>
                  <a:pt x="196" y="41"/>
                </a:lnTo>
                <a:lnTo>
                  <a:pt x="180" y="43"/>
                </a:lnTo>
                <a:lnTo>
                  <a:pt x="164" y="44"/>
                </a:lnTo>
                <a:lnTo>
                  <a:pt x="147" y="46"/>
                </a:lnTo>
                <a:lnTo>
                  <a:pt x="131" y="48"/>
                </a:lnTo>
                <a:lnTo>
                  <a:pt x="114" y="49"/>
                </a:lnTo>
                <a:lnTo>
                  <a:pt x="98" y="50"/>
                </a:lnTo>
                <a:lnTo>
                  <a:pt x="82" y="52"/>
                </a:lnTo>
                <a:lnTo>
                  <a:pt x="65" y="53"/>
                </a:lnTo>
                <a:lnTo>
                  <a:pt x="49" y="54"/>
                </a:lnTo>
                <a:lnTo>
                  <a:pt x="33" y="54"/>
                </a:lnTo>
                <a:lnTo>
                  <a:pt x="16" y="55"/>
                </a:lnTo>
                <a:lnTo>
                  <a:pt x="0" y="55"/>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3638550"/>
            <a:ext cx="3743325" cy="428625"/>
          </a:xfrm>
          <a:custGeom>
            <a:avLst/>
            <a:gdLst/>
            <a:ahLst/>
            <a:cxnLst/>
            <a:rect l="l" t="t" r="r" b="b"/>
            <a:pathLst>
              <a:path w="393" h="45">
                <a:moveTo>
                  <a:pt x="0" y="0"/>
                </a:moveTo>
                <a:lnTo>
                  <a:pt x="16" y="0"/>
                </a:lnTo>
                <a:lnTo>
                  <a:pt x="33" y="0"/>
                </a:lnTo>
                <a:lnTo>
                  <a:pt x="49" y="1"/>
                </a:lnTo>
                <a:lnTo>
                  <a:pt x="65" y="2"/>
                </a:lnTo>
                <a:lnTo>
                  <a:pt x="82" y="3"/>
                </a:lnTo>
                <a:lnTo>
                  <a:pt x="98" y="4"/>
                </a:lnTo>
                <a:lnTo>
                  <a:pt x="114" y="5"/>
                </a:lnTo>
                <a:lnTo>
                  <a:pt x="131" y="6"/>
                </a:lnTo>
                <a:lnTo>
                  <a:pt x="147" y="8"/>
                </a:lnTo>
                <a:lnTo>
                  <a:pt x="164" y="9"/>
                </a:lnTo>
                <a:lnTo>
                  <a:pt x="180" y="11"/>
                </a:lnTo>
                <a:lnTo>
                  <a:pt x="196" y="12"/>
                </a:lnTo>
                <a:lnTo>
                  <a:pt x="213" y="14"/>
                </a:lnTo>
                <a:lnTo>
                  <a:pt x="229" y="15"/>
                </a:lnTo>
                <a:lnTo>
                  <a:pt x="246" y="17"/>
                </a:lnTo>
                <a:lnTo>
                  <a:pt x="262" y="18"/>
                </a:lnTo>
                <a:lnTo>
                  <a:pt x="278" y="20"/>
                </a:lnTo>
                <a:lnTo>
                  <a:pt x="295" y="21"/>
                </a:lnTo>
                <a:lnTo>
                  <a:pt x="311" y="22"/>
                </a:lnTo>
                <a:lnTo>
                  <a:pt x="327" y="23"/>
                </a:lnTo>
                <a:lnTo>
                  <a:pt x="344" y="24"/>
                </a:lnTo>
                <a:lnTo>
                  <a:pt x="360" y="24"/>
                </a:lnTo>
                <a:lnTo>
                  <a:pt x="377" y="25"/>
                </a:lnTo>
                <a:lnTo>
                  <a:pt x="393" y="25"/>
                </a:lnTo>
                <a:lnTo>
                  <a:pt x="393" y="45"/>
                </a:lnTo>
                <a:lnTo>
                  <a:pt x="377" y="45"/>
                </a:lnTo>
                <a:lnTo>
                  <a:pt x="360" y="45"/>
                </a:lnTo>
                <a:lnTo>
                  <a:pt x="344" y="44"/>
                </a:lnTo>
                <a:lnTo>
                  <a:pt x="327" y="43"/>
                </a:lnTo>
                <a:lnTo>
                  <a:pt x="311" y="42"/>
                </a:lnTo>
                <a:lnTo>
                  <a:pt x="295" y="41"/>
                </a:lnTo>
                <a:lnTo>
                  <a:pt x="278" y="40"/>
                </a:lnTo>
                <a:lnTo>
                  <a:pt x="262" y="39"/>
                </a:lnTo>
                <a:lnTo>
                  <a:pt x="246" y="37"/>
                </a:lnTo>
                <a:lnTo>
                  <a:pt x="229" y="36"/>
                </a:lnTo>
                <a:lnTo>
                  <a:pt x="213" y="34"/>
                </a:lnTo>
                <a:lnTo>
                  <a:pt x="196" y="33"/>
                </a:lnTo>
                <a:lnTo>
                  <a:pt x="180" y="31"/>
                </a:lnTo>
                <a:lnTo>
                  <a:pt x="164" y="29"/>
                </a:lnTo>
                <a:lnTo>
                  <a:pt x="147" y="28"/>
                </a:lnTo>
                <a:lnTo>
                  <a:pt x="131" y="27"/>
                </a:lnTo>
                <a:lnTo>
                  <a:pt x="114" y="25"/>
                </a:lnTo>
                <a:lnTo>
                  <a:pt x="98" y="24"/>
                </a:lnTo>
                <a:lnTo>
                  <a:pt x="82" y="23"/>
                </a:lnTo>
                <a:lnTo>
                  <a:pt x="65" y="22"/>
                </a:lnTo>
                <a:lnTo>
                  <a:pt x="49" y="21"/>
                </a:lnTo>
                <a:lnTo>
                  <a:pt x="33" y="20"/>
                </a:lnTo>
                <a:lnTo>
                  <a:pt x="16" y="20"/>
                </a:lnTo>
                <a:lnTo>
                  <a:pt x="0" y="20"/>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3829050"/>
            <a:ext cx="3743325" cy="800100"/>
          </a:xfrm>
          <a:custGeom>
            <a:avLst/>
            <a:gdLst/>
            <a:ahLst/>
            <a:cxnLst/>
            <a:rect l="l" t="t" r="r" b="b"/>
            <a:pathLst>
              <a:path w="393" h="84">
                <a:moveTo>
                  <a:pt x="0" y="0"/>
                </a:moveTo>
                <a:lnTo>
                  <a:pt x="16" y="0"/>
                </a:lnTo>
                <a:lnTo>
                  <a:pt x="33" y="1"/>
                </a:lnTo>
                <a:lnTo>
                  <a:pt x="49" y="3"/>
                </a:lnTo>
                <a:lnTo>
                  <a:pt x="65" y="5"/>
                </a:lnTo>
                <a:lnTo>
                  <a:pt x="82" y="8"/>
                </a:lnTo>
                <a:lnTo>
                  <a:pt x="98" y="11"/>
                </a:lnTo>
                <a:lnTo>
                  <a:pt x="114" y="14"/>
                </a:lnTo>
                <a:lnTo>
                  <a:pt x="131" y="18"/>
                </a:lnTo>
                <a:lnTo>
                  <a:pt x="147" y="21"/>
                </a:lnTo>
                <a:lnTo>
                  <a:pt x="164" y="25"/>
                </a:lnTo>
                <a:lnTo>
                  <a:pt x="180" y="30"/>
                </a:lnTo>
                <a:lnTo>
                  <a:pt x="196" y="34"/>
                </a:lnTo>
                <a:lnTo>
                  <a:pt x="213" y="38"/>
                </a:lnTo>
                <a:lnTo>
                  <a:pt x="229" y="42"/>
                </a:lnTo>
                <a:lnTo>
                  <a:pt x="246" y="46"/>
                </a:lnTo>
                <a:lnTo>
                  <a:pt x="262" y="50"/>
                </a:lnTo>
                <a:lnTo>
                  <a:pt x="278" y="54"/>
                </a:lnTo>
                <a:lnTo>
                  <a:pt x="295" y="57"/>
                </a:lnTo>
                <a:lnTo>
                  <a:pt x="311" y="60"/>
                </a:lnTo>
                <a:lnTo>
                  <a:pt x="327" y="63"/>
                </a:lnTo>
                <a:lnTo>
                  <a:pt x="344" y="65"/>
                </a:lnTo>
                <a:lnTo>
                  <a:pt x="360" y="66"/>
                </a:lnTo>
                <a:lnTo>
                  <a:pt x="377" y="67"/>
                </a:lnTo>
                <a:lnTo>
                  <a:pt x="393" y="68"/>
                </a:lnTo>
                <a:lnTo>
                  <a:pt x="393" y="84"/>
                </a:lnTo>
                <a:lnTo>
                  <a:pt x="377" y="84"/>
                </a:lnTo>
                <a:lnTo>
                  <a:pt x="360" y="83"/>
                </a:lnTo>
                <a:lnTo>
                  <a:pt x="344" y="81"/>
                </a:lnTo>
                <a:lnTo>
                  <a:pt x="327" y="79"/>
                </a:lnTo>
                <a:lnTo>
                  <a:pt x="311" y="76"/>
                </a:lnTo>
                <a:lnTo>
                  <a:pt x="295" y="73"/>
                </a:lnTo>
                <a:lnTo>
                  <a:pt x="278" y="70"/>
                </a:lnTo>
                <a:lnTo>
                  <a:pt x="262" y="66"/>
                </a:lnTo>
                <a:lnTo>
                  <a:pt x="246" y="63"/>
                </a:lnTo>
                <a:lnTo>
                  <a:pt x="229" y="59"/>
                </a:lnTo>
                <a:lnTo>
                  <a:pt x="213" y="54"/>
                </a:lnTo>
                <a:lnTo>
                  <a:pt x="196" y="50"/>
                </a:lnTo>
                <a:lnTo>
                  <a:pt x="180" y="46"/>
                </a:lnTo>
                <a:lnTo>
                  <a:pt x="164" y="42"/>
                </a:lnTo>
                <a:lnTo>
                  <a:pt x="147" y="38"/>
                </a:lnTo>
                <a:lnTo>
                  <a:pt x="131" y="34"/>
                </a:lnTo>
                <a:lnTo>
                  <a:pt x="114" y="30"/>
                </a:lnTo>
                <a:lnTo>
                  <a:pt x="98" y="27"/>
                </a:lnTo>
                <a:lnTo>
                  <a:pt x="82" y="24"/>
                </a:lnTo>
                <a:lnTo>
                  <a:pt x="65" y="21"/>
                </a:lnTo>
                <a:lnTo>
                  <a:pt x="49" y="19"/>
                </a:lnTo>
                <a:lnTo>
                  <a:pt x="33" y="18"/>
                </a:lnTo>
                <a:lnTo>
                  <a:pt x="16" y="17"/>
                </a:lnTo>
                <a:lnTo>
                  <a:pt x="0" y="16"/>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3981450"/>
            <a:ext cx="3743325" cy="1171575"/>
          </a:xfrm>
          <a:custGeom>
            <a:avLst/>
            <a:gdLst/>
            <a:ahLst/>
            <a:cxnLst/>
            <a:rect l="l" t="t" r="r" b="b"/>
            <a:pathLst>
              <a:path w="393" h="123">
                <a:moveTo>
                  <a:pt x="0" y="0"/>
                </a:moveTo>
                <a:lnTo>
                  <a:pt x="16" y="1"/>
                </a:lnTo>
                <a:lnTo>
                  <a:pt x="33" y="2"/>
                </a:lnTo>
                <a:lnTo>
                  <a:pt x="49" y="5"/>
                </a:lnTo>
                <a:lnTo>
                  <a:pt x="65" y="8"/>
                </a:lnTo>
                <a:lnTo>
                  <a:pt x="82" y="12"/>
                </a:lnTo>
                <a:lnTo>
                  <a:pt x="98" y="17"/>
                </a:lnTo>
                <a:lnTo>
                  <a:pt x="114" y="22"/>
                </a:lnTo>
                <a:lnTo>
                  <a:pt x="131" y="28"/>
                </a:lnTo>
                <a:lnTo>
                  <a:pt x="147" y="34"/>
                </a:lnTo>
                <a:lnTo>
                  <a:pt x="164" y="40"/>
                </a:lnTo>
                <a:lnTo>
                  <a:pt x="180" y="47"/>
                </a:lnTo>
                <a:lnTo>
                  <a:pt x="196" y="53"/>
                </a:lnTo>
                <a:lnTo>
                  <a:pt x="213" y="60"/>
                </a:lnTo>
                <a:lnTo>
                  <a:pt x="229" y="67"/>
                </a:lnTo>
                <a:lnTo>
                  <a:pt x="246" y="73"/>
                </a:lnTo>
                <a:lnTo>
                  <a:pt x="262" y="79"/>
                </a:lnTo>
                <a:lnTo>
                  <a:pt x="278" y="85"/>
                </a:lnTo>
                <a:lnTo>
                  <a:pt x="295" y="90"/>
                </a:lnTo>
                <a:lnTo>
                  <a:pt x="311" y="95"/>
                </a:lnTo>
                <a:lnTo>
                  <a:pt x="327" y="99"/>
                </a:lnTo>
                <a:lnTo>
                  <a:pt x="344" y="102"/>
                </a:lnTo>
                <a:lnTo>
                  <a:pt x="360" y="104"/>
                </a:lnTo>
                <a:lnTo>
                  <a:pt x="377" y="106"/>
                </a:lnTo>
                <a:lnTo>
                  <a:pt x="393" y="106"/>
                </a:lnTo>
                <a:lnTo>
                  <a:pt x="393" y="123"/>
                </a:lnTo>
                <a:lnTo>
                  <a:pt x="377" y="122"/>
                </a:lnTo>
                <a:lnTo>
                  <a:pt x="360" y="120"/>
                </a:lnTo>
                <a:lnTo>
                  <a:pt x="344" y="118"/>
                </a:lnTo>
                <a:lnTo>
                  <a:pt x="327" y="115"/>
                </a:lnTo>
                <a:lnTo>
                  <a:pt x="311" y="111"/>
                </a:lnTo>
                <a:lnTo>
                  <a:pt x="295" y="106"/>
                </a:lnTo>
                <a:lnTo>
                  <a:pt x="278" y="101"/>
                </a:lnTo>
                <a:lnTo>
                  <a:pt x="262" y="95"/>
                </a:lnTo>
                <a:lnTo>
                  <a:pt x="246" y="89"/>
                </a:lnTo>
                <a:lnTo>
                  <a:pt x="229" y="83"/>
                </a:lnTo>
                <a:lnTo>
                  <a:pt x="213" y="76"/>
                </a:lnTo>
                <a:lnTo>
                  <a:pt x="196" y="69"/>
                </a:lnTo>
                <a:lnTo>
                  <a:pt x="180" y="63"/>
                </a:lnTo>
                <a:lnTo>
                  <a:pt x="164" y="56"/>
                </a:lnTo>
                <a:lnTo>
                  <a:pt x="147" y="50"/>
                </a:lnTo>
                <a:lnTo>
                  <a:pt x="131" y="44"/>
                </a:lnTo>
                <a:lnTo>
                  <a:pt x="114" y="38"/>
                </a:lnTo>
                <a:lnTo>
                  <a:pt x="98" y="33"/>
                </a:lnTo>
                <a:lnTo>
                  <a:pt x="82" y="28"/>
                </a:lnTo>
                <a:lnTo>
                  <a:pt x="65" y="24"/>
                </a:lnTo>
                <a:lnTo>
                  <a:pt x="49" y="21"/>
                </a:lnTo>
                <a:lnTo>
                  <a:pt x="33" y="19"/>
                </a:lnTo>
                <a:lnTo>
                  <a:pt x="16" y="17"/>
                </a:lnTo>
                <a:lnTo>
                  <a:pt x="0" y="16"/>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133850"/>
            <a:ext cx="3743325" cy="1409700"/>
          </a:xfrm>
          <a:custGeom>
            <a:avLst/>
            <a:gdLst/>
            <a:ahLst/>
            <a:cxnLst/>
            <a:rect l="l" t="t" r="r" b="b"/>
            <a:pathLst>
              <a:path w="393" h="148">
                <a:moveTo>
                  <a:pt x="0" y="0"/>
                </a:moveTo>
                <a:lnTo>
                  <a:pt x="16" y="1"/>
                </a:lnTo>
                <a:lnTo>
                  <a:pt x="33" y="3"/>
                </a:lnTo>
                <a:lnTo>
                  <a:pt x="49" y="6"/>
                </a:lnTo>
                <a:lnTo>
                  <a:pt x="65" y="11"/>
                </a:lnTo>
                <a:lnTo>
                  <a:pt x="82" y="16"/>
                </a:lnTo>
                <a:lnTo>
                  <a:pt x="98" y="22"/>
                </a:lnTo>
                <a:lnTo>
                  <a:pt x="114" y="29"/>
                </a:lnTo>
                <a:lnTo>
                  <a:pt x="131" y="36"/>
                </a:lnTo>
                <a:lnTo>
                  <a:pt x="147" y="44"/>
                </a:lnTo>
                <a:lnTo>
                  <a:pt x="164" y="52"/>
                </a:lnTo>
                <a:lnTo>
                  <a:pt x="180" y="61"/>
                </a:lnTo>
                <a:lnTo>
                  <a:pt x="196" y="69"/>
                </a:lnTo>
                <a:lnTo>
                  <a:pt x="213" y="78"/>
                </a:lnTo>
                <a:lnTo>
                  <a:pt x="229" y="86"/>
                </a:lnTo>
                <a:lnTo>
                  <a:pt x="246" y="95"/>
                </a:lnTo>
                <a:lnTo>
                  <a:pt x="262" y="103"/>
                </a:lnTo>
                <a:lnTo>
                  <a:pt x="278" y="110"/>
                </a:lnTo>
                <a:lnTo>
                  <a:pt x="295" y="117"/>
                </a:lnTo>
                <a:lnTo>
                  <a:pt x="311" y="123"/>
                </a:lnTo>
                <a:lnTo>
                  <a:pt x="327" y="128"/>
                </a:lnTo>
                <a:lnTo>
                  <a:pt x="344" y="132"/>
                </a:lnTo>
                <a:lnTo>
                  <a:pt x="360" y="136"/>
                </a:lnTo>
                <a:lnTo>
                  <a:pt x="377" y="138"/>
                </a:lnTo>
                <a:lnTo>
                  <a:pt x="393" y="138"/>
                </a:lnTo>
                <a:lnTo>
                  <a:pt x="393" y="148"/>
                </a:lnTo>
                <a:lnTo>
                  <a:pt x="377" y="147"/>
                </a:lnTo>
                <a:lnTo>
                  <a:pt x="360" y="145"/>
                </a:lnTo>
                <a:lnTo>
                  <a:pt x="344" y="142"/>
                </a:lnTo>
                <a:lnTo>
                  <a:pt x="327" y="138"/>
                </a:lnTo>
                <a:lnTo>
                  <a:pt x="311" y="133"/>
                </a:lnTo>
                <a:lnTo>
                  <a:pt x="295" y="126"/>
                </a:lnTo>
                <a:lnTo>
                  <a:pt x="278" y="120"/>
                </a:lnTo>
                <a:lnTo>
                  <a:pt x="262" y="112"/>
                </a:lnTo>
                <a:lnTo>
                  <a:pt x="246" y="104"/>
                </a:lnTo>
                <a:lnTo>
                  <a:pt x="229" y="96"/>
                </a:lnTo>
                <a:lnTo>
                  <a:pt x="213" y="88"/>
                </a:lnTo>
                <a:lnTo>
                  <a:pt x="196" y="79"/>
                </a:lnTo>
                <a:lnTo>
                  <a:pt x="180" y="70"/>
                </a:lnTo>
                <a:lnTo>
                  <a:pt x="164" y="62"/>
                </a:lnTo>
                <a:lnTo>
                  <a:pt x="147" y="54"/>
                </a:lnTo>
                <a:lnTo>
                  <a:pt x="131" y="46"/>
                </a:lnTo>
                <a:lnTo>
                  <a:pt x="114" y="38"/>
                </a:lnTo>
                <a:lnTo>
                  <a:pt x="98" y="32"/>
                </a:lnTo>
                <a:lnTo>
                  <a:pt x="82" y="26"/>
                </a:lnTo>
                <a:lnTo>
                  <a:pt x="65" y="20"/>
                </a:lnTo>
                <a:lnTo>
                  <a:pt x="49" y="16"/>
                </a:lnTo>
                <a:lnTo>
                  <a:pt x="33" y="13"/>
                </a:lnTo>
                <a:lnTo>
                  <a:pt x="16" y="11"/>
                </a:lnTo>
                <a:lnTo>
                  <a:pt x="0" y="10"/>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2305050"/>
            <a:ext cx="3743325" cy="2486025"/>
          </a:xfrm>
          <a:custGeom>
            <a:avLst/>
            <a:gdLst/>
            <a:ahLst/>
            <a:cxnLst/>
            <a:rect l="l" t="t" r="r" b="b"/>
            <a:pathLst>
              <a:path w="393" h="261">
                <a:moveTo>
                  <a:pt x="0" y="208"/>
                </a:moveTo>
                <a:lnTo>
                  <a:pt x="16" y="207"/>
                </a:lnTo>
                <a:lnTo>
                  <a:pt x="33" y="204"/>
                </a:lnTo>
                <a:lnTo>
                  <a:pt x="49" y="199"/>
                </a:lnTo>
                <a:lnTo>
                  <a:pt x="65" y="193"/>
                </a:lnTo>
                <a:lnTo>
                  <a:pt x="82" y="185"/>
                </a:lnTo>
                <a:lnTo>
                  <a:pt x="98" y="176"/>
                </a:lnTo>
                <a:lnTo>
                  <a:pt x="114" y="165"/>
                </a:lnTo>
                <a:lnTo>
                  <a:pt x="131" y="154"/>
                </a:lnTo>
                <a:lnTo>
                  <a:pt x="147" y="142"/>
                </a:lnTo>
                <a:lnTo>
                  <a:pt x="164" y="130"/>
                </a:lnTo>
                <a:lnTo>
                  <a:pt x="180" y="117"/>
                </a:lnTo>
                <a:lnTo>
                  <a:pt x="196" y="104"/>
                </a:lnTo>
                <a:lnTo>
                  <a:pt x="213" y="91"/>
                </a:lnTo>
                <a:lnTo>
                  <a:pt x="229" y="78"/>
                </a:lnTo>
                <a:lnTo>
                  <a:pt x="246" y="66"/>
                </a:lnTo>
                <a:lnTo>
                  <a:pt x="262" y="54"/>
                </a:lnTo>
                <a:lnTo>
                  <a:pt x="278" y="43"/>
                </a:lnTo>
                <a:lnTo>
                  <a:pt x="295" y="32"/>
                </a:lnTo>
                <a:lnTo>
                  <a:pt x="311" y="23"/>
                </a:lnTo>
                <a:lnTo>
                  <a:pt x="327" y="15"/>
                </a:lnTo>
                <a:lnTo>
                  <a:pt x="344" y="9"/>
                </a:lnTo>
                <a:lnTo>
                  <a:pt x="360" y="4"/>
                </a:lnTo>
                <a:lnTo>
                  <a:pt x="377" y="1"/>
                </a:lnTo>
                <a:lnTo>
                  <a:pt x="393" y="0"/>
                </a:lnTo>
                <a:lnTo>
                  <a:pt x="393" y="52"/>
                </a:lnTo>
                <a:lnTo>
                  <a:pt x="377" y="53"/>
                </a:lnTo>
                <a:lnTo>
                  <a:pt x="360" y="56"/>
                </a:lnTo>
                <a:lnTo>
                  <a:pt x="344" y="61"/>
                </a:lnTo>
                <a:lnTo>
                  <a:pt x="327" y="68"/>
                </a:lnTo>
                <a:lnTo>
                  <a:pt x="311" y="76"/>
                </a:lnTo>
                <a:lnTo>
                  <a:pt x="295" y="85"/>
                </a:lnTo>
                <a:lnTo>
                  <a:pt x="278" y="95"/>
                </a:lnTo>
                <a:lnTo>
                  <a:pt x="262" y="106"/>
                </a:lnTo>
                <a:lnTo>
                  <a:pt x="246" y="118"/>
                </a:lnTo>
                <a:lnTo>
                  <a:pt x="229" y="131"/>
                </a:lnTo>
                <a:lnTo>
                  <a:pt x="213" y="143"/>
                </a:lnTo>
                <a:lnTo>
                  <a:pt x="196" y="156"/>
                </a:lnTo>
                <a:lnTo>
                  <a:pt x="180" y="169"/>
                </a:lnTo>
                <a:lnTo>
                  <a:pt x="164" y="182"/>
                </a:lnTo>
                <a:lnTo>
                  <a:pt x="147" y="195"/>
                </a:lnTo>
                <a:lnTo>
                  <a:pt x="131" y="207"/>
                </a:lnTo>
                <a:lnTo>
                  <a:pt x="114" y="218"/>
                </a:lnTo>
                <a:lnTo>
                  <a:pt x="98" y="228"/>
                </a:lnTo>
                <a:lnTo>
                  <a:pt x="82" y="237"/>
                </a:lnTo>
                <a:lnTo>
                  <a:pt x="65" y="245"/>
                </a:lnTo>
                <a:lnTo>
                  <a:pt x="49" y="252"/>
                </a:lnTo>
                <a:lnTo>
                  <a:pt x="33" y="256"/>
                </a:lnTo>
                <a:lnTo>
                  <a:pt x="16" y="259"/>
                </a:lnTo>
                <a:lnTo>
                  <a:pt x="0" y="261"/>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3371850"/>
            <a:ext cx="3743325" cy="1666875"/>
          </a:xfrm>
          <a:custGeom>
            <a:avLst/>
            <a:gdLst/>
            <a:ahLst/>
            <a:cxnLst/>
            <a:rect l="l" t="t" r="r" b="b"/>
            <a:pathLst>
              <a:path w="393" h="175">
                <a:moveTo>
                  <a:pt x="0" y="149"/>
                </a:moveTo>
                <a:lnTo>
                  <a:pt x="16" y="148"/>
                </a:lnTo>
                <a:lnTo>
                  <a:pt x="33" y="146"/>
                </a:lnTo>
                <a:lnTo>
                  <a:pt x="49" y="142"/>
                </a:lnTo>
                <a:lnTo>
                  <a:pt x="65" y="138"/>
                </a:lnTo>
                <a:lnTo>
                  <a:pt x="82" y="132"/>
                </a:lnTo>
                <a:lnTo>
                  <a:pt x="98" y="125"/>
                </a:lnTo>
                <a:lnTo>
                  <a:pt x="114" y="118"/>
                </a:lnTo>
                <a:lnTo>
                  <a:pt x="131" y="110"/>
                </a:lnTo>
                <a:lnTo>
                  <a:pt x="147" y="102"/>
                </a:lnTo>
                <a:lnTo>
                  <a:pt x="164" y="93"/>
                </a:lnTo>
                <a:lnTo>
                  <a:pt x="180" y="83"/>
                </a:lnTo>
                <a:lnTo>
                  <a:pt x="196" y="74"/>
                </a:lnTo>
                <a:lnTo>
                  <a:pt x="213" y="65"/>
                </a:lnTo>
                <a:lnTo>
                  <a:pt x="229" y="56"/>
                </a:lnTo>
                <a:lnTo>
                  <a:pt x="246" y="47"/>
                </a:lnTo>
                <a:lnTo>
                  <a:pt x="262" y="38"/>
                </a:lnTo>
                <a:lnTo>
                  <a:pt x="278" y="30"/>
                </a:lnTo>
                <a:lnTo>
                  <a:pt x="295" y="23"/>
                </a:lnTo>
                <a:lnTo>
                  <a:pt x="311" y="17"/>
                </a:lnTo>
                <a:lnTo>
                  <a:pt x="327" y="11"/>
                </a:lnTo>
                <a:lnTo>
                  <a:pt x="344" y="6"/>
                </a:lnTo>
                <a:lnTo>
                  <a:pt x="360" y="3"/>
                </a:lnTo>
                <a:lnTo>
                  <a:pt x="377" y="1"/>
                </a:lnTo>
                <a:lnTo>
                  <a:pt x="393" y="0"/>
                </a:lnTo>
                <a:lnTo>
                  <a:pt x="393" y="27"/>
                </a:lnTo>
                <a:lnTo>
                  <a:pt x="377" y="27"/>
                </a:lnTo>
                <a:lnTo>
                  <a:pt x="360" y="30"/>
                </a:lnTo>
                <a:lnTo>
                  <a:pt x="344" y="33"/>
                </a:lnTo>
                <a:lnTo>
                  <a:pt x="327" y="38"/>
                </a:lnTo>
                <a:lnTo>
                  <a:pt x="311" y="43"/>
                </a:lnTo>
                <a:lnTo>
                  <a:pt x="295" y="50"/>
                </a:lnTo>
                <a:lnTo>
                  <a:pt x="278" y="57"/>
                </a:lnTo>
                <a:lnTo>
                  <a:pt x="262" y="65"/>
                </a:lnTo>
                <a:lnTo>
                  <a:pt x="246" y="74"/>
                </a:lnTo>
                <a:lnTo>
                  <a:pt x="229" y="83"/>
                </a:lnTo>
                <a:lnTo>
                  <a:pt x="213" y="92"/>
                </a:lnTo>
                <a:lnTo>
                  <a:pt x="196" y="101"/>
                </a:lnTo>
                <a:lnTo>
                  <a:pt x="180" y="110"/>
                </a:lnTo>
                <a:lnTo>
                  <a:pt x="164" y="119"/>
                </a:lnTo>
                <a:lnTo>
                  <a:pt x="147" y="128"/>
                </a:lnTo>
                <a:lnTo>
                  <a:pt x="131" y="137"/>
                </a:lnTo>
                <a:lnTo>
                  <a:pt x="114" y="145"/>
                </a:lnTo>
                <a:lnTo>
                  <a:pt x="98" y="152"/>
                </a:lnTo>
                <a:lnTo>
                  <a:pt x="82" y="159"/>
                </a:lnTo>
                <a:lnTo>
                  <a:pt x="65" y="164"/>
                </a:lnTo>
                <a:lnTo>
                  <a:pt x="49" y="169"/>
                </a:lnTo>
                <a:lnTo>
                  <a:pt x="33" y="172"/>
                </a:lnTo>
                <a:lnTo>
                  <a:pt x="16" y="175"/>
                </a:lnTo>
                <a:lnTo>
                  <a:pt x="0" y="175"/>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4067175"/>
            <a:ext cx="3743325" cy="1171575"/>
          </a:xfrm>
          <a:custGeom>
            <a:avLst/>
            <a:gdLst/>
            <a:ahLst/>
            <a:cxnLst/>
            <a:rect l="l" t="t" r="r" b="b"/>
            <a:pathLst>
              <a:path w="393" h="123">
                <a:moveTo>
                  <a:pt x="0" y="102"/>
                </a:moveTo>
                <a:lnTo>
                  <a:pt x="16" y="102"/>
                </a:lnTo>
                <a:lnTo>
                  <a:pt x="33" y="100"/>
                </a:lnTo>
                <a:lnTo>
                  <a:pt x="49" y="98"/>
                </a:lnTo>
                <a:lnTo>
                  <a:pt x="65" y="95"/>
                </a:lnTo>
                <a:lnTo>
                  <a:pt x="82" y="91"/>
                </a:lnTo>
                <a:lnTo>
                  <a:pt x="98" y="86"/>
                </a:lnTo>
                <a:lnTo>
                  <a:pt x="114" y="81"/>
                </a:lnTo>
                <a:lnTo>
                  <a:pt x="131" y="76"/>
                </a:lnTo>
                <a:lnTo>
                  <a:pt x="147" y="70"/>
                </a:lnTo>
                <a:lnTo>
                  <a:pt x="164" y="64"/>
                </a:lnTo>
                <a:lnTo>
                  <a:pt x="180" y="58"/>
                </a:lnTo>
                <a:lnTo>
                  <a:pt x="196" y="51"/>
                </a:lnTo>
                <a:lnTo>
                  <a:pt x="213" y="45"/>
                </a:lnTo>
                <a:lnTo>
                  <a:pt x="229" y="39"/>
                </a:lnTo>
                <a:lnTo>
                  <a:pt x="246" y="32"/>
                </a:lnTo>
                <a:lnTo>
                  <a:pt x="262" y="27"/>
                </a:lnTo>
                <a:lnTo>
                  <a:pt x="278" y="21"/>
                </a:lnTo>
                <a:lnTo>
                  <a:pt x="295" y="16"/>
                </a:lnTo>
                <a:lnTo>
                  <a:pt x="311" y="12"/>
                </a:lnTo>
                <a:lnTo>
                  <a:pt x="327" y="8"/>
                </a:lnTo>
                <a:lnTo>
                  <a:pt x="344" y="5"/>
                </a:lnTo>
                <a:lnTo>
                  <a:pt x="360" y="2"/>
                </a:lnTo>
                <a:lnTo>
                  <a:pt x="377" y="1"/>
                </a:lnTo>
                <a:lnTo>
                  <a:pt x="393" y="0"/>
                </a:lnTo>
                <a:lnTo>
                  <a:pt x="393" y="20"/>
                </a:lnTo>
                <a:lnTo>
                  <a:pt x="377" y="21"/>
                </a:lnTo>
                <a:lnTo>
                  <a:pt x="360" y="22"/>
                </a:lnTo>
                <a:lnTo>
                  <a:pt x="344" y="25"/>
                </a:lnTo>
                <a:lnTo>
                  <a:pt x="327" y="28"/>
                </a:lnTo>
                <a:lnTo>
                  <a:pt x="311" y="32"/>
                </a:lnTo>
                <a:lnTo>
                  <a:pt x="295" y="36"/>
                </a:lnTo>
                <a:lnTo>
                  <a:pt x="278" y="41"/>
                </a:lnTo>
                <a:lnTo>
                  <a:pt x="262" y="47"/>
                </a:lnTo>
                <a:lnTo>
                  <a:pt x="246" y="53"/>
                </a:lnTo>
                <a:lnTo>
                  <a:pt x="229" y="59"/>
                </a:lnTo>
                <a:lnTo>
                  <a:pt x="213" y="65"/>
                </a:lnTo>
                <a:lnTo>
                  <a:pt x="196" y="71"/>
                </a:lnTo>
                <a:lnTo>
                  <a:pt x="180" y="78"/>
                </a:lnTo>
                <a:lnTo>
                  <a:pt x="164" y="84"/>
                </a:lnTo>
                <a:lnTo>
                  <a:pt x="147" y="90"/>
                </a:lnTo>
                <a:lnTo>
                  <a:pt x="131" y="96"/>
                </a:lnTo>
                <a:lnTo>
                  <a:pt x="114" y="102"/>
                </a:lnTo>
                <a:lnTo>
                  <a:pt x="98" y="107"/>
                </a:lnTo>
                <a:lnTo>
                  <a:pt x="82" y="111"/>
                </a:lnTo>
                <a:lnTo>
                  <a:pt x="65" y="115"/>
                </a:lnTo>
                <a:lnTo>
                  <a:pt x="49" y="118"/>
                </a:lnTo>
                <a:lnTo>
                  <a:pt x="33" y="121"/>
                </a:lnTo>
                <a:lnTo>
                  <a:pt x="16" y="122"/>
                </a:lnTo>
                <a:lnTo>
                  <a:pt x="0" y="123"/>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629150"/>
            <a:ext cx="3743325" cy="762000"/>
          </a:xfrm>
          <a:custGeom>
            <a:avLst/>
            <a:gdLst/>
            <a:ahLst/>
            <a:cxnLst/>
            <a:rect l="l" t="t" r="r" b="b"/>
            <a:pathLst>
              <a:path w="393" h="80">
                <a:moveTo>
                  <a:pt x="0" y="64"/>
                </a:moveTo>
                <a:lnTo>
                  <a:pt x="16" y="63"/>
                </a:lnTo>
                <a:lnTo>
                  <a:pt x="33" y="62"/>
                </a:lnTo>
                <a:lnTo>
                  <a:pt x="49" y="61"/>
                </a:lnTo>
                <a:lnTo>
                  <a:pt x="65" y="59"/>
                </a:lnTo>
                <a:lnTo>
                  <a:pt x="82" y="56"/>
                </a:lnTo>
                <a:lnTo>
                  <a:pt x="98" y="54"/>
                </a:lnTo>
                <a:lnTo>
                  <a:pt x="114" y="50"/>
                </a:lnTo>
                <a:lnTo>
                  <a:pt x="131" y="47"/>
                </a:lnTo>
                <a:lnTo>
                  <a:pt x="147" y="43"/>
                </a:lnTo>
                <a:lnTo>
                  <a:pt x="164" y="40"/>
                </a:lnTo>
                <a:lnTo>
                  <a:pt x="180" y="36"/>
                </a:lnTo>
                <a:lnTo>
                  <a:pt x="196" y="32"/>
                </a:lnTo>
                <a:lnTo>
                  <a:pt x="213" y="28"/>
                </a:lnTo>
                <a:lnTo>
                  <a:pt x="229" y="24"/>
                </a:lnTo>
                <a:lnTo>
                  <a:pt x="246" y="20"/>
                </a:lnTo>
                <a:lnTo>
                  <a:pt x="262" y="16"/>
                </a:lnTo>
                <a:lnTo>
                  <a:pt x="278" y="13"/>
                </a:lnTo>
                <a:lnTo>
                  <a:pt x="295" y="10"/>
                </a:lnTo>
                <a:lnTo>
                  <a:pt x="311" y="7"/>
                </a:lnTo>
                <a:lnTo>
                  <a:pt x="327" y="5"/>
                </a:lnTo>
                <a:lnTo>
                  <a:pt x="344" y="3"/>
                </a:lnTo>
                <a:lnTo>
                  <a:pt x="360" y="1"/>
                </a:lnTo>
                <a:lnTo>
                  <a:pt x="377" y="0"/>
                </a:lnTo>
                <a:lnTo>
                  <a:pt x="393" y="0"/>
                </a:lnTo>
                <a:lnTo>
                  <a:pt x="393" y="16"/>
                </a:lnTo>
                <a:lnTo>
                  <a:pt x="377" y="17"/>
                </a:lnTo>
                <a:lnTo>
                  <a:pt x="360" y="18"/>
                </a:lnTo>
                <a:lnTo>
                  <a:pt x="344" y="19"/>
                </a:lnTo>
                <a:lnTo>
                  <a:pt x="327" y="21"/>
                </a:lnTo>
                <a:lnTo>
                  <a:pt x="311" y="23"/>
                </a:lnTo>
                <a:lnTo>
                  <a:pt x="295" y="26"/>
                </a:lnTo>
                <a:lnTo>
                  <a:pt x="278" y="29"/>
                </a:lnTo>
                <a:lnTo>
                  <a:pt x="262" y="33"/>
                </a:lnTo>
                <a:lnTo>
                  <a:pt x="246" y="36"/>
                </a:lnTo>
                <a:lnTo>
                  <a:pt x="229" y="40"/>
                </a:lnTo>
                <a:lnTo>
                  <a:pt x="213" y="44"/>
                </a:lnTo>
                <a:lnTo>
                  <a:pt x="196" y="48"/>
                </a:lnTo>
                <a:lnTo>
                  <a:pt x="180" y="52"/>
                </a:lnTo>
                <a:lnTo>
                  <a:pt x="164" y="56"/>
                </a:lnTo>
                <a:lnTo>
                  <a:pt x="147" y="60"/>
                </a:lnTo>
                <a:lnTo>
                  <a:pt x="131" y="63"/>
                </a:lnTo>
                <a:lnTo>
                  <a:pt x="114" y="67"/>
                </a:lnTo>
                <a:lnTo>
                  <a:pt x="98" y="70"/>
                </a:lnTo>
                <a:lnTo>
                  <a:pt x="82" y="73"/>
                </a:lnTo>
                <a:lnTo>
                  <a:pt x="65" y="75"/>
                </a:lnTo>
                <a:lnTo>
                  <a:pt x="49" y="77"/>
                </a:lnTo>
                <a:lnTo>
                  <a:pt x="33" y="79"/>
                </a:lnTo>
                <a:lnTo>
                  <a:pt x="16" y="80"/>
                </a:lnTo>
                <a:lnTo>
                  <a:pt x="0" y="8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153025"/>
            <a:ext cx="3743325" cy="390525"/>
          </a:xfrm>
          <a:custGeom>
            <a:avLst/>
            <a:gdLst/>
            <a:ahLst/>
            <a:cxnLst/>
            <a:rect l="l" t="t" r="r" b="b"/>
            <a:pathLst>
              <a:path w="393" h="41">
                <a:moveTo>
                  <a:pt x="0" y="25"/>
                </a:moveTo>
                <a:lnTo>
                  <a:pt x="16" y="25"/>
                </a:lnTo>
                <a:lnTo>
                  <a:pt x="33" y="24"/>
                </a:lnTo>
                <a:lnTo>
                  <a:pt x="49" y="24"/>
                </a:lnTo>
                <a:lnTo>
                  <a:pt x="65" y="23"/>
                </a:lnTo>
                <a:lnTo>
                  <a:pt x="82" y="22"/>
                </a:lnTo>
                <a:lnTo>
                  <a:pt x="98" y="21"/>
                </a:lnTo>
                <a:lnTo>
                  <a:pt x="114" y="20"/>
                </a:lnTo>
                <a:lnTo>
                  <a:pt x="131" y="18"/>
                </a:lnTo>
                <a:lnTo>
                  <a:pt x="147" y="17"/>
                </a:lnTo>
                <a:lnTo>
                  <a:pt x="164" y="15"/>
                </a:lnTo>
                <a:lnTo>
                  <a:pt x="180" y="14"/>
                </a:lnTo>
                <a:lnTo>
                  <a:pt x="196" y="12"/>
                </a:lnTo>
                <a:lnTo>
                  <a:pt x="213" y="11"/>
                </a:lnTo>
                <a:lnTo>
                  <a:pt x="229" y="9"/>
                </a:lnTo>
                <a:lnTo>
                  <a:pt x="246" y="8"/>
                </a:lnTo>
                <a:lnTo>
                  <a:pt x="262" y="6"/>
                </a:lnTo>
                <a:lnTo>
                  <a:pt x="278" y="5"/>
                </a:lnTo>
                <a:lnTo>
                  <a:pt x="295" y="3"/>
                </a:lnTo>
                <a:lnTo>
                  <a:pt x="311" y="2"/>
                </a:lnTo>
                <a:lnTo>
                  <a:pt x="327" y="1"/>
                </a:lnTo>
                <a:lnTo>
                  <a:pt x="344" y="1"/>
                </a:lnTo>
                <a:lnTo>
                  <a:pt x="360" y="0"/>
                </a:lnTo>
                <a:lnTo>
                  <a:pt x="377" y="0"/>
                </a:lnTo>
                <a:lnTo>
                  <a:pt x="393" y="0"/>
                </a:lnTo>
                <a:lnTo>
                  <a:pt x="393" y="16"/>
                </a:lnTo>
                <a:lnTo>
                  <a:pt x="377" y="16"/>
                </a:lnTo>
                <a:lnTo>
                  <a:pt x="360" y="16"/>
                </a:lnTo>
                <a:lnTo>
                  <a:pt x="344" y="17"/>
                </a:lnTo>
                <a:lnTo>
                  <a:pt x="327" y="17"/>
                </a:lnTo>
                <a:lnTo>
                  <a:pt x="311" y="18"/>
                </a:lnTo>
                <a:lnTo>
                  <a:pt x="295" y="20"/>
                </a:lnTo>
                <a:lnTo>
                  <a:pt x="278" y="21"/>
                </a:lnTo>
                <a:lnTo>
                  <a:pt x="262" y="22"/>
                </a:lnTo>
                <a:lnTo>
                  <a:pt x="246" y="24"/>
                </a:lnTo>
                <a:lnTo>
                  <a:pt x="229" y="25"/>
                </a:lnTo>
                <a:lnTo>
                  <a:pt x="213" y="27"/>
                </a:lnTo>
                <a:lnTo>
                  <a:pt x="196" y="28"/>
                </a:lnTo>
                <a:lnTo>
                  <a:pt x="180" y="30"/>
                </a:lnTo>
                <a:lnTo>
                  <a:pt x="164" y="31"/>
                </a:lnTo>
                <a:lnTo>
                  <a:pt x="147" y="33"/>
                </a:lnTo>
                <a:lnTo>
                  <a:pt x="131" y="34"/>
                </a:lnTo>
                <a:lnTo>
                  <a:pt x="114" y="36"/>
                </a:lnTo>
                <a:lnTo>
                  <a:pt x="98" y="37"/>
                </a:lnTo>
                <a:lnTo>
                  <a:pt x="82" y="38"/>
                </a:lnTo>
                <a:lnTo>
                  <a:pt x="65" y="39"/>
                </a:lnTo>
                <a:lnTo>
                  <a:pt x="49" y="40"/>
                </a:lnTo>
                <a:lnTo>
                  <a:pt x="33" y="40"/>
                </a:lnTo>
                <a:lnTo>
                  <a:pt x="16" y="41"/>
                </a:lnTo>
                <a:lnTo>
                  <a:pt x="0" y="41"/>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543550"/>
            <a:ext cx="3743325" cy="95250"/>
          </a:xfrm>
          <a:custGeom>
            <a:avLst/>
            <a:gdLst/>
            <a:ahLst/>
            <a:cxnLst/>
            <a:rect l="l" t="t" r="r" b="b"/>
            <a:pathLst>
              <a:path w="393" h="10">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0"/>
                </a:lnTo>
                <a:lnTo>
                  <a:pt x="377" y="10"/>
                </a:lnTo>
                <a:lnTo>
                  <a:pt x="360" y="10"/>
                </a:lnTo>
                <a:lnTo>
                  <a:pt x="344" y="10"/>
                </a:lnTo>
                <a:lnTo>
                  <a:pt x="327" y="10"/>
                </a:lnTo>
                <a:lnTo>
                  <a:pt x="311" y="10"/>
                </a:lnTo>
                <a:lnTo>
                  <a:pt x="295" y="10"/>
                </a:lnTo>
                <a:lnTo>
                  <a:pt x="278" y="10"/>
                </a:lnTo>
                <a:lnTo>
                  <a:pt x="262" y="10"/>
                </a:lnTo>
                <a:lnTo>
                  <a:pt x="246" y="10"/>
                </a:lnTo>
                <a:lnTo>
                  <a:pt x="229" y="10"/>
                </a:lnTo>
                <a:lnTo>
                  <a:pt x="213" y="10"/>
                </a:lnTo>
                <a:lnTo>
                  <a:pt x="196" y="10"/>
                </a:lnTo>
                <a:lnTo>
                  <a:pt x="180" y="10"/>
                </a:lnTo>
                <a:lnTo>
                  <a:pt x="164" y="10"/>
                </a:lnTo>
                <a:lnTo>
                  <a:pt x="147" y="10"/>
                </a:lnTo>
                <a:lnTo>
                  <a:pt x="131" y="10"/>
                </a:lnTo>
                <a:lnTo>
                  <a:pt x="114" y="10"/>
                </a:lnTo>
                <a:lnTo>
                  <a:pt x="98" y="10"/>
                </a:lnTo>
                <a:lnTo>
                  <a:pt x="82" y="10"/>
                </a:lnTo>
                <a:lnTo>
                  <a:pt x="65" y="10"/>
                </a:lnTo>
                <a:lnTo>
                  <a:pt x="49" y="10"/>
                </a:lnTo>
                <a:lnTo>
                  <a:pt x="33" y="10"/>
                </a:lnTo>
                <a:lnTo>
                  <a:pt x="16" y="10"/>
                </a:lnTo>
                <a:lnTo>
                  <a:pt x="0" y="1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695950"/>
            <a:ext cx="3743325" cy="476250"/>
          </a:xfrm>
          <a:custGeom>
            <a:avLst/>
            <a:gdLst/>
            <a:ahLst/>
            <a:cxnLst/>
            <a:rect l="l" t="t" r="r" b="b"/>
            <a:pathLst>
              <a:path w="393" h="50">
                <a:moveTo>
                  <a:pt x="0" y="0"/>
                </a:moveTo>
                <a:lnTo>
                  <a:pt x="16" y="0"/>
                </a:lnTo>
                <a:lnTo>
                  <a:pt x="33" y="0"/>
                </a:lnTo>
                <a:lnTo>
                  <a:pt x="49" y="1"/>
                </a:lnTo>
                <a:lnTo>
                  <a:pt x="65" y="2"/>
                </a:lnTo>
                <a:lnTo>
                  <a:pt x="82" y="4"/>
                </a:lnTo>
                <a:lnTo>
                  <a:pt x="98" y="6"/>
                </a:lnTo>
                <a:lnTo>
                  <a:pt x="114" y="7"/>
                </a:lnTo>
                <a:lnTo>
                  <a:pt x="131" y="9"/>
                </a:lnTo>
                <a:lnTo>
                  <a:pt x="147" y="12"/>
                </a:lnTo>
                <a:lnTo>
                  <a:pt x="164" y="14"/>
                </a:lnTo>
                <a:lnTo>
                  <a:pt x="180" y="16"/>
                </a:lnTo>
                <a:lnTo>
                  <a:pt x="196" y="19"/>
                </a:lnTo>
                <a:lnTo>
                  <a:pt x="213" y="21"/>
                </a:lnTo>
                <a:lnTo>
                  <a:pt x="229" y="23"/>
                </a:lnTo>
                <a:lnTo>
                  <a:pt x="246" y="25"/>
                </a:lnTo>
                <a:lnTo>
                  <a:pt x="262" y="28"/>
                </a:lnTo>
                <a:lnTo>
                  <a:pt x="278" y="30"/>
                </a:lnTo>
                <a:lnTo>
                  <a:pt x="295" y="31"/>
                </a:lnTo>
                <a:lnTo>
                  <a:pt x="311" y="33"/>
                </a:lnTo>
                <a:lnTo>
                  <a:pt x="327" y="35"/>
                </a:lnTo>
                <a:lnTo>
                  <a:pt x="344" y="36"/>
                </a:lnTo>
                <a:lnTo>
                  <a:pt x="360" y="37"/>
                </a:lnTo>
                <a:lnTo>
                  <a:pt x="377" y="37"/>
                </a:lnTo>
                <a:lnTo>
                  <a:pt x="393" y="37"/>
                </a:lnTo>
                <a:lnTo>
                  <a:pt x="393" y="50"/>
                </a:lnTo>
                <a:lnTo>
                  <a:pt x="377" y="50"/>
                </a:lnTo>
                <a:lnTo>
                  <a:pt x="360" y="50"/>
                </a:lnTo>
                <a:lnTo>
                  <a:pt x="344" y="49"/>
                </a:lnTo>
                <a:lnTo>
                  <a:pt x="327" y="47"/>
                </a:lnTo>
                <a:lnTo>
                  <a:pt x="311" y="46"/>
                </a:lnTo>
                <a:lnTo>
                  <a:pt x="295" y="44"/>
                </a:lnTo>
                <a:lnTo>
                  <a:pt x="278" y="43"/>
                </a:lnTo>
                <a:lnTo>
                  <a:pt x="262" y="40"/>
                </a:lnTo>
                <a:lnTo>
                  <a:pt x="246" y="38"/>
                </a:lnTo>
                <a:lnTo>
                  <a:pt x="229" y="36"/>
                </a:lnTo>
                <a:lnTo>
                  <a:pt x="213" y="34"/>
                </a:lnTo>
                <a:lnTo>
                  <a:pt x="196" y="31"/>
                </a:lnTo>
                <a:lnTo>
                  <a:pt x="180" y="29"/>
                </a:lnTo>
                <a:lnTo>
                  <a:pt x="164" y="27"/>
                </a:lnTo>
                <a:lnTo>
                  <a:pt x="147" y="24"/>
                </a:lnTo>
                <a:lnTo>
                  <a:pt x="131" y="22"/>
                </a:lnTo>
                <a:lnTo>
                  <a:pt x="114" y="20"/>
                </a:lnTo>
                <a:lnTo>
                  <a:pt x="98" y="18"/>
                </a:lnTo>
                <a:lnTo>
                  <a:pt x="82" y="17"/>
                </a:lnTo>
                <a:lnTo>
                  <a:pt x="65" y="15"/>
                </a:lnTo>
                <a:lnTo>
                  <a:pt x="49" y="14"/>
                </a:lnTo>
                <a:lnTo>
                  <a:pt x="33" y="13"/>
                </a:lnTo>
                <a:lnTo>
                  <a:pt x="16" y="13"/>
                </a:lnTo>
                <a:lnTo>
                  <a:pt x="0" y="13"/>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5819775"/>
            <a:ext cx="3743325" cy="533400"/>
          </a:xfrm>
          <a:custGeom>
            <a:avLst/>
            <a:gdLst/>
            <a:ahLst/>
            <a:cxnLst/>
            <a:rect l="l" t="t" r="r" b="b"/>
            <a:pathLst>
              <a:path w="393" h="56">
                <a:moveTo>
                  <a:pt x="0" y="0"/>
                </a:moveTo>
                <a:lnTo>
                  <a:pt x="16" y="0"/>
                </a:lnTo>
                <a:lnTo>
                  <a:pt x="33" y="0"/>
                </a:lnTo>
                <a:lnTo>
                  <a:pt x="49" y="1"/>
                </a:lnTo>
                <a:lnTo>
                  <a:pt x="65" y="3"/>
                </a:lnTo>
                <a:lnTo>
                  <a:pt x="82" y="4"/>
                </a:lnTo>
                <a:lnTo>
                  <a:pt x="98" y="6"/>
                </a:lnTo>
                <a:lnTo>
                  <a:pt x="114" y="9"/>
                </a:lnTo>
                <a:lnTo>
                  <a:pt x="131" y="11"/>
                </a:lnTo>
                <a:lnTo>
                  <a:pt x="147" y="13"/>
                </a:lnTo>
                <a:lnTo>
                  <a:pt x="164" y="16"/>
                </a:lnTo>
                <a:lnTo>
                  <a:pt x="180" y="19"/>
                </a:lnTo>
                <a:lnTo>
                  <a:pt x="196" y="21"/>
                </a:lnTo>
                <a:lnTo>
                  <a:pt x="213" y="24"/>
                </a:lnTo>
                <a:lnTo>
                  <a:pt x="229" y="27"/>
                </a:lnTo>
                <a:lnTo>
                  <a:pt x="246" y="29"/>
                </a:lnTo>
                <a:lnTo>
                  <a:pt x="262" y="32"/>
                </a:lnTo>
                <a:lnTo>
                  <a:pt x="278" y="34"/>
                </a:lnTo>
                <a:lnTo>
                  <a:pt x="295" y="36"/>
                </a:lnTo>
                <a:lnTo>
                  <a:pt x="311" y="38"/>
                </a:lnTo>
                <a:lnTo>
                  <a:pt x="327" y="40"/>
                </a:lnTo>
                <a:lnTo>
                  <a:pt x="344" y="41"/>
                </a:lnTo>
                <a:lnTo>
                  <a:pt x="360" y="42"/>
                </a:lnTo>
                <a:lnTo>
                  <a:pt x="377" y="43"/>
                </a:lnTo>
                <a:lnTo>
                  <a:pt x="393" y="43"/>
                </a:lnTo>
                <a:lnTo>
                  <a:pt x="393" y="56"/>
                </a:lnTo>
                <a:lnTo>
                  <a:pt x="377" y="56"/>
                </a:lnTo>
                <a:lnTo>
                  <a:pt x="360" y="55"/>
                </a:lnTo>
                <a:lnTo>
                  <a:pt x="344" y="54"/>
                </a:lnTo>
                <a:lnTo>
                  <a:pt x="327" y="53"/>
                </a:lnTo>
                <a:lnTo>
                  <a:pt x="311" y="51"/>
                </a:lnTo>
                <a:lnTo>
                  <a:pt x="295" y="49"/>
                </a:lnTo>
                <a:lnTo>
                  <a:pt x="278" y="47"/>
                </a:lnTo>
                <a:lnTo>
                  <a:pt x="262" y="45"/>
                </a:lnTo>
                <a:lnTo>
                  <a:pt x="246" y="42"/>
                </a:lnTo>
                <a:lnTo>
                  <a:pt x="229" y="40"/>
                </a:lnTo>
                <a:lnTo>
                  <a:pt x="213" y="37"/>
                </a:lnTo>
                <a:lnTo>
                  <a:pt x="196" y="34"/>
                </a:lnTo>
                <a:lnTo>
                  <a:pt x="180" y="32"/>
                </a:lnTo>
                <a:lnTo>
                  <a:pt x="164" y="29"/>
                </a:lnTo>
                <a:lnTo>
                  <a:pt x="147" y="26"/>
                </a:lnTo>
                <a:lnTo>
                  <a:pt x="131" y="24"/>
                </a:lnTo>
                <a:lnTo>
                  <a:pt x="114" y="21"/>
                </a:lnTo>
                <a:lnTo>
                  <a:pt x="98" y="19"/>
                </a:lnTo>
                <a:lnTo>
                  <a:pt x="82" y="17"/>
                </a:lnTo>
                <a:lnTo>
                  <a:pt x="65" y="16"/>
                </a:lnTo>
                <a:lnTo>
                  <a:pt x="49" y="14"/>
                </a:lnTo>
                <a:lnTo>
                  <a:pt x="33" y="13"/>
                </a:lnTo>
                <a:lnTo>
                  <a:pt x="16" y="13"/>
                </a:lnTo>
                <a:lnTo>
                  <a:pt x="0" y="12"/>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934075"/>
            <a:ext cx="3743325" cy="600075"/>
          </a:xfrm>
          <a:custGeom>
            <a:avLst/>
            <a:gdLst/>
            <a:ahLst/>
            <a:cxnLst/>
            <a:rect l="l" t="t" r="r" b="b"/>
            <a:pathLst>
              <a:path w="393" h="63">
                <a:moveTo>
                  <a:pt x="0" y="0"/>
                </a:moveTo>
                <a:lnTo>
                  <a:pt x="16" y="1"/>
                </a:lnTo>
                <a:lnTo>
                  <a:pt x="33" y="1"/>
                </a:lnTo>
                <a:lnTo>
                  <a:pt x="49" y="3"/>
                </a:lnTo>
                <a:lnTo>
                  <a:pt x="65" y="4"/>
                </a:lnTo>
                <a:lnTo>
                  <a:pt x="82" y="6"/>
                </a:lnTo>
                <a:lnTo>
                  <a:pt x="98" y="8"/>
                </a:lnTo>
                <a:lnTo>
                  <a:pt x="114" y="11"/>
                </a:lnTo>
                <a:lnTo>
                  <a:pt x="131" y="13"/>
                </a:lnTo>
                <a:lnTo>
                  <a:pt x="147" y="16"/>
                </a:lnTo>
                <a:lnTo>
                  <a:pt x="164" y="19"/>
                </a:lnTo>
                <a:lnTo>
                  <a:pt x="180" y="22"/>
                </a:lnTo>
                <a:lnTo>
                  <a:pt x="196" y="25"/>
                </a:lnTo>
                <a:lnTo>
                  <a:pt x="213" y="28"/>
                </a:lnTo>
                <a:lnTo>
                  <a:pt x="229" y="31"/>
                </a:lnTo>
                <a:lnTo>
                  <a:pt x="246" y="34"/>
                </a:lnTo>
                <a:lnTo>
                  <a:pt x="262" y="37"/>
                </a:lnTo>
                <a:lnTo>
                  <a:pt x="278" y="40"/>
                </a:lnTo>
                <a:lnTo>
                  <a:pt x="295" y="42"/>
                </a:lnTo>
                <a:lnTo>
                  <a:pt x="311" y="45"/>
                </a:lnTo>
                <a:lnTo>
                  <a:pt x="327" y="46"/>
                </a:lnTo>
                <a:lnTo>
                  <a:pt x="344" y="48"/>
                </a:lnTo>
                <a:lnTo>
                  <a:pt x="360" y="49"/>
                </a:lnTo>
                <a:lnTo>
                  <a:pt x="377" y="50"/>
                </a:lnTo>
                <a:lnTo>
                  <a:pt x="393" y="50"/>
                </a:lnTo>
                <a:lnTo>
                  <a:pt x="393" y="63"/>
                </a:lnTo>
                <a:lnTo>
                  <a:pt x="377" y="63"/>
                </a:lnTo>
                <a:lnTo>
                  <a:pt x="360" y="62"/>
                </a:lnTo>
                <a:lnTo>
                  <a:pt x="344" y="61"/>
                </a:lnTo>
                <a:lnTo>
                  <a:pt x="327" y="59"/>
                </a:lnTo>
                <a:lnTo>
                  <a:pt x="311" y="57"/>
                </a:lnTo>
                <a:lnTo>
                  <a:pt x="295" y="55"/>
                </a:lnTo>
                <a:lnTo>
                  <a:pt x="278" y="53"/>
                </a:lnTo>
                <a:lnTo>
                  <a:pt x="262" y="50"/>
                </a:lnTo>
                <a:lnTo>
                  <a:pt x="246" y="47"/>
                </a:lnTo>
                <a:lnTo>
                  <a:pt x="229" y="44"/>
                </a:lnTo>
                <a:lnTo>
                  <a:pt x="213" y="41"/>
                </a:lnTo>
                <a:lnTo>
                  <a:pt x="196" y="38"/>
                </a:lnTo>
                <a:lnTo>
                  <a:pt x="180" y="35"/>
                </a:lnTo>
                <a:lnTo>
                  <a:pt x="164" y="32"/>
                </a:lnTo>
                <a:lnTo>
                  <a:pt x="147" y="29"/>
                </a:lnTo>
                <a:lnTo>
                  <a:pt x="131" y="26"/>
                </a:lnTo>
                <a:lnTo>
                  <a:pt x="114" y="23"/>
                </a:lnTo>
                <a:lnTo>
                  <a:pt x="98" y="21"/>
                </a:lnTo>
                <a:lnTo>
                  <a:pt x="82" y="19"/>
                </a:lnTo>
                <a:lnTo>
                  <a:pt x="65" y="17"/>
                </a:lnTo>
                <a:lnTo>
                  <a:pt x="49" y="15"/>
                </a:lnTo>
                <a:lnTo>
                  <a:pt x="33" y="14"/>
                </a:lnTo>
                <a:lnTo>
                  <a:pt x="16" y="14"/>
                </a:lnTo>
                <a:lnTo>
                  <a:pt x="0" y="13"/>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5695950"/>
            <a:ext cx="3743325" cy="542925"/>
          </a:xfrm>
          <a:custGeom>
            <a:avLst/>
            <a:gdLst/>
            <a:ahLst/>
            <a:cxnLst/>
            <a:rect l="l" t="t" r="r" b="b"/>
            <a:pathLst>
              <a:path w="393" h="57">
                <a:moveTo>
                  <a:pt x="0" y="44"/>
                </a:moveTo>
                <a:lnTo>
                  <a:pt x="16" y="44"/>
                </a:lnTo>
                <a:lnTo>
                  <a:pt x="33" y="43"/>
                </a:lnTo>
                <a:lnTo>
                  <a:pt x="49" y="42"/>
                </a:lnTo>
                <a:lnTo>
                  <a:pt x="65" y="41"/>
                </a:lnTo>
                <a:lnTo>
                  <a:pt x="82" y="39"/>
                </a:lnTo>
                <a:lnTo>
                  <a:pt x="98" y="37"/>
                </a:lnTo>
                <a:lnTo>
                  <a:pt x="114" y="35"/>
                </a:lnTo>
                <a:lnTo>
                  <a:pt x="131" y="33"/>
                </a:lnTo>
                <a:lnTo>
                  <a:pt x="147" y="30"/>
                </a:lnTo>
                <a:lnTo>
                  <a:pt x="164" y="27"/>
                </a:lnTo>
                <a:lnTo>
                  <a:pt x="180" y="25"/>
                </a:lnTo>
                <a:lnTo>
                  <a:pt x="196" y="22"/>
                </a:lnTo>
                <a:lnTo>
                  <a:pt x="213" y="19"/>
                </a:lnTo>
                <a:lnTo>
                  <a:pt x="229" y="16"/>
                </a:lnTo>
                <a:lnTo>
                  <a:pt x="246" y="14"/>
                </a:lnTo>
                <a:lnTo>
                  <a:pt x="262" y="11"/>
                </a:lnTo>
                <a:lnTo>
                  <a:pt x="278" y="9"/>
                </a:lnTo>
                <a:lnTo>
                  <a:pt x="295" y="7"/>
                </a:lnTo>
                <a:lnTo>
                  <a:pt x="311" y="5"/>
                </a:lnTo>
                <a:lnTo>
                  <a:pt x="327" y="3"/>
                </a:lnTo>
                <a:lnTo>
                  <a:pt x="344" y="2"/>
                </a:lnTo>
                <a:lnTo>
                  <a:pt x="360" y="1"/>
                </a:lnTo>
                <a:lnTo>
                  <a:pt x="377" y="0"/>
                </a:lnTo>
                <a:lnTo>
                  <a:pt x="393" y="0"/>
                </a:lnTo>
                <a:lnTo>
                  <a:pt x="393" y="13"/>
                </a:lnTo>
                <a:lnTo>
                  <a:pt x="377" y="13"/>
                </a:lnTo>
                <a:lnTo>
                  <a:pt x="360" y="13"/>
                </a:lnTo>
                <a:lnTo>
                  <a:pt x="344" y="14"/>
                </a:lnTo>
                <a:lnTo>
                  <a:pt x="327" y="16"/>
                </a:lnTo>
                <a:lnTo>
                  <a:pt x="311" y="18"/>
                </a:lnTo>
                <a:lnTo>
                  <a:pt x="295" y="19"/>
                </a:lnTo>
                <a:lnTo>
                  <a:pt x="278" y="22"/>
                </a:lnTo>
                <a:lnTo>
                  <a:pt x="262" y="24"/>
                </a:lnTo>
                <a:lnTo>
                  <a:pt x="246" y="27"/>
                </a:lnTo>
                <a:lnTo>
                  <a:pt x="229" y="29"/>
                </a:lnTo>
                <a:lnTo>
                  <a:pt x="213" y="32"/>
                </a:lnTo>
                <a:lnTo>
                  <a:pt x="196" y="35"/>
                </a:lnTo>
                <a:lnTo>
                  <a:pt x="180" y="38"/>
                </a:lnTo>
                <a:lnTo>
                  <a:pt x="164" y="40"/>
                </a:lnTo>
                <a:lnTo>
                  <a:pt x="147" y="43"/>
                </a:lnTo>
                <a:lnTo>
                  <a:pt x="131" y="46"/>
                </a:lnTo>
                <a:lnTo>
                  <a:pt x="114" y="48"/>
                </a:lnTo>
                <a:lnTo>
                  <a:pt x="98" y="50"/>
                </a:lnTo>
                <a:lnTo>
                  <a:pt x="82" y="52"/>
                </a:lnTo>
                <a:lnTo>
                  <a:pt x="65" y="54"/>
                </a:lnTo>
                <a:lnTo>
                  <a:pt x="49" y="55"/>
                </a:lnTo>
                <a:lnTo>
                  <a:pt x="33" y="56"/>
                </a:lnTo>
                <a:lnTo>
                  <a:pt x="16" y="57"/>
                </a:lnTo>
                <a:lnTo>
                  <a:pt x="0" y="57"/>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5876925"/>
            <a:ext cx="3743325" cy="485775"/>
          </a:xfrm>
          <a:custGeom>
            <a:avLst/>
            <a:gdLst/>
            <a:ahLst/>
            <a:cxnLst/>
            <a:rect l="l" t="t" r="r" b="b"/>
            <a:pathLst>
              <a:path w="393" h="51">
                <a:moveTo>
                  <a:pt x="0" y="38"/>
                </a:moveTo>
                <a:lnTo>
                  <a:pt x="16" y="38"/>
                </a:lnTo>
                <a:lnTo>
                  <a:pt x="33" y="37"/>
                </a:lnTo>
                <a:lnTo>
                  <a:pt x="49" y="36"/>
                </a:lnTo>
                <a:lnTo>
                  <a:pt x="65" y="35"/>
                </a:lnTo>
                <a:lnTo>
                  <a:pt x="82" y="34"/>
                </a:lnTo>
                <a:lnTo>
                  <a:pt x="98" y="32"/>
                </a:lnTo>
                <a:lnTo>
                  <a:pt x="114" y="30"/>
                </a:lnTo>
                <a:lnTo>
                  <a:pt x="131" y="28"/>
                </a:lnTo>
                <a:lnTo>
                  <a:pt x="147" y="26"/>
                </a:lnTo>
                <a:lnTo>
                  <a:pt x="164" y="24"/>
                </a:lnTo>
                <a:lnTo>
                  <a:pt x="180" y="21"/>
                </a:lnTo>
                <a:lnTo>
                  <a:pt x="196" y="19"/>
                </a:lnTo>
                <a:lnTo>
                  <a:pt x="213" y="16"/>
                </a:lnTo>
                <a:lnTo>
                  <a:pt x="229" y="14"/>
                </a:lnTo>
                <a:lnTo>
                  <a:pt x="246" y="12"/>
                </a:lnTo>
                <a:lnTo>
                  <a:pt x="262" y="10"/>
                </a:lnTo>
                <a:lnTo>
                  <a:pt x="278" y="7"/>
                </a:lnTo>
                <a:lnTo>
                  <a:pt x="295" y="6"/>
                </a:lnTo>
                <a:lnTo>
                  <a:pt x="311" y="4"/>
                </a:lnTo>
                <a:lnTo>
                  <a:pt x="327" y="2"/>
                </a:lnTo>
                <a:lnTo>
                  <a:pt x="344" y="1"/>
                </a:lnTo>
                <a:lnTo>
                  <a:pt x="360" y="0"/>
                </a:lnTo>
                <a:lnTo>
                  <a:pt x="377" y="0"/>
                </a:lnTo>
                <a:lnTo>
                  <a:pt x="393" y="0"/>
                </a:lnTo>
                <a:lnTo>
                  <a:pt x="393" y="12"/>
                </a:lnTo>
                <a:lnTo>
                  <a:pt x="377" y="13"/>
                </a:lnTo>
                <a:lnTo>
                  <a:pt x="360" y="13"/>
                </a:lnTo>
                <a:lnTo>
                  <a:pt x="344" y="14"/>
                </a:lnTo>
                <a:lnTo>
                  <a:pt x="327" y="15"/>
                </a:lnTo>
                <a:lnTo>
                  <a:pt x="311" y="17"/>
                </a:lnTo>
                <a:lnTo>
                  <a:pt x="295" y="18"/>
                </a:lnTo>
                <a:lnTo>
                  <a:pt x="278" y="20"/>
                </a:lnTo>
                <a:lnTo>
                  <a:pt x="262" y="22"/>
                </a:lnTo>
                <a:lnTo>
                  <a:pt x="246" y="25"/>
                </a:lnTo>
                <a:lnTo>
                  <a:pt x="229" y="27"/>
                </a:lnTo>
                <a:lnTo>
                  <a:pt x="213" y="29"/>
                </a:lnTo>
                <a:lnTo>
                  <a:pt x="196" y="32"/>
                </a:lnTo>
                <a:lnTo>
                  <a:pt x="180" y="34"/>
                </a:lnTo>
                <a:lnTo>
                  <a:pt x="164" y="36"/>
                </a:lnTo>
                <a:lnTo>
                  <a:pt x="147" y="39"/>
                </a:lnTo>
                <a:lnTo>
                  <a:pt x="131" y="41"/>
                </a:lnTo>
                <a:lnTo>
                  <a:pt x="114" y="43"/>
                </a:lnTo>
                <a:lnTo>
                  <a:pt x="98" y="45"/>
                </a:lnTo>
                <a:lnTo>
                  <a:pt x="82" y="47"/>
                </a:lnTo>
                <a:lnTo>
                  <a:pt x="65" y="48"/>
                </a:lnTo>
                <a:lnTo>
                  <a:pt x="49" y="49"/>
                </a:lnTo>
                <a:lnTo>
                  <a:pt x="33" y="50"/>
                </a:lnTo>
                <a:lnTo>
                  <a:pt x="16" y="51"/>
                </a:lnTo>
                <a:lnTo>
                  <a:pt x="0" y="51"/>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1476375"/>
            <a:ext cx="114300" cy="1348291"/>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41195" y="2881816"/>
            <a:ext cx="114300" cy="1348291"/>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41195" y="4287256"/>
            <a:ext cx="114300" cy="134828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41195" y="5692691"/>
            <a:ext cx="114300" cy="36771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941195" y="6117556"/>
            <a:ext cx="114300" cy="245144"/>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1304925"/>
            <a:ext cx="114300" cy="149859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2860674"/>
            <a:ext cx="114300" cy="765219"/>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0725" y="3683042"/>
            <a:ext cx="114300" cy="57798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800725" y="4318175"/>
            <a:ext cx="114300" cy="466590"/>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00725" y="4841916"/>
            <a:ext cx="114300" cy="45977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800725" y="5358843"/>
            <a:ext cx="114300" cy="27669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0725" y="5692691"/>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800725" y="5872413"/>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0725" y="6052135"/>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800725" y="6231856"/>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00725" y="6411578"/>
            <a:ext cx="114300" cy="12257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7175" y="207908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257175" y="3484524"/>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257175" y="488996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257175" y="580511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257175" y="616869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193039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3119458"/>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384820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TextBox 55"/>
          <p:cNvSpPr txBox="1"/>
          <p:nvPr/>
        </p:nvSpPr>
        <p:spPr>
          <a:xfrm>
            <a:off x="5972175" y="4480033"/>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7" name="TextBox 56"/>
          <p:cNvSpPr txBox="1"/>
          <p:nvPr/>
        </p:nvSpPr>
        <p:spPr>
          <a:xfrm>
            <a:off x="5972175" y="484822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8" name="TextBox 57"/>
          <p:cNvSpPr txBox="1"/>
          <p:nvPr/>
        </p:nvSpPr>
        <p:spPr>
          <a:xfrm>
            <a:off x="5972175" y="510540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9" name="TextBox 58"/>
          <p:cNvSpPr txBox="1"/>
          <p:nvPr/>
        </p:nvSpPr>
        <p:spPr>
          <a:xfrm>
            <a:off x="5972175" y="52578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0" name="TextBox 59"/>
          <p:cNvSpPr txBox="1"/>
          <p:nvPr/>
        </p:nvSpPr>
        <p:spPr>
          <a:xfrm>
            <a:off x="5972175" y="551497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1" name="TextBox 60"/>
          <p:cNvSpPr txBox="1"/>
          <p:nvPr/>
        </p:nvSpPr>
        <p:spPr>
          <a:xfrm>
            <a:off x="5972175" y="577215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2" name="TextBox 61"/>
          <p:cNvSpPr txBox="1"/>
          <p:nvPr/>
        </p:nvSpPr>
        <p:spPr>
          <a:xfrm>
            <a:off x="5972175" y="602932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3" name="TextBox 62"/>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64" name="Rounded Rectangle 63"/>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66" name="Rectangle 65"/>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8" name="Rectangle 6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70" name="TextBox 69"/>
          <p:cNvSpPr txBox="1"/>
          <p:nvPr/>
        </p:nvSpPr>
        <p:spPr>
          <a:xfrm>
            <a:off x="730592" y="2090170"/>
            <a:ext cx="1099702" cy="139750"/>
          </a:xfrm>
          <a:prstGeom prst="rect">
            <a:avLst/>
          </a:prstGeom>
          <a:noFill/>
        </p:spPr>
        <p:txBody>
          <a:bodyPr wrap="none" lIns="0" rIns="0" tIns="0" bIns="0">
            <a:spAutoFit/>
          </a:bodyPr>
          <a:lstStyle/>
          <a:p>
            <a:r>
              <a:rPr sz="791" b="1">
                <a:solidFill>
                  <a:srgbClr val="2E2E2E"/>
                </a:solidFill>
                <a:latin typeface="Calibri"/>
              </a:rPr>
              <a:t>Polyurethane (PU) Foam</a:t>
            </a:r>
          </a:p>
        </p:txBody>
      </p:sp>
      <p:pic>
        <p:nvPicPr>
          <p:cNvPr id="71" name="Picture 70" descr="lock.png"/>
          <p:cNvPicPr>
            <a:picLocks noChangeAspect="1"/>
          </p:cNvPicPr>
          <p:nvPr/>
        </p:nvPicPr>
        <p:blipFill>
          <a:blip r:embed="rId4"/>
          <a:stretch>
            <a:fillRect/>
          </a:stretch>
        </p:blipFill>
        <p:spPr>
          <a:xfrm>
            <a:off x="1771555" y="2083129"/>
            <a:ext cx="92663" cy="134782"/>
          </a:xfrm>
          <a:prstGeom prst="rect">
            <a:avLst/>
          </a:prstGeom>
        </p:spPr>
      </p:pic>
      <p:sp>
        <p:nvSpPr>
          <p:cNvPr id="72" name="TextBox 71"/>
          <p:cNvSpPr txBox="1"/>
          <p:nvPr/>
        </p:nvSpPr>
        <p:spPr>
          <a:xfrm>
            <a:off x="471648" y="3495611"/>
            <a:ext cx="1358645" cy="139750"/>
          </a:xfrm>
          <a:prstGeom prst="rect">
            <a:avLst/>
          </a:prstGeom>
          <a:noFill/>
        </p:spPr>
        <p:txBody>
          <a:bodyPr wrap="none" lIns="0" rIns="0" tIns="0" bIns="0">
            <a:spAutoFit/>
          </a:bodyPr>
          <a:lstStyle/>
          <a:p>
            <a:r>
              <a:rPr sz="791" b="1">
                <a:solidFill>
                  <a:srgbClr val="2E2E2E"/>
                </a:solidFill>
                <a:latin typeface="Calibri"/>
              </a:rPr>
              <a:t>Expanded Polypropylene (EPP)</a:t>
            </a:r>
          </a:p>
        </p:txBody>
      </p:sp>
      <p:pic>
        <p:nvPicPr>
          <p:cNvPr id="73" name="Picture 72" descr="lock.png"/>
          <p:cNvPicPr>
            <a:picLocks noChangeAspect="1"/>
          </p:cNvPicPr>
          <p:nvPr/>
        </p:nvPicPr>
        <p:blipFill>
          <a:blip r:embed="rId4"/>
          <a:stretch>
            <a:fillRect/>
          </a:stretch>
        </p:blipFill>
        <p:spPr>
          <a:xfrm>
            <a:off x="1771555" y="3488570"/>
            <a:ext cx="92663" cy="134782"/>
          </a:xfrm>
          <a:prstGeom prst="rect">
            <a:avLst/>
          </a:prstGeom>
        </p:spPr>
      </p:pic>
      <p:sp>
        <p:nvSpPr>
          <p:cNvPr id="74" name="TextBox 73"/>
          <p:cNvSpPr txBox="1"/>
          <p:nvPr/>
        </p:nvSpPr>
        <p:spPr>
          <a:xfrm>
            <a:off x="589520" y="4901048"/>
            <a:ext cx="1240774" cy="139750"/>
          </a:xfrm>
          <a:prstGeom prst="rect">
            <a:avLst/>
          </a:prstGeom>
          <a:noFill/>
        </p:spPr>
        <p:txBody>
          <a:bodyPr wrap="none" lIns="0" rIns="0" tIns="0" bIns="0">
            <a:spAutoFit/>
          </a:bodyPr>
          <a:lstStyle/>
          <a:p>
            <a:r>
              <a:rPr sz="791" b="1">
                <a:solidFill>
                  <a:srgbClr val="2E2E2E"/>
                </a:solidFill>
                <a:latin typeface="Calibri"/>
              </a:rPr>
              <a:t>Expanded Polystyrene (EPS)</a:t>
            </a:r>
          </a:p>
        </p:txBody>
      </p:sp>
      <p:pic>
        <p:nvPicPr>
          <p:cNvPr id="75" name="Picture 74" descr="lock.png"/>
          <p:cNvPicPr>
            <a:picLocks noChangeAspect="1"/>
          </p:cNvPicPr>
          <p:nvPr/>
        </p:nvPicPr>
        <p:blipFill>
          <a:blip r:embed="rId4"/>
          <a:stretch>
            <a:fillRect/>
          </a:stretch>
        </p:blipFill>
        <p:spPr>
          <a:xfrm>
            <a:off x="1771555" y="4894007"/>
            <a:ext cx="92663" cy="134782"/>
          </a:xfrm>
          <a:prstGeom prst="rect">
            <a:avLst/>
          </a:prstGeom>
        </p:spPr>
      </p:pic>
      <p:sp>
        <p:nvSpPr>
          <p:cNvPr id="76" name="TextBox 75"/>
          <p:cNvSpPr txBox="1"/>
          <p:nvPr/>
        </p:nvSpPr>
        <p:spPr>
          <a:xfrm>
            <a:off x="834908" y="5816198"/>
            <a:ext cx="995385" cy="139750"/>
          </a:xfrm>
          <a:prstGeom prst="rect">
            <a:avLst/>
          </a:prstGeom>
          <a:noFill/>
        </p:spPr>
        <p:txBody>
          <a:bodyPr wrap="none" lIns="0" rIns="0" tIns="0" bIns="0">
            <a:spAutoFit/>
          </a:bodyPr>
          <a:lstStyle/>
          <a:p>
            <a:r>
              <a:rPr sz="791" b="1">
                <a:solidFill>
                  <a:srgbClr val="2E2E2E"/>
                </a:solidFill>
                <a:latin typeface="Calibri"/>
              </a:rPr>
              <a:t>Other Foam Materials</a:t>
            </a:r>
          </a:p>
        </p:txBody>
      </p:sp>
      <p:pic>
        <p:nvPicPr>
          <p:cNvPr id="77" name="Picture 76" descr="lock.png"/>
          <p:cNvPicPr>
            <a:picLocks noChangeAspect="1"/>
          </p:cNvPicPr>
          <p:nvPr/>
        </p:nvPicPr>
        <p:blipFill>
          <a:blip r:embed="rId4"/>
          <a:stretch>
            <a:fillRect/>
          </a:stretch>
        </p:blipFill>
        <p:spPr>
          <a:xfrm>
            <a:off x="1771555" y="5809157"/>
            <a:ext cx="92663" cy="134782"/>
          </a:xfrm>
          <a:prstGeom prst="rect">
            <a:avLst/>
          </a:prstGeom>
        </p:spPr>
      </p:pic>
      <p:sp>
        <p:nvSpPr>
          <p:cNvPr id="78" name="TextBox 77"/>
          <p:cNvSpPr txBox="1"/>
          <p:nvPr/>
        </p:nvSpPr>
        <p:spPr>
          <a:xfrm>
            <a:off x="763399" y="6179778"/>
            <a:ext cx="1066894" cy="139750"/>
          </a:xfrm>
          <a:prstGeom prst="rect">
            <a:avLst/>
          </a:prstGeom>
          <a:noFill/>
        </p:spPr>
        <p:txBody>
          <a:bodyPr wrap="none" lIns="0" rIns="0" tIns="0" bIns="0">
            <a:spAutoFit/>
          </a:bodyPr>
          <a:lstStyle/>
          <a:p>
            <a:r>
              <a:rPr sz="791" b="1">
                <a:solidFill>
                  <a:srgbClr val="2E2E2E"/>
                </a:solidFill>
                <a:latin typeface="Calibri"/>
              </a:rPr>
              <a:t>Polyethylene (PE) Foam</a:t>
            </a:r>
          </a:p>
        </p:txBody>
      </p:sp>
      <p:pic>
        <p:nvPicPr>
          <p:cNvPr id="79" name="Picture 78" descr="lock.png"/>
          <p:cNvPicPr>
            <a:picLocks noChangeAspect="1"/>
          </p:cNvPicPr>
          <p:nvPr/>
        </p:nvPicPr>
        <p:blipFill>
          <a:blip r:embed="rId4"/>
          <a:stretch>
            <a:fillRect/>
          </a:stretch>
        </p:blipFill>
        <p:spPr>
          <a:xfrm>
            <a:off x="1771555" y="6172737"/>
            <a:ext cx="92663" cy="134782"/>
          </a:xfrm>
          <a:prstGeom prst="rect">
            <a:avLst/>
          </a:prstGeom>
        </p:spPr>
      </p:pic>
      <p:sp>
        <p:nvSpPr>
          <p:cNvPr id="80" name="TextBox 79"/>
          <p:cNvSpPr txBox="1"/>
          <p:nvPr/>
        </p:nvSpPr>
        <p:spPr>
          <a:xfrm>
            <a:off x="5972175" y="1933523"/>
            <a:ext cx="1350376" cy="139750"/>
          </a:xfrm>
          <a:prstGeom prst="rect">
            <a:avLst/>
          </a:prstGeom>
          <a:noFill/>
        </p:spPr>
        <p:txBody>
          <a:bodyPr wrap="none" lIns="0" rIns="0" tIns="0" bIns="0">
            <a:spAutoFit/>
          </a:bodyPr>
          <a:lstStyle/>
          <a:p>
            <a:r>
              <a:rPr sz="791" b="1">
                <a:solidFill>
                  <a:srgbClr val="2E2E2E"/>
                </a:solidFill>
                <a:latin typeface="Calibri"/>
              </a:rPr>
              <a:t>Foam Pouches, Bags &amp; Sleeves</a:t>
            </a:r>
          </a:p>
        </p:txBody>
      </p:sp>
      <p:pic>
        <p:nvPicPr>
          <p:cNvPr id="81" name="Picture 80" descr="lock.png"/>
          <p:cNvPicPr>
            <a:picLocks noChangeAspect="1"/>
          </p:cNvPicPr>
          <p:nvPr/>
        </p:nvPicPr>
        <p:blipFill>
          <a:blip r:embed="rId4"/>
          <a:stretch>
            <a:fillRect/>
          </a:stretch>
        </p:blipFill>
        <p:spPr>
          <a:xfrm>
            <a:off x="5962478" y="2047183"/>
            <a:ext cx="92663" cy="134782"/>
          </a:xfrm>
          <a:prstGeom prst="rect">
            <a:avLst/>
          </a:prstGeom>
        </p:spPr>
      </p:pic>
      <p:sp>
        <p:nvSpPr>
          <p:cNvPr id="82" name="TextBox 81"/>
          <p:cNvSpPr txBox="1"/>
          <p:nvPr/>
        </p:nvSpPr>
        <p:spPr>
          <a:xfrm>
            <a:off x="5972175" y="3182932"/>
            <a:ext cx="1213012" cy="139750"/>
          </a:xfrm>
          <a:prstGeom prst="rect">
            <a:avLst/>
          </a:prstGeom>
          <a:noFill/>
        </p:spPr>
        <p:txBody>
          <a:bodyPr wrap="none" lIns="0" rIns="0" tIns="0" bIns="0">
            <a:spAutoFit/>
          </a:bodyPr>
          <a:lstStyle/>
          <a:p>
            <a:r>
              <a:rPr sz="791" b="1">
                <a:solidFill>
                  <a:srgbClr val="2E2E2E"/>
                </a:solidFill>
                <a:latin typeface="Calibri"/>
              </a:rPr>
              <a:t>Fabricated Foam Packaging</a:t>
            </a:r>
          </a:p>
        </p:txBody>
      </p:sp>
      <p:pic>
        <p:nvPicPr>
          <p:cNvPr id="83" name="Picture 82" descr="lock.png"/>
          <p:cNvPicPr>
            <a:picLocks noChangeAspect="1"/>
          </p:cNvPicPr>
          <p:nvPr/>
        </p:nvPicPr>
        <p:blipFill>
          <a:blip r:embed="rId4"/>
          <a:stretch>
            <a:fillRect/>
          </a:stretch>
        </p:blipFill>
        <p:spPr>
          <a:xfrm>
            <a:off x="7126448" y="3175891"/>
            <a:ext cx="92663" cy="134782"/>
          </a:xfrm>
          <a:prstGeom prst="rect">
            <a:avLst/>
          </a:prstGeom>
        </p:spPr>
      </p:pic>
      <p:sp>
        <p:nvSpPr>
          <p:cNvPr id="84" name="TextBox 83"/>
          <p:cNvSpPr txBox="1"/>
          <p:nvPr/>
        </p:nvSpPr>
        <p:spPr>
          <a:xfrm>
            <a:off x="5972175" y="3851333"/>
            <a:ext cx="1244684" cy="139750"/>
          </a:xfrm>
          <a:prstGeom prst="rect">
            <a:avLst/>
          </a:prstGeom>
          <a:noFill/>
        </p:spPr>
        <p:txBody>
          <a:bodyPr wrap="none" lIns="0" rIns="0" tIns="0" bIns="0">
            <a:spAutoFit/>
          </a:bodyPr>
          <a:lstStyle/>
          <a:p>
            <a:r>
              <a:rPr sz="791" b="1">
                <a:solidFill>
                  <a:srgbClr val="2E2E2E"/>
                </a:solidFill>
                <a:latin typeface="Calibri"/>
              </a:rPr>
              <a:t>Foam Sheets, Rolls &amp; Planks</a:t>
            </a:r>
          </a:p>
        </p:txBody>
      </p:sp>
      <p:pic>
        <p:nvPicPr>
          <p:cNvPr id="85" name="Picture 84" descr="lock.png"/>
          <p:cNvPicPr>
            <a:picLocks noChangeAspect="1"/>
          </p:cNvPicPr>
          <p:nvPr/>
        </p:nvPicPr>
        <p:blipFill>
          <a:blip r:embed="rId4"/>
          <a:stretch>
            <a:fillRect/>
          </a:stretch>
        </p:blipFill>
        <p:spPr>
          <a:xfrm>
            <a:off x="5962478" y="3964993"/>
            <a:ext cx="92663" cy="134782"/>
          </a:xfrm>
          <a:prstGeom prst="rect">
            <a:avLst/>
          </a:prstGeom>
        </p:spPr>
      </p:pic>
      <p:sp>
        <p:nvSpPr>
          <p:cNvPr id="86" name="TextBox 85"/>
          <p:cNvSpPr txBox="1"/>
          <p:nvPr/>
        </p:nvSpPr>
        <p:spPr>
          <a:xfrm>
            <a:off x="5972175" y="4491120"/>
            <a:ext cx="1109721" cy="139750"/>
          </a:xfrm>
          <a:prstGeom prst="rect">
            <a:avLst/>
          </a:prstGeom>
          <a:noFill/>
        </p:spPr>
        <p:txBody>
          <a:bodyPr wrap="none" lIns="0" rIns="0" tIns="0" bIns="0">
            <a:spAutoFit/>
          </a:bodyPr>
          <a:lstStyle/>
          <a:p>
            <a:r>
              <a:rPr sz="791" b="1">
                <a:solidFill>
                  <a:srgbClr val="2E2E2E"/>
                </a:solidFill>
                <a:latin typeface="Calibri"/>
              </a:rPr>
              <a:t>Foam-in-Place Packaging</a:t>
            </a:r>
          </a:p>
        </p:txBody>
      </p:sp>
      <p:pic>
        <p:nvPicPr>
          <p:cNvPr id="87" name="Picture 86" descr="lock.png"/>
          <p:cNvPicPr>
            <a:picLocks noChangeAspect="1"/>
          </p:cNvPicPr>
          <p:nvPr/>
        </p:nvPicPr>
        <p:blipFill>
          <a:blip r:embed="rId4"/>
          <a:stretch>
            <a:fillRect/>
          </a:stretch>
        </p:blipFill>
        <p:spPr>
          <a:xfrm>
            <a:off x="7023157" y="4484079"/>
            <a:ext cx="92663" cy="134782"/>
          </a:xfrm>
          <a:prstGeom prst="rect">
            <a:avLst/>
          </a:prstGeom>
        </p:spPr>
      </p:pic>
      <p:sp>
        <p:nvSpPr>
          <p:cNvPr id="88" name="TextBox 87"/>
          <p:cNvSpPr txBox="1"/>
          <p:nvPr/>
        </p:nvSpPr>
        <p:spPr>
          <a:xfrm>
            <a:off x="5972175" y="4908346"/>
            <a:ext cx="1224372" cy="146456"/>
          </a:xfrm>
          <a:prstGeom prst="rect">
            <a:avLst/>
          </a:prstGeom>
          <a:noFill/>
        </p:spPr>
        <p:txBody>
          <a:bodyPr wrap="none" lIns="0" rIns="0" tIns="0" bIns="0">
            <a:spAutoFit/>
          </a:bodyPr>
          <a:lstStyle/>
          <a:p>
            <a:r>
              <a:rPr sz="835" b="1">
                <a:solidFill>
                  <a:srgbClr val="2E2E2E"/>
                </a:solidFill>
                <a:latin typeface="Calibri"/>
              </a:rPr>
              <a:t>Foam Loose-Fill Packaging</a:t>
            </a:r>
          </a:p>
        </p:txBody>
      </p:sp>
      <p:pic>
        <p:nvPicPr>
          <p:cNvPr id="89" name="Picture 88" descr="lock.png"/>
          <p:cNvPicPr>
            <a:picLocks noChangeAspect="1"/>
          </p:cNvPicPr>
          <p:nvPr/>
        </p:nvPicPr>
        <p:blipFill>
          <a:blip r:embed="rId4"/>
          <a:stretch>
            <a:fillRect/>
          </a:stretch>
        </p:blipFill>
        <p:spPr>
          <a:xfrm>
            <a:off x="7138778" y="4900914"/>
            <a:ext cx="97811" cy="142270"/>
          </a:xfrm>
          <a:prstGeom prst="rect">
            <a:avLst/>
          </a:prstGeom>
        </p:spPr>
      </p:pic>
      <p:sp>
        <p:nvSpPr>
          <p:cNvPr id="90" name="TextBox 89"/>
          <p:cNvSpPr txBox="1"/>
          <p:nvPr/>
        </p:nvSpPr>
        <p:spPr>
          <a:xfrm>
            <a:off x="5972175" y="5116487"/>
            <a:ext cx="1096755" cy="139750"/>
          </a:xfrm>
          <a:prstGeom prst="rect">
            <a:avLst/>
          </a:prstGeom>
          <a:noFill/>
        </p:spPr>
        <p:txBody>
          <a:bodyPr wrap="none" lIns="0" rIns="0" tIns="0" bIns="0">
            <a:spAutoFit/>
          </a:bodyPr>
          <a:lstStyle/>
          <a:p>
            <a:r>
              <a:rPr sz="791" b="1">
                <a:solidFill>
                  <a:srgbClr val="2E2E2E"/>
                </a:solidFill>
                <a:latin typeface="Calibri"/>
              </a:rPr>
              <a:t>Molded Foam Packaging</a:t>
            </a:r>
          </a:p>
        </p:txBody>
      </p:sp>
      <p:pic>
        <p:nvPicPr>
          <p:cNvPr id="91" name="Picture 90" descr="lock.png"/>
          <p:cNvPicPr>
            <a:picLocks noChangeAspect="1"/>
          </p:cNvPicPr>
          <p:nvPr/>
        </p:nvPicPr>
        <p:blipFill>
          <a:blip r:embed="rId4"/>
          <a:stretch>
            <a:fillRect/>
          </a:stretch>
        </p:blipFill>
        <p:spPr>
          <a:xfrm>
            <a:off x="7010191" y="5109446"/>
            <a:ext cx="92663" cy="134782"/>
          </a:xfrm>
          <a:prstGeom prst="rect">
            <a:avLst/>
          </a:prstGeom>
        </p:spPr>
      </p:pic>
      <p:sp>
        <p:nvSpPr>
          <p:cNvPr id="92" name="TextBox 91"/>
          <p:cNvSpPr txBox="1"/>
          <p:nvPr/>
        </p:nvSpPr>
        <p:spPr>
          <a:xfrm>
            <a:off x="5972175" y="5260924"/>
            <a:ext cx="1362075" cy="139750"/>
          </a:xfrm>
          <a:prstGeom prst="rect">
            <a:avLst/>
          </a:prstGeom>
          <a:noFill/>
        </p:spPr>
        <p:txBody>
          <a:bodyPr wrap="none" lIns="0" rIns="0" tIns="0" bIns="0">
            <a:spAutoFit/>
          </a:bodyPr>
          <a:lstStyle/>
          <a:p>
            <a:r>
              <a:rPr sz="791" b="1">
                <a:solidFill>
                  <a:srgbClr val="2E2E2E"/>
                </a:solidFill>
                <a:latin typeface="Calibri"/>
              </a:rPr>
              <a:t>Non-Crosslinked PE Foam (EPE)</a:t>
            </a:r>
          </a:p>
        </p:txBody>
      </p:sp>
      <p:pic>
        <p:nvPicPr>
          <p:cNvPr id="93" name="Picture 92" descr="lock.png"/>
          <p:cNvPicPr>
            <a:picLocks noChangeAspect="1"/>
          </p:cNvPicPr>
          <p:nvPr/>
        </p:nvPicPr>
        <p:blipFill>
          <a:blip r:embed="rId4"/>
          <a:stretch>
            <a:fillRect/>
          </a:stretch>
        </p:blipFill>
        <p:spPr>
          <a:xfrm>
            <a:off x="5962478" y="5374584"/>
            <a:ext cx="92663" cy="134782"/>
          </a:xfrm>
          <a:prstGeom prst="rect">
            <a:avLst/>
          </a:prstGeom>
        </p:spPr>
      </p:pic>
      <p:sp>
        <p:nvSpPr>
          <p:cNvPr id="94" name="TextBox 93"/>
          <p:cNvSpPr txBox="1"/>
          <p:nvPr/>
        </p:nvSpPr>
        <p:spPr>
          <a:xfrm>
            <a:off x="5972175" y="5578449"/>
            <a:ext cx="1222485" cy="139750"/>
          </a:xfrm>
          <a:prstGeom prst="rect">
            <a:avLst/>
          </a:prstGeom>
          <a:noFill/>
        </p:spPr>
        <p:txBody>
          <a:bodyPr wrap="none" lIns="0" rIns="0" tIns="0" bIns="0">
            <a:spAutoFit/>
          </a:bodyPr>
          <a:lstStyle/>
          <a:p>
            <a:r>
              <a:rPr sz="791" b="1">
                <a:solidFill>
                  <a:srgbClr val="2E2E2E"/>
                </a:solidFill>
                <a:latin typeface="Calibri"/>
              </a:rPr>
              <a:t>Crosslinked PE Foam (XLPE)</a:t>
            </a:r>
          </a:p>
        </p:txBody>
      </p:sp>
      <p:pic>
        <p:nvPicPr>
          <p:cNvPr id="95" name="Picture 94" descr="lock.png"/>
          <p:cNvPicPr>
            <a:picLocks noChangeAspect="1"/>
          </p:cNvPicPr>
          <p:nvPr/>
        </p:nvPicPr>
        <p:blipFill>
          <a:blip r:embed="rId4"/>
          <a:stretch>
            <a:fillRect/>
          </a:stretch>
        </p:blipFill>
        <p:spPr>
          <a:xfrm>
            <a:off x="7135921" y="5571408"/>
            <a:ext cx="92663" cy="134782"/>
          </a:xfrm>
          <a:prstGeom prst="rect">
            <a:avLst/>
          </a:prstGeom>
        </p:spPr>
      </p:pic>
      <p:sp>
        <p:nvSpPr>
          <p:cNvPr id="96" name="TextBox 95"/>
          <p:cNvSpPr txBox="1"/>
          <p:nvPr/>
        </p:nvSpPr>
        <p:spPr>
          <a:xfrm>
            <a:off x="5972175" y="5775274"/>
            <a:ext cx="1214056" cy="139750"/>
          </a:xfrm>
          <a:prstGeom prst="rect">
            <a:avLst/>
          </a:prstGeom>
          <a:noFill/>
        </p:spPr>
        <p:txBody>
          <a:bodyPr wrap="none" lIns="0" rIns="0" tIns="0" bIns="0">
            <a:spAutoFit/>
          </a:bodyPr>
          <a:lstStyle/>
          <a:p>
            <a:r>
              <a:rPr sz="791" b="1">
                <a:solidFill>
                  <a:srgbClr val="2E2E2E"/>
                </a:solidFill>
                <a:latin typeface="Calibri"/>
              </a:rPr>
              <a:t>Extruded Polystyrene (XPS)</a:t>
            </a:r>
          </a:p>
        </p:txBody>
      </p:sp>
      <p:sp>
        <p:nvSpPr>
          <p:cNvPr id="97" name="TextBox 96"/>
          <p:cNvSpPr txBox="1"/>
          <p:nvPr/>
        </p:nvSpPr>
        <p:spPr>
          <a:xfrm>
            <a:off x="5972175" y="5895975"/>
            <a:ext cx="307996" cy="139750"/>
          </a:xfrm>
          <a:prstGeom prst="rect">
            <a:avLst/>
          </a:prstGeom>
          <a:noFill/>
        </p:spPr>
        <p:txBody>
          <a:bodyPr wrap="none" lIns="0" rIns="0" tIns="0" bIns="0">
            <a:spAutoFit/>
          </a:bodyPr>
          <a:lstStyle/>
          <a:p>
            <a:r>
              <a:rPr sz="791" b="1">
                <a:solidFill>
                  <a:srgbClr val="2E2E2E"/>
                </a:solidFill>
                <a:latin typeface="Calibri"/>
              </a:rPr>
              <a:t>Foam</a:t>
            </a:r>
          </a:p>
        </p:txBody>
      </p:sp>
      <p:pic>
        <p:nvPicPr>
          <p:cNvPr id="98" name="Picture 97" descr="lock.png"/>
          <p:cNvPicPr>
            <a:picLocks noChangeAspect="1"/>
          </p:cNvPicPr>
          <p:nvPr/>
        </p:nvPicPr>
        <p:blipFill>
          <a:blip r:embed="rId4"/>
          <a:stretch>
            <a:fillRect/>
          </a:stretch>
        </p:blipFill>
        <p:spPr>
          <a:xfrm>
            <a:off x="6221432" y="5888934"/>
            <a:ext cx="92663" cy="134782"/>
          </a:xfrm>
          <a:prstGeom prst="rect">
            <a:avLst/>
          </a:prstGeom>
        </p:spPr>
      </p:pic>
      <p:sp>
        <p:nvSpPr>
          <p:cNvPr id="99" name="TextBox 98"/>
          <p:cNvSpPr txBox="1"/>
          <p:nvPr/>
        </p:nvSpPr>
        <p:spPr>
          <a:xfrm>
            <a:off x="5972175" y="6032449"/>
            <a:ext cx="1255311" cy="139750"/>
          </a:xfrm>
          <a:prstGeom prst="rect">
            <a:avLst/>
          </a:prstGeom>
          <a:noFill/>
        </p:spPr>
        <p:txBody>
          <a:bodyPr wrap="none" lIns="0" rIns="0" tIns="0" bIns="0">
            <a:spAutoFit/>
          </a:bodyPr>
          <a:lstStyle/>
          <a:p>
            <a:r>
              <a:rPr sz="791" b="1">
                <a:solidFill>
                  <a:srgbClr val="2E2E2E"/>
                </a:solidFill>
                <a:latin typeface="Calibri"/>
              </a:rPr>
              <a:t>Other Polyolefin &amp; Specialty</a:t>
            </a:r>
          </a:p>
        </p:txBody>
      </p:sp>
      <p:sp>
        <p:nvSpPr>
          <p:cNvPr id="100" name="TextBox 99"/>
          <p:cNvSpPr txBox="1"/>
          <p:nvPr/>
        </p:nvSpPr>
        <p:spPr>
          <a:xfrm>
            <a:off x="5972175" y="6153150"/>
            <a:ext cx="719369" cy="139750"/>
          </a:xfrm>
          <a:prstGeom prst="rect">
            <a:avLst/>
          </a:prstGeom>
          <a:noFill/>
        </p:spPr>
        <p:txBody>
          <a:bodyPr wrap="none" lIns="0" rIns="0" tIns="0" bIns="0">
            <a:spAutoFit/>
          </a:bodyPr>
          <a:lstStyle/>
          <a:p>
            <a:r>
              <a:rPr sz="791" b="1">
                <a:solidFill>
                  <a:srgbClr val="2E2E2E"/>
                </a:solidFill>
                <a:latin typeface="Calibri"/>
              </a:rPr>
              <a:t>Polymer Foams</a:t>
            </a:r>
          </a:p>
        </p:txBody>
      </p:sp>
      <p:pic>
        <p:nvPicPr>
          <p:cNvPr id="101" name="Picture 100" descr="lock.png"/>
          <p:cNvPicPr>
            <a:picLocks noChangeAspect="1"/>
          </p:cNvPicPr>
          <p:nvPr/>
        </p:nvPicPr>
        <p:blipFill>
          <a:blip r:embed="rId4"/>
          <a:stretch>
            <a:fillRect/>
          </a:stretch>
        </p:blipFill>
        <p:spPr>
          <a:xfrm>
            <a:off x="6632805" y="6146109"/>
            <a:ext cx="92663" cy="134782"/>
          </a:xfrm>
          <a:prstGeom prst="rect">
            <a:avLst/>
          </a:prstGeom>
        </p:spPr>
      </p:pic>
      <p:sp>
        <p:nvSpPr>
          <p:cNvPr id="102" name="TextBox 101"/>
          <p:cNvSpPr txBox="1"/>
          <p:nvPr/>
        </p:nvSpPr>
        <p:spPr>
          <a:xfrm>
            <a:off x="5972175" y="6289624"/>
            <a:ext cx="1362075" cy="139750"/>
          </a:xfrm>
          <a:prstGeom prst="rect">
            <a:avLst/>
          </a:prstGeom>
          <a:noFill/>
        </p:spPr>
        <p:txBody>
          <a:bodyPr wrap="none" lIns="0" rIns="0" tIns="0" bIns="0">
            <a:spAutoFit/>
          </a:bodyPr>
          <a:lstStyle/>
          <a:p>
            <a:r>
              <a:rPr sz="791" b="1">
                <a:solidFill>
                  <a:srgbClr val="2E2E2E"/>
                </a:solidFill>
                <a:latin typeface="Calibri"/>
              </a:rPr>
              <a:t>Bio-based / Starch-based Foams</a:t>
            </a:r>
          </a:p>
        </p:txBody>
      </p:sp>
      <p:pic>
        <p:nvPicPr>
          <p:cNvPr id="103" name="Picture 102" descr="lock.png"/>
          <p:cNvPicPr>
            <a:picLocks noChangeAspect="1"/>
          </p:cNvPicPr>
          <p:nvPr/>
        </p:nvPicPr>
        <p:blipFill>
          <a:blip r:embed="rId4"/>
          <a:stretch>
            <a:fillRect/>
          </a:stretch>
        </p:blipFill>
        <p:spPr>
          <a:xfrm>
            <a:off x="5962478" y="6403284"/>
            <a:ext cx="92663" cy="134782"/>
          </a:xfrm>
          <a:prstGeom prst="rect">
            <a:avLst/>
          </a:prstGeom>
        </p:spPr>
      </p:pic>
      <p:sp>
        <p:nvSpPr>
          <p:cNvPr id="104" name="TextBox 103"/>
          <p:cNvSpPr txBox="1"/>
          <p:nvPr/>
        </p:nvSpPr>
        <p:spPr>
          <a:xfrm>
            <a:off x="7715250" y="1400175"/>
            <a:ext cx="3886051" cy="194310"/>
          </a:xfrm>
          <a:prstGeom prst="rect">
            <a:avLst/>
          </a:prstGeom>
          <a:noFill/>
        </p:spPr>
        <p:txBody>
          <a:bodyPr wrap="none" lIns="0" rIns="0" tIns="0" bIns="0">
            <a:spAutoFit/>
          </a:bodyPr>
          <a:lstStyle/>
          <a:p>
            <a:r>
              <a:rPr sz="1150" b="0">
                <a:solidFill>
                  <a:srgbClr val="2E2E2E"/>
                </a:solidFill>
                <a:latin typeface="Calibri"/>
              </a:rPr>
              <a:t>Polyurethane (PU) foam segment is projected to account for the</a:t>
            </a:r>
          </a:p>
        </p:txBody>
      </p:sp>
      <p:sp>
        <p:nvSpPr>
          <p:cNvPr id="105" name="TextBox 104"/>
          <p:cNvSpPr txBox="1"/>
          <p:nvPr/>
        </p:nvSpPr>
        <p:spPr>
          <a:xfrm>
            <a:off x="7715250" y="1575435"/>
            <a:ext cx="4171950" cy="194310"/>
          </a:xfrm>
          <a:prstGeom prst="rect">
            <a:avLst/>
          </a:prstGeom>
          <a:noFill/>
        </p:spPr>
        <p:txBody>
          <a:bodyPr wrap="none" lIns="0" rIns="0" tIns="0" bIns="0">
            <a:spAutoFit/>
          </a:bodyPr>
          <a:lstStyle/>
          <a:p>
            <a:r>
              <a:rPr sz="1150" b="0">
                <a:solidFill>
                  <a:srgbClr val="2E2E2E"/>
                </a:solidFill>
                <a:latin typeface="Calibri"/>
              </a:rPr>
              <a:t>largest share of the North America foam protective packaging market,</a:t>
            </a:r>
          </a:p>
        </p:txBody>
      </p:sp>
      <p:sp>
        <p:nvSpPr>
          <p:cNvPr id="106" name="TextBox 105"/>
          <p:cNvSpPr txBox="1"/>
          <p:nvPr/>
        </p:nvSpPr>
        <p:spPr>
          <a:xfrm>
            <a:off x="7715250" y="1750695"/>
            <a:ext cx="2668302" cy="194310"/>
          </a:xfrm>
          <a:prstGeom prst="rect">
            <a:avLst/>
          </a:prstGeom>
          <a:noFill/>
        </p:spPr>
        <p:txBody>
          <a:bodyPr wrap="none" lIns="0" rIns="0" tIns="0" bIns="0">
            <a:spAutoFit/>
          </a:bodyPr>
          <a:lstStyle/>
          <a:p>
            <a:r>
              <a:rPr sz="1150" b="0">
                <a:solidFill>
                  <a:srgbClr val="2E2E2E"/>
                </a:solidFill>
                <a:latin typeface="Calibri"/>
              </a:rPr>
              <a:t>led by foam pouches, bags &amp; sleeves at US$</a:t>
            </a:r>
          </a:p>
        </p:txBody>
      </p:sp>
      <p:pic>
        <p:nvPicPr>
          <p:cNvPr id="107" name="Picture 106" descr="lock.png"/>
          <p:cNvPicPr>
            <a:picLocks noChangeAspect="1"/>
          </p:cNvPicPr>
          <p:nvPr/>
        </p:nvPicPr>
        <p:blipFill>
          <a:blip r:embed="rId4"/>
          <a:stretch>
            <a:fillRect/>
          </a:stretch>
        </p:blipFill>
        <p:spPr>
          <a:xfrm>
            <a:off x="10332706" y="1740471"/>
            <a:ext cx="134549" cy="195707"/>
          </a:xfrm>
          <a:prstGeom prst="rect">
            <a:avLst/>
          </a:prstGeom>
        </p:spPr>
      </p:pic>
      <p:sp>
        <p:nvSpPr>
          <p:cNvPr id="108" name="TextBox 107"/>
          <p:cNvSpPr txBox="1"/>
          <p:nvPr/>
        </p:nvSpPr>
        <p:spPr>
          <a:xfrm>
            <a:off x="10507815" y="1750695"/>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109" name="TextBox 108"/>
          <p:cNvSpPr txBox="1"/>
          <p:nvPr/>
        </p:nvSpPr>
        <p:spPr>
          <a:xfrm>
            <a:off x="7715250" y="1925955"/>
            <a:ext cx="3901677" cy="194310"/>
          </a:xfrm>
          <a:prstGeom prst="rect">
            <a:avLst/>
          </a:prstGeom>
          <a:noFill/>
        </p:spPr>
        <p:txBody>
          <a:bodyPr wrap="none" lIns="0" rIns="0" tIns="0" bIns="0">
            <a:spAutoFit/>
          </a:bodyPr>
          <a:lstStyle/>
          <a:p>
            <a:r>
              <a:rPr sz="1150" b="0">
                <a:solidFill>
                  <a:srgbClr val="2E2E2E"/>
                </a:solidFill>
                <a:latin typeface="Calibri"/>
              </a:rPr>
              <a:t>'Polyurethane (PU) Foam × Foam Pouches, Bags &amp; Sleeves' is the</a:t>
            </a:r>
          </a:p>
        </p:txBody>
      </p:sp>
      <p:sp>
        <p:nvSpPr>
          <p:cNvPr id="110" name="TextBox 109"/>
          <p:cNvSpPr txBox="1"/>
          <p:nvPr/>
        </p:nvSpPr>
        <p:spPr>
          <a:xfrm>
            <a:off x="7715250" y="2101215"/>
            <a:ext cx="2080108" cy="194310"/>
          </a:xfrm>
          <a:prstGeom prst="rect">
            <a:avLst/>
          </a:prstGeom>
          <a:noFill/>
        </p:spPr>
        <p:txBody>
          <a:bodyPr wrap="none" lIns="0" rIns="0" tIns="0" bIns="0">
            <a:spAutoFit/>
          </a:bodyPr>
          <a:lstStyle/>
          <a:p>
            <a:r>
              <a:rPr sz="1150" b="0">
                <a:solidFill>
                  <a:srgbClr val="2E2E2E"/>
                </a:solidFill>
                <a:latin typeface="Calibri"/>
              </a:rPr>
              <a:t>single largest cross-sectional cell (</a:t>
            </a:r>
          </a:p>
        </p:txBody>
      </p:sp>
      <p:pic>
        <p:nvPicPr>
          <p:cNvPr id="111" name="Picture 110" descr="lock.png"/>
          <p:cNvPicPr>
            <a:picLocks noChangeAspect="1"/>
          </p:cNvPicPr>
          <p:nvPr/>
        </p:nvPicPr>
        <p:blipFill>
          <a:blip r:embed="rId4"/>
          <a:stretch>
            <a:fillRect/>
          </a:stretch>
        </p:blipFill>
        <p:spPr>
          <a:xfrm>
            <a:off x="9744512" y="2090991"/>
            <a:ext cx="134549" cy="195707"/>
          </a:xfrm>
          <a:prstGeom prst="rect">
            <a:avLst/>
          </a:prstGeom>
        </p:spPr>
      </p:pic>
      <p:sp>
        <p:nvSpPr>
          <p:cNvPr id="112" name="TextBox 111"/>
          <p:cNvSpPr txBox="1"/>
          <p:nvPr/>
        </p:nvSpPr>
        <p:spPr>
          <a:xfrm>
            <a:off x="9919621" y="2101215"/>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113" name="TextBox 112"/>
          <p:cNvSpPr txBox="1"/>
          <p:nvPr/>
        </p:nvSpPr>
        <p:spPr>
          <a:xfrm>
            <a:off x="7715250" y="2276475"/>
            <a:ext cx="4026904" cy="194310"/>
          </a:xfrm>
          <a:prstGeom prst="rect">
            <a:avLst/>
          </a:prstGeom>
          <a:noFill/>
        </p:spPr>
        <p:txBody>
          <a:bodyPr wrap="none" lIns="0" rIns="0" tIns="0" bIns="0">
            <a:spAutoFit/>
          </a:bodyPr>
          <a:lstStyle/>
          <a:p>
            <a:r>
              <a:rPr sz="1150" b="0">
                <a:solidFill>
                  <a:srgbClr val="2E2E2E"/>
                </a:solidFill>
                <a:latin typeface="Calibri"/>
              </a:rPr>
              <a:t>'Polyurethane (PU) Foam × Foam Pouches, Bags &amp; Sleeves' records</a:t>
            </a:r>
          </a:p>
        </p:txBody>
      </p:sp>
      <p:sp>
        <p:nvSpPr>
          <p:cNvPr id="114" name="TextBox 113"/>
          <p:cNvSpPr txBox="1"/>
          <p:nvPr/>
        </p:nvSpPr>
        <p:spPr>
          <a:xfrm>
            <a:off x="7715250" y="2451735"/>
            <a:ext cx="1943739" cy="194310"/>
          </a:xfrm>
          <a:prstGeom prst="rect">
            <a:avLst/>
          </a:prstGeom>
          <a:noFill/>
        </p:spPr>
        <p:txBody>
          <a:bodyPr wrap="none" lIns="0" rIns="0" tIns="0" bIns="0">
            <a:spAutoFit/>
          </a:bodyPr>
          <a:lstStyle/>
          <a:p>
            <a:r>
              <a:rPr sz="1150" b="0">
                <a:solidFill>
                  <a:srgbClr val="2E2E2E"/>
                </a:solidFill>
                <a:latin typeface="Calibri"/>
              </a:rPr>
              <a:t>the fastest growth at a CAGR of</a:t>
            </a:r>
          </a:p>
        </p:txBody>
      </p:sp>
      <p:pic>
        <p:nvPicPr>
          <p:cNvPr id="115" name="Picture 114" descr="lock.png"/>
          <p:cNvPicPr>
            <a:picLocks noChangeAspect="1"/>
          </p:cNvPicPr>
          <p:nvPr/>
        </p:nvPicPr>
        <p:blipFill>
          <a:blip r:embed="rId4"/>
          <a:stretch>
            <a:fillRect/>
          </a:stretch>
        </p:blipFill>
        <p:spPr>
          <a:xfrm>
            <a:off x="9608143" y="2441511"/>
            <a:ext cx="134549" cy="195707"/>
          </a:xfrm>
          <a:prstGeom prst="rect">
            <a:avLst/>
          </a:prstGeom>
        </p:spPr>
      </p:pic>
      <p:sp>
        <p:nvSpPr>
          <p:cNvPr id="116" name="TextBox 115"/>
          <p:cNvSpPr txBox="1"/>
          <p:nvPr/>
        </p:nvSpPr>
        <p:spPr>
          <a:xfrm>
            <a:off x="9783252"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7" name="TextBox 116"/>
          <p:cNvSpPr txBox="1"/>
          <p:nvPr/>
        </p:nvSpPr>
        <p:spPr>
          <a:xfrm>
            <a:off x="7715250" y="2679573"/>
            <a:ext cx="4160750" cy="194310"/>
          </a:xfrm>
          <a:prstGeom prst="rect">
            <a:avLst/>
          </a:prstGeom>
          <a:noFill/>
        </p:spPr>
        <p:txBody>
          <a:bodyPr wrap="none" lIns="0" rIns="0" tIns="0" bIns="0">
            <a:spAutoFit/>
          </a:bodyPr>
          <a:lstStyle/>
          <a:p>
            <a:r>
              <a:rPr sz="1150" b="0">
                <a:solidFill>
                  <a:srgbClr val="2E2E2E"/>
                </a:solidFill>
                <a:latin typeface="Calibri"/>
              </a:rPr>
              <a:t>Combined, the top three material type × product form cells generate</a:t>
            </a:r>
          </a:p>
        </p:txBody>
      </p:sp>
      <p:sp>
        <p:nvSpPr>
          <p:cNvPr id="118" name="TextBox 117"/>
          <p:cNvSpPr txBox="1"/>
          <p:nvPr/>
        </p:nvSpPr>
        <p:spPr>
          <a:xfrm>
            <a:off x="7715250" y="2854832"/>
            <a:ext cx="1773745" cy="194310"/>
          </a:xfrm>
          <a:prstGeom prst="rect">
            <a:avLst/>
          </a:prstGeom>
          <a:noFill/>
        </p:spPr>
        <p:txBody>
          <a:bodyPr wrap="none" lIns="0" rIns="0" tIns="0" bIns="0">
            <a:spAutoFit/>
          </a:bodyPr>
          <a:lstStyle/>
          <a:p>
            <a:r>
              <a:rPr sz="1150" b="0">
                <a:solidFill>
                  <a:srgbClr val="2E2E2E"/>
                </a:solidFill>
                <a:latin typeface="Calibri"/>
              </a:rPr>
              <a:t>an absolute $ opportunity of</a:t>
            </a:r>
          </a:p>
        </p:txBody>
      </p:sp>
      <p:pic>
        <p:nvPicPr>
          <p:cNvPr id="119" name="Picture 118" descr="lock.png"/>
          <p:cNvPicPr>
            <a:picLocks noChangeAspect="1"/>
          </p:cNvPicPr>
          <p:nvPr/>
        </p:nvPicPr>
        <p:blipFill>
          <a:blip r:embed="rId4"/>
          <a:stretch>
            <a:fillRect/>
          </a:stretch>
        </p:blipFill>
        <p:spPr>
          <a:xfrm>
            <a:off x="9438149" y="2844609"/>
            <a:ext cx="134549" cy="195707"/>
          </a:xfrm>
          <a:prstGeom prst="rect">
            <a:avLst/>
          </a:prstGeom>
        </p:spPr>
      </p:pic>
      <p:sp>
        <p:nvSpPr>
          <p:cNvPr id="120" name="TextBox 119"/>
          <p:cNvSpPr txBox="1"/>
          <p:nvPr/>
        </p:nvSpPr>
        <p:spPr>
          <a:xfrm>
            <a:off x="9613259"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Material Type × Product Form, 2026E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product form sub-segments</a:t>
            </a:r>
          </a:p>
        </p:txBody>
      </p:sp>
      <p:sp>
        <p:nvSpPr>
          <p:cNvPr id="7" name="Rounded Rectangle 6"/>
          <p:cNvSpPr/>
          <p:nvPr/>
        </p:nvSpPr>
        <p:spPr>
          <a:xfrm>
            <a:off x="142875" y="981075"/>
            <a:ext cx="11906250" cy="2962275"/>
          </a:xfrm>
          <a:prstGeom prst="roundRect">
            <a:avLst>
              <a:gd name="adj" fmla="val 257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Material Type × Product Form, 2026E (% of each row)</a:t>
            </a:r>
          </a:p>
        </p:txBody>
      </p:sp>
      <p:graphicFrame>
        <p:nvGraphicFramePr>
          <p:cNvPr id="9" name="Table 8"/>
          <p:cNvGraphicFramePr>
            <a:graphicFrameLocks noGrp="1"/>
          </p:cNvGraphicFramePr>
          <p:nvPr/>
        </p:nvGraphicFramePr>
        <p:xfrm>
          <a:off x="152400" y="1238250"/>
          <a:ext cx="11889445" cy="2495550"/>
        </p:xfrm>
        <a:graphic>
          <a:graphicData uri="http://schemas.openxmlformats.org/drawingml/2006/table">
            <a:tbl>
              <a:tblPr>
                <a:tableStyleId>{5C22544A-7EE6-4342-B048-85BDC9FD1C3A}</a:tableStyleId>
              </a:tblPr>
              <a:tblGrid>
                <a:gridCol w="1648279"/>
                <a:gridCol w="934858"/>
                <a:gridCol w="884864"/>
                <a:gridCol w="750210"/>
                <a:gridCol w="904634"/>
                <a:gridCol w="846586"/>
                <a:gridCol w="849065"/>
                <a:gridCol w="862301"/>
                <a:gridCol w="862287"/>
                <a:gridCol w="971752"/>
                <a:gridCol w="1049799"/>
                <a:gridCol w="781004"/>
                <a:gridCol w="543806"/>
              </a:tblGrid>
              <a:tr h="1017270">
                <a:tc>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Non-Crosslinked PE Foam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Crosslinked PE Foam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Sheets, Rolls &amp; Planks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Fabricated Foam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Molded Foam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Foam-in-Place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Pouches, Bags &amp; Sleeves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Loose-Fill Packaging</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Extruded Polystyrene Foam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Other Polyolefin &amp; Specialty Polymer Foams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Bio-based / Starch-based Foams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r>
              <a:tr h="246380">
                <a:tc>
                  <a:txBody>
                    <a:bodyPr wrap="none"/>
                    <a:lstStyle/>
                    <a:p>
                      <a:pPr algn="l"/>
                      <a:r>
                        <a:rPr sz="1100" b="1">
                          <a:solidFill>
                            <a:srgbClr val="2E2E2E"/>
                          </a:solidFill>
                          <a:latin typeface="Calibri"/>
                        </a:rPr>
                        <a:t>Polyethylene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80">
                <a:tc>
                  <a:txBody>
                    <a:bodyPr wrap="none"/>
                    <a:lstStyle/>
                    <a:p>
                      <a:pPr algn="l"/>
                      <a:r>
                        <a:rPr sz="1100" b="1">
                          <a:solidFill>
                            <a:srgbClr val="2E2E2E"/>
                          </a:solidFill>
                          <a:latin typeface="Calibri"/>
                        </a:rPr>
                        <a:t>Expanded 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80">
                <a:tc>
                  <a:txBody>
                    <a:bodyPr wrap="none"/>
                    <a:lstStyle/>
                    <a:p>
                      <a:pPr algn="l"/>
                      <a:r>
                        <a:rPr sz="1100" b="1">
                          <a:solidFill>
                            <a:srgbClr val="2E2E2E"/>
                          </a:solidFill>
                          <a:latin typeface="Calibri"/>
                        </a:rPr>
                        <a:t>Polyurethane (PU)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80">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80">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8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37433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076700"/>
            <a:ext cx="7286625" cy="2552700"/>
          </a:xfrm>
          <a:prstGeom prst="roundRect">
            <a:avLst>
              <a:gd name="adj" fmla="val 29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41338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Product Form Mix by Material Type, 2026E (% share)</a:t>
            </a:r>
          </a:p>
        </p:txBody>
      </p:sp>
      <p:graphicFrame>
        <p:nvGraphicFramePr>
          <p:cNvPr id="13" name="Chart 12"/>
          <p:cNvGraphicFramePr>
            <a:graphicFrameLocks noGrp="1"/>
          </p:cNvGraphicFramePr>
          <p:nvPr/>
        </p:nvGraphicFramePr>
        <p:xfrm>
          <a:off x="238125" y="4362450"/>
          <a:ext cx="7096125" cy="2209800"/>
        </p:xfrm>
        <a:graphic>
          <a:graphicData uri="http://schemas.openxmlformats.org/drawingml/2006/chart">
            <c:chart xmlns:c="http://schemas.openxmlformats.org/drawingml/2006/chart" r:id="rId3"/>
          </a:graphicData>
        </a:graphic>
      </p:graphicFrame>
      <p:sp>
        <p:nvSpPr>
          <p:cNvPr id="14" name="Rounded Rectangle 13"/>
          <p:cNvSpPr/>
          <p:nvPr/>
        </p:nvSpPr>
        <p:spPr>
          <a:xfrm>
            <a:off x="7581900" y="4076700"/>
            <a:ext cx="4457700" cy="2552700"/>
          </a:xfrm>
          <a:prstGeom prst="roundRect">
            <a:avLst>
              <a:gd name="adj" fmla="val 29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15250" y="4162425"/>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6" name="Rectangle 15"/>
          <p:cNvSpPr/>
          <p:nvPr/>
        </p:nvSpPr>
        <p:spPr>
          <a:xfrm>
            <a:off x="7715250" y="4400550"/>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5250" y="4486275"/>
            <a:ext cx="4191000" cy="2066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8" name="Rectangle 1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0" name="Picture 19" descr="lock.png"/>
          <p:cNvPicPr>
            <a:picLocks noChangeAspect="1"/>
          </p:cNvPicPr>
          <p:nvPr/>
        </p:nvPicPr>
        <p:blipFill>
          <a:blip r:embed="rId5"/>
          <a:stretch>
            <a:fillRect/>
          </a:stretch>
        </p:blipFill>
        <p:spPr>
          <a:xfrm>
            <a:off x="6712220" y="2727960"/>
            <a:ext cx="366712" cy="533400"/>
          </a:xfrm>
          <a:prstGeom prst="rect">
            <a:avLst/>
          </a:prstGeom>
        </p:spPr>
      </p:pic>
      <p:pic>
        <p:nvPicPr>
          <p:cNvPr id="21" name="Picture 20" descr="lock.png"/>
          <p:cNvPicPr>
            <a:picLocks noChangeAspect="1"/>
          </p:cNvPicPr>
          <p:nvPr/>
        </p:nvPicPr>
        <p:blipFill>
          <a:blip r:embed="rId5"/>
          <a:stretch>
            <a:fillRect/>
          </a:stretch>
        </p:blipFill>
        <p:spPr>
          <a:xfrm>
            <a:off x="3775138" y="4788408"/>
            <a:ext cx="311705" cy="453389"/>
          </a:xfrm>
          <a:prstGeom prst="rect">
            <a:avLst/>
          </a:prstGeom>
        </p:spPr>
      </p:pic>
      <p:sp>
        <p:nvSpPr>
          <p:cNvPr id="22" name="TextBox 21"/>
          <p:cNvSpPr txBox="1"/>
          <p:nvPr/>
        </p:nvSpPr>
        <p:spPr>
          <a:xfrm>
            <a:off x="7715250" y="4495800"/>
            <a:ext cx="3650685" cy="194310"/>
          </a:xfrm>
          <a:prstGeom prst="rect">
            <a:avLst/>
          </a:prstGeom>
          <a:noFill/>
        </p:spPr>
        <p:txBody>
          <a:bodyPr wrap="none" lIns="0" rIns="0" tIns="0" bIns="0">
            <a:spAutoFit/>
          </a:bodyPr>
          <a:lstStyle/>
          <a:p>
            <a:r>
              <a:rPr sz="1150" b="0">
                <a:solidFill>
                  <a:srgbClr val="2E2E2E"/>
                </a:solidFill>
                <a:latin typeface="Calibri"/>
              </a:rPr>
              <a:t>▪ 'Non-Crosslinked PE Foam (EPE)' holds the highest share of</a:t>
            </a:r>
          </a:p>
        </p:txBody>
      </p:sp>
      <p:sp>
        <p:nvSpPr>
          <p:cNvPr id="23" name="TextBox 22"/>
          <p:cNvSpPr txBox="1"/>
          <p:nvPr/>
        </p:nvSpPr>
        <p:spPr>
          <a:xfrm>
            <a:off x="7715250" y="4671060"/>
            <a:ext cx="1697837" cy="194310"/>
          </a:xfrm>
          <a:prstGeom prst="rect">
            <a:avLst/>
          </a:prstGeom>
          <a:noFill/>
        </p:spPr>
        <p:txBody>
          <a:bodyPr wrap="none" lIns="0" rIns="0" tIns="0" bIns="0">
            <a:spAutoFit/>
          </a:bodyPr>
          <a:lstStyle/>
          <a:p>
            <a:r>
              <a:rPr sz="1150" b="0">
                <a:solidFill>
                  <a:srgbClr val="2E2E2E"/>
                </a:solidFill>
                <a:latin typeface="Calibri"/>
              </a:rPr>
              <a:t>'Polyethylene (PE) Foam' at</a:t>
            </a:r>
          </a:p>
        </p:txBody>
      </p:sp>
      <p:pic>
        <p:nvPicPr>
          <p:cNvPr id="24" name="Picture 23" descr="lock.png"/>
          <p:cNvPicPr>
            <a:picLocks noChangeAspect="1"/>
          </p:cNvPicPr>
          <p:nvPr/>
        </p:nvPicPr>
        <p:blipFill>
          <a:blip r:embed="rId5"/>
          <a:stretch>
            <a:fillRect/>
          </a:stretch>
        </p:blipFill>
        <p:spPr>
          <a:xfrm>
            <a:off x="9362241" y="4660836"/>
            <a:ext cx="134549" cy="195707"/>
          </a:xfrm>
          <a:prstGeom prst="rect">
            <a:avLst/>
          </a:prstGeom>
        </p:spPr>
      </p:pic>
      <p:sp>
        <p:nvSpPr>
          <p:cNvPr id="25" name="TextBox 24"/>
          <p:cNvSpPr txBox="1"/>
          <p:nvPr/>
        </p:nvSpPr>
        <p:spPr>
          <a:xfrm>
            <a:off x="9537350" y="467106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6" name="TextBox 25"/>
          <p:cNvSpPr txBox="1"/>
          <p:nvPr/>
        </p:nvSpPr>
        <p:spPr>
          <a:xfrm>
            <a:off x="7715250" y="4898897"/>
            <a:ext cx="3975019" cy="194310"/>
          </a:xfrm>
          <a:prstGeom prst="rect">
            <a:avLst/>
          </a:prstGeom>
          <a:noFill/>
        </p:spPr>
        <p:txBody>
          <a:bodyPr wrap="none" lIns="0" rIns="0" tIns="0" bIns="0">
            <a:spAutoFit/>
          </a:bodyPr>
          <a:lstStyle/>
          <a:p>
            <a:r>
              <a:rPr sz="1150" b="0">
                <a:solidFill>
                  <a:srgbClr val="2E2E2E"/>
                </a:solidFill>
                <a:latin typeface="Calibri"/>
              </a:rPr>
              <a:t>▪ 'Polyethylene (PE) Foam' is the most concentrated material type</a:t>
            </a:r>
          </a:p>
        </p:txBody>
      </p:sp>
      <p:sp>
        <p:nvSpPr>
          <p:cNvPr id="27" name="TextBox 26"/>
          <p:cNvSpPr txBox="1"/>
          <p:nvPr/>
        </p:nvSpPr>
        <p:spPr>
          <a:xfrm>
            <a:off x="7715250" y="5074157"/>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8" name="Picture 27" descr="lock.png"/>
          <p:cNvPicPr>
            <a:picLocks noChangeAspect="1"/>
          </p:cNvPicPr>
          <p:nvPr/>
        </p:nvPicPr>
        <p:blipFill>
          <a:blip r:embed="rId5"/>
          <a:stretch>
            <a:fillRect/>
          </a:stretch>
        </p:blipFill>
        <p:spPr>
          <a:xfrm>
            <a:off x="8843110" y="5063934"/>
            <a:ext cx="134549" cy="195707"/>
          </a:xfrm>
          <a:prstGeom prst="rect">
            <a:avLst/>
          </a:prstGeom>
        </p:spPr>
      </p:pic>
      <p:sp>
        <p:nvSpPr>
          <p:cNvPr id="29" name="TextBox 28"/>
          <p:cNvSpPr txBox="1"/>
          <p:nvPr/>
        </p:nvSpPr>
        <p:spPr>
          <a:xfrm>
            <a:off x="9018219" y="5074157"/>
            <a:ext cx="2507102" cy="194310"/>
          </a:xfrm>
          <a:prstGeom prst="rect">
            <a:avLst/>
          </a:prstGeom>
          <a:noFill/>
        </p:spPr>
        <p:txBody>
          <a:bodyPr wrap="none" lIns="0" rIns="0" tIns="0" bIns="0">
            <a:spAutoFit/>
          </a:bodyPr>
          <a:lstStyle/>
          <a:p>
            <a:r>
              <a:rPr sz="1150" b="0">
                <a:solidFill>
                  <a:srgbClr val="2E2E2E"/>
                </a:solidFill>
                <a:latin typeface="Calibri"/>
              </a:rPr>
              <a:t>of its value via 'Non-Crosslinked PE Foam</a:t>
            </a:r>
          </a:p>
        </p:txBody>
      </p:sp>
      <p:sp>
        <p:nvSpPr>
          <p:cNvPr id="30" name="TextBox 29"/>
          <p:cNvSpPr txBox="1"/>
          <p:nvPr/>
        </p:nvSpPr>
        <p:spPr>
          <a:xfrm>
            <a:off x="7715250" y="5249417"/>
            <a:ext cx="451879" cy="194310"/>
          </a:xfrm>
          <a:prstGeom prst="rect">
            <a:avLst/>
          </a:prstGeom>
          <a:noFill/>
        </p:spPr>
        <p:txBody>
          <a:bodyPr wrap="none" lIns="0" rIns="0" tIns="0" bIns="0">
            <a:spAutoFit/>
          </a:bodyPr>
          <a:lstStyle/>
          <a:p>
            <a:r>
              <a:rPr sz="1150" b="0">
                <a:solidFill>
                  <a:srgbClr val="2E2E2E"/>
                </a:solidFill>
                <a:latin typeface="Calibri"/>
              </a:rPr>
              <a:t>(EPE)'.</a:t>
            </a:r>
          </a:p>
        </p:txBody>
      </p:sp>
      <p:sp>
        <p:nvSpPr>
          <p:cNvPr id="31" name="TextBox 30"/>
          <p:cNvSpPr txBox="1"/>
          <p:nvPr/>
        </p:nvSpPr>
        <p:spPr>
          <a:xfrm>
            <a:off x="7715250" y="5477255"/>
            <a:ext cx="2484282" cy="194310"/>
          </a:xfrm>
          <a:prstGeom prst="rect">
            <a:avLst/>
          </a:prstGeom>
          <a:noFill/>
        </p:spPr>
        <p:txBody>
          <a:bodyPr wrap="none" lIns="0" rIns="0" tIns="0" bIns="0">
            <a:spAutoFit/>
          </a:bodyPr>
          <a:lstStyle/>
          <a:p>
            <a:r>
              <a:rPr sz="1150" b="0">
                <a:solidFill>
                  <a:srgbClr val="2E2E2E"/>
                </a:solidFill>
                <a:latin typeface="Calibri"/>
              </a:rPr>
              <a:t>▪ 'Foam Pouches, Bags &amp; Sleeves' gains +</a:t>
            </a:r>
          </a:p>
        </p:txBody>
      </p:sp>
      <p:pic>
        <p:nvPicPr>
          <p:cNvPr id="32" name="Picture 31" descr="lock.png"/>
          <p:cNvPicPr>
            <a:picLocks noChangeAspect="1"/>
          </p:cNvPicPr>
          <p:nvPr/>
        </p:nvPicPr>
        <p:blipFill>
          <a:blip r:embed="rId5"/>
          <a:stretch>
            <a:fillRect/>
          </a:stretch>
        </p:blipFill>
        <p:spPr>
          <a:xfrm>
            <a:off x="10148686" y="5467032"/>
            <a:ext cx="134549" cy="195707"/>
          </a:xfrm>
          <a:prstGeom prst="rect">
            <a:avLst/>
          </a:prstGeom>
        </p:spPr>
      </p:pic>
      <p:sp>
        <p:nvSpPr>
          <p:cNvPr id="33" name="TextBox 32"/>
          <p:cNvSpPr txBox="1"/>
          <p:nvPr/>
        </p:nvSpPr>
        <p:spPr>
          <a:xfrm>
            <a:off x="10323795" y="5477255"/>
            <a:ext cx="1199815" cy="194310"/>
          </a:xfrm>
          <a:prstGeom prst="rect">
            <a:avLst/>
          </a:prstGeom>
          <a:noFill/>
        </p:spPr>
        <p:txBody>
          <a:bodyPr wrap="none" lIns="0" rIns="0" tIns="0" bIns="0">
            <a:spAutoFit/>
          </a:bodyPr>
          <a:lstStyle/>
          <a:p>
            <a:r>
              <a:rPr sz="1150" b="0">
                <a:solidFill>
                  <a:srgbClr val="2E2E2E"/>
                </a:solidFill>
                <a:latin typeface="Calibri"/>
              </a:rPr>
              <a:t>BPS of share of the</a:t>
            </a:r>
          </a:p>
        </p:txBody>
      </p:sp>
      <p:sp>
        <p:nvSpPr>
          <p:cNvPr id="34" name="TextBox 33"/>
          <p:cNvSpPr txBox="1"/>
          <p:nvPr/>
        </p:nvSpPr>
        <p:spPr>
          <a:xfrm>
            <a:off x="7715250" y="5652515"/>
            <a:ext cx="2367430" cy="194310"/>
          </a:xfrm>
          <a:prstGeom prst="rect">
            <a:avLst/>
          </a:prstGeom>
          <a:noFill/>
        </p:spPr>
        <p:txBody>
          <a:bodyPr wrap="none" lIns="0" rIns="0" tIns="0" bIns="0">
            <a:spAutoFit/>
          </a:bodyPr>
          <a:lstStyle/>
          <a:p>
            <a:r>
              <a:rPr sz="1150" b="0">
                <a:solidFill>
                  <a:srgbClr val="2E2E2E"/>
                </a:solidFill>
                <a:latin typeface="Calibri"/>
              </a:rPr>
              <a:t>North America cross-section by 2036F.</a:t>
            </a:r>
          </a:p>
        </p:txBody>
      </p:sp>
      <p:sp>
        <p:nvSpPr>
          <p:cNvPr id="35" name="lockshield_13"/>
          <p:cNvSpPr/>
          <p:nvPr/>
        </p:nvSpPr>
        <p:spPr>
          <a:xfrm>
            <a:off x="238125" y="4362450"/>
            <a:ext cx="7096125" cy="2209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Material Type × Product Form, 2026E–2036F</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3400425"/>
          </a:xfrm>
          <a:prstGeom prst="roundRect">
            <a:avLst>
              <a:gd name="adj" fmla="val 22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Material Type × Product Form, 2026E–2036F</a:t>
            </a:r>
          </a:p>
        </p:txBody>
      </p:sp>
      <p:graphicFrame>
        <p:nvGraphicFramePr>
          <p:cNvPr id="9" name="Table 8"/>
          <p:cNvGraphicFramePr>
            <a:graphicFrameLocks noGrp="1"/>
          </p:cNvGraphicFramePr>
          <p:nvPr/>
        </p:nvGraphicFramePr>
        <p:xfrm>
          <a:off x="152400" y="1238250"/>
          <a:ext cx="11889037" cy="2933701"/>
        </p:xfrm>
        <a:graphic>
          <a:graphicData uri="http://schemas.openxmlformats.org/drawingml/2006/table">
            <a:tbl>
              <a:tblPr>
                <a:tableStyleId>{5C22544A-7EE6-4342-B048-85BDC9FD1C3A}</a:tableStyleId>
              </a:tblPr>
              <a:tblGrid>
                <a:gridCol w="1648279"/>
                <a:gridCol w="384541"/>
                <a:gridCol w="441378"/>
                <a:gridCol w="384541"/>
                <a:gridCol w="441378"/>
                <a:gridCol w="450561"/>
                <a:gridCol w="441378"/>
                <a:gridCol w="450561"/>
                <a:gridCol w="441378"/>
                <a:gridCol w="384541"/>
                <a:gridCol w="441378"/>
                <a:gridCol w="384541"/>
                <a:gridCol w="441378"/>
                <a:gridCol w="450561"/>
                <a:gridCol w="441378"/>
                <a:gridCol w="450561"/>
                <a:gridCol w="441378"/>
                <a:gridCol w="384541"/>
                <a:gridCol w="441378"/>
                <a:gridCol w="384541"/>
                <a:gridCol w="441378"/>
                <a:gridCol w="384541"/>
                <a:gridCol w="441378"/>
                <a:gridCol w="448361"/>
                <a:gridCol w="443208"/>
              </a:tblGrid>
              <a:tr h="1017270">
                <a:tc rowSpan="2">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Non-</a:t>
                      </a:r>
                      <a:endParaRPr sz="1100"/>
                    </a:p>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Crosslinked</a:t>
                      </a:r>
                      <a:endParaRPr sz="1100"/>
                    </a:p>
                    <a:p>
                      <a:pPr algn="ctr"/>
                      <a:r>
                        <a:rPr sz="1100" b="1">
                          <a:solidFill>
                            <a:srgbClr val="0E2A5C"/>
                          </a:solidFill>
                          <a:latin typeface="Calibri"/>
                        </a:rPr>
                        <a:t>PE Foam</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Sheets, Rolls</a:t>
                      </a:r>
                      <a:endParaRPr sz="1100"/>
                    </a:p>
                    <a:p>
                      <a:pPr algn="ctr"/>
                      <a:r>
                        <a:rPr sz="1100" b="1">
                          <a:solidFill>
                            <a:srgbClr val="0E2A5C"/>
                          </a:solidFill>
                          <a:latin typeface="Calibri"/>
                        </a:rPr>
                        <a:t>&amp; Planks</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Foam</a:t>
                      </a:r>
                      <a:endParaRPr sz="1100"/>
                    </a:p>
                    <a:p>
                      <a:pPr algn="ctr"/>
                      <a:r>
                        <a:rPr sz="1100" b="1">
                          <a:solidFill>
                            <a:srgbClr val="0E2A5C"/>
                          </a:solidFill>
                          <a:latin typeface="Calibri"/>
                        </a:rPr>
                        <a:t>Packaging</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Foam-in-</a:t>
                      </a:r>
                      <a:endParaRPr sz="1100"/>
                    </a:p>
                    <a:p>
                      <a:pPr algn="ctr"/>
                      <a:r>
                        <a:rPr sz="1100" b="1">
                          <a:solidFill>
                            <a:srgbClr val="0E2A5C"/>
                          </a:solidFill>
                          <a:latin typeface="Calibri"/>
                        </a:rPr>
                        <a:t>Place</a:t>
                      </a:r>
                      <a:endParaRPr sz="1100"/>
                    </a:p>
                    <a:p>
                      <a:pPr algn="ctr"/>
                      <a:r>
                        <a:rPr sz="1100" b="1">
                          <a:solidFill>
                            <a:srgbClr val="0E2A5C"/>
                          </a:solidFill>
                          <a:latin typeface="Calibri"/>
                        </a:rPr>
                        <a:t>Packaging</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Pouches,</a:t>
                      </a:r>
                      <a:endParaRPr sz="1100"/>
                    </a:p>
                    <a:p>
                      <a:pPr algn="ctr"/>
                      <a:r>
                        <a:rPr sz="1100" b="1">
                          <a:solidFill>
                            <a:srgbClr val="0E2A5C"/>
                          </a:solidFill>
                          <a:latin typeface="Calibri"/>
                        </a:rPr>
                        <a:t>Bags &amp;</a:t>
                      </a:r>
                      <a:endParaRPr sz="1100"/>
                    </a:p>
                    <a:p>
                      <a:pPr algn="ctr"/>
                      <a:r>
                        <a:rPr sz="1100" b="1">
                          <a:solidFill>
                            <a:srgbClr val="0E2A5C"/>
                          </a:solidFill>
                          <a:latin typeface="Calibri"/>
                        </a:rPr>
                        <a:t>Sleeves</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Foam Loose-</a:t>
                      </a:r>
                      <a:endParaRPr sz="1100"/>
                    </a:p>
                    <a:p>
                      <a:pPr algn="ctr"/>
                      <a:r>
                        <a:rPr sz="1100" b="1">
                          <a:solidFill>
                            <a:srgbClr val="0E2A5C"/>
                          </a:solidFill>
                          <a:latin typeface="Calibri"/>
                        </a:rPr>
                        <a:t>Fill</a:t>
                      </a:r>
                      <a:endParaRPr sz="1100"/>
                    </a:p>
                    <a:p>
                      <a:pPr algn="ctr"/>
                      <a:r>
                        <a:rPr sz="1100" b="1">
                          <a:solidFill>
                            <a:srgbClr val="0E2A5C"/>
                          </a:solidFill>
                          <a:latin typeface="Calibri"/>
                        </a:rPr>
                        <a:t>Packaging</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Extruded</a:t>
                      </a:r>
                      <a:endParaRPr sz="1100"/>
                    </a:p>
                    <a:p>
                      <a:pPr algn="ctr"/>
                      <a:r>
                        <a:rPr sz="1100" b="1">
                          <a:solidFill>
                            <a:srgbClr val="0E2A5C"/>
                          </a:solidFill>
                          <a:latin typeface="Calibri"/>
                        </a:rPr>
                        <a:t>Polystyrene</a:t>
                      </a:r>
                      <a:endParaRPr sz="1100"/>
                    </a:p>
                    <a:p>
                      <a:pPr algn="ctr"/>
                      <a:r>
                        <a:rPr sz="1100" b="1">
                          <a:solidFill>
                            <a:srgbClr val="0E2A5C"/>
                          </a:solidFill>
                          <a:latin typeface="Calibri"/>
                        </a:rPr>
                        <a:t>Foam</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Other</a:t>
                      </a:r>
                      <a:endParaRPr sz="1100"/>
                    </a:p>
                    <a:p>
                      <a:pPr algn="ctr"/>
                      <a:r>
                        <a:rPr sz="1100" b="1">
                          <a:solidFill>
                            <a:srgbClr val="0E2A5C"/>
                          </a:solidFill>
                          <a:latin typeface="Calibri"/>
                        </a:rPr>
                        <a:t>Polyolefin</a:t>
                      </a:r>
                      <a:endParaRPr sz="1100"/>
                    </a:p>
                    <a:p>
                      <a:pPr algn="ctr"/>
                      <a:r>
                        <a:rPr sz="1100" b="1">
                          <a:solidFill>
                            <a:srgbClr val="0E2A5C"/>
                          </a:solidFill>
                          <a:latin typeface="Calibri"/>
                        </a:rPr>
                        <a:t>&amp; Specialty</a:t>
                      </a:r>
                      <a:endParaRPr sz="1100"/>
                    </a:p>
                    <a:p>
                      <a:pPr algn="ctr"/>
                      <a:r>
                        <a:rPr sz="1100" b="1">
                          <a:solidFill>
                            <a:srgbClr val="0E2A5C"/>
                          </a:solidFill>
                          <a:latin typeface="Calibri"/>
                        </a:rPr>
                        <a:t>Polymer</a:t>
                      </a:r>
                      <a:endParaRPr sz="1100"/>
                    </a:p>
                    <a:p>
                      <a:pPr algn="ctr"/>
                      <a:r>
                        <a:rPr sz="1100" b="1">
                          <a:solidFill>
                            <a:srgbClr val="0E2A5C"/>
                          </a:solidFill>
                          <a:latin typeface="Calibri"/>
                        </a:rPr>
                        <a:t>Foams</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Bio-based /</a:t>
                      </a:r>
                      <a:endParaRPr sz="1100"/>
                    </a:p>
                    <a:p>
                      <a:pPr algn="ctr"/>
                      <a:r>
                        <a:rPr sz="1100" b="1">
                          <a:solidFill>
                            <a:srgbClr val="0E2A5C"/>
                          </a:solidFill>
                          <a:latin typeface="Calibri"/>
                        </a:rPr>
                        <a:t>Starch-</a:t>
                      </a:r>
                      <a:endParaRPr sz="1100"/>
                    </a:p>
                    <a:p>
                      <a:pPr algn="ctr"/>
                      <a:r>
                        <a:rPr sz="1100" b="1">
                          <a:solidFill>
                            <a:srgbClr val="0E2A5C"/>
                          </a:solidFill>
                          <a:latin typeface="Calibri"/>
                        </a:rPr>
                        <a:t>based</a:t>
                      </a:r>
                      <a:endParaRPr sz="1100"/>
                    </a:p>
                    <a:p>
                      <a:pPr algn="ctr"/>
                      <a:r>
                        <a:rPr sz="1100" b="1">
                          <a:solidFill>
                            <a:srgbClr val="0E2A5C"/>
                          </a:solidFill>
                          <a:latin typeface="Calibri"/>
                        </a:rPr>
                        <a:t>Foams</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c hMerge="1">
                  <a:txBody>
                    <a:bodyPr wrap="none"/>
                    <a:lstStyle/>
                    <a:p>
                      <a:pPr algn="ctr"/>
                      <a:endParaRPr sz="1100"/>
                    </a:p>
                  </a:txBody>
                  <a:tcPr marL="47625" marR="38100" marT="19050" marB="19050" anchor="ctr">
                    <a:solidFill>
                      <a:srgbClr val="EBF2F9"/>
                    </a:solidFill>
                  </a:tcPr>
                </a:tc>
              </a:tr>
              <a:tr h="439021">
                <a:tc vMerge="1">
                  <a:txBody>
                    <a:bodyPr wrap="none"/>
                    <a:lstStyle/>
                    <a:p>
                      <a:pPr algn="l"/>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US$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a:t>
                      </a:r>
                      <a:endParaRPr sz="1100"/>
                    </a:p>
                  </a:txBody>
                  <a:tcPr marL="47625" marR="38100" marT="19050" marB="19050" anchor="ctr">
                    <a:solidFill>
                      <a:srgbClr val="EBF2F9"/>
                    </a:solidFill>
                  </a:tcPr>
                </a:tc>
              </a:tr>
              <a:tr h="246235">
                <a:tc>
                  <a:txBody>
                    <a:bodyPr wrap="none"/>
                    <a:lstStyle/>
                    <a:p>
                      <a:pPr algn="l"/>
                      <a:r>
                        <a:rPr sz="1100" b="1">
                          <a:solidFill>
                            <a:srgbClr val="2E2E2E"/>
                          </a:solidFill>
                          <a:latin typeface="Calibri"/>
                        </a:rPr>
                        <a:t>Polyethylene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Expanded 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Polyurethane (PU)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b="0">
                          <a:solidFill>
                            <a:srgbClr val="2E2E2E"/>
                          </a:solidFill>
                          <a:latin typeface="Calibri"/>
                        </a:rPr>
                        <a: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l"/>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l"/>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l"/>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l"/>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l"/>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4181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514850"/>
            <a:ext cx="5600700" cy="2114550"/>
          </a:xfrm>
          <a:prstGeom prst="roundRect">
            <a:avLst>
              <a:gd name="adj" fmla="val 36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600575"/>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13" name="Rectangle 12"/>
          <p:cNvSpPr/>
          <p:nvPr/>
        </p:nvSpPr>
        <p:spPr>
          <a:xfrm>
            <a:off x="276225" y="4838700"/>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924425"/>
            <a:ext cx="53340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5895975" y="4514850"/>
            <a:ext cx="1943100" cy="21145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29325" y="4600575"/>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7" name="Rectangle 16"/>
          <p:cNvSpPr/>
          <p:nvPr/>
        </p:nvSpPr>
        <p:spPr>
          <a:xfrm>
            <a:off x="6029325" y="48387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29325" y="4924425"/>
            <a:ext cx="16764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7991475" y="4514850"/>
            <a:ext cx="1943100" cy="21145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4825" y="4600575"/>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21" name="Rectangle 20"/>
          <p:cNvSpPr/>
          <p:nvPr/>
        </p:nvSpPr>
        <p:spPr>
          <a:xfrm>
            <a:off x="8124825" y="48387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4825" y="4924425"/>
            <a:ext cx="16764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0086975" y="4514850"/>
            <a:ext cx="1943100" cy="2114550"/>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20325" y="4600575"/>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5" name="Rectangle 24"/>
          <p:cNvSpPr/>
          <p:nvPr/>
        </p:nvSpPr>
        <p:spPr>
          <a:xfrm>
            <a:off x="10220325" y="4838700"/>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20325" y="4924425"/>
            <a:ext cx="1676400" cy="1628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'Expanded Polystyrene × Foam Pouches, Bags &amp; Sleeves' ranks highest (5/5); 'Polyethylene Foam × Foam Sheets, Rolls &amp; Planks' lowest (1/5), a deprioritised cell.</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4"/>
          <a:stretch>
            <a:fillRect/>
          </a:stretch>
        </p:blipFill>
        <p:spPr>
          <a:xfrm>
            <a:off x="6712221" y="3166546"/>
            <a:ext cx="366712" cy="533400"/>
          </a:xfrm>
          <a:prstGeom prst="rect">
            <a:avLst/>
          </a:prstGeom>
        </p:spPr>
      </p:pic>
      <p:sp>
        <p:nvSpPr>
          <p:cNvPr id="30" name="TextBox 29"/>
          <p:cNvSpPr txBox="1"/>
          <p:nvPr/>
        </p:nvSpPr>
        <p:spPr>
          <a:xfrm>
            <a:off x="276225" y="4933950"/>
            <a:ext cx="3375461" cy="186689"/>
          </a:xfrm>
          <a:prstGeom prst="rect">
            <a:avLst/>
          </a:prstGeom>
          <a:noFill/>
        </p:spPr>
        <p:txBody>
          <a:bodyPr wrap="none" lIns="0" rIns="0" tIns="0" bIns="0">
            <a:spAutoFit/>
          </a:bodyPr>
          <a:lstStyle/>
          <a:p>
            <a:r>
              <a:rPr sz="1100" b="0">
                <a:solidFill>
                  <a:srgbClr val="2E2E2E"/>
                </a:solidFill>
                <a:latin typeface="Calibri"/>
              </a:rPr>
              <a:t>▪ 1. Polyurethane Foam × Foam Pouches, Bags &amp; Sleeves –</a:t>
            </a:r>
          </a:p>
        </p:txBody>
      </p:sp>
      <p:pic>
        <p:nvPicPr>
          <p:cNvPr id="31" name="Picture 30" descr="lock.png"/>
          <p:cNvPicPr>
            <a:picLocks noChangeAspect="1"/>
          </p:cNvPicPr>
          <p:nvPr/>
        </p:nvPicPr>
        <p:blipFill>
          <a:blip r:embed="rId4"/>
          <a:stretch>
            <a:fillRect/>
          </a:stretch>
        </p:blipFill>
        <p:spPr>
          <a:xfrm>
            <a:off x="3599738" y="4924170"/>
            <a:ext cx="128699" cy="187198"/>
          </a:xfrm>
          <a:prstGeom prst="rect">
            <a:avLst/>
          </a:prstGeom>
        </p:spPr>
      </p:pic>
      <p:sp>
        <p:nvSpPr>
          <p:cNvPr id="32" name="TextBox 31"/>
          <p:cNvSpPr txBox="1"/>
          <p:nvPr/>
        </p:nvSpPr>
        <p:spPr>
          <a:xfrm>
            <a:off x="3767233" y="4933950"/>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3826683" y="4924170"/>
            <a:ext cx="128699" cy="187198"/>
          </a:xfrm>
          <a:prstGeom prst="rect">
            <a:avLst/>
          </a:prstGeom>
        </p:spPr>
      </p:pic>
      <p:sp>
        <p:nvSpPr>
          <p:cNvPr id="34" name="TextBox 33"/>
          <p:cNvSpPr txBox="1"/>
          <p:nvPr/>
        </p:nvSpPr>
        <p:spPr>
          <a:xfrm>
            <a:off x="3994179" y="4933950"/>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5" name="TextBox 34"/>
          <p:cNvSpPr txBox="1"/>
          <p:nvPr/>
        </p:nvSpPr>
        <p:spPr>
          <a:xfrm>
            <a:off x="276225" y="5151882"/>
            <a:ext cx="3673445" cy="186689"/>
          </a:xfrm>
          <a:prstGeom prst="rect">
            <a:avLst/>
          </a:prstGeom>
          <a:noFill/>
        </p:spPr>
        <p:txBody>
          <a:bodyPr wrap="none" lIns="0" rIns="0" tIns="0" bIns="0">
            <a:spAutoFit/>
          </a:bodyPr>
          <a:lstStyle/>
          <a:p>
            <a:r>
              <a:rPr sz="1100" b="0">
                <a:solidFill>
                  <a:srgbClr val="2E2E2E"/>
                </a:solidFill>
                <a:latin typeface="Calibri"/>
              </a:rPr>
              <a:t>▪ 2. Expanded Polypropylene × Foam Pouches, Bags &amp; Sleeves –</a:t>
            </a:r>
          </a:p>
        </p:txBody>
      </p:sp>
      <p:pic>
        <p:nvPicPr>
          <p:cNvPr id="36" name="Picture 35" descr="lock.png"/>
          <p:cNvPicPr>
            <a:picLocks noChangeAspect="1"/>
          </p:cNvPicPr>
          <p:nvPr/>
        </p:nvPicPr>
        <p:blipFill>
          <a:blip r:embed="rId4"/>
          <a:stretch>
            <a:fillRect/>
          </a:stretch>
        </p:blipFill>
        <p:spPr>
          <a:xfrm>
            <a:off x="3897721" y="5142102"/>
            <a:ext cx="128699" cy="187198"/>
          </a:xfrm>
          <a:prstGeom prst="rect">
            <a:avLst/>
          </a:prstGeom>
        </p:spPr>
      </p:pic>
      <p:sp>
        <p:nvSpPr>
          <p:cNvPr id="37" name="TextBox 36"/>
          <p:cNvSpPr txBox="1"/>
          <p:nvPr/>
        </p:nvSpPr>
        <p:spPr>
          <a:xfrm>
            <a:off x="4065217" y="5151882"/>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8" name="Picture 37" descr="lock.png"/>
          <p:cNvPicPr>
            <a:picLocks noChangeAspect="1"/>
          </p:cNvPicPr>
          <p:nvPr/>
        </p:nvPicPr>
        <p:blipFill>
          <a:blip r:embed="rId4"/>
          <a:stretch>
            <a:fillRect/>
          </a:stretch>
        </p:blipFill>
        <p:spPr>
          <a:xfrm>
            <a:off x="4124667" y="5142102"/>
            <a:ext cx="128699" cy="187198"/>
          </a:xfrm>
          <a:prstGeom prst="rect">
            <a:avLst/>
          </a:prstGeom>
        </p:spPr>
      </p:pic>
      <p:sp>
        <p:nvSpPr>
          <p:cNvPr id="39" name="TextBox 38"/>
          <p:cNvSpPr txBox="1"/>
          <p:nvPr/>
        </p:nvSpPr>
        <p:spPr>
          <a:xfrm>
            <a:off x="4292162" y="5151882"/>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0" name="TextBox 39"/>
          <p:cNvSpPr txBox="1"/>
          <p:nvPr/>
        </p:nvSpPr>
        <p:spPr>
          <a:xfrm>
            <a:off x="276225" y="5369814"/>
            <a:ext cx="3522285" cy="186689"/>
          </a:xfrm>
          <a:prstGeom prst="rect">
            <a:avLst/>
          </a:prstGeom>
          <a:noFill/>
        </p:spPr>
        <p:txBody>
          <a:bodyPr wrap="none" lIns="0" rIns="0" tIns="0" bIns="0">
            <a:spAutoFit/>
          </a:bodyPr>
          <a:lstStyle/>
          <a:p>
            <a:r>
              <a:rPr sz="1100" b="0">
                <a:solidFill>
                  <a:srgbClr val="2E2E2E"/>
                </a:solidFill>
                <a:latin typeface="Calibri"/>
              </a:rPr>
              <a:t>▪ 3. Expanded Polystyrene × Foam Pouches, Bags &amp; Sleeves –</a:t>
            </a:r>
          </a:p>
        </p:txBody>
      </p:sp>
      <p:pic>
        <p:nvPicPr>
          <p:cNvPr id="41" name="Picture 40" descr="lock.png"/>
          <p:cNvPicPr>
            <a:picLocks noChangeAspect="1"/>
          </p:cNvPicPr>
          <p:nvPr/>
        </p:nvPicPr>
        <p:blipFill>
          <a:blip r:embed="rId4"/>
          <a:stretch>
            <a:fillRect/>
          </a:stretch>
        </p:blipFill>
        <p:spPr>
          <a:xfrm>
            <a:off x="3746561" y="5360034"/>
            <a:ext cx="128699" cy="187198"/>
          </a:xfrm>
          <a:prstGeom prst="rect">
            <a:avLst/>
          </a:prstGeom>
        </p:spPr>
      </p:pic>
      <p:sp>
        <p:nvSpPr>
          <p:cNvPr id="42" name="TextBox 41"/>
          <p:cNvSpPr txBox="1"/>
          <p:nvPr/>
        </p:nvSpPr>
        <p:spPr>
          <a:xfrm>
            <a:off x="3914057" y="5369814"/>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3" name="Picture 42" descr="lock.png"/>
          <p:cNvPicPr>
            <a:picLocks noChangeAspect="1"/>
          </p:cNvPicPr>
          <p:nvPr/>
        </p:nvPicPr>
        <p:blipFill>
          <a:blip r:embed="rId4"/>
          <a:stretch>
            <a:fillRect/>
          </a:stretch>
        </p:blipFill>
        <p:spPr>
          <a:xfrm>
            <a:off x="3973507" y="5360034"/>
            <a:ext cx="128699" cy="187198"/>
          </a:xfrm>
          <a:prstGeom prst="rect">
            <a:avLst/>
          </a:prstGeom>
        </p:spPr>
      </p:pic>
      <p:sp>
        <p:nvSpPr>
          <p:cNvPr id="44" name="TextBox 43"/>
          <p:cNvSpPr txBox="1"/>
          <p:nvPr/>
        </p:nvSpPr>
        <p:spPr>
          <a:xfrm>
            <a:off x="4141003" y="5369814"/>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5" name="TextBox 44"/>
          <p:cNvSpPr txBox="1"/>
          <p:nvPr/>
        </p:nvSpPr>
        <p:spPr>
          <a:xfrm>
            <a:off x="276225" y="5587746"/>
            <a:ext cx="3187134" cy="186689"/>
          </a:xfrm>
          <a:prstGeom prst="rect">
            <a:avLst/>
          </a:prstGeom>
          <a:noFill/>
        </p:spPr>
        <p:txBody>
          <a:bodyPr wrap="none" lIns="0" rIns="0" tIns="0" bIns="0">
            <a:spAutoFit/>
          </a:bodyPr>
          <a:lstStyle/>
          <a:p>
            <a:r>
              <a:rPr sz="1100" b="0">
                <a:solidFill>
                  <a:srgbClr val="2E2E2E"/>
                </a:solidFill>
                <a:latin typeface="Calibri"/>
              </a:rPr>
              <a:t>▪ 4. Polyurethane Foam × Fabricated Foam Packaging –</a:t>
            </a:r>
          </a:p>
        </p:txBody>
      </p:sp>
      <p:pic>
        <p:nvPicPr>
          <p:cNvPr id="46" name="Picture 45" descr="lock.png"/>
          <p:cNvPicPr>
            <a:picLocks noChangeAspect="1"/>
          </p:cNvPicPr>
          <p:nvPr/>
        </p:nvPicPr>
        <p:blipFill>
          <a:blip r:embed="rId4"/>
          <a:stretch>
            <a:fillRect/>
          </a:stretch>
        </p:blipFill>
        <p:spPr>
          <a:xfrm>
            <a:off x="3411410" y="5577966"/>
            <a:ext cx="128699" cy="187198"/>
          </a:xfrm>
          <a:prstGeom prst="rect">
            <a:avLst/>
          </a:prstGeom>
        </p:spPr>
      </p:pic>
      <p:sp>
        <p:nvSpPr>
          <p:cNvPr id="47" name="TextBox 46"/>
          <p:cNvSpPr txBox="1"/>
          <p:nvPr/>
        </p:nvSpPr>
        <p:spPr>
          <a:xfrm>
            <a:off x="3578906" y="5587746"/>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3638356" y="5577966"/>
            <a:ext cx="128699" cy="187198"/>
          </a:xfrm>
          <a:prstGeom prst="rect">
            <a:avLst/>
          </a:prstGeom>
        </p:spPr>
      </p:pic>
      <p:sp>
        <p:nvSpPr>
          <p:cNvPr id="49" name="TextBox 48"/>
          <p:cNvSpPr txBox="1"/>
          <p:nvPr/>
        </p:nvSpPr>
        <p:spPr>
          <a:xfrm>
            <a:off x="3805851" y="5587746"/>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0" name="TextBox 49"/>
          <p:cNvSpPr txBox="1"/>
          <p:nvPr/>
        </p:nvSpPr>
        <p:spPr>
          <a:xfrm>
            <a:off x="276225" y="5805678"/>
            <a:ext cx="3485117" cy="186689"/>
          </a:xfrm>
          <a:prstGeom prst="rect">
            <a:avLst/>
          </a:prstGeom>
          <a:noFill/>
        </p:spPr>
        <p:txBody>
          <a:bodyPr wrap="none" lIns="0" rIns="0" tIns="0" bIns="0">
            <a:spAutoFit/>
          </a:bodyPr>
          <a:lstStyle/>
          <a:p>
            <a:r>
              <a:rPr sz="1100" b="0">
                <a:solidFill>
                  <a:srgbClr val="2E2E2E"/>
                </a:solidFill>
                <a:latin typeface="Calibri"/>
              </a:rPr>
              <a:t>▪ 5. Expanded Polypropylene × Fabricated Foam Packaging –</a:t>
            </a:r>
          </a:p>
        </p:txBody>
      </p:sp>
      <p:pic>
        <p:nvPicPr>
          <p:cNvPr id="51" name="Picture 50" descr="lock.png"/>
          <p:cNvPicPr>
            <a:picLocks noChangeAspect="1"/>
          </p:cNvPicPr>
          <p:nvPr/>
        </p:nvPicPr>
        <p:blipFill>
          <a:blip r:embed="rId4"/>
          <a:stretch>
            <a:fillRect/>
          </a:stretch>
        </p:blipFill>
        <p:spPr>
          <a:xfrm>
            <a:off x="3709394" y="5795898"/>
            <a:ext cx="128699" cy="187198"/>
          </a:xfrm>
          <a:prstGeom prst="rect">
            <a:avLst/>
          </a:prstGeom>
        </p:spPr>
      </p:pic>
      <p:sp>
        <p:nvSpPr>
          <p:cNvPr id="52" name="TextBox 51"/>
          <p:cNvSpPr txBox="1"/>
          <p:nvPr/>
        </p:nvSpPr>
        <p:spPr>
          <a:xfrm>
            <a:off x="3876890" y="5805678"/>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3" name="Picture 52" descr="lock.png"/>
          <p:cNvPicPr>
            <a:picLocks noChangeAspect="1"/>
          </p:cNvPicPr>
          <p:nvPr/>
        </p:nvPicPr>
        <p:blipFill>
          <a:blip r:embed="rId4"/>
          <a:stretch>
            <a:fillRect/>
          </a:stretch>
        </p:blipFill>
        <p:spPr>
          <a:xfrm>
            <a:off x="3936339" y="5795898"/>
            <a:ext cx="128699" cy="187198"/>
          </a:xfrm>
          <a:prstGeom prst="rect">
            <a:avLst/>
          </a:prstGeom>
        </p:spPr>
      </p:pic>
      <p:sp>
        <p:nvSpPr>
          <p:cNvPr id="54" name="TextBox 53"/>
          <p:cNvSpPr txBox="1"/>
          <p:nvPr/>
        </p:nvSpPr>
        <p:spPr>
          <a:xfrm>
            <a:off x="4103835" y="5805678"/>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5" name="TextBox 54"/>
          <p:cNvSpPr txBox="1"/>
          <p:nvPr/>
        </p:nvSpPr>
        <p:spPr>
          <a:xfrm>
            <a:off x="6029325" y="4933950"/>
            <a:ext cx="1460791" cy="194310"/>
          </a:xfrm>
          <a:prstGeom prst="rect">
            <a:avLst/>
          </a:prstGeom>
          <a:noFill/>
        </p:spPr>
        <p:txBody>
          <a:bodyPr wrap="none" lIns="0" rIns="0" tIns="0" bIns="0">
            <a:spAutoFit/>
          </a:bodyPr>
          <a:lstStyle/>
          <a:p>
            <a:r>
              <a:rPr sz="1150" b="0">
                <a:solidFill>
                  <a:srgbClr val="2E2E2E"/>
                </a:solidFill>
                <a:latin typeface="Calibri"/>
              </a:rPr>
              <a:t>▪ 'Polyurethane Foam ×</a:t>
            </a:r>
          </a:p>
        </p:txBody>
      </p:sp>
      <p:sp>
        <p:nvSpPr>
          <p:cNvPr id="56" name="TextBox 55"/>
          <p:cNvSpPr txBox="1"/>
          <p:nvPr/>
        </p:nvSpPr>
        <p:spPr>
          <a:xfrm>
            <a:off x="6029325" y="5109210"/>
            <a:ext cx="1415150" cy="194310"/>
          </a:xfrm>
          <a:prstGeom prst="rect">
            <a:avLst/>
          </a:prstGeom>
          <a:noFill/>
        </p:spPr>
        <p:txBody>
          <a:bodyPr wrap="none" lIns="0" rIns="0" tIns="0" bIns="0">
            <a:spAutoFit/>
          </a:bodyPr>
          <a:lstStyle/>
          <a:p>
            <a:r>
              <a:rPr sz="1150" b="0">
                <a:solidFill>
                  <a:srgbClr val="2E2E2E"/>
                </a:solidFill>
                <a:latin typeface="Calibri"/>
              </a:rPr>
              <a:t>Foam Pouches, Bags &amp;</a:t>
            </a:r>
          </a:p>
        </p:txBody>
      </p:sp>
      <p:sp>
        <p:nvSpPr>
          <p:cNvPr id="57" name="TextBox 56"/>
          <p:cNvSpPr txBox="1"/>
          <p:nvPr/>
        </p:nvSpPr>
        <p:spPr>
          <a:xfrm>
            <a:off x="6029325" y="5284470"/>
            <a:ext cx="863786" cy="194310"/>
          </a:xfrm>
          <a:prstGeom prst="rect">
            <a:avLst/>
          </a:prstGeom>
          <a:noFill/>
        </p:spPr>
        <p:txBody>
          <a:bodyPr wrap="none" lIns="0" rIns="0" tIns="0" bIns="0">
            <a:spAutoFit/>
          </a:bodyPr>
          <a:lstStyle/>
          <a:p>
            <a:r>
              <a:rPr sz="1150" b="0">
                <a:solidFill>
                  <a:srgbClr val="2E2E2E"/>
                </a:solidFill>
                <a:latin typeface="Calibri"/>
              </a:rPr>
              <a:t>Sleeves' adds</a:t>
            </a:r>
          </a:p>
        </p:txBody>
      </p:sp>
      <p:pic>
        <p:nvPicPr>
          <p:cNvPr id="58" name="Picture 57" descr="lock.png"/>
          <p:cNvPicPr>
            <a:picLocks noChangeAspect="1"/>
          </p:cNvPicPr>
          <p:nvPr/>
        </p:nvPicPr>
        <p:blipFill>
          <a:blip r:embed="rId4"/>
          <a:stretch>
            <a:fillRect/>
          </a:stretch>
        </p:blipFill>
        <p:spPr>
          <a:xfrm>
            <a:off x="6842264" y="5274246"/>
            <a:ext cx="134549" cy="195707"/>
          </a:xfrm>
          <a:prstGeom prst="rect">
            <a:avLst/>
          </a:prstGeom>
        </p:spPr>
      </p:pic>
      <p:sp>
        <p:nvSpPr>
          <p:cNvPr id="59" name="TextBox 58"/>
          <p:cNvSpPr txBox="1"/>
          <p:nvPr/>
        </p:nvSpPr>
        <p:spPr>
          <a:xfrm>
            <a:off x="7017374" y="5284470"/>
            <a:ext cx="546013"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60" name="TextBox 59"/>
          <p:cNvSpPr txBox="1"/>
          <p:nvPr/>
        </p:nvSpPr>
        <p:spPr>
          <a:xfrm>
            <a:off x="6029325" y="5459729"/>
            <a:ext cx="721729" cy="194310"/>
          </a:xfrm>
          <a:prstGeom prst="rect">
            <a:avLst/>
          </a:prstGeom>
          <a:noFill/>
        </p:spPr>
        <p:txBody>
          <a:bodyPr wrap="none" lIns="0" rIns="0" tIns="0" bIns="0">
            <a:spAutoFit/>
          </a:bodyPr>
          <a:lstStyle/>
          <a:p>
            <a:r>
              <a:rPr sz="1150" b="0">
                <a:solidFill>
                  <a:srgbClr val="2E2E2E"/>
                </a:solidFill>
                <a:latin typeface="Calibri"/>
              </a:rPr>
              <a:t>by 2036F –</a:t>
            </a:r>
          </a:p>
        </p:txBody>
      </p:sp>
      <p:pic>
        <p:nvPicPr>
          <p:cNvPr id="61" name="Picture 60" descr="lock.png"/>
          <p:cNvPicPr>
            <a:picLocks noChangeAspect="1"/>
          </p:cNvPicPr>
          <p:nvPr/>
        </p:nvPicPr>
        <p:blipFill>
          <a:blip r:embed="rId4"/>
          <a:stretch>
            <a:fillRect/>
          </a:stretch>
        </p:blipFill>
        <p:spPr>
          <a:xfrm>
            <a:off x="6700208" y="5449506"/>
            <a:ext cx="134549" cy="195707"/>
          </a:xfrm>
          <a:prstGeom prst="rect">
            <a:avLst/>
          </a:prstGeom>
        </p:spPr>
      </p:pic>
      <p:sp>
        <p:nvSpPr>
          <p:cNvPr id="62" name="TextBox 61"/>
          <p:cNvSpPr txBox="1"/>
          <p:nvPr/>
        </p:nvSpPr>
        <p:spPr>
          <a:xfrm>
            <a:off x="6875317" y="545972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3" name="TextBox 62"/>
          <p:cNvSpPr txBox="1"/>
          <p:nvPr/>
        </p:nvSpPr>
        <p:spPr>
          <a:xfrm>
            <a:off x="6029325" y="563498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4" name="TextBox 63"/>
          <p:cNvSpPr txBox="1"/>
          <p:nvPr/>
        </p:nvSpPr>
        <p:spPr>
          <a:xfrm>
            <a:off x="8124825" y="4933950"/>
            <a:ext cx="1460791" cy="194310"/>
          </a:xfrm>
          <a:prstGeom prst="rect">
            <a:avLst/>
          </a:prstGeom>
          <a:noFill/>
        </p:spPr>
        <p:txBody>
          <a:bodyPr wrap="none" lIns="0" rIns="0" tIns="0" bIns="0">
            <a:spAutoFit/>
          </a:bodyPr>
          <a:lstStyle/>
          <a:p>
            <a:r>
              <a:rPr sz="1150" b="0">
                <a:solidFill>
                  <a:srgbClr val="2E2E2E"/>
                </a:solidFill>
                <a:latin typeface="Calibri"/>
              </a:rPr>
              <a:t>▪ 'Polyurethane Foam ×</a:t>
            </a:r>
          </a:p>
        </p:txBody>
      </p:sp>
      <p:sp>
        <p:nvSpPr>
          <p:cNvPr id="65" name="TextBox 64"/>
          <p:cNvSpPr txBox="1"/>
          <p:nvPr/>
        </p:nvSpPr>
        <p:spPr>
          <a:xfrm>
            <a:off x="8124825" y="5109210"/>
            <a:ext cx="1415150" cy="194310"/>
          </a:xfrm>
          <a:prstGeom prst="rect">
            <a:avLst/>
          </a:prstGeom>
          <a:noFill/>
        </p:spPr>
        <p:txBody>
          <a:bodyPr wrap="none" lIns="0" rIns="0" tIns="0" bIns="0">
            <a:spAutoFit/>
          </a:bodyPr>
          <a:lstStyle/>
          <a:p>
            <a:r>
              <a:rPr sz="1150" b="0">
                <a:solidFill>
                  <a:srgbClr val="2E2E2E"/>
                </a:solidFill>
                <a:latin typeface="Calibri"/>
              </a:rPr>
              <a:t>Foam Pouches, Bags &amp;</a:t>
            </a:r>
          </a:p>
        </p:txBody>
      </p:sp>
      <p:sp>
        <p:nvSpPr>
          <p:cNvPr id="66" name="TextBox 65"/>
          <p:cNvSpPr txBox="1"/>
          <p:nvPr/>
        </p:nvSpPr>
        <p:spPr>
          <a:xfrm>
            <a:off x="8124825" y="5284470"/>
            <a:ext cx="1196677" cy="194310"/>
          </a:xfrm>
          <a:prstGeom prst="rect">
            <a:avLst/>
          </a:prstGeom>
          <a:noFill/>
        </p:spPr>
        <p:txBody>
          <a:bodyPr wrap="none" lIns="0" rIns="0" tIns="0" bIns="0">
            <a:spAutoFit/>
          </a:bodyPr>
          <a:lstStyle/>
          <a:p>
            <a:r>
              <a:rPr sz="1150" b="0">
                <a:solidFill>
                  <a:srgbClr val="2E2E2E"/>
                </a:solidFill>
                <a:latin typeface="Calibri"/>
              </a:rPr>
              <a:t>Sleeves' grows at a</a:t>
            </a:r>
          </a:p>
        </p:txBody>
      </p:sp>
      <p:pic>
        <p:nvPicPr>
          <p:cNvPr id="67" name="Picture 66" descr="lock.png"/>
          <p:cNvPicPr>
            <a:picLocks noChangeAspect="1"/>
          </p:cNvPicPr>
          <p:nvPr/>
        </p:nvPicPr>
        <p:blipFill>
          <a:blip r:embed="rId4"/>
          <a:stretch>
            <a:fillRect/>
          </a:stretch>
        </p:blipFill>
        <p:spPr>
          <a:xfrm>
            <a:off x="9270656" y="5274246"/>
            <a:ext cx="134549" cy="195707"/>
          </a:xfrm>
          <a:prstGeom prst="rect">
            <a:avLst/>
          </a:prstGeom>
        </p:spPr>
      </p:pic>
      <p:sp>
        <p:nvSpPr>
          <p:cNvPr id="68" name="TextBox 67"/>
          <p:cNvSpPr txBox="1"/>
          <p:nvPr/>
        </p:nvSpPr>
        <p:spPr>
          <a:xfrm>
            <a:off x="8124825" y="545972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9" name="Picture 68" descr="lock.png"/>
          <p:cNvPicPr>
            <a:picLocks noChangeAspect="1"/>
          </p:cNvPicPr>
          <p:nvPr/>
        </p:nvPicPr>
        <p:blipFill>
          <a:blip r:embed="rId4"/>
          <a:stretch>
            <a:fillRect/>
          </a:stretch>
        </p:blipFill>
        <p:spPr>
          <a:xfrm>
            <a:off x="8520420" y="5449506"/>
            <a:ext cx="134549" cy="195707"/>
          </a:xfrm>
          <a:prstGeom prst="rect">
            <a:avLst/>
          </a:prstGeom>
        </p:spPr>
      </p:pic>
      <p:sp>
        <p:nvSpPr>
          <p:cNvPr id="70" name="TextBox 69"/>
          <p:cNvSpPr txBox="1"/>
          <p:nvPr/>
        </p:nvSpPr>
        <p:spPr>
          <a:xfrm>
            <a:off x="8695529" y="545972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1" name="TextBox 70"/>
          <p:cNvSpPr txBox="1"/>
          <p:nvPr/>
        </p:nvSpPr>
        <p:spPr>
          <a:xfrm>
            <a:off x="8124825" y="563498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Form × End-use Industry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Form × End-use Industry, 2026E vs 2036F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form sub-segment across end-use industry sub-segments</a:t>
            </a:r>
          </a:p>
        </p:txBody>
      </p:sp>
      <p:sp>
        <p:nvSpPr>
          <p:cNvPr id="7" name="Rounded Rectangle 6"/>
          <p:cNvSpPr/>
          <p:nvPr/>
        </p:nvSpPr>
        <p:spPr>
          <a:xfrm>
            <a:off x="142875" y="981075"/>
            <a:ext cx="11906250" cy="4610100"/>
          </a:xfrm>
          <a:prstGeom prst="roundRect">
            <a:avLst>
              <a:gd name="adj" fmla="val 165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Product Form × End-use Industry, 2026E and 2036F (US$ Mn)</a:t>
            </a:r>
          </a:p>
        </p:txBody>
      </p:sp>
      <p:graphicFrame>
        <p:nvGraphicFramePr>
          <p:cNvPr id="9" name="Table 8"/>
          <p:cNvGraphicFramePr>
            <a:graphicFrameLocks noGrp="1"/>
          </p:cNvGraphicFramePr>
          <p:nvPr/>
        </p:nvGraphicFramePr>
        <p:xfrm>
          <a:off x="152400" y="1238250"/>
          <a:ext cx="11922396" cy="4143378"/>
        </p:xfrm>
        <a:graphic>
          <a:graphicData uri="http://schemas.openxmlformats.org/drawingml/2006/table">
            <a:tbl>
              <a:tblPr>
                <a:tableStyleId>{5C22544A-7EE6-4342-B048-85BDC9FD1C3A}</a:tableStyleId>
              </a:tblPr>
              <a:tblGrid>
                <a:gridCol w="2007507"/>
                <a:gridCol w="382232"/>
                <a:gridCol w="377745"/>
                <a:gridCol w="382232"/>
                <a:gridCol w="377745"/>
                <a:gridCol w="382232"/>
                <a:gridCol w="377745"/>
                <a:gridCol w="382232"/>
                <a:gridCol w="377745"/>
                <a:gridCol w="382232"/>
                <a:gridCol w="377745"/>
                <a:gridCol w="382232"/>
                <a:gridCol w="377745"/>
                <a:gridCol w="382232"/>
                <a:gridCol w="377745"/>
                <a:gridCol w="382232"/>
                <a:gridCol w="377745"/>
                <a:gridCol w="382232"/>
                <a:gridCol w="377745"/>
                <a:gridCol w="382232"/>
                <a:gridCol w="377745"/>
                <a:gridCol w="382232"/>
                <a:gridCol w="377745"/>
                <a:gridCol w="382232"/>
                <a:gridCol w="377745"/>
                <a:gridCol w="382232"/>
                <a:gridCol w="412933"/>
              </a:tblGrid>
              <a:tr h="1017270">
                <a:tc rowSpan="2">
                  <a:txBody>
                    <a:bodyPr wrap="none"/>
                    <a:lstStyle/>
                    <a:p>
                      <a:pPr algn="l"/>
                      <a:r>
                        <a:rPr sz="1100" b="1">
                          <a:solidFill>
                            <a:srgbClr val="0E2A5C"/>
                          </a:solidFill>
                          <a:latin typeface="Calibri"/>
                        </a:rPr>
                        <a:t>Product Form</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 Sheets</a:t>
                      </a:r>
                      <a:endParaRPr sz="1100"/>
                    </a:p>
                    <a:p>
                      <a:pPr algn="ctr"/>
                      <a:r>
                        <a:rPr sz="1100" b="1">
                          <a:solidFill>
                            <a:srgbClr val="0E2A5C"/>
                          </a:solidFill>
                          <a:latin typeface="Calibri"/>
                        </a:rPr>
                        <a:t>&amp; Rolls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 Planks</a:t>
                      </a:r>
                      <a:endParaRPr sz="1100"/>
                    </a:p>
                    <a:p>
                      <a:pPr algn="ctr"/>
                      <a:r>
                        <a:rPr sz="1100" b="1">
                          <a:solidFill>
                            <a:srgbClr val="0E2A5C"/>
                          </a:solidFill>
                          <a:latin typeface="Calibri"/>
                        </a:rPr>
                        <a:t>&amp; Blocks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Die-Cut /</a:t>
                      </a:r>
                      <a:endParaRPr sz="1100"/>
                    </a:p>
                    <a:p>
                      <a:pPr algn="ctr"/>
                      <a:r>
                        <a:rPr sz="1100" b="1">
                          <a:solidFill>
                            <a:srgbClr val="0E2A5C"/>
                          </a:solidFill>
                          <a:latin typeface="Calibri"/>
                        </a:rPr>
                        <a:t>CNC-Cut</a:t>
                      </a:r>
                      <a:endParaRPr sz="1100"/>
                    </a:p>
                    <a:p>
                      <a:pPr algn="ctr"/>
                      <a:r>
                        <a:rPr sz="1100" b="1">
                          <a:solidFill>
                            <a:srgbClr val="0E2A5C"/>
                          </a:solidFill>
                          <a:latin typeface="Calibri"/>
                        </a:rPr>
                        <a:t>Foam Inserts</a:t>
                      </a:r>
                      <a:endParaRPr sz="1100"/>
                    </a:p>
                    <a:p>
                      <a:pPr algn="ctr"/>
                      <a:r>
                        <a:rPr sz="1100" b="1">
                          <a:solidFill>
                            <a:srgbClr val="0E2A5C"/>
                          </a:solidFill>
                          <a:latin typeface="Calibri"/>
                        </a:rPr>
                        <a:t>&amp; Pads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 Corner</a:t>
                      </a:r>
                      <a:endParaRPr sz="1100"/>
                    </a:p>
                    <a:p>
                      <a:pPr algn="ctr"/>
                      <a:r>
                        <a:rPr sz="1100" b="1">
                          <a:solidFill>
                            <a:srgbClr val="0E2A5C"/>
                          </a:solidFill>
                          <a:latin typeface="Calibri"/>
                        </a:rPr>
                        <a:t>&amp; Edge</a:t>
                      </a:r>
                      <a:endParaRPr sz="1100"/>
                    </a:p>
                    <a:p>
                      <a:pPr algn="ctr"/>
                      <a:r>
                        <a:rPr sz="1100" b="1">
                          <a:solidFill>
                            <a:srgbClr val="0E2A5C"/>
                          </a:solidFill>
                          <a:latin typeface="Calibri"/>
                        </a:rPr>
                        <a:t>Protectors /</a:t>
                      </a:r>
                      <a:endParaRPr sz="1100"/>
                    </a:p>
                    <a:p>
                      <a:pPr algn="ctr"/>
                      <a:r>
                        <a:rPr sz="1100" b="1">
                          <a:solidFill>
                            <a:srgbClr val="0E2A5C"/>
                          </a:solidFill>
                          <a:latin typeface="Calibri"/>
                        </a:rPr>
                        <a:t>Profiles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Dividers &amp;</a:t>
                      </a:r>
                      <a:endParaRPr sz="1100"/>
                    </a:p>
                    <a:p>
                      <a:pPr algn="ctr"/>
                      <a:r>
                        <a:rPr sz="1100" b="1">
                          <a:solidFill>
                            <a:srgbClr val="0E2A5C"/>
                          </a:solidFill>
                          <a:latin typeface="Calibri"/>
                        </a:rPr>
                        <a:t>Separators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Inserts, End</a:t>
                      </a:r>
                      <a:endParaRPr sz="1100"/>
                    </a:p>
                    <a:p>
                      <a:pPr algn="ctr"/>
                      <a:r>
                        <a:rPr sz="1100" b="1">
                          <a:solidFill>
                            <a:srgbClr val="0E2A5C"/>
                          </a:solidFill>
                          <a:latin typeface="Calibri"/>
                        </a:rPr>
                        <a:t>Caps &amp;</a:t>
                      </a:r>
                      <a:endParaRPr sz="1100"/>
                    </a:p>
                    <a:p>
                      <a:pPr algn="ctr"/>
                      <a:r>
                        <a:rPr sz="1100" b="1">
                          <a:solidFill>
                            <a:srgbClr val="0E2A5C"/>
                          </a:solidFill>
                          <a:latin typeface="Calibri"/>
                        </a:rPr>
                        <a:t>Cradles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Protective</a:t>
                      </a:r>
                      <a:endParaRPr sz="1100"/>
                    </a:p>
                    <a:p>
                      <a:pPr algn="ctr"/>
                      <a:r>
                        <a:rPr sz="1100" b="1">
                          <a:solidFill>
                            <a:srgbClr val="0E2A5C"/>
                          </a:solidFill>
                          <a:latin typeface="Calibri"/>
                        </a:rPr>
                        <a:t>Trays &amp;</a:t>
                      </a:r>
                      <a:endParaRPr sz="1100"/>
                    </a:p>
                    <a:p>
                      <a:pPr algn="ctr"/>
                      <a:r>
                        <a:rPr sz="1100" b="1">
                          <a:solidFill>
                            <a:srgbClr val="0E2A5C"/>
                          </a:solidFill>
                          <a:latin typeface="Calibri"/>
                        </a:rPr>
                        <a:t>Containers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Direct-</a:t>
                      </a:r>
                      <a:endParaRPr sz="1100"/>
                    </a:p>
                    <a:p>
                      <a:pPr algn="ctr"/>
                      <a:r>
                        <a:rPr sz="1100" b="1">
                          <a:solidFill>
                            <a:srgbClr val="0E2A5C"/>
                          </a:solidFill>
                          <a:latin typeface="Calibri"/>
                        </a:rPr>
                        <a:t>Dispensed</a:t>
                      </a:r>
                      <a:endParaRPr sz="1100"/>
                    </a:p>
                    <a:p>
                      <a:pPr algn="ctr"/>
                      <a:r>
                        <a:rPr sz="1100" b="1">
                          <a:solidFill>
                            <a:srgbClr val="0E2A5C"/>
                          </a:solidFill>
                          <a:latin typeface="Calibri"/>
                        </a:rPr>
                        <a:t>Foam-in-</a:t>
                      </a:r>
                      <a:endParaRPr sz="1100"/>
                    </a:p>
                    <a:p>
                      <a:pPr algn="ctr"/>
                      <a:r>
                        <a:rPr sz="1100" b="1">
                          <a:solidFill>
                            <a:srgbClr val="0E2A5C"/>
                          </a:solidFill>
                          <a:latin typeface="Calibri"/>
                        </a:rPr>
                        <a:t>Place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Foam-in-Bag</a:t>
                      </a:r>
                      <a:endParaRPr sz="1100"/>
                    </a:p>
                    <a:p>
                      <a:pPr algn="ctr"/>
                      <a:r>
                        <a:rPr sz="1100" b="1">
                          <a:solidFill>
                            <a:srgbClr val="0E2A5C"/>
                          </a:solidFill>
                          <a:latin typeface="Calibri"/>
                        </a:rPr>
                        <a:t>/ On-</a:t>
                      </a:r>
                      <a:endParaRPr sz="1100"/>
                    </a:p>
                    <a:p>
                      <a:pPr algn="ctr"/>
                      <a:r>
                        <a:rPr sz="1100" b="1">
                          <a:solidFill>
                            <a:srgbClr val="0E2A5C"/>
                          </a:solidFill>
                          <a:latin typeface="Calibri"/>
                        </a:rPr>
                        <a:t>Demand</a:t>
                      </a:r>
                      <a:endParaRPr sz="1100"/>
                    </a:p>
                    <a:p>
                      <a:pPr algn="ctr"/>
                      <a:r>
                        <a:rPr sz="1100" b="1">
                          <a:solidFill>
                            <a:srgbClr val="0E2A5C"/>
                          </a:solidFill>
                          <a:latin typeface="Calibri"/>
                        </a:rPr>
                        <a:t>Foam</a:t>
                      </a:r>
                      <a:endParaRPr sz="1100"/>
                    </a:p>
                    <a:p>
                      <a:pPr algn="ctr"/>
                      <a:r>
                        <a:rPr sz="1100" b="1">
                          <a:solidFill>
                            <a:srgbClr val="0E2A5C"/>
                          </a:solidFill>
                          <a:latin typeface="Calibri"/>
                        </a:rPr>
                        <a:t>Cushions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Pouches &amp;</a:t>
                      </a:r>
                      <a:endParaRPr sz="1100"/>
                    </a:p>
                    <a:p>
                      <a:pPr algn="ctr"/>
                      <a:r>
                        <a:rPr sz="1100" b="1">
                          <a:solidFill>
                            <a:srgbClr val="0E2A5C"/>
                          </a:solidFill>
                          <a:latin typeface="Calibri"/>
                        </a:rPr>
                        <a:t>Bags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Sleeves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Packing</a:t>
                      </a:r>
                      <a:endParaRPr sz="1100"/>
                    </a:p>
                    <a:p>
                      <a:pPr algn="ctr"/>
                      <a:r>
                        <a:rPr sz="1100" b="1">
                          <a:solidFill>
                            <a:srgbClr val="0E2A5C"/>
                          </a:solidFill>
                          <a:latin typeface="Calibri"/>
                        </a:rPr>
                        <a:t>Peanuts /</a:t>
                      </a:r>
                      <a:endParaRPr sz="1100"/>
                    </a:p>
                    <a:p>
                      <a:pPr algn="ctr"/>
                      <a:r>
                        <a:rPr sz="1100" b="1">
                          <a:solidFill>
                            <a:srgbClr val="0E2A5C"/>
                          </a:solidFill>
                          <a:latin typeface="Calibri"/>
                        </a:rPr>
                        <a:t>Loose-Fill</a:t>
                      </a:r>
                      <a:endParaRPr sz="1100"/>
                    </a:p>
                    <a:p>
                      <a:pPr algn="ctr"/>
                      <a:r>
                        <a:rPr sz="1100" b="1">
                          <a:solidFill>
                            <a:srgbClr val="0E2A5C"/>
                          </a:solidFill>
                          <a:latin typeface="Calibri"/>
                        </a:rPr>
                        <a:t>Shapes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246174">
                <a:tc vMerge="1">
                  <a:txBody>
                    <a:bodyPr wrap="none"/>
                    <a:lstStyle/>
                    <a:p>
                      <a:pPr algn="l"/>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r>
              <a:tr h="438960">
                <a:tc>
                  <a:txBody>
                    <a:bodyPr wrap="none"/>
                    <a:lstStyle/>
                    <a:p>
                      <a:pPr algn="l"/>
                      <a:r>
                        <a:rPr sz="1100" b="1">
                          <a:solidFill>
                            <a:srgbClr val="2E2E2E"/>
                          </a:solidFill>
                          <a:latin typeface="Calibri"/>
                        </a:rPr>
                        <a:t>Foam Sheets,</a:t>
                      </a:r>
                      <a:endParaRPr sz="1100"/>
                    </a:p>
                    <a:p>
                      <a:pPr algn="l"/>
                      <a:r>
                        <a:rPr sz="1100" b="1">
                          <a:solidFill>
                            <a:srgbClr val="2E2E2E"/>
                          </a:solidFill>
                          <a:latin typeface="Calibri"/>
                        </a:rPr>
                        <a:t>Rolls &amp; Planks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8960">
                <a:tc>
                  <a:txBody>
                    <a:bodyPr wrap="none"/>
                    <a:lstStyle/>
                    <a:p>
                      <a:pPr algn="l"/>
                      <a:r>
                        <a:rPr sz="1100" b="1">
                          <a:solidFill>
                            <a:srgbClr val="2E2E2E"/>
                          </a:solidFill>
                          <a:latin typeface="Calibri"/>
                        </a:rPr>
                        <a:t>Fabricated Foam</a:t>
                      </a:r>
                      <a:endParaRPr sz="1100"/>
                    </a:p>
                    <a:p>
                      <a:pPr algn="l"/>
                      <a:r>
                        <a:rPr sz="1100" b="1">
                          <a:solidFill>
                            <a:srgbClr val="2E2E2E"/>
                          </a:solidFill>
                          <a:latin typeface="Calibri"/>
                        </a:rPr>
                        <a:t>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8960">
                <a:tc>
                  <a:txBody>
                    <a:bodyPr wrap="none"/>
                    <a:lstStyle/>
                    <a:p>
                      <a:pPr algn="l"/>
                      <a:r>
                        <a:rPr sz="1100" b="1">
                          <a:solidFill>
                            <a:srgbClr val="2E2E2E"/>
                          </a:solidFill>
                          <a:latin typeface="Calibri"/>
                        </a:rPr>
                        <a:t>Molded Foam</a:t>
                      </a:r>
                      <a:endParaRPr sz="1100"/>
                    </a:p>
                    <a:p>
                      <a:pPr algn="l"/>
                      <a:r>
                        <a:rPr sz="1100" b="1">
                          <a:solidFill>
                            <a:srgbClr val="2E2E2E"/>
                          </a:solidFill>
                          <a:latin typeface="Calibri"/>
                        </a:rPr>
                        <a:t>Packaging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8960">
                <a:tc>
                  <a:txBody>
                    <a:bodyPr wrap="none"/>
                    <a:lstStyle/>
                    <a:p>
                      <a:pPr algn="l"/>
                      <a:r>
                        <a:rPr sz="1100" b="1">
                          <a:solidFill>
                            <a:srgbClr val="2E2E2E"/>
                          </a:solidFill>
                          <a:latin typeface="Calibri"/>
                        </a:rPr>
                        <a:t>Foam-in-Place</a:t>
                      </a:r>
                      <a:endParaRPr sz="1100"/>
                    </a:p>
                    <a:p>
                      <a:pPr algn="l"/>
                      <a:r>
                        <a:rPr sz="1100" b="1">
                          <a:solidFill>
                            <a:srgbClr val="2E2E2E"/>
                          </a:solidFill>
                          <a:latin typeface="Calibri"/>
                        </a:rPr>
                        <a:t>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8960">
                <a:tc>
                  <a:txBody>
                    <a:bodyPr wrap="none"/>
                    <a:lstStyle/>
                    <a:p>
                      <a:pPr algn="l"/>
                      <a:r>
                        <a:rPr sz="1100" b="1">
                          <a:solidFill>
                            <a:srgbClr val="2E2E2E"/>
                          </a:solidFill>
                          <a:latin typeface="Calibri"/>
                        </a:rPr>
                        <a:t>Foam Pouches,</a:t>
                      </a:r>
                      <a:endParaRPr sz="1100"/>
                    </a:p>
                    <a:p>
                      <a:pPr algn="l"/>
                      <a:r>
                        <a:rPr sz="1100" b="1">
                          <a:solidFill>
                            <a:srgbClr val="2E2E2E"/>
                          </a:solidFill>
                          <a:latin typeface="Calibri"/>
                        </a:rPr>
                        <a:t>Bags &amp; Sleeves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8960">
                <a:tc>
                  <a:txBody>
                    <a:bodyPr wrap="none"/>
                    <a:lstStyle/>
                    <a:p>
                      <a:pPr algn="l"/>
                      <a:r>
                        <a:rPr sz="1100" b="1">
                          <a:solidFill>
                            <a:srgbClr val="2E2E2E"/>
                          </a:solidFill>
                          <a:latin typeface="Calibri"/>
                        </a:rPr>
                        <a:t>Foam Loose-Fill</a:t>
                      </a:r>
                      <a:endParaRPr sz="1100"/>
                    </a:p>
                    <a:p>
                      <a:pPr algn="l"/>
                      <a:r>
                        <a:rPr sz="1100" b="1">
                          <a:solidFill>
                            <a:srgbClr val="2E2E2E"/>
                          </a:solidFill>
                          <a:latin typeface="Calibri"/>
                        </a:rPr>
                        <a:t>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174">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3911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452904" y="3674960"/>
            <a:ext cx="366712" cy="533400"/>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Product Form × End-use Industry, 2026E vs 2036F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product form sub-segment across end-use industry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Product Form → End-use Industry, 2036F (US$ Mn)</a:t>
            </a:r>
          </a:p>
        </p:txBody>
      </p:sp>
      <p:sp>
        <p:nvSpPr>
          <p:cNvPr id="9" name="Freeform 8"/>
          <p:cNvSpPr/>
          <p:nvPr/>
        </p:nvSpPr>
        <p:spPr>
          <a:xfrm>
            <a:off x="2057400" y="1476375"/>
            <a:ext cx="3743325" cy="1095375"/>
          </a:xfrm>
          <a:custGeom>
            <a:avLst/>
            <a:gdLst/>
            <a:ahLst/>
            <a:cxnLst/>
            <a:rect l="l" t="t" r="r" b="b"/>
            <a:pathLst>
              <a:path w="393" h="115">
                <a:moveTo>
                  <a:pt x="0" y="0"/>
                </a:moveTo>
                <a:lnTo>
                  <a:pt x="16" y="0"/>
                </a:lnTo>
                <a:lnTo>
                  <a:pt x="33" y="1"/>
                </a:lnTo>
                <a:lnTo>
                  <a:pt x="49" y="3"/>
                </a:lnTo>
                <a:lnTo>
                  <a:pt x="65" y="6"/>
                </a:lnTo>
                <a:lnTo>
                  <a:pt x="82" y="8"/>
                </a:lnTo>
                <a:lnTo>
                  <a:pt x="98" y="12"/>
                </a:lnTo>
                <a:lnTo>
                  <a:pt x="114" y="15"/>
                </a:lnTo>
                <a:lnTo>
                  <a:pt x="131" y="19"/>
                </a:lnTo>
                <a:lnTo>
                  <a:pt x="147" y="24"/>
                </a:lnTo>
                <a:lnTo>
                  <a:pt x="164" y="28"/>
                </a:lnTo>
                <a:lnTo>
                  <a:pt x="180" y="33"/>
                </a:lnTo>
                <a:lnTo>
                  <a:pt x="196" y="37"/>
                </a:lnTo>
                <a:lnTo>
                  <a:pt x="213" y="42"/>
                </a:lnTo>
                <a:lnTo>
                  <a:pt x="229" y="46"/>
                </a:lnTo>
                <a:lnTo>
                  <a:pt x="246" y="51"/>
                </a:lnTo>
                <a:lnTo>
                  <a:pt x="262" y="55"/>
                </a:lnTo>
                <a:lnTo>
                  <a:pt x="278" y="59"/>
                </a:lnTo>
                <a:lnTo>
                  <a:pt x="295" y="63"/>
                </a:lnTo>
                <a:lnTo>
                  <a:pt x="311" y="66"/>
                </a:lnTo>
                <a:lnTo>
                  <a:pt x="327" y="69"/>
                </a:lnTo>
                <a:lnTo>
                  <a:pt x="344" y="71"/>
                </a:lnTo>
                <a:lnTo>
                  <a:pt x="360" y="73"/>
                </a:lnTo>
                <a:lnTo>
                  <a:pt x="377" y="74"/>
                </a:lnTo>
                <a:lnTo>
                  <a:pt x="393" y="75"/>
                </a:lnTo>
                <a:lnTo>
                  <a:pt x="393" y="115"/>
                </a:lnTo>
                <a:lnTo>
                  <a:pt x="377" y="114"/>
                </a:lnTo>
                <a:lnTo>
                  <a:pt x="360" y="113"/>
                </a:lnTo>
                <a:lnTo>
                  <a:pt x="344" y="112"/>
                </a:lnTo>
                <a:lnTo>
                  <a:pt x="327" y="109"/>
                </a:lnTo>
                <a:lnTo>
                  <a:pt x="311" y="106"/>
                </a:lnTo>
                <a:lnTo>
                  <a:pt x="295" y="103"/>
                </a:lnTo>
                <a:lnTo>
                  <a:pt x="278" y="99"/>
                </a:lnTo>
                <a:lnTo>
                  <a:pt x="262" y="95"/>
                </a:lnTo>
                <a:lnTo>
                  <a:pt x="246" y="91"/>
                </a:lnTo>
                <a:lnTo>
                  <a:pt x="229" y="87"/>
                </a:lnTo>
                <a:lnTo>
                  <a:pt x="213" y="82"/>
                </a:lnTo>
                <a:lnTo>
                  <a:pt x="196" y="78"/>
                </a:lnTo>
                <a:lnTo>
                  <a:pt x="180" y="73"/>
                </a:lnTo>
                <a:lnTo>
                  <a:pt x="164" y="68"/>
                </a:lnTo>
                <a:lnTo>
                  <a:pt x="147" y="64"/>
                </a:lnTo>
                <a:lnTo>
                  <a:pt x="131" y="60"/>
                </a:lnTo>
                <a:lnTo>
                  <a:pt x="114" y="56"/>
                </a:lnTo>
                <a:lnTo>
                  <a:pt x="98" y="52"/>
                </a:lnTo>
                <a:lnTo>
                  <a:pt x="82" y="49"/>
                </a:lnTo>
                <a:lnTo>
                  <a:pt x="65" y="46"/>
                </a:lnTo>
                <a:lnTo>
                  <a:pt x="49" y="43"/>
                </a:lnTo>
                <a:lnTo>
                  <a:pt x="33" y="42"/>
                </a:lnTo>
                <a:lnTo>
                  <a:pt x="16" y="41"/>
                </a:lnTo>
                <a:lnTo>
                  <a:pt x="0" y="4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057400" y="1857375"/>
            <a:ext cx="3743325" cy="1152525"/>
          </a:xfrm>
          <a:custGeom>
            <a:avLst/>
            <a:gdLst/>
            <a:ahLst/>
            <a:cxnLst/>
            <a:rect l="l" t="t" r="r" b="b"/>
            <a:pathLst>
              <a:path w="393" h="121">
                <a:moveTo>
                  <a:pt x="0" y="0"/>
                </a:moveTo>
                <a:lnTo>
                  <a:pt x="16" y="1"/>
                </a:lnTo>
                <a:lnTo>
                  <a:pt x="33" y="2"/>
                </a:lnTo>
                <a:lnTo>
                  <a:pt x="49" y="4"/>
                </a:lnTo>
                <a:lnTo>
                  <a:pt x="65" y="6"/>
                </a:lnTo>
                <a:lnTo>
                  <a:pt x="82" y="9"/>
                </a:lnTo>
                <a:lnTo>
                  <a:pt x="98" y="13"/>
                </a:lnTo>
                <a:lnTo>
                  <a:pt x="114" y="17"/>
                </a:lnTo>
                <a:lnTo>
                  <a:pt x="131" y="21"/>
                </a:lnTo>
                <a:lnTo>
                  <a:pt x="147" y="26"/>
                </a:lnTo>
                <a:lnTo>
                  <a:pt x="164" y="31"/>
                </a:lnTo>
                <a:lnTo>
                  <a:pt x="180" y="35"/>
                </a:lnTo>
                <a:lnTo>
                  <a:pt x="196" y="41"/>
                </a:lnTo>
                <a:lnTo>
                  <a:pt x="213" y="46"/>
                </a:lnTo>
                <a:lnTo>
                  <a:pt x="229" y="50"/>
                </a:lnTo>
                <a:lnTo>
                  <a:pt x="246" y="55"/>
                </a:lnTo>
                <a:lnTo>
                  <a:pt x="262" y="60"/>
                </a:lnTo>
                <a:lnTo>
                  <a:pt x="278" y="64"/>
                </a:lnTo>
                <a:lnTo>
                  <a:pt x="295" y="68"/>
                </a:lnTo>
                <a:lnTo>
                  <a:pt x="311" y="72"/>
                </a:lnTo>
                <a:lnTo>
                  <a:pt x="327" y="75"/>
                </a:lnTo>
                <a:lnTo>
                  <a:pt x="344" y="77"/>
                </a:lnTo>
                <a:lnTo>
                  <a:pt x="360" y="79"/>
                </a:lnTo>
                <a:lnTo>
                  <a:pt x="377" y="80"/>
                </a:lnTo>
                <a:lnTo>
                  <a:pt x="393" y="81"/>
                </a:lnTo>
                <a:lnTo>
                  <a:pt x="393" y="121"/>
                </a:lnTo>
                <a:lnTo>
                  <a:pt x="377" y="121"/>
                </a:lnTo>
                <a:lnTo>
                  <a:pt x="360" y="119"/>
                </a:lnTo>
                <a:lnTo>
                  <a:pt x="344" y="118"/>
                </a:lnTo>
                <a:lnTo>
                  <a:pt x="327" y="115"/>
                </a:lnTo>
                <a:lnTo>
                  <a:pt x="311" y="112"/>
                </a:lnTo>
                <a:lnTo>
                  <a:pt x="295" y="108"/>
                </a:lnTo>
                <a:lnTo>
                  <a:pt x="278" y="104"/>
                </a:lnTo>
                <a:lnTo>
                  <a:pt x="262" y="100"/>
                </a:lnTo>
                <a:lnTo>
                  <a:pt x="246" y="96"/>
                </a:lnTo>
                <a:lnTo>
                  <a:pt x="229" y="91"/>
                </a:lnTo>
                <a:lnTo>
                  <a:pt x="213" y="86"/>
                </a:lnTo>
                <a:lnTo>
                  <a:pt x="196" y="81"/>
                </a:lnTo>
                <a:lnTo>
                  <a:pt x="180" y="76"/>
                </a:lnTo>
                <a:lnTo>
                  <a:pt x="164" y="71"/>
                </a:lnTo>
                <a:lnTo>
                  <a:pt x="147" y="66"/>
                </a:lnTo>
                <a:lnTo>
                  <a:pt x="131" y="61"/>
                </a:lnTo>
                <a:lnTo>
                  <a:pt x="114" y="57"/>
                </a:lnTo>
                <a:lnTo>
                  <a:pt x="98" y="53"/>
                </a:lnTo>
                <a:lnTo>
                  <a:pt x="82" y="50"/>
                </a:lnTo>
                <a:lnTo>
                  <a:pt x="65" y="46"/>
                </a:lnTo>
                <a:lnTo>
                  <a:pt x="49" y="44"/>
                </a:lnTo>
                <a:lnTo>
                  <a:pt x="33" y="42"/>
                </a:lnTo>
                <a:lnTo>
                  <a:pt x="16" y="41"/>
                </a:lnTo>
                <a:lnTo>
                  <a:pt x="0" y="40"/>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057400" y="2238375"/>
            <a:ext cx="3743325" cy="1209675"/>
          </a:xfrm>
          <a:custGeom>
            <a:avLst/>
            <a:gdLst/>
            <a:ahLst/>
            <a:cxnLst/>
            <a:rect l="l" t="t" r="r" b="b"/>
            <a:pathLst>
              <a:path w="393" h="127">
                <a:moveTo>
                  <a:pt x="0" y="0"/>
                </a:moveTo>
                <a:lnTo>
                  <a:pt x="16" y="1"/>
                </a:lnTo>
                <a:lnTo>
                  <a:pt x="33" y="2"/>
                </a:lnTo>
                <a:lnTo>
                  <a:pt x="49" y="4"/>
                </a:lnTo>
                <a:lnTo>
                  <a:pt x="65" y="7"/>
                </a:lnTo>
                <a:lnTo>
                  <a:pt x="82" y="10"/>
                </a:lnTo>
                <a:lnTo>
                  <a:pt x="98" y="14"/>
                </a:lnTo>
                <a:lnTo>
                  <a:pt x="114" y="18"/>
                </a:lnTo>
                <a:lnTo>
                  <a:pt x="131" y="23"/>
                </a:lnTo>
                <a:lnTo>
                  <a:pt x="147" y="28"/>
                </a:lnTo>
                <a:lnTo>
                  <a:pt x="164" y="33"/>
                </a:lnTo>
                <a:lnTo>
                  <a:pt x="180" y="38"/>
                </a:lnTo>
                <a:lnTo>
                  <a:pt x="196" y="44"/>
                </a:lnTo>
                <a:lnTo>
                  <a:pt x="213" y="49"/>
                </a:lnTo>
                <a:lnTo>
                  <a:pt x="229" y="54"/>
                </a:lnTo>
                <a:lnTo>
                  <a:pt x="246" y="60"/>
                </a:lnTo>
                <a:lnTo>
                  <a:pt x="262" y="65"/>
                </a:lnTo>
                <a:lnTo>
                  <a:pt x="278" y="69"/>
                </a:lnTo>
                <a:lnTo>
                  <a:pt x="295" y="73"/>
                </a:lnTo>
                <a:lnTo>
                  <a:pt x="311" y="77"/>
                </a:lnTo>
                <a:lnTo>
                  <a:pt x="327" y="81"/>
                </a:lnTo>
                <a:lnTo>
                  <a:pt x="344" y="83"/>
                </a:lnTo>
                <a:lnTo>
                  <a:pt x="360" y="85"/>
                </a:lnTo>
                <a:lnTo>
                  <a:pt x="377" y="87"/>
                </a:lnTo>
                <a:lnTo>
                  <a:pt x="393" y="87"/>
                </a:lnTo>
                <a:lnTo>
                  <a:pt x="393" y="127"/>
                </a:lnTo>
                <a:lnTo>
                  <a:pt x="377" y="127"/>
                </a:lnTo>
                <a:lnTo>
                  <a:pt x="360" y="126"/>
                </a:lnTo>
                <a:lnTo>
                  <a:pt x="344" y="124"/>
                </a:lnTo>
                <a:lnTo>
                  <a:pt x="327" y="121"/>
                </a:lnTo>
                <a:lnTo>
                  <a:pt x="311" y="118"/>
                </a:lnTo>
                <a:lnTo>
                  <a:pt x="295" y="114"/>
                </a:lnTo>
                <a:lnTo>
                  <a:pt x="278" y="109"/>
                </a:lnTo>
                <a:lnTo>
                  <a:pt x="262" y="105"/>
                </a:lnTo>
                <a:lnTo>
                  <a:pt x="246" y="100"/>
                </a:lnTo>
                <a:lnTo>
                  <a:pt x="229" y="95"/>
                </a:lnTo>
                <a:lnTo>
                  <a:pt x="213" y="89"/>
                </a:lnTo>
                <a:lnTo>
                  <a:pt x="196" y="84"/>
                </a:lnTo>
                <a:lnTo>
                  <a:pt x="180" y="79"/>
                </a:lnTo>
                <a:lnTo>
                  <a:pt x="164" y="73"/>
                </a:lnTo>
                <a:lnTo>
                  <a:pt x="147" y="68"/>
                </a:lnTo>
                <a:lnTo>
                  <a:pt x="131" y="63"/>
                </a:lnTo>
                <a:lnTo>
                  <a:pt x="114" y="59"/>
                </a:lnTo>
                <a:lnTo>
                  <a:pt x="98" y="54"/>
                </a:lnTo>
                <a:lnTo>
                  <a:pt x="82" y="50"/>
                </a:lnTo>
                <a:lnTo>
                  <a:pt x="65" y="47"/>
                </a:lnTo>
                <a:lnTo>
                  <a:pt x="49" y="44"/>
                </a:lnTo>
                <a:lnTo>
                  <a:pt x="33" y="42"/>
                </a:lnTo>
                <a:lnTo>
                  <a:pt x="16" y="41"/>
                </a:lnTo>
                <a:lnTo>
                  <a:pt x="0" y="41"/>
                </a:lnTo>
                <a:close/>
              </a:path>
            </a:pathLst>
          </a:custGeom>
          <a:solidFill>
            <a:srgbClr val="2A5F8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057400" y="1304925"/>
            <a:ext cx="3743325" cy="1762125"/>
          </a:xfrm>
          <a:custGeom>
            <a:avLst/>
            <a:gdLst/>
            <a:ahLst/>
            <a:cxnLst/>
            <a:rect l="l" t="t" r="r" b="b"/>
            <a:pathLst>
              <a:path w="393" h="185">
                <a:moveTo>
                  <a:pt x="0" y="145"/>
                </a:moveTo>
                <a:lnTo>
                  <a:pt x="16" y="144"/>
                </a:lnTo>
                <a:lnTo>
                  <a:pt x="33" y="142"/>
                </a:lnTo>
                <a:lnTo>
                  <a:pt x="49" y="139"/>
                </a:lnTo>
                <a:lnTo>
                  <a:pt x="65" y="134"/>
                </a:lnTo>
                <a:lnTo>
                  <a:pt x="82" y="129"/>
                </a:lnTo>
                <a:lnTo>
                  <a:pt x="98" y="122"/>
                </a:lnTo>
                <a:lnTo>
                  <a:pt x="114" y="115"/>
                </a:lnTo>
                <a:lnTo>
                  <a:pt x="131" y="107"/>
                </a:lnTo>
                <a:lnTo>
                  <a:pt x="147" y="99"/>
                </a:lnTo>
                <a:lnTo>
                  <a:pt x="164" y="90"/>
                </a:lnTo>
                <a:lnTo>
                  <a:pt x="180" y="81"/>
                </a:lnTo>
                <a:lnTo>
                  <a:pt x="196" y="72"/>
                </a:lnTo>
                <a:lnTo>
                  <a:pt x="213" y="63"/>
                </a:lnTo>
                <a:lnTo>
                  <a:pt x="229" y="54"/>
                </a:lnTo>
                <a:lnTo>
                  <a:pt x="246" y="46"/>
                </a:lnTo>
                <a:lnTo>
                  <a:pt x="262" y="38"/>
                </a:lnTo>
                <a:lnTo>
                  <a:pt x="278" y="30"/>
                </a:lnTo>
                <a:lnTo>
                  <a:pt x="295" y="23"/>
                </a:lnTo>
                <a:lnTo>
                  <a:pt x="311" y="16"/>
                </a:lnTo>
                <a:lnTo>
                  <a:pt x="327" y="11"/>
                </a:lnTo>
                <a:lnTo>
                  <a:pt x="344" y="6"/>
                </a:lnTo>
                <a:lnTo>
                  <a:pt x="360" y="3"/>
                </a:lnTo>
                <a:lnTo>
                  <a:pt x="377" y="1"/>
                </a:lnTo>
                <a:lnTo>
                  <a:pt x="393" y="0"/>
                </a:lnTo>
                <a:lnTo>
                  <a:pt x="393" y="40"/>
                </a:lnTo>
                <a:lnTo>
                  <a:pt x="377" y="41"/>
                </a:lnTo>
                <a:lnTo>
                  <a:pt x="360" y="43"/>
                </a:lnTo>
                <a:lnTo>
                  <a:pt x="344" y="46"/>
                </a:lnTo>
                <a:lnTo>
                  <a:pt x="327" y="51"/>
                </a:lnTo>
                <a:lnTo>
                  <a:pt x="311" y="56"/>
                </a:lnTo>
                <a:lnTo>
                  <a:pt x="295" y="63"/>
                </a:lnTo>
                <a:lnTo>
                  <a:pt x="278" y="70"/>
                </a:lnTo>
                <a:lnTo>
                  <a:pt x="262" y="78"/>
                </a:lnTo>
                <a:lnTo>
                  <a:pt x="246" y="86"/>
                </a:lnTo>
                <a:lnTo>
                  <a:pt x="229" y="95"/>
                </a:lnTo>
                <a:lnTo>
                  <a:pt x="213" y="104"/>
                </a:lnTo>
                <a:lnTo>
                  <a:pt x="196" y="113"/>
                </a:lnTo>
                <a:lnTo>
                  <a:pt x="180" y="122"/>
                </a:lnTo>
                <a:lnTo>
                  <a:pt x="164" y="131"/>
                </a:lnTo>
                <a:lnTo>
                  <a:pt x="147" y="139"/>
                </a:lnTo>
                <a:lnTo>
                  <a:pt x="131" y="147"/>
                </a:lnTo>
                <a:lnTo>
                  <a:pt x="114" y="155"/>
                </a:lnTo>
                <a:lnTo>
                  <a:pt x="98" y="162"/>
                </a:lnTo>
                <a:lnTo>
                  <a:pt x="82" y="169"/>
                </a:lnTo>
                <a:lnTo>
                  <a:pt x="65" y="174"/>
                </a:lnTo>
                <a:lnTo>
                  <a:pt x="49" y="179"/>
                </a:lnTo>
                <a:lnTo>
                  <a:pt x="33" y="182"/>
                </a:lnTo>
                <a:lnTo>
                  <a:pt x="16" y="184"/>
                </a:lnTo>
                <a:lnTo>
                  <a:pt x="0" y="185"/>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743075"/>
            <a:ext cx="3743325" cy="1704975"/>
          </a:xfrm>
          <a:custGeom>
            <a:avLst/>
            <a:gdLst/>
            <a:ahLst/>
            <a:cxnLst/>
            <a:rect l="l" t="t" r="r" b="b"/>
            <a:pathLst>
              <a:path w="393" h="179">
                <a:moveTo>
                  <a:pt x="0" y="139"/>
                </a:moveTo>
                <a:lnTo>
                  <a:pt x="16" y="138"/>
                </a:lnTo>
                <a:lnTo>
                  <a:pt x="33" y="136"/>
                </a:lnTo>
                <a:lnTo>
                  <a:pt x="49" y="133"/>
                </a:lnTo>
                <a:lnTo>
                  <a:pt x="65" y="129"/>
                </a:lnTo>
                <a:lnTo>
                  <a:pt x="82" y="123"/>
                </a:lnTo>
                <a:lnTo>
                  <a:pt x="98" y="117"/>
                </a:lnTo>
                <a:lnTo>
                  <a:pt x="114" y="110"/>
                </a:lnTo>
                <a:lnTo>
                  <a:pt x="131" y="103"/>
                </a:lnTo>
                <a:lnTo>
                  <a:pt x="147" y="95"/>
                </a:lnTo>
                <a:lnTo>
                  <a:pt x="164" y="87"/>
                </a:lnTo>
                <a:lnTo>
                  <a:pt x="180" y="78"/>
                </a:lnTo>
                <a:lnTo>
                  <a:pt x="196" y="70"/>
                </a:lnTo>
                <a:lnTo>
                  <a:pt x="213" y="61"/>
                </a:lnTo>
                <a:lnTo>
                  <a:pt x="229" y="52"/>
                </a:lnTo>
                <a:lnTo>
                  <a:pt x="246" y="44"/>
                </a:lnTo>
                <a:lnTo>
                  <a:pt x="262" y="36"/>
                </a:lnTo>
                <a:lnTo>
                  <a:pt x="278" y="29"/>
                </a:lnTo>
                <a:lnTo>
                  <a:pt x="295" y="22"/>
                </a:lnTo>
                <a:lnTo>
                  <a:pt x="311" y="16"/>
                </a:lnTo>
                <a:lnTo>
                  <a:pt x="327" y="11"/>
                </a:lnTo>
                <a:lnTo>
                  <a:pt x="344" y="6"/>
                </a:lnTo>
                <a:lnTo>
                  <a:pt x="360" y="3"/>
                </a:lnTo>
                <a:lnTo>
                  <a:pt x="377" y="1"/>
                </a:lnTo>
                <a:lnTo>
                  <a:pt x="393" y="0"/>
                </a:lnTo>
                <a:lnTo>
                  <a:pt x="393" y="41"/>
                </a:lnTo>
                <a:lnTo>
                  <a:pt x="377" y="41"/>
                </a:lnTo>
                <a:lnTo>
                  <a:pt x="360" y="43"/>
                </a:lnTo>
                <a:lnTo>
                  <a:pt x="344" y="46"/>
                </a:lnTo>
                <a:lnTo>
                  <a:pt x="327" y="51"/>
                </a:lnTo>
                <a:lnTo>
                  <a:pt x="311" y="56"/>
                </a:lnTo>
                <a:lnTo>
                  <a:pt x="295" y="62"/>
                </a:lnTo>
                <a:lnTo>
                  <a:pt x="278" y="69"/>
                </a:lnTo>
                <a:lnTo>
                  <a:pt x="262" y="76"/>
                </a:lnTo>
                <a:lnTo>
                  <a:pt x="246" y="84"/>
                </a:lnTo>
                <a:lnTo>
                  <a:pt x="229" y="93"/>
                </a:lnTo>
                <a:lnTo>
                  <a:pt x="213" y="101"/>
                </a:lnTo>
                <a:lnTo>
                  <a:pt x="196" y="110"/>
                </a:lnTo>
                <a:lnTo>
                  <a:pt x="180" y="119"/>
                </a:lnTo>
                <a:lnTo>
                  <a:pt x="164" y="127"/>
                </a:lnTo>
                <a:lnTo>
                  <a:pt x="147" y="135"/>
                </a:lnTo>
                <a:lnTo>
                  <a:pt x="131" y="143"/>
                </a:lnTo>
                <a:lnTo>
                  <a:pt x="114" y="151"/>
                </a:lnTo>
                <a:lnTo>
                  <a:pt x="98" y="158"/>
                </a:lnTo>
                <a:lnTo>
                  <a:pt x="82" y="164"/>
                </a:lnTo>
                <a:lnTo>
                  <a:pt x="65" y="169"/>
                </a:lnTo>
                <a:lnTo>
                  <a:pt x="49" y="173"/>
                </a:lnTo>
                <a:lnTo>
                  <a:pt x="33" y="177"/>
                </a:lnTo>
                <a:lnTo>
                  <a:pt x="16" y="179"/>
                </a:lnTo>
                <a:lnTo>
                  <a:pt x="0" y="179"/>
                </a:lnTo>
                <a:close/>
              </a:path>
            </a:pathLst>
          </a:custGeom>
          <a:solidFill>
            <a:srgbClr val="0081E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3505200"/>
            <a:ext cx="3743325" cy="390525"/>
          </a:xfrm>
          <a:custGeom>
            <a:avLst/>
            <a:gdLst/>
            <a:ahLst/>
            <a:cxnLst/>
            <a:rect l="l" t="t" r="r" b="b"/>
            <a:pathLst>
              <a:path w="393" h="4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41"/>
                </a:lnTo>
                <a:lnTo>
                  <a:pt x="377" y="41"/>
                </a:lnTo>
                <a:lnTo>
                  <a:pt x="360" y="41"/>
                </a:lnTo>
                <a:lnTo>
                  <a:pt x="344" y="41"/>
                </a:lnTo>
                <a:lnTo>
                  <a:pt x="327" y="41"/>
                </a:lnTo>
                <a:lnTo>
                  <a:pt x="311" y="41"/>
                </a:lnTo>
                <a:lnTo>
                  <a:pt x="295" y="41"/>
                </a:lnTo>
                <a:lnTo>
                  <a:pt x="278" y="41"/>
                </a:lnTo>
                <a:lnTo>
                  <a:pt x="262" y="41"/>
                </a:lnTo>
                <a:lnTo>
                  <a:pt x="246" y="41"/>
                </a:lnTo>
                <a:lnTo>
                  <a:pt x="229" y="41"/>
                </a:lnTo>
                <a:lnTo>
                  <a:pt x="213" y="41"/>
                </a:lnTo>
                <a:lnTo>
                  <a:pt x="196" y="41"/>
                </a:lnTo>
                <a:lnTo>
                  <a:pt x="180" y="41"/>
                </a:lnTo>
                <a:lnTo>
                  <a:pt x="164" y="41"/>
                </a:lnTo>
                <a:lnTo>
                  <a:pt x="147" y="41"/>
                </a:lnTo>
                <a:lnTo>
                  <a:pt x="131" y="41"/>
                </a:lnTo>
                <a:lnTo>
                  <a:pt x="114" y="41"/>
                </a:lnTo>
                <a:lnTo>
                  <a:pt x="98" y="41"/>
                </a:lnTo>
                <a:lnTo>
                  <a:pt x="82" y="41"/>
                </a:lnTo>
                <a:lnTo>
                  <a:pt x="65" y="41"/>
                </a:lnTo>
                <a:lnTo>
                  <a:pt x="49" y="41"/>
                </a:lnTo>
                <a:lnTo>
                  <a:pt x="33" y="41"/>
                </a:lnTo>
                <a:lnTo>
                  <a:pt x="16" y="41"/>
                </a:lnTo>
                <a:lnTo>
                  <a:pt x="0" y="41"/>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3895725"/>
            <a:ext cx="3743325" cy="438150"/>
          </a:xfrm>
          <a:custGeom>
            <a:avLst/>
            <a:gdLst/>
            <a:ahLst/>
            <a:cxnLst/>
            <a:rect l="l" t="t" r="r" b="b"/>
            <a:pathLst>
              <a:path w="393" h="46">
                <a:moveTo>
                  <a:pt x="0" y="0"/>
                </a:moveTo>
                <a:lnTo>
                  <a:pt x="16" y="0"/>
                </a:lnTo>
                <a:lnTo>
                  <a:pt x="33" y="0"/>
                </a:lnTo>
                <a:lnTo>
                  <a:pt x="49" y="0"/>
                </a:lnTo>
                <a:lnTo>
                  <a:pt x="65" y="0"/>
                </a:lnTo>
                <a:lnTo>
                  <a:pt x="82" y="0"/>
                </a:lnTo>
                <a:lnTo>
                  <a:pt x="98" y="0"/>
                </a:lnTo>
                <a:lnTo>
                  <a:pt x="114" y="1"/>
                </a:lnTo>
                <a:lnTo>
                  <a:pt x="131" y="1"/>
                </a:lnTo>
                <a:lnTo>
                  <a:pt x="147" y="1"/>
                </a:lnTo>
                <a:lnTo>
                  <a:pt x="164" y="2"/>
                </a:lnTo>
                <a:lnTo>
                  <a:pt x="180" y="2"/>
                </a:lnTo>
                <a:lnTo>
                  <a:pt x="196" y="3"/>
                </a:lnTo>
                <a:lnTo>
                  <a:pt x="213" y="3"/>
                </a:lnTo>
                <a:lnTo>
                  <a:pt x="229" y="3"/>
                </a:lnTo>
                <a:lnTo>
                  <a:pt x="246" y="4"/>
                </a:lnTo>
                <a:lnTo>
                  <a:pt x="262" y="4"/>
                </a:lnTo>
                <a:lnTo>
                  <a:pt x="278" y="4"/>
                </a:lnTo>
                <a:lnTo>
                  <a:pt x="295" y="5"/>
                </a:lnTo>
                <a:lnTo>
                  <a:pt x="311" y="5"/>
                </a:lnTo>
                <a:lnTo>
                  <a:pt x="327" y="5"/>
                </a:lnTo>
                <a:lnTo>
                  <a:pt x="344" y="5"/>
                </a:lnTo>
                <a:lnTo>
                  <a:pt x="360" y="5"/>
                </a:lnTo>
                <a:lnTo>
                  <a:pt x="377" y="5"/>
                </a:lnTo>
                <a:lnTo>
                  <a:pt x="393" y="6"/>
                </a:lnTo>
                <a:lnTo>
                  <a:pt x="393" y="46"/>
                </a:lnTo>
                <a:lnTo>
                  <a:pt x="377" y="46"/>
                </a:lnTo>
                <a:lnTo>
                  <a:pt x="360" y="46"/>
                </a:lnTo>
                <a:lnTo>
                  <a:pt x="344" y="45"/>
                </a:lnTo>
                <a:lnTo>
                  <a:pt x="327" y="45"/>
                </a:lnTo>
                <a:lnTo>
                  <a:pt x="311" y="45"/>
                </a:lnTo>
                <a:lnTo>
                  <a:pt x="295" y="45"/>
                </a:lnTo>
                <a:lnTo>
                  <a:pt x="278" y="45"/>
                </a:lnTo>
                <a:lnTo>
                  <a:pt x="262" y="44"/>
                </a:lnTo>
                <a:lnTo>
                  <a:pt x="246" y="44"/>
                </a:lnTo>
                <a:lnTo>
                  <a:pt x="229" y="43"/>
                </a:lnTo>
                <a:lnTo>
                  <a:pt x="213" y="43"/>
                </a:lnTo>
                <a:lnTo>
                  <a:pt x="196" y="43"/>
                </a:lnTo>
                <a:lnTo>
                  <a:pt x="180" y="42"/>
                </a:lnTo>
                <a:lnTo>
                  <a:pt x="164" y="42"/>
                </a:lnTo>
                <a:lnTo>
                  <a:pt x="147" y="42"/>
                </a:lnTo>
                <a:lnTo>
                  <a:pt x="131" y="41"/>
                </a:lnTo>
                <a:lnTo>
                  <a:pt x="114" y="41"/>
                </a:lnTo>
                <a:lnTo>
                  <a:pt x="98" y="41"/>
                </a:lnTo>
                <a:lnTo>
                  <a:pt x="82" y="40"/>
                </a:lnTo>
                <a:lnTo>
                  <a:pt x="65" y="40"/>
                </a:lnTo>
                <a:lnTo>
                  <a:pt x="49" y="40"/>
                </a:lnTo>
                <a:lnTo>
                  <a:pt x="33" y="40"/>
                </a:lnTo>
                <a:lnTo>
                  <a:pt x="16" y="40"/>
                </a:lnTo>
                <a:lnTo>
                  <a:pt x="0" y="40"/>
                </a:lnTo>
                <a:close/>
              </a:path>
            </a:pathLst>
          </a:custGeom>
          <a:solidFill>
            <a:srgbClr val="0E2A5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4333875"/>
            <a:ext cx="3743325" cy="438150"/>
          </a:xfrm>
          <a:custGeom>
            <a:avLst/>
            <a:gdLst/>
            <a:ahLst/>
            <a:cxnLst/>
            <a:rect l="l" t="t" r="r" b="b"/>
            <a:pathLst>
              <a:path w="393" h="46">
                <a:moveTo>
                  <a:pt x="0" y="0"/>
                </a:moveTo>
                <a:lnTo>
                  <a:pt x="16" y="0"/>
                </a:lnTo>
                <a:lnTo>
                  <a:pt x="33" y="0"/>
                </a:lnTo>
                <a:lnTo>
                  <a:pt x="49" y="0"/>
                </a:lnTo>
                <a:lnTo>
                  <a:pt x="65" y="0"/>
                </a:lnTo>
                <a:lnTo>
                  <a:pt x="82" y="0"/>
                </a:lnTo>
                <a:lnTo>
                  <a:pt x="98" y="1"/>
                </a:lnTo>
                <a:lnTo>
                  <a:pt x="114" y="1"/>
                </a:lnTo>
                <a:lnTo>
                  <a:pt x="131" y="1"/>
                </a:lnTo>
                <a:lnTo>
                  <a:pt x="147" y="2"/>
                </a:lnTo>
                <a:lnTo>
                  <a:pt x="164" y="2"/>
                </a:lnTo>
                <a:lnTo>
                  <a:pt x="180" y="2"/>
                </a:lnTo>
                <a:lnTo>
                  <a:pt x="196" y="3"/>
                </a:lnTo>
                <a:lnTo>
                  <a:pt x="213" y="3"/>
                </a:lnTo>
                <a:lnTo>
                  <a:pt x="229" y="3"/>
                </a:lnTo>
                <a:lnTo>
                  <a:pt x="246" y="4"/>
                </a:lnTo>
                <a:lnTo>
                  <a:pt x="262" y="4"/>
                </a:lnTo>
                <a:lnTo>
                  <a:pt x="278" y="5"/>
                </a:lnTo>
                <a:lnTo>
                  <a:pt x="295" y="5"/>
                </a:lnTo>
                <a:lnTo>
                  <a:pt x="311" y="5"/>
                </a:lnTo>
                <a:lnTo>
                  <a:pt x="327" y="5"/>
                </a:lnTo>
                <a:lnTo>
                  <a:pt x="344" y="5"/>
                </a:lnTo>
                <a:lnTo>
                  <a:pt x="360" y="6"/>
                </a:lnTo>
                <a:lnTo>
                  <a:pt x="377" y="6"/>
                </a:lnTo>
                <a:lnTo>
                  <a:pt x="393" y="6"/>
                </a:lnTo>
                <a:lnTo>
                  <a:pt x="393" y="46"/>
                </a:lnTo>
                <a:lnTo>
                  <a:pt x="377" y="46"/>
                </a:lnTo>
                <a:lnTo>
                  <a:pt x="360" y="46"/>
                </a:lnTo>
                <a:lnTo>
                  <a:pt x="344" y="46"/>
                </a:lnTo>
                <a:lnTo>
                  <a:pt x="327" y="46"/>
                </a:lnTo>
                <a:lnTo>
                  <a:pt x="311" y="45"/>
                </a:lnTo>
                <a:lnTo>
                  <a:pt x="295" y="45"/>
                </a:lnTo>
                <a:lnTo>
                  <a:pt x="278" y="45"/>
                </a:lnTo>
                <a:lnTo>
                  <a:pt x="262" y="44"/>
                </a:lnTo>
                <a:lnTo>
                  <a:pt x="246" y="44"/>
                </a:lnTo>
                <a:lnTo>
                  <a:pt x="229" y="44"/>
                </a:lnTo>
                <a:lnTo>
                  <a:pt x="213" y="43"/>
                </a:lnTo>
                <a:lnTo>
                  <a:pt x="196" y="43"/>
                </a:lnTo>
                <a:lnTo>
                  <a:pt x="180" y="43"/>
                </a:lnTo>
                <a:lnTo>
                  <a:pt x="164" y="42"/>
                </a:lnTo>
                <a:lnTo>
                  <a:pt x="147" y="42"/>
                </a:lnTo>
                <a:lnTo>
                  <a:pt x="131" y="42"/>
                </a:lnTo>
                <a:lnTo>
                  <a:pt x="114" y="41"/>
                </a:lnTo>
                <a:lnTo>
                  <a:pt x="98" y="41"/>
                </a:lnTo>
                <a:lnTo>
                  <a:pt x="82" y="41"/>
                </a:lnTo>
                <a:lnTo>
                  <a:pt x="65" y="40"/>
                </a:lnTo>
                <a:lnTo>
                  <a:pt x="49" y="40"/>
                </a:lnTo>
                <a:lnTo>
                  <a:pt x="33" y="40"/>
                </a:lnTo>
                <a:lnTo>
                  <a:pt x="16" y="40"/>
                </a:lnTo>
                <a:lnTo>
                  <a:pt x="0" y="40"/>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714875"/>
            <a:ext cx="3743325" cy="495300"/>
          </a:xfrm>
          <a:custGeom>
            <a:avLst/>
            <a:gdLst/>
            <a:ahLst/>
            <a:cxnLst/>
            <a:rect l="l" t="t" r="r" b="b"/>
            <a:pathLst>
              <a:path w="393" h="52">
                <a:moveTo>
                  <a:pt x="0" y="0"/>
                </a:moveTo>
                <a:lnTo>
                  <a:pt x="16" y="0"/>
                </a:lnTo>
                <a:lnTo>
                  <a:pt x="33" y="0"/>
                </a:lnTo>
                <a:lnTo>
                  <a:pt x="49" y="1"/>
                </a:lnTo>
                <a:lnTo>
                  <a:pt x="65" y="1"/>
                </a:lnTo>
                <a:lnTo>
                  <a:pt x="82" y="1"/>
                </a:lnTo>
                <a:lnTo>
                  <a:pt x="98" y="2"/>
                </a:lnTo>
                <a:lnTo>
                  <a:pt x="114" y="2"/>
                </a:lnTo>
                <a:lnTo>
                  <a:pt x="131" y="3"/>
                </a:lnTo>
                <a:lnTo>
                  <a:pt x="147" y="4"/>
                </a:lnTo>
                <a:lnTo>
                  <a:pt x="164" y="5"/>
                </a:lnTo>
                <a:lnTo>
                  <a:pt x="180" y="5"/>
                </a:lnTo>
                <a:lnTo>
                  <a:pt x="196" y="6"/>
                </a:lnTo>
                <a:lnTo>
                  <a:pt x="213" y="7"/>
                </a:lnTo>
                <a:lnTo>
                  <a:pt x="229" y="7"/>
                </a:lnTo>
                <a:lnTo>
                  <a:pt x="246" y="8"/>
                </a:lnTo>
                <a:lnTo>
                  <a:pt x="262" y="9"/>
                </a:lnTo>
                <a:lnTo>
                  <a:pt x="278" y="10"/>
                </a:lnTo>
                <a:lnTo>
                  <a:pt x="295" y="10"/>
                </a:lnTo>
                <a:lnTo>
                  <a:pt x="311" y="11"/>
                </a:lnTo>
                <a:lnTo>
                  <a:pt x="327" y="11"/>
                </a:lnTo>
                <a:lnTo>
                  <a:pt x="344" y="11"/>
                </a:lnTo>
                <a:lnTo>
                  <a:pt x="360" y="12"/>
                </a:lnTo>
                <a:lnTo>
                  <a:pt x="377" y="12"/>
                </a:lnTo>
                <a:lnTo>
                  <a:pt x="393" y="12"/>
                </a:lnTo>
                <a:lnTo>
                  <a:pt x="393" y="52"/>
                </a:lnTo>
                <a:lnTo>
                  <a:pt x="377" y="52"/>
                </a:lnTo>
                <a:lnTo>
                  <a:pt x="360" y="52"/>
                </a:lnTo>
                <a:lnTo>
                  <a:pt x="344" y="52"/>
                </a:lnTo>
                <a:lnTo>
                  <a:pt x="327" y="51"/>
                </a:lnTo>
                <a:lnTo>
                  <a:pt x="311" y="51"/>
                </a:lnTo>
                <a:lnTo>
                  <a:pt x="295" y="50"/>
                </a:lnTo>
                <a:lnTo>
                  <a:pt x="278" y="50"/>
                </a:lnTo>
                <a:lnTo>
                  <a:pt x="262" y="49"/>
                </a:lnTo>
                <a:lnTo>
                  <a:pt x="246" y="48"/>
                </a:lnTo>
                <a:lnTo>
                  <a:pt x="229" y="48"/>
                </a:lnTo>
                <a:lnTo>
                  <a:pt x="213" y="47"/>
                </a:lnTo>
                <a:lnTo>
                  <a:pt x="196" y="46"/>
                </a:lnTo>
                <a:lnTo>
                  <a:pt x="180" y="46"/>
                </a:lnTo>
                <a:lnTo>
                  <a:pt x="164" y="45"/>
                </a:lnTo>
                <a:lnTo>
                  <a:pt x="147" y="44"/>
                </a:lnTo>
                <a:lnTo>
                  <a:pt x="131" y="43"/>
                </a:lnTo>
                <a:lnTo>
                  <a:pt x="114" y="43"/>
                </a:lnTo>
                <a:lnTo>
                  <a:pt x="98" y="42"/>
                </a:lnTo>
                <a:lnTo>
                  <a:pt x="82" y="42"/>
                </a:lnTo>
                <a:lnTo>
                  <a:pt x="65" y="41"/>
                </a:lnTo>
                <a:lnTo>
                  <a:pt x="49" y="41"/>
                </a:lnTo>
                <a:lnTo>
                  <a:pt x="33" y="40"/>
                </a:lnTo>
                <a:lnTo>
                  <a:pt x="16" y="40"/>
                </a:lnTo>
                <a:lnTo>
                  <a:pt x="0" y="40"/>
                </a:lnTo>
                <a:close/>
              </a:path>
            </a:pathLst>
          </a:custGeom>
          <a:solidFill>
            <a:srgbClr val="00ACA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5153025"/>
            <a:ext cx="3743325" cy="504825"/>
          </a:xfrm>
          <a:custGeom>
            <a:avLst/>
            <a:gdLst/>
            <a:ahLst/>
            <a:cxnLst/>
            <a:rect l="l" t="t" r="r" b="b"/>
            <a:pathLst>
              <a:path w="393" h="53">
                <a:moveTo>
                  <a:pt x="0" y="0"/>
                </a:moveTo>
                <a:lnTo>
                  <a:pt x="16" y="0"/>
                </a:lnTo>
                <a:lnTo>
                  <a:pt x="33" y="0"/>
                </a:lnTo>
                <a:lnTo>
                  <a:pt x="49" y="1"/>
                </a:lnTo>
                <a:lnTo>
                  <a:pt x="65" y="1"/>
                </a:lnTo>
                <a:lnTo>
                  <a:pt x="82" y="2"/>
                </a:lnTo>
                <a:lnTo>
                  <a:pt x="98" y="2"/>
                </a:lnTo>
                <a:lnTo>
                  <a:pt x="114" y="3"/>
                </a:lnTo>
                <a:lnTo>
                  <a:pt x="131" y="3"/>
                </a:lnTo>
                <a:lnTo>
                  <a:pt x="147" y="4"/>
                </a:lnTo>
                <a:lnTo>
                  <a:pt x="164" y="5"/>
                </a:lnTo>
                <a:lnTo>
                  <a:pt x="180" y="6"/>
                </a:lnTo>
                <a:lnTo>
                  <a:pt x="196" y="6"/>
                </a:lnTo>
                <a:lnTo>
                  <a:pt x="213" y="7"/>
                </a:lnTo>
                <a:lnTo>
                  <a:pt x="229" y="8"/>
                </a:lnTo>
                <a:lnTo>
                  <a:pt x="246" y="8"/>
                </a:lnTo>
                <a:lnTo>
                  <a:pt x="262" y="9"/>
                </a:lnTo>
                <a:lnTo>
                  <a:pt x="278" y="10"/>
                </a:lnTo>
                <a:lnTo>
                  <a:pt x="295" y="10"/>
                </a:lnTo>
                <a:lnTo>
                  <a:pt x="311" y="11"/>
                </a:lnTo>
                <a:lnTo>
                  <a:pt x="327" y="11"/>
                </a:lnTo>
                <a:lnTo>
                  <a:pt x="344" y="12"/>
                </a:lnTo>
                <a:lnTo>
                  <a:pt x="360" y="12"/>
                </a:lnTo>
                <a:lnTo>
                  <a:pt x="377" y="12"/>
                </a:lnTo>
                <a:lnTo>
                  <a:pt x="393" y="12"/>
                </a:lnTo>
                <a:lnTo>
                  <a:pt x="393" y="53"/>
                </a:lnTo>
                <a:lnTo>
                  <a:pt x="377" y="52"/>
                </a:lnTo>
                <a:lnTo>
                  <a:pt x="360" y="52"/>
                </a:lnTo>
                <a:lnTo>
                  <a:pt x="344" y="52"/>
                </a:lnTo>
                <a:lnTo>
                  <a:pt x="327" y="52"/>
                </a:lnTo>
                <a:lnTo>
                  <a:pt x="311" y="51"/>
                </a:lnTo>
                <a:lnTo>
                  <a:pt x="295" y="51"/>
                </a:lnTo>
                <a:lnTo>
                  <a:pt x="278" y="50"/>
                </a:lnTo>
                <a:lnTo>
                  <a:pt x="262" y="49"/>
                </a:lnTo>
                <a:lnTo>
                  <a:pt x="246" y="49"/>
                </a:lnTo>
                <a:lnTo>
                  <a:pt x="229" y="48"/>
                </a:lnTo>
                <a:lnTo>
                  <a:pt x="213" y="47"/>
                </a:lnTo>
                <a:lnTo>
                  <a:pt x="196" y="47"/>
                </a:lnTo>
                <a:lnTo>
                  <a:pt x="180" y="46"/>
                </a:lnTo>
                <a:lnTo>
                  <a:pt x="164" y="45"/>
                </a:lnTo>
                <a:lnTo>
                  <a:pt x="147" y="44"/>
                </a:lnTo>
                <a:lnTo>
                  <a:pt x="131" y="44"/>
                </a:lnTo>
                <a:lnTo>
                  <a:pt x="114" y="43"/>
                </a:lnTo>
                <a:lnTo>
                  <a:pt x="98" y="42"/>
                </a:lnTo>
                <a:lnTo>
                  <a:pt x="82" y="42"/>
                </a:lnTo>
                <a:lnTo>
                  <a:pt x="65" y="41"/>
                </a:lnTo>
                <a:lnTo>
                  <a:pt x="49" y="41"/>
                </a:lnTo>
                <a:lnTo>
                  <a:pt x="33" y="41"/>
                </a:lnTo>
                <a:lnTo>
                  <a:pt x="16" y="41"/>
                </a:lnTo>
                <a:lnTo>
                  <a:pt x="0" y="41"/>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5543550"/>
            <a:ext cx="3743325" cy="552450"/>
          </a:xfrm>
          <a:custGeom>
            <a:avLst/>
            <a:gdLst/>
            <a:ahLst/>
            <a:cxnLst/>
            <a:rect l="l" t="t" r="r" b="b"/>
            <a:pathLst>
              <a:path w="393" h="58">
                <a:moveTo>
                  <a:pt x="0" y="0"/>
                </a:moveTo>
                <a:lnTo>
                  <a:pt x="16" y="0"/>
                </a:lnTo>
                <a:lnTo>
                  <a:pt x="33" y="0"/>
                </a:lnTo>
                <a:lnTo>
                  <a:pt x="49" y="0"/>
                </a:lnTo>
                <a:lnTo>
                  <a:pt x="65" y="1"/>
                </a:lnTo>
                <a:lnTo>
                  <a:pt x="82" y="2"/>
                </a:lnTo>
                <a:lnTo>
                  <a:pt x="98" y="2"/>
                </a:lnTo>
                <a:lnTo>
                  <a:pt x="114" y="3"/>
                </a:lnTo>
                <a:lnTo>
                  <a:pt x="131" y="4"/>
                </a:lnTo>
                <a:lnTo>
                  <a:pt x="147" y="5"/>
                </a:lnTo>
                <a:lnTo>
                  <a:pt x="164" y="6"/>
                </a:lnTo>
                <a:lnTo>
                  <a:pt x="180" y="7"/>
                </a:lnTo>
                <a:lnTo>
                  <a:pt x="196" y="9"/>
                </a:lnTo>
                <a:lnTo>
                  <a:pt x="213" y="10"/>
                </a:lnTo>
                <a:lnTo>
                  <a:pt x="229" y="11"/>
                </a:lnTo>
                <a:lnTo>
                  <a:pt x="246" y="12"/>
                </a:lnTo>
                <a:lnTo>
                  <a:pt x="262" y="13"/>
                </a:lnTo>
                <a:lnTo>
                  <a:pt x="278" y="14"/>
                </a:lnTo>
                <a:lnTo>
                  <a:pt x="295" y="15"/>
                </a:lnTo>
                <a:lnTo>
                  <a:pt x="311" y="15"/>
                </a:lnTo>
                <a:lnTo>
                  <a:pt x="327" y="16"/>
                </a:lnTo>
                <a:lnTo>
                  <a:pt x="344" y="17"/>
                </a:lnTo>
                <a:lnTo>
                  <a:pt x="360" y="17"/>
                </a:lnTo>
                <a:lnTo>
                  <a:pt x="377" y="17"/>
                </a:lnTo>
                <a:lnTo>
                  <a:pt x="393" y="18"/>
                </a:lnTo>
                <a:lnTo>
                  <a:pt x="393" y="58"/>
                </a:lnTo>
                <a:lnTo>
                  <a:pt x="377" y="58"/>
                </a:lnTo>
                <a:lnTo>
                  <a:pt x="360" y="57"/>
                </a:lnTo>
                <a:lnTo>
                  <a:pt x="344" y="57"/>
                </a:lnTo>
                <a:lnTo>
                  <a:pt x="327" y="56"/>
                </a:lnTo>
                <a:lnTo>
                  <a:pt x="311" y="56"/>
                </a:lnTo>
                <a:lnTo>
                  <a:pt x="295" y="55"/>
                </a:lnTo>
                <a:lnTo>
                  <a:pt x="278" y="54"/>
                </a:lnTo>
                <a:lnTo>
                  <a:pt x="262" y="53"/>
                </a:lnTo>
                <a:lnTo>
                  <a:pt x="246" y="52"/>
                </a:lnTo>
                <a:lnTo>
                  <a:pt x="229" y="51"/>
                </a:lnTo>
                <a:lnTo>
                  <a:pt x="213" y="50"/>
                </a:lnTo>
                <a:lnTo>
                  <a:pt x="196" y="49"/>
                </a:lnTo>
                <a:lnTo>
                  <a:pt x="180" y="48"/>
                </a:lnTo>
                <a:lnTo>
                  <a:pt x="164" y="47"/>
                </a:lnTo>
                <a:lnTo>
                  <a:pt x="147" y="45"/>
                </a:lnTo>
                <a:lnTo>
                  <a:pt x="131" y="44"/>
                </a:lnTo>
                <a:lnTo>
                  <a:pt x="114" y="43"/>
                </a:lnTo>
                <a:lnTo>
                  <a:pt x="98" y="43"/>
                </a:lnTo>
                <a:lnTo>
                  <a:pt x="82" y="42"/>
                </a:lnTo>
                <a:lnTo>
                  <a:pt x="65" y="41"/>
                </a:lnTo>
                <a:lnTo>
                  <a:pt x="49" y="41"/>
                </a:lnTo>
                <a:lnTo>
                  <a:pt x="33" y="40"/>
                </a:lnTo>
                <a:lnTo>
                  <a:pt x="16" y="40"/>
                </a:lnTo>
                <a:lnTo>
                  <a:pt x="0" y="40"/>
                </a:lnTo>
                <a:close/>
              </a:path>
            </a:pathLst>
          </a:custGeom>
          <a:solidFill>
            <a:srgbClr val="F4762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5981700"/>
            <a:ext cx="3743325" cy="552450"/>
          </a:xfrm>
          <a:custGeom>
            <a:avLst/>
            <a:gdLst/>
            <a:ahLst/>
            <a:cxnLst/>
            <a:rect l="l" t="t" r="r" b="b"/>
            <a:pathLst>
              <a:path w="393" h="58">
                <a:moveTo>
                  <a:pt x="0" y="0"/>
                </a:moveTo>
                <a:lnTo>
                  <a:pt x="16" y="0"/>
                </a:lnTo>
                <a:lnTo>
                  <a:pt x="33" y="0"/>
                </a:lnTo>
                <a:lnTo>
                  <a:pt x="49" y="1"/>
                </a:lnTo>
                <a:lnTo>
                  <a:pt x="65" y="1"/>
                </a:lnTo>
                <a:lnTo>
                  <a:pt x="82" y="2"/>
                </a:lnTo>
                <a:lnTo>
                  <a:pt x="98" y="3"/>
                </a:lnTo>
                <a:lnTo>
                  <a:pt x="114" y="3"/>
                </a:lnTo>
                <a:lnTo>
                  <a:pt x="131" y="4"/>
                </a:lnTo>
                <a:lnTo>
                  <a:pt x="147" y="5"/>
                </a:lnTo>
                <a:lnTo>
                  <a:pt x="164" y="7"/>
                </a:lnTo>
                <a:lnTo>
                  <a:pt x="180" y="8"/>
                </a:lnTo>
                <a:lnTo>
                  <a:pt x="196" y="9"/>
                </a:lnTo>
                <a:lnTo>
                  <a:pt x="213" y="10"/>
                </a:lnTo>
                <a:lnTo>
                  <a:pt x="229" y="11"/>
                </a:lnTo>
                <a:lnTo>
                  <a:pt x="246" y="12"/>
                </a:lnTo>
                <a:lnTo>
                  <a:pt x="262" y="13"/>
                </a:lnTo>
                <a:lnTo>
                  <a:pt x="278" y="14"/>
                </a:lnTo>
                <a:lnTo>
                  <a:pt x="295" y="15"/>
                </a:lnTo>
                <a:lnTo>
                  <a:pt x="311" y="16"/>
                </a:lnTo>
                <a:lnTo>
                  <a:pt x="327" y="16"/>
                </a:lnTo>
                <a:lnTo>
                  <a:pt x="344" y="17"/>
                </a:lnTo>
                <a:lnTo>
                  <a:pt x="360" y="17"/>
                </a:lnTo>
                <a:lnTo>
                  <a:pt x="377" y="18"/>
                </a:lnTo>
                <a:lnTo>
                  <a:pt x="393" y="18"/>
                </a:lnTo>
                <a:lnTo>
                  <a:pt x="393" y="58"/>
                </a:lnTo>
                <a:lnTo>
                  <a:pt x="377" y="58"/>
                </a:lnTo>
                <a:lnTo>
                  <a:pt x="360" y="58"/>
                </a:lnTo>
                <a:lnTo>
                  <a:pt x="344" y="57"/>
                </a:lnTo>
                <a:lnTo>
                  <a:pt x="327" y="57"/>
                </a:lnTo>
                <a:lnTo>
                  <a:pt x="311" y="56"/>
                </a:lnTo>
                <a:lnTo>
                  <a:pt x="295" y="55"/>
                </a:lnTo>
                <a:lnTo>
                  <a:pt x="278" y="54"/>
                </a:lnTo>
                <a:lnTo>
                  <a:pt x="262" y="53"/>
                </a:lnTo>
                <a:lnTo>
                  <a:pt x="246" y="52"/>
                </a:lnTo>
                <a:lnTo>
                  <a:pt x="229" y="51"/>
                </a:lnTo>
                <a:lnTo>
                  <a:pt x="213" y="50"/>
                </a:lnTo>
                <a:lnTo>
                  <a:pt x="196" y="49"/>
                </a:lnTo>
                <a:lnTo>
                  <a:pt x="180" y="48"/>
                </a:lnTo>
                <a:lnTo>
                  <a:pt x="164" y="47"/>
                </a:lnTo>
                <a:lnTo>
                  <a:pt x="147" y="46"/>
                </a:lnTo>
                <a:lnTo>
                  <a:pt x="131" y="45"/>
                </a:lnTo>
                <a:lnTo>
                  <a:pt x="114" y="44"/>
                </a:lnTo>
                <a:lnTo>
                  <a:pt x="98" y="43"/>
                </a:lnTo>
                <a:lnTo>
                  <a:pt x="82" y="42"/>
                </a:lnTo>
                <a:lnTo>
                  <a:pt x="65" y="41"/>
                </a:lnTo>
                <a:lnTo>
                  <a:pt x="49" y="41"/>
                </a:lnTo>
                <a:lnTo>
                  <a:pt x="33" y="40"/>
                </a:lnTo>
                <a:lnTo>
                  <a:pt x="16" y="40"/>
                </a:lnTo>
                <a:lnTo>
                  <a:pt x="0" y="40"/>
                </a:lnTo>
                <a:close/>
              </a:path>
            </a:pathLst>
          </a:custGeom>
          <a:solidFill>
            <a:srgbClr val="79C3E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1195" y="1476375"/>
            <a:ext cx="114300" cy="1150143"/>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941195" y="2683668"/>
            <a:ext cx="114300" cy="76676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41195" y="3507583"/>
            <a:ext cx="114300" cy="766762"/>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41195" y="4331495"/>
            <a:ext cx="114300" cy="766762"/>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41195" y="5155407"/>
            <a:ext cx="114300" cy="766762"/>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41195" y="5979319"/>
            <a:ext cx="114300" cy="383381"/>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00725" y="1304925"/>
            <a:ext cx="114300" cy="38338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0725" y="1745459"/>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00725" y="2185990"/>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800725" y="2626521"/>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00725" y="3067052"/>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00725" y="3507583"/>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0725" y="3948114"/>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0725" y="4388645"/>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0725" y="4829176"/>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00725" y="5269707"/>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5710238"/>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6150769"/>
            <a:ext cx="114300" cy="3833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7175" y="198000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257175" y="299561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381952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257175" y="464343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257175" y="546735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TextBox 43"/>
          <p:cNvSpPr txBox="1"/>
          <p:nvPr/>
        </p:nvSpPr>
        <p:spPr>
          <a:xfrm>
            <a:off x="257175" y="6099572"/>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5" name="TextBox 44"/>
          <p:cNvSpPr txBox="1"/>
          <p:nvPr/>
        </p:nvSpPr>
        <p:spPr>
          <a:xfrm>
            <a:off x="5972175" y="142518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5972175" y="1865712"/>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5972175" y="2253856"/>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8" name="TextBox 47"/>
          <p:cNvSpPr txBox="1"/>
          <p:nvPr/>
        </p:nvSpPr>
        <p:spPr>
          <a:xfrm>
            <a:off x="5972175" y="2694387"/>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9" name="TextBox 48"/>
          <p:cNvSpPr txBox="1"/>
          <p:nvPr/>
        </p:nvSpPr>
        <p:spPr>
          <a:xfrm>
            <a:off x="5972175" y="3134918"/>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0" name="TextBox 49"/>
          <p:cNvSpPr txBox="1"/>
          <p:nvPr/>
        </p:nvSpPr>
        <p:spPr>
          <a:xfrm>
            <a:off x="5972175" y="3575449"/>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1" name="TextBox 50"/>
          <p:cNvSpPr txBox="1"/>
          <p:nvPr/>
        </p:nvSpPr>
        <p:spPr>
          <a:xfrm>
            <a:off x="5972175" y="401598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2" name="TextBox 51"/>
          <p:cNvSpPr txBox="1"/>
          <p:nvPr/>
        </p:nvSpPr>
        <p:spPr>
          <a:xfrm>
            <a:off x="5972175" y="445651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3" name="TextBox 52"/>
          <p:cNvSpPr txBox="1"/>
          <p:nvPr/>
        </p:nvSpPr>
        <p:spPr>
          <a:xfrm>
            <a:off x="5972175" y="4897042"/>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4" name="TextBox 53"/>
          <p:cNvSpPr txBox="1"/>
          <p:nvPr/>
        </p:nvSpPr>
        <p:spPr>
          <a:xfrm>
            <a:off x="5972175" y="5337573"/>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5" name="TextBox 54"/>
          <p:cNvSpPr txBox="1"/>
          <p:nvPr/>
        </p:nvSpPr>
        <p:spPr>
          <a:xfrm>
            <a:off x="5972175" y="577810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6" name="TextBox 55"/>
          <p:cNvSpPr txBox="1"/>
          <p:nvPr/>
        </p:nvSpPr>
        <p:spPr>
          <a:xfrm>
            <a:off x="5972175" y="6218635"/>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57" name="Rounded Rectangle 56"/>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59" name="Rectangle 58"/>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1" name="Rectangle 6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3" name="TextBox 62"/>
          <p:cNvSpPr txBox="1"/>
          <p:nvPr/>
        </p:nvSpPr>
        <p:spPr>
          <a:xfrm>
            <a:off x="617281" y="1991096"/>
            <a:ext cx="1213012" cy="139750"/>
          </a:xfrm>
          <a:prstGeom prst="rect">
            <a:avLst/>
          </a:prstGeom>
          <a:noFill/>
        </p:spPr>
        <p:txBody>
          <a:bodyPr wrap="none" lIns="0" rIns="0" tIns="0" bIns="0">
            <a:spAutoFit/>
          </a:bodyPr>
          <a:lstStyle/>
          <a:p>
            <a:r>
              <a:rPr sz="791" b="1">
                <a:solidFill>
                  <a:srgbClr val="2E2E2E"/>
                </a:solidFill>
                <a:latin typeface="Calibri"/>
              </a:rPr>
              <a:t>Fabricated Foam Packaging</a:t>
            </a:r>
          </a:p>
        </p:txBody>
      </p:sp>
      <p:pic>
        <p:nvPicPr>
          <p:cNvPr id="64" name="Picture 63" descr="lock.png"/>
          <p:cNvPicPr>
            <a:picLocks noChangeAspect="1"/>
          </p:cNvPicPr>
          <p:nvPr/>
        </p:nvPicPr>
        <p:blipFill>
          <a:blip r:embed="rId4"/>
          <a:stretch>
            <a:fillRect/>
          </a:stretch>
        </p:blipFill>
        <p:spPr>
          <a:xfrm>
            <a:off x="1771555" y="1984055"/>
            <a:ext cx="92663" cy="134782"/>
          </a:xfrm>
          <a:prstGeom prst="rect">
            <a:avLst/>
          </a:prstGeom>
        </p:spPr>
      </p:pic>
      <p:sp>
        <p:nvSpPr>
          <p:cNvPr id="65" name="TextBox 64"/>
          <p:cNvSpPr txBox="1"/>
          <p:nvPr/>
        </p:nvSpPr>
        <p:spPr>
          <a:xfrm>
            <a:off x="585609" y="3006700"/>
            <a:ext cx="1244684" cy="139750"/>
          </a:xfrm>
          <a:prstGeom prst="rect">
            <a:avLst/>
          </a:prstGeom>
          <a:noFill/>
        </p:spPr>
        <p:txBody>
          <a:bodyPr wrap="none" lIns="0" rIns="0" tIns="0" bIns="0">
            <a:spAutoFit/>
          </a:bodyPr>
          <a:lstStyle/>
          <a:p>
            <a:r>
              <a:rPr sz="791" b="1">
                <a:solidFill>
                  <a:srgbClr val="2E2E2E"/>
                </a:solidFill>
                <a:latin typeface="Calibri"/>
              </a:rPr>
              <a:t>Foam Sheets, Rolls &amp; Planks</a:t>
            </a:r>
          </a:p>
        </p:txBody>
      </p:sp>
      <p:pic>
        <p:nvPicPr>
          <p:cNvPr id="66" name="Picture 65" descr="lock.png"/>
          <p:cNvPicPr>
            <a:picLocks noChangeAspect="1"/>
          </p:cNvPicPr>
          <p:nvPr/>
        </p:nvPicPr>
        <p:blipFill>
          <a:blip r:embed="rId4"/>
          <a:stretch>
            <a:fillRect/>
          </a:stretch>
        </p:blipFill>
        <p:spPr>
          <a:xfrm>
            <a:off x="1771555" y="2999659"/>
            <a:ext cx="92663" cy="134782"/>
          </a:xfrm>
          <a:prstGeom prst="rect">
            <a:avLst/>
          </a:prstGeom>
        </p:spPr>
      </p:pic>
      <p:sp>
        <p:nvSpPr>
          <p:cNvPr id="67" name="TextBox 66"/>
          <p:cNvSpPr txBox="1"/>
          <p:nvPr/>
        </p:nvSpPr>
        <p:spPr>
          <a:xfrm>
            <a:off x="733538" y="3830614"/>
            <a:ext cx="1096755" cy="139750"/>
          </a:xfrm>
          <a:prstGeom prst="rect">
            <a:avLst/>
          </a:prstGeom>
          <a:noFill/>
        </p:spPr>
        <p:txBody>
          <a:bodyPr wrap="none" lIns="0" rIns="0" tIns="0" bIns="0">
            <a:spAutoFit/>
          </a:bodyPr>
          <a:lstStyle/>
          <a:p>
            <a:r>
              <a:rPr sz="791" b="1">
                <a:solidFill>
                  <a:srgbClr val="2E2E2E"/>
                </a:solidFill>
                <a:latin typeface="Calibri"/>
              </a:rPr>
              <a:t>Molded Foam Packaging</a:t>
            </a:r>
          </a:p>
        </p:txBody>
      </p:sp>
      <p:pic>
        <p:nvPicPr>
          <p:cNvPr id="68" name="Picture 67" descr="lock.png"/>
          <p:cNvPicPr>
            <a:picLocks noChangeAspect="1"/>
          </p:cNvPicPr>
          <p:nvPr/>
        </p:nvPicPr>
        <p:blipFill>
          <a:blip r:embed="rId4"/>
          <a:stretch>
            <a:fillRect/>
          </a:stretch>
        </p:blipFill>
        <p:spPr>
          <a:xfrm>
            <a:off x="1771555" y="3823573"/>
            <a:ext cx="92663" cy="134782"/>
          </a:xfrm>
          <a:prstGeom prst="rect">
            <a:avLst/>
          </a:prstGeom>
        </p:spPr>
      </p:pic>
      <p:sp>
        <p:nvSpPr>
          <p:cNvPr id="69" name="TextBox 68"/>
          <p:cNvSpPr txBox="1"/>
          <p:nvPr/>
        </p:nvSpPr>
        <p:spPr>
          <a:xfrm>
            <a:off x="720573" y="4654526"/>
            <a:ext cx="1109721" cy="139750"/>
          </a:xfrm>
          <a:prstGeom prst="rect">
            <a:avLst/>
          </a:prstGeom>
          <a:noFill/>
        </p:spPr>
        <p:txBody>
          <a:bodyPr wrap="none" lIns="0" rIns="0" tIns="0" bIns="0">
            <a:spAutoFit/>
          </a:bodyPr>
          <a:lstStyle/>
          <a:p>
            <a:r>
              <a:rPr sz="791" b="1">
                <a:solidFill>
                  <a:srgbClr val="2E2E2E"/>
                </a:solidFill>
                <a:latin typeface="Calibri"/>
              </a:rPr>
              <a:t>Foam-in-Place Packaging</a:t>
            </a:r>
          </a:p>
        </p:txBody>
      </p:sp>
      <p:pic>
        <p:nvPicPr>
          <p:cNvPr id="70" name="Picture 69" descr="lock.png"/>
          <p:cNvPicPr>
            <a:picLocks noChangeAspect="1"/>
          </p:cNvPicPr>
          <p:nvPr/>
        </p:nvPicPr>
        <p:blipFill>
          <a:blip r:embed="rId4"/>
          <a:stretch>
            <a:fillRect/>
          </a:stretch>
        </p:blipFill>
        <p:spPr>
          <a:xfrm>
            <a:off x="1771555" y="4647485"/>
            <a:ext cx="92663" cy="134782"/>
          </a:xfrm>
          <a:prstGeom prst="rect">
            <a:avLst/>
          </a:prstGeom>
        </p:spPr>
      </p:pic>
      <p:sp>
        <p:nvSpPr>
          <p:cNvPr id="71" name="TextBox 70"/>
          <p:cNvSpPr txBox="1"/>
          <p:nvPr/>
        </p:nvSpPr>
        <p:spPr>
          <a:xfrm>
            <a:off x="479917" y="5478438"/>
            <a:ext cx="1350376" cy="139750"/>
          </a:xfrm>
          <a:prstGeom prst="rect">
            <a:avLst/>
          </a:prstGeom>
          <a:noFill/>
        </p:spPr>
        <p:txBody>
          <a:bodyPr wrap="none" lIns="0" rIns="0" tIns="0" bIns="0">
            <a:spAutoFit/>
          </a:bodyPr>
          <a:lstStyle/>
          <a:p>
            <a:r>
              <a:rPr sz="791" b="1">
                <a:solidFill>
                  <a:srgbClr val="2E2E2E"/>
                </a:solidFill>
                <a:latin typeface="Calibri"/>
              </a:rPr>
              <a:t>Foam Pouches, Bags &amp; Sleeves</a:t>
            </a:r>
          </a:p>
        </p:txBody>
      </p:sp>
      <p:pic>
        <p:nvPicPr>
          <p:cNvPr id="72" name="Picture 71" descr="lock.png"/>
          <p:cNvPicPr>
            <a:picLocks noChangeAspect="1"/>
          </p:cNvPicPr>
          <p:nvPr/>
        </p:nvPicPr>
        <p:blipFill>
          <a:blip r:embed="rId4"/>
          <a:stretch>
            <a:fillRect/>
          </a:stretch>
        </p:blipFill>
        <p:spPr>
          <a:xfrm>
            <a:off x="1771555" y="5471397"/>
            <a:ext cx="92663" cy="134782"/>
          </a:xfrm>
          <a:prstGeom prst="rect">
            <a:avLst/>
          </a:prstGeom>
        </p:spPr>
      </p:pic>
      <p:sp>
        <p:nvSpPr>
          <p:cNvPr id="73" name="TextBox 72"/>
          <p:cNvSpPr txBox="1"/>
          <p:nvPr/>
        </p:nvSpPr>
        <p:spPr>
          <a:xfrm>
            <a:off x="666352" y="6110659"/>
            <a:ext cx="1163942" cy="139750"/>
          </a:xfrm>
          <a:prstGeom prst="rect">
            <a:avLst/>
          </a:prstGeom>
          <a:noFill/>
        </p:spPr>
        <p:txBody>
          <a:bodyPr wrap="none" lIns="0" rIns="0" tIns="0" bIns="0">
            <a:spAutoFit/>
          </a:bodyPr>
          <a:lstStyle/>
          <a:p>
            <a:r>
              <a:rPr sz="791" b="1">
                <a:solidFill>
                  <a:srgbClr val="2E2E2E"/>
                </a:solidFill>
                <a:latin typeface="Calibri"/>
              </a:rPr>
              <a:t>Foam Loose-Fill Packaging</a:t>
            </a:r>
          </a:p>
        </p:txBody>
      </p:sp>
      <p:pic>
        <p:nvPicPr>
          <p:cNvPr id="74" name="Picture 73" descr="lock.png"/>
          <p:cNvPicPr>
            <a:picLocks noChangeAspect="1"/>
          </p:cNvPicPr>
          <p:nvPr/>
        </p:nvPicPr>
        <p:blipFill>
          <a:blip r:embed="rId4"/>
          <a:stretch>
            <a:fillRect/>
          </a:stretch>
        </p:blipFill>
        <p:spPr>
          <a:xfrm>
            <a:off x="1771555" y="6103618"/>
            <a:ext cx="92663" cy="134782"/>
          </a:xfrm>
          <a:prstGeom prst="rect">
            <a:avLst/>
          </a:prstGeom>
        </p:spPr>
      </p:pic>
      <p:sp>
        <p:nvSpPr>
          <p:cNvPr id="75" name="TextBox 74"/>
          <p:cNvSpPr txBox="1"/>
          <p:nvPr/>
        </p:nvSpPr>
        <p:spPr>
          <a:xfrm>
            <a:off x="5972175" y="1436267"/>
            <a:ext cx="925448" cy="139750"/>
          </a:xfrm>
          <a:prstGeom prst="rect">
            <a:avLst/>
          </a:prstGeom>
          <a:noFill/>
        </p:spPr>
        <p:txBody>
          <a:bodyPr wrap="none" lIns="0" rIns="0" tIns="0" bIns="0">
            <a:spAutoFit/>
          </a:bodyPr>
          <a:lstStyle/>
          <a:p>
            <a:r>
              <a:rPr sz="791" b="1">
                <a:solidFill>
                  <a:srgbClr val="2E2E2E"/>
                </a:solidFill>
                <a:latin typeface="Calibri"/>
              </a:rPr>
              <a:t>Foam Sheets &amp; Rolls</a:t>
            </a:r>
          </a:p>
        </p:txBody>
      </p:sp>
      <p:pic>
        <p:nvPicPr>
          <p:cNvPr id="76" name="Picture 75" descr="lock.png"/>
          <p:cNvPicPr>
            <a:picLocks noChangeAspect="1"/>
          </p:cNvPicPr>
          <p:nvPr/>
        </p:nvPicPr>
        <p:blipFill>
          <a:blip r:embed="rId4"/>
          <a:stretch>
            <a:fillRect/>
          </a:stretch>
        </p:blipFill>
        <p:spPr>
          <a:xfrm>
            <a:off x="6838884" y="1429226"/>
            <a:ext cx="92663" cy="134782"/>
          </a:xfrm>
          <a:prstGeom prst="rect">
            <a:avLst/>
          </a:prstGeom>
        </p:spPr>
      </p:pic>
      <p:sp>
        <p:nvSpPr>
          <p:cNvPr id="77" name="TextBox 76"/>
          <p:cNvSpPr txBox="1"/>
          <p:nvPr/>
        </p:nvSpPr>
        <p:spPr>
          <a:xfrm>
            <a:off x="5972175" y="1876799"/>
            <a:ext cx="983402" cy="139750"/>
          </a:xfrm>
          <a:prstGeom prst="rect">
            <a:avLst/>
          </a:prstGeom>
          <a:noFill/>
        </p:spPr>
        <p:txBody>
          <a:bodyPr wrap="none" lIns="0" rIns="0" tIns="0" bIns="0">
            <a:spAutoFit/>
          </a:bodyPr>
          <a:lstStyle/>
          <a:p>
            <a:r>
              <a:rPr sz="791" b="1">
                <a:solidFill>
                  <a:srgbClr val="2E2E2E"/>
                </a:solidFill>
                <a:latin typeface="Calibri"/>
              </a:rPr>
              <a:t>Foam Planks &amp; Blocks</a:t>
            </a:r>
          </a:p>
        </p:txBody>
      </p:sp>
      <p:pic>
        <p:nvPicPr>
          <p:cNvPr id="78" name="Picture 77" descr="lock.png"/>
          <p:cNvPicPr>
            <a:picLocks noChangeAspect="1"/>
          </p:cNvPicPr>
          <p:nvPr/>
        </p:nvPicPr>
        <p:blipFill>
          <a:blip r:embed="rId4"/>
          <a:stretch>
            <a:fillRect/>
          </a:stretch>
        </p:blipFill>
        <p:spPr>
          <a:xfrm>
            <a:off x="6896838" y="1869758"/>
            <a:ext cx="92663" cy="134782"/>
          </a:xfrm>
          <a:prstGeom prst="rect">
            <a:avLst/>
          </a:prstGeom>
        </p:spPr>
      </p:pic>
      <p:sp>
        <p:nvSpPr>
          <p:cNvPr id="79" name="TextBox 78"/>
          <p:cNvSpPr txBox="1"/>
          <p:nvPr/>
        </p:nvSpPr>
        <p:spPr>
          <a:xfrm>
            <a:off x="5972175" y="2256980"/>
            <a:ext cx="1362075" cy="139750"/>
          </a:xfrm>
          <a:prstGeom prst="rect">
            <a:avLst/>
          </a:prstGeom>
          <a:noFill/>
        </p:spPr>
        <p:txBody>
          <a:bodyPr wrap="none" lIns="0" rIns="0" tIns="0" bIns="0">
            <a:spAutoFit/>
          </a:bodyPr>
          <a:lstStyle/>
          <a:p>
            <a:r>
              <a:rPr sz="791" b="1">
                <a:solidFill>
                  <a:srgbClr val="2E2E2E"/>
                </a:solidFill>
                <a:latin typeface="Calibri"/>
              </a:rPr>
              <a:t>Die-Cut / CNC-Cut Foam Inserts</a:t>
            </a:r>
          </a:p>
        </p:txBody>
      </p:sp>
      <p:sp>
        <p:nvSpPr>
          <p:cNvPr id="80" name="TextBox 79"/>
          <p:cNvSpPr txBox="1"/>
          <p:nvPr/>
        </p:nvSpPr>
        <p:spPr>
          <a:xfrm>
            <a:off x="5972175" y="2377681"/>
            <a:ext cx="367343" cy="139750"/>
          </a:xfrm>
          <a:prstGeom prst="rect">
            <a:avLst/>
          </a:prstGeom>
          <a:noFill/>
        </p:spPr>
        <p:txBody>
          <a:bodyPr wrap="none" lIns="0" rIns="0" tIns="0" bIns="0">
            <a:spAutoFit/>
          </a:bodyPr>
          <a:lstStyle/>
          <a:p>
            <a:r>
              <a:rPr sz="791" b="1">
                <a:solidFill>
                  <a:srgbClr val="2E2E2E"/>
                </a:solidFill>
                <a:latin typeface="Calibri"/>
              </a:rPr>
              <a:t>&amp; Pads</a:t>
            </a:r>
          </a:p>
        </p:txBody>
      </p:sp>
      <p:pic>
        <p:nvPicPr>
          <p:cNvPr id="81" name="Picture 80" descr="lock.png"/>
          <p:cNvPicPr>
            <a:picLocks noChangeAspect="1"/>
          </p:cNvPicPr>
          <p:nvPr/>
        </p:nvPicPr>
        <p:blipFill>
          <a:blip r:embed="rId4"/>
          <a:stretch>
            <a:fillRect/>
          </a:stretch>
        </p:blipFill>
        <p:spPr>
          <a:xfrm>
            <a:off x="6280779" y="2370640"/>
            <a:ext cx="92663" cy="134782"/>
          </a:xfrm>
          <a:prstGeom prst="rect">
            <a:avLst/>
          </a:prstGeom>
        </p:spPr>
      </p:pic>
      <p:sp>
        <p:nvSpPr>
          <p:cNvPr id="82" name="TextBox 81"/>
          <p:cNvSpPr txBox="1"/>
          <p:nvPr/>
        </p:nvSpPr>
        <p:spPr>
          <a:xfrm>
            <a:off x="5972175" y="2697511"/>
            <a:ext cx="1362075" cy="139750"/>
          </a:xfrm>
          <a:prstGeom prst="rect">
            <a:avLst/>
          </a:prstGeom>
          <a:noFill/>
        </p:spPr>
        <p:txBody>
          <a:bodyPr wrap="none" lIns="0" rIns="0" tIns="0" bIns="0">
            <a:spAutoFit/>
          </a:bodyPr>
          <a:lstStyle/>
          <a:p>
            <a:r>
              <a:rPr sz="791" b="1">
                <a:solidFill>
                  <a:srgbClr val="2E2E2E"/>
                </a:solidFill>
                <a:latin typeface="Calibri"/>
              </a:rPr>
              <a:t>Foam Corner &amp; Edge Protectors</a:t>
            </a:r>
          </a:p>
        </p:txBody>
      </p:sp>
      <p:sp>
        <p:nvSpPr>
          <p:cNvPr id="83" name="TextBox 82"/>
          <p:cNvSpPr txBox="1"/>
          <p:nvPr/>
        </p:nvSpPr>
        <p:spPr>
          <a:xfrm>
            <a:off x="5972175" y="2818211"/>
            <a:ext cx="457711" cy="139750"/>
          </a:xfrm>
          <a:prstGeom prst="rect">
            <a:avLst/>
          </a:prstGeom>
          <a:noFill/>
        </p:spPr>
        <p:txBody>
          <a:bodyPr wrap="none" lIns="0" rIns="0" tIns="0" bIns="0">
            <a:spAutoFit/>
          </a:bodyPr>
          <a:lstStyle/>
          <a:p>
            <a:r>
              <a:rPr sz="791" b="1">
                <a:solidFill>
                  <a:srgbClr val="2E2E2E"/>
                </a:solidFill>
                <a:latin typeface="Calibri"/>
              </a:rPr>
              <a:t>/ Profiles</a:t>
            </a:r>
          </a:p>
        </p:txBody>
      </p:sp>
      <p:pic>
        <p:nvPicPr>
          <p:cNvPr id="84" name="Picture 83" descr="lock.png"/>
          <p:cNvPicPr>
            <a:picLocks noChangeAspect="1"/>
          </p:cNvPicPr>
          <p:nvPr/>
        </p:nvPicPr>
        <p:blipFill>
          <a:blip r:embed="rId4"/>
          <a:stretch>
            <a:fillRect/>
          </a:stretch>
        </p:blipFill>
        <p:spPr>
          <a:xfrm>
            <a:off x="6371148" y="2811171"/>
            <a:ext cx="92663" cy="134782"/>
          </a:xfrm>
          <a:prstGeom prst="rect">
            <a:avLst/>
          </a:prstGeom>
        </p:spPr>
      </p:pic>
      <p:sp>
        <p:nvSpPr>
          <p:cNvPr id="85" name="TextBox 84"/>
          <p:cNvSpPr txBox="1"/>
          <p:nvPr/>
        </p:nvSpPr>
        <p:spPr>
          <a:xfrm>
            <a:off x="5972175" y="3138042"/>
            <a:ext cx="1240559" cy="139750"/>
          </a:xfrm>
          <a:prstGeom prst="rect">
            <a:avLst/>
          </a:prstGeom>
          <a:noFill/>
        </p:spPr>
        <p:txBody>
          <a:bodyPr wrap="none" lIns="0" rIns="0" tIns="0" bIns="0">
            <a:spAutoFit/>
          </a:bodyPr>
          <a:lstStyle/>
          <a:p>
            <a:r>
              <a:rPr sz="791" b="1">
                <a:solidFill>
                  <a:srgbClr val="2E2E2E"/>
                </a:solidFill>
                <a:latin typeface="Calibri"/>
              </a:rPr>
              <a:t>Foam Dividers &amp; Separators</a:t>
            </a:r>
          </a:p>
        </p:txBody>
      </p:sp>
      <p:pic>
        <p:nvPicPr>
          <p:cNvPr id="86" name="Picture 85" descr="lock.png"/>
          <p:cNvPicPr>
            <a:picLocks noChangeAspect="1"/>
          </p:cNvPicPr>
          <p:nvPr/>
        </p:nvPicPr>
        <p:blipFill>
          <a:blip r:embed="rId4"/>
          <a:stretch>
            <a:fillRect/>
          </a:stretch>
        </p:blipFill>
        <p:spPr>
          <a:xfrm>
            <a:off x="5962478" y="3251702"/>
            <a:ext cx="92663" cy="134782"/>
          </a:xfrm>
          <a:prstGeom prst="rect">
            <a:avLst/>
          </a:prstGeom>
        </p:spPr>
      </p:pic>
      <p:sp>
        <p:nvSpPr>
          <p:cNvPr id="87" name="TextBox 86"/>
          <p:cNvSpPr txBox="1"/>
          <p:nvPr/>
        </p:nvSpPr>
        <p:spPr>
          <a:xfrm>
            <a:off x="5972175" y="3578573"/>
            <a:ext cx="1226433" cy="139750"/>
          </a:xfrm>
          <a:prstGeom prst="rect">
            <a:avLst/>
          </a:prstGeom>
          <a:noFill/>
        </p:spPr>
        <p:txBody>
          <a:bodyPr wrap="none" lIns="0" rIns="0" tIns="0" bIns="0">
            <a:spAutoFit/>
          </a:bodyPr>
          <a:lstStyle/>
          <a:p>
            <a:r>
              <a:rPr sz="791" b="1">
                <a:solidFill>
                  <a:srgbClr val="2E2E2E"/>
                </a:solidFill>
                <a:latin typeface="Calibri"/>
              </a:rPr>
              <a:t>Molded Inserts, End Caps &amp;</a:t>
            </a:r>
          </a:p>
        </p:txBody>
      </p:sp>
      <p:sp>
        <p:nvSpPr>
          <p:cNvPr id="88" name="TextBox 87"/>
          <p:cNvSpPr txBox="1"/>
          <p:nvPr/>
        </p:nvSpPr>
        <p:spPr>
          <a:xfrm>
            <a:off x="5972175" y="3699274"/>
            <a:ext cx="384434" cy="139750"/>
          </a:xfrm>
          <a:prstGeom prst="rect">
            <a:avLst/>
          </a:prstGeom>
          <a:noFill/>
        </p:spPr>
        <p:txBody>
          <a:bodyPr wrap="none" lIns="0" rIns="0" tIns="0" bIns="0">
            <a:spAutoFit/>
          </a:bodyPr>
          <a:lstStyle/>
          <a:p>
            <a:r>
              <a:rPr sz="791" b="1">
                <a:solidFill>
                  <a:srgbClr val="2E2E2E"/>
                </a:solidFill>
                <a:latin typeface="Calibri"/>
              </a:rPr>
              <a:t>Cradles</a:t>
            </a:r>
          </a:p>
        </p:txBody>
      </p:sp>
      <p:pic>
        <p:nvPicPr>
          <p:cNvPr id="89" name="Picture 88" descr="lock.png"/>
          <p:cNvPicPr>
            <a:picLocks noChangeAspect="1"/>
          </p:cNvPicPr>
          <p:nvPr/>
        </p:nvPicPr>
        <p:blipFill>
          <a:blip r:embed="rId4"/>
          <a:stretch>
            <a:fillRect/>
          </a:stretch>
        </p:blipFill>
        <p:spPr>
          <a:xfrm>
            <a:off x="6297871" y="3692233"/>
            <a:ext cx="92663" cy="134782"/>
          </a:xfrm>
          <a:prstGeom prst="rect">
            <a:avLst/>
          </a:prstGeom>
        </p:spPr>
      </p:pic>
      <p:sp>
        <p:nvSpPr>
          <p:cNvPr id="90" name="TextBox 89"/>
          <p:cNvSpPr txBox="1"/>
          <p:nvPr/>
        </p:nvSpPr>
        <p:spPr>
          <a:xfrm>
            <a:off x="5972175" y="4019104"/>
            <a:ext cx="1193232" cy="139750"/>
          </a:xfrm>
          <a:prstGeom prst="rect">
            <a:avLst/>
          </a:prstGeom>
          <a:noFill/>
        </p:spPr>
        <p:txBody>
          <a:bodyPr wrap="none" lIns="0" rIns="0" tIns="0" bIns="0">
            <a:spAutoFit/>
          </a:bodyPr>
          <a:lstStyle/>
          <a:p>
            <a:r>
              <a:rPr sz="791" b="1">
                <a:solidFill>
                  <a:srgbClr val="2E2E2E"/>
                </a:solidFill>
                <a:latin typeface="Calibri"/>
              </a:rPr>
              <a:t>Molded Protective Trays &amp;</a:t>
            </a:r>
          </a:p>
        </p:txBody>
      </p:sp>
      <p:sp>
        <p:nvSpPr>
          <p:cNvPr id="91" name="TextBox 90"/>
          <p:cNvSpPr txBox="1"/>
          <p:nvPr/>
        </p:nvSpPr>
        <p:spPr>
          <a:xfrm>
            <a:off x="5972175" y="4139805"/>
            <a:ext cx="527452" cy="139750"/>
          </a:xfrm>
          <a:prstGeom prst="rect">
            <a:avLst/>
          </a:prstGeom>
          <a:noFill/>
        </p:spPr>
        <p:txBody>
          <a:bodyPr wrap="none" lIns="0" rIns="0" tIns="0" bIns="0">
            <a:spAutoFit/>
          </a:bodyPr>
          <a:lstStyle/>
          <a:p>
            <a:r>
              <a:rPr sz="791" b="1">
                <a:solidFill>
                  <a:srgbClr val="2E2E2E"/>
                </a:solidFill>
                <a:latin typeface="Calibri"/>
              </a:rPr>
              <a:t>Containers</a:t>
            </a:r>
          </a:p>
        </p:txBody>
      </p:sp>
      <p:pic>
        <p:nvPicPr>
          <p:cNvPr id="92" name="Picture 91" descr="lock.png"/>
          <p:cNvPicPr>
            <a:picLocks noChangeAspect="1"/>
          </p:cNvPicPr>
          <p:nvPr/>
        </p:nvPicPr>
        <p:blipFill>
          <a:blip r:embed="rId4"/>
          <a:stretch>
            <a:fillRect/>
          </a:stretch>
        </p:blipFill>
        <p:spPr>
          <a:xfrm>
            <a:off x="6440888" y="4132764"/>
            <a:ext cx="92663" cy="134782"/>
          </a:xfrm>
          <a:prstGeom prst="rect">
            <a:avLst/>
          </a:prstGeom>
        </p:spPr>
      </p:pic>
      <p:sp>
        <p:nvSpPr>
          <p:cNvPr id="93" name="TextBox 92"/>
          <p:cNvSpPr txBox="1"/>
          <p:nvPr/>
        </p:nvSpPr>
        <p:spPr>
          <a:xfrm>
            <a:off x="5972175" y="4459635"/>
            <a:ext cx="1362075" cy="139750"/>
          </a:xfrm>
          <a:prstGeom prst="rect">
            <a:avLst/>
          </a:prstGeom>
          <a:noFill/>
        </p:spPr>
        <p:txBody>
          <a:bodyPr wrap="none" lIns="0" rIns="0" tIns="0" bIns="0">
            <a:spAutoFit/>
          </a:bodyPr>
          <a:lstStyle/>
          <a:p>
            <a:r>
              <a:rPr sz="791" b="1">
                <a:solidFill>
                  <a:srgbClr val="2E2E2E"/>
                </a:solidFill>
                <a:latin typeface="Calibri"/>
              </a:rPr>
              <a:t>Direct-Dispensed Foam-in-Place</a:t>
            </a:r>
          </a:p>
        </p:txBody>
      </p:sp>
      <p:pic>
        <p:nvPicPr>
          <p:cNvPr id="94" name="Picture 93" descr="lock.png"/>
          <p:cNvPicPr>
            <a:picLocks noChangeAspect="1"/>
          </p:cNvPicPr>
          <p:nvPr/>
        </p:nvPicPr>
        <p:blipFill>
          <a:blip r:embed="rId4"/>
          <a:stretch>
            <a:fillRect/>
          </a:stretch>
        </p:blipFill>
        <p:spPr>
          <a:xfrm>
            <a:off x="5962478" y="4573295"/>
            <a:ext cx="92663" cy="134782"/>
          </a:xfrm>
          <a:prstGeom prst="rect">
            <a:avLst/>
          </a:prstGeom>
        </p:spPr>
      </p:pic>
      <p:sp>
        <p:nvSpPr>
          <p:cNvPr id="95" name="TextBox 94"/>
          <p:cNvSpPr txBox="1"/>
          <p:nvPr/>
        </p:nvSpPr>
        <p:spPr>
          <a:xfrm>
            <a:off x="5972175" y="4900166"/>
            <a:ext cx="1197732" cy="139750"/>
          </a:xfrm>
          <a:prstGeom prst="rect">
            <a:avLst/>
          </a:prstGeom>
          <a:noFill/>
        </p:spPr>
        <p:txBody>
          <a:bodyPr wrap="none" lIns="0" rIns="0" tIns="0" bIns="0">
            <a:spAutoFit/>
          </a:bodyPr>
          <a:lstStyle/>
          <a:p>
            <a:r>
              <a:rPr sz="791" b="1">
                <a:solidFill>
                  <a:srgbClr val="2E2E2E"/>
                </a:solidFill>
                <a:latin typeface="Calibri"/>
              </a:rPr>
              <a:t>Foam-in-Bag / On-Demand</a:t>
            </a:r>
          </a:p>
        </p:txBody>
      </p:sp>
      <p:sp>
        <p:nvSpPr>
          <p:cNvPr id="96" name="TextBox 95"/>
          <p:cNvSpPr txBox="1"/>
          <p:nvPr/>
        </p:nvSpPr>
        <p:spPr>
          <a:xfrm>
            <a:off x="5972175" y="5020867"/>
            <a:ext cx="705028" cy="139750"/>
          </a:xfrm>
          <a:prstGeom prst="rect">
            <a:avLst/>
          </a:prstGeom>
          <a:noFill/>
        </p:spPr>
        <p:txBody>
          <a:bodyPr wrap="none" lIns="0" rIns="0" tIns="0" bIns="0">
            <a:spAutoFit/>
          </a:bodyPr>
          <a:lstStyle/>
          <a:p>
            <a:r>
              <a:rPr sz="791" b="1">
                <a:solidFill>
                  <a:srgbClr val="2E2E2E"/>
                </a:solidFill>
                <a:latin typeface="Calibri"/>
              </a:rPr>
              <a:t>Foam Cushions</a:t>
            </a:r>
          </a:p>
        </p:txBody>
      </p:sp>
      <p:pic>
        <p:nvPicPr>
          <p:cNvPr id="97" name="Picture 96" descr="lock.png"/>
          <p:cNvPicPr>
            <a:picLocks noChangeAspect="1"/>
          </p:cNvPicPr>
          <p:nvPr/>
        </p:nvPicPr>
        <p:blipFill>
          <a:blip r:embed="rId4"/>
          <a:stretch>
            <a:fillRect/>
          </a:stretch>
        </p:blipFill>
        <p:spPr>
          <a:xfrm>
            <a:off x="6618464" y="5013826"/>
            <a:ext cx="92663" cy="134782"/>
          </a:xfrm>
          <a:prstGeom prst="rect">
            <a:avLst/>
          </a:prstGeom>
        </p:spPr>
      </p:pic>
      <p:sp>
        <p:nvSpPr>
          <p:cNvPr id="98" name="TextBox 97"/>
          <p:cNvSpPr txBox="1"/>
          <p:nvPr/>
        </p:nvSpPr>
        <p:spPr>
          <a:xfrm>
            <a:off x="5972175" y="5340697"/>
            <a:ext cx="1362075" cy="139750"/>
          </a:xfrm>
          <a:prstGeom prst="rect">
            <a:avLst/>
          </a:prstGeom>
          <a:noFill/>
        </p:spPr>
        <p:txBody>
          <a:bodyPr wrap="none" lIns="0" rIns="0" tIns="0" bIns="0">
            <a:spAutoFit/>
          </a:bodyPr>
          <a:lstStyle/>
          <a:p>
            <a:r>
              <a:rPr sz="791" b="1">
                <a:solidFill>
                  <a:srgbClr val="2E2E2E"/>
                </a:solidFill>
                <a:latin typeface="Calibri"/>
              </a:rPr>
              <a:t>Pre-Fabricated Foam Pouches &amp;</a:t>
            </a:r>
          </a:p>
        </p:txBody>
      </p:sp>
      <p:sp>
        <p:nvSpPr>
          <p:cNvPr id="99" name="TextBox 98"/>
          <p:cNvSpPr txBox="1"/>
          <p:nvPr/>
        </p:nvSpPr>
        <p:spPr>
          <a:xfrm>
            <a:off x="5972175" y="5461398"/>
            <a:ext cx="270099" cy="139750"/>
          </a:xfrm>
          <a:prstGeom prst="rect">
            <a:avLst/>
          </a:prstGeom>
          <a:noFill/>
        </p:spPr>
        <p:txBody>
          <a:bodyPr wrap="none" lIns="0" rIns="0" tIns="0" bIns="0">
            <a:spAutoFit/>
          </a:bodyPr>
          <a:lstStyle/>
          <a:p>
            <a:r>
              <a:rPr sz="791" b="1">
                <a:solidFill>
                  <a:srgbClr val="2E2E2E"/>
                </a:solidFill>
                <a:latin typeface="Calibri"/>
              </a:rPr>
              <a:t>Bags</a:t>
            </a:r>
          </a:p>
        </p:txBody>
      </p:sp>
      <p:pic>
        <p:nvPicPr>
          <p:cNvPr id="100" name="Picture 99" descr="lock.png"/>
          <p:cNvPicPr>
            <a:picLocks noChangeAspect="1"/>
          </p:cNvPicPr>
          <p:nvPr/>
        </p:nvPicPr>
        <p:blipFill>
          <a:blip r:embed="rId4"/>
          <a:stretch>
            <a:fillRect/>
          </a:stretch>
        </p:blipFill>
        <p:spPr>
          <a:xfrm>
            <a:off x="6183535" y="5454357"/>
            <a:ext cx="92663" cy="134782"/>
          </a:xfrm>
          <a:prstGeom prst="rect">
            <a:avLst/>
          </a:prstGeom>
        </p:spPr>
      </p:pic>
      <p:sp>
        <p:nvSpPr>
          <p:cNvPr id="101" name="TextBox 100"/>
          <p:cNvSpPr txBox="1"/>
          <p:nvPr/>
        </p:nvSpPr>
        <p:spPr>
          <a:xfrm>
            <a:off x="5972175" y="5781228"/>
            <a:ext cx="1278235" cy="139750"/>
          </a:xfrm>
          <a:prstGeom prst="rect">
            <a:avLst/>
          </a:prstGeom>
          <a:noFill/>
        </p:spPr>
        <p:txBody>
          <a:bodyPr wrap="none" lIns="0" rIns="0" tIns="0" bIns="0">
            <a:spAutoFit/>
          </a:bodyPr>
          <a:lstStyle/>
          <a:p>
            <a:r>
              <a:rPr sz="791" b="1">
                <a:solidFill>
                  <a:srgbClr val="2E2E2E"/>
                </a:solidFill>
                <a:latin typeface="Calibri"/>
              </a:rPr>
              <a:t>Pre-Fabricated Foam Sleeves</a:t>
            </a:r>
          </a:p>
        </p:txBody>
      </p:sp>
      <p:pic>
        <p:nvPicPr>
          <p:cNvPr id="102" name="Picture 101" descr="lock.png"/>
          <p:cNvPicPr>
            <a:picLocks noChangeAspect="1"/>
          </p:cNvPicPr>
          <p:nvPr/>
        </p:nvPicPr>
        <p:blipFill>
          <a:blip r:embed="rId4"/>
          <a:stretch>
            <a:fillRect/>
          </a:stretch>
        </p:blipFill>
        <p:spPr>
          <a:xfrm>
            <a:off x="5962478" y="5894888"/>
            <a:ext cx="92663" cy="134782"/>
          </a:xfrm>
          <a:prstGeom prst="rect">
            <a:avLst/>
          </a:prstGeom>
        </p:spPr>
      </p:pic>
      <p:sp>
        <p:nvSpPr>
          <p:cNvPr id="103" name="TextBox 102"/>
          <p:cNvSpPr txBox="1"/>
          <p:nvPr/>
        </p:nvSpPr>
        <p:spPr>
          <a:xfrm>
            <a:off x="5972175" y="6221759"/>
            <a:ext cx="1076913" cy="139750"/>
          </a:xfrm>
          <a:prstGeom prst="rect">
            <a:avLst/>
          </a:prstGeom>
          <a:noFill/>
        </p:spPr>
        <p:txBody>
          <a:bodyPr wrap="none" lIns="0" rIns="0" tIns="0" bIns="0">
            <a:spAutoFit/>
          </a:bodyPr>
          <a:lstStyle/>
          <a:p>
            <a:r>
              <a:rPr sz="791" b="1">
                <a:solidFill>
                  <a:srgbClr val="2E2E2E"/>
                </a:solidFill>
                <a:latin typeface="Calibri"/>
              </a:rPr>
              <a:t>Foam Packing Peanuts /</a:t>
            </a:r>
          </a:p>
        </p:txBody>
      </p:sp>
      <p:sp>
        <p:nvSpPr>
          <p:cNvPr id="104" name="TextBox 103"/>
          <p:cNvSpPr txBox="1"/>
          <p:nvPr/>
        </p:nvSpPr>
        <p:spPr>
          <a:xfrm>
            <a:off x="5972175" y="6342460"/>
            <a:ext cx="787753" cy="139750"/>
          </a:xfrm>
          <a:prstGeom prst="rect">
            <a:avLst/>
          </a:prstGeom>
          <a:noFill/>
        </p:spPr>
        <p:txBody>
          <a:bodyPr wrap="none" lIns="0" rIns="0" tIns="0" bIns="0">
            <a:spAutoFit/>
          </a:bodyPr>
          <a:lstStyle/>
          <a:p>
            <a:r>
              <a:rPr sz="791" b="1">
                <a:solidFill>
                  <a:srgbClr val="2E2E2E"/>
                </a:solidFill>
                <a:latin typeface="Calibri"/>
              </a:rPr>
              <a:t>Loose-Fill Shapes</a:t>
            </a:r>
          </a:p>
        </p:txBody>
      </p:sp>
      <p:pic>
        <p:nvPicPr>
          <p:cNvPr id="105" name="Picture 104" descr="lock.png"/>
          <p:cNvPicPr>
            <a:picLocks noChangeAspect="1"/>
          </p:cNvPicPr>
          <p:nvPr/>
        </p:nvPicPr>
        <p:blipFill>
          <a:blip r:embed="rId4"/>
          <a:stretch>
            <a:fillRect/>
          </a:stretch>
        </p:blipFill>
        <p:spPr>
          <a:xfrm>
            <a:off x="6701189" y="6335419"/>
            <a:ext cx="92663" cy="134782"/>
          </a:xfrm>
          <a:prstGeom prst="rect">
            <a:avLst/>
          </a:prstGeom>
        </p:spPr>
      </p:pic>
      <p:sp>
        <p:nvSpPr>
          <p:cNvPr id="106" name="TextBox 105"/>
          <p:cNvSpPr txBox="1"/>
          <p:nvPr/>
        </p:nvSpPr>
        <p:spPr>
          <a:xfrm>
            <a:off x="7715250" y="1400175"/>
            <a:ext cx="4051436" cy="194310"/>
          </a:xfrm>
          <a:prstGeom prst="rect">
            <a:avLst/>
          </a:prstGeom>
          <a:noFill/>
        </p:spPr>
        <p:txBody>
          <a:bodyPr wrap="none" lIns="0" rIns="0" tIns="0" bIns="0">
            <a:spAutoFit/>
          </a:bodyPr>
          <a:lstStyle/>
          <a:p>
            <a:r>
              <a:rPr sz="1150" b="0">
                <a:solidFill>
                  <a:srgbClr val="2E2E2E"/>
                </a:solidFill>
                <a:latin typeface="Calibri"/>
              </a:rPr>
              <a:t>Fabricated foam packaging segment is projected to account for the</a:t>
            </a:r>
          </a:p>
        </p:txBody>
      </p:sp>
      <p:sp>
        <p:nvSpPr>
          <p:cNvPr id="107" name="TextBox 106"/>
          <p:cNvSpPr txBox="1"/>
          <p:nvPr/>
        </p:nvSpPr>
        <p:spPr>
          <a:xfrm>
            <a:off x="7715250" y="1575435"/>
            <a:ext cx="4171950" cy="194310"/>
          </a:xfrm>
          <a:prstGeom prst="rect">
            <a:avLst/>
          </a:prstGeom>
          <a:noFill/>
        </p:spPr>
        <p:txBody>
          <a:bodyPr wrap="none" lIns="0" rIns="0" tIns="0" bIns="0">
            <a:spAutoFit/>
          </a:bodyPr>
          <a:lstStyle/>
          <a:p>
            <a:r>
              <a:rPr sz="1150" b="0">
                <a:solidFill>
                  <a:srgbClr val="2E2E2E"/>
                </a:solidFill>
                <a:latin typeface="Calibri"/>
              </a:rPr>
              <a:t>largest share of the North America foam protective packaging market,</a:t>
            </a:r>
          </a:p>
        </p:txBody>
      </p:sp>
      <p:sp>
        <p:nvSpPr>
          <p:cNvPr id="108" name="TextBox 107"/>
          <p:cNvSpPr txBox="1"/>
          <p:nvPr/>
        </p:nvSpPr>
        <p:spPr>
          <a:xfrm>
            <a:off x="7715250" y="1750695"/>
            <a:ext cx="3077641" cy="194310"/>
          </a:xfrm>
          <a:prstGeom prst="rect">
            <a:avLst/>
          </a:prstGeom>
          <a:noFill/>
        </p:spPr>
        <p:txBody>
          <a:bodyPr wrap="none" lIns="0" rIns="0" tIns="0" bIns="0">
            <a:spAutoFit/>
          </a:bodyPr>
          <a:lstStyle/>
          <a:p>
            <a:r>
              <a:rPr sz="1150" b="0">
                <a:solidFill>
                  <a:srgbClr val="2E2E2E"/>
                </a:solidFill>
                <a:latin typeface="Calibri"/>
              </a:rPr>
              <a:t>led by die-cut / cnc-cut foam inserts &amp; pads at US$</a:t>
            </a:r>
          </a:p>
        </p:txBody>
      </p:sp>
      <p:pic>
        <p:nvPicPr>
          <p:cNvPr id="109" name="Picture 108" descr="lock.png"/>
          <p:cNvPicPr>
            <a:picLocks noChangeAspect="1"/>
          </p:cNvPicPr>
          <p:nvPr/>
        </p:nvPicPr>
        <p:blipFill>
          <a:blip r:embed="rId4"/>
          <a:stretch>
            <a:fillRect/>
          </a:stretch>
        </p:blipFill>
        <p:spPr>
          <a:xfrm>
            <a:off x="10742045" y="1740471"/>
            <a:ext cx="134549" cy="195707"/>
          </a:xfrm>
          <a:prstGeom prst="rect">
            <a:avLst/>
          </a:prstGeom>
        </p:spPr>
      </p:pic>
      <p:sp>
        <p:nvSpPr>
          <p:cNvPr id="110" name="TextBox 109"/>
          <p:cNvSpPr txBox="1"/>
          <p:nvPr/>
        </p:nvSpPr>
        <p:spPr>
          <a:xfrm>
            <a:off x="10917154" y="1750695"/>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111" name="TextBox 110"/>
          <p:cNvSpPr txBox="1"/>
          <p:nvPr/>
        </p:nvSpPr>
        <p:spPr>
          <a:xfrm>
            <a:off x="7715250" y="1925955"/>
            <a:ext cx="3870585" cy="194310"/>
          </a:xfrm>
          <a:prstGeom prst="rect">
            <a:avLst/>
          </a:prstGeom>
          <a:noFill/>
        </p:spPr>
        <p:txBody>
          <a:bodyPr wrap="none" lIns="0" rIns="0" tIns="0" bIns="0">
            <a:spAutoFit/>
          </a:bodyPr>
          <a:lstStyle/>
          <a:p>
            <a:r>
              <a:rPr sz="1150" b="0">
                <a:solidFill>
                  <a:srgbClr val="2E2E2E"/>
                </a:solidFill>
                <a:latin typeface="Calibri"/>
              </a:rPr>
              <a:t>'Foam Sheets, Rolls &amp; Planks × Foam Sheets &amp; Rolls' is the single</a:t>
            </a:r>
          </a:p>
        </p:txBody>
      </p:sp>
      <p:sp>
        <p:nvSpPr>
          <p:cNvPr id="112" name="TextBox 111"/>
          <p:cNvSpPr txBox="1"/>
          <p:nvPr/>
        </p:nvSpPr>
        <p:spPr>
          <a:xfrm>
            <a:off x="7715250" y="2101215"/>
            <a:ext cx="1704429" cy="194310"/>
          </a:xfrm>
          <a:prstGeom prst="rect">
            <a:avLst/>
          </a:prstGeom>
          <a:noFill/>
        </p:spPr>
        <p:txBody>
          <a:bodyPr wrap="none" lIns="0" rIns="0" tIns="0" bIns="0">
            <a:spAutoFit/>
          </a:bodyPr>
          <a:lstStyle/>
          <a:p>
            <a:r>
              <a:rPr sz="1150" b="0">
                <a:solidFill>
                  <a:srgbClr val="2E2E2E"/>
                </a:solidFill>
                <a:latin typeface="Calibri"/>
              </a:rPr>
              <a:t>largest cross-sectional cell (</a:t>
            </a:r>
          </a:p>
        </p:txBody>
      </p:sp>
      <p:pic>
        <p:nvPicPr>
          <p:cNvPr id="113" name="Picture 112" descr="lock.png"/>
          <p:cNvPicPr>
            <a:picLocks noChangeAspect="1"/>
          </p:cNvPicPr>
          <p:nvPr/>
        </p:nvPicPr>
        <p:blipFill>
          <a:blip r:embed="rId4"/>
          <a:stretch>
            <a:fillRect/>
          </a:stretch>
        </p:blipFill>
        <p:spPr>
          <a:xfrm>
            <a:off x="9368833" y="2090991"/>
            <a:ext cx="134549" cy="195707"/>
          </a:xfrm>
          <a:prstGeom prst="rect">
            <a:avLst/>
          </a:prstGeom>
        </p:spPr>
      </p:pic>
      <p:sp>
        <p:nvSpPr>
          <p:cNvPr id="114" name="TextBox 113"/>
          <p:cNvSpPr txBox="1"/>
          <p:nvPr/>
        </p:nvSpPr>
        <p:spPr>
          <a:xfrm>
            <a:off x="9543942" y="2101215"/>
            <a:ext cx="2279469" cy="194310"/>
          </a:xfrm>
          <a:prstGeom prst="rect">
            <a:avLst/>
          </a:prstGeom>
          <a:noFill/>
        </p:spPr>
        <p:txBody>
          <a:bodyPr wrap="none" lIns="0" rIns="0" tIns="0" bIns="0">
            <a:spAutoFit/>
          </a:bodyPr>
          <a:lstStyle/>
          <a:p>
            <a:r>
              <a:rPr sz="1150" b="0">
                <a:solidFill>
                  <a:srgbClr val="2E2E2E"/>
                </a:solidFill>
                <a:latin typeface="Calibri"/>
              </a:rPr>
              <a:t>US$ Mn, 2026E), while 'Foam Sheets,</a:t>
            </a:r>
          </a:p>
        </p:txBody>
      </p:sp>
      <p:sp>
        <p:nvSpPr>
          <p:cNvPr id="115" name="TextBox 114"/>
          <p:cNvSpPr txBox="1"/>
          <p:nvPr/>
        </p:nvSpPr>
        <p:spPr>
          <a:xfrm>
            <a:off x="7715250" y="2276475"/>
            <a:ext cx="4138469" cy="194310"/>
          </a:xfrm>
          <a:prstGeom prst="rect">
            <a:avLst/>
          </a:prstGeom>
          <a:noFill/>
        </p:spPr>
        <p:txBody>
          <a:bodyPr wrap="none" lIns="0" rIns="0" tIns="0" bIns="0">
            <a:spAutoFit/>
          </a:bodyPr>
          <a:lstStyle/>
          <a:p>
            <a:r>
              <a:rPr sz="1150" b="0">
                <a:solidFill>
                  <a:srgbClr val="2E2E2E"/>
                </a:solidFill>
                <a:latin typeface="Calibri"/>
              </a:rPr>
              <a:t>Rolls &amp; Planks × Foam Sheets &amp; Rolls' records the fastest growth at a</a:t>
            </a:r>
          </a:p>
        </p:txBody>
      </p:sp>
      <p:sp>
        <p:nvSpPr>
          <p:cNvPr id="116" name="TextBox 115"/>
          <p:cNvSpPr txBox="1"/>
          <p:nvPr/>
        </p:nvSpPr>
        <p:spPr>
          <a:xfrm>
            <a:off x="7715250" y="245173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117" name="Picture 116" descr="lock.png"/>
          <p:cNvPicPr>
            <a:picLocks noChangeAspect="1"/>
          </p:cNvPicPr>
          <p:nvPr/>
        </p:nvPicPr>
        <p:blipFill>
          <a:blip r:embed="rId4"/>
          <a:stretch>
            <a:fillRect/>
          </a:stretch>
        </p:blipFill>
        <p:spPr>
          <a:xfrm>
            <a:off x="8228940" y="2441511"/>
            <a:ext cx="134549" cy="195707"/>
          </a:xfrm>
          <a:prstGeom prst="rect">
            <a:avLst/>
          </a:prstGeom>
        </p:spPr>
      </p:pic>
      <p:sp>
        <p:nvSpPr>
          <p:cNvPr id="118" name="TextBox 117"/>
          <p:cNvSpPr txBox="1"/>
          <p:nvPr/>
        </p:nvSpPr>
        <p:spPr>
          <a:xfrm>
            <a:off x="8404050"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119" name="TextBox 118"/>
          <p:cNvSpPr txBox="1"/>
          <p:nvPr/>
        </p:nvSpPr>
        <p:spPr>
          <a:xfrm>
            <a:off x="7715250" y="2679573"/>
            <a:ext cx="3797337" cy="194310"/>
          </a:xfrm>
          <a:prstGeom prst="rect">
            <a:avLst/>
          </a:prstGeom>
          <a:noFill/>
        </p:spPr>
        <p:txBody>
          <a:bodyPr wrap="none" lIns="0" rIns="0" tIns="0" bIns="0">
            <a:spAutoFit/>
          </a:bodyPr>
          <a:lstStyle/>
          <a:p>
            <a:r>
              <a:rPr sz="1150" b="0">
                <a:solidFill>
                  <a:srgbClr val="2E2E2E"/>
                </a:solidFill>
                <a:latin typeface="Calibri"/>
              </a:rPr>
              <a:t>Combined, the top three product form × end-use industry cells</a:t>
            </a:r>
          </a:p>
        </p:txBody>
      </p:sp>
      <p:sp>
        <p:nvSpPr>
          <p:cNvPr id="120" name="TextBox 119"/>
          <p:cNvSpPr txBox="1"/>
          <p:nvPr/>
        </p:nvSpPr>
        <p:spPr>
          <a:xfrm>
            <a:off x="7715250" y="285483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121" name="Picture 120" descr="lock.png"/>
          <p:cNvPicPr>
            <a:picLocks noChangeAspect="1"/>
          </p:cNvPicPr>
          <p:nvPr/>
        </p:nvPicPr>
        <p:blipFill>
          <a:blip r:embed="rId4"/>
          <a:stretch>
            <a:fillRect/>
          </a:stretch>
        </p:blipFill>
        <p:spPr>
          <a:xfrm>
            <a:off x="10004949" y="2844609"/>
            <a:ext cx="134549" cy="195707"/>
          </a:xfrm>
          <a:prstGeom prst="rect">
            <a:avLst/>
          </a:prstGeom>
        </p:spPr>
      </p:pic>
      <p:sp>
        <p:nvSpPr>
          <p:cNvPr id="122" name="TextBox 121"/>
          <p:cNvSpPr txBox="1"/>
          <p:nvPr/>
        </p:nvSpPr>
        <p:spPr>
          <a:xfrm>
            <a:off x="10180058"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Product Form × End-use Industry, 2026E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end-use industry sub-segments</a:t>
            </a:r>
          </a:p>
        </p:txBody>
      </p:sp>
      <p:sp>
        <p:nvSpPr>
          <p:cNvPr id="7" name="Rounded Rectangle 6"/>
          <p:cNvSpPr/>
          <p:nvPr/>
        </p:nvSpPr>
        <p:spPr>
          <a:xfrm>
            <a:off x="142875" y="981075"/>
            <a:ext cx="11906250" cy="3400425"/>
          </a:xfrm>
          <a:prstGeom prst="roundRect">
            <a:avLst>
              <a:gd name="adj" fmla="val 22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Product Form × End-use Industry, 2026E (% of each row)</a:t>
            </a:r>
          </a:p>
        </p:txBody>
      </p:sp>
      <p:graphicFrame>
        <p:nvGraphicFramePr>
          <p:cNvPr id="9" name="Table 8"/>
          <p:cNvGraphicFramePr>
            <a:graphicFrameLocks noGrp="1"/>
          </p:cNvGraphicFramePr>
          <p:nvPr/>
        </p:nvGraphicFramePr>
        <p:xfrm>
          <a:off x="152400" y="1238250"/>
          <a:ext cx="11888611" cy="2933701"/>
        </p:xfrm>
        <a:graphic>
          <a:graphicData uri="http://schemas.openxmlformats.org/drawingml/2006/table">
            <a:tbl>
              <a:tblPr>
                <a:tableStyleId>{5C22544A-7EE6-4342-B048-85BDC9FD1C3A}</a:tableStyleId>
              </a:tblPr>
              <a:tblGrid>
                <a:gridCol w="1967593"/>
                <a:gridCol w="580028"/>
                <a:gridCol w="574029"/>
                <a:gridCol w="686846"/>
                <a:gridCol w="898112"/>
                <a:gridCol w="848025"/>
                <a:gridCol w="725308"/>
                <a:gridCol w="901441"/>
                <a:gridCol w="845150"/>
                <a:gridCol w="827401"/>
                <a:gridCol w="882678"/>
                <a:gridCol w="837278"/>
                <a:gridCol w="770916"/>
                <a:gridCol w="543806"/>
              </a:tblGrid>
              <a:tr h="121005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Sheets &amp; Rolls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Planks &amp; Blocks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Die-Cut / CNC-Cut Foam Inserts &amp; Pads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Corner &amp; Edge Protectors / Profiles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Dividers &amp; Separators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Molded Inserts, End Caps &amp; Cradles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Molded Protective Trays &amp; Containers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Direct-Dispensed Foam-in-Place</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Foam-in-Bag / On-Demand Foam Cushions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Pre-Fabricated Foam Pouches &amp; Bags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Pre-Fabricated Foam Sleeves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Foam Packing Peanuts / Loose-Fill Shapes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a:t>
                      </a:r>
                      <a:endParaRPr sz="1100"/>
                    </a:p>
                  </a:txBody>
                  <a:tcPr marL="47625" marR="38100" marT="19050" marB="19050" anchor="ctr">
                    <a:solidFill>
                      <a:srgbClr val="EBF2F9"/>
                    </a:solidFill>
                  </a:tcPr>
                </a:tc>
              </a:tr>
              <a:tr h="246235">
                <a:tc>
                  <a:txBody>
                    <a:bodyPr wrap="none"/>
                    <a:lstStyle/>
                    <a:p>
                      <a:pPr algn="l"/>
                      <a:r>
                        <a:rPr sz="1100" b="1">
                          <a:solidFill>
                            <a:srgbClr val="2E2E2E"/>
                          </a:solidFill>
                          <a:latin typeface="Calibri"/>
                        </a:rPr>
                        <a:t>Foam Sheets, Rolls &amp; Planks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Fabricated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Molded Foam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Foam-in-Place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Foam Pouches, Bags &amp; Sleeves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35">
                <a:tc>
                  <a:txBody>
                    <a:bodyPr wrap="none"/>
                    <a:lstStyle/>
                    <a:p>
                      <a:pPr algn="l"/>
                      <a:r>
                        <a:rPr sz="1100" b="1">
                          <a:solidFill>
                            <a:srgbClr val="2E2E2E"/>
                          </a:solidFill>
                          <a:latin typeface="Calibri"/>
                        </a:rPr>
                        <a:t>Foam Loose-Fill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35">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4181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880210" y="3043428"/>
            <a:ext cx="366712" cy="533400"/>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Product Form × End-use Industry, 2026E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end-use industry sub-segments</a:t>
            </a:r>
          </a:p>
        </p:txBody>
      </p:sp>
      <p:sp>
        <p:nvSpPr>
          <p:cNvPr id="7" name="Rounded Rectangle 6"/>
          <p:cNvSpPr/>
          <p:nvPr/>
        </p:nvSpPr>
        <p:spPr>
          <a:xfrm>
            <a:off x="142875" y="981075"/>
            <a:ext cx="72866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End-use Industry Mix by Product Form, 2026E (% share)</a:t>
            </a:r>
          </a:p>
        </p:txBody>
      </p:sp>
      <p:graphicFrame>
        <p:nvGraphicFramePr>
          <p:cNvPr id="9" name="Chart 8"/>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0" name="Rounded Rectangle 9"/>
          <p:cNvSpPr/>
          <p:nvPr/>
        </p:nvSpPr>
        <p:spPr>
          <a:xfrm>
            <a:off x="7581900" y="981075"/>
            <a:ext cx="4457700" cy="5648325"/>
          </a:xfrm>
          <a:prstGeom prst="roundRect">
            <a:avLst>
              <a:gd name="adj" fmla="val 17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E2A5C"/>
                </a:solidFill>
                <a:latin typeface="Calibri"/>
              </a:rPr>
              <a:t>Share Insights</a:t>
            </a:r>
          </a:p>
        </p:txBody>
      </p:sp>
      <p:sp>
        <p:nvSpPr>
          <p:cNvPr id="12" name="Rectangle 11"/>
          <p:cNvSpPr/>
          <p:nvPr/>
        </p:nvSpPr>
        <p:spPr>
          <a:xfrm>
            <a:off x="7715250" y="1304925"/>
            <a:ext cx="4191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5"/>
          <a:stretch>
            <a:fillRect/>
          </a:stretch>
        </p:blipFill>
        <p:spPr>
          <a:xfrm>
            <a:off x="3712949" y="2656453"/>
            <a:ext cx="433863" cy="631074"/>
          </a:xfrm>
          <a:prstGeom prst="rect">
            <a:avLst/>
          </a:prstGeom>
        </p:spPr>
      </p:pic>
      <p:sp>
        <p:nvSpPr>
          <p:cNvPr id="17" name="TextBox 16"/>
          <p:cNvSpPr txBox="1"/>
          <p:nvPr/>
        </p:nvSpPr>
        <p:spPr>
          <a:xfrm>
            <a:off x="7715250" y="1400175"/>
            <a:ext cx="4101101" cy="194310"/>
          </a:xfrm>
          <a:prstGeom prst="rect">
            <a:avLst/>
          </a:prstGeom>
          <a:noFill/>
        </p:spPr>
        <p:txBody>
          <a:bodyPr wrap="none" lIns="0" rIns="0" tIns="0" bIns="0">
            <a:spAutoFit/>
          </a:bodyPr>
          <a:lstStyle/>
          <a:p>
            <a:r>
              <a:rPr sz="1150" b="0">
                <a:solidFill>
                  <a:srgbClr val="2E2E2E"/>
                </a:solidFill>
                <a:latin typeface="Calibri"/>
              </a:rPr>
              <a:t>▪ 'Foam Packing Peanuts / Loose-Fill Shapes' holds the highest share</a:t>
            </a:r>
          </a:p>
        </p:txBody>
      </p:sp>
      <p:sp>
        <p:nvSpPr>
          <p:cNvPr id="18" name="TextBox 17"/>
          <p:cNvSpPr txBox="1"/>
          <p:nvPr/>
        </p:nvSpPr>
        <p:spPr>
          <a:xfrm>
            <a:off x="7715250" y="1575435"/>
            <a:ext cx="1993645" cy="194310"/>
          </a:xfrm>
          <a:prstGeom prst="rect">
            <a:avLst/>
          </a:prstGeom>
          <a:noFill/>
        </p:spPr>
        <p:txBody>
          <a:bodyPr wrap="none" lIns="0" rIns="0" tIns="0" bIns="0">
            <a:spAutoFit/>
          </a:bodyPr>
          <a:lstStyle/>
          <a:p>
            <a:r>
              <a:rPr sz="1150" b="0">
                <a:solidFill>
                  <a:srgbClr val="2E2E2E"/>
                </a:solidFill>
                <a:latin typeface="Calibri"/>
              </a:rPr>
              <a:t>of 'Foam Loose-Fill Packaging' at</a:t>
            </a:r>
          </a:p>
        </p:txBody>
      </p:sp>
      <p:pic>
        <p:nvPicPr>
          <p:cNvPr id="19" name="Picture 18" descr="lock.png"/>
          <p:cNvPicPr>
            <a:picLocks noChangeAspect="1"/>
          </p:cNvPicPr>
          <p:nvPr/>
        </p:nvPicPr>
        <p:blipFill>
          <a:blip r:embed="rId5"/>
          <a:stretch>
            <a:fillRect/>
          </a:stretch>
        </p:blipFill>
        <p:spPr>
          <a:xfrm>
            <a:off x="9658049" y="1565211"/>
            <a:ext cx="134549" cy="195707"/>
          </a:xfrm>
          <a:prstGeom prst="rect">
            <a:avLst/>
          </a:prstGeom>
        </p:spPr>
      </p:pic>
      <p:sp>
        <p:nvSpPr>
          <p:cNvPr id="20" name="TextBox 19"/>
          <p:cNvSpPr txBox="1"/>
          <p:nvPr/>
        </p:nvSpPr>
        <p:spPr>
          <a:xfrm>
            <a:off x="9833158"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1" name="TextBox 20"/>
          <p:cNvSpPr txBox="1"/>
          <p:nvPr/>
        </p:nvSpPr>
        <p:spPr>
          <a:xfrm>
            <a:off x="7715250" y="1803273"/>
            <a:ext cx="4113367" cy="194310"/>
          </a:xfrm>
          <a:prstGeom prst="rect">
            <a:avLst/>
          </a:prstGeom>
          <a:noFill/>
        </p:spPr>
        <p:txBody>
          <a:bodyPr wrap="none" lIns="0" rIns="0" tIns="0" bIns="0">
            <a:spAutoFit/>
          </a:bodyPr>
          <a:lstStyle/>
          <a:p>
            <a:r>
              <a:rPr sz="1150" b="0">
                <a:solidFill>
                  <a:srgbClr val="2E2E2E"/>
                </a:solidFill>
                <a:latin typeface="Calibri"/>
              </a:rPr>
              <a:t>▪ 'Foam Loose-Fill Packaging' is the most concentrated product form</a:t>
            </a:r>
          </a:p>
        </p:txBody>
      </p:sp>
      <p:sp>
        <p:nvSpPr>
          <p:cNvPr id="22" name="TextBox 21"/>
          <p:cNvSpPr txBox="1"/>
          <p:nvPr/>
        </p:nvSpPr>
        <p:spPr>
          <a:xfrm>
            <a:off x="7715250" y="1978533"/>
            <a:ext cx="1178706" cy="194310"/>
          </a:xfrm>
          <a:prstGeom prst="rect">
            <a:avLst/>
          </a:prstGeom>
          <a:noFill/>
        </p:spPr>
        <p:txBody>
          <a:bodyPr wrap="none" lIns="0" rIns="0" tIns="0" bIns="0">
            <a:spAutoFit/>
          </a:bodyPr>
          <a:lstStyle/>
          <a:p>
            <a:r>
              <a:rPr sz="1150" b="0">
                <a:solidFill>
                  <a:srgbClr val="2E2E2E"/>
                </a:solidFill>
                <a:latin typeface="Calibri"/>
              </a:rPr>
              <a:t>sub-segment, with</a:t>
            </a:r>
          </a:p>
        </p:txBody>
      </p:sp>
      <p:pic>
        <p:nvPicPr>
          <p:cNvPr id="23" name="Picture 22" descr="lock.png"/>
          <p:cNvPicPr>
            <a:picLocks noChangeAspect="1"/>
          </p:cNvPicPr>
          <p:nvPr/>
        </p:nvPicPr>
        <p:blipFill>
          <a:blip r:embed="rId5"/>
          <a:stretch>
            <a:fillRect/>
          </a:stretch>
        </p:blipFill>
        <p:spPr>
          <a:xfrm>
            <a:off x="8843110" y="1968309"/>
            <a:ext cx="134549" cy="195707"/>
          </a:xfrm>
          <a:prstGeom prst="rect">
            <a:avLst/>
          </a:prstGeom>
        </p:spPr>
      </p:pic>
      <p:sp>
        <p:nvSpPr>
          <p:cNvPr id="24" name="TextBox 23"/>
          <p:cNvSpPr txBox="1"/>
          <p:nvPr/>
        </p:nvSpPr>
        <p:spPr>
          <a:xfrm>
            <a:off x="9018219" y="1978533"/>
            <a:ext cx="2407548" cy="194310"/>
          </a:xfrm>
          <a:prstGeom prst="rect">
            <a:avLst/>
          </a:prstGeom>
          <a:noFill/>
        </p:spPr>
        <p:txBody>
          <a:bodyPr wrap="none" lIns="0" rIns="0" tIns="0" bIns="0">
            <a:spAutoFit/>
          </a:bodyPr>
          <a:lstStyle/>
          <a:p>
            <a:r>
              <a:rPr sz="1150" b="0">
                <a:solidFill>
                  <a:srgbClr val="2E2E2E"/>
                </a:solidFill>
                <a:latin typeface="Calibri"/>
              </a:rPr>
              <a:t>of its value via 'Foam Packing Peanuts /</a:t>
            </a:r>
          </a:p>
        </p:txBody>
      </p:sp>
      <p:sp>
        <p:nvSpPr>
          <p:cNvPr id="25" name="TextBox 24"/>
          <p:cNvSpPr txBox="1"/>
          <p:nvPr/>
        </p:nvSpPr>
        <p:spPr>
          <a:xfrm>
            <a:off x="7715250" y="2153793"/>
            <a:ext cx="1156456" cy="194310"/>
          </a:xfrm>
          <a:prstGeom prst="rect">
            <a:avLst/>
          </a:prstGeom>
          <a:noFill/>
        </p:spPr>
        <p:txBody>
          <a:bodyPr wrap="none" lIns="0" rIns="0" tIns="0" bIns="0">
            <a:spAutoFit/>
          </a:bodyPr>
          <a:lstStyle/>
          <a:p>
            <a:r>
              <a:rPr sz="1150" b="0">
                <a:solidFill>
                  <a:srgbClr val="2E2E2E"/>
                </a:solidFill>
                <a:latin typeface="Calibri"/>
              </a:rPr>
              <a:t>Loose-Fill Shapes'.</a:t>
            </a:r>
          </a:p>
        </p:txBody>
      </p:sp>
      <p:sp>
        <p:nvSpPr>
          <p:cNvPr id="26" name="TextBox 25"/>
          <p:cNvSpPr txBox="1"/>
          <p:nvPr/>
        </p:nvSpPr>
        <p:spPr>
          <a:xfrm>
            <a:off x="7715250" y="2381631"/>
            <a:ext cx="1875835" cy="194310"/>
          </a:xfrm>
          <a:prstGeom prst="rect">
            <a:avLst/>
          </a:prstGeom>
          <a:noFill/>
        </p:spPr>
        <p:txBody>
          <a:bodyPr wrap="none" lIns="0" rIns="0" tIns="0" bIns="0">
            <a:spAutoFit/>
          </a:bodyPr>
          <a:lstStyle/>
          <a:p>
            <a:r>
              <a:rPr sz="1150" b="0">
                <a:solidFill>
                  <a:srgbClr val="2E2E2E"/>
                </a:solidFill>
                <a:latin typeface="Calibri"/>
              </a:rPr>
              <a:t>▪ 'Foam Sheets &amp; Rolls' gains +</a:t>
            </a:r>
          </a:p>
        </p:txBody>
      </p:sp>
      <p:pic>
        <p:nvPicPr>
          <p:cNvPr id="27" name="Picture 26" descr="lock.png"/>
          <p:cNvPicPr>
            <a:picLocks noChangeAspect="1"/>
          </p:cNvPicPr>
          <p:nvPr/>
        </p:nvPicPr>
        <p:blipFill>
          <a:blip r:embed="rId5"/>
          <a:stretch>
            <a:fillRect/>
          </a:stretch>
        </p:blipFill>
        <p:spPr>
          <a:xfrm>
            <a:off x="9540239" y="2371407"/>
            <a:ext cx="134549" cy="195707"/>
          </a:xfrm>
          <a:prstGeom prst="rect">
            <a:avLst/>
          </a:prstGeom>
        </p:spPr>
      </p:pic>
      <p:sp>
        <p:nvSpPr>
          <p:cNvPr id="28" name="TextBox 27"/>
          <p:cNvSpPr txBox="1"/>
          <p:nvPr/>
        </p:nvSpPr>
        <p:spPr>
          <a:xfrm>
            <a:off x="9715348" y="2381631"/>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29" name="TextBox 28"/>
          <p:cNvSpPr txBox="1"/>
          <p:nvPr/>
        </p:nvSpPr>
        <p:spPr>
          <a:xfrm>
            <a:off x="7715250" y="2556891"/>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0" name="lockshield_9"/>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Form × End-use Industry, 2026E–2036F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11906250" cy="3838575"/>
          </a:xfrm>
          <a:prstGeom prst="roundRect">
            <a:avLst>
              <a:gd name="adj" fmla="val 19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Product Form × End-use Industry, 2026E–2036F</a:t>
            </a:r>
          </a:p>
        </p:txBody>
      </p:sp>
      <p:graphicFrame>
        <p:nvGraphicFramePr>
          <p:cNvPr id="9" name="Table 8"/>
          <p:cNvGraphicFramePr>
            <a:graphicFrameLocks noGrp="1"/>
          </p:cNvGraphicFramePr>
          <p:nvPr/>
        </p:nvGraphicFramePr>
        <p:xfrm>
          <a:off x="152400" y="1238250"/>
          <a:ext cx="11895557" cy="3371850"/>
        </p:xfrm>
        <a:graphic>
          <a:graphicData uri="http://schemas.openxmlformats.org/drawingml/2006/table">
            <a:tbl>
              <a:tblPr>
                <a:tableStyleId>{5C22544A-7EE6-4342-B048-85BDC9FD1C3A}</a:tableStyleId>
              </a:tblPr>
              <a:tblGrid>
                <a:gridCol w="2007507"/>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7699"/>
                <a:gridCol w="382462"/>
                <a:gridCol w="375298"/>
                <a:gridCol w="390820"/>
              </a:tblGrid>
              <a:tr h="1017270">
                <a:tc rowSpan="2">
                  <a:txBody>
                    <a:bodyPr wrap="none"/>
                    <a:lstStyle/>
                    <a:p>
                      <a:pPr algn="l"/>
                      <a:r>
                        <a:rPr sz="1100" b="1">
                          <a:solidFill>
                            <a:srgbClr val="0E2A5C"/>
                          </a:solidFill>
                          <a:latin typeface="Calibri"/>
                        </a:rPr>
                        <a:t>Product Form</a:t>
                      </a: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Sheets &amp;</a:t>
                      </a:r>
                      <a:endParaRPr sz="1100"/>
                    </a:p>
                    <a:p>
                      <a:pPr algn="ctr"/>
                      <a:r>
                        <a:rPr sz="1100" b="1">
                          <a:solidFill>
                            <a:srgbClr val="0E2A5C"/>
                          </a:solidFill>
                          <a:latin typeface="Calibri"/>
                        </a:rPr>
                        <a:t>Rolls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Planks &amp;</a:t>
                      </a:r>
                      <a:endParaRPr sz="1100"/>
                    </a:p>
                    <a:p>
                      <a:pPr algn="ctr"/>
                      <a:r>
                        <a:rPr sz="1100" b="1">
                          <a:solidFill>
                            <a:srgbClr val="0E2A5C"/>
                          </a:solidFill>
                          <a:latin typeface="Calibri"/>
                        </a:rPr>
                        <a:t>Blocks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Die-Cut /</a:t>
                      </a:r>
                      <a:endParaRPr sz="1100"/>
                    </a:p>
                    <a:p>
                      <a:pPr algn="ctr"/>
                      <a:r>
                        <a:rPr sz="1100" b="1">
                          <a:solidFill>
                            <a:srgbClr val="0E2A5C"/>
                          </a:solidFill>
                          <a:latin typeface="Calibri"/>
                        </a:rPr>
                        <a:t>CNC-Cut</a:t>
                      </a:r>
                      <a:endParaRPr sz="1100"/>
                    </a:p>
                    <a:p>
                      <a:pPr algn="ctr"/>
                      <a:r>
                        <a:rPr sz="1100" b="1">
                          <a:solidFill>
                            <a:srgbClr val="0E2A5C"/>
                          </a:solidFill>
                          <a:latin typeface="Calibri"/>
                        </a:rPr>
                        <a:t>Foam</a:t>
                      </a:r>
                      <a:endParaRPr sz="1100"/>
                    </a:p>
                    <a:p>
                      <a:pPr algn="ctr"/>
                      <a:r>
                        <a:rPr sz="1100" b="1">
                          <a:solidFill>
                            <a:srgbClr val="0E2A5C"/>
                          </a:solidFill>
                          <a:latin typeface="Calibri"/>
                        </a:rPr>
                        <a:t>Inserts &amp;</a:t>
                      </a:r>
                      <a:endParaRPr sz="1100"/>
                    </a:p>
                    <a:p>
                      <a:pPr algn="ctr"/>
                      <a:r>
                        <a:rPr sz="1100" b="1">
                          <a:solidFill>
                            <a:srgbClr val="0E2A5C"/>
                          </a:solidFill>
                          <a:latin typeface="Calibri"/>
                        </a:rPr>
                        <a:t>Pads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Corner &amp;</a:t>
                      </a:r>
                      <a:endParaRPr sz="1100"/>
                    </a:p>
                    <a:p>
                      <a:pPr algn="ctr"/>
                      <a:r>
                        <a:rPr sz="1100" b="1">
                          <a:solidFill>
                            <a:srgbClr val="0E2A5C"/>
                          </a:solidFill>
                          <a:latin typeface="Calibri"/>
                        </a:rPr>
                        <a:t>Edge</a:t>
                      </a:r>
                      <a:endParaRPr sz="1100"/>
                    </a:p>
                    <a:p>
                      <a:pPr algn="ctr"/>
                      <a:r>
                        <a:rPr sz="1100" b="1">
                          <a:solidFill>
                            <a:srgbClr val="0E2A5C"/>
                          </a:solidFill>
                          <a:latin typeface="Calibri"/>
                        </a:rPr>
                        <a:t>Protectors /</a:t>
                      </a:r>
                      <a:endParaRPr sz="1100"/>
                    </a:p>
                    <a:p>
                      <a:pPr algn="ctr"/>
                      <a:r>
                        <a:rPr sz="1100" b="1">
                          <a:solidFill>
                            <a:srgbClr val="0E2A5C"/>
                          </a:solidFill>
                          <a:latin typeface="Calibri"/>
                        </a:rPr>
                        <a:t>Profiles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Dividers &amp;</a:t>
                      </a:r>
                      <a:endParaRPr sz="1100"/>
                    </a:p>
                    <a:p>
                      <a:pPr algn="ctr"/>
                      <a:r>
                        <a:rPr sz="1100" b="1">
                          <a:solidFill>
                            <a:srgbClr val="0E2A5C"/>
                          </a:solidFill>
                          <a:latin typeface="Calibri"/>
                        </a:rPr>
                        <a:t>Separators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Inserts, End</a:t>
                      </a:r>
                      <a:endParaRPr sz="1100"/>
                    </a:p>
                    <a:p>
                      <a:pPr algn="ctr"/>
                      <a:r>
                        <a:rPr sz="1100" b="1">
                          <a:solidFill>
                            <a:srgbClr val="0E2A5C"/>
                          </a:solidFill>
                          <a:latin typeface="Calibri"/>
                        </a:rPr>
                        <a:t>Caps &amp;</a:t>
                      </a:r>
                      <a:endParaRPr sz="1100"/>
                    </a:p>
                    <a:p>
                      <a:pPr algn="ctr"/>
                      <a:r>
                        <a:rPr sz="1100" b="1">
                          <a:solidFill>
                            <a:srgbClr val="0E2A5C"/>
                          </a:solidFill>
                          <a:latin typeface="Calibri"/>
                        </a:rPr>
                        <a:t>Cradles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Molded</a:t>
                      </a:r>
                      <a:endParaRPr sz="1100"/>
                    </a:p>
                    <a:p>
                      <a:pPr algn="ctr"/>
                      <a:r>
                        <a:rPr sz="1100" b="1">
                          <a:solidFill>
                            <a:srgbClr val="0E2A5C"/>
                          </a:solidFill>
                          <a:latin typeface="Calibri"/>
                        </a:rPr>
                        <a:t>Protective</a:t>
                      </a:r>
                      <a:endParaRPr sz="1100"/>
                    </a:p>
                    <a:p>
                      <a:pPr algn="ctr"/>
                      <a:r>
                        <a:rPr sz="1100" b="1">
                          <a:solidFill>
                            <a:srgbClr val="0E2A5C"/>
                          </a:solidFill>
                          <a:latin typeface="Calibri"/>
                        </a:rPr>
                        <a:t>Trays &amp;</a:t>
                      </a:r>
                      <a:endParaRPr sz="1100"/>
                    </a:p>
                    <a:p>
                      <a:pPr algn="ctr"/>
                      <a:r>
                        <a:rPr sz="1100" b="1">
                          <a:solidFill>
                            <a:srgbClr val="0E2A5C"/>
                          </a:solidFill>
                          <a:latin typeface="Calibri"/>
                        </a:rPr>
                        <a:t>Containers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Direct-</a:t>
                      </a:r>
                      <a:endParaRPr sz="1100"/>
                    </a:p>
                    <a:p>
                      <a:pPr algn="ctr"/>
                      <a:r>
                        <a:rPr sz="1100" b="1">
                          <a:solidFill>
                            <a:srgbClr val="0E2A5C"/>
                          </a:solidFill>
                          <a:latin typeface="Calibri"/>
                        </a:rPr>
                        <a:t>Dispensed</a:t>
                      </a:r>
                      <a:endParaRPr sz="1100"/>
                    </a:p>
                    <a:p>
                      <a:pPr algn="ctr"/>
                      <a:r>
                        <a:rPr sz="1100" b="1">
                          <a:solidFill>
                            <a:srgbClr val="0E2A5C"/>
                          </a:solidFill>
                          <a:latin typeface="Calibri"/>
                        </a:rPr>
                        <a:t>Foam-in-</a:t>
                      </a:r>
                      <a:endParaRPr sz="1100"/>
                    </a:p>
                    <a:p>
                      <a:pPr algn="ctr"/>
                      <a:r>
                        <a:rPr sz="1100" b="1">
                          <a:solidFill>
                            <a:srgbClr val="0E2A5C"/>
                          </a:solidFill>
                          <a:latin typeface="Calibri"/>
                        </a:rPr>
                        <a:t>Place</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Foam-in-</a:t>
                      </a:r>
                      <a:endParaRPr sz="1100"/>
                    </a:p>
                    <a:p>
                      <a:pPr algn="ctr"/>
                      <a:r>
                        <a:rPr sz="1100" b="1">
                          <a:solidFill>
                            <a:srgbClr val="0E2A5C"/>
                          </a:solidFill>
                          <a:latin typeface="Calibri"/>
                        </a:rPr>
                        <a:t>Bag / On-</a:t>
                      </a:r>
                      <a:endParaRPr sz="1100"/>
                    </a:p>
                    <a:p>
                      <a:pPr algn="ctr"/>
                      <a:r>
                        <a:rPr sz="1100" b="1">
                          <a:solidFill>
                            <a:srgbClr val="0E2A5C"/>
                          </a:solidFill>
                          <a:latin typeface="Calibri"/>
                        </a:rPr>
                        <a:t>Demand</a:t>
                      </a:r>
                      <a:endParaRPr sz="1100"/>
                    </a:p>
                    <a:p>
                      <a:pPr algn="ctr"/>
                      <a:r>
                        <a:rPr sz="1100" b="1">
                          <a:solidFill>
                            <a:srgbClr val="0E2A5C"/>
                          </a:solidFill>
                          <a:latin typeface="Calibri"/>
                        </a:rPr>
                        <a:t>Foam</a:t>
                      </a:r>
                      <a:endParaRPr sz="1100"/>
                    </a:p>
                    <a:p>
                      <a:pPr algn="ctr"/>
                      <a:r>
                        <a:rPr sz="1100" b="1">
                          <a:solidFill>
                            <a:srgbClr val="0E2A5C"/>
                          </a:solidFill>
                          <a:latin typeface="Calibri"/>
                        </a:rPr>
                        <a:t>Cushions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Pouches &amp;</a:t>
                      </a:r>
                      <a:endParaRPr sz="1100"/>
                    </a:p>
                    <a:p>
                      <a:pPr algn="ctr"/>
                      <a:r>
                        <a:rPr sz="1100" b="1">
                          <a:solidFill>
                            <a:srgbClr val="0E2A5C"/>
                          </a:solidFill>
                          <a:latin typeface="Calibri"/>
                        </a:rPr>
                        <a:t>Bags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Pre-</a:t>
                      </a:r>
                      <a:endParaRPr sz="1100"/>
                    </a:p>
                    <a:p>
                      <a:pPr algn="ctr"/>
                      <a:r>
                        <a:rPr sz="1100" b="1">
                          <a:solidFill>
                            <a:srgbClr val="0E2A5C"/>
                          </a:solidFill>
                          <a:latin typeface="Calibri"/>
                        </a:rPr>
                        <a:t>Fabricated</a:t>
                      </a:r>
                      <a:endParaRPr sz="1100"/>
                    </a:p>
                    <a:p>
                      <a:pPr algn="ctr"/>
                      <a:r>
                        <a:rPr sz="1100" b="1">
                          <a:solidFill>
                            <a:srgbClr val="0E2A5C"/>
                          </a:solidFill>
                          <a:latin typeface="Calibri"/>
                        </a:rPr>
                        <a:t>Foam</a:t>
                      </a:r>
                      <a:endParaRPr sz="1100"/>
                    </a:p>
                    <a:p>
                      <a:pPr algn="ctr"/>
                      <a:r>
                        <a:rPr sz="1100" b="1">
                          <a:solidFill>
                            <a:srgbClr val="0E2A5C"/>
                          </a:solidFill>
                          <a:latin typeface="Calibri"/>
                        </a:rPr>
                        <a:t>Sleeves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Foam</a:t>
                      </a:r>
                      <a:endParaRPr sz="1100"/>
                    </a:p>
                    <a:p>
                      <a:pPr algn="ctr"/>
                      <a:r>
                        <a:rPr sz="1100" b="1">
                          <a:solidFill>
                            <a:srgbClr val="0E2A5C"/>
                          </a:solidFill>
                          <a:latin typeface="Calibri"/>
                        </a:rPr>
                        <a:t>Packing</a:t>
                      </a:r>
                      <a:endParaRPr sz="1100"/>
                    </a:p>
                    <a:p>
                      <a:pPr algn="ctr"/>
                      <a:r>
                        <a:rPr sz="1100" b="1">
                          <a:solidFill>
                            <a:srgbClr val="0E2A5C"/>
                          </a:solidFill>
                          <a:latin typeface="Calibri"/>
                        </a:rPr>
                        <a:t>Peanuts /</a:t>
                      </a:r>
                      <a:endParaRPr sz="1100"/>
                    </a:p>
                    <a:p>
                      <a:pPr algn="ctr"/>
                      <a:r>
                        <a:rPr sz="1100" b="1">
                          <a:solidFill>
                            <a:srgbClr val="0E2A5C"/>
                          </a:solidFill>
                          <a:latin typeface="Calibri"/>
                        </a:rPr>
                        <a:t>Loose-Fill</a:t>
                      </a:r>
                      <a:endParaRPr sz="1100"/>
                    </a:p>
                    <a:p>
                      <a:pPr algn="ctr"/>
                      <a:r>
                        <a:rPr sz="1100" b="1">
                          <a:solidFill>
                            <a:srgbClr val="0E2A5C"/>
                          </a:solidFill>
                          <a:latin typeface="Calibri"/>
                        </a:rPr>
                        <a:t>Shapes</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c gridSpan="2">
                  <a:txBody>
                    <a:bodyPr wrap="none"/>
                    <a:lstStyle/>
                    <a:p>
                      <a:pPr algn="ctr"/>
                      <a:r>
                        <a:rPr sz="1100" b="1">
                          <a:solidFill>
                            <a:srgbClr val="0E2A5C"/>
                          </a:solidFill>
                          <a:latin typeface="Calibri"/>
                        </a:rPr>
                        <a:t>Total</a:t>
                      </a:r>
                      <a:endParaRPr sz="1100"/>
                    </a:p>
                  </a:txBody>
                  <a:tcPr marL="19050" marR="14288" marT="19050" marB="19050" anchor="ctr">
                    <a:solidFill>
                      <a:srgbClr val="EBF2F9"/>
                    </a:solidFill>
                  </a:tcPr>
                </a:tc>
                <a:tc hMerge="1">
                  <a:txBody>
                    <a:bodyPr wrap="none"/>
                    <a:lstStyle/>
                    <a:p>
                      <a:pPr algn="ctr"/>
                      <a:endParaRPr sz="1100"/>
                    </a:p>
                  </a:txBody>
                  <a:tcPr marL="19050" marR="14288" marT="19050" marB="19050" anchor="ctr">
                    <a:solidFill>
                      <a:srgbClr val="EBF2F9"/>
                    </a:solidFill>
                  </a:tcPr>
                </a:tc>
              </a:tr>
              <a:tr h="438912">
                <a:tc vMerge="1">
                  <a:txBody>
                    <a:bodyPr wrap="none"/>
                    <a:lstStyle/>
                    <a:p>
                      <a:pPr algn="l"/>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US$ Mn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CAGR</a:t>
                      </a:r>
                      <a:endParaRPr sz="1100"/>
                    </a:p>
                  </a:txBody>
                  <a:tcPr marL="19050" marR="14288" marT="19050" marB="19050" anchor="ctr">
                    <a:solidFill>
                      <a:srgbClr val="EBF2F9"/>
                    </a:solidFill>
                  </a:tcPr>
                </a:tc>
              </a:tr>
              <a:tr h="246126">
                <a:tc>
                  <a:txBody>
                    <a:bodyPr wrap="none"/>
                    <a:lstStyle/>
                    <a:p>
                      <a:pPr algn="l"/>
                      <a:r>
                        <a:rPr sz="1100" b="1">
                          <a:solidFill>
                            <a:srgbClr val="2E2E2E"/>
                          </a:solidFill>
                          <a:latin typeface="Calibri"/>
                        </a:rPr>
                        <a:t>Foam Sheets, Rolls &amp; Planks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126">
                <a:tc>
                  <a:txBody>
                    <a:bodyPr wrap="none"/>
                    <a:lstStyle/>
                    <a:p>
                      <a:pPr algn="l"/>
                      <a:r>
                        <a:rPr sz="1100" b="1">
                          <a:solidFill>
                            <a:srgbClr val="2E2E2E"/>
                          </a:solidFill>
                          <a:latin typeface="Calibri"/>
                        </a:rPr>
                        <a:t>Fabricated Foam 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126">
                <a:tc>
                  <a:txBody>
                    <a:bodyPr wrap="none"/>
                    <a:lstStyle/>
                    <a:p>
                      <a:pPr algn="l"/>
                      <a:r>
                        <a:rPr sz="1100" b="1">
                          <a:solidFill>
                            <a:srgbClr val="2E2E2E"/>
                          </a:solidFill>
                          <a:latin typeface="Calibri"/>
                        </a:rPr>
                        <a:t>Molded Foam Packaging</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126">
                <a:tc>
                  <a:txBody>
                    <a:bodyPr wrap="none"/>
                    <a:lstStyle/>
                    <a:p>
                      <a:pPr algn="l"/>
                      <a:r>
                        <a:rPr sz="1100" b="1">
                          <a:solidFill>
                            <a:srgbClr val="2E2E2E"/>
                          </a:solidFill>
                          <a:latin typeface="Calibri"/>
                        </a:rPr>
                        <a:t>Foam-in-Place 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8912">
                <a:tc>
                  <a:txBody>
                    <a:bodyPr wrap="none"/>
                    <a:lstStyle/>
                    <a:p>
                      <a:pPr algn="l"/>
                      <a:r>
                        <a:rPr sz="1100" b="1">
                          <a:solidFill>
                            <a:srgbClr val="2E2E2E"/>
                          </a:solidFill>
                          <a:latin typeface="Calibri"/>
                        </a:rPr>
                        <a:t>Foam Pouches, Bags &amp;</a:t>
                      </a:r>
                      <a:endParaRPr sz="1100"/>
                    </a:p>
                    <a:p>
                      <a:pPr algn="l"/>
                      <a:r>
                        <a:rPr sz="1100" b="1">
                          <a:solidFill>
                            <a:srgbClr val="2E2E2E"/>
                          </a:solidFill>
                          <a:latin typeface="Calibri"/>
                        </a:rPr>
                        <a:t>Sleeves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126">
                <a:tc>
                  <a:txBody>
                    <a:bodyPr wrap="none"/>
                    <a:lstStyle/>
                    <a:p>
                      <a:pPr algn="l"/>
                      <a:r>
                        <a:rPr sz="1100" b="1">
                          <a:solidFill>
                            <a:srgbClr val="2E2E2E"/>
                          </a:solidFill>
                          <a:latin typeface="Calibri"/>
                        </a:rPr>
                        <a:t>Foam Loose-Fill Packaging</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b="0">
                          <a:solidFill>
                            <a:srgbClr val="2E2E2E"/>
                          </a:solidFill>
                          <a:latin typeface="Calibri"/>
                        </a:rPr>
                        <a:t>–</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l"/>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6126">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l"/>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46196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805111" y="3385566"/>
            <a:ext cx="366712" cy="53340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Product Form × End-use Industry, 2026E–2036F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7" name="Rounded Rectangle 6"/>
          <p:cNvSpPr/>
          <p:nvPr/>
        </p:nvSpPr>
        <p:spPr>
          <a:xfrm>
            <a:off x="142875" y="981075"/>
            <a:ext cx="5600700" cy="5648325"/>
          </a:xfrm>
          <a:prstGeom prst="roundRect">
            <a:avLst>
              <a:gd name="adj" fmla="val 13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334000" cy="209550"/>
          </a:xfrm>
          <a:prstGeom prst="rect">
            <a:avLst/>
          </a:prstGeom>
          <a:noFill/>
        </p:spPr>
        <p:txBody>
          <a:bodyPr wrap="square" lIns="0" rIns="19050" tIns="9525" bIns="9525">
            <a:spAutoFit/>
          </a:bodyPr>
          <a:lstStyle/>
          <a:p>
            <a:pPr algn="l"/>
            <a:r>
              <a:rPr sz="1300" b="1">
                <a:solidFill>
                  <a:srgbClr val="0E2A5C"/>
                </a:solidFill>
                <a:latin typeface="Calibri"/>
              </a:rPr>
              <a:t>Top 5 Opportunity Cells (US$ Mn · CAGR · Index)</a:t>
            </a:r>
          </a:p>
        </p:txBody>
      </p:sp>
      <p:sp>
        <p:nvSpPr>
          <p:cNvPr id="9" name="Rectangle 8"/>
          <p:cNvSpPr/>
          <p:nvPr/>
        </p:nvSpPr>
        <p:spPr>
          <a:xfrm>
            <a:off x="276225" y="1304925"/>
            <a:ext cx="53340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334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5895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29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Largest Pool</a:t>
            </a:r>
          </a:p>
        </p:txBody>
      </p:sp>
      <p:sp>
        <p:nvSpPr>
          <p:cNvPr id="13" name="Rectangle 12"/>
          <p:cNvSpPr/>
          <p:nvPr/>
        </p:nvSpPr>
        <p:spPr>
          <a:xfrm>
            <a:off x="6029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29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79914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48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Fastest Growth</a:t>
            </a:r>
          </a:p>
        </p:txBody>
      </p:sp>
      <p:sp>
        <p:nvSpPr>
          <p:cNvPr id="17" name="Rectangle 16"/>
          <p:cNvSpPr/>
          <p:nvPr/>
        </p:nvSpPr>
        <p:spPr>
          <a:xfrm>
            <a:off x="81248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48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10086975" y="981075"/>
            <a:ext cx="1943100" cy="5648325"/>
          </a:xfrm>
          <a:prstGeom prst="roundRect">
            <a:avLst>
              <a:gd name="adj" fmla="val 392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20325" y="1066800"/>
            <a:ext cx="1676400" cy="209550"/>
          </a:xfrm>
          <a:prstGeom prst="rect">
            <a:avLst/>
          </a:prstGeom>
          <a:noFill/>
        </p:spPr>
        <p:txBody>
          <a:bodyPr wrap="square" lIns="0" rIns="19050" tIns="9525" bIns="9525">
            <a:spAutoFit/>
          </a:bodyPr>
          <a:lstStyle/>
          <a:p>
            <a:pPr algn="l"/>
            <a:r>
              <a:rPr sz="1300" b="1">
                <a:solidFill>
                  <a:srgbClr val="0E2A5C"/>
                </a:solidFill>
                <a:latin typeface="Calibri"/>
              </a:rPr>
              <a:t>Where to Play</a:t>
            </a:r>
          </a:p>
        </p:txBody>
      </p:sp>
      <p:sp>
        <p:nvSpPr>
          <p:cNvPr id="21" name="Rectangle 20"/>
          <p:cNvSpPr/>
          <p:nvPr/>
        </p:nvSpPr>
        <p:spPr>
          <a:xfrm>
            <a:off x="10220325" y="1304925"/>
            <a:ext cx="16764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20325" y="1390650"/>
            <a:ext cx="16764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'Foam Sheets, Rolls &amp; Planks × Foam Sheets &amp; Rolls' ranks highest (5/5); 'Foam Sheets, Rolls &amp; Planks × Die-Cut / CNC-Cut Foam Inserts &amp; Pads' lowest (1/5), a deprioritised cell.</a:t>
            </a:r>
          </a:p>
        </p:txBody>
      </p:sp>
      <p:sp>
        <p:nvSpPr>
          <p:cNvPr id="23" name="Rectangle 2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5" name="TextBox 24"/>
          <p:cNvSpPr txBox="1"/>
          <p:nvPr/>
        </p:nvSpPr>
        <p:spPr>
          <a:xfrm>
            <a:off x="276225" y="1400175"/>
            <a:ext cx="3409614" cy="194310"/>
          </a:xfrm>
          <a:prstGeom prst="rect">
            <a:avLst/>
          </a:prstGeom>
          <a:noFill/>
        </p:spPr>
        <p:txBody>
          <a:bodyPr wrap="none" lIns="0" rIns="0" tIns="0" bIns="0">
            <a:spAutoFit/>
          </a:bodyPr>
          <a:lstStyle/>
          <a:p>
            <a:r>
              <a:rPr sz="1150" b="0">
                <a:solidFill>
                  <a:srgbClr val="2E2E2E"/>
                </a:solidFill>
                <a:latin typeface="Calibri"/>
              </a:rPr>
              <a:t>▪ 1. Foam Sheets, Rolls &amp; Planks × Foam Sheets &amp; Rolls –</a:t>
            </a:r>
          </a:p>
        </p:txBody>
      </p:sp>
      <p:pic>
        <p:nvPicPr>
          <p:cNvPr id="26" name="Picture 25" descr="lock.png"/>
          <p:cNvPicPr>
            <a:picLocks noChangeAspect="1"/>
          </p:cNvPicPr>
          <p:nvPr/>
        </p:nvPicPr>
        <p:blipFill>
          <a:blip r:embed="rId4"/>
          <a:stretch>
            <a:fillRect/>
          </a:stretch>
        </p:blipFill>
        <p:spPr>
          <a:xfrm>
            <a:off x="3634993" y="1389951"/>
            <a:ext cx="134549" cy="195707"/>
          </a:xfrm>
          <a:prstGeom prst="rect">
            <a:avLst/>
          </a:prstGeom>
        </p:spPr>
      </p:pic>
      <p:sp>
        <p:nvSpPr>
          <p:cNvPr id="27" name="TextBox 26"/>
          <p:cNvSpPr txBox="1"/>
          <p:nvPr/>
        </p:nvSpPr>
        <p:spPr>
          <a:xfrm>
            <a:off x="3810102" y="1400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28" name="Picture 27" descr="lock.png"/>
          <p:cNvPicPr>
            <a:picLocks noChangeAspect="1"/>
          </p:cNvPicPr>
          <p:nvPr/>
        </p:nvPicPr>
        <p:blipFill>
          <a:blip r:embed="rId4"/>
          <a:stretch>
            <a:fillRect/>
          </a:stretch>
        </p:blipFill>
        <p:spPr>
          <a:xfrm>
            <a:off x="3872254" y="1389951"/>
            <a:ext cx="134549" cy="195707"/>
          </a:xfrm>
          <a:prstGeom prst="rect">
            <a:avLst/>
          </a:prstGeom>
        </p:spPr>
      </p:pic>
      <p:sp>
        <p:nvSpPr>
          <p:cNvPr id="29" name="TextBox 28"/>
          <p:cNvSpPr txBox="1"/>
          <p:nvPr/>
        </p:nvSpPr>
        <p:spPr>
          <a:xfrm>
            <a:off x="4047363" y="1400175"/>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0" name="TextBox 29"/>
          <p:cNvSpPr txBox="1"/>
          <p:nvPr/>
        </p:nvSpPr>
        <p:spPr>
          <a:xfrm>
            <a:off x="276225" y="1628013"/>
            <a:ext cx="3488630" cy="194310"/>
          </a:xfrm>
          <a:prstGeom prst="rect">
            <a:avLst/>
          </a:prstGeom>
          <a:noFill/>
        </p:spPr>
        <p:txBody>
          <a:bodyPr wrap="none" lIns="0" rIns="0" tIns="0" bIns="0">
            <a:spAutoFit/>
          </a:bodyPr>
          <a:lstStyle/>
          <a:p>
            <a:r>
              <a:rPr sz="1150" b="0">
                <a:solidFill>
                  <a:srgbClr val="2E2E2E"/>
                </a:solidFill>
                <a:latin typeface="Calibri"/>
              </a:rPr>
              <a:t>▪ 2. Foam Sheets, Rolls &amp; Planks × Foam Planks &amp; Blocks –</a:t>
            </a:r>
          </a:p>
        </p:txBody>
      </p:sp>
      <p:pic>
        <p:nvPicPr>
          <p:cNvPr id="31" name="Picture 30" descr="lock.png"/>
          <p:cNvPicPr>
            <a:picLocks noChangeAspect="1"/>
          </p:cNvPicPr>
          <p:nvPr/>
        </p:nvPicPr>
        <p:blipFill>
          <a:blip r:embed="rId4"/>
          <a:stretch>
            <a:fillRect/>
          </a:stretch>
        </p:blipFill>
        <p:spPr>
          <a:xfrm>
            <a:off x="3714009" y="1617789"/>
            <a:ext cx="134549" cy="195707"/>
          </a:xfrm>
          <a:prstGeom prst="rect">
            <a:avLst/>
          </a:prstGeom>
        </p:spPr>
      </p:pic>
      <p:sp>
        <p:nvSpPr>
          <p:cNvPr id="32" name="TextBox 31"/>
          <p:cNvSpPr txBox="1"/>
          <p:nvPr/>
        </p:nvSpPr>
        <p:spPr>
          <a:xfrm>
            <a:off x="3889118" y="1628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3" name="Picture 32" descr="lock.png"/>
          <p:cNvPicPr>
            <a:picLocks noChangeAspect="1"/>
          </p:cNvPicPr>
          <p:nvPr/>
        </p:nvPicPr>
        <p:blipFill>
          <a:blip r:embed="rId4"/>
          <a:stretch>
            <a:fillRect/>
          </a:stretch>
        </p:blipFill>
        <p:spPr>
          <a:xfrm>
            <a:off x="3951269" y="1617789"/>
            <a:ext cx="134549" cy="195707"/>
          </a:xfrm>
          <a:prstGeom prst="rect">
            <a:avLst/>
          </a:prstGeom>
        </p:spPr>
      </p:pic>
      <p:sp>
        <p:nvSpPr>
          <p:cNvPr id="34" name="TextBox 33"/>
          <p:cNvSpPr txBox="1"/>
          <p:nvPr/>
        </p:nvSpPr>
        <p:spPr>
          <a:xfrm>
            <a:off x="4126379" y="1628013"/>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35" name="TextBox 34"/>
          <p:cNvSpPr txBox="1"/>
          <p:nvPr/>
        </p:nvSpPr>
        <p:spPr>
          <a:xfrm>
            <a:off x="276225" y="1855851"/>
            <a:ext cx="4075049" cy="194310"/>
          </a:xfrm>
          <a:prstGeom prst="rect">
            <a:avLst/>
          </a:prstGeom>
          <a:noFill/>
        </p:spPr>
        <p:txBody>
          <a:bodyPr wrap="none" lIns="0" rIns="0" tIns="0" bIns="0">
            <a:spAutoFit/>
          </a:bodyPr>
          <a:lstStyle/>
          <a:p>
            <a:r>
              <a:rPr sz="1150" b="0">
                <a:solidFill>
                  <a:srgbClr val="2E2E2E"/>
                </a:solidFill>
                <a:latin typeface="Calibri"/>
              </a:rPr>
              <a:t>▪ 3. Foam Pouches, Bags &amp; Sleeves × Pre-Fabricated Foam Sleeves –</a:t>
            </a:r>
          </a:p>
        </p:txBody>
      </p:sp>
      <p:pic>
        <p:nvPicPr>
          <p:cNvPr id="36" name="Picture 35" descr="lock.png"/>
          <p:cNvPicPr>
            <a:picLocks noChangeAspect="1"/>
          </p:cNvPicPr>
          <p:nvPr/>
        </p:nvPicPr>
        <p:blipFill>
          <a:blip r:embed="rId4"/>
          <a:stretch>
            <a:fillRect/>
          </a:stretch>
        </p:blipFill>
        <p:spPr>
          <a:xfrm>
            <a:off x="4300428" y="1845627"/>
            <a:ext cx="134549" cy="195707"/>
          </a:xfrm>
          <a:prstGeom prst="rect">
            <a:avLst/>
          </a:prstGeom>
        </p:spPr>
      </p:pic>
      <p:sp>
        <p:nvSpPr>
          <p:cNvPr id="37" name="TextBox 36"/>
          <p:cNvSpPr txBox="1"/>
          <p:nvPr/>
        </p:nvSpPr>
        <p:spPr>
          <a:xfrm>
            <a:off x="4475537" y="1855851"/>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8" name="Picture 37" descr="lock.png"/>
          <p:cNvPicPr>
            <a:picLocks noChangeAspect="1"/>
          </p:cNvPicPr>
          <p:nvPr/>
        </p:nvPicPr>
        <p:blipFill>
          <a:blip r:embed="rId4"/>
          <a:stretch>
            <a:fillRect/>
          </a:stretch>
        </p:blipFill>
        <p:spPr>
          <a:xfrm>
            <a:off x="4537689" y="1845627"/>
            <a:ext cx="134549" cy="195707"/>
          </a:xfrm>
          <a:prstGeom prst="rect">
            <a:avLst/>
          </a:prstGeom>
        </p:spPr>
      </p:pic>
      <p:sp>
        <p:nvSpPr>
          <p:cNvPr id="39" name="TextBox 38"/>
          <p:cNvSpPr txBox="1"/>
          <p:nvPr/>
        </p:nvSpPr>
        <p:spPr>
          <a:xfrm>
            <a:off x="4712798" y="1855851"/>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0" name="TextBox 39"/>
          <p:cNvSpPr txBox="1"/>
          <p:nvPr/>
        </p:nvSpPr>
        <p:spPr>
          <a:xfrm>
            <a:off x="276225" y="2083689"/>
            <a:ext cx="4109088" cy="194310"/>
          </a:xfrm>
          <a:prstGeom prst="rect">
            <a:avLst/>
          </a:prstGeom>
          <a:noFill/>
        </p:spPr>
        <p:txBody>
          <a:bodyPr wrap="none" lIns="0" rIns="0" tIns="0" bIns="0">
            <a:spAutoFit/>
          </a:bodyPr>
          <a:lstStyle/>
          <a:p>
            <a:r>
              <a:rPr sz="1150" b="0">
                <a:solidFill>
                  <a:srgbClr val="2E2E2E"/>
                </a:solidFill>
                <a:latin typeface="Calibri"/>
              </a:rPr>
              <a:t>▪ 4. Molded Foam Packaging × Molded Inserts, End Caps &amp; Cradles –</a:t>
            </a:r>
          </a:p>
        </p:txBody>
      </p:sp>
      <p:pic>
        <p:nvPicPr>
          <p:cNvPr id="41" name="Picture 40" descr="lock.png"/>
          <p:cNvPicPr>
            <a:picLocks noChangeAspect="1"/>
          </p:cNvPicPr>
          <p:nvPr/>
        </p:nvPicPr>
        <p:blipFill>
          <a:blip r:embed="rId4"/>
          <a:stretch>
            <a:fillRect/>
          </a:stretch>
        </p:blipFill>
        <p:spPr>
          <a:xfrm>
            <a:off x="4334467" y="2073465"/>
            <a:ext cx="134549" cy="195707"/>
          </a:xfrm>
          <a:prstGeom prst="rect">
            <a:avLst/>
          </a:prstGeom>
        </p:spPr>
      </p:pic>
      <p:sp>
        <p:nvSpPr>
          <p:cNvPr id="42" name="TextBox 41"/>
          <p:cNvSpPr txBox="1"/>
          <p:nvPr/>
        </p:nvSpPr>
        <p:spPr>
          <a:xfrm>
            <a:off x="4509576" y="2083689"/>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3" name="Picture 42" descr="lock.png"/>
          <p:cNvPicPr>
            <a:picLocks noChangeAspect="1"/>
          </p:cNvPicPr>
          <p:nvPr/>
        </p:nvPicPr>
        <p:blipFill>
          <a:blip r:embed="rId4"/>
          <a:stretch>
            <a:fillRect/>
          </a:stretch>
        </p:blipFill>
        <p:spPr>
          <a:xfrm>
            <a:off x="4571728" y="2073465"/>
            <a:ext cx="134549" cy="195707"/>
          </a:xfrm>
          <a:prstGeom prst="rect">
            <a:avLst/>
          </a:prstGeom>
        </p:spPr>
      </p:pic>
      <p:sp>
        <p:nvSpPr>
          <p:cNvPr id="44" name="TextBox 43"/>
          <p:cNvSpPr txBox="1"/>
          <p:nvPr/>
        </p:nvSpPr>
        <p:spPr>
          <a:xfrm>
            <a:off x="4746837" y="2083689"/>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45" name="TextBox 44"/>
          <p:cNvSpPr txBox="1"/>
          <p:nvPr/>
        </p:nvSpPr>
        <p:spPr>
          <a:xfrm>
            <a:off x="276225" y="2311527"/>
            <a:ext cx="4259702" cy="194310"/>
          </a:xfrm>
          <a:prstGeom prst="rect">
            <a:avLst/>
          </a:prstGeom>
          <a:noFill/>
        </p:spPr>
        <p:txBody>
          <a:bodyPr wrap="none" lIns="0" rIns="0" tIns="0" bIns="0">
            <a:spAutoFit/>
          </a:bodyPr>
          <a:lstStyle/>
          <a:p>
            <a:r>
              <a:rPr sz="1150" b="0">
                <a:solidFill>
                  <a:srgbClr val="2E2E2E"/>
                </a:solidFill>
                <a:latin typeface="Calibri"/>
              </a:rPr>
              <a:t>▪ 5. Molded Foam Packaging × Molded Protective Trays &amp; Containers –</a:t>
            </a:r>
          </a:p>
        </p:txBody>
      </p:sp>
      <p:pic>
        <p:nvPicPr>
          <p:cNvPr id="46" name="Picture 45" descr="lock.png"/>
          <p:cNvPicPr>
            <a:picLocks noChangeAspect="1"/>
          </p:cNvPicPr>
          <p:nvPr/>
        </p:nvPicPr>
        <p:blipFill>
          <a:blip r:embed="rId4"/>
          <a:stretch>
            <a:fillRect/>
          </a:stretch>
        </p:blipFill>
        <p:spPr>
          <a:xfrm>
            <a:off x="4485081" y="2301303"/>
            <a:ext cx="134549" cy="195707"/>
          </a:xfrm>
          <a:prstGeom prst="rect">
            <a:avLst/>
          </a:prstGeom>
        </p:spPr>
      </p:pic>
      <p:sp>
        <p:nvSpPr>
          <p:cNvPr id="47" name="TextBox 46"/>
          <p:cNvSpPr txBox="1"/>
          <p:nvPr/>
        </p:nvSpPr>
        <p:spPr>
          <a:xfrm>
            <a:off x="4660190" y="231152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4722342" y="2301303"/>
            <a:ext cx="134549" cy="195707"/>
          </a:xfrm>
          <a:prstGeom prst="rect">
            <a:avLst/>
          </a:prstGeom>
        </p:spPr>
      </p:pic>
      <p:sp>
        <p:nvSpPr>
          <p:cNvPr id="49" name="TextBox 48"/>
          <p:cNvSpPr txBox="1"/>
          <p:nvPr/>
        </p:nvSpPr>
        <p:spPr>
          <a:xfrm>
            <a:off x="4897451" y="2311527"/>
            <a:ext cx="350899" cy="194310"/>
          </a:xfrm>
          <a:prstGeom prst="rect">
            <a:avLst/>
          </a:prstGeom>
          <a:noFill/>
        </p:spPr>
        <p:txBody>
          <a:bodyPr wrap="none" lIns="0" rIns="0" tIns="0" bIns="0">
            <a:spAutoFit/>
          </a:bodyPr>
          <a:lstStyle/>
          <a:p>
            <a:r>
              <a:rPr sz="1150" b="0">
                <a:solidFill>
                  <a:srgbClr val="2E2E2E"/>
                </a:solidFill>
                <a:latin typeface="Calibri"/>
              </a:rPr>
              <a:t>· 4/5</a:t>
            </a:r>
          </a:p>
        </p:txBody>
      </p:sp>
      <p:sp>
        <p:nvSpPr>
          <p:cNvPr id="50" name="TextBox 49"/>
          <p:cNvSpPr txBox="1"/>
          <p:nvPr/>
        </p:nvSpPr>
        <p:spPr>
          <a:xfrm>
            <a:off x="6029325" y="1400175"/>
            <a:ext cx="1435118" cy="194310"/>
          </a:xfrm>
          <a:prstGeom prst="rect">
            <a:avLst/>
          </a:prstGeom>
          <a:noFill/>
        </p:spPr>
        <p:txBody>
          <a:bodyPr wrap="none" lIns="0" rIns="0" tIns="0" bIns="0">
            <a:spAutoFit/>
          </a:bodyPr>
          <a:lstStyle/>
          <a:p>
            <a:r>
              <a:rPr sz="1150" b="0">
                <a:solidFill>
                  <a:srgbClr val="2E2E2E"/>
                </a:solidFill>
                <a:latin typeface="Calibri"/>
              </a:rPr>
              <a:t>▪ 'Foam Sheets, Rolls &amp;</a:t>
            </a:r>
          </a:p>
        </p:txBody>
      </p:sp>
      <p:sp>
        <p:nvSpPr>
          <p:cNvPr id="51" name="TextBox 50"/>
          <p:cNvSpPr txBox="1"/>
          <p:nvPr/>
        </p:nvSpPr>
        <p:spPr>
          <a:xfrm>
            <a:off x="6029325" y="1575435"/>
            <a:ext cx="1486178" cy="194310"/>
          </a:xfrm>
          <a:prstGeom prst="rect">
            <a:avLst/>
          </a:prstGeom>
          <a:noFill/>
        </p:spPr>
        <p:txBody>
          <a:bodyPr wrap="none" lIns="0" rIns="0" tIns="0" bIns="0">
            <a:spAutoFit/>
          </a:bodyPr>
          <a:lstStyle/>
          <a:p>
            <a:r>
              <a:rPr sz="1150" b="0">
                <a:solidFill>
                  <a:srgbClr val="2E2E2E"/>
                </a:solidFill>
                <a:latin typeface="Calibri"/>
              </a:rPr>
              <a:t>Planks × Foam Sheets &amp;</a:t>
            </a:r>
          </a:p>
        </p:txBody>
      </p:sp>
      <p:sp>
        <p:nvSpPr>
          <p:cNvPr id="52" name="TextBox 51"/>
          <p:cNvSpPr txBox="1"/>
          <p:nvPr/>
        </p:nvSpPr>
        <p:spPr>
          <a:xfrm>
            <a:off x="6029325" y="1750695"/>
            <a:ext cx="702617" cy="194310"/>
          </a:xfrm>
          <a:prstGeom prst="rect">
            <a:avLst/>
          </a:prstGeom>
          <a:noFill/>
        </p:spPr>
        <p:txBody>
          <a:bodyPr wrap="none" lIns="0" rIns="0" tIns="0" bIns="0">
            <a:spAutoFit/>
          </a:bodyPr>
          <a:lstStyle/>
          <a:p>
            <a:r>
              <a:rPr sz="1150" b="0">
                <a:solidFill>
                  <a:srgbClr val="2E2E2E"/>
                </a:solidFill>
                <a:latin typeface="Calibri"/>
              </a:rPr>
              <a:t>Rolls' adds</a:t>
            </a:r>
          </a:p>
        </p:txBody>
      </p:sp>
      <p:pic>
        <p:nvPicPr>
          <p:cNvPr id="53" name="Picture 52" descr="lock.png"/>
          <p:cNvPicPr>
            <a:picLocks noChangeAspect="1"/>
          </p:cNvPicPr>
          <p:nvPr/>
        </p:nvPicPr>
        <p:blipFill>
          <a:blip r:embed="rId4"/>
          <a:stretch>
            <a:fillRect/>
          </a:stretch>
        </p:blipFill>
        <p:spPr>
          <a:xfrm>
            <a:off x="6681096" y="1740471"/>
            <a:ext cx="134549" cy="195707"/>
          </a:xfrm>
          <a:prstGeom prst="rect">
            <a:avLst/>
          </a:prstGeom>
        </p:spPr>
      </p:pic>
      <p:sp>
        <p:nvSpPr>
          <p:cNvPr id="54" name="TextBox 53"/>
          <p:cNvSpPr txBox="1"/>
          <p:nvPr/>
        </p:nvSpPr>
        <p:spPr>
          <a:xfrm>
            <a:off x="6856205" y="1750695"/>
            <a:ext cx="722014" cy="194310"/>
          </a:xfrm>
          <a:prstGeom prst="rect">
            <a:avLst/>
          </a:prstGeom>
          <a:noFill/>
        </p:spPr>
        <p:txBody>
          <a:bodyPr wrap="none" lIns="0" rIns="0" tIns="0" bIns="0">
            <a:spAutoFit/>
          </a:bodyPr>
          <a:lstStyle/>
          <a:p>
            <a:r>
              <a:rPr sz="1150" b="0">
                <a:solidFill>
                  <a:srgbClr val="2E2E2E"/>
                </a:solidFill>
                <a:latin typeface="Calibri"/>
              </a:rPr>
              <a:t>US$ Mn by</a:t>
            </a:r>
          </a:p>
        </p:txBody>
      </p:sp>
      <p:sp>
        <p:nvSpPr>
          <p:cNvPr id="55" name="TextBox 54"/>
          <p:cNvSpPr txBox="1"/>
          <p:nvPr/>
        </p:nvSpPr>
        <p:spPr>
          <a:xfrm>
            <a:off x="6029325" y="1925955"/>
            <a:ext cx="545727" cy="194310"/>
          </a:xfrm>
          <a:prstGeom prst="rect">
            <a:avLst/>
          </a:prstGeom>
          <a:noFill/>
        </p:spPr>
        <p:txBody>
          <a:bodyPr wrap="none" lIns="0" rIns="0" tIns="0" bIns="0">
            <a:spAutoFit/>
          </a:bodyPr>
          <a:lstStyle/>
          <a:p>
            <a:r>
              <a:rPr sz="1150" b="0">
                <a:solidFill>
                  <a:srgbClr val="2E2E2E"/>
                </a:solidFill>
                <a:latin typeface="Calibri"/>
              </a:rPr>
              <a:t>2036F –</a:t>
            </a:r>
          </a:p>
        </p:txBody>
      </p:sp>
      <p:pic>
        <p:nvPicPr>
          <p:cNvPr id="56" name="Picture 55" descr="lock.png"/>
          <p:cNvPicPr>
            <a:picLocks noChangeAspect="1"/>
          </p:cNvPicPr>
          <p:nvPr/>
        </p:nvPicPr>
        <p:blipFill>
          <a:blip r:embed="rId4"/>
          <a:stretch>
            <a:fillRect/>
          </a:stretch>
        </p:blipFill>
        <p:spPr>
          <a:xfrm>
            <a:off x="6524206" y="1915731"/>
            <a:ext cx="134549" cy="195707"/>
          </a:xfrm>
          <a:prstGeom prst="rect">
            <a:avLst/>
          </a:prstGeom>
        </p:spPr>
      </p:pic>
      <p:sp>
        <p:nvSpPr>
          <p:cNvPr id="57" name="TextBox 56"/>
          <p:cNvSpPr txBox="1"/>
          <p:nvPr/>
        </p:nvSpPr>
        <p:spPr>
          <a:xfrm>
            <a:off x="6699316" y="1925955"/>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8" name="TextBox 57"/>
          <p:cNvSpPr txBox="1"/>
          <p:nvPr/>
        </p:nvSpPr>
        <p:spPr>
          <a:xfrm>
            <a:off x="6029325" y="2101215"/>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9" name="TextBox 58"/>
          <p:cNvSpPr txBox="1"/>
          <p:nvPr/>
        </p:nvSpPr>
        <p:spPr>
          <a:xfrm>
            <a:off x="8124825" y="1400175"/>
            <a:ext cx="1435118" cy="194310"/>
          </a:xfrm>
          <a:prstGeom prst="rect">
            <a:avLst/>
          </a:prstGeom>
          <a:noFill/>
        </p:spPr>
        <p:txBody>
          <a:bodyPr wrap="none" lIns="0" rIns="0" tIns="0" bIns="0">
            <a:spAutoFit/>
          </a:bodyPr>
          <a:lstStyle/>
          <a:p>
            <a:r>
              <a:rPr sz="1150" b="0">
                <a:solidFill>
                  <a:srgbClr val="2E2E2E"/>
                </a:solidFill>
                <a:latin typeface="Calibri"/>
              </a:rPr>
              <a:t>▪ 'Foam Sheets, Rolls &amp;</a:t>
            </a:r>
          </a:p>
        </p:txBody>
      </p:sp>
      <p:sp>
        <p:nvSpPr>
          <p:cNvPr id="60" name="TextBox 59"/>
          <p:cNvSpPr txBox="1"/>
          <p:nvPr/>
        </p:nvSpPr>
        <p:spPr>
          <a:xfrm>
            <a:off x="8124825" y="1575435"/>
            <a:ext cx="1486178" cy="194310"/>
          </a:xfrm>
          <a:prstGeom prst="rect">
            <a:avLst/>
          </a:prstGeom>
          <a:noFill/>
        </p:spPr>
        <p:txBody>
          <a:bodyPr wrap="none" lIns="0" rIns="0" tIns="0" bIns="0">
            <a:spAutoFit/>
          </a:bodyPr>
          <a:lstStyle/>
          <a:p>
            <a:r>
              <a:rPr sz="1150" b="0">
                <a:solidFill>
                  <a:srgbClr val="2E2E2E"/>
                </a:solidFill>
                <a:latin typeface="Calibri"/>
              </a:rPr>
              <a:t>Planks × Foam Sheets &amp;</a:t>
            </a:r>
          </a:p>
        </p:txBody>
      </p:sp>
      <p:sp>
        <p:nvSpPr>
          <p:cNvPr id="61" name="TextBox 60"/>
          <p:cNvSpPr txBox="1"/>
          <p:nvPr/>
        </p:nvSpPr>
        <p:spPr>
          <a:xfrm>
            <a:off x="8124825" y="1750695"/>
            <a:ext cx="1035508" cy="194310"/>
          </a:xfrm>
          <a:prstGeom prst="rect">
            <a:avLst/>
          </a:prstGeom>
          <a:noFill/>
        </p:spPr>
        <p:txBody>
          <a:bodyPr wrap="none" lIns="0" rIns="0" tIns="0" bIns="0">
            <a:spAutoFit/>
          </a:bodyPr>
          <a:lstStyle/>
          <a:p>
            <a:r>
              <a:rPr sz="1150" b="0">
                <a:solidFill>
                  <a:srgbClr val="2E2E2E"/>
                </a:solidFill>
                <a:latin typeface="Calibri"/>
              </a:rPr>
              <a:t>Rolls' grows at a</a:t>
            </a:r>
          </a:p>
        </p:txBody>
      </p:sp>
      <p:pic>
        <p:nvPicPr>
          <p:cNvPr id="62" name="Picture 61" descr="lock.png"/>
          <p:cNvPicPr>
            <a:picLocks noChangeAspect="1"/>
          </p:cNvPicPr>
          <p:nvPr/>
        </p:nvPicPr>
        <p:blipFill>
          <a:blip r:embed="rId4"/>
          <a:stretch>
            <a:fillRect/>
          </a:stretch>
        </p:blipFill>
        <p:spPr>
          <a:xfrm>
            <a:off x="9109487" y="1740471"/>
            <a:ext cx="134549" cy="195707"/>
          </a:xfrm>
          <a:prstGeom prst="rect">
            <a:avLst/>
          </a:prstGeom>
        </p:spPr>
      </p:pic>
      <p:sp>
        <p:nvSpPr>
          <p:cNvPr id="63" name="TextBox 62"/>
          <p:cNvSpPr txBox="1"/>
          <p:nvPr/>
        </p:nvSpPr>
        <p:spPr>
          <a:xfrm>
            <a:off x="9284597" y="1750695"/>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4" name="Picture 63" descr="lock.png"/>
          <p:cNvPicPr>
            <a:picLocks noChangeAspect="1"/>
          </p:cNvPicPr>
          <p:nvPr/>
        </p:nvPicPr>
        <p:blipFill>
          <a:blip r:embed="rId4"/>
          <a:stretch>
            <a:fillRect/>
          </a:stretch>
        </p:blipFill>
        <p:spPr>
          <a:xfrm>
            <a:off x="8110745" y="1915731"/>
            <a:ext cx="134549" cy="195707"/>
          </a:xfrm>
          <a:prstGeom prst="rect">
            <a:avLst/>
          </a:prstGeom>
        </p:spPr>
      </p:pic>
      <p:sp>
        <p:nvSpPr>
          <p:cNvPr id="65" name="TextBox 64"/>
          <p:cNvSpPr txBox="1"/>
          <p:nvPr/>
        </p:nvSpPr>
        <p:spPr>
          <a:xfrm>
            <a:off x="8285854" y="1925955"/>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6" name="TextBox 65"/>
          <p:cNvSpPr txBox="1"/>
          <p:nvPr/>
        </p:nvSpPr>
        <p:spPr>
          <a:xfrm>
            <a:off x="8124825" y="2101215"/>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783840"/>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3088640"/>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793490"/>
            <a:ext cx="7124700" cy="170942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Material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Product Form</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End-use Industry</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Volume Overview (MT)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(MT)</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(MT)</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(MT),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(MT)</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3013719" cy="186689"/>
          </a:xfrm>
          <a:prstGeom prst="rect">
            <a:avLst/>
          </a:prstGeom>
          <a:noFill/>
        </p:spPr>
        <p:txBody>
          <a:bodyPr wrap="none" lIns="0" rIns="0" tIns="0" bIns="0">
            <a:spAutoFit/>
          </a:bodyPr>
          <a:lstStyle/>
          <a:p>
            <a:r>
              <a:rPr sz="1100" b="0">
                <a:solidFill>
                  <a:srgbClr val="2E2E2E"/>
                </a:solidFill>
                <a:latin typeface="Calibri"/>
              </a:rPr>
              <a:t>U.S.'s foam protective packaging market expands at</a:t>
            </a:r>
          </a:p>
        </p:txBody>
      </p:sp>
      <p:pic>
        <p:nvPicPr>
          <p:cNvPr id="39" name="Picture 38" descr="lock.png"/>
          <p:cNvPicPr>
            <a:picLocks noChangeAspect="1"/>
          </p:cNvPicPr>
          <p:nvPr/>
        </p:nvPicPr>
        <p:blipFill>
          <a:blip r:embed="rId8"/>
          <a:stretch>
            <a:fillRect/>
          </a:stretch>
        </p:blipFill>
        <p:spPr>
          <a:xfrm>
            <a:off x="11033256" y="2866771"/>
            <a:ext cx="128699" cy="187198"/>
          </a:xfrm>
          <a:prstGeom prst="rect">
            <a:avLst/>
          </a:prstGeom>
        </p:spPr>
      </p:pic>
      <p:sp>
        <p:nvSpPr>
          <p:cNvPr id="40" name="TextBox 39"/>
          <p:cNvSpPr txBox="1"/>
          <p:nvPr/>
        </p:nvSpPr>
        <p:spPr>
          <a:xfrm>
            <a:off x="11200752"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1" name="TextBox 40"/>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2" name="Picture 41" descr="lock.png"/>
          <p:cNvPicPr>
            <a:picLocks noChangeAspect="1"/>
          </p:cNvPicPr>
          <p:nvPr/>
        </p:nvPicPr>
        <p:blipFill>
          <a:blip r:embed="rId8"/>
          <a:stretch>
            <a:fillRect/>
          </a:stretch>
        </p:blipFill>
        <p:spPr>
          <a:xfrm>
            <a:off x="11237895" y="3034411"/>
            <a:ext cx="128699" cy="187198"/>
          </a:xfrm>
          <a:prstGeom prst="rect">
            <a:avLst/>
          </a:prstGeom>
        </p:spPr>
      </p:pic>
      <p:sp>
        <p:nvSpPr>
          <p:cNvPr id="43" name="TextBox 42"/>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395712" cy="186689"/>
          </a:xfrm>
          <a:prstGeom prst="rect">
            <a:avLst/>
          </a:prstGeom>
          <a:noFill/>
        </p:spPr>
        <p:txBody>
          <a:bodyPr wrap="none" lIns="0" rIns="0" tIns="0" bIns="0">
            <a:spAutoFit/>
          </a:bodyPr>
          <a:lstStyle/>
          <a:p>
            <a:r>
              <a:rPr sz="1100" b="0">
                <a:solidFill>
                  <a:srgbClr val="2E2E2E"/>
                </a:solidFill>
                <a:latin typeface="Calibri"/>
              </a:rPr>
              <a:t>of the North America foam protective packaging market in</a:t>
            </a:r>
          </a:p>
        </p:txBody>
      </p:sp>
      <p:sp>
        <p:nvSpPr>
          <p:cNvPr id="51" name="TextBox 50"/>
          <p:cNvSpPr txBox="1"/>
          <p:nvPr/>
        </p:nvSpPr>
        <p:spPr>
          <a:xfrm>
            <a:off x="257175" y="6134100"/>
            <a:ext cx="2132136" cy="186689"/>
          </a:xfrm>
          <a:prstGeom prst="rect">
            <a:avLst/>
          </a:prstGeom>
          <a:noFill/>
        </p:spPr>
        <p:txBody>
          <a:bodyPr wrap="none" lIns="0" rIns="0" tIns="0" bIns="0">
            <a:spAutoFit/>
          </a:bodyPr>
          <a:lstStyle/>
          <a:p>
            <a:r>
              <a:rPr sz="1100" b="0">
                <a:solidFill>
                  <a:srgbClr val="2E2E2E"/>
                </a:solidFill>
                <a:latin typeface="Calibri"/>
              </a:rPr>
              <a:t>2026; by 2036 those shares move to</a:t>
            </a:r>
          </a:p>
        </p:txBody>
      </p:sp>
      <p:pic>
        <p:nvPicPr>
          <p:cNvPr id="52" name="Picture 51" descr="lock.png"/>
          <p:cNvPicPr>
            <a:picLocks noChangeAspect="1"/>
          </p:cNvPicPr>
          <p:nvPr/>
        </p:nvPicPr>
        <p:blipFill>
          <a:blip r:embed="rId8"/>
          <a:stretch>
            <a:fillRect/>
          </a:stretch>
        </p:blipFill>
        <p:spPr>
          <a:xfrm>
            <a:off x="2337363" y="6124320"/>
            <a:ext cx="128699" cy="187198"/>
          </a:xfrm>
          <a:prstGeom prst="rect">
            <a:avLst/>
          </a:prstGeom>
        </p:spPr>
      </p:pic>
      <p:sp>
        <p:nvSpPr>
          <p:cNvPr id="53" name="TextBox 52"/>
          <p:cNvSpPr txBox="1"/>
          <p:nvPr/>
        </p:nvSpPr>
        <p:spPr>
          <a:xfrm>
            <a:off x="2504858"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742753" y="6124320"/>
            <a:ext cx="128699" cy="187198"/>
          </a:xfrm>
          <a:prstGeom prst="rect">
            <a:avLst/>
          </a:prstGeom>
        </p:spPr>
      </p:pic>
      <p:sp>
        <p:nvSpPr>
          <p:cNvPr id="55" name="TextBox 54"/>
          <p:cNvSpPr txBox="1"/>
          <p:nvPr/>
        </p:nvSpPr>
        <p:spPr>
          <a:xfrm>
            <a:off x="2910249"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7" name="Picture 56" descr="lock.png"/>
          <p:cNvPicPr>
            <a:picLocks noChangeAspect="1"/>
          </p:cNvPicPr>
          <p:nvPr/>
        </p:nvPicPr>
        <p:blipFill>
          <a:blip r:embed="rId8"/>
          <a:stretch>
            <a:fillRect/>
          </a:stretch>
        </p:blipFill>
        <p:spPr>
          <a:xfrm>
            <a:off x="7821530" y="5956680"/>
            <a:ext cx="128699" cy="187198"/>
          </a:xfrm>
          <a:prstGeom prst="rect">
            <a:avLst/>
          </a:prstGeom>
        </p:spPr>
      </p:pic>
      <p:sp>
        <p:nvSpPr>
          <p:cNvPr id="58" name="TextBox 57"/>
          <p:cNvSpPr txBox="1"/>
          <p:nvPr/>
        </p:nvSpPr>
        <p:spPr>
          <a:xfrm>
            <a:off x="7989026" y="5966460"/>
            <a:ext cx="3117130" cy="186689"/>
          </a:xfrm>
          <a:prstGeom prst="rect">
            <a:avLst/>
          </a:prstGeom>
          <a:noFill/>
        </p:spPr>
        <p:txBody>
          <a:bodyPr wrap="none" lIns="0" rIns="0" tIns="0" bIns="0">
            <a:spAutoFit/>
          </a:bodyPr>
          <a:lstStyle/>
          <a:p>
            <a:r>
              <a:rPr sz="1100" b="0">
                <a:solidFill>
                  <a:srgbClr val="2E2E2E"/>
                </a:solidFill>
                <a:latin typeface="Calibri"/>
              </a:rPr>
              <a:t>MT between 2026 and 2036 the U.S. market grows to</a:t>
            </a:r>
          </a:p>
        </p:txBody>
      </p:sp>
      <p:pic>
        <p:nvPicPr>
          <p:cNvPr id="59" name="Picture 58" descr="lock.png"/>
          <p:cNvPicPr>
            <a:picLocks noChangeAspect="1"/>
          </p:cNvPicPr>
          <p:nvPr/>
        </p:nvPicPr>
        <p:blipFill>
          <a:blip r:embed="rId8"/>
          <a:stretch>
            <a:fillRect/>
          </a:stretch>
        </p:blipFill>
        <p:spPr>
          <a:xfrm>
            <a:off x="11054208" y="5956680"/>
            <a:ext cx="128699" cy="187198"/>
          </a:xfrm>
          <a:prstGeom prst="rect">
            <a:avLst/>
          </a:prstGeom>
        </p:spPr>
      </p:pic>
      <p:sp>
        <p:nvSpPr>
          <p:cNvPr id="60" name="TextBox 59"/>
          <p:cNvSpPr txBox="1"/>
          <p:nvPr/>
        </p:nvSpPr>
        <p:spPr>
          <a:xfrm>
            <a:off x="11221704"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1" name="TextBox 60"/>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2"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Value Overview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3013719" cy="186689"/>
          </a:xfrm>
          <a:prstGeom prst="rect">
            <a:avLst/>
          </a:prstGeom>
          <a:noFill/>
        </p:spPr>
        <p:txBody>
          <a:bodyPr wrap="none" lIns="0" rIns="0" tIns="0" bIns="0">
            <a:spAutoFit/>
          </a:bodyPr>
          <a:lstStyle/>
          <a:p>
            <a:r>
              <a:rPr sz="1100" b="0">
                <a:solidFill>
                  <a:srgbClr val="2E2E2E"/>
                </a:solidFill>
                <a:latin typeface="Calibri"/>
              </a:rPr>
              <a:t>U.S.'s foam protective packaging market expands at</a:t>
            </a:r>
          </a:p>
        </p:txBody>
      </p:sp>
      <p:pic>
        <p:nvPicPr>
          <p:cNvPr id="39" name="Picture 38" descr="lock.png"/>
          <p:cNvPicPr>
            <a:picLocks noChangeAspect="1"/>
          </p:cNvPicPr>
          <p:nvPr/>
        </p:nvPicPr>
        <p:blipFill>
          <a:blip r:embed="rId8"/>
          <a:stretch>
            <a:fillRect/>
          </a:stretch>
        </p:blipFill>
        <p:spPr>
          <a:xfrm>
            <a:off x="11033256" y="2866771"/>
            <a:ext cx="128699" cy="187198"/>
          </a:xfrm>
          <a:prstGeom prst="rect">
            <a:avLst/>
          </a:prstGeom>
        </p:spPr>
      </p:pic>
      <p:sp>
        <p:nvSpPr>
          <p:cNvPr id="40" name="TextBox 39"/>
          <p:cNvSpPr txBox="1"/>
          <p:nvPr/>
        </p:nvSpPr>
        <p:spPr>
          <a:xfrm>
            <a:off x="11200752"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1" name="TextBox 40"/>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2" name="Picture 41" descr="lock.png"/>
          <p:cNvPicPr>
            <a:picLocks noChangeAspect="1"/>
          </p:cNvPicPr>
          <p:nvPr/>
        </p:nvPicPr>
        <p:blipFill>
          <a:blip r:embed="rId8"/>
          <a:stretch>
            <a:fillRect/>
          </a:stretch>
        </p:blipFill>
        <p:spPr>
          <a:xfrm>
            <a:off x="11237895" y="3034411"/>
            <a:ext cx="128699" cy="187198"/>
          </a:xfrm>
          <a:prstGeom prst="rect">
            <a:avLst/>
          </a:prstGeom>
        </p:spPr>
      </p:pic>
      <p:sp>
        <p:nvSpPr>
          <p:cNvPr id="43" name="TextBox 42"/>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8058017" y="3202051"/>
            <a:ext cx="128699" cy="187198"/>
          </a:xfrm>
          <a:prstGeom prst="rect">
            <a:avLst/>
          </a:prstGeom>
        </p:spPr>
      </p:pic>
      <p:sp>
        <p:nvSpPr>
          <p:cNvPr id="45" name="TextBox 44"/>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395712" cy="186689"/>
          </a:xfrm>
          <a:prstGeom prst="rect">
            <a:avLst/>
          </a:prstGeom>
          <a:noFill/>
        </p:spPr>
        <p:txBody>
          <a:bodyPr wrap="none" lIns="0" rIns="0" tIns="0" bIns="0">
            <a:spAutoFit/>
          </a:bodyPr>
          <a:lstStyle/>
          <a:p>
            <a:r>
              <a:rPr sz="1100" b="0">
                <a:solidFill>
                  <a:srgbClr val="2E2E2E"/>
                </a:solidFill>
                <a:latin typeface="Calibri"/>
              </a:rPr>
              <a:t>of the North America foam protective packaging market in</a:t>
            </a:r>
          </a:p>
        </p:txBody>
      </p:sp>
      <p:sp>
        <p:nvSpPr>
          <p:cNvPr id="51" name="TextBox 50"/>
          <p:cNvSpPr txBox="1"/>
          <p:nvPr/>
        </p:nvSpPr>
        <p:spPr>
          <a:xfrm>
            <a:off x="257175" y="6134100"/>
            <a:ext cx="2132136" cy="186689"/>
          </a:xfrm>
          <a:prstGeom prst="rect">
            <a:avLst/>
          </a:prstGeom>
          <a:noFill/>
        </p:spPr>
        <p:txBody>
          <a:bodyPr wrap="none" lIns="0" rIns="0" tIns="0" bIns="0">
            <a:spAutoFit/>
          </a:bodyPr>
          <a:lstStyle/>
          <a:p>
            <a:r>
              <a:rPr sz="1100" b="0">
                <a:solidFill>
                  <a:srgbClr val="2E2E2E"/>
                </a:solidFill>
                <a:latin typeface="Calibri"/>
              </a:rPr>
              <a:t>2026; by 2036 those shares move to</a:t>
            </a:r>
          </a:p>
        </p:txBody>
      </p:sp>
      <p:pic>
        <p:nvPicPr>
          <p:cNvPr id="52" name="Picture 51" descr="lock.png"/>
          <p:cNvPicPr>
            <a:picLocks noChangeAspect="1"/>
          </p:cNvPicPr>
          <p:nvPr/>
        </p:nvPicPr>
        <p:blipFill>
          <a:blip r:embed="rId8"/>
          <a:stretch>
            <a:fillRect/>
          </a:stretch>
        </p:blipFill>
        <p:spPr>
          <a:xfrm>
            <a:off x="2337363" y="6124320"/>
            <a:ext cx="128699" cy="187198"/>
          </a:xfrm>
          <a:prstGeom prst="rect">
            <a:avLst/>
          </a:prstGeom>
        </p:spPr>
      </p:pic>
      <p:sp>
        <p:nvSpPr>
          <p:cNvPr id="53" name="TextBox 52"/>
          <p:cNvSpPr txBox="1"/>
          <p:nvPr/>
        </p:nvSpPr>
        <p:spPr>
          <a:xfrm>
            <a:off x="2504858"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742753" y="6124320"/>
            <a:ext cx="128699" cy="187198"/>
          </a:xfrm>
          <a:prstGeom prst="rect">
            <a:avLst/>
          </a:prstGeom>
        </p:spPr>
      </p:pic>
      <p:sp>
        <p:nvSpPr>
          <p:cNvPr id="55" name="TextBox 54"/>
          <p:cNvSpPr txBox="1"/>
          <p:nvPr/>
        </p:nvSpPr>
        <p:spPr>
          <a:xfrm>
            <a:off x="2910249"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7" name="Picture 56" descr="lock.png"/>
          <p:cNvPicPr>
            <a:picLocks noChangeAspect="1"/>
          </p:cNvPicPr>
          <p:nvPr/>
        </p:nvPicPr>
        <p:blipFill>
          <a:blip r:embed="rId8"/>
          <a:stretch>
            <a:fillRect/>
          </a:stretch>
        </p:blipFill>
        <p:spPr>
          <a:xfrm>
            <a:off x="9337766" y="5872860"/>
            <a:ext cx="128699" cy="187198"/>
          </a:xfrm>
          <a:prstGeom prst="rect">
            <a:avLst/>
          </a:prstGeom>
        </p:spPr>
      </p:pic>
      <p:sp>
        <p:nvSpPr>
          <p:cNvPr id="58" name="TextBox 57"/>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9" name="Picture 58" descr="lock.png"/>
          <p:cNvPicPr>
            <a:picLocks noChangeAspect="1"/>
          </p:cNvPicPr>
          <p:nvPr/>
        </p:nvPicPr>
        <p:blipFill>
          <a:blip r:embed="rId8"/>
          <a:stretch>
            <a:fillRect/>
          </a:stretch>
        </p:blipFill>
        <p:spPr>
          <a:xfrm>
            <a:off x="10948871" y="5872860"/>
            <a:ext cx="128699" cy="187198"/>
          </a:xfrm>
          <a:prstGeom prst="rect">
            <a:avLst/>
          </a:prstGeom>
        </p:spPr>
      </p:pic>
      <p:sp>
        <p:nvSpPr>
          <p:cNvPr id="60" name="TextBox 59"/>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1" name="TextBox 60"/>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2" name="Picture 61" descr="lock.png"/>
          <p:cNvPicPr>
            <a:picLocks noChangeAspect="1"/>
          </p:cNvPicPr>
          <p:nvPr/>
        </p:nvPicPr>
        <p:blipFill>
          <a:blip r:embed="rId8"/>
          <a:stretch>
            <a:fillRect/>
          </a:stretch>
        </p:blipFill>
        <p:spPr>
          <a:xfrm>
            <a:off x="10929309" y="6040501"/>
            <a:ext cx="128699" cy="187198"/>
          </a:xfrm>
          <a:prstGeom prst="rect">
            <a:avLst/>
          </a:prstGeom>
        </p:spPr>
      </p:pic>
      <p:sp>
        <p:nvSpPr>
          <p:cNvPr id="63" name="TextBox 62"/>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4" name="TextBox 63"/>
          <p:cNvSpPr txBox="1"/>
          <p:nvPr/>
        </p:nvSpPr>
        <p:spPr>
          <a:xfrm>
            <a:off x="6286500" y="6217920"/>
            <a:ext cx="3568154" cy="186689"/>
          </a:xfrm>
          <a:prstGeom prst="rect">
            <a:avLst/>
          </a:prstGeom>
          <a:noFill/>
        </p:spPr>
        <p:txBody>
          <a:bodyPr wrap="none" lIns="0" rIns="0" tIns="0" bIns="0">
            <a:spAutoFit/>
          </a:bodyPr>
          <a:lstStyle/>
          <a:p>
            <a:r>
              <a:rPr sz="1100" b="0">
                <a:solidFill>
                  <a:srgbClr val="2E2E2E"/>
                </a:solidFill>
                <a:latin typeface="Calibri"/>
              </a:rPr>
              <a:t>overall foam protective packaging market from 2025 to 2036.</a:t>
            </a:r>
          </a:p>
        </p:txBody>
      </p:sp>
      <p:sp>
        <p:nvSpPr>
          <p:cNvPr id="65"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Key Segments Overview, By Value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7" name="Rounded Rectangle 6"/>
          <p:cNvSpPr/>
          <p:nvPr/>
        </p:nvSpPr>
        <p:spPr>
          <a:xfrm>
            <a:off x="142875" y="981075"/>
            <a:ext cx="3867150" cy="3981450"/>
          </a:xfrm>
          <a:prstGeom prst="roundRect">
            <a:avLst>
              <a:gd name="adj" fmla="val 197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36766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Material Type  (US$ Mn)</a:t>
            </a:r>
          </a:p>
        </p:txBody>
      </p:sp>
      <p:graphicFrame>
        <p:nvGraphicFramePr>
          <p:cNvPr id="9" name="Chart 8"/>
          <p:cNvGraphicFramePr>
            <a:graphicFrameLocks noGrp="1"/>
          </p:cNvGraphicFramePr>
          <p:nvPr/>
        </p:nvGraphicFramePr>
        <p:xfrm>
          <a:off x="238125" y="1266825"/>
          <a:ext cx="3676650" cy="3638550"/>
        </p:xfrm>
        <a:graphic>
          <a:graphicData uri="http://schemas.openxmlformats.org/drawingml/2006/chart">
            <c:chart xmlns:c="http://schemas.openxmlformats.org/drawingml/2006/chart" r:id="rId3"/>
          </a:graphicData>
        </a:graphic>
      </p:graphicFrame>
      <p:sp>
        <p:nvSpPr>
          <p:cNvPr id="10" name="Rounded Rectangle 9"/>
          <p:cNvSpPr/>
          <p:nvPr/>
        </p:nvSpPr>
        <p:spPr>
          <a:xfrm>
            <a:off x="4162425" y="981075"/>
            <a:ext cx="3867150" cy="3981450"/>
          </a:xfrm>
          <a:prstGeom prst="roundRect">
            <a:avLst>
              <a:gd name="adj" fmla="val 197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7675" y="1038225"/>
            <a:ext cx="36766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Form  (US$ Mn)</a:t>
            </a:r>
          </a:p>
        </p:txBody>
      </p:sp>
      <p:graphicFrame>
        <p:nvGraphicFramePr>
          <p:cNvPr id="12" name="Chart 11"/>
          <p:cNvGraphicFramePr>
            <a:graphicFrameLocks noGrp="1"/>
          </p:cNvGraphicFramePr>
          <p:nvPr/>
        </p:nvGraphicFramePr>
        <p:xfrm>
          <a:off x="4257675" y="1266825"/>
          <a:ext cx="3676650" cy="3638550"/>
        </p:xfrm>
        <a:graphic>
          <a:graphicData uri="http://schemas.openxmlformats.org/drawingml/2006/chart">
            <c:chart xmlns:c="http://schemas.openxmlformats.org/drawingml/2006/chart" r:id="rId4"/>
          </a:graphicData>
        </a:graphic>
      </p:graphicFrame>
      <p:sp>
        <p:nvSpPr>
          <p:cNvPr id="13" name="Rounded Rectangle 12"/>
          <p:cNvSpPr/>
          <p:nvPr/>
        </p:nvSpPr>
        <p:spPr>
          <a:xfrm>
            <a:off x="8181975" y="981075"/>
            <a:ext cx="3867150" cy="3981450"/>
          </a:xfrm>
          <a:prstGeom prst="roundRect">
            <a:avLst>
              <a:gd name="adj" fmla="val 197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7225" y="1038225"/>
            <a:ext cx="36766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End-use Industry  (US$ Mn)</a:t>
            </a:r>
          </a:p>
        </p:txBody>
      </p:sp>
      <p:graphicFrame>
        <p:nvGraphicFramePr>
          <p:cNvPr id="15" name="Chart 14"/>
          <p:cNvGraphicFramePr>
            <a:graphicFrameLocks noGrp="1"/>
          </p:cNvGraphicFramePr>
          <p:nvPr/>
        </p:nvGraphicFramePr>
        <p:xfrm>
          <a:off x="8277225" y="1266825"/>
          <a:ext cx="3676650" cy="3638550"/>
        </p:xfrm>
        <a:graphic>
          <a:graphicData uri="http://schemas.openxmlformats.org/drawingml/2006/chart">
            <c:chart xmlns:c="http://schemas.openxmlformats.org/drawingml/2006/chart" r:id="rId5"/>
          </a:graphicData>
        </a:graphic>
      </p:graphicFrame>
      <p:sp>
        <p:nvSpPr>
          <p:cNvPr id="16" name="Rounded Rectangle 15"/>
          <p:cNvSpPr/>
          <p:nvPr/>
        </p:nvSpPr>
        <p:spPr>
          <a:xfrm>
            <a:off x="142875" y="5095875"/>
            <a:ext cx="11906250" cy="1524000"/>
          </a:xfrm>
          <a:prstGeom prst="roundRect">
            <a:avLst>
              <a:gd name="adj" fmla="val 5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81600"/>
            <a:ext cx="11639550" cy="209550"/>
          </a:xfrm>
          <a:prstGeom prst="rect">
            <a:avLst/>
          </a:prstGeom>
          <a:noFill/>
        </p:spPr>
        <p:txBody>
          <a:bodyPr wrap="square" lIns="0" rIns="19050" tIns="9525" bIns="9525">
            <a:spAutoFit/>
          </a:bodyPr>
          <a:lstStyle/>
          <a:p>
            <a:pPr algn="l"/>
            <a:r>
              <a:rPr sz="1300" b="1">
                <a:solidFill>
                  <a:srgbClr val="0E2A5C"/>
                </a:solidFill>
                <a:latin typeface="Calibri"/>
              </a:rPr>
              <a:t/>
            </a:r>
          </a:p>
        </p:txBody>
      </p:sp>
      <p:sp>
        <p:nvSpPr>
          <p:cNvPr id="18" name="Rectangle 17"/>
          <p:cNvSpPr/>
          <p:nvPr/>
        </p:nvSpPr>
        <p:spPr>
          <a:xfrm>
            <a:off x="276225" y="54197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5505450"/>
            <a:ext cx="11639550" cy="1038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7"/>
          <a:stretch>
            <a:fillRect/>
          </a:stretch>
        </p:blipFill>
        <p:spPr>
          <a:xfrm>
            <a:off x="2296504" y="2838489"/>
            <a:ext cx="222593" cy="323771"/>
          </a:xfrm>
          <a:prstGeom prst="rect">
            <a:avLst/>
          </a:prstGeom>
        </p:spPr>
      </p:pic>
      <p:pic>
        <p:nvPicPr>
          <p:cNvPr id="23" name="Picture 22" descr="lock.png"/>
          <p:cNvPicPr>
            <a:picLocks noChangeAspect="1"/>
          </p:cNvPicPr>
          <p:nvPr/>
        </p:nvPicPr>
        <p:blipFill>
          <a:blip r:embed="rId7"/>
          <a:stretch>
            <a:fillRect/>
          </a:stretch>
        </p:blipFill>
        <p:spPr>
          <a:xfrm>
            <a:off x="6316054" y="2838489"/>
            <a:ext cx="222593" cy="323771"/>
          </a:xfrm>
          <a:prstGeom prst="rect">
            <a:avLst/>
          </a:prstGeom>
        </p:spPr>
      </p:pic>
      <p:pic>
        <p:nvPicPr>
          <p:cNvPr id="24" name="Picture 23" descr="lock.png"/>
          <p:cNvPicPr>
            <a:picLocks noChangeAspect="1"/>
          </p:cNvPicPr>
          <p:nvPr/>
        </p:nvPicPr>
        <p:blipFill>
          <a:blip r:embed="rId7"/>
          <a:stretch>
            <a:fillRect/>
          </a:stretch>
        </p:blipFill>
        <p:spPr>
          <a:xfrm>
            <a:off x="10335604" y="2838489"/>
            <a:ext cx="222593" cy="323771"/>
          </a:xfrm>
          <a:prstGeom prst="rect">
            <a:avLst/>
          </a:prstGeom>
        </p:spPr>
      </p:pic>
      <p:sp>
        <p:nvSpPr>
          <p:cNvPr id="25" name="TextBox 24"/>
          <p:cNvSpPr txBox="1"/>
          <p:nvPr/>
        </p:nvSpPr>
        <p:spPr>
          <a:xfrm>
            <a:off x="276225" y="5191125"/>
            <a:ext cx="1468037" cy="161696"/>
          </a:xfrm>
          <a:prstGeom prst="rect">
            <a:avLst/>
          </a:prstGeom>
          <a:noFill/>
        </p:spPr>
        <p:txBody>
          <a:bodyPr wrap="none" lIns="0" rIns="0" tIns="0" bIns="0">
            <a:spAutoFit/>
          </a:bodyPr>
          <a:lstStyle/>
          <a:p>
            <a:r>
              <a:rPr sz="935" b="1">
                <a:solidFill>
                  <a:srgbClr val="0E2A5C"/>
                </a:solidFill>
                <a:latin typeface="Calibri"/>
              </a:rPr>
              <a:t>Key Takeaways · 2026 Total:</a:t>
            </a:r>
          </a:p>
        </p:txBody>
      </p:sp>
      <p:pic>
        <p:nvPicPr>
          <p:cNvPr id="26" name="Picture 25" descr="lock.png"/>
          <p:cNvPicPr>
            <a:picLocks noChangeAspect="1"/>
          </p:cNvPicPr>
          <p:nvPr/>
        </p:nvPicPr>
        <p:blipFill>
          <a:blip r:embed="rId7"/>
          <a:stretch>
            <a:fillRect/>
          </a:stretch>
        </p:blipFill>
        <p:spPr>
          <a:xfrm>
            <a:off x="1688698" y="5182803"/>
            <a:ext cx="109510" cy="159288"/>
          </a:xfrm>
          <a:prstGeom prst="rect">
            <a:avLst/>
          </a:prstGeom>
        </p:spPr>
      </p:pic>
      <p:sp>
        <p:nvSpPr>
          <p:cNvPr id="27" name="TextBox 26"/>
          <p:cNvSpPr txBox="1"/>
          <p:nvPr/>
        </p:nvSpPr>
        <p:spPr>
          <a:xfrm>
            <a:off x="1831222" y="5191125"/>
            <a:ext cx="465087" cy="161696"/>
          </a:xfrm>
          <a:prstGeom prst="rect">
            <a:avLst/>
          </a:prstGeom>
          <a:noFill/>
        </p:spPr>
        <p:txBody>
          <a:bodyPr wrap="none" lIns="0" rIns="0" tIns="0" bIns="0">
            <a:spAutoFit/>
          </a:bodyPr>
          <a:lstStyle/>
          <a:p>
            <a:r>
              <a:rPr sz="935" b="1">
                <a:solidFill>
                  <a:srgbClr val="0E2A5C"/>
                </a:solidFill>
                <a:latin typeface="Calibri"/>
              </a:rPr>
              <a:t>US$ Mn</a:t>
            </a:r>
          </a:p>
        </p:txBody>
      </p:sp>
      <p:sp>
        <p:nvSpPr>
          <p:cNvPr id="28" name="TextBox 27"/>
          <p:cNvSpPr txBox="1"/>
          <p:nvPr/>
        </p:nvSpPr>
        <p:spPr>
          <a:xfrm>
            <a:off x="276225" y="5514975"/>
            <a:ext cx="2967556" cy="186689"/>
          </a:xfrm>
          <a:prstGeom prst="rect">
            <a:avLst/>
          </a:prstGeom>
          <a:noFill/>
        </p:spPr>
        <p:txBody>
          <a:bodyPr wrap="none" lIns="0" rIns="0" tIns="0" bIns="0">
            <a:spAutoFit/>
          </a:bodyPr>
          <a:lstStyle/>
          <a:p>
            <a:r>
              <a:rPr sz="1100" b="0">
                <a:solidFill>
                  <a:srgbClr val="2E2E2E"/>
                </a:solidFill>
                <a:latin typeface="Calibri"/>
              </a:rPr>
              <a:t>▪ By Material Type, 'Other Foam Materials' leads at</a:t>
            </a:r>
          </a:p>
        </p:txBody>
      </p:sp>
      <p:pic>
        <p:nvPicPr>
          <p:cNvPr id="29" name="Picture 28" descr="lock.png"/>
          <p:cNvPicPr>
            <a:picLocks noChangeAspect="1"/>
          </p:cNvPicPr>
          <p:nvPr/>
        </p:nvPicPr>
        <p:blipFill>
          <a:blip r:embed="rId7"/>
          <a:stretch>
            <a:fillRect/>
          </a:stretch>
        </p:blipFill>
        <p:spPr>
          <a:xfrm>
            <a:off x="3191833" y="5505195"/>
            <a:ext cx="128699" cy="187198"/>
          </a:xfrm>
          <a:prstGeom prst="rect">
            <a:avLst/>
          </a:prstGeom>
        </p:spPr>
      </p:pic>
      <p:sp>
        <p:nvSpPr>
          <p:cNvPr id="30" name="TextBox 29"/>
          <p:cNvSpPr txBox="1"/>
          <p:nvPr/>
        </p:nvSpPr>
        <p:spPr>
          <a:xfrm>
            <a:off x="3359329" y="55149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31" name="Picture 30" descr="lock.png"/>
          <p:cNvPicPr>
            <a:picLocks noChangeAspect="1"/>
          </p:cNvPicPr>
          <p:nvPr/>
        </p:nvPicPr>
        <p:blipFill>
          <a:blip r:embed="rId7"/>
          <a:stretch>
            <a:fillRect/>
          </a:stretch>
        </p:blipFill>
        <p:spPr>
          <a:xfrm>
            <a:off x="3906910" y="5505195"/>
            <a:ext cx="128699" cy="187198"/>
          </a:xfrm>
          <a:prstGeom prst="rect">
            <a:avLst/>
          </a:prstGeom>
        </p:spPr>
      </p:pic>
      <p:sp>
        <p:nvSpPr>
          <p:cNvPr id="32" name="TextBox 31"/>
          <p:cNvSpPr txBox="1"/>
          <p:nvPr/>
        </p:nvSpPr>
        <p:spPr>
          <a:xfrm>
            <a:off x="4074405" y="5514975"/>
            <a:ext cx="2742505" cy="186689"/>
          </a:xfrm>
          <a:prstGeom prst="rect">
            <a:avLst/>
          </a:prstGeom>
          <a:noFill/>
        </p:spPr>
        <p:txBody>
          <a:bodyPr wrap="none" lIns="0" rIns="0" tIns="0" bIns="0">
            <a:spAutoFit/>
          </a:bodyPr>
          <a:lstStyle/>
          <a:p>
            <a:r>
              <a:rPr sz="1100" b="0">
                <a:solidFill>
                  <a:srgbClr val="2E2E2E"/>
                </a:solidFill>
                <a:latin typeface="Calibri"/>
              </a:rPr>
              <a:t>share), ahead of 'Expanded Polystyrene (EPS)' (</a:t>
            </a:r>
          </a:p>
        </p:txBody>
      </p:sp>
      <p:pic>
        <p:nvPicPr>
          <p:cNvPr id="33" name="Picture 32" descr="lock.png"/>
          <p:cNvPicPr>
            <a:picLocks noChangeAspect="1"/>
          </p:cNvPicPr>
          <p:nvPr/>
        </p:nvPicPr>
        <p:blipFill>
          <a:blip r:embed="rId7"/>
          <a:stretch>
            <a:fillRect/>
          </a:stretch>
        </p:blipFill>
        <p:spPr>
          <a:xfrm>
            <a:off x="6764963" y="5505195"/>
            <a:ext cx="128699" cy="187198"/>
          </a:xfrm>
          <a:prstGeom prst="rect">
            <a:avLst/>
          </a:prstGeom>
        </p:spPr>
      </p:pic>
      <p:sp>
        <p:nvSpPr>
          <p:cNvPr id="34" name="TextBox 33"/>
          <p:cNvSpPr txBox="1"/>
          <p:nvPr/>
        </p:nvSpPr>
        <p:spPr>
          <a:xfrm>
            <a:off x="6932458" y="55149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276225" y="5732907"/>
            <a:ext cx="3442834" cy="186689"/>
          </a:xfrm>
          <a:prstGeom prst="rect">
            <a:avLst/>
          </a:prstGeom>
          <a:noFill/>
        </p:spPr>
        <p:txBody>
          <a:bodyPr wrap="none" lIns="0" rIns="0" tIns="0" bIns="0">
            <a:spAutoFit/>
          </a:bodyPr>
          <a:lstStyle/>
          <a:p>
            <a:r>
              <a:rPr sz="1100" b="0">
                <a:solidFill>
                  <a:srgbClr val="2E2E2E"/>
                </a:solidFill>
                <a:latin typeface="Calibri"/>
              </a:rPr>
              <a:t>▪ By Product Form, 'Foam Pouches, Bags &amp; Sleeves' leads at</a:t>
            </a:r>
          </a:p>
        </p:txBody>
      </p:sp>
      <p:pic>
        <p:nvPicPr>
          <p:cNvPr id="36" name="Picture 35" descr="lock.png"/>
          <p:cNvPicPr>
            <a:picLocks noChangeAspect="1"/>
          </p:cNvPicPr>
          <p:nvPr/>
        </p:nvPicPr>
        <p:blipFill>
          <a:blip r:embed="rId7"/>
          <a:stretch>
            <a:fillRect/>
          </a:stretch>
        </p:blipFill>
        <p:spPr>
          <a:xfrm>
            <a:off x="3667111" y="5723127"/>
            <a:ext cx="128699" cy="187198"/>
          </a:xfrm>
          <a:prstGeom prst="rect">
            <a:avLst/>
          </a:prstGeom>
        </p:spPr>
      </p:pic>
      <p:sp>
        <p:nvSpPr>
          <p:cNvPr id="37" name="TextBox 36"/>
          <p:cNvSpPr txBox="1"/>
          <p:nvPr/>
        </p:nvSpPr>
        <p:spPr>
          <a:xfrm>
            <a:off x="3834606" y="57329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38" name="Picture 37" descr="lock.png"/>
          <p:cNvPicPr>
            <a:picLocks noChangeAspect="1"/>
          </p:cNvPicPr>
          <p:nvPr/>
        </p:nvPicPr>
        <p:blipFill>
          <a:blip r:embed="rId7"/>
          <a:stretch>
            <a:fillRect/>
          </a:stretch>
        </p:blipFill>
        <p:spPr>
          <a:xfrm>
            <a:off x="4382187" y="5723127"/>
            <a:ext cx="128699" cy="187198"/>
          </a:xfrm>
          <a:prstGeom prst="rect">
            <a:avLst/>
          </a:prstGeom>
        </p:spPr>
      </p:pic>
      <p:sp>
        <p:nvSpPr>
          <p:cNvPr id="39" name="TextBox 38"/>
          <p:cNvSpPr txBox="1"/>
          <p:nvPr/>
        </p:nvSpPr>
        <p:spPr>
          <a:xfrm>
            <a:off x="4549683" y="5732907"/>
            <a:ext cx="2710219" cy="186689"/>
          </a:xfrm>
          <a:prstGeom prst="rect">
            <a:avLst/>
          </a:prstGeom>
          <a:noFill/>
        </p:spPr>
        <p:txBody>
          <a:bodyPr wrap="none" lIns="0" rIns="0" tIns="0" bIns="0">
            <a:spAutoFit/>
          </a:bodyPr>
          <a:lstStyle/>
          <a:p>
            <a:r>
              <a:rPr sz="1100" b="0">
                <a:solidFill>
                  <a:srgbClr val="2E2E2E"/>
                </a:solidFill>
                <a:latin typeface="Calibri"/>
              </a:rPr>
              <a:t>share), ahead of 'Fabricated Foam Packaging' (</a:t>
            </a:r>
          </a:p>
        </p:txBody>
      </p:sp>
      <p:pic>
        <p:nvPicPr>
          <p:cNvPr id="40" name="Picture 39" descr="lock.png"/>
          <p:cNvPicPr>
            <a:picLocks noChangeAspect="1"/>
          </p:cNvPicPr>
          <p:nvPr/>
        </p:nvPicPr>
        <p:blipFill>
          <a:blip r:embed="rId7"/>
          <a:stretch>
            <a:fillRect/>
          </a:stretch>
        </p:blipFill>
        <p:spPr>
          <a:xfrm>
            <a:off x="7207954" y="5723127"/>
            <a:ext cx="128699" cy="187198"/>
          </a:xfrm>
          <a:prstGeom prst="rect">
            <a:avLst/>
          </a:prstGeom>
        </p:spPr>
      </p:pic>
      <p:sp>
        <p:nvSpPr>
          <p:cNvPr id="41" name="TextBox 40"/>
          <p:cNvSpPr txBox="1"/>
          <p:nvPr/>
        </p:nvSpPr>
        <p:spPr>
          <a:xfrm>
            <a:off x="7375450" y="57329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2" name="TextBox 41"/>
          <p:cNvSpPr txBox="1"/>
          <p:nvPr/>
        </p:nvSpPr>
        <p:spPr>
          <a:xfrm>
            <a:off x="276225" y="5950839"/>
            <a:ext cx="3895282" cy="186689"/>
          </a:xfrm>
          <a:prstGeom prst="rect">
            <a:avLst/>
          </a:prstGeom>
          <a:noFill/>
        </p:spPr>
        <p:txBody>
          <a:bodyPr wrap="none" lIns="0" rIns="0" tIns="0" bIns="0">
            <a:spAutoFit/>
          </a:bodyPr>
          <a:lstStyle/>
          <a:p>
            <a:r>
              <a:rPr sz="1100" b="0">
                <a:solidFill>
                  <a:srgbClr val="2E2E2E"/>
                </a:solidFill>
                <a:latin typeface="Calibri"/>
              </a:rPr>
              <a:t>▪ By End-use Industry, 'Consumer Goods &amp; Home Products' leads at</a:t>
            </a:r>
          </a:p>
        </p:txBody>
      </p:sp>
      <p:pic>
        <p:nvPicPr>
          <p:cNvPr id="43" name="Picture 42" descr="lock.png"/>
          <p:cNvPicPr>
            <a:picLocks noChangeAspect="1"/>
          </p:cNvPicPr>
          <p:nvPr/>
        </p:nvPicPr>
        <p:blipFill>
          <a:blip r:embed="rId7"/>
          <a:stretch>
            <a:fillRect/>
          </a:stretch>
        </p:blipFill>
        <p:spPr>
          <a:xfrm>
            <a:off x="4119558" y="5941059"/>
            <a:ext cx="128699" cy="187198"/>
          </a:xfrm>
          <a:prstGeom prst="rect">
            <a:avLst/>
          </a:prstGeom>
        </p:spPr>
      </p:pic>
      <p:sp>
        <p:nvSpPr>
          <p:cNvPr id="44" name="TextBox 43"/>
          <p:cNvSpPr txBox="1"/>
          <p:nvPr/>
        </p:nvSpPr>
        <p:spPr>
          <a:xfrm>
            <a:off x="4287054" y="59508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5" name="Picture 44" descr="lock.png"/>
          <p:cNvPicPr>
            <a:picLocks noChangeAspect="1"/>
          </p:cNvPicPr>
          <p:nvPr/>
        </p:nvPicPr>
        <p:blipFill>
          <a:blip r:embed="rId7"/>
          <a:stretch>
            <a:fillRect/>
          </a:stretch>
        </p:blipFill>
        <p:spPr>
          <a:xfrm>
            <a:off x="4834635" y="5941059"/>
            <a:ext cx="128699" cy="187198"/>
          </a:xfrm>
          <a:prstGeom prst="rect">
            <a:avLst/>
          </a:prstGeom>
        </p:spPr>
      </p:pic>
      <p:sp>
        <p:nvSpPr>
          <p:cNvPr id="46" name="TextBox 45"/>
          <p:cNvSpPr txBox="1"/>
          <p:nvPr/>
        </p:nvSpPr>
        <p:spPr>
          <a:xfrm>
            <a:off x="5002131" y="5950839"/>
            <a:ext cx="2876475" cy="186689"/>
          </a:xfrm>
          <a:prstGeom prst="rect">
            <a:avLst/>
          </a:prstGeom>
          <a:noFill/>
        </p:spPr>
        <p:txBody>
          <a:bodyPr wrap="none" lIns="0" rIns="0" tIns="0" bIns="0">
            <a:spAutoFit/>
          </a:bodyPr>
          <a:lstStyle/>
          <a:p>
            <a:r>
              <a:rPr sz="1100" b="0">
                <a:solidFill>
                  <a:srgbClr val="2E2E2E"/>
                </a:solidFill>
                <a:latin typeface="Calibri"/>
              </a:rPr>
              <a:t>share), ahead of 'Healthcare &amp; Pharmaceuticals' (</a:t>
            </a:r>
          </a:p>
        </p:txBody>
      </p:sp>
      <p:pic>
        <p:nvPicPr>
          <p:cNvPr id="47" name="Picture 46" descr="lock.png"/>
          <p:cNvPicPr>
            <a:picLocks noChangeAspect="1"/>
          </p:cNvPicPr>
          <p:nvPr/>
        </p:nvPicPr>
        <p:blipFill>
          <a:blip r:embed="rId7"/>
          <a:stretch>
            <a:fillRect/>
          </a:stretch>
        </p:blipFill>
        <p:spPr>
          <a:xfrm>
            <a:off x="7826658" y="5941059"/>
            <a:ext cx="128699" cy="187198"/>
          </a:xfrm>
          <a:prstGeom prst="rect">
            <a:avLst/>
          </a:prstGeom>
        </p:spPr>
      </p:pic>
      <p:sp>
        <p:nvSpPr>
          <p:cNvPr id="48" name="TextBox 47"/>
          <p:cNvSpPr txBox="1"/>
          <p:nvPr/>
        </p:nvSpPr>
        <p:spPr>
          <a:xfrm>
            <a:off x="7994154" y="59508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6168771"/>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50" name="lockshield_9"/>
          <p:cNvSpPr/>
          <p:nvPr/>
        </p:nvSpPr>
        <p:spPr>
          <a:xfrm>
            <a:off x="238125" y="1266825"/>
            <a:ext cx="3676650" cy="3638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2"/>
          <p:cNvSpPr/>
          <p:nvPr/>
        </p:nvSpPr>
        <p:spPr>
          <a:xfrm>
            <a:off x="4257675" y="1266825"/>
            <a:ext cx="3676650" cy="3638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ockshield_15"/>
          <p:cNvSpPr/>
          <p:nvPr/>
        </p:nvSpPr>
        <p:spPr>
          <a:xfrm>
            <a:off x="8277225" y="1266825"/>
            <a:ext cx="3676650" cy="3638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Segment 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Material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Form</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End-use Industry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Material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Segmental Analysis Material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Material Type: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Material Type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Material Type</a:t>
            </a:r>
          </a:p>
        </p:txBody>
      </p:sp>
      <p:graphicFrame>
        <p:nvGraphicFramePr>
          <p:cNvPr id="12" name="Table 11"/>
          <p:cNvGraphicFramePr>
            <a:graphicFrameLocks noGrp="1"/>
          </p:cNvGraphicFramePr>
          <p:nvPr/>
        </p:nvGraphicFramePr>
        <p:xfrm>
          <a:off x="6181725" y="1238250"/>
          <a:ext cx="5857876" cy="2286001"/>
        </p:xfrm>
        <a:graphic>
          <a:graphicData uri="http://schemas.openxmlformats.org/drawingml/2006/table">
            <a:tbl>
              <a:tblPr>
                <a:tableStyleId>{5C22544A-7EE6-4342-B048-85BDC9FD1C3A}</a:tableStyleId>
              </a:tblPr>
              <a:tblGrid>
                <a:gridCol w="1704868"/>
                <a:gridCol w="1038252"/>
                <a:gridCol w="1038252"/>
                <a:gridCol w="1038252"/>
                <a:gridCol w="1038252"/>
              </a:tblGrid>
              <a:tr h="246126">
                <a:tc>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407975">
                <a:tc>
                  <a:txBody>
                    <a:bodyPr wrap="none"/>
                    <a:lstStyle/>
                    <a:p>
                      <a:pPr algn="l"/>
                      <a:r>
                        <a:rPr sz="1100" b="1">
                          <a:solidFill>
                            <a:srgbClr val="2E2E2E"/>
                          </a:solidFill>
                          <a:latin typeface="Calibri"/>
                        </a:rPr>
                        <a:t>Polyethylene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Expanded 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07975">
                <a:tc>
                  <a:txBody>
                    <a:bodyPr wrap="none"/>
                    <a:lstStyle/>
                    <a:p>
                      <a:pPr algn="l"/>
                      <a:r>
                        <a:rPr sz="1100" b="1">
                          <a:solidFill>
                            <a:srgbClr val="2E2E2E"/>
                          </a:solidFill>
                          <a:latin typeface="Calibri"/>
                        </a:rPr>
                        <a:t>Polyurethane (PU)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07975">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Material Type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776407"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Tables Material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Material Type, 2021–2036</a:t>
            </a:r>
          </a:p>
        </p:txBody>
      </p:sp>
      <p:sp>
        <p:nvSpPr>
          <p:cNvPr id="7" name="Rounded Rectangle 6"/>
          <p:cNvSpPr/>
          <p:nvPr/>
        </p:nvSpPr>
        <p:spPr>
          <a:xfrm>
            <a:off x="142875" y="981075"/>
            <a:ext cx="11906250" cy="2190750"/>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Material Type (US$ Mn)</a:t>
            </a:r>
          </a:p>
        </p:txBody>
      </p:sp>
      <p:graphicFrame>
        <p:nvGraphicFramePr>
          <p:cNvPr id="9" name="Table 8"/>
          <p:cNvGraphicFramePr>
            <a:graphicFrameLocks noGrp="1"/>
          </p:cNvGraphicFramePr>
          <p:nvPr/>
        </p:nvGraphicFramePr>
        <p:xfrm>
          <a:off x="152400" y="1238250"/>
          <a:ext cx="11887205" cy="1724028"/>
        </p:xfrm>
        <a:graphic>
          <a:graphicData uri="http://schemas.openxmlformats.org/drawingml/2006/table">
            <a:tbl>
              <a:tblPr>
                <a:tableStyleId>{5C22544A-7EE6-4342-B048-85BDC9FD1C3A}</a:tableStyleId>
              </a:tblPr>
              <a:tblGrid>
                <a:gridCol w="3095319"/>
                <a:gridCol w="528115"/>
                <a:gridCol w="528115"/>
                <a:gridCol w="528115"/>
                <a:gridCol w="528115"/>
                <a:gridCol w="528115"/>
                <a:gridCol w="509512"/>
                <a:gridCol w="504197"/>
                <a:gridCol w="504197"/>
                <a:gridCol w="504197"/>
                <a:gridCol w="504197"/>
                <a:gridCol w="504197"/>
                <a:gridCol w="504197"/>
                <a:gridCol w="504197"/>
                <a:gridCol w="504197"/>
                <a:gridCol w="504197"/>
                <a:gridCol w="504197"/>
                <a:gridCol w="599829"/>
              </a:tblGrid>
              <a:tr h="246126">
                <a:tc>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317">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Other Foam Materials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Extruded Polystyrene (XPS)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 Other Polyolefin &amp; Specialty Polymer Foams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317">
                <a:tc>
                  <a:txBody>
                    <a:bodyPr wrap="none"/>
                    <a:lstStyle/>
                    <a:p>
                      <a:pPr algn="l"/>
                      <a:r>
                        <a:rPr sz="1100" b="1">
                          <a:solidFill>
                            <a:srgbClr val="2E2E2E"/>
                          </a:solidFill>
                          <a:latin typeface="Calibri"/>
                        </a:rPr>
                        <a:t>– Bio-based / Starch-based Foams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456972" y="1956627"/>
            <a:ext cx="366712" cy="533400"/>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Product Form</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Segmental Analysis Product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Product Form: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Form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Form</a:t>
            </a:r>
          </a:p>
        </p:txBody>
      </p:sp>
      <p:graphicFrame>
        <p:nvGraphicFramePr>
          <p:cNvPr id="12" name="Table 11"/>
          <p:cNvGraphicFramePr>
            <a:graphicFrameLocks noGrp="1"/>
          </p:cNvGraphicFramePr>
          <p:nvPr/>
        </p:nvGraphicFramePr>
        <p:xfrm>
          <a:off x="6181725" y="1238250"/>
          <a:ext cx="5863961" cy="2286000"/>
        </p:xfrm>
        <a:graphic>
          <a:graphicData uri="http://schemas.openxmlformats.org/drawingml/2006/table">
            <a:tbl>
              <a:tblPr>
                <a:tableStyleId>{5C22544A-7EE6-4342-B048-85BDC9FD1C3A}</a:tableStyleId>
              </a:tblPr>
              <a:tblGrid>
                <a:gridCol w="1967593"/>
                <a:gridCol w="972570"/>
                <a:gridCol w="972570"/>
                <a:gridCol w="972570"/>
                <a:gridCol w="978658"/>
              </a:tblGrid>
              <a:tr h="24612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339979">
                <a:tc>
                  <a:txBody>
                    <a:bodyPr wrap="none"/>
                    <a:lstStyle/>
                    <a:p>
                      <a:pPr algn="l"/>
                      <a:r>
                        <a:rPr sz="1100" b="1">
                          <a:solidFill>
                            <a:srgbClr val="2E2E2E"/>
                          </a:solidFill>
                          <a:latin typeface="Calibri"/>
                        </a:rPr>
                        <a:t>Foam Sheets, Rolls &amp; Planks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Fabricated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Molded Foam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Foam-in-Place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9979">
                <a:tc>
                  <a:txBody>
                    <a:bodyPr wrap="none"/>
                    <a:lstStyle/>
                    <a:p>
                      <a:pPr algn="l"/>
                      <a:r>
                        <a:rPr sz="1100" b="1">
                          <a:solidFill>
                            <a:srgbClr val="2E2E2E"/>
                          </a:solidFill>
                          <a:latin typeface="Calibri"/>
                        </a:rPr>
                        <a:t>Foam Pouches, Bags &amp; Sleeves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9979">
                <a:tc>
                  <a:txBody>
                    <a:bodyPr wrap="none"/>
                    <a:lstStyle/>
                    <a:p>
                      <a:pPr algn="l"/>
                      <a:r>
                        <a:rPr sz="1100" b="1">
                          <a:solidFill>
                            <a:srgbClr val="2E2E2E"/>
                          </a:solidFill>
                          <a:latin typeface="Calibri"/>
                        </a:rPr>
                        <a:t>Foam Loose-Fill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Form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895593"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Tables Product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Product Form, 2021–2036</a:t>
            </a:r>
          </a:p>
        </p:txBody>
      </p:sp>
      <p:sp>
        <p:nvSpPr>
          <p:cNvPr id="7" name="Rounded Rectangle 6"/>
          <p:cNvSpPr/>
          <p:nvPr/>
        </p:nvSpPr>
        <p:spPr>
          <a:xfrm>
            <a:off x="142875" y="981075"/>
            <a:ext cx="11906250" cy="5143500"/>
          </a:xfrm>
          <a:prstGeom prst="roundRect">
            <a:avLst>
              <a:gd name="adj" fmla="val 148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Product Form (US$ Mn)</a:t>
            </a:r>
          </a:p>
        </p:txBody>
      </p:sp>
      <p:graphicFrame>
        <p:nvGraphicFramePr>
          <p:cNvPr id="9" name="Table 8"/>
          <p:cNvGraphicFramePr>
            <a:graphicFrameLocks noGrp="1"/>
          </p:cNvGraphicFramePr>
          <p:nvPr/>
        </p:nvGraphicFramePr>
        <p:xfrm>
          <a:off x="152400" y="1238250"/>
          <a:ext cx="11887199" cy="4676772"/>
        </p:xfrm>
        <a:graphic>
          <a:graphicData uri="http://schemas.openxmlformats.org/drawingml/2006/table">
            <a:tbl>
              <a:tblPr>
                <a:tableStyleId>{5C22544A-7EE6-4342-B048-85BDC9FD1C3A}</a:tableStyleId>
              </a:tblPr>
              <a:tblGrid>
                <a:gridCol w="3015955"/>
                <a:gridCol w="532882"/>
                <a:gridCol w="532882"/>
                <a:gridCol w="532882"/>
                <a:gridCol w="532882"/>
                <a:gridCol w="532882"/>
                <a:gridCol w="514111"/>
                <a:gridCol w="508748"/>
                <a:gridCol w="508748"/>
                <a:gridCol w="508748"/>
                <a:gridCol w="508748"/>
                <a:gridCol w="508748"/>
                <a:gridCol w="508748"/>
                <a:gridCol w="508748"/>
                <a:gridCol w="508748"/>
                <a:gridCol w="508748"/>
                <a:gridCol w="508748"/>
                <a:gridCol w="605243"/>
              </a:tblGrid>
              <a:tr h="246126">
                <a:tc>
                  <a:txBody>
                    <a:bodyPr wrap="none"/>
                    <a:lstStyle/>
                    <a:p>
                      <a:pPr algn="l"/>
                      <a:r>
                        <a:rPr sz="1100" b="1">
                          <a:solidFill>
                            <a:srgbClr val="0E2A5C"/>
                          </a:solidFill>
                          <a:latin typeface="Calibri"/>
                        </a:rPr>
                        <a:t>Product Form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147">
                <a:tc>
                  <a:txBody>
                    <a:bodyPr wrap="none"/>
                    <a:lstStyle/>
                    <a:p>
                      <a:pPr algn="l"/>
                      <a:r>
                        <a:rPr sz="1100" b="1">
                          <a:solidFill>
                            <a:srgbClr val="2E2E2E"/>
                          </a:solidFill>
                          <a:latin typeface="Calibri"/>
                        </a:rPr>
                        <a:t>Foam Sheets, Rolls &amp; Planks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Foam Sheets &amp; Rolls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Foam Planks &amp; Blocks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Fabricated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Die-Cut / CNC-Cut Foam Inserts &amp; Pads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Foam Corner &amp; Edge Protectors / Profiles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Foam Dividers &amp; Separators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Molded Foam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Molded Inserts, End Caps &amp; Cradles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Molded Protective Trays &amp; Containers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Foam-in-Place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Direct-Dispensed Foam-in-Place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Foam-in-Bag / On-Demand Foam Cushions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Foam Pouches, Bags &amp; Sleeves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 Pre-Fabricated Foam Pouches &amp; Bags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 Pre-Fabricated Foam Sleeves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47">
                <a:tc>
                  <a:txBody>
                    <a:bodyPr wrap="none"/>
                    <a:lstStyle/>
                    <a:p>
                      <a:pPr algn="l"/>
                      <a:r>
                        <a:rPr sz="1100" b="1">
                          <a:solidFill>
                            <a:srgbClr val="2E2E2E"/>
                          </a:solidFill>
                          <a:latin typeface="Calibri"/>
                        </a:rPr>
                        <a:t>Foam Loose-Fill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47">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417287" y="3432998"/>
            <a:ext cx="366712" cy="533400"/>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End-use Industry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Segmental Analysis End-use Industry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End-use Industry: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End-use Industry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End-use Industry</a:t>
            </a:r>
          </a:p>
        </p:txBody>
      </p:sp>
      <p:graphicFrame>
        <p:nvGraphicFramePr>
          <p:cNvPr id="12" name="Table 11"/>
          <p:cNvGraphicFramePr>
            <a:graphicFrameLocks noGrp="1"/>
          </p:cNvGraphicFramePr>
          <p:nvPr/>
        </p:nvGraphicFramePr>
        <p:xfrm>
          <a:off x="6181725" y="1238250"/>
          <a:ext cx="5857876" cy="2285998"/>
        </p:xfrm>
        <a:graphic>
          <a:graphicData uri="http://schemas.openxmlformats.org/drawingml/2006/table">
            <a:tbl>
              <a:tblPr>
                <a:tableStyleId>{5C22544A-7EE6-4342-B048-85BDC9FD1C3A}</a:tableStyleId>
              </a:tblPr>
              <a:tblGrid>
                <a:gridCol w="2459215"/>
                <a:gridCol w="854412"/>
                <a:gridCol w="854412"/>
                <a:gridCol w="1079030"/>
                <a:gridCol w="610807"/>
              </a:tblGrid>
              <a:tr h="246126">
                <a:tc>
                  <a:txBody>
                    <a:bodyPr wrap="none"/>
                    <a:lstStyle/>
                    <a:p>
                      <a:pPr algn="l"/>
                      <a:r>
                        <a:rPr sz="1100" b="1">
                          <a:solidFill>
                            <a:srgbClr val="0E2A5C"/>
                          </a:solidFill>
                          <a:latin typeface="Calibri"/>
                        </a:rPr>
                        <a:t>End-use Industry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54984">
                <a:tc>
                  <a:txBody>
                    <a:bodyPr wrap="none"/>
                    <a:lstStyle/>
                    <a:p>
                      <a:pPr algn="l"/>
                      <a:r>
                        <a:rPr sz="1100" b="1">
                          <a:solidFill>
                            <a:srgbClr val="2E2E2E"/>
                          </a:solidFill>
                          <a:latin typeface="Calibri"/>
                        </a:rPr>
                        <a:t>Electronics &amp; Electrical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Automotive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54984">
                <a:tc>
                  <a:txBody>
                    <a:bodyPr wrap="none"/>
                    <a:lstStyle/>
                    <a:p>
                      <a:pPr algn="l"/>
                      <a:r>
                        <a:rPr sz="1100" b="1">
                          <a:solidFill>
                            <a:srgbClr val="2E2E2E"/>
                          </a:solidFill>
                          <a:latin typeface="Calibri"/>
                        </a:rPr>
                        <a:t>Healthcare &amp; Pharmaceuticals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Industrial Machinery &amp;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54984">
                <a:tc>
                  <a:txBody>
                    <a:bodyPr wrap="none"/>
                    <a:lstStyle/>
                    <a:p>
                      <a:pPr algn="l"/>
                      <a:r>
                        <a:rPr sz="1100" b="1">
                          <a:solidFill>
                            <a:srgbClr val="2E2E2E"/>
                          </a:solidFill>
                          <a:latin typeface="Calibri"/>
                        </a:rPr>
                        <a:t>Consumer Goods &amp; Home Products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Food &amp; Beverage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54984">
                <a:tc>
                  <a:txBody>
                    <a:bodyPr wrap="none"/>
                    <a:lstStyle/>
                    <a:p>
                      <a:pPr algn="l"/>
                      <a:r>
                        <a:rPr sz="1100" b="1">
                          <a:solidFill>
                            <a:srgbClr val="2E2E2E"/>
                          </a:solidFill>
                          <a:latin typeface="Calibri"/>
                        </a:rPr>
                        <a:t>Aerospace &amp; Defense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4984">
                <a:tc>
                  <a:txBody>
                    <a:bodyPr wrap="none"/>
                    <a:lstStyle/>
                    <a:p>
                      <a:pPr algn="l"/>
                      <a:r>
                        <a:rPr sz="1100" b="1">
                          <a:solidFill>
                            <a:srgbClr val="2E2E2E"/>
                          </a:solidFill>
                          <a:latin typeface="Calibri"/>
                        </a:rPr>
                        <a:t>Others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End-use Industry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153580" y="2237612"/>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Tables End-use Industry (1/3)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End-use Industry, 2021–2036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Tables End-use Industry (2/3)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End-use Industry, 2021–2036</a:t>
            </a:r>
          </a:p>
        </p:txBody>
      </p:sp>
      <p:sp>
        <p:nvSpPr>
          <p:cNvPr id="11" name="Rounded Rectangle 10"/>
          <p:cNvSpPr/>
          <p:nvPr/>
        </p:nvSpPr>
        <p:spPr>
          <a:xfrm>
            <a:off x="142875" y="981075"/>
            <a:ext cx="11906250" cy="2438400"/>
          </a:xfrm>
          <a:prstGeom prst="roundRect">
            <a:avLst>
              <a:gd name="adj" fmla="val 31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End-use Industry (US$ Mn)</a:t>
            </a:r>
          </a:p>
        </p:txBody>
      </p:sp>
      <p:graphicFrame>
        <p:nvGraphicFramePr>
          <p:cNvPr id="13" name="Table 12"/>
          <p:cNvGraphicFramePr>
            <a:graphicFrameLocks noGrp="1"/>
          </p:cNvGraphicFramePr>
          <p:nvPr/>
        </p:nvGraphicFramePr>
        <p:xfrm>
          <a:off x="152400" y="1238250"/>
          <a:ext cx="11887200" cy="1971675"/>
        </p:xfrm>
        <a:graphic>
          <a:graphicData uri="http://schemas.openxmlformats.org/drawingml/2006/table">
            <a:tbl>
              <a:tblPr>
                <a:tableStyleId>{5C22544A-7EE6-4342-B048-85BDC9FD1C3A}</a:tableStyleId>
              </a:tblPr>
              <a:tblGrid>
                <a:gridCol w="3356631"/>
                <a:gridCol w="512418"/>
                <a:gridCol w="512418"/>
                <a:gridCol w="512418"/>
                <a:gridCol w="512418"/>
                <a:gridCol w="512418"/>
                <a:gridCol w="494368"/>
                <a:gridCol w="489211"/>
                <a:gridCol w="489211"/>
                <a:gridCol w="489211"/>
                <a:gridCol w="489211"/>
                <a:gridCol w="489211"/>
                <a:gridCol w="489211"/>
                <a:gridCol w="489211"/>
                <a:gridCol w="489211"/>
                <a:gridCol w="489211"/>
                <a:gridCol w="489211"/>
                <a:gridCol w="582001"/>
              </a:tblGrid>
              <a:tr h="246126">
                <a:tc>
                  <a:txBody>
                    <a:bodyPr wrap="none"/>
                    <a:lstStyle/>
                    <a:p>
                      <a:pPr algn="l"/>
                      <a:r>
                        <a:rPr sz="1100" b="1">
                          <a:solidFill>
                            <a:srgbClr val="0E2A5C"/>
                          </a:solidFill>
                          <a:latin typeface="Calibri"/>
                        </a:rPr>
                        <a:t>End-use Industry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507">
                <a:tc>
                  <a:txBody>
                    <a:bodyPr wrap="none"/>
                    <a:lstStyle/>
                    <a:p>
                      <a:pPr algn="l"/>
                      <a:r>
                        <a:rPr sz="1100" b="1">
                          <a:solidFill>
                            <a:srgbClr val="2E2E2E"/>
                          </a:solidFill>
                          <a:latin typeface="Calibri"/>
                        </a:rPr>
                        <a:t>Electronics &amp; Electrical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Consumer Electronics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 Electrical &amp; IT / Telecommunications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Automotive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 Automotive Components &amp; Spare Parts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 EV Batteries &amp; Sensitive Automotive Components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507">
                <a:tc>
                  <a:txBody>
                    <a:bodyPr wrap="none"/>
                    <a:lstStyle/>
                    <a:p>
                      <a:pPr algn="l"/>
                      <a:r>
                        <a:rPr sz="1100" b="1">
                          <a:solidFill>
                            <a:srgbClr val="2E2E2E"/>
                          </a:solidFill>
                          <a:latin typeface="Calibri"/>
                        </a:rPr>
                        <a:t>Healthcare &amp; Pharmaceuticals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4" name="TextBox 13"/>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7587625" y="2080450"/>
            <a:ext cx="366712" cy="533400"/>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Foam Protective Packaging Market Tables End-use Industry (3/3)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End-use Industry, 2021–2036</a:t>
            </a:r>
          </a:p>
        </p:txBody>
      </p:sp>
      <p:sp>
        <p:nvSpPr>
          <p:cNvPr id="7" name="Rounded Rectangle 6"/>
          <p:cNvSpPr/>
          <p:nvPr/>
        </p:nvSpPr>
        <p:spPr>
          <a:xfrm>
            <a:off x="142875" y="981075"/>
            <a:ext cx="11906250" cy="4905375"/>
          </a:xfrm>
          <a:prstGeom prst="roundRect">
            <a:avLst>
              <a:gd name="adj" fmla="val 155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End-use Industry (US$ Mn)</a:t>
            </a:r>
          </a:p>
        </p:txBody>
      </p:sp>
      <p:graphicFrame>
        <p:nvGraphicFramePr>
          <p:cNvPr id="9" name="Table 8"/>
          <p:cNvGraphicFramePr>
            <a:graphicFrameLocks noGrp="1"/>
          </p:cNvGraphicFramePr>
          <p:nvPr/>
        </p:nvGraphicFramePr>
        <p:xfrm>
          <a:off x="152400" y="1238250"/>
          <a:ext cx="11887200" cy="4438649"/>
        </p:xfrm>
        <a:graphic>
          <a:graphicData uri="http://schemas.openxmlformats.org/drawingml/2006/table">
            <a:tbl>
              <a:tblPr>
                <a:tableStyleId>{5C22544A-7EE6-4342-B048-85BDC9FD1C3A}</a:tableStyleId>
              </a:tblPr>
              <a:tblGrid>
                <a:gridCol w="3485994"/>
                <a:gridCol w="504648"/>
                <a:gridCol w="504648"/>
                <a:gridCol w="504648"/>
                <a:gridCol w="504648"/>
                <a:gridCol w="504648"/>
                <a:gridCol w="486871"/>
                <a:gridCol w="481792"/>
                <a:gridCol w="481792"/>
                <a:gridCol w="481792"/>
                <a:gridCol w="481792"/>
                <a:gridCol w="481792"/>
                <a:gridCol w="481792"/>
                <a:gridCol w="481792"/>
                <a:gridCol w="481792"/>
                <a:gridCol w="481792"/>
                <a:gridCol w="481792"/>
                <a:gridCol w="573175"/>
              </a:tblGrid>
              <a:tr h="246126">
                <a:tc>
                  <a:txBody>
                    <a:bodyPr wrap="none"/>
                    <a:lstStyle/>
                    <a:p>
                      <a:pPr algn="l"/>
                      <a:r>
                        <a:rPr sz="1100" b="1">
                          <a:solidFill>
                            <a:srgbClr val="0E2A5C"/>
                          </a:solidFill>
                          <a:latin typeface="Calibri"/>
                        </a:rPr>
                        <a:t>End-use Industry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619">
                <a:tc>
                  <a:txBody>
                    <a:bodyPr wrap="none"/>
                    <a:lstStyle/>
                    <a:p>
                      <a:pPr algn="l"/>
                      <a:r>
                        <a:rPr sz="1100" b="1">
                          <a:solidFill>
                            <a:srgbClr val="2E2E2E"/>
                          </a:solidFill>
                          <a:latin typeface="Calibri"/>
                        </a:rPr>
                        <a:t>– Medical Devices &amp; Diagnostic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 Pharmaceutical &amp; Biopharmaceutical Products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Industrial Machinery &amp;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 Heavy Machinery &amp; Industrial Components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 Precision Instruments &amp; Scientific Equipment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Consumer Goods &amp; Home Products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 Home Appliances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 Furniture &amp; Home Furnishings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 Glassware, Ceramics &amp; Fragile Consumer Goods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Food &amp; Beverage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 Temperature-Controlled Food &amp; Beverage Packaging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 Other Food &amp; Beverage Protective Packaging</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Aerospace &amp; Defense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 Aerospace Components &amp; Equipment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 Defense Equipment &amp; Sensitive Components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19">
                <a:tc>
                  <a:txBody>
                    <a:bodyPr wrap="none"/>
                    <a:lstStyle/>
                    <a:p>
                      <a:pPr algn="l"/>
                      <a:r>
                        <a:rPr sz="1100" b="1">
                          <a:solidFill>
                            <a:srgbClr val="2E2E2E"/>
                          </a:solidFill>
                          <a:latin typeface="Calibri"/>
                        </a:rPr>
                        <a:t>Others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619">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56864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652307" y="3313937"/>
            <a:ext cx="366712" cy="533400"/>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Product Pricing &amp; Regional Price Index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8" name="Rounded Rectangle 7"/>
          <p:cNvSpPr/>
          <p:nvPr/>
        </p:nvSpPr>
        <p:spPr>
          <a:xfrm>
            <a:off x="142875" y="1317574"/>
            <a:ext cx="7696200"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0" name="TextBox 9"/>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3410.6</a:t>
            </a:r>
          </a:p>
        </p:txBody>
      </p:sp>
      <p:sp>
        <p:nvSpPr>
          <p:cNvPr id="11" name="TextBox 10"/>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4569.8</a:t>
            </a:r>
          </a:p>
        </p:txBody>
      </p:sp>
      <p:sp>
        <p:nvSpPr>
          <p:cNvPr id="12" name="TextBox 11"/>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5728.9</a:t>
            </a:r>
          </a:p>
        </p:txBody>
      </p:sp>
      <p:cxnSp>
        <p:nvCxnSpPr>
          <p:cNvPr id="13" name="Connector 12"/>
          <p:cNvCxnSpPr/>
          <p:nvPr/>
        </p:nvCxnSpPr>
        <p:spPr>
          <a:xfrm>
            <a:off x="1358265" y="2890022"/>
            <a:ext cx="0" cy="43769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139190" y="2890022"/>
            <a:ext cx="438150" cy="437692"/>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225" y="2737622"/>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16" name="TextBox 15"/>
          <p:cNvSpPr txBox="1"/>
          <p:nvPr/>
        </p:nvSpPr>
        <p:spPr>
          <a:xfrm>
            <a:off x="65722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Polyethylene (PE) Foam</a:t>
            </a:r>
          </a:p>
        </p:txBody>
      </p:sp>
      <p:cxnSp>
        <p:nvCxnSpPr>
          <p:cNvPr id="17" name="Connector 16"/>
          <p:cNvCxnSpPr/>
          <p:nvPr/>
        </p:nvCxnSpPr>
        <p:spPr>
          <a:xfrm>
            <a:off x="2760345" y="2825725"/>
            <a:ext cx="0" cy="304260"/>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541270" y="2825725"/>
            <a:ext cx="438150" cy="30426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59305" y="2673325"/>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0" name="TextBox 19"/>
          <p:cNvSpPr txBox="1"/>
          <p:nvPr/>
        </p:nvSpPr>
        <p:spPr>
          <a:xfrm>
            <a:off x="205930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Polystyrene</a:t>
            </a:r>
          </a:p>
        </p:txBody>
      </p:sp>
      <p:cxnSp>
        <p:nvCxnSpPr>
          <p:cNvPr id="21" name="Connector 20"/>
          <p:cNvCxnSpPr/>
          <p:nvPr/>
        </p:nvCxnSpPr>
        <p:spPr>
          <a:xfrm>
            <a:off x="4162425" y="1927636"/>
            <a:ext cx="0" cy="392623"/>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943350" y="1927636"/>
            <a:ext cx="438150" cy="39262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61385" y="177523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4" name="TextBox 23"/>
          <p:cNvSpPr txBox="1"/>
          <p:nvPr/>
        </p:nvSpPr>
        <p:spPr>
          <a:xfrm>
            <a:off x="346138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Polyurethane (PU) Foam</a:t>
            </a:r>
          </a:p>
        </p:txBody>
      </p:sp>
      <p:cxnSp>
        <p:nvCxnSpPr>
          <p:cNvPr id="25" name="Connector 24"/>
          <p:cNvCxnSpPr/>
          <p:nvPr/>
        </p:nvCxnSpPr>
        <p:spPr>
          <a:xfrm>
            <a:off x="5564505" y="3046413"/>
            <a:ext cx="0" cy="27733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345430" y="3046413"/>
            <a:ext cx="438150" cy="27733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63465" y="2894013"/>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8" name="TextBox 27"/>
          <p:cNvSpPr txBox="1"/>
          <p:nvPr/>
        </p:nvSpPr>
        <p:spPr>
          <a:xfrm>
            <a:off x="486346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Polypropylene</a:t>
            </a:r>
          </a:p>
        </p:txBody>
      </p:sp>
      <p:cxnSp>
        <p:nvCxnSpPr>
          <p:cNvPr id="29" name="Connector 28"/>
          <p:cNvCxnSpPr/>
          <p:nvPr/>
        </p:nvCxnSpPr>
        <p:spPr>
          <a:xfrm>
            <a:off x="6966585" y="2781832"/>
            <a:ext cx="0" cy="270729"/>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747510" y="2781832"/>
            <a:ext cx="438150" cy="27073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5545" y="2629432"/>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32" name="TextBox 31"/>
          <p:cNvSpPr txBox="1"/>
          <p:nvPr/>
        </p:nvSpPr>
        <p:spPr>
          <a:xfrm>
            <a:off x="626554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Other Foam Materials</a:t>
            </a:r>
          </a:p>
        </p:txBody>
      </p:sp>
      <p:sp>
        <p:nvSpPr>
          <p:cNvPr id="33" name="Rounded Rectangle 32"/>
          <p:cNvSpPr/>
          <p:nvPr/>
        </p:nvSpPr>
        <p:spPr>
          <a:xfrm>
            <a:off x="142875" y="3991741"/>
            <a:ext cx="7696200" cy="2564645"/>
          </a:xfrm>
          <a:prstGeom prst="roundRect">
            <a:avLst>
              <a:gd name="adj" fmla="val 29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35" name="Connector 34"/>
          <p:cNvCxnSpPr/>
          <p:nvPr/>
        </p:nvCxnSpPr>
        <p:spPr>
          <a:xfrm>
            <a:off x="619125" y="452165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9125" y="48854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9125" y="561312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9125" y="597694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9125" y="4521654"/>
            <a:ext cx="0" cy="1455287"/>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0550" y="452165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0550" y="48854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90550" y="561312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90550" y="597694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46" name="TMR Scale tick"/>
          <p:cNvSpPr txBox="1"/>
          <p:nvPr/>
        </p:nvSpPr>
        <p:spPr>
          <a:xfrm>
            <a:off x="219075" y="4454979"/>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47" name="TMR Scale tick"/>
          <p:cNvSpPr txBox="1"/>
          <p:nvPr/>
        </p:nvSpPr>
        <p:spPr>
          <a:xfrm>
            <a:off x="219075" y="4818801"/>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8" name="TMR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9" name="TMR Scale tick"/>
          <p:cNvSpPr txBox="1"/>
          <p:nvPr/>
        </p:nvSpPr>
        <p:spPr>
          <a:xfrm>
            <a:off x="219075" y="5546445"/>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50" name="TMR Scale tick"/>
          <p:cNvSpPr txBox="1"/>
          <p:nvPr/>
        </p:nvSpPr>
        <p:spPr>
          <a:xfrm>
            <a:off x="219075" y="5910266"/>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51" name="Connector 50"/>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MR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4" name="Rectangle 53"/>
          <p:cNvSpPr/>
          <p:nvPr/>
        </p:nvSpPr>
        <p:spPr>
          <a:xfrm>
            <a:off x="2152650" y="5203734"/>
            <a:ext cx="457200" cy="4556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MR Data Label"/>
          <p:cNvSpPr txBox="1"/>
          <p:nvPr/>
        </p:nvSpPr>
        <p:spPr>
          <a:xfrm>
            <a:off x="1793875" y="506085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6" name="Rectangle 55"/>
          <p:cNvSpPr/>
          <p:nvPr/>
        </p:nvSpPr>
        <p:spPr>
          <a:xfrm>
            <a:off x="3327400" y="4769988"/>
            <a:ext cx="457200" cy="47931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MR Data Label"/>
          <p:cNvSpPr txBox="1"/>
          <p:nvPr/>
        </p:nvSpPr>
        <p:spPr>
          <a:xfrm>
            <a:off x="2968625" y="462711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8" name="Rectangle 57"/>
          <p:cNvSpPr/>
          <p:nvPr/>
        </p:nvSpPr>
        <p:spPr>
          <a:xfrm>
            <a:off x="4502150" y="5249298"/>
            <a:ext cx="457200" cy="38137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MR Data Label"/>
          <p:cNvSpPr txBox="1"/>
          <p:nvPr/>
        </p:nvSpPr>
        <p:spPr>
          <a:xfrm>
            <a:off x="4143375" y="564019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0" name="Rectangle 59"/>
          <p:cNvSpPr/>
          <p:nvPr/>
        </p:nvSpPr>
        <p:spPr>
          <a:xfrm>
            <a:off x="5676900" y="5249298"/>
            <a:ext cx="457200" cy="38621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MR Data Label"/>
          <p:cNvSpPr txBox="1"/>
          <p:nvPr/>
        </p:nvSpPr>
        <p:spPr>
          <a:xfrm>
            <a:off x="5318125" y="564504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2" name="Rectangle 61"/>
          <p:cNvSpPr/>
          <p:nvPr/>
        </p:nvSpPr>
        <p:spPr>
          <a:xfrm>
            <a:off x="6851650" y="5249298"/>
            <a:ext cx="457200" cy="7580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MR Data Label"/>
          <p:cNvSpPr txBox="1"/>
          <p:nvPr/>
        </p:nvSpPr>
        <p:spPr>
          <a:xfrm>
            <a:off x="6492875" y="533462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4" name="TextBox 63"/>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65" name="TextBox 64"/>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66" name="TextBox 65"/>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67" name="TextBox 66"/>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68" name="TextBox 67"/>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69" name="TextBox 68"/>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and Africa</a:t>
            </a:r>
          </a:p>
        </p:txBody>
      </p:sp>
      <p:sp>
        <p:nvSpPr>
          <p:cNvPr id="70" name="Rounded Rectangle 69"/>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72" name="Rectangle 71"/>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74" name="Rectangle 7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6" name="Picture 75" descr="lock.png"/>
          <p:cNvPicPr>
            <a:picLocks noChangeAspect="1"/>
          </p:cNvPicPr>
          <p:nvPr/>
        </p:nvPicPr>
        <p:blipFill>
          <a:blip r:embed="rId4"/>
          <a:stretch>
            <a:fillRect/>
          </a:stretch>
        </p:blipFill>
        <p:spPr>
          <a:xfrm>
            <a:off x="1293915" y="2710698"/>
            <a:ext cx="128699" cy="187198"/>
          </a:xfrm>
          <a:prstGeom prst="rect">
            <a:avLst/>
          </a:prstGeom>
        </p:spPr>
      </p:pic>
      <p:pic>
        <p:nvPicPr>
          <p:cNvPr id="77" name="Picture 76" descr="lock.png"/>
          <p:cNvPicPr>
            <a:picLocks noChangeAspect="1"/>
          </p:cNvPicPr>
          <p:nvPr/>
        </p:nvPicPr>
        <p:blipFill>
          <a:blip r:embed="rId4"/>
          <a:stretch>
            <a:fillRect/>
          </a:stretch>
        </p:blipFill>
        <p:spPr>
          <a:xfrm>
            <a:off x="2695995" y="2646401"/>
            <a:ext cx="128699" cy="187198"/>
          </a:xfrm>
          <a:prstGeom prst="rect">
            <a:avLst/>
          </a:prstGeom>
        </p:spPr>
      </p:pic>
      <p:pic>
        <p:nvPicPr>
          <p:cNvPr id="78" name="Picture 77" descr="lock.png"/>
          <p:cNvPicPr>
            <a:picLocks noChangeAspect="1"/>
          </p:cNvPicPr>
          <p:nvPr/>
        </p:nvPicPr>
        <p:blipFill>
          <a:blip r:embed="rId4"/>
          <a:stretch>
            <a:fillRect/>
          </a:stretch>
        </p:blipFill>
        <p:spPr>
          <a:xfrm>
            <a:off x="4098075" y="1748312"/>
            <a:ext cx="128699" cy="187198"/>
          </a:xfrm>
          <a:prstGeom prst="rect">
            <a:avLst/>
          </a:prstGeom>
        </p:spPr>
      </p:pic>
      <p:pic>
        <p:nvPicPr>
          <p:cNvPr id="79" name="Picture 78" descr="lock.png"/>
          <p:cNvPicPr>
            <a:picLocks noChangeAspect="1"/>
          </p:cNvPicPr>
          <p:nvPr/>
        </p:nvPicPr>
        <p:blipFill>
          <a:blip r:embed="rId4"/>
          <a:stretch>
            <a:fillRect/>
          </a:stretch>
        </p:blipFill>
        <p:spPr>
          <a:xfrm>
            <a:off x="5500155" y="2867089"/>
            <a:ext cx="128699" cy="187198"/>
          </a:xfrm>
          <a:prstGeom prst="rect">
            <a:avLst/>
          </a:prstGeom>
        </p:spPr>
      </p:pic>
      <p:pic>
        <p:nvPicPr>
          <p:cNvPr id="80" name="Picture 79" descr="lock.png"/>
          <p:cNvPicPr>
            <a:picLocks noChangeAspect="1"/>
          </p:cNvPicPr>
          <p:nvPr/>
        </p:nvPicPr>
        <p:blipFill>
          <a:blip r:embed="rId4"/>
          <a:stretch>
            <a:fillRect/>
          </a:stretch>
        </p:blipFill>
        <p:spPr>
          <a:xfrm>
            <a:off x="6902235" y="2602508"/>
            <a:ext cx="128699" cy="187198"/>
          </a:xfrm>
          <a:prstGeom prst="rect">
            <a:avLst/>
          </a:prstGeom>
        </p:spPr>
      </p:pic>
      <p:pic>
        <p:nvPicPr>
          <p:cNvPr id="81" name="Picture 80" descr="lock.png"/>
          <p:cNvPicPr>
            <a:picLocks noChangeAspect="1"/>
          </p:cNvPicPr>
          <p:nvPr/>
        </p:nvPicPr>
        <p:blipFill>
          <a:blip r:embed="rId4"/>
          <a:stretch>
            <a:fillRect/>
          </a:stretch>
        </p:blipFill>
        <p:spPr>
          <a:xfrm>
            <a:off x="1142150" y="4444308"/>
            <a:ext cx="128699" cy="187198"/>
          </a:xfrm>
          <a:prstGeom prst="rect">
            <a:avLst/>
          </a:prstGeom>
        </p:spPr>
      </p:pic>
      <p:pic>
        <p:nvPicPr>
          <p:cNvPr id="82" name="Picture 81" descr="lock.png"/>
          <p:cNvPicPr>
            <a:picLocks noChangeAspect="1"/>
          </p:cNvPicPr>
          <p:nvPr/>
        </p:nvPicPr>
        <p:blipFill>
          <a:blip r:embed="rId4"/>
          <a:stretch>
            <a:fillRect/>
          </a:stretch>
        </p:blipFill>
        <p:spPr>
          <a:xfrm>
            <a:off x="2316900" y="5033935"/>
            <a:ext cx="128699" cy="187198"/>
          </a:xfrm>
          <a:prstGeom prst="rect">
            <a:avLst/>
          </a:prstGeom>
        </p:spPr>
      </p:pic>
      <p:pic>
        <p:nvPicPr>
          <p:cNvPr id="83" name="Picture 82" descr="lock.png"/>
          <p:cNvPicPr>
            <a:picLocks noChangeAspect="1"/>
          </p:cNvPicPr>
          <p:nvPr/>
        </p:nvPicPr>
        <p:blipFill>
          <a:blip r:embed="rId4"/>
          <a:stretch>
            <a:fillRect/>
          </a:stretch>
        </p:blipFill>
        <p:spPr>
          <a:xfrm>
            <a:off x="3491650" y="4600189"/>
            <a:ext cx="128699" cy="187198"/>
          </a:xfrm>
          <a:prstGeom prst="rect">
            <a:avLst/>
          </a:prstGeom>
        </p:spPr>
      </p:pic>
      <p:pic>
        <p:nvPicPr>
          <p:cNvPr id="84" name="Picture 83" descr="lock.png"/>
          <p:cNvPicPr>
            <a:picLocks noChangeAspect="1"/>
          </p:cNvPicPr>
          <p:nvPr/>
        </p:nvPicPr>
        <p:blipFill>
          <a:blip r:embed="rId4"/>
          <a:stretch>
            <a:fillRect/>
          </a:stretch>
        </p:blipFill>
        <p:spPr>
          <a:xfrm>
            <a:off x="4666400" y="5613274"/>
            <a:ext cx="128699" cy="187198"/>
          </a:xfrm>
          <a:prstGeom prst="rect">
            <a:avLst/>
          </a:prstGeom>
        </p:spPr>
      </p:pic>
      <p:pic>
        <p:nvPicPr>
          <p:cNvPr id="85" name="Picture 84" descr="lock.png"/>
          <p:cNvPicPr>
            <a:picLocks noChangeAspect="1"/>
          </p:cNvPicPr>
          <p:nvPr/>
        </p:nvPicPr>
        <p:blipFill>
          <a:blip r:embed="rId4"/>
          <a:stretch>
            <a:fillRect/>
          </a:stretch>
        </p:blipFill>
        <p:spPr>
          <a:xfrm>
            <a:off x="5841150" y="5618116"/>
            <a:ext cx="128699" cy="187198"/>
          </a:xfrm>
          <a:prstGeom prst="rect">
            <a:avLst/>
          </a:prstGeom>
        </p:spPr>
      </p:pic>
      <p:pic>
        <p:nvPicPr>
          <p:cNvPr id="86" name="Picture 85" descr="lock.png"/>
          <p:cNvPicPr>
            <a:picLocks noChangeAspect="1"/>
          </p:cNvPicPr>
          <p:nvPr/>
        </p:nvPicPr>
        <p:blipFill>
          <a:blip r:embed="rId4"/>
          <a:stretch>
            <a:fillRect/>
          </a:stretch>
        </p:blipFill>
        <p:spPr>
          <a:xfrm>
            <a:off x="7015900" y="5307699"/>
            <a:ext cx="128699" cy="187198"/>
          </a:xfrm>
          <a:prstGeom prst="rect">
            <a:avLst/>
          </a:prstGeom>
        </p:spPr>
      </p:pic>
      <p:sp>
        <p:nvSpPr>
          <p:cNvPr id="87" name="TextBox 86"/>
          <p:cNvSpPr txBox="1"/>
          <p:nvPr/>
        </p:nvSpPr>
        <p:spPr>
          <a:xfrm>
            <a:off x="8048625" y="1736673"/>
            <a:ext cx="3681809"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material type</a:t>
            </a:r>
          </a:p>
        </p:txBody>
      </p:sp>
      <p:sp>
        <p:nvSpPr>
          <p:cNvPr id="88" name="TextBox 87"/>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89" name="TextBox 88"/>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90" name="TextBox 89"/>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91" name="TextBox 90"/>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92" name="TextBox 91"/>
          <p:cNvSpPr txBox="1"/>
          <p:nvPr/>
        </p:nvSpPr>
        <p:spPr>
          <a:xfrm>
            <a:off x="8048625" y="2665551"/>
            <a:ext cx="3848100" cy="194310"/>
          </a:xfrm>
          <a:prstGeom prst="rect">
            <a:avLst/>
          </a:prstGeom>
          <a:noFill/>
        </p:spPr>
        <p:txBody>
          <a:bodyPr wrap="none" lIns="0" rIns="0" tIns="0" bIns="0">
            <a:spAutoFit/>
          </a:bodyPr>
          <a:lstStyle/>
          <a:p>
            <a:r>
              <a:rPr sz="1150" b="0">
                <a:solidFill>
                  <a:srgbClr val="2E2E2E"/>
                </a:solidFill>
                <a:latin typeface="Calibri"/>
              </a:rPr>
              <a:t>price levels 'Polyethylene (PE) Foam' shows the most movement</a:t>
            </a:r>
          </a:p>
        </p:txBody>
      </p:sp>
      <p:sp>
        <p:nvSpPr>
          <p:cNvPr id="93" name="TextBox 92"/>
          <p:cNvSpPr txBox="1"/>
          <p:nvPr/>
        </p:nvSpPr>
        <p:spPr>
          <a:xfrm>
            <a:off x="8048625" y="2840811"/>
            <a:ext cx="193154"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94" name="Picture 93" descr="lock.png"/>
          <p:cNvPicPr>
            <a:picLocks noChangeAspect="1"/>
          </p:cNvPicPr>
          <p:nvPr/>
        </p:nvPicPr>
        <p:blipFill>
          <a:blip r:embed="rId4"/>
          <a:stretch>
            <a:fillRect/>
          </a:stretch>
        </p:blipFill>
        <p:spPr>
          <a:xfrm>
            <a:off x="8190933" y="2830588"/>
            <a:ext cx="134549" cy="195707"/>
          </a:xfrm>
          <a:prstGeom prst="rect">
            <a:avLst/>
          </a:prstGeom>
        </p:spPr>
      </p:pic>
      <p:sp>
        <p:nvSpPr>
          <p:cNvPr id="95" name="TextBox 94"/>
          <p:cNvSpPr txBox="1"/>
          <p:nvPr/>
        </p:nvSpPr>
        <p:spPr>
          <a:xfrm>
            <a:off x="8366042" y="2840811"/>
            <a:ext cx="2476580" cy="194310"/>
          </a:xfrm>
          <a:prstGeom prst="rect">
            <a:avLst/>
          </a:prstGeom>
          <a:noFill/>
        </p:spPr>
        <p:txBody>
          <a:bodyPr wrap="none" lIns="0" rIns="0" tIns="0" bIns="0">
            <a:spAutoFit/>
          </a:bodyPr>
          <a:lstStyle/>
          <a:p>
            <a:r>
              <a:rPr sz="1150" b="0">
                <a:solidFill>
                  <a:srgbClr val="2E2E2E"/>
                </a:solidFill>
                <a:latin typeface="Calibri"/>
              </a:rPr>
              <a:t>) and 'Other Foam Materials' the least (+</a:t>
            </a:r>
          </a:p>
        </p:txBody>
      </p:sp>
      <p:pic>
        <p:nvPicPr>
          <p:cNvPr id="96" name="Picture 95" descr="lock.png"/>
          <p:cNvPicPr>
            <a:picLocks noChangeAspect="1"/>
          </p:cNvPicPr>
          <p:nvPr/>
        </p:nvPicPr>
        <p:blipFill>
          <a:blip r:embed="rId4"/>
          <a:stretch>
            <a:fillRect/>
          </a:stretch>
        </p:blipFill>
        <p:spPr>
          <a:xfrm>
            <a:off x="10791776" y="2830588"/>
            <a:ext cx="134549" cy="195707"/>
          </a:xfrm>
          <a:prstGeom prst="rect">
            <a:avLst/>
          </a:prstGeom>
        </p:spPr>
      </p:pic>
      <p:sp>
        <p:nvSpPr>
          <p:cNvPr id="97" name="TextBox 96"/>
          <p:cNvSpPr txBox="1"/>
          <p:nvPr/>
        </p:nvSpPr>
        <p:spPr>
          <a:xfrm>
            <a:off x="10966885" y="2840811"/>
            <a:ext cx="736848" cy="194310"/>
          </a:xfrm>
          <a:prstGeom prst="rect">
            <a:avLst/>
          </a:prstGeom>
          <a:noFill/>
        </p:spPr>
        <p:txBody>
          <a:bodyPr wrap="none" lIns="0" rIns="0" tIns="0" bIns="0">
            <a:spAutoFit/>
          </a:bodyPr>
          <a:lstStyle/>
          <a:p>
            <a:r>
              <a:rPr sz="1150" b="0">
                <a:solidFill>
                  <a:srgbClr val="2E2E2E"/>
                </a:solidFill>
                <a:latin typeface="Calibri"/>
              </a:rPr>
              <a:t>) variability</a:t>
            </a:r>
          </a:p>
        </p:txBody>
      </p:sp>
      <p:sp>
        <p:nvSpPr>
          <p:cNvPr id="98" name="TextBox 97"/>
          <p:cNvSpPr txBox="1"/>
          <p:nvPr/>
        </p:nvSpPr>
        <p:spPr>
          <a:xfrm>
            <a:off x="8048625" y="3016071"/>
            <a:ext cx="3668117" cy="194310"/>
          </a:xfrm>
          <a:prstGeom prst="rect">
            <a:avLst/>
          </a:prstGeom>
          <a:noFill/>
        </p:spPr>
        <p:txBody>
          <a:bodyPr wrap="none" lIns="0" rIns="0" tIns="0" bIns="0">
            <a:spAutoFit/>
          </a:bodyPr>
          <a:lstStyle/>
          <a:p>
            <a:r>
              <a:rPr sz="1150" b="0">
                <a:solidFill>
                  <a:srgbClr val="2E2E2E"/>
                </a:solidFill>
                <a:latin typeface="Calibri"/>
              </a:rPr>
              <a:t>stakeholders should monitor when planning procurement or</a:t>
            </a:r>
          </a:p>
        </p:txBody>
      </p:sp>
      <p:sp>
        <p:nvSpPr>
          <p:cNvPr id="99" name="TextBox 98"/>
          <p:cNvSpPr txBox="1"/>
          <p:nvPr/>
        </p:nvSpPr>
        <p:spPr>
          <a:xfrm>
            <a:off x="8048625" y="3191331"/>
            <a:ext cx="515491" cy="194310"/>
          </a:xfrm>
          <a:prstGeom prst="rect">
            <a:avLst/>
          </a:prstGeom>
          <a:noFill/>
        </p:spPr>
        <p:txBody>
          <a:bodyPr wrap="none" lIns="0" rIns="0" tIns="0" bIns="0">
            <a:spAutoFit/>
          </a:bodyPr>
          <a:lstStyle/>
          <a:p>
            <a:r>
              <a:rPr sz="1150" b="0">
                <a:solidFill>
                  <a:srgbClr val="2E2E2E"/>
                </a:solidFill>
                <a:latin typeface="Calibri"/>
              </a:rPr>
              <a:t>pricing.</a:t>
            </a:r>
          </a:p>
        </p:txBody>
      </p:sp>
      <p:sp>
        <p:nvSpPr>
          <p:cNvPr id="100" name="TextBox 99"/>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01" name="TextBox 100"/>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02" name="TextBox 101"/>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03" name="TextBox 102"/>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04" name="TextBox 103"/>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05" name="Picture 104" descr="lock.png"/>
          <p:cNvPicPr>
            <a:picLocks noChangeAspect="1"/>
          </p:cNvPicPr>
          <p:nvPr/>
        </p:nvPicPr>
        <p:blipFill>
          <a:blip r:embed="rId4"/>
          <a:stretch>
            <a:fillRect/>
          </a:stretch>
        </p:blipFill>
        <p:spPr>
          <a:xfrm>
            <a:off x="10338039" y="4162564"/>
            <a:ext cx="134549" cy="195707"/>
          </a:xfrm>
          <a:prstGeom prst="rect">
            <a:avLst/>
          </a:prstGeom>
        </p:spPr>
      </p:pic>
      <p:sp>
        <p:nvSpPr>
          <p:cNvPr id="106" name="TextBox 105"/>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07" name="TextBox 106"/>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08" name="TextBox 107"/>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09" name="TextBox 108"/>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Pricing Assessment: By Material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by material type, 2021 to 2036, with 2026 price index and growth outlook</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Material Type, 2021 to 2036 (US$/MT)</a:t>
            </a:r>
          </a:p>
        </p:txBody>
      </p:sp>
      <p:graphicFrame>
        <p:nvGraphicFramePr>
          <p:cNvPr id="10" name="TMR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1" name="TextBox 10"/>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2" name="Rectangle 11"/>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4" name="TMR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5" name="Table 14"/>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263870">
                <a:tc>
                  <a:txBody>
                    <a:bodyPr wrap="square"/>
                    <a:lstStyle/>
                    <a:p>
                      <a:pPr algn="l"/>
                      <a:r>
                        <a:rPr sz="850" b="1">
                          <a:solidFill>
                            <a:srgbClr val="FFFFFF"/>
                          </a:solidFill>
                          <a:latin typeface="Calibri"/>
                        </a:rPr>
                        <a:t>Material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263870">
                <a:tc>
                  <a:txBody>
                    <a:bodyPr wrap="square"/>
                    <a:lstStyle/>
                    <a:p>
                      <a:pPr algn="l"/>
                      <a:r>
                        <a:rPr sz="850" b="1">
                          <a:solidFill>
                            <a:srgbClr val="1F1F1F"/>
                          </a:solidFill>
                          <a:latin typeface="Calibri"/>
                        </a:rPr>
                        <a:t>Polyurethane (PU) Foam</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63870">
                <a:tc>
                  <a:txBody>
                    <a:bodyPr wrap="square"/>
                    <a:lstStyle/>
                    <a:p>
                      <a:pPr algn="l"/>
                      <a:r>
                        <a:rPr sz="850" b="1">
                          <a:solidFill>
                            <a:srgbClr val="1F1F1F"/>
                          </a:solidFill>
                          <a:latin typeface="Calibri"/>
                        </a:rPr>
                        <a:t>Other Foam Materials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BE3D3"/>
                    </a:solidFill>
                  </a:tcPr>
                </a:tc>
              </a:tr>
              <a:tr h="263870">
                <a:tc>
                  <a:txBody>
                    <a:bodyPr wrap="square"/>
                    <a:lstStyle/>
                    <a:p>
                      <a:pPr algn="l"/>
                      <a:r>
                        <a:rPr sz="850" b="1">
                          <a:solidFill>
                            <a:srgbClr val="1F1F1F"/>
                          </a:solidFill>
                          <a:latin typeface="Calibri"/>
                        </a:rPr>
                        <a:t>Expanded Polystyrene (EPS)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7F7F7"/>
                    </a:solidFill>
                  </a:tcPr>
                </a:tc>
              </a:tr>
              <a:tr h="263870">
                <a:tc>
                  <a:txBody>
                    <a:bodyPr wrap="square"/>
                    <a:lstStyle/>
                    <a:p>
                      <a:pPr algn="l"/>
                      <a:r>
                        <a:rPr sz="850" b="1">
                          <a:solidFill>
                            <a:srgbClr val="1F1F1F"/>
                          </a:solidFill>
                          <a:latin typeface="Calibri"/>
                        </a:rPr>
                        <a:t>Polyethylene (PE) Foam</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263870">
                <a:tc>
                  <a:txBody>
                    <a:bodyPr wrap="square"/>
                    <a:lstStyle/>
                    <a:p>
                      <a:pPr algn="l"/>
                      <a:r>
                        <a:rPr sz="850" b="1">
                          <a:solidFill>
                            <a:srgbClr val="1F1F1F"/>
                          </a:solidFill>
                          <a:latin typeface="Calibri"/>
                        </a:rPr>
                        <a:t>Expanded Polypropylene (EPP)</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263870">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6" name="Rectangle 15"/>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7" name="Oval 16"/>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8" name="TextBox 17"/>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19" name="TextBox 18"/>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0" name="Rectangle 19"/>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1" name="Oval 20"/>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2" name="TextBox 21"/>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3" name="TextBox 22"/>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4" name="Rectangle 23"/>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5" name="Oval 24"/>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6" name="TextBox 25"/>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27" name="TextBox 26"/>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8" name="TextBox 27"/>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Average price = market value (US$) / market volume (MT). 2021 to 2025 historical, 2026 to 2036 forecast.</a:t>
            </a:r>
          </a:p>
        </p:txBody>
      </p:sp>
      <p:sp>
        <p:nvSpPr>
          <p:cNvPr id="29" name="Rectangle 2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1" name="Picture 30" descr="lock.png"/>
          <p:cNvPicPr>
            <a:picLocks noChangeAspect="1"/>
          </p:cNvPicPr>
          <p:nvPr/>
        </p:nvPicPr>
        <p:blipFill>
          <a:blip r:embed="rId6"/>
          <a:stretch>
            <a:fillRect/>
          </a:stretch>
        </p:blipFill>
        <p:spPr>
          <a:xfrm>
            <a:off x="10283571" y="4018516"/>
            <a:ext cx="330041" cy="480060"/>
          </a:xfrm>
          <a:prstGeom prst="rect">
            <a:avLst/>
          </a:prstGeom>
        </p:spPr>
      </p:pic>
      <p:sp>
        <p:nvSpPr>
          <p:cNvPr id="32" name="TextBox 31"/>
          <p:cNvSpPr txBox="1"/>
          <p:nvPr/>
        </p:nvSpPr>
        <p:spPr>
          <a:xfrm>
            <a:off x="411480" y="1110615"/>
            <a:ext cx="4986927" cy="217169"/>
          </a:xfrm>
          <a:prstGeom prst="rect">
            <a:avLst/>
          </a:prstGeom>
          <a:noFill/>
        </p:spPr>
        <p:txBody>
          <a:bodyPr wrap="none" lIns="0" rIns="0" tIns="0" bIns="0">
            <a:spAutoFit/>
          </a:bodyPr>
          <a:lstStyle/>
          <a:p>
            <a:r>
              <a:rPr sz="1300" b="1">
                <a:solidFill>
                  <a:srgbClr val="FFFFFF"/>
                </a:solidFill>
                <a:latin typeface="Calibri"/>
              </a:rPr>
              <a:t>Polyurethane (PU) Foam commands the highest 2026 price point at US$</a:t>
            </a:r>
          </a:p>
        </p:txBody>
      </p:sp>
      <p:pic>
        <p:nvPicPr>
          <p:cNvPr id="33" name="Picture 32" descr="lock.png"/>
          <p:cNvPicPr>
            <a:picLocks noChangeAspect="1"/>
          </p:cNvPicPr>
          <p:nvPr/>
        </p:nvPicPr>
        <p:blipFill>
          <a:blip r:embed="rId6"/>
          <a:stretch>
            <a:fillRect/>
          </a:stretch>
        </p:blipFill>
        <p:spPr>
          <a:xfrm>
            <a:off x="5350868" y="1099058"/>
            <a:ext cx="152098" cy="221234"/>
          </a:xfrm>
          <a:prstGeom prst="rect">
            <a:avLst/>
          </a:prstGeom>
        </p:spPr>
      </p:pic>
      <p:sp>
        <p:nvSpPr>
          <p:cNvPr id="34" name="TextBox 33"/>
          <p:cNvSpPr txBox="1"/>
          <p:nvPr/>
        </p:nvSpPr>
        <p:spPr>
          <a:xfrm>
            <a:off x="5548817" y="1110615"/>
            <a:ext cx="535061" cy="217169"/>
          </a:xfrm>
          <a:prstGeom prst="rect">
            <a:avLst/>
          </a:prstGeom>
          <a:noFill/>
        </p:spPr>
        <p:txBody>
          <a:bodyPr wrap="none" lIns="0" rIns="0" tIns="0" bIns="0">
            <a:spAutoFit/>
          </a:bodyPr>
          <a:lstStyle/>
          <a:p>
            <a:r>
              <a:rPr sz="1300" b="1">
                <a:solidFill>
                  <a:srgbClr val="FFFFFF"/>
                </a:solidFill>
                <a:latin typeface="Calibri"/>
              </a:rPr>
              <a:t>/MT, a</a:t>
            </a:r>
          </a:p>
        </p:txBody>
      </p:sp>
      <p:pic>
        <p:nvPicPr>
          <p:cNvPr id="35" name="Picture 34" descr="lock.png"/>
          <p:cNvPicPr>
            <a:picLocks noChangeAspect="1"/>
          </p:cNvPicPr>
          <p:nvPr/>
        </p:nvPicPr>
        <p:blipFill>
          <a:blip r:embed="rId6"/>
          <a:stretch>
            <a:fillRect/>
          </a:stretch>
        </p:blipFill>
        <p:spPr>
          <a:xfrm>
            <a:off x="6036340" y="1099058"/>
            <a:ext cx="152098" cy="221234"/>
          </a:xfrm>
          <a:prstGeom prst="rect">
            <a:avLst/>
          </a:prstGeom>
        </p:spPr>
      </p:pic>
      <p:sp>
        <p:nvSpPr>
          <p:cNvPr id="36" name="TextBox 35"/>
          <p:cNvSpPr txBox="1"/>
          <p:nvPr/>
        </p:nvSpPr>
        <p:spPr>
          <a:xfrm>
            <a:off x="6234290" y="1110615"/>
            <a:ext cx="3237607" cy="217169"/>
          </a:xfrm>
          <a:prstGeom prst="rect">
            <a:avLst/>
          </a:prstGeom>
          <a:noFill/>
        </p:spPr>
        <p:txBody>
          <a:bodyPr wrap="none" lIns="0" rIns="0" tIns="0" bIns="0">
            <a:spAutoFit/>
          </a:bodyPr>
          <a:lstStyle/>
          <a:p>
            <a:r>
              <a:rPr sz="1300" b="1">
                <a:solidFill>
                  <a:srgbClr val="FFFFFF"/>
                </a:solidFill>
                <a:latin typeface="Calibri"/>
              </a:rPr>
              <a:t>premium over Expanded Polypropylene (EPP).</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3132543" cy="179069"/>
          </a:xfrm>
          <a:prstGeom prst="rect">
            <a:avLst/>
          </a:prstGeom>
          <a:noFill/>
        </p:spPr>
        <p:txBody>
          <a:bodyPr wrap="none" lIns="0" rIns="0" tIns="0" bIns="0">
            <a:spAutoFit/>
          </a:bodyPr>
          <a:lstStyle/>
          <a:p>
            <a:r>
              <a:rPr sz="1050" b="0">
                <a:solidFill>
                  <a:srgbClr val="1F1F1F"/>
                </a:solidFill>
                <a:latin typeface="Calibri"/>
              </a:rPr>
              <a:t>Polyurethane (PU) Foam sits at the top of the 2026 price</a:t>
            </a:r>
          </a:p>
        </p:txBody>
      </p:sp>
      <p:sp>
        <p:nvSpPr>
          <p:cNvPr id="41" name="TextBox 40"/>
          <p:cNvSpPr txBox="1"/>
          <p:nvPr/>
        </p:nvSpPr>
        <p:spPr>
          <a:xfrm>
            <a:off x="806576" y="5690996"/>
            <a:ext cx="1193266" cy="179069"/>
          </a:xfrm>
          <a:prstGeom prst="rect">
            <a:avLst/>
          </a:prstGeom>
          <a:noFill/>
        </p:spPr>
        <p:txBody>
          <a:bodyPr wrap="none" lIns="0" rIns="0" tIns="0" bIns="0">
            <a:spAutoFit/>
          </a:bodyPr>
          <a:lstStyle/>
          <a:p>
            <a:r>
              <a:rPr sz="1050" b="0">
                <a:solidFill>
                  <a:srgbClr val="1F1F1F"/>
                </a:solidFill>
                <a:latin typeface="Calibri"/>
              </a:rPr>
              <a:t>ladder at an index of</a:t>
            </a:r>
          </a:p>
        </p:txBody>
      </p:sp>
      <p:pic>
        <p:nvPicPr>
          <p:cNvPr id="42" name="Picture 41" descr="lock.png"/>
          <p:cNvPicPr>
            <a:picLocks noChangeAspect="1"/>
          </p:cNvPicPr>
          <p:nvPr/>
        </p:nvPicPr>
        <p:blipFill>
          <a:blip r:embed="rId6"/>
          <a:stretch>
            <a:fillRect/>
          </a:stretch>
        </p:blipFill>
        <p:spPr>
          <a:xfrm>
            <a:off x="1946792" y="5681662"/>
            <a:ext cx="122849" cy="178689"/>
          </a:xfrm>
          <a:prstGeom prst="rect">
            <a:avLst/>
          </a:prstGeom>
        </p:spPr>
      </p:pic>
      <p:sp>
        <p:nvSpPr>
          <p:cNvPr id="43" name="TextBox 42"/>
          <p:cNvSpPr txBox="1"/>
          <p:nvPr/>
        </p:nvSpPr>
        <p:spPr>
          <a:xfrm>
            <a:off x="2106675" y="5690996"/>
            <a:ext cx="1808447" cy="179069"/>
          </a:xfrm>
          <a:prstGeom prst="rect">
            <a:avLst/>
          </a:prstGeom>
          <a:noFill/>
        </p:spPr>
        <p:txBody>
          <a:bodyPr wrap="none" lIns="0" rIns="0" tIns="0" bIns="0">
            <a:spAutoFit/>
          </a:bodyPr>
          <a:lstStyle/>
          <a:p>
            <a:r>
              <a:rPr sz="1050" b="0">
                <a:solidFill>
                  <a:srgbClr val="1F1F1F"/>
                </a:solidFill>
                <a:latin typeface="Calibri"/>
              </a:rPr>
              <a:t>, while Expanded Polypropylene</a:t>
            </a:r>
          </a:p>
        </p:txBody>
      </p:sp>
      <p:sp>
        <p:nvSpPr>
          <p:cNvPr id="44" name="TextBox 43"/>
          <p:cNvSpPr txBox="1"/>
          <p:nvPr/>
        </p:nvSpPr>
        <p:spPr>
          <a:xfrm>
            <a:off x="806576" y="5851016"/>
            <a:ext cx="872914" cy="179069"/>
          </a:xfrm>
          <a:prstGeom prst="rect">
            <a:avLst/>
          </a:prstGeom>
          <a:noFill/>
        </p:spPr>
        <p:txBody>
          <a:bodyPr wrap="none" lIns="0" rIns="0" tIns="0" bIns="0">
            <a:spAutoFit/>
          </a:bodyPr>
          <a:lstStyle/>
          <a:p>
            <a:r>
              <a:rPr sz="1050" b="0">
                <a:solidFill>
                  <a:srgbClr val="1F1F1F"/>
                </a:solidFill>
                <a:latin typeface="Calibri"/>
              </a:rPr>
              <a:t>(EPP) trades at</a:t>
            </a:r>
          </a:p>
        </p:txBody>
      </p:sp>
      <p:pic>
        <p:nvPicPr>
          <p:cNvPr id="45" name="Picture 44" descr="lock.png"/>
          <p:cNvPicPr>
            <a:picLocks noChangeAspect="1"/>
          </p:cNvPicPr>
          <p:nvPr/>
        </p:nvPicPr>
        <p:blipFill>
          <a:blip r:embed="rId6"/>
          <a:stretch>
            <a:fillRect/>
          </a:stretch>
        </p:blipFill>
        <p:spPr>
          <a:xfrm>
            <a:off x="1626440" y="5841682"/>
            <a:ext cx="122849" cy="178689"/>
          </a:xfrm>
          <a:prstGeom prst="rect">
            <a:avLst/>
          </a:prstGeom>
        </p:spPr>
      </p:pic>
      <p:sp>
        <p:nvSpPr>
          <p:cNvPr id="46" name="TextBox 45"/>
          <p:cNvSpPr txBox="1"/>
          <p:nvPr/>
        </p:nvSpPr>
        <p:spPr>
          <a:xfrm>
            <a:off x="1786322" y="5851016"/>
            <a:ext cx="1977739" cy="179069"/>
          </a:xfrm>
          <a:prstGeom prst="rect">
            <a:avLst/>
          </a:prstGeom>
          <a:noFill/>
        </p:spPr>
        <p:txBody>
          <a:bodyPr wrap="none" lIns="0" rIns="0" tIns="0" bIns="0">
            <a:spAutoFit/>
          </a:bodyPr>
          <a:lstStyle/>
          <a:p>
            <a:r>
              <a:rPr sz="1050" b="0">
                <a:solidFill>
                  <a:srgbClr val="1F1F1F"/>
                </a:solidFill>
                <a:latin typeface="Calibri"/>
              </a:rPr>
              <a:t>, which keeps the full material type</a:t>
            </a:r>
          </a:p>
        </p:txBody>
      </p:sp>
      <p:sp>
        <p:nvSpPr>
          <p:cNvPr id="47" name="TextBox 46"/>
          <p:cNvSpPr txBox="1"/>
          <p:nvPr/>
        </p:nvSpPr>
        <p:spPr>
          <a:xfrm>
            <a:off x="806576" y="6011036"/>
            <a:ext cx="817178" cy="179069"/>
          </a:xfrm>
          <a:prstGeom prst="rect">
            <a:avLst/>
          </a:prstGeom>
          <a:noFill/>
        </p:spPr>
        <p:txBody>
          <a:bodyPr wrap="none" lIns="0" rIns="0" tIns="0" bIns="0">
            <a:spAutoFit/>
          </a:bodyPr>
          <a:lstStyle/>
          <a:p>
            <a:r>
              <a:rPr sz="1050" b="0">
                <a:solidFill>
                  <a:srgbClr val="1F1F1F"/>
                </a:solidFill>
                <a:latin typeface="Calibri"/>
              </a:rPr>
              <a:t>spread within</a:t>
            </a:r>
          </a:p>
        </p:txBody>
      </p:sp>
      <p:pic>
        <p:nvPicPr>
          <p:cNvPr id="48" name="Picture 47" descr="lock.png"/>
          <p:cNvPicPr>
            <a:picLocks noChangeAspect="1"/>
          </p:cNvPicPr>
          <p:nvPr/>
        </p:nvPicPr>
        <p:blipFill>
          <a:blip r:embed="rId6"/>
          <a:stretch>
            <a:fillRect/>
          </a:stretch>
        </p:blipFill>
        <p:spPr>
          <a:xfrm>
            <a:off x="1570704" y="6001702"/>
            <a:ext cx="122849" cy="178689"/>
          </a:xfrm>
          <a:prstGeom prst="rect">
            <a:avLst/>
          </a:prstGeom>
        </p:spPr>
      </p:pic>
      <p:sp>
        <p:nvSpPr>
          <p:cNvPr id="49" name="TextBox 48"/>
          <p:cNvSpPr txBox="1"/>
          <p:nvPr/>
        </p:nvSpPr>
        <p:spPr>
          <a:xfrm>
            <a:off x="1730586"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0" name="TextBox 49"/>
          <p:cNvSpPr txBox="1"/>
          <p:nvPr/>
        </p:nvSpPr>
        <p:spPr>
          <a:xfrm>
            <a:off x="4732401" y="5530976"/>
            <a:ext cx="3143249" cy="179069"/>
          </a:xfrm>
          <a:prstGeom prst="rect">
            <a:avLst/>
          </a:prstGeom>
          <a:noFill/>
        </p:spPr>
        <p:txBody>
          <a:bodyPr wrap="none" lIns="0" rIns="0" tIns="0" bIns="0">
            <a:spAutoFit/>
          </a:bodyPr>
          <a:lstStyle/>
          <a:p>
            <a:r>
              <a:rPr sz="1050" b="0">
                <a:solidFill>
                  <a:srgbClr val="1F1F1F"/>
                </a:solidFill>
                <a:latin typeface="Calibri"/>
              </a:rPr>
              <a:t>Polyethylene (PE) Foam posts the fastest price growth at</a:t>
            </a:r>
          </a:p>
        </p:txBody>
      </p:sp>
      <p:sp>
        <p:nvSpPr>
          <p:cNvPr id="51" name="TextBox 50"/>
          <p:cNvSpPr txBox="1"/>
          <p:nvPr/>
        </p:nvSpPr>
        <p:spPr>
          <a:xfrm>
            <a:off x="4732401" y="5690996"/>
            <a:ext cx="140010" cy="179069"/>
          </a:xfrm>
          <a:prstGeom prst="rect">
            <a:avLst/>
          </a:prstGeom>
          <a:noFill/>
        </p:spPr>
        <p:txBody>
          <a:bodyPr wrap="none" lIns="0" rIns="0" tIns="0" bIns="0">
            <a:spAutoFit/>
          </a:bodyPr>
          <a:lstStyle/>
          <a:p>
            <a:r>
              <a:rPr sz="1050" b="0">
                <a:solidFill>
                  <a:srgbClr val="1F1F1F"/>
                </a:solidFill>
                <a:latin typeface="Calibri"/>
              </a:rPr>
              <a:t>a</a:t>
            </a:r>
          </a:p>
        </p:txBody>
      </p:sp>
      <p:pic>
        <p:nvPicPr>
          <p:cNvPr id="52" name="Picture 51" descr="lock.png"/>
          <p:cNvPicPr>
            <a:picLocks noChangeAspect="1"/>
          </p:cNvPicPr>
          <p:nvPr/>
        </p:nvPicPr>
        <p:blipFill>
          <a:blip r:embed="rId6"/>
          <a:stretch>
            <a:fillRect/>
          </a:stretch>
        </p:blipFill>
        <p:spPr>
          <a:xfrm>
            <a:off x="4819360" y="5681662"/>
            <a:ext cx="122849" cy="178689"/>
          </a:xfrm>
          <a:prstGeom prst="rect">
            <a:avLst/>
          </a:prstGeom>
        </p:spPr>
      </p:pic>
      <p:sp>
        <p:nvSpPr>
          <p:cNvPr id="53" name="TextBox 52"/>
          <p:cNvSpPr txBox="1"/>
          <p:nvPr/>
        </p:nvSpPr>
        <p:spPr>
          <a:xfrm>
            <a:off x="4979242" y="5690996"/>
            <a:ext cx="2611917" cy="179069"/>
          </a:xfrm>
          <a:prstGeom prst="rect">
            <a:avLst/>
          </a:prstGeom>
          <a:noFill/>
        </p:spPr>
        <p:txBody>
          <a:bodyPr wrap="none" lIns="0" rIns="0" tIns="0" bIns="0">
            <a:spAutoFit/>
          </a:bodyPr>
          <a:lstStyle/>
          <a:p>
            <a:r>
              <a:rPr sz="1050" b="0">
                <a:solidFill>
                  <a:srgbClr val="1F1F1F"/>
                </a:solidFill>
                <a:latin typeface="Calibri"/>
              </a:rPr>
              <a:t>CAGR between 2026 and 2036, compared with</a:t>
            </a:r>
          </a:p>
        </p:txBody>
      </p:sp>
      <p:pic>
        <p:nvPicPr>
          <p:cNvPr id="54" name="Picture 53" descr="lock.png"/>
          <p:cNvPicPr>
            <a:picLocks noChangeAspect="1"/>
          </p:cNvPicPr>
          <p:nvPr/>
        </p:nvPicPr>
        <p:blipFill>
          <a:blip r:embed="rId6"/>
          <a:stretch>
            <a:fillRect/>
          </a:stretch>
        </p:blipFill>
        <p:spPr>
          <a:xfrm>
            <a:off x="4719545" y="5841682"/>
            <a:ext cx="122849" cy="178689"/>
          </a:xfrm>
          <a:prstGeom prst="rect">
            <a:avLst/>
          </a:prstGeom>
        </p:spPr>
      </p:pic>
      <p:sp>
        <p:nvSpPr>
          <p:cNvPr id="55" name="TextBox 54"/>
          <p:cNvSpPr txBox="1"/>
          <p:nvPr/>
        </p:nvSpPr>
        <p:spPr>
          <a:xfrm>
            <a:off x="4879428" y="5851016"/>
            <a:ext cx="1489108" cy="179069"/>
          </a:xfrm>
          <a:prstGeom prst="rect">
            <a:avLst/>
          </a:prstGeom>
          <a:noFill/>
        </p:spPr>
        <p:txBody>
          <a:bodyPr wrap="none" lIns="0" rIns="0" tIns="0" bIns="0">
            <a:spAutoFit/>
          </a:bodyPr>
          <a:lstStyle/>
          <a:p>
            <a:r>
              <a:rPr sz="1050" b="0">
                <a:solidFill>
                  <a:srgbClr val="1F1F1F"/>
                </a:solidFill>
                <a:latin typeface="Calibri"/>
              </a:rPr>
              <a:t>for Other Foam Materials.</a:t>
            </a:r>
          </a:p>
        </p:txBody>
      </p:sp>
      <p:sp>
        <p:nvSpPr>
          <p:cNvPr id="56" name="TextBox 55"/>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7" name="Picture 56" descr="lock.png"/>
          <p:cNvPicPr>
            <a:picLocks noChangeAspect="1"/>
          </p:cNvPicPr>
          <p:nvPr/>
        </p:nvPicPr>
        <p:blipFill>
          <a:blip r:embed="rId6"/>
          <a:stretch>
            <a:fillRect/>
          </a:stretch>
        </p:blipFill>
        <p:spPr>
          <a:xfrm>
            <a:off x="10841019" y="5521642"/>
            <a:ext cx="122849" cy="178689"/>
          </a:xfrm>
          <a:prstGeom prst="rect">
            <a:avLst/>
          </a:prstGeom>
        </p:spPr>
      </p:pic>
      <p:sp>
        <p:nvSpPr>
          <p:cNvPr id="58" name="TextBox 57"/>
          <p:cNvSpPr txBox="1"/>
          <p:nvPr/>
        </p:nvSpPr>
        <p:spPr>
          <a:xfrm>
            <a:off x="11000901" y="5530976"/>
            <a:ext cx="739043" cy="179069"/>
          </a:xfrm>
          <a:prstGeom prst="rect">
            <a:avLst/>
          </a:prstGeom>
          <a:noFill/>
        </p:spPr>
        <p:txBody>
          <a:bodyPr wrap="none" lIns="0" rIns="0" tIns="0" bIns="0">
            <a:spAutoFit/>
          </a:bodyPr>
          <a:lstStyle/>
          <a:p>
            <a:r>
              <a:rPr sz="1050" b="0">
                <a:solidFill>
                  <a:srgbClr val="1F1F1F"/>
                </a:solidFill>
                <a:latin typeface="Calibri"/>
              </a:rPr>
              <a:t>/MT in 2026</a:t>
            </a:r>
          </a:p>
        </p:txBody>
      </p:sp>
      <p:sp>
        <p:nvSpPr>
          <p:cNvPr id="59" name="TextBox 58"/>
          <p:cNvSpPr txBox="1"/>
          <p:nvPr/>
        </p:nvSpPr>
        <p:spPr>
          <a:xfrm>
            <a:off x="8658225" y="5690996"/>
            <a:ext cx="436140" cy="179069"/>
          </a:xfrm>
          <a:prstGeom prst="rect">
            <a:avLst/>
          </a:prstGeom>
          <a:noFill/>
        </p:spPr>
        <p:txBody>
          <a:bodyPr wrap="none" lIns="0" rIns="0" tIns="0" bIns="0">
            <a:spAutoFit/>
          </a:bodyPr>
          <a:lstStyle/>
          <a:p>
            <a:r>
              <a:rPr sz="1050" b="0">
                <a:solidFill>
                  <a:srgbClr val="1F1F1F"/>
                </a:solidFill>
                <a:latin typeface="Calibri"/>
              </a:rPr>
              <a:t>to US$</a:t>
            </a:r>
          </a:p>
        </p:txBody>
      </p:sp>
      <p:pic>
        <p:nvPicPr>
          <p:cNvPr id="60" name="Picture 59" descr="lock.png"/>
          <p:cNvPicPr>
            <a:picLocks noChangeAspect="1"/>
          </p:cNvPicPr>
          <p:nvPr/>
        </p:nvPicPr>
        <p:blipFill>
          <a:blip r:embed="rId6"/>
          <a:stretch>
            <a:fillRect/>
          </a:stretch>
        </p:blipFill>
        <p:spPr>
          <a:xfrm>
            <a:off x="9041315" y="5681662"/>
            <a:ext cx="122849" cy="178689"/>
          </a:xfrm>
          <a:prstGeom prst="rect">
            <a:avLst/>
          </a:prstGeom>
        </p:spPr>
      </p:pic>
      <p:sp>
        <p:nvSpPr>
          <p:cNvPr id="61" name="TextBox 60"/>
          <p:cNvSpPr txBox="1"/>
          <p:nvPr/>
        </p:nvSpPr>
        <p:spPr>
          <a:xfrm>
            <a:off x="9201197" y="5690996"/>
            <a:ext cx="2593181" cy="179069"/>
          </a:xfrm>
          <a:prstGeom prst="rect">
            <a:avLst/>
          </a:prstGeom>
          <a:noFill/>
        </p:spPr>
        <p:txBody>
          <a:bodyPr wrap="none" lIns="0" rIns="0" tIns="0" bIns="0">
            <a:spAutoFit/>
          </a:bodyPr>
          <a:lstStyle/>
          <a:p>
            <a:r>
              <a:rPr sz="1050" b="0">
                <a:solidFill>
                  <a:srgbClr val="1F1F1F"/>
                </a:solidFill>
                <a:latin typeface="Calibri"/>
              </a:rPr>
              <a:t>/MT in 2036, and the gap between the highest</a:t>
            </a:r>
          </a:p>
        </p:txBody>
      </p:sp>
      <p:sp>
        <p:nvSpPr>
          <p:cNvPr id="62" name="TextBox 61"/>
          <p:cNvSpPr txBox="1"/>
          <p:nvPr/>
        </p:nvSpPr>
        <p:spPr>
          <a:xfrm>
            <a:off x="8658225" y="5851016"/>
            <a:ext cx="2476239" cy="179069"/>
          </a:xfrm>
          <a:prstGeom prst="rect">
            <a:avLst/>
          </a:prstGeom>
          <a:noFill/>
        </p:spPr>
        <p:txBody>
          <a:bodyPr wrap="none" lIns="0" rIns="0" tIns="0" bIns="0">
            <a:spAutoFit/>
          </a:bodyPr>
          <a:lstStyle/>
          <a:p>
            <a:r>
              <a:rPr sz="1050" b="0">
                <a:solidFill>
                  <a:srgbClr val="1F1F1F"/>
                </a:solidFill>
                <a:latin typeface="Calibri"/>
              </a:rPr>
              <a:t>and lowest priced material type moves from</a:t>
            </a:r>
          </a:p>
        </p:txBody>
      </p:sp>
      <p:pic>
        <p:nvPicPr>
          <p:cNvPr id="63" name="Picture 62" descr="lock.png"/>
          <p:cNvPicPr>
            <a:picLocks noChangeAspect="1"/>
          </p:cNvPicPr>
          <p:nvPr/>
        </p:nvPicPr>
        <p:blipFill>
          <a:blip r:embed="rId6"/>
          <a:stretch>
            <a:fillRect/>
          </a:stretch>
        </p:blipFill>
        <p:spPr>
          <a:xfrm>
            <a:off x="11081413" y="5841682"/>
            <a:ext cx="122849" cy="178689"/>
          </a:xfrm>
          <a:prstGeom prst="rect">
            <a:avLst/>
          </a:prstGeom>
        </p:spPr>
      </p:pic>
      <p:sp>
        <p:nvSpPr>
          <p:cNvPr id="64" name="TextBox 63"/>
          <p:cNvSpPr txBox="1"/>
          <p:nvPr/>
        </p:nvSpPr>
        <p:spPr>
          <a:xfrm>
            <a:off x="11241296" y="5851016"/>
            <a:ext cx="478073" cy="179069"/>
          </a:xfrm>
          <a:prstGeom prst="rect">
            <a:avLst/>
          </a:prstGeom>
          <a:noFill/>
        </p:spPr>
        <p:txBody>
          <a:bodyPr wrap="none" lIns="0" rIns="0" tIns="0" bIns="0">
            <a:spAutoFit/>
          </a:bodyPr>
          <a:lstStyle/>
          <a:p>
            <a:r>
              <a:rPr sz="1050" b="0">
                <a:solidFill>
                  <a:srgbClr val="1F1F1F"/>
                </a:solidFill>
                <a:latin typeface="Calibri"/>
              </a:rPr>
              <a:t>in 2021</a:t>
            </a:r>
          </a:p>
        </p:txBody>
      </p:sp>
      <p:sp>
        <p:nvSpPr>
          <p:cNvPr id="65" name="TextBox 64"/>
          <p:cNvSpPr txBox="1"/>
          <p:nvPr/>
        </p:nvSpPr>
        <p:spPr>
          <a:xfrm>
            <a:off x="8658225" y="6011036"/>
            <a:ext cx="191318" cy="179069"/>
          </a:xfrm>
          <a:prstGeom prst="rect">
            <a:avLst/>
          </a:prstGeom>
          <a:noFill/>
        </p:spPr>
        <p:txBody>
          <a:bodyPr wrap="none" lIns="0" rIns="0" tIns="0" bIns="0">
            <a:spAutoFit/>
          </a:bodyPr>
          <a:lstStyle/>
          <a:p>
            <a:r>
              <a:rPr sz="1050" b="0">
                <a:solidFill>
                  <a:srgbClr val="1F1F1F"/>
                </a:solidFill>
                <a:latin typeface="Calibri"/>
              </a:rPr>
              <a:t>to</a:t>
            </a:r>
          </a:p>
        </p:txBody>
      </p:sp>
      <p:pic>
        <p:nvPicPr>
          <p:cNvPr id="66" name="Picture 65" descr="lock.png"/>
          <p:cNvPicPr>
            <a:picLocks noChangeAspect="1"/>
          </p:cNvPicPr>
          <p:nvPr/>
        </p:nvPicPr>
        <p:blipFill>
          <a:blip r:embed="rId6"/>
          <a:stretch>
            <a:fillRect/>
          </a:stretch>
        </p:blipFill>
        <p:spPr>
          <a:xfrm>
            <a:off x="8796492" y="6001702"/>
            <a:ext cx="122849" cy="178689"/>
          </a:xfrm>
          <a:prstGeom prst="rect">
            <a:avLst/>
          </a:prstGeom>
        </p:spPr>
      </p:pic>
      <p:sp>
        <p:nvSpPr>
          <p:cNvPr id="67" name="TextBox 66"/>
          <p:cNvSpPr txBox="1"/>
          <p:nvPr/>
        </p:nvSpPr>
        <p:spPr>
          <a:xfrm>
            <a:off x="8956375"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8" name="Picture 67" descr="lock.png"/>
          <p:cNvPicPr>
            <a:picLocks noChangeAspect="1"/>
          </p:cNvPicPr>
          <p:nvPr/>
        </p:nvPicPr>
        <p:blipFill>
          <a:blip r:embed="rId6"/>
          <a:stretch>
            <a:fillRect/>
          </a:stretch>
        </p:blipFill>
        <p:spPr>
          <a:xfrm>
            <a:off x="3418190" y="3048804"/>
            <a:ext cx="454926" cy="661711"/>
          </a:xfrm>
          <a:prstGeom prst="rect">
            <a:avLst/>
          </a:prstGeom>
        </p:spPr>
      </p:pic>
      <p:pic>
        <p:nvPicPr>
          <p:cNvPr id="69" name="Picture 68" descr="lock.png"/>
          <p:cNvPicPr>
            <a:picLocks noChangeAspect="1"/>
          </p:cNvPicPr>
          <p:nvPr/>
        </p:nvPicPr>
        <p:blipFill>
          <a:blip r:embed="rId6"/>
          <a:stretch>
            <a:fillRect/>
          </a:stretch>
        </p:blipFill>
        <p:spPr>
          <a:xfrm>
            <a:off x="9403270" y="2219134"/>
            <a:ext cx="256698" cy="373379"/>
          </a:xfrm>
          <a:prstGeom prst="rect">
            <a:avLst/>
          </a:prstGeom>
        </p:spPr>
      </p:pic>
      <p:sp>
        <p:nvSpPr>
          <p:cNvPr id="70" name="lockshield_10"/>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ockshield_14"/>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Price Matrix: Material Type × Product Form</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(US$/MT) for every material type and product form combination, 2026</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Matrix (US$/MT), Shaded by Index vs Global Average</a:t>
            </a:r>
          </a:p>
        </p:txBody>
      </p:sp>
      <p:graphicFrame>
        <p:nvGraphicFramePr>
          <p:cNvPr id="10" name="Table 9"/>
          <p:cNvGraphicFramePr>
            <a:graphicFrameLocks noGrp="1"/>
          </p:cNvGraphicFramePr>
          <p:nvPr/>
        </p:nvGraphicFramePr>
        <p:xfrm>
          <a:off x="365760" y="1868043"/>
          <a:ext cx="7369917" cy="2834643"/>
        </p:xfrm>
        <a:graphic>
          <a:graphicData uri="http://schemas.openxmlformats.org/drawingml/2006/table">
            <a:tbl>
              <a:tblPr firstRow="1" bandRow="1">
                <a:tableStyleId>{5C22544A-7EE6-4342-B048-85BDC9FD1C3A}</a:tableStyleId>
              </a:tblPr>
              <a:tblGrid>
                <a:gridCol w="1641021"/>
                <a:gridCol w="569488"/>
                <a:gridCol w="569488"/>
                <a:gridCol w="569488"/>
                <a:gridCol w="569488"/>
                <a:gridCol w="569488"/>
                <a:gridCol w="569488"/>
                <a:gridCol w="569488"/>
                <a:gridCol w="569488"/>
                <a:gridCol w="569488"/>
                <a:gridCol w="603504"/>
              </a:tblGrid>
              <a:tr h="404949">
                <a:tc>
                  <a:txBody>
                    <a:bodyPr wrap="square"/>
                    <a:lstStyle/>
                    <a:p>
                      <a:pPr algn="l"/>
                      <a:r>
                        <a:rPr sz="800" b="1">
                          <a:solidFill>
                            <a:srgbClr val="FFFFFF"/>
                          </a:solidFill>
                          <a:latin typeface="Calibri"/>
                        </a:rPr>
                        <a:t>Material Type</a:t>
                      </a:r>
                    </a:p>
                  </a:txBody>
                  <a:tcPr marL="36576" marR="36576" marT="9144" marB="9144" anchor="ctr">
                    <a:solidFill>
                      <a:srgbClr val="0B2E4A"/>
                    </a:solidFill>
                  </a:tcPr>
                </a:tc>
                <a:tc>
                  <a:txBody>
                    <a:bodyPr wrap="square"/>
                    <a:lstStyle/>
                    <a:p>
                      <a:pPr algn="ctr"/>
                      <a:r>
                        <a:rPr sz="800" b="1">
                          <a:solidFill>
                            <a:srgbClr val="FFFFFF"/>
                          </a:solidFill>
                          <a:latin typeface="Calibri"/>
                        </a:rPr>
                        <a:t>Foam Pouches, Bags &amp; Sleeves</a:t>
                      </a:r>
                    </a:p>
                  </a:txBody>
                  <a:tcPr marL="36576" marR="36576" marT="9144" marB="9144" anchor="ctr">
                    <a:solidFill>
                      <a:srgbClr val="0B2E4A"/>
                    </a:solidFill>
                  </a:tcPr>
                </a:tc>
                <a:tc>
                  <a:txBody>
                    <a:bodyPr wrap="square"/>
                    <a:lstStyle/>
                    <a:p>
                      <a:pPr algn="ctr"/>
                      <a:r>
                        <a:rPr sz="800" b="1">
                          <a:solidFill>
                            <a:srgbClr val="FFFFFF"/>
                          </a:solidFill>
                          <a:latin typeface="Calibri"/>
                        </a:rPr>
                        <a:t>Fabricated Foam Packaging</a:t>
                      </a:r>
                    </a:p>
                  </a:txBody>
                  <a:tcPr marL="36576" marR="36576" marT="9144" marB="9144" anchor="ctr">
                    <a:solidFill>
                      <a:srgbClr val="0B2E4A"/>
                    </a:solidFill>
                  </a:tcPr>
                </a:tc>
                <a:tc>
                  <a:txBody>
                    <a:bodyPr wrap="square"/>
                    <a:lstStyle/>
                    <a:p>
                      <a:pPr algn="ctr"/>
                      <a:r>
                        <a:rPr sz="800" b="1">
                          <a:solidFill>
                            <a:srgbClr val="FFFFFF"/>
                          </a:solidFill>
                          <a:latin typeface="Calibri"/>
                        </a:rPr>
                        <a:t>Foam Sheets, Rolls &amp; Planks</a:t>
                      </a:r>
                    </a:p>
                  </a:txBody>
                  <a:tcPr marL="36576" marR="36576" marT="9144" marB="9144" anchor="ctr">
                    <a:solidFill>
                      <a:srgbClr val="0B2E4A"/>
                    </a:solidFill>
                  </a:tcPr>
                </a:tc>
                <a:tc>
                  <a:txBody>
                    <a:bodyPr wrap="square"/>
                    <a:lstStyle/>
                    <a:p>
                      <a:pPr algn="ctr"/>
                      <a:r>
                        <a:rPr sz="800" b="1">
                          <a:solidFill>
                            <a:srgbClr val="FFFFFF"/>
                          </a:solidFill>
                          <a:latin typeface="Calibri"/>
                        </a:rPr>
                        <a:t>Foam-in-Place Packaging</a:t>
                      </a:r>
                    </a:p>
                  </a:txBody>
                  <a:tcPr marL="36576" marR="36576" marT="9144" marB="9144" anchor="ctr">
                    <a:solidFill>
                      <a:srgbClr val="0B2E4A"/>
                    </a:solidFill>
                  </a:tcPr>
                </a:tc>
                <a:tc>
                  <a:txBody>
                    <a:bodyPr wrap="square"/>
                    <a:lstStyle/>
                    <a:p>
                      <a:pPr algn="ctr"/>
                      <a:r>
                        <a:rPr sz="800" b="1">
                          <a:solidFill>
                            <a:srgbClr val="FFFFFF"/>
                          </a:solidFill>
                          <a:latin typeface="Calibri"/>
                        </a:rPr>
                        <a:t>Foam Loose-Fill Packaging</a:t>
                      </a:r>
                    </a:p>
                  </a:txBody>
                  <a:tcPr marL="36576" marR="36576" marT="9144" marB="9144" anchor="ctr">
                    <a:solidFill>
                      <a:srgbClr val="0B2E4A"/>
                    </a:solidFill>
                  </a:tcPr>
                </a:tc>
                <a:tc>
                  <a:txBody>
                    <a:bodyPr wrap="square"/>
                    <a:lstStyle/>
                    <a:p>
                      <a:pPr algn="ctr"/>
                      <a:r>
                        <a:rPr sz="800" b="1">
                          <a:solidFill>
                            <a:srgbClr val="FFFFFF"/>
                          </a:solidFill>
                          <a:latin typeface="Calibri"/>
                        </a:rPr>
                        <a:t>Molded Foam Packaging</a:t>
                      </a:r>
                    </a:p>
                  </a:txBody>
                  <a:tcPr marL="36576" marR="36576" marT="9144" marB="9144" anchor="ctr">
                    <a:solidFill>
                      <a:srgbClr val="0B2E4A"/>
                    </a:solidFill>
                  </a:tcPr>
                </a:tc>
                <a:tc>
                  <a:txBody>
                    <a:bodyPr wrap="square"/>
                    <a:lstStyle/>
                    <a:p>
                      <a:pPr algn="ctr"/>
                      <a:r>
                        <a:rPr sz="800" b="1">
                          <a:solidFill>
                            <a:srgbClr val="FFFFFF"/>
                          </a:solidFill>
                          <a:latin typeface="Calibri"/>
                        </a:rPr>
                        <a:t>Non-Crosslinked PE Foam (EPE)</a:t>
                      </a:r>
                    </a:p>
                  </a:txBody>
                  <a:tcPr marL="36576" marR="36576" marT="9144" marB="9144" anchor="ctr">
                    <a:solidFill>
                      <a:srgbClr val="0B2E4A"/>
                    </a:solidFill>
                  </a:tcPr>
                </a:tc>
                <a:tc>
                  <a:txBody>
                    <a:bodyPr wrap="square"/>
                    <a:lstStyle/>
                    <a:p>
                      <a:pPr algn="ctr"/>
                      <a:r>
                        <a:rPr sz="800" b="1">
                          <a:solidFill>
                            <a:srgbClr val="FFFFFF"/>
                          </a:solidFill>
                          <a:latin typeface="Calibri"/>
                        </a:rPr>
                        <a:t>Crosslinked PE Foam (XLPE)</a:t>
                      </a:r>
                    </a:p>
                  </a:txBody>
                  <a:tcPr marL="36576" marR="36576" marT="9144" marB="9144" anchor="ctr">
                    <a:solidFill>
                      <a:srgbClr val="0B2E4A"/>
                    </a:solidFill>
                  </a:tcPr>
                </a:tc>
                <a:tc>
                  <a:txBody>
                    <a:bodyPr wrap="square"/>
                    <a:lstStyle/>
                    <a:p>
                      <a:pPr algn="ctr"/>
                      <a:r>
                        <a:rPr sz="800" b="1">
                          <a:solidFill>
                            <a:srgbClr val="FFFFFF"/>
                          </a:solidFill>
                          <a:latin typeface="Calibri"/>
                        </a:rPr>
                        <a:t>Others</a:t>
                      </a:r>
                    </a:p>
                  </a:txBody>
                  <a:tcPr marL="36576" marR="36576" marT="9144" marB="9144" anchor="ctr">
                    <a:solidFill>
                      <a:srgbClr val="0B2E4A"/>
                    </a:solidFill>
                  </a:tcPr>
                </a:tc>
                <a:tc>
                  <a:txBody>
                    <a:bodyPr wrap="square"/>
                    <a:lstStyle/>
                    <a:p>
                      <a:pPr algn="ctr"/>
                      <a:r>
                        <a:rPr sz="800" b="1">
                          <a:solidFill>
                            <a:srgbClr val="FFFFFF"/>
                          </a:solidFill>
                          <a:latin typeface="Calibri"/>
                        </a:rPr>
                        <a:t>Row Avg.</a:t>
                      </a:r>
                    </a:p>
                  </a:txBody>
                  <a:tcPr marL="36576" marR="36576" marT="9144" marB="9144" anchor="ctr">
                    <a:solidFill>
                      <a:srgbClr val="0B2E4A"/>
                    </a:solidFill>
                  </a:tcPr>
                </a:tc>
              </a:tr>
              <a:tr h="404949">
                <a:tc>
                  <a:txBody>
                    <a:bodyPr wrap="square"/>
                    <a:lstStyle/>
                    <a:p>
                      <a:pPr algn="l"/>
                      <a:r>
                        <a:rPr sz="900" b="1">
                          <a:solidFill>
                            <a:srgbClr val="1F1F1F"/>
                          </a:solidFill>
                          <a:latin typeface="Calibri"/>
                        </a:rPr>
                        <a:t>Polyurethane (PU) Foam</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04949">
                <a:tc>
                  <a:txBody>
                    <a:bodyPr wrap="square"/>
                    <a:lstStyle/>
                    <a:p>
                      <a:pPr algn="l"/>
                      <a:r>
                        <a:rPr sz="900" b="1">
                          <a:solidFill>
                            <a:srgbClr val="1F1F1F"/>
                          </a:solidFill>
                          <a:latin typeface="Calibri"/>
                        </a:rPr>
                        <a:t>Expanded Polypropylene (EPP)</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04949">
                <a:tc>
                  <a:txBody>
                    <a:bodyPr wrap="square"/>
                    <a:lstStyle/>
                    <a:p>
                      <a:pPr algn="l"/>
                      <a:r>
                        <a:rPr sz="900" b="1">
                          <a:solidFill>
                            <a:srgbClr val="1F1F1F"/>
                          </a:solidFill>
                          <a:latin typeface="Calibri"/>
                        </a:rPr>
                        <a:t>Polyethylene (PE) Foam</a:t>
                      </a:r>
                    </a:p>
                  </a:txBody>
                  <a:tcPr marL="36576" marR="36576" marT="9144" marB="9144" anchor="ctr">
                    <a:solidFill>
                      <a:srgbClr val="FFFFFF"/>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04949">
                <a:tc>
                  <a:txBody>
                    <a:bodyPr wrap="square"/>
                    <a:lstStyle/>
                    <a:p>
                      <a:pPr algn="l"/>
                      <a:r>
                        <a:rPr sz="900" b="1">
                          <a:solidFill>
                            <a:srgbClr val="1F1F1F"/>
                          </a:solidFill>
                          <a:latin typeface="Calibri"/>
                        </a:rPr>
                        <a:t>Other Foam Materials</a:t>
                      </a:r>
                    </a:p>
                  </a:txBody>
                  <a:tcPr marL="36576" marR="36576" marT="9144" marB="9144" anchor="ctr">
                    <a:solidFill>
                      <a:srgbClr val="FFFFFF"/>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7F7F7"/>
                    </a:solidFill>
                  </a:tcPr>
                </a:tc>
                <a:tc>
                  <a:txBody>
                    <a:bodyPr wrap="square"/>
                    <a:lstStyle/>
                    <a:p>
                      <a:pPr algn="ctr"/>
                      <a:r>
                        <a:rPr sz="900"/>
                        <a:t> </a:t>
                      </a:r>
                    </a:p>
                  </a:txBody>
                  <a:tcPr marL="36576" marR="36576" marT="9144" marB="9144" anchor="ctr">
                    <a:solidFill>
                      <a:srgbClr val="F3F6F9"/>
                    </a:solidFill>
                  </a:tcPr>
                </a:tc>
              </a:tr>
              <a:tr h="404949">
                <a:tc>
                  <a:txBody>
                    <a:bodyPr wrap="square"/>
                    <a:lstStyle/>
                    <a:p>
                      <a:pPr algn="l"/>
                      <a:r>
                        <a:rPr sz="900" b="1">
                          <a:solidFill>
                            <a:srgbClr val="1F1F1F"/>
                          </a:solidFill>
                          <a:latin typeface="Calibri"/>
                        </a:rPr>
                        <a:t>Expanded Polystyrene (EPS)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b="0">
                          <a:solidFill>
                            <a:srgbClr val="1F1F1F"/>
                          </a:solidFill>
                          <a:latin typeface="Calibri"/>
                        </a:rPr>
                        <a:t>nan</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04949">
                <a:tc>
                  <a:txBody>
                    <a:bodyPr wrap="square"/>
                    <a:lstStyle/>
                    <a:p>
                      <a:pPr algn="l"/>
                      <a:r>
                        <a:rPr sz="900" b="1">
                          <a:solidFill>
                            <a:srgbClr val="1F1F1F"/>
                          </a:solidFill>
                          <a:latin typeface="Calibri"/>
                        </a:rPr>
                        <a:t>Column Avg.</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1" name="Rectangle 10"/>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p>
        </p:txBody>
      </p:sp>
      <p:sp>
        <p:nvSpPr>
          <p:cNvPr id="12" name="TMR Scale legend"/>
          <p:cNvSpPr txBox="1"/>
          <p:nvPr/>
        </p:nvSpPr>
        <p:spPr>
          <a:xfrm>
            <a:off x="5935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below 97.5</a:t>
            </a:r>
          </a:p>
        </p:txBody>
      </p:sp>
      <p:sp>
        <p:nvSpPr>
          <p:cNvPr id="13" name="Rectangle 12"/>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p>
        </p:txBody>
      </p:sp>
      <p:sp>
        <p:nvSpPr>
          <p:cNvPr id="14" name="TMR Scale legend"/>
          <p:cNvSpPr txBox="1"/>
          <p:nvPr/>
        </p:nvSpPr>
        <p:spPr>
          <a:xfrm>
            <a:off x="20604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97.5 to 99</a:t>
            </a:r>
          </a:p>
        </p:txBody>
      </p:sp>
      <p:sp>
        <p:nvSpPr>
          <p:cNvPr id="15" name="Rectangle 14"/>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p>
        </p:txBody>
      </p:sp>
      <p:sp>
        <p:nvSpPr>
          <p:cNvPr id="16" name="TMR Scale legend"/>
          <p:cNvSpPr txBox="1"/>
          <p:nvPr/>
        </p:nvSpPr>
        <p:spPr>
          <a:xfrm>
            <a:off x="35272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Parity: 99 to 101</a:t>
            </a:r>
          </a:p>
        </p:txBody>
      </p:sp>
      <p:sp>
        <p:nvSpPr>
          <p:cNvPr id="17" name="Rectangle 16"/>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p>
        </p:txBody>
      </p:sp>
      <p:sp>
        <p:nvSpPr>
          <p:cNvPr id="18" name="TMR Scale legend"/>
          <p:cNvSpPr txBox="1"/>
          <p:nvPr/>
        </p:nvSpPr>
        <p:spPr>
          <a:xfrm>
            <a:off x="49941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101 to 102.5</a:t>
            </a:r>
          </a:p>
        </p:txBody>
      </p:sp>
      <p:sp>
        <p:nvSpPr>
          <p:cNvPr id="19" name="Rectangle 18"/>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p>
        </p:txBody>
      </p:sp>
      <p:sp>
        <p:nvSpPr>
          <p:cNvPr id="20" name="TMR Scale legend"/>
          <p:cNvSpPr txBox="1"/>
          <p:nvPr/>
        </p:nvSpPr>
        <p:spPr>
          <a:xfrm>
            <a:off x="64609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above 102.5</a:t>
            </a:r>
          </a:p>
        </p:txBody>
      </p:sp>
      <p:sp>
        <p:nvSpPr>
          <p:cNvPr id="21" name="Rectangle 20"/>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22" name="TextBox 21"/>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Range Across All Product Form Sub-Types, 2026</a:t>
            </a:r>
          </a:p>
        </p:txBody>
      </p:sp>
      <p:sp>
        <p:nvSpPr>
          <p:cNvPr id="23" name="TextBox 22"/>
          <p:cNvSpPr txBox="1"/>
          <p:nvPr/>
        </p:nvSpPr>
        <p:spPr>
          <a:xfrm>
            <a:off x="8065008" y="1965579"/>
            <a:ext cx="374904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lowest to highest price (US$/MT) at the finest data level.</a:t>
            </a:r>
          </a:p>
        </p:txBody>
      </p:sp>
      <p:graphicFrame>
        <p:nvGraphicFramePr>
          <p:cNvPr id="24" name="TMR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r:id="rId3"/>
          </a:graphicData>
        </a:graphic>
      </p:graphicFrame>
      <p:sp>
        <p:nvSpPr>
          <p:cNvPr id="25" name="Rectangle 24"/>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6" name="Oval 25"/>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7" name="TextBox 26"/>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Premium Pockets</a:t>
            </a:r>
          </a:p>
        </p:txBody>
      </p:sp>
      <p:sp>
        <p:nvSpPr>
          <p:cNvPr id="28" name="TextBox 27"/>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9" name="Rectangle 28"/>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30" name="Oval 29"/>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31" name="TextBox 30"/>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Value Pockets</a:t>
            </a:r>
          </a:p>
        </p:txBody>
      </p:sp>
      <p:sp>
        <p:nvSpPr>
          <p:cNvPr id="32" name="TextBox 31"/>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3" name="Rectangle 32"/>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34" name="Oval 33"/>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35" name="TextBox 34"/>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Within-Type Spread</a:t>
            </a:r>
          </a:p>
        </p:txBody>
      </p:sp>
      <p:sp>
        <p:nvSpPr>
          <p:cNvPr id="36" name="TextBox 35"/>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7" name="TextBox 36"/>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4636770" y="3221139"/>
            <a:ext cx="366712" cy="533400"/>
          </a:xfrm>
          <a:prstGeom prst="rect">
            <a:avLst/>
          </a:prstGeom>
        </p:spPr>
      </p:pic>
      <p:sp>
        <p:nvSpPr>
          <p:cNvPr id="41" name="TextBox 40"/>
          <p:cNvSpPr txBox="1"/>
          <p:nvPr/>
        </p:nvSpPr>
        <p:spPr>
          <a:xfrm>
            <a:off x="411480" y="1110615"/>
            <a:ext cx="7071284" cy="217169"/>
          </a:xfrm>
          <a:prstGeom prst="rect">
            <a:avLst/>
          </a:prstGeom>
          <a:noFill/>
        </p:spPr>
        <p:txBody>
          <a:bodyPr wrap="none" lIns="0" rIns="0" tIns="0" bIns="0">
            <a:spAutoFit/>
          </a:bodyPr>
          <a:lstStyle/>
          <a:p>
            <a:r>
              <a:rPr sz="1300" b="1">
                <a:solidFill>
                  <a:srgbClr val="FFFFFF"/>
                </a:solidFill>
                <a:latin typeface="Calibri"/>
              </a:rPr>
              <a:t>Polyurethane (PU) Foam for Foam-in-Place Packaging is the highest priced combination in 2026 at US$</a:t>
            </a:r>
          </a:p>
        </p:txBody>
      </p:sp>
      <p:pic>
        <p:nvPicPr>
          <p:cNvPr id="42" name="Picture 41" descr="lock.png"/>
          <p:cNvPicPr>
            <a:picLocks noChangeAspect="1"/>
          </p:cNvPicPr>
          <p:nvPr/>
        </p:nvPicPr>
        <p:blipFill>
          <a:blip r:embed="rId5"/>
          <a:stretch>
            <a:fillRect/>
          </a:stretch>
        </p:blipFill>
        <p:spPr>
          <a:xfrm>
            <a:off x="7435225" y="1099058"/>
            <a:ext cx="152098" cy="221234"/>
          </a:xfrm>
          <a:prstGeom prst="rect">
            <a:avLst/>
          </a:prstGeom>
        </p:spPr>
      </p:pic>
      <p:sp>
        <p:nvSpPr>
          <p:cNvPr id="43" name="TextBox 42"/>
          <p:cNvSpPr txBox="1"/>
          <p:nvPr/>
        </p:nvSpPr>
        <p:spPr>
          <a:xfrm>
            <a:off x="7633175" y="1110615"/>
            <a:ext cx="535706" cy="217169"/>
          </a:xfrm>
          <a:prstGeom prst="rect">
            <a:avLst/>
          </a:prstGeom>
          <a:noFill/>
        </p:spPr>
        <p:txBody>
          <a:bodyPr wrap="none" lIns="0" rIns="0" tIns="0" bIns="0">
            <a:spAutoFit/>
          </a:bodyPr>
          <a:lstStyle/>
          <a:p>
            <a:r>
              <a:rPr sz="1300" b="1">
                <a:solidFill>
                  <a:srgbClr val="FFFFFF"/>
                </a:solidFill>
                <a:latin typeface="Calibri"/>
              </a:rPr>
              <a:t>/MT, +</a:t>
            </a:r>
          </a:p>
        </p:txBody>
      </p:sp>
      <p:pic>
        <p:nvPicPr>
          <p:cNvPr id="44" name="Picture 43" descr="lock.png"/>
          <p:cNvPicPr>
            <a:picLocks noChangeAspect="1"/>
          </p:cNvPicPr>
          <p:nvPr/>
        </p:nvPicPr>
        <p:blipFill>
          <a:blip r:embed="rId5"/>
          <a:stretch>
            <a:fillRect/>
          </a:stretch>
        </p:blipFill>
        <p:spPr>
          <a:xfrm>
            <a:off x="8121343" y="1099058"/>
            <a:ext cx="152098" cy="221234"/>
          </a:xfrm>
          <a:prstGeom prst="rect">
            <a:avLst/>
          </a:prstGeom>
        </p:spPr>
      </p:pic>
      <p:sp>
        <p:nvSpPr>
          <p:cNvPr id="45" name="TextBox 44"/>
          <p:cNvSpPr txBox="1"/>
          <p:nvPr/>
        </p:nvSpPr>
        <p:spPr>
          <a:xfrm>
            <a:off x="8319292" y="1110615"/>
            <a:ext cx="1871984" cy="217169"/>
          </a:xfrm>
          <a:prstGeom prst="rect">
            <a:avLst/>
          </a:prstGeom>
          <a:noFill/>
        </p:spPr>
        <p:txBody>
          <a:bodyPr wrap="none" lIns="0" rIns="0" tIns="0" bIns="0">
            <a:spAutoFit/>
          </a:bodyPr>
          <a:lstStyle/>
          <a:p>
            <a:r>
              <a:rPr sz="1300" b="1">
                <a:solidFill>
                  <a:srgbClr val="FFFFFF"/>
                </a:solidFill>
                <a:latin typeface="Calibri"/>
              </a:rPr>
              <a:t>above the Global average.</a:t>
            </a:r>
          </a:p>
        </p:txBody>
      </p:sp>
      <p:sp>
        <p:nvSpPr>
          <p:cNvPr id="46" name="TextBox 45"/>
          <p:cNvSpPr txBox="1"/>
          <p:nvPr/>
        </p:nvSpPr>
        <p:spPr>
          <a:xfrm>
            <a:off x="806576" y="5530976"/>
            <a:ext cx="2980151" cy="179069"/>
          </a:xfrm>
          <a:prstGeom prst="rect">
            <a:avLst/>
          </a:prstGeom>
          <a:noFill/>
        </p:spPr>
        <p:txBody>
          <a:bodyPr wrap="none" lIns="0" rIns="0" tIns="0" bIns="0">
            <a:spAutoFit/>
          </a:bodyPr>
          <a:lstStyle/>
          <a:p>
            <a:r>
              <a:rPr sz="1050" b="0">
                <a:solidFill>
                  <a:srgbClr val="1F1F1F"/>
                </a:solidFill>
                <a:latin typeface="Calibri"/>
              </a:rPr>
              <a:t>Polyurethane (PU) Foam positioned on Foam-in-Place</a:t>
            </a:r>
          </a:p>
        </p:txBody>
      </p:sp>
      <p:sp>
        <p:nvSpPr>
          <p:cNvPr id="47" name="TextBox 46"/>
          <p:cNvSpPr txBox="1"/>
          <p:nvPr/>
        </p:nvSpPr>
        <p:spPr>
          <a:xfrm>
            <a:off x="806576" y="5690996"/>
            <a:ext cx="2968749" cy="179069"/>
          </a:xfrm>
          <a:prstGeom prst="rect">
            <a:avLst/>
          </a:prstGeom>
          <a:noFill/>
        </p:spPr>
        <p:txBody>
          <a:bodyPr wrap="none" lIns="0" rIns="0" tIns="0" bIns="0">
            <a:spAutoFit/>
          </a:bodyPr>
          <a:lstStyle/>
          <a:p>
            <a:r>
              <a:rPr sz="1050" b="0">
                <a:solidFill>
                  <a:srgbClr val="1F1F1F"/>
                </a:solidFill>
                <a:latin typeface="Calibri"/>
              </a:rPr>
              <a:t>Packaging carry the strongest premium at an index of</a:t>
            </a:r>
          </a:p>
        </p:txBody>
      </p:sp>
      <p:pic>
        <p:nvPicPr>
          <p:cNvPr id="48" name="Picture 47" descr="lock.png"/>
          <p:cNvPicPr>
            <a:picLocks noChangeAspect="1"/>
          </p:cNvPicPr>
          <p:nvPr/>
        </p:nvPicPr>
        <p:blipFill>
          <a:blip r:embed="rId5"/>
          <a:stretch>
            <a:fillRect/>
          </a:stretch>
        </p:blipFill>
        <p:spPr>
          <a:xfrm>
            <a:off x="793721" y="5841682"/>
            <a:ext cx="122849" cy="178689"/>
          </a:xfrm>
          <a:prstGeom prst="rect">
            <a:avLst/>
          </a:prstGeom>
        </p:spPr>
      </p:pic>
      <p:sp>
        <p:nvSpPr>
          <p:cNvPr id="49" name="TextBox 48"/>
          <p:cNvSpPr txBox="1"/>
          <p:nvPr/>
        </p:nvSpPr>
        <p:spPr>
          <a:xfrm>
            <a:off x="953604" y="5851016"/>
            <a:ext cx="2798936" cy="179069"/>
          </a:xfrm>
          <a:prstGeom prst="rect">
            <a:avLst/>
          </a:prstGeom>
          <a:noFill/>
        </p:spPr>
        <p:txBody>
          <a:bodyPr wrap="none" lIns="0" rIns="0" tIns="0" bIns="0">
            <a:spAutoFit/>
          </a:bodyPr>
          <a:lstStyle/>
          <a:p>
            <a:r>
              <a:rPr sz="1050" b="0">
                <a:solidFill>
                  <a:srgbClr val="1F1F1F"/>
                </a:solidFill>
                <a:latin typeface="Calibri"/>
              </a:rPr>
              <a:t>, which signals room for value-added claims in this</a:t>
            </a:r>
          </a:p>
        </p:txBody>
      </p:sp>
      <p:sp>
        <p:nvSpPr>
          <p:cNvPr id="50" name="TextBox 49"/>
          <p:cNvSpPr txBox="1"/>
          <p:nvPr/>
        </p:nvSpPr>
        <p:spPr>
          <a:xfrm>
            <a:off x="806576" y="6011036"/>
            <a:ext cx="793737" cy="179069"/>
          </a:xfrm>
          <a:prstGeom prst="rect">
            <a:avLst/>
          </a:prstGeom>
          <a:noFill/>
        </p:spPr>
        <p:txBody>
          <a:bodyPr wrap="none" lIns="0" rIns="0" tIns="0" bIns="0">
            <a:spAutoFit/>
          </a:bodyPr>
          <a:lstStyle/>
          <a:p>
            <a:r>
              <a:rPr sz="1050" b="0">
                <a:solidFill>
                  <a:srgbClr val="1F1F1F"/>
                </a:solidFill>
                <a:latin typeface="Calibri"/>
              </a:rPr>
              <a:t>combination.</a:t>
            </a:r>
          </a:p>
        </p:txBody>
      </p:sp>
      <p:sp>
        <p:nvSpPr>
          <p:cNvPr id="51" name="TextBox 50"/>
          <p:cNvSpPr txBox="1"/>
          <p:nvPr/>
        </p:nvSpPr>
        <p:spPr>
          <a:xfrm>
            <a:off x="4732401" y="5530976"/>
            <a:ext cx="3023935" cy="179069"/>
          </a:xfrm>
          <a:prstGeom prst="rect">
            <a:avLst/>
          </a:prstGeom>
          <a:noFill/>
        </p:spPr>
        <p:txBody>
          <a:bodyPr wrap="none" lIns="0" rIns="0" tIns="0" bIns="0">
            <a:spAutoFit/>
          </a:bodyPr>
          <a:lstStyle/>
          <a:p>
            <a:r>
              <a:rPr sz="1050" b="0">
                <a:solidFill>
                  <a:srgbClr val="1F1F1F"/>
                </a:solidFill>
                <a:latin typeface="Calibri"/>
              </a:rPr>
              <a:t>Expanded Polystyrene (EPS) for Foam Pouches, Bags &amp;</a:t>
            </a:r>
          </a:p>
        </p:txBody>
      </p:sp>
      <p:sp>
        <p:nvSpPr>
          <p:cNvPr id="52" name="TextBox 51"/>
          <p:cNvSpPr txBox="1"/>
          <p:nvPr/>
        </p:nvSpPr>
        <p:spPr>
          <a:xfrm>
            <a:off x="4732401" y="5690996"/>
            <a:ext cx="3048186" cy="179069"/>
          </a:xfrm>
          <a:prstGeom prst="rect">
            <a:avLst/>
          </a:prstGeom>
          <a:noFill/>
        </p:spPr>
        <p:txBody>
          <a:bodyPr wrap="none" lIns="0" rIns="0" tIns="0" bIns="0">
            <a:spAutoFit/>
          </a:bodyPr>
          <a:lstStyle/>
          <a:p>
            <a:r>
              <a:rPr sz="1050" b="0">
                <a:solidFill>
                  <a:srgbClr val="1F1F1F"/>
                </a:solidFill>
                <a:latin typeface="Calibri"/>
              </a:rPr>
              <a:t>Sleeves is the lowest priced combination at an index of</a:t>
            </a:r>
          </a:p>
        </p:txBody>
      </p:sp>
      <p:pic>
        <p:nvPicPr>
          <p:cNvPr id="53" name="Picture 52" descr="lock.png"/>
          <p:cNvPicPr>
            <a:picLocks noChangeAspect="1"/>
          </p:cNvPicPr>
          <p:nvPr/>
        </p:nvPicPr>
        <p:blipFill>
          <a:blip r:embed="rId5"/>
          <a:stretch>
            <a:fillRect/>
          </a:stretch>
        </p:blipFill>
        <p:spPr>
          <a:xfrm>
            <a:off x="4719545" y="5841682"/>
            <a:ext cx="122849" cy="178689"/>
          </a:xfrm>
          <a:prstGeom prst="rect">
            <a:avLst/>
          </a:prstGeom>
        </p:spPr>
      </p:pic>
      <p:sp>
        <p:nvSpPr>
          <p:cNvPr id="54" name="TextBox 53"/>
          <p:cNvSpPr txBox="1"/>
          <p:nvPr/>
        </p:nvSpPr>
        <p:spPr>
          <a:xfrm>
            <a:off x="4879428" y="5851016"/>
            <a:ext cx="475729" cy="179069"/>
          </a:xfrm>
          <a:prstGeom prst="rect">
            <a:avLst/>
          </a:prstGeom>
          <a:noFill/>
        </p:spPr>
        <p:txBody>
          <a:bodyPr wrap="none" lIns="0" rIns="0" tIns="0" bIns="0">
            <a:spAutoFit/>
          </a:bodyPr>
          <a:lstStyle/>
          <a:p>
            <a:r>
              <a:rPr sz="1050" b="0">
                <a:solidFill>
                  <a:srgbClr val="1F1F1F"/>
                </a:solidFill>
                <a:latin typeface="Calibri"/>
              </a:rPr>
              <a:t>, sitting</a:t>
            </a:r>
          </a:p>
        </p:txBody>
      </p:sp>
      <p:pic>
        <p:nvPicPr>
          <p:cNvPr id="55" name="Picture 54" descr="lock.png"/>
          <p:cNvPicPr>
            <a:picLocks noChangeAspect="1"/>
          </p:cNvPicPr>
          <p:nvPr/>
        </p:nvPicPr>
        <p:blipFill>
          <a:blip r:embed="rId5"/>
          <a:stretch>
            <a:fillRect/>
          </a:stretch>
        </p:blipFill>
        <p:spPr>
          <a:xfrm>
            <a:off x="5302106" y="5841682"/>
            <a:ext cx="122849" cy="178689"/>
          </a:xfrm>
          <a:prstGeom prst="rect">
            <a:avLst/>
          </a:prstGeom>
        </p:spPr>
      </p:pic>
      <p:sp>
        <p:nvSpPr>
          <p:cNvPr id="56" name="TextBox 55"/>
          <p:cNvSpPr txBox="1"/>
          <p:nvPr/>
        </p:nvSpPr>
        <p:spPr>
          <a:xfrm>
            <a:off x="5461988" y="5851016"/>
            <a:ext cx="1846733" cy="179069"/>
          </a:xfrm>
          <a:prstGeom prst="rect">
            <a:avLst/>
          </a:prstGeom>
          <a:noFill/>
        </p:spPr>
        <p:txBody>
          <a:bodyPr wrap="none" lIns="0" rIns="0" tIns="0" bIns="0">
            <a:spAutoFit/>
          </a:bodyPr>
          <a:lstStyle/>
          <a:p>
            <a:r>
              <a:rPr sz="1050" b="0">
                <a:solidFill>
                  <a:srgbClr val="1F1F1F"/>
                </a:solidFill>
                <a:latin typeface="Calibri"/>
              </a:rPr>
              <a:t>below the Global average of US$</a:t>
            </a:r>
          </a:p>
        </p:txBody>
      </p:sp>
      <p:pic>
        <p:nvPicPr>
          <p:cNvPr id="57" name="Picture 56" descr="lock.png"/>
          <p:cNvPicPr>
            <a:picLocks noChangeAspect="1"/>
          </p:cNvPicPr>
          <p:nvPr/>
        </p:nvPicPr>
        <p:blipFill>
          <a:blip r:embed="rId5"/>
          <a:stretch>
            <a:fillRect/>
          </a:stretch>
        </p:blipFill>
        <p:spPr>
          <a:xfrm>
            <a:off x="4719545" y="6001702"/>
            <a:ext cx="122849" cy="178689"/>
          </a:xfrm>
          <a:prstGeom prst="rect">
            <a:avLst/>
          </a:prstGeom>
        </p:spPr>
      </p:pic>
      <p:sp>
        <p:nvSpPr>
          <p:cNvPr id="58" name="TextBox 57"/>
          <p:cNvSpPr txBox="1"/>
          <p:nvPr/>
        </p:nvSpPr>
        <p:spPr>
          <a:xfrm>
            <a:off x="4879428" y="6011036"/>
            <a:ext cx="340555" cy="179069"/>
          </a:xfrm>
          <a:prstGeom prst="rect">
            <a:avLst/>
          </a:prstGeom>
          <a:noFill/>
        </p:spPr>
        <p:txBody>
          <a:bodyPr wrap="none" lIns="0" rIns="0" tIns="0" bIns="0">
            <a:spAutoFit/>
          </a:bodyPr>
          <a:lstStyle/>
          <a:p>
            <a:r>
              <a:rPr sz="1050" b="0">
                <a:solidFill>
                  <a:srgbClr val="1F1F1F"/>
                </a:solidFill>
                <a:latin typeface="Calibri"/>
              </a:rPr>
              <a:t>/MT.</a:t>
            </a:r>
          </a:p>
        </p:txBody>
      </p:sp>
      <p:sp>
        <p:nvSpPr>
          <p:cNvPr id="59" name="TextBox 58"/>
          <p:cNvSpPr txBox="1"/>
          <p:nvPr/>
        </p:nvSpPr>
        <p:spPr>
          <a:xfrm>
            <a:off x="8658225" y="5530976"/>
            <a:ext cx="2955987" cy="179069"/>
          </a:xfrm>
          <a:prstGeom prst="rect">
            <a:avLst/>
          </a:prstGeom>
          <a:noFill/>
        </p:spPr>
        <p:txBody>
          <a:bodyPr wrap="none" lIns="0" rIns="0" tIns="0" bIns="0">
            <a:spAutoFit/>
          </a:bodyPr>
          <a:lstStyle/>
          <a:p>
            <a:r>
              <a:rPr sz="1050" b="0">
                <a:solidFill>
                  <a:srgbClr val="1F1F1F"/>
                </a:solidFill>
                <a:latin typeface="Calibri"/>
              </a:rPr>
              <a:t>Expanded Polystyrene (EPS) show the widest internal</a:t>
            </a:r>
          </a:p>
        </p:txBody>
      </p:sp>
      <p:sp>
        <p:nvSpPr>
          <p:cNvPr id="60" name="TextBox 59"/>
          <p:cNvSpPr txBox="1"/>
          <p:nvPr/>
        </p:nvSpPr>
        <p:spPr>
          <a:xfrm>
            <a:off x="8658225" y="5690996"/>
            <a:ext cx="884634" cy="179069"/>
          </a:xfrm>
          <a:prstGeom prst="rect">
            <a:avLst/>
          </a:prstGeom>
          <a:noFill/>
        </p:spPr>
        <p:txBody>
          <a:bodyPr wrap="none" lIns="0" rIns="0" tIns="0" bIns="0">
            <a:spAutoFit/>
          </a:bodyPr>
          <a:lstStyle/>
          <a:p>
            <a:r>
              <a:rPr sz="1050" b="0">
                <a:solidFill>
                  <a:srgbClr val="1F1F1F"/>
                </a:solidFill>
                <a:latin typeface="Calibri"/>
              </a:rPr>
              <a:t>price spread at</a:t>
            </a:r>
          </a:p>
        </p:txBody>
      </p:sp>
      <p:pic>
        <p:nvPicPr>
          <p:cNvPr id="61" name="Picture 60" descr="lock.png"/>
          <p:cNvPicPr>
            <a:picLocks noChangeAspect="1"/>
          </p:cNvPicPr>
          <p:nvPr/>
        </p:nvPicPr>
        <p:blipFill>
          <a:blip r:embed="rId5"/>
          <a:stretch>
            <a:fillRect/>
          </a:stretch>
        </p:blipFill>
        <p:spPr>
          <a:xfrm>
            <a:off x="9489808" y="5681662"/>
            <a:ext cx="122849" cy="178689"/>
          </a:xfrm>
          <a:prstGeom prst="rect">
            <a:avLst/>
          </a:prstGeom>
        </p:spPr>
      </p:pic>
      <p:sp>
        <p:nvSpPr>
          <p:cNvPr id="62" name="TextBox 61"/>
          <p:cNvSpPr txBox="1"/>
          <p:nvPr/>
        </p:nvSpPr>
        <p:spPr>
          <a:xfrm>
            <a:off x="9649690" y="5690996"/>
            <a:ext cx="1085701" cy="179069"/>
          </a:xfrm>
          <a:prstGeom prst="rect">
            <a:avLst/>
          </a:prstGeom>
          <a:noFill/>
        </p:spPr>
        <p:txBody>
          <a:bodyPr wrap="none" lIns="0" rIns="0" tIns="0" bIns="0">
            <a:spAutoFit/>
          </a:bodyPr>
          <a:lstStyle/>
          <a:p>
            <a:r>
              <a:rPr sz="1050" b="0">
                <a:solidFill>
                  <a:srgbClr val="1F1F1F"/>
                </a:solidFill>
                <a:latin typeface="Calibri"/>
              </a:rPr>
              <a:t>, ranging from US$</a:t>
            </a:r>
          </a:p>
        </p:txBody>
      </p:sp>
      <p:pic>
        <p:nvPicPr>
          <p:cNvPr id="63" name="Picture 62" descr="lock.png"/>
          <p:cNvPicPr>
            <a:picLocks noChangeAspect="1"/>
          </p:cNvPicPr>
          <p:nvPr/>
        </p:nvPicPr>
        <p:blipFill>
          <a:blip r:embed="rId5"/>
          <a:stretch>
            <a:fillRect/>
          </a:stretch>
        </p:blipFill>
        <p:spPr>
          <a:xfrm>
            <a:off x="10682341" y="5681662"/>
            <a:ext cx="122849" cy="178689"/>
          </a:xfrm>
          <a:prstGeom prst="rect">
            <a:avLst/>
          </a:prstGeom>
        </p:spPr>
      </p:pic>
      <p:sp>
        <p:nvSpPr>
          <p:cNvPr id="64" name="TextBox 63"/>
          <p:cNvSpPr txBox="1"/>
          <p:nvPr/>
        </p:nvSpPr>
        <p:spPr>
          <a:xfrm>
            <a:off x="10842223" y="5690996"/>
            <a:ext cx="697110" cy="179069"/>
          </a:xfrm>
          <a:prstGeom prst="rect">
            <a:avLst/>
          </a:prstGeom>
          <a:noFill/>
        </p:spPr>
        <p:txBody>
          <a:bodyPr wrap="none" lIns="0" rIns="0" tIns="0" bIns="0">
            <a:spAutoFit/>
          </a:bodyPr>
          <a:lstStyle/>
          <a:p>
            <a:r>
              <a:rPr sz="1050" b="0">
                <a:solidFill>
                  <a:srgbClr val="1F1F1F"/>
                </a:solidFill>
                <a:latin typeface="Calibri"/>
              </a:rPr>
              <a:t>/MT to US$</a:t>
            </a:r>
          </a:p>
        </p:txBody>
      </p:sp>
      <p:pic>
        <p:nvPicPr>
          <p:cNvPr id="65" name="Picture 64" descr="lock.png"/>
          <p:cNvPicPr>
            <a:picLocks noChangeAspect="1"/>
          </p:cNvPicPr>
          <p:nvPr/>
        </p:nvPicPr>
        <p:blipFill>
          <a:blip r:embed="rId5"/>
          <a:stretch>
            <a:fillRect/>
          </a:stretch>
        </p:blipFill>
        <p:spPr>
          <a:xfrm>
            <a:off x="8645369" y="5841682"/>
            <a:ext cx="122849" cy="178689"/>
          </a:xfrm>
          <a:prstGeom prst="rect">
            <a:avLst/>
          </a:prstGeom>
        </p:spPr>
      </p:pic>
      <p:sp>
        <p:nvSpPr>
          <p:cNvPr id="66" name="TextBox 65"/>
          <p:cNvSpPr txBox="1"/>
          <p:nvPr/>
        </p:nvSpPr>
        <p:spPr>
          <a:xfrm>
            <a:off x="8805252" y="5851016"/>
            <a:ext cx="1269317" cy="179069"/>
          </a:xfrm>
          <a:prstGeom prst="rect">
            <a:avLst/>
          </a:prstGeom>
          <a:noFill/>
        </p:spPr>
        <p:txBody>
          <a:bodyPr wrap="none" lIns="0" rIns="0" tIns="0" bIns="0">
            <a:spAutoFit/>
          </a:bodyPr>
          <a:lstStyle/>
          <a:p>
            <a:r>
              <a:rPr sz="1050" b="0">
                <a:solidFill>
                  <a:srgbClr val="1F1F1F"/>
                </a:solidFill>
                <a:latin typeface="Calibri"/>
              </a:rPr>
              <a:t>/MT across sub-types.</a:t>
            </a:r>
          </a:p>
        </p:txBody>
      </p:sp>
      <p:sp>
        <p:nvSpPr>
          <p:cNvPr id="67" name="TextBox 66"/>
          <p:cNvSpPr txBox="1"/>
          <p:nvPr/>
        </p:nvSpPr>
        <p:spPr>
          <a:xfrm>
            <a:off x="301752" y="6391275"/>
            <a:ext cx="5770697" cy="143408"/>
          </a:xfrm>
          <a:prstGeom prst="rect">
            <a:avLst/>
          </a:prstGeom>
          <a:noFill/>
        </p:spPr>
        <p:txBody>
          <a:bodyPr wrap="none" lIns="0" rIns="0" tIns="0" bIns="0">
            <a:spAutoFit/>
          </a:bodyPr>
          <a:lstStyle/>
          <a:p>
            <a:r>
              <a:rPr sz="816" b="0">
                <a:solidFill>
                  <a:srgbClr val="59636E"/>
                </a:solidFill>
                <a:latin typeface="Calibri"/>
              </a:rPr>
              <a:t>Source: TMR analysis. Cell price = combined value (US$) / combined volume (MT); shading shows the index vs the Global average of US$</a:t>
            </a:r>
          </a:p>
        </p:txBody>
      </p:sp>
      <p:pic>
        <p:nvPicPr>
          <p:cNvPr id="68" name="Picture 67" descr="lock.png"/>
          <p:cNvPicPr>
            <a:picLocks noChangeAspect="1"/>
          </p:cNvPicPr>
          <p:nvPr/>
        </p:nvPicPr>
        <p:blipFill>
          <a:blip r:embed="rId5"/>
          <a:stretch>
            <a:fillRect/>
          </a:stretch>
        </p:blipFill>
        <p:spPr>
          <a:xfrm>
            <a:off x="6014239" y="6384020"/>
            <a:ext cx="95470" cy="138866"/>
          </a:xfrm>
          <a:prstGeom prst="rect">
            <a:avLst/>
          </a:prstGeom>
        </p:spPr>
      </p:pic>
      <p:sp>
        <p:nvSpPr>
          <p:cNvPr id="69" name="TextBox 68"/>
          <p:cNvSpPr txBox="1"/>
          <p:nvPr/>
        </p:nvSpPr>
        <p:spPr>
          <a:xfrm>
            <a:off x="6138491" y="6391275"/>
            <a:ext cx="281642" cy="143408"/>
          </a:xfrm>
          <a:prstGeom prst="rect">
            <a:avLst/>
          </a:prstGeom>
          <a:noFill/>
        </p:spPr>
        <p:txBody>
          <a:bodyPr wrap="none" lIns="0" rIns="0" tIns="0" bIns="0">
            <a:spAutoFit/>
          </a:bodyPr>
          <a:lstStyle/>
          <a:p>
            <a:r>
              <a:rPr sz="816" b="0">
                <a:solidFill>
                  <a:srgbClr val="59636E"/>
                </a:solidFill>
                <a:latin typeface="Calibri"/>
              </a:rPr>
              <a:t>/MT.</a:t>
            </a:r>
          </a:p>
        </p:txBody>
      </p:sp>
      <p:pic>
        <p:nvPicPr>
          <p:cNvPr id="70" name="Picture 69" descr="lock.png"/>
          <p:cNvPicPr>
            <a:picLocks noChangeAspect="1"/>
          </p:cNvPicPr>
          <p:nvPr/>
        </p:nvPicPr>
        <p:blipFill>
          <a:blip r:embed="rId5"/>
          <a:stretch>
            <a:fillRect/>
          </a:stretch>
        </p:blipFill>
        <p:spPr>
          <a:xfrm>
            <a:off x="9913437" y="3234020"/>
            <a:ext cx="332271" cy="483303"/>
          </a:xfrm>
          <a:prstGeom prst="rect">
            <a:avLst/>
          </a:prstGeom>
        </p:spPr>
      </p:pic>
      <p:sp>
        <p:nvSpPr>
          <p:cNvPr id="71" name="lockshield_24"/>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Pricing Assessment: Region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material types, 2026 (US$/MT)</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Material Types by Region (US$/MT), Ranked by Average</a:t>
            </a:r>
          </a:p>
        </p:txBody>
      </p:sp>
      <p:graphicFrame>
        <p:nvGraphicFramePr>
          <p:cNvPr id="10" name="TMR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1" name="TextBox 10"/>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2" name="Rectangle 11"/>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4" name="Table 13"/>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and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5" name="Rectangle 14"/>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6" name="Oval 15"/>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7" name="TextBox 16"/>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18" name="TextBox 17"/>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19" name="Rectangle 18"/>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1" name="TextBox 20"/>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2" name="TextBox 21"/>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5" name="TextBox 24"/>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6" name="TextBox 25"/>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TextBox 26"/>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Range = lowest to highest material type price in each region; ranked by average price. Other geographies grouped as 'Other' are excluded from the ranking.</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10462494" y="3375398"/>
            <a:ext cx="355774" cy="517489"/>
          </a:xfrm>
          <a:prstGeom prst="rect">
            <a:avLst/>
          </a:prstGeom>
        </p:spPr>
      </p:pic>
      <p:sp>
        <p:nvSpPr>
          <p:cNvPr id="31" name="TextBox 30"/>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2" name="Picture 31" descr="lock.png"/>
          <p:cNvPicPr>
            <a:picLocks noChangeAspect="1"/>
          </p:cNvPicPr>
          <p:nvPr/>
        </p:nvPicPr>
        <p:blipFill>
          <a:blip r:embed="rId5"/>
          <a:stretch>
            <a:fillRect/>
          </a:stretch>
        </p:blipFill>
        <p:spPr>
          <a:xfrm>
            <a:off x="4349334" y="1099058"/>
            <a:ext cx="152098" cy="221234"/>
          </a:xfrm>
          <a:prstGeom prst="rect">
            <a:avLst/>
          </a:prstGeom>
        </p:spPr>
      </p:pic>
      <p:sp>
        <p:nvSpPr>
          <p:cNvPr id="33" name="TextBox 32"/>
          <p:cNvSpPr txBox="1"/>
          <p:nvPr/>
        </p:nvSpPr>
        <p:spPr>
          <a:xfrm>
            <a:off x="4547284" y="1110615"/>
            <a:ext cx="1075183" cy="217169"/>
          </a:xfrm>
          <a:prstGeom prst="rect">
            <a:avLst/>
          </a:prstGeom>
          <a:noFill/>
        </p:spPr>
        <p:txBody>
          <a:bodyPr wrap="none" lIns="0" rIns="0" tIns="0" bIns="0">
            <a:spAutoFit/>
          </a:bodyPr>
          <a:lstStyle/>
          <a:p>
            <a:r>
              <a:rPr sz="1300" b="1">
                <a:solidFill>
                  <a:srgbClr val="FFFFFF"/>
                </a:solidFill>
                <a:latin typeface="Calibri"/>
              </a:rPr>
              <a:t>/MT in 2026, +</a:t>
            </a:r>
          </a:p>
        </p:txBody>
      </p:sp>
      <p:pic>
        <p:nvPicPr>
          <p:cNvPr id="34" name="Picture 33" descr="lock.png"/>
          <p:cNvPicPr>
            <a:picLocks noChangeAspect="1"/>
          </p:cNvPicPr>
          <p:nvPr/>
        </p:nvPicPr>
        <p:blipFill>
          <a:blip r:embed="rId5"/>
          <a:stretch>
            <a:fillRect/>
          </a:stretch>
        </p:blipFill>
        <p:spPr>
          <a:xfrm>
            <a:off x="5574929" y="1099058"/>
            <a:ext cx="152098" cy="221234"/>
          </a:xfrm>
          <a:prstGeom prst="rect">
            <a:avLst/>
          </a:prstGeom>
        </p:spPr>
      </p:pic>
      <p:sp>
        <p:nvSpPr>
          <p:cNvPr id="35" name="TextBox 34"/>
          <p:cNvSpPr txBox="1"/>
          <p:nvPr/>
        </p:nvSpPr>
        <p:spPr>
          <a:xfrm>
            <a:off x="5772879"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4995515" cy="148589"/>
          </a:xfrm>
          <a:prstGeom prst="rect">
            <a:avLst/>
          </a:prstGeom>
          <a:noFill/>
        </p:spPr>
        <p:txBody>
          <a:bodyPr wrap="none" lIns="0" rIns="0" tIns="0" bIns="0">
            <a:spAutoFit/>
          </a:bodyPr>
          <a:lstStyle/>
          <a:p>
            <a:r>
              <a:rPr sz="850" b="0">
                <a:solidFill>
                  <a:srgbClr val="59636E"/>
                </a:solidFill>
                <a:latin typeface="Calibri"/>
              </a:rPr>
              <a:t>Bar spans the lowest to highest material type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349535" y="1823910"/>
            <a:ext cx="99449" cy="144653"/>
          </a:xfrm>
          <a:prstGeom prst="rect">
            <a:avLst/>
          </a:prstGeom>
        </p:spPr>
      </p:pic>
      <p:sp>
        <p:nvSpPr>
          <p:cNvPr id="38" name="TextBox 37"/>
          <p:cNvSpPr txBox="1"/>
          <p:nvPr/>
        </p:nvSpPr>
        <p:spPr>
          <a:xfrm>
            <a:off x="5478963"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3" name="Picture 42" descr="lock.png"/>
          <p:cNvPicPr>
            <a:picLocks noChangeAspect="1"/>
          </p:cNvPicPr>
          <p:nvPr/>
        </p:nvPicPr>
        <p:blipFill>
          <a:blip r:embed="rId5"/>
          <a:stretch>
            <a:fillRect/>
          </a:stretch>
        </p:blipFill>
        <p:spPr>
          <a:xfrm>
            <a:off x="1673060" y="5681662"/>
            <a:ext cx="122849" cy="178689"/>
          </a:xfrm>
          <a:prstGeom prst="rect">
            <a:avLst/>
          </a:prstGeom>
        </p:spPr>
      </p:pic>
      <p:sp>
        <p:nvSpPr>
          <p:cNvPr id="44" name="TextBox 43"/>
          <p:cNvSpPr txBox="1"/>
          <p:nvPr/>
        </p:nvSpPr>
        <p:spPr>
          <a:xfrm>
            <a:off x="1832943" y="5690996"/>
            <a:ext cx="1927993" cy="179069"/>
          </a:xfrm>
          <a:prstGeom prst="rect">
            <a:avLst/>
          </a:prstGeom>
          <a:noFill/>
        </p:spPr>
        <p:txBody>
          <a:bodyPr wrap="none" lIns="0" rIns="0" tIns="0" bIns="0">
            <a:spAutoFit/>
          </a:bodyPr>
          <a:lstStyle/>
          <a:p>
            <a:r>
              <a:rPr sz="1050" b="0">
                <a:solidFill>
                  <a:srgbClr val="1F1F1F"/>
                </a:solidFill>
                <a:latin typeface="Calibri"/>
              </a:rPr>
              <a:t>/MT in South Asia &amp; Pacific to US$</a:t>
            </a:r>
          </a:p>
        </p:txBody>
      </p:sp>
      <p:pic>
        <p:nvPicPr>
          <p:cNvPr id="45" name="Picture 44" descr="lock.png"/>
          <p:cNvPicPr>
            <a:picLocks noChangeAspect="1"/>
          </p:cNvPicPr>
          <p:nvPr/>
        </p:nvPicPr>
        <p:blipFill>
          <a:blip r:embed="rId5"/>
          <a:stretch>
            <a:fillRect/>
          </a:stretch>
        </p:blipFill>
        <p:spPr>
          <a:xfrm>
            <a:off x="793721" y="5841682"/>
            <a:ext cx="122849" cy="178689"/>
          </a:xfrm>
          <a:prstGeom prst="rect">
            <a:avLst/>
          </a:prstGeom>
        </p:spPr>
      </p:pic>
      <p:sp>
        <p:nvSpPr>
          <p:cNvPr id="46" name="TextBox 45"/>
          <p:cNvSpPr txBox="1"/>
          <p:nvPr/>
        </p:nvSpPr>
        <p:spPr>
          <a:xfrm>
            <a:off x="953604" y="5851016"/>
            <a:ext cx="1297706" cy="179069"/>
          </a:xfrm>
          <a:prstGeom prst="rect">
            <a:avLst/>
          </a:prstGeom>
          <a:noFill/>
        </p:spPr>
        <p:txBody>
          <a:bodyPr wrap="none" lIns="0" rIns="0" tIns="0" bIns="0">
            <a:spAutoFit/>
          </a:bodyPr>
          <a:lstStyle/>
          <a:p>
            <a:r>
              <a:rPr sz="1050" b="0">
                <a:solidFill>
                  <a:srgbClr val="1F1F1F"/>
                </a:solidFill>
                <a:latin typeface="Calibri"/>
              </a:rPr>
              <a:t>/MT in North America.</a:t>
            </a:r>
          </a:p>
        </p:txBody>
      </p:sp>
      <p:sp>
        <p:nvSpPr>
          <p:cNvPr id="47" name="TextBox 46"/>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8" name="TextBox 47"/>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9" name="Picture 48" descr="lock.png"/>
          <p:cNvPicPr>
            <a:picLocks noChangeAspect="1"/>
          </p:cNvPicPr>
          <p:nvPr/>
        </p:nvPicPr>
        <p:blipFill>
          <a:blip r:embed="rId5"/>
          <a:stretch>
            <a:fillRect/>
          </a:stretch>
        </p:blipFill>
        <p:spPr>
          <a:xfrm>
            <a:off x="4958179" y="5681662"/>
            <a:ext cx="122849" cy="178689"/>
          </a:xfrm>
          <a:prstGeom prst="rect">
            <a:avLst/>
          </a:prstGeom>
        </p:spPr>
      </p:pic>
      <p:sp>
        <p:nvSpPr>
          <p:cNvPr id="50" name="TextBox 49"/>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1" name="Picture 50" descr="lock.png"/>
          <p:cNvPicPr>
            <a:picLocks noChangeAspect="1"/>
          </p:cNvPicPr>
          <p:nvPr/>
        </p:nvPicPr>
        <p:blipFill>
          <a:blip r:embed="rId5"/>
          <a:stretch>
            <a:fillRect/>
          </a:stretch>
        </p:blipFill>
        <p:spPr>
          <a:xfrm>
            <a:off x="7243541" y="5681662"/>
            <a:ext cx="122849" cy="178689"/>
          </a:xfrm>
          <a:prstGeom prst="rect">
            <a:avLst/>
          </a:prstGeom>
        </p:spPr>
      </p:pic>
      <p:sp>
        <p:nvSpPr>
          <p:cNvPr id="52" name="TextBox 51"/>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3" name="TextBox 52"/>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4" name="TextBox 53"/>
          <p:cNvSpPr txBox="1"/>
          <p:nvPr/>
        </p:nvSpPr>
        <p:spPr>
          <a:xfrm>
            <a:off x="8658225" y="5530976"/>
            <a:ext cx="3143250" cy="179069"/>
          </a:xfrm>
          <a:prstGeom prst="rect">
            <a:avLst/>
          </a:prstGeom>
          <a:noFill/>
        </p:spPr>
        <p:txBody>
          <a:bodyPr wrap="none" lIns="0" rIns="0" tIns="0" bIns="0">
            <a:spAutoFit/>
          </a:bodyPr>
          <a:lstStyle/>
          <a:p>
            <a:r>
              <a:rPr sz="1050" b="0">
                <a:solidFill>
                  <a:srgbClr val="1F1F1F"/>
                </a:solidFill>
                <a:latin typeface="Calibri"/>
              </a:rPr>
              <a:t>East Asia shows the widest gap between its cheapest and</a:t>
            </a:r>
          </a:p>
        </p:txBody>
      </p:sp>
      <p:sp>
        <p:nvSpPr>
          <p:cNvPr id="55" name="TextBox 54"/>
          <p:cNvSpPr txBox="1"/>
          <p:nvPr/>
        </p:nvSpPr>
        <p:spPr>
          <a:xfrm>
            <a:off x="8658225" y="5690996"/>
            <a:ext cx="1814698" cy="179069"/>
          </a:xfrm>
          <a:prstGeom prst="rect">
            <a:avLst/>
          </a:prstGeom>
          <a:noFill/>
        </p:spPr>
        <p:txBody>
          <a:bodyPr wrap="none" lIns="0" rIns="0" tIns="0" bIns="0">
            <a:spAutoFit/>
          </a:bodyPr>
          <a:lstStyle/>
          <a:p>
            <a:r>
              <a:rPr sz="1050" b="0">
                <a:solidFill>
                  <a:srgbClr val="1F1F1F"/>
                </a:solidFill>
                <a:latin typeface="Calibri"/>
              </a:rPr>
              <a:t>most expensive material type at</a:t>
            </a:r>
          </a:p>
        </p:txBody>
      </p:sp>
      <p:pic>
        <p:nvPicPr>
          <p:cNvPr id="56" name="Picture 55" descr="lock.png"/>
          <p:cNvPicPr>
            <a:picLocks noChangeAspect="1"/>
          </p:cNvPicPr>
          <p:nvPr/>
        </p:nvPicPr>
        <p:blipFill>
          <a:blip r:embed="rId5"/>
          <a:stretch>
            <a:fillRect/>
          </a:stretch>
        </p:blipFill>
        <p:spPr>
          <a:xfrm>
            <a:off x="10419872" y="5681662"/>
            <a:ext cx="122849" cy="178689"/>
          </a:xfrm>
          <a:prstGeom prst="rect">
            <a:avLst/>
          </a:prstGeom>
        </p:spPr>
      </p:pic>
      <p:sp>
        <p:nvSpPr>
          <p:cNvPr id="57" name="TextBox 56"/>
          <p:cNvSpPr txBox="1"/>
          <p:nvPr/>
        </p:nvSpPr>
        <p:spPr>
          <a:xfrm>
            <a:off x="10579755" y="5690996"/>
            <a:ext cx="946100" cy="179069"/>
          </a:xfrm>
          <a:prstGeom prst="rect">
            <a:avLst/>
          </a:prstGeom>
          <a:noFill/>
        </p:spPr>
        <p:txBody>
          <a:bodyPr wrap="none" lIns="0" rIns="0" tIns="0" bIns="0">
            <a:spAutoFit/>
          </a:bodyPr>
          <a:lstStyle/>
          <a:p>
            <a:r>
              <a:rPr sz="1050" b="0">
                <a:solidFill>
                  <a:srgbClr val="1F1F1F"/>
                </a:solidFill>
                <a:latin typeface="Calibri"/>
              </a:rPr>
              <a:t>, so product mix</a:t>
            </a:r>
          </a:p>
        </p:txBody>
      </p:sp>
      <p:sp>
        <p:nvSpPr>
          <p:cNvPr id="58" name="TextBox 57"/>
          <p:cNvSpPr txBox="1"/>
          <p:nvPr/>
        </p:nvSpPr>
        <p:spPr>
          <a:xfrm>
            <a:off x="8658225" y="5851016"/>
            <a:ext cx="2167867" cy="179069"/>
          </a:xfrm>
          <a:prstGeom prst="rect">
            <a:avLst/>
          </a:prstGeom>
          <a:noFill/>
        </p:spPr>
        <p:txBody>
          <a:bodyPr wrap="none" lIns="0" rIns="0" tIns="0" bIns="0">
            <a:spAutoFit/>
          </a:bodyPr>
          <a:lstStyle/>
          <a:p>
            <a:r>
              <a:rPr sz="1050" b="0">
                <a:solidFill>
                  <a:srgbClr val="1F1F1F"/>
                </a:solidFill>
                <a:latin typeface="Calibri"/>
              </a:rPr>
              <a:t>shifts move its average price the most.</a:t>
            </a:r>
          </a:p>
        </p:txBody>
      </p:sp>
      <p:pic>
        <p:nvPicPr>
          <p:cNvPr id="59" name="Picture 58" descr="lock.png"/>
          <p:cNvPicPr>
            <a:picLocks noChangeAspect="1"/>
          </p:cNvPicPr>
          <p:nvPr/>
        </p:nvPicPr>
        <p:blipFill>
          <a:blip r:embed="rId5"/>
          <a:stretch>
            <a:fillRect/>
          </a:stretch>
        </p:blipFill>
        <p:spPr>
          <a:xfrm>
            <a:off x="3952821" y="3129375"/>
            <a:ext cx="482444" cy="701737"/>
          </a:xfrm>
          <a:prstGeom prst="rect">
            <a:avLst/>
          </a:prstGeom>
        </p:spPr>
      </p:pic>
      <p:sp>
        <p:nvSpPr>
          <p:cNvPr id="60" name="lockshield_10"/>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Price Positioning &amp; Key Findings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TMR's key findings on where premiums and discounts sit</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(US$/MT).</a:t>
            </a:r>
          </a:p>
        </p:txBody>
      </p:sp>
      <p:sp>
        <p:nvSpPr>
          <p:cNvPr id="8" name="Rounded Rectangle 7"/>
          <p:cNvSpPr/>
          <p:nvPr/>
        </p:nvSpPr>
        <p:spPr>
          <a:xfrm>
            <a:off x="142875" y="1317574"/>
            <a:ext cx="769620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0" name="Connector 9"/>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1,693</a:t>
            </a:r>
          </a:p>
        </p:txBody>
      </p:sp>
      <p:cxnSp>
        <p:nvCxnSpPr>
          <p:cNvPr id="12" name="Connector 11"/>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2,860</a:t>
            </a:r>
          </a:p>
        </p:txBody>
      </p:sp>
      <p:cxnSp>
        <p:nvCxnSpPr>
          <p:cNvPr id="14" name="Connector 13"/>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4,026</a:t>
            </a:r>
          </a:p>
        </p:txBody>
      </p:sp>
      <p:cxnSp>
        <p:nvCxnSpPr>
          <p:cNvPr id="16" name="Connector 15"/>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5,193</a:t>
            </a:r>
          </a:p>
        </p:txBody>
      </p:sp>
      <p:cxnSp>
        <p:nvCxnSpPr>
          <p:cNvPr id="18" name="Connector 17"/>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6,359</a:t>
            </a:r>
          </a:p>
        </p:txBody>
      </p:sp>
      <p:cxnSp>
        <p:nvCxnSpPr>
          <p:cNvPr id="20" name="Connector 19"/>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7,526</a:t>
            </a:r>
          </a:p>
        </p:txBody>
      </p:sp>
      <p:sp>
        <p:nvSpPr>
          <p:cNvPr id="22" name="TextBox 21"/>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North America</a:t>
            </a:r>
          </a:p>
        </p:txBody>
      </p:sp>
      <p:sp>
        <p:nvSpPr>
          <p:cNvPr id="23" name="Rectangle 22"/>
          <p:cNvSpPr/>
          <p:nvPr/>
        </p:nvSpPr>
        <p:spPr>
          <a:xfrm>
            <a:off x="5053087" y="2100912"/>
            <a:ext cx="187396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590627"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Latin America</a:t>
            </a:r>
          </a:p>
        </p:txBody>
      </p:sp>
      <p:sp>
        <p:nvSpPr>
          <p:cNvPr id="26" name="Rectangle 25"/>
          <p:cNvSpPr/>
          <p:nvPr/>
        </p:nvSpPr>
        <p:spPr>
          <a:xfrm>
            <a:off x="3423018" y="2824823"/>
            <a:ext cx="1280997"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760065"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Europe</a:t>
            </a:r>
          </a:p>
        </p:txBody>
      </p:sp>
      <p:sp>
        <p:nvSpPr>
          <p:cNvPr id="29" name="Rectangle 28"/>
          <p:cNvSpPr/>
          <p:nvPr/>
        </p:nvSpPr>
        <p:spPr>
          <a:xfrm>
            <a:off x="4501445" y="3548733"/>
            <a:ext cx="1670120"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944364"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East Asia</a:t>
            </a:r>
          </a:p>
        </p:txBody>
      </p:sp>
      <p:sp>
        <p:nvSpPr>
          <p:cNvPr id="32" name="Rectangle 31"/>
          <p:cNvSpPr/>
          <p:nvPr/>
        </p:nvSpPr>
        <p:spPr>
          <a:xfrm>
            <a:off x="2409202" y="4272643"/>
            <a:ext cx="1014295"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668406"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South Asia &amp; Pacific</a:t>
            </a:r>
          </a:p>
        </p:txBody>
      </p:sp>
      <p:sp>
        <p:nvSpPr>
          <p:cNvPr id="35" name="Rectangle 34"/>
          <p:cNvSpPr/>
          <p:nvPr/>
        </p:nvSpPr>
        <p:spPr>
          <a:xfrm>
            <a:off x="2045494" y="4996553"/>
            <a:ext cx="84470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239555"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Middle East and Africa</a:t>
            </a:r>
          </a:p>
        </p:txBody>
      </p:sp>
      <p:sp>
        <p:nvSpPr>
          <p:cNvPr id="38" name="Rectangle 37"/>
          <p:cNvSpPr/>
          <p:nvPr/>
        </p:nvSpPr>
        <p:spPr>
          <a:xfrm>
            <a:off x="3283223" y="5720463"/>
            <a:ext cx="1240187"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04980"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2" name="Rectangle 41"/>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4" name="Rounded Rectangle 43"/>
          <p:cNvSpPr/>
          <p:nvPr/>
        </p:nvSpPr>
        <p:spPr>
          <a:xfrm>
            <a:off x="7915275" y="1317574"/>
            <a:ext cx="413385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46" name="Rectangle 45"/>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Rounded Rectangle 47"/>
          <p:cNvSpPr/>
          <p:nvPr/>
        </p:nvSpPr>
        <p:spPr>
          <a:xfrm>
            <a:off x="7915275" y="5351641"/>
            <a:ext cx="4133850" cy="1204744"/>
          </a:xfrm>
          <a:prstGeom prst="roundRect">
            <a:avLst>
              <a:gd name="adj" fmla="val 63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49" name="Rectangle 4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1" name="TextBox 50"/>
          <p:cNvSpPr txBox="1"/>
          <p:nvPr/>
        </p:nvSpPr>
        <p:spPr>
          <a:xfrm>
            <a:off x="8048625" y="1736673"/>
            <a:ext cx="3775657" cy="194310"/>
          </a:xfrm>
          <a:prstGeom prst="rect">
            <a:avLst/>
          </a:prstGeom>
          <a:noFill/>
        </p:spPr>
        <p:txBody>
          <a:bodyPr wrap="none" lIns="0" rIns="0" tIns="0" bIns="0">
            <a:spAutoFit/>
          </a:bodyPr>
          <a:lstStyle/>
          <a:p>
            <a:r>
              <a:rPr sz="1150" b="0">
                <a:solidFill>
                  <a:srgbClr val="2E2E2E"/>
                </a:solidFill>
                <a:latin typeface="Calibri"/>
              </a:rPr>
              <a:t>Polyurethane (PU) foam segment is expected to command the</a:t>
            </a:r>
          </a:p>
        </p:txBody>
      </p:sp>
      <p:sp>
        <p:nvSpPr>
          <p:cNvPr id="52" name="TextBox 51"/>
          <p:cNvSpPr txBox="1"/>
          <p:nvPr/>
        </p:nvSpPr>
        <p:spPr>
          <a:xfrm>
            <a:off x="8048625" y="1911934"/>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53" name="Picture 52" descr="lock.png"/>
          <p:cNvPicPr>
            <a:picLocks noChangeAspect="1"/>
          </p:cNvPicPr>
          <p:nvPr/>
        </p:nvPicPr>
        <p:blipFill>
          <a:blip r:embed="rId4"/>
          <a:stretch>
            <a:fillRect/>
          </a:stretch>
        </p:blipFill>
        <p:spPr>
          <a:xfrm>
            <a:off x="9764678" y="1901710"/>
            <a:ext cx="134549" cy="195707"/>
          </a:xfrm>
          <a:prstGeom prst="rect">
            <a:avLst/>
          </a:prstGeom>
        </p:spPr>
      </p:pic>
      <p:sp>
        <p:nvSpPr>
          <p:cNvPr id="54" name="TextBox 53"/>
          <p:cNvSpPr txBox="1"/>
          <p:nvPr/>
        </p:nvSpPr>
        <p:spPr>
          <a:xfrm>
            <a:off x="9939788" y="1911934"/>
            <a:ext cx="1534663" cy="194310"/>
          </a:xfrm>
          <a:prstGeom prst="rect">
            <a:avLst/>
          </a:prstGeom>
          <a:noFill/>
        </p:spPr>
        <p:txBody>
          <a:bodyPr wrap="none" lIns="0" rIns="0" tIns="0" bIns="0">
            <a:spAutoFit/>
          </a:bodyPr>
          <a:lstStyle/>
          <a:p>
            <a:r>
              <a:rPr sz="1150" b="0">
                <a:solidFill>
                  <a:srgbClr val="2E2E2E"/>
                </a:solidFill>
                <a:latin typeface="Calibri"/>
              </a:rPr>
              <a:t>per MT in 2036. Average</a:t>
            </a:r>
          </a:p>
        </p:txBody>
      </p:sp>
      <p:sp>
        <p:nvSpPr>
          <p:cNvPr id="55" name="TextBox 54"/>
          <p:cNvSpPr txBox="1"/>
          <p:nvPr/>
        </p:nvSpPr>
        <p:spPr>
          <a:xfrm>
            <a:off x="8048625" y="2087194"/>
            <a:ext cx="3720889" cy="194310"/>
          </a:xfrm>
          <a:prstGeom prst="rect">
            <a:avLst/>
          </a:prstGeom>
          <a:noFill/>
        </p:spPr>
        <p:txBody>
          <a:bodyPr wrap="none" lIns="0" rIns="0" tIns="0" bIns="0">
            <a:spAutoFit/>
          </a:bodyPr>
          <a:lstStyle/>
          <a:p>
            <a:r>
              <a:rPr sz="1150" b="0">
                <a:solidFill>
                  <a:srgbClr val="2E2E2E"/>
                </a:solidFill>
                <a:latin typeface="Calibri"/>
              </a:rPr>
              <a:t>selling price of foam protective packaging is estimated at US$</a:t>
            </a:r>
          </a:p>
        </p:txBody>
      </p:sp>
      <p:pic>
        <p:nvPicPr>
          <p:cNvPr id="56" name="Picture 55" descr="lock.png"/>
          <p:cNvPicPr>
            <a:picLocks noChangeAspect="1"/>
          </p:cNvPicPr>
          <p:nvPr/>
        </p:nvPicPr>
        <p:blipFill>
          <a:blip r:embed="rId4"/>
          <a:stretch>
            <a:fillRect/>
          </a:stretch>
        </p:blipFill>
        <p:spPr>
          <a:xfrm>
            <a:off x="8034545" y="2252230"/>
            <a:ext cx="134549" cy="195707"/>
          </a:xfrm>
          <a:prstGeom prst="rect">
            <a:avLst/>
          </a:prstGeom>
        </p:spPr>
      </p:pic>
      <p:sp>
        <p:nvSpPr>
          <p:cNvPr id="57" name="TextBox 56"/>
          <p:cNvSpPr txBox="1"/>
          <p:nvPr/>
        </p:nvSpPr>
        <p:spPr>
          <a:xfrm>
            <a:off x="8209654" y="2262454"/>
            <a:ext cx="3081064" cy="194310"/>
          </a:xfrm>
          <a:prstGeom prst="rect">
            <a:avLst/>
          </a:prstGeom>
          <a:noFill/>
        </p:spPr>
        <p:txBody>
          <a:bodyPr wrap="none" lIns="0" rIns="0" tIns="0" bIns="0">
            <a:spAutoFit/>
          </a:bodyPr>
          <a:lstStyle/>
          <a:p>
            <a:r>
              <a:rPr sz="1150" b="0">
                <a:solidFill>
                  <a:srgbClr val="2E2E2E"/>
                </a:solidFill>
                <a:latin typeface="Calibri"/>
              </a:rPr>
              <a:t>per MT in 2025 and is projected to increase to US$</a:t>
            </a:r>
          </a:p>
        </p:txBody>
      </p:sp>
      <p:pic>
        <p:nvPicPr>
          <p:cNvPr id="58" name="Picture 57" descr="lock.png"/>
          <p:cNvPicPr>
            <a:picLocks noChangeAspect="1"/>
          </p:cNvPicPr>
          <p:nvPr/>
        </p:nvPicPr>
        <p:blipFill>
          <a:blip r:embed="rId4"/>
          <a:stretch>
            <a:fillRect/>
          </a:stretch>
        </p:blipFill>
        <p:spPr>
          <a:xfrm>
            <a:off x="11239873" y="2252230"/>
            <a:ext cx="134549" cy="195707"/>
          </a:xfrm>
          <a:prstGeom prst="rect">
            <a:avLst/>
          </a:prstGeom>
        </p:spPr>
      </p:pic>
      <p:sp>
        <p:nvSpPr>
          <p:cNvPr id="59" name="TextBox 58"/>
          <p:cNvSpPr txBox="1"/>
          <p:nvPr/>
        </p:nvSpPr>
        <p:spPr>
          <a:xfrm>
            <a:off x="11414982" y="2262454"/>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60" name="TextBox 59"/>
          <p:cNvSpPr txBox="1"/>
          <p:nvPr/>
        </p:nvSpPr>
        <p:spPr>
          <a:xfrm>
            <a:off x="8048625" y="2437714"/>
            <a:ext cx="815007" cy="194310"/>
          </a:xfrm>
          <a:prstGeom prst="rect">
            <a:avLst/>
          </a:prstGeom>
          <a:noFill/>
        </p:spPr>
        <p:txBody>
          <a:bodyPr wrap="none" lIns="0" rIns="0" tIns="0" bIns="0">
            <a:spAutoFit/>
          </a:bodyPr>
          <a:lstStyle/>
          <a:p>
            <a:r>
              <a:rPr sz="1150" b="0">
                <a:solidFill>
                  <a:srgbClr val="2E2E2E"/>
                </a:solidFill>
                <a:latin typeface="Calibri"/>
              </a:rPr>
              <a:t>MT by 2036.</a:t>
            </a:r>
          </a:p>
        </p:txBody>
      </p:sp>
      <p:sp>
        <p:nvSpPr>
          <p:cNvPr id="61" name="TextBox 60"/>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2" name="TextBox 61"/>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3" name="TextBox 62"/>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4" name="TextBox 63"/>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5" name="TextBox 64"/>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6" name="TextBox 65"/>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67" name="TextBox 66"/>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Foam Protective Packaging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8" name="Rounded Rectangle 7"/>
          <p:cNvSpPr/>
          <p:nvPr/>
        </p:nvSpPr>
        <p:spPr>
          <a:xfrm>
            <a:off x="142875" y="1354081"/>
            <a:ext cx="702945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0" name="Freeform 9"/>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37" name="TextBox 36"/>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8" name="TextBox 37"/>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9" name="TextBox 38"/>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0" name="TextBox 39"/>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1" name="TextBox 40"/>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2" name="TextBox 41"/>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3" name="TextBox 42"/>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4" name="TextBox 43"/>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Rounded Rectangle 50"/>
          <p:cNvSpPr/>
          <p:nvPr/>
        </p:nvSpPr>
        <p:spPr>
          <a:xfrm>
            <a:off x="7248525" y="1354081"/>
            <a:ext cx="4800600" cy="3479443"/>
          </a:xfrm>
          <a:prstGeom prst="roundRect">
            <a:avLst>
              <a:gd name="adj" fmla="val 219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53" name="Rectangle 52"/>
          <p:cNvSpPr/>
          <p:nvPr/>
        </p:nvSpPr>
        <p:spPr>
          <a:xfrm>
            <a:off x="7381875" y="1677931"/>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Pricing across the Foam Protective Packaging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Demand strength, competitive intensity and supply-chain reliability together define the ceiling on pricing power across the Foam Protective Packaging Market.</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5" name="Rounded Rectangle 54"/>
          <p:cNvSpPr/>
          <p:nvPr/>
        </p:nvSpPr>
        <p:spPr>
          <a:xfrm>
            <a:off x="7248525" y="4943046"/>
            <a:ext cx="4800600" cy="1686354"/>
          </a:xfrm>
          <a:prstGeom prst="roundRect">
            <a:avLst>
              <a:gd name="adj" fmla="val 45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E2A5C"/>
                </a:solidFill>
                <a:latin typeface="Calibri"/>
              </a:rPr>
              <a:t>Highest-Impact Drivers</a:t>
            </a:r>
          </a:p>
        </p:txBody>
      </p:sp>
      <p:sp>
        <p:nvSpPr>
          <p:cNvPr id="57" name="Rectangle 56"/>
          <p:cNvSpPr/>
          <p:nvPr/>
        </p:nvSpPr>
        <p:spPr>
          <a:xfrm>
            <a:off x="7381875" y="5266896"/>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2" name="Picture 61" descr="lock.png"/>
          <p:cNvPicPr>
            <a:picLocks noChangeAspect="1"/>
          </p:cNvPicPr>
          <p:nvPr/>
        </p:nvPicPr>
        <p:blipFill>
          <a:blip r:embed="rId4"/>
          <a:stretch>
            <a:fillRect/>
          </a:stretch>
        </p:blipFill>
        <p:spPr>
          <a:xfrm>
            <a:off x="3896652" y="1889132"/>
            <a:ext cx="128699" cy="187198"/>
          </a:xfrm>
          <a:prstGeom prst="rect">
            <a:avLst/>
          </a:prstGeom>
        </p:spPr>
      </p:pic>
      <p:sp>
        <p:nvSpPr>
          <p:cNvPr id="63" name="TextBox 62"/>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4" name="Picture 63" descr="lock.png"/>
          <p:cNvPicPr>
            <a:picLocks noChangeAspect="1"/>
          </p:cNvPicPr>
          <p:nvPr/>
        </p:nvPicPr>
        <p:blipFill>
          <a:blip r:embed="rId4"/>
          <a:stretch>
            <a:fillRect/>
          </a:stretch>
        </p:blipFill>
        <p:spPr>
          <a:xfrm>
            <a:off x="5370988" y="2315626"/>
            <a:ext cx="92663" cy="134782"/>
          </a:xfrm>
          <a:prstGeom prst="rect">
            <a:avLst/>
          </a:prstGeom>
        </p:spPr>
      </p:pic>
      <p:sp>
        <p:nvSpPr>
          <p:cNvPr id="65" name="TextBox 64"/>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6" name="Picture 65" descr="lock.png"/>
          <p:cNvPicPr>
            <a:picLocks noChangeAspect="1"/>
          </p:cNvPicPr>
          <p:nvPr/>
        </p:nvPicPr>
        <p:blipFill>
          <a:blip r:embed="rId4"/>
          <a:stretch>
            <a:fillRect/>
          </a:stretch>
        </p:blipFill>
        <p:spPr>
          <a:xfrm>
            <a:off x="6125111" y="3363591"/>
            <a:ext cx="92663" cy="134782"/>
          </a:xfrm>
          <a:prstGeom prst="rect">
            <a:avLst/>
          </a:prstGeom>
        </p:spPr>
      </p:pic>
      <p:sp>
        <p:nvSpPr>
          <p:cNvPr id="67" name="TextBox 66"/>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68" name="Picture 67" descr="lock.png"/>
          <p:cNvPicPr>
            <a:picLocks noChangeAspect="1"/>
          </p:cNvPicPr>
          <p:nvPr/>
        </p:nvPicPr>
        <p:blipFill>
          <a:blip r:embed="rId4"/>
          <a:stretch>
            <a:fillRect/>
          </a:stretch>
        </p:blipFill>
        <p:spPr>
          <a:xfrm>
            <a:off x="6130716" y="4655202"/>
            <a:ext cx="97811" cy="142270"/>
          </a:xfrm>
          <a:prstGeom prst="rect">
            <a:avLst/>
          </a:prstGeom>
        </p:spPr>
      </p:pic>
      <p:sp>
        <p:nvSpPr>
          <p:cNvPr id="69" name="TextBox 68"/>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0" name="Picture 69" descr="lock.png"/>
          <p:cNvPicPr>
            <a:picLocks noChangeAspect="1"/>
          </p:cNvPicPr>
          <p:nvPr/>
        </p:nvPicPr>
        <p:blipFill>
          <a:blip r:embed="rId4"/>
          <a:stretch>
            <a:fillRect/>
          </a:stretch>
        </p:blipFill>
        <p:spPr>
          <a:xfrm>
            <a:off x="4837988" y="5767261"/>
            <a:ext cx="92663" cy="134782"/>
          </a:xfrm>
          <a:prstGeom prst="rect">
            <a:avLst/>
          </a:prstGeom>
        </p:spPr>
      </p:pic>
      <p:sp>
        <p:nvSpPr>
          <p:cNvPr id="71" name="TextBox 70"/>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2" name="Picture 71" descr="lock.png"/>
          <p:cNvPicPr>
            <a:picLocks noChangeAspect="1"/>
          </p:cNvPicPr>
          <p:nvPr/>
        </p:nvPicPr>
        <p:blipFill>
          <a:blip r:embed="rId4"/>
          <a:stretch>
            <a:fillRect/>
          </a:stretch>
        </p:blipFill>
        <p:spPr>
          <a:xfrm>
            <a:off x="4119536" y="6103453"/>
            <a:ext cx="97811" cy="142270"/>
          </a:xfrm>
          <a:prstGeom prst="rect">
            <a:avLst/>
          </a:prstGeom>
        </p:spPr>
      </p:pic>
      <p:sp>
        <p:nvSpPr>
          <p:cNvPr id="73" name="TextBox 72"/>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4" name="TextBox 73"/>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5" name="Picture 74" descr="lock.png"/>
          <p:cNvPicPr>
            <a:picLocks noChangeAspect="1"/>
          </p:cNvPicPr>
          <p:nvPr/>
        </p:nvPicPr>
        <p:blipFill>
          <a:blip r:embed="rId4"/>
          <a:stretch>
            <a:fillRect/>
          </a:stretch>
        </p:blipFill>
        <p:spPr>
          <a:xfrm>
            <a:off x="2497177" y="5767261"/>
            <a:ext cx="92663" cy="134782"/>
          </a:xfrm>
          <a:prstGeom prst="rect">
            <a:avLst/>
          </a:prstGeom>
        </p:spPr>
      </p:pic>
      <p:sp>
        <p:nvSpPr>
          <p:cNvPr id="76" name="TextBox 75"/>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7" name="Picture 76" descr="lock.png"/>
          <p:cNvPicPr>
            <a:picLocks noChangeAspect="1"/>
          </p:cNvPicPr>
          <p:nvPr/>
        </p:nvPicPr>
        <p:blipFill>
          <a:blip r:embed="rId4"/>
          <a:stretch>
            <a:fillRect/>
          </a:stretch>
        </p:blipFill>
        <p:spPr>
          <a:xfrm>
            <a:off x="1612685" y="4719297"/>
            <a:ext cx="92663" cy="134782"/>
          </a:xfrm>
          <a:prstGeom prst="rect">
            <a:avLst/>
          </a:prstGeom>
        </p:spPr>
      </p:pic>
      <p:sp>
        <p:nvSpPr>
          <p:cNvPr id="78" name="TextBox 77"/>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79" name="Picture 78" descr="lock.png"/>
          <p:cNvPicPr>
            <a:picLocks noChangeAspect="1"/>
          </p:cNvPicPr>
          <p:nvPr/>
        </p:nvPicPr>
        <p:blipFill>
          <a:blip r:embed="rId4"/>
          <a:stretch>
            <a:fillRect/>
          </a:stretch>
        </p:blipFill>
        <p:spPr>
          <a:xfrm>
            <a:off x="2155213" y="3363591"/>
            <a:ext cx="92663" cy="134782"/>
          </a:xfrm>
          <a:prstGeom prst="rect">
            <a:avLst/>
          </a:prstGeom>
        </p:spPr>
      </p:pic>
      <p:sp>
        <p:nvSpPr>
          <p:cNvPr id="80" name="TextBox 79"/>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1" name="Picture 80" descr="lock.png"/>
          <p:cNvPicPr>
            <a:picLocks noChangeAspect="1"/>
          </p:cNvPicPr>
          <p:nvPr/>
        </p:nvPicPr>
        <p:blipFill>
          <a:blip r:embed="rId4"/>
          <a:stretch>
            <a:fillRect/>
          </a:stretch>
        </p:blipFill>
        <p:spPr>
          <a:xfrm>
            <a:off x="2374076" y="2375977"/>
            <a:ext cx="92663" cy="134782"/>
          </a:xfrm>
          <a:prstGeom prst="rect">
            <a:avLst/>
          </a:prstGeom>
        </p:spPr>
      </p:pic>
      <p:sp>
        <p:nvSpPr>
          <p:cNvPr id="82" name="TextBox 81"/>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3" name="Picture 82" descr="lock.png"/>
          <p:cNvPicPr>
            <a:picLocks noChangeAspect="1"/>
          </p:cNvPicPr>
          <p:nvPr/>
        </p:nvPicPr>
        <p:blipFill>
          <a:blip r:embed="rId4"/>
          <a:stretch>
            <a:fillRect/>
          </a:stretch>
        </p:blipFill>
        <p:spPr>
          <a:xfrm>
            <a:off x="8070793" y="5352366"/>
            <a:ext cx="128699" cy="187198"/>
          </a:xfrm>
          <a:prstGeom prst="rect">
            <a:avLst/>
          </a:prstGeom>
        </p:spPr>
      </p:pic>
      <p:sp>
        <p:nvSpPr>
          <p:cNvPr id="84" name="TextBox 83"/>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5" name="TextBox 84"/>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6" name="Picture 85" descr="lock.png"/>
          <p:cNvPicPr>
            <a:picLocks noChangeAspect="1"/>
          </p:cNvPicPr>
          <p:nvPr/>
        </p:nvPicPr>
        <p:blipFill>
          <a:blip r:embed="rId4"/>
          <a:stretch>
            <a:fillRect/>
          </a:stretch>
        </p:blipFill>
        <p:spPr>
          <a:xfrm>
            <a:off x="9181298" y="5570298"/>
            <a:ext cx="128699" cy="187198"/>
          </a:xfrm>
          <a:prstGeom prst="rect">
            <a:avLst/>
          </a:prstGeom>
        </p:spPr>
      </p:pic>
      <p:sp>
        <p:nvSpPr>
          <p:cNvPr id="87" name="TextBox 86"/>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88" name="TextBox 87"/>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89" name="Picture 88" descr="lock.png"/>
          <p:cNvPicPr>
            <a:picLocks noChangeAspect="1"/>
          </p:cNvPicPr>
          <p:nvPr/>
        </p:nvPicPr>
        <p:blipFill>
          <a:blip r:embed="rId4"/>
          <a:stretch>
            <a:fillRect/>
          </a:stretch>
        </p:blipFill>
        <p:spPr>
          <a:xfrm>
            <a:off x="8808310" y="5788230"/>
            <a:ext cx="128699" cy="187198"/>
          </a:xfrm>
          <a:prstGeom prst="rect">
            <a:avLst/>
          </a:prstGeom>
        </p:spPr>
      </p:pic>
      <p:sp>
        <p:nvSpPr>
          <p:cNvPr id="90" name="TextBox 89"/>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1" name="TextBox 90"/>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2" name="Picture 91" descr="lock.png"/>
          <p:cNvPicPr>
            <a:picLocks noChangeAspect="1"/>
          </p:cNvPicPr>
          <p:nvPr/>
        </p:nvPicPr>
        <p:blipFill>
          <a:blip r:embed="rId4"/>
          <a:stretch>
            <a:fillRect/>
          </a:stretch>
        </p:blipFill>
        <p:spPr>
          <a:xfrm>
            <a:off x="8855241" y="6006162"/>
            <a:ext cx="128699" cy="187198"/>
          </a:xfrm>
          <a:prstGeom prst="rect">
            <a:avLst/>
          </a:prstGeom>
        </p:spPr>
      </p:pic>
      <p:sp>
        <p:nvSpPr>
          <p:cNvPr id="93" name="TextBox 92"/>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4" name="TextBox 93"/>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5" name="Picture 94" descr="lock.png"/>
          <p:cNvPicPr>
            <a:picLocks noChangeAspect="1"/>
          </p:cNvPicPr>
          <p:nvPr/>
        </p:nvPicPr>
        <p:blipFill>
          <a:blip r:embed="rId4"/>
          <a:stretch>
            <a:fillRect/>
          </a:stretch>
        </p:blipFill>
        <p:spPr>
          <a:xfrm>
            <a:off x="8930002" y="6224094"/>
            <a:ext cx="128699" cy="187198"/>
          </a:xfrm>
          <a:prstGeom prst="rect">
            <a:avLst/>
          </a:prstGeom>
        </p:spPr>
      </p:pic>
      <p:sp>
        <p:nvSpPr>
          <p:cNvPr id="96" name="TextBox 95"/>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Factors Impacting Pricing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8" name="Rounded Rectangle 7"/>
          <p:cNvSpPr/>
          <p:nvPr/>
        </p:nvSpPr>
        <p:spPr>
          <a:xfrm>
            <a:off x="142875" y="1314450"/>
            <a:ext cx="11906250" cy="3286125"/>
          </a:xfrm>
          <a:prstGeom prst="roundRect">
            <a:avLst>
              <a:gd name="adj" fmla="val 23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E2A5C"/>
                          </a:solidFill>
                          <a:latin typeface="Calibri"/>
                        </a:rPr>
                        <a:t>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Category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Impact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Score (0–10)</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How It Shapes Price</a:t>
                      </a:r>
                      <a:endParaRPr sz="1100"/>
                    </a:p>
                  </a:txBody>
                  <a:tcPr marL="47625" marR="38100" marT="19050" marB="19050" anchor="ctr">
                    <a:solidFill>
                      <a:srgbClr val="EBF2F9"/>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529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the Factors Imply</a:t>
            </a:r>
          </a:p>
        </p:txBody>
      </p:sp>
      <p:sp>
        <p:nvSpPr>
          <p:cNvPr id="13" name="Rectangle 12"/>
          <p:cNvSpPr/>
          <p:nvPr/>
        </p:nvSpPr>
        <p:spPr>
          <a:xfrm>
            <a:off x="276225" y="50768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8102155" y="2764346"/>
            <a:ext cx="330041" cy="480060"/>
          </a:xfrm>
          <a:prstGeom prst="rect">
            <a:avLst/>
          </a:prstGeom>
        </p:spPr>
      </p:pic>
      <p:sp>
        <p:nvSpPr>
          <p:cNvPr id="18" name="TextBox 17"/>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19" name="Picture 18" descr="lock.png"/>
          <p:cNvPicPr>
            <a:picLocks noChangeAspect="1"/>
          </p:cNvPicPr>
          <p:nvPr/>
        </p:nvPicPr>
        <p:blipFill>
          <a:blip r:embed="rId4"/>
          <a:stretch>
            <a:fillRect/>
          </a:stretch>
        </p:blipFill>
        <p:spPr>
          <a:xfrm>
            <a:off x="5650945" y="5161851"/>
            <a:ext cx="134549" cy="195707"/>
          </a:xfrm>
          <a:prstGeom prst="rect">
            <a:avLst/>
          </a:prstGeom>
        </p:spPr>
      </p:pic>
      <p:sp>
        <p:nvSpPr>
          <p:cNvPr id="20" name="TextBox 19"/>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1" name="Picture 20" descr="lock.png"/>
          <p:cNvPicPr>
            <a:picLocks noChangeAspect="1"/>
          </p:cNvPicPr>
          <p:nvPr/>
        </p:nvPicPr>
        <p:blipFill>
          <a:blip r:embed="rId4"/>
          <a:stretch>
            <a:fillRect/>
          </a:stretch>
        </p:blipFill>
        <p:spPr>
          <a:xfrm>
            <a:off x="6074762" y="5161851"/>
            <a:ext cx="134549" cy="195707"/>
          </a:xfrm>
          <a:prstGeom prst="rect">
            <a:avLst/>
          </a:prstGeom>
        </p:spPr>
      </p:pic>
      <p:sp>
        <p:nvSpPr>
          <p:cNvPr id="22" name="TextBox 21"/>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3" name="TextBox 22"/>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4" name="TextBox 23"/>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5" name="TextBox 24"/>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Regional Price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(US$/MT) and price trajectory to 2036.</a:t>
            </a:r>
          </a:p>
        </p:txBody>
      </p:sp>
      <p:sp>
        <p:nvSpPr>
          <p:cNvPr id="8" name="Rounded Rectangle 7"/>
          <p:cNvSpPr/>
          <p:nvPr/>
        </p:nvSpPr>
        <p:spPr>
          <a:xfrm>
            <a:off x="142875" y="1317574"/>
            <a:ext cx="590550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(US$/MT)</a:t>
            </a:r>
          </a:p>
        </p:txBody>
      </p:sp>
      <p:graphicFrame>
        <p:nvGraphicFramePr>
          <p:cNvPr id="10" name="Table 9"/>
          <p:cNvGraphicFramePr>
            <a:graphicFrameLocks noGrp="1"/>
          </p:cNvGraphicFramePr>
          <p:nvPr/>
        </p:nvGraphicFramePr>
        <p:xfrm>
          <a:off x="152400" y="1574749"/>
          <a:ext cx="5889252" cy="2271330"/>
        </p:xfrm>
        <a:graphic>
          <a:graphicData uri="http://schemas.openxmlformats.org/drawingml/2006/table">
            <a:tbl>
              <a:tblPr>
                <a:tableStyleId>{5C22544A-7EE6-4342-B048-85BDC9FD1C3A}</a:tableStyleId>
              </a:tblPr>
              <a:tblGrid>
                <a:gridCol w="1478643"/>
                <a:gridCol w="1101952"/>
                <a:gridCol w="1101952"/>
                <a:gridCol w="1101952"/>
                <a:gridCol w="1104753"/>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Manufacturer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Distribution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Retail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 Margin (%)</a:t>
                      </a:r>
                      <a:endParaRPr sz="1100"/>
                    </a:p>
                  </a:txBody>
                  <a:tcPr marL="47625" marR="38100" marT="19050" marB="19050" anchor="ctr">
                    <a:solidFill>
                      <a:srgbClr val="EBF2F9"/>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6200775" y="1317574"/>
            <a:ext cx="584835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(US$/MT)</a:t>
            </a:r>
          </a:p>
        </p:txBody>
      </p:sp>
      <p:graphicFrame>
        <p:nvGraphicFramePr>
          <p:cNvPr id="14" name="Table 13"/>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2159163"/>
                <a:gridCol w="917534"/>
                <a:gridCol w="917534"/>
                <a:gridCol w="917534"/>
                <a:gridCol w="917534"/>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5" name="TextBox 14"/>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142875" y="4201658"/>
            <a:ext cx="119062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This Section Covers</a:t>
            </a:r>
          </a:p>
        </p:txBody>
      </p:sp>
      <p:sp>
        <p:nvSpPr>
          <p:cNvPr id="18" name="Rectangle 17"/>
          <p:cNvSpPr/>
          <p:nvPr/>
        </p:nvSpPr>
        <p:spPr>
          <a:xfrm>
            <a:off x="276225" y="4525508"/>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3642655" y="2566777"/>
            <a:ext cx="366712" cy="533400"/>
          </a:xfrm>
          <a:prstGeom prst="rect">
            <a:avLst/>
          </a:prstGeom>
        </p:spPr>
      </p:pic>
      <p:pic>
        <p:nvPicPr>
          <p:cNvPr id="23" name="Picture 22" descr="lock.png"/>
          <p:cNvPicPr>
            <a:picLocks noChangeAspect="1"/>
          </p:cNvPicPr>
          <p:nvPr/>
        </p:nvPicPr>
        <p:blipFill>
          <a:blip r:embed="rId4"/>
          <a:stretch>
            <a:fillRect/>
          </a:stretch>
        </p:blipFill>
        <p:spPr>
          <a:xfrm>
            <a:off x="10017841" y="2566777"/>
            <a:ext cx="366712" cy="53340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Global Pricing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material type type and region (US$/MT).</a:t>
            </a:r>
          </a:p>
        </p:txBody>
      </p:sp>
      <p:sp>
        <p:nvSpPr>
          <p:cNvPr id="8" name="Rounded Rectangle 7"/>
          <p:cNvSpPr/>
          <p:nvPr/>
        </p:nvSpPr>
        <p:spPr>
          <a:xfrm>
            <a:off x="142875" y="1314450"/>
            <a:ext cx="11906250" cy="2876550"/>
          </a:xfrm>
          <a:prstGeom prst="roundRect">
            <a:avLst>
              <a:gd name="adj" fmla="val 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Material Type (US$/MT)</a:t>
            </a:r>
          </a:p>
        </p:txBody>
      </p:sp>
      <p:graphicFrame>
        <p:nvGraphicFramePr>
          <p:cNvPr id="10" name="Table 9"/>
          <p:cNvGraphicFramePr>
            <a:graphicFrameLocks noGrp="1"/>
          </p:cNvGraphicFramePr>
          <p:nvPr/>
        </p:nvGraphicFramePr>
        <p:xfrm>
          <a:off x="152400" y="1571625"/>
          <a:ext cx="11887199" cy="2409822"/>
        </p:xfrm>
        <a:graphic>
          <a:graphicData uri="http://schemas.openxmlformats.org/drawingml/2006/table">
            <a:tbl>
              <a:tblPr>
                <a:tableStyleId>{5C22544A-7EE6-4342-B048-85BDC9FD1C3A}</a:tableStyleId>
              </a:tblPr>
              <a:tblGrid>
                <a:gridCol w="1626652"/>
                <a:gridCol w="1700504"/>
                <a:gridCol w="1985011"/>
                <a:gridCol w="1755208"/>
                <a:gridCol w="2173742"/>
                <a:gridCol w="1588359"/>
                <a:gridCol w="1057723"/>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Polyethylene (PE) Foam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Expanded Polystyrene (EPS)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Polyurethane (PU) Foam</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Expanded Polypropylene (EPP)</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Other Foam Materials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Weighted Avg</a:t>
                      </a:r>
                      <a:endParaRPr sz="1100"/>
                    </a:p>
                  </a:txBody>
                  <a:tcPr marL="47625" marR="38100" marT="19050" marB="19050" anchor="ctr">
                    <a:solidFill>
                      <a:srgbClr val="EBF2F9"/>
                    </a:solidFill>
                  </a:tcPr>
                </a:tc>
              </a:tr>
              <a:tr h="360616">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60616">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East Asia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60616">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Middle East and Africa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990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43338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E2A5C"/>
                </a:solidFill>
                <a:latin typeface="Calibri"/>
              </a:rPr>
              <a:t>Benchmarking Insights</a:t>
            </a:r>
          </a:p>
        </p:txBody>
      </p:sp>
      <p:sp>
        <p:nvSpPr>
          <p:cNvPr id="14" name="Rectangle 13"/>
          <p:cNvSpPr/>
          <p:nvPr/>
        </p:nvSpPr>
        <p:spPr>
          <a:xfrm>
            <a:off x="276225" y="46577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743450"/>
            <a:ext cx="11639550" cy="17240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722635" y="2632898"/>
            <a:ext cx="366712" cy="533400"/>
          </a:xfrm>
          <a:prstGeom prst="rect">
            <a:avLst/>
          </a:prstGeom>
        </p:spPr>
      </p:pic>
      <p:sp>
        <p:nvSpPr>
          <p:cNvPr id="19" name="TextBox 18"/>
          <p:cNvSpPr txBox="1"/>
          <p:nvPr/>
        </p:nvSpPr>
        <p:spPr>
          <a:xfrm>
            <a:off x="276225" y="4752975"/>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0" name="Picture 19" descr="lock.png"/>
          <p:cNvPicPr>
            <a:picLocks noChangeAspect="1"/>
          </p:cNvPicPr>
          <p:nvPr/>
        </p:nvPicPr>
        <p:blipFill>
          <a:blip r:embed="rId4"/>
          <a:stretch>
            <a:fillRect/>
          </a:stretch>
        </p:blipFill>
        <p:spPr>
          <a:xfrm>
            <a:off x="4867067" y="4742751"/>
            <a:ext cx="134549" cy="195707"/>
          </a:xfrm>
          <a:prstGeom prst="rect">
            <a:avLst/>
          </a:prstGeom>
        </p:spPr>
      </p:pic>
      <p:sp>
        <p:nvSpPr>
          <p:cNvPr id="21" name="TextBox 20"/>
          <p:cNvSpPr txBox="1"/>
          <p:nvPr/>
        </p:nvSpPr>
        <p:spPr>
          <a:xfrm>
            <a:off x="5042176" y="4752975"/>
            <a:ext cx="3590528" cy="194310"/>
          </a:xfrm>
          <a:prstGeom prst="rect">
            <a:avLst/>
          </a:prstGeom>
          <a:noFill/>
        </p:spPr>
        <p:txBody>
          <a:bodyPr wrap="none" lIns="0" rIns="0" tIns="0" bIns="0">
            <a:spAutoFit/>
          </a:bodyPr>
          <a:lstStyle/>
          <a:p>
            <a:r>
              <a:rPr sz="1150" b="0">
                <a:solidFill>
                  <a:srgbClr val="2E2E2E"/>
                </a:solidFill>
                <a:latin typeface="Calibri"/>
              </a:rPr>
              <a:t>US$/MT) and 'South Asia &amp; Pacific' the most competitive (~</a:t>
            </a:r>
          </a:p>
        </p:txBody>
      </p:sp>
      <p:pic>
        <p:nvPicPr>
          <p:cNvPr id="22" name="Picture 21" descr="lock.png"/>
          <p:cNvPicPr>
            <a:picLocks noChangeAspect="1"/>
          </p:cNvPicPr>
          <p:nvPr/>
        </p:nvPicPr>
        <p:blipFill>
          <a:blip r:embed="rId4"/>
          <a:stretch>
            <a:fillRect/>
          </a:stretch>
        </p:blipFill>
        <p:spPr>
          <a:xfrm>
            <a:off x="8581859" y="4742751"/>
            <a:ext cx="134549" cy="195707"/>
          </a:xfrm>
          <a:prstGeom prst="rect">
            <a:avLst/>
          </a:prstGeom>
        </p:spPr>
      </p:pic>
      <p:sp>
        <p:nvSpPr>
          <p:cNvPr id="23" name="TextBox 22"/>
          <p:cNvSpPr txBox="1"/>
          <p:nvPr/>
        </p:nvSpPr>
        <p:spPr>
          <a:xfrm>
            <a:off x="8756968" y="4752975"/>
            <a:ext cx="644996" cy="194310"/>
          </a:xfrm>
          <a:prstGeom prst="rect">
            <a:avLst/>
          </a:prstGeom>
          <a:noFill/>
        </p:spPr>
        <p:txBody>
          <a:bodyPr wrap="none" lIns="0" rIns="0" tIns="0" bIns="0">
            <a:spAutoFit/>
          </a:bodyPr>
          <a:lstStyle/>
          <a:p>
            <a:r>
              <a:rPr sz="1150" b="0">
                <a:solidFill>
                  <a:srgbClr val="2E2E2E"/>
                </a:solidFill>
                <a:latin typeface="Calibri"/>
              </a:rPr>
              <a:t>US$/MT).</a:t>
            </a:r>
          </a:p>
        </p:txBody>
      </p:sp>
      <p:sp>
        <p:nvSpPr>
          <p:cNvPr id="24" name="TextBox 23"/>
          <p:cNvSpPr txBox="1"/>
          <p:nvPr/>
        </p:nvSpPr>
        <p:spPr>
          <a:xfrm>
            <a:off x="276225" y="4980813"/>
            <a:ext cx="5956994" cy="194310"/>
          </a:xfrm>
          <a:prstGeom prst="rect">
            <a:avLst/>
          </a:prstGeom>
          <a:noFill/>
        </p:spPr>
        <p:txBody>
          <a:bodyPr wrap="none" lIns="0" rIns="0" tIns="0" bIns="0">
            <a:spAutoFit/>
          </a:bodyPr>
          <a:lstStyle/>
          <a:p>
            <a:r>
              <a:rPr sz="1150" b="0">
                <a:solidFill>
                  <a:srgbClr val="2E2E2E"/>
                </a:solidFill>
                <a:latin typeface="Calibri"/>
              </a:rPr>
              <a:t>▪ Price ranges are benchmarked per material type type at 2026, derived as Value ÷ Volume with a ±</a:t>
            </a:r>
          </a:p>
        </p:txBody>
      </p:sp>
      <p:pic>
        <p:nvPicPr>
          <p:cNvPr id="25" name="Picture 24" descr="lock.png"/>
          <p:cNvPicPr>
            <a:picLocks noChangeAspect="1"/>
          </p:cNvPicPr>
          <p:nvPr/>
        </p:nvPicPr>
        <p:blipFill>
          <a:blip r:embed="rId4"/>
          <a:stretch>
            <a:fillRect/>
          </a:stretch>
        </p:blipFill>
        <p:spPr>
          <a:xfrm>
            <a:off x="6182373" y="4970589"/>
            <a:ext cx="134549" cy="195707"/>
          </a:xfrm>
          <a:prstGeom prst="rect">
            <a:avLst/>
          </a:prstGeom>
        </p:spPr>
      </p:pic>
      <p:sp>
        <p:nvSpPr>
          <p:cNvPr id="26" name="TextBox 25"/>
          <p:cNvSpPr txBox="1"/>
          <p:nvPr/>
        </p:nvSpPr>
        <p:spPr>
          <a:xfrm>
            <a:off x="6357482" y="4980813"/>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7" name="TextBox 26"/>
          <p:cNvSpPr txBox="1"/>
          <p:nvPr/>
        </p:nvSpPr>
        <p:spPr>
          <a:xfrm>
            <a:off x="276225" y="5208650"/>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28" name="Picture 27" descr="lock.png"/>
          <p:cNvPicPr>
            <a:picLocks noChangeAspect="1"/>
          </p:cNvPicPr>
          <p:nvPr/>
        </p:nvPicPr>
        <p:blipFill>
          <a:blip r:embed="rId4"/>
          <a:stretch>
            <a:fillRect/>
          </a:stretch>
        </p:blipFill>
        <p:spPr>
          <a:xfrm>
            <a:off x="2366246" y="5198427"/>
            <a:ext cx="134549" cy="195707"/>
          </a:xfrm>
          <a:prstGeom prst="rect">
            <a:avLst/>
          </a:prstGeom>
        </p:spPr>
      </p:pic>
      <p:sp>
        <p:nvSpPr>
          <p:cNvPr id="29" name="TextBox 28"/>
          <p:cNvSpPr txBox="1"/>
          <p:nvPr/>
        </p:nvSpPr>
        <p:spPr>
          <a:xfrm>
            <a:off x="2541355" y="5208650"/>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0" name="TextBox 29"/>
          <p:cNvSpPr txBox="1"/>
          <p:nvPr/>
        </p:nvSpPr>
        <p:spPr>
          <a:xfrm>
            <a:off x="276225" y="5436488"/>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Price Forecast &amp; Dynamics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material type type and the structural factors shaping it (US$/MT).</a:t>
            </a:r>
          </a:p>
        </p:txBody>
      </p:sp>
      <p:sp>
        <p:nvSpPr>
          <p:cNvPr id="8" name="Rounded Rectangle 7"/>
          <p:cNvSpPr/>
          <p:nvPr/>
        </p:nvSpPr>
        <p:spPr>
          <a:xfrm>
            <a:off x="142875" y="1317574"/>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Material Type (US$/MT)</a:t>
            </a:r>
          </a:p>
        </p:txBody>
      </p:sp>
      <p:graphicFrame>
        <p:nvGraphicFramePr>
          <p:cNvPr id="10" name="Table 9"/>
          <p:cNvGraphicFramePr>
            <a:graphicFrameLocks noGrp="1"/>
          </p:cNvGraphicFramePr>
          <p:nvPr/>
        </p:nvGraphicFramePr>
        <p:xfrm>
          <a:off x="152400" y="1574749"/>
          <a:ext cx="11887199" cy="1504676"/>
        </p:xfrm>
        <a:graphic>
          <a:graphicData uri="http://schemas.openxmlformats.org/drawingml/2006/table">
            <a:tbl>
              <a:tblPr>
                <a:tableStyleId>{5C22544A-7EE6-4342-B048-85BDC9FD1C3A}</a:tableStyleId>
              </a:tblPr>
              <a:tblGrid>
                <a:gridCol w="3534755"/>
                <a:gridCol w="1392074"/>
                <a:gridCol w="1392074"/>
                <a:gridCol w="1392074"/>
                <a:gridCol w="1392074"/>
                <a:gridCol w="1392074"/>
                <a:gridCol w="1392074"/>
              </a:tblGrid>
              <a:tr h="246126">
                <a:tc>
                  <a:txBody>
                    <a:bodyPr wrap="none"/>
                    <a:lstStyle/>
                    <a:p>
                      <a:pPr algn="l"/>
                      <a:r>
                        <a:rPr sz="1100" b="1">
                          <a:solidFill>
                            <a:srgbClr val="0E2A5C"/>
                          </a:solidFill>
                          <a:latin typeface="Calibri"/>
                        </a:rPr>
                        <a:t>Material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251710">
                <a:tc>
                  <a:txBody>
                    <a:bodyPr wrap="none"/>
                    <a:lstStyle/>
                    <a:p>
                      <a:pPr algn="l"/>
                      <a:r>
                        <a:rPr sz="1100" b="1">
                          <a:solidFill>
                            <a:srgbClr val="2E2E2E"/>
                          </a:solidFill>
                          <a:latin typeface="Calibri"/>
                        </a:rPr>
                        <a:t>Polyethylene (PE)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1710">
                <a:tc>
                  <a:txBody>
                    <a:bodyPr wrap="none"/>
                    <a:lstStyle/>
                    <a:p>
                      <a:pPr algn="l"/>
                      <a:r>
                        <a:rPr sz="1100" b="1">
                          <a:solidFill>
                            <a:srgbClr val="2E2E2E"/>
                          </a:solidFill>
                          <a:latin typeface="Calibri"/>
                        </a:rPr>
                        <a:t>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51710">
                <a:tc>
                  <a:txBody>
                    <a:bodyPr wrap="none"/>
                    <a:lstStyle/>
                    <a:p>
                      <a:pPr algn="l"/>
                      <a:r>
                        <a:rPr sz="1100" b="1">
                          <a:solidFill>
                            <a:srgbClr val="2E2E2E"/>
                          </a:solidFill>
                          <a:latin typeface="Calibri"/>
                        </a:rPr>
                        <a:t>Polyurethane (PU) Foam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1710">
                <a:tc>
                  <a:txBody>
                    <a:bodyPr wrap="none"/>
                    <a:lstStyle/>
                    <a:p>
                      <a:pPr algn="l"/>
                      <a:r>
                        <a:rPr sz="1100" b="1">
                          <a:solidFill>
                            <a:srgbClr val="2E2E2E"/>
                          </a:solidFill>
                          <a:latin typeface="Calibri"/>
                        </a:rPr>
                        <a:t>Polypropylene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51710">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4" name="Table 13"/>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E2A5C"/>
                          </a:solidFill>
                          <a:latin typeface="Calibri"/>
                        </a:rPr>
                        <a:t>Pricing 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Impact (H/M/L)</a:t>
                      </a:r>
                      <a:endParaRPr sz="1100"/>
                    </a:p>
                  </a:txBody>
                  <a:tcPr marL="47625" marR="38100" marT="19050" marB="19050" anchor="ctr">
                    <a:solidFill>
                      <a:srgbClr val="EBF2F9"/>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9FD"/>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bl>
          </a:graphicData>
        </a:graphic>
      </p:graphicFrame>
      <p:sp>
        <p:nvSpPr>
          <p:cNvPr id="15" name="TextBox 14"/>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3398495"/>
            <a:ext cx="5848350" cy="3157890"/>
          </a:xfrm>
          <a:prstGeom prst="roundRect">
            <a:avLst>
              <a:gd name="adj" fmla="val 241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E2A5C"/>
                </a:solidFill>
                <a:latin typeface="Calibri"/>
              </a:rPr>
              <a:t>Pricing Dynamics &amp; Outlook</a:t>
            </a:r>
          </a:p>
        </p:txBody>
      </p:sp>
      <p:sp>
        <p:nvSpPr>
          <p:cNvPr id="18" name="Rectangle 17"/>
          <p:cNvSpPr/>
          <p:nvPr/>
        </p:nvSpPr>
        <p:spPr>
          <a:xfrm>
            <a:off x="6334125" y="3722345"/>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7676686" y="2183449"/>
            <a:ext cx="366712" cy="533399"/>
          </a:xfrm>
          <a:prstGeom prst="rect">
            <a:avLst/>
          </a:prstGeom>
        </p:spPr>
      </p:pic>
      <p:sp>
        <p:nvSpPr>
          <p:cNvPr id="23" name="TextBox 22"/>
          <p:cNvSpPr txBox="1"/>
          <p:nvPr/>
        </p:nvSpPr>
        <p:spPr>
          <a:xfrm>
            <a:off x="6334125" y="3817595"/>
            <a:ext cx="3367989" cy="194310"/>
          </a:xfrm>
          <a:prstGeom prst="rect">
            <a:avLst/>
          </a:prstGeom>
          <a:noFill/>
        </p:spPr>
        <p:txBody>
          <a:bodyPr wrap="none" lIns="0" rIns="0" tIns="0" bIns="0">
            <a:spAutoFit/>
          </a:bodyPr>
          <a:lstStyle/>
          <a:p>
            <a:r>
              <a:rPr sz="1150" b="0">
                <a:solidFill>
                  <a:srgbClr val="2E2E2E"/>
                </a:solidFill>
                <a:latin typeface="Calibri"/>
              </a:rPr>
              <a:t>▪ Average material type price is projected to rise from ~</a:t>
            </a:r>
          </a:p>
        </p:txBody>
      </p:sp>
      <p:pic>
        <p:nvPicPr>
          <p:cNvPr id="24" name="Picture 23" descr="lock.png"/>
          <p:cNvPicPr>
            <a:picLocks noChangeAspect="1"/>
          </p:cNvPicPr>
          <p:nvPr/>
        </p:nvPicPr>
        <p:blipFill>
          <a:blip r:embed="rId4"/>
          <a:stretch>
            <a:fillRect/>
          </a:stretch>
        </p:blipFill>
        <p:spPr>
          <a:xfrm>
            <a:off x="9651268" y="3807371"/>
            <a:ext cx="134549" cy="195707"/>
          </a:xfrm>
          <a:prstGeom prst="rect">
            <a:avLst/>
          </a:prstGeom>
        </p:spPr>
      </p:pic>
      <p:sp>
        <p:nvSpPr>
          <p:cNvPr id="25" name="TextBox 24"/>
          <p:cNvSpPr txBox="1"/>
          <p:nvPr/>
        </p:nvSpPr>
        <p:spPr>
          <a:xfrm>
            <a:off x="9826378"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6" name="Picture 25" descr="lock.png"/>
          <p:cNvPicPr>
            <a:picLocks noChangeAspect="1"/>
          </p:cNvPicPr>
          <p:nvPr/>
        </p:nvPicPr>
        <p:blipFill>
          <a:blip r:embed="rId4"/>
          <a:stretch>
            <a:fillRect/>
          </a:stretch>
        </p:blipFill>
        <p:spPr>
          <a:xfrm>
            <a:off x="10083643" y="3807371"/>
            <a:ext cx="134549" cy="195707"/>
          </a:xfrm>
          <a:prstGeom prst="rect">
            <a:avLst/>
          </a:prstGeom>
        </p:spPr>
      </p:pic>
      <p:sp>
        <p:nvSpPr>
          <p:cNvPr id="27" name="TextBox 26"/>
          <p:cNvSpPr txBox="1"/>
          <p:nvPr/>
        </p:nvSpPr>
        <p:spPr>
          <a:xfrm>
            <a:off x="10258752" y="3817595"/>
            <a:ext cx="1278545" cy="194310"/>
          </a:xfrm>
          <a:prstGeom prst="rect">
            <a:avLst/>
          </a:prstGeom>
          <a:noFill/>
        </p:spPr>
        <p:txBody>
          <a:bodyPr wrap="none" lIns="0" rIns="0" tIns="0" bIns="0">
            <a:spAutoFit/>
          </a:bodyPr>
          <a:lstStyle/>
          <a:p>
            <a:r>
              <a:rPr sz="1150" b="0">
                <a:solidFill>
                  <a:srgbClr val="2E2E2E"/>
                </a:solidFill>
                <a:latin typeface="Calibri"/>
              </a:rPr>
              <a:t>US$/MT by 2036 a +</a:t>
            </a:r>
          </a:p>
        </p:txBody>
      </p:sp>
      <p:pic>
        <p:nvPicPr>
          <p:cNvPr id="28" name="Picture 27" descr="lock.png"/>
          <p:cNvPicPr>
            <a:picLocks noChangeAspect="1"/>
          </p:cNvPicPr>
          <p:nvPr/>
        </p:nvPicPr>
        <p:blipFill>
          <a:blip r:embed="rId4"/>
          <a:stretch>
            <a:fillRect/>
          </a:stretch>
        </p:blipFill>
        <p:spPr>
          <a:xfrm>
            <a:off x="11486451" y="3807371"/>
            <a:ext cx="134549" cy="195707"/>
          </a:xfrm>
          <a:prstGeom prst="rect">
            <a:avLst/>
          </a:prstGeom>
        </p:spPr>
      </p:pic>
      <p:sp>
        <p:nvSpPr>
          <p:cNvPr id="29" name="TextBox 28"/>
          <p:cNvSpPr txBox="1"/>
          <p:nvPr/>
        </p:nvSpPr>
        <p:spPr>
          <a:xfrm>
            <a:off x="6334125"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0" name="TextBox 29"/>
          <p:cNvSpPr txBox="1"/>
          <p:nvPr/>
        </p:nvSpPr>
        <p:spPr>
          <a:xfrm>
            <a:off x="6334125" y="4220692"/>
            <a:ext cx="4636808" cy="194310"/>
          </a:xfrm>
          <a:prstGeom prst="rect">
            <a:avLst/>
          </a:prstGeom>
          <a:noFill/>
        </p:spPr>
        <p:txBody>
          <a:bodyPr wrap="none" lIns="0" rIns="0" tIns="0" bIns="0">
            <a:spAutoFit/>
          </a:bodyPr>
          <a:lstStyle/>
          <a:p>
            <a:r>
              <a:rPr sz="1150" b="0">
                <a:solidFill>
                  <a:srgbClr val="2E2E2E"/>
                </a:solidFill>
                <a:latin typeface="Calibri"/>
              </a:rPr>
              <a:t>▪ 'Polyethylene (PE) Foam' shows the strongest forecast price appreciation (+</a:t>
            </a:r>
          </a:p>
        </p:txBody>
      </p:sp>
      <p:pic>
        <p:nvPicPr>
          <p:cNvPr id="31" name="Picture 30" descr="lock.png"/>
          <p:cNvPicPr>
            <a:picLocks noChangeAspect="1"/>
          </p:cNvPicPr>
          <p:nvPr/>
        </p:nvPicPr>
        <p:blipFill>
          <a:blip r:embed="rId4"/>
          <a:stretch>
            <a:fillRect/>
          </a:stretch>
        </p:blipFill>
        <p:spPr>
          <a:xfrm>
            <a:off x="10920087" y="4210469"/>
            <a:ext cx="134549" cy="195707"/>
          </a:xfrm>
          <a:prstGeom prst="rect">
            <a:avLst/>
          </a:prstGeom>
        </p:spPr>
      </p:pic>
      <p:sp>
        <p:nvSpPr>
          <p:cNvPr id="32" name="TextBox 31"/>
          <p:cNvSpPr txBox="1"/>
          <p:nvPr/>
        </p:nvSpPr>
        <p:spPr>
          <a:xfrm>
            <a:off x="11095196" y="4220692"/>
            <a:ext cx="651842" cy="194310"/>
          </a:xfrm>
          <a:prstGeom prst="rect">
            <a:avLst/>
          </a:prstGeom>
          <a:noFill/>
        </p:spPr>
        <p:txBody>
          <a:bodyPr wrap="none" lIns="0" rIns="0" tIns="0" bIns="0">
            <a:spAutoFit/>
          </a:bodyPr>
          <a:lstStyle/>
          <a:p>
            <a:r>
              <a:rPr sz="1150" b="0">
                <a:solidFill>
                  <a:srgbClr val="2E2E2E"/>
                </a:solidFill>
                <a:latin typeface="Calibri"/>
              </a:rPr>
              <a:t>) over the</a:t>
            </a:r>
          </a:p>
        </p:txBody>
      </p:sp>
      <p:sp>
        <p:nvSpPr>
          <p:cNvPr id="33" name="TextBox 32"/>
          <p:cNvSpPr txBox="1"/>
          <p:nvPr/>
        </p:nvSpPr>
        <p:spPr>
          <a:xfrm>
            <a:off x="6334125" y="4395952"/>
            <a:ext cx="562843" cy="194310"/>
          </a:xfrm>
          <a:prstGeom prst="rect">
            <a:avLst/>
          </a:prstGeom>
          <a:noFill/>
        </p:spPr>
        <p:txBody>
          <a:bodyPr wrap="none" lIns="0" rIns="0" tIns="0" bIns="0">
            <a:spAutoFit/>
          </a:bodyPr>
          <a:lstStyle/>
          <a:p>
            <a:r>
              <a:rPr sz="1150" b="0">
                <a:solidFill>
                  <a:srgbClr val="2E2E2E"/>
                </a:solidFill>
                <a:latin typeface="Calibri"/>
              </a:rPr>
              <a:t>horizon.</a:t>
            </a:r>
          </a:p>
        </p:txBody>
      </p:sp>
      <p:sp>
        <p:nvSpPr>
          <p:cNvPr id="34" name="TextBox 33"/>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5" name="TextBox 34"/>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6" name="TextBox 35"/>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37" name="TextBox 36"/>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Competitor Pricing Strategies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7" name="Rounded Rectangle 6"/>
          <p:cNvSpPr/>
          <p:nvPr/>
        </p:nvSpPr>
        <p:spPr>
          <a:xfrm>
            <a:off x="142875" y="1007261"/>
            <a:ext cx="769620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8" name="Rounded Rectangle 7"/>
          <p:cNvSpPr/>
          <p:nvPr/>
        </p:nvSpPr>
        <p:spPr>
          <a:xfrm>
            <a:off x="142875" y="1317574"/>
            <a:ext cx="769620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3774"/>
          <a:ext cx="7677150" cy="3619746"/>
        </p:xfrm>
        <a:graphic>
          <a:graphicData uri="http://schemas.openxmlformats.org/drawingml/2006/table">
            <a:tbl>
              <a:tblPr>
                <a:tableStyleId>{5C22544A-7EE6-4342-B048-85BDC9FD1C3A}</a:tableStyleId>
              </a:tblPr>
              <a:tblGrid>
                <a:gridCol w="3276412"/>
                <a:gridCol w="445385"/>
                <a:gridCol w="936329"/>
                <a:gridCol w="876518"/>
                <a:gridCol w="2142506"/>
              </a:tblGrid>
              <a:tr h="246126">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Tier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Position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ASP vs Peers</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Strategy Focus</a:t>
                      </a:r>
                      <a:endParaRPr sz="1100"/>
                    </a:p>
                  </a:txBody>
                  <a:tcPr marL="47625" marR="38100" marT="19050" marB="19050" anchor="ctr">
                    <a:solidFill>
                      <a:srgbClr val="EBF2F9"/>
                    </a:solidFill>
                  </a:tcPr>
                </a:tc>
              </a:tr>
              <a:tr h="562270">
                <a:tc>
                  <a:txBody>
                    <a:bodyPr wrap="none"/>
                    <a:lstStyle/>
                    <a:p>
                      <a:pPr algn="l"/>
                      <a:r>
                        <a:rPr sz="1100" b="1">
                          <a:solidFill>
                            <a:srgbClr val="2E2E2E"/>
                          </a:solidFill>
                          <a:latin typeface="Calibri"/>
                        </a:rPr>
                        <a:t>Sealed Air Corporation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Company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BOBST Group SA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BHS Corrugated Maschinen- und Anlagenbau GmbH</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BW Papersystems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Fosber Group</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5351641"/>
            <a:ext cx="7696200" cy="365074"/>
          </a:xfrm>
          <a:prstGeom prst="roundRect">
            <a:avLst>
              <a:gd name="adj" fmla="val 2087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2" name="Rounded Rectangle 11"/>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Competitive Pricing Themes</a:t>
            </a:r>
          </a:p>
        </p:txBody>
      </p:sp>
      <p:sp>
        <p:nvSpPr>
          <p:cNvPr id="14" name="Rectangle 13"/>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5080764" y="3086680"/>
            <a:ext cx="330041" cy="480060"/>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Value Chain &amp; Stakeholder Mapping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7" name="TextBox 6"/>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8" name="Right Arrow 7"/>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3" name="Oval 12"/>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19" name="Rounded Rectangle 18"/>
          <p:cNvSpPr/>
          <p:nvPr/>
        </p:nvSpPr>
        <p:spPr>
          <a:xfrm>
            <a:off x="457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2" name="TextBox 21"/>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3" name="TextBox 22"/>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4" name="TextBox 23"/>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5" name="Oval 24"/>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2" name="Rounded Rectangle 31"/>
          <p:cNvSpPr/>
          <p:nvPr/>
        </p:nvSpPr>
        <p:spPr>
          <a:xfrm>
            <a:off x="2743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5" name="TextBox 34"/>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6" name="TextBox 35"/>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37" name="TextBox 36"/>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38" name="Oval 37"/>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5" name="Rounded Rectangle 44"/>
          <p:cNvSpPr/>
          <p:nvPr/>
        </p:nvSpPr>
        <p:spPr>
          <a:xfrm>
            <a:off x="5029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48" name="TextBox 47"/>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49" name="TextBox 48"/>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0" name="TextBox 49"/>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1" name="Oval 50"/>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57" name="Rounded Rectangle 56"/>
          <p:cNvSpPr/>
          <p:nvPr/>
        </p:nvSpPr>
        <p:spPr>
          <a:xfrm>
            <a:off x="7315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0" name="TextBox 59"/>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1" name="TextBox 60"/>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2" name="TextBox 61"/>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3" name="Oval 62"/>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8" name="Rounded Rectangle 67"/>
          <p:cNvSpPr/>
          <p:nvPr/>
        </p:nvSpPr>
        <p:spPr>
          <a:xfrm>
            <a:off x="9601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1" name="TextBox 70"/>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2" name="TextBox 71"/>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3" name="Rounded Rectangle 72"/>
          <p:cNvSpPr/>
          <p:nvPr/>
        </p:nvSpPr>
        <p:spPr>
          <a:xfrm>
            <a:off x="381000" y="5315134"/>
            <a:ext cx="11430000" cy="1204744"/>
          </a:xfrm>
          <a:prstGeom prst="roundRect">
            <a:avLst>
              <a:gd name="adj" fmla="val 60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E2A5C"/>
                </a:solidFill>
                <a:latin typeface="Calibri"/>
              </a:rPr>
              <a:t>Value-Added Read-out</a:t>
            </a:r>
          </a:p>
        </p:txBody>
      </p:sp>
      <p:sp>
        <p:nvSpPr>
          <p:cNvPr id="75" name="Rectangle 74"/>
          <p:cNvSpPr/>
          <p:nvPr/>
        </p:nvSpPr>
        <p:spPr>
          <a:xfrm>
            <a:off x="514350" y="5625447"/>
            <a:ext cx="111633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77" name="Rectangle 7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9" name="Picture 78" descr="lock.png"/>
          <p:cNvPicPr>
            <a:picLocks noChangeAspect="1"/>
          </p:cNvPicPr>
          <p:nvPr/>
        </p:nvPicPr>
        <p:blipFill>
          <a:blip r:embed="rId4"/>
          <a:stretch>
            <a:fillRect/>
          </a:stretch>
        </p:blipFill>
        <p:spPr>
          <a:xfrm>
            <a:off x="1459650" y="2611256"/>
            <a:ext cx="128699" cy="187198"/>
          </a:xfrm>
          <a:prstGeom prst="rect">
            <a:avLst/>
          </a:prstGeom>
        </p:spPr>
      </p:pic>
      <p:pic>
        <p:nvPicPr>
          <p:cNvPr id="80" name="Picture 79" descr="lock.png"/>
          <p:cNvPicPr>
            <a:picLocks noChangeAspect="1"/>
          </p:cNvPicPr>
          <p:nvPr/>
        </p:nvPicPr>
        <p:blipFill>
          <a:blip r:embed="rId4"/>
          <a:stretch>
            <a:fillRect/>
          </a:stretch>
        </p:blipFill>
        <p:spPr>
          <a:xfrm>
            <a:off x="3745650" y="2611256"/>
            <a:ext cx="128699" cy="187198"/>
          </a:xfrm>
          <a:prstGeom prst="rect">
            <a:avLst/>
          </a:prstGeom>
        </p:spPr>
      </p:pic>
      <p:pic>
        <p:nvPicPr>
          <p:cNvPr id="81" name="Picture 80" descr="lock.png"/>
          <p:cNvPicPr>
            <a:picLocks noChangeAspect="1"/>
          </p:cNvPicPr>
          <p:nvPr/>
        </p:nvPicPr>
        <p:blipFill>
          <a:blip r:embed="rId4"/>
          <a:stretch>
            <a:fillRect/>
          </a:stretch>
        </p:blipFill>
        <p:spPr>
          <a:xfrm>
            <a:off x="6031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8317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10603650" y="2611256"/>
            <a:ext cx="128699" cy="187198"/>
          </a:xfrm>
          <a:prstGeom prst="rect">
            <a:avLst/>
          </a:prstGeom>
        </p:spPr>
      </p:pic>
      <p:sp>
        <p:nvSpPr>
          <p:cNvPr id="84" name="TextBox 83"/>
          <p:cNvSpPr txBox="1"/>
          <p:nvPr/>
        </p:nvSpPr>
        <p:spPr>
          <a:xfrm>
            <a:off x="514350" y="5717113"/>
            <a:ext cx="6848788" cy="153161"/>
          </a:xfrm>
          <a:prstGeom prst="rect">
            <a:avLst/>
          </a:prstGeom>
          <a:noFill/>
        </p:spPr>
        <p:txBody>
          <a:bodyPr wrap="none" lIns="0" rIns="0" tIns="0" bIns="0">
            <a:spAutoFit/>
          </a:bodyPr>
          <a:lstStyle/>
          <a:p>
            <a:r>
              <a:rPr sz="879" b="0">
                <a:solidFill>
                  <a:srgbClr val="2E2E2E"/>
                </a:solidFill>
                <a:latin typeface="Calibri"/>
              </a:rPr>
              <a:t>▪ The Foam Protective Packaging Market value chain runs from raw-material suppliers through manufacturers, distributors and retailers to end users.</a:t>
            </a:r>
          </a:p>
        </p:txBody>
      </p:sp>
      <p:sp>
        <p:nvSpPr>
          <p:cNvPr id="85" name="TextBox 84"/>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6" name="Picture 85" descr="lock.png"/>
          <p:cNvPicPr>
            <a:picLocks noChangeAspect="1"/>
          </p:cNvPicPr>
          <p:nvPr/>
        </p:nvPicPr>
        <p:blipFill>
          <a:blip r:embed="rId4"/>
          <a:stretch>
            <a:fillRect/>
          </a:stretch>
        </p:blipFill>
        <p:spPr>
          <a:xfrm>
            <a:off x="3566114" y="5883635"/>
            <a:ext cx="102959" cy="149758"/>
          </a:xfrm>
          <a:prstGeom prst="rect">
            <a:avLst/>
          </a:prstGeom>
        </p:spPr>
      </p:pic>
      <p:sp>
        <p:nvSpPr>
          <p:cNvPr id="87" name="TextBox 86"/>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88" name="TextBox 87"/>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89" name="TextBox 88"/>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Industry-Wide Operating Margin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Foam Protective Packaging Market Operating Margin by Region &amp; Node</a:t>
            </a:r>
          </a:p>
        </p:txBody>
      </p:sp>
      <p:graphicFrame>
        <p:nvGraphicFramePr>
          <p:cNvPr id="9" name="Table 8"/>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Node of Supply Chain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Operating Margin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Comparison to Parent Market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Notes</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81550"/>
            <a:ext cx="11906250" cy="1847850"/>
          </a:xfrm>
          <a:prstGeom prst="roundRect">
            <a:avLst>
              <a:gd name="adj" fmla="val 412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E2A5C"/>
                </a:solidFill>
                <a:latin typeface="Calibri"/>
              </a:rPr>
              <a:t>How to Read This</a:t>
            </a:r>
          </a:p>
        </p:txBody>
      </p:sp>
      <p:sp>
        <p:nvSpPr>
          <p:cNvPr id="13" name="Rectangle 12"/>
          <p:cNvSpPr/>
          <p:nvPr/>
        </p:nvSpPr>
        <p:spPr>
          <a:xfrm>
            <a:off x="276225" y="5105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Buyers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7" name="Rounded Rectangle 6"/>
          <p:cNvSpPr/>
          <p:nvPr/>
        </p:nvSpPr>
        <p:spPr>
          <a:xfrm>
            <a:off x="142875" y="981075"/>
            <a:ext cx="11906250" cy="3371850"/>
          </a:xfrm>
          <a:prstGeom prst="roundRect">
            <a:avLst>
              <a:gd name="adj" fmla="val 22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Foam Protective Packaging Market Buyers / End-User Assessment</a:t>
            </a:r>
          </a:p>
        </p:txBody>
      </p:sp>
      <p:graphicFrame>
        <p:nvGraphicFramePr>
          <p:cNvPr id="9" name="Table 8"/>
          <p:cNvGraphicFramePr>
            <a:graphicFrameLocks noGrp="1"/>
          </p:cNvGraphicFramePr>
          <p:nvPr/>
        </p:nvGraphicFramePr>
        <p:xfrm>
          <a:off x="152400" y="1238250"/>
          <a:ext cx="11890167" cy="2905122"/>
        </p:xfrm>
        <a:graphic>
          <a:graphicData uri="http://schemas.openxmlformats.org/drawingml/2006/table">
            <a:tbl>
              <a:tblPr>
                <a:tableStyleId>{5C22544A-7EE6-4342-B048-85BDC9FD1C3A}</a:tableStyleId>
              </a:tblPr>
              <a:tblGrid>
                <a:gridCol w="3294743"/>
                <a:gridCol w="1347810"/>
                <a:gridCol w="966021"/>
                <a:gridCol w="945578"/>
                <a:gridCol w="1240053"/>
                <a:gridCol w="959258"/>
                <a:gridCol w="834291"/>
                <a:gridCol w="934504"/>
                <a:gridCol w="1367909"/>
              </a:tblGrid>
              <a:tr h="438912">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square"/>
                    <a:lstStyle/>
                    <a:p>
                      <a:pPr algn="l"/>
                      <a:r>
                        <a:rPr sz="1100" b="1">
                          <a:solidFill>
                            <a:srgbClr val="0E2A5C"/>
                          </a:solidFill>
                          <a:latin typeface="Calibri"/>
                        </a:rPr>
                        <a:t>Buyer Category</a:t>
                      </a:r>
                      <a:endParaRPr sz="1100"/>
                    </a:p>
                  </a:txBody>
                  <a:tcPr marL="47625" marR="38100" marT="19050" marB="19050" anchor="ctr">
                    <a:solidFill>
                      <a:srgbClr val="EBF2F9"/>
                    </a:solidFill>
                  </a:tcPr>
                </a:tc>
                <a:tc>
                  <a:txBody>
                    <a:bodyPr wrap="square"/>
                    <a:lstStyle/>
                    <a:p>
                      <a:pPr algn="l"/>
                      <a:r>
                        <a:rPr sz="1100" b="1">
                          <a:solidFill>
                            <a:srgbClr val="0E2A5C"/>
                          </a:solidFill>
                          <a:latin typeface="Calibri"/>
                        </a:rPr>
                        <a:t>Buyer / End-User Type</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Procurement Vol.</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Avg Price (US$/MT)</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Revenue (US$ Mn)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Key Selection Factor</a:t>
                      </a:r>
                      <a:endParaRPr sz="1100"/>
                    </a:p>
                  </a:txBody>
                  <a:tcPr marL="47625" marR="38100" marT="19050" marB="19050" anchor="ctr">
                    <a:solidFill>
                      <a:srgbClr val="EBF2F9"/>
                    </a:solidFill>
                  </a:tcPr>
                </a:tc>
              </a:tr>
              <a:tr h="246621">
                <a:tc>
                  <a:txBody>
                    <a:bodyPr wrap="none"/>
                    <a:lstStyle/>
                    <a:p>
                      <a:pPr algn="l"/>
                      <a:r>
                        <a:rPr sz="1100" b="1">
                          <a:solidFill>
                            <a:srgbClr val="2E2E2E"/>
                          </a:solidFill>
                          <a:latin typeface="Calibri"/>
                        </a:rPr>
                        <a:t>Sealed Air Corporation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Company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BOBST Group SA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BHS Corrugated Maschinen- und Anlagenbau GmbH</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BW Papersystems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Colombia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Fosber Group</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Mitsubishi Heavy Industries Machinery Systems, Ltd.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EMBA Machinery AB</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Koenig &amp; Bauer Celmacch</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Göpfert Maschinen GmbH</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4862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E2A5C"/>
                </a:solidFill>
                <a:latin typeface="Calibri"/>
              </a:rPr>
              <a:t>Notes</a:t>
            </a:r>
          </a:p>
        </p:txBody>
      </p:sp>
      <p:sp>
        <p:nvSpPr>
          <p:cNvPr id="13" name="Rectangle 12"/>
          <p:cNvSpPr/>
          <p:nvPr/>
        </p:nvSpPr>
        <p:spPr>
          <a:xfrm>
            <a:off x="276225" y="48101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9118008" y="2643567"/>
            <a:ext cx="366712" cy="533400"/>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Dynamics by Region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7" name="TextBox 6"/>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8" name="Rectangle 7"/>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TextBox 9"/>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1" name="TextBox 10"/>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2" name="TextBox 11"/>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3" name="Rectangle 12"/>
          <p:cNvSpPr/>
          <p:nvPr/>
        </p:nvSpPr>
        <p:spPr>
          <a:xfrm>
            <a:off x="142875" y="1518365"/>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025" y="151836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5" name="TextBox 14"/>
          <p:cNvSpPr txBox="1"/>
          <p:nvPr/>
        </p:nvSpPr>
        <p:spPr>
          <a:xfrm>
            <a:off x="1724025" y="1545745"/>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5534025" y="1545745"/>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TextBox 16"/>
          <p:cNvSpPr txBox="1"/>
          <p:nvPr/>
        </p:nvSpPr>
        <p:spPr>
          <a:xfrm>
            <a:off x="8391525" y="1545745"/>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2029468"/>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0025" y="2029468"/>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0" name="TextBox 19"/>
          <p:cNvSpPr txBox="1"/>
          <p:nvPr/>
        </p:nvSpPr>
        <p:spPr>
          <a:xfrm>
            <a:off x="1724025" y="205684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5534025" y="205684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TextBox 21"/>
          <p:cNvSpPr txBox="1"/>
          <p:nvPr/>
        </p:nvSpPr>
        <p:spPr>
          <a:xfrm>
            <a:off x="8391525" y="205684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3" name="Rectangle 22"/>
          <p:cNvSpPr/>
          <p:nvPr/>
        </p:nvSpPr>
        <p:spPr>
          <a:xfrm>
            <a:off x="142875" y="2540572"/>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0025" y="254057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5" name="TextBox 24"/>
          <p:cNvSpPr txBox="1"/>
          <p:nvPr/>
        </p:nvSpPr>
        <p:spPr>
          <a:xfrm>
            <a:off x="1724025" y="2567952"/>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TextBox 25"/>
          <p:cNvSpPr txBox="1"/>
          <p:nvPr/>
        </p:nvSpPr>
        <p:spPr>
          <a:xfrm>
            <a:off x="5534025" y="2567952"/>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27" name="TextBox 26"/>
          <p:cNvSpPr txBox="1"/>
          <p:nvPr/>
        </p:nvSpPr>
        <p:spPr>
          <a:xfrm>
            <a:off x="8391525" y="2567952"/>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8" name="Rectangle 27"/>
          <p:cNvSpPr/>
          <p:nvPr/>
        </p:nvSpPr>
        <p:spPr>
          <a:xfrm>
            <a:off x="142875" y="3051675"/>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0025" y="3051675"/>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0" name="TextBox 29"/>
          <p:cNvSpPr txBox="1"/>
          <p:nvPr/>
        </p:nvSpPr>
        <p:spPr>
          <a:xfrm>
            <a:off x="1724025" y="3079056"/>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TextBox 30"/>
          <p:cNvSpPr txBox="1"/>
          <p:nvPr/>
        </p:nvSpPr>
        <p:spPr>
          <a:xfrm>
            <a:off x="5534025" y="3079056"/>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8391525" y="3079056"/>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Rectangle 32"/>
          <p:cNvSpPr/>
          <p:nvPr/>
        </p:nvSpPr>
        <p:spPr>
          <a:xfrm>
            <a:off x="142875" y="3562779"/>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0025" y="3562779"/>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5" name="TextBox 34"/>
          <p:cNvSpPr txBox="1"/>
          <p:nvPr/>
        </p:nvSpPr>
        <p:spPr>
          <a:xfrm>
            <a:off x="1724025" y="3590159"/>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534025" y="3590159"/>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91525" y="3590159"/>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Rectangle 37"/>
          <p:cNvSpPr/>
          <p:nvPr/>
        </p:nvSpPr>
        <p:spPr>
          <a:xfrm>
            <a:off x="142875" y="4073882"/>
            <a:ext cx="11906250" cy="511104"/>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0025" y="4073882"/>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and Africa</a:t>
            </a:r>
          </a:p>
        </p:txBody>
      </p:sp>
      <p:sp>
        <p:nvSpPr>
          <p:cNvPr id="40" name="TextBox 39"/>
          <p:cNvSpPr txBox="1"/>
          <p:nvPr/>
        </p:nvSpPr>
        <p:spPr>
          <a:xfrm>
            <a:off x="1724025" y="4101263"/>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5534025" y="4101263"/>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TextBox 41"/>
          <p:cNvSpPr txBox="1"/>
          <p:nvPr/>
        </p:nvSpPr>
        <p:spPr>
          <a:xfrm>
            <a:off x="8391525" y="4101263"/>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3" name="Connector 42"/>
          <p:cNvCxnSpPr/>
          <p:nvPr/>
        </p:nvCxnSpPr>
        <p:spPr>
          <a:xfrm>
            <a:off x="142875" y="4584986"/>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00025" y="4603240"/>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TMR Analysis, 2026</a:t>
            </a:r>
          </a:p>
        </p:txBody>
      </p:sp>
      <p:sp>
        <p:nvSpPr>
          <p:cNvPr id="45" name="Rounded Rectangle 44"/>
          <p:cNvSpPr/>
          <p:nvPr/>
        </p:nvSpPr>
        <p:spPr>
          <a:xfrm>
            <a:off x="142875" y="4858791"/>
            <a:ext cx="11906250" cy="994827"/>
          </a:xfrm>
          <a:prstGeom prst="roundRect">
            <a:avLst>
              <a:gd name="adj" fmla="val 479"/>
            </a:avLst>
          </a:prstGeom>
          <a:solidFill>
            <a:srgbClr val="FFFFFF"/>
          </a:solidFill>
          <a:ln w="1270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6225" y="4895299"/>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47" name="Connector 46"/>
          <p:cNvCxnSpPr/>
          <p:nvPr/>
        </p:nvCxnSpPr>
        <p:spPr>
          <a:xfrm>
            <a:off x="276225" y="5132597"/>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76225" y="5187358"/>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Rectangle 4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1" name="TextBox 50"/>
          <p:cNvSpPr txBox="1"/>
          <p:nvPr/>
        </p:nvSpPr>
        <p:spPr>
          <a:xfrm>
            <a:off x="1752600" y="16062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2" name="Picture 51" descr="lock.png"/>
          <p:cNvPicPr>
            <a:picLocks noChangeAspect="1"/>
          </p:cNvPicPr>
          <p:nvPr/>
        </p:nvPicPr>
        <p:blipFill>
          <a:blip r:embed="rId4"/>
          <a:stretch>
            <a:fillRect/>
          </a:stretch>
        </p:blipFill>
        <p:spPr>
          <a:xfrm>
            <a:off x="2438789" y="1596497"/>
            <a:ext cx="128699" cy="187198"/>
          </a:xfrm>
          <a:prstGeom prst="rect">
            <a:avLst/>
          </a:prstGeom>
        </p:spPr>
      </p:pic>
      <p:sp>
        <p:nvSpPr>
          <p:cNvPr id="53" name="TextBox 52"/>
          <p:cNvSpPr txBox="1"/>
          <p:nvPr/>
        </p:nvSpPr>
        <p:spPr>
          <a:xfrm>
            <a:off x="2606285" y="1606276"/>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4" name="Picture 53" descr="lock.png"/>
          <p:cNvPicPr>
            <a:picLocks noChangeAspect="1"/>
          </p:cNvPicPr>
          <p:nvPr/>
        </p:nvPicPr>
        <p:blipFill>
          <a:blip r:embed="rId4"/>
          <a:stretch>
            <a:fillRect/>
          </a:stretch>
        </p:blipFill>
        <p:spPr>
          <a:xfrm>
            <a:off x="4110756" y="1596497"/>
            <a:ext cx="128699" cy="187198"/>
          </a:xfrm>
          <a:prstGeom prst="rect">
            <a:avLst/>
          </a:prstGeom>
        </p:spPr>
      </p:pic>
      <p:sp>
        <p:nvSpPr>
          <p:cNvPr id="55" name="TextBox 54"/>
          <p:cNvSpPr txBox="1"/>
          <p:nvPr/>
        </p:nvSpPr>
        <p:spPr>
          <a:xfrm>
            <a:off x="4278252" y="1606276"/>
            <a:ext cx="835528" cy="186689"/>
          </a:xfrm>
          <a:prstGeom prst="rect">
            <a:avLst/>
          </a:prstGeom>
          <a:noFill/>
        </p:spPr>
        <p:txBody>
          <a:bodyPr wrap="none" lIns="0" rIns="0" tIns="0" bIns="0">
            <a:spAutoFit/>
          </a:bodyPr>
          <a:lstStyle/>
          <a:p>
            <a:r>
              <a:rPr sz="1100" b="0">
                <a:solidFill>
                  <a:srgbClr val="2E2E2E"/>
                </a:solidFill>
                <a:latin typeface="Calibri"/>
              </a:rPr>
              <a:t>CAGR), Other</a:t>
            </a:r>
          </a:p>
        </p:txBody>
      </p:sp>
      <p:sp>
        <p:nvSpPr>
          <p:cNvPr id="56" name="TextBox 55"/>
          <p:cNvSpPr txBox="1"/>
          <p:nvPr/>
        </p:nvSpPr>
        <p:spPr>
          <a:xfrm>
            <a:off x="1752600" y="1773915"/>
            <a:ext cx="2841520" cy="186689"/>
          </a:xfrm>
          <a:prstGeom prst="rect">
            <a:avLst/>
          </a:prstGeom>
          <a:noFill/>
        </p:spPr>
        <p:txBody>
          <a:bodyPr wrap="none" lIns="0" rIns="0" tIns="0" bIns="0">
            <a:spAutoFit/>
          </a:bodyPr>
          <a:lstStyle/>
          <a:p>
            <a:r>
              <a:rPr sz="1100" b="0">
                <a:solidFill>
                  <a:srgbClr val="2E2E2E"/>
                </a:solidFill>
                <a:latin typeface="Calibri"/>
              </a:rPr>
              <a:t>Foam Materials demand, Accelerating vs history.</a:t>
            </a:r>
          </a:p>
        </p:txBody>
      </p:sp>
      <p:sp>
        <p:nvSpPr>
          <p:cNvPr id="57" name="TextBox 56"/>
          <p:cNvSpPr txBox="1"/>
          <p:nvPr/>
        </p:nvSpPr>
        <p:spPr>
          <a:xfrm>
            <a:off x="5562600" y="1606276"/>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58" name="Picture 57" descr="lock.png"/>
          <p:cNvPicPr>
            <a:picLocks noChangeAspect="1"/>
          </p:cNvPicPr>
          <p:nvPr/>
        </p:nvPicPr>
        <p:blipFill>
          <a:blip r:embed="rId4"/>
          <a:stretch>
            <a:fillRect/>
          </a:stretch>
        </p:blipFill>
        <p:spPr>
          <a:xfrm>
            <a:off x="6797766" y="1596497"/>
            <a:ext cx="128699" cy="187198"/>
          </a:xfrm>
          <a:prstGeom prst="rect">
            <a:avLst/>
          </a:prstGeom>
        </p:spPr>
      </p:pic>
      <p:sp>
        <p:nvSpPr>
          <p:cNvPr id="59" name="TextBox 58"/>
          <p:cNvSpPr txBox="1"/>
          <p:nvPr/>
        </p:nvSpPr>
        <p:spPr>
          <a:xfrm>
            <a:off x="6965262" y="1606276"/>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0" name="TextBox 59"/>
          <p:cNvSpPr txBox="1"/>
          <p:nvPr/>
        </p:nvSpPr>
        <p:spPr>
          <a:xfrm>
            <a:off x="5562600" y="1773915"/>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1" name="Picture 60" descr="lock.png"/>
          <p:cNvPicPr>
            <a:picLocks noChangeAspect="1"/>
          </p:cNvPicPr>
          <p:nvPr/>
        </p:nvPicPr>
        <p:blipFill>
          <a:blip r:embed="rId4"/>
          <a:stretch>
            <a:fillRect/>
          </a:stretch>
        </p:blipFill>
        <p:spPr>
          <a:xfrm>
            <a:off x="6258066" y="1764137"/>
            <a:ext cx="128699" cy="187198"/>
          </a:xfrm>
          <a:prstGeom prst="rect">
            <a:avLst/>
          </a:prstGeom>
        </p:spPr>
      </p:pic>
      <p:sp>
        <p:nvSpPr>
          <p:cNvPr id="62" name="TextBox 61"/>
          <p:cNvSpPr txBox="1"/>
          <p:nvPr/>
        </p:nvSpPr>
        <p:spPr>
          <a:xfrm>
            <a:off x="6425562" y="177391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3" name="TextBox 62"/>
          <p:cNvSpPr txBox="1"/>
          <p:nvPr/>
        </p:nvSpPr>
        <p:spPr>
          <a:xfrm>
            <a:off x="8420100" y="1606276"/>
            <a:ext cx="2212082" cy="186689"/>
          </a:xfrm>
          <a:prstGeom prst="rect">
            <a:avLst/>
          </a:prstGeom>
          <a:noFill/>
        </p:spPr>
        <p:txBody>
          <a:bodyPr wrap="none" lIns="0" rIns="0" tIns="0" bIns="0">
            <a:spAutoFit/>
          </a:bodyPr>
          <a:lstStyle/>
          <a:p>
            <a:r>
              <a:rPr sz="1100" b="0">
                <a:solidFill>
                  <a:srgbClr val="2E2E2E"/>
                </a:solidFill>
                <a:latin typeface="Calibri"/>
              </a:rPr>
              <a:t>Scale Expanded Polypropylene (EPP) (</a:t>
            </a:r>
          </a:p>
        </p:txBody>
      </p:sp>
      <p:pic>
        <p:nvPicPr>
          <p:cNvPr id="64" name="Picture 63" descr="lock.png"/>
          <p:cNvPicPr>
            <a:picLocks noChangeAspect="1"/>
          </p:cNvPicPr>
          <p:nvPr/>
        </p:nvPicPr>
        <p:blipFill>
          <a:blip r:embed="rId4"/>
          <a:stretch>
            <a:fillRect/>
          </a:stretch>
        </p:blipFill>
        <p:spPr>
          <a:xfrm>
            <a:off x="10580233" y="1596497"/>
            <a:ext cx="128699" cy="187198"/>
          </a:xfrm>
          <a:prstGeom prst="rect">
            <a:avLst/>
          </a:prstGeom>
        </p:spPr>
      </p:pic>
      <p:sp>
        <p:nvSpPr>
          <p:cNvPr id="65" name="TextBox 64"/>
          <p:cNvSpPr txBox="1"/>
          <p:nvPr/>
        </p:nvSpPr>
        <p:spPr>
          <a:xfrm>
            <a:off x="10747729" y="1606276"/>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6" name="Picture 65" descr="lock.png"/>
          <p:cNvPicPr>
            <a:picLocks noChangeAspect="1"/>
          </p:cNvPicPr>
          <p:nvPr/>
        </p:nvPicPr>
        <p:blipFill>
          <a:blip r:embed="rId4"/>
          <a:stretch>
            <a:fillRect/>
          </a:stretch>
        </p:blipFill>
        <p:spPr>
          <a:xfrm>
            <a:off x="10849198" y="1596497"/>
            <a:ext cx="128699" cy="187198"/>
          </a:xfrm>
          <a:prstGeom prst="rect">
            <a:avLst/>
          </a:prstGeom>
        </p:spPr>
      </p:pic>
      <p:sp>
        <p:nvSpPr>
          <p:cNvPr id="67" name="TextBox 66"/>
          <p:cNvSpPr txBox="1"/>
          <p:nvPr/>
        </p:nvSpPr>
        <p:spPr>
          <a:xfrm>
            <a:off x="11016693" y="1606276"/>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68" name="TextBox 67"/>
          <p:cNvSpPr txBox="1"/>
          <p:nvPr/>
        </p:nvSpPr>
        <p:spPr>
          <a:xfrm>
            <a:off x="8420100" y="1773915"/>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69" name="TextBox 68"/>
          <p:cNvSpPr txBox="1"/>
          <p:nvPr/>
        </p:nvSpPr>
        <p:spPr>
          <a:xfrm>
            <a:off x="1752600" y="2117380"/>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0" name="Picture 69" descr="lock.png"/>
          <p:cNvPicPr>
            <a:picLocks noChangeAspect="1"/>
          </p:cNvPicPr>
          <p:nvPr/>
        </p:nvPicPr>
        <p:blipFill>
          <a:blip r:embed="rId4"/>
          <a:stretch>
            <a:fillRect/>
          </a:stretch>
        </p:blipFill>
        <p:spPr>
          <a:xfrm>
            <a:off x="2438789" y="2107601"/>
            <a:ext cx="128699" cy="187198"/>
          </a:xfrm>
          <a:prstGeom prst="rect">
            <a:avLst/>
          </a:prstGeom>
        </p:spPr>
      </p:pic>
      <p:sp>
        <p:nvSpPr>
          <p:cNvPr id="71" name="TextBox 70"/>
          <p:cNvSpPr txBox="1"/>
          <p:nvPr/>
        </p:nvSpPr>
        <p:spPr>
          <a:xfrm>
            <a:off x="2606285" y="2117380"/>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2" name="Picture 71" descr="lock.png"/>
          <p:cNvPicPr>
            <a:picLocks noChangeAspect="1"/>
          </p:cNvPicPr>
          <p:nvPr/>
        </p:nvPicPr>
        <p:blipFill>
          <a:blip r:embed="rId4"/>
          <a:stretch>
            <a:fillRect/>
          </a:stretch>
        </p:blipFill>
        <p:spPr>
          <a:xfrm>
            <a:off x="4237905" y="2107601"/>
            <a:ext cx="128699" cy="187198"/>
          </a:xfrm>
          <a:prstGeom prst="rect">
            <a:avLst/>
          </a:prstGeom>
        </p:spPr>
      </p:pic>
      <p:sp>
        <p:nvSpPr>
          <p:cNvPr id="73" name="TextBox 72"/>
          <p:cNvSpPr txBox="1"/>
          <p:nvPr/>
        </p:nvSpPr>
        <p:spPr>
          <a:xfrm>
            <a:off x="4405401" y="2117380"/>
            <a:ext cx="864165" cy="186689"/>
          </a:xfrm>
          <a:prstGeom prst="rect">
            <a:avLst/>
          </a:prstGeom>
          <a:noFill/>
        </p:spPr>
        <p:txBody>
          <a:bodyPr wrap="none" lIns="0" rIns="0" tIns="0" bIns="0">
            <a:spAutoFit/>
          </a:bodyPr>
          <a:lstStyle/>
          <a:p>
            <a:r>
              <a:rPr sz="1100" b="0">
                <a:solidFill>
                  <a:srgbClr val="2E2E2E"/>
                </a:solidFill>
                <a:latin typeface="Calibri"/>
              </a:rPr>
              <a:t>), Other Foam</a:t>
            </a:r>
          </a:p>
        </p:txBody>
      </p:sp>
      <p:sp>
        <p:nvSpPr>
          <p:cNvPr id="74" name="TextBox 73"/>
          <p:cNvSpPr txBox="1"/>
          <p:nvPr/>
        </p:nvSpPr>
        <p:spPr>
          <a:xfrm>
            <a:off x="1752600" y="2285020"/>
            <a:ext cx="2493664" cy="186689"/>
          </a:xfrm>
          <a:prstGeom prst="rect">
            <a:avLst/>
          </a:prstGeom>
          <a:noFill/>
        </p:spPr>
        <p:txBody>
          <a:bodyPr wrap="none" lIns="0" rIns="0" tIns="0" bIns="0">
            <a:spAutoFit/>
          </a:bodyPr>
          <a:lstStyle/>
          <a:p>
            <a:r>
              <a:rPr sz="1100" b="0">
                <a:solidFill>
                  <a:srgbClr val="2E2E2E"/>
                </a:solidFill>
                <a:latin typeface="Calibri"/>
              </a:rPr>
              <a:t>Materials demand, Accelerating vs history.</a:t>
            </a:r>
          </a:p>
        </p:txBody>
      </p:sp>
      <p:sp>
        <p:nvSpPr>
          <p:cNvPr id="75" name="TextBox 74"/>
          <p:cNvSpPr txBox="1"/>
          <p:nvPr/>
        </p:nvSpPr>
        <p:spPr>
          <a:xfrm>
            <a:off x="5562600" y="2201200"/>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6" name="Picture 75" descr="lock.png"/>
          <p:cNvPicPr>
            <a:picLocks noChangeAspect="1"/>
          </p:cNvPicPr>
          <p:nvPr/>
        </p:nvPicPr>
        <p:blipFill>
          <a:blip r:embed="rId4"/>
          <a:stretch>
            <a:fillRect/>
          </a:stretch>
        </p:blipFill>
        <p:spPr>
          <a:xfrm>
            <a:off x="6623687" y="2191421"/>
            <a:ext cx="128699" cy="187198"/>
          </a:xfrm>
          <a:prstGeom prst="rect">
            <a:avLst/>
          </a:prstGeom>
        </p:spPr>
      </p:pic>
      <p:sp>
        <p:nvSpPr>
          <p:cNvPr id="77" name="TextBox 76"/>
          <p:cNvSpPr txBox="1"/>
          <p:nvPr/>
        </p:nvSpPr>
        <p:spPr>
          <a:xfrm>
            <a:off x="6791183" y="22012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78" name="TextBox 77"/>
          <p:cNvSpPr txBox="1"/>
          <p:nvPr/>
        </p:nvSpPr>
        <p:spPr>
          <a:xfrm>
            <a:off x="8420100" y="2117380"/>
            <a:ext cx="2212082" cy="186689"/>
          </a:xfrm>
          <a:prstGeom prst="rect">
            <a:avLst/>
          </a:prstGeom>
          <a:noFill/>
        </p:spPr>
        <p:txBody>
          <a:bodyPr wrap="none" lIns="0" rIns="0" tIns="0" bIns="0">
            <a:spAutoFit/>
          </a:bodyPr>
          <a:lstStyle/>
          <a:p>
            <a:r>
              <a:rPr sz="1100" b="0">
                <a:solidFill>
                  <a:srgbClr val="2E2E2E"/>
                </a:solidFill>
                <a:latin typeface="Calibri"/>
              </a:rPr>
              <a:t>Scale Expanded Polypropylene (EPP) (</a:t>
            </a:r>
          </a:p>
        </p:txBody>
      </p:sp>
      <p:pic>
        <p:nvPicPr>
          <p:cNvPr id="79" name="Picture 78" descr="lock.png"/>
          <p:cNvPicPr>
            <a:picLocks noChangeAspect="1"/>
          </p:cNvPicPr>
          <p:nvPr/>
        </p:nvPicPr>
        <p:blipFill>
          <a:blip r:embed="rId4"/>
          <a:stretch>
            <a:fillRect/>
          </a:stretch>
        </p:blipFill>
        <p:spPr>
          <a:xfrm>
            <a:off x="10580233" y="2107601"/>
            <a:ext cx="128699" cy="187198"/>
          </a:xfrm>
          <a:prstGeom prst="rect">
            <a:avLst/>
          </a:prstGeom>
        </p:spPr>
      </p:pic>
      <p:sp>
        <p:nvSpPr>
          <p:cNvPr id="80" name="TextBox 79"/>
          <p:cNvSpPr txBox="1"/>
          <p:nvPr/>
        </p:nvSpPr>
        <p:spPr>
          <a:xfrm>
            <a:off x="10747729" y="2117380"/>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1" name="Picture 80" descr="lock.png"/>
          <p:cNvPicPr>
            <a:picLocks noChangeAspect="1"/>
          </p:cNvPicPr>
          <p:nvPr/>
        </p:nvPicPr>
        <p:blipFill>
          <a:blip r:embed="rId4"/>
          <a:stretch>
            <a:fillRect/>
          </a:stretch>
        </p:blipFill>
        <p:spPr>
          <a:xfrm>
            <a:off x="10849198" y="2107601"/>
            <a:ext cx="128699" cy="187198"/>
          </a:xfrm>
          <a:prstGeom prst="rect">
            <a:avLst/>
          </a:prstGeom>
        </p:spPr>
      </p:pic>
      <p:sp>
        <p:nvSpPr>
          <p:cNvPr id="82" name="TextBox 81"/>
          <p:cNvSpPr txBox="1"/>
          <p:nvPr/>
        </p:nvSpPr>
        <p:spPr>
          <a:xfrm>
            <a:off x="11016693" y="2117380"/>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83" name="TextBox 82"/>
          <p:cNvSpPr txBox="1"/>
          <p:nvPr/>
        </p:nvSpPr>
        <p:spPr>
          <a:xfrm>
            <a:off x="8420100" y="2285020"/>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84" name="TextBox 83"/>
          <p:cNvSpPr txBox="1"/>
          <p:nvPr/>
        </p:nvSpPr>
        <p:spPr>
          <a:xfrm>
            <a:off x="1752600" y="2628483"/>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5" name="Picture 84" descr="lock.png"/>
          <p:cNvPicPr>
            <a:picLocks noChangeAspect="1"/>
          </p:cNvPicPr>
          <p:nvPr/>
        </p:nvPicPr>
        <p:blipFill>
          <a:blip r:embed="rId4"/>
          <a:stretch>
            <a:fillRect/>
          </a:stretch>
        </p:blipFill>
        <p:spPr>
          <a:xfrm>
            <a:off x="2438789" y="2618704"/>
            <a:ext cx="128699" cy="187198"/>
          </a:xfrm>
          <a:prstGeom prst="rect">
            <a:avLst/>
          </a:prstGeom>
        </p:spPr>
      </p:pic>
      <p:sp>
        <p:nvSpPr>
          <p:cNvPr id="86" name="TextBox 85"/>
          <p:cNvSpPr txBox="1"/>
          <p:nvPr/>
        </p:nvSpPr>
        <p:spPr>
          <a:xfrm>
            <a:off x="2606285" y="2628483"/>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7" name="Picture 86" descr="lock.png"/>
          <p:cNvPicPr>
            <a:picLocks noChangeAspect="1"/>
          </p:cNvPicPr>
          <p:nvPr/>
        </p:nvPicPr>
        <p:blipFill>
          <a:blip r:embed="rId4"/>
          <a:stretch>
            <a:fillRect/>
          </a:stretch>
        </p:blipFill>
        <p:spPr>
          <a:xfrm>
            <a:off x="4237905" y="2618704"/>
            <a:ext cx="128699" cy="187198"/>
          </a:xfrm>
          <a:prstGeom prst="rect">
            <a:avLst/>
          </a:prstGeom>
        </p:spPr>
      </p:pic>
      <p:sp>
        <p:nvSpPr>
          <p:cNvPr id="88" name="TextBox 87"/>
          <p:cNvSpPr txBox="1"/>
          <p:nvPr/>
        </p:nvSpPr>
        <p:spPr>
          <a:xfrm>
            <a:off x="4405401" y="2628483"/>
            <a:ext cx="864165" cy="186689"/>
          </a:xfrm>
          <a:prstGeom prst="rect">
            <a:avLst/>
          </a:prstGeom>
          <a:noFill/>
        </p:spPr>
        <p:txBody>
          <a:bodyPr wrap="none" lIns="0" rIns="0" tIns="0" bIns="0">
            <a:spAutoFit/>
          </a:bodyPr>
          <a:lstStyle/>
          <a:p>
            <a:r>
              <a:rPr sz="1100" b="0">
                <a:solidFill>
                  <a:srgbClr val="2E2E2E"/>
                </a:solidFill>
                <a:latin typeface="Calibri"/>
              </a:rPr>
              <a:t>), Other Foam</a:t>
            </a:r>
          </a:p>
        </p:txBody>
      </p:sp>
      <p:sp>
        <p:nvSpPr>
          <p:cNvPr id="89" name="TextBox 88"/>
          <p:cNvSpPr txBox="1"/>
          <p:nvPr/>
        </p:nvSpPr>
        <p:spPr>
          <a:xfrm>
            <a:off x="1752600" y="2796123"/>
            <a:ext cx="2493664" cy="186689"/>
          </a:xfrm>
          <a:prstGeom prst="rect">
            <a:avLst/>
          </a:prstGeom>
          <a:noFill/>
        </p:spPr>
        <p:txBody>
          <a:bodyPr wrap="none" lIns="0" rIns="0" tIns="0" bIns="0">
            <a:spAutoFit/>
          </a:bodyPr>
          <a:lstStyle/>
          <a:p>
            <a:r>
              <a:rPr sz="1100" b="0">
                <a:solidFill>
                  <a:srgbClr val="2E2E2E"/>
                </a:solidFill>
                <a:latin typeface="Calibri"/>
              </a:rPr>
              <a:t>Materials demand, Accelerating vs history.</a:t>
            </a:r>
          </a:p>
        </p:txBody>
      </p:sp>
      <p:sp>
        <p:nvSpPr>
          <p:cNvPr id="90" name="TextBox 89"/>
          <p:cNvSpPr txBox="1"/>
          <p:nvPr/>
        </p:nvSpPr>
        <p:spPr>
          <a:xfrm>
            <a:off x="8420100" y="2628483"/>
            <a:ext cx="2212082" cy="186689"/>
          </a:xfrm>
          <a:prstGeom prst="rect">
            <a:avLst/>
          </a:prstGeom>
          <a:noFill/>
        </p:spPr>
        <p:txBody>
          <a:bodyPr wrap="none" lIns="0" rIns="0" tIns="0" bIns="0">
            <a:spAutoFit/>
          </a:bodyPr>
          <a:lstStyle/>
          <a:p>
            <a:r>
              <a:rPr sz="1100" b="0">
                <a:solidFill>
                  <a:srgbClr val="2E2E2E"/>
                </a:solidFill>
                <a:latin typeface="Calibri"/>
              </a:rPr>
              <a:t>Scale Expanded Polypropylene (EPP) (</a:t>
            </a:r>
          </a:p>
        </p:txBody>
      </p:sp>
      <p:pic>
        <p:nvPicPr>
          <p:cNvPr id="91" name="Picture 90" descr="lock.png"/>
          <p:cNvPicPr>
            <a:picLocks noChangeAspect="1"/>
          </p:cNvPicPr>
          <p:nvPr/>
        </p:nvPicPr>
        <p:blipFill>
          <a:blip r:embed="rId4"/>
          <a:stretch>
            <a:fillRect/>
          </a:stretch>
        </p:blipFill>
        <p:spPr>
          <a:xfrm>
            <a:off x="10580233" y="2618704"/>
            <a:ext cx="128699" cy="187198"/>
          </a:xfrm>
          <a:prstGeom prst="rect">
            <a:avLst/>
          </a:prstGeom>
        </p:spPr>
      </p:pic>
      <p:sp>
        <p:nvSpPr>
          <p:cNvPr id="92" name="TextBox 91"/>
          <p:cNvSpPr txBox="1"/>
          <p:nvPr/>
        </p:nvSpPr>
        <p:spPr>
          <a:xfrm>
            <a:off x="10747729" y="2628483"/>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3" name="Picture 92" descr="lock.png"/>
          <p:cNvPicPr>
            <a:picLocks noChangeAspect="1"/>
          </p:cNvPicPr>
          <p:nvPr/>
        </p:nvPicPr>
        <p:blipFill>
          <a:blip r:embed="rId4"/>
          <a:stretch>
            <a:fillRect/>
          </a:stretch>
        </p:blipFill>
        <p:spPr>
          <a:xfrm>
            <a:off x="10849198" y="2618704"/>
            <a:ext cx="128699" cy="187198"/>
          </a:xfrm>
          <a:prstGeom prst="rect">
            <a:avLst/>
          </a:prstGeom>
        </p:spPr>
      </p:pic>
      <p:sp>
        <p:nvSpPr>
          <p:cNvPr id="94" name="TextBox 93"/>
          <p:cNvSpPr txBox="1"/>
          <p:nvPr/>
        </p:nvSpPr>
        <p:spPr>
          <a:xfrm>
            <a:off x="11016693" y="2628483"/>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95" name="TextBox 94"/>
          <p:cNvSpPr txBox="1"/>
          <p:nvPr/>
        </p:nvSpPr>
        <p:spPr>
          <a:xfrm>
            <a:off x="8420100" y="2796123"/>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96" name="TextBox 95"/>
          <p:cNvSpPr txBox="1"/>
          <p:nvPr/>
        </p:nvSpPr>
        <p:spPr>
          <a:xfrm>
            <a:off x="1752600" y="3139587"/>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7" name="Picture 96" descr="lock.png"/>
          <p:cNvPicPr>
            <a:picLocks noChangeAspect="1"/>
          </p:cNvPicPr>
          <p:nvPr/>
        </p:nvPicPr>
        <p:blipFill>
          <a:blip r:embed="rId4"/>
          <a:stretch>
            <a:fillRect/>
          </a:stretch>
        </p:blipFill>
        <p:spPr>
          <a:xfrm>
            <a:off x="2834969" y="3129808"/>
            <a:ext cx="128699" cy="187198"/>
          </a:xfrm>
          <a:prstGeom prst="rect">
            <a:avLst/>
          </a:prstGeom>
        </p:spPr>
      </p:pic>
      <p:sp>
        <p:nvSpPr>
          <p:cNvPr id="98" name="TextBox 97"/>
          <p:cNvSpPr txBox="1"/>
          <p:nvPr/>
        </p:nvSpPr>
        <p:spPr>
          <a:xfrm>
            <a:off x="3002465" y="3139587"/>
            <a:ext cx="2287342" cy="186689"/>
          </a:xfrm>
          <a:prstGeom prst="rect">
            <a:avLst/>
          </a:prstGeom>
          <a:noFill/>
        </p:spPr>
        <p:txBody>
          <a:bodyPr wrap="none" lIns="0" rIns="0" tIns="0" bIns="0">
            <a:spAutoFit/>
          </a:bodyPr>
          <a:lstStyle/>
          <a:p>
            <a:r>
              <a:rPr sz="1100" b="0">
                <a:solidFill>
                  <a:srgbClr val="2E2E2E"/>
                </a:solidFill>
                <a:latin typeface="Calibri"/>
              </a:rPr>
              <a:t>CAGR), Other Foam Materials demand,</a:t>
            </a:r>
          </a:p>
        </p:txBody>
      </p:sp>
      <p:sp>
        <p:nvSpPr>
          <p:cNvPr id="99" name="TextBox 98"/>
          <p:cNvSpPr txBox="1"/>
          <p:nvPr/>
        </p:nvSpPr>
        <p:spPr>
          <a:xfrm>
            <a:off x="1752600" y="3307227"/>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00" name="TextBox 99"/>
          <p:cNvSpPr txBox="1"/>
          <p:nvPr/>
        </p:nvSpPr>
        <p:spPr>
          <a:xfrm>
            <a:off x="5562600" y="3223407"/>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1" name="Picture 100" descr="lock.png"/>
          <p:cNvPicPr>
            <a:picLocks noChangeAspect="1"/>
          </p:cNvPicPr>
          <p:nvPr/>
        </p:nvPicPr>
        <p:blipFill>
          <a:blip r:embed="rId4"/>
          <a:stretch>
            <a:fillRect/>
          </a:stretch>
        </p:blipFill>
        <p:spPr>
          <a:xfrm>
            <a:off x="6797766" y="3213628"/>
            <a:ext cx="128699" cy="187198"/>
          </a:xfrm>
          <a:prstGeom prst="rect">
            <a:avLst/>
          </a:prstGeom>
        </p:spPr>
      </p:pic>
      <p:sp>
        <p:nvSpPr>
          <p:cNvPr id="102" name="TextBox 101"/>
          <p:cNvSpPr txBox="1"/>
          <p:nvPr/>
        </p:nvSpPr>
        <p:spPr>
          <a:xfrm>
            <a:off x="6965262" y="3223407"/>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3" name="TextBox 102"/>
          <p:cNvSpPr txBox="1"/>
          <p:nvPr/>
        </p:nvSpPr>
        <p:spPr>
          <a:xfrm>
            <a:off x="8420100" y="3139587"/>
            <a:ext cx="2212082" cy="186689"/>
          </a:xfrm>
          <a:prstGeom prst="rect">
            <a:avLst/>
          </a:prstGeom>
          <a:noFill/>
        </p:spPr>
        <p:txBody>
          <a:bodyPr wrap="none" lIns="0" rIns="0" tIns="0" bIns="0">
            <a:spAutoFit/>
          </a:bodyPr>
          <a:lstStyle/>
          <a:p>
            <a:r>
              <a:rPr sz="1100" b="0">
                <a:solidFill>
                  <a:srgbClr val="2E2E2E"/>
                </a:solidFill>
                <a:latin typeface="Calibri"/>
              </a:rPr>
              <a:t>Scale Expanded Polypropylene (EPP) (</a:t>
            </a:r>
          </a:p>
        </p:txBody>
      </p:sp>
      <p:pic>
        <p:nvPicPr>
          <p:cNvPr id="104" name="Picture 103" descr="lock.png"/>
          <p:cNvPicPr>
            <a:picLocks noChangeAspect="1"/>
          </p:cNvPicPr>
          <p:nvPr/>
        </p:nvPicPr>
        <p:blipFill>
          <a:blip r:embed="rId4"/>
          <a:stretch>
            <a:fillRect/>
          </a:stretch>
        </p:blipFill>
        <p:spPr>
          <a:xfrm>
            <a:off x="10580233" y="3129808"/>
            <a:ext cx="128699" cy="187198"/>
          </a:xfrm>
          <a:prstGeom prst="rect">
            <a:avLst/>
          </a:prstGeom>
        </p:spPr>
      </p:pic>
      <p:sp>
        <p:nvSpPr>
          <p:cNvPr id="105" name="TextBox 104"/>
          <p:cNvSpPr txBox="1"/>
          <p:nvPr/>
        </p:nvSpPr>
        <p:spPr>
          <a:xfrm>
            <a:off x="10747729" y="313958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6" name="Picture 105" descr="lock.png"/>
          <p:cNvPicPr>
            <a:picLocks noChangeAspect="1"/>
          </p:cNvPicPr>
          <p:nvPr/>
        </p:nvPicPr>
        <p:blipFill>
          <a:blip r:embed="rId4"/>
          <a:stretch>
            <a:fillRect/>
          </a:stretch>
        </p:blipFill>
        <p:spPr>
          <a:xfrm>
            <a:off x="10849198" y="3129808"/>
            <a:ext cx="128699" cy="187198"/>
          </a:xfrm>
          <a:prstGeom prst="rect">
            <a:avLst/>
          </a:prstGeom>
        </p:spPr>
      </p:pic>
      <p:sp>
        <p:nvSpPr>
          <p:cNvPr id="107" name="TextBox 106"/>
          <p:cNvSpPr txBox="1"/>
          <p:nvPr/>
        </p:nvSpPr>
        <p:spPr>
          <a:xfrm>
            <a:off x="11016693" y="3139587"/>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08" name="TextBox 107"/>
          <p:cNvSpPr txBox="1"/>
          <p:nvPr/>
        </p:nvSpPr>
        <p:spPr>
          <a:xfrm>
            <a:off x="8420100" y="3307227"/>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09" name="TextBox 108"/>
          <p:cNvSpPr txBox="1"/>
          <p:nvPr/>
        </p:nvSpPr>
        <p:spPr>
          <a:xfrm>
            <a:off x="1752600" y="3650690"/>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10" name="Picture 109" descr="lock.png"/>
          <p:cNvPicPr>
            <a:picLocks noChangeAspect="1"/>
          </p:cNvPicPr>
          <p:nvPr/>
        </p:nvPicPr>
        <p:blipFill>
          <a:blip r:embed="rId4"/>
          <a:stretch>
            <a:fillRect/>
          </a:stretch>
        </p:blipFill>
        <p:spPr>
          <a:xfrm>
            <a:off x="2962118" y="3640911"/>
            <a:ext cx="128699" cy="187198"/>
          </a:xfrm>
          <a:prstGeom prst="rect">
            <a:avLst/>
          </a:prstGeom>
        </p:spPr>
      </p:pic>
      <p:sp>
        <p:nvSpPr>
          <p:cNvPr id="111" name="TextBox 110"/>
          <p:cNvSpPr txBox="1"/>
          <p:nvPr/>
        </p:nvSpPr>
        <p:spPr>
          <a:xfrm>
            <a:off x="3129614" y="3650690"/>
            <a:ext cx="1968122" cy="186689"/>
          </a:xfrm>
          <a:prstGeom prst="rect">
            <a:avLst/>
          </a:prstGeom>
          <a:noFill/>
        </p:spPr>
        <p:txBody>
          <a:bodyPr wrap="none" lIns="0" rIns="0" tIns="0" bIns="0">
            <a:spAutoFit/>
          </a:bodyPr>
          <a:lstStyle/>
          <a:p>
            <a:r>
              <a:rPr sz="1100" b="0">
                <a:solidFill>
                  <a:srgbClr val="2E2E2E"/>
                </a:solidFill>
                <a:latin typeface="Calibri"/>
              </a:rPr>
              <a:t>), Other Foam Materials demand,</a:t>
            </a:r>
          </a:p>
        </p:txBody>
      </p:sp>
      <p:sp>
        <p:nvSpPr>
          <p:cNvPr id="112" name="TextBox 111"/>
          <p:cNvSpPr txBox="1"/>
          <p:nvPr/>
        </p:nvSpPr>
        <p:spPr>
          <a:xfrm>
            <a:off x="1752600" y="3818330"/>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13" name="TextBox 112"/>
          <p:cNvSpPr txBox="1"/>
          <p:nvPr/>
        </p:nvSpPr>
        <p:spPr>
          <a:xfrm>
            <a:off x="5562600" y="3734510"/>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4" name="Picture 113" descr="lock.png"/>
          <p:cNvPicPr>
            <a:picLocks noChangeAspect="1"/>
          </p:cNvPicPr>
          <p:nvPr/>
        </p:nvPicPr>
        <p:blipFill>
          <a:blip r:embed="rId4"/>
          <a:stretch>
            <a:fillRect/>
          </a:stretch>
        </p:blipFill>
        <p:spPr>
          <a:xfrm>
            <a:off x="6623687" y="3724731"/>
            <a:ext cx="128699" cy="187198"/>
          </a:xfrm>
          <a:prstGeom prst="rect">
            <a:avLst/>
          </a:prstGeom>
        </p:spPr>
      </p:pic>
      <p:sp>
        <p:nvSpPr>
          <p:cNvPr id="115" name="TextBox 114"/>
          <p:cNvSpPr txBox="1"/>
          <p:nvPr/>
        </p:nvSpPr>
        <p:spPr>
          <a:xfrm>
            <a:off x="6791183" y="373451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16" name="TextBox 115"/>
          <p:cNvSpPr txBox="1"/>
          <p:nvPr/>
        </p:nvSpPr>
        <p:spPr>
          <a:xfrm>
            <a:off x="8420100" y="3650690"/>
            <a:ext cx="2212082" cy="186689"/>
          </a:xfrm>
          <a:prstGeom prst="rect">
            <a:avLst/>
          </a:prstGeom>
          <a:noFill/>
        </p:spPr>
        <p:txBody>
          <a:bodyPr wrap="none" lIns="0" rIns="0" tIns="0" bIns="0">
            <a:spAutoFit/>
          </a:bodyPr>
          <a:lstStyle/>
          <a:p>
            <a:r>
              <a:rPr sz="1100" b="0">
                <a:solidFill>
                  <a:srgbClr val="2E2E2E"/>
                </a:solidFill>
                <a:latin typeface="Calibri"/>
              </a:rPr>
              <a:t>Scale Expanded Polypropylene (EPP) (</a:t>
            </a:r>
          </a:p>
        </p:txBody>
      </p:sp>
      <p:pic>
        <p:nvPicPr>
          <p:cNvPr id="117" name="Picture 116" descr="lock.png"/>
          <p:cNvPicPr>
            <a:picLocks noChangeAspect="1"/>
          </p:cNvPicPr>
          <p:nvPr/>
        </p:nvPicPr>
        <p:blipFill>
          <a:blip r:embed="rId4"/>
          <a:stretch>
            <a:fillRect/>
          </a:stretch>
        </p:blipFill>
        <p:spPr>
          <a:xfrm>
            <a:off x="10580233" y="3640911"/>
            <a:ext cx="128699" cy="187198"/>
          </a:xfrm>
          <a:prstGeom prst="rect">
            <a:avLst/>
          </a:prstGeom>
        </p:spPr>
      </p:pic>
      <p:sp>
        <p:nvSpPr>
          <p:cNvPr id="118" name="TextBox 117"/>
          <p:cNvSpPr txBox="1"/>
          <p:nvPr/>
        </p:nvSpPr>
        <p:spPr>
          <a:xfrm>
            <a:off x="10747729" y="3650690"/>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19" name="Picture 118" descr="lock.png"/>
          <p:cNvPicPr>
            <a:picLocks noChangeAspect="1"/>
          </p:cNvPicPr>
          <p:nvPr/>
        </p:nvPicPr>
        <p:blipFill>
          <a:blip r:embed="rId4"/>
          <a:stretch>
            <a:fillRect/>
          </a:stretch>
        </p:blipFill>
        <p:spPr>
          <a:xfrm>
            <a:off x="10849198" y="3640911"/>
            <a:ext cx="128699" cy="187198"/>
          </a:xfrm>
          <a:prstGeom prst="rect">
            <a:avLst/>
          </a:prstGeom>
        </p:spPr>
      </p:pic>
      <p:sp>
        <p:nvSpPr>
          <p:cNvPr id="120" name="TextBox 119"/>
          <p:cNvSpPr txBox="1"/>
          <p:nvPr/>
        </p:nvSpPr>
        <p:spPr>
          <a:xfrm>
            <a:off x="11016693" y="3650690"/>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21" name="TextBox 120"/>
          <p:cNvSpPr txBox="1"/>
          <p:nvPr/>
        </p:nvSpPr>
        <p:spPr>
          <a:xfrm>
            <a:off x="8420100" y="3818330"/>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22" name="TextBox 121"/>
          <p:cNvSpPr txBox="1"/>
          <p:nvPr/>
        </p:nvSpPr>
        <p:spPr>
          <a:xfrm>
            <a:off x="1752600" y="4161794"/>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3" name="Picture 122" descr="lock.png"/>
          <p:cNvPicPr>
            <a:picLocks noChangeAspect="1"/>
          </p:cNvPicPr>
          <p:nvPr/>
        </p:nvPicPr>
        <p:blipFill>
          <a:blip r:embed="rId4"/>
          <a:stretch>
            <a:fillRect/>
          </a:stretch>
        </p:blipFill>
        <p:spPr>
          <a:xfrm>
            <a:off x="2834969" y="4152015"/>
            <a:ext cx="128699" cy="187198"/>
          </a:xfrm>
          <a:prstGeom prst="rect">
            <a:avLst/>
          </a:prstGeom>
        </p:spPr>
      </p:pic>
      <p:sp>
        <p:nvSpPr>
          <p:cNvPr id="124" name="TextBox 123"/>
          <p:cNvSpPr txBox="1"/>
          <p:nvPr/>
        </p:nvSpPr>
        <p:spPr>
          <a:xfrm>
            <a:off x="3002465" y="4161794"/>
            <a:ext cx="2287342" cy="186689"/>
          </a:xfrm>
          <a:prstGeom prst="rect">
            <a:avLst/>
          </a:prstGeom>
          <a:noFill/>
        </p:spPr>
        <p:txBody>
          <a:bodyPr wrap="none" lIns="0" rIns="0" tIns="0" bIns="0">
            <a:spAutoFit/>
          </a:bodyPr>
          <a:lstStyle/>
          <a:p>
            <a:r>
              <a:rPr sz="1100" b="0">
                <a:solidFill>
                  <a:srgbClr val="2E2E2E"/>
                </a:solidFill>
                <a:latin typeface="Calibri"/>
              </a:rPr>
              <a:t>CAGR), Other Foam Materials demand,</a:t>
            </a:r>
          </a:p>
        </p:txBody>
      </p:sp>
      <p:sp>
        <p:nvSpPr>
          <p:cNvPr id="125" name="TextBox 124"/>
          <p:cNvSpPr txBox="1"/>
          <p:nvPr/>
        </p:nvSpPr>
        <p:spPr>
          <a:xfrm>
            <a:off x="1752600" y="4329434"/>
            <a:ext cx="1389707" cy="186689"/>
          </a:xfrm>
          <a:prstGeom prst="rect">
            <a:avLst/>
          </a:prstGeom>
          <a:noFill/>
        </p:spPr>
        <p:txBody>
          <a:bodyPr wrap="none" lIns="0" rIns="0" tIns="0" bIns="0">
            <a:spAutoFit/>
          </a:bodyPr>
          <a:lstStyle/>
          <a:p>
            <a:r>
              <a:rPr sz="1100" b="0">
                <a:solidFill>
                  <a:srgbClr val="2E2E2E"/>
                </a:solidFill>
                <a:latin typeface="Calibri"/>
              </a:rPr>
              <a:t>Accelerating vs history.</a:t>
            </a:r>
          </a:p>
        </p:txBody>
      </p:sp>
      <p:sp>
        <p:nvSpPr>
          <p:cNvPr id="126" name="TextBox 125"/>
          <p:cNvSpPr txBox="1"/>
          <p:nvPr/>
        </p:nvSpPr>
        <p:spPr>
          <a:xfrm>
            <a:off x="5562600" y="4245614"/>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7" name="Picture 126" descr="lock.png"/>
          <p:cNvPicPr>
            <a:picLocks noChangeAspect="1"/>
          </p:cNvPicPr>
          <p:nvPr/>
        </p:nvPicPr>
        <p:blipFill>
          <a:blip r:embed="rId4"/>
          <a:stretch>
            <a:fillRect/>
          </a:stretch>
        </p:blipFill>
        <p:spPr>
          <a:xfrm>
            <a:off x="6797766" y="4235835"/>
            <a:ext cx="128699" cy="187198"/>
          </a:xfrm>
          <a:prstGeom prst="rect">
            <a:avLst/>
          </a:prstGeom>
        </p:spPr>
      </p:pic>
      <p:sp>
        <p:nvSpPr>
          <p:cNvPr id="128" name="TextBox 127"/>
          <p:cNvSpPr txBox="1"/>
          <p:nvPr/>
        </p:nvSpPr>
        <p:spPr>
          <a:xfrm>
            <a:off x="6965262" y="4245614"/>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9" name="TextBox 128"/>
          <p:cNvSpPr txBox="1"/>
          <p:nvPr/>
        </p:nvSpPr>
        <p:spPr>
          <a:xfrm>
            <a:off x="8420100" y="4161794"/>
            <a:ext cx="2212082" cy="186689"/>
          </a:xfrm>
          <a:prstGeom prst="rect">
            <a:avLst/>
          </a:prstGeom>
          <a:noFill/>
        </p:spPr>
        <p:txBody>
          <a:bodyPr wrap="none" lIns="0" rIns="0" tIns="0" bIns="0">
            <a:spAutoFit/>
          </a:bodyPr>
          <a:lstStyle/>
          <a:p>
            <a:r>
              <a:rPr sz="1100" b="0">
                <a:solidFill>
                  <a:srgbClr val="2E2E2E"/>
                </a:solidFill>
                <a:latin typeface="Calibri"/>
              </a:rPr>
              <a:t>Scale Expanded Polypropylene (EPP) (</a:t>
            </a:r>
          </a:p>
        </p:txBody>
      </p:sp>
      <p:pic>
        <p:nvPicPr>
          <p:cNvPr id="130" name="Picture 129" descr="lock.png"/>
          <p:cNvPicPr>
            <a:picLocks noChangeAspect="1"/>
          </p:cNvPicPr>
          <p:nvPr/>
        </p:nvPicPr>
        <p:blipFill>
          <a:blip r:embed="rId4"/>
          <a:stretch>
            <a:fillRect/>
          </a:stretch>
        </p:blipFill>
        <p:spPr>
          <a:xfrm>
            <a:off x="10580233" y="4152015"/>
            <a:ext cx="128699" cy="187198"/>
          </a:xfrm>
          <a:prstGeom prst="rect">
            <a:avLst/>
          </a:prstGeom>
        </p:spPr>
      </p:pic>
      <p:sp>
        <p:nvSpPr>
          <p:cNvPr id="131" name="TextBox 130"/>
          <p:cNvSpPr txBox="1"/>
          <p:nvPr/>
        </p:nvSpPr>
        <p:spPr>
          <a:xfrm>
            <a:off x="10747729" y="4161794"/>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2" name="Picture 131" descr="lock.png"/>
          <p:cNvPicPr>
            <a:picLocks noChangeAspect="1"/>
          </p:cNvPicPr>
          <p:nvPr/>
        </p:nvPicPr>
        <p:blipFill>
          <a:blip r:embed="rId4"/>
          <a:stretch>
            <a:fillRect/>
          </a:stretch>
        </p:blipFill>
        <p:spPr>
          <a:xfrm>
            <a:off x="10849198" y="4152015"/>
            <a:ext cx="128699" cy="187198"/>
          </a:xfrm>
          <a:prstGeom prst="rect">
            <a:avLst/>
          </a:prstGeom>
        </p:spPr>
      </p:pic>
      <p:sp>
        <p:nvSpPr>
          <p:cNvPr id="133" name="TextBox 132"/>
          <p:cNvSpPr txBox="1"/>
          <p:nvPr/>
        </p:nvSpPr>
        <p:spPr>
          <a:xfrm>
            <a:off x="11016693" y="4161794"/>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34" name="TextBox 133"/>
          <p:cNvSpPr txBox="1"/>
          <p:nvPr/>
        </p:nvSpPr>
        <p:spPr>
          <a:xfrm>
            <a:off x="8420100" y="4329434"/>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35" name="TextBox 134"/>
          <p:cNvSpPr txBox="1"/>
          <p:nvPr/>
        </p:nvSpPr>
        <p:spPr>
          <a:xfrm>
            <a:off x="304800" y="5232520"/>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6" name="Picture 135" descr="lock.png"/>
          <p:cNvPicPr>
            <a:picLocks noChangeAspect="1"/>
          </p:cNvPicPr>
          <p:nvPr/>
        </p:nvPicPr>
        <p:blipFill>
          <a:blip r:embed="rId4"/>
          <a:stretch>
            <a:fillRect/>
          </a:stretch>
        </p:blipFill>
        <p:spPr>
          <a:xfrm>
            <a:off x="4626463" y="5222741"/>
            <a:ext cx="128699" cy="187198"/>
          </a:xfrm>
          <a:prstGeom prst="rect">
            <a:avLst/>
          </a:prstGeom>
        </p:spPr>
      </p:pic>
      <p:sp>
        <p:nvSpPr>
          <p:cNvPr id="137" name="TextBox 136"/>
          <p:cNvSpPr txBox="1"/>
          <p:nvPr/>
        </p:nvSpPr>
        <p:spPr>
          <a:xfrm>
            <a:off x="4793959" y="5232520"/>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38" name="Picture 137" descr="lock.png"/>
          <p:cNvPicPr>
            <a:picLocks noChangeAspect="1"/>
          </p:cNvPicPr>
          <p:nvPr/>
        </p:nvPicPr>
        <p:blipFill>
          <a:blip r:embed="rId4"/>
          <a:stretch>
            <a:fillRect/>
          </a:stretch>
        </p:blipFill>
        <p:spPr>
          <a:xfrm>
            <a:off x="9365009" y="5222741"/>
            <a:ext cx="128699" cy="187198"/>
          </a:xfrm>
          <a:prstGeom prst="rect">
            <a:avLst/>
          </a:prstGeom>
        </p:spPr>
      </p:pic>
      <p:sp>
        <p:nvSpPr>
          <p:cNvPr id="139" name="TextBox 138"/>
          <p:cNvSpPr txBox="1"/>
          <p:nvPr/>
        </p:nvSpPr>
        <p:spPr>
          <a:xfrm>
            <a:off x="9532505" y="5232520"/>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40" name="Picture 139" descr="lock.png"/>
          <p:cNvPicPr>
            <a:picLocks noChangeAspect="1"/>
          </p:cNvPicPr>
          <p:nvPr/>
        </p:nvPicPr>
        <p:blipFill>
          <a:blip r:embed="rId4"/>
          <a:stretch>
            <a:fillRect/>
          </a:stretch>
        </p:blipFill>
        <p:spPr>
          <a:xfrm>
            <a:off x="291332" y="5390381"/>
            <a:ext cx="128699" cy="187198"/>
          </a:xfrm>
          <a:prstGeom prst="rect">
            <a:avLst/>
          </a:prstGeom>
        </p:spPr>
      </p:pic>
      <p:sp>
        <p:nvSpPr>
          <p:cNvPr id="141" name="TextBox 140"/>
          <p:cNvSpPr txBox="1"/>
          <p:nvPr/>
        </p:nvSpPr>
        <p:spPr>
          <a:xfrm>
            <a:off x="458828" y="5400160"/>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42" name="TextBox 141"/>
          <p:cNvSpPr txBox="1"/>
          <p:nvPr/>
        </p:nvSpPr>
        <p:spPr>
          <a:xfrm>
            <a:off x="304800" y="5567800"/>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Global Driving Factors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7" name="Oval 6"/>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38400" y="2650094"/>
            <a:ext cx="2324100" cy="3039241"/>
          </a:xfrm>
          <a:custGeom>
            <a:avLst/>
            <a:gdLst/>
            <a:ahLst/>
            <a:cxnLst/>
            <a:rect l="l" t="t" r="r" b="b"/>
            <a:pathLst>
              <a:path w="244" h="333">
                <a:moveTo>
                  <a:pt x="244" y="0"/>
                </a:moveTo>
                <a:lnTo>
                  <a:pt x="180" y="2"/>
                </a:lnTo>
                <a:lnTo>
                  <a:pt x="114" y="32"/>
                </a:lnTo>
                <a:lnTo>
                  <a:pt x="96" y="102"/>
                </a:lnTo>
                <a:lnTo>
                  <a:pt x="0" y="192"/>
                </a:lnTo>
                <a:lnTo>
                  <a:pt x="99" y="252"/>
                </a:lnTo>
                <a:lnTo>
                  <a:pt x="149" y="333"/>
                </a:lnTo>
                <a:lnTo>
                  <a:pt x="244" y="235"/>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28" name="Oval 27"/>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0" name="Oval 29"/>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2" name="Oval 31"/>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4" name="Oval 33"/>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6" name="Oval 35"/>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8" name="Oval 37"/>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0" name="Oval 39"/>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2" name="Rectangle 41"/>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MR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4" name="TMR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5" name="TMR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6" name="TMR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47" name="TMR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48" name="TMR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49" name="TMR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0" name="TMR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1" name="TMR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2" name="TMR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3" name="TMR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4" name="Connector 53"/>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6" name="Connector 55"/>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5 material type lines and 8 end-use industry routes, giving producers wide reformulation and channel latitude.</a:t>
            </a:r>
          </a:p>
        </p:txBody>
      </p:sp>
      <p:sp>
        <p:nvSpPr>
          <p:cNvPr id="61" name="TextBox 60"/>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6" name="Picture 65" descr="lock.png"/>
          <p:cNvPicPr>
            <a:picLocks noChangeAspect="1"/>
          </p:cNvPicPr>
          <p:nvPr/>
        </p:nvPicPr>
        <p:blipFill>
          <a:blip r:embed="rId4"/>
          <a:stretch>
            <a:fillRect/>
          </a:stretch>
        </p:blipFill>
        <p:spPr>
          <a:xfrm>
            <a:off x="4538330" y="1313604"/>
            <a:ext cx="118403" cy="172222"/>
          </a:xfrm>
          <a:prstGeom prst="rect">
            <a:avLst/>
          </a:prstGeom>
        </p:spPr>
      </p:pic>
      <p:sp>
        <p:nvSpPr>
          <p:cNvPr id="67" name="TextBox 66"/>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68" name="Picture 67" descr="lock.png"/>
          <p:cNvPicPr>
            <a:picLocks noChangeAspect="1"/>
          </p:cNvPicPr>
          <p:nvPr/>
        </p:nvPicPr>
        <p:blipFill>
          <a:blip r:embed="rId4"/>
          <a:stretch>
            <a:fillRect/>
          </a:stretch>
        </p:blipFill>
        <p:spPr>
          <a:xfrm>
            <a:off x="3523486" y="1552218"/>
            <a:ext cx="118403" cy="172222"/>
          </a:xfrm>
          <a:prstGeom prst="rect">
            <a:avLst/>
          </a:prstGeom>
        </p:spPr>
      </p:pic>
      <p:sp>
        <p:nvSpPr>
          <p:cNvPr id="69" name="TextBox 68"/>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0" name="Picture 69" descr="lock.png"/>
          <p:cNvPicPr>
            <a:picLocks noChangeAspect="1"/>
          </p:cNvPicPr>
          <p:nvPr/>
        </p:nvPicPr>
        <p:blipFill>
          <a:blip r:embed="rId4"/>
          <a:stretch>
            <a:fillRect/>
          </a:stretch>
        </p:blipFill>
        <p:spPr>
          <a:xfrm>
            <a:off x="2648537" y="2302942"/>
            <a:ext cx="118403" cy="172222"/>
          </a:xfrm>
          <a:prstGeom prst="rect">
            <a:avLst/>
          </a:prstGeom>
        </p:spPr>
      </p:pic>
      <p:sp>
        <p:nvSpPr>
          <p:cNvPr id="71" name="TextBox 70"/>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2" name="Picture 71" descr="lock.png"/>
          <p:cNvPicPr>
            <a:picLocks noChangeAspect="1"/>
          </p:cNvPicPr>
          <p:nvPr/>
        </p:nvPicPr>
        <p:blipFill>
          <a:blip r:embed="rId4"/>
          <a:stretch>
            <a:fillRect/>
          </a:stretch>
        </p:blipFill>
        <p:spPr>
          <a:xfrm>
            <a:off x="2162976" y="3269072"/>
            <a:ext cx="118403" cy="172222"/>
          </a:xfrm>
          <a:prstGeom prst="rect">
            <a:avLst/>
          </a:prstGeom>
        </p:spPr>
      </p:pic>
      <p:sp>
        <p:nvSpPr>
          <p:cNvPr id="73" name="TextBox 72"/>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4" name="Picture 73" descr="lock.png"/>
          <p:cNvPicPr>
            <a:picLocks noChangeAspect="1"/>
          </p:cNvPicPr>
          <p:nvPr/>
        </p:nvPicPr>
        <p:blipFill>
          <a:blip r:embed="rId4"/>
          <a:stretch>
            <a:fillRect/>
          </a:stretch>
        </p:blipFill>
        <p:spPr>
          <a:xfrm>
            <a:off x="2162976" y="4341395"/>
            <a:ext cx="118403" cy="172222"/>
          </a:xfrm>
          <a:prstGeom prst="rect">
            <a:avLst/>
          </a:prstGeom>
        </p:spPr>
      </p:pic>
      <p:sp>
        <p:nvSpPr>
          <p:cNvPr id="75" name="TextBox 74"/>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6" name="Picture 75" descr="lock.png"/>
          <p:cNvPicPr>
            <a:picLocks noChangeAspect="1"/>
          </p:cNvPicPr>
          <p:nvPr/>
        </p:nvPicPr>
        <p:blipFill>
          <a:blip r:embed="rId4"/>
          <a:stretch>
            <a:fillRect/>
          </a:stretch>
        </p:blipFill>
        <p:spPr>
          <a:xfrm>
            <a:off x="2648537" y="5307524"/>
            <a:ext cx="118403" cy="172222"/>
          </a:xfrm>
          <a:prstGeom prst="rect">
            <a:avLst/>
          </a:prstGeom>
        </p:spPr>
      </p:pic>
      <p:sp>
        <p:nvSpPr>
          <p:cNvPr id="77" name="TextBox 76"/>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78" name="Picture 77" descr="lock.png"/>
          <p:cNvPicPr>
            <a:picLocks noChangeAspect="1"/>
          </p:cNvPicPr>
          <p:nvPr/>
        </p:nvPicPr>
        <p:blipFill>
          <a:blip r:embed="rId4"/>
          <a:stretch>
            <a:fillRect/>
          </a:stretch>
        </p:blipFill>
        <p:spPr>
          <a:xfrm>
            <a:off x="3523486" y="6058248"/>
            <a:ext cx="118403" cy="172222"/>
          </a:xfrm>
          <a:prstGeom prst="rect">
            <a:avLst/>
          </a:prstGeom>
        </p:spPr>
      </p:pic>
      <p:sp>
        <p:nvSpPr>
          <p:cNvPr id="79" name="TextBox 78"/>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0" name="Picture 79" descr="lock.png"/>
          <p:cNvPicPr>
            <a:picLocks noChangeAspect="1"/>
          </p:cNvPicPr>
          <p:nvPr/>
        </p:nvPicPr>
        <p:blipFill>
          <a:blip r:embed="rId4"/>
          <a:stretch>
            <a:fillRect/>
          </a:stretch>
        </p:blipFill>
        <p:spPr>
          <a:xfrm>
            <a:off x="4538330" y="6296863"/>
            <a:ext cx="118403" cy="172222"/>
          </a:xfrm>
          <a:prstGeom prst="rect">
            <a:avLst/>
          </a:prstGeom>
        </p:spPr>
      </p:pic>
      <p:sp>
        <p:nvSpPr>
          <p:cNvPr id="81" name="TextBox 80"/>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2" name="Picture 81" descr="lock.png"/>
          <p:cNvPicPr>
            <a:picLocks noChangeAspect="1"/>
          </p:cNvPicPr>
          <p:nvPr/>
        </p:nvPicPr>
        <p:blipFill>
          <a:blip r:embed="rId4"/>
          <a:stretch>
            <a:fillRect/>
          </a:stretch>
        </p:blipFill>
        <p:spPr>
          <a:xfrm>
            <a:off x="8159122" y="1486975"/>
            <a:ext cx="128699" cy="187198"/>
          </a:xfrm>
          <a:prstGeom prst="rect">
            <a:avLst/>
          </a:prstGeom>
        </p:spPr>
      </p:pic>
      <p:sp>
        <p:nvSpPr>
          <p:cNvPr id="83" name="TextBox 82"/>
          <p:cNvSpPr txBox="1"/>
          <p:nvPr/>
        </p:nvSpPr>
        <p:spPr>
          <a:xfrm>
            <a:off x="8326618" y="1496754"/>
            <a:ext cx="1175246" cy="186689"/>
          </a:xfrm>
          <a:prstGeom prst="rect">
            <a:avLst/>
          </a:prstGeom>
          <a:noFill/>
        </p:spPr>
        <p:txBody>
          <a:bodyPr wrap="none" lIns="0" rIns="0" tIns="0" bIns="0">
            <a:spAutoFit/>
          </a:bodyPr>
          <a:lstStyle/>
          <a:p>
            <a:r>
              <a:rPr sz="1100" b="0">
                <a:solidFill>
                  <a:srgbClr val="2E2E2E"/>
                </a:solidFill>
                <a:latin typeface="Calibri"/>
              </a:rPr>
              <a:t>/10), Route Depth (</a:t>
            </a:r>
          </a:p>
        </p:txBody>
      </p:sp>
      <p:pic>
        <p:nvPicPr>
          <p:cNvPr id="84" name="Picture 83" descr="lock.png"/>
          <p:cNvPicPr>
            <a:picLocks noChangeAspect="1"/>
          </p:cNvPicPr>
          <p:nvPr/>
        </p:nvPicPr>
        <p:blipFill>
          <a:blip r:embed="rId4"/>
          <a:stretch>
            <a:fillRect/>
          </a:stretch>
        </p:blipFill>
        <p:spPr>
          <a:xfrm>
            <a:off x="9449916" y="1486975"/>
            <a:ext cx="128699" cy="187198"/>
          </a:xfrm>
          <a:prstGeom prst="rect">
            <a:avLst/>
          </a:prstGeom>
        </p:spPr>
      </p:pic>
      <p:sp>
        <p:nvSpPr>
          <p:cNvPr id="85" name="TextBox 84"/>
          <p:cNvSpPr txBox="1"/>
          <p:nvPr/>
        </p:nvSpPr>
        <p:spPr>
          <a:xfrm>
            <a:off x="9617411"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6" name="Picture 85" descr="lock.png"/>
          <p:cNvPicPr>
            <a:picLocks noChangeAspect="1"/>
          </p:cNvPicPr>
          <p:nvPr/>
        </p:nvPicPr>
        <p:blipFill>
          <a:blip r:embed="rId4"/>
          <a:stretch>
            <a:fillRect/>
          </a:stretch>
        </p:blipFill>
        <p:spPr>
          <a:xfrm>
            <a:off x="11003192" y="1486975"/>
            <a:ext cx="128699" cy="187198"/>
          </a:xfrm>
          <a:prstGeom prst="rect">
            <a:avLst/>
          </a:prstGeom>
        </p:spPr>
      </p:pic>
      <p:sp>
        <p:nvSpPr>
          <p:cNvPr id="87" name="TextBox 86"/>
          <p:cNvSpPr txBox="1"/>
          <p:nvPr/>
        </p:nvSpPr>
        <p:spPr>
          <a:xfrm>
            <a:off x="11170688"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88" name="TextBox 87"/>
          <p:cNvSpPr txBox="1"/>
          <p:nvPr/>
        </p:nvSpPr>
        <p:spPr>
          <a:xfrm>
            <a:off x="5000625"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89" name="TextBox 88"/>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0" name="Picture 89" descr="lock.png"/>
          <p:cNvPicPr>
            <a:picLocks noChangeAspect="1"/>
          </p:cNvPicPr>
          <p:nvPr/>
        </p:nvPicPr>
        <p:blipFill>
          <a:blip r:embed="rId4"/>
          <a:stretch>
            <a:fillRect/>
          </a:stretch>
        </p:blipFill>
        <p:spPr>
          <a:xfrm>
            <a:off x="6194591" y="1943318"/>
            <a:ext cx="128699" cy="187198"/>
          </a:xfrm>
          <a:prstGeom prst="rect">
            <a:avLst/>
          </a:prstGeom>
        </p:spPr>
      </p:pic>
      <p:sp>
        <p:nvSpPr>
          <p:cNvPr id="91" name="TextBox 90"/>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2" name="Picture 91" descr="lock.png"/>
          <p:cNvPicPr>
            <a:picLocks noChangeAspect="1"/>
          </p:cNvPicPr>
          <p:nvPr/>
        </p:nvPicPr>
        <p:blipFill>
          <a:blip r:embed="rId4"/>
          <a:stretch>
            <a:fillRect/>
          </a:stretch>
        </p:blipFill>
        <p:spPr>
          <a:xfrm>
            <a:off x="9312927" y="1943318"/>
            <a:ext cx="128699" cy="187198"/>
          </a:xfrm>
          <a:prstGeom prst="rect">
            <a:avLst/>
          </a:prstGeom>
        </p:spPr>
      </p:pic>
      <p:sp>
        <p:nvSpPr>
          <p:cNvPr id="93" name="TextBox 92"/>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4" name="TextBox 93"/>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5" name="TextBox 94"/>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6" name="Picture 95" descr="lock.png"/>
          <p:cNvPicPr>
            <a:picLocks noChangeAspect="1"/>
          </p:cNvPicPr>
          <p:nvPr/>
        </p:nvPicPr>
        <p:blipFill>
          <a:blip r:embed="rId4"/>
          <a:stretch>
            <a:fillRect/>
          </a:stretch>
        </p:blipFill>
        <p:spPr>
          <a:xfrm>
            <a:off x="7488726" y="2392211"/>
            <a:ext cx="128699" cy="187198"/>
          </a:xfrm>
          <a:prstGeom prst="rect">
            <a:avLst/>
          </a:prstGeom>
        </p:spPr>
      </p:pic>
      <p:sp>
        <p:nvSpPr>
          <p:cNvPr id="97" name="TextBox 96"/>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98" name="TextBox 97"/>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99" name="Picture 98" descr="lock.png"/>
          <p:cNvPicPr>
            <a:picLocks noChangeAspect="1"/>
          </p:cNvPicPr>
          <p:nvPr/>
        </p:nvPicPr>
        <p:blipFill>
          <a:blip r:embed="rId4"/>
          <a:stretch>
            <a:fillRect/>
          </a:stretch>
        </p:blipFill>
        <p:spPr>
          <a:xfrm>
            <a:off x="7880268" y="3122359"/>
            <a:ext cx="128699" cy="187198"/>
          </a:xfrm>
          <a:prstGeom prst="rect">
            <a:avLst/>
          </a:prstGeom>
        </p:spPr>
      </p:pic>
      <p:sp>
        <p:nvSpPr>
          <p:cNvPr id="100" name="TextBox 99"/>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1" name="Picture 100" descr="lock.png"/>
          <p:cNvPicPr>
            <a:picLocks noChangeAspect="1"/>
          </p:cNvPicPr>
          <p:nvPr/>
        </p:nvPicPr>
        <p:blipFill>
          <a:blip r:embed="rId4"/>
          <a:stretch>
            <a:fillRect/>
          </a:stretch>
        </p:blipFill>
        <p:spPr>
          <a:xfrm>
            <a:off x="8654826" y="3122359"/>
            <a:ext cx="128699" cy="187198"/>
          </a:xfrm>
          <a:prstGeom prst="rect">
            <a:avLst/>
          </a:prstGeom>
        </p:spPr>
      </p:pic>
      <p:sp>
        <p:nvSpPr>
          <p:cNvPr id="102" name="TextBox 101"/>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Global Driving Factors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7" name="Oval 6"/>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7429500" y="2650094"/>
            <a:ext cx="1628775" cy="3376934"/>
          </a:xfrm>
          <a:custGeom>
            <a:avLst/>
            <a:gdLst/>
            <a:ahLst/>
            <a:cxnLst/>
            <a:rect l="l" t="t" r="r" b="b"/>
            <a:pathLst>
              <a:path w="171" h="370">
                <a:moveTo>
                  <a:pt x="0" y="12"/>
                </a:moveTo>
                <a:lnTo>
                  <a:pt x="65" y="1"/>
                </a:lnTo>
                <a:lnTo>
                  <a:pt x="171" y="0"/>
                </a:lnTo>
                <a:lnTo>
                  <a:pt x="98" y="114"/>
                </a:lnTo>
                <a:lnTo>
                  <a:pt x="160" y="172"/>
                </a:lnTo>
                <a:lnTo>
                  <a:pt x="99" y="215"/>
                </a:lnTo>
                <a:lnTo>
                  <a:pt x="77" y="296"/>
                </a:lnTo>
                <a:lnTo>
                  <a:pt x="0" y="370"/>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28" name="Oval 27"/>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0" name="Oval 29"/>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2" name="Oval 31"/>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4" name="Oval 33"/>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6" name="Oval 35"/>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8" name="Oval 37"/>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0" name="Oval 39"/>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2" name="Rectangle 41"/>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MR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4" name="TMR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5" name="TMR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6" name="TMR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47" name="TMR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48" name="TMR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49" name="TMR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0" name="TMR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1" name="TMR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2" name="TMR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3" name="TMR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4" name="Connector 53"/>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6" name="Connector 55"/>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6" name="Picture 65" descr="lock.png"/>
          <p:cNvPicPr>
            <a:picLocks noChangeAspect="1"/>
          </p:cNvPicPr>
          <p:nvPr/>
        </p:nvPicPr>
        <p:blipFill>
          <a:blip r:embed="rId4"/>
          <a:stretch>
            <a:fillRect/>
          </a:stretch>
        </p:blipFill>
        <p:spPr>
          <a:xfrm>
            <a:off x="8424374" y="1313604"/>
            <a:ext cx="118403" cy="172222"/>
          </a:xfrm>
          <a:prstGeom prst="rect">
            <a:avLst/>
          </a:prstGeom>
        </p:spPr>
      </p:pic>
      <p:sp>
        <p:nvSpPr>
          <p:cNvPr id="67" name="TextBox 66"/>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68" name="Picture 67" descr="lock.png"/>
          <p:cNvPicPr>
            <a:picLocks noChangeAspect="1"/>
          </p:cNvPicPr>
          <p:nvPr/>
        </p:nvPicPr>
        <p:blipFill>
          <a:blip r:embed="rId4"/>
          <a:stretch>
            <a:fillRect/>
          </a:stretch>
        </p:blipFill>
        <p:spPr>
          <a:xfrm>
            <a:off x="9398803" y="1552218"/>
            <a:ext cx="118403" cy="172222"/>
          </a:xfrm>
          <a:prstGeom prst="rect">
            <a:avLst/>
          </a:prstGeom>
        </p:spPr>
      </p:pic>
      <p:sp>
        <p:nvSpPr>
          <p:cNvPr id="69" name="TextBox 68"/>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0" name="Picture 69" descr="lock.png"/>
          <p:cNvPicPr>
            <a:picLocks noChangeAspect="1"/>
          </p:cNvPicPr>
          <p:nvPr/>
        </p:nvPicPr>
        <p:blipFill>
          <a:blip r:embed="rId4"/>
          <a:stretch>
            <a:fillRect/>
          </a:stretch>
        </p:blipFill>
        <p:spPr>
          <a:xfrm>
            <a:off x="10135940" y="2302942"/>
            <a:ext cx="118403" cy="172222"/>
          </a:xfrm>
          <a:prstGeom prst="rect">
            <a:avLst/>
          </a:prstGeom>
        </p:spPr>
      </p:pic>
      <p:sp>
        <p:nvSpPr>
          <p:cNvPr id="71" name="TextBox 70"/>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2" name="Picture 71" descr="lock.png"/>
          <p:cNvPicPr>
            <a:picLocks noChangeAspect="1"/>
          </p:cNvPicPr>
          <p:nvPr/>
        </p:nvPicPr>
        <p:blipFill>
          <a:blip r:embed="rId4"/>
          <a:stretch>
            <a:fillRect/>
          </a:stretch>
        </p:blipFill>
        <p:spPr>
          <a:xfrm>
            <a:off x="10646855" y="3269072"/>
            <a:ext cx="118403" cy="172222"/>
          </a:xfrm>
          <a:prstGeom prst="rect">
            <a:avLst/>
          </a:prstGeom>
        </p:spPr>
      </p:pic>
      <p:sp>
        <p:nvSpPr>
          <p:cNvPr id="73" name="TextBox 72"/>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4" name="Picture 73" descr="lock.png"/>
          <p:cNvPicPr>
            <a:picLocks noChangeAspect="1"/>
          </p:cNvPicPr>
          <p:nvPr/>
        </p:nvPicPr>
        <p:blipFill>
          <a:blip r:embed="rId4"/>
          <a:stretch>
            <a:fillRect/>
          </a:stretch>
        </p:blipFill>
        <p:spPr>
          <a:xfrm>
            <a:off x="10991008" y="4341395"/>
            <a:ext cx="118403" cy="172222"/>
          </a:xfrm>
          <a:prstGeom prst="rect">
            <a:avLst/>
          </a:prstGeom>
        </p:spPr>
      </p:pic>
      <p:sp>
        <p:nvSpPr>
          <p:cNvPr id="75" name="TextBox 74"/>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6" name="Picture 75" descr="lock.png"/>
          <p:cNvPicPr>
            <a:picLocks noChangeAspect="1"/>
          </p:cNvPicPr>
          <p:nvPr/>
        </p:nvPicPr>
        <p:blipFill>
          <a:blip r:embed="rId4"/>
          <a:stretch>
            <a:fillRect/>
          </a:stretch>
        </p:blipFill>
        <p:spPr>
          <a:xfrm>
            <a:off x="10402276" y="5307524"/>
            <a:ext cx="118403" cy="172222"/>
          </a:xfrm>
          <a:prstGeom prst="rect">
            <a:avLst/>
          </a:prstGeom>
        </p:spPr>
      </p:pic>
      <p:sp>
        <p:nvSpPr>
          <p:cNvPr id="77" name="TextBox 76"/>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78" name="Picture 77" descr="lock.png"/>
          <p:cNvPicPr>
            <a:picLocks noChangeAspect="1"/>
          </p:cNvPicPr>
          <p:nvPr/>
        </p:nvPicPr>
        <p:blipFill>
          <a:blip r:embed="rId4"/>
          <a:stretch>
            <a:fillRect/>
          </a:stretch>
        </p:blipFill>
        <p:spPr>
          <a:xfrm>
            <a:off x="9407087" y="6058248"/>
            <a:ext cx="118403" cy="172222"/>
          </a:xfrm>
          <a:prstGeom prst="rect">
            <a:avLst/>
          </a:prstGeom>
        </p:spPr>
      </p:pic>
      <p:sp>
        <p:nvSpPr>
          <p:cNvPr id="79" name="TextBox 78"/>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0" name="Picture 79" descr="lock.png"/>
          <p:cNvPicPr>
            <a:picLocks noChangeAspect="1"/>
          </p:cNvPicPr>
          <p:nvPr/>
        </p:nvPicPr>
        <p:blipFill>
          <a:blip r:embed="rId4"/>
          <a:stretch>
            <a:fillRect/>
          </a:stretch>
        </p:blipFill>
        <p:spPr>
          <a:xfrm>
            <a:off x="8436172" y="6296863"/>
            <a:ext cx="118403" cy="172222"/>
          </a:xfrm>
          <a:prstGeom prst="rect">
            <a:avLst/>
          </a:prstGeom>
        </p:spPr>
      </p:pic>
      <p:sp>
        <p:nvSpPr>
          <p:cNvPr id="81" name="TextBox 80"/>
          <p:cNvSpPr txBox="1"/>
          <p:nvPr/>
        </p:nvSpPr>
        <p:spPr>
          <a:xfrm>
            <a:off x="209550" y="1496754"/>
            <a:ext cx="3188617" cy="186689"/>
          </a:xfrm>
          <a:prstGeom prst="rect">
            <a:avLst/>
          </a:prstGeom>
          <a:noFill/>
        </p:spPr>
        <p:txBody>
          <a:bodyPr wrap="none" lIns="0" rIns="0" tIns="0" bIns="0">
            <a:spAutoFit/>
          </a:bodyPr>
          <a:lstStyle/>
          <a:p>
            <a:r>
              <a:rPr sz="1100" b="0">
                <a:solidFill>
                  <a:srgbClr val="2E2E2E"/>
                </a:solidFill>
                <a:latin typeface="Calibri"/>
              </a:rPr>
              <a:t>▪ Demand-side conditions are led by Consumer Reach (</a:t>
            </a:r>
          </a:p>
        </p:txBody>
      </p:sp>
      <p:pic>
        <p:nvPicPr>
          <p:cNvPr id="82" name="Picture 81" descr="lock.png"/>
          <p:cNvPicPr>
            <a:picLocks noChangeAspect="1"/>
          </p:cNvPicPr>
          <p:nvPr/>
        </p:nvPicPr>
        <p:blipFill>
          <a:blip r:embed="rId4"/>
          <a:stretch>
            <a:fillRect/>
          </a:stretch>
        </p:blipFill>
        <p:spPr>
          <a:xfrm>
            <a:off x="3346219" y="1486975"/>
            <a:ext cx="128699" cy="187198"/>
          </a:xfrm>
          <a:prstGeom prst="rect">
            <a:avLst/>
          </a:prstGeom>
        </p:spPr>
      </p:pic>
      <p:sp>
        <p:nvSpPr>
          <p:cNvPr id="83" name="TextBox 82"/>
          <p:cNvSpPr txBox="1"/>
          <p:nvPr/>
        </p:nvSpPr>
        <p:spPr>
          <a:xfrm>
            <a:off x="3513715" y="1496754"/>
            <a:ext cx="1204441" cy="186689"/>
          </a:xfrm>
          <a:prstGeom prst="rect">
            <a:avLst/>
          </a:prstGeom>
          <a:noFill/>
        </p:spPr>
        <p:txBody>
          <a:bodyPr wrap="none" lIns="0" rIns="0" tIns="0" bIns="0">
            <a:spAutoFit/>
          </a:bodyPr>
          <a:lstStyle/>
          <a:p>
            <a:r>
              <a:rPr sz="1100" b="0">
                <a:solidFill>
                  <a:srgbClr val="2E2E2E"/>
                </a:solidFill>
                <a:latin typeface="Calibri"/>
              </a:rPr>
              <a:t>/10), App. Breadth (</a:t>
            </a:r>
          </a:p>
        </p:txBody>
      </p:sp>
      <p:pic>
        <p:nvPicPr>
          <p:cNvPr id="84" name="Picture 83" descr="lock.png"/>
          <p:cNvPicPr>
            <a:picLocks noChangeAspect="1"/>
          </p:cNvPicPr>
          <p:nvPr/>
        </p:nvPicPr>
        <p:blipFill>
          <a:blip r:embed="rId4"/>
          <a:stretch>
            <a:fillRect/>
          </a:stretch>
        </p:blipFill>
        <p:spPr>
          <a:xfrm>
            <a:off x="4666207" y="1486975"/>
            <a:ext cx="128699" cy="187198"/>
          </a:xfrm>
          <a:prstGeom prst="rect">
            <a:avLst/>
          </a:prstGeom>
        </p:spPr>
      </p:pic>
      <p:sp>
        <p:nvSpPr>
          <p:cNvPr id="85" name="TextBox 84"/>
          <p:cNvSpPr txBox="1"/>
          <p:nvPr/>
        </p:nvSpPr>
        <p:spPr>
          <a:xfrm>
            <a:off x="4833703" y="1496754"/>
            <a:ext cx="1363240" cy="186689"/>
          </a:xfrm>
          <a:prstGeom prst="rect">
            <a:avLst/>
          </a:prstGeom>
          <a:noFill/>
        </p:spPr>
        <p:txBody>
          <a:bodyPr wrap="none" lIns="0" rIns="0" tIns="0" bIns="0">
            <a:spAutoFit/>
          </a:bodyPr>
          <a:lstStyle/>
          <a:p>
            <a:r>
              <a:rPr sz="1100" b="0">
                <a:solidFill>
                  <a:srgbClr val="2E2E2E"/>
                </a:solidFill>
                <a:latin typeface="Calibri"/>
              </a:rPr>
              <a:t>/10), Adoption Depth (</a:t>
            </a:r>
          </a:p>
        </p:txBody>
      </p:sp>
      <p:pic>
        <p:nvPicPr>
          <p:cNvPr id="86" name="Picture 85" descr="lock.png"/>
          <p:cNvPicPr>
            <a:picLocks noChangeAspect="1"/>
          </p:cNvPicPr>
          <p:nvPr/>
        </p:nvPicPr>
        <p:blipFill>
          <a:blip r:embed="rId4"/>
          <a:stretch>
            <a:fillRect/>
          </a:stretch>
        </p:blipFill>
        <p:spPr>
          <a:xfrm>
            <a:off x="6144996" y="1486975"/>
            <a:ext cx="128699" cy="187198"/>
          </a:xfrm>
          <a:prstGeom prst="rect">
            <a:avLst/>
          </a:prstGeom>
        </p:spPr>
      </p:pic>
      <p:sp>
        <p:nvSpPr>
          <p:cNvPr id="87" name="TextBox 86"/>
          <p:cNvSpPr txBox="1"/>
          <p:nvPr/>
        </p:nvSpPr>
        <p:spPr>
          <a:xfrm>
            <a:off x="6312492" y="1496754"/>
            <a:ext cx="591616" cy="186689"/>
          </a:xfrm>
          <a:prstGeom prst="rect">
            <a:avLst/>
          </a:prstGeom>
          <a:noFill/>
        </p:spPr>
        <p:txBody>
          <a:bodyPr wrap="none" lIns="0" rIns="0" tIns="0" bIns="0">
            <a:spAutoFit/>
          </a:bodyPr>
          <a:lstStyle/>
          <a:p>
            <a:r>
              <a:rPr sz="1100" b="0">
                <a:solidFill>
                  <a:srgbClr val="2E2E2E"/>
                </a:solidFill>
                <a:latin typeface="Calibri"/>
              </a:rPr>
              <a:t>/10) on a</a:t>
            </a:r>
          </a:p>
        </p:txBody>
      </p:sp>
      <p:sp>
        <p:nvSpPr>
          <p:cNvPr id="88" name="TextBox 87"/>
          <p:cNvSpPr txBox="1"/>
          <p:nvPr/>
        </p:nvSpPr>
        <p:spPr>
          <a:xfrm>
            <a:off x="209550" y="1664394"/>
            <a:ext cx="2764060" cy="186689"/>
          </a:xfrm>
          <a:prstGeom prst="rect">
            <a:avLst/>
          </a:prstGeom>
          <a:noFill/>
        </p:spPr>
        <p:txBody>
          <a:bodyPr wrap="none" lIns="0" rIns="0" tIns="0" bIns="0">
            <a:spAutoFit/>
          </a:bodyPr>
          <a:lstStyle/>
          <a:p>
            <a:r>
              <a:rPr sz="1100" b="0">
                <a:solidFill>
                  <a:srgbClr val="2E2E2E"/>
                </a:solidFill>
                <a:latin typeface="Calibri"/>
              </a:rPr>
              <a:t>0-10 scale scored from the global dataset itself.</a:t>
            </a:r>
          </a:p>
        </p:txBody>
      </p:sp>
      <p:sp>
        <p:nvSpPr>
          <p:cNvPr id="89" name="TextBox 88"/>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0" name="Picture 89" descr="lock.png"/>
          <p:cNvPicPr>
            <a:picLocks noChangeAspect="1"/>
          </p:cNvPicPr>
          <p:nvPr/>
        </p:nvPicPr>
        <p:blipFill>
          <a:blip r:embed="rId4"/>
          <a:stretch>
            <a:fillRect/>
          </a:stretch>
        </p:blipFill>
        <p:spPr>
          <a:xfrm>
            <a:off x="1156039" y="1935869"/>
            <a:ext cx="128699" cy="187198"/>
          </a:xfrm>
          <a:prstGeom prst="rect">
            <a:avLst/>
          </a:prstGeom>
        </p:spPr>
      </p:pic>
      <p:sp>
        <p:nvSpPr>
          <p:cNvPr id="91" name="TextBox 90"/>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2" name="Picture 91" descr="lock.png"/>
          <p:cNvPicPr>
            <a:picLocks noChangeAspect="1"/>
          </p:cNvPicPr>
          <p:nvPr/>
        </p:nvPicPr>
        <p:blipFill>
          <a:blip r:embed="rId4"/>
          <a:stretch>
            <a:fillRect/>
          </a:stretch>
        </p:blipFill>
        <p:spPr>
          <a:xfrm>
            <a:off x="2354882" y="1935869"/>
            <a:ext cx="128699" cy="187198"/>
          </a:xfrm>
          <a:prstGeom prst="rect">
            <a:avLst/>
          </a:prstGeom>
        </p:spPr>
      </p:pic>
      <p:sp>
        <p:nvSpPr>
          <p:cNvPr id="93" name="TextBox 92"/>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4" name="TextBox 93"/>
          <p:cNvSpPr txBox="1"/>
          <p:nvPr/>
        </p:nvSpPr>
        <p:spPr>
          <a:xfrm>
            <a:off x="209550" y="2226902"/>
            <a:ext cx="1878900" cy="186689"/>
          </a:xfrm>
          <a:prstGeom prst="rect">
            <a:avLst/>
          </a:prstGeom>
          <a:noFill/>
        </p:spPr>
        <p:txBody>
          <a:bodyPr wrap="none" lIns="0" rIns="0" tIns="0" bIns="0">
            <a:spAutoFit/>
          </a:bodyPr>
          <a:lstStyle/>
          <a:p>
            <a:r>
              <a:rPr sz="1100" b="0">
                <a:solidFill>
                  <a:srgbClr val="2E2E2E"/>
                </a:solidFill>
                <a:latin typeface="Calibri"/>
              </a:rPr>
              <a:t>▪ 'Other Foam Materials' carries</a:t>
            </a:r>
          </a:p>
        </p:txBody>
      </p:sp>
      <p:pic>
        <p:nvPicPr>
          <p:cNvPr id="95" name="Picture 94" descr="lock.png"/>
          <p:cNvPicPr>
            <a:picLocks noChangeAspect="1"/>
          </p:cNvPicPr>
          <p:nvPr/>
        </p:nvPicPr>
        <p:blipFill>
          <a:blip r:embed="rId4"/>
          <a:stretch>
            <a:fillRect/>
          </a:stretch>
        </p:blipFill>
        <p:spPr>
          <a:xfrm>
            <a:off x="2036502" y="2217123"/>
            <a:ext cx="128699" cy="187198"/>
          </a:xfrm>
          <a:prstGeom prst="rect">
            <a:avLst/>
          </a:prstGeom>
        </p:spPr>
      </p:pic>
      <p:sp>
        <p:nvSpPr>
          <p:cNvPr id="96" name="TextBox 95"/>
          <p:cNvSpPr txBox="1"/>
          <p:nvPr/>
        </p:nvSpPr>
        <p:spPr>
          <a:xfrm>
            <a:off x="2203997" y="2226902"/>
            <a:ext cx="4911402" cy="186689"/>
          </a:xfrm>
          <a:prstGeom prst="rect">
            <a:avLst/>
          </a:prstGeom>
          <a:noFill/>
        </p:spPr>
        <p:txBody>
          <a:bodyPr wrap="none" lIns="0" rIns="0" tIns="0" bIns="0">
            <a:spAutoFit/>
          </a:bodyPr>
          <a:lstStyle/>
          <a:p>
            <a:r>
              <a:rPr sz="1100" b="0">
                <a:solidFill>
                  <a:srgbClr val="2E2E2E"/>
                </a:solidFill>
                <a:latin typeface="Calibri"/>
              </a:rPr>
              <a:t>of material type demand while 'Expanded Polypropylene (EPP)' compounds fastest at</a:t>
            </a:r>
          </a:p>
        </p:txBody>
      </p:sp>
      <p:pic>
        <p:nvPicPr>
          <p:cNvPr id="97" name="Picture 96" descr="lock.png"/>
          <p:cNvPicPr>
            <a:picLocks noChangeAspect="1"/>
          </p:cNvPicPr>
          <p:nvPr/>
        </p:nvPicPr>
        <p:blipFill>
          <a:blip r:embed="rId4"/>
          <a:stretch>
            <a:fillRect/>
          </a:stretch>
        </p:blipFill>
        <p:spPr>
          <a:xfrm>
            <a:off x="196082" y="2384763"/>
            <a:ext cx="128699" cy="187198"/>
          </a:xfrm>
          <a:prstGeom prst="rect">
            <a:avLst/>
          </a:prstGeom>
        </p:spPr>
      </p:pic>
      <p:sp>
        <p:nvSpPr>
          <p:cNvPr id="98" name="TextBox 97"/>
          <p:cNvSpPr txBox="1"/>
          <p:nvPr/>
        </p:nvSpPr>
        <p:spPr>
          <a:xfrm>
            <a:off x="363578" y="239454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9" name="TextBox 98"/>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0" name="Picture 99" descr="lock.png"/>
          <p:cNvPicPr>
            <a:picLocks noChangeAspect="1"/>
          </p:cNvPicPr>
          <p:nvPr/>
        </p:nvPicPr>
        <p:blipFill>
          <a:blip r:embed="rId4"/>
          <a:stretch>
            <a:fillRect/>
          </a:stretch>
        </p:blipFill>
        <p:spPr>
          <a:xfrm>
            <a:off x="2634349" y="2757285"/>
            <a:ext cx="128699" cy="187198"/>
          </a:xfrm>
          <a:prstGeom prst="rect">
            <a:avLst/>
          </a:prstGeom>
        </p:spPr>
      </p:pic>
      <p:sp>
        <p:nvSpPr>
          <p:cNvPr id="101" name="TextBox 100"/>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2" name="Picture 101" descr="lock.png"/>
          <p:cNvPicPr>
            <a:picLocks noChangeAspect="1"/>
          </p:cNvPicPr>
          <p:nvPr/>
        </p:nvPicPr>
        <p:blipFill>
          <a:blip r:embed="rId4"/>
          <a:stretch>
            <a:fillRect/>
          </a:stretch>
        </p:blipFill>
        <p:spPr>
          <a:xfrm>
            <a:off x="3281469" y="2757285"/>
            <a:ext cx="128699" cy="187198"/>
          </a:xfrm>
          <a:prstGeom prst="rect">
            <a:avLst/>
          </a:prstGeom>
        </p:spPr>
      </p:pic>
      <p:sp>
        <p:nvSpPr>
          <p:cNvPr id="103" name="TextBox 102"/>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4" name="TextBox 103"/>
          <p:cNvSpPr txBox="1"/>
          <p:nvPr/>
        </p:nvSpPr>
        <p:spPr>
          <a:xfrm>
            <a:off x="209550" y="3139587"/>
            <a:ext cx="5416177" cy="186689"/>
          </a:xfrm>
          <a:prstGeom prst="rect">
            <a:avLst/>
          </a:prstGeom>
          <a:noFill/>
        </p:spPr>
        <p:txBody>
          <a:bodyPr wrap="none" lIns="0" rIns="0" tIns="0" bIns="0">
            <a:spAutoFit/>
          </a:bodyPr>
          <a:lstStyle/>
          <a:p>
            <a:r>
              <a:rPr sz="1100" b="0">
                <a:solidFill>
                  <a:srgbClr val="2E2E2E"/>
                </a:solidFill>
                <a:latin typeface="Calibri"/>
              </a:rPr>
              <a:t>▪ Reach runs through 8 end-use industry routes, led by 'Consumer Goods &amp; Home Products' at</a:t>
            </a:r>
          </a:p>
        </p:txBody>
      </p:sp>
      <p:pic>
        <p:nvPicPr>
          <p:cNvPr id="105" name="Picture 104" descr="lock.png"/>
          <p:cNvPicPr>
            <a:picLocks noChangeAspect="1"/>
          </p:cNvPicPr>
          <p:nvPr/>
        </p:nvPicPr>
        <p:blipFill>
          <a:blip r:embed="rId4"/>
          <a:stretch>
            <a:fillRect/>
          </a:stretch>
        </p:blipFill>
        <p:spPr>
          <a:xfrm>
            <a:off x="5573779" y="3129808"/>
            <a:ext cx="128699" cy="187198"/>
          </a:xfrm>
          <a:prstGeom prst="rect">
            <a:avLst/>
          </a:prstGeom>
        </p:spPr>
      </p:pic>
      <p:sp>
        <p:nvSpPr>
          <p:cNvPr id="106" name="TextBox 105"/>
          <p:cNvSpPr txBox="1"/>
          <p:nvPr/>
        </p:nvSpPr>
        <p:spPr>
          <a:xfrm>
            <a:off x="5741275" y="3139587"/>
            <a:ext cx="1053008" cy="186689"/>
          </a:xfrm>
          <a:prstGeom prst="rect">
            <a:avLst/>
          </a:prstGeom>
          <a:noFill/>
        </p:spPr>
        <p:txBody>
          <a:bodyPr wrap="none" lIns="0" rIns="0" tIns="0" bIns="0">
            <a:spAutoFit/>
          </a:bodyPr>
          <a:lstStyle/>
          <a:p>
            <a:r>
              <a:rPr sz="1100" b="0">
                <a:solidFill>
                  <a:srgbClr val="2E2E2E"/>
                </a:solidFill>
                <a:latin typeface="Calibri"/>
              </a:rPr>
              <a:t>and with 'Others'</a:t>
            </a:r>
          </a:p>
        </p:txBody>
      </p:sp>
      <p:sp>
        <p:nvSpPr>
          <p:cNvPr id="107" name="TextBox 106"/>
          <p:cNvSpPr txBox="1"/>
          <p:nvPr/>
        </p:nvSpPr>
        <p:spPr>
          <a:xfrm>
            <a:off x="209550" y="3307227"/>
            <a:ext cx="1094754" cy="186689"/>
          </a:xfrm>
          <a:prstGeom prst="rect">
            <a:avLst/>
          </a:prstGeom>
          <a:noFill/>
        </p:spPr>
        <p:txBody>
          <a:bodyPr wrap="none" lIns="0" rIns="0" tIns="0" bIns="0">
            <a:spAutoFit/>
          </a:bodyPr>
          <a:lstStyle/>
          <a:p>
            <a:r>
              <a:rPr sz="1100" b="0">
                <a:solidFill>
                  <a:srgbClr val="2E2E2E"/>
                </a:solidFill>
                <a:latin typeface="Calibri"/>
              </a:rPr>
              <a:t>growing fastest at</a:t>
            </a:r>
          </a:p>
        </p:txBody>
      </p:sp>
      <p:pic>
        <p:nvPicPr>
          <p:cNvPr id="108" name="Picture 107" descr="lock.png"/>
          <p:cNvPicPr>
            <a:picLocks noChangeAspect="1"/>
          </p:cNvPicPr>
          <p:nvPr/>
        </p:nvPicPr>
        <p:blipFill>
          <a:blip r:embed="rId4"/>
          <a:stretch>
            <a:fillRect/>
          </a:stretch>
        </p:blipFill>
        <p:spPr>
          <a:xfrm>
            <a:off x="1252356" y="3297448"/>
            <a:ext cx="128699" cy="187198"/>
          </a:xfrm>
          <a:prstGeom prst="rect">
            <a:avLst/>
          </a:prstGeom>
        </p:spPr>
      </p:pic>
      <p:sp>
        <p:nvSpPr>
          <p:cNvPr id="109" name="TextBox 108"/>
          <p:cNvSpPr txBox="1"/>
          <p:nvPr/>
        </p:nvSpPr>
        <p:spPr>
          <a:xfrm>
            <a:off x="1419852"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Restraints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9" name="Rectangle 8"/>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Polyurethane (PU) Foam Lags the Category and Dilutes Blended Growth</a:t>
            </a:r>
          </a:p>
        </p:txBody>
      </p:sp>
      <p:sp>
        <p:nvSpPr>
          <p:cNvPr id="11" name="TextBox 10"/>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837332"/>
            <a:ext cx="2321465" cy="186689"/>
          </a:xfrm>
          <a:prstGeom prst="rect">
            <a:avLst/>
          </a:prstGeom>
          <a:noFill/>
        </p:spPr>
        <p:txBody>
          <a:bodyPr wrap="none" lIns="0" rIns="0" tIns="0" bIns="0">
            <a:spAutoFit/>
          </a:bodyPr>
          <a:lstStyle/>
          <a:p>
            <a:r>
              <a:rPr sz="1100" b="0">
                <a:solidFill>
                  <a:srgbClr val="2E2E2E"/>
                </a:solidFill>
                <a:latin typeface="Calibri"/>
              </a:rPr>
              <a:t>'Polyurethane (PU) Foam' grows at only</a:t>
            </a:r>
          </a:p>
        </p:txBody>
      </p:sp>
      <p:pic>
        <p:nvPicPr>
          <p:cNvPr id="62" name="Picture 61" descr="lock.png"/>
          <p:cNvPicPr>
            <a:picLocks noChangeAspect="1"/>
          </p:cNvPicPr>
          <p:nvPr/>
        </p:nvPicPr>
        <p:blipFill>
          <a:blip r:embed="rId4"/>
          <a:stretch>
            <a:fillRect/>
          </a:stretch>
        </p:blipFill>
        <p:spPr>
          <a:xfrm>
            <a:off x="2460017" y="1827554"/>
            <a:ext cx="128699" cy="187198"/>
          </a:xfrm>
          <a:prstGeom prst="rect">
            <a:avLst/>
          </a:prstGeom>
        </p:spPr>
      </p:pic>
      <p:sp>
        <p:nvSpPr>
          <p:cNvPr id="63" name="TextBox 62"/>
          <p:cNvSpPr txBox="1"/>
          <p:nvPr/>
        </p:nvSpPr>
        <p:spPr>
          <a:xfrm>
            <a:off x="2627513" y="1837332"/>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4" name="Picture 63" descr="lock.png"/>
          <p:cNvPicPr>
            <a:picLocks noChangeAspect="1"/>
          </p:cNvPicPr>
          <p:nvPr/>
        </p:nvPicPr>
        <p:blipFill>
          <a:blip r:embed="rId4"/>
          <a:stretch>
            <a:fillRect/>
          </a:stretch>
        </p:blipFill>
        <p:spPr>
          <a:xfrm>
            <a:off x="4155159" y="1827554"/>
            <a:ext cx="128699" cy="187198"/>
          </a:xfrm>
          <a:prstGeom prst="rect">
            <a:avLst/>
          </a:prstGeom>
        </p:spPr>
      </p:pic>
      <p:sp>
        <p:nvSpPr>
          <p:cNvPr id="65" name="TextBox 64"/>
          <p:cNvSpPr txBox="1"/>
          <p:nvPr/>
        </p:nvSpPr>
        <p:spPr>
          <a:xfrm>
            <a:off x="4322655" y="1837332"/>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6" name="Picture 65" descr="lock.png"/>
          <p:cNvPicPr>
            <a:picLocks noChangeAspect="1"/>
          </p:cNvPicPr>
          <p:nvPr/>
        </p:nvPicPr>
        <p:blipFill>
          <a:blip r:embed="rId4"/>
          <a:stretch>
            <a:fillRect/>
          </a:stretch>
        </p:blipFill>
        <p:spPr>
          <a:xfrm>
            <a:off x="4554820" y="1827554"/>
            <a:ext cx="128699" cy="187198"/>
          </a:xfrm>
          <a:prstGeom prst="rect">
            <a:avLst/>
          </a:prstGeom>
        </p:spPr>
      </p:pic>
      <p:sp>
        <p:nvSpPr>
          <p:cNvPr id="67" name="TextBox 66"/>
          <p:cNvSpPr txBox="1"/>
          <p:nvPr/>
        </p:nvSpPr>
        <p:spPr>
          <a:xfrm>
            <a:off x="4722315" y="1837332"/>
            <a:ext cx="2794863" cy="186689"/>
          </a:xfrm>
          <a:prstGeom prst="rect">
            <a:avLst/>
          </a:prstGeom>
          <a:noFill/>
        </p:spPr>
        <p:txBody>
          <a:bodyPr wrap="none" lIns="0" rIns="0" tIns="0" bIns="0">
            <a:spAutoFit/>
          </a:bodyPr>
          <a:lstStyle/>
          <a:p>
            <a:r>
              <a:rPr sz="1100" b="0">
                <a:solidFill>
                  <a:srgbClr val="2E2E2E"/>
                </a:solidFill>
                <a:latin typeface="Calibri"/>
              </a:rPr>
              <a:t>BPS gap, and 'Other Foam Materials' surrenders</a:t>
            </a:r>
          </a:p>
        </p:txBody>
      </p:sp>
      <p:pic>
        <p:nvPicPr>
          <p:cNvPr id="68" name="Picture 67" descr="lock.png"/>
          <p:cNvPicPr>
            <a:picLocks noChangeAspect="1"/>
          </p:cNvPicPr>
          <p:nvPr/>
        </p:nvPicPr>
        <p:blipFill>
          <a:blip r:embed="rId4"/>
          <a:stretch>
            <a:fillRect/>
          </a:stretch>
        </p:blipFill>
        <p:spPr>
          <a:xfrm>
            <a:off x="7465230" y="1827554"/>
            <a:ext cx="128699" cy="187198"/>
          </a:xfrm>
          <a:prstGeom prst="rect">
            <a:avLst/>
          </a:prstGeom>
        </p:spPr>
      </p:pic>
      <p:sp>
        <p:nvSpPr>
          <p:cNvPr id="69" name="TextBox 68"/>
          <p:cNvSpPr txBox="1"/>
          <p:nvPr/>
        </p:nvSpPr>
        <p:spPr>
          <a:xfrm>
            <a:off x="7632726" y="1837332"/>
            <a:ext cx="1573063" cy="186689"/>
          </a:xfrm>
          <a:prstGeom prst="rect">
            <a:avLst/>
          </a:prstGeom>
          <a:noFill/>
        </p:spPr>
        <p:txBody>
          <a:bodyPr wrap="none" lIns="0" rIns="0" tIns="0" bIns="0">
            <a:spAutoFit/>
          </a:bodyPr>
          <a:lstStyle/>
          <a:p>
            <a:r>
              <a:rPr sz="1100" b="0">
                <a:solidFill>
                  <a:srgbClr val="2E2E2E"/>
                </a:solidFill>
                <a:latin typeface="Calibri"/>
              </a:rPr>
              <a:t>BPS of material type share</a:t>
            </a:r>
          </a:p>
        </p:txBody>
      </p:sp>
      <p:sp>
        <p:nvSpPr>
          <p:cNvPr id="70" name="TextBox 69"/>
          <p:cNvSpPr txBox="1"/>
          <p:nvPr/>
        </p:nvSpPr>
        <p:spPr>
          <a:xfrm>
            <a:off x="190500" y="2004972"/>
            <a:ext cx="9382125" cy="186689"/>
          </a:xfrm>
          <a:prstGeom prst="rect">
            <a:avLst/>
          </a:prstGeom>
          <a:noFill/>
        </p:spPr>
        <p:txBody>
          <a:bodyPr wrap="none" lIns="0" rIns="0" tIns="0" bIns="0">
            <a:spAutoFit/>
          </a:bodyPr>
          <a:lstStyle/>
          <a:p>
            <a:r>
              <a:rPr sz="1100" b="0">
                <a:solidFill>
                  <a:srgbClr val="2E2E2E"/>
                </a:solidFill>
                <a:latin typeface="Calibri"/>
              </a:rPr>
              <a:t>between 2026 and 2036. Because these lines still carry meaningful volume, the drag is absorbed by the whole category: blended growth sits below what the leading</a:t>
            </a:r>
          </a:p>
        </p:txBody>
      </p:sp>
      <p:sp>
        <p:nvSpPr>
          <p:cNvPr id="71" name="TextBox 70"/>
          <p:cNvSpPr txBox="1"/>
          <p:nvPr/>
        </p:nvSpPr>
        <p:spPr>
          <a:xfrm>
            <a:off x="190500" y="2172613"/>
            <a:ext cx="8853016" cy="186689"/>
          </a:xfrm>
          <a:prstGeom prst="rect">
            <a:avLst/>
          </a:prstGeom>
          <a:noFill/>
        </p:spPr>
        <p:txBody>
          <a:bodyPr wrap="none" lIns="0" rIns="0" tIns="0" bIns="0">
            <a:spAutoFit/>
          </a:bodyPr>
          <a:lstStyle/>
          <a:p>
            <a:r>
              <a:rPr sz="1100" b="0">
                <a:solidFill>
                  <a:srgbClr val="2E2E2E"/>
                </a:solidFill>
                <a:latin typeface="Calibri"/>
              </a:rPr>
              <a:t>lines achieve on their own. Rationalising or repositioning the lagging end of a 5-line portfolio is therefore a precondition for realising the headline forecast.</a:t>
            </a:r>
          </a:p>
        </p:txBody>
      </p:sp>
      <p:sp>
        <p:nvSpPr>
          <p:cNvPr id="72" name="TextBox 71"/>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3" name="Picture 72" descr="lock.png"/>
          <p:cNvPicPr>
            <a:picLocks noChangeAspect="1"/>
          </p:cNvPicPr>
          <p:nvPr/>
        </p:nvPicPr>
        <p:blipFill>
          <a:blip r:embed="rId4"/>
          <a:stretch>
            <a:fillRect/>
          </a:stretch>
        </p:blipFill>
        <p:spPr>
          <a:xfrm>
            <a:off x="1870142" y="3488640"/>
            <a:ext cx="128699" cy="187198"/>
          </a:xfrm>
          <a:prstGeom prst="rect">
            <a:avLst/>
          </a:prstGeom>
        </p:spPr>
      </p:pic>
      <p:sp>
        <p:nvSpPr>
          <p:cNvPr id="74" name="TextBox 73"/>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5" name="Picture 74" descr="lock.png"/>
          <p:cNvPicPr>
            <a:picLocks noChangeAspect="1"/>
          </p:cNvPicPr>
          <p:nvPr/>
        </p:nvPicPr>
        <p:blipFill>
          <a:blip r:embed="rId4"/>
          <a:stretch>
            <a:fillRect/>
          </a:stretch>
        </p:blipFill>
        <p:spPr>
          <a:xfrm>
            <a:off x="2455597" y="3488640"/>
            <a:ext cx="128699" cy="187198"/>
          </a:xfrm>
          <a:prstGeom prst="rect">
            <a:avLst/>
          </a:prstGeom>
        </p:spPr>
      </p:pic>
      <p:sp>
        <p:nvSpPr>
          <p:cNvPr id="76" name="TextBox 75"/>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77" name="TextBox 76"/>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78" name="Picture 77" descr="lock.png"/>
          <p:cNvPicPr>
            <a:picLocks noChangeAspect="1"/>
          </p:cNvPicPr>
          <p:nvPr/>
        </p:nvPicPr>
        <p:blipFill>
          <a:blip r:embed="rId4"/>
          <a:stretch>
            <a:fillRect/>
          </a:stretch>
        </p:blipFill>
        <p:spPr>
          <a:xfrm>
            <a:off x="8756642" y="3656280"/>
            <a:ext cx="128699" cy="187198"/>
          </a:xfrm>
          <a:prstGeom prst="rect">
            <a:avLst/>
          </a:prstGeom>
        </p:spPr>
      </p:pic>
      <p:sp>
        <p:nvSpPr>
          <p:cNvPr id="79" name="TextBox 78"/>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0" name="TextBox 79"/>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1" name="TextBox 80"/>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2" name="Picture 81" descr="lock.png"/>
          <p:cNvPicPr>
            <a:picLocks noChangeAspect="1"/>
          </p:cNvPicPr>
          <p:nvPr/>
        </p:nvPicPr>
        <p:blipFill>
          <a:blip r:embed="rId4"/>
          <a:stretch>
            <a:fillRect/>
          </a:stretch>
        </p:blipFill>
        <p:spPr>
          <a:xfrm>
            <a:off x="3476146" y="5240995"/>
            <a:ext cx="128699" cy="187198"/>
          </a:xfrm>
          <a:prstGeom prst="rect">
            <a:avLst/>
          </a:prstGeom>
        </p:spPr>
      </p:pic>
      <p:sp>
        <p:nvSpPr>
          <p:cNvPr id="83" name="TextBox 82"/>
          <p:cNvSpPr txBox="1"/>
          <p:nvPr/>
        </p:nvSpPr>
        <p:spPr>
          <a:xfrm>
            <a:off x="3643642" y="5250774"/>
            <a:ext cx="2983706" cy="186689"/>
          </a:xfrm>
          <a:prstGeom prst="rect">
            <a:avLst/>
          </a:prstGeom>
          <a:noFill/>
        </p:spPr>
        <p:txBody>
          <a:bodyPr wrap="none" lIns="0" rIns="0" tIns="0" bIns="0">
            <a:spAutoFit/>
          </a:bodyPr>
          <a:lstStyle/>
          <a:p>
            <a:r>
              <a:rPr sz="1100" b="0">
                <a:solidFill>
                  <a:srgbClr val="2E2E2E"/>
                </a:solidFill>
                <a:latin typeface="Calibri"/>
              </a:rPr>
              <a:t>of 2036 value and the leading material type line for</a:t>
            </a:r>
          </a:p>
        </p:txBody>
      </p:sp>
      <p:pic>
        <p:nvPicPr>
          <p:cNvPr id="84" name="Picture 83" descr="lock.png"/>
          <p:cNvPicPr>
            <a:picLocks noChangeAspect="1"/>
          </p:cNvPicPr>
          <p:nvPr/>
        </p:nvPicPr>
        <p:blipFill>
          <a:blip r:embed="rId4"/>
          <a:stretch>
            <a:fillRect/>
          </a:stretch>
        </p:blipFill>
        <p:spPr>
          <a:xfrm>
            <a:off x="6575399" y="5240995"/>
            <a:ext cx="128699" cy="187198"/>
          </a:xfrm>
          <a:prstGeom prst="rect">
            <a:avLst/>
          </a:prstGeom>
        </p:spPr>
      </p:pic>
      <p:sp>
        <p:nvSpPr>
          <p:cNvPr id="85" name="TextBox 84"/>
          <p:cNvSpPr txBox="1"/>
          <p:nvPr/>
        </p:nvSpPr>
        <p:spPr>
          <a:xfrm>
            <a:off x="6742895"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6" name="Picture 85" descr="lock.png"/>
          <p:cNvPicPr>
            <a:picLocks noChangeAspect="1"/>
          </p:cNvPicPr>
          <p:nvPr/>
        </p:nvPicPr>
        <p:blipFill>
          <a:blip r:embed="rId4"/>
          <a:stretch>
            <a:fillRect/>
          </a:stretch>
        </p:blipFill>
        <p:spPr>
          <a:xfrm>
            <a:off x="177032" y="5408635"/>
            <a:ext cx="128699" cy="187198"/>
          </a:xfrm>
          <a:prstGeom prst="rect">
            <a:avLst/>
          </a:prstGeom>
        </p:spPr>
      </p:pic>
      <p:sp>
        <p:nvSpPr>
          <p:cNvPr id="87" name="TextBox 86"/>
          <p:cNvSpPr txBox="1"/>
          <p:nvPr/>
        </p:nvSpPr>
        <p:spPr>
          <a:xfrm>
            <a:off x="344528" y="5418414"/>
            <a:ext cx="9124776"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6 regions. The practical constraint is the same in either case commercial terms set for the market</a:t>
            </a:r>
          </a:p>
        </p:txBody>
      </p:sp>
      <p:sp>
        <p:nvSpPr>
          <p:cNvPr id="88" name="TextBox 87"/>
          <p:cNvSpPr txBox="1"/>
          <p:nvPr/>
        </p:nvSpPr>
        <p:spPr>
          <a:xfrm>
            <a:off x="190500" y="5586054"/>
            <a:ext cx="6191894" cy="186689"/>
          </a:xfrm>
          <a:prstGeom prst="rect">
            <a:avLst/>
          </a:prstGeom>
          <a:noFill/>
        </p:spPr>
        <p:txBody>
          <a:bodyPr wrap="none" lIns="0" rIns="0" tIns="0" bIns="0">
            <a:spAutoFit/>
          </a:bodyPr>
          <a:lstStyle/>
          <a:p>
            <a:r>
              <a:rPr sz="1100" b="0">
                <a:solidFill>
                  <a:srgbClr val="2E2E2E"/>
                </a:solidFill>
                <a:latin typeface="Calibri"/>
              </a:rPr>
              <a:t>as a whole underserve part of it, and margin is lost in the mismatch rather than in the headline growth rate.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Opportunities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9" name="Rectangle 8"/>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1" name="TextBox 10"/>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Saudi Arabia Offers Under-penetrated, Above-pace Headroom</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Others Opens the Fastest Route to Market</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2" name="Picture 61" descr="lock.png"/>
          <p:cNvPicPr>
            <a:picLocks noChangeAspect="1"/>
          </p:cNvPicPr>
          <p:nvPr/>
        </p:nvPicPr>
        <p:blipFill>
          <a:blip r:embed="rId4"/>
          <a:stretch>
            <a:fillRect/>
          </a:stretch>
        </p:blipFill>
        <p:spPr>
          <a:xfrm>
            <a:off x="800563" y="1736285"/>
            <a:ext cx="128699" cy="187198"/>
          </a:xfrm>
          <a:prstGeom prst="rect">
            <a:avLst/>
          </a:prstGeom>
        </p:spPr>
      </p:pic>
      <p:sp>
        <p:nvSpPr>
          <p:cNvPr id="63" name="TextBox 62"/>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4" name="TextBox 63"/>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5" name="Picture 64" descr="lock.png"/>
          <p:cNvPicPr>
            <a:picLocks noChangeAspect="1"/>
          </p:cNvPicPr>
          <p:nvPr/>
        </p:nvPicPr>
        <p:blipFill>
          <a:blip r:embed="rId4"/>
          <a:stretch>
            <a:fillRect/>
          </a:stretch>
        </p:blipFill>
        <p:spPr>
          <a:xfrm>
            <a:off x="3907797" y="1903925"/>
            <a:ext cx="128699" cy="187198"/>
          </a:xfrm>
          <a:prstGeom prst="rect">
            <a:avLst/>
          </a:prstGeom>
        </p:spPr>
      </p:pic>
      <p:sp>
        <p:nvSpPr>
          <p:cNvPr id="66" name="TextBox 65"/>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7" name="TextBox 66"/>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68" name="Picture 67" descr="lock.png"/>
          <p:cNvPicPr>
            <a:picLocks noChangeAspect="1"/>
          </p:cNvPicPr>
          <p:nvPr/>
        </p:nvPicPr>
        <p:blipFill>
          <a:blip r:embed="rId4"/>
          <a:stretch>
            <a:fillRect/>
          </a:stretch>
        </p:blipFill>
        <p:spPr>
          <a:xfrm>
            <a:off x="1313797" y="2071565"/>
            <a:ext cx="128699" cy="187198"/>
          </a:xfrm>
          <a:prstGeom prst="rect">
            <a:avLst/>
          </a:prstGeom>
        </p:spPr>
      </p:pic>
      <p:sp>
        <p:nvSpPr>
          <p:cNvPr id="69" name="TextBox 68"/>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0" name="TextBox 69"/>
          <p:cNvSpPr txBox="1"/>
          <p:nvPr/>
        </p:nvSpPr>
        <p:spPr>
          <a:xfrm>
            <a:off x="190500" y="3498419"/>
            <a:ext cx="1691754" cy="186689"/>
          </a:xfrm>
          <a:prstGeom prst="rect">
            <a:avLst/>
          </a:prstGeom>
          <a:noFill/>
        </p:spPr>
        <p:txBody>
          <a:bodyPr wrap="none" lIns="0" rIns="0" tIns="0" bIns="0">
            <a:spAutoFit/>
          </a:bodyPr>
          <a:lstStyle/>
          <a:p>
            <a:r>
              <a:rPr sz="1100" b="0">
                <a:solidFill>
                  <a:srgbClr val="2E2E2E"/>
                </a:solidFill>
                <a:latin typeface="Calibri"/>
              </a:rPr>
              <a:t>'Saudi Arabia' compounds at</a:t>
            </a:r>
          </a:p>
        </p:txBody>
      </p:sp>
      <p:pic>
        <p:nvPicPr>
          <p:cNvPr id="71" name="Picture 70" descr="lock.png"/>
          <p:cNvPicPr>
            <a:picLocks noChangeAspect="1"/>
          </p:cNvPicPr>
          <p:nvPr/>
        </p:nvPicPr>
        <p:blipFill>
          <a:blip r:embed="rId4"/>
          <a:stretch>
            <a:fillRect/>
          </a:stretch>
        </p:blipFill>
        <p:spPr>
          <a:xfrm>
            <a:off x="1830305" y="3488640"/>
            <a:ext cx="128699" cy="187198"/>
          </a:xfrm>
          <a:prstGeom prst="rect">
            <a:avLst/>
          </a:prstGeom>
        </p:spPr>
      </p:pic>
      <p:sp>
        <p:nvSpPr>
          <p:cNvPr id="72" name="TextBox 71"/>
          <p:cNvSpPr txBox="1"/>
          <p:nvPr/>
        </p:nvSpPr>
        <p:spPr>
          <a:xfrm>
            <a:off x="199780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8 geographies in the dataset combining above-median growth with below-median size.</a:t>
            </a:r>
          </a:p>
        </p:txBody>
      </p:sp>
      <p:sp>
        <p:nvSpPr>
          <p:cNvPr id="73" name="TextBox 72"/>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4" name="Picture 73" descr="lock.png"/>
          <p:cNvPicPr>
            <a:picLocks noChangeAspect="1"/>
          </p:cNvPicPr>
          <p:nvPr/>
        </p:nvPicPr>
        <p:blipFill>
          <a:blip r:embed="rId4"/>
          <a:stretch>
            <a:fillRect/>
          </a:stretch>
        </p:blipFill>
        <p:spPr>
          <a:xfrm>
            <a:off x="5184742" y="3656280"/>
            <a:ext cx="128699" cy="187198"/>
          </a:xfrm>
          <a:prstGeom prst="rect">
            <a:avLst/>
          </a:prstGeom>
        </p:spPr>
      </p:pic>
      <p:sp>
        <p:nvSpPr>
          <p:cNvPr id="75" name="TextBox 74"/>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6" name="Picture 75" descr="lock.png"/>
          <p:cNvPicPr>
            <a:picLocks noChangeAspect="1"/>
          </p:cNvPicPr>
          <p:nvPr/>
        </p:nvPicPr>
        <p:blipFill>
          <a:blip r:embed="rId4"/>
          <a:stretch>
            <a:fillRect/>
          </a:stretch>
        </p:blipFill>
        <p:spPr>
          <a:xfrm>
            <a:off x="7376219" y="3656280"/>
            <a:ext cx="128699" cy="187198"/>
          </a:xfrm>
          <a:prstGeom prst="rect">
            <a:avLst/>
          </a:prstGeom>
        </p:spPr>
      </p:pic>
      <p:sp>
        <p:nvSpPr>
          <p:cNvPr id="77" name="TextBox 76"/>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78" name="TextBox 77"/>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79" name="TextBox 78"/>
          <p:cNvSpPr txBox="1"/>
          <p:nvPr/>
        </p:nvSpPr>
        <p:spPr>
          <a:xfrm>
            <a:off x="190500" y="5250774"/>
            <a:ext cx="1043458" cy="186689"/>
          </a:xfrm>
          <a:prstGeom prst="rect">
            <a:avLst/>
          </a:prstGeom>
          <a:noFill/>
        </p:spPr>
        <p:txBody>
          <a:bodyPr wrap="none" lIns="0" rIns="0" tIns="0" bIns="0">
            <a:spAutoFit/>
          </a:bodyPr>
          <a:lstStyle/>
          <a:p>
            <a:r>
              <a:rPr sz="1100" b="0">
                <a:solidFill>
                  <a:srgbClr val="2E2E2E"/>
                </a:solidFill>
                <a:latin typeface="Calibri"/>
              </a:rPr>
              <a:t>'Others' grows at</a:t>
            </a:r>
          </a:p>
        </p:txBody>
      </p:sp>
      <p:pic>
        <p:nvPicPr>
          <p:cNvPr id="80" name="Picture 79" descr="lock.png"/>
          <p:cNvPicPr>
            <a:picLocks noChangeAspect="1"/>
          </p:cNvPicPr>
          <p:nvPr/>
        </p:nvPicPr>
        <p:blipFill>
          <a:blip r:embed="rId4"/>
          <a:stretch>
            <a:fillRect/>
          </a:stretch>
        </p:blipFill>
        <p:spPr>
          <a:xfrm>
            <a:off x="1182010" y="5240995"/>
            <a:ext cx="128699" cy="187198"/>
          </a:xfrm>
          <a:prstGeom prst="rect">
            <a:avLst/>
          </a:prstGeom>
        </p:spPr>
      </p:pic>
      <p:sp>
        <p:nvSpPr>
          <p:cNvPr id="81" name="TextBox 80"/>
          <p:cNvSpPr txBox="1"/>
          <p:nvPr/>
        </p:nvSpPr>
        <p:spPr>
          <a:xfrm>
            <a:off x="1349506" y="5250774"/>
            <a:ext cx="3280824" cy="186689"/>
          </a:xfrm>
          <a:prstGeom prst="rect">
            <a:avLst/>
          </a:prstGeom>
          <a:noFill/>
        </p:spPr>
        <p:txBody>
          <a:bodyPr wrap="none" lIns="0" rIns="0" tIns="0" bIns="0">
            <a:spAutoFit/>
          </a:bodyPr>
          <a:lstStyle/>
          <a:p>
            <a:r>
              <a:rPr sz="1100" b="0">
                <a:solidFill>
                  <a:srgbClr val="2E2E2E"/>
                </a:solidFill>
                <a:latin typeface="Calibri"/>
              </a:rPr>
              <a:t>CAGR, the fastest of 8 end-use industry routes, and adds</a:t>
            </a:r>
          </a:p>
        </p:txBody>
      </p:sp>
      <p:pic>
        <p:nvPicPr>
          <p:cNvPr id="82" name="Picture 81" descr="lock.png"/>
          <p:cNvPicPr>
            <a:picLocks noChangeAspect="1"/>
          </p:cNvPicPr>
          <p:nvPr/>
        </p:nvPicPr>
        <p:blipFill>
          <a:blip r:embed="rId4"/>
          <a:stretch>
            <a:fillRect/>
          </a:stretch>
        </p:blipFill>
        <p:spPr>
          <a:xfrm>
            <a:off x="4578382" y="5240995"/>
            <a:ext cx="128699" cy="187198"/>
          </a:xfrm>
          <a:prstGeom prst="rect">
            <a:avLst/>
          </a:prstGeom>
        </p:spPr>
      </p:pic>
      <p:sp>
        <p:nvSpPr>
          <p:cNvPr id="83" name="TextBox 82"/>
          <p:cNvSpPr txBox="1"/>
          <p:nvPr/>
        </p:nvSpPr>
        <p:spPr>
          <a:xfrm>
            <a:off x="4745878" y="5250774"/>
            <a:ext cx="4601443" cy="186689"/>
          </a:xfrm>
          <a:prstGeom prst="rect">
            <a:avLst/>
          </a:prstGeom>
          <a:noFill/>
        </p:spPr>
        <p:txBody>
          <a:bodyPr wrap="none" lIns="0" rIns="0" tIns="0" bIns="0">
            <a:spAutoFit/>
          </a:bodyPr>
          <a:lstStyle/>
          <a:p>
            <a:r>
              <a:rPr sz="1100" b="0">
                <a:solidFill>
                  <a:srgbClr val="2E2E2E"/>
                </a:solidFill>
                <a:latin typeface="Calibri"/>
              </a:rPr>
              <a:t>US$ Mn over the forecast period while 'Consumer Goods &amp; Home Products' still</a:t>
            </a:r>
          </a:p>
        </p:txBody>
      </p:sp>
      <p:sp>
        <p:nvSpPr>
          <p:cNvPr id="84" name="TextBox 83"/>
          <p:cNvSpPr txBox="1"/>
          <p:nvPr/>
        </p:nvSpPr>
        <p:spPr>
          <a:xfrm>
            <a:off x="190500" y="5418414"/>
            <a:ext cx="456282" cy="186689"/>
          </a:xfrm>
          <a:prstGeom prst="rect">
            <a:avLst/>
          </a:prstGeom>
          <a:noFill/>
        </p:spPr>
        <p:txBody>
          <a:bodyPr wrap="none" lIns="0" rIns="0" tIns="0" bIns="0">
            <a:spAutoFit/>
          </a:bodyPr>
          <a:lstStyle/>
          <a:p>
            <a:r>
              <a:rPr sz="1100" b="0">
                <a:solidFill>
                  <a:srgbClr val="2E2E2E"/>
                </a:solidFill>
                <a:latin typeface="Calibri"/>
              </a:rPr>
              <a:t>carries</a:t>
            </a:r>
          </a:p>
        </p:txBody>
      </p:sp>
      <p:pic>
        <p:nvPicPr>
          <p:cNvPr id="85" name="Picture 84" descr="lock.png"/>
          <p:cNvPicPr>
            <a:picLocks noChangeAspect="1"/>
          </p:cNvPicPr>
          <p:nvPr/>
        </p:nvPicPr>
        <p:blipFill>
          <a:blip r:embed="rId4"/>
          <a:stretch>
            <a:fillRect/>
          </a:stretch>
        </p:blipFill>
        <p:spPr>
          <a:xfrm>
            <a:off x="594833" y="5408635"/>
            <a:ext cx="128699" cy="187198"/>
          </a:xfrm>
          <a:prstGeom prst="rect">
            <a:avLst/>
          </a:prstGeom>
        </p:spPr>
      </p:pic>
      <p:sp>
        <p:nvSpPr>
          <p:cNvPr id="86" name="TextBox 85"/>
          <p:cNvSpPr txBox="1"/>
          <p:nvPr/>
        </p:nvSpPr>
        <p:spPr>
          <a:xfrm>
            <a:off x="762329" y="5418414"/>
            <a:ext cx="8220273"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'Expanded Polypropylene (EPP)' at</a:t>
            </a:r>
          </a:p>
        </p:txBody>
      </p:sp>
      <p:pic>
        <p:nvPicPr>
          <p:cNvPr id="87" name="Picture 86" descr="lock.png"/>
          <p:cNvPicPr>
            <a:picLocks noChangeAspect="1"/>
          </p:cNvPicPr>
          <p:nvPr/>
        </p:nvPicPr>
        <p:blipFill>
          <a:blip r:embed="rId4"/>
          <a:stretch>
            <a:fillRect/>
          </a:stretch>
        </p:blipFill>
        <p:spPr>
          <a:xfrm>
            <a:off x="8930654" y="5408635"/>
            <a:ext cx="128699" cy="187198"/>
          </a:xfrm>
          <a:prstGeom prst="rect">
            <a:avLst/>
          </a:prstGeom>
        </p:spPr>
      </p:pic>
      <p:sp>
        <p:nvSpPr>
          <p:cNvPr id="88" name="TextBox 87"/>
          <p:cNvSpPr txBox="1"/>
          <p:nvPr/>
        </p:nvSpPr>
        <p:spPr>
          <a:xfrm>
            <a:off x="9098150" y="5418414"/>
            <a:ext cx="162966" cy="186689"/>
          </a:xfrm>
          <a:prstGeom prst="rect">
            <a:avLst/>
          </a:prstGeom>
          <a:noFill/>
        </p:spPr>
        <p:txBody>
          <a:bodyPr wrap="none" lIns="0" rIns="0" tIns="0" bIns="0">
            <a:spAutoFit/>
          </a:bodyPr>
          <a:lstStyle/>
          <a:p>
            <a:r>
              <a:rPr sz="1100" b="0">
                <a:solidFill>
                  <a:srgbClr val="2E2E2E"/>
                </a:solidFill>
                <a:latin typeface="Calibri"/>
              </a:rPr>
              <a:t>is</a:t>
            </a:r>
          </a:p>
        </p:txBody>
      </p:sp>
      <p:sp>
        <p:nvSpPr>
          <p:cNvPr id="89" name="TextBox 88"/>
          <p:cNvSpPr txBox="1"/>
          <p:nvPr/>
        </p:nvSpPr>
        <p:spPr>
          <a:xfrm>
            <a:off x="190500" y="5586054"/>
            <a:ext cx="3019176" cy="186689"/>
          </a:xfrm>
          <a:prstGeom prst="rect">
            <a:avLst/>
          </a:prstGeom>
          <a:noFill/>
        </p:spPr>
        <p:txBody>
          <a:bodyPr wrap="none" lIns="0" rIns="0" tIns="0" bIns="0">
            <a:spAutoFit/>
          </a:bodyPr>
          <a:lstStyle/>
          <a:p>
            <a:r>
              <a:rPr sz="1100" b="0">
                <a:solidFill>
                  <a:srgbClr val="2E2E2E"/>
                </a:solidFill>
                <a:latin typeface="Calibri"/>
              </a:rPr>
              <a:t>the highest-yield combination the dataset supports.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Foam Protective Packaging Market Recent Developments &amp; Milestones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7" name="Rectangle 6"/>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9" name="TextBox 8"/>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0" name="Rectangle 9"/>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2" name="Connector 11"/>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4" name="Rectangle 13"/>
          <p:cNvSpPr/>
          <p:nvPr/>
        </p:nvSpPr>
        <p:spPr>
          <a:xfrm>
            <a:off x="142875" y="2613586"/>
            <a:ext cx="11906250" cy="985700"/>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6" name="Connector 15"/>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0" name="Connector 19"/>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Rectangle 21"/>
          <p:cNvSpPr/>
          <p:nvPr/>
        </p:nvSpPr>
        <p:spPr>
          <a:xfrm>
            <a:off x="142875" y="4584986"/>
            <a:ext cx="11906250" cy="985700"/>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4" name="Connector 23"/>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28" name="Connector 27"/>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Rectangle 2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32" name="TextBox 31"/>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3" name="Picture 32" descr="lock.png"/>
          <p:cNvPicPr>
            <a:picLocks noChangeAspect="1"/>
          </p:cNvPicPr>
          <p:nvPr/>
        </p:nvPicPr>
        <p:blipFill>
          <a:blip r:embed="rId4"/>
          <a:stretch>
            <a:fillRect/>
          </a:stretch>
        </p:blipFill>
        <p:spPr>
          <a:xfrm>
            <a:off x="5207711" y="1788160"/>
            <a:ext cx="128699" cy="187198"/>
          </a:xfrm>
          <a:prstGeom prst="rect">
            <a:avLst/>
          </a:prstGeom>
        </p:spPr>
      </p:pic>
      <p:sp>
        <p:nvSpPr>
          <p:cNvPr id="34" name="TextBox 33"/>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5" name="Picture 34" descr="lock.png"/>
          <p:cNvPicPr>
            <a:picLocks noChangeAspect="1"/>
          </p:cNvPicPr>
          <p:nvPr/>
        </p:nvPicPr>
        <p:blipFill>
          <a:blip r:embed="rId4"/>
          <a:stretch>
            <a:fillRect/>
          </a:stretch>
        </p:blipFill>
        <p:spPr>
          <a:xfrm>
            <a:off x="6259214" y="1788160"/>
            <a:ext cx="128699" cy="187198"/>
          </a:xfrm>
          <a:prstGeom prst="rect">
            <a:avLst/>
          </a:prstGeom>
        </p:spPr>
      </p:pic>
      <p:sp>
        <p:nvSpPr>
          <p:cNvPr id="36" name="TextBox 35"/>
          <p:cNvSpPr txBox="1"/>
          <p:nvPr/>
        </p:nvSpPr>
        <p:spPr>
          <a:xfrm>
            <a:off x="6426710" y="1797939"/>
            <a:ext cx="5225970"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'Other Foam</a:t>
            </a:r>
          </a:p>
        </p:txBody>
      </p:sp>
      <p:sp>
        <p:nvSpPr>
          <p:cNvPr id="37" name="TextBox 36"/>
          <p:cNvSpPr txBox="1"/>
          <p:nvPr/>
        </p:nvSpPr>
        <p:spPr>
          <a:xfrm>
            <a:off x="1743075" y="1965579"/>
            <a:ext cx="644549" cy="186689"/>
          </a:xfrm>
          <a:prstGeom prst="rect">
            <a:avLst/>
          </a:prstGeom>
          <a:noFill/>
        </p:spPr>
        <p:txBody>
          <a:bodyPr wrap="none" lIns="0" rIns="0" tIns="0" bIns="0">
            <a:spAutoFit/>
          </a:bodyPr>
          <a:lstStyle/>
          <a:p>
            <a:r>
              <a:rPr sz="1100" b="0">
                <a:solidFill>
                  <a:srgbClr val="2E2E2E"/>
                </a:solidFill>
                <a:latin typeface="Calibri"/>
              </a:rPr>
              <a:t>Materials'</a:t>
            </a:r>
          </a:p>
        </p:txBody>
      </p:sp>
      <p:pic>
        <p:nvPicPr>
          <p:cNvPr id="38" name="Picture 37" descr="lock.png"/>
          <p:cNvPicPr>
            <a:picLocks noChangeAspect="1"/>
          </p:cNvPicPr>
          <p:nvPr/>
        </p:nvPicPr>
        <p:blipFill>
          <a:blip r:embed="rId4"/>
          <a:stretch>
            <a:fillRect/>
          </a:stretch>
        </p:blipFill>
        <p:spPr>
          <a:xfrm>
            <a:off x="2335676" y="1955800"/>
            <a:ext cx="128699" cy="187198"/>
          </a:xfrm>
          <a:prstGeom prst="rect">
            <a:avLst/>
          </a:prstGeom>
        </p:spPr>
      </p:pic>
      <p:sp>
        <p:nvSpPr>
          <p:cNvPr id="39" name="TextBox 38"/>
          <p:cNvSpPr txBox="1"/>
          <p:nvPr/>
        </p:nvSpPr>
        <p:spPr>
          <a:xfrm>
            <a:off x="2503172" y="1965579"/>
            <a:ext cx="7344147" cy="186689"/>
          </a:xfrm>
          <a:prstGeom prst="rect">
            <a:avLst/>
          </a:prstGeom>
          <a:noFill/>
        </p:spPr>
        <p:txBody>
          <a:bodyPr wrap="none" lIns="0" rIns="0" tIns="0" bIns="0">
            <a:spAutoFit/>
          </a:bodyPr>
          <a:lstStyle/>
          <a:p>
            <a:r>
              <a:rPr sz="1100" b="0">
                <a:solidFill>
                  <a:srgbClr val="2E2E2E"/>
                </a:solidFill>
                <a:latin typeface="Calibri"/>
              </a:rPr>
              <a:t>of material type value by 2036 set the pace, and the 8 end-use industry routes tracked here all carried volume through the year.</a:t>
            </a:r>
          </a:p>
        </p:txBody>
      </p:sp>
      <p:sp>
        <p:nvSpPr>
          <p:cNvPr id="40" name="TextBox 39"/>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1" name="Picture 40" descr="lock.png"/>
          <p:cNvPicPr>
            <a:picLocks noChangeAspect="1"/>
          </p:cNvPicPr>
          <p:nvPr/>
        </p:nvPicPr>
        <p:blipFill>
          <a:blip r:embed="rId4"/>
          <a:stretch>
            <a:fillRect/>
          </a:stretch>
        </p:blipFill>
        <p:spPr>
          <a:xfrm>
            <a:off x="5030621" y="2936114"/>
            <a:ext cx="123551" cy="179710"/>
          </a:xfrm>
          <a:prstGeom prst="rect">
            <a:avLst/>
          </a:prstGeom>
        </p:spPr>
      </p:pic>
      <p:sp>
        <p:nvSpPr>
          <p:cNvPr id="42" name="TextBox 41"/>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3" name="Picture 42" descr="lock.png"/>
          <p:cNvPicPr>
            <a:picLocks noChangeAspect="1"/>
          </p:cNvPicPr>
          <p:nvPr/>
        </p:nvPicPr>
        <p:blipFill>
          <a:blip r:embed="rId4"/>
          <a:stretch>
            <a:fillRect/>
          </a:stretch>
        </p:blipFill>
        <p:spPr>
          <a:xfrm>
            <a:off x="6964179" y="2936114"/>
            <a:ext cx="123551" cy="179710"/>
          </a:xfrm>
          <a:prstGeom prst="rect">
            <a:avLst/>
          </a:prstGeom>
        </p:spPr>
      </p:pic>
      <p:sp>
        <p:nvSpPr>
          <p:cNvPr id="44" name="TextBox 43"/>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5" name="Picture 44" descr="lock.png"/>
          <p:cNvPicPr>
            <a:picLocks noChangeAspect="1"/>
          </p:cNvPicPr>
          <p:nvPr/>
        </p:nvPicPr>
        <p:blipFill>
          <a:blip r:embed="rId4"/>
          <a:stretch>
            <a:fillRect/>
          </a:stretch>
        </p:blipFill>
        <p:spPr>
          <a:xfrm>
            <a:off x="9382846" y="2936114"/>
            <a:ext cx="123551" cy="179710"/>
          </a:xfrm>
          <a:prstGeom prst="rect">
            <a:avLst/>
          </a:prstGeom>
        </p:spPr>
      </p:pic>
      <p:sp>
        <p:nvSpPr>
          <p:cNvPr id="46" name="TextBox 45"/>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7" name="TextBox 46"/>
          <p:cNvSpPr txBox="1"/>
          <p:nvPr/>
        </p:nvSpPr>
        <p:spPr>
          <a:xfrm>
            <a:off x="1743075" y="3106436"/>
            <a:ext cx="4178665" cy="179984"/>
          </a:xfrm>
          <a:prstGeom prst="rect">
            <a:avLst/>
          </a:prstGeom>
          <a:noFill/>
        </p:spPr>
        <p:txBody>
          <a:bodyPr wrap="none" lIns="0" rIns="0" tIns="0" bIns="0">
            <a:spAutoFit/>
          </a:bodyPr>
          <a:lstStyle/>
          <a:p>
            <a:r>
              <a:rPr sz="1055" b="0">
                <a:solidFill>
                  <a:srgbClr val="2E2E2E"/>
                </a:solidFill>
                <a:latin typeface="Calibri"/>
              </a:rPr>
              <a:t>forecast is built from 5 segment breakdowns covering 5 material type lines.</a:t>
            </a:r>
          </a:p>
        </p:txBody>
      </p:sp>
      <p:sp>
        <p:nvSpPr>
          <p:cNvPr id="48" name="TextBox 47"/>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49" name="Picture 48" descr="lock.png"/>
          <p:cNvPicPr>
            <a:picLocks noChangeAspect="1"/>
          </p:cNvPicPr>
          <p:nvPr/>
        </p:nvPicPr>
        <p:blipFill>
          <a:blip r:embed="rId4"/>
          <a:stretch>
            <a:fillRect/>
          </a:stretch>
        </p:blipFill>
        <p:spPr>
          <a:xfrm>
            <a:off x="2779530" y="3921813"/>
            <a:ext cx="123551" cy="179710"/>
          </a:xfrm>
          <a:prstGeom prst="rect">
            <a:avLst/>
          </a:prstGeom>
        </p:spPr>
      </p:pic>
      <p:sp>
        <p:nvSpPr>
          <p:cNvPr id="50" name="TextBox 49"/>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1" name="Picture 50" descr="lock.png"/>
          <p:cNvPicPr>
            <a:picLocks noChangeAspect="1"/>
          </p:cNvPicPr>
          <p:nvPr/>
        </p:nvPicPr>
        <p:blipFill>
          <a:blip r:embed="rId4"/>
          <a:stretch>
            <a:fillRect/>
          </a:stretch>
        </p:blipFill>
        <p:spPr>
          <a:xfrm>
            <a:off x="5832609" y="3921813"/>
            <a:ext cx="123551" cy="179710"/>
          </a:xfrm>
          <a:prstGeom prst="rect">
            <a:avLst/>
          </a:prstGeom>
        </p:spPr>
      </p:pic>
      <p:sp>
        <p:nvSpPr>
          <p:cNvPr id="52" name="TextBox 51"/>
          <p:cNvSpPr txBox="1"/>
          <p:nvPr/>
        </p:nvSpPr>
        <p:spPr>
          <a:xfrm>
            <a:off x="5993405" y="3931201"/>
            <a:ext cx="4066031" cy="179984"/>
          </a:xfrm>
          <a:prstGeom prst="rect">
            <a:avLst/>
          </a:prstGeom>
          <a:noFill/>
        </p:spPr>
        <p:txBody>
          <a:bodyPr wrap="none" lIns="0" rIns="0" tIns="0" bIns="0">
            <a:spAutoFit/>
          </a:bodyPr>
          <a:lstStyle/>
          <a:p>
            <a:r>
              <a:rPr sz="1055" b="0">
                <a:solidFill>
                  <a:srgbClr val="2E2E2E"/>
                </a:solidFill>
                <a:latin typeface="Calibri"/>
              </a:rPr>
              <a:t>US$ Mn. Growth by this point is led by 'Expanded Polypropylene (EPP)' at</a:t>
            </a:r>
          </a:p>
        </p:txBody>
      </p:sp>
      <p:pic>
        <p:nvPicPr>
          <p:cNvPr id="53" name="Picture 52" descr="lock.png"/>
          <p:cNvPicPr>
            <a:picLocks noChangeAspect="1"/>
          </p:cNvPicPr>
          <p:nvPr/>
        </p:nvPicPr>
        <p:blipFill>
          <a:blip r:embed="rId4"/>
          <a:stretch>
            <a:fillRect/>
          </a:stretch>
        </p:blipFill>
        <p:spPr>
          <a:xfrm>
            <a:off x="10006519" y="3921813"/>
            <a:ext cx="123551" cy="179710"/>
          </a:xfrm>
          <a:prstGeom prst="rect">
            <a:avLst/>
          </a:prstGeom>
        </p:spPr>
      </p:pic>
      <p:sp>
        <p:nvSpPr>
          <p:cNvPr id="54" name="TextBox 53"/>
          <p:cNvSpPr txBox="1"/>
          <p:nvPr/>
        </p:nvSpPr>
        <p:spPr>
          <a:xfrm>
            <a:off x="10167315" y="3931201"/>
            <a:ext cx="1413374" cy="179984"/>
          </a:xfrm>
          <a:prstGeom prst="rect">
            <a:avLst/>
          </a:prstGeom>
          <a:noFill/>
        </p:spPr>
        <p:txBody>
          <a:bodyPr wrap="none" lIns="0" rIns="0" tIns="0" bIns="0">
            <a:spAutoFit/>
          </a:bodyPr>
          <a:lstStyle/>
          <a:p>
            <a:r>
              <a:rPr sz="1055" b="0">
                <a:solidFill>
                  <a:srgbClr val="2E2E2E"/>
                </a:solidFill>
                <a:latin typeface="Calibri"/>
              </a:rPr>
              <a:t>CAGR and by 'South Asia</a:t>
            </a:r>
          </a:p>
        </p:txBody>
      </p:sp>
      <p:sp>
        <p:nvSpPr>
          <p:cNvPr id="55" name="TextBox 54"/>
          <p:cNvSpPr txBox="1"/>
          <p:nvPr/>
        </p:nvSpPr>
        <p:spPr>
          <a:xfrm>
            <a:off x="1743075" y="4092135"/>
            <a:ext cx="1554837" cy="179984"/>
          </a:xfrm>
          <a:prstGeom prst="rect">
            <a:avLst/>
          </a:prstGeom>
          <a:noFill/>
        </p:spPr>
        <p:txBody>
          <a:bodyPr wrap="none" lIns="0" rIns="0" tIns="0" bIns="0">
            <a:spAutoFit/>
          </a:bodyPr>
          <a:lstStyle/>
          <a:p>
            <a:r>
              <a:rPr sz="1055" b="0">
                <a:solidFill>
                  <a:srgbClr val="2E2E2E"/>
                </a:solidFill>
                <a:latin typeface="Calibri"/>
              </a:rPr>
              <a:t>&amp; Pacific' among regions at</a:t>
            </a:r>
          </a:p>
        </p:txBody>
      </p:sp>
      <p:pic>
        <p:nvPicPr>
          <p:cNvPr id="56" name="Picture 55" descr="lock.png"/>
          <p:cNvPicPr>
            <a:picLocks noChangeAspect="1"/>
          </p:cNvPicPr>
          <p:nvPr/>
        </p:nvPicPr>
        <p:blipFill>
          <a:blip r:embed="rId4"/>
          <a:stretch>
            <a:fillRect/>
          </a:stretch>
        </p:blipFill>
        <p:spPr>
          <a:xfrm>
            <a:off x="3244993" y="4082747"/>
            <a:ext cx="123551" cy="179710"/>
          </a:xfrm>
          <a:prstGeom prst="rect">
            <a:avLst/>
          </a:prstGeom>
        </p:spPr>
      </p:pic>
      <p:sp>
        <p:nvSpPr>
          <p:cNvPr id="57" name="TextBox 56"/>
          <p:cNvSpPr txBox="1"/>
          <p:nvPr/>
        </p:nvSpPr>
        <p:spPr>
          <a:xfrm>
            <a:off x="3405789"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58" name="TextBox 57"/>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59" name="Picture 58" descr="lock.png"/>
          <p:cNvPicPr>
            <a:picLocks noChangeAspect="1"/>
          </p:cNvPicPr>
          <p:nvPr/>
        </p:nvPicPr>
        <p:blipFill>
          <a:blip r:embed="rId4"/>
          <a:stretch>
            <a:fillRect/>
          </a:stretch>
        </p:blipFill>
        <p:spPr>
          <a:xfrm>
            <a:off x="3880454" y="4907513"/>
            <a:ext cx="123551" cy="179710"/>
          </a:xfrm>
          <a:prstGeom prst="rect">
            <a:avLst/>
          </a:prstGeom>
        </p:spPr>
      </p:pic>
      <p:sp>
        <p:nvSpPr>
          <p:cNvPr id="60" name="TextBox 59"/>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1" name="Picture 60" descr="lock.png"/>
          <p:cNvPicPr>
            <a:picLocks noChangeAspect="1"/>
          </p:cNvPicPr>
          <p:nvPr/>
        </p:nvPicPr>
        <p:blipFill>
          <a:blip r:embed="rId4"/>
          <a:stretch>
            <a:fillRect/>
          </a:stretch>
        </p:blipFill>
        <p:spPr>
          <a:xfrm>
            <a:off x="4529470" y="4907513"/>
            <a:ext cx="123551" cy="179710"/>
          </a:xfrm>
          <a:prstGeom prst="rect">
            <a:avLst/>
          </a:prstGeom>
        </p:spPr>
      </p:pic>
      <p:sp>
        <p:nvSpPr>
          <p:cNvPr id="62" name="TextBox 61"/>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3" name="Picture 62" descr="lock.png"/>
          <p:cNvPicPr>
            <a:picLocks noChangeAspect="1"/>
          </p:cNvPicPr>
          <p:nvPr/>
        </p:nvPicPr>
        <p:blipFill>
          <a:blip r:embed="rId4"/>
          <a:stretch>
            <a:fillRect/>
          </a:stretch>
        </p:blipFill>
        <p:spPr>
          <a:xfrm>
            <a:off x="7218681" y="4907513"/>
            <a:ext cx="123551" cy="179710"/>
          </a:xfrm>
          <a:prstGeom prst="rect">
            <a:avLst/>
          </a:prstGeom>
        </p:spPr>
      </p:pic>
      <p:sp>
        <p:nvSpPr>
          <p:cNvPr id="64" name="TextBox 63"/>
          <p:cNvSpPr txBox="1"/>
          <p:nvPr/>
        </p:nvSpPr>
        <p:spPr>
          <a:xfrm>
            <a:off x="7379477" y="4916901"/>
            <a:ext cx="1740288" cy="179984"/>
          </a:xfrm>
          <a:prstGeom prst="rect">
            <a:avLst/>
          </a:prstGeom>
          <a:noFill/>
        </p:spPr>
        <p:txBody>
          <a:bodyPr wrap="none" lIns="0" rIns="0" tIns="0" bIns="0">
            <a:spAutoFit/>
          </a:bodyPr>
          <a:lstStyle/>
          <a:p>
            <a:r>
              <a:rPr sz="1055" b="0">
                <a:solidFill>
                  <a:srgbClr val="2E2E2E"/>
                </a:solidFill>
                <a:latin typeface="Calibri"/>
              </a:rPr>
              <a:t>US$/MT, and mix has moved +</a:t>
            </a:r>
          </a:p>
        </p:txBody>
      </p:sp>
      <p:pic>
        <p:nvPicPr>
          <p:cNvPr id="65" name="Picture 64" descr="lock.png"/>
          <p:cNvPicPr>
            <a:picLocks noChangeAspect="1"/>
          </p:cNvPicPr>
          <p:nvPr/>
        </p:nvPicPr>
        <p:blipFill>
          <a:blip r:embed="rId4"/>
          <a:stretch>
            <a:fillRect/>
          </a:stretch>
        </p:blipFill>
        <p:spPr>
          <a:xfrm>
            <a:off x="9066848" y="4907513"/>
            <a:ext cx="123551" cy="179710"/>
          </a:xfrm>
          <a:prstGeom prst="rect">
            <a:avLst/>
          </a:prstGeom>
        </p:spPr>
      </p:pic>
      <p:sp>
        <p:nvSpPr>
          <p:cNvPr id="66" name="TextBox 65"/>
          <p:cNvSpPr txBox="1"/>
          <p:nvPr/>
        </p:nvSpPr>
        <p:spPr>
          <a:xfrm>
            <a:off x="9227644" y="4916901"/>
            <a:ext cx="2116693" cy="179984"/>
          </a:xfrm>
          <a:prstGeom prst="rect">
            <a:avLst/>
          </a:prstGeom>
          <a:noFill/>
        </p:spPr>
        <p:txBody>
          <a:bodyPr wrap="none" lIns="0" rIns="0" tIns="0" bIns="0">
            <a:spAutoFit/>
          </a:bodyPr>
          <a:lstStyle/>
          <a:p>
            <a:r>
              <a:rPr sz="1055" b="0">
                <a:solidFill>
                  <a:srgbClr val="2E2E2E"/>
                </a:solidFill>
                <a:latin typeface="Calibri"/>
              </a:rPr>
              <a:t>BPS toward 'Expanded Polypropylene</a:t>
            </a:r>
          </a:p>
        </p:txBody>
      </p:sp>
      <p:sp>
        <p:nvSpPr>
          <p:cNvPr id="67" name="TextBox 66"/>
          <p:cNvSpPr txBox="1"/>
          <p:nvPr/>
        </p:nvSpPr>
        <p:spPr>
          <a:xfrm>
            <a:off x="1743075" y="5077835"/>
            <a:ext cx="2479971" cy="179984"/>
          </a:xfrm>
          <a:prstGeom prst="rect">
            <a:avLst/>
          </a:prstGeom>
          <a:noFill/>
        </p:spPr>
        <p:txBody>
          <a:bodyPr wrap="none" lIns="0" rIns="0" tIns="0" bIns="0">
            <a:spAutoFit/>
          </a:bodyPr>
          <a:lstStyle/>
          <a:p>
            <a:r>
              <a:rPr sz="1055" b="0">
                <a:solidFill>
                  <a:srgbClr val="2E2E2E"/>
                </a:solidFill>
                <a:latin typeface="Calibri"/>
              </a:rPr>
              <a:t>(EPP)' while 'Other Foam Materials' gives up</a:t>
            </a:r>
          </a:p>
        </p:txBody>
      </p:sp>
      <p:pic>
        <p:nvPicPr>
          <p:cNvPr id="68" name="Picture 67" descr="lock.png"/>
          <p:cNvPicPr>
            <a:picLocks noChangeAspect="1"/>
          </p:cNvPicPr>
          <p:nvPr/>
        </p:nvPicPr>
        <p:blipFill>
          <a:blip r:embed="rId4"/>
          <a:stretch>
            <a:fillRect/>
          </a:stretch>
        </p:blipFill>
        <p:spPr>
          <a:xfrm>
            <a:off x="4170128" y="5068447"/>
            <a:ext cx="123551" cy="179710"/>
          </a:xfrm>
          <a:prstGeom prst="rect">
            <a:avLst/>
          </a:prstGeom>
        </p:spPr>
      </p:pic>
      <p:sp>
        <p:nvSpPr>
          <p:cNvPr id="69" name="TextBox 68"/>
          <p:cNvSpPr txBox="1"/>
          <p:nvPr/>
        </p:nvSpPr>
        <p:spPr>
          <a:xfrm>
            <a:off x="4330924"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0" name="TextBox 69"/>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1" name="Picture 70" descr="lock.png"/>
          <p:cNvPicPr>
            <a:picLocks noChangeAspect="1"/>
          </p:cNvPicPr>
          <p:nvPr/>
        </p:nvPicPr>
        <p:blipFill>
          <a:blip r:embed="rId4"/>
          <a:stretch>
            <a:fillRect/>
          </a:stretch>
        </p:blipFill>
        <p:spPr>
          <a:xfrm>
            <a:off x="4234303" y="5893213"/>
            <a:ext cx="123551" cy="179710"/>
          </a:xfrm>
          <a:prstGeom prst="rect">
            <a:avLst/>
          </a:prstGeom>
        </p:spPr>
      </p:pic>
      <p:sp>
        <p:nvSpPr>
          <p:cNvPr id="72" name="TextBox 71"/>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3" name="Picture 72" descr="lock.png"/>
          <p:cNvPicPr>
            <a:picLocks noChangeAspect="1"/>
          </p:cNvPicPr>
          <p:nvPr/>
        </p:nvPicPr>
        <p:blipFill>
          <a:blip r:embed="rId4"/>
          <a:stretch>
            <a:fillRect/>
          </a:stretch>
        </p:blipFill>
        <p:spPr>
          <a:xfrm>
            <a:off x="4977879" y="5893213"/>
            <a:ext cx="123551" cy="179710"/>
          </a:xfrm>
          <a:prstGeom prst="rect">
            <a:avLst/>
          </a:prstGeom>
        </p:spPr>
      </p:pic>
      <p:sp>
        <p:nvSpPr>
          <p:cNvPr id="74" name="TextBox 73"/>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5" name="Picture 74" descr="lock.png"/>
          <p:cNvPicPr>
            <a:picLocks noChangeAspect="1"/>
          </p:cNvPicPr>
          <p:nvPr/>
        </p:nvPicPr>
        <p:blipFill>
          <a:blip r:embed="rId4"/>
          <a:stretch>
            <a:fillRect/>
          </a:stretch>
        </p:blipFill>
        <p:spPr>
          <a:xfrm>
            <a:off x="6523507" y="5893213"/>
            <a:ext cx="123551" cy="179710"/>
          </a:xfrm>
          <a:prstGeom prst="rect">
            <a:avLst/>
          </a:prstGeom>
        </p:spPr>
      </p:pic>
      <p:sp>
        <p:nvSpPr>
          <p:cNvPr id="76" name="TextBox 75"/>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7" name="Picture 76" descr="lock.png"/>
          <p:cNvPicPr>
            <a:picLocks noChangeAspect="1"/>
          </p:cNvPicPr>
          <p:nvPr/>
        </p:nvPicPr>
        <p:blipFill>
          <a:blip r:embed="rId4"/>
          <a:stretch>
            <a:fillRect/>
          </a:stretch>
        </p:blipFill>
        <p:spPr>
          <a:xfrm>
            <a:off x="8430610" y="5893213"/>
            <a:ext cx="123551" cy="179710"/>
          </a:xfrm>
          <a:prstGeom prst="rect">
            <a:avLst/>
          </a:prstGeom>
        </p:spPr>
      </p:pic>
      <p:sp>
        <p:nvSpPr>
          <p:cNvPr id="78" name="TextBox 77"/>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79" name="Picture 78" descr="lock.png"/>
          <p:cNvPicPr>
            <a:picLocks noChangeAspect="1"/>
          </p:cNvPicPr>
          <p:nvPr/>
        </p:nvPicPr>
        <p:blipFill>
          <a:blip r:embed="rId4"/>
          <a:stretch>
            <a:fillRect/>
          </a:stretch>
        </p:blipFill>
        <p:spPr>
          <a:xfrm>
            <a:off x="10217204" y="5893213"/>
            <a:ext cx="123551" cy="179710"/>
          </a:xfrm>
          <a:prstGeom prst="rect">
            <a:avLst/>
          </a:prstGeom>
        </p:spPr>
      </p:pic>
      <p:sp>
        <p:nvSpPr>
          <p:cNvPr id="80" name="TextBox 79"/>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1" name="TextBox 80"/>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2" name="Picture 81" descr="lock.png"/>
          <p:cNvPicPr>
            <a:picLocks noChangeAspect="1"/>
          </p:cNvPicPr>
          <p:nvPr/>
        </p:nvPicPr>
        <p:blipFill>
          <a:blip r:embed="rId4"/>
          <a:stretch>
            <a:fillRect/>
          </a:stretch>
        </p:blipFill>
        <p:spPr>
          <a:xfrm>
            <a:off x="3255209" y="6054147"/>
            <a:ext cx="123551" cy="179710"/>
          </a:xfrm>
          <a:prstGeom prst="rect">
            <a:avLst/>
          </a:prstGeom>
        </p:spPr>
      </p:pic>
      <p:sp>
        <p:nvSpPr>
          <p:cNvPr id="83" name="TextBox 82"/>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Foam Protective Packaging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7" name="TextBox 6"/>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8" name="Oval 7"/>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0" name="TextBox 9"/>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1" name="TextBox 10"/>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3" name="TextBox 12"/>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5 material type lines, which caps supplier leverage in commodity grades.</a:t>
            </a:r>
          </a:p>
        </p:txBody>
      </p:sp>
      <p:sp>
        <p:nvSpPr>
          <p:cNvPr id="14" name="Oval 13"/>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0" name="TextBox 19"/>
          <p:cNvSpPr txBox="1"/>
          <p:nvPr/>
        </p:nvSpPr>
        <p:spPr>
          <a:xfrm>
            <a:off x="26289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2628900" y="403737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TextBox 21"/>
          <p:cNvSpPr txBox="1"/>
          <p:nvPr/>
        </p:nvSpPr>
        <p:spPr>
          <a:xfrm>
            <a:off x="2628900" y="4721889"/>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5 comparable material type lines compete for the same demand.</a:t>
            </a:r>
          </a:p>
        </p:txBody>
      </p:sp>
      <p:sp>
        <p:nvSpPr>
          <p:cNvPr id="23" name="Oval 22"/>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1" name="TextBox 30"/>
          <p:cNvSpPr txBox="1"/>
          <p:nvPr/>
        </p:nvSpPr>
        <p:spPr>
          <a:xfrm>
            <a:off x="50101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50101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501015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Oval 33"/>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39" name="TextBox 38"/>
          <p:cNvSpPr txBox="1"/>
          <p:nvPr/>
        </p:nvSpPr>
        <p:spPr>
          <a:xfrm>
            <a:off x="73914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7391400" y="4037375"/>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739140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Oval 41"/>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0" name="TextBox 49"/>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1" name="TextBox 50"/>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977265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3" name="Rectangle 5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5" name="TextBox 54"/>
          <p:cNvSpPr txBox="1"/>
          <p:nvPr/>
        </p:nvSpPr>
        <p:spPr>
          <a:xfrm>
            <a:off x="171450" y="1069470"/>
            <a:ext cx="10229552"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5 material type lines, 8 end-use industry routes and 6 regions at</a:t>
            </a:r>
          </a:p>
        </p:txBody>
      </p:sp>
      <p:pic>
        <p:nvPicPr>
          <p:cNvPr id="56" name="Picture 55" descr="lock.png"/>
          <p:cNvPicPr>
            <a:picLocks noChangeAspect="1"/>
          </p:cNvPicPr>
          <p:nvPr/>
        </p:nvPicPr>
        <p:blipFill>
          <a:blip r:embed="rId4"/>
          <a:stretch>
            <a:fillRect/>
          </a:stretch>
        </p:blipFill>
        <p:spPr>
          <a:xfrm>
            <a:off x="10349053" y="1059691"/>
            <a:ext cx="128699" cy="187198"/>
          </a:xfrm>
          <a:prstGeom prst="rect">
            <a:avLst/>
          </a:prstGeom>
        </p:spPr>
      </p:pic>
      <p:sp>
        <p:nvSpPr>
          <p:cNvPr id="57" name="TextBox 56"/>
          <p:cNvSpPr txBox="1"/>
          <p:nvPr/>
        </p:nvSpPr>
        <p:spPr>
          <a:xfrm>
            <a:off x="10516549"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58" name="TextBox 57"/>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59" name="TextBox 58"/>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0" name="Picture 59" descr="lock.png"/>
          <p:cNvPicPr>
            <a:picLocks noChangeAspect="1"/>
          </p:cNvPicPr>
          <p:nvPr/>
        </p:nvPicPr>
        <p:blipFill>
          <a:blip r:embed="rId4"/>
          <a:stretch>
            <a:fillRect/>
          </a:stretch>
        </p:blipFill>
        <p:spPr>
          <a:xfrm>
            <a:off x="1295293" y="3006595"/>
            <a:ext cx="128699" cy="187198"/>
          </a:xfrm>
          <a:prstGeom prst="rect">
            <a:avLst/>
          </a:prstGeom>
        </p:spPr>
      </p:pic>
      <p:sp>
        <p:nvSpPr>
          <p:cNvPr id="61" name="TextBox 60"/>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2" name="TextBox 61"/>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3" name="TextBox 62"/>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4" name="TextBox 63"/>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5" name="Picture 64" descr="lock.png"/>
          <p:cNvPicPr>
            <a:picLocks noChangeAspect="1"/>
          </p:cNvPicPr>
          <p:nvPr/>
        </p:nvPicPr>
        <p:blipFill>
          <a:blip r:embed="rId4"/>
          <a:stretch>
            <a:fillRect/>
          </a:stretch>
        </p:blipFill>
        <p:spPr>
          <a:xfrm>
            <a:off x="1900439" y="3789826"/>
            <a:ext cx="128699" cy="187198"/>
          </a:xfrm>
          <a:prstGeom prst="rect">
            <a:avLst/>
          </a:prstGeom>
        </p:spPr>
      </p:pic>
      <p:sp>
        <p:nvSpPr>
          <p:cNvPr id="66" name="TextBox 65"/>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7" name="TextBox 66"/>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68" name="TextBox 67"/>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69" name="TextBox 68"/>
          <p:cNvSpPr txBox="1"/>
          <p:nvPr/>
        </p:nvSpPr>
        <p:spPr>
          <a:xfrm>
            <a:off x="2657475" y="2952014"/>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70" name="TextBox 69"/>
          <p:cNvSpPr txBox="1"/>
          <p:nvPr/>
        </p:nvSpPr>
        <p:spPr>
          <a:xfrm>
            <a:off x="2657475" y="3119654"/>
            <a:ext cx="2033637" cy="186689"/>
          </a:xfrm>
          <a:prstGeom prst="rect">
            <a:avLst/>
          </a:prstGeom>
          <a:noFill/>
        </p:spPr>
        <p:txBody>
          <a:bodyPr wrap="none" lIns="0" rIns="0" tIns="0" bIns="0">
            <a:spAutoFit/>
          </a:bodyPr>
          <a:lstStyle/>
          <a:p>
            <a:r>
              <a:rPr sz="1100" b="0">
                <a:solidFill>
                  <a:srgbClr val="2E2E2E"/>
                </a:solidFill>
                <a:latin typeface="Calibri"/>
              </a:rPr>
              <a:t>Demand routes through 8 end-use</a:t>
            </a:r>
          </a:p>
        </p:txBody>
      </p:sp>
      <p:sp>
        <p:nvSpPr>
          <p:cNvPr id="71" name="TextBox 70"/>
          <p:cNvSpPr txBox="1"/>
          <p:nvPr/>
        </p:nvSpPr>
        <p:spPr>
          <a:xfrm>
            <a:off x="2657475" y="3287294"/>
            <a:ext cx="2093664" cy="186689"/>
          </a:xfrm>
          <a:prstGeom prst="rect">
            <a:avLst/>
          </a:prstGeom>
          <a:noFill/>
        </p:spPr>
        <p:txBody>
          <a:bodyPr wrap="none" lIns="0" rIns="0" tIns="0" bIns="0">
            <a:spAutoFit/>
          </a:bodyPr>
          <a:lstStyle/>
          <a:p>
            <a:r>
              <a:rPr sz="1100" b="0">
                <a:solidFill>
                  <a:srgbClr val="2E2E2E"/>
                </a:solidFill>
                <a:latin typeface="Calibri"/>
              </a:rPr>
              <a:t>industry channels led by 'Consumer</a:t>
            </a:r>
          </a:p>
        </p:txBody>
      </p:sp>
      <p:sp>
        <p:nvSpPr>
          <p:cNvPr id="72" name="TextBox 71"/>
          <p:cNvSpPr txBox="1"/>
          <p:nvPr/>
        </p:nvSpPr>
        <p:spPr>
          <a:xfrm>
            <a:off x="2657475" y="3454934"/>
            <a:ext cx="1650280" cy="186689"/>
          </a:xfrm>
          <a:prstGeom prst="rect">
            <a:avLst/>
          </a:prstGeom>
          <a:noFill/>
        </p:spPr>
        <p:txBody>
          <a:bodyPr wrap="none" lIns="0" rIns="0" tIns="0" bIns="0">
            <a:spAutoFit/>
          </a:bodyPr>
          <a:lstStyle/>
          <a:p>
            <a:r>
              <a:rPr sz="1100" b="0">
                <a:solidFill>
                  <a:srgbClr val="2E2E2E"/>
                </a:solidFill>
                <a:latin typeface="Calibri"/>
              </a:rPr>
              <a:t>Goods &amp; Home Products' at</a:t>
            </a:r>
          </a:p>
        </p:txBody>
      </p:sp>
      <p:pic>
        <p:nvPicPr>
          <p:cNvPr id="73" name="Picture 72" descr="lock.png"/>
          <p:cNvPicPr>
            <a:picLocks noChangeAspect="1"/>
          </p:cNvPicPr>
          <p:nvPr/>
        </p:nvPicPr>
        <p:blipFill>
          <a:blip r:embed="rId4"/>
          <a:stretch>
            <a:fillRect/>
          </a:stretch>
        </p:blipFill>
        <p:spPr>
          <a:xfrm>
            <a:off x="4255807" y="3445155"/>
            <a:ext cx="128699" cy="187198"/>
          </a:xfrm>
          <a:prstGeom prst="rect">
            <a:avLst/>
          </a:prstGeom>
        </p:spPr>
      </p:pic>
      <p:sp>
        <p:nvSpPr>
          <p:cNvPr id="74" name="TextBox 73"/>
          <p:cNvSpPr txBox="1"/>
          <p:nvPr/>
        </p:nvSpPr>
        <p:spPr>
          <a:xfrm>
            <a:off x="4423303" y="3454934"/>
            <a:ext cx="111125" cy="186689"/>
          </a:xfrm>
          <a:prstGeom prst="rect">
            <a:avLst/>
          </a:prstGeom>
          <a:noFill/>
        </p:spPr>
        <p:txBody>
          <a:bodyPr wrap="none" lIns="0" rIns="0" tIns="0" bIns="0">
            <a:spAutoFit/>
          </a:bodyPr>
          <a:lstStyle/>
          <a:p>
            <a:r>
              <a:rPr sz="1100" b="0">
                <a:solidFill>
                  <a:srgbClr val="2E2E2E"/>
                </a:solidFill>
                <a:latin typeface="Calibri"/>
              </a:rPr>
              <a:t>,</a:t>
            </a:r>
          </a:p>
        </p:txBody>
      </p:sp>
      <p:sp>
        <p:nvSpPr>
          <p:cNvPr id="75" name="TextBox 74"/>
          <p:cNvSpPr txBox="1"/>
          <p:nvPr/>
        </p:nvSpPr>
        <p:spPr>
          <a:xfrm>
            <a:off x="2657475" y="3622574"/>
            <a:ext cx="1487388" cy="186689"/>
          </a:xfrm>
          <a:prstGeom prst="rect">
            <a:avLst/>
          </a:prstGeom>
          <a:noFill/>
        </p:spPr>
        <p:txBody>
          <a:bodyPr wrap="none" lIns="0" rIns="0" tIns="0" bIns="0">
            <a:spAutoFit/>
          </a:bodyPr>
          <a:lstStyle/>
          <a:p>
            <a:r>
              <a:rPr sz="1100" b="0">
                <a:solidFill>
                  <a:srgbClr val="2E2E2E"/>
                </a:solidFill>
                <a:latin typeface="Calibri"/>
              </a:rPr>
              <a:t>giving large buyers scale.</a:t>
            </a:r>
          </a:p>
        </p:txBody>
      </p:sp>
      <p:sp>
        <p:nvSpPr>
          <p:cNvPr id="76" name="TextBox 75"/>
          <p:cNvSpPr txBox="1"/>
          <p:nvPr/>
        </p:nvSpPr>
        <p:spPr>
          <a:xfrm>
            <a:off x="2657475" y="4082537"/>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7" name="TextBox 76"/>
          <p:cNvSpPr txBox="1"/>
          <p:nvPr/>
        </p:nvSpPr>
        <p:spPr>
          <a:xfrm>
            <a:off x="2657475" y="4250177"/>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8" name="Picture 77" descr="lock.png"/>
          <p:cNvPicPr>
            <a:picLocks noChangeAspect="1"/>
          </p:cNvPicPr>
          <p:nvPr/>
        </p:nvPicPr>
        <p:blipFill>
          <a:blip r:embed="rId4"/>
          <a:stretch>
            <a:fillRect/>
          </a:stretch>
        </p:blipFill>
        <p:spPr>
          <a:xfrm>
            <a:off x="3101372" y="4240398"/>
            <a:ext cx="128699" cy="187198"/>
          </a:xfrm>
          <a:prstGeom prst="rect">
            <a:avLst/>
          </a:prstGeom>
        </p:spPr>
      </p:pic>
      <p:sp>
        <p:nvSpPr>
          <p:cNvPr id="79" name="TextBox 78"/>
          <p:cNvSpPr txBox="1"/>
          <p:nvPr/>
        </p:nvSpPr>
        <p:spPr>
          <a:xfrm>
            <a:off x="3268868" y="4250177"/>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0" name="TextBox 79"/>
          <p:cNvSpPr txBox="1"/>
          <p:nvPr/>
        </p:nvSpPr>
        <p:spPr>
          <a:xfrm>
            <a:off x="2657475" y="4417817"/>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1" name="Picture 80" descr="lock.png"/>
          <p:cNvPicPr>
            <a:picLocks noChangeAspect="1"/>
          </p:cNvPicPr>
          <p:nvPr/>
        </p:nvPicPr>
        <p:blipFill>
          <a:blip r:embed="rId4"/>
          <a:stretch>
            <a:fillRect/>
          </a:stretch>
        </p:blipFill>
        <p:spPr>
          <a:xfrm>
            <a:off x="3238070" y="4408038"/>
            <a:ext cx="128699" cy="187198"/>
          </a:xfrm>
          <a:prstGeom prst="rect">
            <a:avLst/>
          </a:prstGeom>
        </p:spPr>
      </p:pic>
      <p:sp>
        <p:nvSpPr>
          <p:cNvPr id="82" name="TextBox 81"/>
          <p:cNvSpPr txBox="1"/>
          <p:nvPr/>
        </p:nvSpPr>
        <p:spPr>
          <a:xfrm>
            <a:off x="3405566" y="441781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3" name="TextBox 82"/>
          <p:cNvSpPr txBox="1"/>
          <p:nvPr/>
        </p:nvSpPr>
        <p:spPr>
          <a:xfrm>
            <a:off x="5038725" y="2932554"/>
            <a:ext cx="1848916" cy="186689"/>
          </a:xfrm>
          <a:prstGeom prst="rect">
            <a:avLst/>
          </a:prstGeom>
          <a:noFill/>
        </p:spPr>
        <p:txBody>
          <a:bodyPr wrap="none" lIns="0" rIns="0" tIns="0" bIns="0">
            <a:spAutoFit/>
          </a:bodyPr>
          <a:lstStyle/>
          <a:p>
            <a:r>
              <a:rPr sz="1100" b="0">
                <a:solidFill>
                  <a:srgbClr val="2E2E2E"/>
                </a:solidFill>
                <a:latin typeface="Calibri"/>
              </a:rPr>
              <a:t>▸ Assessed moderate to high. 5</a:t>
            </a:r>
          </a:p>
        </p:txBody>
      </p:sp>
      <p:sp>
        <p:nvSpPr>
          <p:cNvPr id="84" name="TextBox 83"/>
          <p:cNvSpPr txBox="1"/>
          <p:nvPr/>
        </p:nvSpPr>
        <p:spPr>
          <a:xfrm>
            <a:off x="5038725" y="3100194"/>
            <a:ext cx="2032272" cy="186689"/>
          </a:xfrm>
          <a:prstGeom prst="rect">
            <a:avLst/>
          </a:prstGeom>
          <a:noFill/>
        </p:spPr>
        <p:txBody>
          <a:bodyPr wrap="none" lIns="0" rIns="0" tIns="0" bIns="0">
            <a:spAutoFit/>
          </a:bodyPr>
          <a:lstStyle/>
          <a:p>
            <a:r>
              <a:rPr sz="1100" b="0">
                <a:solidFill>
                  <a:srgbClr val="2E2E2E"/>
                </a:solidFill>
                <a:latin typeface="Calibri"/>
              </a:rPr>
              <a:t>material type lines compete inside</a:t>
            </a:r>
          </a:p>
        </p:txBody>
      </p:sp>
      <p:sp>
        <p:nvSpPr>
          <p:cNvPr id="85" name="TextBox 84"/>
          <p:cNvSpPr txBox="1"/>
          <p:nvPr/>
        </p:nvSpPr>
        <p:spPr>
          <a:xfrm>
            <a:off x="5038725" y="3267834"/>
            <a:ext cx="1779066" cy="186689"/>
          </a:xfrm>
          <a:prstGeom prst="rect">
            <a:avLst/>
          </a:prstGeom>
          <a:noFill/>
        </p:spPr>
        <p:txBody>
          <a:bodyPr wrap="none" lIns="0" rIns="0" tIns="0" bIns="0">
            <a:spAutoFit/>
          </a:bodyPr>
          <a:lstStyle/>
          <a:p>
            <a:r>
              <a:rPr sz="1100" b="0">
                <a:solidFill>
                  <a:srgbClr val="2E2E2E"/>
                </a:solidFill>
                <a:latin typeface="Calibri"/>
              </a:rPr>
              <a:t>the segment; the leader holds</a:t>
            </a:r>
          </a:p>
        </p:txBody>
      </p:sp>
      <p:pic>
        <p:nvPicPr>
          <p:cNvPr id="86" name="Picture 85" descr="lock.png"/>
          <p:cNvPicPr>
            <a:picLocks noChangeAspect="1"/>
          </p:cNvPicPr>
          <p:nvPr/>
        </p:nvPicPr>
        <p:blipFill>
          <a:blip r:embed="rId4"/>
          <a:stretch>
            <a:fillRect/>
          </a:stretch>
        </p:blipFill>
        <p:spPr>
          <a:xfrm>
            <a:off x="6765843" y="3258055"/>
            <a:ext cx="128699" cy="187198"/>
          </a:xfrm>
          <a:prstGeom prst="rect">
            <a:avLst/>
          </a:prstGeom>
        </p:spPr>
      </p:pic>
      <p:sp>
        <p:nvSpPr>
          <p:cNvPr id="87" name="TextBox 86"/>
          <p:cNvSpPr txBox="1"/>
          <p:nvPr/>
        </p:nvSpPr>
        <p:spPr>
          <a:xfrm>
            <a:off x="6933339" y="326783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8" name="TextBox 87"/>
          <p:cNvSpPr txBox="1"/>
          <p:nvPr/>
        </p:nvSpPr>
        <p:spPr>
          <a:xfrm>
            <a:off x="5038725" y="3715785"/>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89" name="TextBox 88"/>
          <p:cNvSpPr txBox="1"/>
          <p:nvPr/>
        </p:nvSpPr>
        <p:spPr>
          <a:xfrm>
            <a:off x="5038725" y="3883425"/>
            <a:ext cx="2021631" cy="186689"/>
          </a:xfrm>
          <a:prstGeom prst="rect">
            <a:avLst/>
          </a:prstGeom>
          <a:noFill/>
        </p:spPr>
        <p:txBody>
          <a:bodyPr wrap="none" lIns="0" rIns="0" tIns="0" bIns="0">
            <a:spAutoFit/>
          </a:bodyPr>
          <a:lstStyle/>
          <a:p>
            <a:r>
              <a:rPr sz="1100" b="0">
                <a:solidFill>
                  <a:srgbClr val="2E2E2E"/>
                </a:solidFill>
                <a:latin typeface="Calibri"/>
              </a:rPr>
              <a:t>'Expanded Polypropylene (EPP)' at</a:t>
            </a:r>
          </a:p>
        </p:txBody>
      </p:sp>
      <p:pic>
        <p:nvPicPr>
          <p:cNvPr id="90" name="Picture 89" descr="lock.png"/>
          <p:cNvPicPr>
            <a:picLocks noChangeAspect="1"/>
          </p:cNvPicPr>
          <p:nvPr/>
        </p:nvPicPr>
        <p:blipFill>
          <a:blip r:embed="rId4"/>
          <a:stretch>
            <a:fillRect/>
          </a:stretch>
        </p:blipFill>
        <p:spPr>
          <a:xfrm>
            <a:off x="5025257" y="4041286"/>
            <a:ext cx="128699" cy="187198"/>
          </a:xfrm>
          <a:prstGeom prst="rect">
            <a:avLst/>
          </a:prstGeom>
        </p:spPr>
      </p:pic>
      <p:sp>
        <p:nvSpPr>
          <p:cNvPr id="91" name="TextBox 90"/>
          <p:cNvSpPr txBox="1"/>
          <p:nvPr/>
        </p:nvSpPr>
        <p:spPr>
          <a:xfrm>
            <a:off x="5192753" y="4051065"/>
            <a:ext cx="1586979" cy="186689"/>
          </a:xfrm>
          <a:prstGeom prst="rect">
            <a:avLst/>
          </a:prstGeom>
          <a:noFill/>
        </p:spPr>
        <p:txBody>
          <a:bodyPr wrap="none" lIns="0" rIns="0" tIns="0" bIns="0">
            <a:spAutoFit/>
          </a:bodyPr>
          <a:lstStyle/>
          <a:p>
            <a:r>
              <a:rPr sz="1100" b="0">
                <a:solidFill>
                  <a:srgbClr val="2E2E2E"/>
                </a:solidFill>
                <a:latin typeface="Calibri"/>
              </a:rPr>
              <a:t>against 'Polyurethane (PU)</a:t>
            </a:r>
          </a:p>
        </p:txBody>
      </p:sp>
      <p:sp>
        <p:nvSpPr>
          <p:cNvPr id="92" name="TextBox 91"/>
          <p:cNvSpPr txBox="1"/>
          <p:nvPr/>
        </p:nvSpPr>
        <p:spPr>
          <a:xfrm>
            <a:off x="5038725" y="4218705"/>
            <a:ext cx="568667" cy="186689"/>
          </a:xfrm>
          <a:prstGeom prst="rect">
            <a:avLst/>
          </a:prstGeom>
          <a:noFill/>
        </p:spPr>
        <p:txBody>
          <a:bodyPr wrap="none" lIns="0" rIns="0" tIns="0" bIns="0">
            <a:spAutoFit/>
          </a:bodyPr>
          <a:lstStyle/>
          <a:p>
            <a:r>
              <a:rPr sz="1100" b="0">
                <a:solidFill>
                  <a:srgbClr val="2E2E2E"/>
                </a:solidFill>
                <a:latin typeface="Calibri"/>
              </a:rPr>
              <a:t>Foam' at</a:t>
            </a:r>
          </a:p>
        </p:txBody>
      </p:sp>
      <p:pic>
        <p:nvPicPr>
          <p:cNvPr id="93" name="Picture 92" descr="lock.png"/>
          <p:cNvPicPr>
            <a:picLocks noChangeAspect="1"/>
          </p:cNvPicPr>
          <p:nvPr/>
        </p:nvPicPr>
        <p:blipFill>
          <a:blip r:embed="rId4"/>
          <a:stretch>
            <a:fillRect/>
          </a:stretch>
        </p:blipFill>
        <p:spPr>
          <a:xfrm>
            <a:off x="5555443" y="4208926"/>
            <a:ext cx="128699" cy="187198"/>
          </a:xfrm>
          <a:prstGeom prst="rect">
            <a:avLst/>
          </a:prstGeom>
        </p:spPr>
      </p:pic>
      <p:sp>
        <p:nvSpPr>
          <p:cNvPr id="94" name="TextBox 93"/>
          <p:cNvSpPr txBox="1"/>
          <p:nvPr/>
        </p:nvSpPr>
        <p:spPr>
          <a:xfrm>
            <a:off x="5722939" y="421870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5" name="TextBox 94"/>
          <p:cNvSpPr txBox="1"/>
          <p:nvPr/>
        </p:nvSpPr>
        <p:spPr>
          <a:xfrm>
            <a:off x="5038725" y="4575387"/>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6" name="Picture 95" descr="lock.png"/>
          <p:cNvPicPr>
            <a:picLocks noChangeAspect="1"/>
          </p:cNvPicPr>
          <p:nvPr/>
        </p:nvPicPr>
        <p:blipFill>
          <a:blip r:embed="rId4"/>
          <a:stretch>
            <a:fillRect/>
          </a:stretch>
        </p:blipFill>
        <p:spPr>
          <a:xfrm>
            <a:off x="5025257" y="4733248"/>
            <a:ext cx="128699" cy="187198"/>
          </a:xfrm>
          <a:prstGeom prst="rect">
            <a:avLst/>
          </a:prstGeom>
        </p:spPr>
      </p:pic>
      <p:sp>
        <p:nvSpPr>
          <p:cNvPr id="97" name="TextBox 96"/>
          <p:cNvSpPr txBox="1"/>
          <p:nvPr/>
        </p:nvSpPr>
        <p:spPr>
          <a:xfrm>
            <a:off x="5192753" y="4743027"/>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8" name="TextBox 97"/>
          <p:cNvSpPr txBox="1"/>
          <p:nvPr/>
        </p:nvSpPr>
        <p:spPr>
          <a:xfrm>
            <a:off x="5038725" y="4910667"/>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99" name="TextBox 98"/>
          <p:cNvSpPr txBox="1"/>
          <p:nvPr/>
        </p:nvSpPr>
        <p:spPr>
          <a:xfrm>
            <a:off x="7419975" y="2952014"/>
            <a:ext cx="1743566" cy="186689"/>
          </a:xfrm>
          <a:prstGeom prst="rect">
            <a:avLst/>
          </a:prstGeom>
          <a:noFill/>
        </p:spPr>
        <p:txBody>
          <a:bodyPr wrap="none" lIns="0" rIns="0" tIns="0" bIns="0">
            <a:spAutoFit/>
          </a:bodyPr>
          <a:lstStyle/>
          <a:p>
            <a:r>
              <a:rPr sz="1100" b="0">
                <a:solidFill>
                  <a:srgbClr val="2E2E2E"/>
                </a:solidFill>
                <a:latin typeface="Calibri"/>
              </a:rPr>
              <a:t>▸ Assessed high. 'Other Foam</a:t>
            </a:r>
          </a:p>
        </p:txBody>
      </p:sp>
      <p:sp>
        <p:nvSpPr>
          <p:cNvPr id="100" name="TextBox 99"/>
          <p:cNvSpPr txBox="1"/>
          <p:nvPr/>
        </p:nvSpPr>
        <p:spPr>
          <a:xfrm>
            <a:off x="7419975" y="3119654"/>
            <a:ext cx="960784" cy="186689"/>
          </a:xfrm>
          <a:prstGeom prst="rect">
            <a:avLst/>
          </a:prstGeom>
          <a:noFill/>
        </p:spPr>
        <p:txBody>
          <a:bodyPr wrap="none" lIns="0" rIns="0" tIns="0" bIns="0">
            <a:spAutoFit/>
          </a:bodyPr>
          <a:lstStyle/>
          <a:p>
            <a:r>
              <a:rPr sz="1100" b="0">
                <a:solidFill>
                  <a:srgbClr val="2E2E2E"/>
                </a:solidFill>
                <a:latin typeface="Calibri"/>
              </a:rPr>
              <a:t>Materials' loses</a:t>
            </a:r>
          </a:p>
        </p:txBody>
      </p:sp>
      <p:pic>
        <p:nvPicPr>
          <p:cNvPr id="101" name="Picture 100" descr="lock.png"/>
          <p:cNvPicPr>
            <a:picLocks noChangeAspect="1"/>
          </p:cNvPicPr>
          <p:nvPr/>
        </p:nvPicPr>
        <p:blipFill>
          <a:blip r:embed="rId4"/>
          <a:stretch>
            <a:fillRect/>
          </a:stretch>
        </p:blipFill>
        <p:spPr>
          <a:xfrm>
            <a:off x="8328811" y="3109875"/>
            <a:ext cx="128699" cy="187198"/>
          </a:xfrm>
          <a:prstGeom prst="rect">
            <a:avLst/>
          </a:prstGeom>
        </p:spPr>
      </p:pic>
      <p:sp>
        <p:nvSpPr>
          <p:cNvPr id="102" name="TextBox 101"/>
          <p:cNvSpPr txBox="1"/>
          <p:nvPr/>
        </p:nvSpPr>
        <p:spPr>
          <a:xfrm>
            <a:off x="8496307" y="3119654"/>
            <a:ext cx="933772" cy="186689"/>
          </a:xfrm>
          <a:prstGeom prst="rect">
            <a:avLst/>
          </a:prstGeom>
          <a:noFill/>
        </p:spPr>
        <p:txBody>
          <a:bodyPr wrap="none" lIns="0" rIns="0" tIns="0" bIns="0">
            <a:spAutoFit/>
          </a:bodyPr>
          <a:lstStyle/>
          <a:p>
            <a:r>
              <a:rPr sz="1100" b="0">
                <a:solidFill>
                  <a:srgbClr val="2E2E2E"/>
                </a:solidFill>
                <a:latin typeface="Calibri"/>
              </a:rPr>
              <a:t>BPS of share to</a:t>
            </a:r>
          </a:p>
        </p:txBody>
      </p:sp>
      <p:sp>
        <p:nvSpPr>
          <p:cNvPr id="103" name="TextBox 102"/>
          <p:cNvSpPr txBox="1"/>
          <p:nvPr/>
        </p:nvSpPr>
        <p:spPr>
          <a:xfrm>
            <a:off x="7419975" y="3287294"/>
            <a:ext cx="1876201" cy="186689"/>
          </a:xfrm>
          <a:prstGeom prst="rect">
            <a:avLst/>
          </a:prstGeom>
          <a:noFill/>
        </p:spPr>
        <p:txBody>
          <a:bodyPr wrap="none" lIns="0" rIns="0" tIns="0" bIns="0">
            <a:spAutoFit/>
          </a:bodyPr>
          <a:lstStyle/>
          <a:p>
            <a:r>
              <a:rPr sz="1100" b="0">
                <a:solidFill>
                  <a:srgbClr val="2E2E2E"/>
                </a:solidFill>
                <a:latin typeface="Calibri"/>
              </a:rPr>
              <a:t>'Expanded Polypropylene (EPP)'</a:t>
            </a:r>
          </a:p>
        </p:txBody>
      </p:sp>
      <p:sp>
        <p:nvSpPr>
          <p:cNvPr id="104" name="TextBox 103"/>
          <p:cNvSpPr txBox="1"/>
          <p:nvPr/>
        </p:nvSpPr>
        <p:spPr>
          <a:xfrm>
            <a:off x="7419975" y="3454934"/>
            <a:ext cx="188069"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5" name="Picture 104" descr="lock.png"/>
          <p:cNvPicPr>
            <a:picLocks noChangeAspect="1"/>
          </p:cNvPicPr>
          <p:nvPr/>
        </p:nvPicPr>
        <p:blipFill>
          <a:blip r:embed="rId4"/>
          <a:stretch>
            <a:fillRect/>
          </a:stretch>
        </p:blipFill>
        <p:spPr>
          <a:xfrm>
            <a:off x="7556095" y="3445155"/>
            <a:ext cx="128699" cy="187198"/>
          </a:xfrm>
          <a:prstGeom prst="rect">
            <a:avLst/>
          </a:prstGeom>
        </p:spPr>
      </p:pic>
      <p:sp>
        <p:nvSpPr>
          <p:cNvPr id="106" name="TextBox 105"/>
          <p:cNvSpPr txBox="1"/>
          <p:nvPr/>
        </p:nvSpPr>
        <p:spPr>
          <a:xfrm>
            <a:off x="7723591" y="3454934"/>
            <a:ext cx="1646460" cy="186689"/>
          </a:xfrm>
          <a:prstGeom prst="rect">
            <a:avLst/>
          </a:prstGeom>
          <a:noFill/>
        </p:spPr>
        <p:txBody>
          <a:bodyPr wrap="none" lIns="0" rIns="0" tIns="0" bIns="0">
            <a:spAutoFit/>
          </a:bodyPr>
          <a:lstStyle/>
          <a:p>
            <a:r>
              <a:rPr sz="1100" b="0">
                <a:solidFill>
                  <a:srgbClr val="2E2E2E"/>
                </a:solidFill>
                <a:latin typeface="Calibri"/>
              </a:rPr>
              <a:t>BPS) by 2036 substitution is</a:t>
            </a:r>
          </a:p>
        </p:txBody>
      </p:sp>
      <p:sp>
        <p:nvSpPr>
          <p:cNvPr id="107" name="TextBox 106"/>
          <p:cNvSpPr txBox="1"/>
          <p:nvPr/>
        </p:nvSpPr>
        <p:spPr>
          <a:xfrm>
            <a:off x="7419975" y="3622574"/>
            <a:ext cx="1293117" cy="186689"/>
          </a:xfrm>
          <a:prstGeom prst="rect">
            <a:avLst/>
          </a:prstGeom>
          <a:noFill/>
        </p:spPr>
        <p:txBody>
          <a:bodyPr wrap="none" lIns="0" rIns="0" tIns="0" bIns="0">
            <a:spAutoFit/>
          </a:bodyPr>
          <a:lstStyle/>
          <a:p>
            <a:r>
              <a:rPr sz="1100" b="0">
                <a:solidFill>
                  <a:srgbClr val="2E2E2E"/>
                </a:solidFill>
                <a:latin typeface="Calibri"/>
              </a:rPr>
              <a:t>visible inside the mix.</a:t>
            </a:r>
          </a:p>
        </p:txBody>
      </p:sp>
      <p:sp>
        <p:nvSpPr>
          <p:cNvPr id="108" name="TextBox 107"/>
          <p:cNvSpPr txBox="1"/>
          <p:nvPr/>
        </p:nvSpPr>
        <p:spPr>
          <a:xfrm>
            <a:off x="7419975" y="4077231"/>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09" name="Picture 108" descr="lock.png"/>
          <p:cNvPicPr>
            <a:picLocks noChangeAspect="1"/>
          </p:cNvPicPr>
          <p:nvPr/>
        </p:nvPicPr>
        <p:blipFill>
          <a:blip r:embed="rId4"/>
          <a:stretch>
            <a:fillRect/>
          </a:stretch>
        </p:blipFill>
        <p:spPr>
          <a:xfrm>
            <a:off x="8917440" y="4067843"/>
            <a:ext cx="123551" cy="179710"/>
          </a:xfrm>
          <a:prstGeom prst="rect">
            <a:avLst/>
          </a:prstGeom>
        </p:spPr>
      </p:pic>
      <p:sp>
        <p:nvSpPr>
          <p:cNvPr id="110" name="TextBox 109"/>
          <p:cNvSpPr txBox="1"/>
          <p:nvPr/>
        </p:nvSpPr>
        <p:spPr>
          <a:xfrm>
            <a:off x="9078236" y="4077231"/>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1" name="Picture 110" descr="lock.png"/>
          <p:cNvPicPr>
            <a:picLocks noChangeAspect="1"/>
          </p:cNvPicPr>
          <p:nvPr/>
        </p:nvPicPr>
        <p:blipFill>
          <a:blip r:embed="rId4"/>
          <a:stretch>
            <a:fillRect/>
          </a:stretch>
        </p:blipFill>
        <p:spPr>
          <a:xfrm>
            <a:off x="9206555" y="4067843"/>
            <a:ext cx="123551" cy="179710"/>
          </a:xfrm>
          <a:prstGeom prst="rect">
            <a:avLst/>
          </a:prstGeom>
        </p:spPr>
      </p:pic>
      <p:sp>
        <p:nvSpPr>
          <p:cNvPr id="112" name="TextBox 111"/>
          <p:cNvSpPr txBox="1"/>
          <p:nvPr/>
        </p:nvSpPr>
        <p:spPr>
          <a:xfrm>
            <a:off x="7419975" y="4238165"/>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3" name="TextBox 112"/>
          <p:cNvSpPr txBox="1"/>
          <p:nvPr/>
        </p:nvSpPr>
        <p:spPr>
          <a:xfrm>
            <a:off x="7419975" y="4575387"/>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4" name="Picture 113" descr="lock.png"/>
          <p:cNvPicPr>
            <a:picLocks noChangeAspect="1"/>
          </p:cNvPicPr>
          <p:nvPr/>
        </p:nvPicPr>
        <p:blipFill>
          <a:blip r:embed="rId4"/>
          <a:stretch>
            <a:fillRect/>
          </a:stretch>
        </p:blipFill>
        <p:spPr>
          <a:xfrm>
            <a:off x="8622399" y="4565608"/>
            <a:ext cx="128699" cy="187198"/>
          </a:xfrm>
          <a:prstGeom prst="rect">
            <a:avLst/>
          </a:prstGeom>
        </p:spPr>
      </p:pic>
      <p:sp>
        <p:nvSpPr>
          <p:cNvPr id="115" name="TextBox 114"/>
          <p:cNvSpPr txBox="1"/>
          <p:nvPr/>
        </p:nvSpPr>
        <p:spPr>
          <a:xfrm>
            <a:off x="8789895" y="4575387"/>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6" name="TextBox 115"/>
          <p:cNvSpPr txBox="1"/>
          <p:nvPr/>
        </p:nvSpPr>
        <p:spPr>
          <a:xfrm>
            <a:off x="7419975" y="4743027"/>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7" name="TextBox 116"/>
          <p:cNvSpPr txBox="1"/>
          <p:nvPr/>
        </p:nvSpPr>
        <p:spPr>
          <a:xfrm>
            <a:off x="7419975" y="4910667"/>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8" name="TextBox 117"/>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19" name="TextBox 118"/>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20" name="Picture 119" descr="lock.png"/>
          <p:cNvPicPr>
            <a:picLocks noChangeAspect="1"/>
          </p:cNvPicPr>
          <p:nvPr/>
        </p:nvPicPr>
        <p:blipFill>
          <a:blip r:embed="rId4"/>
          <a:stretch>
            <a:fillRect/>
          </a:stretch>
        </p:blipFill>
        <p:spPr>
          <a:xfrm>
            <a:off x="10752626" y="3006595"/>
            <a:ext cx="128699" cy="187198"/>
          </a:xfrm>
          <a:prstGeom prst="rect">
            <a:avLst/>
          </a:prstGeom>
        </p:spPr>
      </p:pic>
      <p:sp>
        <p:nvSpPr>
          <p:cNvPr id="121" name="TextBox 120"/>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2" name="Picture 121" descr="lock.png"/>
          <p:cNvPicPr>
            <a:picLocks noChangeAspect="1"/>
          </p:cNvPicPr>
          <p:nvPr/>
        </p:nvPicPr>
        <p:blipFill>
          <a:blip r:embed="rId4"/>
          <a:stretch>
            <a:fillRect/>
          </a:stretch>
        </p:blipFill>
        <p:spPr>
          <a:xfrm>
            <a:off x="9787757" y="3174235"/>
            <a:ext cx="128699" cy="187198"/>
          </a:xfrm>
          <a:prstGeom prst="rect">
            <a:avLst/>
          </a:prstGeom>
        </p:spPr>
      </p:pic>
      <p:sp>
        <p:nvSpPr>
          <p:cNvPr id="123" name="TextBox 122"/>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4" name="TextBox 123"/>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5" name="TextBox 124"/>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6" name="TextBox 125"/>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7" name="Picture 126" descr="lock.png"/>
          <p:cNvPicPr>
            <a:picLocks noChangeAspect="1"/>
          </p:cNvPicPr>
          <p:nvPr/>
        </p:nvPicPr>
        <p:blipFill>
          <a:blip r:embed="rId4"/>
          <a:stretch>
            <a:fillRect/>
          </a:stretch>
        </p:blipFill>
        <p:spPr>
          <a:xfrm>
            <a:off x="11242394" y="3866197"/>
            <a:ext cx="128699" cy="187198"/>
          </a:xfrm>
          <a:prstGeom prst="rect">
            <a:avLst/>
          </a:prstGeom>
        </p:spPr>
      </p:pic>
      <p:sp>
        <p:nvSpPr>
          <p:cNvPr id="128" name="TextBox 127"/>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29" name="TextBox 128"/>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30" name="TextBox 129"/>
          <p:cNvSpPr txBox="1"/>
          <p:nvPr/>
        </p:nvSpPr>
        <p:spPr>
          <a:xfrm>
            <a:off x="9801225" y="4400299"/>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1" name="TextBox 130"/>
          <p:cNvSpPr txBox="1"/>
          <p:nvPr/>
        </p:nvSpPr>
        <p:spPr>
          <a:xfrm>
            <a:off x="9801225" y="4567939"/>
            <a:ext cx="1705366" cy="186689"/>
          </a:xfrm>
          <a:prstGeom prst="rect">
            <a:avLst/>
          </a:prstGeom>
          <a:noFill/>
        </p:spPr>
        <p:txBody>
          <a:bodyPr wrap="none" lIns="0" rIns="0" tIns="0" bIns="0">
            <a:spAutoFit/>
          </a:bodyPr>
          <a:lstStyle/>
          <a:p>
            <a:r>
              <a:rPr sz="1100" b="0">
                <a:solidFill>
                  <a:srgbClr val="2E2E2E"/>
                </a:solidFill>
                <a:latin typeface="Calibri"/>
              </a:rPr>
              <a:t>and 'Other Foam Materials' (</a:t>
            </a:r>
          </a:p>
        </p:txBody>
      </p:sp>
      <p:pic>
        <p:nvPicPr>
          <p:cNvPr id="132" name="Picture 131" descr="lock.png"/>
          <p:cNvPicPr>
            <a:picLocks noChangeAspect="1"/>
          </p:cNvPicPr>
          <p:nvPr/>
        </p:nvPicPr>
        <p:blipFill>
          <a:blip r:embed="rId4"/>
          <a:stretch>
            <a:fillRect/>
          </a:stretch>
        </p:blipFill>
        <p:spPr>
          <a:xfrm>
            <a:off x="11454643" y="4558160"/>
            <a:ext cx="128699" cy="187198"/>
          </a:xfrm>
          <a:prstGeom prst="rect">
            <a:avLst/>
          </a:prstGeom>
        </p:spPr>
      </p:pic>
      <p:sp>
        <p:nvSpPr>
          <p:cNvPr id="133" name="TextBox 132"/>
          <p:cNvSpPr txBox="1"/>
          <p:nvPr/>
        </p:nvSpPr>
        <p:spPr>
          <a:xfrm>
            <a:off x="11622139" y="4567939"/>
            <a:ext cx="192434" cy="186689"/>
          </a:xfrm>
          <a:prstGeom prst="rect">
            <a:avLst/>
          </a:prstGeom>
          <a:noFill/>
        </p:spPr>
        <p:txBody>
          <a:bodyPr wrap="none" lIns="0" rIns="0" tIns="0" bIns="0">
            <a:spAutoFit/>
          </a:bodyPr>
          <a:lstStyle/>
          <a:p>
            <a:r>
              <a:rPr sz="1100" b="0">
                <a:solidFill>
                  <a:srgbClr val="2E2E2E"/>
                </a:solidFill>
                <a:latin typeface="Calibri"/>
              </a:rPr>
              <a:t>of</a:t>
            </a:r>
          </a:p>
        </p:txBody>
      </p:sp>
      <p:sp>
        <p:nvSpPr>
          <p:cNvPr id="134" name="TextBox 133"/>
          <p:cNvSpPr txBox="1"/>
          <p:nvPr/>
        </p:nvSpPr>
        <p:spPr>
          <a:xfrm>
            <a:off x="9801225" y="4735579"/>
            <a:ext cx="1843459" cy="186689"/>
          </a:xfrm>
          <a:prstGeom prst="rect">
            <a:avLst/>
          </a:prstGeom>
          <a:noFill/>
        </p:spPr>
        <p:txBody>
          <a:bodyPr wrap="none" lIns="0" rIns="0" tIns="0" bIns="0">
            <a:spAutoFit/>
          </a:bodyPr>
          <a:lstStyle/>
          <a:p>
            <a:r>
              <a:rPr sz="1100" b="0">
                <a:solidFill>
                  <a:srgbClr val="2E2E2E"/>
                </a:solidFill>
                <a:latin typeface="Calibri"/>
              </a:rPr>
              <a:t>segment) remains the principal</a:t>
            </a:r>
          </a:p>
        </p:txBody>
      </p:sp>
      <p:sp>
        <p:nvSpPr>
          <p:cNvPr id="135" name="TextBox 134"/>
          <p:cNvSpPr txBox="1"/>
          <p:nvPr/>
        </p:nvSpPr>
        <p:spPr>
          <a:xfrm>
            <a:off x="9801225" y="4903219"/>
            <a:ext cx="499938" cy="186689"/>
          </a:xfrm>
          <a:prstGeom prst="rect">
            <a:avLst/>
          </a:prstGeom>
          <a:noFill/>
        </p:spPr>
        <p:txBody>
          <a:bodyPr wrap="none" lIns="0" rIns="0" tIns="0" bIns="0">
            <a:spAutoFit/>
          </a:bodyPr>
          <a:lstStyle/>
          <a:p>
            <a:r>
              <a:rPr sz="1100" b="0">
                <a:solidFill>
                  <a:srgbClr val="2E2E2E"/>
                </a:solidFill>
                <a:latin typeface="Calibri"/>
              </a:rPr>
              <a:t>barrier.</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Foam Protective Packaging Market</a:t>
            </a:r>
          </a:p>
        </p:txBody>
      </p:sp>
      <p:sp>
        <p:nvSpPr>
          <p:cNvPr id="6" name="TMR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Advice for Market Vendors / Suppliers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Foam Protective Packaging Market.</a:t>
            </a:r>
          </a:p>
        </p:txBody>
      </p:sp>
      <p:sp>
        <p:nvSpPr>
          <p:cNvPr id="8" name="Rounded Rectangle 7"/>
          <p:cNvSpPr/>
          <p:nvPr/>
        </p:nvSpPr>
        <p:spPr>
          <a:xfrm>
            <a:off x="142875"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Pricing &amp; Margin Strategy</a:t>
            </a:r>
          </a:p>
        </p:txBody>
      </p:sp>
      <p:sp>
        <p:nvSpPr>
          <p:cNvPr id="10" name="Rectangle 9"/>
          <p:cNvSpPr/>
          <p:nvPr/>
        </p:nvSpPr>
        <p:spPr>
          <a:xfrm>
            <a:off x="276225"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2" name="Rounded Rectangle 11"/>
          <p:cNvSpPr/>
          <p:nvPr/>
        </p:nvSpPr>
        <p:spPr>
          <a:xfrm>
            <a:off x="6191250"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Product &amp; Innovation</a:t>
            </a:r>
          </a:p>
        </p:txBody>
      </p:sp>
      <p:sp>
        <p:nvSpPr>
          <p:cNvPr id="14" name="Rectangle 13"/>
          <p:cNvSpPr/>
          <p:nvPr/>
        </p:nvSpPr>
        <p:spPr>
          <a:xfrm>
            <a:off x="6324600"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ounded Rectangle 15"/>
          <p:cNvSpPr/>
          <p:nvPr/>
        </p:nvSpPr>
        <p:spPr>
          <a:xfrm>
            <a:off x="142875"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Geographic &amp; Channel Expansion</a:t>
            </a:r>
          </a:p>
        </p:txBody>
      </p:sp>
      <p:sp>
        <p:nvSpPr>
          <p:cNvPr id="18" name="Rectangle 17"/>
          <p:cNvSpPr/>
          <p:nvPr/>
        </p:nvSpPr>
        <p:spPr>
          <a:xfrm>
            <a:off x="276225"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Build reliable distribution and logistics partnerships to convert demand into fulfilled volume.</a:t>
            </a:r>
          </a:p>
        </p:txBody>
      </p:sp>
      <p:sp>
        <p:nvSpPr>
          <p:cNvPr id="20" name="Rounded Rectangle 19"/>
          <p:cNvSpPr/>
          <p:nvPr/>
        </p:nvSpPr>
        <p:spPr>
          <a:xfrm>
            <a:off x="6191250"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Competitive &amp; Risk Positioning</a:t>
            </a:r>
          </a:p>
        </p:txBody>
      </p:sp>
      <p:sp>
        <p:nvSpPr>
          <p:cNvPr id="22" name="Rectangle 21"/>
          <p:cNvSpPr/>
          <p:nvPr/>
        </p:nvSpPr>
        <p:spPr>
          <a:xfrm>
            <a:off x="6324600"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6" name="TextBox 25"/>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7" name="Picture 26" descr="lock.png"/>
          <p:cNvPicPr>
            <a:picLocks noChangeAspect="1"/>
          </p:cNvPicPr>
          <p:nvPr/>
        </p:nvPicPr>
        <p:blipFill>
          <a:blip r:embed="rId4"/>
          <a:stretch>
            <a:fillRect/>
          </a:stretch>
        </p:blipFill>
        <p:spPr>
          <a:xfrm>
            <a:off x="3460765" y="1762957"/>
            <a:ext cx="134549" cy="195707"/>
          </a:xfrm>
          <a:prstGeom prst="rect">
            <a:avLst/>
          </a:prstGeom>
        </p:spPr>
      </p:pic>
      <p:sp>
        <p:nvSpPr>
          <p:cNvPr id="28" name="TextBox 27"/>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29" name="TextBox 28"/>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0" name="TextBox 29"/>
          <p:cNvSpPr txBox="1"/>
          <p:nvPr/>
        </p:nvSpPr>
        <p:spPr>
          <a:xfrm>
            <a:off x="276225" y="2176279"/>
            <a:ext cx="5512822"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'Other Foam Materials') to lift blended</a:t>
            </a:r>
          </a:p>
        </p:txBody>
      </p:sp>
      <p:sp>
        <p:nvSpPr>
          <p:cNvPr id="31" name="TextBox 30"/>
          <p:cNvSpPr txBox="1"/>
          <p:nvPr/>
        </p:nvSpPr>
        <p:spPr>
          <a:xfrm>
            <a:off x="276225" y="2351539"/>
            <a:ext cx="2706241" cy="194310"/>
          </a:xfrm>
          <a:prstGeom prst="rect">
            <a:avLst/>
          </a:prstGeom>
          <a:noFill/>
        </p:spPr>
        <p:txBody>
          <a:bodyPr wrap="none" lIns="0" rIns="0" tIns="0" bIns="0">
            <a:spAutoFit/>
          </a:bodyPr>
          <a:lstStyle/>
          <a:p>
            <a:r>
              <a:rPr sz="1150" b="0">
                <a:solidFill>
                  <a:srgbClr val="2E2E2E"/>
                </a:solidFill>
                <a:latin typeface="Calibri"/>
              </a:rPr>
              <a:t>ASP and defend margin as input costs move.</a:t>
            </a:r>
          </a:p>
        </p:txBody>
      </p:sp>
      <p:sp>
        <p:nvSpPr>
          <p:cNvPr id="32" name="TextBox 31"/>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3" name="TextBox 32"/>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4" name="TextBox 33"/>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5" name="Picture 34" descr="lock.png"/>
          <p:cNvPicPr>
            <a:picLocks noChangeAspect="1"/>
          </p:cNvPicPr>
          <p:nvPr/>
        </p:nvPicPr>
        <p:blipFill>
          <a:blip r:embed="rId4"/>
          <a:stretch>
            <a:fillRect/>
          </a:stretch>
        </p:blipFill>
        <p:spPr>
          <a:xfrm>
            <a:off x="7934254" y="1938217"/>
            <a:ext cx="134549" cy="195707"/>
          </a:xfrm>
          <a:prstGeom prst="rect">
            <a:avLst/>
          </a:prstGeom>
        </p:spPr>
      </p:pic>
      <p:sp>
        <p:nvSpPr>
          <p:cNvPr id="36" name="TextBox 35"/>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7" name="TextBox 36"/>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38" name="TextBox 37"/>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39" name="TextBox 38"/>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0" name="TextBox 39"/>
          <p:cNvSpPr txBox="1"/>
          <p:nvPr/>
        </p:nvSpPr>
        <p:spPr>
          <a:xfrm>
            <a:off x="6324600" y="4465602"/>
            <a:ext cx="3593095" cy="194310"/>
          </a:xfrm>
          <a:prstGeom prst="rect">
            <a:avLst/>
          </a:prstGeom>
          <a:noFill/>
        </p:spPr>
        <p:txBody>
          <a:bodyPr wrap="none" lIns="0" rIns="0" tIns="0" bIns="0">
            <a:spAutoFit/>
          </a:bodyPr>
          <a:lstStyle/>
          <a:p>
            <a:r>
              <a:rPr sz="1150" b="0">
                <a:solidFill>
                  <a:srgbClr val="2E2E2E"/>
                </a:solidFill>
                <a:latin typeface="Calibri"/>
              </a:rPr>
              <a:t>▪ Benchmark relentlessly against 'Sealed Air Corporation' (~</a:t>
            </a:r>
          </a:p>
        </p:txBody>
      </p:sp>
      <p:pic>
        <p:nvPicPr>
          <p:cNvPr id="41" name="Picture 40" descr="lock.png"/>
          <p:cNvPicPr>
            <a:picLocks noChangeAspect="1"/>
          </p:cNvPicPr>
          <p:nvPr/>
        </p:nvPicPr>
        <p:blipFill>
          <a:blip r:embed="rId4"/>
          <a:stretch>
            <a:fillRect/>
          </a:stretch>
        </p:blipFill>
        <p:spPr>
          <a:xfrm>
            <a:off x="9866849" y="4455378"/>
            <a:ext cx="134549" cy="195707"/>
          </a:xfrm>
          <a:prstGeom prst="rect">
            <a:avLst/>
          </a:prstGeom>
        </p:spPr>
      </p:pic>
      <p:sp>
        <p:nvSpPr>
          <p:cNvPr id="42" name="TextBox 41"/>
          <p:cNvSpPr txBox="1"/>
          <p:nvPr/>
        </p:nvSpPr>
        <p:spPr>
          <a:xfrm>
            <a:off x="10041958" y="4465602"/>
            <a:ext cx="1746646" cy="194310"/>
          </a:xfrm>
          <a:prstGeom prst="rect">
            <a:avLst/>
          </a:prstGeom>
          <a:noFill/>
        </p:spPr>
        <p:txBody>
          <a:bodyPr wrap="none" lIns="0" rIns="0" tIns="0" bIns="0">
            <a:spAutoFit/>
          </a:bodyPr>
          <a:lstStyle/>
          <a:p>
            <a:r>
              <a:rPr sz="1150" b="0">
                <a:solidFill>
                  <a:srgbClr val="2E2E2E"/>
                </a:solidFill>
                <a:latin typeface="Calibri"/>
              </a:rPr>
              <a:t>share) match on service and</a:t>
            </a:r>
          </a:p>
        </p:txBody>
      </p:sp>
      <p:sp>
        <p:nvSpPr>
          <p:cNvPr id="43" name="TextBox 42"/>
          <p:cNvSpPr txBox="1"/>
          <p:nvPr/>
        </p:nvSpPr>
        <p:spPr>
          <a:xfrm>
            <a:off x="6324600" y="4640861"/>
            <a:ext cx="2033327" cy="194310"/>
          </a:xfrm>
          <a:prstGeom prst="rect">
            <a:avLst/>
          </a:prstGeom>
          <a:noFill/>
        </p:spPr>
        <p:txBody>
          <a:bodyPr wrap="none" lIns="0" rIns="0" tIns="0" bIns="0">
            <a:spAutoFit/>
          </a:bodyPr>
          <a:lstStyle/>
          <a:p>
            <a:r>
              <a:rPr sz="1150" b="0">
                <a:solidFill>
                  <a:srgbClr val="2E2E2E"/>
                </a:solidFill>
                <a:latin typeface="Calibri"/>
              </a:rPr>
              <a:t>lead on innovation to take share.</a:t>
            </a:r>
          </a:p>
        </p:txBody>
      </p:sp>
      <p:sp>
        <p:nvSpPr>
          <p:cNvPr id="44" name="TextBox 43"/>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5" name="TextBox 44"/>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6" name="TextBox 45"/>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7" name="TextBox 46"/>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Company Value Share (Global)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8" name="Rounded Rectangle 7"/>
          <p:cNvSpPr/>
          <p:nvPr/>
        </p:nvSpPr>
        <p:spPr>
          <a:xfrm>
            <a:off x="142875" y="1354081"/>
            <a:ext cx="754380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0" name="Chart 9"/>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1" name="TextBox 10"/>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2" name="Rounded Rectangle 11"/>
          <p:cNvSpPr/>
          <p:nvPr/>
        </p:nvSpPr>
        <p:spPr>
          <a:xfrm>
            <a:off x="7800975" y="1354081"/>
            <a:ext cx="4248150" cy="5220558"/>
          </a:xfrm>
          <a:prstGeom prst="roundRect">
            <a:avLst>
              <a:gd name="adj" fmla="val 17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14" name="Rectangle 13"/>
          <p:cNvSpPr/>
          <p:nvPr/>
        </p:nvSpPr>
        <p:spPr>
          <a:xfrm>
            <a:off x="7934325" y="1677931"/>
            <a:ext cx="39814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5"/>
          <a:stretch>
            <a:fillRect/>
          </a:stretch>
        </p:blipFill>
        <p:spPr>
          <a:xfrm>
            <a:off x="2533173" y="3678610"/>
            <a:ext cx="523875" cy="762000"/>
          </a:xfrm>
          <a:prstGeom prst="rect">
            <a:avLst/>
          </a:prstGeom>
        </p:spPr>
      </p:pic>
      <p:sp>
        <p:nvSpPr>
          <p:cNvPr id="19" name="TextBox 18"/>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0" name="Picture 19" descr="lock.png"/>
          <p:cNvPicPr>
            <a:picLocks noChangeAspect="1"/>
          </p:cNvPicPr>
          <p:nvPr/>
        </p:nvPicPr>
        <p:blipFill>
          <a:blip r:embed="rId5"/>
          <a:stretch>
            <a:fillRect/>
          </a:stretch>
        </p:blipFill>
        <p:spPr>
          <a:xfrm>
            <a:off x="2540344" y="4091735"/>
            <a:ext cx="109510" cy="159288"/>
          </a:xfrm>
          <a:prstGeom prst="rect">
            <a:avLst/>
          </a:prstGeom>
        </p:spPr>
      </p:pic>
      <p:sp>
        <p:nvSpPr>
          <p:cNvPr id="21" name="TextBox 20"/>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2" name="TextBox 21"/>
          <p:cNvSpPr txBox="1"/>
          <p:nvPr/>
        </p:nvSpPr>
        <p:spPr>
          <a:xfrm>
            <a:off x="7934325" y="1773181"/>
            <a:ext cx="3696642" cy="194310"/>
          </a:xfrm>
          <a:prstGeom prst="rect">
            <a:avLst/>
          </a:prstGeom>
          <a:noFill/>
        </p:spPr>
        <p:txBody>
          <a:bodyPr wrap="none" lIns="0" rIns="0" tIns="0" bIns="0">
            <a:spAutoFit/>
          </a:bodyPr>
          <a:lstStyle/>
          <a:p>
            <a:r>
              <a:rPr sz="1150" b="0">
                <a:solidFill>
                  <a:srgbClr val="2E2E2E"/>
                </a:solidFill>
                <a:latin typeface="Calibri"/>
              </a:rPr>
              <a:t>Sealed Air Corporation accounted for the largest share of the</a:t>
            </a:r>
          </a:p>
        </p:txBody>
      </p:sp>
      <p:sp>
        <p:nvSpPr>
          <p:cNvPr id="23" name="TextBox 22"/>
          <p:cNvSpPr txBox="1"/>
          <p:nvPr/>
        </p:nvSpPr>
        <p:spPr>
          <a:xfrm>
            <a:off x="7934325" y="1948441"/>
            <a:ext cx="3962400" cy="194310"/>
          </a:xfrm>
          <a:prstGeom prst="rect">
            <a:avLst/>
          </a:prstGeom>
          <a:noFill/>
        </p:spPr>
        <p:txBody>
          <a:bodyPr wrap="none" lIns="0" rIns="0" tIns="0" bIns="0">
            <a:spAutoFit/>
          </a:bodyPr>
          <a:lstStyle/>
          <a:p>
            <a:r>
              <a:rPr sz="1150" b="0">
                <a:solidFill>
                  <a:srgbClr val="2E2E2E"/>
                </a:solidFill>
                <a:latin typeface="Calibri"/>
              </a:rPr>
              <a:t>global foam protective packaging market in 2026. The global foam</a:t>
            </a:r>
          </a:p>
        </p:txBody>
      </p:sp>
      <p:sp>
        <p:nvSpPr>
          <p:cNvPr id="24" name="TextBox 23"/>
          <p:cNvSpPr txBox="1"/>
          <p:nvPr/>
        </p:nvSpPr>
        <p:spPr>
          <a:xfrm>
            <a:off x="7934325" y="2123701"/>
            <a:ext cx="3783074" cy="194310"/>
          </a:xfrm>
          <a:prstGeom prst="rect">
            <a:avLst/>
          </a:prstGeom>
          <a:noFill/>
        </p:spPr>
        <p:txBody>
          <a:bodyPr wrap="none" lIns="0" rIns="0" tIns="0" bIns="0">
            <a:spAutoFit/>
          </a:bodyPr>
          <a:lstStyle/>
          <a:p>
            <a:r>
              <a:rPr sz="1150" b="0">
                <a:solidFill>
                  <a:srgbClr val="2E2E2E"/>
                </a:solidFill>
                <a:latin typeface="Calibri"/>
              </a:rPr>
              <a:t>protective packaging market is fragmented, with the top three</a:t>
            </a:r>
          </a:p>
        </p:txBody>
      </p:sp>
      <p:sp>
        <p:nvSpPr>
          <p:cNvPr id="25" name="TextBox 24"/>
          <p:cNvSpPr txBox="1"/>
          <p:nvPr/>
        </p:nvSpPr>
        <p:spPr>
          <a:xfrm>
            <a:off x="7934325" y="2298961"/>
            <a:ext cx="2205049" cy="194310"/>
          </a:xfrm>
          <a:prstGeom prst="rect">
            <a:avLst/>
          </a:prstGeom>
          <a:noFill/>
        </p:spPr>
        <p:txBody>
          <a:bodyPr wrap="none" lIns="0" rIns="0" tIns="0" bIns="0">
            <a:spAutoFit/>
          </a:bodyPr>
          <a:lstStyle/>
          <a:p>
            <a:r>
              <a:rPr sz="1150" b="0">
                <a:solidFill>
                  <a:srgbClr val="2E2E2E"/>
                </a:solidFill>
                <a:latin typeface="Calibri"/>
              </a:rPr>
              <a:t>players accounting for an estimated</a:t>
            </a:r>
          </a:p>
        </p:txBody>
      </p:sp>
      <p:pic>
        <p:nvPicPr>
          <p:cNvPr id="26" name="Picture 25" descr="lock.png"/>
          <p:cNvPicPr>
            <a:picLocks noChangeAspect="1"/>
          </p:cNvPicPr>
          <p:nvPr/>
        </p:nvPicPr>
        <p:blipFill>
          <a:blip r:embed="rId5"/>
          <a:stretch>
            <a:fillRect/>
          </a:stretch>
        </p:blipFill>
        <p:spPr>
          <a:xfrm>
            <a:off x="10088528" y="2288737"/>
            <a:ext cx="134549" cy="195707"/>
          </a:xfrm>
          <a:prstGeom prst="rect">
            <a:avLst/>
          </a:prstGeom>
        </p:spPr>
      </p:pic>
      <p:sp>
        <p:nvSpPr>
          <p:cNvPr id="27" name="TextBox 26"/>
          <p:cNvSpPr txBox="1"/>
          <p:nvPr/>
        </p:nvSpPr>
        <p:spPr>
          <a:xfrm>
            <a:off x="10263638" y="2298961"/>
            <a:ext cx="1392361" cy="194310"/>
          </a:xfrm>
          <a:prstGeom prst="rect">
            <a:avLst/>
          </a:prstGeom>
          <a:noFill/>
        </p:spPr>
        <p:txBody>
          <a:bodyPr wrap="none" lIns="0" rIns="0" tIns="0" bIns="0">
            <a:spAutoFit/>
          </a:bodyPr>
          <a:lstStyle/>
          <a:p>
            <a:r>
              <a:rPr sz="1150" b="0">
                <a:solidFill>
                  <a:srgbClr val="2E2E2E"/>
                </a:solidFill>
                <a:latin typeface="Calibri"/>
              </a:rPr>
              <a:t>share of the market in</a:t>
            </a:r>
          </a:p>
        </p:txBody>
      </p:sp>
      <p:sp>
        <p:nvSpPr>
          <p:cNvPr id="28" name="TextBox 27"/>
          <p:cNvSpPr txBox="1"/>
          <p:nvPr/>
        </p:nvSpPr>
        <p:spPr>
          <a:xfrm>
            <a:off x="7934325" y="2474221"/>
            <a:ext cx="409661" cy="194310"/>
          </a:xfrm>
          <a:prstGeom prst="rect">
            <a:avLst/>
          </a:prstGeom>
          <a:noFill/>
        </p:spPr>
        <p:txBody>
          <a:bodyPr wrap="none" lIns="0" rIns="0" tIns="0" bIns="0">
            <a:spAutoFit/>
          </a:bodyPr>
          <a:lstStyle/>
          <a:p>
            <a:r>
              <a:rPr sz="1150" b="0">
                <a:solidFill>
                  <a:srgbClr val="2E2E2E"/>
                </a:solidFill>
                <a:latin typeface="Calibri"/>
              </a:rPr>
              <a:t>2026.</a:t>
            </a:r>
          </a:p>
        </p:txBody>
      </p:sp>
      <p:sp>
        <p:nvSpPr>
          <p:cNvPr id="29" name="TextBox 28"/>
          <p:cNvSpPr txBox="1"/>
          <p:nvPr/>
        </p:nvSpPr>
        <p:spPr>
          <a:xfrm>
            <a:off x="7934325" y="2702058"/>
            <a:ext cx="3093330" cy="194310"/>
          </a:xfrm>
          <a:prstGeom prst="rect">
            <a:avLst/>
          </a:prstGeom>
          <a:noFill/>
        </p:spPr>
        <p:txBody>
          <a:bodyPr wrap="none" lIns="0" rIns="0" tIns="0" bIns="0">
            <a:spAutoFit/>
          </a:bodyPr>
          <a:lstStyle/>
          <a:p>
            <a:r>
              <a:rPr sz="1150" b="0">
                <a:solidFill>
                  <a:srgbClr val="2E2E2E"/>
                </a:solidFill>
                <a:latin typeface="Calibri"/>
              </a:rPr>
              <a:t>Sealed Air Corporation accounted for an estimated</a:t>
            </a:r>
          </a:p>
        </p:txBody>
      </p:sp>
      <p:pic>
        <p:nvPicPr>
          <p:cNvPr id="30" name="Picture 29" descr="lock.png"/>
          <p:cNvPicPr>
            <a:picLocks noChangeAspect="1"/>
          </p:cNvPicPr>
          <p:nvPr/>
        </p:nvPicPr>
        <p:blipFill>
          <a:blip r:embed="rId5"/>
          <a:stretch>
            <a:fillRect/>
          </a:stretch>
        </p:blipFill>
        <p:spPr>
          <a:xfrm>
            <a:off x="10976809" y="2691835"/>
            <a:ext cx="134549" cy="195707"/>
          </a:xfrm>
          <a:prstGeom prst="rect">
            <a:avLst/>
          </a:prstGeom>
        </p:spPr>
      </p:pic>
      <p:sp>
        <p:nvSpPr>
          <p:cNvPr id="31" name="TextBox 30"/>
          <p:cNvSpPr txBox="1"/>
          <p:nvPr/>
        </p:nvSpPr>
        <p:spPr>
          <a:xfrm>
            <a:off x="11151918" y="2702058"/>
            <a:ext cx="558279" cy="194310"/>
          </a:xfrm>
          <a:prstGeom prst="rect">
            <a:avLst/>
          </a:prstGeom>
          <a:noFill/>
        </p:spPr>
        <p:txBody>
          <a:bodyPr wrap="none" lIns="0" rIns="0" tIns="0" bIns="0">
            <a:spAutoFit/>
          </a:bodyPr>
          <a:lstStyle/>
          <a:p>
            <a:r>
              <a:rPr sz="1150" b="0">
                <a:solidFill>
                  <a:srgbClr val="2E2E2E"/>
                </a:solidFill>
                <a:latin typeface="Calibri"/>
              </a:rPr>
              <a:t>share of</a:t>
            </a:r>
          </a:p>
        </p:txBody>
      </p:sp>
      <p:sp>
        <p:nvSpPr>
          <p:cNvPr id="32" name="TextBox 31"/>
          <p:cNvSpPr txBox="1"/>
          <p:nvPr/>
        </p:nvSpPr>
        <p:spPr>
          <a:xfrm>
            <a:off x="7934325" y="2877318"/>
            <a:ext cx="2390179" cy="194310"/>
          </a:xfrm>
          <a:prstGeom prst="rect">
            <a:avLst/>
          </a:prstGeom>
          <a:noFill/>
        </p:spPr>
        <p:txBody>
          <a:bodyPr wrap="none" lIns="0" rIns="0" tIns="0" bIns="0">
            <a:spAutoFit/>
          </a:bodyPr>
          <a:lstStyle/>
          <a:p>
            <a:r>
              <a:rPr sz="1150" b="0">
                <a:solidFill>
                  <a:srgbClr val="2E2E2E"/>
                </a:solidFill>
                <a:latin typeface="Calibri"/>
              </a:rPr>
              <a:t>the market, followed by Company with</a:t>
            </a:r>
          </a:p>
        </p:txBody>
      </p:sp>
      <p:pic>
        <p:nvPicPr>
          <p:cNvPr id="33" name="Picture 32" descr="lock.png"/>
          <p:cNvPicPr>
            <a:picLocks noChangeAspect="1"/>
          </p:cNvPicPr>
          <p:nvPr/>
        </p:nvPicPr>
        <p:blipFill>
          <a:blip r:embed="rId5"/>
          <a:stretch>
            <a:fillRect/>
          </a:stretch>
        </p:blipFill>
        <p:spPr>
          <a:xfrm>
            <a:off x="10273658" y="2867095"/>
            <a:ext cx="134549" cy="195707"/>
          </a:xfrm>
          <a:prstGeom prst="rect">
            <a:avLst/>
          </a:prstGeom>
        </p:spPr>
      </p:pic>
      <p:sp>
        <p:nvSpPr>
          <p:cNvPr id="34" name="TextBox 33"/>
          <p:cNvSpPr txBox="1"/>
          <p:nvPr/>
        </p:nvSpPr>
        <p:spPr>
          <a:xfrm>
            <a:off x="10448767" y="2877318"/>
            <a:ext cx="1048019" cy="194310"/>
          </a:xfrm>
          <a:prstGeom prst="rect">
            <a:avLst/>
          </a:prstGeom>
          <a:noFill/>
        </p:spPr>
        <p:txBody>
          <a:bodyPr wrap="none" lIns="0" rIns="0" tIns="0" bIns="0">
            <a:spAutoFit/>
          </a:bodyPr>
          <a:lstStyle/>
          <a:p>
            <a:r>
              <a:rPr sz="1150" b="0">
                <a:solidFill>
                  <a:srgbClr val="2E2E2E"/>
                </a:solidFill>
                <a:latin typeface="Calibri"/>
              </a:rPr>
              <a:t>. Key players are</a:t>
            </a:r>
          </a:p>
        </p:txBody>
      </p:sp>
      <p:sp>
        <p:nvSpPr>
          <p:cNvPr id="35" name="TextBox 34"/>
          <p:cNvSpPr txBox="1"/>
          <p:nvPr/>
        </p:nvSpPr>
        <p:spPr>
          <a:xfrm>
            <a:off x="7934325" y="3052578"/>
            <a:ext cx="3551448" cy="194310"/>
          </a:xfrm>
          <a:prstGeom prst="rect">
            <a:avLst/>
          </a:prstGeom>
          <a:noFill/>
        </p:spPr>
        <p:txBody>
          <a:bodyPr wrap="none" lIns="0" rIns="0" tIns="0" bIns="0">
            <a:spAutoFit/>
          </a:bodyPr>
          <a:lstStyle/>
          <a:p>
            <a:r>
              <a:rPr sz="1150" b="0">
                <a:solidFill>
                  <a:srgbClr val="2E2E2E"/>
                </a:solidFill>
                <a:latin typeface="Calibri"/>
              </a:rPr>
              <a:t>focusing on product innovation, geographic expansion and</a:t>
            </a:r>
          </a:p>
        </p:txBody>
      </p:sp>
      <p:sp>
        <p:nvSpPr>
          <p:cNvPr id="36" name="TextBox 35"/>
          <p:cNvSpPr txBox="1"/>
          <p:nvPr/>
        </p:nvSpPr>
        <p:spPr>
          <a:xfrm>
            <a:off x="7934325" y="3227838"/>
            <a:ext cx="3540038" cy="194310"/>
          </a:xfrm>
          <a:prstGeom prst="rect">
            <a:avLst/>
          </a:prstGeom>
          <a:noFill/>
        </p:spPr>
        <p:txBody>
          <a:bodyPr wrap="none" lIns="0" rIns="0" tIns="0" bIns="0">
            <a:spAutoFit/>
          </a:bodyPr>
          <a:lstStyle/>
          <a:p>
            <a:r>
              <a:rPr sz="1150" b="0">
                <a:solidFill>
                  <a:srgbClr val="2E2E2E"/>
                </a:solidFill>
                <a:latin typeface="Calibri"/>
              </a:rPr>
              <a:t>strategic partnerships to strengthen their market position.</a:t>
            </a:r>
          </a:p>
        </p:txBody>
      </p:sp>
      <p:sp>
        <p:nvSpPr>
          <p:cNvPr id="37" name="TextBox 36"/>
          <p:cNvSpPr txBox="1"/>
          <p:nvPr/>
        </p:nvSpPr>
        <p:spPr>
          <a:xfrm>
            <a:off x="7934325" y="345567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8" name="TextBox 37"/>
          <p:cNvSpPr txBox="1"/>
          <p:nvPr/>
        </p:nvSpPr>
        <p:spPr>
          <a:xfrm>
            <a:off x="7934325" y="363093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39" name="lockshield_10"/>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Company Share by Product Type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material type, highlighting where leadership differs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Other Foam Materials</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Expanded Polystyrene (EPS)</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Expanded Polypropylene (EPP)</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3397865" cy="186689"/>
          </a:xfrm>
          <a:prstGeom prst="rect">
            <a:avLst/>
          </a:prstGeom>
          <a:noFill/>
        </p:spPr>
        <p:txBody>
          <a:bodyPr wrap="none" lIns="0" rIns="0" tIns="0" bIns="0">
            <a:spAutoFit/>
          </a:bodyPr>
          <a:lstStyle/>
          <a:p>
            <a:r>
              <a:rPr sz="1100" b="0">
                <a:solidFill>
                  <a:srgbClr val="2E2E2E"/>
                </a:solidFill>
                <a:latin typeface="Calibri"/>
              </a:rPr>
              <a:t>▪ Other Foam Materials: 'Sealed Air Corporation' leads at ~</a:t>
            </a:r>
          </a:p>
        </p:txBody>
      </p:sp>
      <p:pic>
        <p:nvPicPr>
          <p:cNvPr id="27" name="Picture 26" descr="lock.png"/>
          <p:cNvPicPr>
            <a:picLocks noChangeAspect="1"/>
          </p:cNvPicPr>
          <p:nvPr/>
        </p:nvPicPr>
        <p:blipFill>
          <a:blip r:embed="rId7"/>
          <a:stretch>
            <a:fillRect/>
          </a:stretch>
        </p:blipFill>
        <p:spPr>
          <a:xfrm>
            <a:off x="3622141" y="5012560"/>
            <a:ext cx="128699" cy="187198"/>
          </a:xfrm>
          <a:prstGeom prst="rect">
            <a:avLst/>
          </a:prstGeom>
        </p:spPr>
      </p:pic>
      <p:sp>
        <p:nvSpPr>
          <p:cNvPr id="28" name="TextBox 27"/>
          <p:cNvSpPr txBox="1"/>
          <p:nvPr/>
        </p:nvSpPr>
        <p:spPr>
          <a:xfrm>
            <a:off x="3789637" y="5022340"/>
            <a:ext cx="3825726" cy="186689"/>
          </a:xfrm>
          <a:prstGeom prst="rect">
            <a:avLst/>
          </a:prstGeom>
          <a:noFill/>
        </p:spPr>
        <p:txBody>
          <a:bodyPr wrap="none" lIns="0" rIns="0" tIns="0" bIns="0">
            <a:spAutoFit/>
          </a:bodyPr>
          <a:lstStyle/>
          <a:p>
            <a:r>
              <a:rPr sz="1100" b="0">
                <a:solidFill>
                  <a:srgbClr val="2E2E2E"/>
                </a:solidFill>
                <a:latin typeface="Calibri"/>
              </a:rPr>
              <a:t>, ahead of 'BHS Corrugated Maschinen- und Anlagenbau GmbH' (~</a:t>
            </a:r>
          </a:p>
        </p:txBody>
      </p:sp>
      <p:pic>
        <p:nvPicPr>
          <p:cNvPr id="29" name="Picture 28" descr="lock.png"/>
          <p:cNvPicPr>
            <a:picLocks noChangeAspect="1"/>
          </p:cNvPicPr>
          <p:nvPr/>
        </p:nvPicPr>
        <p:blipFill>
          <a:blip r:embed="rId7"/>
          <a:stretch>
            <a:fillRect/>
          </a:stretch>
        </p:blipFill>
        <p:spPr>
          <a:xfrm>
            <a:off x="7563415" y="5012560"/>
            <a:ext cx="128699" cy="187198"/>
          </a:xfrm>
          <a:prstGeom prst="rect">
            <a:avLst/>
          </a:prstGeom>
        </p:spPr>
      </p:pic>
      <p:sp>
        <p:nvSpPr>
          <p:cNvPr id="30" name="TextBox 29"/>
          <p:cNvSpPr txBox="1"/>
          <p:nvPr/>
        </p:nvSpPr>
        <p:spPr>
          <a:xfrm>
            <a:off x="7730911" y="5022340"/>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9007551" y="5012560"/>
            <a:ext cx="128699" cy="187198"/>
          </a:xfrm>
          <a:prstGeom prst="rect">
            <a:avLst/>
          </a:prstGeom>
        </p:spPr>
      </p:pic>
      <p:sp>
        <p:nvSpPr>
          <p:cNvPr id="32" name="TextBox 31"/>
          <p:cNvSpPr txBox="1"/>
          <p:nvPr/>
        </p:nvSpPr>
        <p:spPr>
          <a:xfrm>
            <a:off x="9175047" y="5022340"/>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10662874" y="5012560"/>
            <a:ext cx="128699" cy="187198"/>
          </a:xfrm>
          <a:prstGeom prst="rect">
            <a:avLst/>
          </a:prstGeom>
        </p:spPr>
      </p:pic>
      <p:sp>
        <p:nvSpPr>
          <p:cNvPr id="34" name="TextBox 33"/>
          <p:cNvSpPr txBox="1"/>
          <p:nvPr/>
        </p:nvSpPr>
        <p:spPr>
          <a:xfrm>
            <a:off x="10830370" y="502234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5" name="TextBox 34"/>
          <p:cNvSpPr txBox="1"/>
          <p:nvPr/>
        </p:nvSpPr>
        <p:spPr>
          <a:xfrm>
            <a:off x="276225" y="5240272"/>
            <a:ext cx="3384525" cy="186689"/>
          </a:xfrm>
          <a:prstGeom prst="rect">
            <a:avLst/>
          </a:prstGeom>
          <a:noFill/>
        </p:spPr>
        <p:txBody>
          <a:bodyPr wrap="none" lIns="0" rIns="0" tIns="0" bIns="0">
            <a:spAutoFit/>
          </a:bodyPr>
          <a:lstStyle/>
          <a:p>
            <a:r>
              <a:rPr sz="1100" b="0">
                <a:solidFill>
                  <a:srgbClr val="2E2E2E"/>
                </a:solidFill>
                <a:latin typeface="Calibri"/>
              </a:rPr>
              <a:t>▪ Expanded Polystyrene (EPS): 'BOBST Group SA' leads at ~</a:t>
            </a:r>
          </a:p>
        </p:txBody>
      </p:sp>
      <p:pic>
        <p:nvPicPr>
          <p:cNvPr id="36" name="Picture 35" descr="lock.png"/>
          <p:cNvPicPr>
            <a:picLocks noChangeAspect="1"/>
          </p:cNvPicPr>
          <p:nvPr/>
        </p:nvPicPr>
        <p:blipFill>
          <a:blip r:embed="rId7"/>
          <a:stretch>
            <a:fillRect/>
          </a:stretch>
        </p:blipFill>
        <p:spPr>
          <a:xfrm>
            <a:off x="3608801" y="5230492"/>
            <a:ext cx="128699" cy="187198"/>
          </a:xfrm>
          <a:prstGeom prst="rect">
            <a:avLst/>
          </a:prstGeom>
        </p:spPr>
      </p:pic>
      <p:sp>
        <p:nvSpPr>
          <p:cNvPr id="37" name="TextBox 36"/>
          <p:cNvSpPr txBox="1"/>
          <p:nvPr/>
        </p:nvSpPr>
        <p:spPr>
          <a:xfrm>
            <a:off x="3776297" y="5240272"/>
            <a:ext cx="1414264" cy="186689"/>
          </a:xfrm>
          <a:prstGeom prst="rect">
            <a:avLst/>
          </a:prstGeom>
          <a:noFill/>
        </p:spPr>
        <p:txBody>
          <a:bodyPr wrap="none" lIns="0" rIns="0" tIns="0" bIns="0">
            <a:spAutoFit/>
          </a:bodyPr>
          <a:lstStyle/>
          <a:p>
            <a:r>
              <a:rPr sz="1100" b="0">
                <a:solidFill>
                  <a:srgbClr val="2E2E2E"/>
                </a:solidFill>
                <a:latin typeface="Calibri"/>
              </a:rPr>
              <a:t>, ahead of 'Company' (~</a:t>
            </a:r>
          </a:p>
        </p:txBody>
      </p:sp>
      <p:pic>
        <p:nvPicPr>
          <p:cNvPr id="38" name="Picture 37" descr="lock.png"/>
          <p:cNvPicPr>
            <a:picLocks noChangeAspect="1"/>
          </p:cNvPicPr>
          <p:nvPr/>
        </p:nvPicPr>
        <p:blipFill>
          <a:blip r:embed="rId7"/>
          <a:stretch>
            <a:fillRect/>
          </a:stretch>
        </p:blipFill>
        <p:spPr>
          <a:xfrm>
            <a:off x="5138613" y="5230492"/>
            <a:ext cx="128699" cy="187198"/>
          </a:xfrm>
          <a:prstGeom prst="rect">
            <a:avLst/>
          </a:prstGeom>
        </p:spPr>
      </p:pic>
      <p:sp>
        <p:nvSpPr>
          <p:cNvPr id="39" name="TextBox 38"/>
          <p:cNvSpPr txBox="1"/>
          <p:nvPr/>
        </p:nvSpPr>
        <p:spPr>
          <a:xfrm>
            <a:off x="5306109" y="5240272"/>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6582749" y="5230492"/>
            <a:ext cx="128699" cy="187198"/>
          </a:xfrm>
          <a:prstGeom prst="rect">
            <a:avLst/>
          </a:prstGeom>
        </p:spPr>
      </p:pic>
      <p:sp>
        <p:nvSpPr>
          <p:cNvPr id="41" name="TextBox 40"/>
          <p:cNvSpPr txBox="1"/>
          <p:nvPr/>
        </p:nvSpPr>
        <p:spPr>
          <a:xfrm>
            <a:off x="6750245" y="5240272"/>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8238072" y="5230492"/>
            <a:ext cx="128699" cy="187198"/>
          </a:xfrm>
          <a:prstGeom prst="rect">
            <a:avLst/>
          </a:prstGeom>
        </p:spPr>
      </p:pic>
      <p:sp>
        <p:nvSpPr>
          <p:cNvPr id="43" name="TextBox 42"/>
          <p:cNvSpPr txBox="1"/>
          <p:nvPr/>
        </p:nvSpPr>
        <p:spPr>
          <a:xfrm>
            <a:off x="8405568" y="524027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276225" y="5458204"/>
            <a:ext cx="3887936" cy="186689"/>
          </a:xfrm>
          <a:prstGeom prst="rect">
            <a:avLst/>
          </a:prstGeom>
          <a:noFill/>
        </p:spPr>
        <p:txBody>
          <a:bodyPr wrap="none" lIns="0" rIns="0" tIns="0" bIns="0">
            <a:spAutoFit/>
          </a:bodyPr>
          <a:lstStyle/>
          <a:p>
            <a:r>
              <a:rPr sz="1100" b="0">
                <a:solidFill>
                  <a:srgbClr val="2E2E2E"/>
                </a:solidFill>
                <a:latin typeface="Calibri"/>
              </a:rPr>
              <a:t>▪ Expanded Polypropylene (EPP): 'Sealed Air Corporation' leads at ~</a:t>
            </a:r>
          </a:p>
        </p:txBody>
      </p:sp>
      <p:pic>
        <p:nvPicPr>
          <p:cNvPr id="45" name="Picture 44" descr="lock.png"/>
          <p:cNvPicPr>
            <a:picLocks noChangeAspect="1"/>
          </p:cNvPicPr>
          <p:nvPr/>
        </p:nvPicPr>
        <p:blipFill>
          <a:blip r:embed="rId7"/>
          <a:stretch>
            <a:fillRect/>
          </a:stretch>
        </p:blipFill>
        <p:spPr>
          <a:xfrm>
            <a:off x="4112212" y="5448424"/>
            <a:ext cx="128699" cy="187198"/>
          </a:xfrm>
          <a:prstGeom prst="rect">
            <a:avLst/>
          </a:prstGeom>
        </p:spPr>
      </p:pic>
      <p:sp>
        <p:nvSpPr>
          <p:cNvPr id="46" name="TextBox 45"/>
          <p:cNvSpPr txBox="1"/>
          <p:nvPr/>
        </p:nvSpPr>
        <p:spPr>
          <a:xfrm>
            <a:off x="4279708" y="5458204"/>
            <a:ext cx="1414264" cy="186689"/>
          </a:xfrm>
          <a:prstGeom prst="rect">
            <a:avLst/>
          </a:prstGeom>
          <a:noFill/>
        </p:spPr>
        <p:txBody>
          <a:bodyPr wrap="none" lIns="0" rIns="0" tIns="0" bIns="0">
            <a:spAutoFit/>
          </a:bodyPr>
          <a:lstStyle/>
          <a:p>
            <a:r>
              <a:rPr sz="1100" b="0">
                <a:solidFill>
                  <a:srgbClr val="2E2E2E"/>
                </a:solidFill>
                <a:latin typeface="Calibri"/>
              </a:rPr>
              <a:t>, ahead of 'Company' (~</a:t>
            </a:r>
          </a:p>
        </p:txBody>
      </p:sp>
      <p:pic>
        <p:nvPicPr>
          <p:cNvPr id="47" name="Picture 46" descr="lock.png"/>
          <p:cNvPicPr>
            <a:picLocks noChangeAspect="1"/>
          </p:cNvPicPr>
          <p:nvPr/>
        </p:nvPicPr>
        <p:blipFill>
          <a:blip r:embed="rId7"/>
          <a:stretch>
            <a:fillRect/>
          </a:stretch>
        </p:blipFill>
        <p:spPr>
          <a:xfrm>
            <a:off x="5642024" y="5448424"/>
            <a:ext cx="128699" cy="187198"/>
          </a:xfrm>
          <a:prstGeom prst="rect">
            <a:avLst/>
          </a:prstGeom>
        </p:spPr>
      </p:pic>
      <p:sp>
        <p:nvSpPr>
          <p:cNvPr id="48" name="TextBox 47"/>
          <p:cNvSpPr txBox="1"/>
          <p:nvPr/>
        </p:nvSpPr>
        <p:spPr>
          <a:xfrm>
            <a:off x="5809520" y="5458204"/>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7086160" y="5448424"/>
            <a:ext cx="128699" cy="187198"/>
          </a:xfrm>
          <a:prstGeom prst="rect">
            <a:avLst/>
          </a:prstGeom>
        </p:spPr>
      </p:pic>
      <p:sp>
        <p:nvSpPr>
          <p:cNvPr id="50" name="TextBox 49"/>
          <p:cNvSpPr txBox="1"/>
          <p:nvPr/>
        </p:nvSpPr>
        <p:spPr>
          <a:xfrm>
            <a:off x="7253656" y="5458204"/>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8741483" y="5448424"/>
            <a:ext cx="128699" cy="187198"/>
          </a:xfrm>
          <a:prstGeom prst="rect">
            <a:avLst/>
          </a:prstGeom>
        </p:spPr>
      </p:pic>
      <p:sp>
        <p:nvSpPr>
          <p:cNvPr id="52" name="TextBox 51"/>
          <p:cNvSpPr txBox="1"/>
          <p:nvPr/>
        </p:nvSpPr>
        <p:spPr>
          <a:xfrm>
            <a:off x="8908979" y="545820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53" name="TextBox 52"/>
          <p:cNvSpPr txBox="1"/>
          <p:nvPr/>
        </p:nvSpPr>
        <p:spPr>
          <a:xfrm>
            <a:off x="276225" y="5676136"/>
            <a:ext cx="8524502" cy="186689"/>
          </a:xfrm>
          <a:prstGeom prst="rect">
            <a:avLst/>
          </a:prstGeom>
          <a:noFill/>
        </p:spPr>
        <p:txBody>
          <a:bodyPr wrap="none" lIns="0" rIns="0" tIns="0" bIns="0">
            <a:spAutoFit/>
          </a:bodyPr>
          <a:lstStyle/>
          <a:p>
            <a:r>
              <a:rPr sz="1100" b="0">
                <a:solidFill>
                  <a:srgbClr val="2E2E2E"/>
                </a:solidFill>
                <a:latin typeface="Calibri"/>
              </a:rPr>
              <a:t>▪ Leadership shifts across formulations a strong position in one product type does not carry over to the others, so product-level targeting is essential.</a:t>
            </a:r>
          </a:p>
        </p:txBody>
      </p:sp>
      <p:sp>
        <p:nvSpPr>
          <p:cNvPr id="54" name="TextBox 53"/>
          <p:cNvSpPr txBox="1"/>
          <p:nvPr/>
        </p:nvSpPr>
        <p:spPr>
          <a:xfrm>
            <a:off x="276225" y="5894068"/>
            <a:ext cx="6908403" cy="186689"/>
          </a:xfrm>
          <a:prstGeom prst="rect">
            <a:avLst/>
          </a:prstGeom>
          <a:noFill/>
        </p:spPr>
        <p:txBody>
          <a:bodyPr wrap="none" lIns="0" rIns="0" tIns="0" bIns="0">
            <a:spAutoFit/>
          </a:bodyPr>
          <a:lstStyle/>
          <a:p>
            <a:r>
              <a:rPr sz="110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Company Share by Region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2983433" cy="186689"/>
          </a:xfrm>
          <a:prstGeom prst="rect">
            <a:avLst/>
          </a:prstGeom>
          <a:noFill/>
        </p:spPr>
        <p:txBody>
          <a:bodyPr wrap="none" lIns="0" rIns="0" tIns="0" bIns="0">
            <a:spAutoFit/>
          </a:bodyPr>
          <a:lstStyle/>
          <a:p>
            <a:r>
              <a:rPr sz="1100" b="0">
                <a:solidFill>
                  <a:srgbClr val="2E2E2E"/>
                </a:solidFill>
                <a:latin typeface="Calibri"/>
              </a:rPr>
              <a:t>▪ North America: 'Sealed Air Corporation' leads at ~</a:t>
            </a:r>
          </a:p>
        </p:txBody>
      </p:sp>
      <p:pic>
        <p:nvPicPr>
          <p:cNvPr id="27" name="Picture 26" descr="lock.png"/>
          <p:cNvPicPr>
            <a:picLocks noChangeAspect="1"/>
          </p:cNvPicPr>
          <p:nvPr/>
        </p:nvPicPr>
        <p:blipFill>
          <a:blip r:embed="rId7"/>
          <a:stretch>
            <a:fillRect/>
          </a:stretch>
        </p:blipFill>
        <p:spPr>
          <a:xfrm>
            <a:off x="3207709" y="5012560"/>
            <a:ext cx="128699" cy="187198"/>
          </a:xfrm>
          <a:prstGeom prst="rect">
            <a:avLst/>
          </a:prstGeom>
        </p:spPr>
      </p:pic>
      <p:sp>
        <p:nvSpPr>
          <p:cNvPr id="28" name="TextBox 27"/>
          <p:cNvSpPr txBox="1"/>
          <p:nvPr/>
        </p:nvSpPr>
        <p:spPr>
          <a:xfrm>
            <a:off x="3375205" y="5022340"/>
            <a:ext cx="1414264" cy="186689"/>
          </a:xfrm>
          <a:prstGeom prst="rect">
            <a:avLst/>
          </a:prstGeom>
          <a:noFill/>
        </p:spPr>
        <p:txBody>
          <a:bodyPr wrap="none" lIns="0" rIns="0" tIns="0" bIns="0">
            <a:spAutoFit/>
          </a:bodyPr>
          <a:lstStyle/>
          <a:p>
            <a:r>
              <a:rPr sz="1100" b="0">
                <a:solidFill>
                  <a:srgbClr val="2E2E2E"/>
                </a:solidFill>
                <a:latin typeface="Calibri"/>
              </a:rPr>
              <a:t>, ahead of 'Company' (~</a:t>
            </a:r>
          </a:p>
        </p:txBody>
      </p:sp>
      <p:pic>
        <p:nvPicPr>
          <p:cNvPr id="29" name="Picture 28" descr="lock.png"/>
          <p:cNvPicPr>
            <a:picLocks noChangeAspect="1"/>
          </p:cNvPicPr>
          <p:nvPr/>
        </p:nvPicPr>
        <p:blipFill>
          <a:blip r:embed="rId7"/>
          <a:stretch>
            <a:fillRect/>
          </a:stretch>
        </p:blipFill>
        <p:spPr>
          <a:xfrm>
            <a:off x="4737521" y="5012560"/>
            <a:ext cx="128699" cy="187198"/>
          </a:xfrm>
          <a:prstGeom prst="rect">
            <a:avLst/>
          </a:prstGeom>
        </p:spPr>
      </p:pic>
      <p:sp>
        <p:nvSpPr>
          <p:cNvPr id="30" name="TextBox 29"/>
          <p:cNvSpPr txBox="1"/>
          <p:nvPr/>
        </p:nvSpPr>
        <p:spPr>
          <a:xfrm>
            <a:off x="4905017" y="5022340"/>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6181657" y="5012560"/>
            <a:ext cx="128699" cy="187198"/>
          </a:xfrm>
          <a:prstGeom prst="rect">
            <a:avLst/>
          </a:prstGeom>
        </p:spPr>
      </p:pic>
      <p:sp>
        <p:nvSpPr>
          <p:cNvPr id="32" name="TextBox 31"/>
          <p:cNvSpPr txBox="1"/>
          <p:nvPr/>
        </p:nvSpPr>
        <p:spPr>
          <a:xfrm>
            <a:off x="6349153" y="5022340"/>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7836980" y="5012560"/>
            <a:ext cx="128699" cy="187198"/>
          </a:xfrm>
          <a:prstGeom prst="rect">
            <a:avLst/>
          </a:prstGeom>
        </p:spPr>
      </p:pic>
      <p:sp>
        <p:nvSpPr>
          <p:cNvPr id="34" name="TextBox 33"/>
          <p:cNvSpPr txBox="1"/>
          <p:nvPr/>
        </p:nvSpPr>
        <p:spPr>
          <a:xfrm>
            <a:off x="8004476" y="502234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5" name="TextBox 34"/>
          <p:cNvSpPr txBox="1"/>
          <p:nvPr/>
        </p:nvSpPr>
        <p:spPr>
          <a:xfrm>
            <a:off x="276225" y="5240272"/>
            <a:ext cx="2556693" cy="186689"/>
          </a:xfrm>
          <a:prstGeom prst="rect">
            <a:avLst/>
          </a:prstGeom>
          <a:noFill/>
        </p:spPr>
        <p:txBody>
          <a:bodyPr wrap="none" lIns="0" rIns="0" tIns="0" bIns="0">
            <a:spAutoFit/>
          </a:bodyPr>
          <a:lstStyle/>
          <a:p>
            <a:r>
              <a:rPr sz="1100" b="0">
                <a:solidFill>
                  <a:srgbClr val="2E2E2E"/>
                </a:solidFill>
                <a:latin typeface="Calibri"/>
              </a:rPr>
              <a:t>▪ Europe: 'Sealed Air Corporation' leads at ~</a:t>
            </a:r>
          </a:p>
        </p:txBody>
      </p:sp>
      <p:pic>
        <p:nvPicPr>
          <p:cNvPr id="36" name="Picture 35" descr="lock.png"/>
          <p:cNvPicPr>
            <a:picLocks noChangeAspect="1"/>
          </p:cNvPicPr>
          <p:nvPr/>
        </p:nvPicPr>
        <p:blipFill>
          <a:blip r:embed="rId7"/>
          <a:stretch>
            <a:fillRect/>
          </a:stretch>
        </p:blipFill>
        <p:spPr>
          <a:xfrm>
            <a:off x="2780970" y="5230492"/>
            <a:ext cx="128699" cy="187198"/>
          </a:xfrm>
          <a:prstGeom prst="rect">
            <a:avLst/>
          </a:prstGeom>
        </p:spPr>
      </p:pic>
      <p:sp>
        <p:nvSpPr>
          <p:cNvPr id="37" name="TextBox 36"/>
          <p:cNvSpPr txBox="1"/>
          <p:nvPr/>
        </p:nvSpPr>
        <p:spPr>
          <a:xfrm>
            <a:off x="2948465" y="5240272"/>
            <a:ext cx="3825726" cy="186689"/>
          </a:xfrm>
          <a:prstGeom prst="rect">
            <a:avLst/>
          </a:prstGeom>
          <a:noFill/>
        </p:spPr>
        <p:txBody>
          <a:bodyPr wrap="none" lIns="0" rIns="0" tIns="0" bIns="0">
            <a:spAutoFit/>
          </a:bodyPr>
          <a:lstStyle/>
          <a:p>
            <a:r>
              <a:rPr sz="1100" b="0">
                <a:solidFill>
                  <a:srgbClr val="2E2E2E"/>
                </a:solidFill>
                <a:latin typeface="Calibri"/>
              </a:rPr>
              <a:t>, ahead of 'BHS Corrugated Maschinen- und Anlagenbau GmbH' (~</a:t>
            </a:r>
          </a:p>
        </p:txBody>
      </p:sp>
      <p:pic>
        <p:nvPicPr>
          <p:cNvPr id="38" name="Picture 37" descr="lock.png"/>
          <p:cNvPicPr>
            <a:picLocks noChangeAspect="1"/>
          </p:cNvPicPr>
          <p:nvPr/>
        </p:nvPicPr>
        <p:blipFill>
          <a:blip r:embed="rId7"/>
          <a:stretch>
            <a:fillRect/>
          </a:stretch>
        </p:blipFill>
        <p:spPr>
          <a:xfrm>
            <a:off x="6722243" y="5230492"/>
            <a:ext cx="128699" cy="187198"/>
          </a:xfrm>
          <a:prstGeom prst="rect">
            <a:avLst/>
          </a:prstGeom>
        </p:spPr>
      </p:pic>
      <p:sp>
        <p:nvSpPr>
          <p:cNvPr id="39" name="TextBox 38"/>
          <p:cNvSpPr txBox="1"/>
          <p:nvPr/>
        </p:nvSpPr>
        <p:spPr>
          <a:xfrm>
            <a:off x="6889739" y="5240272"/>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8166379" y="5230492"/>
            <a:ext cx="128699" cy="187198"/>
          </a:xfrm>
          <a:prstGeom prst="rect">
            <a:avLst/>
          </a:prstGeom>
        </p:spPr>
      </p:pic>
      <p:sp>
        <p:nvSpPr>
          <p:cNvPr id="41" name="TextBox 40"/>
          <p:cNvSpPr txBox="1"/>
          <p:nvPr/>
        </p:nvSpPr>
        <p:spPr>
          <a:xfrm>
            <a:off x="8333875" y="5240272"/>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9821703" y="5230492"/>
            <a:ext cx="128699" cy="187198"/>
          </a:xfrm>
          <a:prstGeom prst="rect">
            <a:avLst/>
          </a:prstGeom>
        </p:spPr>
      </p:pic>
      <p:sp>
        <p:nvSpPr>
          <p:cNvPr id="43" name="TextBox 42"/>
          <p:cNvSpPr txBox="1"/>
          <p:nvPr/>
        </p:nvSpPr>
        <p:spPr>
          <a:xfrm>
            <a:off x="9989198" y="524027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276225" y="5458204"/>
            <a:ext cx="2926134" cy="186689"/>
          </a:xfrm>
          <a:prstGeom prst="rect">
            <a:avLst/>
          </a:prstGeom>
          <a:noFill/>
        </p:spPr>
        <p:txBody>
          <a:bodyPr wrap="none" lIns="0" rIns="0" tIns="0" bIns="0">
            <a:spAutoFit/>
          </a:bodyPr>
          <a:lstStyle/>
          <a:p>
            <a:r>
              <a:rPr sz="1100" b="0">
                <a:solidFill>
                  <a:srgbClr val="2E2E2E"/>
                </a:solidFill>
                <a:latin typeface="Calibri"/>
              </a:rPr>
              <a:t>▪ South Asia &amp; Pacific: 'BOBST Group SA' leads at ~</a:t>
            </a:r>
          </a:p>
        </p:txBody>
      </p:sp>
      <p:pic>
        <p:nvPicPr>
          <p:cNvPr id="45" name="Picture 44" descr="lock.png"/>
          <p:cNvPicPr>
            <a:picLocks noChangeAspect="1"/>
          </p:cNvPicPr>
          <p:nvPr/>
        </p:nvPicPr>
        <p:blipFill>
          <a:blip r:embed="rId7"/>
          <a:stretch>
            <a:fillRect/>
          </a:stretch>
        </p:blipFill>
        <p:spPr>
          <a:xfrm>
            <a:off x="3150411" y="5448424"/>
            <a:ext cx="128699" cy="187198"/>
          </a:xfrm>
          <a:prstGeom prst="rect">
            <a:avLst/>
          </a:prstGeom>
        </p:spPr>
      </p:pic>
      <p:sp>
        <p:nvSpPr>
          <p:cNvPr id="46" name="TextBox 45"/>
          <p:cNvSpPr txBox="1"/>
          <p:nvPr/>
        </p:nvSpPr>
        <p:spPr>
          <a:xfrm>
            <a:off x="3317906" y="5458204"/>
            <a:ext cx="1414264" cy="186689"/>
          </a:xfrm>
          <a:prstGeom prst="rect">
            <a:avLst/>
          </a:prstGeom>
          <a:noFill/>
        </p:spPr>
        <p:txBody>
          <a:bodyPr wrap="none" lIns="0" rIns="0" tIns="0" bIns="0">
            <a:spAutoFit/>
          </a:bodyPr>
          <a:lstStyle/>
          <a:p>
            <a:r>
              <a:rPr sz="1100" b="0">
                <a:solidFill>
                  <a:srgbClr val="2E2E2E"/>
                </a:solidFill>
                <a:latin typeface="Calibri"/>
              </a:rPr>
              <a:t>, ahead of 'Company' (~</a:t>
            </a:r>
          </a:p>
        </p:txBody>
      </p:sp>
      <p:pic>
        <p:nvPicPr>
          <p:cNvPr id="47" name="Picture 46" descr="lock.png"/>
          <p:cNvPicPr>
            <a:picLocks noChangeAspect="1"/>
          </p:cNvPicPr>
          <p:nvPr/>
        </p:nvPicPr>
        <p:blipFill>
          <a:blip r:embed="rId7"/>
          <a:stretch>
            <a:fillRect/>
          </a:stretch>
        </p:blipFill>
        <p:spPr>
          <a:xfrm>
            <a:off x="4680222" y="5448424"/>
            <a:ext cx="128699" cy="187198"/>
          </a:xfrm>
          <a:prstGeom prst="rect">
            <a:avLst/>
          </a:prstGeom>
        </p:spPr>
      </p:pic>
      <p:sp>
        <p:nvSpPr>
          <p:cNvPr id="48" name="TextBox 47"/>
          <p:cNvSpPr txBox="1"/>
          <p:nvPr/>
        </p:nvSpPr>
        <p:spPr>
          <a:xfrm>
            <a:off x="4847718" y="5458204"/>
            <a:ext cx="1328588" cy="186689"/>
          </a:xfrm>
          <a:prstGeom prst="rect">
            <a:avLst/>
          </a:prstGeom>
          <a:noFill/>
        </p:spPr>
        <p:txBody>
          <a:bodyPr wrap="none" lIns="0" rIns="0" tIns="0" bIns="0">
            <a:spAutoFit/>
          </a:bodyPr>
          <a:lstStyle/>
          <a:p>
            <a:r>
              <a:rPr sz="110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6124358" y="5448424"/>
            <a:ext cx="128699" cy="187198"/>
          </a:xfrm>
          <a:prstGeom prst="rect">
            <a:avLst/>
          </a:prstGeom>
        </p:spPr>
      </p:pic>
      <p:sp>
        <p:nvSpPr>
          <p:cNvPr id="50" name="TextBox 49"/>
          <p:cNvSpPr txBox="1"/>
          <p:nvPr/>
        </p:nvSpPr>
        <p:spPr>
          <a:xfrm>
            <a:off x="6291854" y="5458204"/>
            <a:ext cx="1539775" cy="186689"/>
          </a:xfrm>
          <a:prstGeom prst="rect">
            <a:avLst/>
          </a:prstGeom>
          <a:noFill/>
        </p:spPr>
        <p:txBody>
          <a:bodyPr wrap="none" lIns="0" rIns="0" tIns="0" bIns="0">
            <a:spAutoFit/>
          </a:bodyPr>
          <a:lstStyle/>
          <a:p>
            <a:r>
              <a:rPr sz="110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7779681" y="5448424"/>
            <a:ext cx="128699" cy="187198"/>
          </a:xfrm>
          <a:prstGeom prst="rect">
            <a:avLst/>
          </a:prstGeom>
        </p:spPr>
      </p:pic>
      <p:sp>
        <p:nvSpPr>
          <p:cNvPr id="52" name="TextBox 51"/>
          <p:cNvSpPr txBox="1"/>
          <p:nvPr/>
        </p:nvSpPr>
        <p:spPr>
          <a:xfrm>
            <a:off x="7947177" y="545820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53" name="TextBox 52"/>
          <p:cNvSpPr txBox="1"/>
          <p:nvPr/>
        </p:nvSpPr>
        <p:spPr>
          <a:xfrm>
            <a:off x="276225" y="5676136"/>
            <a:ext cx="9287123" cy="186689"/>
          </a:xfrm>
          <a:prstGeom prst="rect">
            <a:avLst/>
          </a:prstGeom>
          <a:noFill/>
        </p:spPr>
        <p:txBody>
          <a:bodyPr wrap="none" lIns="0" rIns="0" tIns="0" bIns="0">
            <a:spAutoFit/>
          </a:bodyPr>
          <a:lstStyle/>
          <a:p>
            <a:r>
              <a:rPr sz="1100" b="0">
                <a:solidFill>
                  <a:srgbClr val="2E2E2E"/>
                </a:solidFill>
                <a:latin typeface="Calibri"/>
              </a:rPr>
              <a:t>▪ Leadership is not uniform across geographies a strong position in one region does not carry over to the others, so region-level go-to-market planning is essential.</a:t>
            </a:r>
          </a:p>
        </p:txBody>
      </p:sp>
      <p:sp>
        <p:nvSpPr>
          <p:cNvPr id="54" name="TextBox 53"/>
          <p:cNvSpPr txBox="1"/>
          <p:nvPr/>
        </p:nvSpPr>
        <p:spPr>
          <a:xfrm>
            <a:off x="276225" y="5894068"/>
            <a:ext cx="6908403" cy="186689"/>
          </a:xfrm>
          <a:prstGeom prst="rect">
            <a:avLst/>
          </a:prstGeom>
          <a:noFill/>
        </p:spPr>
        <p:txBody>
          <a:bodyPr wrap="none" lIns="0" rIns="0" tIns="0" bIns="0">
            <a:spAutoFit/>
          </a:bodyPr>
          <a:lstStyle/>
          <a:p>
            <a:r>
              <a:rPr sz="110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Who Shaped Growth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7" name="TextBox 6"/>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Foam Protective Packaging Market growth, ranked by growth-shaping impact.</a:t>
            </a:r>
          </a:p>
        </p:txBody>
      </p:sp>
      <p:sp>
        <p:nvSpPr>
          <p:cNvPr id="8" name="Rounded Rectangle 7"/>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0" name="TextBox 9"/>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1" name="Connector 10"/>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4" name="Freeform 13"/>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7" name="Rounded Rectangle 16"/>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1" name="TextBox 20"/>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Sealed Air Corporation</a:t>
            </a:r>
          </a:p>
        </p:txBody>
      </p:sp>
      <p:sp>
        <p:nvSpPr>
          <p:cNvPr id="22" name="TextBox 21"/>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4" name="Connector 23"/>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27" name="TextBox 26"/>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28" name="Connector 27"/>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0" name="TextBox 29"/>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1" name="TextBox 30"/>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2" name="Connector 31"/>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5" name="TextBox 34"/>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6" name="Oval 35"/>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Rounded Rectangle 37"/>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2" name="TextBox 41"/>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Company</a:t>
            </a:r>
          </a:p>
        </p:txBody>
      </p:sp>
      <p:sp>
        <p:nvSpPr>
          <p:cNvPr id="43" name="TextBox 42"/>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5" name="Connector 44"/>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48" name="TextBox 47"/>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49" name="Connector 48"/>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2" name="TextBox 51"/>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3" name="Connector 52"/>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6" name="TextBox 55"/>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57" name="Oval 56"/>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59" name="Rounded Rectangle 58"/>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3" name="TextBox 62"/>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BOBST Group SA</a:t>
            </a:r>
          </a:p>
        </p:txBody>
      </p:sp>
      <p:sp>
        <p:nvSpPr>
          <p:cNvPr id="64" name="TextBox 63"/>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6" name="Connector 65"/>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69" name="TextBox 68"/>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0" name="Connector 69"/>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2" name="TextBox 71"/>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3" name="TextBox 72"/>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4" name="Connector 73"/>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6" name="TextBox 75"/>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77" name="TextBox 76"/>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78" name="Oval 77"/>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0" name="Rounded Rectangle 79"/>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4" name="TextBox 83"/>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BHS Corrugated Maschinen- und Anlagenbau GmbH</a:t>
            </a:r>
          </a:p>
        </p:txBody>
      </p:sp>
      <p:sp>
        <p:nvSpPr>
          <p:cNvPr id="85" name="TextBox 84"/>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87" name="Connector 86"/>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0" name="TextBox 89"/>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1" name="Connector 90"/>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3" name="TextBox 92"/>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4" name="TextBox 93"/>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5" name="Connector 94"/>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98" name="TextBox 97"/>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99" name="Oval 98"/>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1" name="Rounded Rectangle 100"/>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5" name="TextBox 104"/>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BW Papersystems</a:t>
            </a:r>
          </a:p>
        </p:txBody>
      </p:sp>
      <p:sp>
        <p:nvSpPr>
          <p:cNvPr id="106" name="TextBox 105"/>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7" name="TextBox 106"/>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08" name="Connector 107"/>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1" name="TextBox 110"/>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2" name="Connector 111"/>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5" name="TextBox 114"/>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6" name="Connector 115"/>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19" name="TextBox 118"/>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0" name="Rounded Rectangle 119"/>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2" name="Oval 121"/>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4" name="TextBox 123"/>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5" name="TextBox 124"/>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6" name="Rounded Rectangle 125"/>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28" name="TextBox 127"/>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29" name="Oval 128"/>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1" name="TextBox 130"/>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2" name="TextBox 131"/>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3" name="Rounded Rectangle 132"/>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5" name="TextBox 134"/>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6" name="Oval 135"/>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8" name="TextBox 137"/>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39" name="TextBox 138"/>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0" name="Rounded Rectangle 139"/>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2" name="TextBox 141"/>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3" name="Oval 142"/>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5" name="TextBox 144"/>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6" name="TextBox 145"/>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47" name="Rounded Rectangle 146"/>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49" name="TextBox 148"/>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0" name="Oval 149"/>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2" name="TextBox 151"/>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3" name="TextBox 152"/>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4" name="Rounded Rectangle 153"/>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6" name="Rounded Rectangle 155"/>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58" name="Connector 157"/>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59" name="Oval 158"/>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1" name="TextBox 160"/>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2" name="Oval 161"/>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5" name="Oval 164"/>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68" name="Rectangle 16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0" name="Picture 169" descr="lock.png"/>
          <p:cNvPicPr>
            <a:picLocks noChangeAspect="1"/>
          </p:cNvPicPr>
          <p:nvPr/>
        </p:nvPicPr>
        <p:blipFill>
          <a:blip r:embed="rId4"/>
          <a:stretch>
            <a:fillRect/>
          </a:stretch>
        </p:blipFill>
        <p:spPr>
          <a:xfrm>
            <a:off x="951015" y="6052078"/>
            <a:ext cx="128699" cy="187198"/>
          </a:xfrm>
          <a:prstGeom prst="rect">
            <a:avLst/>
          </a:prstGeom>
        </p:spPr>
      </p:pic>
      <p:pic>
        <p:nvPicPr>
          <p:cNvPr id="171" name="Picture 170" descr="lock.png"/>
          <p:cNvPicPr>
            <a:picLocks noChangeAspect="1"/>
          </p:cNvPicPr>
          <p:nvPr/>
        </p:nvPicPr>
        <p:blipFill>
          <a:blip r:embed="rId4"/>
          <a:stretch>
            <a:fillRect/>
          </a:stretch>
        </p:blipFill>
        <p:spPr>
          <a:xfrm>
            <a:off x="2486445" y="6052078"/>
            <a:ext cx="128699" cy="187198"/>
          </a:xfrm>
          <a:prstGeom prst="rect">
            <a:avLst/>
          </a:prstGeom>
        </p:spPr>
      </p:pic>
      <p:pic>
        <p:nvPicPr>
          <p:cNvPr id="172" name="Picture 171" descr="lock.png"/>
          <p:cNvPicPr>
            <a:picLocks noChangeAspect="1"/>
          </p:cNvPicPr>
          <p:nvPr/>
        </p:nvPicPr>
        <p:blipFill>
          <a:blip r:embed="rId4"/>
          <a:stretch>
            <a:fillRect/>
          </a:stretch>
        </p:blipFill>
        <p:spPr>
          <a:xfrm>
            <a:off x="402187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555730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7092735" y="6052078"/>
            <a:ext cx="128699" cy="187198"/>
          </a:xfrm>
          <a:prstGeom prst="rect">
            <a:avLst/>
          </a:prstGeom>
        </p:spPr>
      </p:pic>
      <p:sp>
        <p:nvSpPr>
          <p:cNvPr id="175" name="TextBox 174"/>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6" name="Picture 175" descr="lock.png"/>
          <p:cNvPicPr>
            <a:picLocks noChangeAspect="1"/>
          </p:cNvPicPr>
          <p:nvPr/>
        </p:nvPicPr>
        <p:blipFill>
          <a:blip r:embed="rId4"/>
          <a:stretch>
            <a:fillRect/>
          </a:stretch>
        </p:blipFill>
        <p:spPr>
          <a:xfrm>
            <a:off x="994083" y="2391038"/>
            <a:ext cx="92663" cy="134782"/>
          </a:xfrm>
          <a:prstGeom prst="rect">
            <a:avLst/>
          </a:prstGeom>
        </p:spPr>
      </p:pic>
      <p:sp>
        <p:nvSpPr>
          <p:cNvPr id="177" name="TextBox 176"/>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3394383" y="2391038"/>
            <a:ext cx="92663" cy="134782"/>
          </a:xfrm>
          <a:prstGeom prst="rect">
            <a:avLst/>
          </a:prstGeom>
        </p:spPr>
      </p:pic>
      <p:sp>
        <p:nvSpPr>
          <p:cNvPr id="179" name="TextBox 178"/>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5794683" y="2391038"/>
            <a:ext cx="92663" cy="134782"/>
          </a:xfrm>
          <a:prstGeom prst="rect">
            <a:avLst/>
          </a:prstGeom>
        </p:spPr>
      </p:pic>
      <p:sp>
        <p:nvSpPr>
          <p:cNvPr id="181" name="TextBox 180"/>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8194983" y="2391038"/>
            <a:ext cx="92663" cy="134782"/>
          </a:xfrm>
          <a:prstGeom prst="rect">
            <a:avLst/>
          </a:prstGeom>
        </p:spPr>
      </p:pic>
      <p:sp>
        <p:nvSpPr>
          <p:cNvPr id="183" name="TextBox 182"/>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19</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Sealed Air Corporation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Sealed Air Corporation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Sealed Air Corporation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Sealed Air Corporation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Sealed Air Corporation Strategy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Sealed Air Corporation Executive Market Snapshot (1/5)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Sealed Air Corporation: market, addressable opportunity and SOM splits by end-market, region and product.</a:t>
            </a:r>
          </a:p>
        </p:txBody>
      </p:sp>
      <p:sp>
        <p:nvSpPr>
          <p:cNvPr id="8" name="Rounded Rectangle 7"/>
          <p:cNvSpPr/>
          <p:nvPr/>
        </p:nvSpPr>
        <p:spPr>
          <a:xfrm>
            <a:off x="1428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Total market</a:t>
            </a:r>
          </a:p>
        </p:txBody>
      </p:sp>
      <p:sp>
        <p:nvSpPr>
          <p:cNvPr id="9" name="Rounded Rectangle 8"/>
          <p:cNvSpPr/>
          <p:nvPr/>
        </p:nvSpPr>
        <p:spPr>
          <a:xfrm>
            <a:off x="25431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Addressable</a:t>
            </a:r>
          </a:p>
        </p:txBody>
      </p:sp>
      <p:sp>
        <p:nvSpPr>
          <p:cNvPr id="10" name="Rounded Rectangle 9"/>
          <p:cNvSpPr/>
          <p:nvPr/>
        </p:nvSpPr>
        <p:spPr>
          <a:xfrm>
            <a:off x="49530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73533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5" name="Chart 14"/>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6" name="Rounded Rectangle 15"/>
          <p:cNvSpPr/>
          <p:nvPr/>
        </p:nvSpPr>
        <p:spPr>
          <a:xfrm>
            <a:off x="412432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18" name="Chart 17"/>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19" name="Rounded Rectangle 18"/>
          <p:cNvSpPr/>
          <p:nvPr/>
        </p:nvSpPr>
        <p:spPr>
          <a:xfrm>
            <a:off x="8105775" y="2065976"/>
            <a:ext cx="39433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1" name="Chart 20"/>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2" name="Rounded Rectangle 21"/>
          <p:cNvSpPr/>
          <p:nvPr/>
        </p:nvSpPr>
        <p:spPr>
          <a:xfrm>
            <a:off x="142875" y="4785777"/>
            <a:ext cx="11906250" cy="1807116"/>
          </a:xfrm>
          <a:prstGeom prst="roundRect">
            <a:avLst>
              <a:gd name="adj" fmla="val 421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24" name="Rectangle 23"/>
          <p:cNvSpPr/>
          <p:nvPr/>
        </p:nvSpPr>
        <p:spPr>
          <a:xfrm>
            <a:off x="276225" y="5109627"/>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6" name="Rectangle 2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8" name="Picture 27" descr="lock.png"/>
          <p:cNvPicPr>
            <a:picLocks noChangeAspect="1"/>
          </p:cNvPicPr>
          <p:nvPr/>
        </p:nvPicPr>
        <p:blipFill>
          <a:blip r:embed="rId7"/>
          <a:stretch>
            <a:fillRect/>
          </a:stretch>
        </p:blipFill>
        <p:spPr>
          <a:xfrm>
            <a:off x="1202531" y="1522714"/>
            <a:ext cx="157162" cy="228600"/>
          </a:xfrm>
          <a:prstGeom prst="rect">
            <a:avLst/>
          </a:prstGeom>
        </p:spPr>
      </p:pic>
      <p:pic>
        <p:nvPicPr>
          <p:cNvPr id="29" name="Picture 28" descr="lock.png"/>
          <p:cNvPicPr>
            <a:picLocks noChangeAspect="1"/>
          </p:cNvPicPr>
          <p:nvPr/>
        </p:nvPicPr>
        <p:blipFill>
          <a:blip r:embed="rId7"/>
          <a:stretch>
            <a:fillRect/>
          </a:stretch>
        </p:blipFill>
        <p:spPr>
          <a:xfrm>
            <a:off x="3602831" y="1522714"/>
            <a:ext cx="157162" cy="228600"/>
          </a:xfrm>
          <a:prstGeom prst="rect">
            <a:avLst/>
          </a:prstGeom>
        </p:spPr>
      </p:pic>
      <p:pic>
        <p:nvPicPr>
          <p:cNvPr id="30" name="Picture 29" descr="lock.png"/>
          <p:cNvPicPr>
            <a:picLocks noChangeAspect="1"/>
          </p:cNvPicPr>
          <p:nvPr/>
        </p:nvPicPr>
        <p:blipFill>
          <a:blip r:embed="rId7"/>
          <a:stretch>
            <a:fillRect/>
          </a:stretch>
        </p:blipFill>
        <p:spPr>
          <a:xfrm>
            <a:off x="8412956"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1082278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2104623" y="3299104"/>
            <a:ext cx="197242" cy="286897"/>
          </a:xfrm>
          <a:prstGeom prst="rect">
            <a:avLst/>
          </a:prstGeom>
        </p:spPr>
      </p:pic>
      <p:pic>
        <p:nvPicPr>
          <p:cNvPr id="33" name="Picture 32" descr="lock.png"/>
          <p:cNvPicPr>
            <a:picLocks noChangeAspect="1"/>
          </p:cNvPicPr>
          <p:nvPr/>
        </p:nvPicPr>
        <p:blipFill>
          <a:blip r:embed="rId7"/>
          <a:stretch>
            <a:fillRect/>
          </a:stretch>
        </p:blipFill>
        <p:spPr>
          <a:xfrm>
            <a:off x="6086073" y="3299104"/>
            <a:ext cx="197242" cy="286897"/>
          </a:xfrm>
          <a:prstGeom prst="rect">
            <a:avLst/>
          </a:prstGeom>
        </p:spPr>
      </p:pic>
      <p:pic>
        <p:nvPicPr>
          <p:cNvPr id="34" name="Picture 33" descr="lock.png"/>
          <p:cNvPicPr>
            <a:picLocks noChangeAspect="1"/>
          </p:cNvPicPr>
          <p:nvPr/>
        </p:nvPicPr>
        <p:blipFill>
          <a:blip r:embed="rId7"/>
          <a:stretch>
            <a:fillRect/>
          </a:stretch>
        </p:blipFill>
        <p:spPr>
          <a:xfrm>
            <a:off x="9278088" y="3145920"/>
            <a:ext cx="444576" cy="646656"/>
          </a:xfrm>
          <a:prstGeom prst="rect">
            <a:avLst/>
          </a:prstGeom>
        </p:spPr>
      </p:pic>
      <p:sp>
        <p:nvSpPr>
          <p:cNvPr id="35" name="TextBox 34"/>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6" name="Picture 35" descr="lock.png"/>
          <p:cNvPicPr>
            <a:picLocks noChangeAspect="1"/>
          </p:cNvPicPr>
          <p:nvPr/>
        </p:nvPicPr>
        <p:blipFill>
          <a:blip r:embed="rId7"/>
          <a:stretch>
            <a:fillRect/>
          </a:stretch>
        </p:blipFill>
        <p:spPr>
          <a:xfrm>
            <a:off x="6017010" y="1533061"/>
            <a:ext cx="133378" cy="194005"/>
          </a:xfrm>
          <a:prstGeom prst="rect">
            <a:avLst/>
          </a:prstGeom>
        </p:spPr>
      </p:pic>
      <p:pic>
        <p:nvPicPr>
          <p:cNvPr id="37" name="Picture 36" descr="lock.png"/>
          <p:cNvPicPr>
            <a:picLocks noChangeAspect="1"/>
          </p:cNvPicPr>
          <p:nvPr/>
        </p:nvPicPr>
        <p:blipFill>
          <a:blip r:embed="rId7"/>
          <a:stretch>
            <a:fillRect/>
          </a:stretch>
        </p:blipFill>
        <p:spPr>
          <a:xfrm>
            <a:off x="5865805" y="1761621"/>
            <a:ext cx="97811" cy="142270"/>
          </a:xfrm>
          <a:prstGeom prst="rect">
            <a:avLst/>
          </a:prstGeom>
        </p:spPr>
      </p:pic>
      <p:sp>
        <p:nvSpPr>
          <p:cNvPr id="38" name="TextBox 37"/>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39" name="TextBox 38"/>
          <p:cNvSpPr txBox="1"/>
          <p:nvPr/>
        </p:nvSpPr>
        <p:spPr>
          <a:xfrm>
            <a:off x="276225" y="5204877"/>
            <a:ext cx="3179477" cy="194310"/>
          </a:xfrm>
          <a:prstGeom prst="rect">
            <a:avLst/>
          </a:prstGeom>
          <a:noFill/>
        </p:spPr>
        <p:txBody>
          <a:bodyPr wrap="none" lIns="0" rIns="0" tIns="0" bIns="0">
            <a:spAutoFit/>
          </a:bodyPr>
          <a:lstStyle/>
          <a:p>
            <a:r>
              <a:rPr sz="1150" b="0">
                <a:solidFill>
                  <a:srgbClr val="2E2E2E"/>
                </a:solidFill>
                <a:latin typeface="Calibri"/>
              </a:rPr>
              <a:t>▪ Market Position: Sealed Air Corporation captures ~</a:t>
            </a:r>
          </a:p>
        </p:txBody>
      </p:sp>
      <p:pic>
        <p:nvPicPr>
          <p:cNvPr id="40" name="Picture 39" descr="lock.png"/>
          <p:cNvPicPr>
            <a:picLocks noChangeAspect="1"/>
          </p:cNvPicPr>
          <p:nvPr/>
        </p:nvPicPr>
        <p:blipFill>
          <a:blip r:embed="rId7"/>
          <a:stretch>
            <a:fillRect/>
          </a:stretch>
        </p:blipFill>
        <p:spPr>
          <a:xfrm>
            <a:off x="3404856" y="5194653"/>
            <a:ext cx="134549" cy="195707"/>
          </a:xfrm>
          <a:prstGeom prst="rect">
            <a:avLst/>
          </a:prstGeom>
        </p:spPr>
      </p:pic>
      <p:sp>
        <p:nvSpPr>
          <p:cNvPr id="41" name="TextBox 40"/>
          <p:cNvSpPr txBox="1"/>
          <p:nvPr/>
        </p:nvSpPr>
        <p:spPr>
          <a:xfrm>
            <a:off x="3579965" y="5204877"/>
            <a:ext cx="5263225"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'Industrial Machinery &amp; Equipment'.</a:t>
            </a:r>
          </a:p>
        </p:txBody>
      </p:sp>
      <p:sp>
        <p:nvSpPr>
          <p:cNvPr id="42" name="TextBox 41"/>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3" name="Picture 42" descr="lock.png"/>
          <p:cNvPicPr>
            <a:picLocks noChangeAspect="1"/>
          </p:cNvPicPr>
          <p:nvPr/>
        </p:nvPicPr>
        <p:blipFill>
          <a:blip r:embed="rId7"/>
          <a:stretch>
            <a:fillRect/>
          </a:stretch>
        </p:blipFill>
        <p:spPr>
          <a:xfrm>
            <a:off x="7583825" y="5422491"/>
            <a:ext cx="134549" cy="195707"/>
          </a:xfrm>
          <a:prstGeom prst="rect">
            <a:avLst/>
          </a:prstGeom>
        </p:spPr>
      </p:pic>
      <p:sp>
        <p:nvSpPr>
          <p:cNvPr id="44" name="TextBox 43"/>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6" name="Picture 45" descr="lock.png"/>
          <p:cNvPicPr>
            <a:picLocks noChangeAspect="1"/>
          </p:cNvPicPr>
          <p:nvPr/>
        </p:nvPicPr>
        <p:blipFill>
          <a:blip r:embed="rId7"/>
          <a:stretch>
            <a:fillRect/>
          </a:stretch>
        </p:blipFill>
        <p:spPr>
          <a:xfrm>
            <a:off x="1617169" y="5650329"/>
            <a:ext cx="134549" cy="195707"/>
          </a:xfrm>
          <a:prstGeom prst="rect">
            <a:avLst/>
          </a:prstGeom>
        </p:spPr>
      </p:pic>
      <p:sp>
        <p:nvSpPr>
          <p:cNvPr id="47" name="TextBox 46"/>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8" name="Picture 47" descr="lock.png"/>
          <p:cNvPicPr>
            <a:picLocks noChangeAspect="1"/>
          </p:cNvPicPr>
          <p:nvPr/>
        </p:nvPicPr>
        <p:blipFill>
          <a:blip r:embed="rId7"/>
          <a:stretch>
            <a:fillRect/>
          </a:stretch>
        </p:blipFill>
        <p:spPr>
          <a:xfrm>
            <a:off x="2870505" y="5650329"/>
            <a:ext cx="134549" cy="195707"/>
          </a:xfrm>
          <a:prstGeom prst="rect">
            <a:avLst/>
          </a:prstGeom>
        </p:spPr>
      </p:pic>
      <p:sp>
        <p:nvSpPr>
          <p:cNvPr id="49" name="TextBox 48"/>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0" name="TextBox 49"/>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1" name="Picture 50" descr="lock.png"/>
          <p:cNvPicPr>
            <a:picLocks noChangeAspect="1"/>
          </p:cNvPicPr>
          <p:nvPr/>
        </p:nvPicPr>
        <p:blipFill>
          <a:blip r:embed="rId7"/>
          <a:stretch>
            <a:fillRect/>
          </a:stretch>
        </p:blipFill>
        <p:spPr>
          <a:xfrm>
            <a:off x="1578914" y="5878167"/>
            <a:ext cx="134549" cy="195707"/>
          </a:xfrm>
          <a:prstGeom prst="rect">
            <a:avLst/>
          </a:prstGeom>
        </p:spPr>
      </p:pic>
      <p:sp>
        <p:nvSpPr>
          <p:cNvPr id="52" name="TextBox 51"/>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3" name="Picture 52" descr="lock.png"/>
          <p:cNvPicPr>
            <a:picLocks noChangeAspect="1"/>
          </p:cNvPicPr>
          <p:nvPr/>
        </p:nvPicPr>
        <p:blipFill>
          <a:blip r:embed="rId7"/>
          <a:stretch>
            <a:fillRect/>
          </a:stretch>
        </p:blipFill>
        <p:spPr>
          <a:xfrm>
            <a:off x="2775769" y="5878167"/>
            <a:ext cx="134549" cy="195707"/>
          </a:xfrm>
          <a:prstGeom prst="rect">
            <a:avLst/>
          </a:prstGeom>
        </p:spPr>
      </p:pic>
      <p:sp>
        <p:nvSpPr>
          <p:cNvPr id="54" name="TextBox 53"/>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5" name="Picture 54" descr="lock.png"/>
          <p:cNvPicPr>
            <a:picLocks noChangeAspect="1"/>
          </p:cNvPicPr>
          <p:nvPr/>
        </p:nvPicPr>
        <p:blipFill>
          <a:blip r:embed="rId7"/>
          <a:stretch>
            <a:fillRect/>
          </a:stretch>
        </p:blipFill>
        <p:spPr>
          <a:xfrm>
            <a:off x="4037092" y="5878167"/>
            <a:ext cx="134549" cy="195707"/>
          </a:xfrm>
          <a:prstGeom prst="rect">
            <a:avLst/>
          </a:prstGeom>
        </p:spPr>
      </p:pic>
      <p:sp>
        <p:nvSpPr>
          <p:cNvPr id="56" name="TextBox 55"/>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7" name="lockshield_15"/>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8"/>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Sealed Air Corporation Regional Penetration &amp; Win Position (2/5)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Sealed Air Corporation: SOM vs SAM by region, win position, TAM/SAM/SOM and go-to-market benchmarks.</a:t>
            </a:r>
          </a:p>
        </p:txBody>
      </p:sp>
      <p:sp>
        <p:nvSpPr>
          <p:cNvPr id="8" name="Rounded Rectangle 7"/>
          <p:cNvSpPr/>
          <p:nvPr/>
        </p:nvSpPr>
        <p:spPr>
          <a:xfrm>
            <a:off x="142875" y="1299320"/>
            <a:ext cx="590550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0" name="Chart 9"/>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1" name="Rounded Rectangle 10"/>
          <p:cNvSpPr/>
          <p:nvPr/>
        </p:nvSpPr>
        <p:spPr>
          <a:xfrm>
            <a:off x="6162675" y="1299320"/>
            <a:ext cx="588645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3" name="Connector 12"/>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6" name="TextBox 15"/>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17" name="TextBox 16"/>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18" name="TextBox 17"/>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19" name="TextBox 18"/>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0" name="TextBox 19"/>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1" name="Oval 20"/>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Sealed Air Corporation</a:t>
            </a:r>
          </a:p>
        </p:txBody>
      </p:sp>
      <p:sp>
        <p:nvSpPr>
          <p:cNvPr id="23" name="Oval 22"/>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5" name="Oval 24"/>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27" name="Rounded Rectangle 26"/>
          <p:cNvSpPr/>
          <p:nvPr/>
        </p:nvSpPr>
        <p:spPr>
          <a:xfrm>
            <a:off x="142875" y="3635794"/>
            <a:ext cx="590550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29" name="Rectangle 28"/>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0" name="Rectangle 29"/>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1" name="Rectangle 30"/>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2" name="Rounded Rectangle 31"/>
          <p:cNvSpPr/>
          <p:nvPr/>
        </p:nvSpPr>
        <p:spPr>
          <a:xfrm>
            <a:off x="6162675" y="3635794"/>
            <a:ext cx="588645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4" name="Rectangle 33"/>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6" name="Rectangle 35"/>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38" name="TextBox 37"/>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39" name="Rectangle 38"/>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2" name="Rectangle 41"/>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5" name="Rectangle 44"/>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42875" y="5369895"/>
            <a:ext cx="11906250" cy="1259505"/>
          </a:xfrm>
          <a:prstGeom prst="roundRect">
            <a:avLst>
              <a:gd name="adj" fmla="val 60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49" name="Rectangle 48"/>
          <p:cNvSpPr/>
          <p:nvPr/>
        </p:nvSpPr>
        <p:spPr>
          <a:xfrm>
            <a:off x="276225" y="569374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51" name="Rectangle 5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3" name="Picture 52" descr="lock.png"/>
          <p:cNvPicPr>
            <a:picLocks noChangeAspect="1"/>
          </p:cNvPicPr>
          <p:nvPr/>
        </p:nvPicPr>
        <p:blipFill>
          <a:blip r:embed="rId5"/>
          <a:stretch>
            <a:fillRect/>
          </a:stretch>
        </p:blipFill>
        <p:spPr>
          <a:xfrm>
            <a:off x="3327425" y="2314517"/>
            <a:ext cx="199521" cy="290213"/>
          </a:xfrm>
          <a:prstGeom prst="rect">
            <a:avLst/>
          </a:prstGeom>
        </p:spPr>
      </p:pic>
      <p:sp>
        <p:nvSpPr>
          <p:cNvPr id="54" name="TextBox 53"/>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5" name="Picture 54" descr="lock.png"/>
          <p:cNvPicPr>
            <a:picLocks noChangeAspect="1"/>
          </p:cNvPicPr>
          <p:nvPr/>
        </p:nvPicPr>
        <p:blipFill>
          <a:blip r:embed="rId5"/>
          <a:stretch>
            <a:fillRect/>
          </a:stretch>
        </p:blipFill>
        <p:spPr>
          <a:xfrm>
            <a:off x="1172781" y="4005288"/>
            <a:ext cx="134549" cy="195707"/>
          </a:xfrm>
          <a:prstGeom prst="rect">
            <a:avLst/>
          </a:prstGeom>
        </p:spPr>
      </p:pic>
      <p:sp>
        <p:nvSpPr>
          <p:cNvPr id="56" name="TextBox 55"/>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7" name="TextBox 56"/>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58" name="Picture 57" descr="lock.png"/>
          <p:cNvPicPr>
            <a:picLocks noChangeAspect="1"/>
          </p:cNvPicPr>
          <p:nvPr/>
        </p:nvPicPr>
        <p:blipFill>
          <a:blip r:embed="rId5"/>
          <a:stretch>
            <a:fillRect/>
          </a:stretch>
        </p:blipFill>
        <p:spPr>
          <a:xfrm>
            <a:off x="735202" y="4482783"/>
            <a:ext cx="134549" cy="195707"/>
          </a:xfrm>
          <a:prstGeom prst="rect">
            <a:avLst/>
          </a:prstGeom>
        </p:spPr>
      </p:pic>
      <p:sp>
        <p:nvSpPr>
          <p:cNvPr id="59" name="TextBox 58"/>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0" name="Picture 59" descr="lock.png"/>
          <p:cNvPicPr>
            <a:picLocks noChangeAspect="1"/>
          </p:cNvPicPr>
          <p:nvPr/>
        </p:nvPicPr>
        <p:blipFill>
          <a:blip r:embed="rId5"/>
          <a:stretch>
            <a:fillRect/>
          </a:stretch>
        </p:blipFill>
        <p:spPr>
          <a:xfrm>
            <a:off x="1454256" y="4482783"/>
            <a:ext cx="134549" cy="195707"/>
          </a:xfrm>
          <a:prstGeom prst="rect">
            <a:avLst/>
          </a:prstGeom>
        </p:spPr>
      </p:pic>
      <p:sp>
        <p:nvSpPr>
          <p:cNvPr id="61" name="TextBox 60"/>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2" name="TextBox 61"/>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3" name="Picture 62" descr="lock.png"/>
          <p:cNvPicPr>
            <a:picLocks noChangeAspect="1"/>
          </p:cNvPicPr>
          <p:nvPr/>
        </p:nvPicPr>
        <p:blipFill>
          <a:blip r:embed="rId5"/>
          <a:stretch>
            <a:fillRect/>
          </a:stretch>
        </p:blipFill>
        <p:spPr>
          <a:xfrm>
            <a:off x="745471" y="4960279"/>
            <a:ext cx="134549" cy="195707"/>
          </a:xfrm>
          <a:prstGeom prst="rect">
            <a:avLst/>
          </a:prstGeom>
        </p:spPr>
      </p:pic>
      <p:sp>
        <p:nvSpPr>
          <p:cNvPr id="64" name="TextBox 63"/>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5" name="Picture 64" descr="lock.png"/>
          <p:cNvPicPr>
            <a:picLocks noChangeAspect="1"/>
          </p:cNvPicPr>
          <p:nvPr/>
        </p:nvPicPr>
        <p:blipFill>
          <a:blip r:embed="rId5"/>
          <a:stretch>
            <a:fillRect/>
          </a:stretch>
        </p:blipFill>
        <p:spPr>
          <a:xfrm>
            <a:off x="1461102" y="4960279"/>
            <a:ext cx="134549" cy="195707"/>
          </a:xfrm>
          <a:prstGeom prst="rect">
            <a:avLst/>
          </a:prstGeom>
        </p:spPr>
      </p:pic>
      <p:sp>
        <p:nvSpPr>
          <p:cNvPr id="66" name="TextBox 65"/>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7" name="TextBox 66"/>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68" name="TextBox 67"/>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69" name="Picture 68" descr="lock.png"/>
          <p:cNvPicPr>
            <a:picLocks noChangeAspect="1"/>
          </p:cNvPicPr>
          <p:nvPr/>
        </p:nvPicPr>
        <p:blipFill>
          <a:blip r:embed="rId5"/>
          <a:stretch>
            <a:fillRect/>
          </a:stretch>
        </p:blipFill>
        <p:spPr>
          <a:xfrm>
            <a:off x="1522276" y="5997147"/>
            <a:ext cx="128699" cy="187198"/>
          </a:xfrm>
          <a:prstGeom prst="rect">
            <a:avLst/>
          </a:prstGeom>
        </p:spPr>
      </p:pic>
      <p:sp>
        <p:nvSpPr>
          <p:cNvPr id="70" name="TextBox 69"/>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1" name="Picture 70" descr="lock.png"/>
          <p:cNvPicPr>
            <a:picLocks noChangeAspect="1"/>
          </p:cNvPicPr>
          <p:nvPr/>
        </p:nvPicPr>
        <p:blipFill>
          <a:blip r:embed="rId5"/>
          <a:stretch>
            <a:fillRect/>
          </a:stretch>
        </p:blipFill>
        <p:spPr>
          <a:xfrm>
            <a:off x="2667093" y="5997147"/>
            <a:ext cx="128699" cy="187198"/>
          </a:xfrm>
          <a:prstGeom prst="rect">
            <a:avLst/>
          </a:prstGeom>
        </p:spPr>
      </p:pic>
      <p:sp>
        <p:nvSpPr>
          <p:cNvPr id="72" name="TextBox 71"/>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3" name="Picture 72" descr="lock.png"/>
          <p:cNvPicPr>
            <a:picLocks noChangeAspect="1"/>
          </p:cNvPicPr>
          <p:nvPr/>
        </p:nvPicPr>
        <p:blipFill>
          <a:blip r:embed="rId5"/>
          <a:stretch>
            <a:fillRect/>
          </a:stretch>
        </p:blipFill>
        <p:spPr>
          <a:xfrm>
            <a:off x="5094041" y="5997147"/>
            <a:ext cx="128699" cy="187198"/>
          </a:xfrm>
          <a:prstGeom prst="rect">
            <a:avLst/>
          </a:prstGeom>
        </p:spPr>
      </p:pic>
      <p:sp>
        <p:nvSpPr>
          <p:cNvPr id="74" name="TextBox 73"/>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5" name="TextBox 74"/>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6" name="Picture 75" descr="lock.png"/>
          <p:cNvPicPr>
            <a:picLocks noChangeAspect="1"/>
          </p:cNvPicPr>
          <p:nvPr/>
        </p:nvPicPr>
        <p:blipFill>
          <a:blip r:embed="rId5"/>
          <a:stretch>
            <a:fillRect/>
          </a:stretch>
        </p:blipFill>
        <p:spPr>
          <a:xfrm>
            <a:off x="2839292" y="6215079"/>
            <a:ext cx="128699" cy="187198"/>
          </a:xfrm>
          <a:prstGeom prst="rect">
            <a:avLst/>
          </a:prstGeom>
        </p:spPr>
      </p:pic>
      <p:sp>
        <p:nvSpPr>
          <p:cNvPr id="77" name="TextBox 76"/>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78" name="lockshield_10"/>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Sealed Air Corporation SWOT Analysis (3/5)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Sealed Air Corporation: strengths, weaknesses, opportunities and threats shaping its competitive position</a:t>
            </a:r>
          </a:p>
        </p:txBody>
      </p:sp>
      <p:sp>
        <p:nvSpPr>
          <p:cNvPr id="7" name="TextBox 6"/>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Sealed Air Corporation: strengths, weaknesses, opportunities and threats (indicative).</a:t>
            </a:r>
          </a:p>
        </p:txBody>
      </p:sp>
      <p:cxnSp>
        <p:nvCxnSpPr>
          <p:cNvPr id="8" name="Connector 7"/>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3" name="TextBox 22"/>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4" name="TextBox 23"/>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5" name="TextBox 24"/>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6" name="TextBox 25"/>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27" name="Rectangle 26"/>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Oval 29"/>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2" name="Oval 31"/>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5" name="Rectangle 34"/>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Oval 37"/>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0" name="Oval 39"/>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2" name="TextBox 41"/>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3" name="Rectangle 42"/>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Oval 45"/>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48" name="Oval 47"/>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0" name="TextBox 49"/>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1" name="Rectangle 50"/>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'Other Foam Materials' and adjacent high-value lines.</a:t>
            </a:r>
          </a:p>
        </p:txBody>
      </p:sp>
      <p:sp>
        <p:nvSpPr>
          <p:cNvPr id="54" name="Oval 53"/>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6" name="Oval 55"/>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58" name="TextBox 57"/>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2" name="Picture 61" descr="lock.png"/>
          <p:cNvPicPr>
            <a:picLocks noChangeAspect="1"/>
          </p:cNvPicPr>
          <p:nvPr/>
        </p:nvPicPr>
        <p:blipFill>
          <a:blip r:embed="rId4"/>
          <a:stretch>
            <a:fillRect/>
          </a:stretch>
        </p:blipFill>
        <p:spPr>
          <a:xfrm>
            <a:off x="455778" y="1633005"/>
            <a:ext cx="128699" cy="187198"/>
          </a:xfrm>
          <a:prstGeom prst="rect">
            <a:avLst/>
          </a:prstGeom>
        </p:spPr>
      </p:pic>
      <p:sp>
        <p:nvSpPr>
          <p:cNvPr id="63" name="TextBox 62"/>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4" name="Picture 63" descr="lock.png"/>
          <p:cNvPicPr>
            <a:picLocks noChangeAspect="1"/>
          </p:cNvPicPr>
          <p:nvPr/>
        </p:nvPicPr>
        <p:blipFill>
          <a:blip r:embed="rId4"/>
          <a:stretch>
            <a:fillRect/>
          </a:stretch>
        </p:blipFill>
        <p:spPr>
          <a:xfrm>
            <a:off x="1600596" y="1633005"/>
            <a:ext cx="128699" cy="187198"/>
          </a:xfrm>
          <a:prstGeom prst="rect">
            <a:avLst/>
          </a:prstGeom>
        </p:spPr>
      </p:pic>
      <p:sp>
        <p:nvSpPr>
          <p:cNvPr id="65" name="TextBox 64"/>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6" name="TextBox 65"/>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7" name="Picture 66" descr="lock.png"/>
          <p:cNvPicPr>
            <a:picLocks noChangeAspect="1"/>
          </p:cNvPicPr>
          <p:nvPr/>
        </p:nvPicPr>
        <p:blipFill>
          <a:blip r:embed="rId4"/>
          <a:stretch>
            <a:fillRect/>
          </a:stretch>
        </p:blipFill>
        <p:spPr>
          <a:xfrm>
            <a:off x="348482" y="2655212"/>
            <a:ext cx="128699" cy="187198"/>
          </a:xfrm>
          <a:prstGeom prst="rect">
            <a:avLst/>
          </a:prstGeom>
        </p:spPr>
      </p:pic>
      <p:sp>
        <p:nvSpPr>
          <p:cNvPr id="68" name="TextBox 67"/>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69" name="Picture 68" descr="lock.png"/>
          <p:cNvPicPr>
            <a:picLocks noChangeAspect="1"/>
          </p:cNvPicPr>
          <p:nvPr/>
        </p:nvPicPr>
        <p:blipFill>
          <a:blip r:embed="rId4"/>
          <a:stretch>
            <a:fillRect/>
          </a:stretch>
        </p:blipFill>
        <p:spPr>
          <a:xfrm>
            <a:off x="1547325" y="2655212"/>
            <a:ext cx="128699" cy="187198"/>
          </a:xfrm>
          <a:prstGeom prst="rect">
            <a:avLst/>
          </a:prstGeom>
        </p:spPr>
      </p:pic>
      <p:sp>
        <p:nvSpPr>
          <p:cNvPr id="70" name="TextBox 69"/>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1" name="TextBox 70"/>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2" name="TextBox 71"/>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3" name="Picture 72" descr="lock.png"/>
          <p:cNvPicPr>
            <a:picLocks noChangeAspect="1"/>
          </p:cNvPicPr>
          <p:nvPr/>
        </p:nvPicPr>
        <p:blipFill>
          <a:blip r:embed="rId4"/>
          <a:stretch>
            <a:fillRect/>
          </a:stretch>
        </p:blipFill>
        <p:spPr>
          <a:xfrm>
            <a:off x="8599653" y="1716825"/>
            <a:ext cx="128699" cy="187198"/>
          </a:xfrm>
          <a:prstGeom prst="rect">
            <a:avLst/>
          </a:prstGeom>
        </p:spPr>
      </p:pic>
      <p:sp>
        <p:nvSpPr>
          <p:cNvPr id="74" name="TextBox 73"/>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5" name="TextBox 74"/>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6" name="Picture 75" descr="lock.png"/>
          <p:cNvPicPr>
            <a:picLocks noChangeAspect="1"/>
          </p:cNvPicPr>
          <p:nvPr/>
        </p:nvPicPr>
        <p:blipFill>
          <a:blip r:embed="rId4"/>
          <a:stretch>
            <a:fillRect/>
          </a:stretch>
        </p:blipFill>
        <p:spPr>
          <a:xfrm>
            <a:off x="1634497" y="4473133"/>
            <a:ext cx="128699" cy="187198"/>
          </a:xfrm>
          <a:prstGeom prst="rect">
            <a:avLst/>
          </a:prstGeom>
        </p:spPr>
      </p:pic>
      <p:sp>
        <p:nvSpPr>
          <p:cNvPr id="77" name="TextBox 76"/>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Sealed Air Corporation Key Financials (4/5)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Sealed Air Corporation's financial performance, key ratios and pricing, highlighting margin and momentum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Sealed Air Corporation (all figures indicative, USD Mn unless noted).</a:t>
            </a:r>
          </a:p>
        </p:txBody>
      </p:sp>
      <p:sp>
        <p:nvSpPr>
          <p:cNvPr id="8" name="Rounded Rectangle 7"/>
          <p:cNvSpPr/>
          <p:nvPr/>
        </p:nvSpPr>
        <p:spPr>
          <a:xfrm>
            <a:off x="142875" y="1354081"/>
            <a:ext cx="5905500" cy="1916638"/>
          </a:xfrm>
          <a:prstGeom prst="roundRect">
            <a:avLst>
              <a:gd name="adj" fmla="val 397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Sealed Air Corporation Financial Performance</a:t>
            </a:r>
          </a:p>
        </p:txBody>
      </p:sp>
      <p:graphicFrame>
        <p:nvGraphicFramePr>
          <p:cNvPr id="10" name="Table 9"/>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E2A5C"/>
                          </a:solidFill>
                          <a:latin typeface="Calibri"/>
                        </a:rPr>
                        <a:t>USD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94397"/>
          </a:xfrm>
          <a:prstGeom prst="roundRect">
            <a:avLst>
              <a:gd name="adj" fmla="val 23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Sealed Air Corporation Key Ratios</a:t>
            </a:r>
          </a:p>
        </p:txBody>
      </p:sp>
      <p:graphicFrame>
        <p:nvGraphicFramePr>
          <p:cNvPr id="14" name="Table 13"/>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E2A5C"/>
                          </a:solidFill>
                          <a:latin typeface="Calibri"/>
                        </a:rPr>
                        <a:t>Key Ratios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1354081"/>
            <a:ext cx="584835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Sealed Air Corporation Pricing Analysis (US$/MT)</a:t>
            </a:r>
          </a:p>
        </p:txBody>
      </p:sp>
      <p:graphicFrame>
        <p:nvGraphicFramePr>
          <p:cNvPr id="18" name="Table 17"/>
          <p:cNvGraphicFramePr>
            <a:graphicFrameLocks noGrp="1"/>
          </p:cNvGraphicFramePr>
          <p:nvPr/>
        </p:nvGraphicFramePr>
        <p:xfrm>
          <a:off x="6210300" y="1611256"/>
          <a:ext cx="5829300" cy="4772086"/>
        </p:xfrm>
        <a:graphic>
          <a:graphicData uri="http://schemas.openxmlformats.org/drawingml/2006/table">
            <a:tbl>
              <a:tblPr>
                <a:tableStyleId>{5C22544A-7EE6-4342-B048-85BDC9FD1C3A}</a:tableStyleId>
              </a:tblPr>
              <a:tblGrid>
                <a:gridCol w="3627364"/>
                <a:gridCol w="1100968"/>
                <a:gridCol w="1100968"/>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1131490">
                <a:tc>
                  <a:txBody>
                    <a:bodyPr wrap="none"/>
                    <a:lstStyle/>
                    <a:p>
                      <a:pPr algn="l"/>
                      <a:r>
                        <a:rPr sz="1100" b="1">
                          <a:solidFill>
                            <a:srgbClr val="2E2E2E"/>
                          </a:solidFill>
                          <a:latin typeface="Calibri"/>
                        </a:rPr>
                        <a:t>Other Foam Materials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Expanded Polystyrene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1131490">
                <a:tc>
                  <a:txBody>
                    <a:bodyPr wrap="none"/>
                    <a:lstStyle/>
                    <a:p>
                      <a:pPr algn="l"/>
                      <a:r>
                        <a:rPr sz="1100" b="1">
                          <a:solidFill>
                            <a:srgbClr val="2E2E2E"/>
                          </a:solidFill>
                          <a:latin typeface="Calibri"/>
                        </a:rPr>
                        <a:t>Expanded Polypropylene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Polyethylene (PE) Foam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9" name="TextBox 18"/>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4150927" y="2219246"/>
            <a:ext cx="330041" cy="480060"/>
          </a:xfrm>
          <a:prstGeom prst="rect">
            <a:avLst/>
          </a:prstGeom>
        </p:spPr>
      </p:pic>
      <p:pic>
        <p:nvPicPr>
          <p:cNvPr id="23" name="Picture 22" descr="lock.png"/>
          <p:cNvPicPr>
            <a:picLocks noChangeAspect="1"/>
          </p:cNvPicPr>
          <p:nvPr/>
        </p:nvPicPr>
        <p:blipFill>
          <a:blip r:embed="rId4"/>
          <a:stretch>
            <a:fillRect/>
          </a:stretch>
        </p:blipFill>
        <p:spPr>
          <a:xfrm>
            <a:off x="3838564" y="4875868"/>
            <a:ext cx="366712" cy="533400"/>
          </a:xfrm>
          <a:prstGeom prst="rect">
            <a:avLst/>
          </a:prstGeom>
        </p:spPr>
      </p:pic>
      <p:pic>
        <p:nvPicPr>
          <p:cNvPr id="24" name="Picture 23" descr="lock.png"/>
          <p:cNvPicPr>
            <a:picLocks noChangeAspect="1"/>
          </p:cNvPicPr>
          <p:nvPr/>
        </p:nvPicPr>
        <p:blipFill>
          <a:blip r:embed="rId4"/>
          <a:stretch>
            <a:fillRect/>
          </a:stretch>
        </p:blipFill>
        <p:spPr>
          <a:xfrm>
            <a:off x="10751941" y="3853662"/>
            <a:ext cx="366712" cy="533400"/>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Sealed Air Corporation Strategy Analysis (5/5)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Sealed Air Corporation's strategic priorities and the competitive moves that support them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Sealed Air Corporation: strategic priorities and the competitive moves that support them (indicative).</a:t>
            </a:r>
          </a:p>
        </p:txBody>
      </p:sp>
      <p:sp>
        <p:nvSpPr>
          <p:cNvPr id="8" name="Rounded Rectangle 7"/>
          <p:cNvSpPr/>
          <p:nvPr/>
        </p:nvSpPr>
        <p:spPr>
          <a:xfrm>
            <a:off x="1428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of global value</a:t>
            </a:r>
          </a:p>
        </p:txBody>
      </p:sp>
      <p:sp>
        <p:nvSpPr>
          <p:cNvPr id="9" name="Rounded Rectangle 8"/>
          <p:cNvSpPr/>
          <p:nvPr/>
        </p:nvSpPr>
        <p:spPr>
          <a:xfrm>
            <a:off x="25431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deals won</a:t>
            </a:r>
          </a:p>
        </p:txBody>
      </p:sp>
      <p:sp>
        <p:nvSpPr>
          <p:cNvPr id="10" name="Rounded Rectangle 9"/>
          <p:cNvSpPr/>
          <p:nvPr/>
        </p:nvSpPr>
        <p:spPr>
          <a:xfrm>
            <a:off x="49530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vs peers</a:t>
            </a:r>
          </a:p>
        </p:txBody>
      </p:sp>
      <p:sp>
        <p:nvSpPr>
          <p:cNvPr id="11" name="Rounded Rectangle 10"/>
          <p:cNvSpPr/>
          <p:nvPr/>
        </p:nvSpPr>
        <p:spPr>
          <a:xfrm>
            <a:off x="73533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84229"/>
            <a:ext cx="590550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E2A5C"/>
                </a:solidFill>
                <a:latin typeface="Calibri"/>
              </a:rPr>
              <a:t>Strategic Priorities</a:t>
            </a:r>
          </a:p>
        </p:txBody>
      </p:sp>
      <p:sp>
        <p:nvSpPr>
          <p:cNvPr id="15" name="Rectangle 14"/>
          <p:cNvSpPr/>
          <p:nvPr/>
        </p:nvSpPr>
        <p:spPr>
          <a:xfrm>
            <a:off x="276225" y="2408079"/>
            <a:ext cx="56388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7" name="Rounded Rectangle 16"/>
          <p:cNvSpPr/>
          <p:nvPr/>
        </p:nvSpPr>
        <p:spPr>
          <a:xfrm>
            <a:off x="6200775" y="2084229"/>
            <a:ext cx="584835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E2A5C"/>
                </a:solidFill>
                <a:latin typeface="Calibri"/>
              </a:rPr>
              <a:t>Competitive Moves</a:t>
            </a:r>
          </a:p>
        </p:txBody>
      </p:sp>
      <p:sp>
        <p:nvSpPr>
          <p:cNvPr id="19" name="Rectangle 18"/>
          <p:cNvSpPr/>
          <p:nvPr/>
        </p:nvSpPr>
        <p:spPr>
          <a:xfrm>
            <a:off x="6334125" y="2408079"/>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4"/>
          <a:stretch>
            <a:fillRect/>
          </a:stretch>
        </p:blipFill>
        <p:spPr>
          <a:xfrm>
            <a:off x="1202531" y="1540967"/>
            <a:ext cx="157162" cy="228600"/>
          </a:xfrm>
          <a:prstGeom prst="rect">
            <a:avLst/>
          </a:prstGeom>
        </p:spPr>
      </p:pic>
      <p:pic>
        <p:nvPicPr>
          <p:cNvPr id="24" name="Picture 23" descr="lock.png"/>
          <p:cNvPicPr>
            <a:picLocks noChangeAspect="1"/>
          </p:cNvPicPr>
          <p:nvPr/>
        </p:nvPicPr>
        <p:blipFill>
          <a:blip r:embed="rId4"/>
          <a:stretch>
            <a:fillRect/>
          </a:stretch>
        </p:blipFill>
        <p:spPr>
          <a:xfrm>
            <a:off x="3602831" y="1540967"/>
            <a:ext cx="157162" cy="228600"/>
          </a:xfrm>
          <a:prstGeom prst="rect">
            <a:avLst/>
          </a:prstGeom>
        </p:spPr>
      </p:pic>
      <p:pic>
        <p:nvPicPr>
          <p:cNvPr id="25" name="Picture 24" descr="lock.png"/>
          <p:cNvPicPr>
            <a:picLocks noChangeAspect="1"/>
          </p:cNvPicPr>
          <p:nvPr/>
        </p:nvPicPr>
        <p:blipFill>
          <a:blip r:embed="rId4"/>
          <a:stretch>
            <a:fillRect/>
          </a:stretch>
        </p:blipFill>
        <p:spPr>
          <a:xfrm>
            <a:off x="6012656"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8412956"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10822781" y="1540967"/>
            <a:ext cx="157162" cy="228600"/>
          </a:xfrm>
          <a:prstGeom prst="rect">
            <a:avLst/>
          </a:prstGeom>
        </p:spPr>
      </p:pic>
      <p:sp>
        <p:nvSpPr>
          <p:cNvPr id="28" name="TextBox 27"/>
          <p:cNvSpPr txBox="1"/>
          <p:nvPr/>
        </p:nvSpPr>
        <p:spPr>
          <a:xfrm>
            <a:off x="276225" y="2503329"/>
            <a:ext cx="4862729" cy="194310"/>
          </a:xfrm>
          <a:prstGeom prst="rect">
            <a:avLst/>
          </a:prstGeom>
          <a:noFill/>
        </p:spPr>
        <p:txBody>
          <a:bodyPr wrap="none" lIns="0" rIns="0" tIns="0" bIns="0">
            <a:spAutoFit/>
          </a:bodyPr>
          <a:lstStyle/>
          <a:p>
            <a:r>
              <a:rPr sz="1150" b="0">
                <a:solidFill>
                  <a:srgbClr val="2E2E2E"/>
                </a:solidFill>
                <a:latin typeface="Calibri"/>
              </a:rPr>
              <a:t>▪ Defend and extend leadership in 'Industrial Machinery &amp; Equipment' Sealed Air</a:t>
            </a:r>
          </a:p>
        </p:txBody>
      </p:sp>
      <p:sp>
        <p:nvSpPr>
          <p:cNvPr id="29" name="TextBox 28"/>
          <p:cNvSpPr txBox="1"/>
          <p:nvPr/>
        </p:nvSpPr>
        <p:spPr>
          <a:xfrm>
            <a:off x="276225" y="2678589"/>
            <a:ext cx="4606032" cy="194310"/>
          </a:xfrm>
          <a:prstGeom prst="rect">
            <a:avLst/>
          </a:prstGeom>
          <a:noFill/>
        </p:spPr>
        <p:txBody>
          <a:bodyPr wrap="none" lIns="0" rIns="0" tIns="0" bIns="0">
            <a:spAutoFit/>
          </a:bodyPr>
          <a:lstStyle/>
          <a:p>
            <a:r>
              <a:rPr sz="1150" b="0">
                <a:solidFill>
                  <a:srgbClr val="2E2E2E"/>
                </a:solidFill>
                <a:latin typeface="Calibri"/>
              </a:rPr>
              <a:t>Corporation's strongest end-market while scaling the next-best applications.</a:t>
            </a:r>
          </a:p>
        </p:txBody>
      </p:sp>
      <p:sp>
        <p:nvSpPr>
          <p:cNvPr id="30" name="TextBox 29"/>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1" name="Picture 30" descr="lock.png"/>
          <p:cNvPicPr>
            <a:picLocks noChangeAspect="1"/>
          </p:cNvPicPr>
          <p:nvPr/>
        </p:nvPicPr>
        <p:blipFill>
          <a:blip r:embed="rId4"/>
          <a:stretch>
            <a:fillRect/>
          </a:stretch>
        </p:blipFill>
        <p:spPr>
          <a:xfrm>
            <a:off x="1135376" y="2896203"/>
            <a:ext cx="134549" cy="195707"/>
          </a:xfrm>
          <a:prstGeom prst="rect">
            <a:avLst/>
          </a:prstGeom>
        </p:spPr>
      </p:pic>
      <p:sp>
        <p:nvSpPr>
          <p:cNvPr id="32" name="TextBox 31"/>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3" name="Picture 32" descr="lock.png"/>
          <p:cNvPicPr>
            <a:picLocks noChangeAspect="1"/>
          </p:cNvPicPr>
          <p:nvPr/>
        </p:nvPicPr>
        <p:blipFill>
          <a:blip r:embed="rId4"/>
          <a:stretch>
            <a:fillRect/>
          </a:stretch>
        </p:blipFill>
        <p:spPr>
          <a:xfrm>
            <a:off x="2188748" y="2896203"/>
            <a:ext cx="134549" cy="195707"/>
          </a:xfrm>
          <a:prstGeom prst="rect">
            <a:avLst/>
          </a:prstGeom>
        </p:spPr>
      </p:pic>
      <p:sp>
        <p:nvSpPr>
          <p:cNvPr id="34" name="TextBox 33"/>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5" name="TextBox 34"/>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6" name="TextBox 35"/>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7" name="Picture 36" descr="lock.png"/>
          <p:cNvPicPr>
            <a:picLocks noChangeAspect="1"/>
          </p:cNvPicPr>
          <p:nvPr/>
        </p:nvPicPr>
        <p:blipFill>
          <a:blip r:embed="rId4"/>
          <a:stretch>
            <a:fillRect/>
          </a:stretch>
        </p:blipFill>
        <p:spPr>
          <a:xfrm>
            <a:off x="3519813" y="3299301"/>
            <a:ext cx="134549" cy="195707"/>
          </a:xfrm>
          <a:prstGeom prst="rect">
            <a:avLst/>
          </a:prstGeom>
        </p:spPr>
      </p:pic>
      <p:sp>
        <p:nvSpPr>
          <p:cNvPr id="38" name="TextBox 37"/>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39" name="TextBox 38"/>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0" name="Picture 39" descr="lock.png"/>
          <p:cNvPicPr>
            <a:picLocks noChangeAspect="1"/>
          </p:cNvPicPr>
          <p:nvPr/>
        </p:nvPicPr>
        <p:blipFill>
          <a:blip r:embed="rId4"/>
          <a:stretch>
            <a:fillRect/>
          </a:stretch>
        </p:blipFill>
        <p:spPr>
          <a:xfrm>
            <a:off x="919438" y="3527139"/>
            <a:ext cx="134549" cy="195707"/>
          </a:xfrm>
          <a:prstGeom prst="rect">
            <a:avLst/>
          </a:prstGeom>
        </p:spPr>
      </p:pic>
      <p:sp>
        <p:nvSpPr>
          <p:cNvPr id="41" name="TextBox 40"/>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2" name="TextBox 41"/>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3" name="TextBox 42"/>
          <p:cNvSpPr txBox="1"/>
          <p:nvPr/>
        </p:nvSpPr>
        <p:spPr>
          <a:xfrm>
            <a:off x="6334125" y="2503329"/>
            <a:ext cx="5562600" cy="194310"/>
          </a:xfrm>
          <a:prstGeom prst="rect">
            <a:avLst/>
          </a:prstGeom>
          <a:noFill/>
        </p:spPr>
        <p:txBody>
          <a:bodyPr wrap="none" lIns="0" rIns="0" tIns="0" bIns="0">
            <a:spAutoFit/>
          </a:bodyPr>
          <a:lstStyle/>
          <a:p>
            <a:r>
              <a:rPr sz="1150" b="0">
                <a:solidFill>
                  <a:srgbClr val="2E2E2E"/>
                </a:solidFill>
                <a:latin typeface="Calibri"/>
              </a:rPr>
              <a:t>▪ Premiumise the portfolio around 'Other Foam Materials' and adjacent high-value lines to lift</a:t>
            </a:r>
          </a:p>
        </p:txBody>
      </p:sp>
      <p:sp>
        <p:nvSpPr>
          <p:cNvPr id="44" name="TextBox 43"/>
          <p:cNvSpPr txBox="1"/>
          <p:nvPr/>
        </p:nvSpPr>
        <p:spPr>
          <a:xfrm>
            <a:off x="6334125" y="2678589"/>
            <a:ext cx="1034653" cy="194310"/>
          </a:xfrm>
          <a:prstGeom prst="rect">
            <a:avLst/>
          </a:prstGeom>
          <a:noFill/>
        </p:spPr>
        <p:txBody>
          <a:bodyPr wrap="none" lIns="0" rIns="0" tIns="0" bIns="0">
            <a:spAutoFit/>
          </a:bodyPr>
          <a:lstStyle/>
          <a:p>
            <a:r>
              <a:rPr sz="1150" b="0">
                <a:solidFill>
                  <a:srgbClr val="2E2E2E"/>
                </a:solidFill>
                <a:latin typeface="Calibri"/>
              </a:rPr>
              <a:t>blended pricing.</a:t>
            </a:r>
          </a:p>
        </p:txBody>
      </p:sp>
      <p:sp>
        <p:nvSpPr>
          <p:cNvPr id="45" name="TextBox 44"/>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6" name="TextBox 45"/>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7" name="TextBox 46"/>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48" name="TextBox 47"/>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49" name="TextBox 48"/>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0" name="TextBox 49"/>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1" name="TextBox 50"/>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2" name="Picture 51" descr="lock.png"/>
          <p:cNvPicPr>
            <a:picLocks noChangeAspect="1"/>
          </p:cNvPicPr>
          <p:nvPr/>
        </p:nvPicPr>
        <p:blipFill>
          <a:blip r:embed="rId4"/>
          <a:stretch>
            <a:fillRect/>
          </a:stretch>
        </p:blipFill>
        <p:spPr>
          <a:xfrm>
            <a:off x="9385452" y="4105497"/>
            <a:ext cx="134549" cy="195707"/>
          </a:xfrm>
          <a:prstGeom prst="rect">
            <a:avLst/>
          </a:prstGeom>
        </p:spPr>
      </p:pic>
      <p:sp>
        <p:nvSpPr>
          <p:cNvPr id="53" name="TextBox 52"/>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20</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Foam Protective Packaging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Competitive Landscape at a Glance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7" name="Connector 6"/>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9" name="TextBox 8"/>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0" name="Connector 9"/>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2" name="TextBox 11"/>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3" name="Connector 12"/>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5" name="TextBox 14"/>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18" name="TextBox 17"/>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19" name="Connector 18"/>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1" name="TextBox 20"/>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2" name="Connector 21"/>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4" name="TextBox 23"/>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5" name="Connector 24"/>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27" name="TextBox 26"/>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Sealed Air Corporation</a:t>
            </a:r>
          </a:p>
        </p:txBody>
      </p:sp>
      <p:cxnSp>
        <p:nvCxnSpPr>
          <p:cNvPr id="28" name="Connector 27"/>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0" name="TextBox 29"/>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1" name="Connector 30"/>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4" name="TextBox 33"/>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5" name="TextBox 34"/>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6" name="Rectangle 35"/>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TextBox 37"/>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39" name="TextBox 38"/>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0" name="Rectangle 39"/>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2" name="TextBox 41"/>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3" name="TextBox 42"/>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4" name="Rectangle 43"/>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6" name="TextBox 45"/>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47" name="TextBox 46"/>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48" name="Rectangle 47"/>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0" name="TextBox 49"/>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1" name="TextBox 50"/>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2" name="Rectangle 51"/>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4" name="TextBox 53"/>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5" name="TextBox 54"/>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Company, Sealed Air Corporation, BOBST Group SA.</a:t>
            </a:r>
          </a:p>
        </p:txBody>
      </p:sp>
      <p:cxnSp>
        <p:nvCxnSpPr>
          <p:cNvPr id="56" name="Connector 55"/>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58" name="TextBox 57"/>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lock.png"/>
          <p:cNvPicPr>
            <a:picLocks noChangeAspect="1"/>
          </p:cNvPicPr>
          <p:nvPr/>
        </p:nvPicPr>
        <p:blipFill>
          <a:blip r:embed="rId4"/>
          <a:stretch>
            <a:fillRect/>
          </a:stretch>
        </p:blipFill>
        <p:spPr>
          <a:xfrm>
            <a:off x="873863" y="1401826"/>
            <a:ext cx="128699" cy="187198"/>
          </a:xfrm>
          <a:prstGeom prst="rect">
            <a:avLst/>
          </a:prstGeom>
        </p:spPr>
      </p:pic>
      <p:pic>
        <p:nvPicPr>
          <p:cNvPr id="62" name="Picture 61" descr="lock.png"/>
          <p:cNvPicPr>
            <a:picLocks noChangeAspect="1"/>
          </p:cNvPicPr>
          <p:nvPr/>
        </p:nvPicPr>
        <p:blipFill>
          <a:blip r:embed="rId4"/>
          <a:stretch>
            <a:fillRect/>
          </a:stretch>
        </p:blipFill>
        <p:spPr>
          <a:xfrm>
            <a:off x="2350238" y="1401826"/>
            <a:ext cx="128699" cy="187198"/>
          </a:xfrm>
          <a:prstGeom prst="rect">
            <a:avLst/>
          </a:prstGeom>
        </p:spPr>
      </p:pic>
      <p:pic>
        <p:nvPicPr>
          <p:cNvPr id="63" name="Picture 62" descr="lock.png"/>
          <p:cNvPicPr>
            <a:picLocks noChangeAspect="1"/>
          </p:cNvPicPr>
          <p:nvPr/>
        </p:nvPicPr>
        <p:blipFill>
          <a:blip r:embed="rId4"/>
          <a:stretch>
            <a:fillRect/>
          </a:stretch>
        </p:blipFill>
        <p:spPr>
          <a:xfrm>
            <a:off x="382661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11208488" y="1401826"/>
            <a:ext cx="128699" cy="187198"/>
          </a:xfrm>
          <a:prstGeom prst="rect">
            <a:avLst/>
          </a:prstGeom>
        </p:spPr>
      </p:pic>
      <p:sp>
        <p:nvSpPr>
          <p:cNvPr id="65" name="TextBox 64"/>
          <p:cNvSpPr txBox="1"/>
          <p:nvPr/>
        </p:nvSpPr>
        <p:spPr>
          <a:xfrm>
            <a:off x="4705350" y="1304925"/>
            <a:ext cx="1151453" cy="179984"/>
          </a:xfrm>
          <a:prstGeom prst="rect">
            <a:avLst/>
          </a:prstGeom>
          <a:noFill/>
        </p:spPr>
        <p:txBody>
          <a:bodyPr wrap="none" lIns="0" rIns="0" tIns="0" bIns="0">
            <a:spAutoFit/>
          </a:bodyPr>
          <a:lstStyle/>
          <a:p>
            <a:r>
              <a:rPr sz="1055" b="1">
                <a:solidFill>
                  <a:srgbClr val="0F2D52"/>
                </a:solidFill>
                <a:latin typeface="Calibri"/>
              </a:rPr>
              <a:t>Consumer Goods &amp;</a:t>
            </a:r>
          </a:p>
        </p:txBody>
      </p:sp>
      <p:sp>
        <p:nvSpPr>
          <p:cNvPr id="66" name="TextBox 65"/>
          <p:cNvSpPr txBox="1"/>
          <p:nvPr/>
        </p:nvSpPr>
        <p:spPr>
          <a:xfrm>
            <a:off x="4705350" y="1465859"/>
            <a:ext cx="966001" cy="179984"/>
          </a:xfrm>
          <a:prstGeom prst="rect">
            <a:avLst/>
          </a:prstGeom>
          <a:noFill/>
        </p:spPr>
        <p:txBody>
          <a:bodyPr wrap="none" lIns="0" rIns="0" tIns="0" bIns="0">
            <a:spAutoFit/>
          </a:bodyPr>
          <a:lstStyle/>
          <a:p>
            <a:r>
              <a:rPr sz="1055" b="1">
                <a:solidFill>
                  <a:srgbClr val="0F2D52"/>
                </a:solidFill>
                <a:latin typeface="Calibri"/>
              </a:rPr>
              <a:t>Home Products,</a:t>
            </a:r>
          </a:p>
        </p:txBody>
      </p:sp>
      <p:pic>
        <p:nvPicPr>
          <p:cNvPr id="67" name="Picture 66" descr="lock.png"/>
          <p:cNvPicPr>
            <a:picLocks noChangeAspect="1"/>
          </p:cNvPicPr>
          <p:nvPr/>
        </p:nvPicPr>
        <p:blipFill>
          <a:blip r:embed="rId4"/>
          <a:stretch>
            <a:fillRect/>
          </a:stretch>
        </p:blipFill>
        <p:spPr>
          <a:xfrm>
            <a:off x="5618433" y="1456471"/>
            <a:ext cx="123551" cy="179710"/>
          </a:xfrm>
          <a:prstGeom prst="rect">
            <a:avLst/>
          </a:prstGeom>
        </p:spPr>
      </p:pic>
      <p:sp>
        <p:nvSpPr>
          <p:cNvPr id="68" name="TextBox 67"/>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69" name="Picture 68" descr="lock.png"/>
          <p:cNvPicPr>
            <a:picLocks noChangeAspect="1"/>
          </p:cNvPicPr>
          <p:nvPr/>
        </p:nvPicPr>
        <p:blipFill>
          <a:blip r:embed="rId4"/>
          <a:stretch>
            <a:fillRect/>
          </a:stretch>
        </p:blipFill>
        <p:spPr>
          <a:xfrm>
            <a:off x="1609246" y="2114296"/>
            <a:ext cx="128699" cy="187198"/>
          </a:xfrm>
          <a:prstGeom prst="rect">
            <a:avLst/>
          </a:prstGeom>
        </p:spPr>
      </p:pic>
      <p:sp>
        <p:nvSpPr>
          <p:cNvPr id="70" name="TextBox 69"/>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1" name="TextBox 70"/>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2" name="TextBox 71"/>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3" name="Picture 72" descr="lock.png"/>
          <p:cNvPicPr>
            <a:picLocks noChangeAspect="1"/>
          </p:cNvPicPr>
          <p:nvPr/>
        </p:nvPicPr>
        <p:blipFill>
          <a:blip r:embed="rId4"/>
          <a:stretch>
            <a:fillRect/>
          </a:stretch>
        </p:blipFill>
        <p:spPr>
          <a:xfrm>
            <a:off x="1835985" y="3219196"/>
            <a:ext cx="128699" cy="187198"/>
          </a:xfrm>
          <a:prstGeom prst="rect">
            <a:avLst/>
          </a:prstGeom>
        </p:spPr>
      </p:pic>
      <p:sp>
        <p:nvSpPr>
          <p:cNvPr id="74" name="TextBox 73"/>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5" name="Picture 74" descr="lock.png"/>
          <p:cNvPicPr>
            <a:picLocks noChangeAspect="1"/>
          </p:cNvPicPr>
          <p:nvPr/>
        </p:nvPicPr>
        <p:blipFill>
          <a:blip r:embed="rId4"/>
          <a:stretch>
            <a:fillRect/>
          </a:stretch>
        </p:blipFill>
        <p:spPr>
          <a:xfrm>
            <a:off x="3827189" y="3219196"/>
            <a:ext cx="128699" cy="187198"/>
          </a:xfrm>
          <a:prstGeom prst="rect">
            <a:avLst/>
          </a:prstGeom>
        </p:spPr>
      </p:pic>
      <p:sp>
        <p:nvSpPr>
          <p:cNvPr id="76" name="TextBox 75"/>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7" name="TextBox 76"/>
          <p:cNvSpPr txBox="1"/>
          <p:nvPr/>
        </p:nvSpPr>
        <p:spPr>
          <a:xfrm>
            <a:off x="523875" y="4333875"/>
            <a:ext cx="5178494" cy="186689"/>
          </a:xfrm>
          <a:prstGeom prst="rect">
            <a:avLst/>
          </a:prstGeom>
          <a:noFill/>
        </p:spPr>
        <p:txBody>
          <a:bodyPr wrap="none" lIns="0" rIns="0" tIns="0" bIns="0">
            <a:spAutoFit/>
          </a:bodyPr>
          <a:lstStyle/>
          <a:p>
            <a:r>
              <a:rPr sz="1100" b="0">
                <a:solidFill>
                  <a:srgbClr val="1F2933"/>
                </a:solidFill>
                <a:latin typeface="Calibri"/>
              </a:rPr>
              <a:t>'Other Foam Materials' is the largest line; 'Expanded Polypropylene' compounds fastest at</a:t>
            </a:r>
          </a:p>
        </p:txBody>
      </p:sp>
      <p:pic>
        <p:nvPicPr>
          <p:cNvPr id="78" name="Picture 77" descr="lock.png"/>
          <p:cNvPicPr>
            <a:picLocks noChangeAspect="1"/>
          </p:cNvPicPr>
          <p:nvPr/>
        </p:nvPicPr>
        <p:blipFill>
          <a:blip r:embed="rId4"/>
          <a:stretch>
            <a:fillRect/>
          </a:stretch>
        </p:blipFill>
        <p:spPr>
          <a:xfrm>
            <a:off x="510407" y="4491736"/>
            <a:ext cx="128699" cy="187198"/>
          </a:xfrm>
          <a:prstGeom prst="rect">
            <a:avLst/>
          </a:prstGeom>
        </p:spPr>
      </p:pic>
      <p:sp>
        <p:nvSpPr>
          <p:cNvPr id="79" name="TextBox 78"/>
          <p:cNvSpPr txBox="1"/>
          <p:nvPr/>
        </p:nvSpPr>
        <p:spPr>
          <a:xfrm>
            <a:off x="677903"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Segment Leadership Map</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7" name="TextBox 6"/>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8" name="Rectangle 7"/>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0" name="Rectangle 9"/>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2" name="Rectangle 11"/>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4" name="Rectangle 13"/>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6" name="Rectangle 15"/>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Sealed Air Corporation, Company, BOBST Group SA</a:t>
            </a:r>
          </a:p>
        </p:txBody>
      </p:sp>
      <p:sp>
        <p:nvSpPr>
          <p:cNvPr id="18" name="Rectangle 17"/>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BHS Corrugated Maschinen- und Anlagenbau GmbH, BW Papersystems</a:t>
            </a:r>
          </a:p>
        </p:txBody>
      </p:sp>
      <p:sp>
        <p:nvSpPr>
          <p:cNvPr id="20" name="Rectangle 19"/>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Fosber Group, Mitsubishi Heavy Industries Machinery Systems, Ltd., EMBA Machinery AB, Koenig &amp; Bauer Celmacch, Göpfert Maschinen GmbH</a:t>
            </a:r>
          </a:p>
        </p:txBody>
      </p:sp>
      <p:sp>
        <p:nvSpPr>
          <p:cNvPr id="22" name="Rectangle 21"/>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4" name="Connector 23"/>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6" name="TextBox 25"/>
          <p:cNvSpPr txBox="1"/>
          <p:nvPr/>
        </p:nvSpPr>
        <p:spPr>
          <a:xfrm>
            <a:off x="3067050"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Other Foam Materials</a:t>
            </a:r>
          </a:p>
        </p:txBody>
      </p:sp>
      <p:sp>
        <p:nvSpPr>
          <p:cNvPr id="27" name="TextBox 26"/>
          <p:cNvSpPr txBox="1"/>
          <p:nvPr/>
        </p:nvSpPr>
        <p:spPr>
          <a:xfrm>
            <a:off x="4186238"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Expanded Polystyrene</a:t>
            </a:r>
          </a:p>
        </p:txBody>
      </p:sp>
      <p:sp>
        <p:nvSpPr>
          <p:cNvPr id="28" name="TextBox 27"/>
          <p:cNvSpPr txBox="1"/>
          <p:nvPr/>
        </p:nvSpPr>
        <p:spPr>
          <a:xfrm>
            <a:off x="5305425"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Polyethylene Foam</a:t>
            </a:r>
          </a:p>
        </p:txBody>
      </p:sp>
      <p:sp>
        <p:nvSpPr>
          <p:cNvPr id="29" name="TextBox 28"/>
          <p:cNvSpPr txBox="1"/>
          <p:nvPr/>
        </p:nvSpPr>
        <p:spPr>
          <a:xfrm>
            <a:off x="6424612"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Expanded Polypropylene</a:t>
            </a:r>
          </a:p>
        </p:txBody>
      </p:sp>
      <p:sp>
        <p:nvSpPr>
          <p:cNvPr id="30" name="TextBox 29"/>
          <p:cNvSpPr txBox="1"/>
          <p:nvPr/>
        </p:nvSpPr>
        <p:spPr>
          <a:xfrm>
            <a:off x="7543800"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Consumer Goods &amp; Home Products</a:t>
            </a:r>
          </a:p>
        </p:txBody>
      </p:sp>
      <p:sp>
        <p:nvSpPr>
          <p:cNvPr id="31" name="TextBox 30"/>
          <p:cNvSpPr txBox="1"/>
          <p:nvPr/>
        </p:nvSpPr>
        <p:spPr>
          <a:xfrm>
            <a:off x="8662988"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Healthcare &amp; Pharmaceuticals</a:t>
            </a:r>
          </a:p>
        </p:txBody>
      </p:sp>
      <p:sp>
        <p:nvSpPr>
          <p:cNvPr id="32" name="TextBox 31"/>
          <p:cNvSpPr txBox="1"/>
          <p:nvPr/>
        </p:nvSpPr>
        <p:spPr>
          <a:xfrm>
            <a:off x="9782175"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Industrial Machinery &amp; Equipment</a:t>
            </a:r>
          </a:p>
        </p:txBody>
      </p:sp>
      <p:sp>
        <p:nvSpPr>
          <p:cNvPr id="33" name="TextBox 32"/>
          <p:cNvSpPr txBox="1"/>
          <p:nvPr/>
        </p:nvSpPr>
        <p:spPr>
          <a:xfrm>
            <a:off x="10901362" y="2114550"/>
            <a:ext cx="1081088"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Automotive</a:t>
            </a:r>
          </a:p>
        </p:txBody>
      </p:sp>
      <p:cxnSp>
        <p:nvCxnSpPr>
          <p:cNvPr id="34" name="Connector 33"/>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628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Sealed Air Corporation</a:t>
            </a:r>
          </a:p>
        </p:txBody>
      </p:sp>
      <p:sp>
        <p:nvSpPr>
          <p:cNvPr id="37" name="TextBox 36"/>
          <p:cNvSpPr txBox="1"/>
          <p:nvPr/>
        </p:nvSpPr>
        <p:spPr>
          <a:xfrm>
            <a:off x="285750" y="2790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Oval 37"/>
          <p:cNvSpPr/>
          <p:nvPr/>
        </p:nvSpPr>
        <p:spPr>
          <a:xfrm>
            <a:off x="3531394"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3609975" y="2705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650581"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769769"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88895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008144"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8086725" y="27051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127331"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920115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246519"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36570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71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52" name="TextBox 51"/>
          <p:cNvSpPr txBox="1"/>
          <p:nvPr/>
        </p:nvSpPr>
        <p:spPr>
          <a:xfrm>
            <a:off x="285750" y="3133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Oval 52"/>
          <p:cNvSpPr/>
          <p:nvPr/>
        </p:nvSpPr>
        <p:spPr>
          <a:xfrm>
            <a:off x="353139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360997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058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472440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76976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5848350"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88895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00814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808672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127331"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246519"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0325100"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136570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1439525"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314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BOBST Group SA</a:t>
            </a:r>
          </a:p>
        </p:txBody>
      </p:sp>
      <p:sp>
        <p:nvSpPr>
          <p:cNvPr id="70" name="TextBox 69"/>
          <p:cNvSpPr txBox="1"/>
          <p:nvPr/>
        </p:nvSpPr>
        <p:spPr>
          <a:xfrm>
            <a:off x="285750" y="3476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1" name="Oval 70"/>
          <p:cNvSpPr/>
          <p:nvPr/>
        </p:nvSpPr>
        <p:spPr>
          <a:xfrm>
            <a:off x="3531394"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65058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769769"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5848350"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88895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6962775"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008144"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12733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920115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246519"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10325100"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136570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1439525"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5750" y="3657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BHS Corrugated Maschinen- und Anlagenbau GmbH</a:t>
            </a:r>
          </a:p>
        </p:txBody>
      </p:sp>
      <p:sp>
        <p:nvSpPr>
          <p:cNvPr id="87" name="TextBox 86"/>
          <p:cNvSpPr txBox="1"/>
          <p:nvPr/>
        </p:nvSpPr>
        <p:spPr>
          <a:xfrm>
            <a:off x="285750" y="3819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88" name="Oval 87"/>
          <p:cNvSpPr/>
          <p:nvPr/>
        </p:nvSpPr>
        <p:spPr>
          <a:xfrm>
            <a:off x="353139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65058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472440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76976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88895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6962775"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800814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808672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12733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reeform 96"/>
          <p:cNvSpPr/>
          <p:nvPr/>
        </p:nvSpPr>
        <p:spPr>
          <a:xfrm>
            <a:off x="920115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246519"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136570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0" name="Connector 99"/>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5750" y="4000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BW Papersystems</a:t>
            </a:r>
          </a:p>
        </p:txBody>
      </p:sp>
      <p:sp>
        <p:nvSpPr>
          <p:cNvPr id="103" name="TextBox 102"/>
          <p:cNvSpPr txBox="1"/>
          <p:nvPr/>
        </p:nvSpPr>
        <p:spPr>
          <a:xfrm>
            <a:off x="285750" y="4162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4" name="Oval 103"/>
          <p:cNvSpPr/>
          <p:nvPr/>
        </p:nvSpPr>
        <p:spPr>
          <a:xfrm>
            <a:off x="353139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360997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65058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472440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76976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688895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6962775"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800814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808672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12733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246519"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0325100"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136570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7" name="Connector 116"/>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85750" y="4343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Fosber Group</a:t>
            </a:r>
          </a:p>
        </p:txBody>
      </p:sp>
      <p:sp>
        <p:nvSpPr>
          <p:cNvPr id="120" name="TextBox 119"/>
          <p:cNvSpPr txBox="1"/>
          <p:nvPr/>
        </p:nvSpPr>
        <p:spPr>
          <a:xfrm>
            <a:off x="285750" y="4505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1" name="Oval 120"/>
          <p:cNvSpPr/>
          <p:nvPr/>
        </p:nvSpPr>
        <p:spPr>
          <a:xfrm>
            <a:off x="353139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3609975"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465058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472440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576976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688895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00814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912733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920115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246519"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10325100"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136570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Connector 132"/>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4" name="Rectangle 133"/>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85750" y="4686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Mitsubishi Heavy Industries Machinery Systems, Ltd.</a:t>
            </a:r>
          </a:p>
        </p:txBody>
      </p:sp>
      <p:sp>
        <p:nvSpPr>
          <p:cNvPr id="136" name="TextBox 135"/>
          <p:cNvSpPr txBox="1"/>
          <p:nvPr/>
        </p:nvSpPr>
        <p:spPr>
          <a:xfrm>
            <a:off x="285750" y="4848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7" name="Oval 136"/>
          <p:cNvSpPr/>
          <p:nvPr/>
        </p:nvSpPr>
        <p:spPr>
          <a:xfrm>
            <a:off x="353139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360997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65058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576976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688895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6962775"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800814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808672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12733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Freeform 145"/>
          <p:cNvSpPr/>
          <p:nvPr/>
        </p:nvSpPr>
        <p:spPr>
          <a:xfrm>
            <a:off x="920115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0246519"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136570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9" name="Connector 148"/>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0" name="Rectangle 149"/>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85750" y="5029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EMBA Machinery AB</a:t>
            </a:r>
          </a:p>
        </p:txBody>
      </p:sp>
      <p:sp>
        <p:nvSpPr>
          <p:cNvPr id="152" name="TextBox 151"/>
          <p:cNvSpPr txBox="1"/>
          <p:nvPr/>
        </p:nvSpPr>
        <p:spPr>
          <a:xfrm>
            <a:off x="285750" y="5191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3" name="Oval 152"/>
          <p:cNvSpPr/>
          <p:nvPr/>
        </p:nvSpPr>
        <p:spPr>
          <a:xfrm>
            <a:off x="353139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65058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4724400"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576976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688895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6962775"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800814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808672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912733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10246519"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10325100"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1136570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6" name="Rectangle 165"/>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285750" y="5372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Koenig &amp; Bauer Celmacch</a:t>
            </a:r>
          </a:p>
        </p:txBody>
      </p:sp>
      <p:sp>
        <p:nvSpPr>
          <p:cNvPr id="168" name="TextBox 167"/>
          <p:cNvSpPr txBox="1"/>
          <p:nvPr/>
        </p:nvSpPr>
        <p:spPr>
          <a:xfrm>
            <a:off x="285750" y="5534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9" name="Oval 168"/>
          <p:cNvSpPr/>
          <p:nvPr/>
        </p:nvSpPr>
        <p:spPr>
          <a:xfrm>
            <a:off x="353139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3609975"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65058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472440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576976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688895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6962775"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800814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912733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Freeform 177"/>
          <p:cNvSpPr/>
          <p:nvPr/>
        </p:nvSpPr>
        <p:spPr>
          <a:xfrm>
            <a:off x="920115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10246519"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10325100"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1136570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2" name="Connector 181"/>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3" name="Rectangle 182"/>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285750" y="5715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Göpfert Maschinen GmbH</a:t>
            </a:r>
          </a:p>
        </p:txBody>
      </p:sp>
      <p:sp>
        <p:nvSpPr>
          <p:cNvPr id="185" name="TextBox 184"/>
          <p:cNvSpPr txBox="1"/>
          <p:nvPr/>
        </p:nvSpPr>
        <p:spPr>
          <a:xfrm>
            <a:off x="285750" y="5876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86" name="Oval 185"/>
          <p:cNvSpPr/>
          <p:nvPr/>
        </p:nvSpPr>
        <p:spPr>
          <a:xfrm>
            <a:off x="353139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Freeform 186"/>
          <p:cNvSpPr/>
          <p:nvPr/>
        </p:nvSpPr>
        <p:spPr>
          <a:xfrm>
            <a:off x="360997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65058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Freeform 188"/>
          <p:cNvSpPr/>
          <p:nvPr/>
        </p:nvSpPr>
        <p:spPr>
          <a:xfrm>
            <a:off x="472440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576976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688895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800814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Freeform 192"/>
          <p:cNvSpPr/>
          <p:nvPr/>
        </p:nvSpPr>
        <p:spPr>
          <a:xfrm>
            <a:off x="808672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912733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Freeform 194"/>
          <p:cNvSpPr/>
          <p:nvPr/>
        </p:nvSpPr>
        <p:spPr>
          <a:xfrm>
            <a:off x="920115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10246519"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1136570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8" name="Connector 197"/>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99" name="Rectangle 198"/>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201" name="Rectangle 200"/>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203" name="Rectangle 202"/>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205" name="TextBox 204"/>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206" name="TextBox 205"/>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'Other Foam Materials' is the most contested column (8 players active); 'Polyethylene Foam' is the most open (3).</a:t>
            </a:r>
          </a:p>
        </p:txBody>
      </p:sp>
      <p:sp>
        <p:nvSpPr>
          <p:cNvPr id="207" name="Rectangle 20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09" name="TextBox 208"/>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210" name="Picture 209" descr="lock.png"/>
          <p:cNvPicPr>
            <a:picLocks noChangeAspect="1"/>
          </p:cNvPicPr>
          <p:nvPr/>
        </p:nvPicPr>
        <p:blipFill>
          <a:blip r:embed="rId4"/>
          <a:stretch>
            <a:fillRect/>
          </a:stretch>
        </p:blipFill>
        <p:spPr>
          <a:xfrm>
            <a:off x="622441" y="1297051"/>
            <a:ext cx="128699" cy="187198"/>
          </a:xfrm>
          <a:prstGeom prst="rect">
            <a:avLst/>
          </a:prstGeom>
        </p:spPr>
      </p:pic>
      <p:sp>
        <p:nvSpPr>
          <p:cNvPr id="211" name="TextBox 210"/>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212" name="Picture 211" descr="lock.png"/>
          <p:cNvPicPr>
            <a:picLocks noChangeAspect="1"/>
          </p:cNvPicPr>
          <p:nvPr/>
        </p:nvPicPr>
        <p:blipFill>
          <a:blip r:embed="rId4"/>
          <a:stretch>
            <a:fillRect/>
          </a:stretch>
        </p:blipFill>
        <p:spPr>
          <a:xfrm>
            <a:off x="5547332" y="1297051"/>
            <a:ext cx="128699" cy="187198"/>
          </a:xfrm>
          <a:prstGeom prst="rect">
            <a:avLst/>
          </a:prstGeom>
        </p:spPr>
      </p:pic>
      <p:sp>
        <p:nvSpPr>
          <p:cNvPr id="213" name="TextBox 212"/>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14" name="Picture 213" descr="lock.png"/>
          <p:cNvPicPr>
            <a:picLocks noChangeAspect="1"/>
          </p:cNvPicPr>
          <p:nvPr/>
        </p:nvPicPr>
        <p:blipFill>
          <a:blip r:embed="rId4"/>
          <a:stretch>
            <a:fillRect/>
          </a:stretch>
        </p:blipFill>
        <p:spPr>
          <a:xfrm>
            <a:off x="6890588" y="1297051"/>
            <a:ext cx="128699" cy="187198"/>
          </a:xfrm>
          <a:prstGeom prst="rect">
            <a:avLst/>
          </a:prstGeom>
        </p:spPr>
      </p:pic>
      <p:sp>
        <p:nvSpPr>
          <p:cNvPr id="215" name="TextBox 214"/>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16" name="Picture 215"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Value Chain Positioning of Leading Players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7" name="TextBox 6"/>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8" name="TextBox 7"/>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9" name="Connector 8"/>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1" name="TextBox 10"/>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2" name="Connector 11"/>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Other Foam Materials, share</a:t>
            </a:r>
          </a:p>
        </p:txBody>
      </p:sp>
      <p:sp>
        <p:nvSpPr>
          <p:cNvPr id="14" name="TextBox 13"/>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Expanded Polystyrene, share</a:t>
            </a:r>
          </a:p>
        </p:txBody>
      </p:sp>
      <p:sp>
        <p:nvSpPr>
          <p:cNvPr id="17" name="TextBox 16"/>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Polyethylene Foam, share</a:t>
            </a:r>
          </a:p>
        </p:txBody>
      </p:sp>
      <p:sp>
        <p:nvSpPr>
          <p:cNvPr id="20" name="TextBox 19"/>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Other Foam Materials</a:t>
            </a:r>
          </a:p>
        </p:txBody>
      </p:sp>
      <p:sp>
        <p:nvSpPr>
          <p:cNvPr id="25" name="TextBox 24"/>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6" name="TextBox 25"/>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27" name="TextBox 26"/>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28" name="TextBox 27"/>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29" name="Connector 28"/>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1" name="TextBox 30"/>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BOBST Group SA</a:t>
            </a:r>
          </a:p>
        </p:txBody>
      </p:sp>
      <p:sp>
        <p:nvSpPr>
          <p:cNvPr id="32" name="TextBox 31"/>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3" name="TextBox 32"/>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Sealed Air Corporation</a:t>
            </a:r>
          </a:p>
        </p:txBody>
      </p:sp>
      <p:sp>
        <p:nvSpPr>
          <p:cNvPr id="34" name="TextBox 33"/>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a:t>
            </a:r>
          </a:p>
        </p:txBody>
      </p:sp>
      <p:sp>
        <p:nvSpPr>
          <p:cNvPr id="35" name="TextBox 34"/>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BW Papersystems</a:t>
            </a:r>
          </a:p>
        </p:txBody>
      </p:sp>
      <p:sp>
        <p:nvSpPr>
          <p:cNvPr id="36" name="TextBox 35"/>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Fosber Group</a:t>
            </a:r>
          </a:p>
        </p:txBody>
      </p:sp>
      <p:cxnSp>
        <p:nvCxnSpPr>
          <p:cNvPr id="37" name="Connector 36"/>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39" name="TextBox 38"/>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0" name="Connector 39"/>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Expanded Polystyrene</a:t>
            </a:r>
          </a:p>
        </p:txBody>
      </p:sp>
      <p:sp>
        <p:nvSpPr>
          <p:cNvPr id="45" name="TextBox 44"/>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6" name="TextBox 45"/>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47" name="TextBox 46"/>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48" name="TextBox 47"/>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49" name="Connector 48"/>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1" name="TextBox 50"/>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Sealed Air Corporation</a:t>
            </a:r>
          </a:p>
        </p:txBody>
      </p:sp>
      <p:sp>
        <p:nvSpPr>
          <p:cNvPr id="52" name="TextBox 51"/>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3" name="TextBox 52"/>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a:t>
            </a:r>
          </a:p>
        </p:txBody>
      </p:sp>
      <p:sp>
        <p:nvSpPr>
          <p:cNvPr id="54" name="TextBox 53"/>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BHS Corrugated Maschinen- und Anlagenbau GmbH</a:t>
            </a:r>
          </a:p>
        </p:txBody>
      </p:sp>
      <p:sp>
        <p:nvSpPr>
          <p:cNvPr id="55" name="TextBox 54"/>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BW Papersystems</a:t>
            </a:r>
          </a:p>
        </p:txBody>
      </p:sp>
      <p:sp>
        <p:nvSpPr>
          <p:cNvPr id="56" name="TextBox 55"/>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Fosber Group</a:t>
            </a:r>
          </a:p>
        </p:txBody>
      </p:sp>
      <p:cxnSp>
        <p:nvCxnSpPr>
          <p:cNvPr id="57" name="Connector 56"/>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59" name="TextBox 58"/>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0" name="Connector 59"/>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Polyethylene Foam</a:t>
            </a:r>
          </a:p>
        </p:txBody>
      </p:sp>
      <p:sp>
        <p:nvSpPr>
          <p:cNvPr id="65" name="TextBox 64"/>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6" name="TextBox 65"/>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67" name="TextBox 66"/>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68" name="TextBox 67"/>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69" name="Connector 68"/>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1" name="TextBox 70"/>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Sealed Air Corporation</a:t>
            </a:r>
          </a:p>
        </p:txBody>
      </p:sp>
      <p:sp>
        <p:nvSpPr>
          <p:cNvPr id="72" name="TextBox 71"/>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3" name="TextBox 72"/>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Company</a:t>
            </a:r>
          </a:p>
        </p:txBody>
      </p:sp>
      <p:sp>
        <p:nvSpPr>
          <p:cNvPr id="74" name="TextBox 73"/>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BOBST Group SA</a:t>
            </a:r>
          </a:p>
        </p:txBody>
      </p:sp>
      <p:cxnSp>
        <p:nvCxnSpPr>
          <p:cNvPr id="75" name="Connector 74"/>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77" name="TextBox 76"/>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78" name="Connector 77"/>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79" name="Freeform 78"/>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End-use Industry</a:t>
            </a:r>
          </a:p>
        </p:txBody>
      </p:sp>
      <p:sp>
        <p:nvSpPr>
          <p:cNvPr id="83" name="TextBox 82"/>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4" name="TextBox 83"/>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85" name="Connector 84"/>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a:t>
            </a:r>
          </a:p>
        </p:txBody>
      </p:sp>
      <p:sp>
        <p:nvSpPr>
          <p:cNvPr id="87" name="Rectangle 86"/>
          <p:cNvSpPr/>
          <p:nvPr/>
        </p:nvSpPr>
        <p:spPr>
          <a:xfrm>
            <a:off x="10682288" y="2524125"/>
            <a:ext cx="766763"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89" name="TextBox 88"/>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Healthcare &amp; Pharmaceuticals</a:t>
            </a:r>
          </a:p>
        </p:txBody>
      </p:sp>
      <p:sp>
        <p:nvSpPr>
          <p:cNvPr id="90" name="Rectangle 89"/>
          <p:cNvSpPr/>
          <p:nvPr/>
        </p:nvSpPr>
        <p:spPr>
          <a:xfrm>
            <a:off x="10682288" y="2847975"/>
            <a:ext cx="635390"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355777"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2" name="TextBox 91"/>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Machinery &amp; Equipment</a:t>
            </a:r>
          </a:p>
        </p:txBody>
      </p:sp>
      <p:sp>
        <p:nvSpPr>
          <p:cNvPr id="93" name="Rectangle 92"/>
          <p:cNvSpPr/>
          <p:nvPr/>
        </p:nvSpPr>
        <p:spPr>
          <a:xfrm>
            <a:off x="10682288" y="3171825"/>
            <a:ext cx="44291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163305"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5" name="TextBox 94"/>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Automotive</a:t>
            </a:r>
          </a:p>
        </p:txBody>
      </p:sp>
      <p:sp>
        <p:nvSpPr>
          <p:cNvPr id="96" name="Rectangle 95"/>
          <p:cNvSpPr/>
          <p:nvPr/>
        </p:nvSpPr>
        <p:spPr>
          <a:xfrm>
            <a:off x="10682288" y="3495675"/>
            <a:ext cx="440887"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161274"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8" name="TextBox 97"/>
          <p:cNvSpPr txBox="1"/>
          <p:nvPr/>
        </p:nvSpPr>
        <p:spPr>
          <a:xfrm>
            <a:off x="9329738" y="37147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Electronics &amp; Electrical</a:t>
            </a:r>
          </a:p>
        </p:txBody>
      </p:sp>
      <p:sp>
        <p:nvSpPr>
          <p:cNvPr id="99" name="Rectangle 98"/>
          <p:cNvSpPr/>
          <p:nvPr/>
        </p:nvSpPr>
        <p:spPr>
          <a:xfrm>
            <a:off x="10682288" y="3819525"/>
            <a:ext cx="38895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1109340" y="37814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101" name="TextBox 100"/>
          <p:cNvSpPr txBox="1"/>
          <p:nvPr/>
        </p:nvSpPr>
        <p:spPr>
          <a:xfrm>
            <a:off x="9329738" y="40386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Food &amp; Beverage</a:t>
            </a:r>
          </a:p>
        </p:txBody>
      </p:sp>
      <p:sp>
        <p:nvSpPr>
          <p:cNvPr id="102" name="Rectangle 101"/>
          <p:cNvSpPr/>
          <p:nvPr/>
        </p:nvSpPr>
        <p:spPr>
          <a:xfrm>
            <a:off x="10682288" y="4143375"/>
            <a:ext cx="31695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037342" y="41052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4" name="Connector 103"/>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6" name="TextBox 105"/>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7" name="Rectangle 106"/>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10" name="TextBox 109"/>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Expanded Polypropylene (EPP) Compounds Fastest Across the Material Type Mix  |  South Asia &amp; Pacific Emerges as the Growth Engine Among Regions  |  Premiumisation Lifts Average Realisation</a:t>
            </a:r>
          </a:p>
        </p:txBody>
      </p:sp>
      <p:sp>
        <p:nvSpPr>
          <p:cNvPr id="111" name="Rectangle 110"/>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4" name="TextBox 113"/>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Polyurethane (PU) Foam Lags the Category and Dilutes Blended Growth  |  Uneven Region Performance Caps the Blended Rate  |  Concentration Risk Limits Pricing and Sourcing Flexibility</a:t>
            </a:r>
          </a:p>
        </p:txBody>
      </p:sp>
      <p:sp>
        <p:nvSpPr>
          <p:cNvPr id="115" name="Rectangle 1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17" name="Picture 116" descr="lock.png"/>
          <p:cNvPicPr>
            <a:picLocks noChangeAspect="1"/>
          </p:cNvPicPr>
          <p:nvPr/>
        </p:nvPicPr>
        <p:blipFill>
          <a:blip r:embed="rId4"/>
          <a:stretch>
            <a:fillRect/>
          </a:stretch>
        </p:blipFill>
        <p:spPr>
          <a:xfrm>
            <a:off x="1316775" y="1258951"/>
            <a:ext cx="128699" cy="187198"/>
          </a:xfrm>
          <a:prstGeom prst="rect">
            <a:avLst/>
          </a:prstGeom>
        </p:spPr>
      </p:pic>
      <p:pic>
        <p:nvPicPr>
          <p:cNvPr id="118" name="Picture 117" descr="lock.png"/>
          <p:cNvPicPr>
            <a:picLocks noChangeAspect="1"/>
          </p:cNvPicPr>
          <p:nvPr/>
        </p:nvPicPr>
        <p:blipFill>
          <a:blip r:embed="rId4"/>
          <a:stretch>
            <a:fillRect/>
          </a:stretch>
        </p:blipFill>
        <p:spPr>
          <a:xfrm>
            <a:off x="3678975" y="1258951"/>
            <a:ext cx="128699" cy="187198"/>
          </a:xfrm>
          <a:prstGeom prst="rect">
            <a:avLst/>
          </a:prstGeom>
        </p:spPr>
      </p:pic>
      <p:pic>
        <p:nvPicPr>
          <p:cNvPr id="119" name="Picture 118" descr="lock.png"/>
          <p:cNvPicPr>
            <a:picLocks noChangeAspect="1"/>
          </p:cNvPicPr>
          <p:nvPr/>
        </p:nvPicPr>
        <p:blipFill>
          <a:blip r:embed="rId4"/>
          <a:stretch>
            <a:fillRect/>
          </a:stretch>
        </p:blipFill>
        <p:spPr>
          <a:xfrm>
            <a:off x="6041175" y="1258951"/>
            <a:ext cx="128699" cy="187198"/>
          </a:xfrm>
          <a:prstGeom prst="rect">
            <a:avLst/>
          </a:prstGeom>
        </p:spPr>
      </p:pic>
      <p:pic>
        <p:nvPicPr>
          <p:cNvPr id="120" name="Picture 119" descr="lock.png"/>
          <p:cNvPicPr>
            <a:picLocks noChangeAspect="1"/>
          </p:cNvPicPr>
          <p:nvPr/>
        </p:nvPicPr>
        <p:blipFill>
          <a:blip r:embed="rId4"/>
          <a:stretch>
            <a:fillRect/>
          </a:stretch>
        </p:blipFill>
        <p:spPr>
          <a:xfrm>
            <a:off x="8403375" y="1258951"/>
            <a:ext cx="128699" cy="187198"/>
          </a:xfrm>
          <a:prstGeom prst="rect">
            <a:avLst/>
          </a:prstGeom>
        </p:spPr>
      </p:pic>
      <p:pic>
        <p:nvPicPr>
          <p:cNvPr id="121" name="Picture 120" descr="lock.png"/>
          <p:cNvPicPr>
            <a:picLocks noChangeAspect="1"/>
          </p:cNvPicPr>
          <p:nvPr/>
        </p:nvPicPr>
        <p:blipFill>
          <a:blip r:embed="rId4"/>
          <a:stretch>
            <a:fillRect/>
          </a:stretch>
        </p:blipFill>
        <p:spPr>
          <a:xfrm>
            <a:off x="10765575" y="1258951"/>
            <a:ext cx="128699" cy="187198"/>
          </a:xfrm>
          <a:prstGeom prst="rect">
            <a:avLst/>
          </a:prstGeom>
        </p:spPr>
      </p:pic>
      <p:pic>
        <p:nvPicPr>
          <p:cNvPr id="122" name="Picture 121" descr="lock.png"/>
          <p:cNvPicPr>
            <a:picLocks noChangeAspect="1"/>
          </p:cNvPicPr>
          <p:nvPr/>
        </p:nvPicPr>
        <p:blipFill>
          <a:blip r:embed="rId4"/>
          <a:stretch>
            <a:fillRect/>
          </a:stretch>
        </p:blipFill>
        <p:spPr>
          <a:xfrm>
            <a:off x="554775" y="1925701"/>
            <a:ext cx="128699" cy="187198"/>
          </a:xfrm>
          <a:prstGeom prst="rect">
            <a:avLst/>
          </a:prstGeom>
        </p:spPr>
      </p:pic>
      <p:pic>
        <p:nvPicPr>
          <p:cNvPr id="123" name="Picture 122" descr="lock.png"/>
          <p:cNvPicPr>
            <a:picLocks noChangeAspect="1"/>
          </p:cNvPicPr>
          <p:nvPr/>
        </p:nvPicPr>
        <p:blipFill>
          <a:blip r:embed="rId4"/>
          <a:stretch>
            <a:fillRect/>
          </a:stretch>
        </p:blipFill>
        <p:spPr>
          <a:xfrm>
            <a:off x="554775" y="2135251"/>
            <a:ext cx="128699" cy="187198"/>
          </a:xfrm>
          <a:prstGeom prst="rect">
            <a:avLst/>
          </a:prstGeom>
        </p:spPr>
      </p:pic>
      <p:pic>
        <p:nvPicPr>
          <p:cNvPr id="124" name="Picture 123" descr="lock.png"/>
          <p:cNvPicPr>
            <a:picLocks noChangeAspect="1"/>
          </p:cNvPicPr>
          <p:nvPr/>
        </p:nvPicPr>
        <p:blipFill>
          <a:blip r:embed="rId4"/>
          <a:stretch>
            <a:fillRect/>
          </a:stretch>
        </p:blipFill>
        <p:spPr>
          <a:xfrm>
            <a:off x="3569437" y="1925701"/>
            <a:ext cx="128699" cy="187198"/>
          </a:xfrm>
          <a:prstGeom prst="rect">
            <a:avLst/>
          </a:prstGeom>
        </p:spPr>
      </p:pic>
      <p:pic>
        <p:nvPicPr>
          <p:cNvPr id="125" name="Picture 124" descr="lock.png"/>
          <p:cNvPicPr>
            <a:picLocks noChangeAspect="1"/>
          </p:cNvPicPr>
          <p:nvPr/>
        </p:nvPicPr>
        <p:blipFill>
          <a:blip r:embed="rId4"/>
          <a:stretch>
            <a:fillRect/>
          </a:stretch>
        </p:blipFill>
        <p:spPr>
          <a:xfrm>
            <a:off x="3569437" y="2135251"/>
            <a:ext cx="128699" cy="187198"/>
          </a:xfrm>
          <a:prstGeom prst="rect">
            <a:avLst/>
          </a:prstGeom>
        </p:spPr>
      </p:pic>
      <p:pic>
        <p:nvPicPr>
          <p:cNvPr id="126" name="Picture 125" descr="lock.png"/>
          <p:cNvPicPr>
            <a:picLocks noChangeAspect="1"/>
          </p:cNvPicPr>
          <p:nvPr/>
        </p:nvPicPr>
        <p:blipFill>
          <a:blip r:embed="rId4"/>
          <a:stretch>
            <a:fillRect/>
          </a:stretch>
        </p:blipFill>
        <p:spPr>
          <a:xfrm>
            <a:off x="6584100" y="1925701"/>
            <a:ext cx="128699" cy="187198"/>
          </a:xfrm>
          <a:prstGeom prst="rect">
            <a:avLst/>
          </a:prstGeom>
        </p:spPr>
      </p:pic>
      <p:pic>
        <p:nvPicPr>
          <p:cNvPr id="127" name="Picture 126" descr="lock.png"/>
          <p:cNvPicPr>
            <a:picLocks noChangeAspect="1"/>
          </p:cNvPicPr>
          <p:nvPr/>
        </p:nvPicPr>
        <p:blipFill>
          <a:blip r:embed="rId4"/>
          <a:stretch>
            <a:fillRect/>
          </a:stretch>
        </p:blipFill>
        <p:spPr>
          <a:xfrm>
            <a:off x="6584100" y="2135251"/>
            <a:ext cx="128699" cy="187198"/>
          </a:xfrm>
          <a:prstGeom prst="rect">
            <a:avLst/>
          </a:prstGeom>
        </p:spPr>
      </p:pic>
      <p:pic>
        <p:nvPicPr>
          <p:cNvPr id="128" name="Picture 127" descr="lock.png"/>
          <p:cNvPicPr>
            <a:picLocks noChangeAspect="1"/>
          </p:cNvPicPr>
          <p:nvPr/>
        </p:nvPicPr>
        <p:blipFill>
          <a:blip r:embed="rId4"/>
          <a:stretch>
            <a:fillRect/>
          </a:stretch>
        </p:blipFill>
        <p:spPr>
          <a:xfrm>
            <a:off x="11660925" y="2487676"/>
            <a:ext cx="128699" cy="187198"/>
          </a:xfrm>
          <a:prstGeom prst="rect">
            <a:avLst/>
          </a:prstGeom>
        </p:spPr>
      </p:pic>
      <p:pic>
        <p:nvPicPr>
          <p:cNvPr id="129" name="Picture 128" descr="lock.png"/>
          <p:cNvPicPr>
            <a:picLocks noChangeAspect="1"/>
          </p:cNvPicPr>
          <p:nvPr/>
        </p:nvPicPr>
        <p:blipFill>
          <a:blip r:embed="rId4"/>
          <a:stretch>
            <a:fillRect/>
          </a:stretch>
        </p:blipFill>
        <p:spPr>
          <a:xfrm>
            <a:off x="11529552" y="2811526"/>
            <a:ext cx="128699" cy="187198"/>
          </a:xfrm>
          <a:prstGeom prst="rect">
            <a:avLst/>
          </a:prstGeom>
        </p:spPr>
      </p:pic>
      <p:pic>
        <p:nvPicPr>
          <p:cNvPr id="130" name="Picture 129" descr="lock.png"/>
          <p:cNvPicPr>
            <a:picLocks noChangeAspect="1"/>
          </p:cNvPicPr>
          <p:nvPr/>
        </p:nvPicPr>
        <p:blipFill>
          <a:blip r:embed="rId4"/>
          <a:stretch>
            <a:fillRect/>
          </a:stretch>
        </p:blipFill>
        <p:spPr>
          <a:xfrm>
            <a:off x="11337080" y="3135376"/>
            <a:ext cx="128699" cy="187198"/>
          </a:xfrm>
          <a:prstGeom prst="rect">
            <a:avLst/>
          </a:prstGeom>
        </p:spPr>
      </p:pic>
      <p:pic>
        <p:nvPicPr>
          <p:cNvPr id="131" name="Picture 130" descr="lock.png"/>
          <p:cNvPicPr>
            <a:picLocks noChangeAspect="1"/>
          </p:cNvPicPr>
          <p:nvPr/>
        </p:nvPicPr>
        <p:blipFill>
          <a:blip r:embed="rId4"/>
          <a:stretch>
            <a:fillRect/>
          </a:stretch>
        </p:blipFill>
        <p:spPr>
          <a:xfrm>
            <a:off x="11335049" y="3459226"/>
            <a:ext cx="128699" cy="187198"/>
          </a:xfrm>
          <a:prstGeom prst="rect">
            <a:avLst/>
          </a:prstGeom>
        </p:spPr>
      </p:pic>
      <p:pic>
        <p:nvPicPr>
          <p:cNvPr id="132" name="Picture 131" descr="lock.png"/>
          <p:cNvPicPr>
            <a:picLocks noChangeAspect="1"/>
          </p:cNvPicPr>
          <p:nvPr/>
        </p:nvPicPr>
        <p:blipFill>
          <a:blip r:embed="rId4"/>
          <a:stretch>
            <a:fillRect/>
          </a:stretch>
        </p:blipFill>
        <p:spPr>
          <a:xfrm>
            <a:off x="11283115" y="3783076"/>
            <a:ext cx="128699" cy="187198"/>
          </a:xfrm>
          <a:prstGeom prst="rect">
            <a:avLst/>
          </a:prstGeom>
        </p:spPr>
      </p:pic>
      <p:pic>
        <p:nvPicPr>
          <p:cNvPr id="133" name="Picture 132" descr="lock.png"/>
          <p:cNvPicPr>
            <a:picLocks noChangeAspect="1"/>
          </p:cNvPicPr>
          <p:nvPr/>
        </p:nvPicPr>
        <p:blipFill>
          <a:blip r:embed="rId4"/>
          <a:stretch>
            <a:fillRect/>
          </a:stretch>
        </p:blipFill>
        <p:spPr>
          <a:xfrm>
            <a:off x="11211117" y="4106926"/>
            <a:ext cx="128699" cy="187198"/>
          </a:xfrm>
          <a:prstGeom prst="rect">
            <a:avLst/>
          </a:prstGeom>
        </p:spPr>
      </p:pic>
      <p:sp>
        <p:nvSpPr>
          <p:cNvPr id="134" name="TextBox 133"/>
          <p:cNvSpPr txBox="1"/>
          <p:nvPr/>
        </p:nvSpPr>
        <p:spPr>
          <a:xfrm>
            <a:off x="314325" y="4676775"/>
            <a:ext cx="2273746" cy="186689"/>
          </a:xfrm>
          <a:prstGeom prst="rect">
            <a:avLst/>
          </a:prstGeom>
          <a:noFill/>
        </p:spPr>
        <p:txBody>
          <a:bodyPr wrap="none" lIns="0" rIns="0" tIns="0" bIns="0">
            <a:spAutoFit/>
          </a:bodyPr>
          <a:lstStyle/>
          <a:p>
            <a:r>
              <a:rPr sz="1100" b="0">
                <a:solidFill>
                  <a:srgbClr val="1F2933"/>
                </a:solidFill>
                <a:latin typeface="Calibri"/>
              </a:rPr>
              <a:t>5 named players compete here; 'Other</a:t>
            </a:r>
          </a:p>
        </p:txBody>
      </p:sp>
      <p:sp>
        <p:nvSpPr>
          <p:cNvPr id="135" name="TextBox 134"/>
          <p:cNvSpPr txBox="1"/>
          <p:nvPr/>
        </p:nvSpPr>
        <p:spPr>
          <a:xfrm>
            <a:off x="314325" y="4844415"/>
            <a:ext cx="1292269" cy="186689"/>
          </a:xfrm>
          <a:prstGeom prst="rect">
            <a:avLst/>
          </a:prstGeom>
          <a:noFill/>
        </p:spPr>
        <p:txBody>
          <a:bodyPr wrap="none" lIns="0" rIns="0" tIns="0" bIns="0">
            <a:spAutoFit/>
          </a:bodyPr>
          <a:lstStyle/>
          <a:p>
            <a:r>
              <a:rPr sz="1100" b="0">
                <a:solidFill>
                  <a:srgbClr val="1F2933"/>
                </a:solidFill>
                <a:latin typeface="Calibri"/>
              </a:rPr>
              <a:t>Foam Materials' adds</a:t>
            </a:r>
          </a:p>
        </p:txBody>
      </p:sp>
      <p:pic>
        <p:nvPicPr>
          <p:cNvPr id="136" name="Picture 135" descr="lock.png"/>
          <p:cNvPicPr>
            <a:picLocks noChangeAspect="1"/>
          </p:cNvPicPr>
          <p:nvPr/>
        </p:nvPicPr>
        <p:blipFill>
          <a:blip r:embed="rId4"/>
          <a:stretch>
            <a:fillRect/>
          </a:stretch>
        </p:blipFill>
        <p:spPr>
          <a:xfrm>
            <a:off x="1554646" y="4834636"/>
            <a:ext cx="128699" cy="187198"/>
          </a:xfrm>
          <a:prstGeom prst="rect">
            <a:avLst/>
          </a:prstGeom>
        </p:spPr>
      </p:pic>
      <p:sp>
        <p:nvSpPr>
          <p:cNvPr id="137" name="TextBox 136"/>
          <p:cNvSpPr txBox="1"/>
          <p:nvPr/>
        </p:nvSpPr>
        <p:spPr>
          <a:xfrm>
            <a:off x="1722141"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38" name="TextBox 137"/>
          <p:cNvSpPr txBox="1"/>
          <p:nvPr/>
        </p:nvSpPr>
        <p:spPr>
          <a:xfrm>
            <a:off x="3328987" y="4676775"/>
            <a:ext cx="2501304" cy="186689"/>
          </a:xfrm>
          <a:prstGeom prst="rect">
            <a:avLst/>
          </a:prstGeom>
          <a:noFill/>
        </p:spPr>
        <p:txBody>
          <a:bodyPr wrap="none" lIns="0" rIns="0" tIns="0" bIns="0">
            <a:spAutoFit/>
          </a:bodyPr>
          <a:lstStyle/>
          <a:p>
            <a:r>
              <a:rPr sz="1100" b="0">
                <a:solidFill>
                  <a:srgbClr val="1F2933"/>
                </a:solidFill>
                <a:latin typeface="Calibri"/>
              </a:rPr>
              <a:t>5 named players compete here; 'Expanded</a:t>
            </a:r>
          </a:p>
        </p:txBody>
      </p:sp>
      <p:sp>
        <p:nvSpPr>
          <p:cNvPr id="139" name="TextBox 138"/>
          <p:cNvSpPr txBox="1"/>
          <p:nvPr/>
        </p:nvSpPr>
        <p:spPr>
          <a:xfrm>
            <a:off x="3328987" y="4844415"/>
            <a:ext cx="1074563" cy="186689"/>
          </a:xfrm>
          <a:prstGeom prst="rect">
            <a:avLst/>
          </a:prstGeom>
          <a:noFill/>
        </p:spPr>
        <p:txBody>
          <a:bodyPr wrap="none" lIns="0" rIns="0" tIns="0" bIns="0">
            <a:spAutoFit/>
          </a:bodyPr>
          <a:lstStyle/>
          <a:p>
            <a:r>
              <a:rPr sz="1100" b="0">
                <a:solidFill>
                  <a:srgbClr val="1F2933"/>
                </a:solidFill>
                <a:latin typeface="Calibri"/>
              </a:rPr>
              <a:t>Polystyrene' adds</a:t>
            </a:r>
          </a:p>
        </p:txBody>
      </p:sp>
      <p:pic>
        <p:nvPicPr>
          <p:cNvPr id="140" name="Picture 139" descr="lock.png"/>
          <p:cNvPicPr>
            <a:picLocks noChangeAspect="1"/>
          </p:cNvPicPr>
          <p:nvPr/>
        </p:nvPicPr>
        <p:blipFill>
          <a:blip r:embed="rId4"/>
          <a:stretch>
            <a:fillRect/>
          </a:stretch>
        </p:blipFill>
        <p:spPr>
          <a:xfrm>
            <a:off x="4351602" y="4834636"/>
            <a:ext cx="128699" cy="187198"/>
          </a:xfrm>
          <a:prstGeom prst="rect">
            <a:avLst/>
          </a:prstGeom>
        </p:spPr>
      </p:pic>
      <p:sp>
        <p:nvSpPr>
          <p:cNvPr id="141" name="TextBox 140"/>
          <p:cNvSpPr txBox="1"/>
          <p:nvPr/>
        </p:nvSpPr>
        <p:spPr>
          <a:xfrm>
            <a:off x="4519098"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2" name="TextBox 141"/>
          <p:cNvSpPr txBox="1"/>
          <p:nvPr/>
        </p:nvSpPr>
        <p:spPr>
          <a:xfrm>
            <a:off x="6343650" y="4676775"/>
            <a:ext cx="1880021" cy="186689"/>
          </a:xfrm>
          <a:prstGeom prst="rect">
            <a:avLst/>
          </a:prstGeom>
          <a:noFill/>
        </p:spPr>
        <p:txBody>
          <a:bodyPr wrap="none" lIns="0" rIns="0" tIns="0" bIns="0">
            <a:spAutoFit/>
          </a:bodyPr>
          <a:lstStyle/>
          <a:p>
            <a:r>
              <a:rPr sz="1100" b="0">
                <a:solidFill>
                  <a:srgbClr val="1F2933"/>
                </a:solidFill>
                <a:latin typeface="Calibri"/>
              </a:rPr>
              <a:t>3 named players compete here;</a:t>
            </a:r>
          </a:p>
        </p:txBody>
      </p:sp>
      <p:sp>
        <p:nvSpPr>
          <p:cNvPr id="143" name="TextBox 142"/>
          <p:cNvSpPr txBox="1"/>
          <p:nvPr/>
        </p:nvSpPr>
        <p:spPr>
          <a:xfrm>
            <a:off x="6343650" y="4844415"/>
            <a:ext cx="1525011" cy="186689"/>
          </a:xfrm>
          <a:prstGeom prst="rect">
            <a:avLst/>
          </a:prstGeom>
          <a:noFill/>
        </p:spPr>
        <p:txBody>
          <a:bodyPr wrap="none" lIns="0" rIns="0" tIns="0" bIns="0">
            <a:spAutoFit/>
          </a:bodyPr>
          <a:lstStyle/>
          <a:p>
            <a:r>
              <a:rPr sz="1100" b="0">
                <a:solidFill>
                  <a:srgbClr val="1F2933"/>
                </a:solidFill>
                <a:latin typeface="Calibri"/>
              </a:rPr>
              <a:t>'Polyethylene Foam' adds</a:t>
            </a:r>
          </a:p>
        </p:txBody>
      </p:sp>
      <p:pic>
        <p:nvPicPr>
          <p:cNvPr id="144" name="Picture 143" descr="lock.png"/>
          <p:cNvPicPr>
            <a:picLocks noChangeAspect="1"/>
          </p:cNvPicPr>
          <p:nvPr/>
        </p:nvPicPr>
        <p:blipFill>
          <a:blip r:embed="rId4"/>
          <a:stretch>
            <a:fillRect/>
          </a:stretch>
        </p:blipFill>
        <p:spPr>
          <a:xfrm>
            <a:off x="7816713" y="4834636"/>
            <a:ext cx="128699" cy="187198"/>
          </a:xfrm>
          <a:prstGeom prst="rect">
            <a:avLst/>
          </a:prstGeom>
        </p:spPr>
      </p:pic>
      <p:sp>
        <p:nvSpPr>
          <p:cNvPr id="145" name="TextBox 144"/>
          <p:cNvSpPr txBox="1"/>
          <p:nvPr/>
        </p:nvSpPr>
        <p:spPr>
          <a:xfrm>
            <a:off x="7984209"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46" name="TextBox 145"/>
          <p:cNvSpPr txBox="1"/>
          <p:nvPr/>
        </p:nvSpPr>
        <p:spPr>
          <a:xfrm>
            <a:off x="6343650"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47" name="TextBox 146"/>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8" name="Picture 147" descr="lock.png"/>
          <p:cNvPicPr>
            <a:picLocks noChangeAspect="1"/>
          </p:cNvPicPr>
          <p:nvPr/>
        </p:nvPicPr>
        <p:blipFill>
          <a:blip r:embed="rId4"/>
          <a:stretch>
            <a:fillRect/>
          </a:stretch>
        </p:blipFill>
        <p:spPr>
          <a:xfrm>
            <a:off x="11035226" y="4666996"/>
            <a:ext cx="128699" cy="187198"/>
          </a:xfrm>
          <a:prstGeom prst="rect">
            <a:avLst/>
          </a:prstGeom>
        </p:spPr>
      </p:pic>
      <p:sp>
        <p:nvSpPr>
          <p:cNvPr id="149" name="TextBox 148"/>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50" name="TextBox 149"/>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51" name="TextBox 150"/>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Player Landscape by Business Type and Reach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7" name="Rectangle 6"/>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9" name="Rectangle 8"/>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1" name="Rectangle 10"/>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3" name="TextBox 12"/>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4" name="TextBox 13"/>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5" name="Connector 14"/>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8" name="TextBox 17"/>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Sealed Air Corporation</a:t>
            </a:r>
          </a:p>
        </p:txBody>
      </p:sp>
      <p:sp>
        <p:nvSpPr>
          <p:cNvPr id="19" name="Rectangle 18"/>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22" name="Rectangle 21"/>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BOBST Group SA</a:t>
            </a:r>
          </a:p>
        </p:txBody>
      </p:sp>
      <p:sp>
        <p:nvSpPr>
          <p:cNvPr id="25" name="Rectangle 24"/>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BHS Corrugated Maschinen- und Anlagenbau GmbH</a:t>
            </a:r>
          </a:p>
        </p:txBody>
      </p:sp>
      <p:cxnSp>
        <p:nvCxnSpPr>
          <p:cNvPr id="28" name="Connector 27"/>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1" name="TextBox 30"/>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2" name="Connector 31"/>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7" name="TextBox 36"/>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BW Papersystems</a:t>
            </a:r>
          </a:p>
        </p:txBody>
      </p:sp>
      <p:sp>
        <p:nvSpPr>
          <p:cNvPr id="38" name="Rectangle 37"/>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Fosber Group</a:t>
            </a:r>
          </a:p>
        </p:txBody>
      </p:sp>
      <p:cxnSp>
        <p:nvCxnSpPr>
          <p:cNvPr id="41" name="Connector 40"/>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3" name="TextBox 42"/>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4" name="Connector 43"/>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0" name="TextBox 49"/>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Mitsubishi Heavy Industries Machinery Systems, Ltd.</a:t>
            </a:r>
          </a:p>
        </p:txBody>
      </p:sp>
      <p:sp>
        <p:nvSpPr>
          <p:cNvPr id="51" name="Rectangle 50"/>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EMBA Machinery AB</a:t>
            </a:r>
          </a:p>
        </p:txBody>
      </p:sp>
      <p:sp>
        <p:nvSpPr>
          <p:cNvPr id="54" name="Rectangle 53"/>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Koenig &amp; Bauer Celmacch</a:t>
            </a:r>
          </a:p>
        </p:txBody>
      </p:sp>
      <p:sp>
        <p:nvSpPr>
          <p:cNvPr id="57" name="Rectangle 56"/>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Göpfert Maschinen GmbH</a:t>
            </a:r>
          </a:p>
        </p:txBody>
      </p:sp>
      <p:sp>
        <p:nvSpPr>
          <p:cNvPr id="60" name="Rectangle 59"/>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2" name="TextBox 61"/>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3" name="TextBox 62"/>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4" name="Rectangle 63"/>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6" name="TextBox 65"/>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7" name="TextBox 66"/>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8" name="Rectangle 67"/>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0" name="TextBox 69"/>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1" name="TextBox 70"/>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2" name="TextBox 71"/>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3" name="Rectangle 72"/>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5" name="TextBox 74"/>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6" name="TextBox 75"/>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77" name="TextBox 76"/>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78" name="TextBox 77"/>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79" name="Rectangle 78"/>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1" name="TextBox 80"/>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2" name="TextBox 81"/>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3" name="TextBox 82"/>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4" name="TextBox 83"/>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5" name="Rectangle 84"/>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87" name="TextBox 86"/>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8" name="TextBox 87"/>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89" name="TextBox 88"/>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0" name="TextBox 89"/>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1" name="Rectangle 9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93" name="Picture 92" descr="lock.png"/>
          <p:cNvPicPr>
            <a:picLocks noChangeAspect="1"/>
          </p:cNvPicPr>
          <p:nvPr/>
        </p:nvPicPr>
        <p:blipFill>
          <a:blip r:embed="rId4"/>
          <a:stretch>
            <a:fillRect/>
          </a:stretch>
        </p:blipFill>
        <p:spPr>
          <a:xfrm>
            <a:off x="1059600" y="4487926"/>
            <a:ext cx="128699" cy="187198"/>
          </a:xfrm>
          <a:prstGeom prst="rect">
            <a:avLst/>
          </a:prstGeom>
        </p:spPr>
      </p:pic>
      <p:pic>
        <p:nvPicPr>
          <p:cNvPr id="94" name="Picture 93" descr="lock.png"/>
          <p:cNvPicPr>
            <a:picLocks noChangeAspect="1"/>
          </p:cNvPicPr>
          <p:nvPr/>
        </p:nvPicPr>
        <p:blipFill>
          <a:blip r:embed="rId4"/>
          <a:stretch>
            <a:fillRect/>
          </a:stretch>
        </p:blipFill>
        <p:spPr>
          <a:xfrm>
            <a:off x="3821850" y="4487926"/>
            <a:ext cx="128699" cy="187198"/>
          </a:xfrm>
          <a:prstGeom prst="rect">
            <a:avLst/>
          </a:prstGeom>
        </p:spPr>
      </p:pic>
      <p:pic>
        <p:nvPicPr>
          <p:cNvPr id="95" name="Picture 94" descr="lock.png"/>
          <p:cNvPicPr>
            <a:picLocks noChangeAspect="1"/>
          </p:cNvPicPr>
          <p:nvPr/>
        </p:nvPicPr>
        <p:blipFill>
          <a:blip r:embed="rId4"/>
          <a:stretch>
            <a:fillRect/>
          </a:stretch>
        </p:blipFill>
        <p:spPr>
          <a:xfrm>
            <a:off x="6584100" y="4487926"/>
            <a:ext cx="128699" cy="187198"/>
          </a:xfrm>
          <a:prstGeom prst="rect">
            <a:avLst/>
          </a:prstGeom>
        </p:spPr>
      </p:pic>
      <p:sp>
        <p:nvSpPr>
          <p:cNvPr id="96" name="TextBox 95"/>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7" name="Picture 96" descr="lock.png"/>
          <p:cNvPicPr>
            <a:picLocks noChangeAspect="1"/>
          </p:cNvPicPr>
          <p:nvPr/>
        </p:nvPicPr>
        <p:blipFill>
          <a:blip r:embed="rId4"/>
          <a:stretch>
            <a:fillRect/>
          </a:stretch>
        </p:blipFill>
        <p:spPr>
          <a:xfrm>
            <a:off x="1343736" y="5867145"/>
            <a:ext cx="128699" cy="187198"/>
          </a:xfrm>
          <a:prstGeom prst="rect">
            <a:avLst/>
          </a:prstGeom>
        </p:spPr>
      </p:pic>
      <p:sp>
        <p:nvSpPr>
          <p:cNvPr id="98" name="TextBox 97"/>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9" name="TextBox 98"/>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0" name="Picture 99" descr="lock.png"/>
          <p:cNvPicPr>
            <a:picLocks noChangeAspect="1"/>
          </p:cNvPicPr>
          <p:nvPr/>
        </p:nvPicPr>
        <p:blipFill>
          <a:blip r:embed="rId4"/>
          <a:stretch>
            <a:fillRect/>
          </a:stretch>
        </p:blipFill>
        <p:spPr>
          <a:xfrm>
            <a:off x="4344111" y="5867145"/>
            <a:ext cx="128699" cy="187198"/>
          </a:xfrm>
          <a:prstGeom prst="rect">
            <a:avLst/>
          </a:prstGeom>
        </p:spPr>
      </p:pic>
      <p:sp>
        <p:nvSpPr>
          <p:cNvPr id="101" name="TextBox 100"/>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2" name="TextBox 101"/>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3" name="Picture 102" descr="lock.png"/>
          <p:cNvPicPr>
            <a:picLocks noChangeAspect="1"/>
          </p:cNvPicPr>
          <p:nvPr/>
        </p:nvPicPr>
        <p:blipFill>
          <a:blip r:embed="rId4"/>
          <a:stretch>
            <a:fillRect/>
          </a:stretch>
        </p:blipFill>
        <p:spPr>
          <a:xfrm>
            <a:off x="7344486" y="5867145"/>
            <a:ext cx="128699" cy="187198"/>
          </a:xfrm>
          <a:prstGeom prst="rect">
            <a:avLst/>
          </a:prstGeom>
        </p:spPr>
      </p:pic>
      <p:sp>
        <p:nvSpPr>
          <p:cNvPr id="104" name="TextBox 103"/>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Corporate Scorecard: Who They Are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9" name="TextBox 8"/>
          <p:cNvSpPr txBox="1"/>
          <p:nvPr/>
        </p:nvSpPr>
        <p:spPr>
          <a:xfrm>
            <a:off x="3086100" y="1295400"/>
            <a:ext cx="20555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0" name="TextBox 9"/>
          <p:cNvSpPr txBox="1"/>
          <p:nvPr/>
        </p:nvSpPr>
        <p:spPr>
          <a:xfrm>
            <a:off x="3086100" y="1657350"/>
            <a:ext cx="20555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1" name="TextBox 10"/>
          <p:cNvSpPr txBox="1"/>
          <p:nvPr/>
        </p:nvSpPr>
        <p:spPr>
          <a:xfrm>
            <a:off x="5217886" y="1295400"/>
            <a:ext cx="106075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2" name="TextBox 11"/>
          <p:cNvSpPr txBox="1"/>
          <p:nvPr/>
        </p:nvSpPr>
        <p:spPr>
          <a:xfrm>
            <a:off x="5217886" y="1657350"/>
            <a:ext cx="106075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3" name="TextBox 12"/>
          <p:cNvSpPr txBox="1"/>
          <p:nvPr/>
        </p:nvSpPr>
        <p:spPr>
          <a:xfrm>
            <a:off x="6354838"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4" name="TextBox 13"/>
          <p:cNvSpPr txBox="1"/>
          <p:nvPr/>
        </p:nvSpPr>
        <p:spPr>
          <a:xfrm>
            <a:off x="6354838"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5" name="TextBox 14"/>
          <p:cNvSpPr txBox="1"/>
          <p:nvPr/>
        </p:nvSpPr>
        <p:spPr>
          <a:xfrm>
            <a:off x="7302298"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6" name="TextBox 15"/>
          <p:cNvSpPr txBox="1"/>
          <p:nvPr/>
        </p:nvSpPr>
        <p:spPr>
          <a:xfrm>
            <a:off x="7302298"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17" name="TextBox 16"/>
          <p:cNvSpPr txBox="1"/>
          <p:nvPr/>
        </p:nvSpPr>
        <p:spPr>
          <a:xfrm>
            <a:off x="8249759"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18" name="TextBox 17"/>
          <p:cNvSpPr txBox="1"/>
          <p:nvPr/>
        </p:nvSpPr>
        <p:spPr>
          <a:xfrm>
            <a:off x="8249759"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19" name="TextBox 18"/>
          <p:cNvSpPr txBox="1"/>
          <p:nvPr/>
        </p:nvSpPr>
        <p:spPr>
          <a:xfrm>
            <a:off x="9197219"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0" name="TextBox 19"/>
          <p:cNvSpPr txBox="1"/>
          <p:nvPr/>
        </p:nvSpPr>
        <p:spPr>
          <a:xfrm>
            <a:off x="9197219"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1" name="TextBox 20"/>
          <p:cNvSpPr txBox="1"/>
          <p:nvPr/>
        </p:nvSpPr>
        <p:spPr>
          <a:xfrm>
            <a:off x="10144679"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2" name="TextBox 21"/>
          <p:cNvSpPr txBox="1"/>
          <p:nvPr/>
        </p:nvSpPr>
        <p:spPr>
          <a:xfrm>
            <a:off x="10144679"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3" name="TextBox 22"/>
          <p:cNvSpPr txBox="1"/>
          <p:nvPr/>
        </p:nvSpPr>
        <p:spPr>
          <a:xfrm>
            <a:off x="11092140" y="1295400"/>
            <a:ext cx="871260"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4" name="TextBox 23"/>
          <p:cNvSpPr txBox="1"/>
          <p:nvPr/>
        </p:nvSpPr>
        <p:spPr>
          <a:xfrm>
            <a:off x="11092140" y="1657350"/>
            <a:ext cx="871260"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5" name="Connector 24"/>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2247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Sealed Air Corporation</a:t>
            </a:r>
          </a:p>
        </p:txBody>
      </p:sp>
      <p:sp>
        <p:nvSpPr>
          <p:cNvPr id="28" name="TextBox 27"/>
          <p:cNvSpPr txBox="1"/>
          <p:nvPr/>
        </p:nvSpPr>
        <p:spPr>
          <a:xfrm>
            <a:off x="285750" y="2409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9" name="TextBox 28"/>
          <p:cNvSpPr txBox="1"/>
          <p:nvPr/>
        </p:nvSpPr>
        <p:spPr>
          <a:xfrm>
            <a:off x="3048000" y="22288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TextBox 29"/>
          <p:cNvSpPr txBox="1"/>
          <p:nvPr/>
        </p:nvSpPr>
        <p:spPr>
          <a:xfrm>
            <a:off x="5217886" y="22288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1" name="Oval 30"/>
          <p:cNvSpPr/>
          <p:nvPr/>
        </p:nvSpPr>
        <p:spPr>
          <a:xfrm>
            <a:off x="671426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6172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091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5664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6579" y="22288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6" name="TextBox 35"/>
          <p:cNvSpPr txBox="1"/>
          <p:nvPr/>
        </p:nvSpPr>
        <p:spPr>
          <a:xfrm>
            <a:off x="11054040" y="22288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7" name="Connector 36"/>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590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40" name="TextBox 39"/>
          <p:cNvSpPr txBox="1"/>
          <p:nvPr/>
        </p:nvSpPr>
        <p:spPr>
          <a:xfrm>
            <a:off x="285750" y="2752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TextBox 40"/>
          <p:cNvSpPr txBox="1"/>
          <p:nvPr/>
        </p:nvSpPr>
        <p:spPr>
          <a:xfrm>
            <a:off x="3048000" y="25717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5217886" y="25717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3" name="Oval 42"/>
          <p:cNvSpPr/>
          <p:nvPr/>
        </p:nvSpPr>
        <p:spPr>
          <a:xfrm>
            <a:off x="671426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66172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6091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55664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06579" y="25717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8" name="TextBox 47"/>
          <p:cNvSpPr txBox="1"/>
          <p:nvPr/>
        </p:nvSpPr>
        <p:spPr>
          <a:xfrm>
            <a:off x="11054040" y="25717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9" name="Connector 48"/>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33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BOBST Group SA</a:t>
            </a:r>
          </a:p>
        </p:txBody>
      </p:sp>
      <p:sp>
        <p:nvSpPr>
          <p:cNvPr id="52" name="TextBox 51"/>
          <p:cNvSpPr txBox="1"/>
          <p:nvPr/>
        </p:nvSpPr>
        <p:spPr>
          <a:xfrm>
            <a:off x="285750" y="3095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TextBox 52"/>
          <p:cNvSpPr txBox="1"/>
          <p:nvPr/>
        </p:nvSpPr>
        <p:spPr>
          <a:xfrm>
            <a:off x="3048000" y="29146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4" name="TextBox 53"/>
          <p:cNvSpPr txBox="1"/>
          <p:nvPr/>
        </p:nvSpPr>
        <p:spPr>
          <a:xfrm>
            <a:off x="5217886" y="29146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5" name="Oval 54"/>
          <p:cNvSpPr/>
          <p:nvPr/>
        </p:nvSpPr>
        <p:spPr>
          <a:xfrm>
            <a:off x="671426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66172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6091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556649"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96297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106579" y="29146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1" name="TextBox 60"/>
          <p:cNvSpPr txBox="1"/>
          <p:nvPr/>
        </p:nvSpPr>
        <p:spPr>
          <a:xfrm>
            <a:off x="11054040" y="29146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2" name="Connector 61"/>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276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BHS Corrugated Maschinen- und Anlagenbau GmbH</a:t>
            </a:r>
          </a:p>
        </p:txBody>
      </p:sp>
      <p:sp>
        <p:nvSpPr>
          <p:cNvPr id="65" name="TextBox 64"/>
          <p:cNvSpPr txBox="1"/>
          <p:nvPr/>
        </p:nvSpPr>
        <p:spPr>
          <a:xfrm>
            <a:off x="285750" y="3438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6" name="TextBox 65"/>
          <p:cNvSpPr txBox="1"/>
          <p:nvPr/>
        </p:nvSpPr>
        <p:spPr>
          <a:xfrm>
            <a:off x="3048000" y="32575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TextBox 66"/>
          <p:cNvSpPr txBox="1"/>
          <p:nvPr/>
        </p:nvSpPr>
        <p:spPr>
          <a:xfrm>
            <a:off x="5217886" y="32575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68" name="Oval 67"/>
          <p:cNvSpPr/>
          <p:nvPr/>
        </p:nvSpPr>
        <p:spPr>
          <a:xfrm>
            <a:off x="6714268"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67913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66172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6091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556649"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96297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106579" y="32575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5" name="TextBox 74"/>
          <p:cNvSpPr txBox="1"/>
          <p:nvPr/>
        </p:nvSpPr>
        <p:spPr>
          <a:xfrm>
            <a:off x="11054040" y="32575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6" name="Connector 75"/>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85750" y="3619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BW Papersystems</a:t>
            </a:r>
          </a:p>
        </p:txBody>
      </p:sp>
      <p:sp>
        <p:nvSpPr>
          <p:cNvPr id="79" name="TextBox 78"/>
          <p:cNvSpPr txBox="1"/>
          <p:nvPr/>
        </p:nvSpPr>
        <p:spPr>
          <a:xfrm>
            <a:off x="285750" y="3781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0" name="TextBox 79"/>
          <p:cNvSpPr txBox="1"/>
          <p:nvPr/>
        </p:nvSpPr>
        <p:spPr>
          <a:xfrm>
            <a:off x="3048000" y="36004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TextBox 80"/>
          <p:cNvSpPr txBox="1"/>
          <p:nvPr/>
        </p:nvSpPr>
        <p:spPr>
          <a:xfrm>
            <a:off x="5217886" y="36004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2" name="Oval 81"/>
          <p:cNvSpPr/>
          <p:nvPr/>
        </p:nvSpPr>
        <p:spPr>
          <a:xfrm>
            <a:off x="671426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67913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66172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7734300"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60918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86868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55664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96297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106579" y="36004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1" name="TextBox 90"/>
          <p:cNvSpPr txBox="1"/>
          <p:nvPr/>
        </p:nvSpPr>
        <p:spPr>
          <a:xfrm>
            <a:off x="11054040" y="36004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2" name="Connector 9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5750" y="3962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Fosber Group</a:t>
            </a:r>
          </a:p>
        </p:txBody>
      </p:sp>
      <p:sp>
        <p:nvSpPr>
          <p:cNvPr id="95" name="TextBox 94"/>
          <p:cNvSpPr txBox="1"/>
          <p:nvPr/>
        </p:nvSpPr>
        <p:spPr>
          <a:xfrm>
            <a:off x="285750" y="4124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6" name="TextBox 95"/>
          <p:cNvSpPr txBox="1"/>
          <p:nvPr/>
        </p:nvSpPr>
        <p:spPr>
          <a:xfrm>
            <a:off x="3048000" y="39433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7" name="TextBox 96"/>
          <p:cNvSpPr txBox="1"/>
          <p:nvPr/>
        </p:nvSpPr>
        <p:spPr>
          <a:xfrm>
            <a:off x="5217886" y="39433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98" name="Oval 97"/>
          <p:cNvSpPr/>
          <p:nvPr/>
        </p:nvSpPr>
        <p:spPr>
          <a:xfrm>
            <a:off x="671426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67913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66172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7734300"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60918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8686800"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55664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96297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106579" y="39433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7" name="TextBox 106"/>
          <p:cNvSpPr txBox="1"/>
          <p:nvPr/>
        </p:nvSpPr>
        <p:spPr>
          <a:xfrm>
            <a:off x="11054040" y="39433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8" name="Connector 107"/>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305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Mitsubishi Heavy Industries Machinery Systems, Ltd.</a:t>
            </a:r>
          </a:p>
        </p:txBody>
      </p:sp>
      <p:sp>
        <p:nvSpPr>
          <p:cNvPr id="111" name="TextBox 110"/>
          <p:cNvSpPr txBox="1"/>
          <p:nvPr/>
        </p:nvSpPr>
        <p:spPr>
          <a:xfrm>
            <a:off x="285750" y="4467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3048000" y="42862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5217886" y="42862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4" name="Oval 113"/>
          <p:cNvSpPr/>
          <p:nvPr/>
        </p:nvSpPr>
        <p:spPr>
          <a:xfrm>
            <a:off x="671426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67913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66172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7734300" y="43815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60918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8686800"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55664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96297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0106579" y="42862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3" name="TextBox 122"/>
          <p:cNvSpPr txBox="1"/>
          <p:nvPr/>
        </p:nvSpPr>
        <p:spPr>
          <a:xfrm>
            <a:off x="11054040" y="42862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4" name="Connector 123"/>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5" name="Rectangle 124"/>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85750" y="4648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EMBA Machinery AB</a:t>
            </a:r>
          </a:p>
        </p:txBody>
      </p:sp>
      <p:sp>
        <p:nvSpPr>
          <p:cNvPr id="127" name="TextBox 126"/>
          <p:cNvSpPr txBox="1"/>
          <p:nvPr/>
        </p:nvSpPr>
        <p:spPr>
          <a:xfrm>
            <a:off x="285750" y="4810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8" name="TextBox 127"/>
          <p:cNvSpPr txBox="1"/>
          <p:nvPr/>
        </p:nvSpPr>
        <p:spPr>
          <a:xfrm>
            <a:off x="3048000" y="46291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9" name="TextBox 128"/>
          <p:cNvSpPr txBox="1"/>
          <p:nvPr/>
        </p:nvSpPr>
        <p:spPr>
          <a:xfrm>
            <a:off x="5217886" y="46291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0" name="Oval 129"/>
          <p:cNvSpPr/>
          <p:nvPr/>
        </p:nvSpPr>
        <p:spPr>
          <a:xfrm>
            <a:off x="671426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79132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66172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734300" y="47244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860918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8686800"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55664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96297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106579" y="46291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9" name="TextBox 138"/>
          <p:cNvSpPr txBox="1"/>
          <p:nvPr/>
        </p:nvSpPr>
        <p:spPr>
          <a:xfrm>
            <a:off x="11054040" y="46291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0" name="Connector 139"/>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1" name="Rectangle 140"/>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85750" y="4991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Koenig &amp; Bauer Celmacch</a:t>
            </a:r>
          </a:p>
        </p:txBody>
      </p:sp>
      <p:sp>
        <p:nvSpPr>
          <p:cNvPr id="143" name="TextBox 142"/>
          <p:cNvSpPr txBox="1"/>
          <p:nvPr/>
        </p:nvSpPr>
        <p:spPr>
          <a:xfrm>
            <a:off x="285750" y="5153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4" name="TextBox 143"/>
          <p:cNvSpPr txBox="1"/>
          <p:nvPr/>
        </p:nvSpPr>
        <p:spPr>
          <a:xfrm>
            <a:off x="3048000" y="49720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5" name="TextBox 144"/>
          <p:cNvSpPr txBox="1"/>
          <p:nvPr/>
        </p:nvSpPr>
        <p:spPr>
          <a:xfrm>
            <a:off x="5217886" y="49720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6" name="Oval 145"/>
          <p:cNvSpPr/>
          <p:nvPr/>
        </p:nvSpPr>
        <p:spPr>
          <a:xfrm>
            <a:off x="671426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67913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66172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734300" y="50673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60918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Freeform 150"/>
          <p:cNvSpPr/>
          <p:nvPr/>
        </p:nvSpPr>
        <p:spPr>
          <a:xfrm>
            <a:off x="8686800"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955664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reeform 152"/>
          <p:cNvSpPr/>
          <p:nvPr/>
        </p:nvSpPr>
        <p:spPr>
          <a:xfrm>
            <a:off x="96297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0106579" y="49720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5" name="TextBox 154"/>
          <p:cNvSpPr txBox="1"/>
          <p:nvPr/>
        </p:nvSpPr>
        <p:spPr>
          <a:xfrm>
            <a:off x="11054040" y="49720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6" name="Connector 155"/>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7" name="Rectangle 156"/>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85750" y="5334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Göpfert Maschinen GmbH</a:t>
            </a:r>
          </a:p>
        </p:txBody>
      </p:sp>
      <p:sp>
        <p:nvSpPr>
          <p:cNvPr id="159" name="TextBox 158"/>
          <p:cNvSpPr txBox="1"/>
          <p:nvPr/>
        </p:nvSpPr>
        <p:spPr>
          <a:xfrm>
            <a:off x="285750" y="5495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0" name="TextBox 159"/>
          <p:cNvSpPr txBox="1"/>
          <p:nvPr/>
        </p:nvSpPr>
        <p:spPr>
          <a:xfrm>
            <a:off x="3048000" y="5314950"/>
            <a:ext cx="213178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1" name="TextBox 160"/>
          <p:cNvSpPr txBox="1"/>
          <p:nvPr/>
        </p:nvSpPr>
        <p:spPr>
          <a:xfrm>
            <a:off x="5217886" y="5314950"/>
            <a:ext cx="106075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2" name="Oval 161"/>
          <p:cNvSpPr/>
          <p:nvPr/>
        </p:nvSpPr>
        <p:spPr>
          <a:xfrm>
            <a:off x="671426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679132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766172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Freeform 164"/>
          <p:cNvSpPr/>
          <p:nvPr/>
        </p:nvSpPr>
        <p:spPr>
          <a:xfrm>
            <a:off x="7734300" y="5410200"/>
            <a:ext cx="76200" cy="76200"/>
          </a:xfrm>
          <a:custGeom>
            <a:avLst/>
            <a:gdLst/>
            <a:ahLst/>
            <a:cxnLst/>
            <a:rect l="l" t="t" r="r" b="b"/>
            <a:pathLst>
              <a:path w="8" h="8">
                <a:moveTo>
                  <a:pt x="0" y="8"/>
                </a:moveTo>
                <a:lnTo>
                  <a:pt x="0" y="0"/>
                </a:lnTo>
                <a:lnTo>
                  <a:pt x="2" y="0"/>
                </a:lnTo>
                <a:lnTo>
                  <a:pt x="3" y="0"/>
                </a:lnTo>
                <a:lnTo>
                  <a:pt x="4" y="1"/>
                </a:lnTo>
                <a:lnTo>
                  <a:pt x="6" y="2"/>
                </a:lnTo>
                <a:lnTo>
                  <a:pt x="7"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860918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8686800"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7"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955664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96297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0106579" y="53149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1" name="TextBox 170"/>
          <p:cNvSpPr txBox="1"/>
          <p:nvPr/>
        </p:nvSpPr>
        <p:spPr>
          <a:xfrm>
            <a:off x="11054040" y="5314950"/>
            <a:ext cx="947460"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2" name="Connector 171"/>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3" name="Oval 172"/>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5" name="Oval 174"/>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Freeform 175"/>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78" name="Oval 177"/>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1" name="Oval 180"/>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3" name="TextBox 182"/>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4" name="TextBox 183"/>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5" name="Rectangle 18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87" name="TextBox 186"/>
          <p:cNvSpPr txBox="1"/>
          <p:nvPr/>
        </p:nvSpPr>
        <p:spPr>
          <a:xfrm>
            <a:off x="9225794" y="1666875"/>
            <a:ext cx="360249" cy="166573"/>
          </a:xfrm>
          <a:prstGeom prst="rect">
            <a:avLst/>
          </a:prstGeom>
          <a:noFill/>
        </p:spPr>
        <p:txBody>
          <a:bodyPr wrap="none" lIns="0" rIns="0" tIns="0" bIns="0">
            <a:spAutoFit/>
          </a:bodyPr>
          <a:lstStyle/>
          <a:p>
            <a:r>
              <a:rPr sz="968" b="0">
                <a:solidFill>
                  <a:srgbClr val="5F6B7A"/>
                </a:solidFill>
                <a:latin typeface="Calibri"/>
              </a:rPr>
              <a:t>Share</a:t>
            </a:r>
          </a:p>
        </p:txBody>
      </p:sp>
      <p:pic>
        <p:nvPicPr>
          <p:cNvPr id="188" name="Picture 187" descr="lock.png"/>
          <p:cNvPicPr>
            <a:picLocks noChangeAspect="1"/>
          </p:cNvPicPr>
          <p:nvPr/>
        </p:nvPicPr>
        <p:blipFill>
          <a:blip r:embed="rId4"/>
          <a:stretch>
            <a:fillRect/>
          </a:stretch>
        </p:blipFill>
        <p:spPr>
          <a:xfrm>
            <a:off x="9531184" y="1658269"/>
            <a:ext cx="113255" cy="164734"/>
          </a:xfrm>
          <a:prstGeom prst="rect">
            <a:avLst/>
          </a:prstGeom>
        </p:spPr>
      </p:pic>
      <p:sp>
        <p:nvSpPr>
          <p:cNvPr id="189" name="TextBox 188"/>
          <p:cNvSpPr txBox="1"/>
          <p:nvPr/>
        </p:nvSpPr>
        <p:spPr>
          <a:xfrm>
            <a:off x="9678581" y="1666875"/>
            <a:ext cx="347523" cy="166573"/>
          </a:xfrm>
          <a:prstGeom prst="rect">
            <a:avLst/>
          </a:prstGeom>
          <a:noFill/>
        </p:spPr>
        <p:txBody>
          <a:bodyPr wrap="none" lIns="0" rIns="0" tIns="0" bIns="0">
            <a:spAutoFit/>
          </a:bodyPr>
          <a:lstStyle/>
          <a:p>
            <a:r>
              <a:rPr sz="968" b="0">
                <a:solidFill>
                  <a:srgbClr val="5F6B7A"/>
                </a:solidFill>
                <a:latin typeface="Calibri"/>
              </a:rPr>
              <a:t>+ = 3,</a:t>
            </a:r>
          </a:p>
        </p:txBody>
      </p:sp>
      <p:pic>
        <p:nvPicPr>
          <p:cNvPr id="190" name="Picture 189" descr="lock.png"/>
          <p:cNvPicPr>
            <a:picLocks noChangeAspect="1"/>
          </p:cNvPicPr>
          <p:nvPr/>
        </p:nvPicPr>
        <p:blipFill>
          <a:blip r:embed="rId4"/>
          <a:stretch>
            <a:fillRect/>
          </a:stretch>
        </p:blipFill>
        <p:spPr>
          <a:xfrm>
            <a:off x="9213942" y="1805792"/>
            <a:ext cx="113255" cy="164734"/>
          </a:xfrm>
          <a:prstGeom prst="rect">
            <a:avLst/>
          </a:prstGeom>
        </p:spPr>
      </p:pic>
      <p:sp>
        <p:nvSpPr>
          <p:cNvPr id="191" name="TextBox 190"/>
          <p:cNvSpPr txBox="1"/>
          <p:nvPr/>
        </p:nvSpPr>
        <p:spPr>
          <a:xfrm>
            <a:off x="9361339" y="1814398"/>
            <a:ext cx="575387" cy="166573"/>
          </a:xfrm>
          <a:prstGeom prst="rect">
            <a:avLst/>
          </a:prstGeom>
          <a:noFill/>
        </p:spPr>
        <p:txBody>
          <a:bodyPr wrap="none" lIns="0" rIns="0" tIns="0" bIns="0">
            <a:spAutoFit/>
          </a:bodyPr>
          <a:lstStyle/>
          <a:p>
            <a:r>
              <a:rPr sz="968" b="0">
                <a:solidFill>
                  <a:srgbClr val="5F6B7A"/>
                </a:solidFill>
                <a:latin typeface="Calibri"/>
              </a:rPr>
              <a:t>= 2, else 1</a:t>
            </a:r>
          </a:p>
        </p:txBody>
      </p:sp>
      <p:pic>
        <p:nvPicPr>
          <p:cNvPr id="192" name="Picture 191" descr="lock.png"/>
          <p:cNvPicPr>
            <a:picLocks noChangeAspect="1"/>
          </p:cNvPicPr>
          <p:nvPr/>
        </p:nvPicPr>
        <p:blipFill>
          <a:blip r:embed="rId4"/>
          <a:stretch>
            <a:fillRect/>
          </a:stretch>
        </p:blipFill>
        <p:spPr>
          <a:xfrm>
            <a:off x="4049543" y="2306701"/>
            <a:ext cx="128699" cy="187198"/>
          </a:xfrm>
          <a:prstGeom prst="rect">
            <a:avLst/>
          </a:prstGeom>
        </p:spPr>
      </p:pic>
      <p:pic>
        <p:nvPicPr>
          <p:cNvPr id="193" name="Picture 192" descr="lock.png"/>
          <p:cNvPicPr>
            <a:picLocks noChangeAspect="1"/>
          </p:cNvPicPr>
          <p:nvPr/>
        </p:nvPicPr>
        <p:blipFill>
          <a:blip r:embed="rId4"/>
          <a:stretch>
            <a:fillRect/>
          </a:stretch>
        </p:blipFill>
        <p:spPr>
          <a:xfrm>
            <a:off x="10515959" y="2306701"/>
            <a:ext cx="128699" cy="187198"/>
          </a:xfrm>
          <a:prstGeom prst="rect">
            <a:avLst/>
          </a:prstGeom>
        </p:spPr>
      </p:pic>
      <p:pic>
        <p:nvPicPr>
          <p:cNvPr id="194" name="Picture 193" descr="lock.png"/>
          <p:cNvPicPr>
            <a:picLocks noChangeAspect="1"/>
          </p:cNvPicPr>
          <p:nvPr/>
        </p:nvPicPr>
        <p:blipFill>
          <a:blip r:embed="rId4"/>
          <a:stretch>
            <a:fillRect/>
          </a:stretch>
        </p:blipFill>
        <p:spPr>
          <a:xfrm>
            <a:off x="11463420"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4049543" y="26496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0515959" y="26496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1463420"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4049543" y="29925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0515959" y="29925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1463420"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4049543" y="33354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0515959" y="33354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1463420"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4049543" y="36783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0515959" y="36783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1463420"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4049543" y="40212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0515959" y="40212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1463420"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4049543" y="43641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0515959" y="43641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1463420"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4049543" y="47070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0515959" y="47070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1463420"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4049543" y="50499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0515959" y="50499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1463420"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4049543" y="53928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0515959" y="53928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1463420" y="5392801"/>
            <a:ext cx="128699" cy="187198"/>
          </a:xfrm>
          <a:prstGeom prst="rect">
            <a:avLst/>
          </a:prstGeom>
        </p:spPr>
      </p:pic>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Offering Scorecard: What They Sell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9" name="TextBox 8"/>
          <p:cNvSpPr txBox="1"/>
          <p:nvPr/>
        </p:nvSpPr>
        <p:spPr>
          <a:xfrm>
            <a:off x="3086100"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0" name="TextBox 9"/>
          <p:cNvSpPr txBox="1"/>
          <p:nvPr/>
        </p:nvSpPr>
        <p:spPr>
          <a:xfrm>
            <a:off x="3086100"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1" name="TextBox 10"/>
          <p:cNvSpPr txBox="1"/>
          <p:nvPr/>
        </p:nvSpPr>
        <p:spPr>
          <a:xfrm>
            <a:off x="4402791"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2" name="TextBox 11"/>
          <p:cNvSpPr txBox="1"/>
          <p:nvPr/>
        </p:nvSpPr>
        <p:spPr>
          <a:xfrm>
            <a:off x="4402791"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3" name="TextBox 12"/>
          <p:cNvSpPr txBox="1"/>
          <p:nvPr/>
        </p:nvSpPr>
        <p:spPr>
          <a:xfrm>
            <a:off x="5719482"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4" name="TextBox 13"/>
          <p:cNvSpPr txBox="1"/>
          <p:nvPr/>
        </p:nvSpPr>
        <p:spPr>
          <a:xfrm>
            <a:off x="5719482"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5" name="TextBox 14"/>
          <p:cNvSpPr txBox="1"/>
          <p:nvPr/>
        </p:nvSpPr>
        <p:spPr>
          <a:xfrm>
            <a:off x="7299512"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6" name="TextBox 15"/>
          <p:cNvSpPr txBox="1"/>
          <p:nvPr/>
        </p:nvSpPr>
        <p:spPr>
          <a:xfrm>
            <a:off x="7299512"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17" name="TextBox 16"/>
          <p:cNvSpPr txBox="1"/>
          <p:nvPr/>
        </p:nvSpPr>
        <p:spPr>
          <a:xfrm>
            <a:off x="8879541"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18" name="TextBox 17"/>
          <p:cNvSpPr txBox="1"/>
          <p:nvPr/>
        </p:nvSpPr>
        <p:spPr>
          <a:xfrm>
            <a:off x="8879541"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19" name="TextBox 18"/>
          <p:cNvSpPr txBox="1"/>
          <p:nvPr/>
        </p:nvSpPr>
        <p:spPr>
          <a:xfrm>
            <a:off x="10459571"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0" name="TextBox 19"/>
          <p:cNvSpPr txBox="1"/>
          <p:nvPr/>
        </p:nvSpPr>
        <p:spPr>
          <a:xfrm>
            <a:off x="10459571"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Sealed Air Corporation</a:t>
            </a:r>
          </a:p>
        </p:txBody>
      </p:sp>
      <p:sp>
        <p:nvSpPr>
          <p:cNvPr id="24" name="TextBox 23"/>
          <p:cNvSpPr txBox="1"/>
          <p:nvPr/>
        </p:nvSpPr>
        <p:spPr>
          <a:xfrm>
            <a:off x="285750" y="2409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Oval 24"/>
          <p:cNvSpPr/>
          <p:nvPr/>
        </p:nvSpPr>
        <p:spPr>
          <a:xfrm>
            <a:off x="363014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946837"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5019675" y="2324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9482" y="22288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29" name="TextBox 28"/>
          <p:cNvSpPr txBox="1"/>
          <p:nvPr/>
        </p:nvSpPr>
        <p:spPr>
          <a:xfrm>
            <a:off x="7299512" y="22288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 Healthcare &amp; Pharmaceuticals</a:t>
            </a:r>
          </a:p>
        </p:txBody>
      </p:sp>
      <p:sp>
        <p:nvSpPr>
          <p:cNvPr id="30" name="TextBox 29"/>
          <p:cNvSpPr txBox="1"/>
          <p:nvPr/>
        </p:nvSpPr>
        <p:spPr>
          <a:xfrm>
            <a:off x="8841441"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1" name="TextBox 30"/>
          <p:cNvSpPr txBox="1"/>
          <p:nvPr/>
        </p:nvSpPr>
        <p:spPr>
          <a:xfrm>
            <a:off x="10421471"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2" name="Connector 31"/>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750" y="2590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35" name="TextBox 34"/>
          <p:cNvSpPr txBox="1"/>
          <p:nvPr/>
        </p:nvSpPr>
        <p:spPr>
          <a:xfrm>
            <a:off x="285750" y="2752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6" name="Oval 35"/>
          <p:cNvSpPr/>
          <p:nvPr/>
        </p:nvSpPr>
        <p:spPr>
          <a:xfrm>
            <a:off x="363014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370522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94683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19482"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0" name="TextBox 39"/>
          <p:cNvSpPr txBox="1"/>
          <p:nvPr/>
        </p:nvSpPr>
        <p:spPr>
          <a:xfrm>
            <a:off x="7299512"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 Industrial Machinery &amp; Equipment</a:t>
            </a:r>
          </a:p>
        </p:txBody>
      </p:sp>
      <p:sp>
        <p:nvSpPr>
          <p:cNvPr id="41" name="TextBox 40"/>
          <p:cNvSpPr txBox="1"/>
          <p:nvPr/>
        </p:nvSpPr>
        <p:spPr>
          <a:xfrm>
            <a:off x="8841441"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10421471"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3" name="Connector 42"/>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5750" y="2933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BOBST Group SA</a:t>
            </a:r>
          </a:p>
        </p:txBody>
      </p:sp>
      <p:sp>
        <p:nvSpPr>
          <p:cNvPr id="46" name="TextBox 45"/>
          <p:cNvSpPr txBox="1"/>
          <p:nvPr/>
        </p:nvSpPr>
        <p:spPr>
          <a:xfrm>
            <a:off x="285750" y="3095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7" name="Oval 46"/>
          <p:cNvSpPr/>
          <p:nvPr/>
        </p:nvSpPr>
        <p:spPr>
          <a:xfrm>
            <a:off x="363014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370522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94683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5019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719482" y="29146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2" name="TextBox 51"/>
          <p:cNvSpPr txBox="1"/>
          <p:nvPr/>
        </p:nvSpPr>
        <p:spPr>
          <a:xfrm>
            <a:off x="7299512" y="29146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Healthcare &amp; Pharmaceuticals, Industrial Machinery &amp; Equipment</a:t>
            </a:r>
          </a:p>
        </p:txBody>
      </p:sp>
      <p:sp>
        <p:nvSpPr>
          <p:cNvPr id="53" name="TextBox 52"/>
          <p:cNvSpPr txBox="1"/>
          <p:nvPr/>
        </p:nvSpPr>
        <p:spPr>
          <a:xfrm>
            <a:off x="8841441"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4" name="TextBox 53"/>
          <p:cNvSpPr txBox="1"/>
          <p:nvPr/>
        </p:nvSpPr>
        <p:spPr>
          <a:xfrm>
            <a:off x="10421471"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5" name="Connector 5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5750" y="3276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BHS Corrugated Maschinen- und Anlagenbau GmbH</a:t>
            </a:r>
          </a:p>
        </p:txBody>
      </p:sp>
      <p:sp>
        <p:nvSpPr>
          <p:cNvPr id="58" name="TextBox 57"/>
          <p:cNvSpPr txBox="1"/>
          <p:nvPr/>
        </p:nvSpPr>
        <p:spPr>
          <a:xfrm>
            <a:off x="285750" y="3438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9" name="Oval 58"/>
          <p:cNvSpPr/>
          <p:nvPr/>
        </p:nvSpPr>
        <p:spPr>
          <a:xfrm>
            <a:off x="363014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370522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946837"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719482"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3" name="TextBox 62"/>
          <p:cNvSpPr txBox="1"/>
          <p:nvPr/>
        </p:nvSpPr>
        <p:spPr>
          <a:xfrm>
            <a:off x="7299512"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 Healthcare &amp; Pharmaceuticals</a:t>
            </a:r>
          </a:p>
        </p:txBody>
      </p:sp>
      <p:sp>
        <p:nvSpPr>
          <p:cNvPr id="64" name="TextBox 63"/>
          <p:cNvSpPr txBox="1"/>
          <p:nvPr/>
        </p:nvSpPr>
        <p:spPr>
          <a:xfrm>
            <a:off x="8841441"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5" name="TextBox 64"/>
          <p:cNvSpPr txBox="1"/>
          <p:nvPr/>
        </p:nvSpPr>
        <p:spPr>
          <a:xfrm>
            <a:off x="10421471"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6" name="Connector 65"/>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5750" y="3619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BW Papersystems</a:t>
            </a:r>
          </a:p>
        </p:txBody>
      </p:sp>
      <p:sp>
        <p:nvSpPr>
          <p:cNvPr id="69" name="TextBox 68"/>
          <p:cNvSpPr txBox="1"/>
          <p:nvPr/>
        </p:nvSpPr>
        <p:spPr>
          <a:xfrm>
            <a:off x="285750" y="3781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0" name="Oval 69"/>
          <p:cNvSpPr/>
          <p:nvPr/>
        </p:nvSpPr>
        <p:spPr>
          <a:xfrm>
            <a:off x="363014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4683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50196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19482" y="36004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4" name="TextBox 73"/>
          <p:cNvSpPr txBox="1"/>
          <p:nvPr/>
        </p:nvSpPr>
        <p:spPr>
          <a:xfrm>
            <a:off x="7299512" y="36004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 Industrial Machinery &amp; Equipment</a:t>
            </a:r>
          </a:p>
        </p:txBody>
      </p:sp>
      <p:sp>
        <p:nvSpPr>
          <p:cNvPr id="75" name="TextBox 74"/>
          <p:cNvSpPr txBox="1"/>
          <p:nvPr/>
        </p:nvSpPr>
        <p:spPr>
          <a:xfrm>
            <a:off x="8841441"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6" name="TextBox 75"/>
          <p:cNvSpPr txBox="1"/>
          <p:nvPr/>
        </p:nvSpPr>
        <p:spPr>
          <a:xfrm>
            <a:off x="10421471"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7" name="Connector 7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5750" y="3962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Fosber Group</a:t>
            </a:r>
          </a:p>
        </p:txBody>
      </p:sp>
      <p:sp>
        <p:nvSpPr>
          <p:cNvPr id="80" name="TextBox 79"/>
          <p:cNvSpPr txBox="1"/>
          <p:nvPr/>
        </p:nvSpPr>
        <p:spPr>
          <a:xfrm>
            <a:off x="285750" y="4124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1" name="Oval 80"/>
          <p:cNvSpPr/>
          <p:nvPr/>
        </p:nvSpPr>
        <p:spPr>
          <a:xfrm>
            <a:off x="363014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370522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946837"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719482"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5" name="TextBox 84"/>
          <p:cNvSpPr txBox="1"/>
          <p:nvPr/>
        </p:nvSpPr>
        <p:spPr>
          <a:xfrm>
            <a:off x="7299512"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Healthcare &amp; Pharmaceuticals, Industrial Machinery &amp; Equipment</a:t>
            </a:r>
          </a:p>
        </p:txBody>
      </p:sp>
      <p:sp>
        <p:nvSpPr>
          <p:cNvPr id="86" name="TextBox 85"/>
          <p:cNvSpPr txBox="1"/>
          <p:nvPr/>
        </p:nvSpPr>
        <p:spPr>
          <a:xfrm>
            <a:off x="8841441"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7" name="TextBox 86"/>
          <p:cNvSpPr txBox="1"/>
          <p:nvPr/>
        </p:nvSpPr>
        <p:spPr>
          <a:xfrm>
            <a:off x="10421471"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8" name="Connector 87"/>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85750" y="4305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Mitsubishi Heavy Industries Machinery Systems, Ltd.</a:t>
            </a:r>
          </a:p>
        </p:txBody>
      </p:sp>
      <p:sp>
        <p:nvSpPr>
          <p:cNvPr id="91" name="TextBox 90"/>
          <p:cNvSpPr txBox="1"/>
          <p:nvPr/>
        </p:nvSpPr>
        <p:spPr>
          <a:xfrm>
            <a:off x="285750" y="4467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2" name="Oval 91"/>
          <p:cNvSpPr/>
          <p:nvPr/>
        </p:nvSpPr>
        <p:spPr>
          <a:xfrm>
            <a:off x="363014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370522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94683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5019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719482" y="42862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97" name="TextBox 96"/>
          <p:cNvSpPr txBox="1"/>
          <p:nvPr/>
        </p:nvSpPr>
        <p:spPr>
          <a:xfrm>
            <a:off x="7299512" y="42862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 Healthcare &amp; Pharmaceuticals</a:t>
            </a:r>
          </a:p>
        </p:txBody>
      </p:sp>
      <p:sp>
        <p:nvSpPr>
          <p:cNvPr id="98" name="TextBox 97"/>
          <p:cNvSpPr txBox="1"/>
          <p:nvPr/>
        </p:nvSpPr>
        <p:spPr>
          <a:xfrm>
            <a:off x="8841441"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9" name="TextBox 98"/>
          <p:cNvSpPr txBox="1"/>
          <p:nvPr/>
        </p:nvSpPr>
        <p:spPr>
          <a:xfrm>
            <a:off x="10421471"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0" name="Connector 99"/>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5750" y="4648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EMBA Machinery AB</a:t>
            </a:r>
          </a:p>
        </p:txBody>
      </p:sp>
      <p:sp>
        <p:nvSpPr>
          <p:cNvPr id="103" name="TextBox 102"/>
          <p:cNvSpPr txBox="1"/>
          <p:nvPr/>
        </p:nvSpPr>
        <p:spPr>
          <a:xfrm>
            <a:off x="285750" y="4810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4" name="Oval 103"/>
          <p:cNvSpPr/>
          <p:nvPr/>
        </p:nvSpPr>
        <p:spPr>
          <a:xfrm>
            <a:off x="363014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370522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946837"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719482"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8" name="TextBox 107"/>
          <p:cNvSpPr txBox="1"/>
          <p:nvPr/>
        </p:nvSpPr>
        <p:spPr>
          <a:xfrm>
            <a:off x="7299512"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 Industrial Machinery &amp; Equipment</a:t>
            </a:r>
          </a:p>
        </p:txBody>
      </p:sp>
      <p:sp>
        <p:nvSpPr>
          <p:cNvPr id="109" name="TextBox 108"/>
          <p:cNvSpPr txBox="1"/>
          <p:nvPr/>
        </p:nvSpPr>
        <p:spPr>
          <a:xfrm>
            <a:off x="8841441"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421471"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991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Koenig &amp; Bauer Celmacch</a:t>
            </a:r>
          </a:p>
        </p:txBody>
      </p:sp>
      <p:sp>
        <p:nvSpPr>
          <p:cNvPr id="114" name="TextBox 113"/>
          <p:cNvSpPr txBox="1"/>
          <p:nvPr/>
        </p:nvSpPr>
        <p:spPr>
          <a:xfrm>
            <a:off x="285750" y="5153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Oval 114"/>
          <p:cNvSpPr/>
          <p:nvPr/>
        </p:nvSpPr>
        <p:spPr>
          <a:xfrm>
            <a:off x="363014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94683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5019675" y="5067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719482" y="49720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9" name="TextBox 118"/>
          <p:cNvSpPr txBox="1"/>
          <p:nvPr/>
        </p:nvSpPr>
        <p:spPr>
          <a:xfrm>
            <a:off x="7299512" y="49720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Healthcare &amp; Pharmaceuticals, Industrial Machinery &amp; Equipment</a:t>
            </a:r>
          </a:p>
        </p:txBody>
      </p:sp>
      <p:sp>
        <p:nvSpPr>
          <p:cNvPr id="120" name="TextBox 119"/>
          <p:cNvSpPr txBox="1"/>
          <p:nvPr/>
        </p:nvSpPr>
        <p:spPr>
          <a:xfrm>
            <a:off x="8841441"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1" name="TextBox 120"/>
          <p:cNvSpPr txBox="1"/>
          <p:nvPr/>
        </p:nvSpPr>
        <p:spPr>
          <a:xfrm>
            <a:off x="10421471"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2" name="Connector 121"/>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750" y="5334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Göpfert Maschinen GmbH</a:t>
            </a:r>
          </a:p>
        </p:txBody>
      </p:sp>
      <p:sp>
        <p:nvSpPr>
          <p:cNvPr id="125" name="TextBox 124"/>
          <p:cNvSpPr txBox="1"/>
          <p:nvPr/>
        </p:nvSpPr>
        <p:spPr>
          <a:xfrm>
            <a:off x="285750" y="5495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6" name="Oval 125"/>
          <p:cNvSpPr/>
          <p:nvPr/>
        </p:nvSpPr>
        <p:spPr>
          <a:xfrm>
            <a:off x="363014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370522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946837"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719482"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0" name="TextBox 129"/>
          <p:cNvSpPr txBox="1"/>
          <p:nvPr/>
        </p:nvSpPr>
        <p:spPr>
          <a:xfrm>
            <a:off x="7299512"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Consumer Goods &amp; Home Products, Healthcare &amp; Pharmaceuticals</a:t>
            </a:r>
          </a:p>
        </p:txBody>
      </p:sp>
      <p:sp>
        <p:nvSpPr>
          <p:cNvPr id="131" name="TextBox 130"/>
          <p:cNvSpPr txBox="1"/>
          <p:nvPr/>
        </p:nvSpPr>
        <p:spPr>
          <a:xfrm>
            <a:off x="8841441"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10421471"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3" name="Connector 132"/>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4" name="Oval 133"/>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6" name="Oval 135"/>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9" name="Oval 138"/>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2" name="Oval 141"/>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4" name="TextBox 143"/>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5" name="TextBox 144"/>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6" name="Rectangle 14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8" name="Picture 147" descr="lock.png"/>
          <p:cNvPicPr>
            <a:picLocks noChangeAspect="1"/>
          </p:cNvPicPr>
          <p:nvPr/>
        </p:nvPicPr>
        <p:blipFill>
          <a:blip r:embed="rId4"/>
          <a:stretch>
            <a:fillRect/>
          </a:stretch>
        </p:blipFill>
        <p:spPr>
          <a:xfrm>
            <a:off x="9567106" y="2306701"/>
            <a:ext cx="128699" cy="187198"/>
          </a:xfrm>
          <a:prstGeom prst="rect">
            <a:avLst/>
          </a:prstGeom>
        </p:spPr>
      </p:pic>
      <p:pic>
        <p:nvPicPr>
          <p:cNvPr id="149" name="Picture 148" descr="lock.png"/>
          <p:cNvPicPr>
            <a:picLocks noChangeAspect="1"/>
          </p:cNvPicPr>
          <p:nvPr/>
        </p:nvPicPr>
        <p:blipFill>
          <a:blip r:embed="rId4"/>
          <a:stretch>
            <a:fillRect/>
          </a:stretch>
        </p:blipFill>
        <p:spPr>
          <a:xfrm>
            <a:off x="11147136" y="2306701"/>
            <a:ext cx="128699" cy="187198"/>
          </a:xfrm>
          <a:prstGeom prst="rect">
            <a:avLst/>
          </a:prstGeom>
        </p:spPr>
      </p:pic>
      <p:pic>
        <p:nvPicPr>
          <p:cNvPr id="150" name="Picture 149" descr="lock.png"/>
          <p:cNvPicPr>
            <a:picLocks noChangeAspect="1"/>
          </p:cNvPicPr>
          <p:nvPr/>
        </p:nvPicPr>
        <p:blipFill>
          <a:blip r:embed="rId4"/>
          <a:stretch>
            <a:fillRect/>
          </a:stretch>
        </p:blipFill>
        <p:spPr>
          <a:xfrm>
            <a:off x="9567106" y="26496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147136"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567106"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147136" y="29925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567106" y="33354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147136" y="3335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67106"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147136" y="36783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67106"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147136" y="40212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567106"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147136"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567106"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147136"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567106"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147136"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67106" y="53928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147136" y="5392801"/>
            <a:ext cx="128699" cy="187198"/>
          </a:xfrm>
          <a:prstGeom prst="rect">
            <a:avLst/>
          </a:prstGeom>
        </p:spPr>
      </p:pic>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Execution Scorecard: How They Win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9" name="TextBox 8"/>
          <p:cNvSpPr txBox="1"/>
          <p:nvPr/>
        </p:nvSpPr>
        <p:spPr>
          <a:xfrm>
            <a:off x="3086100"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0" name="TextBox 9"/>
          <p:cNvSpPr txBox="1"/>
          <p:nvPr/>
        </p:nvSpPr>
        <p:spPr>
          <a:xfrm>
            <a:off x="3086100"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1" name="TextBox 10"/>
          <p:cNvSpPr txBox="1"/>
          <p:nvPr/>
        </p:nvSpPr>
        <p:spPr>
          <a:xfrm>
            <a:off x="4666129"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2" name="TextBox 11"/>
          <p:cNvSpPr txBox="1"/>
          <p:nvPr/>
        </p:nvSpPr>
        <p:spPr>
          <a:xfrm>
            <a:off x="4666129"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3" name="TextBox 12"/>
          <p:cNvSpPr txBox="1"/>
          <p:nvPr/>
        </p:nvSpPr>
        <p:spPr>
          <a:xfrm>
            <a:off x="6246159"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4" name="TextBox 13"/>
          <p:cNvSpPr txBox="1"/>
          <p:nvPr/>
        </p:nvSpPr>
        <p:spPr>
          <a:xfrm>
            <a:off x="6246159"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5" name="TextBox 14"/>
          <p:cNvSpPr txBox="1"/>
          <p:nvPr/>
        </p:nvSpPr>
        <p:spPr>
          <a:xfrm>
            <a:off x="7562850"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6" name="TextBox 15"/>
          <p:cNvSpPr txBox="1"/>
          <p:nvPr/>
        </p:nvSpPr>
        <p:spPr>
          <a:xfrm>
            <a:off x="7562850"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17" name="TextBox 16"/>
          <p:cNvSpPr txBox="1"/>
          <p:nvPr/>
        </p:nvSpPr>
        <p:spPr>
          <a:xfrm>
            <a:off x="9142879" y="1295400"/>
            <a:ext cx="1503829"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18" name="TextBox 17"/>
          <p:cNvSpPr txBox="1"/>
          <p:nvPr/>
        </p:nvSpPr>
        <p:spPr>
          <a:xfrm>
            <a:off x="9142879" y="1657350"/>
            <a:ext cx="1503829"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19" name="TextBox 18"/>
          <p:cNvSpPr txBox="1"/>
          <p:nvPr/>
        </p:nvSpPr>
        <p:spPr>
          <a:xfrm>
            <a:off x="10722909" y="1295400"/>
            <a:ext cx="1240491"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0" name="TextBox 19"/>
          <p:cNvSpPr txBox="1"/>
          <p:nvPr/>
        </p:nvSpPr>
        <p:spPr>
          <a:xfrm>
            <a:off x="10722909" y="1657350"/>
            <a:ext cx="1240491"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Sealed Air Corporation</a:t>
            </a:r>
          </a:p>
        </p:txBody>
      </p:sp>
      <p:sp>
        <p:nvSpPr>
          <p:cNvPr id="24" name="TextBox 23"/>
          <p:cNvSpPr txBox="1"/>
          <p:nvPr/>
        </p:nvSpPr>
        <p:spPr>
          <a:xfrm>
            <a:off x="285750" y="24098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TextBox 24"/>
          <p:cNvSpPr txBox="1"/>
          <p:nvPr/>
        </p:nvSpPr>
        <p:spPr>
          <a:xfrm>
            <a:off x="3086100" y="22288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6" name="TextBox 25"/>
          <p:cNvSpPr txBox="1"/>
          <p:nvPr/>
        </p:nvSpPr>
        <p:spPr>
          <a:xfrm>
            <a:off x="4628029"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7" name="Oval 26"/>
          <p:cNvSpPr/>
          <p:nvPr/>
        </p:nvSpPr>
        <p:spPr>
          <a:xfrm>
            <a:off x="679020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24750"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9" name="TextBox 28"/>
          <p:cNvSpPr txBox="1"/>
          <p:nvPr/>
        </p:nvSpPr>
        <p:spPr>
          <a:xfrm>
            <a:off x="9104779" y="22288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1126695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5750" y="25908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Company</a:t>
            </a:r>
          </a:p>
        </p:txBody>
      </p:sp>
      <p:sp>
        <p:nvSpPr>
          <p:cNvPr id="34" name="TextBox 33"/>
          <p:cNvSpPr txBox="1"/>
          <p:nvPr/>
        </p:nvSpPr>
        <p:spPr>
          <a:xfrm>
            <a:off x="285750" y="27527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5" name="TextBox 34"/>
          <p:cNvSpPr txBox="1"/>
          <p:nvPr/>
        </p:nvSpPr>
        <p:spPr>
          <a:xfrm>
            <a:off x="3086100"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6" name="TextBox 35"/>
          <p:cNvSpPr txBox="1"/>
          <p:nvPr/>
        </p:nvSpPr>
        <p:spPr>
          <a:xfrm>
            <a:off x="4628029"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7" name="Oval 36"/>
          <p:cNvSpPr/>
          <p:nvPr/>
        </p:nvSpPr>
        <p:spPr>
          <a:xfrm>
            <a:off x="679020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62850" y="25717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39" name="TextBox 38"/>
          <p:cNvSpPr txBox="1"/>
          <p:nvPr/>
        </p:nvSpPr>
        <p:spPr>
          <a:xfrm>
            <a:off x="9104779" y="25717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1126695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5750" y="29337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BOBST Group SA</a:t>
            </a:r>
          </a:p>
        </p:txBody>
      </p:sp>
      <p:sp>
        <p:nvSpPr>
          <p:cNvPr id="44" name="TextBox 43"/>
          <p:cNvSpPr txBox="1"/>
          <p:nvPr/>
        </p:nvSpPr>
        <p:spPr>
          <a:xfrm>
            <a:off x="285750" y="30956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5" name="TextBox 44"/>
          <p:cNvSpPr txBox="1"/>
          <p:nvPr/>
        </p:nvSpPr>
        <p:spPr>
          <a:xfrm>
            <a:off x="3086100" y="29146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6" name="TextBox 45"/>
          <p:cNvSpPr txBox="1"/>
          <p:nvPr/>
        </p:nvSpPr>
        <p:spPr>
          <a:xfrm>
            <a:off x="4628029"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7" name="Oval 46"/>
          <p:cNvSpPr/>
          <p:nvPr/>
        </p:nvSpPr>
        <p:spPr>
          <a:xfrm>
            <a:off x="679020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24750"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9" name="TextBox 48"/>
          <p:cNvSpPr txBox="1"/>
          <p:nvPr/>
        </p:nvSpPr>
        <p:spPr>
          <a:xfrm>
            <a:off x="9104779" y="29146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11266954"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5750" y="32766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BHS Corrugated Maschinen- und Anlagenbau GmbH</a:t>
            </a:r>
          </a:p>
        </p:txBody>
      </p:sp>
      <p:sp>
        <p:nvSpPr>
          <p:cNvPr id="54" name="TextBox 53"/>
          <p:cNvSpPr txBox="1"/>
          <p:nvPr/>
        </p:nvSpPr>
        <p:spPr>
          <a:xfrm>
            <a:off x="285750" y="34385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5" name="TextBox 54"/>
          <p:cNvSpPr txBox="1"/>
          <p:nvPr/>
        </p:nvSpPr>
        <p:spPr>
          <a:xfrm>
            <a:off x="3086100"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6" name="TextBox 55"/>
          <p:cNvSpPr txBox="1"/>
          <p:nvPr/>
        </p:nvSpPr>
        <p:spPr>
          <a:xfrm>
            <a:off x="4628029"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Oval 56"/>
          <p:cNvSpPr/>
          <p:nvPr/>
        </p:nvSpPr>
        <p:spPr>
          <a:xfrm>
            <a:off x="679020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62850" y="32575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59" name="TextBox 58"/>
          <p:cNvSpPr txBox="1"/>
          <p:nvPr/>
        </p:nvSpPr>
        <p:spPr>
          <a:xfrm>
            <a:off x="9104779" y="32575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11266954"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5750" y="36195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BW Papersystems</a:t>
            </a:r>
          </a:p>
        </p:txBody>
      </p:sp>
      <p:sp>
        <p:nvSpPr>
          <p:cNvPr id="64" name="TextBox 63"/>
          <p:cNvSpPr txBox="1"/>
          <p:nvPr/>
        </p:nvSpPr>
        <p:spPr>
          <a:xfrm>
            <a:off x="285750" y="37814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5" name="TextBox 64"/>
          <p:cNvSpPr txBox="1"/>
          <p:nvPr/>
        </p:nvSpPr>
        <p:spPr>
          <a:xfrm>
            <a:off x="3086100" y="36004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6" name="TextBox 65"/>
          <p:cNvSpPr txBox="1"/>
          <p:nvPr/>
        </p:nvSpPr>
        <p:spPr>
          <a:xfrm>
            <a:off x="4628029"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Oval 66"/>
          <p:cNvSpPr/>
          <p:nvPr/>
        </p:nvSpPr>
        <p:spPr>
          <a:xfrm>
            <a:off x="6790204"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524750"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9" name="TextBox 68"/>
          <p:cNvSpPr txBox="1"/>
          <p:nvPr/>
        </p:nvSpPr>
        <p:spPr>
          <a:xfrm>
            <a:off x="9104779" y="36004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1126695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113442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5750" y="39624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Fosber Group</a:t>
            </a:r>
          </a:p>
        </p:txBody>
      </p:sp>
      <p:sp>
        <p:nvSpPr>
          <p:cNvPr id="75" name="TextBox 74"/>
          <p:cNvSpPr txBox="1"/>
          <p:nvPr/>
        </p:nvSpPr>
        <p:spPr>
          <a:xfrm>
            <a:off x="285750" y="41243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6" name="TextBox 75"/>
          <p:cNvSpPr txBox="1"/>
          <p:nvPr/>
        </p:nvSpPr>
        <p:spPr>
          <a:xfrm>
            <a:off x="3086100"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77" name="TextBox 76"/>
          <p:cNvSpPr txBox="1"/>
          <p:nvPr/>
        </p:nvSpPr>
        <p:spPr>
          <a:xfrm>
            <a:off x="4628029"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Oval 77"/>
          <p:cNvSpPr/>
          <p:nvPr/>
        </p:nvSpPr>
        <p:spPr>
          <a:xfrm>
            <a:off x="6790204"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562850" y="39433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0" name="TextBox 79"/>
          <p:cNvSpPr txBox="1"/>
          <p:nvPr/>
        </p:nvSpPr>
        <p:spPr>
          <a:xfrm>
            <a:off x="9104779" y="39433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1126695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13442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43053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Mitsubishi Heavy Industries Machinery Systems, Ltd.</a:t>
            </a:r>
          </a:p>
        </p:txBody>
      </p:sp>
      <p:sp>
        <p:nvSpPr>
          <p:cNvPr id="86" name="TextBox 85"/>
          <p:cNvSpPr txBox="1"/>
          <p:nvPr/>
        </p:nvSpPr>
        <p:spPr>
          <a:xfrm>
            <a:off x="285750" y="44672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87" name="TextBox 86"/>
          <p:cNvSpPr txBox="1"/>
          <p:nvPr/>
        </p:nvSpPr>
        <p:spPr>
          <a:xfrm>
            <a:off x="3086100" y="42862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88" name="TextBox 87"/>
          <p:cNvSpPr txBox="1"/>
          <p:nvPr/>
        </p:nvSpPr>
        <p:spPr>
          <a:xfrm>
            <a:off x="4628029"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9" name="Oval 88"/>
          <p:cNvSpPr/>
          <p:nvPr/>
        </p:nvSpPr>
        <p:spPr>
          <a:xfrm>
            <a:off x="6790204"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524750"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1" name="TextBox 90"/>
          <p:cNvSpPr txBox="1"/>
          <p:nvPr/>
        </p:nvSpPr>
        <p:spPr>
          <a:xfrm>
            <a:off x="9104779" y="42862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1126695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113442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5750" y="46482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EMBA Machinery AB</a:t>
            </a:r>
          </a:p>
        </p:txBody>
      </p:sp>
      <p:sp>
        <p:nvSpPr>
          <p:cNvPr id="97" name="TextBox 96"/>
          <p:cNvSpPr txBox="1"/>
          <p:nvPr/>
        </p:nvSpPr>
        <p:spPr>
          <a:xfrm>
            <a:off x="285750" y="48101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8" name="TextBox 97"/>
          <p:cNvSpPr txBox="1"/>
          <p:nvPr/>
        </p:nvSpPr>
        <p:spPr>
          <a:xfrm>
            <a:off x="3086100"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9" name="TextBox 98"/>
          <p:cNvSpPr txBox="1"/>
          <p:nvPr/>
        </p:nvSpPr>
        <p:spPr>
          <a:xfrm>
            <a:off x="4628029"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Oval 99"/>
          <p:cNvSpPr/>
          <p:nvPr/>
        </p:nvSpPr>
        <p:spPr>
          <a:xfrm>
            <a:off x="6790204"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562850" y="46291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2" name="TextBox 101"/>
          <p:cNvSpPr txBox="1"/>
          <p:nvPr/>
        </p:nvSpPr>
        <p:spPr>
          <a:xfrm>
            <a:off x="9104779" y="46291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1126695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113442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85750" y="49911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Koenig &amp; Bauer Celmacch</a:t>
            </a:r>
          </a:p>
        </p:txBody>
      </p:sp>
      <p:sp>
        <p:nvSpPr>
          <p:cNvPr id="108" name="TextBox 107"/>
          <p:cNvSpPr txBox="1"/>
          <p:nvPr/>
        </p:nvSpPr>
        <p:spPr>
          <a:xfrm>
            <a:off x="285750" y="51530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9" name="TextBox 108"/>
          <p:cNvSpPr txBox="1"/>
          <p:nvPr/>
        </p:nvSpPr>
        <p:spPr>
          <a:xfrm>
            <a:off x="3086100" y="49720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0" name="TextBox 109"/>
          <p:cNvSpPr txBox="1"/>
          <p:nvPr/>
        </p:nvSpPr>
        <p:spPr>
          <a:xfrm>
            <a:off x="4628029"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1" name="Oval 110"/>
          <p:cNvSpPr/>
          <p:nvPr/>
        </p:nvSpPr>
        <p:spPr>
          <a:xfrm>
            <a:off x="6790204"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524750"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9104779" y="49720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1126695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134427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85750" y="5334000"/>
            <a:ext cx="2743200" cy="171450"/>
          </a:xfrm>
          <a:prstGeom prst="rect">
            <a:avLst/>
          </a:prstGeom>
          <a:noFill/>
        </p:spPr>
        <p:txBody>
          <a:bodyPr wrap="square" lIns="28575" rIns="28575" tIns="9525" bIns="9525" anchor="t">
            <a:spAutoFit/>
          </a:bodyPr>
          <a:lstStyle/>
          <a:p>
            <a:pPr algn="l"/>
            <a:r>
              <a:rPr sz="1100" b="1">
                <a:solidFill>
                  <a:srgbClr val="1F2933"/>
                </a:solidFill>
                <a:latin typeface="Calibri"/>
              </a:rPr>
              <a:t>Göpfert Maschinen GmbH</a:t>
            </a:r>
          </a:p>
        </p:txBody>
      </p:sp>
      <p:sp>
        <p:nvSpPr>
          <p:cNvPr id="119" name="TextBox 118"/>
          <p:cNvSpPr txBox="1"/>
          <p:nvPr/>
        </p:nvSpPr>
        <p:spPr>
          <a:xfrm>
            <a:off x="285750" y="5495925"/>
            <a:ext cx="2743200"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0" name="TextBox 119"/>
          <p:cNvSpPr txBox="1"/>
          <p:nvPr/>
        </p:nvSpPr>
        <p:spPr>
          <a:xfrm>
            <a:off x="3086100"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1" name="TextBox 120"/>
          <p:cNvSpPr txBox="1"/>
          <p:nvPr/>
        </p:nvSpPr>
        <p:spPr>
          <a:xfrm>
            <a:off x="4628029"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2" name="Oval 121"/>
          <p:cNvSpPr/>
          <p:nvPr/>
        </p:nvSpPr>
        <p:spPr>
          <a:xfrm>
            <a:off x="6790204"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562850" y="5314950"/>
            <a:ext cx="1503829"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4" name="TextBox 123"/>
          <p:cNvSpPr txBox="1"/>
          <p:nvPr/>
        </p:nvSpPr>
        <p:spPr>
          <a:xfrm>
            <a:off x="9104779" y="5314950"/>
            <a:ext cx="1580029"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1126695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113442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0" name="Oval 129"/>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3" name="Oval 132"/>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6" name="Oval 135"/>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38" name="TextBox 137"/>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39" name="TextBox 138"/>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0" name="Rectangle 1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2" name="Picture 141" descr="lock.png"/>
          <p:cNvPicPr>
            <a:picLocks noChangeAspect="1"/>
          </p:cNvPicPr>
          <p:nvPr/>
        </p:nvPicPr>
        <p:blipFill>
          <a:blip r:embed="rId4"/>
          <a:stretch>
            <a:fillRect/>
          </a:stretch>
        </p:blipFill>
        <p:spPr>
          <a:xfrm>
            <a:off x="5353694" y="2306701"/>
            <a:ext cx="128699" cy="187198"/>
          </a:xfrm>
          <a:prstGeom prst="rect">
            <a:avLst/>
          </a:prstGeom>
        </p:spPr>
      </p:pic>
      <p:pic>
        <p:nvPicPr>
          <p:cNvPr id="143" name="Picture 142" descr="lock.png"/>
          <p:cNvPicPr>
            <a:picLocks noChangeAspect="1"/>
          </p:cNvPicPr>
          <p:nvPr/>
        </p:nvPicPr>
        <p:blipFill>
          <a:blip r:embed="rId4"/>
          <a:stretch>
            <a:fillRect/>
          </a:stretch>
        </p:blipFill>
        <p:spPr>
          <a:xfrm>
            <a:off x="8250415" y="2306701"/>
            <a:ext cx="128699" cy="187198"/>
          </a:xfrm>
          <a:prstGeom prst="rect">
            <a:avLst/>
          </a:prstGeom>
        </p:spPr>
      </p:pic>
      <p:pic>
        <p:nvPicPr>
          <p:cNvPr id="144" name="Picture 143" descr="lock.png"/>
          <p:cNvPicPr>
            <a:picLocks noChangeAspect="1"/>
          </p:cNvPicPr>
          <p:nvPr/>
        </p:nvPicPr>
        <p:blipFill>
          <a:blip r:embed="rId4"/>
          <a:stretch>
            <a:fillRect/>
          </a:stretch>
        </p:blipFill>
        <p:spPr>
          <a:xfrm>
            <a:off x="9830444"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5353694" y="26496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830444" y="2649601"/>
            <a:ext cx="128699" cy="187198"/>
          </a:xfrm>
          <a:prstGeom prst="rect">
            <a:avLst/>
          </a:prstGeom>
        </p:spPr>
      </p:pic>
      <p:pic>
        <p:nvPicPr>
          <p:cNvPr id="147" name="Picture 146" descr="lock.png"/>
          <p:cNvPicPr>
            <a:picLocks noChangeAspect="1"/>
          </p:cNvPicPr>
          <p:nvPr/>
        </p:nvPicPr>
        <p:blipFill>
          <a:blip r:embed="rId4"/>
          <a:stretch>
            <a:fillRect/>
          </a:stretch>
        </p:blipFill>
        <p:spPr>
          <a:xfrm>
            <a:off x="5353694" y="2992501"/>
            <a:ext cx="128699" cy="187198"/>
          </a:xfrm>
          <a:prstGeom prst="rect">
            <a:avLst/>
          </a:prstGeom>
        </p:spPr>
      </p:pic>
      <p:pic>
        <p:nvPicPr>
          <p:cNvPr id="148" name="Picture 147" descr="lock.png"/>
          <p:cNvPicPr>
            <a:picLocks noChangeAspect="1"/>
          </p:cNvPicPr>
          <p:nvPr/>
        </p:nvPicPr>
        <p:blipFill>
          <a:blip r:embed="rId4"/>
          <a:stretch>
            <a:fillRect/>
          </a:stretch>
        </p:blipFill>
        <p:spPr>
          <a:xfrm>
            <a:off x="8250415" y="2992501"/>
            <a:ext cx="128699" cy="187198"/>
          </a:xfrm>
          <a:prstGeom prst="rect">
            <a:avLst/>
          </a:prstGeom>
        </p:spPr>
      </p:pic>
      <p:pic>
        <p:nvPicPr>
          <p:cNvPr id="149" name="Picture 148" descr="lock.png"/>
          <p:cNvPicPr>
            <a:picLocks noChangeAspect="1"/>
          </p:cNvPicPr>
          <p:nvPr/>
        </p:nvPicPr>
        <p:blipFill>
          <a:blip r:embed="rId4"/>
          <a:stretch>
            <a:fillRect/>
          </a:stretch>
        </p:blipFill>
        <p:spPr>
          <a:xfrm>
            <a:off x="9830444"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5353694" y="33354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830444" y="3335401"/>
            <a:ext cx="128699" cy="187198"/>
          </a:xfrm>
          <a:prstGeom prst="rect">
            <a:avLst/>
          </a:prstGeom>
        </p:spPr>
      </p:pic>
      <p:pic>
        <p:nvPicPr>
          <p:cNvPr id="152" name="Picture 151" descr="lock.png"/>
          <p:cNvPicPr>
            <a:picLocks noChangeAspect="1"/>
          </p:cNvPicPr>
          <p:nvPr/>
        </p:nvPicPr>
        <p:blipFill>
          <a:blip r:embed="rId4"/>
          <a:stretch>
            <a:fillRect/>
          </a:stretch>
        </p:blipFill>
        <p:spPr>
          <a:xfrm>
            <a:off x="5353694" y="3678301"/>
            <a:ext cx="128699" cy="187198"/>
          </a:xfrm>
          <a:prstGeom prst="rect">
            <a:avLst/>
          </a:prstGeom>
        </p:spPr>
      </p:pic>
      <p:pic>
        <p:nvPicPr>
          <p:cNvPr id="153" name="Picture 152" descr="lock.png"/>
          <p:cNvPicPr>
            <a:picLocks noChangeAspect="1"/>
          </p:cNvPicPr>
          <p:nvPr/>
        </p:nvPicPr>
        <p:blipFill>
          <a:blip r:embed="rId4"/>
          <a:stretch>
            <a:fillRect/>
          </a:stretch>
        </p:blipFill>
        <p:spPr>
          <a:xfrm>
            <a:off x="8250415" y="36783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830444"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5353694"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830444" y="4021201"/>
            <a:ext cx="128699" cy="187198"/>
          </a:xfrm>
          <a:prstGeom prst="rect">
            <a:avLst/>
          </a:prstGeom>
        </p:spPr>
      </p:pic>
      <p:pic>
        <p:nvPicPr>
          <p:cNvPr id="157" name="Picture 156" descr="lock.png"/>
          <p:cNvPicPr>
            <a:picLocks noChangeAspect="1"/>
          </p:cNvPicPr>
          <p:nvPr/>
        </p:nvPicPr>
        <p:blipFill>
          <a:blip r:embed="rId4"/>
          <a:stretch>
            <a:fillRect/>
          </a:stretch>
        </p:blipFill>
        <p:spPr>
          <a:xfrm>
            <a:off x="5353694" y="4364101"/>
            <a:ext cx="128699" cy="187198"/>
          </a:xfrm>
          <a:prstGeom prst="rect">
            <a:avLst/>
          </a:prstGeom>
        </p:spPr>
      </p:pic>
      <p:pic>
        <p:nvPicPr>
          <p:cNvPr id="158" name="Picture 157" descr="lock.png"/>
          <p:cNvPicPr>
            <a:picLocks noChangeAspect="1"/>
          </p:cNvPicPr>
          <p:nvPr/>
        </p:nvPicPr>
        <p:blipFill>
          <a:blip r:embed="rId4"/>
          <a:stretch>
            <a:fillRect/>
          </a:stretch>
        </p:blipFill>
        <p:spPr>
          <a:xfrm>
            <a:off x="8250415" y="43641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830444"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5353694" y="47070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830444" y="4707001"/>
            <a:ext cx="128699" cy="187198"/>
          </a:xfrm>
          <a:prstGeom prst="rect">
            <a:avLst/>
          </a:prstGeom>
        </p:spPr>
      </p:pic>
      <p:pic>
        <p:nvPicPr>
          <p:cNvPr id="162" name="Picture 161" descr="lock.png"/>
          <p:cNvPicPr>
            <a:picLocks noChangeAspect="1"/>
          </p:cNvPicPr>
          <p:nvPr/>
        </p:nvPicPr>
        <p:blipFill>
          <a:blip r:embed="rId4"/>
          <a:stretch>
            <a:fillRect/>
          </a:stretch>
        </p:blipFill>
        <p:spPr>
          <a:xfrm>
            <a:off x="5353694" y="5049901"/>
            <a:ext cx="128699" cy="187198"/>
          </a:xfrm>
          <a:prstGeom prst="rect">
            <a:avLst/>
          </a:prstGeom>
        </p:spPr>
      </p:pic>
      <p:pic>
        <p:nvPicPr>
          <p:cNvPr id="163" name="Picture 162" descr="lock.png"/>
          <p:cNvPicPr>
            <a:picLocks noChangeAspect="1"/>
          </p:cNvPicPr>
          <p:nvPr/>
        </p:nvPicPr>
        <p:blipFill>
          <a:blip r:embed="rId4"/>
          <a:stretch>
            <a:fillRect/>
          </a:stretch>
        </p:blipFill>
        <p:spPr>
          <a:xfrm>
            <a:off x="8250415" y="50499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830444"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5353694" y="53928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830444" y="5392801"/>
            <a:ext cx="128699" cy="187198"/>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Success Factors and Composite Ranking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7" name="TextBox 6"/>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8" name="TextBox 7"/>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9" name="TextBox 8"/>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0" name="TextBox 9"/>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1" name="TextBox 10"/>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3" name="TextBox 12"/>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4" name="TextBox 13"/>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6" name="TextBox 15"/>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17" name="TextBox 16"/>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19" name="TextBox 18"/>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0" name="TextBox 19"/>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2" name="TextBox 21"/>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3" name="TextBox 22"/>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4" name="Connector 23"/>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Company</a:t>
            </a:r>
          </a:p>
        </p:txBody>
      </p:sp>
      <p:sp>
        <p:nvSpPr>
          <p:cNvPr id="27" name="Oval 26"/>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4" name="Connector 33"/>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Sealed Air Corporation</a:t>
            </a:r>
          </a:p>
        </p:txBody>
      </p:sp>
      <p:sp>
        <p:nvSpPr>
          <p:cNvPr id="37" name="Oval 36"/>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5" name="Connector 44"/>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BOBST Group SA</a:t>
            </a:r>
          </a:p>
        </p:txBody>
      </p:sp>
      <p:sp>
        <p:nvSpPr>
          <p:cNvPr id="48" name="Oval 47"/>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6" name="Connector 55"/>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BHS Corrugated Maschinen- und Anlagenbau GmbH</a:t>
            </a:r>
          </a:p>
        </p:txBody>
      </p:sp>
      <p:sp>
        <p:nvSpPr>
          <p:cNvPr id="59" name="Oval 58"/>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7" name="Connector 66"/>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Fosber Group</a:t>
            </a:r>
          </a:p>
        </p:txBody>
      </p:sp>
      <p:sp>
        <p:nvSpPr>
          <p:cNvPr id="70" name="Oval 69"/>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0" name="Connector 79"/>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BW Papersystems</a:t>
            </a:r>
          </a:p>
        </p:txBody>
      </p:sp>
      <p:sp>
        <p:nvSpPr>
          <p:cNvPr id="83" name="Oval 82"/>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4" name="Connector 93"/>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EMBA Machinery AB</a:t>
            </a:r>
          </a:p>
        </p:txBody>
      </p:sp>
      <p:sp>
        <p:nvSpPr>
          <p:cNvPr id="97" name="Oval 96"/>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7" name="Connector 10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Göpfert Maschinen GmbH</a:t>
            </a:r>
          </a:p>
        </p:txBody>
      </p:sp>
      <p:sp>
        <p:nvSpPr>
          <p:cNvPr id="110" name="Oval 109"/>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0" name="Connector 119"/>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Mitsubishi Heavy Industries Machinery Systems, Ltd.</a:t>
            </a:r>
          </a:p>
        </p:txBody>
      </p:sp>
      <p:sp>
        <p:nvSpPr>
          <p:cNvPr id="123" name="Oval 122"/>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4" name="Connector 133"/>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5" name="Rectangle 134"/>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Koenig &amp; Bauer Celmacch</a:t>
            </a:r>
          </a:p>
        </p:txBody>
      </p:sp>
      <p:sp>
        <p:nvSpPr>
          <p:cNvPr id="137" name="Oval 136"/>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48" name="Connector 147"/>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9" name="Oval 148"/>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1" name="Oval 150"/>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4" name="Oval 153"/>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57" name="Oval 156"/>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59" name="TextBox 158"/>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0" name="Rectangle 159"/>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2" name="TextBox 161"/>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Company, Sealed Air Corporation, BOBST Group SA, BHS Corrugated Maschinen- und Anlagenbau GmbH</a:t>
            </a:r>
          </a:p>
        </p:txBody>
      </p:sp>
      <p:sp>
        <p:nvSpPr>
          <p:cNvPr id="163" name="TextBox 162"/>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4" name="Rectangle 163"/>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6" name="TextBox 165"/>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Fosber Group, BW Papersystems</a:t>
            </a:r>
          </a:p>
        </p:txBody>
      </p:sp>
      <p:sp>
        <p:nvSpPr>
          <p:cNvPr id="167" name="TextBox 166"/>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68" name="Rectangle 167"/>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0" name="TextBox 169"/>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EMBA Machinery AB, Göpfert Maschinen GmbH, Mitsubishi Heavy Industries Machinery Systems, Ltd., Koenig &amp; Bauer Celmacch</a:t>
            </a:r>
          </a:p>
        </p:txBody>
      </p:sp>
      <p:sp>
        <p:nvSpPr>
          <p:cNvPr id="171" name="TextBox 170"/>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2" name="Rectangle 17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4" name="Picture 173" descr="lock.png"/>
          <p:cNvPicPr>
            <a:picLocks noChangeAspect="1"/>
          </p:cNvPicPr>
          <p:nvPr/>
        </p:nvPicPr>
        <p:blipFill>
          <a:blip r:embed="rId4"/>
          <a:stretch>
            <a:fillRect/>
          </a:stretch>
        </p:blipFill>
        <p:spPr>
          <a:xfrm>
            <a:off x="11746650" y="1868551"/>
            <a:ext cx="128699" cy="187198"/>
          </a:xfrm>
          <a:prstGeom prst="rect">
            <a:avLst/>
          </a:prstGeom>
        </p:spPr>
      </p:pic>
      <p:pic>
        <p:nvPicPr>
          <p:cNvPr id="175" name="Picture 174" descr="lock.png"/>
          <p:cNvPicPr>
            <a:picLocks noChangeAspect="1"/>
          </p:cNvPicPr>
          <p:nvPr/>
        </p:nvPicPr>
        <p:blipFill>
          <a:blip r:embed="rId4"/>
          <a:stretch>
            <a:fillRect/>
          </a:stretch>
        </p:blipFill>
        <p:spPr>
          <a:xfrm>
            <a:off x="11689500" y="2173351"/>
            <a:ext cx="128699" cy="187198"/>
          </a:xfrm>
          <a:prstGeom prst="rect">
            <a:avLst/>
          </a:prstGeom>
        </p:spPr>
      </p:pic>
      <p:pic>
        <p:nvPicPr>
          <p:cNvPr id="176" name="Picture 175" descr="lock.png"/>
          <p:cNvPicPr>
            <a:picLocks noChangeAspect="1"/>
          </p:cNvPicPr>
          <p:nvPr/>
        </p:nvPicPr>
        <p:blipFill>
          <a:blip r:embed="rId4"/>
          <a:stretch>
            <a:fillRect/>
          </a:stretch>
        </p:blipFill>
        <p:spPr>
          <a:xfrm>
            <a:off x="11689500" y="24781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32350" y="27829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479950" y="30877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422800" y="33925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327550" y="36973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327550" y="40021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270400" y="43069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270400" y="4611751"/>
            <a:ext cx="128699" cy="187198"/>
          </a:xfrm>
          <a:prstGeom prst="rect">
            <a:avLst/>
          </a:prstGeom>
        </p:spPr>
      </p:pic>
      <p:sp>
        <p:nvSpPr>
          <p:cNvPr id="184" name="TextBox 183"/>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5" name="Picture 184" descr="lock.png"/>
          <p:cNvPicPr>
            <a:picLocks noChangeAspect="1"/>
          </p:cNvPicPr>
          <p:nvPr/>
        </p:nvPicPr>
        <p:blipFill>
          <a:blip r:embed="rId4"/>
          <a:stretch>
            <a:fillRect/>
          </a:stretch>
        </p:blipFill>
        <p:spPr>
          <a:xfrm>
            <a:off x="2482959" y="1212159"/>
            <a:ext cx="92663" cy="134782"/>
          </a:xfrm>
          <a:prstGeom prst="rect">
            <a:avLst/>
          </a:prstGeom>
        </p:spPr>
      </p:pic>
      <p:sp>
        <p:nvSpPr>
          <p:cNvPr id="186" name="TextBox 185"/>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4140309" y="1212159"/>
            <a:ext cx="92663" cy="134782"/>
          </a:xfrm>
          <a:prstGeom prst="rect">
            <a:avLst/>
          </a:prstGeom>
        </p:spPr>
      </p:pic>
      <p:sp>
        <p:nvSpPr>
          <p:cNvPr id="188" name="TextBox 187"/>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5797659" y="1212159"/>
            <a:ext cx="92663" cy="134782"/>
          </a:xfrm>
          <a:prstGeom prst="rect">
            <a:avLst/>
          </a:prstGeom>
        </p:spPr>
      </p:pic>
      <p:sp>
        <p:nvSpPr>
          <p:cNvPr id="190" name="TextBox 189"/>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7455009" y="1212159"/>
            <a:ext cx="92663" cy="134782"/>
          </a:xfrm>
          <a:prstGeom prst="rect">
            <a:avLst/>
          </a:prstGeom>
        </p:spPr>
      </p:pic>
      <p:sp>
        <p:nvSpPr>
          <p:cNvPr id="192" name="TextBox 191"/>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Strategic Activity Tracker</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7" name="TextBox 6"/>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8" name="TextBox 7"/>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9" name="TextBox 8"/>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0" name="TextBox 9"/>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1" name="TextBox 10"/>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2" name="TextBox 11"/>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3" name="TextBox 12"/>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4" name="TextBox 13"/>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5" name="Connector 14"/>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Sealed Air Corporation</a:t>
            </a:r>
          </a:p>
        </p:txBody>
      </p:sp>
      <p:sp>
        <p:nvSpPr>
          <p:cNvPr id="18" name="TextBox 17"/>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19" name="TextBox 18"/>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0" name="Rectangle 19"/>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2" name="TextBox 21"/>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3" name="TextBox 22"/>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24" name="TextBox 23"/>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5" name="TextBox 24"/>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6" name="Connector 25"/>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Company</a:t>
            </a:r>
          </a:p>
        </p:txBody>
      </p:sp>
      <p:sp>
        <p:nvSpPr>
          <p:cNvPr id="29" name="TextBox 28"/>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Other Foam Materials</a:t>
            </a:r>
          </a:p>
        </p:txBody>
      </p:sp>
      <p:sp>
        <p:nvSpPr>
          <p:cNvPr id="30" name="TextBox 29"/>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1" name="Rectangle 30"/>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3" name="TextBox 32"/>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4" name="TextBox 33"/>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35" name="TextBox 34"/>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6" name="TextBox 35"/>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37" name="Connector 36"/>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BOBST Group SA</a:t>
            </a:r>
          </a:p>
        </p:txBody>
      </p:sp>
      <p:sp>
        <p:nvSpPr>
          <p:cNvPr id="40" name="TextBox 39"/>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1" name="TextBox 40"/>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2" name="Rectangle 41"/>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4" name="TextBox 43"/>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5" name="TextBox 44"/>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46" name="TextBox 45"/>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47" name="TextBox 46"/>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48" name="Connector 47"/>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BHS Corrugated Maschinen- und Anlagenbau GmbH</a:t>
            </a:r>
          </a:p>
        </p:txBody>
      </p:sp>
      <p:sp>
        <p:nvSpPr>
          <p:cNvPr id="51" name="TextBox 50"/>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Expanded Polystyrene (EPS)</a:t>
            </a:r>
          </a:p>
        </p:txBody>
      </p:sp>
      <p:sp>
        <p:nvSpPr>
          <p:cNvPr id="52" name="TextBox 51"/>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3" name="Rectangle 52"/>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5" name="TextBox 54"/>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6" name="TextBox 55"/>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57" name="TextBox 56"/>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58" name="TextBox 57"/>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59" name="Connector 58"/>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BW Papersystems</a:t>
            </a:r>
          </a:p>
        </p:txBody>
      </p:sp>
      <p:sp>
        <p:nvSpPr>
          <p:cNvPr id="62" name="TextBox 61"/>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3" name="TextBox 62"/>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4" name="Rectangle 63"/>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6" name="TextBox 65"/>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67" name="TextBox 66"/>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68" name="TextBox 67"/>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69" name="TextBox 68"/>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0" name="Connector 69"/>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Fosber Group</a:t>
            </a:r>
          </a:p>
        </p:txBody>
      </p:sp>
      <p:sp>
        <p:nvSpPr>
          <p:cNvPr id="73" name="TextBox 72"/>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Other Foam Materials</a:t>
            </a:r>
          </a:p>
        </p:txBody>
      </p:sp>
      <p:sp>
        <p:nvSpPr>
          <p:cNvPr id="74" name="TextBox 73"/>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5" name="Rectangle 74"/>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77" name="TextBox 76"/>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78" name="TextBox 77"/>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79" name="TextBox 78"/>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0" name="TextBox 79"/>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1" name="Connector 80"/>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Mitsubishi Heavy Industries Machinery Systems, Ltd.</a:t>
            </a:r>
          </a:p>
        </p:txBody>
      </p:sp>
      <p:sp>
        <p:nvSpPr>
          <p:cNvPr id="84" name="TextBox 83"/>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5" name="TextBox 84"/>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6" name="Rectangle 85"/>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88" name="TextBox 87"/>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89" name="TextBox 88"/>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90" name="TextBox 89"/>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1" name="TextBox 90"/>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2" name="Connector 91"/>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EMBA Machinery AB</a:t>
            </a:r>
          </a:p>
        </p:txBody>
      </p:sp>
      <p:sp>
        <p:nvSpPr>
          <p:cNvPr id="95" name="TextBox 94"/>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Expanded Polystyrene (EPS)</a:t>
            </a:r>
          </a:p>
        </p:txBody>
      </p:sp>
      <p:sp>
        <p:nvSpPr>
          <p:cNvPr id="96" name="TextBox 95"/>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97" name="Rectangle 96"/>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99" name="TextBox 98"/>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0" name="TextBox 99"/>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01" name="TextBox 100"/>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2" name="TextBox 101"/>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3" name="Connector 102"/>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Koenig &amp; Bauer Celmacch</a:t>
            </a:r>
          </a:p>
        </p:txBody>
      </p:sp>
      <p:sp>
        <p:nvSpPr>
          <p:cNvPr id="106" name="TextBox 105"/>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07" name="TextBox 106"/>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8" name="Rectangle 107"/>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0" name="TextBox 109"/>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1" name="TextBox 110"/>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12" name="TextBox 111"/>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3" name="TextBox 112"/>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4" name="Connector 113"/>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Göpfert Maschinen GmbH</a:t>
            </a:r>
          </a:p>
        </p:txBody>
      </p:sp>
      <p:sp>
        <p:nvSpPr>
          <p:cNvPr id="117" name="TextBox 116"/>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Other Foam Materials</a:t>
            </a:r>
          </a:p>
        </p:txBody>
      </p:sp>
      <p:sp>
        <p:nvSpPr>
          <p:cNvPr id="118" name="TextBox 117"/>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9" name="Rectangle 118"/>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1" name="TextBox 120"/>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2" name="TextBox 121"/>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23" name="TextBox 122"/>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4" name="TextBox 123"/>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5" name="Connector 124"/>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28" name="TextBox 127"/>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29" name="Rectangle 128"/>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1" name="TextBox 130"/>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2" name="Rectangle 131"/>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4" name="TextBox 133"/>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5" name="Rectangle 134"/>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37" name="TextBox 136"/>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38" name="Rectangle 137"/>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0" name="TextBox 139"/>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1" name="Rectangle 140"/>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3" name="TextBox 142"/>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4" name="TextBox 143"/>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5" name="Rectangle 1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7" name="Picture 146" descr="lock.png"/>
          <p:cNvPicPr>
            <a:picLocks noChangeAspect="1"/>
          </p:cNvPicPr>
          <p:nvPr/>
        </p:nvPicPr>
        <p:blipFill>
          <a:blip r:embed="rId4"/>
          <a:stretch>
            <a:fillRect/>
          </a:stretch>
        </p:blipFill>
        <p:spPr>
          <a:xfrm>
            <a:off x="4126650" y="1278001"/>
            <a:ext cx="128699" cy="187198"/>
          </a:xfrm>
          <a:prstGeom prst="rect">
            <a:avLst/>
          </a:prstGeom>
        </p:spPr>
      </p:pic>
      <p:pic>
        <p:nvPicPr>
          <p:cNvPr id="148" name="Picture 147" descr="lock.png"/>
          <p:cNvPicPr>
            <a:picLocks noChangeAspect="1"/>
          </p:cNvPicPr>
          <p:nvPr/>
        </p:nvPicPr>
        <p:blipFill>
          <a:blip r:embed="rId4"/>
          <a:stretch>
            <a:fillRect/>
          </a:stretch>
        </p:blipFill>
        <p:spPr>
          <a:xfrm>
            <a:off x="4126650" y="17733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126650" y="22686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27639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32592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3754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42498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47451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5240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Strategic Activity by Function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7" name="Rectangle 6"/>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Sealed Air Corporation</a:t>
            </a:r>
          </a:p>
        </p:txBody>
      </p:sp>
      <p:sp>
        <p:nvSpPr>
          <p:cNvPr id="9" name="Rectangle 8"/>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Company</a:t>
            </a:r>
          </a:p>
        </p:txBody>
      </p:sp>
      <p:sp>
        <p:nvSpPr>
          <p:cNvPr id="11" name="Rectangle 10"/>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BOBST Group SA</a:t>
            </a:r>
          </a:p>
        </p:txBody>
      </p:sp>
      <p:sp>
        <p:nvSpPr>
          <p:cNvPr id="13" name="Rectangle 12"/>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BHS Corrugated Maschinen- und Anlagenbau GmbH</a:t>
            </a:r>
          </a:p>
        </p:txBody>
      </p:sp>
      <p:sp>
        <p:nvSpPr>
          <p:cNvPr id="15" name="Rectangle 14"/>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BW Papersystems</a:t>
            </a:r>
          </a:p>
        </p:txBody>
      </p:sp>
      <p:sp>
        <p:nvSpPr>
          <p:cNvPr id="17" name="Rectangle 16"/>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Fosber Group</a:t>
            </a:r>
          </a:p>
        </p:txBody>
      </p:sp>
      <p:sp>
        <p:nvSpPr>
          <p:cNvPr id="19" name="Rectangle 18"/>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Mitsubishi Heavy Industries Machinery Systems, Ltd.</a:t>
            </a:r>
          </a:p>
        </p:txBody>
      </p:sp>
      <p:sp>
        <p:nvSpPr>
          <p:cNvPr id="21" name="Rectangle 20"/>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EMBA Machinery AB</a:t>
            </a:r>
          </a:p>
        </p:txBody>
      </p:sp>
      <p:sp>
        <p:nvSpPr>
          <p:cNvPr id="23" name="Rectangle 22"/>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Koenig &amp; Bauer Celmacch</a:t>
            </a:r>
          </a:p>
        </p:txBody>
      </p:sp>
      <p:sp>
        <p:nvSpPr>
          <p:cNvPr id="25" name="Rectangle 24"/>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Göpfert Maschinen GmbH</a:t>
            </a:r>
          </a:p>
        </p:txBody>
      </p:sp>
      <p:sp>
        <p:nvSpPr>
          <p:cNvPr id="27" name="TextBox 26"/>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28" name="TextBox 27"/>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29" name="TextBox 28"/>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0" name="TextBox 29"/>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1" name="TextBox 30"/>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2" name="TextBox 31"/>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3" name="TextBox 32"/>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4" name="Rectangle 33"/>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6" name="Rectangle 35"/>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1" name="Rectangle 40"/>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3" name="Rectangle 42"/>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5" name="Rectangle 44"/>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48" name="Rectangle 47"/>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0" name="Rectangle 49"/>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2" name="Rectangle 51"/>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7" name="Rectangle 56"/>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2" name="Rectangle 61"/>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4" name="Rectangle 63"/>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6" name="Rectangle 65"/>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69" name="Rectangle 68"/>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1" name="Rectangle 70"/>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3" name="Rectangle 72"/>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8" name="Rectangle 77"/>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3" name="Rectangle 82"/>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5" name="Rectangle 84"/>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7" name="Rectangle 86"/>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0" name="Rectangle 89"/>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2" name="Rectangle 91"/>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4" name="Rectangle 93"/>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9" name="Rectangle 98"/>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4" name="Rectangle 103"/>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6" name="Rectangle 105"/>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8" name="Rectangle 107"/>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1" name="Rectangle 110"/>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3" name="Rectangle 112"/>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5" name="Rectangle 114"/>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0" name="Rectangle 119"/>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5" name="Rectangle 124"/>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7" name="Rectangle 126"/>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9" name="Rectangle 128"/>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2" name="Rectangle 131"/>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4" name="Rectangle 133"/>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6" name="Rectangle 135"/>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TextBox 138"/>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0" name="TextBox 139"/>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1" name="TextBox 140"/>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2" name="TextBox 141"/>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3" name="TextBox 142"/>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4" name="Rectangle 143"/>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6" name="Rectangle 145"/>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8" name="Rectangle 147"/>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0" name="Rectangle 149"/>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2" name="Rectangle 151"/>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4" name="Rectangle 153"/>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7" name="Rectangle 156"/>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2" name="Rectangle 161"/>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4" name="Rectangle 163"/>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6" name="Rectangle 165"/>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68" name="Rectangle 167"/>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1" name="Rectangle 170"/>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6" name="Rectangle 175"/>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8" name="Rectangle 177"/>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0" name="Rectangle 179"/>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2" name="Rectangle 181"/>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5" name="Rectangle 184"/>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0" name="Rectangle 189"/>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2" name="Rectangle 191"/>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4" name="Rectangle 193"/>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6" name="Rectangle 195"/>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9" name="Rectangle 198"/>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4" name="Rectangle 203"/>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6" name="Rectangle 205"/>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8" name="Rectangle 207"/>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0" name="Rectangle 209"/>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3" name="Rectangle 212"/>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5" name="TextBox 214"/>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6" name="TextBox 215"/>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17" name="TextBox 216"/>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18" name="TextBox 217"/>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19" name="TextBox 218"/>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0" name="TextBox 219"/>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1" name="Rectangle 220"/>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3" name="Rectangle 222"/>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5" name="Rectangle 224"/>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7" name="Rectangle 226"/>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3" name="Rectangle 232"/>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5" name="Rectangle 234"/>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7" name="Rectangle 236"/>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3" name="Rectangle 242"/>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5" name="Rectangle 244"/>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7" name="Rectangle 246"/>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3" name="Rectangle 252"/>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5" name="Rectangle 254"/>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7" name="Rectangle 256"/>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9" name="Rectangle 258"/>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4" name="Rectangle 263"/>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6" name="Rectangle 265"/>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8" name="Rectangle 267"/>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0" name="Rectangle 269"/>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5" name="Rectangle 274"/>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7" name="Rectangle 276"/>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9" name="Rectangle 278"/>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1" name="Rectangle 280"/>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7" name="Rectangle 286"/>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9" name="Rectangle 288"/>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1" name="Rectangle 290"/>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7" name="Rectangle 296"/>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9" name="Rectangle 298"/>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1" name="Rectangle 300"/>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7" name="Rectangle 306"/>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9" name="Rectangle 308"/>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TextBox 309"/>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1" name="Rectangle 310"/>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3" name="Rectangle 312"/>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5" name="Rectangle 314"/>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17" name="TextBox 316"/>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18" name="Connector 317"/>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9" name="TextBox 318"/>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0" name="Rectangle 319"/>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2" name="TextBox 321"/>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3" name="Rectangle 322"/>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5" name="TextBox 324"/>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6" name="Rectangle 325"/>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28" name="TextBox 327"/>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29" name="Rectangle 328"/>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1" name="TextBox 330"/>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2" name="Rectangle 331"/>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4" name="TextBox 333"/>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5" name="Rectangle 334"/>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37" name="TextBox 336"/>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38" name="Rectangle 3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Foam Protective Packaging Market, Global 2026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5810250" cy="400050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9" name="TextBox 8"/>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0" name="TextBox 9"/>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1" name="TextBox 10"/>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2" name="Rectangle 11"/>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4" name="TextBox 13"/>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5" name="TextBox 14"/>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Sealed Air Corporation · Company · BOBST Group SA · BHS Corrugated Maschinen- und Anlagenbau GmbH</a:t>
            </a:r>
          </a:p>
        </p:txBody>
      </p:sp>
      <p:sp>
        <p:nvSpPr>
          <p:cNvPr id="16" name="TextBox 15"/>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17" name="TextBox 16"/>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18" name="Rectangle 17"/>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0" name="TextBox 19"/>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1" name="TextBox 20"/>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BW Papersystems · Fosber Group</a:t>
            </a:r>
          </a:p>
        </p:txBody>
      </p:sp>
      <p:sp>
        <p:nvSpPr>
          <p:cNvPr id="22" name="TextBox 21"/>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3" name="TextBox 22"/>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4" name="Rectangle 23"/>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6" name="TextBox 25"/>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7" name="TextBox 26"/>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Mitsubishi Heavy Industries Machinery Systems, Ltd. · EMBA Machinery AB · Koenig &amp; Bauer Celmacch · Göpfert Maschinen GmbH</a:t>
            </a:r>
          </a:p>
        </p:txBody>
      </p:sp>
      <p:sp>
        <p:nvSpPr>
          <p:cNvPr id="28" name="TextBox 27"/>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29" name="TextBox 28"/>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0" name="Rectangle 29"/>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2" name="TextBox 31"/>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3" name="TextBox 32"/>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4" name="Rounded Rectangle 33"/>
          <p:cNvSpPr/>
          <p:nvPr/>
        </p:nvSpPr>
        <p:spPr>
          <a:xfrm>
            <a:off x="142875" y="5162550"/>
            <a:ext cx="5810250" cy="146685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6" name="Rectangle 35"/>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38" name="Rectangle 37"/>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0" name="Rectangle 39"/>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2" name="TextBox 41"/>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3" name="TextBox 42"/>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4" name="Rounded Rectangle 43"/>
          <p:cNvSpPr/>
          <p:nvPr/>
        </p:nvSpPr>
        <p:spPr>
          <a:xfrm>
            <a:off x="6096000" y="1047750"/>
            <a:ext cx="5953125" cy="400050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6" name="TextBox 45"/>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47" name="Rectangle 46"/>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49" name="Rectangle 48"/>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1" name="Rectangle 50"/>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3" name="Rectangle 52"/>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5" name="Rectangle 54"/>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57" name="Rectangle 56"/>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59" name="Rectangle 58"/>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1" name="Rectangle 60"/>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3" name="Rectangle 62"/>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5" name="Rectangle 64"/>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7" name="Rectangle 66"/>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69" name="Rectangle 68"/>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1" name="Rectangle 70"/>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3" name="Rectangle 72"/>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5" name="Rectangle 74"/>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7" name="Rectangle 76"/>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9" name="Rectangle 78"/>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1" name="Rectangle 80"/>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3" name="Rectangle 82"/>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5" name="Rectangle 84"/>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87" name="TextBox 86"/>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88" name="Rectangle 87"/>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99" name="Rectangle 98"/>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1" name="Rectangle 100"/>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3" name="TextBox 102"/>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4" name="Rectangle 103"/>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5" name="Rectangle 114"/>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17" name="Rectangle 116"/>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19" name="TextBox 118"/>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0" name="Rectangle 119"/>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1" name="Rectangle 130"/>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3" name="Rectangle 132"/>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5" name="TextBox 134"/>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6" name="Rectangle 135"/>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47" name="TextBox 146"/>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48" name="Rectangle 147"/>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0" name="Rectangle 149"/>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2" name="Rectangle 151"/>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4" name="Rectangle 153"/>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6" name="Rectangle 155"/>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58" name="Rectangle 157"/>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0" name="Rectangle 159"/>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2" name="Rectangle 161"/>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4" name="TextBox 163"/>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5" name="Rectangle 164"/>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6" name="Rectangle 175"/>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78" name="Rectangle 177"/>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0" name="Rectangle 179"/>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2" name="Rectangle 181"/>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4" name="Rectangle 183"/>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6" name="Rectangle 185"/>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88" name="Rectangle 187"/>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0" name="Rectangle 189"/>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2" name="Rectangle 191"/>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4" name="Rectangle 193"/>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6" name="Rectangle 195"/>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198" name="Rectangle 197"/>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0" name="Rectangle 199"/>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2" name="Rectangle 201"/>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4" name="Rectangle 203"/>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6" name="Rectangle 205"/>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08" name="Rectangle 207"/>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0" name="Rectangle 209"/>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2" name="Rectangle 211"/>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4" name="Rectangle 213"/>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6" name="Rectangle 215"/>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18" name="Rectangle 217"/>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0" name="Rectangle 219"/>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2" name="Rectangle 221"/>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4" name="Rounded Rectangle 223"/>
          <p:cNvSpPr/>
          <p:nvPr/>
        </p:nvSpPr>
        <p:spPr>
          <a:xfrm>
            <a:off x="6096000" y="5162550"/>
            <a:ext cx="5953125" cy="146685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6" name="TextBox 225"/>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7" name="TextBox 226"/>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28" name="TextBox 227"/>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9" name="TextBox 228"/>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0" name="TextBox 229"/>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31" name="TextBox 230"/>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2" name="Rectangle 2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4" name="Picture 233" descr="lock.png"/>
          <p:cNvPicPr>
            <a:picLocks noChangeAspect="1"/>
          </p:cNvPicPr>
          <p:nvPr/>
        </p:nvPicPr>
        <p:blipFill>
          <a:blip r:embed="rId4"/>
          <a:stretch>
            <a:fillRect/>
          </a:stretch>
        </p:blipFill>
        <p:spPr>
          <a:xfrm>
            <a:off x="1631100" y="1620901"/>
            <a:ext cx="128699" cy="187198"/>
          </a:xfrm>
          <a:prstGeom prst="rect">
            <a:avLst/>
          </a:prstGeom>
        </p:spPr>
      </p:pic>
      <p:pic>
        <p:nvPicPr>
          <p:cNvPr id="235" name="Picture 234" descr="lock.png"/>
          <p:cNvPicPr>
            <a:picLocks noChangeAspect="1"/>
          </p:cNvPicPr>
          <p:nvPr/>
        </p:nvPicPr>
        <p:blipFill>
          <a:blip r:embed="rId4"/>
          <a:stretch>
            <a:fillRect/>
          </a:stretch>
        </p:blipFill>
        <p:spPr>
          <a:xfrm>
            <a:off x="1631100" y="2478151"/>
            <a:ext cx="128699" cy="187198"/>
          </a:xfrm>
          <a:prstGeom prst="rect">
            <a:avLst/>
          </a:prstGeom>
        </p:spPr>
      </p:pic>
      <p:pic>
        <p:nvPicPr>
          <p:cNvPr id="236" name="Picture 235" descr="lock.png"/>
          <p:cNvPicPr>
            <a:picLocks noChangeAspect="1"/>
          </p:cNvPicPr>
          <p:nvPr/>
        </p:nvPicPr>
        <p:blipFill>
          <a:blip r:embed="rId4"/>
          <a:stretch>
            <a:fillRect/>
          </a:stretch>
        </p:blipFill>
        <p:spPr>
          <a:xfrm>
            <a:off x="1631100" y="33354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41926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1475188" y="1830451"/>
            <a:ext cx="128699" cy="187198"/>
          </a:xfrm>
          <a:prstGeom prst="rect">
            <a:avLst/>
          </a:prstGeom>
        </p:spPr>
      </p:pic>
      <p:pic>
        <p:nvPicPr>
          <p:cNvPr id="239" name="Picture 238" descr="lock.png"/>
          <p:cNvPicPr>
            <a:picLocks noChangeAspect="1"/>
          </p:cNvPicPr>
          <p:nvPr/>
        </p:nvPicPr>
        <p:blipFill>
          <a:blip r:embed="rId4"/>
          <a:stretch>
            <a:fillRect/>
          </a:stretch>
        </p:blipFill>
        <p:spPr>
          <a:xfrm>
            <a:off x="8160488" y="2059051"/>
            <a:ext cx="128699" cy="187198"/>
          </a:xfrm>
          <a:prstGeom prst="rect">
            <a:avLst/>
          </a:prstGeom>
        </p:spPr>
      </p:pic>
      <p:pic>
        <p:nvPicPr>
          <p:cNvPr id="240" name="Picture 239" descr="lock.png"/>
          <p:cNvPicPr>
            <a:picLocks noChangeAspect="1"/>
          </p:cNvPicPr>
          <p:nvPr/>
        </p:nvPicPr>
        <p:blipFill>
          <a:blip r:embed="rId4"/>
          <a:stretch>
            <a:fillRect/>
          </a:stretch>
        </p:blipFill>
        <p:spPr>
          <a:xfrm>
            <a:off x="8989163" y="2059051"/>
            <a:ext cx="128699" cy="187198"/>
          </a:xfrm>
          <a:prstGeom prst="rect">
            <a:avLst/>
          </a:prstGeom>
        </p:spPr>
      </p:pic>
      <p:pic>
        <p:nvPicPr>
          <p:cNvPr id="241" name="Picture 240" descr="lock.png"/>
          <p:cNvPicPr>
            <a:picLocks noChangeAspect="1"/>
          </p:cNvPicPr>
          <p:nvPr/>
        </p:nvPicPr>
        <p:blipFill>
          <a:blip r:embed="rId4"/>
          <a:stretch>
            <a:fillRect/>
          </a:stretch>
        </p:blipFill>
        <p:spPr>
          <a:xfrm>
            <a:off x="981783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1064651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1147518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8160488" y="2287651"/>
            <a:ext cx="128699" cy="187198"/>
          </a:xfrm>
          <a:prstGeom prst="rect">
            <a:avLst/>
          </a:prstGeom>
        </p:spPr>
      </p:pic>
      <p:pic>
        <p:nvPicPr>
          <p:cNvPr id="245" name="Picture 244" descr="lock.png"/>
          <p:cNvPicPr>
            <a:picLocks noChangeAspect="1"/>
          </p:cNvPicPr>
          <p:nvPr/>
        </p:nvPicPr>
        <p:blipFill>
          <a:blip r:embed="rId4"/>
          <a:stretch>
            <a:fillRect/>
          </a:stretch>
        </p:blipFill>
        <p:spPr>
          <a:xfrm>
            <a:off x="8989162"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981783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1064651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8160488" y="2516251"/>
            <a:ext cx="128699" cy="187198"/>
          </a:xfrm>
          <a:prstGeom prst="rect">
            <a:avLst/>
          </a:prstGeom>
        </p:spPr>
      </p:pic>
      <p:pic>
        <p:nvPicPr>
          <p:cNvPr id="249" name="Picture 248" descr="lock.png"/>
          <p:cNvPicPr>
            <a:picLocks noChangeAspect="1"/>
          </p:cNvPicPr>
          <p:nvPr/>
        </p:nvPicPr>
        <p:blipFill>
          <a:blip r:embed="rId4"/>
          <a:stretch>
            <a:fillRect/>
          </a:stretch>
        </p:blipFill>
        <p:spPr>
          <a:xfrm>
            <a:off x="8989162"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981783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1064651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8160487" y="2744851"/>
            <a:ext cx="128699" cy="187198"/>
          </a:xfrm>
          <a:prstGeom prst="rect">
            <a:avLst/>
          </a:prstGeom>
        </p:spPr>
      </p:pic>
      <p:pic>
        <p:nvPicPr>
          <p:cNvPr id="253" name="Picture 252" descr="lock.png"/>
          <p:cNvPicPr>
            <a:picLocks noChangeAspect="1"/>
          </p:cNvPicPr>
          <p:nvPr/>
        </p:nvPicPr>
        <p:blipFill>
          <a:blip r:embed="rId4"/>
          <a:stretch>
            <a:fillRect/>
          </a:stretch>
        </p:blipFill>
        <p:spPr>
          <a:xfrm>
            <a:off x="8989163"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981783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1064651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8160487" y="2973451"/>
            <a:ext cx="128699" cy="187198"/>
          </a:xfrm>
          <a:prstGeom prst="rect">
            <a:avLst/>
          </a:prstGeom>
        </p:spPr>
      </p:pic>
      <p:pic>
        <p:nvPicPr>
          <p:cNvPr id="257" name="Picture 256" descr="lock.png"/>
          <p:cNvPicPr>
            <a:picLocks noChangeAspect="1"/>
          </p:cNvPicPr>
          <p:nvPr/>
        </p:nvPicPr>
        <p:blipFill>
          <a:blip r:embed="rId4"/>
          <a:stretch>
            <a:fillRect/>
          </a:stretch>
        </p:blipFill>
        <p:spPr>
          <a:xfrm>
            <a:off x="8989163"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981783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1064651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1147518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8160488" y="3202051"/>
            <a:ext cx="128699" cy="187198"/>
          </a:xfrm>
          <a:prstGeom prst="rect">
            <a:avLst/>
          </a:prstGeom>
        </p:spPr>
      </p:pic>
      <p:pic>
        <p:nvPicPr>
          <p:cNvPr id="262" name="Picture 261" descr="lock.png"/>
          <p:cNvPicPr>
            <a:picLocks noChangeAspect="1"/>
          </p:cNvPicPr>
          <p:nvPr/>
        </p:nvPicPr>
        <p:blipFill>
          <a:blip r:embed="rId4"/>
          <a:stretch>
            <a:fillRect/>
          </a:stretch>
        </p:blipFill>
        <p:spPr>
          <a:xfrm>
            <a:off x="8989163"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981783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160488" y="3478276"/>
            <a:ext cx="128699" cy="187198"/>
          </a:xfrm>
          <a:prstGeom prst="rect">
            <a:avLst/>
          </a:prstGeom>
        </p:spPr>
      </p:pic>
      <p:pic>
        <p:nvPicPr>
          <p:cNvPr id="265" name="Picture 264" descr="lock.png"/>
          <p:cNvPicPr>
            <a:picLocks noChangeAspect="1"/>
          </p:cNvPicPr>
          <p:nvPr/>
        </p:nvPicPr>
        <p:blipFill>
          <a:blip r:embed="rId4"/>
          <a:stretch>
            <a:fillRect/>
          </a:stretch>
        </p:blipFill>
        <p:spPr>
          <a:xfrm>
            <a:off x="8989162"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981783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10646512" y="3478276"/>
            <a:ext cx="128699" cy="187198"/>
          </a:xfrm>
          <a:prstGeom prst="rect">
            <a:avLst/>
          </a:prstGeom>
        </p:spPr>
      </p:pic>
      <p:sp>
        <p:nvSpPr>
          <p:cNvPr id="268" name="TextBox 267"/>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69" name="Picture 268" descr="lock.png"/>
          <p:cNvPicPr>
            <a:picLocks noChangeAspect="1"/>
          </p:cNvPicPr>
          <p:nvPr/>
        </p:nvPicPr>
        <p:blipFill>
          <a:blip r:embed="rId4"/>
          <a:stretch>
            <a:fillRect/>
          </a:stretch>
        </p:blipFill>
        <p:spPr>
          <a:xfrm>
            <a:off x="706231" y="1335151"/>
            <a:ext cx="128699" cy="187198"/>
          </a:xfrm>
          <a:prstGeom prst="rect">
            <a:avLst/>
          </a:prstGeom>
        </p:spPr>
      </p:pic>
      <p:sp>
        <p:nvSpPr>
          <p:cNvPr id="270" name="TextBox 269"/>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1" name="Picture 270" descr="lock.png"/>
          <p:cNvPicPr>
            <a:picLocks noChangeAspect="1"/>
          </p:cNvPicPr>
          <p:nvPr/>
        </p:nvPicPr>
        <p:blipFill>
          <a:blip r:embed="rId4"/>
          <a:stretch>
            <a:fillRect/>
          </a:stretch>
        </p:blipFill>
        <p:spPr>
          <a:xfrm>
            <a:off x="2112168" y="1335151"/>
            <a:ext cx="128699" cy="187198"/>
          </a:xfrm>
          <a:prstGeom prst="rect">
            <a:avLst/>
          </a:prstGeom>
        </p:spPr>
      </p:pic>
      <p:sp>
        <p:nvSpPr>
          <p:cNvPr id="272" name="TextBox 271"/>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3" name="Picture 272" descr="lock.png"/>
          <p:cNvPicPr>
            <a:picLocks noChangeAspect="1"/>
          </p:cNvPicPr>
          <p:nvPr/>
        </p:nvPicPr>
        <p:blipFill>
          <a:blip r:embed="rId4"/>
          <a:stretch>
            <a:fillRect/>
          </a:stretch>
        </p:blipFill>
        <p:spPr>
          <a:xfrm>
            <a:off x="2430519" y="1335151"/>
            <a:ext cx="128699" cy="187198"/>
          </a:xfrm>
          <a:prstGeom prst="rect">
            <a:avLst/>
          </a:prstGeom>
        </p:spPr>
      </p:pic>
      <p:sp>
        <p:nvSpPr>
          <p:cNvPr id="274" name="TextBox 273"/>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5" name="Picture 274" descr="lock.png"/>
          <p:cNvPicPr>
            <a:picLocks noChangeAspect="1"/>
          </p:cNvPicPr>
          <p:nvPr/>
        </p:nvPicPr>
        <p:blipFill>
          <a:blip r:embed="rId4"/>
          <a:stretch>
            <a:fillRect/>
          </a:stretch>
        </p:blipFill>
        <p:spPr>
          <a:xfrm>
            <a:off x="1377182" y="1839976"/>
            <a:ext cx="128699" cy="187198"/>
          </a:xfrm>
          <a:prstGeom prst="rect">
            <a:avLst/>
          </a:prstGeom>
        </p:spPr>
      </p:pic>
      <p:sp>
        <p:nvSpPr>
          <p:cNvPr id="276" name="TextBox 275"/>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7" name="Picture 276" descr="lock.png"/>
          <p:cNvPicPr>
            <a:picLocks noChangeAspect="1"/>
          </p:cNvPicPr>
          <p:nvPr/>
        </p:nvPicPr>
        <p:blipFill>
          <a:blip r:embed="rId4"/>
          <a:stretch>
            <a:fillRect/>
          </a:stretch>
        </p:blipFill>
        <p:spPr>
          <a:xfrm>
            <a:off x="2922273" y="1839976"/>
            <a:ext cx="128699" cy="187198"/>
          </a:xfrm>
          <a:prstGeom prst="rect">
            <a:avLst/>
          </a:prstGeom>
        </p:spPr>
      </p:pic>
      <p:sp>
        <p:nvSpPr>
          <p:cNvPr id="278" name="TextBox 277"/>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79" name="Picture 278" descr="lock.png"/>
          <p:cNvPicPr>
            <a:picLocks noChangeAspect="1"/>
          </p:cNvPicPr>
          <p:nvPr/>
        </p:nvPicPr>
        <p:blipFill>
          <a:blip r:embed="rId4"/>
          <a:stretch>
            <a:fillRect/>
          </a:stretch>
        </p:blipFill>
        <p:spPr>
          <a:xfrm>
            <a:off x="1377182" y="2697226"/>
            <a:ext cx="128699" cy="187198"/>
          </a:xfrm>
          <a:prstGeom prst="rect">
            <a:avLst/>
          </a:prstGeom>
        </p:spPr>
      </p:pic>
      <p:sp>
        <p:nvSpPr>
          <p:cNvPr id="280" name="TextBox 279"/>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1" name="Picture 280" descr="lock.png"/>
          <p:cNvPicPr>
            <a:picLocks noChangeAspect="1"/>
          </p:cNvPicPr>
          <p:nvPr/>
        </p:nvPicPr>
        <p:blipFill>
          <a:blip r:embed="rId4"/>
          <a:stretch>
            <a:fillRect/>
          </a:stretch>
        </p:blipFill>
        <p:spPr>
          <a:xfrm>
            <a:off x="2922273" y="2697226"/>
            <a:ext cx="128699" cy="187198"/>
          </a:xfrm>
          <a:prstGeom prst="rect">
            <a:avLst/>
          </a:prstGeom>
        </p:spPr>
      </p:pic>
      <p:sp>
        <p:nvSpPr>
          <p:cNvPr id="282" name="TextBox 281"/>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3" name="Picture 282" descr="lock.png"/>
          <p:cNvPicPr>
            <a:picLocks noChangeAspect="1"/>
          </p:cNvPicPr>
          <p:nvPr/>
        </p:nvPicPr>
        <p:blipFill>
          <a:blip r:embed="rId4"/>
          <a:stretch>
            <a:fillRect/>
          </a:stretch>
        </p:blipFill>
        <p:spPr>
          <a:xfrm>
            <a:off x="1377182" y="3554476"/>
            <a:ext cx="128699" cy="187198"/>
          </a:xfrm>
          <a:prstGeom prst="rect">
            <a:avLst/>
          </a:prstGeom>
        </p:spPr>
      </p:pic>
      <p:sp>
        <p:nvSpPr>
          <p:cNvPr id="284" name="TextBox 283"/>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5" name="Picture 284" descr="lock.png"/>
          <p:cNvPicPr>
            <a:picLocks noChangeAspect="1"/>
          </p:cNvPicPr>
          <p:nvPr/>
        </p:nvPicPr>
        <p:blipFill>
          <a:blip r:embed="rId4"/>
          <a:stretch>
            <a:fillRect/>
          </a:stretch>
        </p:blipFill>
        <p:spPr>
          <a:xfrm>
            <a:off x="2922273" y="3554476"/>
            <a:ext cx="128699" cy="187198"/>
          </a:xfrm>
          <a:prstGeom prst="rect">
            <a:avLst/>
          </a:prstGeom>
        </p:spPr>
      </p:pic>
      <p:sp>
        <p:nvSpPr>
          <p:cNvPr id="286" name="TextBox 285"/>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7" name="Picture 286" descr="lock.png"/>
          <p:cNvPicPr>
            <a:picLocks noChangeAspect="1"/>
          </p:cNvPicPr>
          <p:nvPr/>
        </p:nvPicPr>
        <p:blipFill>
          <a:blip r:embed="rId4"/>
          <a:stretch>
            <a:fillRect/>
          </a:stretch>
        </p:blipFill>
        <p:spPr>
          <a:xfrm>
            <a:off x="1377182" y="4411726"/>
            <a:ext cx="128699" cy="187198"/>
          </a:xfrm>
          <a:prstGeom prst="rect">
            <a:avLst/>
          </a:prstGeom>
        </p:spPr>
      </p:pic>
      <p:sp>
        <p:nvSpPr>
          <p:cNvPr id="288" name="TextBox 287"/>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89" name="TextBox 288"/>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0" name="Picture 289" descr="lock.png"/>
          <p:cNvPicPr>
            <a:picLocks noChangeAspect="1"/>
          </p:cNvPicPr>
          <p:nvPr/>
        </p:nvPicPr>
        <p:blipFill>
          <a:blip r:embed="rId4"/>
          <a:stretch>
            <a:fillRect/>
          </a:stretch>
        </p:blipFill>
        <p:spPr>
          <a:xfrm>
            <a:off x="1682883" y="5792851"/>
            <a:ext cx="128699" cy="187198"/>
          </a:xfrm>
          <a:prstGeom prst="rect">
            <a:avLst/>
          </a:prstGeom>
        </p:spPr>
      </p:pic>
      <p:sp>
        <p:nvSpPr>
          <p:cNvPr id="291" name="TextBox 290"/>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2" name="Picture 291" descr="lock.png"/>
          <p:cNvPicPr>
            <a:picLocks noChangeAspect="1"/>
          </p:cNvPicPr>
          <p:nvPr/>
        </p:nvPicPr>
        <p:blipFill>
          <a:blip r:embed="rId4"/>
          <a:stretch>
            <a:fillRect/>
          </a:stretch>
        </p:blipFill>
        <p:spPr>
          <a:xfrm>
            <a:off x="1225147" y="6097651"/>
            <a:ext cx="128699" cy="187198"/>
          </a:xfrm>
          <a:prstGeom prst="rect">
            <a:avLst/>
          </a:prstGeom>
        </p:spPr>
      </p:pic>
      <p:sp>
        <p:nvSpPr>
          <p:cNvPr id="293" name="TextBox 292"/>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4" name="Picture 293" descr="lock.png"/>
          <p:cNvPicPr>
            <a:picLocks noChangeAspect="1"/>
          </p:cNvPicPr>
          <p:nvPr/>
        </p:nvPicPr>
        <p:blipFill>
          <a:blip r:embed="rId4"/>
          <a:stretch>
            <a:fillRect/>
          </a:stretch>
        </p:blipFill>
        <p:spPr>
          <a:xfrm>
            <a:off x="2408983" y="6097651"/>
            <a:ext cx="128699" cy="187198"/>
          </a:xfrm>
          <a:prstGeom prst="rect">
            <a:avLst/>
          </a:prstGeom>
        </p:spPr>
      </p:pic>
      <p:sp>
        <p:nvSpPr>
          <p:cNvPr id="295" name="TextBox 294"/>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6" name="Picture 295" descr="lock.png"/>
          <p:cNvPicPr>
            <a:picLocks noChangeAspect="1"/>
          </p:cNvPicPr>
          <p:nvPr/>
        </p:nvPicPr>
        <p:blipFill>
          <a:blip r:embed="rId4"/>
          <a:stretch>
            <a:fillRect/>
          </a:stretch>
        </p:blipFill>
        <p:spPr>
          <a:xfrm>
            <a:off x="3922150" y="6097651"/>
            <a:ext cx="128699" cy="187198"/>
          </a:xfrm>
          <a:prstGeom prst="rect">
            <a:avLst/>
          </a:prstGeom>
        </p:spPr>
      </p:pic>
      <p:sp>
        <p:nvSpPr>
          <p:cNvPr id="297" name="TextBox 296"/>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298" name="TextBox 297"/>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299" name="Picture 298" descr="lock.png"/>
          <p:cNvPicPr>
            <a:picLocks noChangeAspect="1"/>
          </p:cNvPicPr>
          <p:nvPr/>
        </p:nvPicPr>
        <p:blipFill>
          <a:blip r:embed="rId4"/>
          <a:stretch>
            <a:fillRect/>
          </a:stretch>
        </p:blipFill>
        <p:spPr>
          <a:xfrm>
            <a:off x="6791838" y="5467095"/>
            <a:ext cx="128699" cy="187198"/>
          </a:xfrm>
          <a:prstGeom prst="rect">
            <a:avLst/>
          </a:prstGeom>
        </p:spPr>
      </p:pic>
      <p:sp>
        <p:nvSpPr>
          <p:cNvPr id="300" name="TextBox 299"/>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1" name="Picture 300" descr="lock.png"/>
          <p:cNvPicPr>
            <a:picLocks noChangeAspect="1"/>
          </p:cNvPicPr>
          <p:nvPr/>
        </p:nvPicPr>
        <p:blipFill>
          <a:blip r:embed="rId4"/>
          <a:stretch>
            <a:fillRect/>
          </a:stretch>
        </p:blipFill>
        <p:spPr>
          <a:xfrm>
            <a:off x="9457531" y="5467095"/>
            <a:ext cx="128699" cy="187198"/>
          </a:xfrm>
          <a:prstGeom prst="rect">
            <a:avLst/>
          </a:prstGeom>
        </p:spPr>
      </p:pic>
      <p:sp>
        <p:nvSpPr>
          <p:cNvPr id="302" name="TextBox 301"/>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3" name="Picture 302" descr="lock.png"/>
          <p:cNvPicPr>
            <a:picLocks noChangeAspect="1"/>
          </p:cNvPicPr>
          <p:nvPr/>
        </p:nvPicPr>
        <p:blipFill>
          <a:blip r:embed="rId4"/>
          <a:stretch>
            <a:fillRect/>
          </a:stretch>
        </p:blipFill>
        <p:spPr>
          <a:xfrm>
            <a:off x="10832908" y="5467095"/>
            <a:ext cx="128699" cy="187198"/>
          </a:xfrm>
          <a:prstGeom prst="rect">
            <a:avLst/>
          </a:prstGeom>
        </p:spPr>
      </p:pic>
      <p:sp>
        <p:nvSpPr>
          <p:cNvPr id="304" name="TextBox 303"/>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5" name="Picture 304" descr="lock.png"/>
          <p:cNvPicPr>
            <a:picLocks noChangeAspect="1"/>
          </p:cNvPicPr>
          <p:nvPr/>
        </p:nvPicPr>
        <p:blipFill>
          <a:blip r:embed="rId4"/>
          <a:stretch>
            <a:fillRect/>
          </a:stretch>
        </p:blipFill>
        <p:spPr>
          <a:xfrm>
            <a:off x="6358757" y="5634735"/>
            <a:ext cx="128699" cy="187198"/>
          </a:xfrm>
          <a:prstGeom prst="rect">
            <a:avLst/>
          </a:prstGeom>
        </p:spPr>
      </p:pic>
      <p:sp>
        <p:nvSpPr>
          <p:cNvPr id="306" name="TextBox 305"/>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7" name="TextBox 306"/>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08" name="Picture 307" descr="lock.png"/>
          <p:cNvPicPr>
            <a:picLocks noChangeAspect="1"/>
          </p:cNvPicPr>
          <p:nvPr/>
        </p:nvPicPr>
        <p:blipFill>
          <a:blip r:embed="rId4"/>
          <a:stretch>
            <a:fillRect/>
          </a:stretch>
        </p:blipFill>
        <p:spPr>
          <a:xfrm>
            <a:off x="7651320" y="5848095"/>
            <a:ext cx="128699" cy="187198"/>
          </a:xfrm>
          <a:prstGeom prst="rect">
            <a:avLst/>
          </a:prstGeom>
        </p:spPr>
      </p:pic>
      <p:sp>
        <p:nvSpPr>
          <p:cNvPr id="309" name="TextBox 308"/>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0" name="Picture 309" descr="lock.png"/>
          <p:cNvPicPr>
            <a:picLocks noChangeAspect="1"/>
          </p:cNvPicPr>
          <p:nvPr/>
        </p:nvPicPr>
        <p:blipFill>
          <a:blip r:embed="rId4"/>
          <a:stretch>
            <a:fillRect/>
          </a:stretch>
        </p:blipFill>
        <p:spPr>
          <a:xfrm>
            <a:off x="8749737" y="5848095"/>
            <a:ext cx="128699" cy="187198"/>
          </a:xfrm>
          <a:prstGeom prst="rect">
            <a:avLst/>
          </a:prstGeom>
        </p:spPr>
      </p:pic>
      <p:sp>
        <p:nvSpPr>
          <p:cNvPr id="311" name="TextBox 310"/>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2" name="TextBox 311"/>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3" name="Picture 312" descr="lock.png"/>
          <p:cNvPicPr>
            <a:picLocks noChangeAspect="1"/>
          </p:cNvPicPr>
          <p:nvPr/>
        </p:nvPicPr>
        <p:blipFill>
          <a:blip r:embed="rId4"/>
          <a:stretch>
            <a:fillRect/>
          </a:stretch>
        </p:blipFill>
        <p:spPr>
          <a:xfrm>
            <a:off x="8481881" y="6067170"/>
            <a:ext cx="128699" cy="187198"/>
          </a:xfrm>
          <a:prstGeom prst="rect">
            <a:avLst/>
          </a:prstGeom>
        </p:spPr>
      </p:pic>
      <p:sp>
        <p:nvSpPr>
          <p:cNvPr id="314" name="TextBox 313"/>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5" name="Picture 314" descr="lock.png"/>
          <p:cNvPicPr>
            <a:picLocks noChangeAspect="1"/>
          </p:cNvPicPr>
          <p:nvPr/>
        </p:nvPicPr>
        <p:blipFill>
          <a:blip r:embed="rId4"/>
          <a:stretch>
            <a:fillRect/>
          </a:stretch>
        </p:blipFill>
        <p:spPr>
          <a:xfrm>
            <a:off x="10724926" y="6067170"/>
            <a:ext cx="128699" cy="187198"/>
          </a:xfrm>
          <a:prstGeom prst="rect">
            <a:avLst/>
          </a:prstGeom>
        </p:spPr>
      </p:pic>
      <p:sp>
        <p:nvSpPr>
          <p:cNvPr id="316" name="TextBox 315"/>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7" name="TextBox 316"/>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Foam Protective Packaging Market, Global 2026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11906250" cy="2381250"/>
          </a:xfrm>
          <a:prstGeom prst="roundRect">
            <a:avLst>
              <a:gd name="adj" fmla="val 6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9" name="Rounded Rectangle 8"/>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1" name="TextBox 10"/>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2" name="TextBox 11"/>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3" name="TextBox 12"/>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4" name="Connector 13"/>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19" name="Rounded Rectangle 18"/>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1" name="TextBox 20"/>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2" name="TextBox 21"/>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3" name="TextBox 22"/>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4" name="Connector 23"/>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9" name="Rounded Rectangle 28"/>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1" name="TextBox 30"/>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2" name="TextBox 31"/>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3" name="TextBox 32"/>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4" name="Connector 33"/>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39" name="Rounded Rectangle 38"/>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1" name="TextBox 40"/>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2" name="TextBox 41"/>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3" name="Rounded Rectangle 42"/>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MR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5" name="TextBox 44"/>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6" name="TextBox 45"/>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47" name="Rounded Rectangle 46"/>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MR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9" name="TextBox 48"/>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0" name="TextBox 49"/>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1" name="Rounded Rectangle 50"/>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MR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3" name="TextBox 52"/>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4" name="TextBox 53"/>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5" name="Rounded Rectangle 54"/>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MR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7" name="TextBox 56"/>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58" name="TextBox 57"/>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59" name="Rounded Rectangle 58"/>
          <p:cNvSpPr/>
          <p:nvPr/>
        </p:nvSpPr>
        <p:spPr>
          <a:xfrm>
            <a:off x="142875" y="3543300"/>
            <a:ext cx="7096125" cy="3086100"/>
          </a:xfrm>
          <a:prstGeom prst="roundRect">
            <a:avLst>
              <a:gd name="adj" fmla="val 107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1" name="Rectangle 60"/>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3" name="Rectangle 62"/>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5" name="Rectangle 64"/>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67" name="Rectangle 66"/>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69" name="Rectangle 68"/>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1" name="Rectangle 70"/>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3" name="Rectangle 72"/>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2 / 5</a:t>
            </a:r>
          </a:p>
        </p:txBody>
      </p:sp>
      <p:sp>
        <p:nvSpPr>
          <p:cNvPr id="75" name="Rectangle 74"/>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77" name="Rectangle 76"/>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79" name="Rectangle 78"/>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1" name="Rectangle 80"/>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83" name="Rectangle 82"/>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5" name="Rectangle 84"/>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87" name="Rectangle 86"/>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89" name="Rectangle 88"/>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2 / 5</a:t>
            </a:r>
          </a:p>
        </p:txBody>
      </p:sp>
      <p:sp>
        <p:nvSpPr>
          <p:cNvPr id="91" name="Rectangle 90"/>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3" name="Rectangle 92"/>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5" name="Rectangle 94"/>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97" name="Rectangle 96"/>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99" name="Rectangle 98"/>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1" name="Rectangle 100"/>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3" name="Rectangle 102"/>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5" name="Rectangle 104"/>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 / 5</a:t>
            </a:r>
          </a:p>
        </p:txBody>
      </p:sp>
      <p:sp>
        <p:nvSpPr>
          <p:cNvPr id="107" name="Rectangle 106"/>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09" name="Rectangle 108"/>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1" name="Rectangle 110"/>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3" name="Rectangle 112"/>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3.0 / 5</a:t>
            </a:r>
          </a:p>
        </p:txBody>
      </p:sp>
      <p:sp>
        <p:nvSpPr>
          <p:cNvPr id="115" name="Rectangle 114"/>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Consolidation towards Tier 1–2</a:t>
            </a:r>
          </a:p>
        </p:txBody>
      </p:sp>
      <p:sp>
        <p:nvSpPr>
          <p:cNvPr id="117" name="Rounded Rectangle 116"/>
          <p:cNvSpPr/>
          <p:nvPr/>
        </p:nvSpPr>
        <p:spPr>
          <a:xfrm>
            <a:off x="7381875" y="3543300"/>
            <a:ext cx="4667250" cy="3086100"/>
          </a:xfrm>
          <a:prstGeom prst="roundRect">
            <a:avLst>
              <a:gd name="adj" fmla="val 163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19" name="TextBox 118"/>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0" name="TextBox 119"/>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1" name="TextBox 120"/>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2" name="TextBox 121"/>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3" name="TextBox 122"/>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4" name="TextBox 123"/>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5" name="TextBox 124"/>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6" name="TextBox 125"/>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technology substitution (4 / 5) are the dominant forces shaping the tier structure.</a:t>
            </a:r>
          </a:p>
        </p:txBody>
      </p:sp>
      <p:sp>
        <p:nvSpPr>
          <p:cNvPr id="127" name="Rectangle 1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29" name="Picture 128" descr="lock.png"/>
          <p:cNvPicPr>
            <a:picLocks noChangeAspect="1"/>
          </p:cNvPicPr>
          <p:nvPr/>
        </p:nvPicPr>
        <p:blipFill>
          <a:blip r:embed="rId4"/>
          <a:stretch>
            <a:fillRect/>
          </a:stretch>
        </p:blipFill>
        <p:spPr>
          <a:xfrm>
            <a:off x="604726" y="2545080"/>
            <a:ext cx="257397" cy="374396"/>
          </a:xfrm>
          <a:prstGeom prst="rect">
            <a:avLst/>
          </a:prstGeom>
        </p:spPr>
      </p:pic>
      <p:pic>
        <p:nvPicPr>
          <p:cNvPr id="130" name="Picture 129" descr="lock.png"/>
          <p:cNvPicPr>
            <a:picLocks noChangeAspect="1"/>
          </p:cNvPicPr>
          <p:nvPr/>
        </p:nvPicPr>
        <p:blipFill>
          <a:blip r:embed="rId4"/>
          <a:stretch>
            <a:fillRect/>
          </a:stretch>
        </p:blipFill>
        <p:spPr>
          <a:xfrm>
            <a:off x="3557476" y="2545080"/>
            <a:ext cx="257397" cy="374396"/>
          </a:xfrm>
          <a:prstGeom prst="rect">
            <a:avLst/>
          </a:prstGeom>
        </p:spPr>
      </p:pic>
      <p:pic>
        <p:nvPicPr>
          <p:cNvPr id="131" name="Picture 130" descr="lock.png"/>
          <p:cNvPicPr>
            <a:picLocks noChangeAspect="1"/>
          </p:cNvPicPr>
          <p:nvPr/>
        </p:nvPicPr>
        <p:blipFill>
          <a:blip r:embed="rId4"/>
          <a:stretch>
            <a:fillRect/>
          </a:stretch>
        </p:blipFill>
        <p:spPr>
          <a:xfrm>
            <a:off x="65102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9462976" y="2545080"/>
            <a:ext cx="257397" cy="374396"/>
          </a:xfrm>
          <a:prstGeom prst="rect">
            <a:avLst/>
          </a:prstGeom>
        </p:spPr>
      </p:pic>
      <p:sp>
        <p:nvSpPr>
          <p:cNvPr id="133" name="TextBox 132"/>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34" name="Picture 133" descr="lock.png"/>
          <p:cNvPicPr>
            <a:picLocks noChangeAspect="1"/>
          </p:cNvPicPr>
          <p:nvPr/>
        </p:nvPicPr>
        <p:blipFill>
          <a:blip r:embed="rId4"/>
          <a:stretch>
            <a:fillRect/>
          </a:stretch>
        </p:blipFill>
        <p:spPr>
          <a:xfrm>
            <a:off x="1424204" y="1860931"/>
            <a:ext cx="128699" cy="187198"/>
          </a:xfrm>
          <a:prstGeom prst="rect">
            <a:avLst/>
          </a:prstGeom>
        </p:spPr>
      </p:pic>
      <p:sp>
        <p:nvSpPr>
          <p:cNvPr id="135" name="TextBox 134"/>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36" name="Picture 135" descr="lock.png"/>
          <p:cNvPicPr>
            <a:picLocks noChangeAspect="1"/>
          </p:cNvPicPr>
          <p:nvPr/>
        </p:nvPicPr>
        <p:blipFill>
          <a:blip r:embed="rId4"/>
          <a:stretch>
            <a:fillRect/>
          </a:stretch>
        </p:blipFill>
        <p:spPr>
          <a:xfrm>
            <a:off x="1742554" y="1860931"/>
            <a:ext cx="128699" cy="187198"/>
          </a:xfrm>
          <a:prstGeom prst="rect">
            <a:avLst/>
          </a:prstGeom>
        </p:spPr>
      </p:pic>
      <p:sp>
        <p:nvSpPr>
          <p:cNvPr id="137" name="TextBox 136"/>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38" name="TextBox 137"/>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39" name="Picture 138" descr="lock.png"/>
          <p:cNvPicPr>
            <a:picLocks noChangeAspect="1"/>
          </p:cNvPicPr>
          <p:nvPr/>
        </p:nvPicPr>
        <p:blipFill>
          <a:blip r:embed="rId4"/>
          <a:stretch>
            <a:fillRect/>
          </a:stretch>
        </p:blipFill>
        <p:spPr>
          <a:xfrm>
            <a:off x="4681754" y="1860931"/>
            <a:ext cx="128699" cy="187198"/>
          </a:xfrm>
          <a:prstGeom prst="rect">
            <a:avLst/>
          </a:prstGeom>
        </p:spPr>
      </p:pic>
      <p:sp>
        <p:nvSpPr>
          <p:cNvPr id="140" name="TextBox 139"/>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1" name="Picture 140" descr="lock.png"/>
          <p:cNvPicPr>
            <a:picLocks noChangeAspect="1"/>
          </p:cNvPicPr>
          <p:nvPr/>
        </p:nvPicPr>
        <p:blipFill>
          <a:blip r:embed="rId4"/>
          <a:stretch>
            <a:fillRect/>
          </a:stretch>
        </p:blipFill>
        <p:spPr>
          <a:xfrm>
            <a:off x="5000104" y="1860931"/>
            <a:ext cx="128699" cy="187198"/>
          </a:xfrm>
          <a:prstGeom prst="rect">
            <a:avLst/>
          </a:prstGeom>
        </p:spPr>
      </p:pic>
      <p:sp>
        <p:nvSpPr>
          <p:cNvPr id="142" name="TextBox 141"/>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3" name="TextBox 142"/>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44" name="Picture 143" descr="lock.png"/>
          <p:cNvPicPr>
            <a:picLocks noChangeAspect="1"/>
          </p:cNvPicPr>
          <p:nvPr/>
        </p:nvPicPr>
        <p:blipFill>
          <a:blip r:embed="rId4"/>
          <a:stretch>
            <a:fillRect/>
          </a:stretch>
        </p:blipFill>
        <p:spPr>
          <a:xfrm>
            <a:off x="7939304" y="1860931"/>
            <a:ext cx="128699" cy="187198"/>
          </a:xfrm>
          <a:prstGeom prst="rect">
            <a:avLst/>
          </a:prstGeom>
        </p:spPr>
      </p:pic>
      <p:sp>
        <p:nvSpPr>
          <p:cNvPr id="145" name="TextBox 144"/>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6" name="Picture 145" descr="lock.png"/>
          <p:cNvPicPr>
            <a:picLocks noChangeAspect="1"/>
          </p:cNvPicPr>
          <p:nvPr/>
        </p:nvPicPr>
        <p:blipFill>
          <a:blip r:embed="rId4"/>
          <a:stretch>
            <a:fillRect/>
          </a:stretch>
        </p:blipFill>
        <p:spPr>
          <a:xfrm>
            <a:off x="8257654" y="1860931"/>
            <a:ext cx="128699" cy="187198"/>
          </a:xfrm>
          <a:prstGeom prst="rect">
            <a:avLst/>
          </a:prstGeom>
        </p:spPr>
      </p:pic>
      <p:sp>
        <p:nvSpPr>
          <p:cNvPr id="147" name="TextBox 146"/>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8" name="TextBox 147"/>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49" name="Picture 148" descr="lock.png"/>
          <p:cNvPicPr>
            <a:picLocks noChangeAspect="1"/>
          </p:cNvPicPr>
          <p:nvPr/>
        </p:nvPicPr>
        <p:blipFill>
          <a:blip r:embed="rId4"/>
          <a:stretch>
            <a:fillRect/>
          </a:stretch>
        </p:blipFill>
        <p:spPr>
          <a:xfrm>
            <a:off x="10872946" y="1944751"/>
            <a:ext cx="128699" cy="187198"/>
          </a:xfrm>
          <a:prstGeom prst="rect">
            <a:avLst/>
          </a:prstGeom>
        </p:spPr>
      </p:pic>
      <p:sp>
        <p:nvSpPr>
          <p:cNvPr id="150" name="TextBox 149"/>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1" name="Picture 150" descr="lock.png"/>
          <p:cNvPicPr>
            <a:picLocks noChangeAspect="1"/>
          </p:cNvPicPr>
          <p:nvPr/>
        </p:nvPicPr>
        <p:blipFill>
          <a:blip r:embed="rId4"/>
          <a:stretch>
            <a:fillRect/>
          </a:stretch>
        </p:blipFill>
        <p:spPr>
          <a:xfrm>
            <a:off x="11191297" y="1944751"/>
            <a:ext cx="128699" cy="187198"/>
          </a:xfrm>
          <a:prstGeom prst="rect">
            <a:avLst/>
          </a:prstGeom>
        </p:spPr>
      </p:pic>
      <p:sp>
        <p:nvSpPr>
          <p:cNvPr id="152" name="TextBox 151"/>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53" name="TextBox 152"/>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54" name="Picture 153" descr="lock.png"/>
          <p:cNvPicPr>
            <a:picLocks noChangeAspect="1"/>
          </p:cNvPicPr>
          <p:nvPr/>
        </p:nvPicPr>
        <p:blipFill>
          <a:blip r:embed="rId4"/>
          <a:stretch>
            <a:fillRect/>
          </a:stretch>
        </p:blipFill>
        <p:spPr>
          <a:xfrm>
            <a:off x="9434331" y="3847846"/>
            <a:ext cx="128699" cy="187198"/>
          </a:xfrm>
          <a:prstGeom prst="rect">
            <a:avLst/>
          </a:prstGeom>
        </p:spPr>
      </p:pic>
      <p:sp>
        <p:nvSpPr>
          <p:cNvPr id="155" name="TextBox 154"/>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56" name="TextBox 155"/>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57" name="Picture 156" descr="lock.png"/>
          <p:cNvPicPr>
            <a:picLocks noChangeAspect="1"/>
          </p:cNvPicPr>
          <p:nvPr/>
        </p:nvPicPr>
        <p:blipFill>
          <a:blip r:embed="rId4"/>
          <a:stretch>
            <a:fillRect/>
          </a:stretch>
        </p:blipFill>
        <p:spPr>
          <a:xfrm>
            <a:off x="9730921" y="4015486"/>
            <a:ext cx="128699" cy="187198"/>
          </a:xfrm>
          <a:prstGeom prst="rect">
            <a:avLst/>
          </a:prstGeom>
        </p:spPr>
      </p:pic>
      <p:sp>
        <p:nvSpPr>
          <p:cNvPr id="158" name="TextBox 157"/>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59" name="TextBox 158"/>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0" name="Picture 159" descr="lock.png"/>
          <p:cNvPicPr>
            <a:picLocks noChangeAspect="1"/>
          </p:cNvPicPr>
          <p:nvPr/>
        </p:nvPicPr>
        <p:blipFill>
          <a:blip r:embed="rId4"/>
          <a:stretch>
            <a:fillRect/>
          </a:stretch>
        </p:blipFill>
        <p:spPr>
          <a:xfrm>
            <a:off x="11077170" y="5009895"/>
            <a:ext cx="128699" cy="187198"/>
          </a:xfrm>
          <a:prstGeom prst="rect">
            <a:avLst/>
          </a:prstGeom>
        </p:spPr>
      </p:pic>
      <p:sp>
        <p:nvSpPr>
          <p:cNvPr id="161" name="TextBox 160"/>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62" name="TextBox 161"/>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Foam Protective Packaging Market Competitive Dashboard View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7" name="TextBox 6"/>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8" name="Rounded Rectangle 7"/>
          <p:cNvSpPr/>
          <p:nvPr/>
        </p:nvSpPr>
        <p:spPr>
          <a:xfrm>
            <a:off x="133350" y="1153291"/>
            <a:ext cx="11925300" cy="4563424"/>
          </a:xfrm>
          <a:prstGeom prst="roundRect">
            <a:avLst>
              <a:gd name="adj" fmla="val 16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Company / Brand</a:t>
            </a:r>
          </a:p>
        </p:txBody>
      </p:sp>
      <p:sp>
        <p:nvSpPr>
          <p:cNvPr id="33" name="TextBox 32"/>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Product Portfolio</a:t>
            </a:r>
          </a:p>
        </p:txBody>
      </p:sp>
      <p:sp>
        <p:nvSpPr>
          <p:cNvPr id="34" name="TextBox 33"/>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Overall Rev (US$ Mn)</a:t>
            </a:r>
          </a:p>
        </p:txBody>
      </p:sp>
      <p:sp>
        <p:nvSpPr>
          <p:cNvPr id="35" name="TextBox 34"/>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Target Rev (US$ Mn)</a:t>
            </a:r>
          </a:p>
        </p:txBody>
      </p:sp>
      <p:sp>
        <p:nvSpPr>
          <p:cNvPr id="36" name="TextBox 35"/>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Market Share (%)</a:t>
            </a:r>
          </a:p>
        </p:txBody>
      </p:sp>
      <p:sp>
        <p:nvSpPr>
          <p:cNvPr id="37" name="TextBox 36"/>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Regional Presence</a:t>
            </a:r>
          </a:p>
        </p:txBody>
      </p:sp>
      <p:sp>
        <p:nvSpPr>
          <p:cNvPr id="38" name="TextBox 37"/>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Strategies</a:t>
            </a:r>
          </a:p>
        </p:txBody>
      </p:sp>
      <p:sp>
        <p:nvSpPr>
          <p:cNvPr id="39" name="TextBox 38"/>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Sealed Air Corporation</a:t>
            </a:r>
          </a:p>
        </p:txBody>
      </p:sp>
      <p:cxnSp>
        <p:nvCxnSpPr>
          <p:cNvPr id="40" name="Connector 39"/>
          <p:cNvCxnSpPr/>
          <p:nvPr/>
        </p:nvCxnSpPr>
        <p:spPr>
          <a:xfrm>
            <a:off x="16049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2" name="TextBox 41"/>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3" name="TextBox 42"/>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4" name="Rectangle 43"/>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8" name="TextBox 47"/>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9" name="Oval 48"/>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53" name="TextBox 52"/>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4" name="Oval 53"/>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6" name="Oval 55"/>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58" name="Oval 57"/>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0" name="Oval 59"/>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2" name="Oval 61"/>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4" name="Oval 63"/>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6" name="Oval 65"/>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68" name="TextBox 67"/>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Company</a:t>
            </a:r>
          </a:p>
        </p:txBody>
      </p:sp>
      <p:cxnSp>
        <p:nvCxnSpPr>
          <p:cNvPr id="69" name="Connector 68"/>
          <p:cNvCxnSpPr/>
          <p:nvPr/>
        </p:nvCxnSpPr>
        <p:spPr>
          <a:xfrm>
            <a:off x="26812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1" name="TextBox 70"/>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2" name="TextBox 71"/>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3" name="Rectangle 72"/>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7" name="TextBox 76"/>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8" name="Oval 77"/>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82" name="TextBox 81"/>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3" name="Oval 82"/>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5" name="Oval 84"/>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87" name="Oval 86"/>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89" name="Oval 88"/>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1" name="Oval 90"/>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3" name="Oval 92"/>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5" name="Oval 94"/>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97" name="TextBox 96"/>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BOBST Group SA</a:t>
            </a:r>
          </a:p>
        </p:txBody>
      </p:sp>
      <p:cxnSp>
        <p:nvCxnSpPr>
          <p:cNvPr id="98" name="Connector 97"/>
          <p:cNvCxnSpPr/>
          <p:nvPr/>
        </p:nvCxnSpPr>
        <p:spPr>
          <a:xfrm>
            <a:off x="37576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0" name="TextBox 99"/>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1" name="TextBox 100"/>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2" name="Rectangle 101"/>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6" name="TextBox 105"/>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7" name="Oval 106"/>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11" name="TextBox 110"/>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2" name="Oval 111"/>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4" name="Oval 113"/>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6" name="Oval 115"/>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18" name="Oval 117"/>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0" name="Oval 119"/>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2" name="Oval 121"/>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4" name="Oval 123"/>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6" name="TextBox 125"/>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BHS Corrugated Maschinen- und Anlagenbau GmbH</a:t>
            </a:r>
          </a:p>
        </p:txBody>
      </p:sp>
      <p:cxnSp>
        <p:nvCxnSpPr>
          <p:cNvPr id="127" name="Connector 126"/>
          <p:cNvCxnSpPr/>
          <p:nvPr/>
        </p:nvCxnSpPr>
        <p:spPr>
          <a:xfrm>
            <a:off x="48339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29" name="TextBox 128"/>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0" name="TextBox 129"/>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1" name="Rectangle 130"/>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5" name="TextBox 134"/>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6" name="Oval 135"/>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40" name="TextBox 139"/>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9AA3A8"/>
                </a:solidFill>
                <a:latin typeface="Calibri"/>
              </a:rPr>
              <a:t>▲</a:t>
            </a:r>
          </a:p>
        </p:txBody>
      </p:sp>
      <p:sp>
        <p:nvSpPr>
          <p:cNvPr id="141" name="Oval 140"/>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3" name="Oval 142"/>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5" name="Oval 144"/>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47" name="Oval 146"/>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49" name="Oval 148"/>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1" name="Oval 150"/>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3" name="Oval 152"/>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5" name="TextBox 154"/>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BW Papersystems</a:t>
            </a:r>
          </a:p>
        </p:txBody>
      </p:sp>
      <p:cxnSp>
        <p:nvCxnSpPr>
          <p:cNvPr id="156" name="Connector 155"/>
          <p:cNvCxnSpPr/>
          <p:nvPr/>
        </p:nvCxnSpPr>
        <p:spPr>
          <a:xfrm>
            <a:off x="59102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58" name="TextBox 157"/>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59" name="TextBox 158"/>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0" name="Rectangle 159"/>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4" name="TextBox 163"/>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5" name="Oval 164"/>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69" name="TextBox 168"/>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0" name="Oval 169"/>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2" name="Oval 171"/>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4" name="Oval 173"/>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6" name="Oval 175"/>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78" name="Oval 177"/>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0" name="Oval 179"/>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2" name="Oval 181"/>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4" name="TextBox 183"/>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Fosber Group</a:t>
            </a:r>
          </a:p>
        </p:txBody>
      </p:sp>
      <p:cxnSp>
        <p:nvCxnSpPr>
          <p:cNvPr id="185" name="Connector 184"/>
          <p:cNvCxnSpPr/>
          <p:nvPr/>
        </p:nvCxnSpPr>
        <p:spPr>
          <a:xfrm>
            <a:off x="69865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87" name="TextBox 186"/>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88" name="TextBox 187"/>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89" name="Rectangle 188"/>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3" name="TextBox 192"/>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4" name="Oval 193"/>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Freeform 194"/>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98" name="TextBox 197"/>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and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199" name="Oval 198"/>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1" name="Oval 200"/>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3" name="Oval 202"/>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5" name="Oval 204"/>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07" name="Oval 206"/>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09" name="Oval 208"/>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1" name="Oval 210"/>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3" name="TextBox 212"/>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Mitsubishi Heavy Industries Machinery Systems, Ltd.</a:t>
            </a:r>
          </a:p>
        </p:txBody>
      </p:sp>
      <p:cxnSp>
        <p:nvCxnSpPr>
          <p:cNvPr id="214" name="Connector 213"/>
          <p:cNvCxnSpPr/>
          <p:nvPr/>
        </p:nvCxnSpPr>
        <p:spPr>
          <a:xfrm>
            <a:off x="80629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6" name="TextBox 215"/>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7" name="TextBox 216"/>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18" name="Rectangle 217"/>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2" name="TextBox 221"/>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3" name="Oval 222"/>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Freeform 223"/>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27" name="TextBox 226"/>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28" name="Oval 227"/>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0" name="Oval 229"/>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2" name="Oval 231"/>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4" name="Oval 233"/>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6" name="Oval 235"/>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38" name="Oval 237"/>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0" name="Oval 239"/>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2" name="TextBox 241"/>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EMBA Machinery AB</a:t>
            </a:r>
          </a:p>
        </p:txBody>
      </p:sp>
      <p:cxnSp>
        <p:nvCxnSpPr>
          <p:cNvPr id="243" name="Connector 242"/>
          <p:cNvCxnSpPr/>
          <p:nvPr/>
        </p:nvCxnSpPr>
        <p:spPr>
          <a:xfrm>
            <a:off x="91392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44" name="TextBox 243"/>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5" name="TextBox 244"/>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6" name="TextBox 245"/>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47" name="Rectangle 246"/>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1" name="TextBox 250"/>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2" name="Oval 251"/>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Freeform 252"/>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56" name="TextBox 255"/>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57" name="Oval 256"/>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59" name="Oval 258"/>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1" name="Oval 260"/>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3" name="Oval 262"/>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5" name="Oval 264"/>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67" name="Oval 266"/>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69" name="Oval 268"/>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1" name="TextBox 270"/>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Koenig &amp; Bauer Celmacch</a:t>
            </a:r>
          </a:p>
        </p:txBody>
      </p:sp>
      <p:cxnSp>
        <p:nvCxnSpPr>
          <p:cNvPr id="272" name="Connector 271"/>
          <p:cNvCxnSpPr/>
          <p:nvPr/>
        </p:nvCxnSpPr>
        <p:spPr>
          <a:xfrm>
            <a:off x="102155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73" name="TextBox 272"/>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4" name="TextBox 273"/>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5" name="TextBox 274"/>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6" name="Rectangle 275"/>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0" name="TextBox 279"/>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1" name="Oval 280"/>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Freeform 281"/>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85" name="TextBox 284"/>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6" name="Oval 285"/>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88" name="Oval 287"/>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0" name="Oval 289"/>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2" name="Oval 291"/>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4" name="Oval 293"/>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6" name="Oval 295"/>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98" name="Oval 297"/>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0" name="TextBox 299"/>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Göpfert Maschinen GmbH</a:t>
            </a:r>
          </a:p>
        </p:txBody>
      </p:sp>
      <p:cxnSp>
        <p:nvCxnSpPr>
          <p:cNvPr id="301" name="Connector 300"/>
          <p:cNvCxnSpPr/>
          <p:nvPr/>
        </p:nvCxnSpPr>
        <p:spPr>
          <a:xfrm>
            <a:off x="112918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02" name="TextBox 301"/>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3" name="TextBox 302"/>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4" name="TextBox 303"/>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5" name="Rectangle 304"/>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09" name="TextBox 308"/>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0" name="Oval 309"/>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Freeform 310"/>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314" name="TextBox 313"/>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and Africa  </a:t>
            </a:r>
            <a:r>
              <a:rPr sz="1100" b="1">
                <a:solidFill>
                  <a:srgbClr val="9AA3A8"/>
                </a:solidFill>
                <a:latin typeface="Calibri"/>
              </a:rPr>
              <a:t>▲</a:t>
            </a:r>
          </a:p>
        </p:txBody>
      </p:sp>
      <p:sp>
        <p:nvSpPr>
          <p:cNvPr id="315" name="Oval 314"/>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17" name="Oval 316"/>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19" name="Oval 318"/>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1" name="Oval 320"/>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3" name="Oval 322"/>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5" name="Oval 324"/>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27" name="Oval 326"/>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29" name="TextBox 328"/>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0" name="Rectangle 329"/>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535906" y="5716715"/>
            <a:ext cx="1328700" cy="164283"/>
          </a:xfrm>
          <a:prstGeom prst="rect">
            <a:avLst/>
          </a:prstGeom>
          <a:noFill/>
        </p:spPr>
        <p:txBody>
          <a:bodyPr wrap="square" lIns="0" rIns="0" tIns="0" bIns="0" anchor="ctr">
            <a:spAutoFit/>
          </a:bodyPr>
          <a:lstStyle/>
          <a:p>
            <a:pPr algn="l"/>
            <a:r>
              <a:rPr sz="1100" b="0">
                <a:solidFill>
                  <a:srgbClr val="2E2E2E"/>
                </a:solidFill>
                <a:latin typeface="Calibri"/>
              </a:rPr>
              <a:t>Other Foam Materials</a:t>
            </a:r>
          </a:p>
        </p:txBody>
      </p:sp>
      <p:sp>
        <p:nvSpPr>
          <p:cNvPr id="332" name="Rectangle 331"/>
          <p:cNvSpPr/>
          <p:nvPr/>
        </p:nvSpPr>
        <p:spPr>
          <a:xfrm>
            <a:off x="2921757"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3074157" y="5716715"/>
            <a:ext cx="1662112" cy="164283"/>
          </a:xfrm>
          <a:prstGeom prst="rect">
            <a:avLst/>
          </a:prstGeom>
          <a:noFill/>
        </p:spPr>
        <p:txBody>
          <a:bodyPr wrap="square" lIns="0" rIns="0" tIns="0" bIns="0" anchor="ctr">
            <a:spAutoFit/>
          </a:bodyPr>
          <a:lstStyle/>
          <a:p>
            <a:pPr algn="l"/>
            <a:r>
              <a:rPr sz="1100" b="0">
                <a:solidFill>
                  <a:srgbClr val="2E2E2E"/>
                </a:solidFill>
                <a:latin typeface="Calibri"/>
              </a:rPr>
              <a:t>Expanded Polystyrene (EPS)</a:t>
            </a:r>
          </a:p>
        </p:txBody>
      </p:sp>
      <p:sp>
        <p:nvSpPr>
          <p:cNvPr id="334" name="Rectangle 333"/>
          <p:cNvSpPr/>
          <p:nvPr/>
        </p:nvSpPr>
        <p:spPr>
          <a:xfrm>
            <a:off x="4793419"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4945819" y="5716715"/>
            <a:ext cx="1821656" cy="164283"/>
          </a:xfrm>
          <a:prstGeom prst="rect">
            <a:avLst/>
          </a:prstGeom>
          <a:noFill/>
        </p:spPr>
        <p:txBody>
          <a:bodyPr wrap="square" lIns="0" rIns="0" tIns="0" bIns="0" anchor="ctr">
            <a:spAutoFit/>
          </a:bodyPr>
          <a:lstStyle/>
          <a:p>
            <a:pPr algn="l"/>
            <a:r>
              <a:rPr sz="1100" b="0">
                <a:solidFill>
                  <a:srgbClr val="2E2E2E"/>
                </a:solidFill>
                <a:latin typeface="Calibri"/>
              </a:rPr>
              <a:t>Expanded Polypropylene (EPP)</a:t>
            </a:r>
          </a:p>
        </p:txBody>
      </p:sp>
      <p:sp>
        <p:nvSpPr>
          <p:cNvPr id="336" name="Rectangle 335"/>
          <p:cNvSpPr/>
          <p:nvPr/>
        </p:nvSpPr>
        <p:spPr>
          <a:xfrm>
            <a:off x="6824625"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6977025"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38" name="TextBox 337"/>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39" name="TextBox 338"/>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0" name="TextBox 339"/>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1" name="TextBox 340"/>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2" name="TextBox 341"/>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3" name="TextBox 342"/>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4" name="TextBox 343"/>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5" name="TextBox 344"/>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6" name="TextBox 345"/>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47" name="TextBox 346"/>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48" name="TextBox 347"/>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49" name="Oval 348"/>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349"/>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1" name="TextBox 350"/>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2" name="Oval 351"/>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4" name="TextBox 353"/>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5" name="Oval 354"/>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57" name="TextBox 356"/>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58" name="Oval 357"/>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0" name="TextBox 359"/>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1" name="Oval 360"/>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3" name="TextBox 362"/>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4" name="Oval 363"/>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6" name="TextBox 365"/>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67" name="Oval 366"/>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69" name="TextBox 368"/>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0" name="TextBox 369"/>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1" name="TextBox 370"/>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2" name="Rectangle 37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TextBox 3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74" name="Picture 373" descr="lock.png"/>
          <p:cNvPicPr>
            <a:picLocks noChangeAspect="1"/>
          </p:cNvPicPr>
          <p:nvPr/>
        </p:nvPicPr>
        <p:blipFill>
          <a:blip r:embed="rId4"/>
          <a:stretch>
            <a:fillRect/>
          </a:stretch>
        </p:blipFill>
        <p:spPr>
          <a:xfrm>
            <a:off x="1769213" y="2702524"/>
            <a:ext cx="128699" cy="187198"/>
          </a:xfrm>
          <a:prstGeom prst="rect">
            <a:avLst/>
          </a:prstGeom>
        </p:spPr>
      </p:pic>
      <p:pic>
        <p:nvPicPr>
          <p:cNvPr id="375" name="Picture 374" descr="lock.png"/>
          <p:cNvPicPr>
            <a:picLocks noChangeAspect="1"/>
          </p:cNvPicPr>
          <p:nvPr/>
        </p:nvPicPr>
        <p:blipFill>
          <a:blip r:embed="rId4"/>
          <a:stretch>
            <a:fillRect/>
          </a:stretch>
        </p:blipFill>
        <p:spPr>
          <a:xfrm>
            <a:off x="1769213" y="3031091"/>
            <a:ext cx="128699" cy="187198"/>
          </a:xfrm>
          <a:prstGeom prst="rect">
            <a:avLst/>
          </a:prstGeom>
        </p:spPr>
      </p:pic>
      <p:pic>
        <p:nvPicPr>
          <p:cNvPr id="376" name="Picture 375" descr="lock.png"/>
          <p:cNvPicPr>
            <a:picLocks noChangeAspect="1"/>
          </p:cNvPicPr>
          <p:nvPr/>
        </p:nvPicPr>
        <p:blipFill>
          <a:blip r:embed="rId4"/>
          <a:stretch>
            <a:fillRect/>
          </a:stretch>
        </p:blipFill>
        <p:spPr>
          <a:xfrm>
            <a:off x="1769212" y="3560448"/>
            <a:ext cx="128699" cy="187198"/>
          </a:xfrm>
          <a:prstGeom prst="rect">
            <a:avLst/>
          </a:prstGeom>
        </p:spPr>
      </p:pic>
      <p:pic>
        <p:nvPicPr>
          <p:cNvPr id="377" name="Picture 376" descr="lock.png"/>
          <p:cNvPicPr>
            <a:picLocks noChangeAspect="1"/>
          </p:cNvPicPr>
          <p:nvPr/>
        </p:nvPicPr>
        <p:blipFill>
          <a:blip r:embed="rId4"/>
          <a:stretch>
            <a:fillRect/>
          </a:stretch>
        </p:blipFill>
        <p:spPr>
          <a:xfrm>
            <a:off x="2845538" y="2702524"/>
            <a:ext cx="128699" cy="187198"/>
          </a:xfrm>
          <a:prstGeom prst="rect">
            <a:avLst/>
          </a:prstGeom>
        </p:spPr>
      </p:pic>
      <p:pic>
        <p:nvPicPr>
          <p:cNvPr id="378" name="Picture 377" descr="lock.png"/>
          <p:cNvPicPr>
            <a:picLocks noChangeAspect="1"/>
          </p:cNvPicPr>
          <p:nvPr/>
        </p:nvPicPr>
        <p:blipFill>
          <a:blip r:embed="rId4"/>
          <a:stretch>
            <a:fillRect/>
          </a:stretch>
        </p:blipFill>
        <p:spPr>
          <a:xfrm>
            <a:off x="2845538" y="3031091"/>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3560448"/>
            <a:ext cx="128699" cy="187198"/>
          </a:xfrm>
          <a:prstGeom prst="rect">
            <a:avLst/>
          </a:prstGeom>
        </p:spPr>
      </p:pic>
      <p:pic>
        <p:nvPicPr>
          <p:cNvPr id="380" name="Picture 379" descr="lock.png"/>
          <p:cNvPicPr>
            <a:picLocks noChangeAspect="1"/>
          </p:cNvPicPr>
          <p:nvPr/>
        </p:nvPicPr>
        <p:blipFill>
          <a:blip r:embed="rId4"/>
          <a:stretch>
            <a:fillRect/>
          </a:stretch>
        </p:blipFill>
        <p:spPr>
          <a:xfrm>
            <a:off x="3921863" y="2702524"/>
            <a:ext cx="128699" cy="187198"/>
          </a:xfrm>
          <a:prstGeom prst="rect">
            <a:avLst/>
          </a:prstGeom>
        </p:spPr>
      </p:pic>
      <p:pic>
        <p:nvPicPr>
          <p:cNvPr id="381" name="Picture 380" descr="lock.png"/>
          <p:cNvPicPr>
            <a:picLocks noChangeAspect="1"/>
          </p:cNvPicPr>
          <p:nvPr/>
        </p:nvPicPr>
        <p:blipFill>
          <a:blip r:embed="rId4"/>
          <a:stretch>
            <a:fillRect/>
          </a:stretch>
        </p:blipFill>
        <p:spPr>
          <a:xfrm>
            <a:off x="3921863" y="3031091"/>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2" y="3560448"/>
            <a:ext cx="128699" cy="187198"/>
          </a:xfrm>
          <a:prstGeom prst="rect">
            <a:avLst/>
          </a:prstGeom>
        </p:spPr>
      </p:pic>
      <p:pic>
        <p:nvPicPr>
          <p:cNvPr id="383" name="Picture 382" descr="lock.png"/>
          <p:cNvPicPr>
            <a:picLocks noChangeAspect="1"/>
          </p:cNvPicPr>
          <p:nvPr/>
        </p:nvPicPr>
        <p:blipFill>
          <a:blip r:embed="rId4"/>
          <a:stretch>
            <a:fillRect/>
          </a:stretch>
        </p:blipFill>
        <p:spPr>
          <a:xfrm>
            <a:off x="4998188" y="2702524"/>
            <a:ext cx="128699" cy="187198"/>
          </a:xfrm>
          <a:prstGeom prst="rect">
            <a:avLst/>
          </a:prstGeom>
        </p:spPr>
      </p:pic>
      <p:pic>
        <p:nvPicPr>
          <p:cNvPr id="384" name="Picture 383" descr="lock.png"/>
          <p:cNvPicPr>
            <a:picLocks noChangeAspect="1"/>
          </p:cNvPicPr>
          <p:nvPr/>
        </p:nvPicPr>
        <p:blipFill>
          <a:blip r:embed="rId4"/>
          <a:stretch>
            <a:fillRect/>
          </a:stretch>
        </p:blipFill>
        <p:spPr>
          <a:xfrm>
            <a:off x="4998188" y="3031091"/>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3560448"/>
            <a:ext cx="128699" cy="187198"/>
          </a:xfrm>
          <a:prstGeom prst="rect">
            <a:avLst/>
          </a:prstGeom>
        </p:spPr>
      </p:pic>
      <p:pic>
        <p:nvPicPr>
          <p:cNvPr id="386" name="Picture 385" descr="lock.png"/>
          <p:cNvPicPr>
            <a:picLocks noChangeAspect="1"/>
          </p:cNvPicPr>
          <p:nvPr/>
        </p:nvPicPr>
        <p:blipFill>
          <a:blip r:embed="rId4"/>
          <a:stretch>
            <a:fillRect/>
          </a:stretch>
        </p:blipFill>
        <p:spPr>
          <a:xfrm>
            <a:off x="6074513" y="2702524"/>
            <a:ext cx="128699" cy="187198"/>
          </a:xfrm>
          <a:prstGeom prst="rect">
            <a:avLst/>
          </a:prstGeom>
        </p:spPr>
      </p:pic>
      <p:pic>
        <p:nvPicPr>
          <p:cNvPr id="387" name="Picture 386" descr="lock.png"/>
          <p:cNvPicPr>
            <a:picLocks noChangeAspect="1"/>
          </p:cNvPicPr>
          <p:nvPr/>
        </p:nvPicPr>
        <p:blipFill>
          <a:blip r:embed="rId4"/>
          <a:stretch>
            <a:fillRect/>
          </a:stretch>
        </p:blipFill>
        <p:spPr>
          <a:xfrm>
            <a:off x="6074513" y="3031091"/>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2" y="3560448"/>
            <a:ext cx="128699" cy="187198"/>
          </a:xfrm>
          <a:prstGeom prst="rect">
            <a:avLst/>
          </a:prstGeom>
        </p:spPr>
      </p:pic>
      <p:pic>
        <p:nvPicPr>
          <p:cNvPr id="389" name="Picture 388" descr="lock.png"/>
          <p:cNvPicPr>
            <a:picLocks noChangeAspect="1"/>
          </p:cNvPicPr>
          <p:nvPr/>
        </p:nvPicPr>
        <p:blipFill>
          <a:blip r:embed="rId4"/>
          <a:stretch>
            <a:fillRect/>
          </a:stretch>
        </p:blipFill>
        <p:spPr>
          <a:xfrm>
            <a:off x="7150838" y="2702524"/>
            <a:ext cx="128699" cy="187198"/>
          </a:xfrm>
          <a:prstGeom prst="rect">
            <a:avLst/>
          </a:prstGeom>
        </p:spPr>
      </p:pic>
      <p:pic>
        <p:nvPicPr>
          <p:cNvPr id="390" name="Picture 389" descr="lock.png"/>
          <p:cNvPicPr>
            <a:picLocks noChangeAspect="1"/>
          </p:cNvPicPr>
          <p:nvPr/>
        </p:nvPicPr>
        <p:blipFill>
          <a:blip r:embed="rId4"/>
          <a:stretch>
            <a:fillRect/>
          </a:stretch>
        </p:blipFill>
        <p:spPr>
          <a:xfrm>
            <a:off x="7150838" y="3031091"/>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3560448"/>
            <a:ext cx="128699" cy="187198"/>
          </a:xfrm>
          <a:prstGeom prst="rect">
            <a:avLst/>
          </a:prstGeom>
        </p:spPr>
      </p:pic>
      <p:pic>
        <p:nvPicPr>
          <p:cNvPr id="392" name="Picture 391" descr="lock.png"/>
          <p:cNvPicPr>
            <a:picLocks noChangeAspect="1"/>
          </p:cNvPicPr>
          <p:nvPr/>
        </p:nvPicPr>
        <p:blipFill>
          <a:blip r:embed="rId4"/>
          <a:stretch>
            <a:fillRect/>
          </a:stretch>
        </p:blipFill>
        <p:spPr>
          <a:xfrm>
            <a:off x="8227163" y="2702524"/>
            <a:ext cx="128699" cy="187198"/>
          </a:xfrm>
          <a:prstGeom prst="rect">
            <a:avLst/>
          </a:prstGeom>
        </p:spPr>
      </p:pic>
      <p:pic>
        <p:nvPicPr>
          <p:cNvPr id="393" name="Picture 392" descr="lock.png"/>
          <p:cNvPicPr>
            <a:picLocks noChangeAspect="1"/>
          </p:cNvPicPr>
          <p:nvPr/>
        </p:nvPicPr>
        <p:blipFill>
          <a:blip r:embed="rId4"/>
          <a:stretch>
            <a:fillRect/>
          </a:stretch>
        </p:blipFill>
        <p:spPr>
          <a:xfrm>
            <a:off x="8227163" y="3031091"/>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2" y="3560448"/>
            <a:ext cx="128699" cy="187198"/>
          </a:xfrm>
          <a:prstGeom prst="rect">
            <a:avLst/>
          </a:prstGeom>
        </p:spPr>
      </p:pic>
      <p:pic>
        <p:nvPicPr>
          <p:cNvPr id="395" name="Picture 394" descr="lock.png"/>
          <p:cNvPicPr>
            <a:picLocks noChangeAspect="1"/>
          </p:cNvPicPr>
          <p:nvPr/>
        </p:nvPicPr>
        <p:blipFill>
          <a:blip r:embed="rId4"/>
          <a:stretch>
            <a:fillRect/>
          </a:stretch>
        </p:blipFill>
        <p:spPr>
          <a:xfrm>
            <a:off x="9303488" y="2702524"/>
            <a:ext cx="128699" cy="187198"/>
          </a:xfrm>
          <a:prstGeom prst="rect">
            <a:avLst/>
          </a:prstGeom>
        </p:spPr>
      </p:pic>
      <p:pic>
        <p:nvPicPr>
          <p:cNvPr id="396" name="Picture 395" descr="lock.png"/>
          <p:cNvPicPr>
            <a:picLocks noChangeAspect="1"/>
          </p:cNvPicPr>
          <p:nvPr/>
        </p:nvPicPr>
        <p:blipFill>
          <a:blip r:embed="rId4"/>
          <a:stretch>
            <a:fillRect/>
          </a:stretch>
        </p:blipFill>
        <p:spPr>
          <a:xfrm>
            <a:off x="9303488" y="3031091"/>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3560448"/>
            <a:ext cx="128699" cy="187198"/>
          </a:xfrm>
          <a:prstGeom prst="rect">
            <a:avLst/>
          </a:prstGeom>
        </p:spPr>
      </p:pic>
      <p:pic>
        <p:nvPicPr>
          <p:cNvPr id="398" name="Picture 397" descr="lock.png"/>
          <p:cNvPicPr>
            <a:picLocks noChangeAspect="1"/>
          </p:cNvPicPr>
          <p:nvPr/>
        </p:nvPicPr>
        <p:blipFill>
          <a:blip r:embed="rId4"/>
          <a:stretch>
            <a:fillRect/>
          </a:stretch>
        </p:blipFill>
        <p:spPr>
          <a:xfrm>
            <a:off x="10379813" y="2702524"/>
            <a:ext cx="128699" cy="187198"/>
          </a:xfrm>
          <a:prstGeom prst="rect">
            <a:avLst/>
          </a:prstGeom>
        </p:spPr>
      </p:pic>
      <p:pic>
        <p:nvPicPr>
          <p:cNvPr id="399" name="Picture 398" descr="lock.png"/>
          <p:cNvPicPr>
            <a:picLocks noChangeAspect="1"/>
          </p:cNvPicPr>
          <p:nvPr/>
        </p:nvPicPr>
        <p:blipFill>
          <a:blip r:embed="rId4"/>
          <a:stretch>
            <a:fillRect/>
          </a:stretch>
        </p:blipFill>
        <p:spPr>
          <a:xfrm>
            <a:off x="10379813" y="3031091"/>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2" y="3560448"/>
            <a:ext cx="128699" cy="187198"/>
          </a:xfrm>
          <a:prstGeom prst="rect">
            <a:avLst/>
          </a:prstGeom>
        </p:spPr>
      </p:pic>
      <p:pic>
        <p:nvPicPr>
          <p:cNvPr id="401" name="Picture 400" descr="lock.png"/>
          <p:cNvPicPr>
            <a:picLocks noChangeAspect="1"/>
          </p:cNvPicPr>
          <p:nvPr/>
        </p:nvPicPr>
        <p:blipFill>
          <a:blip r:embed="rId4"/>
          <a:stretch>
            <a:fillRect/>
          </a:stretch>
        </p:blipFill>
        <p:spPr>
          <a:xfrm>
            <a:off x="11456138" y="2702524"/>
            <a:ext cx="128699" cy="187198"/>
          </a:xfrm>
          <a:prstGeom prst="rect">
            <a:avLst/>
          </a:prstGeom>
        </p:spPr>
      </p:pic>
      <p:pic>
        <p:nvPicPr>
          <p:cNvPr id="402" name="Picture 401" descr="lock.png"/>
          <p:cNvPicPr>
            <a:picLocks noChangeAspect="1"/>
          </p:cNvPicPr>
          <p:nvPr/>
        </p:nvPicPr>
        <p:blipFill>
          <a:blip r:embed="rId4"/>
          <a:stretch>
            <a:fillRect/>
          </a:stretch>
        </p:blipFill>
        <p:spPr>
          <a:xfrm>
            <a:off x="11456138" y="3031091"/>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88824" cy="6858001"/>
          </a:xfrm>
          <a:prstGeom prst="rect">
            <a:avLst/>
          </a:prstGeom>
        </p:spPr>
      </p:pic>
      <p:grpSp>
        <p:nvGrpSpPr>
          <p:cNvPr id="4" name="Group 54"/>
          <p:cNvGrpSpPr/>
          <p:nvPr/>
        </p:nvGrpSpPr>
        <p:grpSpPr>
          <a:xfrm>
            <a:off x="3791331" y="4349877"/>
            <a:ext cx="7897432" cy="1533454"/>
            <a:chOff x="3791331" y="4349877"/>
            <a:chExt cx="7897432" cy="1533454"/>
          </a:xfrm>
        </p:grpSpPr>
        <p:sp>
          <p:nvSpPr>
            <p:cNvPr id="5" name="TextBox 55"/>
            <p:cNvSpPr txBox="1"/>
            <p:nvPr/>
          </p:nvSpPr>
          <p:spPr>
            <a:xfrm>
              <a:off x="3791331" y="4349877"/>
              <a:ext cx="3739101" cy="307777"/>
            </a:xfrm>
            <a:prstGeom prst="rect">
              <a:avLst/>
            </a:prstGeom>
            <a:noFill/>
          </p:spPr>
          <p:txBody>
            <a:bodyPr wrap="none" rtlCol="0">
              <a:spAutoFit/>
            </a:bodyPr>
            <a:lstStyle/>
            <a:p>
              <a:r>
                <a:rPr lang="en-IN" sz="1400" dirty="0"/>
                <a:t>To know more about us, please visit our website:</a:t>
              </a:r>
            </a:p>
          </p:txBody>
        </p:sp>
        <p:sp>
          <p:nvSpPr>
            <p:cNvPr id="6" name="TextBox 56"/>
            <p:cNvSpPr txBox="1"/>
            <p:nvPr/>
          </p:nvSpPr>
          <p:spPr>
            <a:xfrm>
              <a:off x="3791331" y="4660773"/>
              <a:ext cx="3121496" cy="307777"/>
            </a:xfrm>
            <a:prstGeom prst="rect">
              <a:avLst/>
            </a:prstGeom>
            <a:noFill/>
          </p:spPr>
          <p:txBody>
            <a:bodyPr wrap="none" rtlCol="0">
              <a:spAutoFit/>
            </a:bodyPr>
            <a:lstStyle/>
            <a:p>
              <a:r>
                <a:rPr lang="en-IN" sz="1400" b="1" dirty="0"/>
                <a:t>www.transparencymarketresearch.com</a:t>
              </a:r>
            </a:p>
          </p:txBody>
        </p:sp>
        <p:sp>
          <p:nvSpPr>
            <p:cNvPr id="7" name="TextBox 57"/>
            <p:cNvSpPr txBox="1"/>
            <p:nvPr/>
          </p:nvSpPr>
          <p:spPr>
            <a:xfrm>
              <a:off x="3791331" y="5264658"/>
              <a:ext cx="3364767" cy="307777"/>
            </a:xfrm>
            <a:prstGeom prst="rect">
              <a:avLst/>
            </a:prstGeom>
            <a:noFill/>
          </p:spPr>
          <p:txBody>
            <a:bodyPr wrap="none" rtlCol="0">
              <a:spAutoFit/>
            </a:bodyPr>
            <a:lstStyle/>
            <a:p>
              <a:r>
                <a:rPr lang="en-IN" sz="1400" dirty="0"/>
                <a:t>For Sales queries or new topics email us on:</a:t>
              </a:r>
            </a:p>
          </p:txBody>
        </p:sp>
        <p:sp>
          <p:nvSpPr>
            <p:cNvPr id="8" name="TextBox 59"/>
            <p:cNvSpPr txBox="1"/>
            <p:nvPr/>
          </p:nvSpPr>
          <p:spPr>
            <a:xfrm>
              <a:off x="3791331" y="5575554"/>
              <a:ext cx="3097836" cy="307777"/>
            </a:xfrm>
            <a:prstGeom prst="rect">
              <a:avLst/>
            </a:prstGeom>
            <a:noFill/>
          </p:spPr>
          <p:txBody>
            <a:bodyPr wrap="none" rtlCol="0">
              <a:spAutoFit/>
            </a:bodyPr>
            <a:lstStyle/>
            <a:p>
              <a:r>
                <a:rPr lang="en-IN" sz="1400" b="1" dirty="0"/>
                <a:t>sales.transparencymarketresearch.com</a:t>
              </a:r>
            </a:p>
          </p:txBody>
        </p:sp>
        <p:sp>
          <p:nvSpPr>
            <p:cNvPr id="9" name="TextBox 60"/>
            <p:cNvSpPr txBox="1"/>
            <p:nvPr/>
          </p:nvSpPr>
          <p:spPr>
            <a:xfrm>
              <a:off x="9562732" y="4349877"/>
              <a:ext cx="2126031" cy="1384995"/>
            </a:xfrm>
            <a:prstGeom prst="rect">
              <a:avLst/>
            </a:prstGeom>
            <a:noFill/>
          </p:spPr>
          <p:txBody>
            <a:bodyPr wrap="none" rtlCol="0">
              <a:spAutoFit/>
            </a:bodyPr>
            <a:lstStyle/>
            <a:p>
              <a:pPr algn="r">
                <a:lnSpc>
                  <a:spcPct val="150000"/>
                </a:lnSpc>
              </a:pPr>
              <a:r>
                <a:rPr lang="en-IN" sz="1400" dirty="0"/>
                <a:t>For other Queries Contact:</a:t>
              </a:r>
            </a:p>
            <a:p>
              <a:pPr algn="r">
                <a:lnSpc>
                  <a:spcPct val="150000"/>
                </a:lnSpc>
              </a:pPr>
              <a:r>
                <a:rPr lang="en-IN" sz="1400" dirty="0"/>
                <a:t>90 State Street, Albany</a:t>
              </a:r>
            </a:p>
            <a:p>
              <a:pPr algn="r">
                <a:lnSpc>
                  <a:spcPct val="150000"/>
                </a:lnSpc>
              </a:pPr>
              <a:r>
                <a:rPr lang="en-IN" sz="1400" dirty="0"/>
                <a:t>NY – 12207, United States</a:t>
              </a:r>
            </a:p>
            <a:p>
              <a:pPr algn="r">
                <a:lnSpc>
                  <a:spcPct val="150000"/>
                </a:lnSpc>
              </a:pPr>
              <a:r>
                <a:rPr lang="en-IN" sz="1400" dirty="0"/>
                <a:t>Tel: +1-518-618-1030</a:t>
              </a:r>
            </a:p>
          </p:txBody>
        </p:sp>
      </p:grpSp>
      <p:pic>
        <p:nvPicPr>
          <p:cNvPr id="10" name="Picture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750" y="123825"/>
            <a:ext cx="1492575" cy="1152525"/>
          </a:xfrm>
          <a:prstGeom prst="rect">
            <a:avLst/>
          </a:prstGeom>
        </p:spPr>
      </p:pic>
      <p:sp>
        <p:nvSpPr>
          <p:cNvPr id="11" name="TextBox 71"/>
          <p:cNvSpPr txBox="1"/>
          <p:nvPr/>
        </p:nvSpPr>
        <p:spPr>
          <a:xfrm>
            <a:off x="1431419" y="2409825"/>
            <a:ext cx="4964822" cy="1107996"/>
          </a:xfrm>
          <a:prstGeom prst="rect">
            <a:avLst/>
          </a:prstGeom>
          <a:noFill/>
        </p:spPr>
        <p:txBody>
          <a:bodyPr wrap="none" rtlCol="0">
            <a:spAutoFit/>
          </a:bodyPr>
          <a:lstStyle/>
          <a:p>
            <a:pPr algn="ctr"/>
            <a:r>
              <a:rPr lang="en-IN" sz="6600" dirty="0">
                <a:solidFill>
                  <a:srgbClr val="0070C0"/>
                </a:solidFill>
                <a:latin typeface="Aclonica" panose="02060503000000020004" pitchFamily="18" charset="0"/>
              </a:rPr>
              <a:t>Thank You</a:t>
            </a:r>
          </a:p>
        </p:txBody>
      </p:sp>
      <p:sp>
        <p:nvSpPr>
          <p:cNvPr id="12" name="Freeform 68"/>
          <p:cNvSpPr/>
          <p:nvPr userDrawn="1"/>
        </p:nvSpPr>
        <p:spPr bwMode="gray">
          <a:xfrm>
            <a:off x="152400" y="6386257"/>
            <a:ext cx="11887200" cy="0"/>
          </a:xfrm>
          <a:custGeom>
            <a:avLst/>
            <a:gdLst>
              <a:gd name="connsiteX0" fmla="*/ 12039600 w 12039600"/>
              <a:gd name="connsiteY0" fmla="*/ 0 h 0"/>
              <a:gd name="connsiteX1" fmla="*/ 0 w 12039600"/>
              <a:gd name="connsiteY1" fmla="*/ 0 h 0"/>
            </a:gdLst>
            <a:ahLst/>
            <a:cxnLst>
              <a:cxn ang="0">
                <a:pos x="connsiteX0" y="connsiteY0"/>
              </a:cxn>
              <a:cxn ang="0">
                <a:pos x="connsiteX1" y="connsiteY1"/>
              </a:cxn>
            </a:cxnLst>
            <a:rect l="l" t="t" r="r" b="b"/>
            <a:pathLst>
              <a:path w="12039600">
                <a:moveTo>
                  <a:pt x="12039600" y="0"/>
                </a:moveTo>
                <a:lnTo>
                  <a:pt x="0" y="0"/>
                </a:lnTo>
              </a:path>
            </a:pathLst>
          </a:custGeom>
          <a:noFill/>
          <a:ln w="28575">
            <a:solidFill>
              <a:srgbClr val="0070C0"/>
            </a:solidFill>
          </a:ln>
        </p:spPr>
        <p:style>
          <a:lnRef idx="2">
            <a:srgbClr val="2A5F8F">
              <a:shade val="50000"/>
            </a:srgbClr>
          </a:lnRef>
          <a:fillRef idx="1">
            <a:srgbClr val="2A5F8F"/>
          </a:fillRef>
          <a:effectRef idx="0">
            <a:srgbClr val="2A5F8F"/>
          </a:effectRef>
          <a:fontRef idx="minor">
            <a:srgbClr val="FFFFFF"/>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013"/>
          </a:p>
        </p:txBody>
      </p:sp>
      <p:sp>
        <p:nvSpPr>
          <p:cNvPr id="13" name="Rectangle 73"/>
          <p:cNvSpPr/>
          <p:nvPr/>
        </p:nvSpPr>
        <p:spPr bwMode="gray">
          <a:xfrm>
            <a:off x="4409641" y="6503175"/>
            <a:ext cx="3372718" cy="169277"/>
          </a:xfrm>
          <a:prstGeom prst="rect">
            <a:avLst/>
          </a:prstGeom>
        </p:spPr>
        <p:txBody>
          <a:bodyPr wrap="none" lIns="0" tIns="0" rIns="0" bIns="0">
            <a:spAutoFit/>
          </a:bodyPr>
          <a:lstStyle/>
          <a:p>
            <a:pPr algn="ctr">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Tree>
  </p:cSld>
  <p:clrMapOvr>
    <a:masterClrMapping/>
  </p:clrMapOvr>
</p:sld>
</file>

<file path=ppt/theme/theme1.xml><?xml version="1.0" encoding="utf-8"?>
<a:theme xmlns:a="http://schemas.openxmlformats.org/drawingml/2006/main" name="Office Theme">
  <a:themeElements>
    <a:clrScheme name="Custom 63">
      <a:dk1>
        <a:sysClr val="windowText" lastClr="000000"/>
      </a:dk1>
      <a:lt1>
        <a:sysClr val="window" lastClr="FFFFFF"/>
      </a:lt1>
      <a:dk2>
        <a:srgbClr val="000000"/>
      </a:dk2>
      <a:lt2>
        <a:srgbClr val="F8F8F8"/>
      </a:lt2>
      <a:accent1>
        <a:srgbClr val="2A5F8F"/>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