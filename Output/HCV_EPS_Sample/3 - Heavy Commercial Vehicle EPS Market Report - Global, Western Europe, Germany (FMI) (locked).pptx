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9.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494" r:id="rId246"/>
    <p:sldId id="486" r:id="rId238"/>
    <p:sldId id="487" r:id="rId239"/>
    <p:sldId id="488" r:id="rId240"/>
    <p:sldId id="489" r:id="rId241"/>
    <p:sldId id="490" r:id="rId242"/>
    <p:sldId id="491" r:id="rId243"/>
    <p:sldId id="492" r:id="rId244"/>
    <p:sldId id="493" r:id="rId245"/>
    <p:sldId id="512" r:id="rId264"/>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3"/>
    <p:sldId id="292" r:id="rId44"/>
    <p:sldId id="295" r:id="rId47"/>
    <p:sldId id="296" r:id="rId48"/>
    <p:sldId id="297" r:id="rId49"/>
    <p:sldId id="298" r:id="rId50"/>
    <p:sldId id="300" r:id="rId52"/>
    <p:sldId id="301" r:id="rId53"/>
    <p:sldId id="304" r:id="rId56"/>
    <p:sldId id="305" r:id="rId57"/>
    <p:sldId id="306" r:id="rId58"/>
    <p:sldId id="307" r:id="rId59"/>
    <p:sldId id="309" r:id="rId61"/>
    <p:sldId id="310" r:id="rId62"/>
    <p:sldId id="313" r:id="rId65"/>
    <p:sldId id="314" r:id="rId66"/>
    <p:sldId id="315" r:id="rId67"/>
    <p:sldId id="316" r:id="rId68"/>
    <p:sldId id="318" r:id="rId70"/>
    <p:sldId id="319" r:id="rId71"/>
    <p:sldId id="322" r:id="rId74"/>
    <p:sldId id="323" r:id="rId75"/>
    <p:sldId id="324" r:id="rId76"/>
    <p:sldId id="325" r:id="rId77"/>
    <p:sldId id="327" r:id="rId79"/>
    <p:sldId id="328" r:id="rId80"/>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7" r:id="rId109"/>
    <p:sldId id="358" r:id="rId110"/>
    <p:sldId id="361" r:id="rId113"/>
    <p:sldId id="362" r:id="rId114"/>
    <p:sldId id="363" r:id="rId115"/>
    <p:sldId id="364" r:id="rId116"/>
    <p:sldId id="366" r:id="rId118"/>
    <p:sldId id="367" r:id="rId119"/>
    <p:sldId id="370" r:id="rId122"/>
    <p:sldId id="371" r:id="rId123"/>
    <p:sldId id="372" r:id="rId124"/>
    <p:sldId id="373" r:id="rId125"/>
    <p:sldId id="375" r:id="rId127"/>
    <p:sldId id="376" r:id="rId128"/>
    <p:sldId id="379" r:id="rId131"/>
    <p:sldId id="380" r:id="rId132"/>
    <p:sldId id="381" r:id="rId133"/>
    <p:sldId id="382" r:id="rId134"/>
    <p:sldId id="384" r:id="rId136"/>
    <p:sldId id="385" r:id="rId137"/>
    <p:sldId id="388" r:id="rId140"/>
    <p:sldId id="389" r:id="rId141"/>
    <p:sldId id="390" r:id="rId142"/>
    <p:sldId id="391" r:id="rId143"/>
    <p:sldId id="393" r:id="rId145"/>
    <p:sldId id="394" r:id="rId146"/>
    <p:sldId id="397" r:id="rId149"/>
    <p:sldId id="398" r:id="rId150"/>
    <p:sldId id="399" r:id="rId151"/>
    <p:sldId id="400" r:id="rId152"/>
    <p:sldId id="401" r:id="rId153"/>
    <p:sldId id="402" r:id="rId154"/>
    <p:sldId id="403" r:id="rId155"/>
    <p:sldId id="404" r:id="rId156"/>
    <p:sldId id="405" r:id="rId157"/>
    <p:sldId id="407" r:id="rId159"/>
    <p:sldId id="408" r:id="rId160"/>
    <p:sldId id="409" r:id="rId161"/>
    <p:sldId id="411" r:id="rId163"/>
    <p:sldId id="412" r:id="rId164"/>
    <p:sldId id="413" r:id="rId165"/>
    <p:sldId id="415" r:id="rId167"/>
    <p:sldId id="416" r:id="rId168"/>
    <p:sldId id="417" r:id="rId169"/>
    <p:sldId id="419" r:id="rId171"/>
    <p:sldId id="420" r:id="rId172"/>
    <p:sldId id="421" r:id="rId173"/>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513" r:id="rId17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37.xml"/><Relationship Id="rId18" Type="http://schemas.openxmlformats.org/officeDocument/2006/relationships/slide" Target="slides/slide38.xml"/><Relationship Id="rId19" Type="http://schemas.openxmlformats.org/officeDocument/2006/relationships/slide" Target="slides/slide39.xml"/><Relationship Id="rId20" Type="http://schemas.openxmlformats.org/officeDocument/2006/relationships/slide" Target="slides/slide40.xml"/><Relationship Id="rId21" Type="http://schemas.openxmlformats.org/officeDocument/2006/relationships/slide" Target="slides/slide41.xml"/><Relationship Id="rId22" Type="http://schemas.openxmlformats.org/officeDocument/2006/relationships/slide" Target="slides/slide42.xml"/><Relationship Id="rId23" Type="http://schemas.openxmlformats.org/officeDocument/2006/relationships/slide" Target="slides/slide43.xml"/><Relationship Id="rId24" Type="http://schemas.openxmlformats.org/officeDocument/2006/relationships/slide" Target="slides/slide44.xml"/><Relationship Id="rId25" Type="http://schemas.openxmlformats.org/officeDocument/2006/relationships/slide" Target="slides/slide45.xml"/><Relationship Id="rId26" Type="http://schemas.openxmlformats.org/officeDocument/2006/relationships/slide" Target="slides/slide46.xml"/><Relationship Id="rId27" Type="http://schemas.openxmlformats.org/officeDocument/2006/relationships/slide" Target="slides/slide47.xml"/><Relationship Id="rId28" Type="http://schemas.openxmlformats.org/officeDocument/2006/relationships/slide" Target="slides/slide48.xml"/><Relationship Id="rId29" Type="http://schemas.openxmlformats.org/officeDocument/2006/relationships/slide" Target="slides/slide49.xml"/><Relationship Id="rId30" Type="http://schemas.openxmlformats.org/officeDocument/2006/relationships/slide" Target="slides/slide50.xml"/><Relationship Id="rId31" Type="http://schemas.openxmlformats.org/officeDocument/2006/relationships/slide" Target="slides/slide51.xml"/><Relationship Id="rId32" Type="http://schemas.openxmlformats.org/officeDocument/2006/relationships/slide" Target="slides/slide52.xml"/><Relationship Id="rId33" Type="http://schemas.openxmlformats.org/officeDocument/2006/relationships/slide" Target="slides/slide53.xml"/><Relationship Id="rId34" Type="http://schemas.openxmlformats.org/officeDocument/2006/relationships/slide" Target="slides/slide54.xml"/><Relationship Id="rId35" Type="http://schemas.openxmlformats.org/officeDocument/2006/relationships/slide" Target="slides/slide55.xml"/><Relationship Id="rId36" Type="http://schemas.openxmlformats.org/officeDocument/2006/relationships/slide" Target="slides/slide56.xml"/><Relationship Id="rId37" Type="http://schemas.openxmlformats.org/officeDocument/2006/relationships/slide" Target="slides/slide57.xml"/><Relationship Id="rId38" Type="http://schemas.openxmlformats.org/officeDocument/2006/relationships/slide" Target="slides/slide58.xml"/><Relationship Id="rId39" Type="http://schemas.openxmlformats.org/officeDocument/2006/relationships/slide" Target="slides/slide59.xml"/><Relationship Id="rId40" Type="http://schemas.openxmlformats.org/officeDocument/2006/relationships/slide" Target="slides/slide60.xml"/><Relationship Id="rId41" Type="http://schemas.openxmlformats.org/officeDocument/2006/relationships/slide" Target="slides/slide61.xml"/><Relationship Id="rId43" Type="http://schemas.openxmlformats.org/officeDocument/2006/relationships/slide" Target="slides/slide62.xml"/><Relationship Id="rId44" Type="http://schemas.openxmlformats.org/officeDocument/2006/relationships/slide" Target="slides/slide63.xml"/><Relationship Id="rId47" Type="http://schemas.openxmlformats.org/officeDocument/2006/relationships/slide" Target="slides/slide64.xml"/><Relationship Id="rId48" Type="http://schemas.openxmlformats.org/officeDocument/2006/relationships/slide" Target="slides/slide65.xml"/><Relationship Id="rId49" Type="http://schemas.openxmlformats.org/officeDocument/2006/relationships/slide" Target="slides/slide66.xml"/><Relationship Id="rId50" Type="http://schemas.openxmlformats.org/officeDocument/2006/relationships/slide" Target="slides/slide67.xml"/><Relationship Id="rId52" Type="http://schemas.openxmlformats.org/officeDocument/2006/relationships/slide" Target="slides/slide68.xml"/><Relationship Id="rId53" Type="http://schemas.openxmlformats.org/officeDocument/2006/relationships/slide" Target="slides/slide69.xml"/><Relationship Id="rId56" Type="http://schemas.openxmlformats.org/officeDocument/2006/relationships/slide" Target="slides/slide70.xml"/><Relationship Id="rId57" Type="http://schemas.openxmlformats.org/officeDocument/2006/relationships/slide" Target="slides/slide71.xml"/><Relationship Id="rId58" Type="http://schemas.openxmlformats.org/officeDocument/2006/relationships/slide" Target="slides/slide72.xml"/><Relationship Id="rId59" Type="http://schemas.openxmlformats.org/officeDocument/2006/relationships/slide" Target="slides/slide73.xml"/><Relationship Id="rId61" Type="http://schemas.openxmlformats.org/officeDocument/2006/relationships/slide" Target="slides/slide74.xml"/><Relationship Id="rId62" Type="http://schemas.openxmlformats.org/officeDocument/2006/relationships/slide" Target="slides/slide75.xml"/><Relationship Id="rId65" Type="http://schemas.openxmlformats.org/officeDocument/2006/relationships/slide" Target="slides/slide76.xml"/><Relationship Id="rId66" Type="http://schemas.openxmlformats.org/officeDocument/2006/relationships/slide" Target="slides/slide77.xml"/><Relationship Id="rId67" Type="http://schemas.openxmlformats.org/officeDocument/2006/relationships/slide" Target="slides/slide78.xml"/><Relationship Id="rId68" Type="http://schemas.openxmlformats.org/officeDocument/2006/relationships/slide" Target="slides/slide79.xml"/><Relationship Id="rId70" Type="http://schemas.openxmlformats.org/officeDocument/2006/relationships/slide" Target="slides/slide80.xml"/><Relationship Id="rId71" Type="http://schemas.openxmlformats.org/officeDocument/2006/relationships/slide" Target="slides/slide81.xml"/><Relationship Id="rId74" Type="http://schemas.openxmlformats.org/officeDocument/2006/relationships/slide" Target="slides/slide82.xml"/><Relationship Id="rId75" Type="http://schemas.openxmlformats.org/officeDocument/2006/relationships/slide" Target="slides/slide83.xml"/><Relationship Id="rId76" Type="http://schemas.openxmlformats.org/officeDocument/2006/relationships/slide" Target="slides/slide84.xml"/><Relationship Id="rId77" Type="http://schemas.openxmlformats.org/officeDocument/2006/relationships/slide" Target="slides/slide85.xml"/><Relationship Id="rId79" Type="http://schemas.openxmlformats.org/officeDocument/2006/relationships/slide" Target="slides/slide86.xml"/><Relationship Id="rId80" Type="http://schemas.openxmlformats.org/officeDocument/2006/relationships/slide" Target="slides/slide87.xml"/><Relationship Id="rId83" Type="http://schemas.openxmlformats.org/officeDocument/2006/relationships/slide" Target="slides/slide88.xml"/><Relationship Id="rId84" Type="http://schemas.openxmlformats.org/officeDocument/2006/relationships/slide" Target="slides/slide89.xml"/><Relationship Id="rId85" Type="http://schemas.openxmlformats.org/officeDocument/2006/relationships/slide" Target="slides/slide90.xml"/><Relationship Id="rId86" Type="http://schemas.openxmlformats.org/officeDocument/2006/relationships/slide" Target="slides/slide91.xml"/><Relationship Id="rId87" Type="http://schemas.openxmlformats.org/officeDocument/2006/relationships/slide" Target="slides/slide92.xml"/><Relationship Id="rId88" Type="http://schemas.openxmlformats.org/officeDocument/2006/relationships/slide" Target="slides/slide93.xml"/><Relationship Id="rId89" Type="http://schemas.openxmlformats.org/officeDocument/2006/relationships/slide" Target="slides/slide94.xml"/><Relationship Id="rId90" Type="http://schemas.openxmlformats.org/officeDocument/2006/relationships/slide" Target="slides/slide95.xml"/><Relationship Id="rId91" Type="http://schemas.openxmlformats.org/officeDocument/2006/relationships/slide" Target="slides/slide96.xml"/><Relationship Id="rId92" Type="http://schemas.openxmlformats.org/officeDocument/2006/relationships/slide" Target="slides/slide97.xml"/><Relationship Id="rId93" Type="http://schemas.openxmlformats.org/officeDocument/2006/relationships/slide" Target="slides/slide98.xml"/><Relationship Id="rId94" Type="http://schemas.openxmlformats.org/officeDocument/2006/relationships/slide" Target="slides/slide99.xml"/><Relationship Id="rId95" Type="http://schemas.openxmlformats.org/officeDocument/2006/relationships/slide" Target="slides/slide100.xml"/><Relationship Id="rId96" Type="http://schemas.openxmlformats.org/officeDocument/2006/relationships/slide" Target="slides/slide101.xml"/><Relationship Id="rId97" Type="http://schemas.openxmlformats.org/officeDocument/2006/relationships/slide" Target="slides/slide102.xml"/><Relationship Id="rId98" Type="http://schemas.openxmlformats.org/officeDocument/2006/relationships/slide" Target="slides/slide103.xml"/><Relationship Id="rId99" Type="http://schemas.openxmlformats.org/officeDocument/2006/relationships/slide" Target="slides/slide104.xml"/><Relationship Id="rId100" Type="http://schemas.openxmlformats.org/officeDocument/2006/relationships/slide" Target="slides/slide105.xml"/><Relationship Id="rId101" Type="http://schemas.openxmlformats.org/officeDocument/2006/relationships/slide" Target="slides/slide106.xml"/><Relationship Id="rId102" Type="http://schemas.openxmlformats.org/officeDocument/2006/relationships/slide" Target="slides/slide107.xml"/><Relationship Id="rId103" Type="http://schemas.openxmlformats.org/officeDocument/2006/relationships/slide" Target="slides/slide108.xml"/><Relationship Id="rId104" Type="http://schemas.openxmlformats.org/officeDocument/2006/relationships/slide" Target="slides/slide109.xml"/><Relationship Id="rId105" Type="http://schemas.openxmlformats.org/officeDocument/2006/relationships/slide" Target="slides/slide110.xml"/><Relationship Id="rId106" Type="http://schemas.openxmlformats.org/officeDocument/2006/relationships/slide" Target="slides/slide111.xml"/><Relationship Id="rId107" Type="http://schemas.openxmlformats.org/officeDocument/2006/relationships/slide" Target="slides/slide112.xml"/><Relationship Id="rId109" Type="http://schemas.openxmlformats.org/officeDocument/2006/relationships/slide" Target="slides/slide113.xml"/><Relationship Id="rId110" Type="http://schemas.openxmlformats.org/officeDocument/2006/relationships/slide" Target="slides/slide114.xml"/><Relationship Id="rId113" Type="http://schemas.openxmlformats.org/officeDocument/2006/relationships/slide" Target="slides/slide115.xml"/><Relationship Id="rId114" Type="http://schemas.openxmlformats.org/officeDocument/2006/relationships/slide" Target="slides/slide116.xml"/><Relationship Id="rId115" Type="http://schemas.openxmlformats.org/officeDocument/2006/relationships/slide" Target="slides/slide117.xml"/><Relationship Id="rId116" Type="http://schemas.openxmlformats.org/officeDocument/2006/relationships/slide" Target="slides/slide118.xml"/><Relationship Id="rId118" Type="http://schemas.openxmlformats.org/officeDocument/2006/relationships/slide" Target="slides/slide119.xml"/><Relationship Id="rId119"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5" Type="http://schemas.openxmlformats.org/officeDocument/2006/relationships/slide" Target="slides/slide137.xml"/><Relationship Id="rId146" Type="http://schemas.openxmlformats.org/officeDocument/2006/relationships/slide" Target="slides/slide138.xml"/><Relationship Id="rId149" Type="http://schemas.openxmlformats.org/officeDocument/2006/relationships/slide" Target="slides/slide139.xml"/><Relationship Id="rId150" Type="http://schemas.openxmlformats.org/officeDocument/2006/relationships/slide" Target="slides/slide140.xml"/><Relationship Id="rId151" Type="http://schemas.openxmlformats.org/officeDocument/2006/relationships/slide" Target="slides/slide141.xml"/><Relationship Id="rId152" Type="http://schemas.openxmlformats.org/officeDocument/2006/relationships/slide" Target="slides/slide142.xml"/><Relationship Id="rId153" Type="http://schemas.openxmlformats.org/officeDocument/2006/relationships/slide" Target="slides/slide143.xml"/><Relationship Id="rId154" Type="http://schemas.openxmlformats.org/officeDocument/2006/relationships/slide" Target="slides/slide144.xml"/><Relationship Id="rId155" Type="http://schemas.openxmlformats.org/officeDocument/2006/relationships/slide" Target="slides/slide145.xml"/><Relationship Id="rId156" Type="http://schemas.openxmlformats.org/officeDocument/2006/relationships/slide" Target="slides/slide146.xml"/><Relationship Id="rId157" Type="http://schemas.openxmlformats.org/officeDocument/2006/relationships/slide" Target="slides/slide147.xml"/><Relationship Id="rId159" Type="http://schemas.openxmlformats.org/officeDocument/2006/relationships/slide" Target="slides/slide148.xml"/><Relationship Id="rId160" Type="http://schemas.openxmlformats.org/officeDocument/2006/relationships/slide" Target="slides/slide149.xml"/><Relationship Id="rId161" Type="http://schemas.openxmlformats.org/officeDocument/2006/relationships/slide" Target="slides/slide150.xml"/><Relationship Id="rId163" Type="http://schemas.openxmlformats.org/officeDocument/2006/relationships/slide" Target="slides/slide151.xml"/><Relationship Id="rId164" Type="http://schemas.openxmlformats.org/officeDocument/2006/relationships/slide" Target="slides/slide152.xml"/><Relationship Id="rId165" Type="http://schemas.openxmlformats.org/officeDocument/2006/relationships/slide" Target="slides/slide153.xml"/><Relationship Id="rId167" Type="http://schemas.openxmlformats.org/officeDocument/2006/relationships/slide" Target="slides/slide154.xml"/><Relationship Id="rId168" Type="http://schemas.openxmlformats.org/officeDocument/2006/relationships/slide" Target="slides/slide155.xml"/><Relationship Id="rId169" Type="http://schemas.openxmlformats.org/officeDocument/2006/relationships/slide" Target="slides/slide156.xml"/><Relationship Id="rId171" Type="http://schemas.openxmlformats.org/officeDocument/2006/relationships/slide" Target="slides/slide157.xml"/><Relationship Id="rId172" Type="http://schemas.openxmlformats.org/officeDocument/2006/relationships/slide" Target="slides/slide158.xml"/><Relationship Id="rId173" Type="http://schemas.openxmlformats.org/officeDocument/2006/relationships/slide" Target="slides/slide159.xml"/><Relationship Id="rId174" Type="http://schemas.openxmlformats.org/officeDocument/2006/relationships/slide" Target="slides/slide213.xml"/><Relationship Id="rId175" Type="http://schemas.openxmlformats.org/officeDocument/2006/relationships/slide" Target="slides/slide160.xml"/><Relationship Id="rId176" Type="http://schemas.openxmlformats.org/officeDocument/2006/relationships/slide" Target="slides/slide161.xml"/><Relationship Id="rId177" Type="http://schemas.openxmlformats.org/officeDocument/2006/relationships/slide" Target="slides/slide162.xml"/><Relationship Id="rId178" Type="http://schemas.openxmlformats.org/officeDocument/2006/relationships/slide" Target="slides/slide163.xml"/><Relationship Id="rId179" Type="http://schemas.openxmlformats.org/officeDocument/2006/relationships/slide" Target="slides/slide164.xml"/><Relationship Id="rId180" Type="http://schemas.openxmlformats.org/officeDocument/2006/relationships/slide" Target="slides/slide165.xml"/><Relationship Id="rId181" Type="http://schemas.openxmlformats.org/officeDocument/2006/relationships/slide" Target="slides/slide166.xml"/><Relationship Id="rId182" Type="http://schemas.openxmlformats.org/officeDocument/2006/relationships/slide" Target="slides/slide167.xml"/><Relationship Id="rId183" Type="http://schemas.openxmlformats.org/officeDocument/2006/relationships/slide" Target="slides/slide168.xml"/><Relationship Id="rId184" Type="http://schemas.openxmlformats.org/officeDocument/2006/relationships/slide" Target="slides/slide169.xml"/><Relationship Id="rId185" Type="http://schemas.openxmlformats.org/officeDocument/2006/relationships/slide" Target="slides/slide170.xml"/><Relationship Id="rId186" Type="http://schemas.openxmlformats.org/officeDocument/2006/relationships/slide" Target="slides/slide171.xml"/><Relationship Id="rId187" Type="http://schemas.openxmlformats.org/officeDocument/2006/relationships/slide" Target="slides/slide172.xml"/><Relationship Id="rId188" Type="http://schemas.openxmlformats.org/officeDocument/2006/relationships/slide" Target="slides/slide173.xml"/><Relationship Id="rId189" Type="http://schemas.openxmlformats.org/officeDocument/2006/relationships/slide" Target="slides/slide174.xml"/><Relationship Id="rId190" Type="http://schemas.openxmlformats.org/officeDocument/2006/relationships/slide" Target="slides/slide175.xml"/><Relationship Id="rId191" Type="http://schemas.openxmlformats.org/officeDocument/2006/relationships/slide" Target="slides/slide176.xml"/><Relationship Id="rId192" Type="http://schemas.openxmlformats.org/officeDocument/2006/relationships/slide" Target="slides/slide177.xml"/><Relationship Id="rId193" Type="http://schemas.openxmlformats.org/officeDocument/2006/relationships/slide" Target="slides/slide178.xml"/><Relationship Id="rId194" Type="http://schemas.openxmlformats.org/officeDocument/2006/relationships/slide" Target="slides/slide179.xml"/><Relationship Id="rId195" Type="http://schemas.openxmlformats.org/officeDocument/2006/relationships/slide" Target="slides/slide180.xml"/><Relationship Id="rId196" Type="http://schemas.openxmlformats.org/officeDocument/2006/relationships/slide" Target="slides/slide181.xml"/><Relationship Id="rId197" Type="http://schemas.openxmlformats.org/officeDocument/2006/relationships/slide" Target="slides/slide182.xml"/><Relationship Id="rId198" Type="http://schemas.openxmlformats.org/officeDocument/2006/relationships/slide" Target="slides/slide183.xml"/><Relationship Id="rId199" Type="http://schemas.openxmlformats.org/officeDocument/2006/relationships/slide" Target="slides/slide184.xml"/><Relationship Id="rId200" Type="http://schemas.openxmlformats.org/officeDocument/2006/relationships/slide" Target="slides/slide185.xml"/><Relationship Id="rId201" Type="http://schemas.openxmlformats.org/officeDocument/2006/relationships/slide" Target="slides/slide186.xml"/><Relationship Id="rId202" Type="http://schemas.openxmlformats.org/officeDocument/2006/relationships/slide" Target="slides/slide187.xml"/><Relationship Id="rId203" Type="http://schemas.openxmlformats.org/officeDocument/2006/relationships/slide" Target="slides/slide188.xml"/><Relationship Id="rId204" Type="http://schemas.openxmlformats.org/officeDocument/2006/relationships/slide" Target="slides/slide189.xml"/><Relationship Id="rId205" Type="http://schemas.openxmlformats.org/officeDocument/2006/relationships/slide" Target="slides/slide190.xml"/><Relationship Id="rId206" Type="http://schemas.openxmlformats.org/officeDocument/2006/relationships/slide" Target="slides/slide191.xml"/><Relationship Id="rId207" Type="http://schemas.openxmlformats.org/officeDocument/2006/relationships/slide" Target="slides/slide192.xml"/><Relationship Id="rId208" Type="http://schemas.openxmlformats.org/officeDocument/2006/relationships/slide" Target="slides/slide193.xml"/><Relationship Id="rId209" Type="http://schemas.openxmlformats.org/officeDocument/2006/relationships/slide" Target="slides/slide194.xml"/><Relationship Id="rId210" Type="http://schemas.openxmlformats.org/officeDocument/2006/relationships/slide" Target="slides/slide195.xml"/><Relationship Id="rId211" Type="http://schemas.openxmlformats.org/officeDocument/2006/relationships/slide" Target="slides/slide196.xml"/><Relationship Id="rId212" Type="http://schemas.openxmlformats.org/officeDocument/2006/relationships/slide" Target="slides/slide197.xml"/><Relationship Id="rId213" Type="http://schemas.openxmlformats.org/officeDocument/2006/relationships/slide" Target="slides/slide198.xml"/><Relationship Id="rId214" Type="http://schemas.openxmlformats.org/officeDocument/2006/relationships/slide" Target="slides/slide199.xml"/><Relationship Id="rId215" Type="http://schemas.openxmlformats.org/officeDocument/2006/relationships/slide" Target="slides/slide200.xml"/><Relationship Id="rId216" Type="http://schemas.openxmlformats.org/officeDocument/2006/relationships/slide" Target="slides/slide201.xml"/><Relationship Id="rId217" Type="http://schemas.openxmlformats.org/officeDocument/2006/relationships/slide" Target="slides/slide202.xml"/><Relationship Id="rId218" Type="http://schemas.openxmlformats.org/officeDocument/2006/relationships/slide" Target="slides/slide203.xml"/><Relationship Id="rId219" Type="http://schemas.openxmlformats.org/officeDocument/2006/relationships/slide" Target="slides/slide204.xml"/><Relationship Id="rId220" Type="http://schemas.openxmlformats.org/officeDocument/2006/relationships/slide" Target="slides/slide205.xml"/><Relationship Id="rId221" Type="http://schemas.openxmlformats.org/officeDocument/2006/relationships/slide" Target="slides/slide206.xml"/><Relationship Id="rId222" Type="http://schemas.openxmlformats.org/officeDocument/2006/relationships/slide" Target="slides/slide207.xml"/><Relationship Id="rId223" Type="http://schemas.openxmlformats.org/officeDocument/2006/relationships/slide" Target="slides/slide208.xml"/><Relationship Id="rId224" Type="http://schemas.openxmlformats.org/officeDocument/2006/relationships/slide" Target="slides/slide209.xml"/><Relationship Id="rId225" Type="http://schemas.openxmlformats.org/officeDocument/2006/relationships/slide" Target="slides/slide210.xml"/><Relationship Id="rId226" Type="http://schemas.openxmlformats.org/officeDocument/2006/relationships/slide" Target="slides/slide211.xml"/><Relationship Id="rId227" Type="http://schemas.openxmlformats.org/officeDocument/2006/relationships/slide" Target="slides/slide212.xml"/><Relationship Id="rId238" Type="http://schemas.openxmlformats.org/officeDocument/2006/relationships/slide" Target="slides/slide11.xml"/><Relationship Id="rId239" Type="http://schemas.openxmlformats.org/officeDocument/2006/relationships/slide" Target="slides/slide12.xml"/><Relationship Id="rId240" Type="http://schemas.openxmlformats.org/officeDocument/2006/relationships/slide" Target="slides/slide13.xml"/><Relationship Id="rId241" Type="http://schemas.openxmlformats.org/officeDocument/2006/relationships/slide" Target="slides/slide14.xml"/><Relationship Id="rId242" Type="http://schemas.openxmlformats.org/officeDocument/2006/relationships/slide" Target="slides/slide15.xml"/><Relationship Id="rId243" Type="http://schemas.openxmlformats.org/officeDocument/2006/relationships/slide" Target="slides/slide16.xml"/><Relationship Id="rId244" Type="http://schemas.openxmlformats.org/officeDocument/2006/relationships/slide" Target="slides/slide17.xml"/><Relationship Id="rId245" Type="http://schemas.openxmlformats.org/officeDocument/2006/relationships/slide" Target="slides/slide18.xml"/><Relationship Id="rId246" Type="http://schemas.openxmlformats.org/officeDocument/2006/relationships/slide" Target="slides/slide10.xml"/><Relationship Id="rId247" Type="http://schemas.openxmlformats.org/officeDocument/2006/relationships/slide" Target="slides/slide20.xml"/><Relationship Id="rId248" Type="http://schemas.openxmlformats.org/officeDocument/2006/relationships/slide" Target="slides/slide21.xml"/><Relationship Id="rId249" Type="http://schemas.openxmlformats.org/officeDocument/2006/relationships/slide" Target="slides/slide22.xml"/><Relationship Id="rId250" Type="http://schemas.openxmlformats.org/officeDocument/2006/relationships/slide" Target="slides/slide23.xml"/><Relationship Id="rId251" Type="http://schemas.openxmlformats.org/officeDocument/2006/relationships/slide" Target="slides/slide24.xml"/><Relationship Id="rId252" Type="http://schemas.openxmlformats.org/officeDocument/2006/relationships/slide" Target="slides/slide25.xml"/><Relationship Id="rId253" Type="http://schemas.openxmlformats.org/officeDocument/2006/relationships/slide" Target="slides/slide26.xml"/><Relationship Id="rId254" Type="http://schemas.openxmlformats.org/officeDocument/2006/relationships/slide" Target="slides/slide27.xml"/><Relationship Id="rId255" Type="http://schemas.openxmlformats.org/officeDocument/2006/relationships/slide" Target="slides/slide28.xml"/><Relationship Id="rId256" Type="http://schemas.openxmlformats.org/officeDocument/2006/relationships/slide" Target="slides/slide29.xml"/><Relationship Id="rId257" Type="http://schemas.openxmlformats.org/officeDocument/2006/relationships/slide" Target="slides/slide30.xml"/><Relationship Id="rId258" Type="http://schemas.openxmlformats.org/officeDocument/2006/relationships/slide" Target="slides/slide31.xml"/><Relationship Id="rId259" Type="http://schemas.openxmlformats.org/officeDocument/2006/relationships/slide" Target="slides/slide32.xml"/><Relationship Id="rId260" Type="http://schemas.openxmlformats.org/officeDocument/2006/relationships/slide" Target="slides/slide33.xml"/><Relationship Id="rId261" Type="http://schemas.openxmlformats.org/officeDocument/2006/relationships/slide" Target="slides/slide34.xml"/><Relationship Id="rId262" Type="http://schemas.openxmlformats.org/officeDocument/2006/relationships/slide" Target="slides/slide35.xml"/><Relationship Id="rId263" Type="http://schemas.openxmlformats.org/officeDocument/2006/relationships/slide" Target="slides/slide36.xml"/><Relationship Id="rId264" Type="http://schemas.openxmlformats.org/officeDocument/2006/relationships/slide" Target="slides/slide19.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s>
</file>

<file path=ppt/charts/_rels/chart8.xml.rels><?xml version='1.0' encoding='UTF-8' standalone='yes'?>
<Relationships xmlns="http://schemas.openxmlformats.org/package/2006/relationships"><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s>
</file>

<file path=ppt/charts/_rels/chart9.xml.rels><?xml version='1.0' encoding='UTF-8' standalone='yes'?>
<Relationships xmlns="http://schemas.openxmlformats.org/package/2006/relationships"><Relationship Id="rId2" Type="http://schemas.openxmlformats.org/officeDocument/2006/relationships/image" Target="../media/image52.png"/><Relationship Id="rId3" Type="http://schemas.openxmlformats.org/officeDocument/2006/relationships/image" Target="../media/image53.png"/></Relationships>
</file>

<file path=ppt/charts/_rels/chart11.xml.rels><?xml version='1.0' encoding='UTF-8' standalone='yes'?>
<Relationships xmlns="http://schemas.openxmlformats.org/package/2006/relationships"><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png"/><Relationship Id="rId15" Type="http://schemas.openxmlformats.org/officeDocument/2006/relationships/image" Target="../media/image88.png"/></Relationships>
</file>

<file path=ppt/charts/_rels/chart12.xml.rels><?xml version='1.0' encoding='UTF-8' standalone='yes'?>
<Relationships xmlns="http://schemas.openxmlformats.org/package/2006/relationships"><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 Id="rId14" Type="http://schemas.openxmlformats.org/officeDocument/2006/relationships/image" Target="../media/image104.png"/><Relationship Id="rId15" Type="http://schemas.openxmlformats.org/officeDocument/2006/relationships/image" Target="../media/image105.png"/></Relationships>
</file>

<file path=ppt/charts/_rels/chart13.xml.rels><?xml version='1.0' encoding='UTF-8' standalone='yes'?>
<Relationships xmlns="http://schemas.openxmlformats.org/package/2006/relationships"><Relationship Id="rId2" Type="http://schemas.openxmlformats.org/officeDocument/2006/relationships/image" Target="../media/image109.png"/></Relationships>
</file>

<file path=ppt/charts/_rels/chart14.xml.rels><?xml version='1.0' encoding='UTF-8' standalone='yes'?>
<Relationships xmlns="http://schemas.openxmlformats.org/package/2006/relationships"><Relationship Id="rId2" Type="http://schemas.openxmlformats.org/officeDocument/2006/relationships/image" Target="../media/image110.png"/></Relationships>
</file>

<file path=ppt/charts/_rels/chart15.xml.rels><?xml version='1.0' encoding='UTF-8' standalone='yes'?>
<Relationships xmlns="http://schemas.openxmlformats.org/package/2006/relationships"><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22.png"/><Relationship Id="rId6" Type="http://schemas.openxmlformats.org/officeDocument/2006/relationships/image" Target="../media/image123.png"/><Relationship Id="rId7" Type="http://schemas.openxmlformats.org/officeDocument/2006/relationships/image" Target="../media/image124.png"/><Relationship Id="rId8" Type="http://schemas.openxmlformats.org/officeDocument/2006/relationships/image" Target="../media/image125.png"/><Relationship Id="rId9" Type="http://schemas.openxmlformats.org/officeDocument/2006/relationships/image" Target="../media/image126.png"/><Relationship Id="rId10" Type="http://schemas.openxmlformats.org/officeDocument/2006/relationships/image" Target="../media/image127.png"/><Relationship Id="rId11" Type="http://schemas.openxmlformats.org/officeDocument/2006/relationships/image" Target="../media/image128.png"/><Relationship Id="rId12" Type="http://schemas.openxmlformats.org/officeDocument/2006/relationships/image" Target="../media/image129.png"/><Relationship Id="rId13" Type="http://schemas.openxmlformats.org/officeDocument/2006/relationships/image" Target="../media/image130.png"/><Relationship Id="rId14" Type="http://schemas.openxmlformats.org/officeDocument/2006/relationships/image" Target="../media/image131.png"/><Relationship Id="rId15" Type="http://schemas.openxmlformats.org/officeDocument/2006/relationships/image" Target="../media/image132.png"/><Relationship Id="rId16" Type="http://schemas.openxmlformats.org/officeDocument/2006/relationships/image" Target="../media/image133.png"/><Relationship Id="rId17" Type="http://schemas.openxmlformats.org/officeDocument/2006/relationships/image" Target="../media/image134.png"/><Relationship Id="rId18" Type="http://schemas.openxmlformats.org/officeDocument/2006/relationships/image" Target="../media/image135.png"/><Relationship Id="rId19" Type="http://schemas.openxmlformats.org/officeDocument/2006/relationships/image" Target="../media/image136.png"/><Relationship Id="rId20" Type="http://schemas.openxmlformats.org/officeDocument/2006/relationships/image" Target="../media/image137.png"/><Relationship Id="rId21" Type="http://schemas.openxmlformats.org/officeDocument/2006/relationships/image" Target="../media/image138.png"/><Relationship Id="rId22" Type="http://schemas.openxmlformats.org/officeDocument/2006/relationships/image" Target="../media/image139.png"/><Relationship Id="rId23" Type="http://schemas.openxmlformats.org/officeDocument/2006/relationships/image" Target="../media/image140.png"/><Relationship Id="rId24" Type="http://schemas.openxmlformats.org/officeDocument/2006/relationships/image" Target="../media/image141.png"/><Relationship Id="rId25" Type="http://schemas.openxmlformats.org/officeDocument/2006/relationships/image" Target="../media/image142.png"/><Relationship Id="rId26" Type="http://schemas.openxmlformats.org/officeDocument/2006/relationships/image" Target="../media/image143.png"/><Relationship Id="rId27" Type="http://schemas.openxmlformats.org/officeDocument/2006/relationships/image" Target="../media/image144.png"/><Relationship Id="rId28" Type="http://schemas.openxmlformats.org/officeDocument/2006/relationships/image" Target="../media/image145.png"/></Relationships>
</file>

<file path=ppt/charts/_rels/chart21.xml.rels><?xml version='1.0' encoding='UTF-8' standalone='yes'?>
<Relationships xmlns="http://schemas.openxmlformats.org/package/2006/relationships"><Relationship Id="rId2" Type="http://schemas.openxmlformats.org/officeDocument/2006/relationships/image" Target="../media/image146.png"/><Relationship Id="rId3" Type="http://schemas.openxmlformats.org/officeDocument/2006/relationships/image" Target="../media/image147.png"/><Relationship Id="rId4" Type="http://schemas.openxmlformats.org/officeDocument/2006/relationships/image" Target="../media/image148.png"/><Relationship Id="rId5" Type="http://schemas.openxmlformats.org/officeDocument/2006/relationships/image" Target="../media/image149.png"/><Relationship Id="rId6" Type="http://schemas.openxmlformats.org/officeDocument/2006/relationships/image" Target="../media/image150.png"/><Relationship Id="rId7" Type="http://schemas.openxmlformats.org/officeDocument/2006/relationships/image" Target="../media/image151.png"/><Relationship Id="rId8" Type="http://schemas.openxmlformats.org/officeDocument/2006/relationships/image" Target="../media/image152.png"/><Relationship Id="rId9" Type="http://schemas.openxmlformats.org/officeDocument/2006/relationships/image" Target="../media/image153.png"/><Relationship Id="rId10" Type="http://schemas.openxmlformats.org/officeDocument/2006/relationships/image" Target="../media/image154.png"/><Relationship Id="rId11" Type="http://schemas.openxmlformats.org/officeDocument/2006/relationships/image" Target="../media/image155.png"/></Relationships>
</file>

<file path=ppt/charts/_rels/chart22.xml.rels><?xml version='1.0' encoding='UTF-8' standalone='yes'?>
<Relationships xmlns="http://schemas.openxmlformats.org/package/2006/relationships"><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image" Target="../media/image166.png"/><Relationship Id="rId8" Type="http://schemas.openxmlformats.org/officeDocument/2006/relationships/image" Target="../media/image167.png"/><Relationship Id="rId9" Type="http://schemas.openxmlformats.org/officeDocument/2006/relationships/image" Target="../media/image168.png"/><Relationship Id="rId10" Type="http://schemas.openxmlformats.org/officeDocument/2006/relationships/image" Target="../media/image169.png"/><Relationship Id="rId11" Type="http://schemas.openxmlformats.org/officeDocument/2006/relationships/image" Target="../media/image170.png"/><Relationship Id="rId12" Type="http://schemas.openxmlformats.org/officeDocument/2006/relationships/image" Target="../media/image171.png"/><Relationship Id="rId13" Type="http://schemas.openxmlformats.org/officeDocument/2006/relationships/image" Target="../media/image172.png"/><Relationship Id="rId14" Type="http://schemas.openxmlformats.org/officeDocument/2006/relationships/image" Target="../media/image173.png"/><Relationship Id="rId15" Type="http://schemas.openxmlformats.org/officeDocument/2006/relationships/image" Target="../media/image174.png"/></Relationships>
</file>

<file path=ppt/charts/_rels/chart26.xml.rels><?xml version='1.0' encoding='UTF-8' standalone='yes'?>
<Relationships xmlns="http://schemas.openxmlformats.org/package/2006/relationships"><Relationship Id="rId2" Type="http://schemas.openxmlformats.org/officeDocument/2006/relationships/image" Target="../media/image175.png"/><Relationship Id="rId3" Type="http://schemas.openxmlformats.org/officeDocument/2006/relationships/image" Target="../media/image176.png"/><Relationship Id="rId4" Type="http://schemas.openxmlformats.org/officeDocument/2006/relationships/image" Target="../media/image177.png"/><Relationship Id="rId5" Type="http://schemas.openxmlformats.org/officeDocument/2006/relationships/image" Target="../media/image178.png"/><Relationship Id="rId6" Type="http://schemas.openxmlformats.org/officeDocument/2006/relationships/image" Target="../media/image179.png"/><Relationship Id="rId7" Type="http://schemas.openxmlformats.org/officeDocument/2006/relationships/image" Target="../media/image180.png"/></Relationships>
</file>

<file path=ppt/charts/_rels/chart27.xml.rels><?xml version='1.0' encoding='UTF-8' standalone='yes'?>
<Relationships xmlns="http://schemas.openxmlformats.org/package/2006/relationships"><Relationship Id="rId2" Type="http://schemas.openxmlformats.org/officeDocument/2006/relationships/image" Target="../media/image190.png"/><Relationship Id="rId3" Type="http://schemas.openxmlformats.org/officeDocument/2006/relationships/image" Target="../media/image191.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5.png"/><Relationship Id="rId8" Type="http://schemas.openxmlformats.org/officeDocument/2006/relationships/image" Target="../media/image196.png"/><Relationship Id="rId9" Type="http://schemas.openxmlformats.org/officeDocument/2006/relationships/image" Target="../media/image197.png"/><Relationship Id="rId10" Type="http://schemas.openxmlformats.org/officeDocument/2006/relationships/image" Target="../media/image198.png"/><Relationship Id="rId11" Type="http://schemas.openxmlformats.org/officeDocument/2006/relationships/image" Target="../media/image199.png"/><Relationship Id="rId12" Type="http://schemas.openxmlformats.org/officeDocument/2006/relationships/image" Target="../media/image200.png"/><Relationship Id="rId13" Type="http://schemas.openxmlformats.org/officeDocument/2006/relationships/image" Target="../media/image201.png"/><Relationship Id="rId14" Type="http://schemas.openxmlformats.org/officeDocument/2006/relationships/image" Target="../media/image202.png"/><Relationship Id="rId15" Type="http://schemas.openxmlformats.org/officeDocument/2006/relationships/image" Target="../media/image203.png"/><Relationship Id="rId16" Type="http://schemas.openxmlformats.org/officeDocument/2006/relationships/image" Target="../media/image204.png"/><Relationship Id="rId17" Type="http://schemas.openxmlformats.org/officeDocument/2006/relationships/image" Target="../media/image205.png"/><Relationship Id="rId18" Type="http://schemas.openxmlformats.org/officeDocument/2006/relationships/image" Target="../media/image206.png"/><Relationship Id="rId19" Type="http://schemas.openxmlformats.org/officeDocument/2006/relationships/image" Target="../media/image207.png"/><Relationship Id="rId20" Type="http://schemas.openxmlformats.org/officeDocument/2006/relationships/image" Target="../media/image208.png"/><Relationship Id="rId21" Type="http://schemas.openxmlformats.org/officeDocument/2006/relationships/image" Target="../media/image209.png"/></Relationships>
</file>

<file path=ppt/charts/_rels/chart32.xml.rels><?xml version='1.0' encoding='UTF-8' standalone='yes'?>
<Relationships xmlns="http://schemas.openxmlformats.org/package/2006/relationships"><Relationship Id="rId2" Type="http://schemas.openxmlformats.org/officeDocument/2006/relationships/image" Target="../media/image210.png"/><Relationship Id="rId3" Type="http://schemas.openxmlformats.org/officeDocument/2006/relationships/image" Target="../media/image211.png"/><Relationship Id="rId4" Type="http://schemas.openxmlformats.org/officeDocument/2006/relationships/image" Target="../media/image212.png"/><Relationship Id="rId5" Type="http://schemas.openxmlformats.org/officeDocument/2006/relationships/image" Target="../media/image213.png"/><Relationship Id="rId6" Type="http://schemas.openxmlformats.org/officeDocument/2006/relationships/image" Target="../media/image214.png"/><Relationship Id="rId7" Type="http://schemas.openxmlformats.org/officeDocument/2006/relationships/image" Target="../media/image215.png"/><Relationship Id="rId8" Type="http://schemas.openxmlformats.org/officeDocument/2006/relationships/image" Target="../media/image216.png"/><Relationship Id="rId9" Type="http://schemas.openxmlformats.org/officeDocument/2006/relationships/image" Target="../media/image217.png"/><Relationship Id="rId10" Type="http://schemas.openxmlformats.org/officeDocument/2006/relationships/image" Target="../media/image218.png"/></Relationships>
</file>

<file path=ppt/charts/_rels/chart33.xml.rels><?xml version='1.0' encoding='UTF-8' standalone='yes'?>
<Relationships xmlns="http://schemas.openxmlformats.org/package/2006/relationships"><Relationship Id="rId2" Type="http://schemas.openxmlformats.org/officeDocument/2006/relationships/image" Target="../media/image228.png"/><Relationship Id="rId3" Type="http://schemas.openxmlformats.org/officeDocument/2006/relationships/image" Target="../media/image229.png"/><Relationship Id="rId4" Type="http://schemas.openxmlformats.org/officeDocument/2006/relationships/image" Target="../media/image230.png"/><Relationship Id="rId5" Type="http://schemas.openxmlformats.org/officeDocument/2006/relationships/image" Target="../media/image231.png"/><Relationship Id="rId6" Type="http://schemas.openxmlformats.org/officeDocument/2006/relationships/image" Target="../media/image232.png"/><Relationship Id="rId7" Type="http://schemas.openxmlformats.org/officeDocument/2006/relationships/image" Target="../media/image233.png"/><Relationship Id="rId8" Type="http://schemas.openxmlformats.org/officeDocument/2006/relationships/image" Target="../media/image234.png"/><Relationship Id="rId9" Type="http://schemas.openxmlformats.org/officeDocument/2006/relationships/image" Target="../media/image235.png"/><Relationship Id="rId10" Type="http://schemas.openxmlformats.org/officeDocument/2006/relationships/image" Target="../media/image236.png"/><Relationship Id="rId11" Type="http://schemas.openxmlformats.org/officeDocument/2006/relationships/image" Target="../media/image237.png"/><Relationship Id="rId12" Type="http://schemas.openxmlformats.org/officeDocument/2006/relationships/image" Target="../media/image238.png"/><Relationship Id="rId13" Type="http://schemas.openxmlformats.org/officeDocument/2006/relationships/image" Target="../media/image239.png"/><Relationship Id="rId14" Type="http://schemas.openxmlformats.org/officeDocument/2006/relationships/image" Target="../media/image240.png"/><Relationship Id="rId15" Type="http://schemas.openxmlformats.org/officeDocument/2006/relationships/image" Target="../media/image241.png"/><Relationship Id="rId16" Type="http://schemas.openxmlformats.org/officeDocument/2006/relationships/image" Target="../media/image242.png"/><Relationship Id="rId17" Type="http://schemas.openxmlformats.org/officeDocument/2006/relationships/image" Target="../media/image243.png"/><Relationship Id="rId18" Type="http://schemas.openxmlformats.org/officeDocument/2006/relationships/image" Target="../media/image244.png"/><Relationship Id="rId19" Type="http://schemas.openxmlformats.org/officeDocument/2006/relationships/image" Target="../media/image245.png"/><Relationship Id="rId20" Type="http://schemas.openxmlformats.org/officeDocument/2006/relationships/image" Target="../media/image246.png"/><Relationship Id="rId21" Type="http://schemas.openxmlformats.org/officeDocument/2006/relationships/image" Target="../media/image247.png"/></Relationships>
</file>

<file path=ppt/charts/_rels/chart38.xml.rels><?xml version='1.0' encoding='UTF-8' standalone='yes'?>
<Relationships xmlns="http://schemas.openxmlformats.org/package/2006/relationships"><Relationship Id="rId2" Type="http://schemas.openxmlformats.org/officeDocument/2006/relationships/image" Target="../media/image248.png"/><Relationship Id="rId3" Type="http://schemas.openxmlformats.org/officeDocument/2006/relationships/image" Target="../media/image249.png"/><Relationship Id="rId4" Type="http://schemas.openxmlformats.org/officeDocument/2006/relationships/image" Target="../media/image250.png"/><Relationship Id="rId5" Type="http://schemas.openxmlformats.org/officeDocument/2006/relationships/image" Target="../media/image251.png"/><Relationship Id="rId6" Type="http://schemas.openxmlformats.org/officeDocument/2006/relationships/image" Target="../media/image252.png"/><Relationship Id="rId7" Type="http://schemas.openxmlformats.org/officeDocument/2006/relationships/image" Target="../media/image253.png"/><Relationship Id="rId8" Type="http://schemas.openxmlformats.org/officeDocument/2006/relationships/image" Target="../media/image254.png"/><Relationship Id="rId9" Type="http://schemas.openxmlformats.org/officeDocument/2006/relationships/image" Target="../media/image255.png"/><Relationship Id="rId10" Type="http://schemas.openxmlformats.org/officeDocument/2006/relationships/image" Target="../media/image256.png"/></Relationships>
</file>

<file path=ppt/charts/_rels/chart39.xml.rels><?xml version='1.0' encoding='UTF-8' standalone='yes'?>
<Relationships xmlns="http://schemas.openxmlformats.org/package/2006/relationships"><Relationship Id="rId2" Type="http://schemas.openxmlformats.org/officeDocument/2006/relationships/image" Target="../media/image263.png"/><Relationship Id="rId3" Type="http://schemas.openxmlformats.org/officeDocument/2006/relationships/image" Target="../media/image264.png"/><Relationship Id="rId4" Type="http://schemas.openxmlformats.org/officeDocument/2006/relationships/image" Target="../media/image265.png"/><Relationship Id="rId5" Type="http://schemas.openxmlformats.org/officeDocument/2006/relationships/image" Target="../media/image266.png"/><Relationship Id="rId6" Type="http://schemas.openxmlformats.org/officeDocument/2006/relationships/image" Target="../media/image267.png"/><Relationship Id="rId7" Type="http://schemas.openxmlformats.org/officeDocument/2006/relationships/image" Target="../media/image268.png"/><Relationship Id="rId8" Type="http://schemas.openxmlformats.org/officeDocument/2006/relationships/image" Target="../media/image269.png"/><Relationship Id="rId9" Type="http://schemas.openxmlformats.org/officeDocument/2006/relationships/image" Target="../media/image270.png"/><Relationship Id="rId10" Type="http://schemas.openxmlformats.org/officeDocument/2006/relationships/image" Target="../media/image271.png"/><Relationship Id="rId11" Type="http://schemas.openxmlformats.org/officeDocument/2006/relationships/image" Target="../media/image272.png"/><Relationship Id="rId12" Type="http://schemas.openxmlformats.org/officeDocument/2006/relationships/image" Target="../media/image273.png"/><Relationship Id="rId13" Type="http://schemas.openxmlformats.org/officeDocument/2006/relationships/image" Target="../media/image274.png"/><Relationship Id="rId14" Type="http://schemas.openxmlformats.org/officeDocument/2006/relationships/image" Target="../media/image275.png"/><Relationship Id="rId15" Type="http://schemas.openxmlformats.org/officeDocument/2006/relationships/image" Target="../media/image276.png"/></Relationships>
</file>

<file path=ppt/charts/_rels/chart43.xml.rels><?xml version='1.0' encoding='UTF-8' standalone='yes'?>
<Relationships xmlns="http://schemas.openxmlformats.org/package/2006/relationships"><Relationship Id="rId2" Type="http://schemas.openxmlformats.org/officeDocument/2006/relationships/image" Target="../media/image277.png"/><Relationship Id="rId3" Type="http://schemas.openxmlformats.org/officeDocument/2006/relationships/image" Target="../media/image278.png"/><Relationship Id="rId4" Type="http://schemas.openxmlformats.org/officeDocument/2006/relationships/image" Target="../media/image279.png"/><Relationship Id="rId5" Type="http://schemas.openxmlformats.org/officeDocument/2006/relationships/image" Target="../media/image280.png"/><Relationship Id="rId6" Type="http://schemas.openxmlformats.org/officeDocument/2006/relationships/image" Target="../media/image281.png"/><Relationship Id="rId7" Type="http://schemas.openxmlformats.org/officeDocument/2006/relationships/image" Target="../media/image282.png"/></Relationships>
</file>

<file path=ppt/charts/_rels/chart44.xml.rels><?xml version='1.0' encoding='UTF-8' standalone='yes'?>
<Relationships xmlns="http://schemas.openxmlformats.org/package/2006/relationships"><Relationship Id="rId2" Type="http://schemas.openxmlformats.org/officeDocument/2006/relationships/image" Target="../media/image283.png"/></Relationships>
</file>

<file path=ppt/charts/_rels/chart46.xml.rels><?xml version='1.0' encoding='UTF-8' standalone='yes'?>
<Relationships xmlns="http://schemas.openxmlformats.org/package/2006/relationships"><Relationship Id="rId2" Type="http://schemas.openxmlformats.org/officeDocument/2006/relationships/image" Target="../media/image284.png"/></Relationships>
</file>

<file path=ppt/charts/_rels/chart48.xml.rels><?xml version='1.0' encoding='UTF-8' standalone='yes'?>
<Relationships xmlns="http://schemas.openxmlformats.org/package/2006/relationships"><Relationship Id="rId2" Type="http://schemas.openxmlformats.org/officeDocument/2006/relationships/image" Target="../media/image285.png"/><Relationship Id="rId3" Type="http://schemas.openxmlformats.org/officeDocument/2006/relationships/image" Target="../media/image286.png"/><Relationship Id="rId4" Type="http://schemas.openxmlformats.org/officeDocument/2006/relationships/image" Target="../media/image287.png"/><Relationship Id="rId5" Type="http://schemas.openxmlformats.org/officeDocument/2006/relationships/image" Target="../media/image288.png"/><Relationship Id="rId6" Type="http://schemas.openxmlformats.org/officeDocument/2006/relationships/image" Target="../media/image289.png"/><Relationship Id="rId7" Type="http://schemas.openxmlformats.org/officeDocument/2006/relationships/image" Target="../media/image290.png"/><Relationship Id="rId8" Type="http://schemas.openxmlformats.org/officeDocument/2006/relationships/image" Target="../media/image291.png"/><Relationship Id="rId9" Type="http://schemas.openxmlformats.org/officeDocument/2006/relationships/image" Target="../media/image292.png"/><Relationship Id="rId10" Type="http://schemas.openxmlformats.org/officeDocument/2006/relationships/image" Target="../media/image293.png"/><Relationship Id="rId11" Type="http://schemas.openxmlformats.org/officeDocument/2006/relationships/image" Target="../media/image294.png"/></Relationships>
</file>

<file path=ppt/charts/_rels/chart49.xml.rels><?xml version='1.0' encoding='UTF-8' standalone='yes'?>
<Relationships xmlns="http://schemas.openxmlformats.org/package/2006/relationships"><Relationship Id="rId2" Type="http://schemas.openxmlformats.org/officeDocument/2006/relationships/image" Target="../media/image295.png"/><Relationship Id="rId3" Type="http://schemas.openxmlformats.org/officeDocument/2006/relationships/image" Target="../media/image296.png"/><Relationship Id="rId4" Type="http://schemas.openxmlformats.org/officeDocument/2006/relationships/image" Target="../media/image297.png"/><Relationship Id="rId5" Type="http://schemas.openxmlformats.org/officeDocument/2006/relationships/image" Target="../media/image298.png"/><Relationship Id="rId6" Type="http://schemas.openxmlformats.org/officeDocument/2006/relationships/image" Target="../media/image299.png"/><Relationship Id="rId7" Type="http://schemas.openxmlformats.org/officeDocument/2006/relationships/image" Target="../media/image300.png"/><Relationship Id="rId8" Type="http://schemas.openxmlformats.org/officeDocument/2006/relationships/image" Target="../media/image301.png"/><Relationship Id="rId9" Type="http://schemas.openxmlformats.org/officeDocument/2006/relationships/image" Target="../media/image302.png"/><Relationship Id="rId10" Type="http://schemas.openxmlformats.org/officeDocument/2006/relationships/image" Target="../media/image303.png"/><Relationship Id="rId11" Type="http://schemas.openxmlformats.org/officeDocument/2006/relationships/image" Target="../media/image304.png"/><Relationship Id="rId12" Type="http://schemas.openxmlformats.org/officeDocument/2006/relationships/image" Target="../media/image305.png"/><Relationship Id="rId13" Type="http://schemas.openxmlformats.org/officeDocument/2006/relationships/image" Target="../media/image306.png"/><Relationship Id="rId14" Type="http://schemas.openxmlformats.org/officeDocument/2006/relationships/image" Target="../media/image307.png"/><Relationship Id="rId15" Type="http://schemas.openxmlformats.org/officeDocument/2006/relationships/image" Target="../media/image308.png"/><Relationship Id="rId16" Type="http://schemas.openxmlformats.org/officeDocument/2006/relationships/image" Target="../media/image309.png"/><Relationship Id="rId17" Type="http://schemas.openxmlformats.org/officeDocument/2006/relationships/image" Target="../media/image310.png"/><Relationship Id="rId18" Type="http://schemas.openxmlformats.org/officeDocument/2006/relationships/image" Target="../media/image311.png"/><Relationship Id="rId19" Type="http://schemas.openxmlformats.org/officeDocument/2006/relationships/image" Target="../media/image312.png"/><Relationship Id="rId20" Type="http://schemas.openxmlformats.org/officeDocument/2006/relationships/image" Target="../media/image313.png"/><Relationship Id="rId21" Type="http://schemas.openxmlformats.org/officeDocument/2006/relationships/image" Target="../media/image314.png"/><Relationship Id="rId22" Type="http://schemas.openxmlformats.org/officeDocument/2006/relationships/image" Target="../media/image315.png"/><Relationship Id="rId23" Type="http://schemas.openxmlformats.org/officeDocument/2006/relationships/image" Target="../media/image316.png"/></Relationships>
</file>

<file path=ppt/charts/_rels/chart50.xml.rels><?xml version='1.0' encoding='UTF-8' standalone='yes'?>
<Relationships xmlns="http://schemas.openxmlformats.org/package/2006/relationships"><Relationship Id="rId2" Type="http://schemas.openxmlformats.org/officeDocument/2006/relationships/image" Target="../media/image317.png"/><Relationship Id="rId3" Type="http://schemas.openxmlformats.org/officeDocument/2006/relationships/image" Target="../media/image318.png"/><Relationship Id="rId4" Type="http://schemas.openxmlformats.org/officeDocument/2006/relationships/image" Target="../media/image319.png"/><Relationship Id="rId5" Type="http://schemas.openxmlformats.org/officeDocument/2006/relationships/image" Target="../media/image320.png"/><Relationship Id="rId6" Type="http://schemas.openxmlformats.org/officeDocument/2006/relationships/image" Target="../media/image321.png"/><Relationship Id="rId7" Type="http://schemas.openxmlformats.org/officeDocument/2006/relationships/image" Target="../media/image322.png"/></Relationships>
</file>

<file path=ppt/charts/_rels/chart51.xml.rels><?xml version='1.0' encoding='UTF-8' standalone='yes'?>
<Relationships xmlns="http://schemas.openxmlformats.org/package/2006/relationships"><Relationship Id="rId2" Type="http://schemas.openxmlformats.org/officeDocument/2006/relationships/image" Target="../media/image323.png"/><Relationship Id="rId3" Type="http://schemas.openxmlformats.org/officeDocument/2006/relationships/image" Target="../media/image324.png"/><Relationship Id="rId4" Type="http://schemas.openxmlformats.org/officeDocument/2006/relationships/image" Target="../media/image325.png"/><Relationship Id="rId5" Type="http://schemas.openxmlformats.org/officeDocument/2006/relationships/image" Target="../media/image326.png"/><Relationship Id="rId6" Type="http://schemas.openxmlformats.org/officeDocument/2006/relationships/image" Target="../media/image327.png"/><Relationship Id="rId7" Type="http://schemas.openxmlformats.org/officeDocument/2006/relationships/image" Target="../media/image328.png"/></Relationships>
</file>

<file path=ppt/charts/_rels/chart52.xml.rels><?xml version='1.0' encoding='UTF-8' standalone='yes'?>
<Relationships xmlns="http://schemas.openxmlformats.org/package/2006/relationships"><Relationship Id="rId2" Type="http://schemas.openxmlformats.org/officeDocument/2006/relationships/image" Target="../media/image329.png"/><Relationship Id="rId3" Type="http://schemas.openxmlformats.org/officeDocument/2006/relationships/image" Target="../media/image330.png"/></Relationships>
</file>

<file path=ppt/charts/_rels/chart54.xml.rels><?xml version='1.0' encoding='UTF-8' standalone='yes'?>
<Relationships xmlns="http://schemas.openxmlformats.org/package/2006/relationships"><Relationship Id="rId2" Type="http://schemas.openxmlformats.org/officeDocument/2006/relationships/image" Target="../media/image331.png"/><Relationship Id="rId3" Type="http://schemas.openxmlformats.org/officeDocument/2006/relationships/image" Target="../media/image332.png"/><Relationship Id="rId4" Type="http://schemas.openxmlformats.org/officeDocument/2006/relationships/image" Target="../media/image333.png"/><Relationship Id="rId5" Type="http://schemas.openxmlformats.org/officeDocument/2006/relationships/image" Target="../media/image334.png"/><Relationship Id="rId6" Type="http://schemas.openxmlformats.org/officeDocument/2006/relationships/image" Target="../media/image335.png"/><Relationship Id="rId7" Type="http://schemas.openxmlformats.org/officeDocument/2006/relationships/image" Target="../media/image336.png"/><Relationship Id="rId8" Type="http://schemas.openxmlformats.org/officeDocument/2006/relationships/image" Target="../media/image337.png"/><Relationship Id="rId9" Type="http://schemas.openxmlformats.org/officeDocument/2006/relationships/image" Target="../media/image338.png"/><Relationship Id="rId10" Type="http://schemas.openxmlformats.org/officeDocument/2006/relationships/image" Target="../media/image339.png"/><Relationship Id="rId11" Type="http://schemas.openxmlformats.org/officeDocument/2006/relationships/image" Target="../media/image340.png"/><Relationship Id="rId12" Type="http://schemas.openxmlformats.org/officeDocument/2006/relationships/image" Target="../media/image341.png"/><Relationship Id="rId13" Type="http://schemas.openxmlformats.org/officeDocument/2006/relationships/image" Target="../media/image342.png"/><Relationship Id="rId14" Type="http://schemas.openxmlformats.org/officeDocument/2006/relationships/image" Target="../media/image343.png"/><Relationship Id="rId15" Type="http://schemas.openxmlformats.org/officeDocument/2006/relationships/image" Target="../media/image344.png"/><Relationship Id="rId16" Type="http://schemas.openxmlformats.org/officeDocument/2006/relationships/image" Target="../media/image345.png"/></Relationships>
</file>

<file path=ppt/charts/_rels/chart55.xml.rels><?xml version='1.0' encoding='UTF-8' standalone='yes'?>
<Relationships xmlns="http://schemas.openxmlformats.org/package/2006/relationships"><Relationship Id="rId2" Type="http://schemas.openxmlformats.org/officeDocument/2006/relationships/image" Target="../media/image346.png"/><Relationship Id="rId3" Type="http://schemas.openxmlformats.org/officeDocument/2006/relationships/image" Target="../media/image347.png"/><Relationship Id="rId4" Type="http://schemas.openxmlformats.org/officeDocument/2006/relationships/image" Target="../media/image348.png"/><Relationship Id="rId5" Type="http://schemas.openxmlformats.org/officeDocument/2006/relationships/image" Target="../media/image349.png"/><Relationship Id="rId6" Type="http://schemas.openxmlformats.org/officeDocument/2006/relationships/image" Target="../media/image350.png"/><Relationship Id="rId7" Type="http://schemas.openxmlformats.org/officeDocument/2006/relationships/image" Target="../media/image351.png"/><Relationship Id="rId8" Type="http://schemas.openxmlformats.org/officeDocument/2006/relationships/image" Target="../media/image352.png"/><Relationship Id="rId9" Type="http://schemas.openxmlformats.org/officeDocument/2006/relationships/image" Target="../media/image353.png"/><Relationship Id="rId10" Type="http://schemas.openxmlformats.org/officeDocument/2006/relationships/image" Target="../media/image354.png"/><Relationship Id="rId11" Type="http://schemas.openxmlformats.org/officeDocument/2006/relationships/image" Target="../media/image355.png"/><Relationship Id="rId12" Type="http://schemas.openxmlformats.org/officeDocument/2006/relationships/image" Target="../media/image356.png"/><Relationship Id="rId13" Type="http://schemas.openxmlformats.org/officeDocument/2006/relationships/image" Target="../media/image357.png"/><Relationship Id="rId14" Type="http://schemas.openxmlformats.org/officeDocument/2006/relationships/image" Target="../media/image358.png"/><Relationship Id="rId15" Type="http://schemas.openxmlformats.org/officeDocument/2006/relationships/image" Target="../media/image359.png"/><Relationship Id="rId16" Type="http://schemas.openxmlformats.org/officeDocument/2006/relationships/image" Target="../media/image360.png"/></Relationships>
</file>

<file path=ppt/charts/_rels/chart58.xml.rels><?xml version='1.0' encoding='UTF-8' standalone='yes'?>
<Relationships xmlns="http://schemas.openxmlformats.org/package/2006/relationships"><Relationship Id="rId2" Type="http://schemas.openxmlformats.org/officeDocument/2006/relationships/image" Target="../media/image370.png"/><Relationship Id="rId3" Type="http://schemas.openxmlformats.org/officeDocument/2006/relationships/image" Target="../media/image371.png"/><Relationship Id="rId4" Type="http://schemas.openxmlformats.org/officeDocument/2006/relationships/image" Target="../media/image372.png"/><Relationship Id="rId5" Type="http://schemas.openxmlformats.org/officeDocument/2006/relationships/image" Target="../media/image373.png"/><Relationship Id="rId6" Type="http://schemas.openxmlformats.org/officeDocument/2006/relationships/image" Target="../media/image374.png"/><Relationship Id="rId7" Type="http://schemas.openxmlformats.org/officeDocument/2006/relationships/image" Target="../media/image375.png"/><Relationship Id="rId8" Type="http://schemas.openxmlformats.org/officeDocument/2006/relationships/image" Target="../media/image376.png"/><Relationship Id="rId9" Type="http://schemas.openxmlformats.org/officeDocument/2006/relationships/image" Target="../media/image377.png"/><Relationship Id="rId10" Type="http://schemas.openxmlformats.org/officeDocument/2006/relationships/image" Target="../media/image378.png"/><Relationship Id="rId11" Type="http://schemas.openxmlformats.org/officeDocument/2006/relationships/image" Target="../media/image379.png"/><Relationship Id="rId12" Type="http://schemas.openxmlformats.org/officeDocument/2006/relationships/image" Target="../media/image380.png"/><Relationship Id="rId13" Type="http://schemas.openxmlformats.org/officeDocument/2006/relationships/image" Target="../media/image381.png"/><Relationship Id="rId14" Type="http://schemas.openxmlformats.org/officeDocument/2006/relationships/image" Target="../media/image382.png"/><Relationship Id="rId15" Type="http://schemas.openxmlformats.org/officeDocument/2006/relationships/image" Target="../media/image383.png"/><Relationship Id="rId16" Type="http://schemas.openxmlformats.org/officeDocument/2006/relationships/image" Target="../media/image384.png"/><Relationship Id="rId17" Type="http://schemas.openxmlformats.org/officeDocument/2006/relationships/image" Target="../media/image385.png"/><Relationship Id="rId18" Type="http://schemas.openxmlformats.org/officeDocument/2006/relationships/image" Target="../media/image386.png"/><Relationship Id="rId19" Type="http://schemas.openxmlformats.org/officeDocument/2006/relationships/image" Target="../media/image387.png"/><Relationship Id="rId20" Type="http://schemas.openxmlformats.org/officeDocument/2006/relationships/image" Target="../media/image388.png"/><Relationship Id="rId21" Type="http://schemas.openxmlformats.org/officeDocument/2006/relationships/image" Target="../media/image389.png"/><Relationship Id="rId22" Type="http://schemas.openxmlformats.org/officeDocument/2006/relationships/image" Target="../media/image390.png"/><Relationship Id="rId23" Type="http://schemas.openxmlformats.org/officeDocument/2006/relationships/image" Target="../media/image391.png"/><Relationship Id="rId24" Type="http://schemas.openxmlformats.org/officeDocument/2006/relationships/image" Target="../media/image392.png"/><Relationship Id="rId25" Type="http://schemas.openxmlformats.org/officeDocument/2006/relationships/image" Target="../media/image393.png"/><Relationship Id="rId26" Type="http://schemas.openxmlformats.org/officeDocument/2006/relationships/image" Target="../media/image394.png"/><Relationship Id="rId27" Type="http://schemas.openxmlformats.org/officeDocument/2006/relationships/image" Target="../media/image395.png"/><Relationship Id="rId28" Type="http://schemas.openxmlformats.org/officeDocument/2006/relationships/image" Target="../media/image396.png"/><Relationship Id="rId29" Type="http://schemas.openxmlformats.org/officeDocument/2006/relationships/image" Target="../media/image397.png"/><Relationship Id="rId30" Type="http://schemas.openxmlformats.org/officeDocument/2006/relationships/image" Target="../media/image398.png"/><Relationship Id="rId31" Type="http://schemas.openxmlformats.org/officeDocument/2006/relationships/image" Target="../media/image399.png"/><Relationship Id="rId32" Type="http://schemas.openxmlformats.org/officeDocument/2006/relationships/image" Target="../media/image400.png"/></Relationships>
</file>

<file path=ppt/charts/_rels/chart64.xml.rels><?xml version='1.0' encoding='UTF-8' standalone='yes'?>
<Relationships xmlns="http://schemas.openxmlformats.org/package/2006/relationships"><Relationship Id="rId2" Type="http://schemas.openxmlformats.org/officeDocument/2006/relationships/image" Target="../media/image401.png"/><Relationship Id="rId3" Type="http://schemas.openxmlformats.org/officeDocument/2006/relationships/image" Target="../media/image402.png"/><Relationship Id="rId4" Type="http://schemas.openxmlformats.org/officeDocument/2006/relationships/image" Target="../media/image403.png"/><Relationship Id="rId5" Type="http://schemas.openxmlformats.org/officeDocument/2006/relationships/image" Target="../media/image404.png"/><Relationship Id="rId6" Type="http://schemas.openxmlformats.org/officeDocument/2006/relationships/image" Target="../media/image405.png"/><Relationship Id="rId7" Type="http://schemas.openxmlformats.org/officeDocument/2006/relationships/image" Target="../media/image406.png"/><Relationship Id="rId8" Type="http://schemas.openxmlformats.org/officeDocument/2006/relationships/image" Target="../media/image407.png"/><Relationship Id="rId9" Type="http://schemas.openxmlformats.org/officeDocument/2006/relationships/image" Target="../media/image408.png"/><Relationship Id="rId10" Type="http://schemas.openxmlformats.org/officeDocument/2006/relationships/image" Target="../media/image409.png"/></Relationships>
</file>

<file path=ppt/charts/_rels/chart65.xml.rels><?xml version='1.0' encoding='UTF-8' standalone='yes'?>
<Relationships xmlns="http://schemas.openxmlformats.org/package/2006/relationships"><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20.png"/><Relationship Id="rId11" Type="http://schemas.openxmlformats.org/officeDocument/2006/relationships/image" Target="../media/image421.png"/><Relationship Id="rId12" Type="http://schemas.openxmlformats.org/officeDocument/2006/relationships/image" Target="../media/image422.png"/><Relationship Id="rId13" Type="http://schemas.openxmlformats.org/officeDocument/2006/relationships/image" Target="../media/image423.png"/><Relationship Id="rId14" Type="http://schemas.openxmlformats.org/officeDocument/2006/relationships/image" Target="../media/image424.png"/><Relationship Id="rId15" Type="http://schemas.openxmlformats.org/officeDocument/2006/relationships/image" Target="../media/image425.png"/><Relationship Id="rId16" Type="http://schemas.openxmlformats.org/officeDocument/2006/relationships/image" Target="../media/image426.png"/><Relationship Id="rId17" Type="http://schemas.openxmlformats.org/officeDocument/2006/relationships/image" Target="../media/image427.png"/></Relationships>
</file>

<file path=ppt/charts/_rels/chart69.xml.rels><?xml version='1.0' encoding='UTF-8' standalone='yes'?>
<Relationships xmlns="http://schemas.openxmlformats.org/package/2006/relationships"><Relationship Id="rId2" Type="http://schemas.openxmlformats.org/officeDocument/2006/relationships/image" Target="../media/image428.png"/><Relationship Id="rId3" Type="http://schemas.openxmlformats.org/officeDocument/2006/relationships/image" Target="../media/image429.png"/><Relationship Id="rId4" Type="http://schemas.openxmlformats.org/officeDocument/2006/relationships/image" Target="../media/image430.png"/><Relationship Id="rId5" Type="http://schemas.openxmlformats.org/officeDocument/2006/relationships/image" Target="../media/image431.png"/><Relationship Id="rId6" Type="http://schemas.openxmlformats.org/officeDocument/2006/relationships/image" Target="../media/image432.png"/><Relationship Id="rId7" Type="http://schemas.openxmlformats.org/officeDocument/2006/relationships/image" Target="../media/image433.png"/></Relationships>
</file>

<file path=ppt/charts/_rels/chart70.xml.rels><?xml version='1.0' encoding='UTF-8' standalone='yes'?>
<Relationships xmlns="http://schemas.openxmlformats.org/package/2006/relationships"><Relationship Id="rId2" Type="http://schemas.openxmlformats.org/officeDocument/2006/relationships/image" Target="../media/image440.png"/><Relationship Id="rId3" Type="http://schemas.openxmlformats.org/officeDocument/2006/relationships/image" Target="../media/image441.png"/><Relationship Id="rId4" Type="http://schemas.openxmlformats.org/officeDocument/2006/relationships/image" Target="../media/image442.png"/><Relationship Id="rId5" Type="http://schemas.openxmlformats.org/officeDocument/2006/relationships/image" Target="../media/image443.png"/><Relationship Id="rId6" Type="http://schemas.openxmlformats.org/officeDocument/2006/relationships/image" Target="../media/image444.png"/><Relationship Id="rId7" Type="http://schemas.openxmlformats.org/officeDocument/2006/relationships/image" Target="../media/image445.png"/><Relationship Id="rId8" Type="http://schemas.openxmlformats.org/officeDocument/2006/relationships/image" Target="../media/image446.png"/><Relationship Id="rId9" Type="http://schemas.openxmlformats.org/officeDocument/2006/relationships/image" Target="../media/image447.png"/><Relationship Id="rId10" Type="http://schemas.openxmlformats.org/officeDocument/2006/relationships/image" Target="../media/image448.png"/><Relationship Id="rId11" Type="http://schemas.openxmlformats.org/officeDocument/2006/relationships/image" Target="../media/image449.png"/><Relationship Id="rId12" Type="http://schemas.openxmlformats.org/officeDocument/2006/relationships/image" Target="../media/image450.png"/><Relationship Id="rId13" Type="http://schemas.openxmlformats.org/officeDocument/2006/relationships/image" Target="../media/image451.png"/><Relationship Id="rId14" Type="http://schemas.openxmlformats.org/officeDocument/2006/relationships/image" Target="../media/image452.png"/><Relationship Id="rId15" Type="http://schemas.openxmlformats.org/officeDocument/2006/relationships/image" Target="../media/image453.png"/><Relationship Id="rId16" Type="http://schemas.openxmlformats.org/officeDocument/2006/relationships/image" Target="../media/image454.png"/><Relationship Id="rId17" Type="http://schemas.openxmlformats.org/officeDocument/2006/relationships/image" Target="../media/image455.png"/><Relationship Id="rId18" Type="http://schemas.openxmlformats.org/officeDocument/2006/relationships/image" Target="../media/image456.png"/><Relationship Id="rId19" Type="http://schemas.openxmlformats.org/officeDocument/2006/relationships/image" Target="../media/image457.png"/><Relationship Id="rId20" Type="http://schemas.openxmlformats.org/officeDocument/2006/relationships/image" Target="../media/image458.png"/><Relationship Id="rId21" Type="http://schemas.openxmlformats.org/officeDocument/2006/relationships/image" Target="../media/image459.png"/><Relationship Id="rId22" Type="http://schemas.openxmlformats.org/officeDocument/2006/relationships/image" Target="../media/image460.png"/><Relationship Id="rId23" Type="http://schemas.openxmlformats.org/officeDocument/2006/relationships/image" Target="../media/image461.png"/><Relationship Id="rId24" Type="http://schemas.openxmlformats.org/officeDocument/2006/relationships/image" Target="../media/image462.png"/></Relationships>
</file>

<file path=ppt/charts/_rels/chart75.xml.rels><?xml version='1.0' encoding='UTF-8' standalone='yes'?>
<Relationships xmlns="http://schemas.openxmlformats.org/package/2006/relationships"><Relationship Id="rId2" Type="http://schemas.openxmlformats.org/officeDocument/2006/relationships/image" Target="../media/image463.png"/><Relationship Id="rId3" Type="http://schemas.openxmlformats.org/officeDocument/2006/relationships/image" Target="../media/image464.png"/><Relationship Id="rId4" Type="http://schemas.openxmlformats.org/officeDocument/2006/relationships/image" Target="../media/image465.png"/><Relationship Id="rId5" Type="http://schemas.openxmlformats.org/officeDocument/2006/relationships/image" Target="../media/image466.png"/><Relationship Id="rId6" Type="http://schemas.openxmlformats.org/officeDocument/2006/relationships/image" Target="../media/image467.png"/><Relationship Id="rId7" Type="http://schemas.openxmlformats.org/officeDocument/2006/relationships/image" Target="../media/image468.png"/><Relationship Id="rId8" Type="http://schemas.openxmlformats.org/officeDocument/2006/relationships/image" Target="../media/image469.png"/><Relationship Id="rId9" Type="http://schemas.openxmlformats.org/officeDocument/2006/relationships/image" Target="../media/image470.png"/><Relationship Id="rId10" Type="http://schemas.openxmlformats.org/officeDocument/2006/relationships/image" Target="../media/image471.png"/></Relationships>
</file>

<file path=ppt/charts/_rels/chart76.xml.rels><?xml version='1.0' encoding='UTF-8' standalone='yes'?>
<Relationships xmlns="http://schemas.openxmlformats.org/package/2006/relationships"><Relationship Id="rId2" Type="http://schemas.openxmlformats.org/officeDocument/2006/relationships/image" Target="../media/image479.png"/><Relationship Id="rId3" Type="http://schemas.openxmlformats.org/officeDocument/2006/relationships/image" Target="../media/image480.png"/><Relationship Id="rId4" Type="http://schemas.openxmlformats.org/officeDocument/2006/relationships/image" Target="../media/image481.png"/><Relationship Id="rId5" Type="http://schemas.openxmlformats.org/officeDocument/2006/relationships/image" Target="../media/image482.png"/><Relationship Id="rId6" Type="http://schemas.openxmlformats.org/officeDocument/2006/relationships/image" Target="../media/image483.png"/><Relationship Id="rId7" Type="http://schemas.openxmlformats.org/officeDocument/2006/relationships/image" Target="../media/image484.png"/><Relationship Id="rId8" Type="http://schemas.openxmlformats.org/officeDocument/2006/relationships/image" Target="../media/image485.png"/><Relationship Id="rId9" Type="http://schemas.openxmlformats.org/officeDocument/2006/relationships/image" Target="../media/image486.png"/><Relationship Id="rId10" Type="http://schemas.openxmlformats.org/officeDocument/2006/relationships/image" Target="../media/image487.png"/><Relationship Id="rId11" Type="http://schemas.openxmlformats.org/officeDocument/2006/relationships/image" Target="../media/image488.png"/><Relationship Id="rId12" Type="http://schemas.openxmlformats.org/officeDocument/2006/relationships/image" Target="../media/image489.png"/><Relationship Id="rId13" Type="http://schemas.openxmlformats.org/officeDocument/2006/relationships/image" Target="../media/image490.png"/><Relationship Id="rId14" Type="http://schemas.openxmlformats.org/officeDocument/2006/relationships/image" Target="../media/image491.png"/><Relationship Id="rId15" Type="http://schemas.openxmlformats.org/officeDocument/2006/relationships/image" Target="../media/image492.png"/><Relationship Id="rId16" Type="http://schemas.openxmlformats.org/officeDocument/2006/relationships/image" Target="../media/image493.png"/><Relationship Id="rId17" Type="http://schemas.openxmlformats.org/officeDocument/2006/relationships/image" Target="../media/image494.png"/><Relationship Id="rId18" Type="http://schemas.openxmlformats.org/officeDocument/2006/relationships/image" Target="../media/image495.png"/><Relationship Id="rId19" Type="http://schemas.openxmlformats.org/officeDocument/2006/relationships/image" Target="../media/image496.png"/><Relationship Id="rId20" Type="http://schemas.openxmlformats.org/officeDocument/2006/relationships/image" Target="../media/image497.png"/><Relationship Id="rId21" Type="http://schemas.openxmlformats.org/officeDocument/2006/relationships/image" Target="../media/image498.png"/><Relationship Id="rId22" Type="http://schemas.openxmlformats.org/officeDocument/2006/relationships/image" Target="../media/image499.png"/><Relationship Id="rId23" Type="http://schemas.openxmlformats.org/officeDocument/2006/relationships/image" Target="../media/image500.png"/><Relationship Id="rId24" Type="http://schemas.openxmlformats.org/officeDocument/2006/relationships/image" Target="../media/image501.png"/></Relationships>
</file>

<file path=ppt/charts/_rels/chart81.xml.rels><?xml version='1.0' encoding='UTF-8' standalone='yes'?>
<Relationships xmlns="http://schemas.openxmlformats.org/package/2006/relationships"><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image" Target="../media/image509.png"/><Relationship Id="rId10" Type="http://schemas.openxmlformats.org/officeDocument/2006/relationships/image" Target="../media/image510.png"/></Relationships>
</file>

<file path=ppt/charts/_rels/chart82.xml.rels><?xml version='1.0' encoding='UTF-8' standalone='yes'?>
<Relationships xmlns="http://schemas.openxmlformats.org/package/2006/relationships"><Relationship Id="rId2" Type="http://schemas.openxmlformats.org/officeDocument/2006/relationships/image" Target="../media/image513.png"/><Relationship Id="rId3" Type="http://schemas.openxmlformats.org/officeDocument/2006/relationships/image" Target="../media/image514.png"/><Relationship Id="rId4" Type="http://schemas.openxmlformats.org/officeDocument/2006/relationships/image" Target="../media/image515.png"/><Relationship Id="rId5" Type="http://schemas.openxmlformats.org/officeDocument/2006/relationships/image" Target="../media/image516.png"/><Relationship Id="rId6" Type="http://schemas.openxmlformats.org/officeDocument/2006/relationships/image" Target="../media/image517.png"/><Relationship Id="rId7" Type="http://schemas.openxmlformats.org/officeDocument/2006/relationships/image" Target="../media/image518.png"/><Relationship Id="rId8" Type="http://schemas.openxmlformats.org/officeDocument/2006/relationships/image" Target="../media/image519.png"/><Relationship Id="rId9" Type="http://schemas.openxmlformats.org/officeDocument/2006/relationships/image" Target="../media/image520.png"/><Relationship Id="rId10" Type="http://schemas.openxmlformats.org/officeDocument/2006/relationships/image" Target="../media/image521.png"/><Relationship Id="rId11" Type="http://schemas.openxmlformats.org/officeDocument/2006/relationships/image" Target="../media/image522.png"/><Relationship Id="rId12" Type="http://schemas.openxmlformats.org/officeDocument/2006/relationships/image" Target="../media/image523.png"/><Relationship Id="rId13" Type="http://schemas.openxmlformats.org/officeDocument/2006/relationships/image" Target="../media/image524.png"/><Relationship Id="rId14" Type="http://schemas.openxmlformats.org/officeDocument/2006/relationships/image" Target="../media/image525.png"/><Relationship Id="rId15" Type="http://schemas.openxmlformats.org/officeDocument/2006/relationships/image" Target="../media/image526.png"/></Relationships>
</file>

<file path=ppt/charts/_rels/chart86.xml.rels><?xml version='1.0' encoding='UTF-8' standalone='yes'?>
<Relationships xmlns="http://schemas.openxmlformats.org/package/2006/relationships"><Relationship Id="rId2" Type="http://schemas.openxmlformats.org/officeDocument/2006/relationships/image" Target="../media/image527.png"/><Relationship Id="rId3" Type="http://schemas.openxmlformats.org/officeDocument/2006/relationships/image" Target="../media/image528.png"/><Relationship Id="rId4" Type="http://schemas.openxmlformats.org/officeDocument/2006/relationships/image" Target="../media/image529.png"/><Relationship Id="rId5" Type="http://schemas.openxmlformats.org/officeDocument/2006/relationships/image" Target="../media/image530.png"/><Relationship Id="rId6" Type="http://schemas.openxmlformats.org/officeDocument/2006/relationships/image" Target="../media/image531.png"/><Relationship Id="rId7" Type="http://schemas.openxmlformats.org/officeDocument/2006/relationships/image" Target="../media/image532.png"/></Relationships>
</file>

<file path=ppt/charts/_rels/chart113.xml.rels><?xml version='1.0' encoding='UTF-8' standalone='yes'?>
<Relationships xmlns="http://schemas.openxmlformats.org/package/2006/relationships"><Relationship Id="rId2" Type="http://schemas.openxmlformats.org/officeDocument/2006/relationships/image" Target="../media/image533.png"/><Relationship Id="rId3" Type="http://schemas.openxmlformats.org/officeDocument/2006/relationships/image" Target="../media/image534.png"/><Relationship Id="rId4" Type="http://schemas.openxmlformats.org/officeDocument/2006/relationships/image" Target="../media/image535.png"/><Relationship Id="rId5" Type="http://schemas.openxmlformats.org/officeDocument/2006/relationships/image" Target="../media/image536.png"/><Relationship Id="rId6" Type="http://schemas.openxmlformats.org/officeDocument/2006/relationships/image" Target="../media/image537.png"/><Relationship Id="rId7" Type="http://schemas.openxmlformats.org/officeDocument/2006/relationships/image" Target="../media/image538.png"/><Relationship Id="rId8" Type="http://schemas.openxmlformats.org/officeDocument/2006/relationships/image" Target="../media/image539.png"/><Relationship Id="rId9" Type="http://schemas.openxmlformats.org/officeDocument/2006/relationships/image" Target="../media/image540.png"/><Relationship Id="rId10" Type="http://schemas.openxmlformats.org/officeDocument/2006/relationships/image" Target="../media/image541.png"/><Relationship Id="rId11" Type="http://schemas.openxmlformats.org/officeDocument/2006/relationships/image" Target="../media/image542.png"/></Relationships>
</file>

<file path=ppt/charts/_rels/chart114.xml.rels><?xml version='1.0' encoding='UTF-8' standalone='yes'?>
<Relationships xmlns="http://schemas.openxmlformats.org/package/2006/relationships"><Relationship Id="rId2" Type="http://schemas.openxmlformats.org/officeDocument/2006/relationships/image" Target="../media/image543.png"/><Relationship Id="rId3" Type="http://schemas.openxmlformats.org/officeDocument/2006/relationships/image" Target="../media/image544.png"/><Relationship Id="rId4" Type="http://schemas.openxmlformats.org/officeDocument/2006/relationships/image" Target="../media/image545.png"/><Relationship Id="rId5" Type="http://schemas.openxmlformats.org/officeDocument/2006/relationships/image" Target="../media/image546.png"/><Relationship Id="rId6" Type="http://schemas.openxmlformats.org/officeDocument/2006/relationships/image" Target="../media/image547.png"/><Relationship Id="rId7" Type="http://schemas.openxmlformats.org/officeDocument/2006/relationships/image" Target="../media/image548.png"/><Relationship Id="rId8" Type="http://schemas.openxmlformats.org/officeDocument/2006/relationships/image" Target="../media/image549.png"/><Relationship Id="rId9" Type="http://schemas.openxmlformats.org/officeDocument/2006/relationships/image" Target="../media/image550.png"/><Relationship Id="rId10" Type="http://schemas.openxmlformats.org/officeDocument/2006/relationships/image" Target="../media/image551.png"/><Relationship Id="rId11" Type="http://schemas.openxmlformats.org/officeDocument/2006/relationships/image" Target="../media/image552.png"/><Relationship Id="rId12" Type="http://schemas.openxmlformats.org/officeDocument/2006/relationships/image" Target="../media/image553.png"/></Relationships>
</file>

<file path=ppt/charts/_rels/chart115.xml.rels><?xml version='1.0' encoding='UTF-8' standalone='yes'?>
<Relationships xmlns="http://schemas.openxmlformats.org/package/2006/relationships"><Relationship Id="rId2" Type="http://schemas.openxmlformats.org/officeDocument/2006/relationships/image" Target="../media/image554.png"/><Relationship Id="rId3" Type="http://schemas.openxmlformats.org/officeDocument/2006/relationships/image" Target="../media/image555.png"/><Relationship Id="rId4" Type="http://schemas.openxmlformats.org/officeDocument/2006/relationships/image" Target="../media/image556.png"/><Relationship Id="rId5" Type="http://schemas.openxmlformats.org/officeDocument/2006/relationships/image" Target="../media/image557.png"/><Relationship Id="rId6" Type="http://schemas.openxmlformats.org/officeDocument/2006/relationships/image" Target="../media/image558.png"/><Relationship Id="rId7" Type="http://schemas.openxmlformats.org/officeDocument/2006/relationships/image" Target="../media/image559.png"/><Relationship Id="rId8" Type="http://schemas.openxmlformats.org/officeDocument/2006/relationships/image" Target="../media/image560.png"/><Relationship Id="rId9" Type="http://schemas.openxmlformats.org/officeDocument/2006/relationships/image" Target="../media/image561.png"/><Relationship Id="rId10" Type="http://schemas.openxmlformats.org/officeDocument/2006/relationships/image" Target="../media/image562.png"/><Relationship Id="rId11" Type="http://schemas.openxmlformats.org/officeDocument/2006/relationships/image" Target="../media/image563.png"/></Relationships>
</file>

<file path=ppt/charts/_rels/chart116.xml.rels><?xml version='1.0' encoding='UTF-8' standalone='yes'?>
<Relationships xmlns="http://schemas.openxmlformats.org/package/2006/relationships"><Relationship Id="rId2" Type="http://schemas.openxmlformats.org/officeDocument/2006/relationships/image" Target="../media/image564.png"/><Relationship Id="rId3" Type="http://schemas.openxmlformats.org/officeDocument/2006/relationships/image" Target="../media/image565.png"/><Relationship Id="rId4" Type="http://schemas.openxmlformats.org/officeDocument/2006/relationships/image" Target="../media/image566.png"/><Relationship Id="rId5" Type="http://schemas.openxmlformats.org/officeDocument/2006/relationships/image" Target="../media/image567.png"/><Relationship Id="rId6" Type="http://schemas.openxmlformats.org/officeDocument/2006/relationships/image" Target="../media/image568.png"/><Relationship Id="rId7" Type="http://schemas.openxmlformats.org/officeDocument/2006/relationships/image" Target="../media/image569.png"/><Relationship Id="rId8" Type="http://schemas.openxmlformats.org/officeDocument/2006/relationships/image" Target="../media/image570.png"/><Relationship Id="rId9" Type="http://schemas.openxmlformats.org/officeDocument/2006/relationships/image" Target="../media/image571.png"/><Relationship Id="rId10" Type="http://schemas.openxmlformats.org/officeDocument/2006/relationships/image" Target="../media/image572.png"/><Relationship Id="rId11" Type="http://schemas.openxmlformats.org/officeDocument/2006/relationships/image" Target="../media/image573.png"/><Relationship Id="rId12" Type="http://schemas.openxmlformats.org/officeDocument/2006/relationships/image" Target="../media/image574.png"/></Relationships>
</file>

<file path=ppt/charts/_rels/chart117.xml.rels><?xml version='1.0' encoding='UTF-8' standalone='yes'?>
<Relationships xmlns="http://schemas.openxmlformats.org/package/2006/relationships"><Relationship Id="rId2" Type="http://schemas.openxmlformats.org/officeDocument/2006/relationships/image" Target="../media/image575.png"/><Relationship Id="rId3" Type="http://schemas.openxmlformats.org/officeDocument/2006/relationships/image" Target="../media/image576.png"/><Relationship Id="rId4" Type="http://schemas.openxmlformats.org/officeDocument/2006/relationships/image" Target="../media/image577.png"/><Relationship Id="rId5" Type="http://schemas.openxmlformats.org/officeDocument/2006/relationships/image" Target="../media/image578.png"/><Relationship Id="rId6" Type="http://schemas.openxmlformats.org/officeDocument/2006/relationships/image" Target="../media/image579.png"/><Relationship Id="rId7" Type="http://schemas.openxmlformats.org/officeDocument/2006/relationships/image" Target="../media/image580.png"/><Relationship Id="rId8" Type="http://schemas.openxmlformats.org/officeDocument/2006/relationships/image" Target="../media/image581.png"/><Relationship Id="rId9" Type="http://schemas.openxmlformats.org/officeDocument/2006/relationships/image" Target="../media/image582.png"/><Relationship Id="rId10" Type="http://schemas.openxmlformats.org/officeDocument/2006/relationships/image" Target="../media/image583.png"/><Relationship Id="rId11" Type="http://schemas.openxmlformats.org/officeDocument/2006/relationships/image" Target="../media/image584.png"/></Relationships>
</file>

<file path=ppt/charts/_rels/chart118.xml.rels><?xml version='1.0' encoding='UTF-8' standalone='yes'?>
<Relationships xmlns="http://schemas.openxmlformats.org/package/2006/relationships"><Relationship Id="rId2" Type="http://schemas.openxmlformats.org/officeDocument/2006/relationships/image" Target="../media/image585.png"/><Relationship Id="rId3" Type="http://schemas.openxmlformats.org/officeDocument/2006/relationships/image" Target="../media/image586.png"/><Relationship Id="rId4" Type="http://schemas.openxmlformats.org/officeDocument/2006/relationships/image" Target="../media/image587.png"/><Relationship Id="rId5" Type="http://schemas.openxmlformats.org/officeDocument/2006/relationships/image" Target="../media/image588.png"/><Relationship Id="rId6" Type="http://schemas.openxmlformats.org/officeDocument/2006/relationships/image" Target="../media/image589.png"/><Relationship Id="rId7" Type="http://schemas.openxmlformats.org/officeDocument/2006/relationships/image" Target="../media/image590.png"/><Relationship Id="rId8" Type="http://schemas.openxmlformats.org/officeDocument/2006/relationships/image" Target="../media/image591.png"/><Relationship Id="rId9" Type="http://schemas.openxmlformats.org/officeDocument/2006/relationships/image" Target="../media/image592.png"/><Relationship Id="rId10" Type="http://schemas.openxmlformats.org/officeDocument/2006/relationships/image" Target="../media/image593.png"/><Relationship Id="rId11" Type="http://schemas.openxmlformats.org/officeDocument/2006/relationships/image" Target="../media/image594.png"/><Relationship Id="rId12" Type="http://schemas.openxmlformats.org/officeDocument/2006/relationships/image" Target="../media/image595.png"/></Relationships>
</file>

<file path=ppt/charts/_rels/chart119.xml.rels><?xml version='1.0' encoding='UTF-8' standalone='yes'?>
<Relationships xmlns="http://schemas.openxmlformats.org/package/2006/relationships"><Relationship Id="rId2" Type="http://schemas.openxmlformats.org/officeDocument/2006/relationships/image" Target="../media/image596.png"/><Relationship Id="rId3" Type="http://schemas.openxmlformats.org/officeDocument/2006/relationships/image" Target="../media/image597.png"/><Relationship Id="rId4" Type="http://schemas.openxmlformats.org/officeDocument/2006/relationships/image" Target="../media/image598.png"/><Relationship Id="rId5" Type="http://schemas.openxmlformats.org/officeDocument/2006/relationships/image" Target="../media/image599.png"/><Relationship Id="rId6" Type="http://schemas.openxmlformats.org/officeDocument/2006/relationships/image" Target="../media/image600.png"/><Relationship Id="rId7" Type="http://schemas.openxmlformats.org/officeDocument/2006/relationships/image" Target="../media/image601.png"/><Relationship Id="rId8" Type="http://schemas.openxmlformats.org/officeDocument/2006/relationships/image" Target="../media/image602.png"/><Relationship Id="rId9" Type="http://schemas.openxmlformats.org/officeDocument/2006/relationships/image" Target="../media/image603.png"/><Relationship Id="rId10" Type="http://schemas.openxmlformats.org/officeDocument/2006/relationships/image" Target="../media/image604.png"/></Relationships>
</file>

<file path=ppt/charts/_rels/chart120.xml.rels><?xml version='1.0' encoding='UTF-8' standalone='yes'?>
<Relationships xmlns="http://schemas.openxmlformats.org/package/2006/relationships"><Relationship Id="rId2" Type="http://schemas.openxmlformats.org/officeDocument/2006/relationships/image" Target="../media/image605.png"/></Relationships>
</file>

<file path=ppt/charts/_rels/chart121.xml.rels><?xml version='1.0' encoding='UTF-8' standalone='yes'?>
<Relationships xmlns="http://schemas.openxmlformats.org/package/2006/relationships"><Relationship Id="rId2" Type="http://schemas.openxmlformats.org/officeDocument/2006/relationships/image" Target="../media/image606.png"/><Relationship Id="rId3" Type="http://schemas.openxmlformats.org/officeDocument/2006/relationships/image" Target="../media/image607.png"/><Relationship Id="rId4" Type="http://schemas.openxmlformats.org/officeDocument/2006/relationships/image" Target="../media/image608.png"/><Relationship Id="rId5" Type="http://schemas.openxmlformats.org/officeDocument/2006/relationships/image" Target="../media/image609.png"/><Relationship Id="rId6" Type="http://schemas.openxmlformats.org/officeDocument/2006/relationships/image" Target="../media/image610.png"/></Relationships>
</file>

<file path=ppt/charts/_rels/chart122.xml.rels><?xml version='1.0' encoding='UTF-8' standalone='yes'?>
<Relationships xmlns="http://schemas.openxmlformats.org/package/2006/relationships"><Relationship Id="rId2" Type="http://schemas.openxmlformats.org/officeDocument/2006/relationships/image" Target="../media/image611.png"/><Relationship Id="rId3" Type="http://schemas.openxmlformats.org/officeDocument/2006/relationships/image" Target="../media/image612.png"/><Relationship Id="rId4" Type="http://schemas.openxmlformats.org/officeDocument/2006/relationships/image" Target="../media/image613.png"/><Relationship Id="rId5" Type="http://schemas.openxmlformats.org/officeDocument/2006/relationships/image" Target="../media/image614.png"/></Relationships>
</file>

<file path=ppt/charts/_rels/chart123.xml.rels><?xml version='1.0' encoding='UTF-8' standalone='yes'?>
<Relationships xmlns="http://schemas.openxmlformats.org/package/2006/relationships"><Relationship Id="rId2" Type="http://schemas.openxmlformats.org/officeDocument/2006/relationships/image" Target="../media/image615.png"/><Relationship Id="rId3" Type="http://schemas.openxmlformats.org/officeDocument/2006/relationships/image" Target="../media/image616.png"/><Relationship Id="rId4" Type="http://schemas.openxmlformats.org/officeDocument/2006/relationships/image" Target="../media/image617.png"/><Relationship Id="rId5" Type="http://schemas.openxmlformats.org/officeDocument/2006/relationships/image" Target="../media/image618.png"/><Relationship Id="rId6" Type="http://schemas.openxmlformats.org/officeDocument/2006/relationships/image" Target="../media/image619.png"/><Relationship Id="rId7" Type="http://schemas.openxmlformats.org/officeDocument/2006/relationships/image" Target="../media/image620.png"/><Relationship Id="rId8" Type="http://schemas.openxmlformats.org/officeDocument/2006/relationships/image" Target="../media/image621.png"/><Relationship Id="rId9" Type="http://schemas.openxmlformats.org/officeDocument/2006/relationships/image" Target="../media/image622.png"/><Relationship Id="rId10" Type="http://schemas.openxmlformats.org/officeDocument/2006/relationships/image" Target="../media/image623.png"/><Relationship Id="rId11" Type="http://schemas.openxmlformats.org/officeDocument/2006/relationships/image" Target="../media/image624.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5.687454693960525</c:v>
                </c:pt>
                <c:pt idx="1">
                  <c:v>5.756681473984071</c:v>
                </c:pt>
                <c:pt idx="2">
                  <c:v>5.733600843828879</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598819545658974"/>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2800146.0979999998</c:v>
                </c:pt>
                <c:pt idx="2">
                  <c:v>0.0</c:v>
                </c:pt>
                <c:pt idx="3">
                  <c:v>3692307.693</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2800146.0979999998</c:v>
                </c:pt>
                <c:pt idx="1">
                  <c:v>892161.5950000002</c:v>
                </c:pt>
                <c:pt idx="2">
                  <c:v>3692307.693</c:v>
                </c:pt>
                <c:pt idx="3">
                  <c:v>2769827.387</c:v>
                </c:pt>
                <c:pt idx="4">
                  <c:v>6462135.08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6.1999869697246135</c:v>
                </c:pt>
                <c:pt idx="1">
                  <c:v>6.1999915620093216</c:v>
                </c:pt>
                <c:pt idx="2">
                  <c:v>6.199990031247715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183988861852304"/>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1776.5970000000002</c:v>
                </c:pt>
                <c:pt idx="2">
                  <c:v>0.0</c:v>
                </c:pt>
                <c:pt idx="3">
                  <c:v>2400.0</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1776.5970000000002</c:v>
                </c:pt>
                <c:pt idx="1">
                  <c:v>623.4029999999998</c:v>
                </c:pt>
                <c:pt idx="2">
                  <c:v>2400.0</c:v>
                </c:pt>
                <c:pt idx="3">
                  <c:v>1979.8179999999993</c:v>
                </c:pt>
                <c:pt idx="4">
                  <c:v>4379.817999999999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1776.5970000000002</c:v>
                </c:pt>
                <c:pt idx="1">
                  <c:v>1886.7450000000001</c:v>
                </c:pt>
                <c:pt idx="2">
                  <c:v>2003.724</c:v>
                </c:pt>
                <c:pt idx="3">
                  <c:v>2127.955</c:v>
                </c:pt>
                <c:pt idx="4">
                  <c:v>2259.8869999999997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2800146.0979999998</c:v>
                </c:pt>
                <c:pt idx="1">
                  <c:v>2958860.3729999997</c:v>
                </c:pt>
                <c:pt idx="2">
                  <c:v>3126858.9760000003</c:v>
                </c:pt>
                <c:pt idx="3">
                  <c:v>3304697.9129999997</c:v>
                </c:pt>
                <c:pt idx="4">
                  <c:v>3492973.0169999995</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667"/>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776149"/>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2400.0</c:v>
                </c:pt>
                <c:pt idx="1">
                  <c:v>2548.801</c:v>
                </c:pt>
                <c:pt idx="2">
                  <c:v>2706.8280000000004</c:v>
                </c:pt>
                <c:pt idx="3">
                  <c:v>2874.649</c:v>
                </c:pt>
                <c:pt idx="4">
                  <c:v>3052.876</c:v>
                </c:pt>
                <c:pt idx="5">
                  <c:v>3242.156</c:v>
                </c:pt>
                <c:pt idx="6">
                  <c:v>3443.1710000000003</c:v>
                </c:pt>
                <c:pt idx="7">
                  <c:v>3656.6459999999997</c:v>
                </c:pt>
                <c:pt idx="8">
                  <c:v>3883.357</c:v>
                </c:pt>
                <c:pt idx="9">
                  <c:v>4124.126</c:v>
                </c:pt>
                <c:pt idx="10">
                  <c:v>4379.817999999999</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3692307.693</c:v>
                </c:pt>
                <c:pt idx="1">
                  <c:v>3903323.161</c:v>
                </c:pt>
                <c:pt idx="2">
                  <c:v>4126766.827</c:v>
                </c:pt>
                <c:pt idx="3">
                  <c:v>4363391.100000001</c:v>
                </c:pt>
                <c:pt idx="4">
                  <c:v>4613979.509</c:v>
                </c:pt>
                <c:pt idx="5">
                  <c:v>4879396.853999999</c:v>
                </c:pt>
                <c:pt idx="6">
                  <c:v>5160531.041</c:v>
                </c:pt>
                <c:pt idx="7">
                  <c:v>5458319.843</c:v>
                </c:pt>
                <c:pt idx="8">
                  <c:v>5773796.794</c:v>
                </c:pt>
                <c:pt idx="9">
                  <c:v>6108016.474</c:v>
                </c:pt>
                <c:pt idx="10">
                  <c:v>6462135.08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5168"/>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9035289"/>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7"/>
                <c:pt idx="0">
                  <c:v>China</c:v>
                </c:pt>
                <c:pt idx="1">
                  <c:v>Hungary</c:v>
                </c:pt>
                <c:pt idx="2">
                  <c:v>Russia</c:v>
                </c:pt>
                <c:pt idx="3">
                  <c:v>Brazil</c:v>
                </c:pt>
                <c:pt idx="4">
                  <c:v>Poland</c:v>
                </c:pt>
                <c:pt idx="5">
                  <c:v>Germany</c:v>
                </c:pt>
                <c:pt idx="6">
                  <c:v>India</c:v>
                </c:pt>
              </c:strCache>
            </c:strRef>
          </c:cat>
          <c:val>
            <c:numRef>
              <c:numCache>
                <c:formatCode>General</c:formatCode>
                <c:ptCount val="7"/>
                <c:pt idx="0">
                  <c:v>100.58554384339766</c:v>
                </c:pt>
                <c:pt idx="1">
                  <c:v>112.58480219159537</c:v>
                </c:pt>
                <c:pt idx="2">
                  <c:v>114.23034763098066</c:v>
                </c:pt>
                <c:pt idx="3">
                  <c:v>114.40153435291339</c:v>
                </c:pt>
                <c:pt idx="4">
                  <c:v>114.96845028037635</c:v>
                </c:pt>
                <c:pt idx="5">
                  <c:v>124.56637320601298</c:v>
                </c:pt>
                <c:pt idx="6">
                  <c:v>128.13010481239047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Japan</c:v>
                </c:pt>
                <c:pt idx="1">
                  <c:v>Hungary</c:v>
                </c:pt>
                <c:pt idx="2">
                  <c:v>Mexico</c:v>
                </c:pt>
                <c:pt idx="3">
                  <c:v>Brazil</c:v>
                </c:pt>
                <c:pt idx="4">
                  <c:v>China</c:v>
                </c:pt>
                <c:pt idx="5">
                  <c:v>Canada</c:v>
                </c:pt>
                <c:pt idx="6">
                  <c:v>India</c:v>
                </c:pt>
                <c:pt idx="7">
                  <c:v>U.S.</c:v>
                </c:pt>
              </c:strCache>
            </c:strRef>
          </c:cat>
          <c:val>
            <c:numRef>
              <c:numCache>
                <c:formatCode>General</c:formatCode>
                <c:ptCount val="8"/>
                <c:pt idx="0">
                  <c:v>3.6746812080706417</c:v>
                </c:pt>
                <c:pt idx="1">
                  <c:v>4.257411539848614</c:v>
                </c:pt>
                <c:pt idx="2">
                  <c:v>6.478019696760009</c:v>
                </c:pt>
                <c:pt idx="3">
                  <c:v>7.132120225192419</c:v>
                </c:pt>
                <c:pt idx="4">
                  <c:v>9.068459828125617</c:v>
                </c:pt>
                <c:pt idx="5">
                  <c:v>9.261103798429959</c:v>
                </c:pt>
                <c:pt idx="6">
                  <c:v>10.859634572470807</c:v>
                </c:pt>
                <c:pt idx="7">
                  <c:v>17.306439278762</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Heavy Duty Trucks</c:v>
                </c:pt>
                <c:pt idx="1">
                  <c:v>Busses and Coaches</c:v>
                </c:pt>
              </c:strCache>
            </c:strRef>
          </c:cat>
          <c:val>
            <c:numRef>
              <c:numCache>
                <c:formatCode>General</c:formatCode>
                <c:ptCount val="2"/>
                <c:pt idx="0">
                  <c:v>2386.143</c:v>
                </c:pt>
                <c:pt idx="1">
                  <c:v>1993.675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0.08133819251166807</c:v>
                </c:pt>
                <c:pt idx="1">
                  <c:v>0.07940819251166807</c:v>
                </c:pt>
                <c:pt idx="2">
                  <c:v>0.07738819251166808</c:v>
                </c:pt>
                <c:pt idx="3">
                  <c:v>0.07507819251166807</c:v>
                </c:pt>
                <c:pt idx="4">
                  <c:v>0.07419819251166807</c:v>
                </c:pt>
                <c:pt idx="5">
                  <c:v>0.07486819251166807</c:v>
                </c:pt>
                <c:pt idx="6">
                  <c:v>0.07724819251166808</c:v>
                </c:pt>
                <c:pt idx="7">
                  <c:v>0.07883819251166807</c:v>
                </c:pt>
                <c:pt idx="8">
                  <c:v>0.07869819251166807</c:v>
                </c:pt>
                <c:pt idx="9">
                  <c:v>0.07799819251166808</c:v>
                </c:pt>
                <c:pt idx="10">
                  <c:v>0.07745819251166808</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0.05560568043798042</c:v>
                </c:pt>
                <c:pt idx="1">
                  <c:v>0.056489778751269766</c:v>
                </c:pt>
                <c:pt idx="2">
                  <c:v>0.057812834968360115</c:v>
                </c:pt>
                <c:pt idx="3">
                  <c:v>0.058690750775962114</c:v>
                </c:pt>
                <c:pt idx="4">
                  <c:v>0.0596304916404375</c:v>
                </c:pt>
                <c:pt idx="5">
                  <c:v>0.06166453601157173</c:v>
                </c:pt>
                <c:pt idx="6">
                  <c:v>0.06305559979122279</c:v>
                </c:pt>
                <c:pt idx="7">
                  <c:v>0.0650401841168583</c:v>
                </c:pt>
                <c:pt idx="8">
                  <c:v>0.06712987103917857</c:v>
                </c:pt>
                <c:pt idx="9">
                  <c:v>0.06800160434109324</c:v>
                </c:pt>
                <c:pt idx="10">
                  <c:v>0.06898462274537999</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0.047636966696686836</c:v>
                </c:pt>
                <c:pt idx="1">
                  <c:v>0.05037772187941976</c:v>
                </c:pt>
                <c:pt idx="2">
                  <c:v>0.0526851560846455</c:v>
                </c:pt>
                <c:pt idx="3">
                  <c:v>0.05229516720488904</c:v>
                </c:pt>
                <c:pt idx="4">
                  <c:v>0.049505663412186554</c:v>
                </c:pt>
                <c:pt idx="5">
                  <c:v>0.047431139232370925</c:v>
                </c:pt>
                <c:pt idx="6">
                  <c:v>0.04544869576027557</c:v>
                </c:pt>
                <c:pt idx="7">
                  <c:v>0.04332542297049038</c:v>
                </c:pt>
                <c:pt idx="8">
                  <c:v>0.0423342012344427</c:v>
                </c:pt>
                <c:pt idx="9">
                  <c:v>0.04102340527748348</c:v>
                </c:pt>
                <c:pt idx="10">
                  <c:v>0.03953386441730254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21.827833620907285</c:v>
                </c:pt>
                <c:pt idx="1">
                  <c:v>25.28600714425177</c:v>
                </c:pt>
              </c:numCache>
            </c:numRef>
          </c:val>
        </c:ser>
        <c:ser>
          <c:idx val="1"/>
          <c:order val="1"/>
          <c:tx>
            <c:strRef>
              <c:strCache>
                <c:ptCount val="1"/>
                <c:pt idx="0">
                  <c:v>North America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27.8583252406099</c:v>
                </c:pt>
                <c:pt idx="1">
                  <c:v>23.30136412128358</c:v>
                </c:pt>
              </c:numCache>
            </c:numRef>
          </c:val>
        </c:ser>
        <c:ser>
          <c:idx val="2"/>
          <c:order val="2"/>
          <c:tx>
            <c:strRef>
              <c:strCache>
                <c:ptCount val="1"/>
                <c:pt idx="0">
                  <c:v>East Asia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21.154733162700154</c:v>
                </c:pt>
                <c:pt idx="1">
                  <c:v>21.53919968816251</c:v>
                </c:pt>
              </c:numCache>
            </c:numRef>
          </c:val>
        </c:ser>
        <c:ser>
          <c:idx val="3"/>
          <c:order val="3"/>
          <c:tx>
            <c:strRef>
              <c:strCache>
                <c:ptCount val="1"/>
                <c:pt idx="0">
                  <c:v>Latin America</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9.694863829432213</c:v>
                </c:pt>
                <c:pt idx="1">
                  <c:v>10.159262656576965</c:v>
                </c:pt>
              </c:numCache>
            </c:numRef>
          </c:val>
        </c:ser>
        <c:ser>
          <c:idx val="4"/>
          <c:order val="4"/>
          <c:tx>
            <c:strRef>
              <c:strCache>
                <c:ptCount val="1"/>
                <c:pt idx="0">
                  <c:v>Middle East &amp; Africa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8.89482725458222</c:v>
                </c:pt>
                <c:pt idx="1">
                  <c:v>9.133057135042122</c:v>
                </c:pt>
              </c:numCache>
            </c:numRef>
          </c:val>
        </c:ser>
        <c:ser>
          <c:idx val="5"/>
          <c:order val="5"/>
          <c:tx>
            <c:strRef>
              <c:strCache>
                <c:ptCount val="1"/>
                <c:pt idx="0">
                  <c:v>Eastern Europe</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6.77534606539629</c:v>
                </c:pt>
                <c:pt idx="1">
                  <c:v>6.902004128332149</c:v>
                </c:pt>
              </c:numCache>
            </c:numRef>
          </c:val>
        </c:ser>
        <c:ser>
          <c:idx val="6"/>
          <c:order val="6"/>
          <c:tx>
            <c:strRef>
              <c:strCache>
                <c:ptCount val="1"/>
                <c:pt idx="0">
                  <c:v>Western Europe</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3.794070826371945</c:v>
                </c:pt>
                <c:pt idx="1">
                  <c:v>3.6791051263509025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39.60091666666667</c:v>
                </c:pt>
                <c:pt idx="1">
                  <c:v>36.63768677145945</c:v>
                </c:pt>
              </c:numCache>
            </c:numRef>
          </c:val>
        </c:ser>
        <c:ser>
          <c:idx val="1"/>
          <c:order val="1"/>
          <c:tx>
            <c:strRef>
              <c:strCache>
                <c:ptCount val="1"/>
                <c:pt idx="0">
                  <c:v>South Asia &amp; Pacific</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14.400333333333334</c:v>
                </c:pt>
                <c:pt idx="1">
                  <c:v>15.832324539512829</c:v>
                </c:pt>
              </c:numCache>
            </c:numRef>
          </c:val>
        </c:ser>
        <c:ser>
          <c:idx val="2"/>
          <c:order val="2"/>
          <c:tx>
            <c:strRef>
              <c:strCache>
                <c:ptCount val="1"/>
                <c:pt idx="0">
                  <c:v>East Asia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15.600333333333333</c:v>
                </c:pt>
                <c:pt idx="1">
                  <c:v>15.242984982481007</c:v>
                </c:pt>
              </c:numCache>
            </c:numRef>
          </c:val>
        </c:ser>
        <c:ser>
          <c:idx val="3"/>
          <c:order val="3"/>
          <c:tx>
            <c:strRef>
              <c:strCache>
                <c:ptCount val="1"/>
                <c:pt idx="0">
                  <c:v>Latin America</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9.600208333333333</c:v>
                </c:pt>
                <c:pt idx="1">
                  <c:v>10.273691737875867</c:v>
                </c:pt>
              </c:numCache>
            </c:numRef>
          </c:val>
        </c:ser>
        <c:ser>
          <c:idx val="4"/>
          <c:order val="4"/>
          <c:tx>
            <c:strRef>
              <c:strCache>
                <c:ptCount val="1"/>
                <c:pt idx="0">
                  <c:v>Middle East &amp; Africa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8.40025</c:v>
                </c:pt>
                <c:pt idx="1">
                  <c:v>8.66451528351178</c:v>
                </c:pt>
              </c:numCache>
            </c:numRef>
          </c:val>
        </c:ser>
        <c:ser>
          <c:idx val="5"/>
          <c:order val="5"/>
          <c:tx>
            <c:strRef>
              <c:strCache>
                <c:ptCount val="1"/>
                <c:pt idx="0">
                  <c:v>Eastern Europe</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7.3730833333333345</c:v>
                </c:pt>
                <c:pt idx="1">
                  <c:v>8.03467176033342</c:v>
                </c:pt>
              </c:numCache>
            </c:numRef>
          </c:val>
        </c:ser>
        <c:ser>
          <c:idx val="6"/>
          <c:order val="6"/>
          <c:tx>
            <c:strRef>
              <c:strCache>
                <c:ptCount val="1"/>
                <c:pt idx="0">
                  <c:v>Western Europe</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5.024875</c:v>
                </c:pt>
                <c:pt idx="1">
                  <c:v>5.314124924825643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848282.063</c:v>
                </c:pt>
                <c:pt idx="1">
                  <c:v>881739.743</c:v>
                </c:pt>
                <c:pt idx="2">
                  <c:v>916456.476</c:v>
                </c:pt>
                <c:pt idx="3">
                  <c:v>952476.521</c:v>
                </c:pt>
                <c:pt idx="4">
                  <c:v>989847.257</c:v>
                </c:pt>
                <c:pt idx="5">
                  <c:v>1028615.086</c:v>
                </c:pt>
                <c:pt idx="6">
                  <c:v>1068891.475</c:v>
                </c:pt>
                <c:pt idx="7">
                  <c:v>1110671.541</c:v>
                </c:pt>
                <c:pt idx="8">
                  <c:v>1154008.845</c:v>
                </c:pt>
                <c:pt idx="9">
                  <c:v>1198954.757</c:v>
                </c:pt>
                <c:pt idx="10">
                  <c:v>1245570.911</c:v>
                </c:pt>
                <c:pt idx="11">
                  <c:v>1293913.187</c:v>
                </c:pt>
                <c:pt idx="12">
                  <c:v>1344038.205</c:v>
                </c:pt>
                <c:pt idx="13">
                  <c:v>1396013.764</c:v>
                </c:pt>
                <c:pt idx="14">
                  <c:v>1449899.482</c:v>
                </c:pt>
                <c:pt idx="15">
                  <c:v>1505765.625</c:v>
                </c:pt>
              </c:numCache>
            </c:numRef>
          </c:val>
        </c:ser>
        <c:ser>
          <c:idx val="1"/>
          <c:order val="1"/>
          <c:tx>
            <c:strRef>
              <c:strCache>
                <c:ptCount val="1"/>
                <c:pt idx="0">
                  <c:v>East Asia</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583773.336</c:v>
                </c:pt>
                <c:pt idx="1">
                  <c:v>618858.024</c:v>
                </c:pt>
                <c:pt idx="2">
                  <c:v>656010.361</c:v>
                </c:pt>
                <c:pt idx="3">
                  <c:v>695349.133</c:v>
                </c:pt>
                <c:pt idx="4">
                  <c:v>737001.0</c:v>
                </c:pt>
                <c:pt idx="5">
                  <c:v>781097.84</c:v>
                </c:pt>
                <c:pt idx="6">
                  <c:v>827791.019</c:v>
                </c:pt>
                <c:pt idx="7">
                  <c:v>877220.115</c:v>
                </c:pt>
                <c:pt idx="8">
                  <c:v>929542.268</c:v>
                </c:pt>
                <c:pt idx="9">
                  <c:v>984920.158</c:v>
                </c:pt>
                <c:pt idx="10">
                  <c:v>1043532.571</c:v>
                </c:pt>
                <c:pt idx="11">
                  <c:v>1105561.832</c:v>
                </c:pt>
                <c:pt idx="12">
                  <c:v>1171199.334</c:v>
                </c:pt>
                <c:pt idx="13">
                  <c:v>1240655.207</c:v>
                </c:pt>
                <c:pt idx="14">
                  <c:v>1314142.085</c:v>
                </c:pt>
                <c:pt idx="15">
                  <c:v>1391892.179</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565382.267</c:v>
                </c:pt>
                <c:pt idx="1">
                  <c:v>606946.181</c:v>
                </c:pt>
                <c:pt idx="2">
                  <c:v>651555.092</c:v>
                </c:pt>
                <c:pt idx="3">
                  <c:v>699430.472</c:v>
                </c:pt>
                <c:pt idx="4">
                  <c:v>750811.024</c:v>
                </c:pt>
                <c:pt idx="5">
                  <c:v>805950.78</c:v>
                </c:pt>
                <c:pt idx="6">
                  <c:v>865058.304</c:v>
                </c:pt>
                <c:pt idx="7">
                  <c:v>928482.552</c:v>
                </c:pt>
                <c:pt idx="8">
                  <c:v>996537.294</c:v>
                </c:pt>
                <c:pt idx="9">
                  <c:v>1069555.39</c:v>
                </c:pt>
                <c:pt idx="10">
                  <c:v>1147901.265</c:v>
                </c:pt>
                <c:pt idx="11">
                  <c:v>1231958.578</c:v>
                </c:pt>
                <c:pt idx="12">
                  <c:v>1322137.239</c:v>
                </c:pt>
                <c:pt idx="13">
                  <c:v>1418885.729</c:v>
                </c:pt>
                <c:pt idx="14">
                  <c:v>1522674.31</c:v>
                </c:pt>
                <c:pt idx="15">
                  <c:v>1634015.938</c:v>
                </c:pt>
              </c:numCache>
            </c:numRef>
          </c:val>
        </c:ser>
        <c:ser>
          <c:idx val="3"/>
          <c:order val="3"/>
          <c:tx>
            <c:strRef>
              <c:strCache>
                <c:ptCount val="1"/>
                <c:pt idx="0">
                  <c:v>Latin America</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263692.435</c:v>
                </c:pt>
                <c:pt idx="1">
                  <c:v>280346.324</c:v>
                </c:pt>
                <c:pt idx="2">
                  <c:v>298035.349</c:v>
                </c:pt>
                <c:pt idx="3">
                  <c:v>316822.56</c:v>
                </c:pt>
                <c:pt idx="4">
                  <c:v>336775.331</c:v>
                </c:pt>
                <c:pt idx="5">
                  <c:v>357964.203</c:v>
                </c:pt>
                <c:pt idx="6">
                  <c:v>380444.019</c:v>
                </c:pt>
                <c:pt idx="7">
                  <c:v>404312.812</c:v>
                </c:pt>
                <c:pt idx="8">
                  <c:v>429655.092</c:v>
                </c:pt>
                <c:pt idx="9">
                  <c:v>456558.902</c:v>
                </c:pt>
                <c:pt idx="10">
                  <c:v>485120.787</c:v>
                </c:pt>
                <c:pt idx="11">
                  <c:v>515440.051</c:v>
                </c:pt>
                <c:pt idx="12">
                  <c:v>547621.38</c:v>
                </c:pt>
                <c:pt idx="13">
                  <c:v>581779.462</c:v>
                </c:pt>
                <c:pt idx="14">
                  <c:v>618031.496</c:v>
                </c:pt>
                <c:pt idx="15">
                  <c:v>656505.276</c:v>
                </c:pt>
              </c:numCache>
            </c:numRef>
          </c:val>
        </c:ser>
        <c:ser>
          <c:idx val="4"/>
          <c:order val="4"/>
          <c:tx>
            <c:strRef>
              <c:strCache>
                <c:ptCount val="1"/>
                <c:pt idx="0">
                  <c:v>Middle East &amp; Africa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244618.305</c:v>
                </c:pt>
                <c:pt idx="1">
                  <c:v>259483.165</c:v>
                </c:pt>
                <c:pt idx="2">
                  <c:v>275241.661</c:v>
                </c:pt>
                <c:pt idx="3">
                  <c:v>291946.648</c:v>
                </c:pt>
                <c:pt idx="4">
                  <c:v>309654.576</c:v>
                </c:pt>
                <c:pt idx="5">
                  <c:v>328424.391</c:v>
                </c:pt>
                <c:pt idx="6">
                  <c:v>348309.942</c:v>
                </c:pt>
                <c:pt idx="7">
                  <c:v>369385.891</c:v>
                </c:pt>
                <c:pt idx="8">
                  <c:v>391722.7</c:v>
                </c:pt>
                <c:pt idx="9">
                  <c:v>415393.553</c:v>
                </c:pt>
                <c:pt idx="10">
                  <c:v>440478.853</c:v>
                </c:pt>
                <c:pt idx="11">
                  <c:v>467060.952</c:v>
                </c:pt>
                <c:pt idx="12">
                  <c:v>495226.517</c:v>
                </c:pt>
                <c:pt idx="13">
                  <c:v>525070.657</c:v>
                </c:pt>
                <c:pt idx="14">
                  <c:v>556690.105</c:v>
                </c:pt>
                <c:pt idx="15">
                  <c:v>590190.489</c:v>
                </c:pt>
              </c:numCache>
            </c:numRef>
          </c:val>
        </c:ser>
        <c:ser>
          <c:idx val="5"/>
          <c:order val="5"/>
          <c:tx>
            <c:strRef>
              <c:strCache>
                <c:ptCount val="1"/>
                <c:pt idx="0">
                  <c:v>Eastern Europe</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186722.795</c:v>
                </c:pt>
                <c:pt idx="1">
                  <c:v>198003.92</c:v>
                </c:pt>
                <c:pt idx="2">
                  <c:v>209949.737</c:v>
                </c:pt>
                <c:pt idx="3">
                  <c:v>222598.218</c:v>
                </c:pt>
                <c:pt idx="4">
                  <c:v>235989.812</c:v>
                </c:pt>
                <c:pt idx="5">
                  <c:v>250166.624</c:v>
                </c:pt>
                <c:pt idx="6">
                  <c:v>265155.122</c:v>
                </c:pt>
                <c:pt idx="7">
                  <c:v>281019.057</c:v>
                </c:pt>
                <c:pt idx="8">
                  <c:v>297808.276</c:v>
                </c:pt>
                <c:pt idx="9">
                  <c:v>315574.332</c:v>
                </c:pt>
                <c:pt idx="10">
                  <c:v>334373.852</c:v>
                </c:pt>
                <c:pt idx="11">
                  <c:v>354264.531</c:v>
                </c:pt>
                <c:pt idx="12">
                  <c:v>375306.867</c:v>
                </c:pt>
                <c:pt idx="13">
                  <c:v>397567.27</c:v>
                </c:pt>
                <c:pt idx="14">
                  <c:v>421112.839</c:v>
                </c:pt>
                <c:pt idx="15">
                  <c:v>446016.83</c:v>
                </c:pt>
              </c:numCache>
            </c:numRef>
          </c:val>
        </c:ser>
        <c:ser>
          <c:idx val="6"/>
          <c:order val="6"/>
          <c:tx>
            <c:strRef>
              <c:strCache>
                <c:ptCount val="1"/>
                <c:pt idx="0">
                  <c:v>Western Europe</c:v>
                </c:pt>
              </c:strCache>
            </c:strRef>
          </c:tx>
          <c:spPr>
            <a:solidFill>
              <a:srgbClr val="0E72AE"/>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107674.897</c:v>
                </c:pt>
                <c:pt idx="1">
                  <c:v>113483.016</c:v>
                </c:pt>
                <c:pt idx="2">
                  <c:v>119610.3</c:v>
                </c:pt>
                <c:pt idx="3">
                  <c:v>126074.361</c:v>
                </c:pt>
                <c:pt idx="4">
                  <c:v>132894.017</c:v>
                </c:pt>
                <c:pt idx="5">
                  <c:v>140088.769</c:v>
                </c:pt>
                <c:pt idx="6">
                  <c:v>147673.28</c:v>
                </c:pt>
                <c:pt idx="7">
                  <c:v>155674.859</c:v>
                </c:pt>
                <c:pt idx="8">
                  <c:v>164116.625</c:v>
                </c:pt>
                <c:pt idx="9">
                  <c:v>173022.417</c:v>
                </c:pt>
                <c:pt idx="10">
                  <c:v>182418.615</c:v>
                </c:pt>
                <c:pt idx="11">
                  <c:v>192331.91</c:v>
                </c:pt>
                <c:pt idx="12">
                  <c:v>202790.301</c:v>
                </c:pt>
                <c:pt idx="13">
                  <c:v>213824.705</c:v>
                </c:pt>
                <c:pt idx="14">
                  <c:v>225466.157</c:v>
                </c:pt>
                <c:pt idx="15">
                  <c:v>237748.743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729.942</c:v>
                </c:pt>
                <c:pt idx="1">
                  <c:v>769.606</c:v>
                </c:pt>
                <c:pt idx="2">
                  <c:v>811.373</c:v>
                </c:pt>
                <c:pt idx="3">
                  <c:v>855.356</c:v>
                </c:pt>
                <c:pt idx="4">
                  <c:v>901.665</c:v>
                </c:pt>
                <c:pt idx="5">
                  <c:v>950.422</c:v>
                </c:pt>
                <c:pt idx="6">
                  <c:v>1001.81</c:v>
                </c:pt>
                <c:pt idx="7">
                  <c:v>1055.912</c:v>
                </c:pt>
                <c:pt idx="8">
                  <c:v>1112.866</c:v>
                </c:pt>
                <c:pt idx="9">
                  <c:v>1172.817</c:v>
                </c:pt>
                <c:pt idx="10">
                  <c:v>1235.922</c:v>
                </c:pt>
                <c:pt idx="11">
                  <c:v>1302.342</c:v>
                </c:pt>
                <c:pt idx="12">
                  <c:v>1372.243</c:v>
                </c:pt>
                <c:pt idx="13">
                  <c:v>1445.804</c:v>
                </c:pt>
                <c:pt idx="14">
                  <c:v>1523.212</c:v>
                </c:pt>
                <c:pt idx="15">
                  <c:v>1604.664</c:v>
                </c:pt>
              </c:numCache>
            </c:numRef>
          </c:val>
        </c:ser>
        <c:ser>
          <c:idx val="1"/>
          <c:order val="1"/>
          <c:tx>
            <c:strRef>
              <c:strCache>
                <c:ptCount val="1"/>
                <c:pt idx="0">
                  <c:v>East Asia</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279.652</c:v>
                </c:pt>
                <c:pt idx="1">
                  <c:v>296.5</c:v>
                </c:pt>
                <c:pt idx="2">
                  <c:v>314.342</c:v>
                </c:pt>
                <c:pt idx="3">
                  <c:v>333.233</c:v>
                </c:pt>
                <c:pt idx="4">
                  <c:v>353.234</c:v>
                </c:pt>
                <c:pt idx="5">
                  <c:v>374.408</c:v>
                </c:pt>
                <c:pt idx="6">
                  <c:v>396.83</c:v>
                </c:pt>
                <c:pt idx="7">
                  <c:v>420.565</c:v>
                </c:pt>
                <c:pt idx="8">
                  <c:v>445.687</c:v>
                </c:pt>
                <c:pt idx="9">
                  <c:v>472.274</c:v>
                </c:pt>
                <c:pt idx="10">
                  <c:v>500.414</c:v>
                </c:pt>
                <c:pt idx="11">
                  <c:v>530.192</c:v>
                </c:pt>
                <c:pt idx="12">
                  <c:v>561.699</c:v>
                </c:pt>
                <c:pt idx="13">
                  <c:v>595.037</c:v>
                </c:pt>
                <c:pt idx="14">
                  <c:v>630.306</c:v>
                </c:pt>
                <c:pt idx="15">
                  <c:v>667.615</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243.839</c:v>
                </c:pt>
                <c:pt idx="1">
                  <c:v>261.459</c:v>
                </c:pt>
                <c:pt idx="2">
                  <c:v>280.348</c:v>
                </c:pt>
                <c:pt idx="3">
                  <c:v>300.605</c:v>
                </c:pt>
                <c:pt idx="4">
                  <c:v>322.324</c:v>
                </c:pt>
                <c:pt idx="5">
                  <c:v>345.608</c:v>
                </c:pt>
                <c:pt idx="6">
                  <c:v>370.547</c:v>
                </c:pt>
                <c:pt idx="7">
                  <c:v>397.283</c:v>
                </c:pt>
                <c:pt idx="8">
                  <c:v>425.943</c:v>
                </c:pt>
                <c:pt idx="9">
                  <c:v>456.667</c:v>
                </c:pt>
                <c:pt idx="10">
                  <c:v>489.606</c:v>
                </c:pt>
                <c:pt idx="11">
                  <c:v>524.91</c:v>
                </c:pt>
                <c:pt idx="12">
                  <c:v>562.758</c:v>
                </c:pt>
                <c:pt idx="13">
                  <c:v>603.329</c:v>
                </c:pt>
                <c:pt idx="14">
                  <c:v>646.816</c:v>
                </c:pt>
                <c:pt idx="15">
                  <c:v>693.427</c:v>
                </c:pt>
              </c:numCache>
            </c:numRef>
          </c:val>
        </c:ser>
        <c:ser>
          <c:idx val="3"/>
          <c:order val="3"/>
          <c:tx>
            <c:strRef>
              <c:strCache>
                <c:ptCount val="1"/>
                <c:pt idx="0">
                  <c:v>Latin America</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164.449</c:v>
                </c:pt>
                <c:pt idx="1">
                  <c:v>175.944</c:v>
                </c:pt>
                <c:pt idx="2">
                  <c:v>188.233</c:v>
                </c:pt>
                <c:pt idx="3">
                  <c:v>201.365</c:v>
                </c:pt>
                <c:pt idx="4">
                  <c:v>215.404</c:v>
                </c:pt>
                <c:pt idx="5">
                  <c:v>230.405</c:v>
                </c:pt>
                <c:pt idx="6">
                  <c:v>246.424</c:v>
                </c:pt>
                <c:pt idx="7">
                  <c:v>263.538</c:v>
                </c:pt>
                <c:pt idx="8">
                  <c:v>281.826</c:v>
                </c:pt>
                <c:pt idx="9">
                  <c:v>301.363</c:v>
                </c:pt>
                <c:pt idx="10">
                  <c:v>322.236</c:v>
                </c:pt>
                <c:pt idx="11">
                  <c:v>344.532</c:v>
                </c:pt>
                <c:pt idx="12">
                  <c:v>368.349</c:v>
                </c:pt>
                <c:pt idx="13">
                  <c:v>393.787</c:v>
                </c:pt>
                <c:pt idx="14">
                  <c:v>420.955</c:v>
                </c:pt>
                <c:pt idx="15">
                  <c:v>449.969</c:v>
                </c:pt>
              </c:numCache>
            </c:numRef>
          </c:val>
        </c:ser>
        <c:ser>
          <c:idx val="4"/>
          <c:order val="4"/>
          <c:tx>
            <c:strRef>
              <c:strCache>
                <c:ptCount val="1"/>
                <c:pt idx="0">
                  <c:v>Middle East &amp; Africa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146.725</c:v>
                </c:pt>
                <c:pt idx="1">
                  <c:v>156.361</c:v>
                </c:pt>
                <c:pt idx="2">
                  <c:v>166.628</c:v>
                </c:pt>
                <c:pt idx="3">
                  <c:v>177.562</c:v>
                </c:pt>
                <c:pt idx="4">
                  <c:v>189.203</c:v>
                </c:pt>
                <c:pt idx="5">
                  <c:v>201.606</c:v>
                </c:pt>
                <c:pt idx="6">
                  <c:v>214.805</c:v>
                </c:pt>
                <c:pt idx="7">
                  <c:v>228.861</c:v>
                </c:pt>
                <c:pt idx="8">
                  <c:v>243.826</c:v>
                </c:pt>
                <c:pt idx="9">
                  <c:v>259.762</c:v>
                </c:pt>
                <c:pt idx="10">
                  <c:v>276.73</c:v>
                </c:pt>
                <c:pt idx="11">
                  <c:v>294.792</c:v>
                </c:pt>
                <c:pt idx="12">
                  <c:v>314.024</c:v>
                </c:pt>
                <c:pt idx="13">
                  <c:v>334.497</c:v>
                </c:pt>
                <c:pt idx="14">
                  <c:v>356.291</c:v>
                </c:pt>
                <c:pt idx="15">
                  <c:v>379.49</c:v>
                </c:pt>
              </c:numCache>
            </c:numRef>
          </c:val>
        </c:ser>
        <c:ser>
          <c:idx val="5"/>
          <c:order val="5"/>
          <c:tx>
            <c:strRef>
              <c:strCache>
                <c:ptCount val="1"/>
                <c:pt idx="0">
                  <c:v>Eastern Europe</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125.065</c:v>
                </c:pt>
                <c:pt idx="1">
                  <c:v>134.075</c:v>
                </c:pt>
                <c:pt idx="2">
                  <c:v>143.723</c:v>
                </c:pt>
                <c:pt idx="3">
                  <c:v>154.054</c:v>
                </c:pt>
                <c:pt idx="4">
                  <c:v>165.114</c:v>
                </c:pt>
                <c:pt idx="5">
                  <c:v>176.954</c:v>
                </c:pt>
                <c:pt idx="6">
                  <c:v>189.616</c:v>
                </c:pt>
                <c:pt idx="7">
                  <c:v>203.168</c:v>
                </c:pt>
                <c:pt idx="8">
                  <c:v>217.667</c:v>
                </c:pt>
                <c:pt idx="9">
                  <c:v>233.186</c:v>
                </c:pt>
                <c:pt idx="10">
                  <c:v>249.79</c:v>
                </c:pt>
                <c:pt idx="11">
                  <c:v>267.557</c:v>
                </c:pt>
                <c:pt idx="12">
                  <c:v>286.562</c:v>
                </c:pt>
                <c:pt idx="13">
                  <c:v>306.894</c:v>
                </c:pt>
                <c:pt idx="14">
                  <c:v>328.643</c:v>
                </c:pt>
                <c:pt idx="15">
                  <c:v>351.904</c:v>
                </c:pt>
              </c:numCache>
            </c:numRef>
          </c:val>
        </c:ser>
        <c:ser>
          <c:idx val="6"/>
          <c:order val="6"/>
          <c:tx>
            <c:strRef>
              <c:strCache>
                <c:ptCount val="1"/>
                <c:pt idx="0">
                  <c:v>Western Europe</c:v>
                </c:pt>
              </c:strCache>
            </c:strRef>
          </c:tx>
          <c:spPr>
            <a:solidFill>
              <a:srgbClr val="0E72AE"/>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86.925</c:v>
                </c:pt>
                <c:pt idx="1">
                  <c:v>92.8</c:v>
                </c:pt>
                <c:pt idx="2">
                  <c:v>99.077</c:v>
                </c:pt>
                <c:pt idx="3">
                  <c:v>105.78</c:v>
                </c:pt>
                <c:pt idx="4">
                  <c:v>112.943</c:v>
                </c:pt>
                <c:pt idx="5">
                  <c:v>120.597</c:v>
                </c:pt>
                <c:pt idx="6">
                  <c:v>128.769</c:v>
                </c:pt>
                <c:pt idx="7">
                  <c:v>137.501</c:v>
                </c:pt>
                <c:pt idx="8">
                  <c:v>146.834</c:v>
                </c:pt>
                <c:pt idx="9">
                  <c:v>156.807</c:v>
                </c:pt>
                <c:pt idx="10">
                  <c:v>167.458</c:v>
                </c:pt>
                <c:pt idx="11">
                  <c:v>178.846</c:v>
                </c:pt>
                <c:pt idx="12">
                  <c:v>191.011</c:v>
                </c:pt>
                <c:pt idx="13">
                  <c:v>204.009</c:v>
                </c:pt>
                <c:pt idx="14">
                  <c:v>217.903</c:v>
                </c:pt>
                <c:pt idx="15">
                  <c:v>232.749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Recirculating Ball and Nut Type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29.44674305797233</c:v>
                </c:pt>
                <c:pt idx="1">
                  <c:v>25.668648267709376</c:v>
                </c:pt>
                <c:pt idx="2">
                  <c:v>29.713299428179923</c:v>
                </c:pt>
                <c:pt idx="3">
                  <c:v>27.207874320230957</c:v>
                </c:pt>
                <c:pt idx="4">
                  <c:v>27.781880275308378</c:v>
                </c:pt>
                <c:pt idx="5">
                  <c:v>29.632967853862052</c:v>
                </c:pt>
                <c:pt idx="6">
                  <c:v>27.42505596187114</c:v>
                </c:pt>
              </c:numCache>
            </c:numRef>
          </c:val>
        </c:ser>
        <c:ser>
          <c:idx val="1"/>
          <c:order val="1"/>
          <c:tx>
            <c:strRef>
              <c:strCache>
                <c:ptCount val="1"/>
                <c:pt idx="0">
                  <c:v>Rack Assist</c:v>
                </c:pt>
              </c:strCache>
            </c:strRef>
          </c:tx>
          <c:spPr>
            <a:solidFill>
              <a:srgbClr val="9E7E0A"/>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29.457484242682035</c:v>
                </c:pt>
                <c:pt idx="1">
                  <c:v>30.564869964535784</c:v>
                </c:pt>
                <c:pt idx="2">
                  <c:v>24.297082927086354</c:v>
                </c:pt>
                <c:pt idx="3">
                  <c:v>29.779607039596062</c:v>
                </c:pt>
                <c:pt idx="4">
                  <c:v>24.686982767013927</c:v>
                </c:pt>
                <c:pt idx="5">
                  <c:v>29.22946467328212</c:v>
                </c:pt>
                <c:pt idx="6">
                  <c:v>32.31112556896646</c:v>
                </c:pt>
              </c:numCache>
            </c:numRef>
          </c:val>
        </c:ser>
        <c:ser>
          <c:idx val="2"/>
          <c:order val="2"/>
          <c:tx>
            <c:strRef>
              <c:strCache>
                <c:ptCount val="1"/>
                <c:pt idx="0">
                  <c:v>Column Assist</c:v>
                </c:pt>
              </c:strCache>
            </c:strRef>
          </c:tx>
          <c:spPr>
            <a:solidFill>
              <a:srgbClr val="008189"/>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27.28690563654409</c:v>
                </c:pt>
                <c:pt idx="1">
                  <c:v>28.06617713921979</c:v>
                </c:pt>
                <c:pt idx="2">
                  <c:v>33.71577643679675</c:v>
                </c:pt>
                <c:pt idx="3">
                  <c:v>29.832944047256593</c:v>
                </c:pt>
                <c:pt idx="4">
                  <c:v>32.54001183316732</c:v>
                </c:pt>
                <c:pt idx="5">
                  <c:v>28.981132837342642</c:v>
                </c:pt>
                <c:pt idx="6">
                  <c:v>26.69368789977216</c:v>
                </c:pt>
              </c:numCache>
            </c:numRef>
          </c:val>
        </c:ser>
        <c:ser>
          <c:idx val="3"/>
          <c:order val="3"/>
          <c:tx>
            <c:strRef>
              <c:strCache>
                <c:ptCount val="1"/>
                <c:pt idx="0">
                  <c:v>Steer by Wire</c:v>
                </c:pt>
              </c:strCache>
            </c:strRef>
          </c:tx>
          <c:spPr>
            <a:solidFill>
              <a:srgbClr val="40315E"/>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13.80886706280156</c:v>
                </c:pt>
                <c:pt idx="1">
                  <c:v>15.700304628535056</c:v>
                </c:pt>
                <c:pt idx="2">
                  <c:v>12.273841207936968</c:v>
                </c:pt>
                <c:pt idx="3">
                  <c:v>13.179574592916405</c:v>
                </c:pt>
                <c:pt idx="4">
                  <c:v>14.991125124510384</c:v>
                </c:pt>
                <c:pt idx="5">
                  <c:v>12.156434635513182</c:v>
                </c:pt>
                <c:pt idx="6">
                  <c:v>13.570130569390226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Recirculating Ball and Nut Type</c:v>
                </c:pt>
              </c:strCache>
            </c:strRef>
          </c:tx>
          <c:spPr>
            <a:solidFill>
              <a:srgbClr val="3D85C6"/>
            </a:solidFill>
          </c:spPr>
          <c:invertIfNegative val="0"/>
          <c:xVal>
            <c:numRef>
              <c:numCache>
                <c:formatCode>General</c:formatCode>
                <c:ptCount val="1"/>
                <c:pt idx="0">
                  <c:v>94.12055780059123</c:v>
                </c:pt>
              </c:numCache>
            </c:numRef>
          </c:xVal>
          <c:yVal>
            <c:numRef>
              <c:numCache>
                <c:formatCode>General</c:formatCode>
                <c:ptCount val="1"/>
                <c:pt idx="0">
                  <c:v>115.799</c:v>
                </c:pt>
              </c:numCache>
            </c:numRef>
          </c:yVal>
          <c:bubbleSize>
            <c:numRef>
              <c:numCache>
                <c:formatCode>General</c:formatCode>
                <c:ptCount val="1"/>
                <c:pt idx="0">
                  <c:v>1225.091</c:v>
                </c:pt>
              </c:numCache>
            </c:numRef>
          </c:bubbleSize>
          <c:bubble3D val="0"/>
        </c:ser>
        <c:ser>
          <c:idx val="1"/>
          <c:order val="1"/>
          <c:tx>
            <c:strRef>
              <c:strCache>
                <c:ptCount val="1"/>
                <c:pt idx="0">
                  <c:v>Rack Assist</c:v>
                </c:pt>
              </c:strCache>
            </c:strRef>
          </c:tx>
          <c:spPr>
            <a:solidFill>
              <a:srgbClr val="9E7E0A"/>
            </a:solidFill>
          </c:spPr>
          <c:invertIfNegative val="0"/>
          <c:xVal>
            <c:numRef>
              <c:numCache>
                <c:formatCode>General</c:formatCode>
                <c:ptCount val="1"/>
                <c:pt idx="0">
                  <c:v>96.90105284997969</c:v>
                </c:pt>
              </c:numCache>
            </c:numRef>
          </c:xVal>
          <c:yVal>
            <c:numRef>
              <c:numCache>
                <c:formatCode>General</c:formatCode>
                <c:ptCount val="1"/>
                <c:pt idx="0">
                  <c:v>119.80866666666665</c:v>
                </c:pt>
              </c:numCache>
            </c:numRef>
          </c:yVal>
          <c:bubbleSize>
            <c:numRef>
              <c:numCache>
                <c:formatCode>General</c:formatCode>
                <c:ptCount val="1"/>
                <c:pt idx="0">
                  <c:v>1288.309</c:v>
                </c:pt>
              </c:numCache>
            </c:numRef>
          </c:bubbleSize>
          <c:bubble3D val="0"/>
        </c:ser>
        <c:ser>
          <c:idx val="2"/>
          <c:order val="2"/>
          <c:tx>
            <c:strRef>
              <c:strCache>
                <c:ptCount val="1"/>
                <c:pt idx="0">
                  <c:v>Column Assist</c:v>
                </c:pt>
              </c:strCache>
            </c:strRef>
          </c:tx>
          <c:spPr>
            <a:solidFill>
              <a:srgbClr val="008189"/>
            </a:solidFill>
          </c:spPr>
          <c:invertIfNegative val="0"/>
          <c:xVal>
            <c:numRef>
              <c:numCache>
                <c:formatCode>General</c:formatCode>
                <c:ptCount val="1"/>
                <c:pt idx="0">
                  <c:v>109.08683129739696</c:v>
                </c:pt>
              </c:numCache>
            </c:numRef>
          </c:xVal>
          <c:yVal>
            <c:numRef>
              <c:numCache>
                <c:formatCode>General</c:formatCode>
                <c:ptCount val="1"/>
                <c:pt idx="0">
                  <c:v>110.097</c:v>
                </c:pt>
              </c:numCache>
            </c:numRef>
          </c:yVal>
          <c:bubbleSize>
            <c:numRef>
              <c:numCache>
                <c:formatCode>General</c:formatCode>
                <c:ptCount val="1"/>
                <c:pt idx="0">
                  <c:v>1271.012</c:v>
                </c:pt>
              </c:numCache>
            </c:numRef>
          </c:bubbleSize>
          <c:bubble3D val="0"/>
        </c:ser>
        <c:ser>
          <c:idx val="3"/>
          <c:order val="3"/>
          <c:tx>
            <c:strRef>
              <c:strCache>
                <c:ptCount val="1"/>
                <c:pt idx="0">
                  <c:v>Steer by Wire</c:v>
                </c:pt>
              </c:strCache>
            </c:strRef>
          </c:tx>
          <c:spPr>
            <a:solidFill>
              <a:srgbClr val="40315E"/>
            </a:solidFill>
          </c:spPr>
          <c:invertIfNegative val="0"/>
          <c:xVal>
            <c:numRef>
              <c:numCache>
                <c:formatCode>General</c:formatCode>
                <c:ptCount val="1"/>
                <c:pt idx="0">
                  <c:v>100.25821288023393</c:v>
                </c:pt>
              </c:numCache>
            </c:numRef>
          </c:xVal>
          <c:yVal>
            <c:numRef>
              <c:numCache>
                <c:formatCode>General</c:formatCode>
                <c:ptCount val="1"/>
                <c:pt idx="0">
                  <c:v>54.29533333333333</c:v>
                </c:pt>
              </c:numCache>
            </c:numRef>
          </c:yVal>
          <c:bubbleSize>
            <c:numRef>
              <c:numCache>
                <c:formatCode>General</c:formatCode>
                <c:ptCount val="1"/>
                <c:pt idx="0">
                  <c:v>595.406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5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694.794</c:v>
                </c:pt>
                <c:pt idx="2">
                  <c:v>778.909</c:v>
                </c:pt>
                <c:pt idx="3">
                  <c:v>872.872</c:v>
                </c:pt>
                <c:pt idx="4">
                  <c:v>977.759</c:v>
                </c:pt>
                <c:pt idx="5">
                  <c:v>1094.742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694.794</c:v>
                </c:pt>
                <c:pt idx="1">
                  <c:v>84.11500000000001</c:v>
                </c:pt>
                <c:pt idx="2">
                  <c:v>93.96299999999997</c:v>
                </c:pt>
                <c:pt idx="3">
                  <c:v>104.88700000000006</c:v>
                </c:pt>
                <c:pt idx="4">
                  <c:v>116.98299999999995</c:v>
                </c:pt>
                <c:pt idx="5">
                  <c:v>130.34899999999993</c:v>
                </c:pt>
                <c:pt idx="6">
                  <c:v>1225.091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718.852</c:v>
                </c:pt>
                <c:pt idx="2">
                  <c:v>808.101</c:v>
                </c:pt>
                <c:pt idx="3">
                  <c:v>908.278</c:v>
                </c:pt>
                <c:pt idx="4">
                  <c:v>1020.71</c:v>
                </c:pt>
                <c:pt idx="5">
                  <c:v>1146.845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718.852</c:v>
                </c:pt>
                <c:pt idx="1">
                  <c:v>89.24900000000002</c:v>
                </c:pt>
                <c:pt idx="2">
                  <c:v>100.17700000000002</c:v>
                </c:pt>
                <c:pt idx="3">
                  <c:v>112.43200000000002</c:v>
                </c:pt>
                <c:pt idx="4">
                  <c:v>126.13499999999999</c:v>
                </c:pt>
                <c:pt idx="5">
                  <c:v>141.46399999999994</c:v>
                </c:pt>
                <c:pt idx="6">
                  <c:v>1288.309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660.582</c:v>
                </c:pt>
                <c:pt idx="2">
                  <c:v>752.308</c:v>
                </c:pt>
                <c:pt idx="3">
                  <c:v>857.12</c:v>
                </c:pt>
                <c:pt idx="4">
                  <c:v>976.947</c:v>
                </c:pt>
                <c:pt idx="5">
                  <c:v>1114.046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660.582</c:v>
                </c:pt>
                <c:pt idx="1">
                  <c:v>91.726</c:v>
                </c:pt>
                <c:pt idx="2">
                  <c:v>104.81200000000001</c:v>
                </c:pt>
                <c:pt idx="3">
                  <c:v>119.827</c:v>
                </c:pt>
                <c:pt idx="4">
                  <c:v>137.09900000000005</c:v>
                </c:pt>
                <c:pt idx="5">
                  <c:v>156.9659999999999</c:v>
                </c:pt>
                <c:pt idx="6">
                  <c:v>1271.012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325.772</c:v>
                </c:pt>
                <c:pt idx="2">
                  <c:v>367.51</c:v>
                </c:pt>
                <c:pt idx="3">
                  <c:v>414.606</c:v>
                </c:pt>
                <c:pt idx="4">
                  <c:v>467.755</c:v>
                </c:pt>
                <c:pt idx="5">
                  <c:v>527.724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325.772</c:v>
                </c:pt>
                <c:pt idx="1">
                  <c:v>41.738</c:v>
                </c:pt>
                <c:pt idx="2">
                  <c:v>47.096000000000004</c:v>
                </c:pt>
                <c:pt idx="3">
                  <c:v>53.149</c:v>
                </c:pt>
                <c:pt idx="4">
                  <c:v>59.96900000000005</c:v>
                </c:pt>
                <c:pt idx="5">
                  <c:v>67.6819999999999</c:v>
                </c:pt>
                <c:pt idx="6">
                  <c:v>595.406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Rack Assist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30.181127177407145</c:v>
                </c:pt>
                <c:pt idx="1">
                  <c:v>29.952166666666663</c:v>
                </c:pt>
                <c:pt idx="2">
                  <c:v>29.414669741984717</c:v>
                </c:pt>
              </c:numCache>
            </c:numRef>
          </c:val>
        </c:ser>
        <c:ser>
          <c:idx val="1"/>
          <c:order val="1"/>
          <c:tx>
            <c:strRef>
              <c:strCache>
                <c:ptCount val="1"/>
                <c:pt idx="0">
                  <c:v>Column Assist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26.90638338351354</c:v>
                </c:pt>
                <c:pt idx="1">
                  <c:v>27.52425</c:v>
                </c:pt>
                <c:pt idx="2">
                  <c:v>29.01974465605649</c:v>
                </c:pt>
              </c:numCache>
            </c:numRef>
          </c:val>
        </c:ser>
        <c:ser>
          <c:idx val="2"/>
          <c:order val="2"/>
          <c:tx>
            <c:strRef>
              <c:strCache>
                <c:ptCount val="1"/>
                <c:pt idx="0">
                  <c:v>Recirculating Ball and Nut Type</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29.3457098036302</c:v>
                </c:pt>
                <c:pt idx="1">
                  <c:v>28.94975</c:v>
                </c:pt>
                <c:pt idx="2">
                  <c:v>27.971276432034394</c:v>
                </c:pt>
              </c:numCache>
            </c:numRef>
          </c:val>
        </c:ser>
        <c:ser>
          <c:idx val="3"/>
          <c:order val="3"/>
          <c:tx>
            <c:strRef>
              <c:strCache>
                <c:ptCount val="1"/>
                <c:pt idx="0">
                  <c:v>Steer by Wire</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13.56677963544912</c:v>
                </c:pt>
                <c:pt idx="1">
                  <c:v>13.573833333333333</c:v>
                </c:pt>
                <c:pt idx="2">
                  <c:v>13.594309169924411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Heavy Duty Trucks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55.44083970285586</c:v>
                </c:pt>
                <c:pt idx="1">
                  <c:v>56.916659088842415</c:v>
                </c:pt>
                <c:pt idx="2">
                  <c:v>54.131334159002876</c:v>
                </c:pt>
                <c:pt idx="3">
                  <c:v>52.56050972400321</c:v>
                </c:pt>
                <c:pt idx="4">
                  <c:v>53.293589868412184</c:v>
                </c:pt>
                <c:pt idx="5">
                  <c:v>52.474160942680335</c:v>
                </c:pt>
                <c:pt idx="6">
                  <c:v>55.78850151807481</c:v>
                </c:pt>
              </c:numCache>
            </c:numRef>
          </c:val>
        </c:ser>
        <c:ser>
          <c:idx val="1"/>
          <c:order val="1"/>
          <c:tx>
            <c:strRef>
              <c:strCache>
                <c:ptCount val="1"/>
                <c:pt idx="0">
                  <c:v>Busses and Coaches</c:v>
                </c:pt>
              </c:strCache>
            </c:strRef>
          </c:tx>
          <c:spPr>
            <a:solidFill>
              <a:srgbClr val="9E7E0A"/>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44.55916029714413</c:v>
                </c:pt>
                <c:pt idx="1">
                  <c:v>43.083340911157585</c:v>
                </c:pt>
                <c:pt idx="2">
                  <c:v>45.86866584099713</c:v>
                </c:pt>
                <c:pt idx="3">
                  <c:v>47.439490275996796</c:v>
                </c:pt>
                <c:pt idx="4">
                  <c:v>46.706410131587816</c:v>
                </c:pt>
                <c:pt idx="5">
                  <c:v>47.525839057319665</c:v>
                </c:pt>
                <c:pt idx="6">
                  <c:v>44.21149848192519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Heavy Duty Trucks</c:v>
                </c:pt>
              </c:strCache>
            </c:strRef>
          </c:tx>
          <c:spPr>
            <a:solidFill>
              <a:srgbClr val="3D85C6"/>
            </a:solidFill>
          </c:spPr>
          <c:invertIfNegative val="0"/>
          <c:xVal>
            <c:numRef>
              <c:numCache>
                <c:formatCode>General</c:formatCode>
                <c:ptCount val="1"/>
                <c:pt idx="0">
                  <c:v>86.98570673900183</c:v>
                </c:pt>
              </c:numCache>
            </c:numRef>
          </c:xVal>
          <c:yVal>
            <c:numRef>
              <c:numCache>
                <c:formatCode>General</c:formatCode>
                <c:ptCount val="1"/>
                <c:pt idx="0">
                  <c:v>117.59616666666666</c:v>
                </c:pt>
              </c:numCache>
            </c:numRef>
          </c:yVal>
          <c:bubbleSize>
            <c:numRef>
              <c:numCache>
                <c:formatCode>General</c:formatCode>
                <c:ptCount val="1"/>
                <c:pt idx="0">
                  <c:v>2386.143</c:v>
                </c:pt>
              </c:numCache>
            </c:numRef>
          </c:bubbleSize>
          <c:bubble3D val="0"/>
        </c:ser>
        <c:ser>
          <c:idx val="1"/>
          <c:order val="1"/>
          <c:tx>
            <c:strRef>
              <c:strCache>
                <c:ptCount val="1"/>
                <c:pt idx="0">
                  <c:v>Busses and Coaches</c:v>
                </c:pt>
              </c:strCache>
            </c:strRef>
          </c:tx>
          <c:spPr>
            <a:solidFill>
              <a:srgbClr val="9E7E0A"/>
            </a:solidFill>
          </c:spPr>
          <c:invertIfNegative val="0"/>
          <c:xVal>
            <c:numRef>
              <c:numCache>
                <c:formatCode>General</c:formatCode>
                <c:ptCount val="1"/>
                <c:pt idx="0">
                  <c:v>117.15580064896854</c:v>
                </c:pt>
              </c:numCache>
            </c:numRef>
          </c:xVal>
          <c:yVal>
            <c:numRef>
              <c:numCache>
                <c:formatCode>General</c:formatCode>
                <c:ptCount val="1"/>
                <c:pt idx="0">
                  <c:v>82.40383333333334</c:v>
                </c:pt>
              </c:numCache>
            </c:numRef>
          </c:yVal>
          <c:bubbleSize>
            <c:numRef>
              <c:numCache>
                <c:formatCode>General</c:formatCode>
                <c:ptCount val="1"/>
                <c:pt idx="0">
                  <c:v>1993.675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1411.154</c:v>
                </c:pt>
                <c:pt idx="2">
                  <c:v>1568.724</c:v>
                </c:pt>
                <c:pt idx="3">
                  <c:v>1743.217</c:v>
                </c:pt>
                <c:pt idx="4">
                  <c:v>1936.354</c:v>
                </c:pt>
                <c:pt idx="5">
                  <c:v>2149.986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1411.154</c:v>
                </c:pt>
                <c:pt idx="1">
                  <c:v>157.56999999999994</c:v>
                </c:pt>
                <c:pt idx="2">
                  <c:v>174.49300000000017</c:v>
                </c:pt>
                <c:pt idx="3">
                  <c:v>193.13699999999994</c:v>
                </c:pt>
                <c:pt idx="4">
                  <c:v>213.63199999999983</c:v>
                </c:pt>
                <c:pt idx="5">
                  <c:v>236.15700000000015</c:v>
                </c:pt>
                <c:pt idx="6">
                  <c:v>2386.143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988.846</c:v>
                </c:pt>
                <c:pt idx="2">
                  <c:v>1138.104</c:v>
                </c:pt>
                <c:pt idx="3">
                  <c:v>1309.659</c:v>
                </c:pt>
                <c:pt idx="4">
                  <c:v>1506.817</c:v>
                </c:pt>
                <c:pt idx="5">
                  <c:v>1733.371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988.846</c:v>
                </c:pt>
                <c:pt idx="1">
                  <c:v>149.25800000000004</c:v>
                </c:pt>
                <c:pt idx="2">
                  <c:v>171.55500000000006</c:v>
                </c:pt>
                <c:pt idx="3">
                  <c:v>197.1579999999999</c:v>
                </c:pt>
                <c:pt idx="4">
                  <c:v>226.5540000000001</c:v>
                </c:pt>
                <c:pt idx="5">
                  <c:v>260.30399999999986</c:v>
                </c:pt>
                <c:pt idx="6">
                  <c:v>1993.675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Heavy Duty Trucks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60.86585759178925</c:v>
                </c:pt>
                <c:pt idx="1">
                  <c:v>58.79808333333333</c:v>
                </c:pt>
                <c:pt idx="2">
                  <c:v>54.48041448297624</c:v>
                </c:pt>
              </c:numCache>
            </c:numRef>
          </c:val>
        </c:ser>
        <c:ser>
          <c:idx val="1"/>
          <c:order val="1"/>
          <c:tx>
            <c:strRef>
              <c:strCache>
                <c:ptCount val="1"/>
                <c:pt idx="0">
                  <c:v>Busses and Coaches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39.13414240821076</c:v>
                </c:pt>
                <c:pt idx="1">
                  <c:v>41.20191666666667</c:v>
                </c:pt>
                <c:pt idx="2">
                  <c:v>45.51958551702376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16 to 26 Tons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11.21336718954754</c:v>
                </c:pt>
                <c:pt idx="1">
                  <c:v>11.193961989633538</c:v>
                </c:pt>
                <c:pt idx="2">
                  <c:v>10.288808664259928</c:v>
                </c:pt>
                <c:pt idx="3">
                  <c:v>9.451317757445512</c:v>
                </c:pt>
                <c:pt idx="4">
                  <c:v>10.408394059450433</c:v>
                </c:pt>
                <c:pt idx="5">
                  <c:v>11.676643684194588</c:v>
                </c:pt>
                <c:pt idx="6">
                  <c:v>11.64605175912216</c:v>
                </c:pt>
              </c:numCache>
            </c:numRef>
          </c:val>
        </c:ser>
        <c:ser>
          <c:idx val="1"/>
          <c:order val="1"/>
          <c:tx>
            <c:strRef>
              <c:strCache>
                <c:ptCount val="1"/>
                <c:pt idx="0">
                  <c:v>26 to 40 Tons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81.67296100090657</c:v>
                </c:pt>
                <c:pt idx="1">
                  <c:v>82.53785123215422</c:v>
                </c:pt>
                <c:pt idx="2">
                  <c:v>80.55627289256633</c:v>
                </c:pt>
                <c:pt idx="3">
                  <c:v>83.02171927399442</c:v>
                </c:pt>
                <c:pt idx="4">
                  <c:v>82.58382450963505</c:v>
                </c:pt>
                <c:pt idx="5">
                  <c:v>80.34313633590847</c:v>
                </c:pt>
                <c:pt idx="6">
                  <c:v>79.23602698134937</c:v>
                </c:pt>
              </c:numCache>
            </c:numRef>
          </c:val>
        </c:ser>
        <c:ser>
          <c:idx val="2"/>
          <c:order val="2"/>
          <c:tx>
            <c:strRef>
              <c:strCache>
                <c:ptCount val="1"/>
                <c:pt idx="0">
                  <c:v>Above 40 Tons</c:v>
                </c:pt>
              </c:strCache>
            </c:strRef>
          </c:tx>
          <c:spPr>
            <a:solidFill>
              <a:srgbClr val="008189"/>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7.113671809545906</c:v>
                </c:pt>
                <c:pt idx="1">
                  <c:v>6.26818677821224</c:v>
                </c:pt>
                <c:pt idx="2">
                  <c:v>9.154918443173731</c:v>
                </c:pt>
                <c:pt idx="3">
                  <c:v>7.526962968560055</c:v>
                </c:pt>
                <c:pt idx="4">
                  <c:v>7.007781430914525</c:v>
                </c:pt>
                <c:pt idx="5">
                  <c:v>7.9802199798969475</c:v>
                </c:pt>
                <c:pt idx="6">
                  <c:v>9.117921259528476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16 to 26 Tons</c:v>
                </c:pt>
              </c:strCache>
            </c:strRef>
          </c:tx>
          <c:spPr>
            <a:solidFill>
              <a:srgbClr val="3D85C6"/>
            </a:solidFill>
          </c:spPr>
          <c:invertIfNegative val="0"/>
          <c:xVal>
            <c:numRef>
              <c:numCache>
                <c:formatCode>General</c:formatCode>
                <c:ptCount val="1"/>
                <c:pt idx="0">
                  <c:v>107.43236901472241</c:v>
                </c:pt>
              </c:numCache>
            </c:numRef>
          </c:xVal>
          <c:yVal>
            <c:numRef>
              <c:numCache>
                <c:formatCode>General</c:formatCode>
                <c:ptCount val="1"/>
                <c:pt idx="0">
                  <c:v>31.773625000000006</c:v>
                </c:pt>
              </c:numCache>
            </c:numRef>
          </c:yVal>
          <c:bubbleSize>
            <c:numRef>
              <c:numCache>
                <c:formatCode>General</c:formatCode>
                <c:ptCount val="1"/>
                <c:pt idx="0">
                  <c:v>484.401</c:v>
                </c:pt>
              </c:numCache>
            </c:numRef>
          </c:bubbleSize>
          <c:bubble3D val="0"/>
        </c:ser>
        <c:ser>
          <c:idx val="1"/>
          <c:order val="1"/>
          <c:tx>
            <c:strRef>
              <c:strCache>
                <c:ptCount val="1"/>
                <c:pt idx="0">
                  <c:v>26 to 40 Tons</c:v>
                </c:pt>
              </c:strCache>
            </c:strRef>
          </c:tx>
          <c:spPr>
            <a:solidFill>
              <a:srgbClr val="9E7E0A"/>
            </a:solidFill>
          </c:spPr>
          <c:invertIfNegative val="0"/>
          <c:xVal>
            <c:numRef>
              <c:numCache>
                <c:formatCode>General</c:formatCode>
                <c:ptCount val="1"/>
                <c:pt idx="0">
                  <c:v>102.06598135051117</c:v>
                </c:pt>
              </c:numCache>
            </c:numRef>
          </c:xVal>
          <c:yVal>
            <c:numRef>
              <c:numCache>
                <c:formatCode>General</c:formatCode>
                <c:ptCount val="1"/>
                <c:pt idx="0">
                  <c:v>239.55412500000003</c:v>
                </c:pt>
              </c:numCache>
            </c:numRef>
          </c:yVal>
          <c:bubbleSize>
            <c:numRef>
              <c:numCache>
                <c:formatCode>General</c:formatCode>
                <c:ptCount val="1"/>
                <c:pt idx="0">
                  <c:v>3539.757</c:v>
                </c:pt>
              </c:numCache>
            </c:numRef>
          </c:bubbleSize>
          <c:bubble3D val="0"/>
        </c:ser>
        <c:ser>
          <c:idx val="2"/>
          <c:order val="2"/>
          <c:tx>
            <c:strRef>
              <c:strCache>
                <c:ptCount val="1"/>
                <c:pt idx="0">
                  <c:v>Above 40 Tons</c:v>
                </c:pt>
              </c:strCache>
            </c:strRef>
          </c:tx>
          <c:spPr>
            <a:solidFill>
              <a:srgbClr val="008189"/>
            </a:solidFill>
          </c:spPr>
          <c:invertIfNegative val="0"/>
          <c:xVal>
            <c:numRef>
              <c:numCache>
                <c:formatCode>General</c:formatCode>
                <c:ptCount val="1"/>
                <c:pt idx="0">
                  <c:v>72.31699718681529</c:v>
                </c:pt>
              </c:numCache>
            </c:numRef>
          </c:xVal>
          <c:yVal>
            <c:numRef>
              <c:numCache>
                <c:formatCode>General</c:formatCode>
                <c:ptCount val="1"/>
                <c:pt idx="0">
                  <c:v>28.67225</c:v>
                </c:pt>
              </c:numCache>
            </c:numRef>
          </c:yVal>
          <c:bubbleSize>
            <c:numRef>
              <c:numCache>
                <c:formatCode>General</c:formatCode>
                <c:ptCount val="1"/>
                <c:pt idx="0">
                  <c:v>355.66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6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254.189</c:v>
                </c:pt>
                <c:pt idx="2">
                  <c:v>289.195</c:v>
                </c:pt>
                <c:pt idx="3">
                  <c:v>329.007</c:v>
                </c:pt>
                <c:pt idx="4">
                  <c:v>374.297</c:v>
                </c:pt>
                <c:pt idx="5">
                  <c:v>425.812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254.189</c:v>
                </c:pt>
                <c:pt idx="1">
                  <c:v>35.006</c:v>
                </c:pt>
                <c:pt idx="2">
                  <c:v>39.81200000000001</c:v>
                </c:pt>
                <c:pt idx="3">
                  <c:v>45.29000000000002</c:v>
                </c:pt>
                <c:pt idx="4">
                  <c:v>51.514999999999986</c:v>
                </c:pt>
                <c:pt idx="5">
                  <c:v>58.589</c:v>
                </c:pt>
                <c:pt idx="6">
                  <c:v>484.401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1916.433</c:v>
                </c:pt>
                <c:pt idx="2">
                  <c:v>2166.652</c:v>
                </c:pt>
                <c:pt idx="3">
                  <c:v>2449.542</c:v>
                </c:pt>
                <c:pt idx="4">
                  <c:v>2769.368</c:v>
                </c:pt>
                <c:pt idx="5">
                  <c:v>3130.954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1916.433</c:v>
                </c:pt>
                <c:pt idx="1">
                  <c:v>250.21900000000005</c:v>
                </c:pt>
                <c:pt idx="2">
                  <c:v>282.8899999999999</c:v>
                </c:pt>
                <c:pt idx="3">
                  <c:v>319.826</c:v>
                </c:pt>
                <c:pt idx="4">
                  <c:v>361.58600000000024</c:v>
                </c:pt>
                <c:pt idx="5">
                  <c:v>408.8029999999999</c:v>
                </c:pt>
                <c:pt idx="6">
                  <c:v>3539.757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229.378</c:v>
                </c:pt>
                <c:pt idx="2">
                  <c:v>250.981</c:v>
                </c:pt>
                <c:pt idx="3">
                  <c:v>274.327</c:v>
                </c:pt>
                <c:pt idx="4">
                  <c:v>299.506</c:v>
                </c:pt>
                <c:pt idx="5">
                  <c:v>326.591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229.378</c:v>
                </c:pt>
                <c:pt idx="1">
                  <c:v>21.60300000000001</c:v>
                </c:pt>
                <c:pt idx="2">
                  <c:v>23.346000000000004</c:v>
                </c:pt>
                <c:pt idx="3">
                  <c:v>25.178999999999974</c:v>
                </c:pt>
                <c:pt idx="4">
                  <c:v>27.085000000000036</c:v>
                </c:pt>
                <c:pt idx="5">
                  <c:v>29.069000000000017</c:v>
                </c:pt>
                <c:pt idx="6">
                  <c:v>355.66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26 to 40 Tons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79.37146128244052</c:v>
                </c:pt>
                <c:pt idx="1">
                  <c:v>79.851375</c:v>
                </c:pt>
                <c:pt idx="2">
                  <c:v>80.81972812568924</c:v>
                </c:pt>
              </c:numCache>
            </c:numRef>
          </c:val>
        </c:ser>
        <c:ser>
          <c:idx val="1"/>
          <c:order val="1"/>
          <c:tx>
            <c:strRef>
              <c:strCache>
                <c:ptCount val="1"/>
                <c:pt idx="0">
                  <c:v>16 to 26 Tons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10.362451360663108</c:v>
                </c:pt>
                <c:pt idx="1">
                  <c:v>10.591208333333334</c:v>
                </c:pt>
                <c:pt idx="2">
                  <c:v>11.059843125901578</c:v>
                </c:pt>
              </c:numCache>
            </c:numRef>
          </c:val>
        </c:ser>
        <c:ser>
          <c:idx val="2"/>
          <c:order val="2"/>
          <c:tx>
            <c:strRef>
              <c:strCache>
                <c:ptCount val="1"/>
                <c:pt idx="0">
                  <c:v>Above 40 Tons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10.266087356896357</c:v>
                </c:pt>
                <c:pt idx="1">
                  <c:v>9.557416666666665</c:v>
                </c:pt>
                <c:pt idx="2">
                  <c:v>8.12042874840918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Internal Combustion Engine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44.098148649403434</c:v>
                </c:pt>
                <c:pt idx="1">
                  <c:v>40.977652996271715</c:v>
                </c:pt>
                <c:pt idx="2">
                  <c:v>42.0345727160136</c:v>
                </c:pt>
                <c:pt idx="3">
                  <c:v>38.7871164457996</c:v>
                </c:pt>
                <c:pt idx="4">
                  <c:v>33.77620335073358</c:v>
                </c:pt>
                <c:pt idx="5">
                  <c:v>43.93656433914457</c:v>
                </c:pt>
                <c:pt idx="6">
                  <c:v>41.48937098358286</c:v>
                </c:pt>
              </c:numCache>
            </c:numRef>
          </c:val>
        </c:ser>
        <c:ser>
          <c:idx val="1"/>
          <c:order val="1"/>
          <c:tx>
            <c:strRef>
              <c:strCache>
                <c:ptCount val="1"/>
                <c:pt idx="0">
                  <c:v>Electric</c:v>
                </c:pt>
              </c:strCache>
            </c:strRef>
          </c:tx>
          <c:spPr>
            <a:solidFill>
              <a:srgbClr val="9E7E0A"/>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18.29653403451787</c:v>
                </c:pt>
                <c:pt idx="1">
                  <c:v>18.75539919978176</c:v>
                </c:pt>
                <c:pt idx="2">
                  <c:v>19.362038525389337</c:v>
                </c:pt>
                <c:pt idx="3">
                  <c:v>22.49843878133827</c:v>
                </c:pt>
                <c:pt idx="4">
                  <c:v>21.40215543389528</c:v>
                </c:pt>
                <c:pt idx="5">
                  <c:v>16.469505802341125</c:v>
                </c:pt>
                <c:pt idx="6">
                  <c:v>18.94951217201857</c:v>
                </c:pt>
              </c:numCache>
            </c:numRef>
          </c:val>
        </c:ser>
        <c:ser>
          <c:idx val="2"/>
          <c:order val="2"/>
          <c:tx>
            <c:strRef>
              <c:strCache>
                <c:ptCount val="1"/>
                <c:pt idx="0">
                  <c:v>Hybrid</c:v>
                </c:pt>
              </c:strCache>
            </c:strRef>
          </c:tx>
          <c:spPr>
            <a:solidFill>
              <a:srgbClr val="008189"/>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37.60531731607869</c:v>
                </c:pt>
                <c:pt idx="1">
                  <c:v>40.26694780394653</c:v>
                </c:pt>
                <c:pt idx="2">
                  <c:v>38.60338875859707</c:v>
                </c:pt>
                <c:pt idx="3">
                  <c:v>38.71444477286213</c:v>
                </c:pt>
                <c:pt idx="4">
                  <c:v>44.82164121537113</c:v>
                </c:pt>
                <c:pt idx="5">
                  <c:v>39.5939298585143</c:v>
                </c:pt>
                <c:pt idx="6">
                  <c:v>39.561116844398576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Internal Combustion Engine</c:v>
                </c:pt>
              </c:strCache>
            </c:strRef>
          </c:tx>
          <c:spPr>
            <a:solidFill>
              <a:srgbClr val="3D85C6"/>
            </a:solidFill>
          </c:spPr>
          <c:invertIfNegative val="0"/>
          <c:xVal>
            <c:numRef>
              <c:numCache>
                <c:formatCode>General</c:formatCode>
                <c:ptCount val="1"/>
                <c:pt idx="0">
                  <c:v>84.80755582663087</c:v>
                </c:pt>
              </c:numCache>
            </c:numRef>
          </c:xVal>
          <c:yVal>
            <c:numRef>
              <c:numCache>
                <c:formatCode>General</c:formatCode>
                <c:ptCount val="1"/>
                <c:pt idx="0">
                  <c:v>133.045</c:v>
                </c:pt>
              </c:numCache>
            </c:numRef>
          </c:yVal>
          <c:bubbleSize>
            <c:numRef>
              <c:numCache>
                <c:formatCode>General</c:formatCode>
                <c:ptCount val="1"/>
                <c:pt idx="0">
                  <c:v>1776.815</c:v>
                </c:pt>
              </c:numCache>
            </c:numRef>
          </c:bubbleSize>
          <c:bubble3D val="0"/>
        </c:ser>
        <c:ser>
          <c:idx val="1"/>
          <c:order val="1"/>
          <c:tx>
            <c:strRef>
              <c:strCache>
                <c:ptCount val="1"/>
                <c:pt idx="0">
                  <c:v>Electric</c:v>
                </c:pt>
              </c:strCache>
            </c:strRef>
          </c:tx>
          <c:spPr>
            <a:solidFill>
              <a:srgbClr val="9E7E0A"/>
            </a:solidFill>
          </c:spPr>
          <c:invertIfNegative val="0"/>
          <c:xVal>
            <c:numRef>
              <c:numCache>
                <c:formatCode>General</c:formatCode>
                <c:ptCount val="1"/>
                <c:pt idx="0">
                  <c:v>77.91964651989444</c:v>
                </c:pt>
              </c:numCache>
            </c:numRef>
          </c:xVal>
          <c:yVal>
            <c:numRef>
              <c:numCache>
                <c:formatCode>General</c:formatCode>
                <c:ptCount val="1"/>
                <c:pt idx="0">
                  <c:v>65.855625</c:v>
                </c:pt>
              </c:numCache>
            </c:numRef>
          </c:yVal>
          <c:bubbleSize>
            <c:numRef>
              <c:numCache>
                <c:formatCode>General</c:formatCode>
                <c:ptCount val="1"/>
                <c:pt idx="0">
                  <c:v>844.463</c:v>
                </c:pt>
              </c:numCache>
            </c:numRef>
          </c:bubbleSize>
          <c:bubble3D val="0"/>
        </c:ser>
        <c:ser>
          <c:idx val="2"/>
          <c:order val="2"/>
          <c:tx>
            <c:strRef>
              <c:strCache>
                <c:ptCount val="1"/>
                <c:pt idx="0">
                  <c:v>Hybrid</c:v>
                </c:pt>
              </c:strCache>
            </c:strRef>
          </c:tx>
          <c:spPr>
            <a:solidFill>
              <a:srgbClr val="008189"/>
            </a:solidFill>
          </c:spPr>
          <c:invertIfNegative val="0"/>
          <c:xVal>
            <c:numRef>
              <c:numCache>
                <c:formatCode>General</c:formatCode>
                <c:ptCount val="1"/>
                <c:pt idx="0">
                  <c:v>130.26673782982775</c:v>
                </c:pt>
              </c:numCache>
            </c:numRef>
          </c:xVal>
          <c:yVal>
            <c:numRef>
              <c:numCache>
                <c:formatCode>General</c:formatCode>
                <c:ptCount val="1"/>
                <c:pt idx="0">
                  <c:v>101.09937500000001</c:v>
                </c:pt>
              </c:numCache>
            </c:numRef>
          </c:yVal>
          <c:bubbleSize>
            <c:numRef>
              <c:numCache>
                <c:formatCode>General</c:formatCode>
                <c:ptCount val="1"/>
                <c:pt idx="0">
                  <c:v>1758.54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5.0"/>
          <c:min val="6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1064.36</c:v>
                </c:pt>
                <c:pt idx="2">
                  <c:v>1181.644</c:v>
                </c:pt>
                <c:pt idx="3">
                  <c:v>1310.633</c:v>
                </c:pt>
                <c:pt idx="4">
                  <c:v>1452.236</c:v>
                </c:pt>
                <c:pt idx="5">
                  <c:v>1607.343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1064.36</c:v>
                </c:pt>
                <c:pt idx="1">
                  <c:v>117.2840000000001</c:v>
                </c:pt>
                <c:pt idx="2">
                  <c:v>128.98900000000003</c:v>
                </c:pt>
                <c:pt idx="3">
                  <c:v>141.60300000000007</c:v>
                </c:pt>
                <c:pt idx="4">
                  <c:v>155.10699999999997</c:v>
                </c:pt>
                <c:pt idx="5">
                  <c:v>169.47199999999998</c:v>
                </c:pt>
                <c:pt idx="6">
                  <c:v>1776.815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526.845</c:v>
                </c:pt>
                <c:pt idx="2">
                  <c:v>580.946</c:v>
                </c:pt>
                <c:pt idx="3">
                  <c:v>639.628</c:v>
                </c:pt>
                <c:pt idx="4">
                  <c:v>703.057</c:v>
                </c:pt>
                <c:pt idx="5">
                  <c:v>771.327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526.845</c:v>
                </c:pt>
                <c:pt idx="1">
                  <c:v>54.101</c:v>
                </c:pt>
                <c:pt idx="2">
                  <c:v>58.682000000000016</c:v>
                </c:pt>
                <c:pt idx="3">
                  <c:v>63.428999999999974</c:v>
                </c:pt>
                <c:pt idx="4">
                  <c:v>68.26999999999998</c:v>
                </c:pt>
                <c:pt idx="5">
                  <c:v>73.13599999999997</c:v>
                </c:pt>
                <c:pt idx="6">
                  <c:v>844.463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808.795</c:v>
                </c:pt>
                <c:pt idx="2">
                  <c:v>944.238</c:v>
                </c:pt>
                <c:pt idx="3">
                  <c:v>1102.615</c:v>
                </c:pt>
                <c:pt idx="4">
                  <c:v>1287.878</c:v>
                </c:pt>
                <c:pt idx="5">
                  <c:v>1504.687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808.795</c:v>
                </c:pt>
                <c:pt idx="1">
                  <c:v>135.4430000000001</c:v>
                </c:pt>
                <c:pt idx="2">
                  <c:v>158.37699999999995</c:v>
                </c:pt>
                <c:pt idx="3">
                  <c:v>185.26299999999992</c:v>
                </c:pt>
                <c:pt idx="4">
                  <c:v>216.80899999999997</c:v>
                </c:pt>
                <c:pt idx="5">
                  <c:v>253.85300000000007</c:v>
                </c:pt>
                <c:pt idx="6">
                  <c:v>1758.54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Internal Combustion Engine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45.96996392541472</c:v>
                </c:pt>
                <c:pt idx="1">
                  <c:v>44.34833333333333</c:v>
                </c:pt>
                <c:pt idx="2">
                  <c:v>40.56823822359742</c:v>
                </c:pt>
              </c:numCache>
            </c:numRef>
          </c:val>
        </c:ser>
        <c:ser>
          <c:idx val="1"/>
          <c:order val="1"/>
          <c:tx>
            <c:strRef>
              <c:strCache>
                <c:ptCount val="1"/>
                <c:pt idx="0">
                  <c:v>Hybrid</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30.938417660279733</c:v>
                </c:pt>
                <c:pt idx="1">
                  <c:v>33.69979166666667</c:v>
                </c:pt>
                <c:pt idx="2">
                  <c:v>40.15098344269099</c:v>
                </c:pt>
              </c:numCache>
            </c:numRef>
          </c:val>
        </c:ser>
        <c:ser>
          <c:idx val="2"/>
          <c:order val="2"/>
          <c:tx>
            <c:strRef>
              <c:strCache>
                <c:ptCount val="1"/>
                <c:pt idx="0">
                  <c:v>Electric</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23.09161841430555</c:v>
                </c:pt>
                <c:pt idx="1">
                  <c:v>21.951875</c:v>
                </c:pt>
                <c:pt idx="2">
                  <c:v>19.28077833371158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OEM</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80.9331081981018</c:v>
                </c:pt>
                <c:pt idx="1">
                  <c:v>82.18747158315904</c:v>
                </c:pt>
                <c:pt idx="2">
                  <c:v>84.06492924714749</c:v>
                </c:pt>
                <c:pt idx="3">
                  <c:v>85.00030002066808</c:v>
                </c:pt>
                <c:pt idx="4">
                  <c:v>84.3713817095182</c:v>
                </c:pt>
                <c:pt idx="5">
                  <c:v>83.90717407888646</c:v>
                </c:pt>
                <c:pt idx="6">
                  <c:v>80.31095606307613</c:v>
                </c:pt>
              </c:numCache>
            </c:numRef>
          </c:val>
        </c:ser>
        <c:ser>
          <c:idx val="1"/>
          <c:order val="1"/>
          <c:tx>
            <c:strRef>
              <c:strCache>
                <c:ptCount val="1"/>
                <c:pt idx="0">
                  <c:v>Aftermaket</c:v>
                </c:pt>
              </c:strCache>
            </c:strRef>
          </c:tx>
          <c:spPr>
            <a:solidFill>
              <a:srgbClr val="9E7E0A"/>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19.06689180189818</c:v>
                </c:pt>
                <c:pt idx="1">
                  <c:v>17.812528416840955</c:v>
                </c:pt>
                <c:pt idx="2">
                  <c:v>15.935070752852514</c:v>
                </c:pt>
                <c:pt idx="3">
                  <c:v>14.999699979331908</c:v>
                </c:pt>
                <c:pt idx="4">
                  <c:v>15.62861829048179</c:v>
                </c:pt>
                <c:pt idx="5">
                  <c:v>16.09282592111354</c:v>
                </c:pt>
                <c:pt idx="6">
                  <c:v>19.689043936923866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OEM</c:v>
                </c:pt>
              </c:strCache>
            </c:strRef>
          </c:tx>
          <c:spPr>
            <a:solidFill>
              <a:srgbClr val="3D85C6"/>
            </a:solidFill>
          </c:spPr>
          <c:invertIfNegative val="0"/>
          <c:xVal>
            <c:numRef>
              <c:numCache>
                <c:formatCode>General</c:formatCode>
                <c:ptCount val="1"/>
                <c:pt idx="0">
                  <c:v>94.6832179758765</c:v>
                </c:pt>
              </c:numCache>
            </c:numRef>
          </c:xVal>
          <c:yVal>
            <c:numRef>
              <c:numCache>
                <c:formatCode>General</c:formatCode>
                <c:ptCount val="1"/>
                <c:pt idx="0">
                  <c:v>170.18966666666665</c:v>
                </c:pt>
              </c:numCache>
            </c:numRef>
          </c:yVal>
          <c:bubbleSize>
            <c:numRef>
              <c:numCache>
                <c:formatCode>General</c:formatCode>
                <c:ptCount val="1"/>
                <c:pt idx="0">
                  <c:v>3612.917</c:v>
                </c:pt>
              </c:numCache>
            </c:numRef>
          </c:bubbleSize>
          <c:bubble3D val="0"/>
        </c:ser>
        <c:ser>
          <c:idx val="1"/>
          <c:order val="1"/>
          <c:tx>
            <c:strRef>
              <c:strCache>
                <c:ptCount val="1"/>
                <c:pt idx="0">
                  <c:v>Aftermaket</c:v>
                </c:pt>
              </c:strCache>
            </c:strRef>
          </c:tx>
          <c:spPr>
            <a:solidFill>
              <a:srgbClr val="9E7E0A"/>
            </a:solidFill>
          </c:spPr>
          <c:invertIfNegative val="0"/>
          <c:xVal>
            <c:numRef>
              <c:numCache>
                <c:formatCode>General</c:formatCode>
                <c:ptCount val="1"/>
                <c:pt idx="0">
                  <c:v>127.81099164903071</c:v>
                </c:pt>
              </c:numCache>
            </c:numRef>
          </c:xVal>
          <c:yVal>
            <c:numRef>
              <c:numCache>
                <c:formatCode>General</c:formatCode>
                <c:ptCount val="1"/>
                <c:pt idx="0">
                  <c:v>29.810333333333332</c:v>
                </c:pt>
              </c:numCache>
            </c:numRef>
          </c:yVal>
          <c:bubbleSize>
            <c:numRef>
              <c:numCache>
                <c:formatCode>General</c:formatCode>
                <c:ptCount val="1"/>
                <c:pt idx="0">
                  <c:v>766.901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2042.276</c:v>
                </c:pt>
                <c:pt idx="2">
                  <c:v>2289.662</c:v>
                </c:pt>
                <c:pt idx="3">
                  <c:v>2566.707</c:v>
                </c:pt>
                <c:pt idx="4">
                  <c:v>2876.918</c:v>
                </c:pt>
                <c:pt idx="5">
                  <c:v>3224.202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2042.276</c:v>
                </c:pt>
                <c:pt idx="1">
                  <c:v>247.38599999999974</c:v>
                </c:pt>
                <c:pt idx="2">
                  <c:v>277.0450000000001</c:v>
                </c:pt>
                <c:pt idx="3">
                  <c:v>310.21100000000024</c:v>
                </c:pt>
                <c:pt idx="4">
                  <c:v>347.2840000000001</c:v>
                </c:pt>
                <c:pt idx="5">
                  <c:v>388.7149999999997</c:v>
                </c:pt>
                <c:pt idx="6">
                  <c:v>3612.917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357.724</c:v>
                </c:pt>
                <c:pt idx="2">
                  <c:v>417.166</c:v>
                </c:pt>
                <c:pt idx="3">
                  <c:v>486.169</c:v>
                </c:pt>
                <c:pt idx="4">
                  <c:v>566.253</c:v>
                </c:pt>
                <c:pt idx="5">
                  <c:v>659.155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357.724</c:v>
                </c:pt>
                <c:pt idx="1">
                  <c:v>59.44200000000001</c:v>
                </c:pt>
                <c:pt idx="2">
                  <c:v>69.00299999999999</c:v>
                </c:pt>
                <c:pt idx="3">
                  <c:v>80.08400000000006</c:v>
                </c:pt>
                <c:pt idx="4">
                  <c:v>92.90199999999993</c:v>
                </c:pt>
                <c:pt idx="5">
                  <c:v>107.74599999999998</c:v>
                </c:pt>
                <c:pt idx="6">
                  <c:v>766.901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OEM</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86.33083361054871</c:v>
                </c:pt>
                <c:pt idx="1">
                  <c:v>85.09483333333333</c:v>
                </c:pt>
                <c:pt idx="2">
                  <c:v>82.49011716925223</c:v>
                </c:pt>
              </c:numCache>
            </c:numRef>
          </c:val>
        </c:ser>
        <c:ser>
          <c:idx val="1"/>
          <c:order val="1"/>
          <c:tx>
            <c:strRef>
              <c:strCache>
                <c:ptCount val="1"/>
                <c:pt idx="0">
                  <c:v>Aftermaket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13.669166389451293</c:v>
                </c:pt>
                <c:pt idx="1">
                  <c:v>14.905166666666666</c:v>
                </c:pt>
                <c:pt idx="2">
                  <c:v>17.50988283074776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5.4041646683242295</c:v>
                </c:pt>
                <c:pt idx="1">
                  <c:v>5.431768417275551</c:v>
                </c:pt>
                <c:pt idx="2">
                  <c:v>5.422566364496095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169934310803727"/>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107674.897</c:v>
                </c:pt>
                <c:pt idx="2">
                  <c:v>0.0</c:v>
                </c:pt>
                <c:pt idx="3">
                  <c:v>140088.769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107674.897</c:v>
                </c:pt>
                <c:pt idx="1">
                  <c:v>32413.872000000003</c:v>
                </c:pt>
                <c:pt idx="2">
                  <c:v>140088.769</c:v>
                </c:pt>
                <c:pt idx="3">
                  <c:v>97659.97399999999</c:v>
                </c:pt>
                <c:pt idx="4">
                  <c:v>237748.743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6.767324792805773</c:v>
                </c:pt>
                <c:pt idx="1">
                  <c:v>6.796035721129767</c:v>
                </c:pt>
                <c:pt idx="2">
                  <c:v>6.786464553936522</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970767151891293"/>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86.925</c:v>
                </c:pt>
                <c:pt idx="2">
                  <c:v>0.0</c:v>
                </c:pt>
                <c:pt idx="3">
                  <c:v>120.59700000000001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86.925</c:v>
                </c:pt>
                <c:pt idx="1">
                  <c:v>33.67200000000001</c:v>
                </c:pt>
                <c:pt idx="2">
                  <c:v>120.59700000000001</c:v>
                </c:pt>
                <c:pt idx="3">
                  <c:v>112.15199999999996</c:v>
                </c:pt>
                <c:pt idx="4">
                  <c:v>232.74899999999997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86.925</c:v>
                </c:pt>
                <c:pt idx="1">
                  <c:v>92.8</c:v>
                </c:pt>
                <c:pt idx="2">
                  <c:v>99.077</c:v>
                </c:pt>
                <c:pt idx="3">
                  <c:v>105.78</c:v>
                </c:pt>
                <c:pt idx="4">
                  <c:v>112.943</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107674.897</c:v>
                </c:pt>
                <c:pt idx="1">
                  <c:v>113483.01599999999</c:v>
                </c:pt>
                <c:pt idx="2">
                  <c:v>119610.30000000002</c:v>
                </c:pt>
                <c:pt idx="3">
                  <c:v>126074.361</c:v>
                </c:pt>
                <c:pt idx="4">
                  <c:v>132894.017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33"/>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87598"/>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120.59700000000001</c:v>
                </c:pt>
                <c:pt idx="1">
                  <c:v>128.769</c:v>
                </c:pt>
                <c:pt idx="2">
                  <c:v>137.501</c:v>
                </c:pt>
                <c:pt idx="3">
                  <c:v>146.834</c:v>
                </c:pt>
                <c:pt idx="4">
                  <c:v>156.807</c:v>
                </c:pt>
                <c:pt idx="5">
                  <c:v>167.458</c:v>
                </c:pt>
                <c:pt idx="6">
                  <c:v>178.846</c:v>
                </c:pt>
                <c:pt idx="7">
                  <c:v>191.011</c:v>
                </c:pt>
                <c:pt idx="8">
                  <c:v>204.009</c:v>
                </c:pt>
                <c:pt idx="9">
                  <c:v>217.903</c:v>
                </c:pt>
                <c:pt idx="10">
                  <c:v>232.74899999999997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140088.769</c:v>
                </c:pt>
                <c:pt idx="1">
                  <c:v>147673.28</c:v>
                </c:pt>
                <c:pt idx="2">
                  <c:v>155674.859</c:v>
                </c:pt>
                <c:pt idx="3">
                  <c:v>164116.625</c:v>
                </c:pt>
                <c:pt idx="4">
                  <c:v>173022.41700000002</c:v>
                </c:pt>
                <c:pt idx="5">
                  <c:v>182418.615</c:v>
                </c:pt>
                <c:pt idx="6">
                  <c:v>192331.91</c:v>
                </c:pt>
                <c:pt idx="7">
                  <c:v>202790.301</c:v>
                </c:pt>
                <c:pt idx="8">
                  <c:v>213824.70500000002</c:v>
                </c:pt>
                <c:pt idx="9">
                  <c:v>225466.157</c:v>
                </c:pt>
                <c:pt idx="10">
                  <c:v>237748.743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75"/>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62538"/>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Italy</c:v>
                </c:pt>
                <c:pt idx="1">
                  <c:v>U.K.</c:v>
                </c:pt>
                <c:pt idx="2">
                  <c:v>Spain</c:v>
                </c:pt>
                <c:pt idx="3">
                  <c:v>France</c:v>
                </c:pt>
                <c:pt idx="4">
                  <c:v>Nordics</c:v>
                </c:pt>
                <c:pt idx="5">
                  <c:v>Germany</c:v>
                </c:pt>
              </c:strCache>
            </c:strRef>
          </c:cat>
          <c:val>
            <c:numRef>
              <c:numCache>
                <c:formatCode>General</c:formatCode>
                <c:ptCount val="6"/>
                <c:pt idx="0">
                  <c:v>70.9890797404748</c:v>
                </c:pt>
                <c:pt idx="1">
                  <c:v>73.94624308572631</c:v>
                </c:pt>
                <c:pt idx="2">
                  <c:v>101.27241533212322</c:v>
                </c:pt>
                <c:pt idx="3">
                  <c:v>107.64491443851585</c:v>
                </c:pt>
                <c:pt idx="4">
                  <c:v>111.27457678859489</c:v>
                </c:pt>
                <c:pt idx="5">
                  <c:v>113.64131892158393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Nordics</c:v>
                </c:pt>
                <c:pt idx="1">
                  <c:v>U.K.</c:v>
                </c:pt>
                <c:pt idx="2">
                  <c:v>Spain</c:v>
                </c:pt>
                <c:pt idx="3">
                  <c:v>Italy</c:v>
                </c:pt>
                <c:pt idx="4">
                  <c:v>France</c:v>
                </c:pt>
                <c:pt idx="5">
                  <c:v>Germany</c:v>
                </c:pt>
              </c:strCache>
            </c:strRef>
          </c:cat>
          <c:val>
            <c:numRef>
              <c:numCache>
                <c:formatCode>General</c:formatCode>
                <c:ptCount val="6"/>
                <c:pt idx="0">
                  <c:v>5.176902774805623</c:v>
                </c:pt>
                <c:pt idx="1">
                  <c:v>5.810863827662462</c:v>
                </c:pt>
                <c:pt idx="2">
                  <c:v>6.718560525001786</c:v>
                </c:pt>
                <c:pt idx="3">
                  <c:v>12.264605178686077</c:v>
                </c:pt>
                <c:pt idx="4">
                  <c:v>13.115236464797778</c:v>
                </c:pt>
                <c:pt idx="5">
                  <c:v>49.93312647121765</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Heavy Duty Trucks</c:v>
                </c:pt>
                <c:pt idx="1">
                  <c:v>Busses and Coaches</c:v>
                </c:pt>
              </c:strCache>
            </c:strRef>
          </c:cat>
          <c:val>
            <c:numRef>
              <c:numCache>
                <c:formatCode>General</c:formatCode>
                <c:ptCount val="2"/>
                <c:pt idx="0">
                  <c:v>129.038</c:v>
                </c:pt>
                <c:pt idx="1">
                  <c:v>103.711</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0.09027778927207133</c:v>
                </c:pt>
                <c:pt idx="1">
                  <c:v>0.08980453660872419</c:v>
                </c:pt>
                <c:pt idx="2">
                  <c:v>0.08926029604587499</c:v>
                </c:pt>
                <c:pt idx="3">
                  <c:v>0.08795885122167035</c:v>
                </c:pt>
                <c:pt idx="4">
                  <c:v>0.08680332596866443</c:v>
                </c:pt>
                <c:pt idx="5">
                  <c:v>0.08540328683959582</c:v>
                </c:pt>
                <c:pt idx="6">
                  <c:v>0.08369563347935155</c:v>
                </c:pt>
                <c:pt idx="7">
                  <c:v>0.08179867905376845</c:v>
                </c:pt>
                <c:pt idx="8">
                  <c:v>0.08202347406885833</c:v>
                </c:pt>
                <c:pt idx="9">
                  <c:v>0.07998454384427109</c:v>
                </c:pt>
                <c:pt idx="10">
                  <c:v>0.07729094743538696</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0.06030555827124669</c:v>
                </c:pt>
                <c:pt idx="1">
                  <c:v>0.0643324309426902</c:v>
                </c:pt>
                <c:pt idx="2">
                  <c:v>0.0682809851829225</c:v>
                </c:pt>
                <c:pt idx="3">
                  <c:v>0.07225564556689189</c:v>
                </c:pt>
                <c:pt idx="4">
                  <c:v>0.07384159379891907</c:v>
                </c:pt>
                <c:pt idx="5">
                  <c:v>0.0732411524929664</c:v>
                </c:pt>
                <c:pt idx="6">
                  <c:v>0.07092423223630115</c:v>
                </c:pt>
                <c:pt idx="7">
                  <c:v>0.0683854097578708</c:v>
                </c:pt>
                <c:pt idx="8">
                  <c:v>0.06736727015212494</c:v>
                </c:pt>
                <c:pt idx="9">
                  <c:v>0.0653440440125018</c:v>
                </c:pt>
                <c:pt idx="10">
                  <c:v>0.06318376061825899</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0.05246949258715214</c:v>
                </c:pt>
                <c:pt idx="1">
                  <c:v>0.050799492587152134</c:v>
                </c:pt>
                <c:pt idx="2">
                  <c:v>0.05012949258715214</c:v>
                </c:pt>
                <c:pt idx="3">
                  <c:v>0.050799492587152134</c:v>
                </c:pt>
                <c:pt idx="4">
                  <c:v>0.052799492587152136</c:v>
                </c:pt>
                <c:pt idx="5">
                  <c:v>0.05346949258715214</c:v>
                </c:pt>
                <c:pt idx="6">
                  <c:v>0.052799492587152136</c:v>
                </c:pt>
                <c:pt idx="7">
                  <c:v>0.05076949258715214</c:v>
                </c:pt>
                <c:pt idx="8">
                  <c:v>0.049879492587152144</c:v>
                </c:pt>
                <c:pt idx="9">
                  <c:v>0.048899492587152135</c:v>
                </c:pt>
                <c:pt idx="10">
                  <c:v>0.04772949258715214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Germany</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41.61962976489571</c:v>
                </c:pt>
                <c:pt idx="1">
                  <c:v>45.12350292426152</c:v>
                </c:pt>
              </c:numCache>
            </c:numRef>
          </c:val>
        </c:ser>
        <c:ser>
          <c:idx val="1"/>
          <c:order val="1"/>
          <c:tx>
            <c:strRef>
              <c:strCache>
                <c:ptCount val="1"/>
                <c:pt idx="0">
                  <c:v>Italy</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18.957874488853562</c:v>
                </c:pt>
                <c:pt idx="1">
                  <c:v>15.622899844311691</c:v>
                </c:pt>
              </c:numCache>
            </c:numRef>
          </c:val>
        </c:ser>
        <c:ser>
          <c:idx val="2"/>
          <c:order val="2"/>
          <c:tx>
            <c:strRef>
              <c:strCache>
                <c:ptCount val="1"/>
                <c:pt idx="0">
                  <c:v>France</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12.010652331451354</c:v>
                </c:pt>
                <c:pt idx="1">
                  <c:v>12.793424947781954</c:v>
                </c:pt>
              </c:numCache>
            </c:numRef>
          </c:val>
        </c:ser>
        <c:ser>
          <c:idx val="3"/>
          <c:order val="3"/>
          <c:tx>
            <c:strRef>
              <c:strCache>
                <c:ptCount val="1"/>
                <c:pt idx="0">
                  <c:v>U.K.</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8.723752151751722</c:v>
                </c:pt>
                <c:pt idx="1">
                  <c:v>7.517017660951419</c:v>
                </c:pt>
              </c:numCache>
            </c:numRef>
          </c:val>
        </c:ser>
        <c:ser>
          <c:idx val="4"/>
          <c:order val="4"/>
          <c:tx>
            <c:strRef>
              <c:strCache>
                <c:ptCount val="1"/>
                <c:pt idx="0">
                  <c:v>Spain</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6.634731011163359</c:v>
                </c:pt>
                <c:pt idx="1">
                  <c:v>6.81656264319345</c:v>
                </c:pt>
              </c:numCache>
            </c:numRef>
          </c:val>
        </c:ser>
        <c:ser>
          <c:idx val="5"/>
          <c:order val="5"/>
          <c:tx>
            <c:strRef>
              <c:strCache>
                <c:ptCount val="1"/>
                <c:pt idx="0">
                  <c:v>BENELUX</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5.3849948527993705</c:v>
                </c:pt>
                <c:pt idx="1">
                  <c:v>5.138092780578866</c:v>
                </c:pt>
              </c:numCache>
            </c:numRef>
          </c:val>
        </c:ser>
        <c:ser>
          <c:idx val="6"/>
          <c:order val="6"/>
          <c:tx>
            <c:strRef>
              <c:strCache>
                <c:ptCount val="1"/>
                <c:pt idx="0">
                  <c:v>Nordics</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4.570704022675793</c:v>
                </c:pt>
                <c:pt idx="1">
                  <c:v>4.892776657077846</c:v>
                </c:pt>
              </c:numCache>
            </c:numRef>
          </c:val>
        </c:ser>
        <c:ser>
          <c:idx val="7"/>
          <c:order val="7"/>
          <c:tx>
            <c:strRef>
              <c:strCache>
                <c:ptCount val="1"/>
                <c:pt idx="0">
                  <c:v>Rest of Western Europe</c:v>
                </c:pt>
              </c:strCache>
            </c:strRef>
          </c:tx>
          <c:spPr>
            <a:solidFill>
              <a:srgbClr val="A86F0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2.097661376409125</c:v>
                </c:pt>
                <c:pt idx="1">
                  <c:v>2.0957225418432603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Germany</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42.054114115608186</c:v>
                </c:pt>
                <c:pt idx="1">
                  <c:v>45.850680346639514</c:v>
                </c:pt>
              </c:numCache>
            </c:numRef>
          </c:val>
        </c:ser>
        <c:ser>
          <c:idx val="1"/>
          <c:order val="1"/>
          <c:tx>
            <c:strRef>
              <c:strCache>
                <c:ptCount val="1"/>
                <c:pt idx="0">
                  <c:v>Italy</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18.95072016716834</c:v>
                </c:pt>
                <c:pt idx="1">
                  <c:v>15.728961241509095</c:v>
                </c:pt>
              </c:numCache>
            </c:numRef>
          </c:val>
        </c:ser>
        <c:ser>
          <c:idx val="2"/>
          <c:order val="2"/>
          <c:tx>
            <c:strRef>
              <c:strCache>
                <c:ptCount val="1"/>
                <c:pt idx="0">
                  <c:v>France</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11.888355431727158</c:v>
                </c:pt>
                <c:pt idx="1">
                  <c:v>12.479538043128006</c:v>
                </c:pt>
              </c:numCache>
            </c:numRef>
          </c:val>
        </c:ser>
        <c:ser>
          <c:idx val="3"/>
          <c:order val="3"/>
          <c:tx>
            <c:strRef>
              <c:strCache>
                <c:ptCount val="1"/>
                <c:pt idx="0">
                  <c:v>U.K.</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8.539184225146563</c:v>
                </c:pt>
                <c:pt idx="1">
                  <c:v>7.2245208357501</c:v>
                </c:pt>
              </c:numCache>
            </c:numRef>
          </c:val>
        </c:ser>
        <c:ser>
          <c:idx val="4"/>
          <c:order val="4"/>
          <c:tx>
            <c:strRef>
              <c:strCache>
                <c:ptCount val="1"/>
                <c:pt idx="0">
                  <c:v>Spain</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6.607129530585339</c:v>
                </c:pt>
                <c:pt idx="1">
                  <c:v>6.660823462184585</c:v>
                </c:pt>
              </c:numCache>
            </c:numRef>
          </c:val>
        </c:ser>
        <c:ser>
          <c:idx val="5"/>
          <c:order val="5"/>
          <c:tx>
            <c:strRef>
              <c:strCache>
                <c:ptCount val="1"/>
                <c:pt idx="0">
                  <c:v>BENELUX</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5.357513039296169</c:v>
                </c:pt>
                <c:pt idx="1">
                  <c:v>5.140731002066604</c:v>
                </c:pt>
              </c:numCache>
            </c:numRef>
          </c:val>
        </c:ser>
        <c:ser>
          <c:idx val="6"/>
          <c:order val="6"/>
          <c:tx>
            <c:strRef>
              <c:strCache>
                <c:ptCount val="1"/>
                <c:pt idx="0">
                  <c:v>Nordics</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4.486844614708492</c:v>
                </c:pt>
                <c:pt idx="1">
                  <c:v>4.819354755552119</c:v>
                </c:pt>
              </c:numCache>
            </c:numRef>
          </c:val>
        </c:ser>
        <c:ser>
          <c:idx val="7"/>
          <c:order val="7"/>
          <c:tx>
            <c:strRef>
              <c:strCache>
                <c:ptCount val="1"/>
                <c:pt idx="0">
                  <c:v>Rest of Western Europe</c:v>
                </c:pt>
              </c:strCache>
            </c:strRef>
          </c:tx>
          <c:spPr>
            <a:solidFill>
              <a:srgbClr val="A86F00"/>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2.116138875759762</c:v>
                </c:pt>
                <c:pt idx="1">
                  <c:v>2.0953903131699816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42823.378</c:v>
                </c:pt>
                <c:pt idx="1">
                  <c:v>45557.258</c:v>
                </c:pt>
                <c:pt idx="2">
                  <c:v>48461.638</c:v>
                </c:pt>
                <c:pt idx="3">
                  <c:v>51546.853</c:v>
                </c:pt>
                <c:pt idx="4">
                  <c:v>54823.935</c:v>
                </c:pt>
                <c:pt idx="5">
                  <c:v>58304.427</c:v>
                </c:pt>
                <c:pt idx="6">
                  <c:v>61993.705</c:v>
                </c:pt>
                <c:pt idx="7">
                  <c:v>65910.943</c:v>
                </c:pt>
                <c:pt idx="8">
                  <c:v>70069.89</c:v>
                </c:pt>
                <c:pt idx="9">
                  <c:v>74484.862</c:v>
                </c:pt>
                <c:pt idx="10">
                  <c:v>79171.536</c:v>
                </c:pt>
                <c:pt idx="11">
                  <c:v>84146.021</c:v>
                </c:pt>
                <c:pt idx="12">
                  <c:v>89425.279</c:v>
                </c:pt>
                <c:pt idx="13">
                  <c:v>95027.877</c:v>
                </c:pt>
                <c:pt idx="14">
                  <c:v>100972.758</c:v>
                </c:pt>
                <c:pt idx="15">
                  <c:v>107280.561</c:v>
                </c:pt>
              </c:numCache>
            </c:numRef>
          </c:val>
        </c:ser>
        <c:ser>
          <c:idx val="1"/>
          <c:order val="1"/>
          <c:tx>
            <c:strRef>
              <c:strCache>
                <c:ptCount val="1"/>
                <c:pt idx="0">
                  <c:v>Italy</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22397.162</c:v>
                </c:pt>
                <c:pt idx="1">
                  <c:v>23177.443</c:v>
                </c:pt>
                <c:pt idx="2">
                  <c:v>23982.911</c:v>
                </c:pt>
                <c:pt idx="3">
                  <c:v>24814.289</c:v>
                </c:pt>
                <c:pt idx="4">
                  <c:v>25672.358</c:v>
                </c:pt>
                <c:pt idx="5">
                  <c:v>26557.853</c:v>
                </c:pt>
                <c:pt idx="6">
                  <c:v>27474.245</c:v>
                </c:pt>
                <c:pt idx="7">
                  <c:v>28419.894</c:v>
                </c:pt>
                <c:pt idx="8">
                  <c:v>29395.652</c:v>
                </c:pt>
                <c:pt idx="9">
                  <c:v>30402.299</c:v>
                </c:pt>
                <c:pt idx="10">
                  <c:v>31440.845</c:v>
                </c:pt>
                <c:pt idx="11">
                  <c:v>32512.133</c:v>
                </c:pt>
                <c:pt idx="12">
                  <c:v>33616.998</c:v>
                </c:pt>
                <c:pt idx="13">
                  <c:v>34756.529</c:v>
                </c:pt>
                <c:pt idx="14">
                  <c:v>35931.581</c:v>
                </c:pt>
                <c:pt idx="15">
                  <c:v>37143.248</c:v>
                </c:pt>
              </c:numCache>
            </c:numRef>
          </c:val>
        </c:ser>
        <c:ser>
          <c:idx val="2"/>
          <c:order val="2"/>
          <c:tx>
            <c:strRef>
              <c:strCache>
                <c:ptCount val="1"/>
                <c:pt idx="0">
                  <c:v>France</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12469.639</c:v>
                </c:pt>
                <c:pt idx="1">
                  <c:v>13241.879</c:v>
                </c:pt>
                <c:pt idx="2">
                  <c:v>14060.774</c:v>
                </c:pt>
                <c:pt idx="3">
                  <c:v>14929.057</c:v>
                </c:pt>
                <c:pt idx="4">
                  <c:v>15849.644</c:v>
                </c:pt>
                <c:pt idx="5">
                  <c:v>16825.575</c:v>
                </c:pt>
                <c:pt idx="6">
                  <c:v>17858.605</c:v>
                </c:pt>
                <c:pt idx="7">
                  <c:v>18953.483</c:v>
                </c:pt>
                <c:pt idx="8">
                  <c:v>20113.818</c:v>
                </c:pt>
                <c:pt idx="9">
                  <c:v>21343.353</c:v>
                </c:pt>
                <c:pt idx="10">
                  <c:v>22646.197</c:v>
                </c:pt>
                <c:pt idx="11">
                  <c:v>24026.546</c:v>
                </c:pt>
                <c:pt idx="12">
                  <c:v>25488.814</c:v>
                </c:pt>
                <c:pt idx="13">
                  <c:v>27037.836</c:v>
                </c:pt>
                <c:pt idx="14">
                  <c:v>28678.516</c:v>
                </c:pt>
                <c:pt idx="15">
                  <c:v>30416.207</c:v>
                </c:pt>
              </c:numCache>
            </c:numRef>
          </c:val>
        </c:ser>
        <c:ser>
          <c:idx val="3"/>
          <c:order val="3"/>
          <c:tx>
            <c:strRef>
              <c:strCache>
                <c:ptCount val="1"/>
                <c:pt idx="0">
                  <c:v>U.K.</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10078.346</c:v>
                </c:pt>
                <c:pt idx="1">
                  <c:v>10476.236</c:v>
                </c:pt>
                <c:pt idx="2">
                  <c:v>10888.929</c:v>
                </c:pt>
                <c:pt idx="3">
                  <c:v>11316.928</c:v>
                </c:pt>
                <c:pt idx="4">
                  <c:v>11760.775</c:v>
                </c:pt>
                <c:pt idx="5">
                  <c:v>12220.997</c:v>
                </c:pt>
                <c:pt idx="6">
                  <c:v>12699.203</c:v>
                </c:pt>
                <c:pt idx="7">
                  <c:v>13195.023</c:v>
                </c:pt>
                <c:pt idx="8">
                  <c:v>13709.065</c:v>
                </c:pt>
                <c:pt idx="9">
                  <c:v>14241.908</c:v>
                </c:pt>
                <c:pt idx="10">
                  <c:v>14794.252</c:v>
                </c:pt>
                <c:pt idx="11">
                  <c:v>15366.724</c:v>
                </c:pt>
                <c:pt idx="12">
                  <c:v>15959.959</c:v>
                </c:pt>
                <c:pt idx="13">
                  <c:v>16574.723</c:v>
                </c:pt>
                <c:pt idx="14">
                  <c:v>17211.678</c:v>
                </c:pt>
                <c:pt idx="15">
                  <c:v>17871.615</c:v>
                </c:pt>
              </c:numCache>
            </c:numRef>
          </c:val>
        </c:ser>
        <c:ser>
          <c:idx val="4"/>
          <c:order val="4"/>
          <c:tx>
            <c:strRef>
              <c:strCache>
                <c:ptCount val="1"/>
                <c:pt idx="0">
                  <c:v>Spain</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7014.819</c:v>
                </c:pt>
                <c:pt idx="1">
                  <c:v>7422.172</c:v>
                </c:pt>
                <c:pt idx="2">
                  <c:v>7852.528</c:v>
                </c:pt>
                <c:pt idx="3">
                  <c:v>8307.138</c:v>
                </c:pt>
                <c:pt idx="4">
                  <c:v>8787.339</c:v>
                </c:pt>
                <c:pt idx="5">
                  <c:v>9294.513</c:v>
                </c:pt>
                <c:pt idx="6">
                  <c:v>9829.613</c:v>
                </c:pt>
                <c:pt idx="7">
                  <c:v>10394.657</c:v>
                </c:pt>
                <c:pt idx="8">
                  <c:v>10991.268</c:v>
                </c:pt>
                <c:pt idx="9">
                  <c:v>11621.124</c:v>
                </c:pt>
                <c:pt idx="10">
                  <c:v>12286.069</c:v>
                </c:pt>
                <c:pt idx="11">
                  <c:v>12987.967</c:v>
                </c:pt>
                <c:pt idx="12">
                  <c:v>13728.772</c:v>
                </c:pt>
                <c:pt idx="13">
                  <c:v>14510.626</c:v>
                </c:pt>
                <c:pt idx="14">
                  <c:v>15335.682</c:v>
                </c:pt>
                <c:pt idx="15">
                  <c:v>16206.292</c:v>
                </c:pt>
              </c:numCache>
            </c:numRef>
          </c:val>
        </c:ser>
        <c:ser>
          <c:idx val="5"/>
          <c:order val="5"/>
          <c:tx>
            <c:strRef>
              <c:strCache>
                <c:ptCount val="1"/>
                <c:pt idx="0">
                  <c:v>BENELUX</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5909.123</c:v>
                </c:pt>
                <c:pt idx="1">
                  <c:v>6205.956</c:v>
                </c:pt>
                <c:pt idx="2">
                  <c:v>6517.158</c:v>
                </c:pt>
                <c:pt idx="3">
                  <c:v>6843.389</c:v>
                </c:pt>
                <c:pt idx="4">
                  <c:v>7185.356</c:v>
                </c:pt>
                <c:pt idx="5">
                  <c:v>7543.773</c:v>
                </c:pt>
                <c:pt idx="6">
                  <c:v>7919.284</c:v>
                </c:pt>
                <c:pt idx="7">
                  <c:v>8312.795</c:v>
                </c:pt>
                <c:pt idx="8">
                  <c:v>8725.135</c:v>
                </c:pt>
                <c:pt idx="9">
                  <c:v>9157.141</c:v>
                </c:pt>
                <c:pt idx="10">
                  <c:v>9609.753</c:v>
                </c:pt>
                <c:pt idx="11">
                  <c:v>10083.885</c:v>
                </c:pt>
                <c:pt idx="12">
                  <c:v>10580.492</c:v>
                </c:pt>
                <c:pt idx="13">
                  <c:v>11100.634</c:v>
                </c:pt>
                <c:pt idx="14">
                  <c:v>11645.34</c:v>
                </c:pt>
                <c:pt idx="15">
                  <c:v>12215.751</c:v>
                </c:pt>
              </c:numCache>
            </c:numRef>
          </c:val>
        </c:ser>
        <c:ser>
          <c:idx val="6"/>
          <c:order val="6"/>
          <c:tx>
            <c:strRef>
              <c:strCache>
                <c:ptCount val="1"/>
                <c:pt idx="0">
                  <c:v>Nordics</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4733.218</c:v>
                </c:pt>
                <c:pt idx="1">
                  <c:v>5028.924</c:v>
                </c:pt>
                <c:pt idx="2">
                  <c:v>5342.659</c:v>
                </c:pt>
                <c:pt idx="3">
                  <c:v>5675.489</c:v>
                </c:pt>
                <c:pt idx="4">
                  <c:v>6028.555</c:v>
                </c:pt>
                <c:pt idx="5">
                  <c:v>6403.043</c:v>
                </c:pt>
                <c:pt idx="6">
                  <c:v>6799.536</c:v>
                </c:pt>
                <c:pt idx="7">
                  <c:v>7219.979</c:v>
                </c:pt>
                <c:pt idx="8">
                  <c:v>7665.786</c:v>
                </c:pt>
                <c:pt idx="9">
                  <c:v>8138.418</c:v>
                </c:pt>
                <c:pt idx="10">
                  <c:v>8639.484</c:v>
                </c:pt>
                <c:pt idx="11">
                  <c:v>9170.628</c:v>
                </c:pt>
                <c:pt idx="12">
                  <c:v>9733.58</c:v>
                </c:pt>
                <c:pt idx="13">
                  <c:v>10330.232</c:v>
                </c:pt>
                <c:pt idx="14">
                  <c:v>10962.511</c:v>
                </c:pt>
                <c:pt idx="15">
                  <c:v>11632.515</c:v>
                </c:pt>
              </c:numCache>
            </c:numRef>
          </c:val>
        </c:ser>
        <c:ser>
          <c:idx val="7"/>
          <c:order val="7"/>
          <c:tx>
            <c:strRef>
              <c:strCache>
                <c:ptCount val="1"/>
                <c:pt idx="0">
                  <c:v>Rest of Western Europe</c:v>
                </c:pt>
              </c:strCache>
            </c:strRef>
          </c:tx>
          <c:spPr>
            <a:solidFill>
              <a:srgbClr val="A86F0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2249.212</c:v>
                </c:pt>
                <c:pt idx="1">
                  <c:v>2373.148</c:v>
                </c:pt>
                <c:pt idx="2">
                  <c:v>2503.703</c:v>
                </c:pt>
                <c:pt idx="3">
                  <c:v>2641.218</c:v>
                </c:pt>
                <c:pt idx="4">
                  <c:v>2786.055</c:v>
                </c:pt>
                <c:pt idx="5">
                  <c:v>2938.588</c:v>
                </c:pt>
                <c:pt idx="6">
                  <c:v>3099.089</c:v>
                </c:pt>
                <c:pt idx="7">
                  <c:v>3268.085</c:v>
                </c:pt>
                <c:pt idx="8">
                  <c:v>3446.011</c:v>
                </c:pt>
                <c:pt idx="9">
                  <c:v>3633.312</c:v>
                </c:pt>
                <c:pt idx="10">
                  <c:v>3830.479</c:v>
                </c:pt>
                <c:pt idx="11">
                  <c:v>4038.006</c:v>
                </c:pt>
                <c:pt idx="12">
                  <c:v>4256.407</c:v>
                </c:pt>
                <c:pt idx="13">
                  <c:v>4486.248</c:v>
                </c:pt>
                <c:pt idx="14">
                  <c:v>4728.091</c:v>
                </c:pt>
                <c:pt idx="15">
                  <c:v>4982.554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34.832</c:v>
                </c:pt>
                <c:pt idx="1">
                  <c:v>37.557</c:v>
                </c:pt>
                <c:pt idx="2">
                  <c:v>40.491</c:v>
                </c:pt>
                <c:pt idx="3">
                  <c:v>43.651</c:v>
                </c:pt>
                <c:pt idx="4">
                  <c:v>47.053</c:v>
                </c:pt>
                <c:pt idx="5">
                  <c:v>50.716</c:v>
                </c:pt>
                <c:pt idx="6">
                  <c:v>54.653</c:v>
                </c:pt>
                <c:pt idx="7">
                  <c:v>58.891</c:v>
                </c:pt>
                <c:pt idx="8">
                  <c:v>63.453</c:v>
                </c:pt>
                <c:pt idx="9">
                  <c:v>68.362</c:v>
                </c:pt>
                <c:pt idx="10">
                  <c:v>73.645</c:v>
                </c:pt>
                <c:pt idx="11">
                  <c:v>79.329</c:v>
                </c:pt>
                <c:pt idx="12">
                  <c:v>85.446</c:v>
                </c:pt>
                <c:pt idx="13">
                  <c:v>92.025</c:v>
                </c:pt>
                <c:pt idx="14">
                  <c:v>99.103</c:v>
                </c:pt>
                <c:pt idx="15">
                  <c:v>106.717</c:v>
                </c:pt>
              </c:numCache>
            </c:numRef>
          </c:val>
        </c:ser>
        <c:ser>
          <c:idx val="1"/>
          <c:order val="1"/>
          <c:tx>
            <c:strRef>
              <c:strCache>
                <c:ptCount val="1"/>
                <c:pt idx="0">
                  <c:v>Italy</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18.009</c:v>
                </c:pt>
                <c:pt idx="1">
                  <c:v>18.891</c:v>
                </c:pt>
                <c:pt idx="2">
                  <c:v>19.815</c:v>
                </c:pt>
                <c:pt idx="3">
                  <c:v>20.782</c:v>
                </c:pt>
                <c:pt idx="4">
                  <c:v>21.795</c:v>
                </c:pt>
                <c:pt idx="5">
                  <c:v>22.854</c:v>
                </c:pt>
                <c:pt idx="6">
                  <c:v>23.965</c:v>
                </c:pt>
                <c:pt idx="7">
                  <c:v>25.129</c:v>
                </c:pt>
                <c:pt idx="8">
                  <c:v>26.347</c:v>
                </c:pt>
                <c:pt idx="9">
                  <c:v>27.622</c:v>
                </c:pt>
                <c:pt idx="10">
                  <c:v>28.955</c:v>
                </c:pt>
                <c:pt idx="11">
                  <c:v>30.351</c:v>
                </c:pt>
                <c:pt idx="12">
                  <c:v>31.811</c:v>
                </c:pt>
                <c:pt idx="13">
                  <c:v>33.339</c:v>
                </c:pt>
                <c:pt idx="14">
                  <c:v>34.937</c:v>
                </c:pt>
                <c:pt idx="15">
                  <c:v>36.609</c:v>
                </c:pt>
              </c:numCache>
            </c:numRef>
          </c:val>
        </c:ser>
        <c:ser>
          <c:idx val="2"/>
          <c:order val="2"/>
          <c:tx>
            <c:strRef>
              <c:strCache>
                <c:ptCount val="1"/>
                <c:pt idx="0">
                  <c:v>France</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10.036</c:v>
                </c:pt>
                <c:pt idx="1">
                  <c:v>10.781</c:v>
                </c:pt>
                <c:pt idx="2">
                  <c:v>11.579</c:v>
                </c:pt>
                <c:pt idx="3">
                  <c:v>12.434</c:v>
                </c:pt>
                <c:pt idx="4">
                  <c:v>13.352</c:v>
                </c:pt>
                <c:pt idx="5">
                  <c:v>14.337</c:v>
                </c:pt>
                <c:pt idx="6">
                  <c:v>15.391</c:v>
                </c:pt>
                <c:pt idx="7">
                  <c:v>16.522</c:v>
                </c:pt>
                <c:pt idx="8">
                  <c:v>17.735</c:v>
                </c:pt>
                <c:pt idx="9">
                  <c:v>19.035</c:v>
                </c:pt>
                <c:pt idx="10">
                  <c:v>20.428</c:v>
                </c:pt>
                <c:pt idx="11">
                  <c:v>21.922</c:v>
                </c:pt>
                <c:pt idx="12">
                  <c:v>23.522</c:v>
                </c:pt>
                <c:pt idx="13">
                  <c:v>25.237</c:v>
                </c:pt>
                <c:pt idx="14">
                  <c:v>27.076</c:v>
                </c:pt>
                <c:pt idx="15">
                  <c:v>29.046</c:v>
                </c:pt>
              </c:numCache>
            </c:numRef>
          </c:val>
        </c:ser>
        <c:ser>
          <c:idx val="3"/>
          <c:order val="3"/>
          <c:tx>
            <c:strRef>
              <c:strCache>
                <c:ptCount val="1"/>
                <c:pt idx="0">
                  <c:v>U.K.</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8.038</c:v>
                </c:pt>
                <c:pt idx="1">
                  <c:v>8.447</c:v>
                </c:pt>
                <c:pt idx="2">
                  <c:v>8.878</c:v>
                </c:pt>
                <c:pt idx="3">
                  <c:v>9.329</c:v>
                </c:pt>
                <c:pt idx="4">
                  <c:v>9.802</c:v>
                </c:pt>
                <c:pt idx="5">
                  <c:v>10.298</c:v>
                </c:pt>
                <c:pt idx="6">
                  <c:v>10.82</c:v>
                </c:pt>
                <c:pt idx="7">
                  <c:v>11.367</c:v>
                </c:pt>
                <c:pt idx="8">
                  <c:v>11.941</c:v>
                </c:pt>
                <c:pt idx="9">
                  <c:v>12.543</c:v>
                </c:pt>
                <c:pt idx="10">
                  <c:v>13.173</c:v>
                </c:pt>
                <c:pt idx="11">
                  <c:v>13.835</c:v>
                </c:pt>
                <c:pt idx="12">
                  <c:v>14.528</c:v>
                </c:pt>
                <c:pt idx="13">
                  <c:v>15.255</c:v>
                </c:pt>
                <c:pt idx="14">
                  <c:v>16.017</c:v>
                </c:pt>
                <c:pt idx="15">
                  <c:v>16.815</c:v>
                </c:pt>
              </c:numCache>
            </c:numRef>
          </c:val>
        </c:ser>
        <c:ser>
          <c:idx val="4"/>
          <c:order val="4"/>
          <c:tx>
            <c:strRef>
              <c:strCache>
                <c:ptCount val="1"/>
                <c:pt idx="0">
                  <c:v>Spain</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5.693</c:v>
                </c:pt>
                <c:pt idx="1">
                  <c:v>6.09</c:v>
                </c:pt>
                <c:pt idx="2">
                  <c:v>6.514</c:v>
                </c:pt>
                <c:pt idx="3">
                  <c:v>6.967</c:v>
                </c:pt>
                <c:pt idx="4">
                  <c:v>7.45</c:v>
                </c:pt>
                <c:pt idx="5">
                  <c:v>7.968</c:v>
                </c:pt>
                <c:pt idx="6">
                  <c:v>8.519</c:v>
                </c:pt>
                <c:pt idx="7">
                  <c:v>9.108</c:v>
                </c:pt>
                <c:pt idx="8">
                  <c:v>9.737</c:v>
                </c:pt>
                <c:pt idx="9">
                  <c:v>10.409</c:v>
                </c:pt>
                <c:pt idx="10">
                  <c:v>11.125</c:v>
                </c:pt>
                <c:pt idx="11">
                  <c:v>11.891</c:v>
                </c:pt>
                <c:pt idx="12">
                  <c:v>12.708</c:v>
                </c:pt>
                <c:pt idx="13">
                  <c:v>13.579</c:v>
                </c:pt>
                <c:pt idx="14">
                  <c:v>14.509</c:v>
                </c:pt>
                <c:pt idx="15">
                  <c:v>15.503</c:v>
                </c:pt>
              </c:numCache>
            </c:numRef>
          </c:val>
        </c:ser>
        <c:ser>
          <c:idx val="5"/>
          <c:order val="5"/>
          <c:tx>
            <c:strRef>
              <c:strCache>
                <c:ptCount val="1"/>
                <c:pt idx="0">
                  <c:v>BENELUX</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4.732</c:v>
                </c:pt>
                <c:pt idx="1">
                  <c:v>5.037</c:v>
                </c:pt>
                <c:pt idx="2">
                  <c:v>5.361</c:v>
                </c:pt>
                <c:pt idx="3">
                  <c:v>5.705</c:v>
                </c:pt>
                <c:pt idx="4">
                  <c:v>6.072</c:v>
                </c:pt>
                <c:pt idx="5">
                  <c:v>6.461</c:v>
                </c:pt>
                <c:pt idx="6">
                  <c:v>6.874</c:v>
                </c:pt>
                <c:pt idx="7">
                  <c:v>7.313</c:v>
                </c:pt>
                <c:pt idx="8">
                  <c:v>7.779</c:v>
                </c:pt>
                <c:pt idx="9">
                  <c:v>8.275</c:v>
                </c:pt>
                <c:pt idx="10">
                  <c:v>8.802</c:v>
                </c:pt>
                <c:pt idx="11">
                  <c:v>9.361</c:v>
                </c:pt>
                <c:pt idx="12">
                  <c:v>9.955</c:v>
                </c:pt>
                <c:pt idx="13">
                  <c:v>10.585</c:v>
                </c:pt>
                <c:pt idx="14">
                  <c:v>11.255</c:v>
                </c:pt>
                <c:pt idx="15">
                  <c:v>11.965</c:v>
                </c:pt>
              </c:numCache>
            </c:numRef>
          </c:val>
        </c:ser>
        <c:ser>
          <c:idx val="6"/>
          <c:order val="6"/>
          <c:tx>
            <c:strRef>
              <c:strCache>
                <c:ptCount val="1"/>
                <c:pt idx="0">
                  <c:v>Nordics</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3.744</c:v>
                </c:pt>
                <c:pt idx="1">
                  <c:v>4.032</c:v>
                </c:pt>
                <c:pt idx="2">
                  <c:v>4.34</c:v>
                </c:pt>
                <c:pt idx="3">
                  <c:v>4.672</c:v>
                </c:pt>
                <c:pt idx="4">
                  <c:v>5.028</c:v>
                </c:pt>
                <c:pt idx="5">
                  <c:v>5.411</c:v>
                </c:pt>
                <c:pt idx="6">
                  <c:v>5.823</c:v>
                </c:pt>
                <c:pt idx="7">
                  <c:v>6.264</c:v>
                </c:pt>
                <c:pt idx="8">
                  <c:v>6.74</c:v>
                </c:pt>
                <c:pt idx="9">
                  <c:v>7.25</c:v>
                </c:pt>
                <c:pt idx="10">
                  <c:v>7.799</c:v>
                </c:pt>
                <c:pt idx="11">
                  <c:v>8.389</c:v>
                </c:pt>
                <c:pt idx="12">
                  <c:v>9.022</c:v>
                </c:pt>
                <c:pt idx="13">
                  <c:v>9.702</c:v>
                </c:pt>
                <c:pt idx="14">
                  <c:v>10.433</c:v>
                </c:pt>
                <c:pt idx="15">
                  <c:v>11.217</c:v>
                </c:pt>
              </c:numCache>
            </c:numRef>
          </c:val>
        </c:ser>
        <c:ser>
          <c:idx val="7"/>
          <c:order val="7"/>
          <c:tx>
            <c:strRef>
              <c:strCache>
                <c:ptCount val="1"/>
                <c:pt idx="0">
                  <c:v>Rest of Western Europe</c:v>
                </c:pt>
              </c:strCache>
            </c:strRef>
          </c:tx>
          <c:spPr>
            <a:solidFill>
              <a:srgbClr val="A86F0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1.841</c:v>
                </c:pt>
                <c:pt idx="1">
                  <c:v>1.965</c:v>
                </c:pt>
                <c:pt idx="2">
                  <c:v>2.099</c:v>
                </c:pt>
                <c:pt idx="3">
                  <c:v>2.24</c:v>
                </c:pt>
                <c:pt idx="4">
                  <c:v>2.391</c:v>
                </c:pt>
                <c:pt idx="5">
                  <c:v>2.552</c:v>
                </c:pt>
                <c:pt idx="6">
                  <c:v>2.724</c:v>
                </c:pt>
                <c:pt idx="7">
                  <c:v>2.907</c:v>
                </c:pt>
                <c:pt idx="8">
                  <c:v>3.102</c:v>
                </c:pt>
                <c:pt idx="9">
                  <c:v>3.311</c:v>
                </c:pt>
                <c:pt idx="10">
                  <c:v>3.531</c:v>
                </c:pt>
                <c:pt idx="11">
                  <c:v>3.768</c:v>
                </c:pt>
                <c:pt idx="12">
                  <c:v>4.019</c:v>
                </c:pt>
                <c:pt idx="13">
                  <c:v>4.287</c:v>
                </c:pt>
                <c:pt idx="14">
                  <c:v>4.573</c:v>
                </c:pt>
                <c:pt idx="15">
                  <c:v>4.877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Recirculating Ball and Nut Type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29.095755587451304</c:v>
                </c:pt>
                <c:pt idx="1">
                  <c:v>23.72292056699652</c:v>
                </c:pt>
                <c:pt idx="2">
                  <c:v>26.468867530296702</c:v>
                </c:pt>
                <c:pt idx="3">
                  <c:v>24.234019222086047</c:v>
                </c:pt>
                <c:pt idx="4">
                  <c:v>32.69104965804341</c:v>
                </c:pt>
                <c:pt idx="5">
                  <c:v>32.51738621496936</c:v>
                </c:pt>
                <c:pt idx="6">
                  <c:v>29.56103690349367</c:v>
                </c:pt>
                <c:pt idx="7">
                  <c:v>29.769390069061156</c:v>
                </c:pt>
              </c:numCache>
            </c:numRef>
          </c:val>
        </c:ser>
        <c:ser>
          <c:idx val="1"/>
          <c:order val="1"/>
          <c:tx>
            <c:strRef>
              <c:strCache>
                <c:ptCount val="1"/>
                <c:pt idx="0">
                  <c:v>Rack Assist</c:v>
                </c:pt>
              </c:strCache>
            </c:strRef>
          </c:tx>
          <c:spPr>
            <a:solidFill>
              <a:srgbClr val="9E7E0A"/>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31.720319868771785</c:v>
                </c:pt>
                <c:pt idx="1">
                  <c:v>29.455291076045288</c:v>
                </c:pt>
                <c:pt idx="2">
                  <c:v>25.26535729210197</c:v>
                </c:pt>
                <c:pt idx="3">
                  <c:v>25.11771915113204</c:v>
                </c:pt>
                <c:pt idx="4">
                  <c:v>24.64466250371692</c:v>
                </c:pt>
                <c:pt idx="5">
                  <c:v>26.51655993940646</c:v>
                </c:pt>
                <c:pt idx="6">
                  <c:v>25.633041055478163</c:v>
                </c:pt>
                <c:pt idx="7">
                  <c:v>33.325524518118016</c:v>
                </c:pt>
              </c:numCache>
            </c:numRef>
          </c:val>
        </c:ser>
        <c:ser>
          <c:idx val="2"/>
          <c:order val="2"/>
          <c:tx>
            <c:strRef>
              <c:strCache>
                <c:ptCount val="1"/>
                <c:pt idx="0">
                  <c:v>Column Assist</c:v>
                </c:pt>
              </c:strCache>
            </c:strRef>
          </c:tx>
          <c:spPr>
            <a:solidFill>
              <a:srgbClr val="008189"/>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27.455402911626</c:v>
                </c:pt>
                <c:pt idx="1">
                  <c:v>34.224837300525984</c:v>
                </c:pt>
                <c:pt idx="2">
                  <c:v>33.65649811951526</c:v>
                </c:pt>
                <c:pt idx="3">
                  <c:v>35.8124234019222</c:v>
                </c:pt>
                <c:pt idx="4">
                  <c:v>30.877192982456137</c:v>
                </c:pt>
                <c:pt idx="5">
                  <c:v>27.993527508090615</c:v>
                </c:pt>
                <c:pt idx="6">
                  <c:v>28.35095195170586</c:v>
                </c:pt>
                <c:pt idx="7">
                  <c:v>23.47423559507857</c:v>
                </c:pt>
              </c:numCache>
            </c:numRef>
          </c:val>
        </c:ser>
        <c:ser>
          <c:idx val="3"/>
          <c:order val="3"/>
          <c:tx>
            <c:strRef>
              <c:strCache>
                <c:ptCount val="1"/>
                <c:pt idx="0">
                  <c:v>Steer by Wire</c:v>
                </c:pt>
              </c:strCache>
            </c:strRef>
          </c:tx>
          <c:spPr>
            <a:solidFill>
              <a:srgbClr val="40315E"/>
            </a:solidFill>
            <a:ln>
              <a:noFill/>
            </a:ln>
          </c:spPr>
          <c:dLbls>
            <c:dLbl>
              <c:idx val="0"/>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11.728521632150912</c:v>
                </c:pt>
                <c:pt idx="1">
                  <c:v>12.596951056432202</c:v>
                </c:pt>
                <c:pt idx="2">
                  <c:v>14.609277058086088</c:v>
                </c:pt>
                <c:pt idx="3">
                  <c:v>14.835838224859705</c:v>
                </c:pt>
                <c:pt idx="4">
                  <c:v>11.787094855783526</c:v>
                </c:pt>
                <c:pt idx="5">
                  <c:v>12.972526337533566</c:v>
                </c:pt>
                <c:pt idx="6">
                  <c:v>16.454970089322295</c:v>
                </c:pt>
                <c:pt idx="7">
                  <c:v>13.430849817742253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Recirculating Ball and Nut Type</c:v>
                </c:pt>
              </c:strCache>
            </c:strRef>
          </c:tx>
          <c:spPr>
            <a:solidFill>
              <a:srgbClr val="3D85C6"/>
            </a:solidFill>
          </c:spPr>
          <c:invertIfNegative val="0"/>
          <c:xVal>
            <c:numRef>
              <c:numCache>
                <c:formatCode>General</c:formatCode>
                <c:ptCount val="1"/>
                <c:pt idx="0">
                  <c:v>94.37256160020614</c:v>
                </c:pt>
              </c:numCache>
            </c:numRef>
          </c:xVal>
          <c:yVal>
            <c:numRef>
              <c:numCache>
                <c:formatCode>General</c:formatCode>
                <c:ptCount val="1"/>
                <c:pt idx="0">
                  <c:v>122.08927253580104</c:v>
                </c:pt>
              </c:numCache>
            </c:numRef>
          </c:yVal>
          <c:bubbleSize>
            <c:numRef>
              <c:numCache>
                <c:formatCode>General</c:formatCode>
                <c:ptCount val="1"/>
                <c:pt idx="0">
                  <c:v>68.537</c:v>
                </c:pt>
              </c:numCache>
            </c:numRef>
          </c:bubbleSize>
          <c:bubble3D val="0"/>
        </c:ser>
        <c:ser>
          <c:idx val="1"/>
          <c:order val="1"/>
          <c:tx>
            <c:strRef>
              <c:strCache>
                <c:ptCount val="1"/>
                <c:pt idx="0">
                  <c:v>Rack Assist</c:v>
                </c:pt>
              </c:strCache>
            </c:strRef>
          </c:tx>
          <c:spPr>
            <a:solidFill>
              <a:srgbClr val="9E7E0A"/>
            </a:solidFill>
          </c:spPr>
          <c:invertIfNegative val="0"/>
          <c:xVal>
            <c:numRef>
              <c:numCache>
                <c:formatCode>General</c:formatCode>
                <c:ptCount val="1"/>
                <c:pt idx="0">
                  <c:v>99.43862070052855</c:v>
                </c:pt>
              </c:numCache>
            </c:numRef>
          </c:xVal>
          <c:yVal>
            <c:numRef>
              <c:numCache>
                <c:formatCode>General</c:formatCode>
                <c:ptCount val="1"/>
                <c:pt idx="0">
                  <c:v>118.25169780342794</c:v>
                </c:pt>
              </c:numCache>
            </c:numRef>
          </c:yVal>
          <c:bubbleSize>
            <c:numRef>
              <c:numCache>
                <c:formatCode>General</c:formatCode>
                <c:ptCount val="1"/>
                <c:pt idx="0">
                  <c:v>68.562</c:v>
                </c:pt>
              </c:numCache>
            </c:numRef>
          </c:bubbleSize>
          <c:bubble3D val="0"/>
        </c:ser>
        <c:ser>
          <c:idx val="2"/>
          <c:order val="2"/>
          <c:tx>
            <c:strRef>
              <c:strCache>
                <c:ptCount val="1"/>
                <c:pt idx="0">
                  <c:v>Column Assist</c:v>
                </c:pt>
              </c:strCache>
            </c:strRef>
          </c:tx>
          <c:spPr>
            <a:solidFill>
              <a:srgbClr val="008189"/>
            </a:solidFill>
          </c:spPr>
          <c:invertIfNegative val="0"/>
          <c:xVal>
            <c:numRef>
              <c:numCache>
                <c:formatCode>General</c:formatCode>
                <c:ptCount val="1"/>
                <c:pt idx="0">
                  <c:v>106.97804925865965</c:v>
                </c:pt>
              </c:numCache>
            </c:numRef>
          </c:xVal>
          <c:yVal>
            <c:numRef>
              <c:numCache>
                <c:formatCode>General</c:formatCode>
                <c:ptCount val="1"/>
                <c:pt idx="0">
                  <c:v>104.41719114074148</c:v>
                </c:pt>
              </c:numCache>
            </c:numRef>
          </c:yVal>
          <c:bubbleSize>
            <c:numRef>
              <c:numCache>
                <c:formatCode>General</c:formatCode>
                <c:ptCount val="1"/>
                <c:pt idx="0">
                  <c:v>63.51</c:v>
                </c:pt>
              </c:numCache>
            </c:numRef>
          </c:bubbleSize>
          <c:bubble3D val="0"/>
        </c:ser>
        <c:ser>
          <c:idx val="3"/>
          <c:order val="3"/>
          <c:tx>
            <c:strRef>
              <c:strCache>
                <c:ptCount val="1"/>
                <c:pt idx="0">
                  <c:v>Steer by Wire</c:v>
                </c:pt>
              </c:strCache>
            </c:strRef>
          </c:tx>
          <c:spPr>
            <a:solidFill>
              <a:srgbClr val="40315E"/>
            </a:solidFill>
          </c:spPr>
          <c:invertIfNegative val="0"/>
          <c:xVal>
            <c:numRef>
              <c:numCache>
                <c:formatCode>General</c:formatCode>
                <c:ptCount val="1"/>
                <c:pt idx="0">
                  <c:v>99.98187776940102</c:v>
                </c:pt>
              </c:numCache>
            </c:numRef>
          </c:xVal>
          <c:yVal>
            <c:numRef>
              <c:numCache>
                <c:formatCode>General</c:formatCode>
                <c:ptCount val="1"/>
                <c:pt idx="0">
                  <c:v>55.24183852002952</c:v>
                </c:pt>
              </c:numCache>
            </c:numRef>
          </c:yVal>
          <c:bubbleSize>
            <c:numRef>
              <c:numCache>
                <c:formatCode>General</c:formatCode>
                <c:ptCount val="1"/>
                <c:pt idx="0">
                  <c:v>32.14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5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36.809</c:v>
                </c:pt>
                <c:pt idx="2">
                  <c:v>41.703</c:v>
                </c:pt>
                <c:pt idx="3">
                  <c:v>47.239</c:v>
                </c:pt>
                <c:pt idx="4">
                  <c:v>53.493</c:v>
                </c:pt>
                <c:pt idx="5">
                  <c:v>60.562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36.809</c:v>
                </c:pt>
                <c:pt idx="1">
                  <c:v>4.8940000000000055</c:v>
                </c:pt>
                <c:pt idx="2">
                  <c:v>5.535999999999994</c:v>
                </c:pt>
                <c:pt idx="3">
                  <c:v>6.254000000000005</c:v>
                </c:pt>
                <c:pt idx="4">
                  <c:v>7.0689999999999955</c:v>
                </c:pt>
                <c:pt idx="5">
                  <c:v>7.9750000000000085</c:v>
                </c:pt>
                <c:pt idx="6">
                  <c:v>68.537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35.652</c:v>
                </c:pt>
                <c:pt idx="2">
                  <c:v>40.634</c:v>
                </c:pt>
                <c:pt idx="3">
                  <c:v>46.314</c:v>
                </c:pt>
                <c:pt idx="4">
                  <c:v>52.789</c:v>
                </c:pt>
                <c:pt idx="5">
                  <c:v>60.161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35.652</c:v>
                </c:pt>
                <c:pt idx="1">
                  <c:v>4.981999999999999</c:v>
                </c:pt>
                <c:pt idx="2">
                  <c:v>5.68</c:v>
                </c:pt>
                <c:pt idx="3">
                  <c:v>6.475000000000001</c:v>
                </c:pt>
                <c:pt idx="4">
                  <c:v>7.372</c:v>
                </c:pt>
                <c:pt idx="5">
                  <c:v>8.400999999999996</c:v>
                </c:pt>
                <c:pt idx="6">
                  <c:v>68.562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31.481</c:v>
                </c:pt>
                <c:pt idx="2">
                  <c:v>36.178</c:v>
                </c:pt>
                <c:pt idx="3">
                  <c:v>41.605</c:v>
                </c:pt>
                <c:pt idx="4">
                  <c:v>47.873</c:v>
                </c:pt>
                <c:pt idx="5">
                  <c:v>55.121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31.481</c:v>
                </c:pt>
                <c:pt idx="1">
                  <c:v>4.696999999999996</c:v>
                </c:pt>
                <c:pt idx="2">
                  <c:v>5.427</c:v>
                </c:pt>
                <c:pt idx="3">
                  <c:v>6.268000000000001</c:v>
                </c:pt>
                <c:pt idx="4">
                  <c:v>7.248000000000005</c:v>
                </c:pt>
                <c:pt idx="5">
                  <c:v>8.388999999999996</c:v>
                </c:pt>
                <c:pt idx="6">
                  <c:v>63.51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16.655</c:v>
                </c:pt>
                <c:pt idx="2">
                  <c:v>18.986</c:v>
                </c:pt>
                <c:pt idx="3">
                  <c:v>21.649</c:v>
                </c:pt>
                <c:pt idx="4">
                  <c:v>24.691</c:v>
                </c:pt>
                <c:pt idx="5">
                  <c:v>28.165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16.655</c:v>
                </c:pt>
                <c:pt idx="1">
                  <c:v>2.3309999999999995</c:v>
                </c:pt>
                <c:pt idx="2">
                  <c:v>2.6630000000000003</c:v>
                </c:pt>
                <c:pt idx="3">
                  <c:v>3.041999999999998</c:v>
                </c:pt>
                <c:pt idx="4">
                  <c:v>3.474</c:v>
                </c:pt>
                <c:pt idx="5">
                  <c:v>3.9750000000000014</c:v>
                </c:pt>
                <c:pt idx="6">
                  <c:v>32.14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Rack Assist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29.56916882369859</c:v>
                </c:pt>
                <c:pt idx="1">
                  <c:v>29.562924450856986</c:v>
                </c:pt>
                <c:pt idx="2">
                  <c:v>29.457484242682032</c:v>
                </c:pt>
              </c:numCache>
            </c:numRef>
          </c:val>
        </c:ser>
        <c:ser>
          <c:idx val="1"/>
          <c:order val="1"/>
          <c:tx>
            <c:strRef>
              <c:strCache>
                <c:ptCount val="1"/>
                <c:pt idx="0">
                  <c:v>Recirculating Ball and Nut Type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30.97267759562841</c:v>
                </c:pt>
                <c:pt idx="1">
                  <c:v>30.52231813395026</c:v>
                </c:pt>
                <c:pt idx="2">
                  <c:v>29.446743057972323</c:v>
                </c:pt>
              </c:numCache>
            </c:numRef>
          </c:val>
        </c:ser>
        <c:ser>
          <c:idx val="2"/>
          <c:order val="2"/>
          <c:tx>
            <c:strRef>
              <c:strCache>
                <c:ptCount val="1"/>
                <c:pt idx="0">
                  <c:v>Column Assist</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25.634742594190396</c:v>
                </c:pt>
                <c:pt idx="1">
                  <c:v>26.10429778518537</c:v>
                </c:pt>
                <c:pt idx="2">
                  <c:v>27.28690563654409</c:v>
                </c:pt>
              </c:numCache>
            </c:numRef>
          </c:val>
        </c:ser>
        <c:ser>
          <c:idx val="3"/>
          <c:order val="3"/>
          <c:tx>
            <c:strRef>
              <c:strCache>
                <c:ptCount val="1"/>
                <c:pt idx="0">
                  <c:v>Steer by Wire</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13.823410986482601</c:v>
                </c:pt>
                <c:pt idx="1">
                  <c:v>13.81045963000738</c:v>
                </c:pt>
                <c:pt idx="2">
                  <c:v>13.808867062801559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Heavy Duty Trucks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51.75312692228828</c:v>
                </c:pt>
                <c:pt idx="1">
                  <c:v>62.414192743157706</c:v>
                </c:pt>
                <c:pt idx="2">
                  <c:v>59.76598412035102</c:v>
                </c:pt>
                <c:pt idx="3">
                  <c:v>61.74933883764433</c:v>
                </c:pt>
                <c:pt idx="4">
                  <c:v>64.002378828427</c:v>
                </c:pt>
                <c:pt idx="5">
                  <c:v>62.562831370928876</c:v>
                </c:pt>
                <c:pt idx="6">
                  <c:v>56.27031604250321</c:v>
                </c:pt>
                <c:pt idx="7">
                  <c:v>49.90301451502572</c:v>
                </c:pt>
              </c:numCache>
            </c:numRef>
          </c:val>
        </c:ser>
        <c:ser>
          <c:idx val="1"/>
          <c:order val="1"/>
          <c:tx>
            <c:strRef>
              <c:strCache>
                <c:ptCount val="1"/>
                <c:pt idx="0">
                  <c:v>Busses and Coaches</c:v>
                </c:pt>
              </c:strCache>
            </c:strRef>
          </c:tx>
          <c:spPr>
            <a:solidFill>
              <a:srgbClr val="9E7E0A"/>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48.246873077711705</c:v>
                </c:pt>
                <c:pt idx="1">
                  <c:v>37.585807256842294</c:v>
                </c:pt>
                <c:pt idx="2">
                  <c:v>40.23401587964898</c:v>
                </c:pt>
                <c:pt idx="3">
                  <c:v>38.25066116235567</c:v>
                </c:pt>
                <c:pt idx="4">
                  <c:v>35.997621171572995</c:v>
                </c:pt>
                <c:pt idx="5">
                  <c:v>37.43716862907113</c:v>
                </c:pt>
                <c:pt idx="6">
                  <c:v>43.72968395749679</c:v>
                </c:pt>
                <c:pt idx="7">
                  <c:v>50.096985484974276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Heavy Duty Trucks</c:v>
                </c:pt>
              </c:strCache>
            </c:strRef>
          </c:tx>
          <c:spPr>
            <a:solidFill>
              <a:srgbClr val="3D85C6"/>
            </a:solidFill>
          </c:spPr>
          <c:invertIfNegative val="0"/>
          <c:xVal>
            <c:numRef>
              <c:numCache>
                <c:formatCode>General</c:formatCode>
                <c:ptCount val="1"/>
                <c:pt idx="0">
                  <c:v>87.693039391408</c:v>
                </c:pt>
              </c:numCache>
            </c:numRef>
          </c:xVal>
          <c:yVal>
            <c:numRef>
              <c:numCache>
                <c:formatCode>General</c:formatCode>
                <c:ptCount val="1"/>
                <c:pt idx="0">
                  <c:v>119.95157425143246</c:v>
                </c:pt>
              </c:numCache>
            </c:numRef>
          </c:yVal>
          <c:bubbleSize>
            <c:numRef>
              <c:numCache>
                <c:formatCode>General</c:formatCode>
                <c:ptCount val="1"/>
                <c:pt idx="0">
                  <c:v>129.038</c:v>
                </c:pt>
              </c:numCache>
            </c:numRef>
          </c:bubbleSize>
          <c:bubble3D val="0"/>
        </c:ser>
        <c:ser>
          <c:idx val="1"/>
          <c:order val="1"/>
          <c:tx>
            <c:strRef>
              <c:strCache>
                <c:ptCount val="1"/>
                <c:pt idx="0">
                  <c:v>Busses and Coaches</c:v>
                </c:pt>
              </c:strCache>
            </c:strRef>
          </c:tx>
          <c:spPr>
            <a:solidFill>
              <a:srgbClr val="9E7E0A"/>
            </a:solidFill>
          </c:spPr>
          <c:invertIfNegative val="0"/>
          <c:xVal>
            <c:numRef>
              <c:numCache>
                <c:formatCode>General</c:formatCode>
                <c:ptCount val="1"/>
                <c:pt idx="0">
                  <c:v>116.95767010775877</c:v>
                </c:pt>
              </c:numCache>
            </c:numRef>
          </c:xVal>
          <c:yVal>
            <c:numRef>
              <c:numCache>
                <c:formatCode>General</c:formatCode>
                <c:ptCount val="1"/>
                <c:pt idx="0">
                  <c:v>80.04842574856755</c:v>
                </c:pt>
              </c:numCache>
            </c:numRef>
          </c:yVal>
          <c:bubbleSize>
            <c:numRef>
              <c:numCache>
                <c:formatCode>General</c:formatCode>
                <c:ptCount val="1"/>
                <c:pt idx="0">
                  <c:v>103.711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72.329</c:v>
                </c:pt>
                <c:pt idx="2">
                  <c:v>81.249</c:v>
                </c:pt>
                <c:pt idx="3">
                  <c:v>91.251</c:v>
                </c:pt>
                <c:pt idx="4">
                  <c:v>102.454</c:v>
                </c:pt>
                <c:pt idx="5">
                  <c:v>114.997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72.329</c:v>
                </c:pt>
                <c:pt idx="1">
                  <c:v>8.920000000000002</c:v>
                </c:pt>
                <c:pt idx="2">
                  <c:v>10.00200000000001</c:v>
                </c:pt>
                <c:pt idx="3">
                  <c:v>11.202999999999989</c:v>
                </c:pt>
                <c:pt idx="4">
                  <c:v>12.543000000000006</c:v>
                </c:pt>
                <c:pt idx="5">
                  <c:v>14.041000000000011</c:v>
                </c:pt>
                <c:pt idx="6">
                  <c:v>129.038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48.268</c:v>
                </c:pt>
                <c:pt idx="2">
                  <c:v>56.252</c:v>
                </c:pt>
                <c:pt idx="3">
                  <c:v>65.556</c:v>
                </c:pt>
                <c:pt idx="4">
                  <c:v>76.392</c:v>
                </c:pt>
                <c:pt idx="5">
                  <c:v>89.012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48.268</c:v>
                </c:pt>
                <c:pt idx="1">
                  <c:v>7.984000000000002</c:v>
                </c:pt>
                <c:pt idx="2">
                  <c:v>9.303999999999995</c:v>
                </c:pt>
                <c:pt idx="3">
                  <c:v>10.835999999999999</c:v>
                </c:pt>
                <c:pt idx="4">
                  <c:v>12.620000000000005</c:v>
                </c:pt>
                <c:pt idx="5">
                  <c:v>14.698999999999998</c:v>
                </c:pt>
                <c:pt idx="6">
                  <c:v>103.711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Heavy Duty Trucks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62.14667817083692</c:v>
                </c:pt>
                <c:pt idx="1">
                  <c:v>59.97578712571623</c:v>
                </c:pt>
                <c:pt idx="2">
                  <c:v>55.44083970285586</c:v>
                </c:pt>
              </c:numCache>
            </c:numRef>
          </c:val>
        </c:ser>
        <c:ser>
          <c:idx val="1"/>
          <c:order val="1"/>
          <c:tx>
            <c:strRef>
              <c:strCache>
                <c:ptCount val="1"/>
                <c:pt idx="0">
                  <c:v>Busses and Coaches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37.85332182916307</c:v>
                </c:pt>
                <c:pt idx="1">
                  <c:v>40.024212874283776</c:v>
                </c:pt>
                <c:pt idx="2">
                  <c:v>44.55916029714413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16 to 26 Tons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8.099241336887433</c:v>
                </c:pt>
                <c:pt idx="1">
                  <c:v>11.313185343674778</c:v>
                </c:pt>
                <c:pt idx="2">
                  <c:v>10.396991224404513</c:v>
                </c:pt>
                <c:pt idx="3">
                  <c:v>9.8690576017545</c:v>
                </c:pt>
                <c:pt idx="4">
                  <c:v>8.7897710377639</c:v>
                </c:pt>
                <c:pt idx="5">
                  <c:v>9.725951938304759</c:v>
                </c:pt>
                <c:pt idx="6">
                  <c:v>10.909885547269797</c:v>
                </c:pt>
                <c:pt idx="7">
                  <c:v>12.52284078450481</c:v>
                </c:pt>
              </c:numCache>
            </c:numRef>
          </c:val>
        </c:ser>
        <c:ser>
          <c:idx val="1"/>
          <c:order val="1"/>
          <c:tx>
            <c:strRef>
              <c:strCache>
                <c:ptCount val="1"/>
                <c:pt idx="0">
                  <c:v>26 to 40 Tons</c:v>
                </c:pt>
              </c:strCache>
            </c:strRef>
          </c:tx>
          <c:spPr>
            <a:solidFill>
              <a:srgbClr val="9E7E0A"/>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86.54910805823252</c:v>
                </c:pt>
                <c:pt idx="1">
                  <c:v>78.09574752607648</c:v>
                </c:pt>
                <c:pt idx="2">
                  <c:v>83.45173422482239</c:v>
                </c:pt>
                <c:pt idx="3">
                  <c:v>81.88737663677998</c:v>
                </c:pt>
                <c:pt idx="4">
                  <c:v>83.73476063038953</c:v>
                </c:pt>
                <c:pt idx="5">
                  <c:v>82.44508710321558</c:v>
                </c:pt>
                <c:pt idx="6">
                  <c:v>81.90335709798137</c:v>
                </c:pt>
                <c:pt idx="7">
                  <c:v>80.98147436678317</c:v>
                </c:pt>
              </c:numCache>
            </c:numRef>
          </c:val>
        </c:ser>
        <c:ser>
          <c:idx val="2"/>
          <c:order val="2"/>
          <c:tx>
            <c:strRef>
              <c:strCache>
                <c:ptCount val="1"/>
                <c:pt idx="0">
                  <c:v>Above 40 Tons</c:v>
                </c:pt>
              </c:strCache>
            </c:strRef>
          </c:tx>
          <c:spPr>
            <a:solidFill>
              <a:srgbClr val="008189"/>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5.351650604880049</c:v>
                </c:pt>
                <c:pt idx="1">
                  <c:v>10.591067130248728</c:v>
                </c:pt>
                <c:pt idx="2">
                  <c:v>6.1512745507730875</c:v>
                </c:pt>
                <c:pt idx="3">
                  <c:v>8.243565761465522</c:v>
                </c:pt>
                <c:pt idx="4">
                  <c:v>7.475468331846565</c:v>
                </c:pt>
                <c:pt idx="5">
                  <c:v>7.8289609584796525</c:v>
                </c:pt>
                <c:pt idx="6">
                  <c:v>7.186757354748831</c:v>
                </c:pt>
                <c:pt idx="7">
                  <c:v>6.495684848712013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16 to 26 Tons</c:v>
                </c:pt>
              </c:strCache>
            </c:strRef>
          </c:tx>
          <c:spPr>
            <a:solidFill>
              <a:srgbClr val="3D85C6"/>
            </a:solidFill>
          </c:spPr>
          <c:invertIfNegative val="0"/>
          <c:xVal>
            <c:numRef>
              <c:numCache>
                <c:formatCode>General</c:formatCode>
                <c:ptCount val="1"/>
                <c:pt idx="0">
                  <c:v>108.36220760334454</c:v>
                </c:pt>
              </c:numCache>
            </c:numRef>
          </c:xVal>
          <c:yVal>
            <c:numRef>
              <c:numCache>
                <c:formatCode>General</c:formatCode>
                <c:ptCount val="1"/>
                <c:pt idx="0">
                  <c:v>31.901291076892463</c:v>
                </c:pt>
              </c:numCache>
            </c:numRef>
          </c:yVal>
          <c:bubbleSize>
            <c:numRef>
              <c:numCache>
                <c:formatCode>General</c:formatCode>
                <c:ptCount val="1"/>
                <c:pt idx="0">
                  <c:v>26.099</c:v>
                </c:pt>
              </c:numCache>
            </c:numRef>
          </c:bubbleSize>
          <c:bubble3D val="0"/>
        </c:ser>
        <c:ser>
          <c:idx val="1"/>
          <c:order val="1"/>
          <c:tx>
            <c:strRef>
              <c:strCache>
                <c:ptCount val="1"/>
                <c:pt idx="0">
                  <c:v>26 to 40 Tons</c:v>
                </c:pt>
              </c:strCache>
            </c:strRef>
          </c:tx>
          <c:spPr>
            <a:solidFill>
              <a:srgbClr val="9E7E0A"/>
            </a:solidFill>
          </c:spPr>
          <c:invertIfNegative val="0"/>
          <c:xVal>
            <c:numRef>
              <c:numCache>
                <c:formatCode>General</c:formatCode>
                <c:ptCount val="1"/>
                <c:pt idx="0">
                  <c:v>101.28715498320776</c:v>
                </c:pt>
              </c:numCache>
            </c:numRef>
          </c:xVal>
          <c:yVal>
            <c:numRef>
              <c:numCache>
                <c:formatCode>General</c:formatCode>
                <c:ptCount val="1"/>
                <c:pt idx="0">
                  <c:v>243.0209706709122</c:v>
                </c:pt>
              </c:numCache>
            </c:numRef>
          </c:yVal>
          <c:bubbleSize>
            <c:numRef>
              <c:numCache>
                <c:formatCode>General</c:formatCode>
                <c:ptCount val="1"/>
                <c:pt idx="0">
                  <c:v>190.093</c:v>
                </c:pt>
              </c:numCache>
            </c:numRef>
          </c:bubbleSize>
          <c:bubble3D val="0"/>
        </c:ser>
        <c:ser>
          <c:idx val="2"/>
          <c:order val="2"/>
          <c:tx>
            <c:strRef>
              <c:strCache>
                <c:ptCount val="1"/>
                <c:pt idx="0">
                  <c:v>Above 40 Tons</c:v>
                </c:pt>
              </c:strCache>
            </c:strRef>
          </c:tx>
          <c:spPr>
            <a:solidFill>
              <a:srgbClr val="008189"/>
            </a:solidFill>
          </c:spPr>
          <c:invertIfNegative val="0"/>
          <c:xVal>
            <c:numRef>
              <c:numCache>
                <c:formatCode>General</c:formatCode>
                <c:ptCount val="1"/>
                <c:pt idx="0">
                  <c:v>74.84822182868037</c:v>
                </c:pt>
              </c:numCache>
            </c:numRef>
          </c:xVal>
          <c:yVal>
            <c:numRef>
              <c:numCache>
                <c:formatCode>General</c:formatCode>
                <c:ptCount val="1"/>
                <c:pt idx="0">
                  <c:v>25.07773825219533</c:v>
                </c:pt>
              </c:numCache>
            </c:numRef>
          </c:yVal>
          <c:bubbleSize>
            <c:numRef>
              <c:numCache>
                <c:formatCode>General</c:formatCode>
                <c:ptCount val="1"/>
                <c:pt idx="0">
                  <c:v>16.557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12.824</c:v>
                </c:pt>
                <c:pt idx="2">
                  <c:v>14.779</c:v>
                </c:pt>
                <c:pt idx="3">
                  <c:v>17.034</c:v>
                </c:pt>
                <c:pt idx="4">
                  <c:v>19.637</c:v>
                </c:pt>
                <c:pt idx="5">
                  <c:v>22.637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12.824</c:v>
                </c:pt>
                <c:pt idx="1">
                  <c:v>1.955</c:v>
                </c:pt>
                <c:pt idx="2">
                  <c:v>2.254999999999999</c:v>
                </c:pt>
                <c:pt idx="3">
                  <c:v>2.6030000000000015</c:v>
                </c:pt>
                <c:pt idx="4">
                  <c:v>3.0</c:v>
                </c:pt>
                <c:pt idx="5">
                  <c:v>3.4619999999999997</c:v>
                </c:pt>
                <c:pt idx="6">
                  <c:v>26.099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97.692</c:v>
                </c:pt>
                <c:pt idx="2">
                  <c:v>111.568</c:v>
                </c:pt>
                <c:pt idx="3">
                  <c:v>127.442</c:v>
                </c:pt>
                <c:pt idx="4">
                  <c:v>145.589</c:v>
                </c:pt>
                <c:pt idx="5">
                  <c:v>166.347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97.692</c:v>
                </c:pt>
                <c:pt idx="1">
                  <c:v>13.876000000000005</c:v>
                </c:pt>
                <c:pt idx="2">
                  <c:v>15.873999999999995</c:v>
                </c:pt>
                <c:pt idx="3">
                  <c:v>18.147000000000006</c:v>
                </c:pt>
                <c:pt idx="4">
                  <c:v>20.75800000000001</c:v>
                </c:pt>
                <c:pt idx="5">
                  <c:v>23.74599999999998</c:v>
                </c:pt>
                <c:pt idx="6">
                  <c:v>190.093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10.081</c:v>
                </c:pt>
                <c:pt idx="2">
                  <c:v>11.154</c:v>
                </c:pt>
                <c:pt idx="3">
                  <c:v>12.331</c:v>
                </c:pt>
                <c:pt idx="4">
                  <c:v>13.62</c:v>
                </c:pt>
                <c:pt idx="5">
                  <c:v>15.025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10.081</c:v>
                </c:pt>
                <c:pt idx="1">
                  <c:v>1.0730000000000004</c:v>
                </c:pt>
                <c:pt idx="2">
                  <c:v>1.1769999999999996</c:v>
                </c:pt>
                <c:pt idx="3">
                  <c:v>1.2889999999999997</c:v>
                </c:pt>
                <c:pt idx="4">
                  <c:v>1.4050000000000011</c:v>
                </c:pt>
                <c:pt idx="5">
                  <c:v>1.5319999999999983</c:v>
                </c:pt>
                <c:pt idx="6">
                  <c:v>16.557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26 to 40 Tons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80.67989646246765</c:v>
                </c:pt>
                <c:pt idx="1">
                  <c:v>81.0069902236374</c:v>
                </c:pt>
                <c:pt idx="2">
                  <c:v>81.67296100090655</c:v>
                </c:pt>
              </c:numCache>
            </c:numRef>
          </c:val>
        </c:ser>
        <c:ser>
          <c:idx val="1"/>
          <c:order val="1"/>
          <c:tx>
            <c:strRef>
              <c:strCache>
                <c:ptCount val="1"/>
                <c:pt idx="0">
                  <c:v>16 to 26 Tons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10.351452401495543</c:v>
                </c:pt>
                <c:pt idx="1">
                  <c:v>10.633763692297487</c:v>
                </c:pt>
                <c:pt idx="2">
                  <c:v>11.213367189547538</c:v>
                </c:pt>
              </c:numCache>
            </c:numRef>
          </c:val>
        </c:ser>
        <c:ser>
          <c:idx val="2"/>
          <c:order val="2"/>
          <c:tx>
            <c:strRef>
              <c:strCache>
                <c:ptCount val="1"/>
                <c:pt idx="0">
                  <c:v>Above 40 Tons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8.968651136036813</c:v>
                </c:pt>
                <c:pt idx="1">
                  <c:v>8.35924608406511</c:v>
                </c:pt>
                <c:pt idx="2">
                  <c:v>7.113671809545906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Internal Combustion Engine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42.649169571457854</c:v>
                </c:pt>
                <c:pt idx="1">
                  <c:v>43.21119728982794</c:v>
                </c:pt>
                <c:pt idx="2">
                  <c:v>32.96280819055578</c:v>
                </c:pt>
                <c:pt idx="3">
                  <c:v>44.946139456879315</c:v>
                </c:pt>
                <c:pt idx="4">
                  <c:v>45.00743383883437</c:v>
                </c:pt>
                <c:pt idx="5">
                  <c:v>37.963919300420024</c:v>
                </c:pt>
                <c:pt idx="6">
                  <c:v>45.19107323335791</c:v>
                </c:pt>
                <c:pt idx="7">
                  <c:v>46.534291631136554</c:v>
                </c:pt>
              </c:numCache>
            </c:numRef>
          </c:val>
        </c:ser>
        <c:ser>
          <c:idx val="1"/>
          <c:order val="1"/>
          <c:tx>
            <c:strRef>
              <c:strCache>
                <c:ptCount val="1"/>
                <c:pt idx="0">
                  <c:v>Electric</c:v>
                </c:pt>
              </c:strCache>
            </c:strRef>
          </c:tx>
          <c:spPr>
            <a:solidFill>
              <a:srgbClr val="9E7E0A"/>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19.31515275784293</c:v>
                </c:pt>
                <c:pt idx="1">
                  <c:v>15.235802799322457</c:v>
                </c:pt>
                <c:pt idx="2">
                  <c:v>17.743418303384875</c:v>
                </c:pt>
                <c:pt idx="3">
                  <c:v>20.544410759207896</c:v>
                </c:pt>
                <c:pt idx="4">
                  <c:v>21.6176033303598</c:v>
                </c:pt>
                <c:pt idx="5">
                  <c:v>15.750877917785584</c:v>
                </c:pt>
                <c:pt idx="6">
                  <c:v>17.143325411783987</c:v>
                </c:pt>
                <c:pt idx="7">
                  <c:v>18.87234461238603</c:v>
                </c:pt>
              </c:numCache>
            </c:numRef>
          </c:val>
        </c:ser>
        <c:ser>
          <c:idx val="2"/>
          <c:order val="2"/>
          <c:tx>
            <c:strRef>
              <c:strCache>
                <c:ptCount val="1"/>
                <c:pt idx="0">
                  <c:v>Hybrid</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38.0356776706992</c:v>
                </c:pt>
                <c:pt idx="1">
                  <c:v>41.5529999108496</c:v>
                </c:pt>
                <c:pt idx="2">
                  <c:v>49.29377350605934</c:v>
                </c:pt>
                <c:pt idx="3">
                  <c:v>34.509449783912785</c:v>
                </c:pt>
                <c:pt idx="4">
                  <c:v>33.374962830805835</c:v>
                </c:pt>
                <c:pt idx="5">
                  <c:v>46.285202781794396</c:v>
                </c:pt>
                <c:pt idx="6">
                  <c:v>37.66560135485809</c:v>
                </c:pt>
                <c:pt idx="7">
                  <c:v>34.593363756477416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Internal Combustion Engine</c:v>
                </c:pt>
              </c:strCache>
            </c:strRef>
          </c:tx>
          <c:spPr>
            <a:solidFill>
              <a:srgbClr val="3D85C6"/>
            </a:solidFill>
          </c:spPr>
          <c:invertIfNegative val="0"/>
          <c:xVal>
            <c:numRef>
              <c:numCache>
                <c:formatCode>General</c:formatCode>
                <c:ptCount val="1"/>
                <c:pt idx="0">
                  <c:v>87.01213127203536</c:v>
                </c:pt>
              </c:numCache>
            </c:numRef>
          </c:xVal>
          <c:yVal>
            <c:numRef>
              <c:numCache>
                <c:formatCode>General</c:formatCode>
                <c:ptCount val="1"/>
                <c:pt idx="0">
                  <c:v>143.74238165128486</c:v>
                </c:pt>
              </c:numCache>
            </c:numRef>
          </c:yVal>
          <c:bubbleSize>
            <c:numRef>
              <c:numCache>
                <c:formatCode>General</c:formatCode>
                <c:ptCount val="1"/>
                <c:pt idx="0">
                  <c:v>102.638</c:v>
                </c:pt>
              </c:numCache>
            </c:numRef>
          </c:bubbleSize>
          <c:bubble3D val="0"/>
        </c:ser>
        <c:ser>
          <c:idx val="1"/>
          <c:order val="1"/>
          <c:tx>
            <c:strRef>
              <c:strCache>
                <c:ptCount val="1"/>
                <c:pt idx="0">
                  <c:v>Electric</c:v>
                </c:pt>
              </c:strCache>
            </c:strRef>
          </c:tx>
          <c:spPr>
            <a:solidFill>
              <a:srgbClr val="9E7E0A"/>
            </a:solidFill>
          </c:spPr>
          <c:invertIfNegative val="0"/>
          <c:xVal>
            <c:numRef>
              <c:numCache>
                <c:formatCode>General</c:formatCode>
                <c:ptCount val="1"/>
                <c:pt idx="0">
                  <c:v>81.02023235700754</c:v>
                </c:pt>
              </c:numCache>
            </c:numRef>
          </c:xVal>
          <c:yVal>
            <c:numRef>
              <c:numCache>
                <c:formatCode>General</c:formatCode>
                <c:ptCount val="1"/>
                <c:pt idx="0">
                  <c:v>61.98164133436156</c:v>
                </c:pt>
              </c:numCache>
            </c:numRef>
          </c:yVal>
          <c:bubbleSize>
            <c:numRef>
              <c:numCache>
                <c:formatCode>General</c:formatCode>
                <c:ptCount val="1"/>
                <c:pt idx="0">
                  <c:v>42.585</c:v>
                </c:pt>
              </c:numCache>
            </c:numRef>
          </c:bubbleSize>
          <c:bubble3D val="0"/>
        </c:ser>
        <c:ser>
          <c:idx val="2"/>
          <c:order val="2"/>
          <c:tx>
            <c:strRef>
              <c:strCache>
                <c:ptCount val="1"/>
                <c:pt idx="0">
                  <c:v>Hybrid</c:v>
                </c:pt>
              </c:strCache>
            </c:strRef>
          </c:tx>
          <c:spPr>
            <a:solidFill>
              <a:srgbClr val="008189"/>
            </a:solidFill>
          </c:spPr>
          <c:invertIfNegative val="0"/>
          <c:xVal>
            <c:numRef>
              <c:numCache>
                <c:formatCode>General</c:formatCode>
                <c:ptCount val="1"/>
                <c:pt idx="0">
                  <c:v>128.467154515248</c:v>
                </c:pt>
              </c:numCache>
            </c:numRef>
          </c:xVal>
          <c:yVal>
            <c:numRef>
              <c:numCache>
                <c:formatCode>General</c:formatCode>
                <c:ptCount val="1"/>
                <c:pt idx="0">
                  <c:v>94.2759770143536</c:v>
                </c:pt>
              </c:numCache>
            </c:numRef>
          </c:yVal>
          <c:bubbleSize>
            <c:numRef>
              <c:numCache>
                <c:formatCode>General</c:formatCode>
                <c:ptCount val="1"/>
                <c:pt idx="0">
                  <c:v>87.526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5.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57.783</c:v>
                </c:pt>
                <c:pt idx="2">
                  <c:v>64.924</c:v>
                </c:pt>
                <c:pt idx="3">
                  <c:v>72.9</c:v>
                </c:pt>
                <c:pt idx="4">
                  <c:v>81.785</c:v>
                </c:pt>
                <c:pt idx="5">
                  <c:v>91.667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57.783</c:v>
                </c:pt>
                <c:pt idx="1">
                  <c:v>7.141000000000005</c:v>
                </c:pt>
                <c:pt idx="2">
                  <c:v>7.975999999999999</c:v>
                </c:pt>
                <c:pt idx="3">
                  <c:v>8.884999999999991</c:v>
                </c:pt>
                <c:pt idx="4">
                  <c:v>9.882000000000005</c:v>
                </c:pt>
                <c:pt idx="5">
                  <c:v>10.971000000000004</c:v>
                </c:pt>
                <c:pt idx="6">
                  <c:v>102.638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24.916</c:v>
                </c:pt>
                <c:pt idx="2">
                  <c:v>27.815</c:v>
                </c:pt>
                <c:pt idx="3">
                  <c:v>31.013</c:v>
                </c:pt>
                <c:pt idx="4">
                  <c:v>34.529</c:v>
                </c:pt>
                <c:pt idx="5">
                  <c:v>38.38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24.916</c:v>
                </c:pt>
                <c:pt idx="1">
                  <c:v>2.899000000000001</c:v>
                </c:pt>
                <c:pt idx="2">
                  <c:v>3.1980000000000004</c:v>
                </c:pt>
                <c:pt idx="3">
                  <c:v>3.516000000000002</c:v>
                </c:pt>
                <c:pt idx="4">
                  <c:v>3.850999999999999</c:v>
                </c:pt>
                <c:pt idx="5">
                  <c:v>4.204999999999998</c:v>
                </c:pt>
                <c:pt idx="6">
                  <c:v>42.585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37.898</c:v>
                </c:pt>
                <c:pt idx="2">
                  <c:v>44.762</c:v>
                </c:pt>
                <c:pt idx="3">
                  <c:v>52.894</c:v>
                </c:pt>
                <c:pt idx="4">
                  <c:v>62.532</c:v>
                </c:pt>
                <c:pt idx="5">
                  <c:v>73.962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37.898</c:v>
                </c:pt>
                <c:pt idx="1">
                  <c:v>6.863999999999997</c:v>
                </c:pt>
                <c:pt idx="2">
                  <c:v>8.131999999999998</c:v>
                </c:pt>
                <c:pt idx="3">
                  <c:v>9.637999999999998</c:v>
                </c:pt>
                <c:pt idx="4">
                  <c:v>11.430000000000007</c:v>
                </c:pt>
                <c:pt idx="5">
                  <c:v>13.563999999999993</c:v>
                </c:pt>
                <c:pt idx="6">
                  <c:v>87.526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Internal Combustion Engine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49.532355478861085</c:v>
                </c:pt>
                <c:pt idx="1">
                  <c:v>47.91412721709495</c:v>
                </c:pt>
                <c:pt idx="2">
                  <c:v>44.09814864940344</c:v>
                </c:pt>
              </c:numCache>
            </c:numRef>
          </c:val>
        </c:ser>
        <c:ser>
          <c:idx val="1"/>
          <c:order val="1"/>
          <c:tx>
            <c:strRef>
              <c:strCache>
                <c:ptCount val="1"/>
                <c:pt idx="0">
                  <c:v>Hybrid</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28.802991084268047</c:v>
                </c:pt>
                <c:pt idx="1">
                  <c:v>31.425325671451198</c:v>
                </c:pt>
                <c:pt idx="2">
                  <c:v>37.6053173160787</c:v>
                </c:pt>
              </c:numCache>
            </c:numRef>
          </c:val>
        </c:ser>
        <c:ser>
          <c:idx val="2"/>
          <c:order val="2"/>
          <c:tx>
            <c:strRef>
              <c:strCache>
                <c:ptCount val="1"/>
                <c:pt idx="0">
                  <c:v>Electric</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21.664653436870868</c:v>
                </c:pt>
                <c:pt idx="1">
                  <c:v>20.66054711145385</c:v>
                </c:pt>
                <c:pt idx="2">
                  <c:v>18.296534034517872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OEM</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85.33934795981136</c:v>
                </c:pt>
                <c:pt idx="1">
                  <c:v>84.88900775608451</c:v>
                </c:pt>
                <c:pt idx="2">
                  <c:v>80.69368992895946</c:v>
                </c:pt>
                <c:pt idx="3">
                  <c:v>74.39205315100303</c:v>
                </c:pt>
                <c:pt idx="4">
                  <c:v>85.27505203687184</c:v>
                </c:pt>
                <c:pt idx="5">
                  <c:v>81.00943331267645</c:v>
                </c:pt>
                <c:pt idx="6">
                  <c:v>83.5450299106777</c:v>
                </c:pt>
                <c:pt idx="7">
                  <c:v>79.6920827984295</c:v>
                </c:pt>
              </c:numCache>
            </c:numRef>
          </c:val>
        </c:ser>
        <c:ser>
          <c:idx val="1"/>
          <c:order val="1"/>
          <c:tx>
            <c:strRef>
              <c:strCache>
                <c:ptCount val="1"/>
                <c:pt idx="0">
                  <c:v>Aftermaket</c:v>
                </c:pt>
              </c:strCache>
            </c:strRef>
          </c:tx>
          <c:spPr>
            <a:solidFill>
              <a:srgbClr val="9E7E0A"/>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Nordics</c:v>
                </c:pt>
                <c:pt idx="2">
                  <c:v>BENELUX</c:v>
                </c:pt>
                <c:pt idx="3">
                  <c:v>Spain</c:v>
                </c:pt>
                <c:pt idx="4">
                  <c:v>U.K.</c:v>
                </c:pt>
                <c:pt idx="5">
                  <c:v>France</c:v>
                </c:pt>
                <c:pt idx="6">
                  <c:v>Italy</c:v>
                </c:pt>
                <c:pt idx="7">
                  <c:v>Germany</c:v>
                </c:pt>
              </c:strCache>
            </c:strRef>
          </c:cat>
          <c:val>
            <c:numRef>
              <c:numCache>
                <c:formatCode>General</c:formatCode>
                <c:ptCount val="8"/>
                <c:pt idx="0">
                  <c:v>14.66065204018864</c:v>
                </c:pt>
                <c:pt idx="1">
                  <c:v>15.110992243915486</c:v>
                </c:pt>
                <c:pt idx="2">
                  <c:v>19.306310071040535</c:v>
                </c:pt>
                <c:pt idx="3">
                  <c:v>25.60794684899697</c:v>
                </c:pt>
                <c:pt idx="4">
                  <c:v>14.724947963128157</c:v>
                </c:pt>
                <c:pt idx="5">
                  <c:v>18.990566687323557</c:v>
                </c:pt>
                <c:pt idx="6">
                  <c:v>16.454970089322295</c:v>
                </c:pt>
                <c:pt idx="7">
                  <c:v>20.30791720157051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OEM</c:v>
                </c:pt>
              </c:strCache>
            </c:strRef>
          </c:tx>
          <c:spPr>
            <a:solidFill>
              <a:srgbClr val="3D85C6"/>
            </a:solidFill>
          </c:spPr>
          <c:invertIfNegative val="0"/>
          <c:xVal>
            <c:numRef>
              <c:numCache>
                <c:formatCode>General</c:formatCode>
                <c:ptCount val="1"/>
                <c:pt idx="0">
                  <c:v>94.16370029419424</c:v>
                </c:pt>
              </c:numCache>
            </c:numRef>
          </c:xVal>
          <c:yVal>
            <c:numRef>
              <c:numCache>
                <c:formatCode>General</c:formatCode>
                <c:ptCount val="1"/>
                <c:pt idx="0">
                  <c:v>168.0025207923912</c:v>
                </c:pt>
              </c:numCache>
            </c:numRef>
          </c:yVal>
          <c:bubbleSize>
            <c:numRef>
              <c:numCache>
                <c:formatCode>General</c:formatCode>
                <c:ptCount val="1"/>
                <c:pt idx="0">
                  <c:v>188.371</c:v>
                </c:pt>
              </c:numCache>
            </c:numRef>
          </c:bubbleSize>
          <c:bubble3D val="0"/>
        </c:ser>
        <c:ser>
          <c:idx val="1"/>
          <c:order val="1"/>
          <c:tx>
            <c:strRef>
              <c:strCache>
                <c:ptCount val="1"/>
                <c:pt idx="0">
                  <c:v>Aftermaket</c:v>
                </c:pt>
              </c:strCache>
            </c:strRef>
          </c:tx>
          <c:spPr>
            <a:solidFill>
              <a:srgbClr val="9E7E0A"/>
            </a:solidFill>
          </c:spPr>
          <c:invertIfNegative val="0"/>
          <c:xVal>
            <c:numRef>
              <c:numCache>
                <c:formatCode>General</c:formatCode>
                <c:ptCount val="1"/>
                <c:pt idx="0">
                  <c:v>127.81326486067034</c:v>
                </c:pt>
              </c:numCache>
            </c:numRef>
          </c:xVal>
          <c:yVal>
            <c:numRef>
              <c:numCache>
                <c:formatCode>General</c:formatCode>
                <c:ptCount val="1"/>
                <c:pt idx="0">
                  <c:v>31.997479207608816</c:v>
                </c:pt>
              </c:numCache>
            </c:numRef>
          </c:yVal>
          <c:bubbleSize>
            <c:numRef>
              <c:numCache>
                <c:formatCode>General</c:formatCode>
                <c:ptCount val="1"/>
                <c:pt idx="0">
                  <c:v>44.378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101.303</c:v>
                </c:pt>
                <c:pt idx="2">
                  <c:v>114.684</c:v>
                </c:pt>
                <c:pt idx="3">
                  <c:v>129.84</c:v>
                </c:pt>
                <c:pt idx="4">
                  <c:v>146.992</c:v>
                </c:pt>
                <c:pt idx="5">
                  <c:v>166.402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101.303</c:v>
                </c:pt>
                <c:pt idx="1">
                  <c:v>13.381</c:v>
                </c:pt>
                <c:pt idx="2">
                  <c:v>15.156000000000006</c:v>
                </c:pt>
                <c:pt idx="3">
                  <c:v>17.151999999999987</c:v>
                </c:pt>
                <c:pt idx="4">
                  <c:v>19.409999999999997</c:v>
                </c:pt>
                <c:pt idx="5">
                  <c:v>21.969000000000023</c:v>
                </c:pt>
                <c:pt idx="6">
                  <c:v>188.371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19.294</c:v>
                </c:pt>
                <c:pt idx="2">
                  <c:v>22.817</c:v>
                </c:pt>
                <c:pt idx="3">
                  <c:v>26.967</c:v>
                </c:pt>
                <c:pt idx="4">
                  <c:v>31.854</c:v>
                </c:pt>
                <c:pt idx="5">
                  <c:v>37.607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19.294</c:v>
                </c:pt>
                <c:pt idx="1">
                  <c:v>3.5229999999999997</c:v>
                </c:pt>
                <c:pt idx="2">
                  <c:v>4.149999999999999</c:v>
                </c:pt>
                <c:pt idx="3">
                  <c:v>4.8870000000000005</c:v>
                </c:pt>
                <c:pt idx="4">
                  <c:v>5.753</c:v>
                </c:pt>
                <c:pt idx="5">
                  <c:v>6.771000000000001</c:v>
                </c:pt>
                <c:pt idx="6">
                  <c:v>44.378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OEM</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85.4495254529767</c:v>
                </c:pt>
                <c:pt idx="1">
                  <c:v>84.0012603961956</c:v>
                </c:pt>
                <c:pt idx="2">
                  <c:v>80.9331081981018</c:v>
                </c:pt>
              </c:numCache>
            </c:numRef>
          </c:val>
        </c:ser>
        <c:ser>
          <c:idx val="1"/>
          <c:order val="1"/>
          <c:tx>
            <c:strRef>
              <c:strCache>
                <c:ptCount val="1"/>
                <c:pt idx="0">
                  <c:v>Aftermaket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14.550474547023295</c:v>
                </c:pt>
                <c:pt idx="1">
                  <c:v>15.998739603804408</c:v>
                </c:pt>
                <c:pt idx="2">
                  <c:v>19.06689180189818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42823.378000000004</c:v>
                </c:pt>
                <c:pt idx="1">
                  <c:v>45557.258</c:v>
                </c:pt>
                <c:pt idx="2">
                  <c:v>48461.63799999999</c:v>
                </c:pt>
                <c:pt idx="3">
                  <c:v>51546.853</c:v>
                </c:pt>
                <c:pt idx="4">
                  <c:v>54823.935000000005</c:v>
                </c:pt>
                <c:pt idx="5">
                  <c:v>58304.427</c:v>
                </c:pt>
                <c:pt idx="6">
                  <c:v>61993.704999999994</c:v>
                </c:pt>
                <c:pt idx="7">
                  <c:v>65910.943</c:v>
                </c:pt>
                <c:pt idx="8">
                  <c:v>70069.89</c:v>
                </c:pt>
                <c:pt idx="9">
                  <c:v>74484.862</c:v>
                </c:pt>
                <c:pt idx="10">
                  <c:v>79171.536</c:v>
                </c:pt>
                <c:pt idx="11">
                  <c:v>84146.02100000001</c:v>
                </c:pt>
                <c:pt idx="12">
                  <c:v>89425.279</c:v>
                </c:pt>
                <c:pt idx="13">
                  <c:v>95027.87700000001</c:v>
                </c:pt>
                <c:pt idx="14">
                  <c:v>100972.758</c:v>
                </c:pt>
                <c:pt idx="15">
                  <c:v>107280.56099999999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Western Europe</c:v>
                </c:pt>
                <c:pt idx="2">
                  <c:v>Germany</c:v>
                </c:pt>
              </c:strCache>
            </c:strRef>
          </c:cat>
          <c:val>
            <c:numRef>
              <c:numCache>
                <c:formatCode>General</c:formatCode>
                <c:ptCount val="3"/>
                <c:pt idx="0">
                  <c:v>0.05756681473984071</c:v>
                </c:pt>
                <c:pt idx="1">
                  <c:v>0.05431768417275551</c:v>
                </c:pt>
                <c:pt idx="2">
                  <c:v>0.06287440858830595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8488045159421304"/>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58304.427</c:v>
                </c:pt>
                <c:pt idx="2">
                  <c:v>61993.704999999994</c:v>
                </c:pt>
                <c:pt idx="3">
                  <c:v>65910.943</c:v>
                </c:pt>
                <c:pt idx="4">
                  <c:v>70069.89</c:v>
                </c:pt>
                <c:pt idx="5">
                  <c:v>74484.862</c:v>
                </c:pt>
                <c:pt idx="6">
                  <c:v>79171.536</c:v>
                </c:pt>
                <c:pt idx="7">
                  <c:v>84146.02100000001</c:v>
                </c:pt>
                <c:pt idx="8">
                  <c:v>89425.279</c:v>
                </c:pt>
                <c:pt idx="9">
                  <c:v>95027.87700000001</c:v>
                </c:pt>
                <c:pt idx="10">
                  <c:v>100972.758</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58304.427</c:v>
                </c:pt>
                <c:pt idx="1">
                  <c:v>3689.277999999991</c:v>
                </c:pt>
                <c:pt idx="2">
                  <c:v>3917.238000000005</c:v>
                </c:pt>
                <c:pt idx="3">
                  <c:v>4158.947</c:v>
                </c:pt>
                <c:pt idx="4">
                  <c:v>4414.971999999994</c:v>
                </c:pt>
                <c:pt idx="5">
                  <c:v>4686.673999999999</c:v>
                </c:pt>
                <c:pt idx="6">
                  <c:v>4974.485000000015</c:v>
                </c:pt>
                <c:pt idx="7">
                  <c:v>5279.257999999987</c:v>
                </c:pt>
                <c:pt idx="8">
                  <c:v>5602.598000000013</c:v>
                </c:pt>
                <c:pt idx="9">
                  <c:v>5944.880999999994</c:v>
                </c:pt>
                <c:pt idx="10">
                  <c:v>6307.802999999985</c:v>
                </c:pt>
                <c:pt idx="11">
                  <c:v>107280.56099999999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41.61962976489571</c:v>
                </c:pt>
                <c:pt idx="1">
                  <c:v>1.579078230953923</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58.38037023510429</c:v>
                </c:pt>
                <c:pt idx="1">
                  <c:v>98.42092176904607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34.832</c:v>
                </c:pt>
                <c:pt idx="1">
                  <c:v>37.556999999999995</c:v>
                </c:pt>
                <c:pt idx="2">
                  <c:v>40.491</c:v>
                </c:pt>
                <c:pt idx="3">
                  <c:v>43.650999999999996</c:v>
                </c:pt>
                <c:pt idx="4">
                  <c:v>47.053000000000004</c:v>
                </c:pt>
                <c:pt idx="5">
                  <c:v>50.716</c:v>
                </c:pt>
                <c:pt idx="6">
                  <c:v>54.653000000000006</c:v>
                </c:pt>
                <c:pt idx="7">
                  <c:v>58.891</c:v>
                </c:pt>
                <c:pt idx="8">
                  <c:v>63.453</c:v>
                </c:pt>
                <c:pt idx="9">
                  <c:v>68.362</c:v>
                </c:pt>
                <c:pt idx="10">
                  <c:v>73.645</c:v>
                </c:pt>
                <c:pt idx="11">
                  <c:v>79.32900000000001</c:v>
                </c:pt>
                <c:pt idx="12">
                  <c:v>85.446</c:v>
                </c:pt>
                <c:pt idx="13">
                  <c:v>92.025</c:v>
                </c:pt>
                <c:pt idx="14">
                  <c:v>99.103</c:v>
                </c:pt>
                <c:pt idx="15">
                  <c:v>106.717</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Western Europe</c:v>
                </c:pt>
                <c:pt idx="2">
                  <c:v>Germany</c:v>
                </c:pt>
              </c:strCache>
            </c:strRef>
          </c:cat>
          <c:val>
            <c:numRef>
              <c:numCache>
                <c:formatCode>General</c:formatCode>
                <c:ptCount val="3"/>
                <c:pt idx="0">
                  <c:v>0.061999915620093216</c:v>
                </c:pt>
                <c:pt idx="1">
                  <c:v>0.06796035721129767</c:v>
                </c:pt>
                <c:pt idx="2">
                  <c:v>0.07723104627873845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42619124762969"/>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50.716</c:v>
                </c:pt>
                <c:pt idx="2">
                  <c:v>54.653000000000006</c:v>
                </c:pt>
                <c:pt idx="3">
                  <c:v>58.891</c:v>
                </c:pt>
                <c:pt idx="4">
                  <c:v>63.453</c:v>
                </c:pt>
                <c:pt idx="5">
                  <c:v>68.362</c:v>
                </c:pt>
                <c:pt idx="6">
                  <c:v>73.645</c:v>
                </c:pt>
                <c:pt idx="7">
                  <c:v>79.32900000000001</c:v>
                </c:pt>
                <c:pt idx="8">
                  <c:v>85.446</c:v>
                </c:pt>
                <c:pt idx="9">
                  <c:v>92.025</c:v>
                </c:pt>
                <c:pt idx="10">
                  <c:v>99.103</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50.716</c:v>
                </c:pt>
                <c:pt idx="1">
                  <c:v>3.9370000000000047</c:v>
                </c:pt>
                <c:pt idx="2">
                  <c:v>4.237999999999992</c:v>
                </c:pt>
                <c:pt idx="3">
                  <c:v>4.562000000000005</c:v>
                </c:pt>
                <c:pt idx="4">
                  <c:v>4.908999999999992</c:v>
                </c:pt>
                <c:pt idx="5">
                  <c:v>5.283000000000001</c:v>
                </c:pt>
                <c:pt idx="6">
                  <c:v>5.684000000000012</c:v>
                </c:pt>
                <c:pt idx="7">
                  <c:v>6.11699999999999</c:v>
                </c:pt>
                <c:pt idx="8">
                  <c:v>6.579000000000008</c:v>
                </c:pt>
                <c:pt idx="9">
                  <c:v>7.077999999999989</c:v>
                </c:pt>
                <c:pt idx="10">
                  <c:v>7.614000000000004</c:v>
                </c:pt>
                <c:pt idx="11">
                  <c:v>106.717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Germany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42.05411411560819</c:v>
                </c:pt>
                <c:pt idx="1">
                  <c:v>2.113166666666667</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57.94588588439181</c:v>
                </c:pt>
                <c:pt idx="1">
                  <c:v>97.88683333333333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EC6DE"/>
              </a:solidFill>
            </c:spPr>
          </c:dPt>
          <c:dPt>
            <c:idx val="1"/>
            <c:spPr>
              <a:solidFill>
                <a:srgbClr val="6EAACE"/>
              </a:solidFill>
            </c:spPr>
          </c:dPt>
          <c:dPt>
            <c:idx val="2"/>
            <c:spPr>
              <a:solidFill>
                <a:srgbClr val="3E8EBE"/>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Steer by Wire</c:v>
                </c:pt>
                <c:pt idx="1">
                  <c:v>Column Assist</c:v>
                </c:pt>
                <c:pt idx="2">
                  <c:v>Recirculating Ball an…</c:v>
                </c:pt>
                <c:pt idx="3">
                  <c:v>Rack Assist</c:v>
                </c:pt>
              </c:strCache>
            </c:strRef>
          </c:cat>
          <c:val>
            <c:numRef>
              <c:numCache>
                <c:formatCode>General</c:formatCode>
                <c:ptCount val="4"/>
                <c:pt idx="0">
                  <c:v>6.752</c:v>
                </c:pt>
                <c:pt idx="1">
                  <c:v>11.266</c:v>
                </c:pt>
                <c:pt idx="2">
                  <c:v>15.591</c:v>
                </c:pt>
                <c:pt idx="3">
                  <c:v>17.107</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2.9233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DABB6"/>
              </a:solidFill>
            </c:spPr>
          </c:dPt>
          <c:dPt>
            <c:idx val="3"/>
            <c:spPr>
              <a:solidFill>
                <a:srgbClr val="0B2E4A"/>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Busses and Coaches</c:v>
                </c:pt>
                <c:pt idx="3">
                  <c:v>Heavy Duty Trucks</c:v>
                </c:pt>
              </c:strCache>
            </c:strRef>
          </c:cat>
          <c:val>
            <c:numRef>
              <c:numCache>
                <c:formatCode>General</c:formatCode>
                <c:ptCount val="4"/>
                <c:pt idx="2">
                  <c:v>23.176</c:v>
                </c:pt>
                <c:pt idx="3">
                  <c:v>27.54</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6.90360000000000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C5B1E6"/>
              </a:solidFill>
            </c:spPr>
          </c:dPt>
          <c:dPt>
            <c:idx val="2"/>
            <c:spPr>
              <a:solidFill>
                <a:srgbClr val="9A76D4"/>
              </a:solidFill>
            </c:spPr>
          </c:dPt>
          <c:dPt>
            <c:idx val="3"/>
            <c:spPr>
              <a:solidFill>
                <a:srgbClr val="6F3CC2"/>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Above 40 Tons</c:v>
                </c:pt>
                <c:pt idx="2">
                  <c:v>16 to 26 Tons</c:v>
                </c:pt>
                <c:pt idx="3">
                  <c:v>26 to 40 Tons</c:v>
                </c:pt>
              </c:strCache>
            </c:strRef>
          </c:cat>
          <c:val>
            <c:numRef>
              <c:numCache>
                <c:formatCode>General</c:formatCode>
                <c:ptCount val="4"/>
                <c:pt idx="1">
                  <c:v>3.872</c:v>
                </c:pt>
                <c:pt idx="2">
                  <c:v>6.078</c:v>
                </c:pt>
                <c:pt idx="3">
                  <c:v>40.766</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54.6264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DABAA0"/>
              </a:solidFill>
            </c:spPr>
          </c:dPt>
          <c:dPt>
            <c:idx val="2"/>
            <c:spPr>
              <a:solidFill>
                <a:srgbClr val="BE8659"/>
              </a:solidFill>
            </c:spPr>
          </c:dPt>
          <c:dPt>
            <c:idx val="3"/>
            <c:spPr>
              <a:solidFill>
                <a:srgbClr val="A35313"/>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Electric</c:v>
                </c:pt>
                <c:pt idx="2">
                  <c:v>Hybrid</c:v>
                </c:pt>
                <c:pt idx="3">
                  <c:v>Internal Combustion E…</c:v>
                </c:pt>
              </c:strCache>
            </c:strRef>
          </c:cat>
          <c:val>
            <c:numRef>
              <c:numCache>
                <c:formatCode>General</c:formatCode>
                <c:ptCount val="4"/>
                <c:pt idx="1">
                  <c:v>10.726</c:v>
                </c:pt>
                <c:pt idx="2">
                  <c:v>14.51</c:v>
                </c:pt>
                <c:pt idx="3">
                  <c:v>25.48</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4.143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CC599"/>
              </a:solidFill>
            </c:spPr>
          </c:dPt>
          <c:dPt>
            <c:idx val="3"/>
            <c:spPr>
              <a:solidFill>
                <a:srgbClr val="A86F00"/>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Aftermaket</c:v>
                </c:pt>
                <c:pt idx="3">
                  <c:v>OEM</c:v>
                </c:pt>
              </c:strCache>
            </c:strRef>
          </c:cat>
          <c:val>
            <c:numRef>
              <c:numCache>
                <c:formatCode>General</c:formatCode>
                <c:ptCount val="4"/>
                <c:pt idx="2">
                  <c:v>8.741</c:v>
                </c:pt>
                <c:pt idx="3">
                  <c:v>41.975</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56.246500000000005"/>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Recirculating Ball and Nut Type</c:v>
                </c:pt>
                <c:pt idx="2">
                  <c:v>Rack Assist</c:v>
                </c:pt>
                <c:pt idx="3">
                  <c:v>Column Assist</c:v>
                </c:pt>
                <c:pt idx="4">
                  <c:v>Steer by Wire</c:v>
                </c:pt>
                <c:pt idx="5">
                  <c:v>2036 Total</c:v>
                </c:pt>
              </c:strCache>
            </c:strRef>
          </c:cat>
          <c:val>
            <c:numRef>
              <c:numCache>
                <c:formatCode>General</c:formatCode>
                <c:ptCount val="6"/>
                <c:pt idx="0">
                  <c:v>0.0</c:v>
                </c:pt>
                <c:pt idx="1">
                  <c:v>50.716</c:v>
                </c:pt>
                <c:pt idx="2">
                  <c:v>66.894</c:v>
                </c:pt>
                <c:pt idx="3">
                  <c:v>85.351</c:v>
                </c:pt>
                <c:pt idx="4">
                  <c:v>99.136</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Recirculating Ball and Nut Type</c:v>
                </c:pt>
                <c:pt idx="2">
                  <c:v>Rack Assist</c:v>
                </c:pt>
                <c:pt idx="3">
                  <c:v>Column Assist</c:v>
                </c:pt>
                <c:pt idx="4">
                  <c:v>Steer by Wire</c:v>
                </c:pt>
                <c:pt idx="5">
                  <c:v>2036 Total</c:v>
                </c:pt>
              </c:strCache>
            </c:strRef>
          </c:cat>
          <c:val>
            <c:numRef>
              <c:numCache>
                <c:formatCode>General</c:formatCode>
                <c:ptCount val="6"/>
                <c:pt idx="0">
                  <c:v>50.716</c:v>
                </c:pt>
                <c:pt idx="1">
                  <c:v>16.177999999999997</c:v>
                </c:pt>
                <c:pt idx="2">
                  <c:v>18.457</c:v>
                </c:pt>
                <c:pt idx="3">
                  <c:v>13.784999999999998</c:v>
                </c:pt>
                <c:pt idx="4">
                  <c:v>7.581</c:v>
                </c:pt>
                <c:pt idx="5">
                  <c:v>106.717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Recirculating Ball and Nut Type</c:v>
                </c:pt>
                <c:pt idx="1">
                  <c:v>Rack Assist</c:v>
                </c:pt>
                <c:pt idx="2">
                  <c:v>Column Assist</c:v>
                </c:pt>
                <c:pt idx="3">
                  <c:v>Steer by Wire</c:v>
                </c:pt>
                <c:pt idx="4">
                  <c:v>Total Absolute $ Opportunity</c:v>
                </c:pt>
              </c:strCache>
            </c:strRef>
          </c:cat>
          <c:val>
            <c:numRef>
              <c:numCache>
                <c:formatCode>General</c:formatCode>
                <c:ptCount val="5"/>
                <c:pt idx="0">
                  <c:v>0.0</c:v>
                </c:pt>
                <c:pt idx="1">
                  <c:v>16.177999999999997</c:v>
                </c:pt>
                <c:pt idx="2">
                  <c:v>34.635</c:v>
                </c:pt>
                <c:pt idx="3">
                  <c:v>48.419999999999995</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Recirculating Ball and Nut Type</c:v>
                </c:pt>
                <c:pt idx="1">
                  <c:v>Rack Assist</c:v>
                </c:pt>
                <c:pt idx="2">
                  <c:v>Column Assist</c:v>
                </c:pt>
                <c:pt idx="3">
                  <c:v>Steer by Wire</c:v>
                </c:pt>
                <c:pt idx="4">
                  <c:v>Total Absolute $ Opportunity</c:v>
                </c:pt>
              </c:strCache>
            </c:strRef>
          </c:cat>
          <c:val>
            <c:numRef>
              <c:numCache>
                <c:formatCode>General</c:formatCode>
                <c:ptCount val="5"/>
                <c:pt idx="0">
                  <c:v>16.177999999999997</c:v>
                </c:pt>
                <c:pt idx="1">
                  <c:v>18.457</c:v>
                </c:pt>
                <c:pt idx="2">
                  <c:v>13.784999999999998</c:v>
                </c:pt>
                <c:pt idx="3">
                  <c:v>7.581</c:v>
                </c:pt>
                <c:pt idx="4">
                  <c:v>56.001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Heavy Duty Trucks</c:v>
                </c:pt>
                <c:pt idx="2">
                  <c:v>Busses and Coaches</c:v>
                </c:pt>
                <c:pt idx="3">
                  <c:v>2036 Total</c:v>
                </c:pt>
              </c:strCache>
            </c:strRef>
          </c:cat>
          <c:val>
            <c:numRef>
              <c:numCache>
                <c:formatCode>General</c:formatCode>
                <c:ptCount val="4"/>
                <c:pt idx="0">
                  <c:v>0.0</c:v>
                </c:pt>
                <c:pt idx="1">
                  <c:v>50.715999999999994</c:v>
                </c:pt>
                <c:pt idx="2">
                  <c:v>76.431</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Heavy Duty Trucks</c:v>
                </c:pt>
                <c:pt idx="2">
                  <c:v>Busses and Coaches</c:v>
                </c:pt>
                <c:pt idx="3">
                  <c:v>2036 Total</c:v>
                </c:pt>
              </c:strCache>
            </c:strRef>
          </c:cat>
          <c:val>
            <c:numRef>
              <c:numCache>
                <c:formatCode>General</c:formatCode>
                <c:ptCount val="4"/>
                <c:pt idx="0">
                  <c:v>50.715999999999994</c:v>
                </c:pt>
                <c:pt idx="1">
                  <c:v>25.715000000000003</c:v>
                </c:pt>
                <c:pt idx="2">
                  <c:v>30.286000000000005</c:v>
                </c:pt>
                <c:pt idx="3">
                  <c:v>106.71700000000001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Heavy Duty Trucks</c:v>
                </c:pt>
                <c:pt idx="1">
                  <c:v>Busses and Coaches</c:v>
                </c:pt>
                <c:pt idx="2">
                  <c:v>Total Absolute $ Opportunity</c:v>
                </c:pt>
              </c:strCache>
            </c:strRef>
          </c:cat>
          <c:val>
            <c:numRef>
              <c:numCache>
                <c:formatCode>General</c:formatCode>
                <c:ptCount val="3"/>
                <c:pt idx="0">
                  <c:v>0.0</c:v>
                </c:pt>
                <c:pt idx="1">
                  <c:v>25.715000000000003</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Heavy Duty Trucks</c:v>
                </c:pt>
                <c:pt idx="1">
                  <c:v>Busses and Coaches</c:v>
                </c:pt>
                <c:pt idx="2">
                  <c:v>Total Absolute $ Opportunity</c:v>
                </c:pt>
              </c:strCache>
            </c:strRef>
          </c:cat>
          <c:val>
            <c:numRef>
              <c:numCache>
                <c:formatCode>General</c:formatCode>
                <c:ptCount val="3"/>
                <c:pt idx="0">
                  <c:v>25.715000000000003</c:v>
                </c:pt>
                <c:pt idx="1">
                  <c:v>30.286000000000005</c:v>
                </c:pt>
                <c:pt idx="2">
                  <c:v>56.001000000000005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16 to 26 Tons</c:v>
                </c:pt>
                <c:pt idx="2">
                  <c:v>26 to 40 Tons</c:v>
                </c:pt>
                <c:pt idx="3">
                  <c:v>Above 40 Tons</c:v>
                </c:pt>
                <c:pt idx="4">
                  <c:v>2036 Total</c:v>
                </c:pt>
              </c:strCache>
            </c:strRef>
          </c:cat>
          <c:val>
            <c:numRef>
              <c:numCache>
                <c:formatCode>General</c:formatCode>
                <c:ptCount val="5"/>
                <c:pt idx="0">
                  <c:v>0.0</c:v>
                </c:pt>
                <c:pt idx="1">
                  <c:v>50.716</c:v>
                </c:pt>
                <c:pt idx="2">
                  <c:v>58.002</c:v>
                </c:pt>
                <c:pt idx="3">
                  <c:v>103.65700000000001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16 to 26 Tons</c:v>
                </c:pt>
                <c:pt idx="2">
                  <c:v>26 to 40 Tons</c:v>
                </c:pt>
                <c:pt idx="3">
                  <c:v>Above 40 Tons</c:v>
                </c:pt>
                <c:pt idx="4">
                  <c:v>2036 Total</c:v>
                </c:pt>
              </c:strCache>
            </c:strRef>
          </c:cat>
          <c:val>
            <c:numRef>
              <c:numCache>
                <c:formatCode>General</c:formatCode>
                <c:ptCount val="5"/>
                <c:pt idx="0">
                  <c:v>50.716</c:v>
                </c:pt>
                <c:pt idx="1">
                  <c:v>7.2860000000000005</c:v>
                </c:pt>
                <c:pt idx="2">
                  <c:v>45.65500000000001</c:v>
                </c:pt>
                <c:pt idx="3">
                  <c:v>3.0600000000000005</c:v>
                </c:pt>
                <c:pt idx="4">
                  <c:v>106.71700000000001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16 to 26 Tons</c:v>
                </c:pt>
                <c:pt idx="1">
                  <c:v>26 to 40 Tons</c:v>
                </c:pt>
                <c:pt idx="2">
                  <c:v>Above 40 Tons</c:v>
                </c:pt>
                <c:pt idx="3">
                  <c:v>Total Absolute $ Opportunity</c:v>
                </c:pt>
              </c:strCache>
            </c:strRef>
          </c:cat>
          <c:val>
            <c:numRef>
              <c:numCache>
                <c:formatCode>General</c:formatCode>
                <c:ptCount val="4"/>
                <c:pt idx="0">
                  <c:v>0.0</c:v>
                </c:pt>
                <c:pt idx="1">
                  <c:v>7.2860000000000005</c:v>
                </c:pt>
                <c:pt idx="2">
                  <c:v>52.94100000000001</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16 to 26 Tons</c:v>
                </c:pt>
                <c:pt idx="1">
                  <c:v>26 to 40 Tons</c:v>
                </c:pt>
                <c:pt idx="2">
                  <c:v>Above 40 Tons</c:v>
                </c:pt>
                <c:pt idx="3">
                  <c:v>Total Absolute $ Opportunity</c:v>
                </c:pt>
              </c:strCache>
            </c:strRef>
          </c:cat>
          <c:val>
            <c:numRef>
              <c:numCache>
                <c:formatCode>General</c:formatCode>
                <c:ptCount val="4"/>
                <c:pt idx="0">
                  <c:v>7.2860000000000005</c:v>
                </c:pt>
                <c:pt idx="1">
                  <c:v>45.65500000000001</c:v>
                </c:pt>
                <c:pt idx="2">
                  <c:v>3.0600000000000005</c:v>
                </c:pt>
                <c:pt idx="3">
                  <c:v>56.00100000000001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Internal Combustion Engine</c:v>
                </c:pt>
                <c:pt idx="2">
                  <c:v>Electric</c:v>
                </c:pt>
                <c:pt idx="3">
                  <c:v>Hybrid</c:v>
                </c:pt>
                <c:pt idx="4">
                  <c:v>2036 Total</c:v>
                </c:pt>
              </c:strCache>
            </c:strRef>
          </c:cat>
          <c:val>
            <c:numRef>
              <c:numCache>
                <c:formatCode>General</c:formatCode>
                <c:ptCount val="5"/>
                <c:pt idx="0">
                  <c:v>0.0</c:v>
                </c:pt>
                <c:pt idx="1">
                  <c:v>50.716</c:v>
                </c:pt>
                <c:pt idx="2">
                  <c:v>74.896</c:v>
                </c:pt>
                <c:pt idx="3">
                  <c:v>84.31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Internal Combustion Engine</c:v>
                </c:pt>
                <c:pt idx="2">
                  <c:v>Electric</c:v>
                </c:pt>
                <c:pt idx="3">
                  <c:v>Hybrid</c:v>
                </c:pt>
                <c:pt idx="4">
                  <c:v>2036 Total</c:v>
                </c:pt>
              </c:strCache>
            </c:strRef>
          </c:cat>
          <c:val>
            <c:numRef>
              <c:numCache>
                <c:formatCode>General</c:formatCode>
                <c:ptCount val="5"/>
                <c:pt idx="0">
                  <c:v>50.716</c:v>
                </c:pt>
                <c:pt idx="1">
                  <c:v>24.179999999999996</c:v>
                </c:pt>
                <c:pt idx="2">
                  <c:v>9.414</c:v>
                </c:pt>
                <c:pt idx="3">
                  <c:v>22.407000000000004</c:v>
                </c:pt>
                <c:pt idx="4">
                  <c:v>106.717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Internal Combustion Engine</c:v>
                </c:pt>
                <c:pt idx="1">
                  <c:v>Electric</c:v>
                </c:pt>
                <c:pt idx="2">
                  <c:v>Hybrid</c:v>
                </c:pt>
                <c:pt idx="3">
                  <c:v>Total Absolute $ Opportunity</c:v>
                </c:pt>
              </c:strCache>
            </c:strRef>
          </c:cat>
          <c:val>
            <c:numRef>
              <c:numCache>
                <c:formatCode>General</c:formatCode>
                <c:ptCount val="4"/>
                <c:pt idx="0">
                  <c:v>0.0</c:v>
                </c:pt>
                <c:pt idx="1">
                  <c:v>24.179999999999996</c:v>
                </c:pt>
                <c:pt idx="2">
                  <c:v>33.593999999999994</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Internal Combustion Engine</c:v>
                </c:pt>
                <c:pt idx="1">
                  <c:v>Electric</c:v>
                </c:pt>
                <c:pt idx="2">
                  <c:v>Hybrid</c:v>
                </c:pt>
                <c:pt idx="3">
                  <c:v>Total Absolute $ Opportunity</c:v>
                </c:pt>
              </c:strCache>
            </c:strRef>
          </c:cat>
          <c:val>
            <c:numRef>
              <c:numCache>
                <c:formatCode>General</c:formatCode>
                <c:ptCount val="4"/>
                <c:pt idx="0">
                  <c:v>24.179999999999996</c:v>
                </c:pt>
                <c:pt idx="1">
                  <c:v>9.414</c:v>
                </c:pt>
                <c:pt idx="2">
                  <c:v>22.407000000000004</c:v>
                </c:pt>
                <c:pt idx="3">
                  <c:v>56.001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OEM</c:v>
                </c:pt>
                <c:pt idx="2">
                  <c:v>Aftermaket</c:v>
                </c:pt>
                <c:pt idx="3">
                  <c:v>2036 Total</c:v>
                </c:pt>
              </c:strCache>
            </c:strRef>
          </c:cat>
          <c:val>
            <c:numRef>
              <c:numCache>
                <c:formatCode>General</c:formatCode>
                <c:ptCount val="4"/>
                <c:pt idx="0">
                  <c:v>0.0</c:v>
                </c:pt>
                <c:pt idx="1">
                  <c:v>50.716</c:v>
                </c:pt>
                <c:pt idx="2">
                  <c:v>93.786</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OEM</c:v>
                </c:pt>
                <c:pt idx="2">
                  <c:v>Aftermaket</c:v>
                </c:pt>
                <c:pt idx="3">
                  <c:v>2036 Total</c:v>
                </c:pt>
              </c:strCache>
            </c:strRef>
          </c:cat>
          <c:val>
            <c:numRef>
              <c:numCache>
                <c:formatCode>General</c:formatCode>
                <c:ptCount val="4"/>
                <c:pt idx="0">
                  <c:v>50.716</c:v>
                </c:pt>
                <c:pt idx="1">
                  <c:v>43.07</c:v>
                </c:pt>
                <c:pt idx="2">
                  <c:v>12.931000000000001</c:v>
                </c:pt>
                <c:pt idx="3">
                  <c:v>106.717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OEM</c:v>
                </c:pt>
                <c:pt idx="1">
                  <c:v>Aftermaket</c:v>
                </c:pt>
                <c:pt idx="2">
                  <c:v>Total Absolute $ Opportunity</c:v>
                </c:pt>
              </c:strCache>
            </c:strRef>
          </c:cat>
          <c:val>
            <c:numRef>
              <c:numCache>
                <c:formatCode>General</c:formatCode>
                <c:ptCount val="3"/>
                <c:pt idx="0">
                  <c:v>0.0</c:v>
                </c:pt>
                <c:pt idx="1">
                  <c:v>43.07</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OEM</c:v>
                </c:pt>
                <c:pt idx="1">
                  <c:v>Aftermaket</c:v>
                </c:pt>
                <c:pt idx="2">
                  <c:v>Total Absolute $ Opportunity</c:v>
                </c:pt>
              </c:strCache>
            </c:strRef>
          </c:cat>
          <c:val>
            <c:numRef>
              <c:numCache>
                <c:formatCode>General</c:formatCode>
                <c:ptCount val="3"/>
                <c:pt idx="0">
                  <c:v>43.07</c:v>
                </c:pt>
                <c:pt idx="1">
                  <c:v>12.931000000000001</c:v>
                </c:pt>
                <c:pt idx="2">
                  <c:v>56.001000000000005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Rack Assist</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827.0</c:v>
                </c:pt>
                <c:pt idx="1">
                  <c:v>830.0</c:v>
                </c:pt>
                <c:pt idx="2">
                  <c:v>833.0</c:v>
                </c:pt>
                <c:pt idx="3">
                  <c:v>837.0</c:v>
                </c:pt>
                <c:pt idx="4">
                  <c:v>842.0</c:v>
                </c:pt>
                <c:pt idx="5">
                  <c:v>848.0</c:v>
                </c:pt>
                <c:pt idx="6">
                  <c:v>853.0</c:v>
                </c:pt>
                <c:pt idx="7">
                  <c:v>857.0</c:v>
                </c:pt>
                <c:pt idx="8">
                  <c:v>862.0</c:v>
                </c:pt>
                <c:pt idx="9">
                  <c:v>866.0</c:v>
                </c:pt>
                <c:pt idx="10">
                  <c:v>869.0</c:v>
                </c:pt>
                <c:pt idx="11">
                  <c:v>873.0</c:v>
                </c:pt>
                <c:pt idx="12">
                  <c:v>876.0</c:v>
                </c:pt>
                <c:pt idx="13">
                  <c:v>879.0</c:v>
                </c:pt>
                <c:pt idx="14">
                  <c:v>882.0</c:v>
                </c:pt>
                <c:pt idx="15">
                  <c:v>884.0</c:v>
                </c:pt>
              </c:numCache>
            </c:numRef>
          </c:val>
          <c:smooth val="0"/>
        </c:ser>
        <c:ser>
          <c:idx val="1"/>
          <c:order val="1"/>
          <c:tx>
            <c:strRef>
              <c:strCache>
                <c:ptCount val="1"/>
                <c:pt idx="0">
                  <c:v>Steer by Wire</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800.0</c:v>
                </c:pt>
                <c:pt idx="1">
                  <c:v>804.0</c:v>
                </c:pt>
                <c:pt idx="2">
                  <c:v>808.0</c:v>
                </c:pt>
                <c:pt idx="3">
                  <c:v>812.0</c:v>
                </c:pt>
                <c:pt idx="4">
                  <c:v>816.0</c:v>
                </c:pt>
                <c:pt idx="5">
                  <c:v>819.0</c:v>
                </c:pt>
                <c:pt idx="6">
                  <c:v>824.0</c:v>
                </c:pt>
                <c:pt idx="7">
                  <c:v>828.0</c:v>
                </c:pt>
                <c:pt idx="8">
                  <c:v>831.0</c:v>
                </c:pt>
                <c:pt idx="9">
                  <c:v>835.0</c:v>
                </c:pt>
                <c:pt idx="10">
                  <c:v>838.0</c:v>
                </c:pt>
                <c:pt idx="11">
                  <c:v>841.0</c:v>
                </c:pt>
                <c:pt idx="12">
                  <c:v>845.0</c:v>
                </c:pt>
                <c:pt idx="13">
                  <c:v>848.0</c:v>
                </c:pt>
                <c:pt idx="14">
                  <c:v>850.0</c:v>
                </c:pt>
                <c:pt idx="15">
                  <c:v>853.0</c:v>
                </c:pt>
              </c:numCache>
            </c:numRef>
          </c:val>
          <c:smooth val="0"/>
        </c:ser>
        <c:ser>
          <c:idx val="2"/>
          <c:order val="2"/>
          <c:tx>
            <c:strRef>
              <c:strCache>
                <c:ptCount val="1"/>
                <c:pt idx="0">
                  <c:v>Column Assist</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686.0</c:v>
                </c:pt>
                <c:pt idx="1">
                  <c:v>687.0</c:v>
                </c:pt>
                <c:pt idx="2">
                  <c:v>689.0</c:v>
                </c:pt>
                <c:pt idx="3">
                  <c:v>692.0</c:v>
                </c:pt>
                <c:pt idx="4">
                  <c:v>696.0</c:v>
                </c:pt>
                <c:pt idx="5">
                  <c:v>701.0</c:v>
                </c:pt>
                <c:pt idx="6">
                  <c:v>701.0</c:v>
                </c:pt>
                <c:pt idx="7">
                  <c:v>702.0</c:v>
                </c:pt>
                <c:pt idx="8">
                  <c:v>704.0</c:v>
                </c:pt>
                <c:pt idx="9">
                  <c:v>706.0</c:v>
                </c:pt>
                <c:pt idx="10">
                  <c:v>708.0</c:v>
                </c:pt>
                <c:pt idx="11">
                  <c:v>711.0</c:v>
                </c:pt>
                <c:pt idx="12">
                  <c:v>714.0</c:v>
                </c:pt>
                <c:pt idx="13">
                  <c:v>718.0</c:v>
                </c:pt>
                <c:pt idx="14">
                  <c:v>722.0</c:v>
                </c:pt>
                <c:pt idx="15">
                  <c:v>726.0</c:v>
                </c:pt>
              </c:numCache>
            </c:numRef>
          </c:val>
          <c:smooth val="0"/>
        </c:ser>
        <c:ser>
          <c:idx val="3"/>
          <c:order val="3"/>
          <c:tx>
            <c:strRef>
              <c:strCache>
                <c:ptCount val="1"/>
                <c:pt idx="0">
                  <c:v>Recirculating Ball and Nut Type</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452.0</c:v>
                </c:pt>
                <c:pt idx="1">
                  <c:v>455.0</c:v>
                </c:pt>
                <c:pt idx="2">
                  <c:v>458.0</c:v>
                </c:pt>
                <c:pt idx="3">
                  <c:v>461.0</c:v>
                </c:pt>
                <c:pt idx="4">
                  <c:v>461.0</c:v>
                </c:pt>
                <c:pt idx="5">
                  <c:v>462.0</c:v>
                </c:pt>
                <c:pt idx="6">
                  <c:v>462.0</c:v>
                </c:pt>
                <c:pt idx="7">
                  <c:v>463.0</c:v>
                </c:pt>
                <c:pt idx="8">
                  <c:v>465.0</c:v>
                </c:pt>
                <c:pt idx="9">
                  <c:v>466.0</c:v>
                </c:pt>
                <c:pt idx="10">
                  <c:v>468.0</c:v>
                </c:pt>
                <c:pt idx="11">
                  <c:v>470.0</c:v>
                </c:pt>
                <c:pt idx="12">
                  <c:v>472.0</c:v>
                </c:pt>
                <c:pt idx="13">
                  <c:v>474.0</c:v>
                </c:pt>
                <c:pt idx="14">
                  <c:v>477.0</c:v>
                </c:pt>
                <c:pt idx="15">
                  <c:v>479.0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1000.0"/>
          <c:min val="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C55A11"/>
              </a:solidFill>
            </c:spPr>
          </c:dPt>
          <c:dPt>
            <c:idx val="2"/>
            <c:spPr>
              <a:solidFill>
                <a:srgbClr val="C55A11"/>
              </a:solidFill>
            </c:spPr>
          </c:dPt>
          <c:dPt>
            <c:idx val="3"/>
            <c:spPr>
              <a:solidFill>
                <a:srgbClr val="C55A11"/>
              </a:solidFill>
            </c:spPr>
          </c:dPt>
          <c:cat>
            <c:strRef>
              <c:strCache>
                <c:ptCount val="4"/>
                <c:pt idx="0">
                  <c:v>Recirculating Ball and Nut Type</c:v>
                </c:pt>
                <c:pt idx="1">
                  <c:v>Column Assist</c:v>
                </c:pt>
                <c:pt idx="2">
                  <c:v>Steer by Wire</c:v>
                </c:pt>
                <c:pt idx="3">
                  <c:v>Rack Assist</c:v>
                </c:pt>
              </c:strCache>
            </c:strRef>
          </c:cat>
          <c:val>
            <c:numRef>
              <c:numCache>
                <c:formatCode>General</c:formatCode>
                <c:ptCount val="4"/>
                <c:pt idx="0">
                  <c:v>71.1</c:v>
                </c:pt>
                <c:pt idx="1">
                  <c:v>107.8</c:v>
                </c:pt>
                <c:pt idx="2">
                  <c:v>126.0</c:v>
                </c:pt>
                <c:pt idx="3">
                  <c:v>130.5</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32.0"/>
          <c:min val="68.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100.8</c:v>
                </c:pt>
                <c:pt idx="1">
                  <c:v>95.3</c:v>
                </c:pt>
                <c:pt idx="2">
                  <c:v>76.5</c:v>
                </c:pt>
                <c:pt idx="3">
                  <c:v>70.5</c:v>
                </c:pt>
                <c:pt idx="4">
                  <c:v>68.6</c:v>
                </c:pt>
                <c:pt idx="5">
                  <c:v>53.0</c:v>
                </c:pt>
                <c:pt idx="6">
                  <c:v>47.6</c:v>
                </c:pt>
              </c:numCache>
            </c:numRef>
          </c:val>
        </c:ser>
        <c:ser>
          <c:idx val="1"/>
          <c:order val="1"/>
          <c:tx>
            <c:strRef>
              <c:strCache>
                <c:ptCount val="1"/>
                <c:pt idx="0">
                  <c:v>Range</c:v>
                </c:pt>
              </c:strCache>
            </c:strRef>
          </c:tx>
          <c:spPr>
            <a:solidFill>
              <a:srgbClr val="008189"/>
            </a:solidFill>
          </c:spPr>
          <c:dPt>
            <c:idx val="3"/>
            <c:spPr>
              <a:solidFill>
                <a:srgbClr val="5B7DB1"/>
              </a:solidFill>
            </c:spPr>
          </c:dPt>
          <c:dPt>
            <c:idx val="4"/>
            <c:spPr>
              <a:solidFill>
                <a:srgbClr val="5B7DB1"/>
              </a:solidFill>
            </c:spPr>
          </c:dPt>
          <c:dPt>
            <c:idx val="5"/>
            <c:spPr>
              <a:solidFill>
                <a:srgbClr val="5B7DB1"/>
              </a:solidFill>
            </c:spPr>
          </c:dPt>
          <c:dPt>
            <c:idx val="6"/>
            <c:spPr>
              <a:solidFill>
                <a:srgbClr val="5B7DB1"/>
              </a:solidFill>
            </c:spPr>
          </c:dPt>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79.3</c:v>
                </c:pt>
                <c:pt idx="1">
                  <c:v>75.0</c:v>
                </c:pt>
                <c:pt idx="2">
                  <c:v>60.0</c:v>
                </c:pt>
                <c:pt idx="3">
                  <c:v>55.5</c:v>
                </c:pt>
                <c:pt idx="4">
                  <c:v>53.5</c:v>
                </c:pt>
                <c:pt idx="5">
                  <c:v>41.5</c:v>
                </c:pt>
                <c:pt idx="6">
                  <c:v>37.4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85.0"/>
          <c:min val="4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13.257277768762723</c:v>
                </c:pt>
                <c:pt idx="1">
                  <c:v>11.068290254169384</c:v>
                </c:pt>
                <c:pt idx="2">
                  <c:v>12.589358575079316</c:v>
                </c:pt>
                <c:pt idx="3">
                  <c:v>12.215437450069626</c:v>
                </c:pt>
                <c:pt idx="4">
                  <c:v>8.651701491037262</c:v>
                </c:pt>
                <c:pt idx="5">
                  <c:v>5.225916176548457</c:v>
                </c:pt>
                <c:pt idx="6">
                  <c:v>4.4928995088464045</c:v>
                </c:pt>
                <c:pt idx="7">
                  <c:v>4.585103214436975</c:v>
                </c:pt>
                <c:pt idx="8">
                  <c:v>3.999752878424063</c:v>
                </c:pt>
                <c:pt idx="9">
                  <c:v>2.5965461190797754</c:v>
                </c:pt>
                <c:pt idx="10">
                  <c:v>21.317716563546018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Bosch</c:v>
                </c:pt>
                <c:pt idx="1">
                  <c:v>ZF</c:v>
                </c:pt>
                <c:pt idx="2">
                  <c:v>Knorr-Bremse</c:v>
                </c:pt>
                <c:pt idx="3">
                  <c:v>thyssenkrupp</c:v>
                </c:pt>
                <c:pt idx="4">
                  <c:v>JTEKT</c:v>
                </c:pt>
                <c:pt idx="5">
                  <c:v>Nexteer Automotive</c:v>
                </c:pt>
                <c:pt idx="6">
                  <c:v>NSK</c:v>
                </c:pt>
                <c:pt idx="7">
                  <c:v>Hyundai Mobis</c:v>
                </c:pt>
                <c:pt idx="8">
                  <c:v>HL Mando</c:v>
                </c:pt>
                <c:pt idx="9">
                  <c:v>China Automotive Systems</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OEM</c:v>
                </c:pt>
                <c:pt idx="1">
                  <c:v>Aftermaket</c:v>
                </c:pt>
              </c:strCache>
            </c:strRef>
          </c:cat>
          <c:val>
            <c:numRef>
              <c:numCache>
                <c:formatCode>General</c:formatCode>
                <c:ptCount val="2"/>
                <c:pt idx="0">
                  <c:v>433.41962051111966</c:v>
                </c:pt>
                <c:pt idx="1">
                  <c:v>241.1266958358192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72.113899074678"/>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223.93676892480923</c:v>
                </c:pt>
                <c:pt idx="1">
                  <c:v>136.30981265313505</c:v>
                </c:pt>
                <c:pt idx="2">
                  <c:v>73.5079304008415</c:v>
                </c:pt>
                <c:pt idx="3">
                  <c:v>83.05833460414334</c:v>
                </c:pt>
                <c:pt idx="4">
                  <c:v>157.73346976400975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95.5965349807482"/>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Rack Assist</c:v>
                </c:pt>
                <c:pt idx="1">
                  <c:v>Column Assist</c:v>
                </c:pt>
                <c:pt idx="2">
                  <c:v>Recirculating Ball and Nut Type</c:v>
                </c:pt>
                <c:pt idx="3">
                  <c:v>Steer by Wire</c:v>
                </c:pt>
              </c:strCache>
            </c:strRef>
          </c:cat>
          <c:val>
            <c:numRef>
              <c:numCache>
                <c:formatCode>General</c:formatCode>
                <c:ptCount val="4"/>
                <c:pt idx="0">
                  <c:v>77.7203596724405</c:v>
                </c:pt>
                <c:pt idx="1">
                  <c:v>108.04936295997122</c:v>
                </c:pt>
                <c:pt idx="2">
                  <c:v>201.47715293749934</c:v>
                </c:pt>
                <c:pt idx="3">
                  <c:v>287.29944077702777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683.2516079999999</c:v>
                </c:pt>
                <c:pt idx="1">
                  <c:v>614.176398488613</c:v>
                </c:pt>
                <c:pt idx="2">
                  <c:v>448.8508651449374</c:v>
                </c:pt>
                <c:pt idx="3">
                  <c:v>287.5592580424497</c:v>
                </c:pt>
                <c:pt idx="4">
                  <c:v>228.1389017267451</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223.93676892480923</c:v>
                </c:pt>
                <c:pt idx="1">
                  <c:v>136.30981265313505</c:v>
                </c:pt>
                <c:pt idx="2">
                  <c:v>73.5079304008415</c:v>
                </c:pt>
                <c:pt idx="3">
                  <c:v>83.05833460414334</c:v>
                </c:pt>
                <c:pt idx="4">
                  <c:v>157.73346976400975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74.5620582399999"/>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Global Heavy Commercial Vehicle EPS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By System Architecture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By Vehicle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By Gross Vehicle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By Propulsion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By Demand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Western Europe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Western Europe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Western Europe Heavy Commercial Vehicle EPS –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Western Europe Heavy Commercial Vehicle EPS –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By System Architecture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System Architecture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By Vehicle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Vehicle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By Gross Vehicle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Gross Vehicle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By Propulsion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Propulsion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By Demand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Demand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System Architecture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System Architecture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Vehicle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Vehicle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Gross Vehicle Weight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Gross Vehicle Weight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Propulsion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Propulsion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Demand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Country Demand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Company Profiles &amp; Strategic Benchmarking Bosch Snapshot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Company Profiles &amp; Strategic Benchmarking Bosch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Company Profiles &amp; Strategic Benchmarking Bosch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Company Profiles &amp; Strategic Benchmarking Bosch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Competitor Company Profiles &amp; Strategic Benchmarking Bosch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(1/8)</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(2/8)</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(3/8)</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(4/8)</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(5/8)</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(6/8)</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(7/8)</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Table of Contents  (8/8)</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(1/9)</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(2/9)</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(3/9)</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(4/9)</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(5/9)</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(6/9)</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(7/9)</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(8/9)</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Figures  (9/9)</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(1/8)</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(2/8)</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(3/8)</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(4/8)</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(5/8)</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(6/8)</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(7/8)</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Commercial Vehicle EPS Market List of Tables  (8/8)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5.jpg"/><Relationship Id="rId3" Type="http://schemas.openxmlformats.org/officeDocument/2006/relationships/image" Target="../media/image626.png"/><Relationship Id="rId4" Type="http://schemas.openxmlformats.org/officeDocument/2006/relationships/image" Target="../media/image627.png"/><Relationship Id="rId5" Type="http://schemas.openxmlformats.org/officeDocument/2006/relationships/image" Target="../media/image6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37.xml"/><Relationship Id="rId9" Type="http://schemas.openxmlformats.org/officeDocument/2006/relationships/slide" Target="slide38.xml"/><Relationship Id="rId10" Type="http://schemas.openxmlformats.org/officeDocument/2006/relationships/slide" Target="slide49.xml"/><Relationship Id="rId11" Type="http://schemas.openxmlformats.org/officeDocument/2006/relationships/slide" Target="slide57.xml"/><Relationship Id="rId12" Type="http://schemas.openxmlformats.org/officeDocument/2006/relationships/slide" Target="slide88.xml"/><Relationship Id="rId13" Type="http://schemas.openxmlformats.org/officeDocument/2006/relationships/slide" Target="slide89.xml"/><Relationship Id="rId14" Type="http://schemas.openxmlformats.org/officeDocument/2006/relationships/slide" Target="slide99.xml"/><Relationship Id="rId15" Type="http://schemas.openxmlformats.org/officeDocument/2006/relationships/slide" Target="slide108.xml"/><Relationship Id="rId16" Type="http://schemas.openxmlformats.org/officeDocument/2006/relationships/slide" Target="slide139.xml"/><Relationship Id="rId17" Type="http://schemas.openxmlformats.org/officeDocument/2006/relationships/slide" Target="slide140.xml"/><Relationship Id="rId18" Type="http://schemas.openxmlformats.org/officeDocument/2006/relationships/slide" Target="slide144.xml"/><Relationship Id="rId19" Type="http://schemas.openxmlformats.org/officeDocument/2006/relationships/slide" Target="slide160.xml"/><Relationship Id="rId20" Type="http://schemas.openxmlformats.org/officeDocument/2006/relationships/slide" Target="slide161.xml"/><Relationship Id="rId21" Type="http://schemas.openxmlformats.org/officeDocument/2006/relationships/slide" Target="slide173.xml"/><Relationship Id="rId22" Type="http://schemas.openxmlformats.org/officeDocument/2006/relationships/slide" Target="slide177.xml"/><Relationship Id="rId23" Type="http://schemas.openxmlformats.org/officeDocument/2006/relationships/slide" Target="slide178.xml"/><Relationship Id="rId24" Type="http://schemas.openxmlformats.org/officeDocument/2006/relationships/slide" Target="slide186.xml"/><Relationship Id="rId25" Type="http://schemas.openxmlformats.org/officeDocument/2006/relationships/slide" Target="slide187.xml"/><Relationship Id="rId26" Type="http://schemas.openxmlformats.org/officeDocument/2006/relationships/slide" Target="slide201.xml"/><Relationship Id="rId27" Type="http://schemas.openxmlformats.org/officeDocument/2006/relationships/slide" Target="slide20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image" Target="../media/image61.png"/><Relationship Id="rId12" Type="http://schemas.openxmlformats.org/officeDocument/2006/relationships/image" Target="../media/image62.png"/><Relationship Id="rId13" Type="http://schemas.openxmlformats.org/officeDocument/2006/relationships/image" Target="../media/image63.png"/><Relationship Id="rId14" Type="http://schemas.openxmlformats.org/officeDocument/2006/relationships/image" Target="../media/image64.png"/><Relationship Id="rId15" Type="http://schemas.openxmlformats.org/officeDocument/2006/relationships/image" Target="../media/image65.png"/><Relationship Id="rId16" Type="http://schemas.openxmlformats.org/officeDocument/2006/relationships/image" Target="../media/image66.png"/><Relationship Id="rId17" Type="http://schemas.openxmlformats.org/officeDocument/2006/relationships/image" Target="../media/image67.png"/><Relationship Id="rId18" Type="http://schemas.openxmlformats.org/officeDocument/2006/relationships/image" Target="../media/image68.png"/><Relationship Id="rId19" Type="http://schemas.openxmlformats.org/officeDocument/2006/relationships/image" Target="../media/image69.png"/><Relationship Id="rId20" Type="http://schemas.openxmlformats.org/officeDocument/2006/relationships/image" Target="../media/image70.png"/><Relationship Id="rId21" Type="http://schemas.openxmlformats.org/officeDocument/2006/relationships/image" Target="../media/image71.png"/><Relationship Id="rId22" Type="http://schemas.openxmlformats.org/officeDocument/2006/relationships/image" Target="../media/image72.png"/><Relationship Id="rId23" Type="http://schemas.openxmlformats.org/officeDocument/2006/relationships/image" Target="../media/image73.png"/><Relationship Id="rId24" Type="http://schemas.openxmlformats.org/officeDocument/2006/relationships/image" Target="../media/image74.png"/><Relationship Id="rId25"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59.png"/><Relationship Id="rId7" Type="http://schemas.openxmlformats.org/officeDocument/2006/relationships/image" Target="../media/image113.png"/><Relationship Id="rId8" Type="http://schemas.openxmlformats.org/officeDocument/2006/relationships/image" Target="../media/image114.png"/><Relationship Id="rId9" Type="http://schemas.openxmlformats.org/officeDocument/2006/relationships/image" Target="../media/image91.png"/><Relationship Id="rId10" Type="http://schemas.openxmlformats.org/officeDocument/2006/relationships/image" Target="../media/image115.png"/><Relationship Id="rId11" Type="http://schemas.openxmlformats.org/officeDocument/2006/relationships/image" Target="../media/image116.png"/><Relationship Id="rId12" Type="http://schemas.openxmlformats.org/officeDocument/2006/relationships/image" Target="../media/image74.png"/><Relationship Id="rId13" Type="http://schemas.openxmlformats.org/officeDocument/2006/relationships/image" Target="../media/image117.png"/><Relationship Id="rId14" Type="http://schemas.openxmlformats.org/officeDocument/2006/relationships/image" Target="../media/image118.png"/><Relationship Id="rId15" Type="http://schemas.openxmlformats.org/officeDocument/2006/relationships/image" Target="../media/image108.png"/><Relationship Id="rId16"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 Id="rId8"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notesSlide" Target="../notesSlides/notesSlide29.xml"/><Relationship Id="rId5"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image" Target="../media/image156.png"/><Relationship Id="rId5" Type="http://schemas.openxmlformats.org/officeDocument/2006/relationships/image" Target="../media/image157.png"/><Relationship Id="rId6" Type="http://schemas.openxmlformats.org/officeDocument/2006/relationships/image" Target="../media/image56.png"/><Relationship Id="rId7" Type="http://schemas.openxmlformats.org/officeDocument/2006/relationships/image" Target="../media/image158.png"/><Relationship Id="rId8" Type="http://schemas.openxmlformats.org/officeDocument/2006/relationships/image" Target="../media/image159.png"/><Relationship Id="rId9" Type="http://schemas.openxmlformats.org/officeDocument/2006/relationships/image" Target="../media/image160.png"/><Relationship Id="rId10"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notesSlide" Target="../notesSlides/notesSlide33.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notesSlide" Target="../notesSlides/notesSlide34.xml"/><Relationship Id="rId6"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notesSlide" Target="../notesSlides/notesSlide37.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181.png"/><Relationship Id="rId5" Type="http://schemas.openxmlformats.org/officeDocument/2006/relationships/image" Target="../media/image182.png"/><Relationship Id="rId6" Type="http://schemas.openxmlformats.org/officeDocument/2006/relationships/image" Target="../media/image183.png"/><Relationship Id="rId7" Type="http://schemas.openxmlformats.org/officeDocument/2006/relationships/image" Target="../media/image184.png"/><Relationship Id="rId8" Type="http://schemas.openxmlformats.org/officeDocument/2006/relationships/image" Target="../media/image185.png"/><Relationship Id="rId9" Type="http://schemas.openxmlformats.org/officeDocument/2006/relationships/image" Target="../media/image186.png"/><Relationship Id="rId10" Type="http://schemas.openxmlformats.org/officeDocument/2006/relationships/image" Target="../media/image187.png"/><Relationship Id="rId11" Type="http://schemas.openxmlformats.org/officeDocument/2006/relationships/image" Target="../media/image188.png"/><Relationship Id="rId12" Type="http://schemas.openxmlformats.org/officeDocument/2006/relationships/image" Target="../media/image189.png"/><Relationship Id="rId13"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chart" Target="../charts/chart28.xml"/><Relationship Id="rId5" Type="http://schemas.openxmlformats.org/officeDocument/2006/relationships/notesSlide" Target="../notesSlides/notesSlide41.xml"/><Relationship Id="rId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notesSlide" Target="../notesSlides/notesSlide42.xml"/><Relationship Id="rId7"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45.xml"/><Relationship Id="rId5"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image" Target="../media/image219.png"/><Relationship Id="rId5" Type="http://schemas.openxmlformats.org/officeDocument/2006/relationships/image" Target="../media/image220.png"/><Relationship Id="rId6" Type="http://schemas.openxmlformats.org/officeDocument/2006/relationships/image" Target="../media/image221.png"/><Relationship Id="rId7" Type="http://schemas.openxmlformats.org/officeDocument/2006/relationships/image" Target="../media/image222.png"/><Relationship Id="rId8" Type="http://schemas.openxmlformats.org/officeDocument/2006/relationships/image" Target="../media/image223.png"/><Relationship Id="rId9" Type="http://schemas.openxmlformats.org/officeDocument/2006/relationships/image" Target="../media/image224.png"/><Relationship Id="rId10" Type="http://schemas.openxmlformats.org/officeDocument/2006/relationships/image" Target="../media/image225.png"/><Relationship Id="rId11" Type="http://schemas.openxmlformats.org/officeDocument/2006/relationships/image" Target="../media/image226.png"/><Relationship Id="rId12" Type="http://schemas.openxmlformats.org/officeDocument/2006/relationships/image" Target="../media/image227.png"/><Relationship Id="rId1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notesSlide" Target="../notesSlides/notesSlide49.xml"/><Relationship Id="rId6"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chart" Target="../charts/chart37.xml"/><Relationship Id="rId6" Type="http://schemas.openxmlformats.org/officeDocument/2006/relationships/notesSlide" Target="../notesSlides/notesSlide50.xml"/><Relationship Id="rId7"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notesSlide" Target="../notesSlides/notesSlide53.xml"/><Relationship Id="rId5"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image" Target="../media/image257.png"/><Relationship Id="rId5" Type="http://schemas.openxmlformats.org/officeDocument/2006/relationships/image" Target="../media/image258.png"/><Relationship Id="rId6" Type="http://schemas.openxmlformats.org/officeDocument/2006/relationships/image" Target="../media/image259.png"/><Relationship Id="rId7" Type="http://schemas.openxmlformats.org/officeDocument/2006/relationships/image" Target="../media/image260.png"/><Relationship Id="rId8" Type="http://schemas.openxmlformats.org/officeDocument/2006/relationships/image" Target="../media/image261.png"/><Relationship Id="rId9" Type="http://schemas.openxmlformats.org/officeDocument/2006/relationships/image" Target="../media/image262.png"/><Relationship Id="rId10"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chart" Target="../charts/chart40.xml"/><Relationship Id="rId5" Type="http://schemas.openxmlformats.org/officeDocument/2006/relationships/notesSlide" Target="../notesSlides/notesSlide57.xml"/><Relationship Id="rId6"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chart" Target="../charts/chart42.xml"/><Relationship Id="rId5" Type="http://schemas.openxmlformats.org/officeDocument/2006/relationships/notesSlide" Target="../notesSlides/notesSlide58.xml"/><Relationship Id="rId6"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3.xml"/><Relationship Id="rId4" Type="http://schemas.openxmlformats.org/officeDocument/2006/relationships/notesSlide" Target="../notesSlides/notesSlide61.xml"/><Relationship Id="rId5"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notesSlide" Target="../notesSlides/notesSlide65.xml"/><Relationship Id="rId6"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67.xml"/><Relationship Id="rId6"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notesSlide" Target="../notesSlides/notesSlide68.xml"/><Relationship Id="rId6"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notesSlide" Target="../notesSlides/notesSlide69.xml"/><Relationship Id="rId6"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71.xml"/><Relationship Id="rId5"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73.xml"/><Relationship Id="rId5"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notesSlide" Target="../notesSlides/notesSlide76.xml"/><Relationship Id="rId5"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notesSlide" Target="../notesSlides/notesSlide80.xml"/><Relationship Id="rId6"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361.png"/><Relationship Id="rId5" Type="http://schemas.openxmlformats.org/officeDocument/2006/relationships/image" Target="../media/image362.png"/><Relationship Id="rId6" Type="http://schemas.openxmlformats.org/officeDocument/2006/relationships/image" Target="../media/image363.png"/><Relationship Id="rId7" Type="http://schemas.openxmlformats.org/officeDocument/2006/relationships/image" Target="../media/image364.png"/><Relationship Id="rId8" Type="http://schemas.openxmlformats.org/officeDocument/2006/relationships/image" Target="../media/image365.png"/><Relationship Id="rId9" Type="http://schemas.openxmlformats.org/officeDocument/2006/relationships/image" Target="../media/image74.png"/><Relationship Id="rId10" Type="http://schemas.openxmlformats.org/officeDocument/2006/relationships/image" Target="../media/image366.png"/><Relationship Id="rId11" Type="http://schemas.openxmlformats.org/officeDocument/2006/relationships/image" Target="../media/image367.png"/><Relationship Id="rId12" Type="http://schemas.openxmlformats.org/officeDocument/2006/relationships/image" Target="../media/image160.png"/><Relationship Id="rId13" Type="http://schemas.openxmlformats.org/officeDocument/2006/relationships/image" Target="../media/image368.png"/><Relationship Id="rId14" Type="http://schemas.openxmlformats.org/officeDocument/2006/relationships/image" Target="../media/image369.png"/><Relationship Id="rId15"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notesSlide" Target="../notesSlides/notesSlide83.xml"/><Relationship Id="rId6"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chart" Target="../charts/chart62.xml"/><Relationship Id="rId6" Type="http://schemas.openxmlformats.org/officeDocument/2006/relationships/chart" Target="../charts/chart63.xml"/><Relationship Id="rId7" Type="http://schemas.openxmlformats.org/officeDocument/2006/relationships/notesSlide" Target="../notesSlides/notesSlide84.xml"/><Relationship Id="rId8"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87.xml"/><Relationship Id="rId5"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image" Target="../media/image410.png"/><Relationship Id="rId5" Type="http://schemas.openxmlformats.org/officeDocument/2006/relationships/image" Target="../media/image329.png"/><Relationship Id="rId6" Type="http://schemas.openxmlformats.org/officeDocument/2006/relationships/image" Target="../media/image59.png"/><Relationship Id="rId7" Type="http://schemas.openxmlformats.org/officeDocument/2006/relationships/image" Target="../media/image411.png"/><Relationship Id="rId8" Type="http://schemas.openxmlformats.org/officeDocument/2006/relationships/image" Target="../media/image330.png"/><Relationship Id="rId9" Type="http://schemas.openxmlformats.org/officeDocument/2006/relationships/image" Target="../media/image262.png"/><Relationship Id="rId10"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91.xml"/><Relationship Id="rId6"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notesSlide" Target="../notesSlides/notesSlide92.xml"/><Relationship Id="rId6"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notesSlide" Target="../notesSlides/notesSlide95.xml"/><Relationship Id="rId5"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65.png"/><Relationship Id="rId7" Type="http://schemas.openxmlformats.org/officeDocument/2006/relationships/image" Target="../media/image336.png"/><Relationship Id="rId8" Type="http://schemas.openxmlformats.org/officeDocument/2006/relationships/image" Target="../media/image407.png"/><Relationship Id="rId9" Type="http://schemas.openxmlformats.org/officeDocument/2006/relationships/image" Target="../media/image436.png"/><Relationship Id="rId10" Type="http://schemas.openxmlformats.org/officeDocument/2006/relationships/image" Target="../media/image437.png"/><Relationship Id="rId11" Type="http://schemas.openxmlformats.org/officeDocument/2006/relationships/image" Target="../media/image438.png"/><Relationship Id="rId12" Type="http://schemas.openxmlformats.org/officeDocument/2006/relationships/image" Target="../media/image439.png"/><Relationship Id="rId13"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notesSlide" Target="../notesSlides/notesSlide99.xml"/><Relationship Id="rId6"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chart" Target="../charts/chart74.xml"/><Relationship Id="rId6" Type="http://schemas.openxmlformats.org/officeDocument/2006/relationships/notesSlide" Target="../notesSlides/notesSlide100.xml"/><Relationship Id="rId7"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 Id="rId4"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notesSlide" Target="../notesSlides/notesSlide103.xml"/><Relationship Id="rId5"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image" Target="../media/image472.png"/><Relationship Id="rId5" Type="http://schemas.openxmlformats.org/officeDocument/2006/relationships/image" Target="../media/image473.png"/><Relationship Id="rId6" Type="http://schemas.openxmlformats.org/officeDocument/2006/relationships/image" Target="../media/image259.png"/><Relationship Id="rId7" Type="http://schemas.openxmlformats.org/officeDocument/2006/relationships/image" Target="../media/image431.png"/><Relationship Id="rId8" Type="http://schemas.openxmlformats.org/officeDocument/2006/relationships/image" Target="../media/image474.png"/><Relationship Id="rId9" Type="http://schemas.openxmlformats.org/officeDocument/2006/relationships/image" Target="../media/image475.png"/><Relationship Id="rId10" Type="http://schemas.openxmlformats.org/officeDocument/2006/relationships/image" Target="../media/image476.png"/><Relationship Id="rId11" Type="http://schemas.openxmlformats.org/officeDocument/2006/relationships/image" Target="../media/image477.png"/><Relationship Id="rId12" Type="http://schemas.openxmlformats.org/officeDocument/2006/relationships/image" Target="../media/image478.png"/><Relationship Id="rId13"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notesSlide" Target="../notesSlides/notesSlide107.xml"/><Relationship Id="rId6"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chart" Target="../charts/chart80.xml"/><Relationship Id="rId6" Type="http://schemas.openxmlformats.org/officeDocument/2006/relationships/notesSlide" Target="../notesSlides/notesSlide108.xml"/><Relationship Id="rId7"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notesSlide" Target="../notesSlides/notesSlide111.xml"/><Relationship Id="rId5"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image" Target="../media/image319.png"/><Relationship Id="rId5" Type="http://schemas.openxmlformats.org/officeDocument/2006/relationships/image" Target="../media/image511.png"/><Relationship Id="rId6" Type="http://schemas.openxmlformats.org/officeDocument/2006/relationships/image" Target="../media/image363.png"/><Relationship Id="rId7" Type="http://schemas.openxmlformats.org/officeDocument/2006/relationships/image" Target="../media/image256.png"/><Relationship Id="rId8" Type="http://schemas.openxmlformats.org/officeDocument/2006/relationships/image" Target="../media/image512.png"/><Relationship Id="rId9" Type="http://schemas.openxmlformats.org/officeDocument/2006/relationships/image" Target="../media/image475.png"/><Relationship Id="rId10"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notesSlide" Target="../notesSlides/notesSlide115.xml"/><Relationship Id="rId6"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chart" Target="../charts/chart85.xml"/><Relationship Id="rId5" Type="http://schemas.openxmlformats.org/officeDocument/2006/relationships/notesSlide" Target="../notesSlides/notesSlide116.xml"/><Relationship Id="rId6"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notesSlide" Target="../notesSlides/notesSlide119.xml"/><Relationship Id="rId5"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chart" Target="../charts/chart88.xml"/><Relationship Id="rId5" Type="http://schemas.openxmlformats.org/officeDocument/2006/relationships/chart" Target="../charts/chart89.xml"/><Relationship Id="rId6" Type="http://schemas.openxmlformats.org/officeDocument/2006/relationships/chart" Target="../charts/chart90.xml"/><Relationship Id="rId7" Type="http://schemas.openxmlformats.org/officeDocument/2006/relationships/notesSlide" Target="../notesSlides/notesSlide123.xml"/><Relationship Id="rId8"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chart" Target="../charts/chart92.xml"/><Relationship Id="rId5" Type="http://schemas.openxmlformats.org/officeDocument/2006/relationships/chart" Target="../charts/chart93.xml"/><Relationship Id="rId6" Type="http://schemas.openxmlformats.org/officeDocument/2006/relationships/chart" Target="../charts/chart94.xml"/><Relationship Id="rId7" Type="http://schemas.openxmlformats.org/officeDocument/2006/relationships/notesSlide" Target="../notesSlides/notesSlide124.xml"/><Relationship Id="rId8"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chart" Target="../charts/chart96.xml"/><Relationship Id="rId5" Type="http://schemas.openxmlformats.org/officeDocument/2006/relationships/chart" Target="../charts/chart97.xml"/><Relationship Id="rId6" Type="http://schemas.openxmlformats.org/officeDocument/2006/relationships/chart" Target="../charts/chart98.xml"/><Relationship Id="rId7" Type="http://schemas.openxmlformats.org/officeDocument/2006/relationships/chart" Target="../charts/chart99.xml"/><Relationship Id="rId8" Type="http://schemas.openxmlformats.org/officeDocument/2006/relationships/notesSlide" Target="../notesSlides/notesSlide125.xml"/><Relationship Id="rId9"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notesSlide" Target="../notesSlides/notesSlide126.xml"/><Relationship Id="rId6"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notesSlide" Target="../notesSlides/notesSlide129.xml"/><Relationship Id="rId6"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chart" Target="../charts/chart105.xml"/><Relationship Id="rId5" Type="http://schemas.openxmlformats.org/officeDocument/2006/relationships/notesSlide" Target="../notesSlides/notesSlide132.xml"/><Relationship Id="rId6"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 Id="rId4"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chart" Target="../charts/chart107.xml"/><Relationship Id="rId5" Type="http://schemas.openxmlformats.org/officeDocument/2006/relationships/notesSlide" Target="../notesSlides/notesSlide135.xml"/><Relationship Id="rId6"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 Id="rId4"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chart" Target="../charts/chart109.xml"/><Relationship Id="rId5" Type="http://schemas.openxmlformats.org/officeDocument/2006/relationships/notesSlide" Target="../notesSlides/notesSlide138.xml"/><Relationship Id="rId6"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 Id="rId4"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chart" Target="../charts/chart111.xml"/><Relationship Id="rId5" Type="http://schemas.openxmlformats.org/officeDocument/2006/relationships/notesSlide" Target="../notesSlides/notesSlide143.xml"/><Relationship Id="rId6"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2.xml"/><Relationship Id="rId4" Type="http://schemas.openxmlformats.org/officeDocument/2006/relationships/notesSlide" Target="../notesSlides/notesSlide144.xml"/><Relationship Id="rId5"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notesSlide" Target="../notesSlides/notesSlide179.xml"/><Relationship Id="rId5"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chart" Target="../charts/chart115.xml"/><Relationship Id="rId5" Type="http://schemas.openxmlformats.org/officeDocument/2006/relationships/chart" Target="../charts/chart116.xml"/><Relationship Id="rId6" Type="http://schemas.openxmlformats.org/officeDocument/2006/relationships/notesSlide" Target="../notesSlides/notesSlide180.xml"/><Relationship Id="rId7"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chart" Target="../charts/chart118.xml"/><Relationship Id="rId5" Type="http://schemas.openxmlformats.org/officeDocument/2006/relationships/chart" Target="../charts/chart119.xml"/><Relationship Id="rId6" Type="http://schemas.openxmlformats.org/officeDocument/2006/relationships/notesSlide" Target="../notesSlides/notesSlide181.xml"/><Relationship Id="rId7"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0.xml"/><Relationship Id="rId4" Type="http://schemas.openxmlformats.org/officeDocument/2006/relationships/chart" Target="../charts/chart121.xml"/><Relationship Id="rId5" Type="http://schemas.openxmlformats.org/officeDocument/2006/relationships/chart" Target="../charts/chart122.xml"/><Relationship Id="rId6" Type="http://schemas.openxmlformats.org/officeDocument/2006/relationships/notesSlide" Target="../notesSlides/notesSlide183.xml"/><Relationship Id="rId7"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xml"/><Relationship Id="rId4" Type="http://schemas.openxmlformats.org/officeDocument/2006/relationships/notesSlide" Target="../notesSlides/notesSlide184.xml"/><Relationship Id="rId5"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9.png"/><Relationship Id="rId3" Type="http://schemas.openxmlformats.org/officeDocument/2006/relationships/image" Target="../media/image630.png"/><Relationship Id="rId4" Type="http://schemas.openxmlformats.org/officeDocument/2006/relationships/image" Target="../media/image631.png"/><Relationship Id="rId5" Type="http://schemas.openxmlformats.org/officeDocument/2006/relationships/image" Target="../media/image632.png"/><Relationship Id="rId6" Type="http://schemas.openxmlformats.org/officeDocument/2006/relationships/image" Target="../media/image633.png"/><Relationship Id="rId7" Type="http://schemas.openxmlformats.org/officeDocument/2006/relationships/image" Target="../media/image634.png"/><Relationship Id="rId8" Type="http://schemas.openxmlformats.org/officeDocument/2006/relationships/image" Target="../media/image63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Heavy Commercial Vehicle EPS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55943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96558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38997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81437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323877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64492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Heavy Commercial Vehicle EPS Market Global Overview</a:t>
            </a:r>
          </a:p>
        </p:txBody>
      </p:sp>
      <p:sp>
        <p:nvSpPr>
          <p:cNvPr id="17" name="Rounded Rectangle 16">
            <a:hlinkClick action="ppaction://hlinksldjump" r:id="rId10"/>
          </p:cNvPr>
          <p:cNvSpPr/>
          <p:nvPr/>
        </p:nvSpPr>
        <p:spPr>
          <a:xfrm>
            <a:off x="314325" y="406931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49371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142875" y="491811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Western Europe Market Outlook</a:t>
            </a:r>
          </a:p>
        </p:txBody>
      </p:sp>
      <p:sp>
        <p:nvSpPr>
          <p:cNvPr id="20" name="Rounded Rectangle 19">
            <a:hlinkClick action="ppaction://hlinksldjump" r:id="rId13"/>
          </p:cNvPr>
          <p:cNvSpPr/>
          <p:nvPr/>
        </p:nvSpPr>
        <p:spPr>
          <a:xfrm>
            <a:off x="314325" y="532426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Western Europe Overview</a:t>
            </a:r>
          </a:p>
        </p:txBody>
      </p:sp>
      <p:sp>
        <p:nvSpPr>
          <p:cNvPr id="21" name="Rounded Rectangle 20">
            <a:hlinkClick action="ppaction://hlinksldjump" r:id="rId14"/>
          </p:cNvPr>
          <p:cNvSpPr/>
          <p:nvPr/>
        </p:nvSpPr>
        <p:spPr>
          <a:xfrm>
            <a:off x="314325" y="574866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Western Europe Market Analysis By Country</a:t>
            </a:r>
          </a:p>
        </p:txBody>
      </p:sp>
      <p:sp>
        <p:nvSpPr>
          <p:cNvPr id="22" name="Rounded Rectangle 21">
            <a:hlinkClick action="ppaction://hlinksldjump" r:id="rId15"/>
          </p:cNvPr>
          <p:cNvSpPr/>
          <p:nvPr/>
        </p:nvSpPr>
        <p:spPr>
          <a:xfrm>
            <a:off x="314325" y="617305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Western Europe Market Analysis By Segments</a:t>
            </a:r>
          </a:p>
        </p:txBody>
      </p:sp>
      <p:sp>
        <p:nvSpPr>
          <p:cNvPr id="23" name="Rounded Rectangle 22">
            <a:hlinkClick action="ppaction://hlinksldjump" r:id="rId16"/>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4" name="Rounded Rectangle 23">
            <a:hlinkClick action="ppaction://hlinksldjump" r:id="rId17"/>
          </p:cNvPr>
          <p:cNvSpPr/>
          <p:nvPr/>
        </p:nvSpPr>
        <p:spPr>
          <a:xfrm>
            <a:off x="6391275" y="15814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Heavy Commercial Vehicle EPS Market Overview (Volume &amp; Value)</a:t>
            </a:r>
          </a:p>
        </p:txBody>
      </p:sp>
      <p:sp>
        <p:nvSpPr>
          <p:cNvPr id="25" name="Rounded Rectangle 24">
            <a:hlinkClick action="ppaction://hlinksldjump" r:id="rId18"/>
          </p:cNvPr>
          <p:cNvSpPr/>
          <p:nvPr/>
        </p:nvSpPr>
        <p:spPr>
          <a:xfrm>
            <a:off x="6391275" y="2046062"/>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Segment Overview (Volume &amp; Value)</a:t>
            </a:r>
          </a:p>
        </p:txBody>
      </p:sp>
      <p:sp>
        <p:nvSpPr>
          <p:cNvPr id="26" name="Rounded Rectangle 25">
            <a:hlinkClick action="ppaction://hlinksldjump" r:id="rId19"/>
          </p:cNvPr>
          <p:cNvSpPr/>
          <p:nvPr/>
        </p:nvSpPr>
        <p:spPr>
          <a:xfrm>
            <a:off x="6219825" y="2510702"/>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7" name="Rounded Rectangle 26">
            <a:hlinkClick action="ppaction://hlinksldjump" r:id="rId20"/>
          </p:cNvPr>
          <p:cNvSpPr/>
          <p:nvPr/>
        </p:nvSpPr>
        <p:spPr>
          <a:xfrm>
            <a:off x="6391275" y="295708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Heavy Commercial Vehicle EPS Market Pricing Analysis</a:t>
            </a:r>
          </a:p>
        </p:txBody>
      </p:sp>
      <p:sp>
        <p:nvSpPr>
          <p:cNvPr id="28" name="Rounded Rectangle 27">
            <a:hlinkClick action="ppaction://hlinksldjump" r:id="rId21"/>
          </p:cNvPr>
          <p:cNvSpPr/>
          <p:nvPr/>
        </p:nvSpPr>
        <p:spPr>
          <a:xfrm>
            <a:off x="6391275" y="342172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Supply Chain Analysis</a:t>
            </a:r>
          </a:p>
        </p:txBody>
      </p:sp>
      <p:sp>
        <p:nvSpPr>
          <p:cNvPr id="29" name="Rounded Rectangle 28">
            <a:hlinkClick action="ppaction://hlinksldjump" r:id="rId22"/>
          </p:cNvPr>
          <p:cNvSpPr/>
          <p:nvPr/>
        </p:nvSpPr>
        <p:spPr>
          <a:xfrm>
            <a:off x="6219825" y="388636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0" name="Rounded Rectangle 29">
            <a:hlinkClick action="ppaction://hlinksldjump" r:id="rId23"/>
          </p:cNvPr>
          <p:cNvSpPr/>
          <p:nvPr/>
        </p:nvSpPr>
        <p:spPr>
          <a:xfrm>
            <a:off x="6391275" y="433275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Market Dynamics &amp; Forces</a:t>
            </a:r>
          </a:p>
        </p:txBody>
      </p:sp>
      <p:sp>
        <p:nvSpPr>
          <p:cNvPr id="31" name="Rounded Rectangle 30">
            <a:hlinkClick action="ppaction://hlinksldjump" r:id="rId24"/>
          </p:cNvPr>
          <p:cNvSpPr/>
          <p:nvPr/>
        </p:nvSpPr>
        <p:spPr>
          <a:xfrm>
            <a:off x="6219825" y="4797393"/>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2" name="Rounded Rectangle 31">
            <a:hlinkClick action="ppaction://hlinksldjump" r:id="rId25"/>
          </p:cNvPr>
          <p:cNvSpPr/>
          <p:nvPr/>
        </p:nvSpPr>
        <p:spPr>
          <a:xfrm>
            <a:off x="6391275" y="524377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Competitive Landscape</a:t>
            </a:r>
          </a:p>
        </p:txBody>
      </p:sp>
      <p:sp>
        <p:nvSpPr>
          <p:cNvPr id="33" name="Rounded Rectangle 32">
            <a:hlinkClick action="ppaction://hlinksldjump" r:id="rId26"/>
          </p:cNvPr>
          <p:cNvSpPr/>
          <p:nvPr/>
        </p:nvSpPr>
        <p:spPr>
          <a:xfrm>
            <a:off x="6391275" y="570841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Market Share by Leading Players</a:t>
            </a:r>
          </a:p>
        </p:txBody>
      </p:sp>
      <p:sp>
        <p:nvSpPr>
          <p:cNvPr id="34" name="Rounded Rectangle 33">
            <a:hlinkClick action="ppaction://hlinksldjump" r:id="rId27"/>
          </p:cNvPr>
          <p:cNvSpPr/>
          <p:nvPr/>
        </p:nvSpPr>
        <p:spPr>
          <a:xfrm>
            <a:off x="6391275" y="617305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Company Profiles &amp; Strategic Benchmarking</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Heavy Commercial Vehicle EPS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Heavy Commercial Vehicle EPS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Heavy Commercial Vehicle EPS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vehicle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Heavy Commercial Vehicle EPS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2388616" cy="186689"/>
          </a:xfrm>
          <a:prstGeom prst="rect">
            <a:avLst/>
          </a:prstGeom>
          <a:noFill/>
        </p:spPr>
        <p:txBody>
          <a:bodyPr wrap="none" lIns="0" rIns="0" tIns="0" bIns="0">
            <a:spAutoFit/>
          </a:bodyPr>
          <a:lstStyle/>
          <a:p>
            <a:r>
              <a:rPr sz="1100" b="0">
                <a:solidFill>
                  <a:srgbClr val="2E2E2E"/>
                </a:solidFill>
                <a:latin typeface="Calibri"/>
              </a:rPr>
              <a:t>Heavy Duty Trucks leads Vehicle Type, at</a:t>
            </a:r>
          </a:p>
        </p:txBody>
      </p:sp>
      <p:pic>
        <p:nvPicPr>
          <p:cNvPr id="19" name="Picture 18" descr="lock.png"/>
          <p:cNvPicPr>
            <a:picLocks noChangeAspect="1"/>
          </p:cNvPicPr>
          <p:nvPr/>
        </p:nvPicPr>
        <p:blipFill>
          <a:blip r:embed="rId4"/>
          <a:stretch>
            <a:fillRect/>
          </a:stretch>
        </p:blipFill>
        <p:spPr>
          <a:xfrm>
            <a:off x="6121418" y="2792114"/>
            <a:ext cx="128699" cy="187198"/>
          </a:xfrm>
          <a:prstGeom prst="rect">
            <a:avLst/>
          </a:prstGeom>
        </p:spPr>
      </p:pic>
      <p:sp>
        <p:nvSpPr>
          <p:cNvPr id="20" name="TextBox 19"/>
          <p:cNvSpPr txBox="1"/>
          <p:nvPr/>
        </p:nvSpPr>
        <p:spPr>
          <a:xfrm>
            <a:off x="6288914" y="2801893"/>
            <a:ext cx="2314128" cy="186689"/>
          </a:xfrm>
          <a:prstGeom prst="rect">
            <a:avLst/>
          </a:prstGeom>
          <a:noFill/>
        </p:spPr>
        <p:txBody>
          <a:bodyPr wrap="none" lIns="0" rIns="0" tIns="0" bIns="0">
            <a:spAutoFit/>
          </a:bodyPr>
          <a:lstStyle/>
          <a:p>
            <a:r>
              <a:rPr sz="1100" b="0">
                <a:solidFill>
                  <a:srgbClr val="2E2E2E"/>
                </a:solidFill>
                <a:latin typeface="Calibri"/>
              </a:rPr>
              <a:t>of 2036 value, within a mix of 2 tracked</a:t>
            </a:r>
          </a:p>
        </p:txBody>
      </p:sp>
      <p:sp>
        <p:nvSpPr>
          <p:cNvPr id="21" name="TextBox 20"/>
          <p:cNvSpPr txBox="1"/>
          <p:nvPr/>
        </p:nvSpPr>
        <p:spPr>
          <a:xfrm>
            <a:off x="3784750" y="2969533"/>
            <a:ext cx="698574" cy="186689"/>
          </a:xfrm>
          <a:prstGeom prst="rect">
            <a:avLst/>
          </a:prstGeom>
          <a:noFill/>
        </p:spPr>
        <p:txBody>
          <a:bodyPr wrap="none" lIns="0" rIns="0" tIns="0" bIns="0">
            <a:spAutoFit/>
          </a:bodyPr>
          <a:lstStyle/>
          <a:p>
            <a:r>
              <a:rPr sz="1100" b="0">
                <a:solidFill>
                  <a:srgbClr val="2E2E2E"/>
                </a:solidFill>
                <a:latin typeface="Calibri"/>
              </a:rPr>
              <a:t>categories.</a:t>
            </a:r>
          </a:p>
        </p:txBody>
      </p:sp>
      <p:sp>
        <p:nvSpPr>
          <p:cNvPr id="22" name="TextBox 21"/>
          <p:cNvSpPr txBox="1"/>
          <p:nvPr/>
        </p:nvSpPr>
        <p:spPr>
          <a:xfrm>
            <a:off x="8785375" y="2885713"/>
            <a:ext cx="1531044" cy="186689"/>
          </a:xfrm>
          <a:prstGeom prst="rect">
            <a:avLst/>
          </a:prstGeom>
          <a:noFill/>
        </p:spPr>
        <p:txBody>
          <a:bodyPr wrap="none" lIns="0" rIns="0" tIns="0" bIns="0">
            <a:spAutoFit/>
          </a:bodyPr>
          <a:lstStyle/>
          <a:p>
            <a:r>
              <a:rPr sz="1100" b="0">
                <a:solidFill>
                  <a:srgbClr val="2E2E2E"/>
                </a:solidFill>
                <a:latin typeface="Calibri"/>
              </a:rPr>
              <a:t>Lead: Heavy Duty Trucks ·</a:t>
            </a:r>
          </a:p>
        </p:txBody>
      </p:sp>
      <p:pic>
        <p:nvPicPr>
          <p:cNvPr id="23" name="Picture 22" descr="lock.png"/>
          <p:cNvPicPr>
            <a:picLocks noChangeAspect="1"/>
          </p:cNvPicPr>
          <p:nvPr/>
        </p:nvPicPr>
        <p:blipFill>
          <a:blip r:embed="rId4"/>
          <a:stretch>
            <a:fillRect/>
          </a:stretch>
        </p:blipFill>
        <p:spPr>
          <a:xfrm>
            <a:off x="10264471" y="2875934"/>
            <a:ext cx="128699" cy="187198"/>
          </a:xfrm>
          <a:prstGeom prst="rect">
            <a:avLst/>
          </a:prstGeom>
        </p:spPr>
      </p:pic>
      <p:sp>
        <p:nvSpPr>
          <p:cNvPr id="24" name="TextBox 23"/>
          <p:cNvSpPr txBox="1"/>
          <p:nvPr/>
        </p:nvSpPr>
        <p:spPr>
          <a:xfrm>
            <a:off x="10431966"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5" name="TextBox 24"/>
          <p:cNvSpPr txBox="1"/>
          <p:nvPr/>
        </p:nvSpPr>
        <p:spPr>
          <a:xfrm>
            <a:off x="3784750" y="3842354"/>
            <a:ext cx="3911401" cy="186689"/>
          </a:xfrm>
          <a:prstGeom prst="rect">
            <a:avLst/>
          </a:prstGeom>
          <a:noFill/>
        </p:spPr>
        <p:txBody>
          <a:bodyPr wrap="none" lIns="0" rIns="0" tIns="0" bIns="0">
            <a:spAutoFit/>
          </a:bodyPr>
          <a:lstStyle/>
          <a:p>
            <a:r>
              <a:rPr sz="1100" b="0">
                <a:solidFill>
                  <a:srgbClr val="2E2E2E"/>
                </a:solidFill>
                <a:latin typeface="Calibri"/>
              </a:rPr>
              <a:t>Busses and Coaches is the fastest-growing part of Vehicle Type, at a</a:t>
            </a:r>
          </a:p>
        </p:txBody>
      </p:sp>
      <p:pic>
        <p:nvPicPr>
          <p:cNvPr id="26" name="Picture 25" descr="lock.png"/>
          <p:cNvPicPr>
            <a:picLocks noChangeAspect="1"/>
          </p:cNvPicPr>
          <p:nvPr/>
        </p:nvPicPr>
        <p:blipFill>
          <a:blip r:embed="rId4"/>
          <a:stretch>
            <a:fillRect/>
          </a:stretch>
        </p:blipFill>
        <p:spPr>
          <a:xfrm>
            <a:off x="7644203" y="3832575"/>
            <a:ext cx="128699" cy="187198"/>
          </a:xfrm>
          <a:prstGeom prst="rect">
            <a:avLst/>
          </a:prstGeom>
        </p:spPr>
      </p:pic>
      <p:sp>
        <p:nvSpPr>
          <p:cNvPr id="27" name="TextBox 26"/>
          <p:cNvSpPr txBox="1"/>
          <p:nvPr/>
        </p:nvSpPr>
        <p:spPr>
          <a:xfrm>
            <a:off x="7811698" y="3842354"/>
            <a:ext cx="538410" cy="186689"/>
          </a:xfrm>
          <a:prstGeom prst="rect">
            <a:avLst/>
          </a:prstGeom>
          <a:noFill/>
        </p:spPr>
        <p:txBody>
          <a:bodyPr wrap="none" lIns="0" rIns="0" tIns="0" bIns="0">
            <a:spAutoFit/>
          </a:bodyPr>
          <a:lstStyle/>
          <a:p>
            <a:r>
              <a:rPr sz="1100" b="0">
                <a:solidFill>
                  <a:srgbClr val="2E2E2E"/>
                </a:solidFill>
                <a:latin typeface="Calibri"/>
              </a:rPr>
              <a:t>forecast</a:t>
            </a:r>
          </a:p>
        </p:txBody>
      </p:sp>
      <p:sp>
        <p:nvSpPr>
          <p:cNvPr id="28" name="TextBox 27"/>
          <p:cNvSpPr txBox="1"/>
          <p:nvPr/>
        </p:nvSpPr>
        <p:spPr>
          <a:xfrm>
            <a:off x="3784750" y="4009994"/>
            <a:ext cx="2043169" cy="186689"/>
          </a:xfrm>
          <a:prstGeom prst="rect">
            <a:avLst/>
          </a:prstGeom>
          <a:noFill/>
        </p:spPr>
        <p:txBody>
          <a:bodyPr wrap="none" lIns="0" rIns="0" tIns="0" bIns="0">
            <a:spAutoFit/>
          </a:bodyPr>
          <a:lstStyle/>
          <a:p>
            <a:r>
              <a:rPr sz="1100" b="0">
                <a:solidFill>
                  <a:srgbClr val="2E2E2E"/>
                </a:solidFill>
                <a:latin typeface="Calibri"/>
              </a:rPr>
              <a:t>CAGR outpacing the wider market.</a:t>
            </a:r>
          </a:p>
        </p:txBody>
      </p:sp>
      <p:sp>
        <p:nvSpPr>
          <p:cNvPr id="29" name="TextBox 28"/>
          <p:cNvSpPr txBox="1"/>
          <p:nvPr/>
        </p:nvSpPr>
        <p:spPr>
          <a:xfrm>
            <a:off x="8785375" y="3926174"/>
            <a:ext cx="1747083" cy="186689"/>
          </a:xfrm>
          <a:prstGeom prst="rect">
            <a:avLst/>
          </a:prstGeom>
          <a:noFill/>
        </p:spPr>
        <p:txBody>
          <a:bodyPr wrap="none" lIns="0" rIns="0" tIns="0" bIns="0">
            <a:spAutoFit/>
          </a:bodyPr>
          <a:lstStyle/>
          <a:p>
            <a:r>
              <a:rPr sz="1100" b="0">
                <a:solidFill>
                  <a:srgbClr val="2E2E2E"/>
                </a:solidFill>
                <a:latin typeface="Calibri"/>
              </a:rPr>
              <a:t>Fastest: Busses and Coaches ·</a:t>
            </a:r>
          </a:p>
        </p:txBody>
      </p:sp>
      <p:pic>
        <p:nvPicPr>
          <p:cNvPr id="30" name="Picture 29" descr="lock.png"/>
          <p:cNvPicPr>
            <a:picLocks noChangeAspect="1"/>
          </p:cNvPicPr>
          <p:nvPr/>
        </p:nvPicPr>
        <p:blipFill>
          <a:blip r:embed="rId4"/>
          <a:stretch>
            <a:fillRect/>
          </a:stretch>
        </p:blipFill>
        <p:spPr>
          <a:xfrm>
            <a:off x="10480509" y="3916395"/>
            <a:ext cx="128699" cy="187198"/>
          </a:xfrm>
          <a:prstGeom prst="rect">
            <a:avLst/>
          </a:prstGeom>
        </p:spPr>
      </p:pic>
      <p:sp>
        <p:nvSpPr>
          <p:cNvPr id="31" name="TextBox 30"/>
          <p:cNvSpPr txBox="1"/>
          <p:nvPr/>
        </p:nvSpPr>
        <p:spPr>
          <a:xfrm>
            <a:off x="10648005"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2" name="TextBox 31"/>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3" name="Picture 32" descr="lock.png"/>
          <p:cNvPicPr>
            <a:picLocks noChangeAspect="1"/>
          </p:cNvPicPr>
          <p:nvPr/>
        </p:nvPicPr>
        <p:blipFill>
          <a:blip r:embed="rId4"/>
          <a:stretch>
            <a:fillRect/>
          </a:stretch>
        </p:blipFill>
        <p:spPr>
          <a:xfrm>
            <a:off x="6406275" y="4873036"/>
            <a:ext cx="128699" cy="187198"/>
          </a:xfrm>
          <a:prstGeom prst="rect">
            <a:avLst/>
          </a:prstGeom>
        </p:spPr>
      </p:pic>
      <p:sp>
        <p:nvSpPr>
          <p:cNvPr id="34" name="TextBox 33"/>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5" name="TextBox 34"/>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6" name="Picture 35" descr="lock.png"/>
          <p:cNvPicPr>
            <a:picLocks noChangeAspect="1"/>
          </p:cNvPicPr>
          <p:nvPr/>
        </p:nvPicPr>
        <p:blipFill>
          <a:blip r:embed="rId4"/>
          <a:stretch>
            <a:fillRect/>
          </a:stretch>
        </p:blipFill>
        <p:spPr>
          <a:xfrm>
            <a:off x="5106956" y="5040676"/>
            <a:ext cx="128699" cy="187198"/>
          </a:xfrm>
          <a:prstGeom prst="rect">
            <a:avLst/>
          </a:prstGeom>
        </p:spPr>
      </p:pic>
      <p:sp>
        <p:nvSpPr>
          <p:cNvPr id="37" name="TextBox 36"/>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8" name="TextBox 37"/>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9" name="Picture 38" descr="lock.png"/>
          <p:cNvPicPr>
            <a:picLocks noChangeAspect="1"/>
          </p:cNvPicPr>
          <p:nvPr/>
        </p:nvPicPr>
        <p:blipFill>
          <a:blip r:embed="rId4"/>
          <a:stretch>
            <a:fillRect/>
          </a:stretch>
        </p:blipFill>
        <p:spPr>
          <a:xfrm>
            <a:off x="10197622" y="4873036"/>
            <a:ext cx="128699" cy="187198"/>
          </a:xfrm>
          <a:prstGeom prst="rect">
            <a:avLst/>
          </a:prstGeom>
        </p:spPr>
      </p:pic>
      <p:sp>
        <p:nvSpPr>
          <p:cNvPr id="40" name="TextBox 39"/>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1" name="TextBox 40"/>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2" name="Picture 41" descr="lock.png"/>
          <p:cNvPicPr>
            <a:picLocks noChangeAspect="1"/>
          </p:cNvPicPr>
          <p:nvPr/>
        </p:nvPicPr>
        <p:blipFill>
          <a:blip r:embed="rId4"/>
          <a:stretch>
            <a:fillRect/>
          </a:stretch>
        </p:blipFill>
        <p:spPr>
          <a:xfrm>
            <a:off x="9248099" y="5040676"/>
            <a:ext cx="128699" cy="187198"/>
          </a:xfrm>
          <a:prstGeom prst="rect">
            <a:avLst/>
          </a:prstGeom>
        </p:spPr>
      </p:pic>
      <p:sp>
        <p:nvSpPr>
          <p:cNvPr id="43" name="TextBox 42"/>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5" name="Picture 44" descr="lock.png"/>
          <p:cNvPicPr>
            <a:picLocks noChangeAspect="1"/>
          </p:cNvPicPr>
          <p:nvPr/>
        </p:nvPicPr>
        <p:blipFill>
          <a:blip r:embed="rId4"/>
          <a:stretch>
            <a:fillRect/>
          </a:stretch>
        </p:blipFill>
        <p:spPr>
          <a:xfrm>
            <a:off x="4678579" y="5913497"/>
            <a:ext cx="128699" cy="187198"/>
          </a:xfrm>
          <a:prstGeom prst="rect">
            <a:avLst/>
          </a:prstGeom>
        </p:spPr>
      </p:pic>
      <p:sp>
        <p:nvSpPr>
          <p:cNvPr id="46" name="TextBox 45"/>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7" name="TextBox 46"/>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8" name="TextBox 47"/>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9" name="Picture 48" descr="lock.png"/>
          <p:cNvPicPr>
            <a:picLocks noChangeAspect="1"/>
          </p:cNvPicPr>
          <p:nvPr/>
        </p:nvPicPr>
        <p:blipFill>
          <a:blip r:embed="rId4"/>
          <a:stretch>
            <a:fillRect/>
          </a:stretch>
        </p:blipFill>
        <p:spPr>
          <a:xfrm>
            <a:off x="9591346" y="5997317"/>
            <a:ext cx="128699" cy="187198"/>
          </a:xfrm>
          <a:prstGeom prst="rect">
            <a:avLst/>
          </a:prstGeom>
        </p:spPr>
      </p:pic>
      <p:sp>
        <p:nvSpPr>
          <p:cNvPr id="50" name="TextBox 49"/>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1" name="Picture 50" descr="lock.png"/>
          <p:cNvPicPr>
            <a:picLocks noChangeAspect="1"/>
          </p:cNvPicPr>
          <p:nvPr/>
        </p:nvPicPr>
        <p:blipFill>
          <a:blip r:embed="rId4"/>
          <a:stretch>
            <a:fillRect/>
          </a:stretch>
        </p:blipFill>
        <p:spPr>
          <a:xfrm>
            <a:off x="11052672" y="5997317"/>
            <a:ext cx="128699" cy="187198"/>
          </a:xfrm>
          <a:prstGeom prst="rect">
            <a:avLst/>
          </a:prstGeom>
        </p:spPr>
      </p:pic>
      <p:sp>
        <p:nvSpPr>
          <p:cNvPr id="52" name="TextBox 51"/>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7 regions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2975" y="1846931"/>
            <a:ext cx="1029652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29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574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719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64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8105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250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2395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9650"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9650" y="275961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9650" y="327984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24150"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24150" y="275961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24150" y="327984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38650"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8650" y="275961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38650" y="327984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53150"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53150" y="275961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53150" y="3279846"/>
            <a:ext cx="0" cy="20991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53150" y="3964360"/>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77175"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77175" y="275961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877175" y="3279846"/>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877175" y="3809204"/>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877175" y="4329434"/>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77175" y="4849664"/>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77175" y="5369895"/>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77175" y="5899252"/>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1675"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91675" y="2759616"/>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91675" y="3279846"/>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591675" y="3809204"/>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591675" y="4329434"/>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306175" y="2294147"/>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2759616"/>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3288973"/>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306175" y="3818331"/>
            <a:ext cx="0" cy="219044"/>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306175" y="4338561"/>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306175" y="4867918"/>
            <a:ext cx="0" cy="228171"/>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4629150" y="1080276"/>
            <a:ext cx="293370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Heavy Commercial Vehicle EPS Market</a:t>
            </a:r>
          </a:p>
        </p:txBody>
      </p:sp>
      <p:sp>
        <p:nvSpPr>
          <p:cNvPr id="52" name="Rounded Rectangle 51"/>
          <p:cNvSpPr/>
          <p:nvPr/>
        </p:nvSpPr>
        <p:spPr>
          <a:xfrm>
            <a:off x="142875"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3" name="Rounded Rectangle 52"/>
          <p:cNvSpPr/>
          <p:nvPr/>
        </p:nvSpPr>
        <p:spPr>
          <a:xfrm>
            <a:off x="276225"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4" name="Rounded Rectangle 53"/>
          <p:cNvSpPr/>
          <p:nvPr/>
        </p:nvSpPr>
        <p:spPr>
          <a:xfrm>
            <a:off x="276225" y="297866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5" name="Rounded Rectangle 54"/>
          <p:cNvSpPr/>
          <p:nvPr/>
        </p:nvSpPr>
        <p:spPr>
          <a:xfrm>
            <a:off x="276225" y="3498891"/>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56" name="Rounded Rectangle 55"/>
          <p:cNvSpPr/>
          <p:nvPr/>
        </p:nvSpPr>
        <p:spPr>
          <a:xfrm>
            <a:off x="1857375"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7" name="Rounded Rectangle 56"/>
          <p:cNvSpPr/>
          <p:nvPr/>
        </p:nvSpPr>
        <p:spPr>
          <a:xfrm>
            <a:off x="1990725"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58" name="Rounded Rectangle 57"/>
          <p:cNvSpPr/>
          <p:nvPr/>
        </p:nvSpPr>
        <p:spPr>
          <a:xfrm>
            <a:off x="1990725" y="297866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Argentina</a:t>
            </a:r>
          </a:p>
        </p:txBody>
      </p:sp>
      <p:sp>
        <p:nvSpPr>
          <p:cNvPr id="59" name="Rounded Rectangle 58"/>
          <p:cNvSpPr/>
          <p:nvPr/>
        </p:nvSpPr>
        <p:spPr>
          <a:xfrm>
            <a:off x="1990725" y="3498891"/>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LATAM</a:t>
            </a:r>
          </a:p>
        </p:txBody>
      </p:sp>
      <p:sp>
        <p:nvSpPr>
          <p:cNvPr id="60" name="Rounded Rectangle 59"/>
          <p:cNvSpPr/>
          <p:nvPr/>
        </p:nvSpPr>
        <p:spPr>
          <a:xfrm>
            <a:off x="3571875"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61" name="Rounded Rectangle 60"/>
          <p:cNvSpPr/>
          <p:nvPr/>
        </p:nvSpPr>
        <p:spPr>
          <a:xfrm>
            <a:off x="3705225"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62" name="Rounded Rectangle 61"/>
          <p:cNvSpPr/>
          <p:nvPr/>
        </p:nvSpPr>
        <p:spPr>
          <a:xfrm>
            <a:off x="3705225" y="297866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63" name="Rounded Rectangle 62"/>
          <p:cNvSpPr/>
          <p:nvPr/>
        </p:nvSpPr>
        <p:spPr>
          <a:xfrm>
            <a:off x="3705225" y="3498891"/>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64" name="Rounded Rectangle 63"/>
          <p:cNvSpPr/>
          <p:nvPr/>
        </p:nvSpPr>
        <p:spPr>
          <a:xfrm>
            <a:off x="5286375"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65" name="Rounded Rectangle 64"/>
          <p:cNvSpPr/>
          <p:nvPr/>
        </p:nvSpPr>
        <p:spPr>
          <a:xfrm>
            <a:off x="5419725"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66" name="Rounded Rectangle 65"/>
          <p:cNvSpPr/>
          <p:nvPr/>
        </p:nvSpPr>
        <p:spPr>
          <a:xfrm>
            <a:off x="5419725" y="297866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ASEAN</a:t>
            </a:r>
          </a:p>
        </p:txBody>
      </p:sp>
      <p:sp>
        <p:nvSpPr>
          <p:cNvPr id="67" name="Rounded Rectangle 66"/>
          <p:cNvSpPr/>
          <p:nvPr/>
        </p:nvSpPr>
        <p:spPr>
          <a:xfrm>
            <a:off x="5419725" y="3489764"/>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 &amp; New Zealand</a:t>
            </a:r>
          </a:p>
        </p:txBody>
      </p:sp>
      <p:sp>
        <p:nvSpPr>
          <p:cNvPr id="68" name="Rounded Rectangle 67"/>
          <p:cNvSpPr/>
          <p:nvPr/>
        </p:nvSpPr>
        <p:spPr>
          <a:xfrm>
            <a:off x="5419725" y="4183405"/>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a:t>
            </a:r>
          </a:p>
        </p:txBody>
      </p:sp>
      <p:sp>
        <p:nvSpPr>
          <p:cNvPr id="69" name="Rounded Rectangle 68"/>
          <p:cNvSpPr/>
          <p:nvPr/>
        </p:nvSpPr>
        <p:spPr>
          <a:xfrm>
            <a:off x="7010400"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Western Europe</a:t>
            </a:r>
          </a:p>
        </p:txBody>
      </p:sp>
      <p:sp>
        <p:nvSpPr>
          <p:cNvPr id="70" name="Rounded Rectangle 69"/>
          <p:cNvSpPr/>
          <p:nvPr/>
        </p:nvSpPr>
        <p:spPr>
          <a:xfrm>
            <a:off x="7143750"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71" name="Rounded Rectangle 70"/>
          <p:cNvSpPr/>
          <p:nvPr/>
        </p:nvSpPr>
        <p:spPr>
          <a:xfrm>
            <a:off x="7143750" y="297866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72" name="Rounded Rectangle 71"/>
          <p:cNvSpPr/>
          <p:nvPr/>
        </p:nvSpPr>
        <p:spPr>
          <a:xfrm>
            <a:off x="7143750" y="350801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73" name="Rounded Rectangle 72"/>
          <p:cNvSpPr/>
          <p:nvPr/>
        </p:nvSpPr>
        <p:spPr>
          <a:xfrm>
            <a:off x="7143750" y="402824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74" name="Rounded Rectangle 73"/>
          <p:cNvSpPr/>
          <p:nvPr/>
        </p:nvSpPr>
        <p:spPr>
          <a:xfrm>
            <a:off x="7143750" y="454847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5" name="Rounded Rectangle 74"/>
          <p:cNvSpPr/>
          <p:nvPr/>
        </p:nvSpPr>
        <p:spPr>
          <a:xfrm>
            <a:off x="7143750" y="506870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BENELUX</a:t>
            </a:r>
          </a:p>
        </p:txBody>
      </p:sp>
      <p:sp>
        <p:nvSpPr>
          <p:cNvPr id="76" name="Rounded Rectangle 75"/>
          <p:cNvSpPr/>
          <p:nvPr/>
        </p:nvSpPr>
        <p:spPr>
          <a:xfrm>
            <a:off x="7143750" y="5598066"/>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Nordics</a:t>
            </a:r>
          </a:p>
        </p:txBody>
      </p:sp>
      <p:sp>
        <p:nvSpPr>
          <p:cNvPr id="77" name="Rounded Rectangle 76"/>
          <p:cNvSpPr/>
          <p:nvPr/>
        </p:nvSpPr>
        <p:spPr>
          <a:xfrm>
            <a:off x="7143750" y="6118296"/>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Western Europe</a:t>
            </a:r>
          </a:p>
        </p:txBody>
      </p:sp>
      <p:sp>
        <p:nvSpPr>
          <p:cNvPr id="78" name="Rounded Rectangle 77"/>
          <p:cNvSpPr/>
          <p:nvPr/>
        </p:nvSpPr>
        <p:spPr>
          <a:xfrm>
            <a:off x="8724900"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Eastern Europe</a:t>
            </a:r>
          </a:p>
        </p:txBody>
      </p:sp>
      <p:sp>
        <p:nvSpPr>
          <p:cNvPr id="79" name="Rounded Rectangle 78"/>
          <p:cNvSpPr/>
          <p:nvPr/>
        </p:nvSpPr>
        <p:spPr>
          <a:xfrm>
            <a:off x="8858250"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Hungary</a:t>
            </a:r>
          </a:p>
        </p:txBody>
      </p:sp>
      <p:sp>
        <p:nvSpPr>
          <p:cNvPr id="80" name="Rounded Rectangle 79"/>
          <p:cNvSpPr/>
          <p:nvPr/>
        </p:nvSpPr>
        <p:spPr>
          <a:xfrm>
            <a:off x="8858250" y="297866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81" name="Rounded Rectangle 80"/>
          <p:cNvSpPr/>
          <p:nvPr/>
        </p:nvSpPr>
        <p:spPr>
          <a:xfrm>
            <a:off x="8858250" y="350801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82" name="Rounded Rectangle 81"/>
          <p:cNvSpPr/>
          <p:nvPr/>
        </p:nvSpPr>
        <p:spPr>
          <a:xfrm>
            <a:off x="8858250" y="4028248"/>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Balkan &amp; Baltics</a:t>
            </a:r>
          </a:p>
        </p:txBody>
      </p:sp>
      <p:sp>
        <p:nvSpPr>
          <p:cNvPr id="83" name="Rounded Rectangle 82"/>
          <p:cNvSpPr/>
          <p:nvPr/>
        </p:nvSpPr>
        <p:spPr>
          <a:xfrm>
            <a:off x="8858250" y="4548478"/>
            <a:ext cx="1466850" cy="474596"/>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Eastern Europe</a:t>
            </a:r>
          </a:p>
        </p:txBody>
      </p:sp>
      <p:sp>
        <p:nvSpPr>
          <p:cNvPr id="84" name="Rounded Rectangle 83"/>
          <p:cNvSpPr/>
          <p:nvPr/>
        </p:nvSpPr>
        <p:spPr>
          <a:xfrm>
            <a:off x="10439400" y="2011214"/>
            <a:ext cx="1600200" cy="282932"/>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85" name="Rounded Rectangle 84"/>
          <p:cNvSpPr/>
          <p:nvPr/>
        </p:nvSpPr>
        <p:spPr>
          <a:xfrm>
            <a:off x="10572750" y="2458430"/>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KSA</a:t>
            </a:r>
          </a:p>
        </p:txBody>
      </p:sp>
      <p:sp>
        <p:nvSpPr>
          <p:cNvPr id="86" name="Rounded Rectangle 85"/>
          <p:cNvSpPr/>
          <p:nvPr/>
        </p:nvSpPr>
        <p:spPr>
          <a:xfrm>
            <a:off x="10572750" y="2987787"/>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87" name="Rounded Rectangle 86"/>
          <p:cNvSpPr/>
          <p:nvPr/>
        </p:nvSpPr>
        <p:spPr>
          <a:xfrm>
            <a:off x="10572750" y="3517145"/>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a:t>
            </a:r>
          </a:p>
        </p:txBody>
      </p:sp>
      <p:sp>
        <p:nvSpPr>
          <p:cNvPr id="88" name="Rounded Rectangle 87"/>
          <p:cNvSpPr/>
          <p:nvPr/>
        </p:nvSpPr>
        <p:spPr>
          <a:xfrm>
            <a:off x="10572750" y="4037375"/>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89" name="Rounded Rectangle 88"/>
          <p:cNvSpPr/>
          <p:nvPr/>
        </p:nvSpPr>
        <p:spPr>
          <a:xfrm>
            <a:off x="10572750" y="4566732"/>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Northern Africa</a:t>
            </a:r>
          </a:p>
        </p:txBody>
      </p:sp>
      <p:sp>
        <p:nvSpPr>
          <p:cNvPr id="90" name="Rounded Rectangle 89"/>
          <p:cNvSpPr/>
          <p:nvPr/>
        </p:nvSpPr>
        <p:spPr>
          <a:xfrm>
            <a:off x="10572750" y="5096089"/>
            <a:ext cx="146685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Middle East</a:t>
            </a:r>
          </a:p>
        </p:txBody>
      </p:sp>
      <p:sp>
        <p:nvSpPr>
          <p:cNvPr id="91" name="TextBox 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5 axes and the sub-segments sized under each</a:t>
            </a:r>
          </a:p>
        </p:txBody>
      </p:sp>
      <p:sp>
        <p:nvSpPr>
          <p:cNvPr id="10" name="Rectangle 9"/>
          <p:cNvSpPr/>
          <p:nvPr/>
        </p:nvSpPr>
        <p:spPr>
          <a:xfrm>
            <a:off x="1428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System Architecture</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Recirculating Ball and Nut Type</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Rack Assist</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Column Assist</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Steer by Wire</a:t>
            </a:r>
          </a:p>
        </p:txBody>
      </p:sp>
      <p:sp>
        <p:nvSpPr>
          <p:cNvPr id="24" name="Rectangle 23"/>
          <p:cNvSpPr/>
          <p:nvPr/>
        </p:nvSpPr>
        <p:spPr>
          <a:xfrm>
            <a:off x="31527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Vehicle Type</a:t>
            </a:r>
          </a:p>
        </p:txBody>
      </p:sp>
      <p:sp>
        <p:nvSpPr>
          <p:cNvPr id="27" name="TextBox 26"/>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8" name="TextBox 27"/>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Heavy Duty Trucks</a:t>
            </a:r>
          </a:p>
        </p:txBody>
      </p:sp>
      <p:cxnSp>
        <p:nvCxnSpPr>
          <p:cNvPr id="29" name="Connector 28"/>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 name="TextBox 30"/>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Busses and Coaches</a:t>
            </a:r>
          </a:p>
        </p:txBody>
      </p:sp>
      <p:sp>
        <p:nvSpPr>
          <p:cNvPr id="32" name="Rectangle 31"/>
          <p:cNvSpPr/>
          <p:nvPr/>
        </p:nvSpPr>
        <p:spPr>
          <a:xfrm>
            <a:off x="3152775" y="172593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52775" y="172593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8975" y="172593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Demand Type</a:t>
            </a:r>
          </a:p>
        </p:txBody>
      </p:sp>
      <p:sp>
        <p:nvSpPr>
          <p:cNvPr id="35" name="TextBox 34"/>
          <p:cNvSpPr txBox="1"/>
          <p:nvPr/>
        </p:nvSpPr>
        <p:spPr>
          <a:xfrm>
            <a:off x="3209925" y="19545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6" name="TextBox 35"/>
          <p:cNvSpPr txBox="1"/>
          <p:nvPr/>
        </p:nvSpPr>
        <p:spPr>
          <a:xfrm>
            <a:off x="3400425" y="19545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OEM</a:t>
            </a:r>
          </a:p>
        </p:txBody>
      </p:sp>
      <p:cxnSp>
        <p:nvCxnSpPr>
          <p:cNvPr id="37" name="Connector 36"/>
          <p:cNvCxnSpPr/>
          <p:nvPr/>
        </p:nvCxnSpPr>
        <p:spPr>
          <a:xfrm>
            <a:off x="3162300" y="21316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2099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9" name="TextBox 38"/>
          <p:cNvSpPr txBox="1"/>
          <p:nvPr/>
        </p:nvSpPr>
        <p:spPr>
          <a:xfrm>
            <a:off x="34004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Aftermaket</a:t>
            </a:r>
          </a:p>
        </p:txBody>
      </p:sp>
      <p:sp>
        <p:nvSpPr>
          <p:cNvPr id="40" name="Rectangle 39"/>
          <p:cNvSpPr/>
          <p:nvPr/>
        </p:nvSpPr>
        <p:spPr>
          <a:xfrm>
            <a:off x="61626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Gross Vehicle Weight</a:t>
            </a:r>
          </a:p>
        </p:txBody>
      </p:sp>
      <p:sp>
        <p:nvSpPr>
          <p:cNvPr id="43" name="TextBox 42"/>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16 to 26 Tons</a:t>
            </a:r>
          </a:p>
        </p:txBody>
      </p:sp>
      <p:cxnSp>
        <p:nvCxnSpPr>
          <p:cNvPr id="45" name="Connector 44"/>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26 to 40 Tons</a:t>
            </a:r>
          </a:p>
        </p:txBody>
      </p:sp>
      <p:cxnSp>
        <p:nvCxnSpPr>
          <p:cNvPr id="48" name="Connector 47"/>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40 Tons</a:t>
            </a:r>
          </a:p>
        </p:txBody>
      </p:sp>
      <p:sp>
        <p:nvSpPr>
          <p:cNvPr id="51" name="Rectangle 50"/>
          <p:cNvSpPr/>
          <p:nvPr/>
        </p:nvSpPr>
        <p:spPr>
          <a:xfrm>
            <a:off x="91725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Propulsion Type</a:t>
            </a:r>
          </a:p>
        </p:txBody>
      </p:sp>
      <p:sp>
        <p:nvSpPr>
          <p:cNvPr id="54" name="TextBox 53"/>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Internal Combustion Engine</a:t>
            </a:r>
          </a:p>
        </p:txBody>
      </p:sp>
      <p:cxnSp>
        <p:nvCxnSpPr>
          <p:cNvPr id="56" name="Connector 55"/>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Electric</a:t>
            </a:r>
          </a:p>
        </p:txBody>
      </p:sp>
      <p:cxnSp>
        <p:nvCxnSpPr>
          <p:cNvPr id="59" name="Connector 58"/>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1" name="TextBox 60"/>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Hybrid</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Heavy Commercial Vehicle EPS Market profiled and benchmarked in the Competition Assessment section.</a:t>
            </a:r>
          </a:p>
        </p:txBody>
      </p:sp>
      <p:sp>
        <p:nvSpPr>
          <p:cNvPr id="11" name="Rectangle 10"/>
          <p:cNvSpPr/>
          <p:nvPr/>
        </p:nvSpPr>
        <p:spPr>
          <a:xfrm>
            <a:off x="142875" y="1609633"/>
            <a:ext cx="5857875" cy="4545171"/>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160963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167352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188343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188343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Bosch</a:t>
            </a:r>
          </a:p>
        </p:txBody>
      </p:sp>
      <p:sp>
        <p:nvSpPr>
          <p:cNvPr id="16" name="Rectangle 15"/>
          <p:cNvSpPr/>
          <p:nvPr/>
        </p:nvSpPr>
        <p:spPr>
          <a:xfrm>
            <a:off x="152400" y="235803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35803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ZF</a:t>
            </a:r>
          </a:p>
        </p:txBody>
      </p:sp>
      <p:cxnSp>
        <p:nvCxnSpPr>
          <p:cNvPr id="20" name="Connector 19"/>
          <p:cNvCxnSpPr/>
          <p:nvPr/>
        </p:nvCxnSpPr>
        <p:spPr>
          <a:xfrm>
            <a:off x="152400"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Knorr-Bremse</a:t>
            </a:r>
          </a:p>
        </p:txBody>
      </p:sp>
      <p:sp>
        <p:nvSpPr>
          <p:cNvPr id="23" name="Rectangle 22"/>
          <p:cNvSpPr/>
          <p:nvPr/>
        </p:nvSpPr>
        <p:spPr>
          <a:xfrm>
            <a:off x="152400"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thyssenkrupp</a:t>
            </a:r>
          </a:p>
        </p:txBody>
      </p:sp>
      <p:cxnSp>
        <p:nvCxnSpPr>
          <p:cNvPr id="27" name="Connector 26"/>
          <p:cNvCxnSpPr/>
          <p:nvPr/>
        </p:nvCxnSpPr>
        <p:spPr>
          <a:xfrm>
            <a:off x="152400"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JTEKT</a:t>
            </a:r>
          </a:p>
        </p:txBody>
      </p:sp>
      <p:sp>
        <p:nvSpPr>
          <p:cNvPr id="30" name="Rectangle 29"/>
          <p:cNvSpPr/>
          <p:nvPr/>
        </p:nvSpPr>
        <p:spPr>
          <a:xfrm>
            <a:off x="152400"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Nexteer Automotive</a:t>
            </a:r>
          </a:p>
        </p:txBody>
      </p:sp>
      <p:cxnSp>
        <p:nvCxnSpPr>
          <p:cNvPr id="34" name="Connector 33"/>
          <p:cNvCxnSpPr/>
          <p:nvPr/>
        </p:nvCxnSpPr>
        <p:spPr>
          <a:xfrm>
            <a:off x="152400"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NSK</a:t>
            </a:r>
          </a:p>
        </p:txBody>
      </p:sp>
      <p:sp>
        <p:nvSpPr>
          <p:cNvPr id="37" name="Rectangle 36"/>
          <p:cNvSpPr/>
          <p:nvPr/>
        </p:nvSpPr>
        <p:spPr>
          <a:xfrm>
            <a:off x="152400" y="5205612"/>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52400"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Hyundai Mobis</a:t>
            </a:r>
          </a:p>
        </p:txBody>
      </p:sp>
      <p:cxnSp>
        <p:nvCxnSpPr>
          <p:cNvPr id="41" name="Connector 40"/>
          <p:cNvCxnSpPr/>
          <p:nvPr/>
        </p:nvCxnSpPr>
        <p:spPr>
          <a:xfrm>
            <a:off x="152400" y="568020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33375" y="5680208"/>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3" name="TextBox 42"/>
          <p:cNvSpPr txBox="1"/>
          <p:nvPr/>
        </p:nvSpPr>
        <p:spPr>
          <a:xfrm>
            <a:off x="581025" y="5680208"/>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HL Mando</a:t>
            </a:r>
          </a:p>
        </p:txBody>
      </p:sp>
      <p:sp>
        <p:nvSpPr>
          <p:cNvPr id="44" name="Rectangle 43"/>
          <p:cNvSpPr/>
          <p:nvPr/>
        </p:nvSpPr>
        <p:spPr>
          <a:xfrm>
            <a:off x="6191250" y="1609633"/>
            <a:ext cx="5857875" cy="4545171"/>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91250" y="160963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1250" y="167352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47" name="TextBox 46"/>
          <p:cNvSpPr txBox="1"/>
          <p:nvPr/>
        </p:nvSpPr>
        <p:spPr>
          <a:xfrm>
            <a:off x="6381750" y="188343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8" name="TextBox 47"/>
          <p:cNvSpPr txBox="1"/>
          <p:nvPr/>
        </p:nvSpPr>
        <p:spPr>
          <a:xfrm>
            <a:off x="6629400" y="188343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China Automotive Systems</a:t>
            </a:r>
          </a:p>
        </p:txBody>
      </p:sp>
      <p:sp>
        <p:nvSpPr>
          <p:cNvPr id="49" name="Rectangle 48"/>
          <p:cNvSpPr/>
          <p:nvPr/>
        </p:nvSpPr>
        <p:spPr>
          <a:xfrm>
            <a:off x="6200775" y="235803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6200775" y="235803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81750"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2" name="TextBox 51"/>
          <p:cNvSpPr txBox="1"/>
          <p:nvPr/>
        </p:nvSpPr>
        <p:spPr>
          <a:xfrm>
            <a:off x="6629400"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Schaeffler</a:t>
            </a:r>
          </a:p>
        </p:txBody>
      </p:sp>
      <p:cxnSp>
        <p:nvCxnSpPr>
          <p:cNvPr id="53" name="Connector 52"/>
          <p:cNvCxnSpPr/>
          <p:nvPr/>
        </p:nvCxnSpPr>
        <p:spPr>
          <a:xfrm>
            <a:off x="6200775"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381750"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5" name="TextBox 54"/>
          <p:cNvSpPr txBox="1"/>
          <p:nvPr/>
        </p:nvSpPr>
        <p:spPr>
          <a:xfrm>
            <a:off x="6629400"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Hitachi Astemo</a:t>
            </a:r>
          </a:p>
        </p:txBody>
      </p:sp>
      <p:sp>
        <p:nvSpPr>
          <p:cNvPr id="56" name="Rectangle 55"/>
          <p:cNvSpPr/>
          <p:nvPr/>
        </p:nvSpPr>
        <p:spPr>
          <a:xfrm>
            <a:off x="6200775"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200775"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Rane Group</a:t>
            </a:r>
          </a:p>
        </p:txBody>
      </p:sp>
      <p:cxnSp>
        <p:nvCxnSpPr>
          <p:cNvPr id="60" name="Connector 59"/>
          <p:cNvCxnSpPr/>
          <p:nvPr/>
        </p:nvCxnSpPr>
        <p:spPr>
          <a:xfrm>
            <a:off x="6200775"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81750"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2" name="TextBox 61"/>
          <p:cNvSpPr txBox="1"/>
          <p:nvPr/>
        </p:nvSpPr>
        <p:spPr>
          <a:xfrm>
            <a:off x="6629400"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Kongsberg Automotive</a:t>
            </a:r>
          </a:p>
        </p:txBody>
      </p:sp>
      <p:sp>
        <p:nvSpPr>
          <p:cNvPr id="63" name="Rectangle 62"/>
          <p:cNvSpPr/>
          <p:nvPr/>
        </p:nvSpPr>
        <p:spPr>
          <a:xfrm>
            <a:off x="6200775"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6200775"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81750"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6" name="TextBox 65"/>
          <p:cNvSpPr txBox="1"/>
          <p:nvPr/>
        </p:nvSpPr>
        <p:spPr>
          <a:xfrm>
            <a:off x="6629400"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Mando</a:t>
            </a:r>
          </a:p>
        </p:txBody>
      </p:sp>
      <p:cxnSp>
        <p:nvCxnSpPr>
          <p:cNvPr id="67" name="Connector 66"/>
          <p:cNvCxnSpPr/>
          <p:nvPr/>
        </p:nvCxnSpPr>
        <p:spPr>
          <a:xfrm>
            <a:off x="6200775"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381750"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9" name="TextBox 68"/>
          <p:cNvSpPr txBox="1"/>
          <p:nvPr/>
        </p:nvSpPr>
        <p:spPr>
          <a:xfrm>
            <a:off x="6629400"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Aptiv</a:t>
            </a:r>
          </a:p>
        </p:txBody>
      </p:sp>
      <p:sp>
        <p:nvSpPr>
          <p:cNvPr id="70" name="Rectangle 69"/>
          <p:cNvSpPr/>
          <p:nvPr/>
        </p:nvSpPr>
        <p:spPr>
          <a:xfrm>
            <a:off x="6200775" y="5205612"/>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6200775"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3" name="TextBox 72"/>
          <p:cNvSpPr txBox="1"/>
          <p:nvPr/>
        </p:nvSpPr>
        <p:spPr>
          <a:xfrm>
            <a:off x="6629400"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REE Automotive</a:t>
            </a:r>
          </a:p>
        </p:txBody>
      </p:sp>
      <p:cxnSp>
        <p:nvCxnSpPr>
          <p:cNvPr id="74" name="Connector 73"/>
          <p:cNvCxnSpPr/>
          <p:nvPr/>
        </p:nvCxnSpPr>
        <p:spPr>
          <a:xfrm>
            <a:off x="6200775" y="568020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81750" y="5680208"/>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6" name="TextBox 75"/>
          <p:cNvSpPr txBox="1"/>
          <p:nvPr/>
        </p:nvSpPr>
        <p:spPr>
          <a:xfrm>
            <a:off x="6629400" y="5680208"/>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Danfoss Power Solutions</a:t>
            </a:r>
          </a:p>
        </p:txBody>
      </p:sp>
      <p:sp>
        <p:nvSpPr>
          <p:cNvPr id="77" name="TextBox 76"/>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78" name="TextBox 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Demand Side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Supply Side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Technology Roadmap</a:t>
                      </a:r>
                      <a:endParaRPr sz="1100"/>
                    </a:p>
                  </a:txBody>
                  <a:tcPr marL="4286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Analysis and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 Scope / Limitations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Key Market Trends</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Key Trends Impacting the Market</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Product Innovation / Development Trends</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Key Success Factors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Product Adoption / Usage Analysis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Product USPs / Features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Strategic Promotional Strategies</a:t>
                      </a:r>
                      <a:endParaRPr sz="1100"/>
                    </a:p>
                  </a:txBody>
                  <a:tcPr marL="428625" marR="9525" marT="9525" marB="0" anchor="ctr"/>
                </a:tc>
              </a:tr>
              <a:tr h="35052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Heavy Commercial Vehicle EPS Market Demand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Historical Market Volume (Units) Analysis, 2021–2025</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Current and Future Market Volume (Units) Projections, 2026–2036</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Heavy Commercial Vehicle EPS Market - Pricing Analysis</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Regional Pricing Analysis By System Architecture</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Global Average Pricing Analysis Benchmark</a:t>
                      </a:r>
                      <a:endParaRPr sz="1100"/>
                    </a:p>
                  </a:txBody>
                  <a:tcPr marL="428625" marR="9525" marT="9525" marB="0" anchor="ctr"/>
                </a:tc>
              </a:tr>
              <a:tr h="35052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Heavy Commercial Vehicle EPS Market Demand (US$ Mn)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Historical Market Value (US$ Mn) Analysis, 2021–2025</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Current and Future Market Value (US$ Mn) Projections, 2026–2036</a:t>
                      </a:r>
                      <a:endParaRPr sz="1100"/>
                    </a:p>
                  </a:txBody>
                  <a:tcPr marL="428625" marR="9525" marT="9525" marB="0" anchor="ctr"/>
                </a:tc>
              </a:tr>
              <a:tr h="175260">
                <a:tc>
                  <a:txBody>
                    <a:bodyPr wrap="square"/>
                    <a:lstStyle/>
                    <a:p>
                      <a:pPr algn="l"/>
                      <a:r>
                        <a:rPr sz="1100" b="0" i="0">
                          <a:solidFill>
                            <a:srgbClr val="000000"/>
                          </a:solidFill>
                          <a:latin typeface="Calibri"/>
                        </a:rPr>
                        <a:t>7.2.1.</a:t>
                      </a:r>
                      <a:r>
                        <a:rPr sz="700" b="0" i="0">
                          <a:solidFill>
                            <a:srgbClr val="000000"/>
                          </a:solidFill>
                          <a:latin typeface="Times New Roman"/>
                        </a:rPr>
                        <a:t>   </a:t>
                      </a:r>
                      <a:r>
                        <a:rPr sz="1100" b="0" i="0">
                          <a:solidFill>
                            <a:srgbClr val="000000"/>
                          </a:solidFill>
                          <a:latin typeface="Calibri"/>
                        </a:rPr>
                        <a:t>Y-o-Y Growth Trend Analysis</a:t>
                      </a:r>
                      <a:endParaRPr sz="1100"/>
                    </a:p>
                  </a:txBody>
                  <a:tcPr marL="771525" marR="9525" marT="9525" marB="0" anchor="ctr"/>
                </a:tc>
              </a:tr>
              <a:tr h="175260">
                <a:tc>
                  <a:txBody>
                    <a:bodyPr wrap="square"/>
                    <a:lstStyle/>
                    <a:p>
                      <a:pPr algn="l"/>
                      <a:r>
                        <a:rPr sz="1100" b="0" i="0">
                          <a:solidFill>
                            <a:srgbClr val="000000"/>
                          </a:solidFill>
                          <a:latin typeface="Calibri"/>
                        </a:rPr>
                        <a:t>7.2.2.</a:t>
                      </a:r>
                      <a:r>
                        <a:rPr sz="700" b="0" i="0">
                          <a:solidFill>
                            <a:srgbClr val="000000"/>
                          </a:solidFill>
                          <a:latin typeface="Times New Roman"/>
                        </a:rPr>
                        <a:t>   </a:t>
                      </a:r>
                      <a:r>
                        <a:rPr sz="1100" b="0" i="0">
                          <a:solidFill>
                            <a:srgbClr val="000000"/>
                          </a:solidFill>
                          <a:latin typeface="Calibri"/>
                        </a:rPr>
                        <a:t>Absolute $ Opportunity Analysis</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Market Background</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Macro-Economic Factors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Forecast Factors - Relevance &amp; Impact</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Value Chain</a:t>
                      </a:r>
                      <a:endParaRPr sz="1100"/>
                    </a:p>
                  </a:txBody>
                  <a:tcPr marL="428625" marR="9525" marT="9525" marB="0" anchor="ctr"/>
                </a:tc>
              </a:tr>
              <a:tr h="175260">
                <a:tc>
                  <a:txBody>
                    <a:bodyPr wrap="square"/>
                    <a:lstStyle/>
                    <a:p>
                      <a:pPr algn="l"/>
                      <a:r>
                        <a:rPr sz="1100" b="0" i="0">
                          <a:solidFill>
                            <a:srgbClr val="000000"/>
                          </a:solidFill>
                          <a:latin typeface="Calibri"/>
                        </a:rPr>
                        <a:t>8.3.1.</a:t>
                      </a:r>
                      <a:r>
                        <a:rPr sz="700" b="0" i="0">
                          <a:solidFill>
                            <a:srgbClr val="000000"/>
                          </a:solidFill>
                          <a:latin typeface="Times New Roman"/>
                        </a:rPr>
                        <a:t>   </a:t>
                      </a:r>
                      <a:r>
                        <a:rPr sz="1100" b="0" i="0">
                          <a:solidFill>
                            <a:srgbClr val="000000"/>
                          </a:solidFill>
                          <a:latin typeface="Calibri"/>
                        </a:rPr>
                        <a:t>Component Suppliers</a:t>
                      </a:r>
                      <a:endParaRPr sz="1100"/>
                    </a:p>
                  </a:txBody>
                  <a:tcPr marL="771525" marR="9525" marT="9525" marB="0" anchor="ctr"/>
                </a:tc>
              </a:tr>
              <a:tr h="175260">
                <a:tc>
                  <a:txBody>
                    <a:bodyPr wrap="square"/>
                    <a:lstStyle/>
                    <a:p>
                      <a:pPr algn="l"/>
                      <a:r>
                        <a:rPr sz="1100" b="0" i="0">
                          <a:solidFill>
                            <a:srgbClr val="000000"/>
                          </a:solidFill>
                          <a:latin typeface="Calibri"/>
                        </a:rPr>
                        <a:t>8.3.2.</a:t>
                      </a:r>
                      <a:r>
                        <a:rPr sz="700" b="0" i="0">
                          <a:solidFill>
                            <a:srgbClr val="000000"/>
                          </a:solidFill>
                          <a:latin typeface="Times New Roman"/>
                        </a:rPr>
                        <a:t>   </a:t>
                      </a:r>
                      <a:r>
                        <a:rPr sz="1100" b="0" i="0">
                          <a:solidFill>
                            <a:srgbClr val="000000"/>
                          </a:solidFill>
                          <a:latin typeface="Calibri"/>
                        </a:rPr>
                        <a:t>Product Manufacturers</a:t>
                      </a:r>
                      <a:endParaRPr sz="1100"/>
                    </a:p>
                  </a:txBody>
                  <a:tcPr marL="771525" marR="9525" marT="9525" marB="0" anchor="ctr"/>
                </a:tc>
              </a:tr>
              <a:tr h="175260">
                <a:tc>
                  <a:txBody>
                    <a:bodyPr wrap="square"/>
                    <a:lstStyle/>
                    <a:p>
                      <a:pPr algn="l"/>
                      <a:r>
                        <a:rPr sz="1100" b="0" i="0">
                          <a:solidFill>
                            <a:srgbClr val="000000"/>
                          </a:solidFill>
                          <a:latin typeface="Calibri"/>
                        </a:rPr>
                        <a:t>8.3.3.</a:t>
                      </a:r>
                      <a:r>
                        <a:rPr sz="700" b="0" i="0">
                          <a:solidFill>
                            <a:srgbClr val="000000"/>
                          </a:solidFill>
                          <a:latin typeface="Times New Roman"/>
                        </a:rPr>
                        <a:t>   </a:t>
                      </a:r>
                      <a:r>
                        <a:rPr sz="1100" b="0" i="0">
                          <a:solidFill>
                            <a:srgbClr val="000000"/>
                          </a:solidFill>
                          <a:latin typeface="Calibri"/>
                        </a:rPr>
                        <a:t>End Customers</a:t>
                      </a:r>
                      <a:endParaRPr sz="1100"/>
                    </a:p>
                  </a:txBody>
                  <a:tcPr marL="7715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Dynamics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Drivers</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Restraints</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Opportunity Analysis</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Heavy Commercial Vehicle EPS Market Outlook, 2021–2036, by System Architecture</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Historical Market Size (US$ Mn) and Volume Analysis By System Architecture, 2021–2025</a:t>
                      </a:r>
                      <a:endParaRPr sz="1100"/>
                    </a:p>
                  </a:txBody>
                  <a:tcPr marL="428625" marR="9525" marT="9525" marB="0" anchor="ctr"/>
                </a:tc>
              </a:tr>
              <a:tr h="35052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Market Size (US$ Mn) and Volume Analysis and Forecast By System Architecture, 2026–2036</a:t>
                      </a:r>
                      <a:endParaRPr sz="1100"/>
                    </a:p>
                  </a:txBody>
                  <a:tcPr marL="428625" marR="9525" marT="9525" marB="0" anchor="ctr"/>
                </a:tc>
              </a:tr>
              <a:tr h="175260">
                <a:tc>
                  <a:txBody>
                    <a:bodyPr wrap="square"/>
                    <a:lstStyle/>
                    <a:p>
                      <a:pPr algn="l"/>
                      <a:r>
                        <a:rPr sz="1100" b="0" i="0">
                          <a:solidFill>
                            <a:srgbClr val="000000"/>
                          </a:solidFill>
                          <a:latin typeface="Calibri"/>
                        </a:rPr>
                        <a:t>9.3.1.</a:t>
                      </a:r>
                      <a:r>
                        <a:rPr sz="700" b="0" i="0">
                          <a:solidFill>
                            <a:srgbClr val="000000"/>
                          </a:solidFill>
                          <a:latin typeface="Times New Roman"/>
                        </a:rPr>
                        <a:t>   </a:t>
                      </a:r>
                      <a:r>
                        <a:rPr sz="1100" b="0" i="0">
                          <a:solidFill>
                            <a:srgbClr val="000000"/>
                          </a:solidFill>
                          <a:latin typeface="Calibri"/>
                        </a:rPr>
                        <a:t>Recirculating Ball and Nut Type</a:t>
                      </a:r>
                      <a:endParaRPr sz="1100"/>
                    </a:p>
                  </a:txBody>
                  <a:tcPr marL="771525" marR="9525" marT="9525" marB="0" anchor="ctr"/>
                </a:tc>
              </a:tr>
              <a:tr h="175260">
                <a:tc>
                  <a:txBody>
                    <a:bodyPr wrap="square"/>
                    <a:lstStyle/>
                    <a:p>
                      <a:pPr algn="l"/>
                      <a:r>
                        <a:rPr sz="1100" b="0" i="0">
                          <a:solidFill>
                            <a:srgbClr val="000000"/>
                          </a:solidFill>
                          <a:latin typeface="Calibri"/>
                        </a:rPr>
                        <a:t>9.3.2.</a:t>
                      </a:r>
                      <a:r>
                        <a:rPr sz="700" b="0" i="0">
                          <a:solidFill>
                            <a:srgbClr val="000000"/>
                          </a:solidFill>
                          <a:latin typeface="Times New Roman"/>
                        </a:rPr>
                        <a:t>   </a:t>
                      </a:r>
                      <a:r>
                        <a:rPr sz="1100" b="0" i="0">
                          <a:solidFill>
                            <a:srgbClr val="000000"/>
                          </a:solidFill>
                          <a:latin typeface="Calibri"/>
                        </a:rPr>
                        <a:t>Rack Assist</a:t>
                      </a:r>
                      <a:endParaRPr sz="1100"/>
                    </a:p>
                  </a:txBody>
                  <a:tcPr marL="771525" marR="9525" marT="9525" marB="0" anchor="ctr"/>
                </a:tc>
              </a:tr>
              <a:tr h="175260">
                <a:tc>
                  <a:txBody>
                    <a:bodyPr wrap="square"/>
                    <a:lstStyle/>
                    <a:p>
                      <a:pPr algn="l"/>
                      <a:r>
                        <a:rPr sz="1100" b="0" i="0">
                          <a:solidFill>
                            <a:srgbClr val="000000"/>
                          </a:solidFill>
                          <a:latin typeface="Calibri"/>
                        </a:rPr>
                        <a:t>9.3.3.</a:t>
                      </a:r>
                      <a:r>
                        <a:rPr sz="700" b="0" i="0">
                          <a:solidFill>
                            <a:srgbClr val="000000"/>
                          </a:solidFill>
                          <a:latin typeface="Times New Roman"/>
                        </a:rPr>
                        <a:t>   </a:t>
                      </a:r>
                      <a:r>
                        <a:rPr sz="1100" b="0" i="0">
                          <a:solidFill>
                            <a:srgbClr val="000000"/>
                          </a:solidFill>
                          <a:latin typeface="Calibri"/>
                        </a:rPr>
                        <a:t>Column Assist</a:t>
                      </a:r>
                      <a:endParaRPr sz="1100"/>
                    </a:p>
                  </a:txBody>
                  <a:tcPr marL="771525" marR="9525" marT="9525" marB="0" anchor="ctr"/>
                </a:tc>
              </a:tr>
              <a:tr h="175260">
                <a:tc>
                  <a:txBody>
                    <a:bodyPr wrap="square"/>
                    <a:lstStyle/>
                    <a:p>
                      <a:pPr algn="l"/>
                      <a:r>
                        <a:rPr sz="1100" b="0" i="0">
                          <a:solidFill>
                            <a:srgbClr val="000000"/>
                          </a:solidFill>
                          <a:latin typeface="Calibri"/>
                        </a:rPr>
                        <a:t>9.3.4.</a:t>
                      </a:r>
                      <a:r>
                        <a:rPr sz="700" b="0" i="0">
                          <a:solidFill>
                            <a:srgbClr val="000000"/>
                          </a:solidFill>
                          <a:latin typeface="Times New Roman"/>
                        </a:rPr>
                        <a:t>   </a:t>
                      </a:r>
                      <a:r>
                        <a:rPr sz="1100" b="0" i="0">
                          <a:solidFill>
                            <a:srgbClr val="000000"/>
                          </a:solidFill>
                          <a:latin typeface="Calibri"/>
                        </a:rPr>
                        <a:t>Steer by Wire</a:t>
                      </a:r>
                      <a:endParaRPr sz="1100"/>
                    </a:p>
                  </a:txBody>
                  <a:tcPr marL="7715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Market Attractiveness Analysis By System Architecture</a:t>
                      </a:r>
                      <a:endParaRPr sz="1100"/>
                    </a:p>
                  </a:txBody>
                  <a:tcPr marL="4286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Heavy Commercial Vehicle EPS Market Outlook, 2021–2036, by Vehicle Type</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Historical Market Size (US$ Mn) and Volume Analysis By Vehicle Type, 2021–2025</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Market Size (US$ Mn) and Volume Analysis and Forecast By Vehicle Type, 2026–2036</a:t>
                      </a:r>
                      <a:endParaRPr sz="1100"/>
                    </a:p>
                  </a:txBody>
                  <a:tcPr marL="428625" marR="9525" marT="9525" marB="0" anchor="ctr"/>
                </a:tc>
              </a:tr>
              <a:tr h="175260">
                <a:tc>
                  <a:txBody>
                    <a:bodyPr wrap="square"/>
                    <a:lstStyle/>
                    <a:p>
                      <a:pPr algn="l"/>
                      <a:r>
                        <a:rPr sz="1100" b="0" i="0">
                          <a:solidFill>
                            <a:srgbClr val="000000"/>
                          </a:solidFill>
                          <a:latin typeface="Calibri"/>
                        </a:rPr>
                        <a:t>10.3.1.</a:t>
                      </a:r>
                      <a:r>
                        <a:rPr sz="700" b="0" i="0">
                          <a:solidFill>
                            <a:srgbClr val="000000"/>
                          </a:solidFill>
                          <a:latin typeface="Times New Roman"/>
                        </a:rPr>
                        <a:t> </a:t>
                      </a:r>
                      <a:r>
                        <a:rPr sz="1100" b="0" i="0">
                          <a:solidFill>
                            <a:srgbClr val="000000"/>
                          </a:solidFill>
                          <a:latin typeface="Calibri"/>
                        </a:rPr>
                        <a:t>Heavy Duty Trucks</a:t>
                      </a:r>
                      <a:endParaRPr sz="1100"/>
                    </a:p>
                  </a:txBody>
                  <a:tcPr marL="771525" marR="9525" marT="9525" marB="0" anchor="ctr"/>
                </a:tc>
              </a:tr>
              <a:tr h="175260">
                <a:tc>
                  <a:txBody>
                    <a:bodyPr wrap="square"/>
                    <a:lstStyle/>
                    <a:p>
                      <a:pPr algn="l"/>
                      <a:r>
                        <a:rPr sz="1100" b="0" i="0">
                          <a:solidFill>
                            <a:srgbClr val="000000"/>
                          </a:solidFill>
                          <a:latin typeface="Calibri"/>
                        </a:rPr>
                        <a:t>10.3.2.</a:t>
                      </a:r>
                      <a:r>
                        <a:rPr sz="700" b="0" i="0">
                          <a:solidFill>
                            <a:srgbClr val="000000"/>
                          </a:solidFill>
                          <a:latin typeface="Times New Roman"/>
                        </a:rPr>
                        <a:t> </a:t>
                      </a:r>
                      <a:r>
                        <a:rPr sz="1100" b="0" i="0">
                          <a:solidFill>
                            <a:srgbClr val="000000"/>
                          </a:solidFill>
                          <a:latin typeface="Calibri"/>
                        </a:rPr>
                        <a:t>Busses and Coaches</a:t>
                      </a:r>
                      <a:endParaRPr sz="1100"/>
                    </a:p>
                  </a:txBody>
                  <a:tcPr marL="7715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Market Attractiveness Analysis By Vehicle Type</a:t>
                      </a:r>
                      <a:endParaRPr sz="1100"/>
                    </a:p>
                  </a:txBody>
                  <a:tcPr marL="4286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Heavy Commercial Vehicle EPS Market Outlook, 2021–2036, by Gross Vehicle Weight</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Historical Market Size (US$ Mn) and Volume Analysis By Gross Vehicle Weight, 2021–2025</a:t>
                      </a:r>
                      <a:endParaRPr sz="1100"/>
                    </a:p>
                  </a:txBody>
                  <a:tcPr marL="428625" marR="9525" marT="9525" marB="0" anchor="ctr"/>
                </a:tc>
              </a:tr>
              <a:tr h="35052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Market Size (US$ Mn) and Volume Analysis and Forecast By Gross Vehicle Weight, 2026–2036</a:t>
                      </a:r>
                      <a:endParaRPr sz="1100"/>
                    </a:p>
                  </a:txBody>
                  <a:tcPr marL="428625" marR="9525" marT="9525" marB="0" anchor="ctr"/>
                </a:tc>
              </a:tr>
              <a:tr h="175260">
                <a:tc>
                  <a:txBody>
                    <a:bodyPr wrap="square"/>
                    <a:lstStyle/>
                    <a:p>
                      <a:pPr algn="l"/>
                      <a:r>
                        <a:rPr sz="1100" b="0" i="0">
                          <a:solidFill>
                            <a:srgbClr val="000000"/>
                          </a:solidFill>
                          <a:latin typeface="Calibri"/>
                        </a:rPr>
                        <a:t>11.3.1.</a:t>
                      </a:r>
                      <a:r>
                        <a:rPr sz="700" b="0" i="0">
                          <a:solidFill>
                            <a:srgbClr val="000000"/>
                          </a:solidFill>
                          <a:latin typeface="Times New Roman"/>
                        </a:rPr>
                        <a:t> </a:t>
                      </a:r>
                      <a:r>
                        <a:rPr sz="1100" b="0" i="0">
                          <a:solidFill>
                            <a:srgbClr val="000000"/>
                          </a:solidFill>
                          <a:latin typeface="Calibri"/>
                        </a:rPr>
                        <a:t>16 to 26 Tons</a:t>
                      </a:r>
                      <a:endParaRPr sz="1100"/>
                    </a:p>
                  </a:txBody>
                  <a:tcPr marL="771525" marR="9525" marT="9525" marB="0" anchor="ctr"/>
                </a:tc>
              </a:tr>
              <a:tr h="175260">
                <a:tc>
                  <a:txBody>
                    <a:bodyPr wrap="square"/>
                    <a:lstStyle/>
                    <a:p>
                      <a:pPr algn="l"/>
                      <a:r>
                        <a:rPr sz="1100" b="0" i="0">
                          <a:solidFill>
                            <a:srgbClr val="000000"/>
                          </a:solidFill>
                          <a:latin typeface="Calibri"/>
                        </a:rPr>
                        <a:t>11.3.2.</a:t>
                      </a:r>
                      <a:r>
                        <a:rPr sz="700" b="0" i="0">
                          <a:solidFill>
                            <a:srgbClr val="000000"/>
                          </a:solidFill>
                          <a:latin typeface="Times New Roman"/>
                        </a:rPr>
                        <a:t> </a:t>
                      </a:r>
                      <a:r>
                        <a:rPr sz="1100" b="0" i="0">
                          <a:solidFill>
                            <a:srgbClr val="000000"/>
                          </a:solidFill>
                          <a:latin typeface="Calibri"/>
                        </a:rPr>
                        <a:t>26 to 40 Tons</a:t>
                      </a:r>
                      <a:endParaRPr sz="1100"/>
                    </a:p>
                  </a:txBody>
                  <a:tcPr marL="771525" marR="9525" marT="9525" marB="0" anchor="ctr"/>
                </a:tc>
              </a:tr>
              <a:tr h="175260">
                <a:tc>
                  <a:txBody>
                    <a:bodyPr wrap="square"/>
                    <a:lstStyle/>
                    <a:p>
                      <a:pPr algn="l"/>
                      <a:r>
                        <a:rPr sz="1100" b="0" i="0">
                          <a:solidFill>
                            <a:srgbClr val="000000"/>
                          </a:solidFill>
                          <a:latin typeface="Calibri"/>
                        </a:rPr>
                        <a:t>11.3.3.</a:t>
                      </a:r>
                      <a:r>
                        <a:rPr sz="700" b="0" i="0">
                          <a:solidFill>
                            <a:srgbClr val="000000"/>
                          </a:solidFill>
                          <a:latin typeface="Times New Roman"/>
                        </a:rPr>
                        <a:t> </a:t>
                      </a:r>
                      <a:r>
                        <a:rPr sz="1100" b="0" i="0">
                          <a:solidFill>
                            <a:srgbClr val="000000"/>
                          </a:solidFill>
                          <a:latin typeface="Calibri"/>
                        </a:rPr>
                        <a:t>Above 40 Tons</a:t>
                      </a:r>
                      <a:endParaRPr sz="1100"/>
                    </a:p>
                  </a:txBody>
                  <a:tcPr marL="7715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Attractiveness Analysis By Gross Vehicle Weight</a:t>
                      </a:r>
                      <a:endParaRPr sz="1100"/>
                    </a:p>
                  </a:txBody>
                  <a:tcPr marL="4286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Heavy Commercial Vehicle EPS Market Outlook, 2021–2036, by Propulsion Type</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Historical Market Size (US$ Mn) and Volume Analysis By Propulsion Type, 2021–2025</a:t>
                      </a:r>
                      <a:endParaRPr sz="1100"/>
                    </a:p>
                  </a:txBody>
                  <a:tcPr marL="428625" marR="9525" marT="9525" marB="0" anchor="ctr"/>
                </a:tc>
              </a:tr>
              <a:tr h="35052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Market Size (US$ Mn) and Volume Analysis and Forecast By Propulsion Type, 2026–2036</a:t>
                      </a:r>
                      <a:endParaRPr sz="1100"/>
                    </a:p>
                  </a:txBody>
                  <a:tcPr marL="428625" marR="9525" marT="9525" marB="0" anchor="ctr"/>
                </a:tc>
              </a:tr>
              <a:tr h="175260">
                <a:tc>
                  <a:txBody>
                    <a:bodyPr wrap="square"/>
                    <a:lstStyle/>
                    <a:p>
                      <a:pPr algn="l"/>
                      <a:r>
                        <a:rPr sz="1100" b="0" i="0">
                          <a:solidFill>
                            <a:srgbClr val="000000"/>
                          </a:solidFill>
                          <a:latin typeface="Calibri"/>
                        </a:rPr>
                        <a:t>12.3.1.</a:t>
                      </a:r>
                      <a:r>
                        <a:rPr sz="700" b="0" i="0">
                          <a:solidFill>
                            <a:srgbClr val="000000"/>
                          </a:solidFill>
                          <a:latin typeface="Times New Roman"/>
                        </a:rPr>
                        <a:t> </a:t>
                      </a:r>
                      <a:r>
                        <a:rPr sz="1100" b="0" i="0">
                          <a:solidFill>
                            <a:srgbClr val="000000"/>
                          </a:solidFill>
                          <a:latin typeface="Calibri"/>
                        </a:rPr>
                        <a:t>Internal Combustion Engine</a:t>
                      </a:r>
                      <a:endParaRPr sz="1100"/>
                    </a:p>
                  </a:txBody>
                  <a:tcPr marL="771525" marR="9525" marT="9525" marB="0" anchor="ctr"/>
                </a:tc>
              </a:tr>
              <a:tr h="175260">
                <a:tc>
                  <a:txBody>
                    <a:bodyPr wrap="square"/>
                    <a:lstStyle/>
                    <a:p>
                      <a:pPr algn="l"/>
                      <a:r>
                        <a:rPr sz="1100" b="0" i="0">
                          <a:solidFill>
                            <a:srgbClr val="000000"/>
                          </a:solidFill>
                          <a:latin typeface="Calibri"/>
                        </a:rPr>
                        <a:t>12.3.2.</a:t>
                      </a:r>
                      <a:r>
                        <a:rPr sz="700" b="0" i="0">
                          <a:solidFill>
                            <a:srgbClr val="000000"/>
                          </a:solidFill>
                          <a:latin typeface="Times New Roman"/>
                        </a:rPr>
                        <a:t> </a:t>
                      </a:r>
                      <a:r>
                        <a:rPr sz="1100" b="0" i="0">
                          <a:solidFill>
                            <a:srgbClr val="000000"/>
                          </a:solidFill>
                          <a:latin typeface="Calibri"/>
                        </a:rPr>
                        <a:t>Electric</a:t>
                      </a:r>
                      <a:endParaRPr sz="1100"/>
                    </a:p>
                  </a:txBody>
                  <a:tcPr marL="771525" marR="9525" marT="9525" marB="0" anchor="ctr"/>
                </a:tc>
              </a:tr>
              <a:tr h="175260">
                <a:tc>
                  <a:txBody>
                    <a:bodyPr wrap="square"/>
                    <a:lstStyle/>
                    <a:p>
                      <a:pPr algn="l"/>
                      <a:r>
                        <a:rPr sz="1100" b="0" i="0">
                          <a:solidFill>
                            <a:srgbClr val="000000"/>
                          </a:solidFill>
                          <a:latin typeface="Calibri"/>
                        </a:rPr>
                        <a:t>12.3.3.</a:t>
                      </a:r>
                      <a:r>
                        <a:rPr sz="700" b="0" i="0">
                          <a:solidFill>
                            <a:srgbClr val="000000"/>
                          </a:solidFill>
                          <a:latin typeface="Times New Roman"/>
                        </a:rPr>
                        <a:t> </a:t>
                      </a:r>
                      <a:r>
                        <a:rPr sz="1100" b="0" i="0">
                          <a:solidFill>
                            <a:srgbClr val="000000"/>
                          </a:solidFill>
                          <a:latin typeface="Calibri"/>
                        </a:rPr>
                        <a:t>Hybrid</a:t>
                      </a:r>
                      <a:endParaRPr sz="1100"/>
                    </a:p>
                  </a:txBody>
                  <a:tcPr marL="7715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Attractiveness Analysis By Propulsion Type</a:t>
                      </a:r>
                      <a:endParaRPr sz="1100"/>
                    </a:p>
                  </a:txBody>
                  <a:tcPr marL="4286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Heavy Commercial Vehicle EPS Market Outlook, 2021–2036, by Demand Type</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Historical Market Size (US$ Mn) and Volume Analysis By Demand Type, 2021–2025</a:t>
                      </a:r>
                      <a:endParaRPr sz="1100"/>
                    </a:p>
                  </a:txBody>
                  <a:tcPr marL="428625" marR="9525" marT="9525" marB="0" anchor="ctr"/>
                </a:tc>
              </a:tr>
              <a:tr h="35052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Market Size (US$ Mn) and Volume Analysis and Forecast By Demand Type, 2026–2036</a:t>
                      </a:r>
                      <a:endParaRPr sz="1100"/>
                    </a:p>
                  </a:txBody>
                  <a:tcPr marL="428625" marR="9525" marT="9525" marB="0" anchor="ctr"/>
                </a:tc>
              </a:tr>
              <a:tr h="175260">
                <a:tc>
                  <a:txBody>
                    <a:bodyPr wrap="square"/>
                    <a:lstStyle/>
                    <a:p>
                      <a:pPr algn="l"/>
                      <a:r>
                        <a:rPr sz="1100" b="0" i="0">
                          <a:solidFill>
                            <a:srgbClr val="000000"/>
                          </a:solidFill>
                          <a:latin typeface="Calibri"/>
                        </a:rPr>
                        <a:t>13.3.1.</a:t>
                      </a:r>
                      <a:r>
                        <a:rPr sz="700" b="0" i="0">
                          <a:solidFill>
                            <a:srgbClr val="000000"/>
                          </a:solidFill>
                          <a:latin typeface="Times New Roman"/>
                        </a:rPr>
                        <a:t> </a:t>
                      </a:r>
                      <a:r>
                        <a:rPr sz="1100" b="0" i="0">
                          <a:solidFill>
                            <a:srgbClr val="000000"/>
                          </a:solidFill>
                          <a:latin typeface="Calibri"/>
                        </a:rPr>
                        <a:t>OEM</a:t>
                      </a:r>
                      <a:endParaRPr sz="1100"/>
                    </a:p>
                  </a:txBody>
                  <a:tcPr marL="771525" marR="9525" marT="9525" marB="0" anchor="ctr"/>
                </a:tc>
              </a:tr>
              <a:tr h="175260">
                <a:tc>
                  <a:txBody>
                    <a:bodyPr wrap="square"/>
                    <a:lstStyle/>
                    <a:p>
                      <a:pPr algn="l"/>
                      <a:r>
                        <a:rPr sz="1100" b="0" i="0">
                          <a:solidFill>
                            <a:srgbClr val="000000"/>
                          </a:solidFill>
                          <a:latin typeface="Calibri"/>
                        </a:rPr>
                        <a:t>13.3.2.</a:t>
                      </a:r>
                      <a:r>
                        <a:rPr sz="700" b="0" i="0">
                          <a:solidFill>
                            <a:srgbClr val="000000"/>
                          </a:solidFill>
                          <a:latin typeface="Times New Roman"/>
                        </a:rPr>
                        <a:t> </a:t>
                      </a:r>
                      <a:r>
                        <a:rPr sz="1100" b="0" i="0">
                          <a:solidFill>
                            <a:srgbClr val="000000"/>
                          </a:solidFill>
                          <a:latin typeface="Calibri"/>
                        </a:rPr>
                        <a:t>Aftermarket</a:t>
                      </a:r>
                      <a:endParaRPr sz="1100"/>
                    </a:p>
                  </a:txBody>
                  <a:tcPr marL="7715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Attractiveness Analysis By Demand Type</a:t>
                      </a:r>
                      <a:endParaRPr sz="1100"/>
                    </a:p>
                  </a:txBody>
                  <a:tcPr marL="4286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Heavy Commercial Vehicle EPS Market Outlook, 2021–2036, by Region</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Historical Market Size (US$ Mn) and Volume Analysis By Region, 2021–2025</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Market Size (US$ Mn) and Volume Analysis and Forecast By Region, 2026–2036</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14.3.1.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0">
                          <a:solidFill>
                            <a:srgbClr val="000000"/>
                          </a:solidFill>
                          <a:latin typeface="Calibri"/>
                        </a:rPr>
                        <a:t>14.3.2.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0">
                          <a:solidFill>
                            <a:srgbClr val="000000"/>
                          </a:solidFill>
                          <a:latin typeface="Calibri"/>
                        </a:rPr>
                        <a:t>14.3.3.</a:t>
                      </a:r>
                      <a:r>
                        <a:rPr sz="700" b="0" i="0">
                          <a:solidFill>
                            <a:srgbClr val="000000"/>
                          </a:solidFill>
                          <a:latin typeface="Times New Roman"/>
                        </a:rPr>
                        <a:t> </a:t>
                      </a:r>
                      <a:r>
                        <a:rPr sz="1100" b="0" i="0">
                          <a:solidFill>
                            <a:srgbClr val="000000"/>
                          </a:solidFill>
                          <a:latin typeface="Calibri"/>
                        </a:rPr>
                        <a:t>Western Europe</a:t>
                      </a:r>
                      <a:endParaRPr sz="1100"/>
                    </a:p>
                  </a:txBody>
                  <a:tcPr marL="771525" marR="9525" marT="9525" marB="0" anchor="ctr"/>
                </a:tc>
              </a:tr>
              <a:tr h="175260">
                <a:tc>
                  <a:txBody>
                    <a:bodyPr wrap="square"/>
                    <a:lstStyle/>
                    <a:p>
                      <a:pPr algn="l"/>
                      <a:r>
                        <a:rPr sz="1100" b="0" i="0">
                          <a:solidFill>
                            <a:srgbClr val="000000"/>
                          </a:solidFill>
                          <a:latin typeface="Calibri"/>
                        </a:rPr>
                        <a:t>14.3.4.</a:t>
                      </a:r>
                      <a:r>
                        <a:rPr sz="700" b="0" i="0">
                          <a:solidFill>
                            <a:srgbClr val="000000"/>
                          </a:solidFill>
                          <a:latin typeface="Times New Roman"/>
                        </a:rPr>
                        <a:t> </a:t>
                      </a:r>
                      <a:r>
                        <a:rPr sz="1100" b="0" i="0">
                          <a:solidFill>
                            <a:srgbClr val="000000"/>
                          </a:solidFill>
                          <a:latin typeface="Calibri"/>
                        </a:rPr>
                        <a:t>Eastern Europe</a:t>
                      </a:r>
                      <a:endParaRPr sz="1100"/>
                    </a:p>
                  </a:txBody>
                  <a:tcPr marL="771525" marR="9525" marT="9525" marB="0" anchor="ctr"/>
                </a:tc>
              </a:tr>
              <a:tr h="175260">
                <a:tc>
                  <a:txBody>
                    <a:bodyPr wrap="square"/>
                    <a:lstStyle/>
                    <a:p>
                      <a:pPr algn="l"/>
                      <a:r>
                        <a:rPr sz="1100" b="0" i="0">
                          <a:solidFill>
                            <a:srgbClr val="000000"/>
                          </a:solidFill>
                          <a:latin typeface="Calibri"/>
                        </a:rPr>
                        <a:t>14.3.5.</a:t>
                      </a:r>
                      <a:r>
                        <a:rPr sz="700" b="0" i="0">
                          <a:solidFill>
                            <a:srgbClr val="000000"/>
                          </a:solidFill>
                          <a:latin typeface="Times New Roman"/>
                        </a:rPr>
                        <a:t> </a:t>
                      </a:r>
                      <a:r>
                        <a:rPr sz="1100" b="0" i="0">
                          <a:solidFill>
                            <a:srgbClr val="000000"/>
                          </a:solidFill>
                          <a:latin typeface="Calibri"/>
                        </a:rPr>
                        <a:t>Middle East and Africa (MEA)</a:t>
                      </a:r>
                      <a:endParaRPr sz="1100"/>
                    </a:p>
                  </a:txBody>
                  <a:tcPr marL="771525" marR="9525" marT="9525" marB="0" anchor="ctr"/>
                </a:tc>
              </a:tr>
              <a:tr h="175260">
                <a:tc>
                  <a:txBody>
                    <a:bodyPr wrap="square"/>
                    <a:lstStyle/>
                    <a:p>
                      <a:pPr algn="l"/>
                      <a:r>
                        <a:rPr sz="1100" b="0" i="0">
                          <a:solidFill>
                            <a:srgbClr val="000000"/>
                          </a:solidFill>
                          <a:latin typeface="Calibri"/>
                        </a:rPr>
                        <a:t>14.3.6.</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0">
                          <a:solidFill>
                            <a:srgbClr val="000000"/>
                          </a:solidFill>
                          <a:latin typeface="Calibri"/>
                        </a:rPr>
                        <a:t>14.3.7.</a:t>
                      </a:r>
                      <a:r>
                        <a:rPr sz="700" b="0" i="0">
                          <a:solidFill>
                            <a:srgbClr val="000000"/>
                          </a:solidFill>
                          <a:latin typeface="Times New Roman"/>
                        </a:rPr>
                        <a:t> </a:t>
                      </a:r>
                      <a:r>
                        <a:rPr sz="1100" b="0" i="0">
                          <a:solidFill>
                            <a:srgbClr val="000000"/>
                          </a:solidFill>
                          <a:latin typeface="Calibri"/>
                        </a:rPr>
                        <a:t>South Asia and Pacific</a:t>
                      </a:r>
                      <a:endParaRPr sz="1100"/>
                    </a:p>
                  </a:txBody>
                  <a:tcPr marL="7715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Market Attractiveness Analysis By Region</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North America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15.4.1.1.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15.4.1.2.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1">
                          <a:solidFill>
                            <a:srgbClr val="000000"/>
                          </a:solidFill>
                          <a:latin typeface="Calibri"/>
                        </a:rPr>
                        <a:t>15.4.1.3.</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15.5.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15.5.1.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15.5.2.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15.5.3.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15.5.4.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15.5.5.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15.5.6.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15.6.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15.7.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15.8.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Latin America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16.4.1.1.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16.4.1.2.</a:t>
                      </a:r>
                      <a:r>
                        <a:rPr sz="700" b="0" i="1">
                          <a:solidFill>
                            <a:srgbClr val="000000"/>
                          </a:solidFill>
                          <a:latin typeface="Times New Roman"/>
                        </a:rPr>
                        <a:t> </a:t>
                      </a:r>
                      <a:r>
                        <a:rPr sz="1100" b="0" i="1">
                          <a:solidFill>
                            <a:srgbClr val="000000"/>
                          </a:solidFill>
                          <a:latin typeface="Calibri"/>
                        </a:rPr>
                        <a:t>Argentina</a:t>
                      </a:r>
                      <a:endParaRPr sz="1100"/>
                    </a:p>
                  </a:txBody>
                  <a:tcPr marL="1028700" marR="9525" marT="9525" marB="0" anchor="ctr"/>
                </a:tc>
              </a:tr>
              <a:tr h="175260">
                <a:tc>
                  <a:txBody>
                    <a:bodyPr wrap="square"/>
                    <a:lstStyle/>
                    <a:p>
                      <a:pPr algn="l"/>
                      <a:r>
                        <a:rPr sz="1100" b="0" i="1">
                          <a:solidFill>
                            <a:srgbClr val="000000"/>
                          </a:solidFill>
                          <a:latin typeface="Calibri"/>
                        </a:rPr>
                        <a:t>16.4.1.3.</a:t>
                      </a:r>
                      <a:r>
                        <a:rPr sz="700" b="0" i="1">
                          <a:solidFill>
                            <a:srgbClr val="000000"/>
                          </a:solidFill>
                          <a:latin typeface="Times New Roman"/>
                        </a:rPr>
                        <a:t> </a:t>
                      </a:r>
                      <a:r>
                        <a:rPr sz="1100" b="0" i="1">
                          <a:solidFill>
                            <a:srgbClr val="000000"/>
                          </a:solidFill>
                          <a:latin typeface="Calibri"/>
                        </a:rPr>
                        <a:t>Rest of Latin America</a:t>
                      </a:r>
                      <a:endParaRPr sz="1100"/>
                    </a:p>
                  </a:txBody>
                  <a:tcPr marL="1028700"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16.5.1.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16.5.2.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16.5.3.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16.5.4.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16.5.5.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16.5.6.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Western Europe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17.4.1.1.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17.4.1.2.</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17.4.1.3.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17.4.1.4.</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17.4.1.5.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17.4.1.6.</a:t>
                      </a:r>
                      <a:r>
                        <a:rPr sz="700" b="0" i="1">
                          <a:solidFill>
                            <a:srgbClr val="000000"/>
                          </a:solidFill>
                          <a:latin typeface="Times New Roman"/>
                        </a:rPr>
                        <a:t> </a:t>
                      </a:r>
                      <a:r>
                        <a:rPr sz="1100" b="0" i="1">
                          <a:solidFill>
                            <a:srgbClr val="000000"/>
                          </a:solidFill>
                          <a:latin typeface="Calibri"/>
                        </a:rPr>
                        <a:t>BENELUX</a:t>
                      </a:r>
                      <a:endParaRPr sz="1100"/>
                    </a:p>
                  </a:txBody>
                  <a:tcPr marL="1028700" marR="9525" marT="9525" marB="0" anchor="ctr"/>
                </a:tc>
              </a:tr>
              <a:tr h="175260">
                <a:tc>
                  <a:txBody>
                    <a:bodyPr wrap="square"/>
                    <a:lstStyle/>
                    <a:p>
                      <a:pPr algn="l"/>
                      <a:r>
                        <a:rPr sz="1100" b="0" i="1">
                          <a:solidFill>
                            <a:srgbClr val="000000"/>
                          </a:solidFill>
                          <a:latin typeface="Calibri"/>
                        </a:rPr>
                        <a:t>17.4.1.7.</a:t>
                      </a:r>
                      <a:r>
                        <a:rPr sz="700" b="0" i="1">
                          <a:solidFill>
                            <a:srgbClr val="000000"/>
                          </a:solidFill>
                          <a:latin typeface="Times New Roman"/>
                        </a:rPr>
                        <a:t> </a:t>
                      </a:r>
                      <a:r>
                        <a:rPr sz="1100" b="0" i="1">
                          <a:solidFill>
                            <a:srgbClr val="000000"/>
                          </a:solidFill>
                          <a:latin typeface="Calibri"/>
                        </a:rPr>
                        <a:t>Rest of Western Europe</a:t>
                      </a:r>
                      <a:endParaRPr sz="1100"/>
                    </a:p>
                  </a:txBody>
                  <a:tcPr marL="1028700"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17.4.6.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17.5.1.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17.5.2.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17.5.3.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17.5.4.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17.5.5.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17.5.6.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17.6.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17.7.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17.8.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Eastern Europe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18.4.1.1.</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18.4.1.2.</a:t>
                      </a:r>
                      <a:r>
                        <a:rPr sz="700" b="0" i="1">
                          <a:solidFill>
                            <a:srgbClr val="000000"/>
                          </a:solidFill>
                          <a:latin typeface="Times New Roman"/>
                        </a:rPr>
                        <a:t> </a:t>
                      </a:r>
                      <a:r>
                        <a:rPr sz="1100" b="0" i="1">
                          <a:solidFill>
                            <a:srgbClr val="000000"/>
                          </a:solidFill>
                          <a:latin typeface="Calibri"/>
                        </a:rPr>
                        <a:t>Hungary</a:t>
                      </a:r>
                      <a:endParaRPr sz="1100"/>
                    </a:p>
                  </a:txBody>
                  <a:tcPr marL="1028700" marR="9525" marT="9525" marB="0" anchor="ctr"/>
                </a:tc>
              </a:tr>
              <a:tr h="175260">
                <a:tc>
                  <a:txBody>
                    <a:bodyPr wrap="square"/>
                    <a:lstStyle/>
                    <a:p>
                      <a:pPr algn="l"/>
                      <a:r>
                        <a:rPr sz="1100" b="0" i="1">
                          <a:solidFill>
                            <a:srgbClr val="000000"/>
                          </a:solidFill>
                          <a:latin typeface="Calibri"/>
                        </a:rPr>
                        <a:t>18.4.1.3.</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18.4.1.4.</a:t>
                      </a:r>
                      <a:r>
                        <a:rPr sz="700" b="0" i="1">
                          <a:solidFill>
                            <a:srgbClr val="000000"/>
                          </a:solidFill>
                          <a:latin typeface="Times New Roman"/>
                        </a:rPr>
                        <a:t> </a:t>
                      </a:r>
                      <a:r>
                        <a:rPr sz="1100" b="0" i="1">
                          <a:solidFill>
                            <a:srgbClr val="000000"/>
                          </a:solidFill>
                          <a:latin typeface="Calibri"/>
                        </a:rPr>
                        <a:t>Balkan &amp; Baltics</a:t>
                      </a:r>
                      <a:endParaRPr sz="1100"/>
                    </a:p>
                  </a:txBody>
                  <a:tcPr marL="1028700" marR="9525" marT="9525" marB="0" anchor="ctr"/>
                </a:tc>
              </a:tr>
              <a:tr h="175260">
                <a:tc>
                  <a:txBody>
                    <a:bodyPr wrap="square"/>
                    <a:lstStyle/>
                    <a:p>
                      <a:pPr algn="l"/>
                      <a:r>
                        <a:rPr sz="1100" b="0" i="1">
                          <a:solidFill>
                            <a:srgbClr val="000000"/>
                          </a:solidFill>
                          <a:latin typeface="Calibri"/>
                        </a:rPr>
                        <a:t>18.4.1.5.</a:t>
                      </a:r>
                      <a:r>
                        <a:rPr sz="700" b="0" i="1">
                          <a:solidFill>
                            <a:srgbClr val="000000"/>
                          </a:solidFill>
                          <a:latin typeface="Times New Roman"/>
                        </a:rPr>
                        <a:t> </a:t>
                      </a:r>
                      <a:r>
                        <a:rPr sz="1100" b="0" i="1">
                          <a:solidFill>
                            <a:srgbClr val="000000"/>
                          </a:solidFill>
                          <a:latin typeface="Calibri"/>
                        </a:rPr>
                        <a:t>Rest of Eastern Europe</a:t>
                      </a:r>
                      <a:endParaRPr sz="1100"/>
                    </a:p>
                  </a:txBody>
                  <a:tcPr marL="1028700"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18.4.6.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18.5.1.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18.5.2.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18.5.3.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18.5.4.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18.5.5.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18.5.6.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South Asia and Pacific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19.4.1.1.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19.4.1.2.</a:t>
                      </a:r>
                      <a:r>
                        <a:rPr sz="700" b="0" i="1">
                          <a:solidFill>
                            <a:srgbClr val="000000"/>
                          </a:solidFill>
                          <a:latin typeface="Times New Roman"/>
                        </a:rPr>
                        <a:t> </a:t>
                      </a:r>
                      <a:r>
                        <a:rPr sz="1100" b="0" i="1">
                          <a:solidFill>
                            <a:srgbClr val="000000"/>
                          </a:solidFill>
                          <a:latin typeface="Calibri"/>
                        </a:rPr>
                        <a:t>ASEAN</a:t>
                      </a:r>
                      <a:endParaRPr sz="1100"/>
                    </a:p>
                  </a:txBody>
                  <a:tcPr marL="1028700" marR="9525" marT="9525" marB="0" anchor="ctr"/>
                </a:tc>
              </a:tr>
              <a:tr h="175260">
                <a:tc>
                  <a:txBody>
                    <a:bodyPr wrap="square"/>
                    <a:lstStyle/>
                    <a:p>
                      <a:pPr algn="l"/>
                      <a:r>
                        <a:rPr sz="1100" b="0" i="1">
                          <a:solidFill>
                            <a:srgbClr val="000000"/>
                          </a:solidFill>
                          <a:latin typeface="Calibri"/>
                        </a:rPr>
                        <a:t>19.4.1.3.</a:t>
                      </a:r>
                      <a:r>
                        <a:rPr sz="700" b="0" i="1">
                          <a:solidFill>
                            <a:srgbClr val="000000"/>
                          </a:solidFill>
                          <a:latin typeface="Times New Roman"/>
                        </a:rPr>
                        <a:t> </a:t>
                      </a:r>
                      <a:r>
                        <a:rPr sz="1100" b="0" i="1">
                          <a:solidFill>
                            <a:srgbClr val="000000"/>
                          </a:solidFill>
                          <a:latin typeface="Calibri"/>
                        </a:rPr>
                        <a:t>Australia and New Zealand</a:t>
                      </a:r>
                      <a:endParaRPr sz="1100"/>
                    </a:p>
                  </a:txBody>
                  <a:tcPr marL="1028700" marR="9525" marT="9525" marB="0" anchor="ctr"/>
                </a:tc>
              </a:tr>
              <a:tr h="175260">
                <a:tc>
                  <a:txBody>
                    <a:bodyPr wrap="square"/>
                    <a:lstStyle/>
                    <a:p>
                      <a:pPr algn="l"/>
                      <a:r>
                        <a:rPr sz="1100" b="0" i="1">
                          <a:solidFill>
                            <a:srgbClr val="000000"/>
                          </a:solidFill>
                          <a:latin typeface="Calibri"/>
                        </a:rPr>
                        <a:t>19.4.1.4.</a:t>
                      </a:r>
                      <a:r>
                        <a:rPr sz="700" b="0" i="1">
                          <a:solidFill>
                            <a:srgbClr val="000000"/>
                          </a:solidFill>
                          <a:latin typeface="Times New Roman"/>
                        </a:rPr>
                        <a:t> </a:t>
                      </a:r>
                      <a:r>
                        <a:rPr sz="1100" b="0" i="1">
                          <a:solidFill>
                            <a:srgbClr val="000000"/>
                          </a:solidFill>
                          <a:latin typeface="Calibri"/>
                        </a:rPr>
                        <a:t>Rest of South Asia &amp; Pacific</a:t>
                      </a:r>
                      <a:endParaRPr sz="1100"/>
                    </a:p>
                  </a:txBody>
                  <a:tcPr marL="1028700"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19.4.5.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19.4.6.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19.5.1.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19.5.2.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19.5.3.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19.5.4.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19.5.5.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19.5.6.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East Asia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20.4.1.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20.4.1.1.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20.4.1.2.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20.4.1.3.</a:t>
                      </a:r>
                      <a:r>
                        <a:rPr sz="700" b="0" i="1">
                          <a:solidFill>
                            <a:srgbClr val="000000"/>
                          </a:solidFill>
                          <a:latin typeface="Times New Roman"/>
                        </a:rPr>
                        <a:t> </a:t>
                      </a:r>
                      <a:r>
                        <a:rPr sz="1100" b="0" i="1">
                          <a:solidFill>
                            <a:srgbClr val="000000"/>
                          </a:solidFill>
                          <a:latin typeface="Calibri"/>
                        </a:rPr>
                        <a:t>South Korea</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20.4.2.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20.4.3.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20.4.4.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20.4.5.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20.4.6.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20.5.1.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20.5.2.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20.5.3.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20.5.4.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20.5.5.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20.5.6.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20.8.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Middle East and Africa Heavy Commercial Vehicle EPS Market Outlook, 2021–2036</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21.4.1.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21.4.1.1.</a:t>
                      </a:r>
                      <a:r>
                        <a:rPr sz="700" b="0" i="1">
                          <a:solidFill>
                            <a:srgbClr val="000000"/>
                          </a:solidFill>
                          <a:latin typeface="Times New Roman"/>
                        </a:rPr>
                        <a:t> </a:t>
                      </a:r>
                      <a:r>
                        <a:rPr sz="1100" b="0" i="1">
                          <a:solidFill>
                            <a:srgbClr val="000000"/>
                          </a:solidFill>
                          <a:latin typeface="Calibri"/>
                        </a:rPr>
                        <a:t>GCC Countries</a:t>
                      </a:r>
                      <a:endParaRPr sz="1100"/>
                    </a:p>
                  </a:txBody>
                  <a:tcPr marL="1028700" marR="9525" marT="9525" marB="0" anchor="ctr"/>
                </a:tc>
              </a:tr>
              <a:tr h="175260">
                <a:tc>
                  <a:txBody>
                    <a:bodyPr wrap="square"/>
                    <a:lstStyle/>
                    <a:p>
                      <a:pPr algn="l"/>
                      <a:r>
                        <a:rPr sz="1100" b="0" i="1">
                          <a:solidFill>
                            <a:srgbClr val="000000"/>
                          </a:solidFill>
                          <a:latin typeface="Calibri"/>
                        </a:rPr>
                        <a:t>21.4.1.2.</a:t>
                      </a:r>
                      <a:r>
                        <a:rPr sz="700" b="0" i="1">
                          <a:solidFill>
                            <a:srgbClr val="000000"/>
                          </a:solidFill>
                          <a:latin typeface="Times New Roman"/>
                        </a:rPr>
                        <a:t> </a:t>
                      </a:r>
                      <a:r>
                        <a:rPr sz="1100" b="0" i="1">
                          <a:solidFill>
                            <a:srgbClr val="000000"/>
                          </a:solidFill>
                          <a:latin typeface="Calibri"/>
                        </a:rPr>
                        <a:t>Turkiye</a:t>
                      </a:r>
                      <a:endParaRPr sz="1100"/>
                    </a:p>
                  </a:txBody>
                  <a:tcPr marL="1028700" marR="9525" marT="9525" marB="0" anchor="ctr"/>
                </a:tc>
              </a:tr>
              <a:tr h="175260">
                <a:tc>
                  <a:txBody>
                    <a:bodyPr wrap="square"/>
                    <a:lstStyle/>
                    <a:p>
                      <a:pPr algn="l"/>
                      <a:r>
                        <a:rPr sz="1100" b="0" i="1">
                          <a:solidFill>
                            <a:srgbClr val="000000"/>
                          </a:solidFill>
                          <a:latin typeface="Calibri"/>
                        </a:rPr>
                        <a:t>21.4.1.3.</a:t>
                      </a:r>
                      <a:r>
                        <a:rPr sz="700" b="0" i="1">
                          <a:solidFill>
                            <a:srgbClr val="000000"/>
                          </a:solidFill>
                          <a:latin typeface="Times New Roman"/>
                        </a:rPr>
                        <a:t> </a:t>
                      </a:r>
                      <a:r>
                        <a:rPr sz="1100" b="0" i="1">
                          <a:solidFill>
                            <a:srgbClr val="000000"/>
                          </a:solidFill>
                          <a:latin typeface="Calibri"/>
                        </a:rPr>
                        <a:t>Northern Africa</a:t>
                      </a:r>
                      <a:endParaRPr sz="1100"/>
                    </a:p>
                  </a:txBody>
                  <a:tcPr marL="1028700" marR="9525" marT="9525" marB="0" anchor="ctr"/>
                </a:tc>
              </a:tr>
              <a:tr h="175260">
                <a:tc>
                  <a:txBody>
                    <a:bodyPr wrap="square"/>
                    <a:lstStyle/>
                    <a:p>
                      <a:pPr algn="l"/>
                      <a:r>
                        <a:rPr sz="1100" b="0" i="1">
                          <a:solidFill>
                            <a:srgbClr val="000000"/>
                          </a:solidFill>
                          <a:latin typeface="Calibri"/>
                        </a:rPr>
                        <a:t>21.4.1.4.</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21.4.1.5.</a:t>
                      </a:r>
                      <a:r>
                        <a:rPr sz="700" b="0" i="1">
                          <a:solidFill>
                            <a:srgbClr val="000000"/>
                          </a:solidFill>
                          <a:latin typeface="Times New Roman"/>
                        </a:rPr>
                        <a:t> </a:t>
                      </a:r>
                      <a:r>
                        <a:rPr sz="1100" b="0" i="1">
                          <a:solidFill>
                            <a:srgbClr val="000000"/>
                          </a:solidFill>
                          <a:latin typeface="Calibri"/>
                        </a:rPr>
                        <a:t>Rest of Middle East and Africa</a:t>
                      </a:r>
                      <a:endParaRPr sz="1100"/>
                    </a:p>
                  </a:txBody>
                  <a:tcPr marL="1028700" marR="9525" marT="9525" marB="0" anchor="ctr"/>
                </a:tc>
              </a:tr>
              <a:tr h="175260">
                <a:tc>
                  <a:txBody>
                    <a:bodyPr wrap="square"/>
                    <a:lstStyle/>
                    <a:p>
                      <a:pPr algn="l"/>
                      <a:r>
                        <a:rPr sz="1100" b="0" i="0">
                          <a:solidFill>
                            <a:srgbClr val="000000"/>
                          </a:solidFill>
                          <a:latin typeface="Calibri"/>
                        </a:rPr>
                        <a:t>21.4.2.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21.4.3.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21.4.4.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21.4.5.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21.4.6.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21.5.1.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21.5.2.</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21.5.3.</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21.5.4.</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21.5.5.</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21.5.6.</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21.7.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21.8.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Country Wise Heavy Commercial Vehicle EPS Market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U.S.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Canada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Mexico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22.3.1.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22.3.2.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22.3.3.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22.3.4.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22.3.5.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Brazil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22.4.1.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22.4.3.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22.4.4.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22.4.5.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Argentina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22.5.1.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22.5.3.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22.5.4.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22.5.5.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Germany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22.6.1.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22.6.2.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22.6.3.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22.6.4.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22.6.5.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Italy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22.7.1.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22.7.2.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22.7.3.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22.7.4.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22.7.5.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France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22.8.1.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22.8.2.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22.8.3.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22.8.4.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22.8.5.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22.9.</a:t>
                      </a:r>
                      <a:r>
                        <a:rPr sz="700" b="0" i="0">
                          <a:solidFill>
                            <a:srgbClr val="0070C0"/>
                          </a:solidFill>
                          <a:latin typeface="Times New Roman"/>
                        </a:rPr>
                        <a:t>  </a:t>
                      </a:r>
                      <a:r>
                        <a:rPr sz="1100" b="0" i="0">
                          <a:solidFill>
                            <a:srgbClr val="0070C0"/>
                          </a:solidFill>
                          <a:latin typeface="Calibri"/>
                        </a:rPr>
                        <a:t>U.K.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22.9.1.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22.9.2.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22.9.3.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22.9.4.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22.9.5.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22.10.</a:t>
                      </a:r>
                      <a:r>
                        <a:rPr sz="700" b="0" i="0">
                          <a:solidFill>
                            <a:srgbClr val="0070C0"/>
                          </a:solidFill>
                          <a:latin typeface="Times New Roman"/>
                        </a:rPr>
                        <a:t> </a:t>
                      </a:r>
                      <a:r>
                        <a:rPr sz="1100" b="0" i="0">
                          <a:solidFill>
                            <a:srgbClr val="0070C0"/>
                          </a:solidFill>
                          <a:latin typeface="Calibri"/>
                        </a:rPr>
                        <a:t>Spain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22.10.1.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22.10.2.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22.10.3.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22.10.4.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22.10.5.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22.11.</a:t>
                      </a:r>
                      <a:r>
                        <a:rPr sz="700" b="0" i="0">
                          <a:solidFill>
                            <a:srgbClr val="0070C0"/>
                          </a:solidFill>
                          <a:latin typeface="Times New Roman"/>
                        </a:rPr>
                        <a:t> </a:t>
                      </a:r>
                      <a:r>
                        <a:rPr sz="1100" b="0" i="0">
                          <a:solidFill>
                            <a:srgbClr val="0070C0"/>
                          </a:solidFill>
                          <a:latin typeface="Calibri"/>
                        </a:rPr>
                        <a:t>BENELUX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22.11.1.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22.11.2.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22.11.3.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22.11.4.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22.11.5.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22.12.</a:t>
                      </a:r>
                      <a:r>
                        <a:rPr sz="700" b="0" i="0">
                          <a:solidFill>
                            <a:srgbClr val="0070C0"/>
                          </a:solidFill>
                          <a:latin typeface="Times New Roman"/>
                        </a:rPr>
                        <a:t> </a:t>
                      </a:r>
                      <a:r>
                        <a:rPr sz="1100" b="0" i="0">
                          <a:solidFill>
                            <a:srgbClr val="0070C0"/>
                          </a:solidFill>
                          <a:latin typeface="Calibri"/>
                        </a:rPr>
                        <a:t>Nordics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22.12.1.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22.12.2.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22.12.3.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22.12.4.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22.12.5.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22.13.</a:t>
                      </a:r>
                      <a:r>
                        <a:rPr sz="700" b="0" i="0">
                          <a:solidFill>
                            <a:srgbClr val="0070C0"/>
                          </a:solidFill>
                          <a:latin typeface="Times New Roman"/>
                        </a:rPr>
                        <a:t> </a:t>
                      </a:r>
                      <a:r>
                        <a:rPr sz="1100" b="0" i="0">
                          <a:solidFill>
                            <a:srgbClr val="0070C0"/>
                          </a:solidFill>
                          <a:latin typeface="Calibri"/>
                        </a:rPr>
                        <a:t>Russia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22.13.1.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22.13.2.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22.13.3.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22.13.4.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22.13.5.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22.14.</a:t>
                      </a:r>
                      <a:r>
                        <a:rPr sz="700" b="0" i="0">
                          <a:solidFill>
                            <a:srgbClr val="0070C0"/>
                          </a:solidFill>
                          <a:latin typeface="Times New Roman"/>
                        </a:rPr>
                        <a:t> </a:t>
                      </a:r>
                      <a:r>
                        <a:rPr sz="1100" b="0" i="0">
                          <a:solidFill>
                            <a:srgbClr val="0070C0"/>
                          </a:solidFill>
                          <a:latin typeface="Calibri"/>
                        </a:rPr>
                        <a:t>Hungary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22.14.1.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22.14.3.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22.14.4.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22.14.5.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22.15.</a:t>
                      </a:r>
                      <a:r>
                        <a:rPr sz="700" b="0" i="0">
                          <a:solidFill>
                            <a:srgbClr val="0070C0"/>
                          </a:solidFill>
                          <a:latin typeface="Times New Roman"/>
                        </a:rPr>
                        <a:t> </a:t>
                      </a:r>
                      <a:r>
                        <a:rPr sz="1100" b="0" i="0">
                          <a:solidFill>
                            <a:srgbClr val="0070C0"/>
                          </a:solidFill>
                          <a:latin typeface="Calibri"/>
                        </a:rPr>
                        <a:t>Poland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22.15.1.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22.15.3.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22.15.4.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22.15.5.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22.16.</a:t>
                      </a:r>
                      <a:r>
                        <a:rPr sz="700" b="0" i="0">
                          <a:solidFill>
                            <a:srgbClr val="0070C0"/>
                          </a:solidFill>
                          <a:latin typeface="Times New Roman"/>
                        </a:rPr>
                        <a:t> </a:t>
                      </a:r>
                      <a:r>
                        <a:rPr sz="1100" b="0" i="0">
                          <a:solidFill>
                            <a:srgbClr val="0070C0"/>
                          </a:solidFill>
                          <a:latin typeface="Calibri"/>
                        </a:rPr>
                        <a:t>Balkan &amp; Baltics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22.16.1.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22.16.2.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22.16.3.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22.16.4.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22.16.5.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22.17.</a:t>
                      </a:r>
                      <a:r>
                        <a:rPr sz="700" b="0" i="0">
                          <a:solidFill>
                            <a:srgbClr val="0070C0"/>
                          </a:solidFill>
                          <a:latin typeface="Times New Roman"/>
                        </a:rPr>
                        <a:t> </a:t>
                      </a:r>
                      <a:r>
                        <a:rPr sz="1100" b="0" i="0">
                          <a:solidFill>
                            <a:srgbClr val="0070C0"/>
                          </a:solidFill>
                          <a:latin typeface="Calibri"/>
                        </a:rPr>
                        <a:t>China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22.17.1.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22.17.2.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22.17.3.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22.17.4.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22.17.5.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22.18.</a:t>
                      </a:r>
                      <a:r>
                        <a:rPr sz="700" b="0" i="0">
                          <a:solidFill>
                            <a:srgbClr val="0070C0"/>
                          </a:solidFill>
                          <a:latin typeface="Times New Roman"/>
                        </a:rPr>
                        <a:t> </a:t>
                      </a:r>
                      <a:r>
                        <a:rPr sz="1100" b="0" i="0">
                          <a:solidFill>
                            <a:srgbClr val="0070C0"/>
                          </a:solidFill>
                          <a:latin typeface="Calibri"/>
                        </a:rPr>
                        <a:t>Japan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22.18.1.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22.18.2.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22.18.3.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22.18.4.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22.18.5.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22.19.</a:t>
                      </a:r>
                      <a:r>
                        <a:rPr sz="700" b="0" i="0">
                          <a:solidFill>
                            <a:srgbClr val="0070C0"/>
                          </a:solidFill>
                          <a:latin typeface="Times New Roman"/>
                        </a:rPr>
                        <a:t> </a:t>
                      </a:r>
                      <a:r>
                        <a:rPr sz="1100" b="0" i="0">
                          <a:solidFill>
                            <a:srgbClr val="0070C0"/>
                          </a:solidFill>
                          <a:latin typeface="Calibri"/>
                        </a:rPr>
                        <a:t>S. Korea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22.19.1.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22.19.2.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22.19.3.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22.19.4.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22.19.5.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22.20.</a:t>
                      </a:r>
                      <a:r>
                        <a:rPr sz="700" b="0" i="0">
                          <a:solidFill>
                            <a:srgbClr val="0070C0"/>
                          </a:solidFill>
                          <a:latin typeface="Times New Roman"/>
                        </a:rPr>
                        <a:t> </a:t>
                      </a:r>
                      <a:r>
                        <a:rPr sz="1100" b="0" i="0">
                          <a:solidFill>
                            <a:srgbClr val="0070C0"/>
                          </a:solidFill>
                          <a:latin typeface="Calibri"/>
                        </a:rPr>
                        <a:t>India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22.20.1.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22.20.2.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22.20.3.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22.20.4.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22.20.5.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22.21.</a:t>
                      </a:r>
                      <a:r>
                        <a:rPr sz="700" b="0" i="0">
                          <a:solidFill>
                            <a:srgbClr val="0070C0"/>
                          </a:solidFill>
                          <a:latin typeface="Times New Roman"/>
                        </a:rPr>
                        <a:t> </a:t>
                      </a:r>
                      <a:r>
                        <a:rPr sz="1100" b="0" i="0">
                          <a:solidFill>
                            <a:srgbClr val="0070C0"/>
                          </a:solidFill>
                          <a:latin typeface="Calibri"/>
                        </a:rPr>
                        <a:t>ASEAN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22.21.1.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22.21.2.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22.21.3.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22.21.4.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22.21.5.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22.22.</a:t>
                      </a:r>
                      <a:r>
                        <a:rPr sz="700" b="0" i="0">
                          <a:solidFill>
                            <a:srgbClr val="0070C0"/>
                          </a:solidFill>
                          <a:latin typeface="Times New Roman"/>
                        </a:rPr>
                        <a:t> </a:t>
                      </a:r>
                      <a:r>
                        <a:rPr sz="1100" b="0" i="0">
                          <a:solidFill>
                            <a:srgbClr val="0070C0"/>
                          </a:solidFill>
                          <a:latin typeface="Calibri"/>
                        </a:rPr>
                        <a:t>Australia and New Zealand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22.22.1.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22.22.2.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22.22.3.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22.22.4.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22.22.5.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22.23.</a:t>
                      </a:r>
                      <a:r>
                        <a:rPr sz="700" b="0" i="0">
                          <a:solidFill>
                            <a:srgbClr val="0070C0"/>
                          </a:solidFill>
                          <a:latin typeface="Times New Roman"/>
                        </a:rPr>
                        <a:t> </a:t>
                      </a:r>
                      <a:r>
                        <a:rPr sz="1100" b="0" i="0">
                          <a:solidFill>
                            <a:srgbClr val="0070C0"/>
                          </a:solidFill>
                          <a:latin typeface="Calibri"/>
                        </a:rPr>
                        <a:t>Turkiye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22.23.1.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22.23.2.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22.23.3.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22.23.4.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(8/8)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22.23.5.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22.24.</a:t>
                      </a:r>
                      <a:r>
                        <a:rPr sz="700" b="0" i="0">
                          <a:solidFill>
                            <a:srgbClr val="0070C0"/>
                          </a:solidFill>
                          <a:latin typeface="Times New Roman"/>
                        </a:rPr>
                        <a:t> </a:t>
                      </a:r>
                      <a:r>
                        <a:rPr sz="1100" b="0" i="0">
                          <a:solidFill>
                            <a:srgbClr val="0070C0"/>
                          </a:solidFill>
                          <a:latin typeface="Calibri"/>
                        </a:rPr>
                        <a:t>GCC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22.24.1.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22.24.3.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22.24.4.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22.24.5.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22.25.</a:t>
                      </a:r>
                      <a:r>
                        <a:rPr sz="700" b="0" i="0">
                          <a:solidFill>
                            <a:srgbClr val="0070C0"/>
                          </a:solidFill>
                          <a:latin typeface="Times New Roman"/>
                        </a:rPr>
                        <a:t> </a:t>
                      </a:r>
                      <a:r>
                        <a:rPr sz="1100" b="0" i="0">
                          <a:solidFill>
                            <a:srgbClr val="0070C0"/>
                          </a:solidFill>
                          <a:latin typeface="Calibri"/>
                        </a:rPr>
                        <a:t>Northern Africa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22.25.1.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22.25.3.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22.25.4.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22.25.5.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0" i="0">
                          <a:solidFill>
                            <a:srgbClr val="0070C0"/>
                          </a:solidFill>
                          <a:latin typeface="Calibri"/>
                        </a:rPr>
                        <a:t>22.26.</a:t>
                      </a:r>
                      <a:r>
                        <a:rPr sz="700" b="0" i="0">
                          <a:solidFill>
                            <a:srgbClr val="0070C0"/>
                          </a:solidFill>
                          <a:latin typeface="Times New Roman"/>
                        </a:rPr>
                        <a:t> </a:t>
                      </a:r>
                      <a:r>
                        <a:rPr sz="1100" b="0" i="0">
                          <a:solidFill>
                            <a:srgbClr val="0070C0"/>
                          </a:solidFill>
                          <a:latin typeface="Calibri"/>
                        </a:rPr>
                        <a:t>South Africa Heavy Commercial Vehicle EPS Market Analysis</a:t>
                      </a:r>
                      <a:endParaRPr sz="1100"/>
                    </a:p>
                  </a:txBody>
                  <a:tcPr marL="428625" marR="9525" marT="9525" marB="0" anchor="ctr"/>
                </a:tc>
              </a:tr>
              <a:tr h="175260">
                <a:tc>
                  <a:txBody>
                    <a:bodyPr wrap="square"/>
                    <a:lstStyle/>
                    <a:p>
                      <a:pPr algn="l"/>
                      <a:r>
                        <a:rPr sz="1100" b="0" i="0">
                          <a:solidFill>
                            <a:srgbClr val="000000"/>
                          </a:solidFill>
                          <a:latin typeface="Calibri"/>
                        </a:rPr>
                        <a:t>22.26.1.</a:t>
                      </a:r>
                      <a:r>
                        <a:rPr sz="700" b="0" i="0">
                          <a:solidFill>
                            <a:srgbClr val="000000"/>
                          </a:solidFill>
                          <a:latin typeface="Times New Roman"/>
                        </a:rPr>
                        <a:t> </a:t>
                      </a:r>
                      <a:r>
                        <a:rPr sz="1100" b="0" i="0">
                          <a:solidFill>
                            <a:srgbClr val="000000"/>
                          </a:solidFill>
                          <a:latin typeface="Calibri"/>
                        </a:rPr>
                        <a:t>By System Architecture</a:t>
                      </a:r>
                      <a:endParaRPr sz="1100"/>
                    </a:p>
                  </a:txBody>
                  <a:tcPr marL="771525" marR="9525" marT="9525" marB="0" anchor="ctr"/>
                </a:tc>
              </a:tr>
              <a:tr h="175260">
                <a:tc>
                  <a:txBody>
                    <a:bodyPr wrap="square"/>
                    <a:lstStyle/>
                    <a:p>
                      <a:pPr algn="l"/>
                      <a:r>
                        <a:rPr sz="1100" b="0" i="0">
                          <a:solidFill>
                            <a:srgbClr val="000000"/>
                          </a:solidFill>
                          <a:latin typeface="Calibri"/>
                        </a:rPr>
                        <a:t>22.26.2.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22.26.3.</a:t>
                      </a:r>
                      <a:r>
                        <a:rPr sz="700" b="0" i="0">
                          <a:solidFill>
                            <a:srgbClr val="000000"/>
                          </a:solidFill>
                          <a:latin typeface="Times New Roman"/>
                        </a:rPr>
                        <a:t> </a:t>
                      </a:r>
                      <a:r>
                        <a:rPr sz="1100" b="0" i="0">
                          <a:solidFill>
                            <a:srgbClr val="000000"/>
                          </a:solidFill>
                          <a:latin typeface="Calibri"/>
                        </a:rPr>
                        <a:t>By Gross Vehicle Weight</a:t>
                      </a:r>
                      <a:endParaRPr sz="1100"/>
                    </a:p>
                  </a:txBody>
                  <a:tcPr marL="771525" marR="9525" marT="9525" marB="0" anchor="ctr"/>
                </a:tc>
              </a:tr>
              <a:tr h="175260">
                <a:tc>
                  <a:txBody>
                    <a:bodyPr wrap="square"/>
                    <a:lstStyle/>
                    <a:p>
                      <a:pPr algn="l"/>
                      <a:r>
                        <a:rPr sz="1100" b="0" i="0">
                          <a:solidFill>
                            <a:srgbClr val="000000"/>
                          </a:solidFill>
                          <a:latin typeface="Calibri"/>
                        </a:rPr>
                        <a:t>22.26.4.</a:t>
                      </a:r>
                      <a:r>
                        <a:rPr sz="700" b="0" i="0">
                          <a:solidFill>
                            <a:srgbClr val="000000"/>
                          </a:solidFill>
                          <a:latin typeface="Times New Roman"/>
                        </a:rPr>
                        <a:t> </a:t>
                      </a:r>
                      <a:r>
                        <a:rPr sz="1100" b="0" i="0">
                          <a:solidFill>
                            <a:srgbClr val="000000"/>
                          </a:solidFill>
                          <a:latin typeface="Calibri"/>
                        </a:rPr>
                        <a:t>By Propulsion Type</a:t>
                      </a:r>
                      <a:endParaRPr sz="1100"/>
                    </a:p>
                  </a:txBody>
                  <a:tcPr marL="771525" marR="9525" marT="9525" marB="0" anchor="ctr"/>
                </a:tc>
              </a:tr>
              <a:tr h="175260">
                <a:tc>
                  <a:txBody>
                    <a:bodyPr wrap="square"/>
                    <a:lstStyle/>
                    <a:p>
                      <a:pPr algn="l"/>
                      <a:r>
                        <a:rPr sz="1100" b="0" i="0">
                          <a:solidFill>
                            <a:srgbClr val="000000"/>
                          </a:solidFill>
                          <a:latin typeface="Calibri"/>
                        </a:rPr>
                        <a:t>22.26.5.</a:t>
                      </a:r>
                      <a:r>
                        <a:rPr sz="700" b="0" i="0">
                          <a:solidFill>
                            <a:srgbClr val="000000"/>
                          </a:solidFill>
                          <a:latin typeface="Times New Roman"/>
                        </a:rPr>
                        <a:t> </a:t>
                      </a:r>
                      <a:r>
                        <a:rPr sz="1100" b="0" i="0">
                          <a:solidFill>
                            <a:srgbClr val="000000"/>
                          </a:solidFill>
                          <a:latin typeface="Calibri"/>
                        </a:rPr>
                        <a:t>By Demand Type</a:t>
                      </a:r>
                      <a:endParaRPr sz="1100"/>
                    </a:p>
                  </a:txBody>
                  <a:tcPr marL="7715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Market Structure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Market Analysis by Tier of Companies</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Market Share Analysis of Top Players</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Market Presence Analysis</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Competition Analysis</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Competition Dashboard</a:t>
                      </a:r>
                      <a:endParaRPr sz="1100"/>
                    </a:p>
                  </a:txBody>
                  <a:tcPr marL="4286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Competition Benchmarking</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Competition Deep Dive</a:t>
                      </a:r>
                      <a:endParaRPr sz="1100"/>
                    </a:p>
                  </a:txBody>
                  <a:tcPr marL="428625" marR="9525" marT="9525" marB="0" anchor="ctr"/>
                </a:tc>
              </a:tr>
              <a:tr h="175260">
                <a:tc>
                  <a:txBody>
                    <a:bodyPr wrap="square"/>
                    <a:lstStyle/>
                    <a:p>
                      <a:pPr algn="l"/>
                      <a:r>
                        <a:rPr sz="1100" b="1" i="0">
                          <a:solidFill>
                            <a:srgbClr val="000000"/>
                          </a:solidFill>
                          <a:latin typeface="Calibri"/>
                        </a:rPr>
                        <a:t>Heavy Commercial Vehicle Steering System Majors</a:t>
                      </a:r>
                      <a:endParaRPr sz="1100"/>
                    </a:p>
                  </a:txBody>
                  <a:tcPr marL="9525" marR="9525" marT="9525" marB="0" anchor="ctr"/>
                </a:tc>
              </a:tr>
              <a:tr h="175260">
                <a:tc>
                  <a:txBody>
                    <a:bodyPr wrap="square"/>
                    <a:lstStyle/>
                    <a:p>
                      <a:pPr algn="l"/>
                      <a:r>
                        <a:rPr sz="1100" b="0" i="0">
                          <a:solidFill>
                            <a:srgbClr val="000000"/>
                          </a:solidFill>
                          <a:latin typeface="Calibri"/>
                        </a:rPr>
                        <a:t>24.3.1.</a:t>
                      </a:r>
                      <a:r>
                        <a:rPr sz="700" b="0" i="0">
                          <a:solidFill>
                            <a:srgbClr val="000000"/>
                          </a:solidFill>
                          <a:latin typeface="Times New Roman"/>
                        </a:rPr>
                        <a:t> </a:t>
                      </a:r>
                      <a:r>
                        <a:rPr sz="1100" b="0" i="0">
                          <a:solidFill>
                            <a:srgbClr val="000000"/>
                          </a:solidFill>
                          <a:latin typeface="Calibri"/>
                        </a:rPr>
                        <a:t>Bosch</a:t>
                      </a:r>
                      <a:endParaRPr sz="1100"/>
                    </a:p>
                  </a:txBody>
                  <a:tcPr marL="771525" marR="9525" marT="9525" marB="0" anchor="ctr"/>
                </a:tc>
              </a:tr>
              <a:tr h="175260">
                <a:tc>
                  <a:txBody>
                    <a:bodyPr wrap="square"/>
                    <a:lstStyle/>
                    <a:p>
                      <a:pPr algn="l"/>
                      <a:r>
                        <a:rPr sz="1100" b="0" i="0">
                          <a:solidFill>
                            <a:srgbClr val="000000"/>
                          </a:solidFill>
                          <a:latin typeface="Calibri"/>
                        </a:rPr>
                        <a:t>24.3.2.</a:t>
                      </a:r>
                      <a:r>
                        <a:rPr sz="700" b="0" i="0">
                          <a:solidFill>
                            <a:srgbClr val="000000"/>
                          </a:solidFill>
                          <a:latin typeface="Times New Roman"/>
                        </a:rPr>
                        <a:t> </a:t>
                      </a:r>
                      <a:r>
                        <a:rPr sz="1100" b="0" i="0">
                          <a:solidFill>
                            <a:srgbClr val="000000"/>
                          </a:solidFill>
                          <a:latin typeface="Calibri"/>
                        </a:rPr>
                        <a:t>ZF</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368046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24.3.3.</a:t>
                      </a:r>
                      <a:r>
                        <a:rPr sz="700" b="0" i="0">
                          <a:solidFill>
                            <a:srgbClr val="000000"/>
                          </a:solidFill>
                          <a:latin typeface="Times New Roman"/>
                        </a:rPr>
                        <a:t> </a:t>
                      </a:r>
                      <a:r>
                        <a:rPr sz="1100" b="0" i="0">
                          <a:solidFill>
                            <a:srgbClr val="000000"/>
                          </a:solidFill>
                          <a:latin typeface="Calibri"/>
                        </a:rPr>
                        <a:t>Knorr-Bremse</a:t>
                      </a:r>
                      <a:endParaRPr sz="1100"/>
                    </a:p>
                  </a:txBody>
                  <a:tcPr marL="771525" marR="9525" marT="9525" marB="0" anchor="ctr"/>
                </a:tc>
              </a:tr>
              <a:tr h="175260">
                <a:tc>
                  <a:txBody>
                    <a:bodyPr wrap="square"/>
                    <a:lstStyle/>
                    <a:p>
                      <a:pPr algn="l"/>
                      <a:r>
                        <a:rPr sz="1100" b="0" i="0">
                          <a:solidFill>
                            <a:srgbClr val="000000"/>
                          </a:solidFill>
                          <a:latin typeface="Calibri"/>
                        </a:rPr>
                        <a:t>24.3.4.</a:t>
                      </a:r>
                      <a:r>
                        <a:rPr sz="700" b="0" i="0">
                          <a:solidFill>
                            <a:srgbClr val="000000"/>
                          </a:solidFill>
                          <a:latin typeface="Times New Roman"/>
                        </a:rPr>
                        <a:t> </a:t>
                      </a:r>
                      <a:r>
                        <a:rPr sz="1100" b="0" i="0">
                          <a:solidFill>
                            <a:srgbClr val="000000"/>
                          </a:solidFill>
                          <a:latin typeface="Calibri"/>
                        </a:rPr>
                        <a:t>thyssenkrupp</a:t>
                      </a:r>
                      <a:endParaRPr sz="1100"/>
                    </a:p>
                  </a:txBody>
                  <a:tcPr marL="771525" marR="9525" marT="9525" marB="0" anchor="ctr"/>
                </a:tc>
              </a:tr>
              <a:tr h="175260">
                <a:tc>
                  <a:txBody>
                    <a:bodyPr wrap="square"/>
                    <a:lstStyle/>
                    <a:p>
                      <a:pPr algn="l"/>
                      <a:r>
                        <a:rPr sz="1100" b="0" i="0">
                          <a:solidFill>
                            <a:srgbClr val="000000"/>
                          </a:solidFill>
                          <a:latin typeface="Calibri"/>
                        </a:rPr>
                        <a:t>24.3.5.</a:t>
                      </a:r>
                      <a:r>
                        <a:rPr sz="700" b="0" i="0">
                          <a:solidFill>
                            <a:srgbClr val="000000"/>
                          </a:solidFill>
                          <a:latin typeface="Times New Roman"/>
                        </a:rPr>
                        <a:t> </a:t>
                      </a:r>
                      <a:r>
                        <a:rPr sz="1100" b="0" i="0">
                          <a:solidFill>
                            <a:srgbClr val="000000"/>
                          </a:solidFill>
                          <a:latin typeface="Calibri"/>
                        </a:rPr>
                        <a:t>JTEKT</a:t>
                      </a:r>
                      <a:endParaRPr sz="1100"/>
                    </a:p>
                  </a:txBody>
                  <a:tcPr marL="771525" marR="9525" marT="9525" marB="0" anchor="ctr"/>
                </a:tc>
              </a:tr>
              <a:tr h="175260">
                <a:tc>
                  <a:txBody>
                    <a:bodyPr wrap="square"/>
                    <a:lstStyle/>
                    <a:p>
                      <a:pPr algn="l"/>
                      <a:r>
                        <a:rPr sz="1100" b="0" i="0">
                          <a:solidFill>
                            <a:srgbClr val="000000"/>
                          </a:solidFill>
                          <a:latin typeface="Calibri"/>
                        </a:rPr>
                        <a:t>24.3.6.</a:t>
                      </a:r>
                      <a:r>
                        <a:rPr sz="700" b="0" i="0">
                          <a:solidFill>
                            <a:srgbClr val="000000"/>
                          </a:solidFill>
                          <a:latin typeface="Times New Roman"/>
                        </a:rPr>
                        <a:t> </a:t>
                      </a:r>
                      <a:r>
                        <a:rPr sz="1100" b="0" i="0">
                          <a:solidFill>
                            <a:srgbClr val="000000"/>
                          </a:solidFill>
                          <a:latin typeface="Calibri"/>
                        </a:rPr>
                        <a:t>Nexteer Automotive</a:t>
                      </a:r>
                      <a:endParaRPr sz="1100"/>
                    </a:p>
                  </a:txBody>
                  <a:tcPr marL="771525" marR="9525" marT="9525" marB="0" anchor="ctr"/>
                </a:tc>
              </a:tr>
              <a:tr h="175260">
                <a:tc>
                  <a:txBody>
                    <a:bodyPr wrap="square"/>
                    <a:lstStyle/>
                    <a:p>
                      <a:pPr algn="l"/>
                      <a:r>
                        <a:rPr sz="1100" b="1" i="0">
                          <a:solidFill>
                            <a:srgbClr val="000000"/>
                          </a:solidFill>
                          <a:latin typeface="Calibri"/>
                        </a:rPr>
                        <a:t>Global EPS &amp; Advanced Steering Specialists</a:t>
                      </a:r>
                      <a:endParaRPr sz="1100"/>
                    </a:p>
                  </a:txBody>
                  <a:tcPr marL="9525" marR="9525" marT="9525" marB="0" anchor="ctr"/>
                </a:tc>
              </a:tr>
              <a:tr h="175260">
                <a:tc>
                  <a:txBody>
                    <a:bodyPr wrap="square"/>
                    <a:lstStyle/>
                    <a:p>
                      <a:pPr algn="l"/>
                      <a:r>
                        <a:rPr sz="1100" b="0" i="0">
                          <a:solidFill>
                            <a:srgbClr val="000000"/>
                          </a:solidFill>
                          <a:latin typeface="Calibri"/>
                        </a:rPr>
                        <a:t>24.3.7.</a:t>
                      </a:r>
                      <a:r>
                        <a:rPr sz="700" b="0" i="0">
                          <a:solidFill>
                            <a:srgbClr val="000000"/>
                          </a:solidFill>
                          <a:latin typeface="Times New Roman"/>
                        </a:rPr>
                        <a:t> </a:t>
                      </a:r>
                      <a:r>
                        <a:rPr sz="1100" b="0" i="0">
                          <a:solidFill>
                            <a:srgbClr val="000000"/>
                          </a:solidFill>
                          <a:latin typeface="Calibri"/>
                        </a:rPr>
                        <a:t>NSK</a:t>
                      </a:r>
                      <a:endParaRPr sz="1100"/>
                    </a:p>
                  </a:txBody>
                  <a:tcPr marL="771525" marR="9525" marT="9525" marB="0" anchor="ctr"/>
                </a:tc>
              </a:tr>
              <a:tr h="175260">
                <a:tc>
                  <a:txBody>
                    <a:bodyPr wrap="square"/>
                    <a:lstStyle/>
                    <a:p>
                      <a:pPr algn="l"/>
                      <a:r>
                        <a:rPr sz="1100" b="0" i="0">
                          <a:solidFill>
                            <a:srgbClr val="000000"/>
                          </a:solidFill>
                          <a:latin typeface="Calibri"/>
                        </a:rPr>
                        <a:t>24.3.8.</a:t>
                      </a:r>
                      <a:r>
                        <a:rPr sz="700" b="0" i="0">
                          <a:solidFill>
                            <a:srgbClr val="000000"/>
                          </a:solidFill>
                          <a:latin typeface="Times New Roman"/>
                        </a:rPr>
                        <a:t> </a:t>
                      </a:r>
                      <a:r>
                        <a:rPr sz="1100" b="0" i="0">
                          <a:solidFill>
                            <a:srgbClr val="000000"/>
                          </a:solidFill>
                          <a:latin typeface="Calibri"/>
                        </a:rPr>
                        <a:t>Hyundai Mobis</a:t>
                      </a:r>
                      <a:endParaRPr sz="1100"/>
                    </a:p>
                  </a:txBody>
                  <a:tcPr marL="771525" marR="9525" marT="9525" marB="0" anchor="ctr"/>
                </a:tc>
              </a:tr>
              <a:tr h="175260">
                <a:tc>
                  <a:txBody>
                    <a:bodyPr wrap="square"/>
                    <a:lstStyle/>
                    <a:p>
                      <a:pPr algn="l"/>
                      <a:r>
                        <a:rPr sz="1100" b="0" i="0">
                          <a:solidFill>
                            <a:srgbClr val="000000"/>
                          </a:solidFill>
                          <a:latin typeface="Calibri"/>
                        </a:rPr>
                        <a:t>24.3.9.</a:t>
                      </a:r>
                      <a:r>
                        <a:rPr sz="700" b="0" i="0">
                          <a:solidFill>
                            <a:srgbClr val="000000"/>
                          </a:solidFill>
                          <a:latin typeface="Times New Roman"/>
                        </a:rPr>
                        <a:t> </a:t>
                      </a:r>
                      <a:r>
                        <a:rPr sz="1100" b="0" i="0">
                          <a:solidFill>
                            <a:srgbClr val="000000"/>
                          </a:solidFill>
                          <a:latin typeface="Calibri"/>
                        </a:rPr>
                        <a:t>HL Mando</a:t>
                      </a:r>
                      <a:endParaRPr sz="1100"/>
                    </a:p>
                  </a:txBody>
                  <a:tcPr marL="771525" marR="9525" marT="9525" marB="0" anchor="ctr"/>
                </a:tc>
              </a:tr>
              <a:tr h="175260">
                <a:tc>
                  <a:txBody>
                    <a:bodyPr wrap="square"/>
                    <a:lstStyle/>
                    <a:p>
                      <a:pPr algn="l"/>
                      <a:r>
                        <a:rPr sz="1100" b="0" i="0">
                          <a:solidFill>
                            <a:srgbClr val="000000"/>
                          </a:solidFill>
                          <a:latin typeface="Calibri"/>
                        </a:rPr>
                        <a:t>24.3.10.</a:t>
                      </a:r>
                      <a:r>
                        <a:rPr sz="700" b="0" i="0">
                          <a:solidFill>
                            <a:srgbClr val="000000"/>
                          </a:solidFill>
                          <a:latin typeface="Times New Roman"/>
                        </a:rPr>
                        <a:t> </a:t>
                      </a:r>
                      <a:r>
                        <a:rPr sz="1100" b="0" i="0">
                          <a:solidFill>
                            <a:srgbClr val="000000"/>
                          </a:solidFill>
                          <a:latin typeface="Calibri"/>
                        </a:rPr>
                        <a:t>China Automotive Systems</a:t>
                      </a:r>
                      <a:endParaRPr sz="1100"/>
                    </a:p>
                  </a:txBody>
                  <a:tcPr marL="771525" marR="9525" marT="9525" marB="0" anchor="ctr"/>
                </a:tc>
              </a:tr>
              <a:tr h="175260">
                <a:tc>
                  <a:txBody>
                    <a:bodyPr wrap="square"/>
                    <a:lstStyle/>
                    <a:p>
                      <a:pPr algn="l"/>
                      <a:r>
                        <a:rPr sz="1100" b="0" i="0">
                          <a:solidFill>
                            <a:srgbClr val="000000"/>
                          </a:solidFill>
                          <a:latin typeface="Calibri"/>
                        </a:rPr>
                        <a:t>24.3.11.</a:t>
                      </a:r>
                      <a:r>
                        <a:rPr sz="700" b="0" i="0">
                          <a:solidFill>
                            <a:srgbClr val="000000"/>
                          </a:solidFill>
                          <a:latin typeface="Times New Roman"/>
                        </a:rPr>
                        <a:t> </a:t>
                      </a:r>
                      <a:r>
                        <a:rPr sz="1100" b="0" i="0">
                          <a:solidFill>
                            <a:srgbClr val="000000"/>
                          </a:solidFill>
                          <a:latin typeface="Calibri"/>
                        </a:rPr>
                        <a:t>Schaeffler</a:t>
                      </a:r>
                      <a:endParaRPr sz="1100"/>
                    </a:p>
                  </a:txBody>
                  <a:tcPr marL="771525" marR="9525" marT="9525" marB="0" anchor="ctr"/>
                </a:tc>
              </a:tr>
              <a:tr h="175260">
                <a:tc>
                  <a:txBody>
                    <a:bodyPr wrap="square"/>
                    <a:lstStyle/>
                    <a:p>
                      <a:pPr algn="l"/>
                      <a:r>
                        <a:rPr sz="1100" b="0" i="0">
                          <a:solidFill>
                            <a:srgbClr val="000000"/>
                          </a:solidFill>
                          <a:latin typeface="Calibri"/>
                        </a:rPr>
                        <a:t>24.3.12.</a:t>
                      </a:r>
                      <a:r>
                        <a:rPr sz="700" b="0" i="0">
                          <a:solidFill>
                            <a:srgbClr val="000000"/>
                          </a:solidFill>
                          <a:latin typeface="Times New Roman"/>
                        </a:rPr>
                        <a:t> </a:t>
                      </a:r>
                      <a:r>
                        <a:rPr sz="1100" b="0" i="0">
                          <a:solidFill>
                            <a:srgbClr val="000000"/>
                          </a:solidFill>
                          <a:latin typeface="Calibri"/>
                        </a:rPr>
                        <a:t>Hitachi Astemo</a:t>
                      </a:r>
                      <a:endParaRPr sz="1100"/>
                    </a:p>
                  </a:txBody>
                  <a:tcPr marL="771525" marR="9525" marT="9525" marB="0" anchor="ctr"/>
                </a:tc>
              </a:tr>
              <a:tr h="175260">
                <a:tc>
                  <a:txBody>
                    <a:bodyPr wrap="square"/>
                    <a:lstStyle/>
                    <a:p>
                      <a:pPr algn="l"/>
                      <a:r>
                        <a:rPr sz="1100" b="1" i="0">
                          <a:solidFill>
                            <a:srgbClr val="000000"/>
                          </a:solidFill>
                          <a:latin typeface="Calibri"/>
                        </a:rPr>
                        <a:t>Commercial Vehicle / Chassis System Suppliers</a:t>
                      </a:r>
                      <a:endParaRPr sz="1100"/>
                    </a:p>
                  </a:txBody>
                  <a:tcPr marL="9525" marR="9525" marT="9525" marB="0" anchor="ctr"/>
                </a:tc>
              </a:tr>
              <a:tr h="175260">
                <a:tc>
                  <a:txBody>
                    <a:bodyPr wrap="square"/>
                    <a:lstStyle/>
                    <a:p>
                      <a:pPr algn="l"/>
                      <a:r>
                        <a:rPr sz="1100" b="0" i="0">
                          <a:solidFill>
                            <a:srgbClr val="000000"/>
                          </a:solidFill>
                          <a:latin typeface="Calibri"/>
                        </a:rPr>
                        <a:t>24.3.13.</a:t>
                      </a:r>
                      <a:r>
                        <a:rPr sz="700" b="0" i="0">
                          <a:solidFill>
                            <a:srgbClr val="000000"/>
                          </a:solidFill>
                          <a:latin typeface="Times New Roman"/>
                        </a:rPr>
                        <a:t> </a:t>
                      </a:r>
                      <a:r>
                        <a:rPr sz="1100" b="0" i="0">
                          <a:solidFill>
                            <a:srgbClr val="000000"/>
                          </a:solidFill>
                          <a:latin typeface="Calibri"/>
                        </a:rPr>
                        <a:t>Rane Group</a:t>
                      </a:r>
                      <a:endParaRPr sz="1100"/>
                    </a:p>
                  </a:txBody>
                  <a:tcPr marL="771525" marR="9525" marT="9525" marB="0" anchor="ctr"/>
                </a:tc>
              </a:tr>
              <a:tr h="175260">
                <a:tc>
                  <a:txBody>
                    <a:bodyPr wrap="square"/>
                    <a:lstStyle/>
                    <a:p>
                      <a:pPr algn="l"/>
                      <a:r>
                        <a:rPr sz="1100" b="0" i="0">
                          <a:solidFill>
                            <a:srgbClr val="000000"/>
                          </a:solidFill>
                          <a:latin typeface="Calibri"/>
                        </a:rPr>
                        <a:t>24.3.14.</a:t>
                      </a:r>
                      <a:r>
                        <a:rPr sz="700" b="0" i="0">
                          <a:solidFill>
                            <a:srgbClr val="000000"/>
                          </a:solidFill>
                          <a:latin typeface="Times New Roman"/>
                        </a:rPr>
                        <a:t> </a:t>
                      </a:r>
                      <a:r>
                        <a:rPr sz="1100" b="0" i="0">
                          <a:solidFill>
                            <a:srgbClr val="000000"/>
                          </a:solidFill>
                          <a:latin typeface="Calibri"/>
                        </a:rPr>
                        <a:t>Kongsberg Automotive</a:t>
                      </a:r>
                      <a:endParaRPr sz="1100"/>
                    </a:p>
                  </a:txBody>
                  <a:tcPr marL="771525" marR="9525" marT="9525" marB="0" anchor="ctr"/>
                </a:tc>
              </a:tr>
              <a:tr h="175260">
                <a:tc>
                  <a:txBody>
                    <a:bodyPr wrap="square"/>
                    <a:lstStyle/>
                    <a:p>
                      <a:pPr algn="l"/>
                      <a:r>
                        <a:rPr sz="1100" b="0" i="0">
                          <a:solidFill>
                            <a:srgbClr val="000000"/>
                          </a:solidFill>
                          <a:latin typeface="Calibri"/>
                        </a:rPr>
                        <a:t>24.3.15.</a:t>
                      </a:r>
                      <a:r>
                        <a:rPr sz="700" b="0" i="0">
                          <a:solidFill>
                            <a:srgbClr val="000000"/>
                          </a:solidFill>
                          <a:latin typeface="Times New Roman"/>
                        </a:rPr>
                        <a:t> </a:t>
                      </a:r>
                      <a:r>
                        <a:rPr sz="1100" b="0" i="0">
                          <a:solidFill>
                            <a:srgbClr val="000000"/>
                          </a:solidFill>
                          <a:latin typeface="Calibri"/>
                        </a:rPr>
                        <a:t>Mando</a:t>
                      </a:r>
                      <a:endParaRPr sz="1100"/>
                    </a:p>
                  </a:txBody>
                  <a:tcPr marL="771525" marR="9525" marT="9525" marB="0" anchor="ctr"/>
                </a:tc>
              </a:tr>
              <a:tr h="175260">
                <a:tc>
                  <a:txBody>
                    <a:bodyPr wrap="square"/>
                    <a:lstStyle/>
                    <a:p>
                      <a:pPr algn="l"/>
                      <a:r>
                        <a:rPr sz="1100" b="1" i="0">
                          <a:solidFill>
                            <a:srgbClr val="000000"/>
                          </a:solidFill>
                          <a:latin typeface="Calibri"/>
                        </a:rPr>
                        <a:t>Steer-by-Wire Ecosystem Participants</a:t>
                      </a:r>
                      <a:endParaRPr sz="1100"/>
                    </a:p>
                  </a:txBody>
                  <a:tcPr marL="9525" marR="9525" marT="9525" marB="0" anchor="ctr"/>
                </a:tc>
              </a:tr>
              <a:tr h="175260">
                <a:tc>
                  <a:txBody>
                    <a:bodyPr wrap="square"/>
                    <a:lstStyle/>
                    <a:p>
                      <a:pPr algn="l"/>
                      <a:r>
                        <a:rPr sz="1100" b="0" i="0">
                          <a:solidFill>
                            <a:srgbClr val="000000"/>
                          </a:solidFill>
                          <a:latin typeface="Calibri"/>
                        </a:rPr>
                        <a:t>24.3.16.</a:t>
                      </a:r>
                      <a:r>
                        <a:rPr sz="700" b="0" i="0">
                          <a:solidFill>
                            <a:srgbClr val="000000"/>
                          </a:solidFill>
                          <a:latin typeface="Times New Roman"/>
                        </a:rPr>
                        <a:t> </a:t>
                      </a:r>
                      <a:r>
                        <a:rPr sz="1100" b="0" i="0">
                          <a:solidFill>
                            <a:srgbClr val="000000"/>
                          </a:solidFill>
                          <a:latin typeface="Calibri"/>
                        </a:rPr>
                        <a:t>Aptiv</a:t>
                      </a:r>
                      <a:endParaRPr sz="1100"/>
                    </a:p>
                  </a:txBody>
                  <a:tcPr marL="771525" marR="9525" marT="9525" marB="0" anchor="ctr"/>
                </a:tc>
              </a:tr>
              <a:tr h="175260">
                <a:tc>
                  <a:txBody>
                    <a:bodyPr wrap="square"/>
                    <a:lstStyle/>
                    <a:p>
                      <a:pPr algn="l"/>
                      <a:r>
                        <a:rPr sz="1100" b="0" i="0">
                          <a:solidFill>
                            <a:srgbClr val="000000"/>
                          </a:solidFill>
                          <a:latin typeface="Calibri"/>
                        </a:rPr>
                        <a:t>24.3.17.</a:t>
                      </a:r>
                      <a:r>
                        <a:rPr sz="700" b="0" i="0">
                          <a:solidFill>
                            <a:srgbClr val="000000"/>
                          </a:solidFill>
                          <a:latin typeface="Times New Roman"/>
                        </a:rPr>
                        <a:t> </a:t>
                      </a:r>
                      <a:r>
                        <a:rPr sz="1100" b="0" i="0">
                          <a:solidFill>
                            <a:srgbClr val="000000"/>
                          </a:solidFill>
                          <a:latin typeface="Calibri"/>
                        </a:rPr>
                        <a:t>REE Automotive</a:t>
                      </a:r>
                      <a:endParaRPr sz="1100"/>
                    </a:p>
                  </a:txBody>
                  <a:tcPr marL="771525" marR="9525" marT="9525" marB="0" anchor="ctr"/>
                </a:tc>
              </a:tr>
              <a:tr h="175260">
                <a:tc>
                  <a:txBody>
                    <a:bodyPr wrap="square"/>
                    <a:lstStyle/>
                    <a:p>
                      <a:pPr algn="l"/>
                      <a:r>
                        <a:rPr sz="1100" b="0" i="0">
                          <a:solidFill>
                            <a:srgbClr val="000000"/>
                          </a:solidFill>
                          <a:latin typeface="Calibri"/>
                        </a:rPr>
                        <a:t>24.3.18.</a:t>
                      </a:r>
                      <a:r>
                        <a:rPr sz="700" b="0" i="0">
                          <a:solidFill>
                            <a:srgbClr val="000000"/>
                          </a:solidFill>
                          <a:latin typeface="Times New Roman"/>
                        </a:rPr>
                        <a:t> </a:t>
                      </a:r>
                      <a:r>
                        <a:rPr sz="1100" b="0" i="0">
                          <a:solidFill>
                            <a:srgbClr val="000000"/>
                          </a:solidFill>
                          <a:latin typeface="Calibri"/>
                        </a:rPr>
                        <a:t>Danfoss Power Solutions</a:t>
                      </a:r>
                      <a:endParaRPr sz="1100"/>
                    </a:p>
                  </a:txBody>
                  <a:tcPr marL="7715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(1/9)</a:t>
            </a:r>
          </a:p>
        </p:txBody>
      </p:sp>
      <p:graphicFrame>
        <p:nvGraphicFramePr>
          <p:cNvPr id="9" name="FMI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171824">
                <a:tc>
                  <a:txBody>
                    <a:bodyPr wrap="square"/>
                    <a:lstStyle/>
                    <a:p>
                      <a:pPr algn="l"/>
                      <a:r>
                        <a:rPr sz="1050" b="0" i="0">
                          <a:solidFill>
                            <a:srgbClr val="000000"/>
                          </a:solidFill>
                          <a:latin typeface="Calibri"/>
                        </a:rPr>
                        <a:t>Figure 1: Global Heavy Commercial Vehicle EPS Market Value, 2021–2025</a:t>
                      </a:r>
                      <a:endParaRPr sz="1050"/>
                    </a:p>
                  </a:txBody>
                  <a:tcPr marL="9525" marR="9525" marT="9525" marB="0" anchor="ctr"/>
                </a:tc>
              </a:tr>
              <a:tr h="171824">
                <a:tc>
                  <a:txBody>
                    <a:bodyPr wrap="square"/>
                    <a:lstStyle/>
                    <a:p>
                      <a:pPr algn="l"/>
                      <a:r>
                        <a:rPr sz="1050" b="0" i="0">
                          <a:solidFill>
                            <a:srgbClr val="000000"/>
                          </a:solidFill>
                          <a:latin typeface="Calibri"/>
                        </a:rPr>
                        <a:t>Figure 2: Global Heavy Commercial Vehicle EPS Market Value, 2026–2036</a:t>
                      </a:r>
                      <a:endParaRPr sz="1050"/>
                    </a:p>
                  </a:txBody>
                  <a:tcPr marL="9525" marR="9525" marT="9525" marB="0" anchor="ctr"/>
                </a:tc>
              </a:tr>
              <a:tr h="171824">
                <a:tc>
                  <a:txBody>
                    <a:bodyPr wrap="square"/>
                    <a:lstStyle/>
                    <a:p>
                      <a:pPr algn="l"/>
                      <a:r>
                        <a:rPr sz="1050" b="0" i="0">
                          <a:solidFill>
                            <a:srgbClr val="000000"/>
                          </a:solidFill>
                          <a:latin typeface="Calibri"/>
                        </a:rPr>
                        <a:t>Figure 3: Global Heavy Commercial Vehicle EPS Market Incremental $ Opportunity, 2026–2036</a:t>
                      </a:r>
                      <a:endParaRPr sz="1050"/>
                    </a:p>
                  </a:txBody>
                  <a:tcPr marL="9525" marR="9525" marT="9525" marB="0" anchor="ctr"/>
                </a:tc>
              </a:tr>
              <a:tr h="171824">
                <a:tc>
                  <a:txBody>
                    <a:bodyPr wrap="square"/>
                    <a:lstStyle/>
                    <a:p>
                      <a:pPr algn="l"/>
                      <a:r>
                        <a:rPr sz="1050" b="0" i="0">
                          <a:solidFill>
                            <a:srgbClr val="000000"/>
                          </a:solidFill>
                          <a:latin typeface="Calibri"/>
                        </a:rPr>
                        <a:t>Figure 4: Global Heavy Commercial Vehicle EPS Market Value, 2026–2036 By System Architecture</a:t>
                      </a:r>
                      <a:endParaRPr sz="1050"/>
                    </a:p>
                  </a:txBody>
                  <a:tcPr marL="9525" marR="9525" marT="9525" marB="0" anchor="ctr"/>
                </a:tc>
              </a:tr>
              <a:tr h="336774">
                <a:tc>
                  <a:txBody>
                    <a:bodyPr wrap="square"/>
                    <a:lstStyle/>
                    <a:p>
                      <a:pPr algn="l"/>
                      <a:r>
                        <a:rPr sz="1050" b="0" i="0">
                          <a:solidFill>
                            <a:srgbClr val="000000"/>
                          </a:solidFill>
                          <a:latin typeface="Calibri"/>
                        </a:rPr>
                        <a:t>Figure 5: Global Heavy Commercial Vehicle EPS Market Value, 2026–2036 Y-o-Y Comparison By System Architecture</a:t>
                      </a:r>
                      <a:endParaRPr sz="1050"/>
                    </a:p>
                  </a:txBody>
                  <a:tcPr marL="9525" marR="9525" marT="9525" marB="0" anchor="ctr"/>
                </a:tc>
              </a:tr>
              <a:tr h="336774">
                <a:tc>
                  <a:txBody>
                    <a:bodyPr wrap="square"/>
                    <a:lstStyle/>
                    <a:p>
                      <a:pPr algn="l"/>
                      <a:r>
                        <a:rPr sz="1050" b="0" i="0">
                          <a:solidFill>
                            <a:srgbClr val="000000"/>
                          </a:solidFill>
                          <a:latin typeface="Calibri"/>
                        </a:rPr>
                        <a:t>Figure 6: Global Heavy Commercial Vehicle EPS Market Value, 2026–2036 BPS Analysis By System Architecture</a:t>
                      </a:r>
                      <a:endParaRPr sz="1050"/>
                    </a:p>
                  </a:txBody>
                  <a:tcPr marL="9525" marR="9525" marT="9525" marB="0" anchor="ctr"/>
                </a:tc>
              </a:tr>
              <a:tr h="171824">
                <a:tc>
                  <a:txBody>
                    <a:bodyPr wrap="square"/>
                    <a:lstStyle/>
                    <a:p>
                      <a:pPr algn="l"/>
                      <a:r>
                        <a:rPr sz="1050" b="0" i="0">
                          <a:solidFill>
                            <a:srgbClr val="000000"/>
                          </a:solidFill>
                          <a:latin typeface="Calibri"/>
                        </a:rPr>
                        <a:t>Figure 7: Global Heavy Commercial Vehicle EPS Market Attractiveness Analysis By System Architecture</a:t>
                      </a:r>
                      <a:endParaRPr sz="1050"/>
                    </a:p>
                  </a:txBody>
                  <a:tcPr marL="9525" marR="9525" marT="9525" marB="0" anchor="ctr"/>
                </a:tc>
              </a:tr>
              <a:tr h="171824">
                <a:tc>
                  <a:txBody>
                    <a:bodyPr wrap="square"/>
                    <a:lstStyle/>
                    <a:p>
                      <a:pPr algn="l"/>
                      <a:r>
                        <a:rPr sz="1050" b="0" i="0">
                          <a:solidFill>
                            <a:srgbClr val="000000"/>
                          </a:solidFill>
                          <a:latin typeface="Calibri"/>
                        </a:rPr>
                        <a:t>Figure 8: Global Heavy Commercial Vehicle EPS Market Value, 2026–2036 By Vehicle Type</a:t>
                      </a:r>
                      <a:endParaRPr sz="1050"/>
                    </a:p>
                  </a:txBody>
                  <a:tcPr marL="9525" marR="9525" marT="9525" marB="0" anchor="ctr"/>
                </a:tc>
              </a:tr>
              <a:tr h="336774">
                <a:tc>
                  <a:txBody>
                    <a:bodyPr wrap="square"/>
                    <a:lstStyle/>
                    <a:p>
                      <a:pPr algn="l"/>
                      <a:r>
                        <a:rPr sz="1050" b="0" i="0">
                          <a:solidFill>
                            <a:srgbClr val="000000"/>
                          </a:solidFill>
                          <a:latin typeface="Calibri"/>
                        </a:rPr>
                        <a:t>Figure 9: Global Heavy Commercial Vehicle EPS Market Value, 2026–2036 Y-o-Y Comparison By Vehicle Type</a:t>
                      </a:r>
                      <a:endParaRPr sz="1050"/>
                    </a:p>
                  </a:txBody>
                  <a:tcPr marL="9525" marR="9525" marT="9525" marB="0" anchor="ctr"/>
                </a:tc>
              </a:tr>
              <a:tr h="336774">
                <a:tc>
                  <a:txBody>
                    <a:bodyPr wrap="square"/>
                    <a:lstStyle/>
                    <a:p>
                      <a:pPr algn="l"/>
                      <a:r>
                        <a:rPr sz="1050" b="0" i="0">
                          <a:solidFill>
                            <a:srgbClr val="000000"/>
                          </a:solidFill>
                          <a:latin typeface="Calibri"/>
                        </a:rPr>
                        <a:t>Figure 10: Global Heavy Commercial Vehicle EPS Market Value, 2026–2036 BPS Analysis By Vehicle Type</a:t>
                      </a:r>
                      <a:endParaRPr sz="1050"/>
                    </a:p>
                  </a:txBody>
                  <a:tcPr marL="9525" marR="9525" marT="9525" marB="0" anchor="ctr"/>
                </a:tc>
              </a:tr>
              <a:tr h="171824">
                <a:tc>
                  <a:txBody>
                    <a:bodyPr wrap="square"/>
                    <a:lstStyle/>
                    <a:p>
                      <a:pPr algn="l"/>
                      <a:r>
                        <a:rPr sz="1050" b="0" i="0">
                          <a:solidFill>
                            <a:srgbClr val="000000"/>
                          </a:solidFill>
                          <a:latin typeface="Calibri"/>
                        </a:rPr>
                        <a:t>Figure 11: Global Heavy Commercial Vehicle EPS Market Attractiveness Analysis By Vehicle Type</a:t>
                      </a:r>
                      <a:endParaRPr sz="1050"/>
                    </a:p>
                  </a:txBody>
                  <a:tcPr marL="9525" marR="9525" marT="9525" marB="0" anchor="ctr"/>
                </a:tc>
              </a:tr>
              <a:tr h="171824">
                <a:tc>
                  <a:txBody>
                    <a:bodyPr wrap="square"/>
                    <a:lstStyle/>
                    <a:p>
                      <a:pPr algn="l"/>
                      <a:r>
                        <a:rPr sz="1050" b="0" i="0">
                          <a:solidFill>
                            <a:srgbClr val="000000"/>
                          </a:solidFill>
                          <a:latin typeface="Calibri"/>
                        </a:rPr>
                        <a:t>Figure 12: Global Heavy Commercial Vehicle EPS Market Value, 2026–2036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13: Global Heavy Commercial Vehicle EPS Market Value, 2026–2036 Y-o-Y Comparison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14: Global Heavy Commercial Vehicle EPS Market Value, 2026–2036 BPS Analysis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15: Global Heavy Commercial Vehicle EPS Market Attractiveness Analysis By Gross Vehicle Weight</a:t>
                      </a:r>
                      <a:endParaRPr sz="1050"/>
                    </a:p>
                  </a:txBody>
                  <a:tcPr marL="9525" marR="9525" marT="9525" marB="0" anchor="ctr"/>
                </a:tc>
              </a:tr>
              <a:tr h="171824">
                <a:tc>
                  <a:txBody>
                    <a:bodyPr wrap="square"/>
                    <a:lstStyle/>
                    <a:p>
                      <a:pPr algn="l"/>
                      <a:r>
                        <a:rPr sz="1050" b="0" i="0">
                          <a:solidFill>
                            <a:srgbClr val="000000"/>
                          </a:solidFill>
                          <a:latin typeface="Calibri"/>
                        </a:rPr>
                        <a:t>Figure 16: Global Heavy Commercial Vehicle EPS Market Value, 2026–2036 By Propulsion Type</a:t>
                      </a:r>
                      <a:endParaRPr sz="1050"/>
                    </a:p>
                  </a:txBody>
                  <a:tcPr marL="9525" marR="9525" marT="9525" marB="0" anchor="ctr"/>
                </a:tc>
              </a:tr>
              <a:tr h="336774">
                <a:tc>
                  <a:txBody>
                    <a:bodyPr wrap="square"/>
                    <a:lstStyle/>
                    <a:p>
                      <a:pPr algn="l"/>
                      <a:r>
                        <a:rPr sz="1050" b="0" i="0">
                          <a:solidFill>
                            <a:srgbClr val="000000"/>
                          </a:solidFill>
                          <a:latin typeface="Calibri"/>
                        </a:rPr>
                        <a:t>Figure 17: Global Heavy Commercial Vehicle EPS Market Value, 2026–2036 Y-o-Y Comparison By Propulsion Type</a:t>
                      </a:r>
                      <a:endParaRPr sz="1050"/>
                    </a:p>
                  </a:txBody>
                  <a:tcPr marL="9525" marR="9525" marT="9525" marB="0" anchor="ctr"/>
                </a:tc>
              </a:tr>
              <a:tr h="336774">
                <a:tc>
                  <a:txBody>
                    <a:bodyPr wrap="square"/>
                    <a:lstStyle/>
                    <a:p>
                      <a:pPr algn="l"/>
                      <a:r>
                        <a:rPr sz="1050" b="0" i="0">
                          <a:solidFill>
                            <a:srgbClr val="000000"/>
                          </a:solidFill>
                          <a:latin typeface="Calibri"/>
                        </a:rPr>
                        <a:t>Figure 18: Global Heavy Commercial Vehicle EPS Market Value, 2026–2036 BPS Analysis By Propulsion Type</a:t>
                      </a:r>
                      <a:endParaRPr sz="1050"/>
                    </a:p>
                  </a:txBody>
                  <a:tcPr marL="9525" marR="9525" marT="9525" marB="0" anchor="ctr"/>
                </a:tc>
              </a:tr>
              <a:tr h="171824">
                <a:tc>
                  <a:txBody>
                    <a:bodyPr wrap="square"/>
                    <a:lstStyle/>
                    <a:p>
                      <a:pPr algn="l"/>
                      <a:r>
                        <a:rPr sz="1050" b="0" i="0">
                          <a:solidFill>
                            <a:srgbClr val="000000"/>
                          </a:solidFill>
                          <a:latin typeface="Calibri"/>
                        </a:rPr>
                        <a:t>Figure 19: Global Heavy Commercial Vehicle EPS Market Attractiveness Analysis By Propulsion Type</a:t>
                      </a:r>
                      <a:endParaRPr sz="1050"/>
                    </a:p>
                  </a:txBody>
                  <a:tcPr marL="9525" marR="9525" marT="9525" marB="0" anchor="ctr"/>
                </a:tc>
              </a:tr>
              <a:tr h="171824">
                <a:tc>
                  <a:txBody>
                    <a:bodyPr wrap="square"/>
                    <a:lstStyle/>
                    <a:p>
                      <a:pPr algn="l"/>
                      <a:r>
                        <a:rPr sz="1050" b="0" i="0">
                          <a:solidFill>
                            <a:srgbClr val="000000"/>
                          </a:solidFill>
                          <a:latin typeface="Calibri"/>
                        </a:rPr>
                        <a:t>Figure 20: Global Heavy Commercial Vehicle EPS Market Value, 2026–2036 By Demand Type</a:t>
                      </a:r>
                      <a:endParaRPr sz="1050"/>
                    </a:p>
                  </a:txBody>
                  <a:tcPr marL="9525" marR="9525" marT="9525" marB="0" anchor="ctr"/>
                </a:tc>
              </a:tr>
              <a:tr h="336774">
                <a:tc>
                  <a:txBody>
                    <a:bodyPr wrap="square"/>
                    <a:lstStyle/>
                    <a:p>
                      <a:pPr algn="l"/>
                      <a:r>
                        <a:rPr sz="1050" b="0" i="0">
                          <a:solidFill>
                            <a:srgbClr val="000000"/>
                          </a:solidFill>
                          <a:latin typeface="Calibri"/>
                        </a:rPr>
                        <a:t>Figure 21: Global Heavy Commercial Vehicle EPS Market Value, 2026–2036 Y-o-Y Comparison By Demand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2"/>
        </p:xfrm>
        <a:graphic>
          <a:graphicData uri="http://schemas.openxmlformats.org/drawingml/2006/table">
            <a:tbl>
              <a:tblPr>
                <a:tableStyleId>{3B4B98B0-60AC-42C2-AFA5-B58CD77FA1E5}</a:tableStyleId>
              </a:tblPr>
              <a:tblGrid>
                <a:gridCol w="5876925"/>
              </a:tblGrid>
              <a:tr h="337657">
                <a:tc>
                  <a:txBody>
                    <a:bodyPr wrap="square"/>
                    <a:lstStyle/>
                    <a:p>
                      <a:pPr algn="l"/>
                      <a:r>
                        <a:rPr sz="1050" b="0" i="0">
                          <a:solidFill>
                            <a:srgbClr val="000000"/>
                          </a:solidFill>
                          <a:latin typeface="Calibri"/>
                        </a:rPr>
                        <a:t>Figure 22: Global Heavy Commercial Vehicle EPS Market Value, 2026–2036 BPS Analysis By Demand Type</a:t>
                      </a:r>
                      <a:endParaRPr sz="1050"/>
                    </a:p>
                  </a:txBody>
                  <a:tcPr marL="9525" marR="9525" marT="9525" marB="0" anchor="ctr"/>
                </a:tc>
              </a:tr>
              <a:tr h="172274">
                <a:tc>
                  <a:txBody>
                    <a:bodyPr wrap="square"/>
                    <a:lstStyle/>
                    <a:p>
                      <a:pPr algn="l"/>
                      <a:r>
                        <a:rPr sz="1050" b="0" i="0">
                          <a:solidFill>
                            <a:srgbClr val="000000"/>
                          </a:solidFill>
                          <a:latin typeface="Calibri"/>
                        </a:rPr>
                        <a:t>Figure 23: Global Heavy Commercial Vehicle EPS Market Attractiveness Analysis By Demand Type</a:t>
                      </a:r>
                      <a:endParaRPr sz="1050"/>
                    </a:p>
                  </a:txBody>
                  <a:tcPr marL="9525" marR="9525" marT="9525" marB="0" anchor="ctr"/>
                </a:tc>
              </a:tr>
              <a:tr h="172274">
                <a:tc>
                  <a:txBody>
                    <a:bodyPr wrap="square"/>
                    <a:lstStyle/>
                    <a:p>
                      <a:pPr algn="l"/>
                      <a:r>
                        <a:rPr sz="1050" b="0" i="0">
                          <a:solidFill>
                            <a:srgbClr val="000000"/>
                          </a:solidFill>
                          <a:latin typeface="Calibri"/>
                        </a:rPr>
                        <a:t>Figure 24: Global Heavy Commercial Vehicle EPS Market Value, 2026–2036 By Region</a:t>
                      </a:r>
                      <a:endParaRPr sz="1050"/>
                    </a:p>
                  </a:txBody>
                  <a:tcPr marL="9525" marR="9525" marT="9525" marB="0" anchor="ctr"/>
                </a:tc>
              </a:tr>
              <a:tr h="337657">
                <a:tc>
                  <a:txBody>
                    <a:bodyPr wrap="square"/>
                    <a:lstStyle/>
                    <a:p>
                      <a:pPr algn="l"/>
                      <a:r>
                        <a:rPr sz="1050" b="0" i="0">
                          <a:solidFill>
                            <a:srgbClr val="000000"/>
                          </a:solidFill>
                          <a:latin typeface="Calibri"/>
                        </a:rPr>
                        <a:t>Figure 25: Global Heavy Commercial Vehicle EPS Market Value, 2026–2036 Y-o-Y Comparison By Region</a:t>
                      </a:r>
                      <a:endParaRPr sz="1050"/>
                    </a:p>
                  </a:txBody>
                  <a:tcPr marL="9525" marR="9525" marT="9525" marB="0" anchor="ctr"/>
                </a:tc>
              </a:tr>
              <a:tr h="172274">
                <a:tc>
                  <a:txBody>
                    <a:bodyPr wrap="square"/>
                    <a:lstStyle/>
                    <a:p>
                      <a:pPr algn="l"/>
                      <a:r>
                        <a:rPr sz="1050" b="0" i="0">
                          <a:solidFill>
                            <a:srgbClr val="000000"/>
                          </a:solidFill>
                          <a:latin typeface="Calibri"/>
                        </a:rPr>
                        <a:t>Figure 26: Global Heavy Commercial Vehicle EPS Market Value, 2026–2036 BPS Analysis By Region</a:t>
                      </a:r>
                      <a:endParaRPr sz="1050"/>
                    </a:p>
                  </a:txBody>
                  <a:tcPr marL="9525" marR="9525" marT="9525" marB="0" anchor="ctr"/>
                </a:tc>
              </a:tr>
              <a:tr h="172274">
                <a:tc>
                  <a:txBody>
                    <a:bodyPr wrap="square"/>
                    <a:lstStyle/>
                    <a:p>
                      <a:pPr algn="l"/>
                      <a:r>
                        <a:rPr sz="1050" b="0" i="0">
                          <a:solidFill>
                            <a:srgbClr val="000000"/>
                          </a:solidFill>
                          <a:latin typeface="Calibri"/>
                        </a:rPr>
                        <a:t>Figure 27: Global Heavy Commercial Vehicle EPS Market Attractiveness Analysis By Region</a:t>
                      </a:r>
                      <a:endParaRPr sz="1050"/>
                    </a:p>
                  </a:txBody>
                  <a:tcPr marL="9525" marR="9525" marT="9525" marB="0" anchor="ctr"/>
                </a:tc>
              </a:tr>
              <a:tr h="172274">
                <a:tc>
                  <a:txBody>
                    <a:bodyPr wrap="square"/>
                    <a:lstStyle/>
                    <a:p>
                      <a:pPr algn="l"/>
                      <a:r>
                        <a:rPr sz="1050" b="0" i="0">
                          <a:solidFill>
                            <a:srgbClr val="000000"/>
                          </a:solidFill>
                          <a:latin typeface="Calibri"/>
                        </a:rPr>
                        <a:t>Figure 28: North America Heavy Commercial Vehicle EPS Market Value, 2021–2036</a:t>
                      </a:r>
                      <a:endParaRPr sz="1050"/>
                    </a:p>
                  </a:txBody>
                  <a:tcPr marL="9525" marR="9525" marT="9525" marB="0" anchor="ctr"/>
                </a:tc>
              </a:tr>
              <a:tr h="337657">
                <a:tc>
                  <a:txBody>
                    <a:bodyPr wrap="square"/>
                    <a:lstStyle/>
                    <a:p>
                      <a:pPr algn="l"/>
                      <a:r>
                        <a:rPr sz="1050" b="0" i="0">
                          <a:solidFill>
                            <a:srgbClr val="000000"/>
                          </a:solidFill>
                          <a:latin typeface="Calibri"/>
                        </a:rPr>
                        <a:t>Figure 29: North America Heavy Commercial Vehicle EPS Market Incremental $ Opportunity, 2026–2036</a:t>
                      </a:r>
                      <a:endParaRPr sz="1050"/>
                    </a:p>
                  </a:txBody>
                  <a:tcPr marL="9525" marR="9525" marT="9525" marB="0" anchor="ctr"/>
                </a:tc>
              </a:tr>
              <a:tr h="337657">
                <a:tc>
                  <a:txBody>
                    <a:bodyPr wrap="square"/>
                    <a:lstStyle/>
                    <a:p>
                      <a:pPr algn="l"/>
                      <a:r>
                        <a:rPr sz="1050" b="0" i="0">
                          <a:solidFill>
                            <a:srgbClr val="000000"/>
                          </a:solidFill>
                          <a:latin typeface="Calibri"/>
                        </a:rPr>
                        <a:t>Figure 30: North America Heavy Commercial Vehicle EPS Market Value, 2026–2036 By System Architecture</a:t>
                      </a:r>
                      <a:endParaRPr sz="1050"/>
                    </a:p>
                  </a:txBody>
                  <a:tcPr marL="9525" marR="9525" marT="9525" marB="0" anchor="ctr"/>
                </a:tc>
              </a:tr>
              <a:tr h="337657">
                <a:tc>
                  <a:txBody>
                    <a:bodyPr wrap="square"/>
                    <a:lstStyle/>
                    <a:p>
                      <a:pPr algn="l"/>
                      <a:r>
                        <a:rPr sz="1050" b="0" i="0">
                          <a:solidFill>
                            <a:srgbClr val="000000"/>
                          </a:solidFill>
                          <a:latin typeface="Calibri"/>
                        </a:rPr>
                        <a:t>Figure 31: North America Heavy Commercial Vehicle EPS Market Value, 2026–2036 Y-o-Y Comparison By System Architecture</a:t>
                      </a:r>
                      <a:endParaRPr sz="1050"/>
                    </a:p>
                  </a:txBody>
                  <a:tcPr marL="9525" marR="9525" marT="9525" marB="0" anchor="ctr"/>
                </a:tc>
              </a:tr>
              <a:tr h="337657">
                <a:tc>
                  <a:txBody>
                    <a:bodyPr wrap="square"/>
                    <a:lstStyle/>
                    <a:p>
                      <a:pPr algn="l"/>
                      <a:r>
                        <a:rPr sz="1050" b="0" i="0">
                          <a:solidFill>
                            <a:srgbClr val="000000"/>
                          </a:solidFill>
                          <a:latin typeface="Calibri"/>
                        </a:rPr>
                        <a:t>Figure 32: North America Heavy Commercial Vehicle EPS Market Value, 2026–2036 BPS Analysis By System Architecture</a:t>
                      </a:r>
                      <a:endParaRPr sz="1050"/>
                    </a:p>
                  </a:txBody>
                  <a:tcPr marL="9525" marR="9525" marT="9525" marB="0" anchor="ctr"/>
                </a:tc>
              </a:tr>
              <a:tr h="337657">
                <a:tc>
                  <a:txBody>
                    <a:bodyPr wrap="square"/>
                    <a:lstStyle/>
                    <a:p>
                      <a:pPr algn="l"/>
                      <a:r>
                        <a:rPr sz="1050" b="0" i="0">
                          <a:solidFill>
                            <a:srgbClr val="000000"/>
                          </a:solidFill>
                          <a:latin typeface="Calibri"/>
                        </a:rPr>
                        <a:t>Figure 33: North America Heavy Commercial Vehicle EPS Market Attractiveness Analysis By System Architecture</a:t>
                      </a:r>
                      <a:endParaRPr sz="1050"/>
                    </a:p>
                  </a:txBody>
                  <a:tcPr marL="9525" marR="9525" marT="9525" marB="0" anchor="ctr"/>
                </a:tc>
              </a:tr>
              <a:tr h="172274">
                <a:tc>
                  <a:txBody>
                    <a:bodyPr wrap="square"/>
                    <a:lstStyle/>
                    <a:p>
                      <a:pPr algn="l"/>
                      <a:r>
                        <a:rPr sz="1050" b="0" i="0">
                          <a:solidFill>
                            <a:srgbClr val="000000"/>
                          </a:solidFill>
                          <a:latin typeface="Calibri"/>
                        </a:rPr>
                        <a:t>Figure 34: North America Heavy Commercial Vehicle EPS Market Value, 2026–2036 By Vehicle Type</a:t>
                      </a:r>
                      <a:endParaRPr sz="1050"/>
                    </a:p>
                  </a:txBody>
                  <a:tcPr marL="9525" marR="9525" marT="9525" marB="0" anchor="ctr"/>
                </a:tc>
              </a:tr>
              <a:tr h="337657">
                <a:tc>
                  <a:txBody>
                    <a:bodyPr wrap="square"/>
                    <a:lstStyle/>
                    <a:p>
                      <a:pPr algn="l"/>
                      <a:r>
                        <a:rPr sz="1050" b="0" i="0">
                          <a:solidFill>
                            <a:srgbClr val="000000"/>
                          </a:solidFill>
                          <a:latin typeface="Calibri"/>
                        </a:rPr>
                        <a:t>Figure 35: North America Heavy Commercial Vehicle EPS Market Value, 2026–2036 Y-o-Y Comparison By Vehicle Type</a:t>
                      </a:r>
                      <a:endParaRPr sz="1050"/>
                    </a:p>
                  </a:txBody>
                  <a:tcPr marL="9525" marR="9525" marT="9525" marB="0" anchor="ctr"/>
                </a:tc>
              </a:tr>
              <a:tr h="337657">
                <a:tc>
                  <a:txBody>
                    <a:bodyPr wrap="square"/>
                    <a:lstStyle/>
                    <a:p>
                      <a:pPr algn="l"/>
                      <a:r>
                        <a:rPr sz="1050" b="0" i="0">
                          <a:solidFill>
                            <a:srgbClr val="000000"/>
                          </a:solidFill>
                          <a:latin typeface="Calibri"/>
                        </a:rPr>
                        <a:t>Figure 36: North America Heavy Commercial Vehicle EPS Market Value, 2026–2036 BPS Analysis By Vehicle Type</a:t>
                      </a:r>
                      <a:endParaRPr sz="1050"/>
                    </a:p>
                  </a:txBody>
                  <a:tcPr marL="9525" marR="9525" marT="9525" marB="0" anchor="ctr"/>
                </a:tc>
              </a:tr>
              <a:tr h="337657">
                <a:tc>
                  <a:txBody>
                    <a:bodyPr wrap="square"/>
                    <a:lstStyle/>
                    <a:p>
                      <a:pPr algn="l"/>
                      <a:r>
                        <a:rPr sz="1050" b="0" i="0">
                          <a:solidFill>
                            <a:srgbClr val="000000"/>
                          </a:solidFill>
                          <a:latin typeface="Calibri"/>
                        </a:rPr>
                        <a:t>Figure 37: North America Heavy Commercial Vehicle EPS Market Attractiveness Analysis By Vehicle Type</a:t>
                      </a:r>
                      <a:endParaRPr sz="1050"/>
                    </a:p>
                  </a:txBody>
                  <a:tcPr marL="9525" marR="9525" marT="9525" marB="0" anchor="ctr"/>
                </a:tc>
              </a:tr>
              <a:tr h="172274">
                <a:tc>
                  <a:txBody>
                    <a:bodyPr wrap="square"/>
                    <a:lstStyle/>
                    <a:p>
                      <a:pPr algn="l"/>
                      <a:r>
                        <a:rPr sz="1050" b="0" i="0">
                          <a:solidFill>
                            <a:srgbClr val="000000"/>
                          </a:solidFill>
                          <a:latin typeface="Calibri"/>
                        </a:rPr>
                        <a:t>Figure 38: North America Heavy Commercial Vehicle EPS Market Value, 2026–2036 By Demand Type</a:t>
                      </a:r>
                      <a:endParaRPr sz="1050"/>
                    </a:p>
                  </a:txBody>
                  <a:tcPr marL="9525" marR="9525" marT="9525" marB="0" anchor="ctr"/>
                </a:tc>
              </a:tr>
              <a:tr h="337657">
                <a:tc>
                  <a:txBody>
                    <a:bodyPr wrap="square"/>
                    <a:lstStyle/>
                    <a:p>
                      <a:pPr algn="l"/>
                      <a:r>
                        <a:rPr sz="1050" b="0" i="0">
                          <a:solidFill>
                            <a:srgbClr val="000000"/>
                          </a:solidFill>
                          <a:latin typeface="Calibri"/>
                        </a:rPr>
                        <a:t>Figure 39: North America Heavy Commercial Vehicle EPS Market Value, 2026–2036 Y-o-Y Comparison By Demand Type</a:t>
                      </a:r>
                      <a:endParaRPr sz="1050"/>
                    </a:p>
                  </a:txBody>
                  <a:tcPr marL="9525" marR="9525" marT="9525" marB="0" anchor="ctr"/>
                </a:tc>
              </a:tr>
              <a:tr h="337657">
                <a:tc>
                  <a:txBody>
                    <a:bodyPr wrap="square"/>
                    <a:lstStyle/>
                    <a:p>
                      <a:pPr algn="l"/>
                      <a:r>
                        <a:rPr sz="1050" b="0" i="0">
                          <a:solidFill>
                            <a:srgbClr val="000000"/>
                          </a:solidFill>
                          <a:latin typeface="Calibri"/>
                        </a:rPr>
                        <a:t>Figure 40: North America Heavy Commercial Vehicle EPS Market Value, 2026–2036 BPS Analysis By Demand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(2/9)</a:t>
            </a:r>
          </a:p>
        </p:txBody>
      </p:sp>
      <p:graphicFrame>
        <p:nvGraphicFramePr>
          <p:cNvPr id="9" name="FMI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336774">
                <a:tc>
                  <a:txBody>
                    <a:bodyPr wrap="square"/>
                    <a:lstStyle/>
                    <a:p>
                      <a:pPr algn="l"/>
                      <a:r>
                        <a:rPr sz="1050" b="0" i="0">
                          <a:solidFill>
                            <a:srgbClr val="000000"/>
                          </a:solidFill>
                          <a:latin typeface="Calibri"/>
                        </a:rPr>
                        <a:t>Figure 41: North America Heavy Commercial Vehicle EPS Market Attractiveness Analysis By Demand Type</a:t>
                      </a:r>
                      <a:endParaRPr sz="1050"/>
                    </a:p>
                  </a:txBody>
                  <a:tcPr marL="9525" marR="9525" marT="9525" marB="0" anchor="ctr"/>
                </a:tc>
              </a:tr>
              <a:tr h="171824">
                <a:tc>
                  <a:txBody>
                    <a:bodyPr wrap="square"/>
                    <a:lstStyle/>
                    <a:p>
                      <a:pPr algn="l"/>
                      <a:r>
                        <a:rPr sz="1050" b="0" i="0">
                          <a:solidFill>
                            <a:srgbClr val="000000"/>
                          </a:solidFill>
                          <a:latin typeface="Calibri"/>
                        </a:rPr>
                        <a:t>Figure 42: North America Heavy Commercial Vehicle EPS Market Value, 2026–2036 By Propulsion Type</a:t>
                      </a:r>
                      <a:endParaRPr sz="1050"/>
                    </a:p>
                  </a:txBody>
                  <a:tcPr marL="9525" marR="9525" marT="9525" marB="0" anchor="ctr"/>
                </a:tc>
              </a:tr>
              <a:tr h="336774">
                <a:tc>
                  <a:txBody>
                    <a:bodyPr wrap="square"/>
                    <a:lstStyle/>
                    <a:p>
                      <a:pPr algn="l"/>
                      <a:r>
                        <a:rPr sz="1050" b="0" i="0">
                          <a:solidFill>
                            <a:srgbClr val="000000"/>
                          </a:solidFill>
                          <a:latin typeface="Calibri"/>
                        </a:rPr>
                        <a:t>Figure 43: North America Heavy Commercial Vehicle EPS Market Value, 2026–2036 Y-o-Y Comparison By Propulsion Type</a:t>
                      </a:r>
                      <a:endParaRPr sz="1050"/>
                    </a:p>
                  </a:txBody>
                  <a:tcPr marL="9525" marR="9525" marT="9525" marB="0" anchor="ctr"/>
                </a:tc>
              </a:tr>
              <a:tr h="336774">
                <a:tc>
                  <a:txBody>
                    <a:bodyPr wrap="square"/>
                    <a:lstStyle/>
                    <a:p>
                      <a:pPr algn="l"/>
                      <a:r>
                        <a:rPr sz="1050" b="0" i="0">
                          <a:solidFill>
                            <a:srgbClr val="000000"/>
                          </a:solidFill>
                          <a:latin typeface="Calibri"/>
                        </a:rPr>
                        <a:t>Figure 44: North America Heavy Commercial Vehicle EPS Market Value, 2026–2036 BPS Analysis By Propulsion Type</a:t>
                      </a:r>
                      <a:endParaRPr sz="1050"/>
                    </a:p>
                  </a:txBody>
                  <a:tcPr marL="9525" marR="9525" marT="9525" marB="0" anchor="ctr"/>
                </a:tc>
              </a:tr>
              <a:tr h="336774">
                <a:tc>
                  <a:txBody>
                    <a:bodyPr wrap="square"/>
                    <a:lstStyle/>
                    <a:p>
                      <a:pPr algn="l"/>
                      <a:r>
                        <a:rPr sz="1050" b="0" i="0">
                          <a:solidFill>
                            <a:srgbClr val="000000"/>
                          </a:solidFill>
                          <a:latin typeface="Calibri"/>
                        </a:rPr>
                        <a:t>Figure 45: North America Heavy Commercial Vehicle EPS Market Attractiveness Analysis By Propulsion Type</a:t>
                      </a:r>
                      <a:endParaRPr sz="1050"/>
                    </a:p>
                  </a:txBody>
                  <a:tcPr marL="9525" marR="9525" marT="9525" marB="0" anchor="ctr"/>
                </a:tc>
              </a:tr>
              <a:tr h="336774">
                <a:tc>
                  <a:txBody>
                    <a:bodyPr wrap="square"/>
                    <a:lstStyle/>
                    <a:p>
                      <a:pPr algn="l"/>
                      <a:r>
                        <a:rPr sz="1050" b="0" i="0">
                          <a:solidFill>
                            <a:srgbClr val="000000"/>
                          </a:solidFill>
                          <a:latin typeface="Calibri"/>
                        </a:rPr>
                        <a:t>Figure 46: North America Heavy Commercial Vehicle EPS Market Value, 2026–2036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47: North America Heavy Commercial Vehicle EPS Market Value, 2026–2036 Y-o-Y Comparison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48: North America Heavy Commercial Vehicle EPS Market Value, 2026–2036 BPS Analysis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49: North America Heavy Commercial Vehicle EPS Market Attractiveness Analysis By Gross Vehicle Weight</a:t>
                      </a:r>
                      <a:endParaRPr sz="1050"/>
                    </a:p>
                  </a:txBody>
                  <a:tcPr marL="9525" marR="9525" marT="9525" marB="0" anchor="ctr"/>
                </a:tc>
              </a:tr>
              <a:tr h="171824">
                <a:tc>
                  <a:txBody>
                    <a:bodyPr wrap="square"/>
                    <a:lstStyle/>
                    <a:p>
                      <a:pPr algn="l"/>
                      <a:r>
                        <a:rPr sz="1050" b="0" i="0">
                          <a:solidFill>
                            <a:srgbClr val="000000"/>
                          </a:solidFill>
                          <a:latin typeface="Calibri"/>
                        </a:rPr>
                        <a:t>Figure 50: North America Heavy Commercial Vehicle EPS Market Value, 2026–2036 By Country</a:t>
                      </a:r>
                      <a:endParaRPr sz="1050"/>
                    </a:p>
                  </a:txBody>
                  <a:tcPr marL="9525" marR="9525" marT="9525" marB="0" anchor="ctr"/>
                </a:tc>
              </a:tr>
              <a:tr h="336774">
                <a:tc>
                  <a:txBody>
                    <a:bodyPr wrap="square"/>
                    <a:lstStyle/>
                    <a:p>
                      <a:pPr algn="l"/>
                      <a:r>
                        <a:rPr sz="1050" b="0" i="0">
                          <a:solidFill>
                            <a:srgbClr val="000000"/>
                          </a:solidFill>
                          <a:latin typeface="Calibri"/>
                        </a:rPr>
                        <a:t>Figure 51: North America Heavy Commercial Vehicle EPS Market Value, 2026–2036 Y-o-Y Comparison By Country</a:t>
                      </a:r>
                      <a:endParaRPr sz="1050"/>
                    </a:p>
                  </a:txBody>
                  <a:tcPr marL="9525" marR="9525" marT="9525" marB="0" anchor="ctr"/>
                </a:tc>
              </a:tr>
              <a:tr h="336774">
                <a:tc>
                  <a:txBody>
                    <a:bodyPr wrap="square"/>
                    <a:lstStyle/>
                    <a:p>
                      <a:pPr algn="l"/>
                      <a:r>
                        <a:rPr sz="1050" b="0" i="0">
                          <a:solidFill>
                            <a:srgbClr val="000000"/>
                          </a:solidFill>
                          <a:latin typeface="Calibri"/>
                        </a:rPr>
                        <a:t>Figure 52: North America Heavy Commercial Vehicle EPS Market Value, 2026–2036 BPS Analysis By Country</a:t>
                      </a:r>
                      <a:endParaRPr sz="1050"/>
                    </a:p>
                  </a:txBody>
                  <a:tcPr marL="9525" marR="9525" marT="9525" marB="0" anchor="ctr"/>
                </a:tc>
              </a:tr>
              <a:tr h="171824">
                <a:tc>
                  <a:txBody>
                    <a:bodyPr wrap="square"/>
                    <a:lstStyle/>
                    <a:p>
                      <a:pPr algn="l"/>
                      <a:r>
                        <a:rPr sz="1050" b="0" i="0">
                          <a:solidFill>
                            <a:srgbClr val="000000"/>
                          </a:solidFill>
                          <a:latin typeface="Calibri"/>
                        </a:rPr>
                        <a:t>Figure 53: North America Heavy Commercial Vehicle EPS Market Attractiveness Analysis By Country</a:t>
                      </a:r>
                      <a:endParaRPr sz="1050"/>
                    </a:p>
                  </a:txBody>
                  <a:tcPr marL="9525" marR="9525" marT="9525" marB="0" anchor="ctr"/>
                </a:tc>
              </a:tr>
              <a:tr h="171824">
                <a:tc>
                  <a:txBody>
                    <a:bodyPr wrap="square"/>
                    <a:lstStyle/>
                    <a:p>
                      <a:pPr algn="l"/>
                      <a:r>
                        <a:rPr sz="1050" b="0" i="0">
                          <a:solidFill>
                            <a:srgbClr val="000000"/>
                          </a:solidFill>
                          <a:latin typeface="Calibri"/>
                        </a:rPr>
                        <a:t>Figure 54: U.S. Heavy Commercial Vehicle EPS Market Value, 2026–2036, By System Architecture</a:t>
                      </a:r>
                      <a:endParaRPr sz="1050"/>
                    </a:p>
                  </a:txBody>
                  <a:tcPr marL="9525" marR="9525" marT="9525" marB="0" anchor="ctr"/>
                </a:tc>
              </a:tr>
              <a:tr h="171824">
                <a:tc>
                  <a:txBody>
                    <a:bodyPr wrap="square"/>
                    <a:lstStyle/>
                    <a:p>
                      <a:pPr algn="l"/>
                      <a:r>
                        <a:rPr sz="1050" b="0" i="0">
                          <a:solidFill>
                            <a:srgbClr val="000000"/>
                          </a:solidFill>
                          <a:latin typeface="Calibri"/>
                        </a:rPr>
                        <a:t>Figure 55: U.S. Heavy Commercial Vehicle EPS Market Value, 2026–2036, By Vehicle Type</a:t>
                      </a:r>
                      <a:endParaRPr sz="1050"/>
                    </a:p>
                  </a:txBody>
                  <a:tcPr marL="9525" marR="9525" marT="9525" marB="0" anchor="ctr"/>
                </a:tc>
              </a:tr>
              <a:tr h="171824">
                <a:tc>
                  <a:txBody>
                    <a:bodyPr wrap="square"/>
                    <a:lstStyle/>
                    <a:p>
                      <a:pPr algn="l"/>
                      <a:r>
                        <a:rPr sz="1050" b="0" i="0">
                          <a:solidFill>
                            <a:srgbClr val="000000"/>
                          </a:solidFill>
                          <a:latin typeface="Calibri"/>
                        </a:rPr>
                        <a:t>Figure 56: U.S. Heavy Commercial Vehicle EPS Market Value, 2026–2036, By Demand Type</a:t>
                      </a:r>
                      <a:endParaRPr sz="1050"/>
                    </a:p>
                  </a:txBody>
                  <a:tcPr marL="9525" marR="9525" marT="9525" marB="0" anchor="ctr"/>
                </a:tc>
              </a:tr>
              <a:tr h="171824">
                <a:tc>
                  <a:txBody>
                    <a:bodyPr wrap="square"/>
                    <a:lstStyle/>
                    <a:p>
                      <a:pPr algn="l"/>
                      <a:r>
                        <a:rPr sz="1050" b="0" i="0">
                          <a:solidFill>
                            <a:srgbClr val="000000"/>
                          </a:solidFill>
                          <a:latin typeface="Calibri"/>
                        </a:rPr>
                        <a:t>Figure 57: U.S. Heavy Commercial Vehicle EPS Market Value, 2026–2036, By Gross Vehicle Weight</a:t>
                      </a:r>
                      <a:endParaRPr sz="1050"/>
                    </a:p>
                  </a:txBody>
                  <a:tcPr marL="9525" marR="9525" marT="9525" marB="0" anchor="ctr"/>
                </a:tc>
              </a:tr>
              <a:tr h="171824">
                <a:tc>
                  <a:txBody>
                    <a:bodyPr wrap="square"/>
                    <a:lstStyle/>
                    <a:p>
                      <a:pPr algn="l"/>
                      <a:r>
                        <a:rPr sz="1050" b="0" i="0">
                          <a:solidFill>
                            <a:srgbClr val="000000"/>
                          </a:solidFill>
                          <a:latin typeface="Calibri"/>
                        </a:rPr>
                        <a:t>Figure 58: U.S. Heavy Commercial Vehicle EPS Market Value, 2026–2036, By Propulsion Type</a:t>
                      </a:r>
                      <a:endParaRPr sz="1050"/>
                    </a:p>
                  </a:txBody>
                  <a:tcPr marL="9525" marR="9525" marT="9525" marB="0" anchor="ctr"/>
                </a:tc>
              </a:tr>
              <a:tr h="171824">
                <a:tc>
                  <a:txBody>
                    <a:bodyPr wrap="square"/>
                    <a:lstStyle/>
                    <a:p>
                      <a:pPr algn="l"/>
                      <a:r>
                        <a:rPr sz="1050" b="0" i="0">
                          <a:solidFill>
                            <a:srgbClr val="000000"/>
                          </a:solidFill>
                          <a:latin typeface="Calibri"/>
                        </a:rPr>
                        <a:t>Figure 59: Canada Heavy Commercial Vehicle EPS Market Value, 2026–2036, By System Architecture</a:t>
                      </a:r>
                      <a:endParaRPr sz="1050"/>
                    </a:p>
                  </a:txBody>
                  <a:tcPr marL="9525" marR="9525" marT="9525" marB="0" anchor="ctr"/>
                </a:tc>
              </a:tr>
              <a:tr h="171824">
                <a:tc>
                  <a:txBody>
                    <a:bodyPr wrap="square"/>
                    <a:lstStyle/>
                    <a:p>
                      <a:pPr algn="l"/>
                      <a:r>
                        <a:rPr sz="1050" b="0" i="0">
                          <a:solidFill>
                            <a:srgbClr val="000000"/>
                          </a:solidFill>
                          <a:latin typeface="Calibri"/>
                        </a:rPr>
                        <a:t>Figure 60: Canada Heavy Commercial Vehicle EPS Market Value, 2026–2036, By Vehicle Type</a:t>
                      </a:r>
                      <a:endParaRPr sz="1050"/>
                    </a:p>
                  </a:txBody>
                  <a:tcPr marL="9525" marR="9525" marT="9525" marB="0" anchor="ctr"/>
                </a:tc>
              </a:tr>
              <a:tr h="171824">
                <a:tc>
                  <a:txBody>
                    <a:bodyPr wrap="square"/>
                    <a:lstStyle/>
                    <a:p>
                      <a:pPr algn="l"/>
                      <a:r>
                        <a:rPr sz="1050" b="0" i="0">
                          <a:solidFill>
                            <a:srgbClr val="000000"/>
                          </a:solidFill>
                          <a:latin typeface="Calibri"/>
                        </a:rPr>
                        <a:t>Figure 61: Canada Heavy Commercial Vehicle EPS Market Value, 2026–2036, By Demand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1599">
                <a:tc>
                  <a:txBody>
                    <a:bodyPr wrap="square"/>
                    <a:lstStyle/>
                    <a:p>
                      <a:pPr algn="l"/>
                      <a:r>
                        <a:rPr sz="1050" b="0" i="0">
                          <a:solidFill>
                            <a:srgbClr val="000000"/>
                          </a:solidFill>
                          <a:latin typeface="Calibri"/>
                        </a:rPr>
                        <a:t>Figure 62: Canada Heavy Commercial Vehicle EPS Market Value, 2026–2036, By Gross Vehicle Weight</a:t>
                      </a:r>
                      <a:endParaRPr sz="1050"/>
                    </a:p>
                  </a:txBody>
                  <a:tcPr marL="9525" marR="9525" marT="9525" marB="0" anchor="ctr"/>
                </a:tc>
              </a:tr>
              <a:tr h="171599">
                <a:tc>
                  <a:txBody>
                    <a:bodyPr wrap="square"/>
                    <a:lstStyle/>
                    <a:p>
                      <a:pPr algn="l"/>
                      <a:r>
                        <a:rPr sz="1050" b="0" i="0">
                          <a:solidFill>
                            <a:srgbClr val="000000"/>
                          </a:solidFill>
                          <a:latin typeface="Calibri"/>
                        </a:rPr>
                        <a:t>Figure 63: Canada Heavy Commercial Vehicle EPS Market Value, 2026–2036, By Propulsion Type</a:t>
                      </a:r>
                      <a:endParaRPr sz="1050"/>
                    </a:p>
                  </a:txBody>
                  <a:tcPr marL="9525" marR="9525" marT="9525" marB="0" anchor="ctr"/>
                </a:tc>
              </a:tr>
              <a:tr h="171599">
                <a:tc>
                  <a:txBody>
                    <a:bodyPr wrap="square"/>
                    <a:lstStyle/>
                    <a:p>
                      <a:pPr algn="l"/>
                      <a:r>
                        <a:rPr sz="1050" b="0" i="0">
                          <a:solidFill>
                            <a:srgbClr val="000000"/>
                          </a:solidFill>
                          <a:latin typeface="Calibri"/>
                        </a:rPr>
                        <a:t>Figure 64: Mexico Heavy Commercial Vehicle EPS Market Value, 2026–2036, By System Architecture</a:t>
                      </a:r>
                      <a:endParaRPr sz="1050"/>
                    </a:p>
                  </a:txBody>
                  <a:tcPr marL="9525" marR="9525" marT="9525" marB="0" anchor="ctr"/>
                </a:tc>
              </a:tr>
              <a:tr h="171599">
                <a:tc>
                  <a:txBody>
                    <a:bodyPr wrap="square"/>
                    <a:lstStyle/>
                    <a:p>
                      <a:pPr algn="l"/>
                      <a:r>
                        <a:rPr sz="1050" b="0" i="0">
                          <a:solidFill>
                            <a:srgbClr val="000000"/>
                          </a:solidFill>
                          <a:latin typeface="Calibri"/>
                        </a:rPr>
                        <a:t>Figure 65: Mexico Heavy Commercial Vehicle EPS Market Value, 2026–2036, By Vehicle Type</a:t>
                      </a:r>
                      <a:endParaRPr sz="1050"/>
                    </a:p>
                  </a:txBody>
                  <a:tcPr marL="9525" marR="9525" marT="9525" marB="0" anchor="ctr"/>
                </a:tc>
              </a:tr>
              <a:tr h="171599">
                <a:tc>
                  <a:txBody>
                    <a:bodyPr wrap="square"/>
                    <a:lstStyle/>
                    <a:p>
                      <a:pPr algn="l"/>
                      <a:r>
                        <a:rPr sz="1050" b="0" i="0">
                          <a:solidFill>
                            <a:srgbClr val="000000"/>
                          </a:solidFill>
                          <a:latin typeface="Calibri"/>
                        </a:rPr>
                        <a:t>Figure 66: Mexico Heavy Commercial Vehicle EPS Market Value, 2026–2036, By Demand Type</a:t>
                      </a:r>
                      <a:endParaRPr sz="1050"/>
                    </a:p>
                  </a:txBody>
                  <a:tcPr marL="9525" marR="9525" marT="9525" marB="0" anchor="ctr"/>
                </a:tc>
              </a:tr>
              <a:tr h="171599">
                <a:tc>
                  <a:txBody>
                    <a:bodyPr wrap="square"/>
                    <a:lstStyle/>
                    <a:p>
                      <a:pPr algn="l"/>
                      <a:r>
                        <a:rPr sz="1050" b="0" i="0">
                          <a:solidFill>
                            <a:srgbClr val="000000"/>
                          </a:solidFill>
                          <a:latin typeface="Calibri"/>
                        </a:rPr>
                        <a:t>Figure 67: Mexico Heavy Commercial Vehicle EPS Market Value, 2026–2036, By Gross Vehicle Weight</a:t>
                      </a:r>
                      <a:endParaRPr sz="1050"/>
                    </a:p>
                  </a:txBody>
                  <a:tcPr marL="9525" marR="9525" marT="9525" marB="0" anchor="ctr"/>
                </a:tc>
              </a:tr>
              <a:tr h="171599">
                <a:tc>
                  <a:txBody>
                    <a:bodyPr wrap="square"/>
                    <a:lstStyle/>
                    <a:p>
                      <a:pPr algn="l"/>
                      <a:r>
                        <a:rPr sz="1050" b="0" i="0">
                          <a:solidFill>
                            <a:srgbClr val="000000"/>
                          </a:solidFill>
                          <a:latin typeface="Calibri"/>
                        </a:rPr>
                        <a:t>Figure 68: Mexico Heavy Commercial Vehicle EPS Market Value, 2026–2036, By Propulsion Type</a:t>
                      </a:r>
                      <a:endParaRPr sz="1050"/>
                    </a:p>
                  </a:txBody>
                  <a:tcPr marL="9525" marR="9525" marT="9525" marB="0" anchor="ctr"/>
                </a:tc>
              </a:tr>
              <a:tr h="171599">
                <a:tc>
                  <a:txBody>
                    <a:bodyPr wrap="square"/>
                    <a:lstStyle/>
                    <a:p>
                      <a:pPr algn="l"/>
                      <a:r>
                        <a:rPr sz="1050" b="0" i="0">
                          <a:solidFill>
                            <a:srgbClr val="000000"/>
                          </a:solidFill>
                          <a:latin typeface="Calibri"/>
                        </a:rPr>
                        <a:t>Figure 69: Latin America Heavy Commercial Vehicle EPS Market Value, 2021–2036</a:t>
                      </a:r>
                      <a:endParaRPr sz="1050"/>
                    </a:p>
                  </a:txBody>
                  <a:tcPr marL="9525" marR="9525" marT="9525" marB="0" anchor="ctr"/>
                </a:tc>
              </a:tr>
              <a:tr h="171599">
                <a:tc>
                  <a:txBody>
                    <a:bodyPr wrap="square"/>
                    <a:lstStyle/>
                    <a:p>
                      <a:pPr algn="l"/>
                      <a:r>
                        <a:rPr sz="1050" b="0" i="0">
                          <a:solidFill>
                            <a:srgbClr val="000000"/>
                          </a:solidFill>
                          <a:latin typeface="Calibri"/>
                        </a:rPr>
                        <a:t>Figure 70: Latin America Heavy Commercial Vehicle EPS Market Incremental $ Opportunity, 2026–2036</a:t>
                      </a:r>
                      <a:endParaRPr sz="1050"/>
                    </a:p>
                  </a:txBody>
                  <a:tcPr marL="9525" marR="9525" marT="9525" marB="0" anchor="ctr"/>
                </a:tc>
              </a:tr>
              <a:tr h="336334">
                <a:tc>
                  <a:txBody>
                    <a:bodyPr wrap="square"/>
                    <a:lstStyle/>
                    <a:p>
                      <a:pPr algn="l"/>
                      <a:r>
                        <a:rPr sz="1050" b="0" i="0">
                          <a:solidFill>
                            <a:srgbClr val="000000"/>
                          </a:solidFill>
                          <a:latin typeface="Calibri"/>
                        </a:rPr>
                        <a:t>Figure 71: Latin America Heavy Commercial Vehicle EPS Market Value, 2026–2036 By System Architecture</a:t>
                      </a:r>
                      <a:endParaRPr sz="1050"/>
                    </a:p>
                  </a:txBody>
                  <a:tcPr marL="9525" marR="9525" marT="9525" marB="0" anchor="ctr"/>
                </a:tc>
              </a:tr>
              <a:tr h="336334">
                <a:tc>
                  <a:txBody>
                    <a:bodyPr wrap="square"/>
                    <a:lstStyle/>
                    <a:p>
                      <a:pPr algn="l"/>
                      <a:r>
                        <a:rPr sz="1050" b="0" i="0">
                          <a:solidFill>
                            <a:srgbClr val="000000"/>
                          </a:solidFill>
                          <a:latin typeface="Calibri"/>
                        </a:rPr>
                        <a:t>Figure 72: Latin America Heavy Commercial Vehicle EPS Market Value, 2026–2036 Y-o-Y Comparison By System Architecture</a:t>
                      </a:r>
                      <a:endParaRPr sz="1050"/>
                    </a:p>
                  </a:txBody>
                  <a:tcPr marL="9525" marR="9525" marT="9525" marB="0" anchor="ctr"/>
                </a:tc>
              </a:tr>
              <a:tr h="336334">
                <a:tc>
                  <a:txBody>
                    <a:bodyPr wrap="square"/>
                    <a:lstStyle/>
                    <a:p>
                      <a:pPr algn="l"/>
                      <a:r>
                        <a:rPr sz="1050" b="0" i="0">
                          <a:solidFill>
                            <a:srgbClr val="000000"/>
                          </a:solidFill>
                          <a:latin typeface="Calibri"/>
                        </a:rPr>
                        <a:t>Figure 73: Latin America Heavy Commercial Vehicle EPS Market Value, 2026–2036 BPS Analysis By System Architecture</a:t>
                      </a:r>
                      <a:endParaRPr sz="1050"/>
                    </a:p>
                  </a:txBody>
                  <a:tcPr marL="9525" marR="9525" marT="9525" marB="0" anchor="ctr"/>
                </a:tc>
              </a:tr>
              <a:tr h="336334">
                <a:tc>
                  <a:txBody>
                    <a:bodyPr wrap="square"/>
                    <a:lstStyle/>
                    <a:p>
                      <a:pPr algn="l"/>
                      <a:r>
                        <a:rPr sz="1050" b="0" i="0">
                          <a:solidFill>
                            <a:srgbClr val="000000"/>
                          </a:solidFill>
                          <a:latin typeface="Calibri"/>
                        </a:rPr>
                        <a:t>Figure 74: Latin America Heavy Commercial Vehicle EPS Market Attractiveness Analysis By System Architecture</a:t>
                      </a:r>
                      <a:endParaRPr sz="1050"/>
                    </a:p>
                  </a:txBody>
                  <a:tcPr marL="9525" marR="9525" marT="9525" marB="0" anchor="ctr"/>
                </a:tc>
              </a:tr>
              <a:tr h="171599">
                <a:tc>
                  <a:txBody>
                    <a:bodyPr wrap="square"/>
                    <a:lstStyle/>
                    <a:p>
                      <a:pPr algn="l"/>
                      <a:r>
                        <a:rPr sz="1050" b="0" i="0">
                          <a:solidFill>
                            <a:srgbClr val="000000"/>
                          </a:solidFill>
                          <a:latin typeface="Calibri"/>
                        </a:rPr>
                        <a:t>Figure 75: Latin America Heavy Commercial Vehicle EPS Market Value, 2026–2036 By Vehicle Type</a:t>
                      </a:r>
                      <a:endParaRPr sz="1050"/>
                    </a:p>
                  </a:txBody>
                  <a:tcPr marL="9525" marR="9525" marT="9525" marB="0" anchor="ctr"/>
                </a:tc>
              </a:tr>
              <a:tr h="336334">
                <a:tc>
                  <a:txBody>
                    <a:bodyPr wrap="square"/>
                    <a:lstStyle/>
                    <a:p>
                      <a:pPr algn="l"/>
                      <a:r>
                        <a:rPr sz="1050" b="0" i="0">
                          <a:solidFill>
                            <a:srgbClr val="000000"/>
                          </a:solidFill>
                          <a:latin typeface="Calibri"/>
                        </a:rPr>
                        <a:t>Figure 76: Latin America Heavy Commercial Vehicle EPS Market Value, 2026–2036 Y-o-Y Comparison By Vehicle Type</a:t>
                      </a:r>
                      <a:endParaRPr sz="1050"/>
                    </a:p>
                  </a:txBody>
                  <a:tcPr marL="9525" marR="9525" marT="9525" marB="0" anchor="ctr"/>
                </a:tc>
              </a:tr>
              <a:tr h="336334">
                <a:tc>
                  <a:txBody>
                    <a:bodyPr wrap="square"/>
                    <a:lstStyle/>
                    <a:p>
                      <a:pPr algn="l"/>
                      <a:r>
                        <a:rPr sz="1050" b="0" i="0">
                          <a:solidFill>
                            <a:srgbClr val="000000"/>
                          </a:solidFill>
                          <a:latin typeface="Calibri"/>
                        </a:rPr>
                        <a:t>Figure 77: Latin America Heavy Commercial Vehicle EPS Market Value, 2026–2036 BPS Analysis By Vehicle Type</a:t>
                      </a:r>
                      <a:endParaRPr sz="1050"/>
                    </a:p>
                  </a:txBody>
                  <a:tcPr marL="9525" marR="9525" marT="9525" marB="0" anchor="ctr"/>
                </a:tc>
              </a:tr>
              <a:tr h="171599">
                <a:tc>
                  <a:txBody>
                    <a:bodyPr wrap="square"/>
                    <a:lstStyle/>
                    <a:p>
                      <a:pPr algn="l"/>
                      <a:r>
                        <a:rPr sz="1050" b="0" i="0">
                          <a:solidFill>
                            <a:srgbClr val="000000"/>
                          </a:solidFill>
                          <a:latin typeface="Calibri"/>
                        </a:rPr>
                        <a:t>Figure 78: Latin America Heavy Commercial Vehicle EPS Market Attractiveness Analysis By Vehicle Type</a:t>
                      </a:r>
                      <a:endParaRPr sz="1050"/>
                    </a:p>
                  </a:txBody>
                  <a:tcPr marL="9525" marR="9525" marT="9525" marB="0" anchor="ctr"/>
                </a:tc>
              </a:tr>
              <a:tr h="171599">
                <a:tc>
                  <a:txBody>
                    <a:bodyPr wrap="square"/>
                    <a:lstStyle/>
                    <a:p>
                      <a:pPr algn="l"/>
                      <a:r>
                        <a:rPr sz="1050" b="0" i="0">
                          <a:solidFill>
                            <a:srgbClr val="000000"/>
                          </a:solidFill>
                          <a:latin typeface="Calibri"/>
                        </a:rPr>
                        <a:t>Figure 79: Latin America Heavy Commercial Vehicle EPS Market Value, 2026–2036 By Demand Type</a:t>
                      </a:r>
                      <a:endParaRPr sz="1050"/>
                    </a:p>
                  </a:txBody>
                  <a:tcPr marL="9525" marR="9525" marT="9525" marB="0" anchor="ctr"/>
                </a:tc>
              </a:tr>
              <a:tr h="336334">
                <a:tc>
                  <a:txBody>
                    <a:bodyPr wrap="square"/>
                    <a:lstStyle/>
                    <a:p>
                      <a:pPr algn="l"/>
                      <a:r>
                        <a:rPr sz="1050" b="0" i="0">
                          <a:solidFill>
                            <a:srgbClr val="000000"/>
                          </a:solidFill>
                          <a:latin typeface="Calibri"/>
                        </a:rPr>
                        <a:t>Figure 80: Latin America Heavy Commercial Vehicle EPS Market Value, 2026–2036 Y-o-Y Comparison By Demand Type</a:t>
                      </a:r>
                      <a:endParaRPr sz="1050"/>
                    </a:p>
                  </a:txBody>
                  <a:tcPr marL="9525" marR="9525" marT="9525" marB="0" anchor="ctr"/>
                </a:tc>
              </a:tr>
              <a:tr h="336334">
                <a:tc>
                  <a:txBody>
                    <a:bodyPr wrap="square"/>
                    <a:lstStyle/>
                    <a:p>
                      <a:pPr algn="l"/>
                      <a:r>
                        <a:rPr sz="1050" b="0" i="0">
                          <a:solidFill>
                            <a:srgbClr val="000000"/>
                          </a:solidFill>
                          <a:latin typeface="Calibri"/>
                        </a:rPr>
                        <a:t>Figure 81: Latin America Heavy Commercial Vehicle EPS Market Value, 2026–2036 BPS Analysis By Demand Type</a:t>
                      </a:r>
                      <a:endParaRPr sz="1050"/>
                    </a:p>
                  </a:txBody>
                  <a:tcPr marL="9525" marR="9525" marT="9525" marB="0" anchor="ctr"/>
                </a:tc>
              </a:tr>
              <a:tr h="336334">
                <a:tc>
                  <a:txBody>
                    <a:bodyPr wrap="square"/>
                    <a:lstStyle/>
                    <a:p>
                      <a:pPr algn="l"/>
                      <a:r>
                        <a:rPr sz="1050" b="0" i="0">
                          <a:solidFill>
                            <a:srgbClr val="000000"/>
                          </a:solidFill>
                          <a:latin typeface="Calibri"/>
                        </a:rPr>
                        <a:t>Figure 82: Latin America Heavy Commercial Vehicle EPS Market Attractiveness Analysis By Demand Type</a:t>
                      </a:r>
                      <a:endParaRPr sz="1050"/>
                    </a:p>
                  </a:txBody>
                  <a:tcPr marL="9525" marR="9525" marT="9525" marB="0" anchor="ctr"/>
                </a:tc>
              </a:tr>
              <a:tr h="171599">
                <a:tc>
                  <a:txBody>
                    <a:bodyPr wrap="square"/>
                    <a:lstStyle/>
                    <a:p>
                      <a:pPr algn="l"/>
                      <a:r>
                        <a:rPr sz="1050" b="0" i="0">
                          <a:solidFill>
                            <a:srgbClr val="000000"/>
                          </a:solidFill>
                          <a:latin typeface="Calibri"/>
                        </a:rPr>
                        <a:t>Figure 83: Latin America Heavy Commercial Vehicle EPS Market Value, 2026–2036 By Propulsion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(3/9)</a:t>
            </a:r>
          </a:p>
        </p:txBody>
      </p:sp>
      <p:graphicFrame>
        <p:nvGraphicFramePr>
          <p:cNvPr id="9" name="FMI Contents Table"/>
          <p:cNvGraphicFramePr>
            <a:graphicFrameLocks noGrp="1"/>
          </p:cNvGraphicFramePr>
          <p:nvPr/>
        </p:nvGraphicFramePr>
        <p:xfrm>
          <a:off x="142875" y="981075"/>
          <a:ext cx="5876925" cy="5257797"/>
        </p:xfrm>
        <a:graphic>
          <a:graphicData uri="http://schemas.openxmlformats.org/drawingml/2006/table">
            <a:tbl>
              <a:tblPr>
                <a:tableStyleId>{3B4B98B0-60AC-42C2-AFA5-B58CD77FA1E5}</a:tableStyleId>
              </a:tblPr>
              <a:tblGrid>
                <a:gridCol w="5876925"/>
              </a:tblGrid>
              <a:tr h="337215">
                <a:tc>
                  <a:txBody>
                    <a:bodyPr wrap="square"/>
                    <a:lstStyle/>
                    <a:p>
                      <a:pPr algn="l"/>
                      <a:r>
                        <a:rPr sz="1050" b="0" i="0">
                          <a:solidFill>
                            <a:srgbClr val="000000"/>
                          </a:solidFill>
                          <a:latin typeface="Calibri"/>
                        </a:rPr>
                        <a:t>Figure 84: Latin America Heavy Commercial Vehicle EPS Market Value, 2026–2036 Y-o-Y Comparison By Propulsion Type</a:t>
                      </a:r>
                      <a:endParaRPr sz="1050"/>
                    </a:p>
                  </a:txBody>
                  <a:tcPr marL="9525" marR="9525" marT="9525" marB="0" anchor="ctr"/>
                </a:tc>
              </a:tr>
              <a:tr h="337215">
                <a:tc>
                  <a:txBody>
                    <a:bodyPr wrap="square"/>
                    <a:lstStyle/>
                    <a:p>
                      <a:pPr algn="l"/>
                      <a:r>
                        <a:rPr sz="1050" b="0" i="0">
                          <a:solidFill>
                            <a:srgbClr val="000000"/>
                          </a:solidFill>
                          <a:latin typeface="Calibri"/>
                        </a:rPr>
                        <a:t>Figure 85: Latin America Heavy Commercial Vehicle EPS Market Value, 2026–2036 BPS Analysis By Propulsion Type</a:t>
                      </a:r>
                      <a:endParaRPr sz="1050"/>
                    </a:p>
                  </a:txBody>
                  <a:tcPr marL="9525" marR="9525" marT="9525" marB="0" anchor="ctr"/>
                </a:tc>
              </a:tr>
              <a:tr h="337215">
                <a:tc>
                  <a:txBody>
                    <a:bodyPr wrap="square"/>
                    <a:lstStyle/>
                    <a:p>
                      <a:pPr algn="l"/>
                      <a:r>
                        <a:rPr sz="1050" b="0" i="0">
                          <a:solidFill>
                            <a:srgbClr val="000000"/>
                          </a:solidFill>
                          <a:latin typeface="Calibri"/>
                        </a:rPr>
                        <a:t>Figure 86: Latin America Heavy Commercial Vehicle EPS Market Attractiveness Analysis By Propulsion Type</a:t>
                      </a:r>
                      <a:endParaRPr sz="1050"/>
                    </a:p>
                  </a:txBody>
                  <a:tcPr marL="9525" marR="9525" marT="9525" marB="0" anchor="ctr"/>
                </a:tc>
              </a:tr>
              <a:tr h="337215">
                <a:tc>
                  <a:txBody>
                    <a:bodyPr wrap="square"/>
                    <a:lstStyle/>
                    <a:p>
                      <a:pPr algn="l"/>
                      <a:r>
                        <a:rPr sz="1050" b="0" i="0">
                          <a:solidFill>
                            <a:srgbClr val="000000"/>
                          </a:solidFill>
                          <a:latin typeface="Calibri"/>
                        </a:rPr>
                        <a:t>Figure 87: Latin America Heavy Commercial Vehicle EPS Market Value, 2026–2036 By Gross Vehicle Weight</a:t>
                      </a:r>
                      <a:endParaRPr sz="1050"/>
                    </a:p>
                  </a:txBody>
                  <a:tcPr marL="9525" marR="9525" marT="9525" marB="0" anchor="ctr"/>
                </a:tc>
              </a:tr>
              <a:tr h="337215">
                <a:tc>
                  <a:txBody>
                    <a:bodyPr wrap="square"/>
                    <a:lstStyle/>
                    <a:p>
                      <a:pPr algn="l"/>
                      <a:r>
                        <a:rPr sz="1050" b="0" i="0">
                          <a:solidFill>
                            <a:srgbClr val="000000"/>
                          </a:solidFill>
                          <a:latin typeface="Calibri"/>
                        </a:rPr>
                        <a:t>Figure 88: Latin America Heavy Commercial Vehicle EPS Market Value, 2026–2036 Y-o-Y Comparison By Gross Vehicle Weight</a:t>
                      </a:r>
                      <a:endParaRPr sz="1050"/>
                    </a:p>
                  </a:txBody>
                  <a:tcPr marL="9525" marR="9525" marT="9525" marB="0" anchor="ctr"/>
                </a:tc>
              </a:tr>
              <a:tr h="337215">
                <a:tc>
                  <a:txBody>
                    <a:bodyPr wrap="square"/>
                    <a:lstStyle/>
                    <a:p>
                      <a:pPr algn="l"/>
                      <a:r>
                        <a:rPr sz="1050" b="0" i="0">
                          <a:solidFill>
                            <a:srgbClr val="000000"/>
                          </a:solidFill>
                          <a:latin typeface="Calibri"/>
                        </a:rPr>
                        <a:t>Figure 89: Latin America Heavy Commercial Vehicle EPS Market Value, 2026–2036 BPS Analysis By Gross Vehicle Weight</a:t>
                      </a:r>
                      <a:endParaRPr sz="1050"/>
                    </a:p>
                  </a:txBody>
                  <a:tcPr marL="9525" marR="9525" marT="9525" marB="0" anchor="ctr"/>
                </a:tc>
              </a:tr>
              <a:tr h="337215">
                <a:tc>
                  <a:txBody>
                    <a:bodyPr wrap="square"/>
                    <a:lstStyle/>
                    <a:p>
                      <a:pPr algn="l"/>
                      <a:r>
                        <a:rPr sz="1050" b="0" i="0">
                          <a:solidFill>
                            <a:srgbClr val="000000"/>
                          </a:solidFill>
                          <a:latin typeface="Calibri"/>
                        </a:rPr>
                        <a:t>Figure 90: Latin America Heavy Commercial Vehicle EPS Market Attractiveness Analysis By Gross Vehicle Weight</a:t>
                      </a:r>
                      <a:endParaRPr sz="1050"/>
                    </a:p>
                  </a:txBody>
                  <a:tcPr marL="9525" marR="9525" marT="9525" marB="0" anchor="ctr"/>
                </a:tc>
              </a:tr>
              <a:tr h="172048">
                <a:tc>
                  <a:txBody>
                    <a:bodyPr wrap="square"/>
                    <a:lstStyle/>
                    <a:p>
                      <a:pPr algn="l"/>
                      <a:r>
                        <a:rPr sz="1050" b="0" i="0">
                          <a:solidFill>
                            <a:srgbClr val="000000"/>
                          </a:solidFill>
                          <a:latin typeface="Calibri"/>
                        </a:rPr>
                        <a:t>Figure 91: Latin America Heavy Commercial Vehicle EPS Market Value, 2026–2036 By Country</a:t>
                      </a:r>
                      <a:endParaRPr sz="1050"/>
                    </a:p>
                  </a:txBody>
                  <a:tcPr marL="9525" marR="9525" marT="9525" marB="0" anchor="ctr"/>
                </a:tc>
              </a:tr>
              <a:tr h="337215">
                <a:tc>
                  <a:txBody>
                    <a:bodyPr wrap="square"/>
                    <a:lstStyle/>
                    <a:p>
                      <a:pPr algn="l"/>
                      <a:r>
                        <a:rPr sz="1050" b="0" i="0">
                          <a:solidFill>
                            <a:srgbClr val="000000"/>
                          </a:solidFill>
                          <a:latin typeface="Calibri"/>
                        </a:rPr>
                        <a:t>Figure 92: Latin America Heavy Commercial Vehicle EPS Market Value, 2026–2036 Y-o-Y Comparison By Country</a:t>
                      </a:r>
                      <a:endParaRPr sz="1050"/>
                    </a:p>
                  </a:txBody>
                  <a:tcPr marL="9525" marR="9525" marT="9525" marB="0" anchor="ctr"/>
                </a:tc>
              </a:tr>
              <a:tr h="337215">
                <a:tc>
                  <a:txBody>
                    <a:bodyPr wrap="square"/>
                    <a:lstStyle/>
                    <a:p>
                      <a:pPr algn="l"/>
                      <a:r>
                        <a:rPr sz="1050" b="0" i="0">
                          <a:solidFill>
                            <a:srgbClr val="000000"/>
                          </a:solidFill>
                          <a:latin typeface="Calibri"/>
                        </a:rPr>
                        <a:t>Figure 93: Latin America Heavy Commercial Vehicle EPS Market Value, 2026–2036 BPS Analysis By Country</a:t>
                      </a:r>
                      <a:endParaRPr sz="1050"/>
                    </a:p>
                  </a:txBody>
                  <a:tcPr marL="9525" marR="9525" marT="9525" marB="0" anchor="ctr"/>
                </a:tc>
              </a:tr>
              <a:tr h="172048">
                <a:tc>
                  <a:txBody>
                    <a:bodyPr wrap="square"/>
                    <a:lstStyle/>
                    <a:p>
                      <a:pPr algn="l"/>
                      <a:r>
                        <a:rPr sz="1050" b="0" i="0">
                          <a:solidFill>
                            <a:srgbClr val="000000"/>
                          </a:solidFill>
                          <a:latin typeface="Calibri"/>
                        </a:rPr>
                        <a:t>Figure 94: Latin America Heavy Commercial Vehicle EPS Market Attractiveness Analysis By Country</a:t>
                      </a:r>
                      <a:endParaRPr sz="1050"/>
                    </a:p>
                  </a:txBody>
                  <a:tcPr marL="9525" marR="9525" marT="9525" marB="0" anchor="ctr"/>
                </a:tc>
              </a:tr>
              <a:tr h="172048">
                <a:tc>
                  <a:txBody>
                    <a:bodyPr wrap="square"/>
                    <a:lstStyle/>
                    <a:p>
                      <a:pPr algn="l"/>
                      <a:r>
                        <a:rPr sz="1050" b="0" i="0">
                          <a:solidFill>
                            <a:srgbClr val="000000"/>
                          </a:solidFill>
                          <a:latin typeface="Calibri"/>
                        </a:rPr>
                        <a:t>Figure 95: Brazil Heavy Commercial Vehicle EPS Market Value, 2026–2036, By System Architecture</a:t>
                      </a:r>
                      <a:endParaRPr sz="1050"/>
                    </a:p>
                  </a:txBody>
                  <a:tcPr marL="9525" marR="9525" marT="9525" marB="0" anchor="ctr"/>
                </a:tc>
              </a:tr>
              <a:tr h="172048">
                <a:tc>
                  <a:txBody>
                    <a:bodyPr wrap="square"/>
                    <a:lstStyle/>
                    <a:p>
                      <a:pPr algn="l"/>
                      <a:r>
                        <a:rPr sz="1050" b="0" i="0">
                          <a:solidFill>
                            <a:srgbClr val="000000"/>
                          </a:solidFill>
                          <a:latin typeface="Calibri"/>
                        </a:rPr>
                        <a:t>Figure 96: Brazil Heavy Commercial Vehicle EPS Market Value, 2026–2036, By Vehicle Type</a:t>
                      </a:r>
                      <a:endParaRPr sz="1050"/>
                    </a:p>
                  </a:txBody>
                  <a:tcPr marL="9525" marR="9525" marT="9525" marB="0" anchor="ctr"/>
                </a:tc>
              </a:tr>
              <a:tr h="172048">
                <a:tc>
                  <a:txBody>
                    <a:bodyPr wrap="square"/>
                    <a:lstStyle/>
                    <a:p>
                      <a:pPr algn="l"/>
                      <a:r>
                        <a:rPr sz="1050" b="0" i="0">
                          <a:solidFill>
                            <a:srgbClr val="000000"/>
                          </a:solidFill>
                          <a:latin typeface="Calibri"/>
                        </a:rPr>
                        <a:t>Figure 97: Brazil Heavy Commercial Vehicle EPS Market Value, 2026–2036, By Demand Type</a:t>
                      </a:r>
                      <a:endParaRPr sz="1050"/>
                    </a:p>
                  </a:txBody>
                  <a:tcPr marL="9525" marR="9525" marT="9525" marB="0" anchor="ctr"/>
                </a:tc>
              </a:tr>
              <a:tr h="172048">
                <a:tc>
                  <a:txBody>
                    <a:bodyPr wrap="square"/>
                    <a:lstStyle/>
                    <a:p>
                      <a:pPr algn="l"/>
                      <a:r>
                        <a:rPr sz="1050" b="0" i="0">
                          <a:solidFill>
                            <a:srgbClr val="000000"/>
                          </a:solidFill>
                          <a:latin typeface="Calibri"/>
                        </a:rPr>
                        <a:t>Figure 98: Brazil Heavy Commercial Vehicle EPS Market Value, 2026–2036, By Gross Vehicle Weight</a:t>
                      </a:r>
                      <a:endParaRPr sz="1050"/>
                    </a:p>
                  </a:txBody>
                  <a:tcPr marL="9525" marR="9525" marT="9525" marB="0" anchor="ctr"/>
                </a:tc>
              </a:tr>
              <a:tr h="172048">
                <a:tc>
                  <a:txBody>
                    <a:bodyPr wrap="square"/>
                    <a:lstStyle/>
                    <a:p>
                      <a:pPr algn="l"/>
                      <a:r>
                        <a:rPr sz="1050" b="0" i="0">
                          <a:solidFill>
                            <a:srgbClr val="000000"/>
                          </a:solidFill>
                          <a:latin typeface="Calibri"/>
                        </a:rPr>
                        <a:t>Figure 99: Brazil Heavy Commercial Vehicle EPS Market Value, 2026–2036, By Propulsion Type</a:t>
                      </a:r>
                      <a:endParaRPr sz="1050"/>
                    </a:p>
                  </a:txBody>
                  <a:tcPr marL="9525" marR="9525" marT="9525" marB="0" anchor="ctr"/>
                </a:tc>
              </a:tr>
              <a:tr h="337215">
                <a:tc>
                  <a:txBody>
                    <a:bodyPr wrap="square"/>
                    <a:lstStyle/>
                    <a:p>
                      <a:pPr algn="l"/>
                      <a:r>
                        <a:rPr sz="1050" b="0" i="0">
                          <a:solidFill>
                            <a:srgbClr val="000000"/>
                          </a:solidFill>
                          <a:latin typeface="Calibri"/>
                        </a:rPr>
                        <a:t>Figure 100: Argentina Heavy Commercial Vehicle EPS Market Value, 2026–2036, By System Architecture</a:t>
                      </a:r>
                      <a:endParaRPr sz="1050"/>
                    </a:p>
                  </a:txBody>
                  <a:tcPr marL="9525" marR="9525" marT="9525" marB="0" anchor="ctr"/>
                </a:tc>
              </a:tr>
              <a:tr h="172048">
                <a:tc>
                  <a:txBody>
                    <a:bodyPr wrap="square"/>
                    <a:lstStyle/>
                    <a:p>
                      <a:pPr algn="l"/>
                      <a:r>
                        <a:rPr sz="1050" b="0" i="0">
                          <a:solidFill>
                            <a:srgbClr val="000000"/>
                          </a:solidFill>
                          <a:latin typeface="Calibri"/>
                        </a:rPr>
                        <a:t>Figure 101: Argentina Heavy Commercial Vehicle EPS Market Value, 2026–2036, By Vehicle Type</a:t>
                      </a:r>
                      <a:endParaRPr sz="1050"/>
                    </a:p>
                  </a:txBody>
                  <a:tcPr marL="9525" marR="9525" marT="9525" marB="0" anchor="ctr"/>
                </a:tc>
              </a:tr>
              <a:tr h="172048">
                <a:tc>
                  <a:txBody>
                    <a:bodyPr wrap="square"/>
                    <a:lstStyle/>
                    <a:p>
                      <a:pPr algn="l"/>
                      <a:r>
                        <a:rPr sz="1050" b="0" i="0">
                          <a:solidFill>
                            <a:srgbClr val="000000"/>
                          </a:solidFill>
                          <a:latin typeface="Calibri"/>
                        </a:rPr>
                        <a:t>Figure 102: Argentina Heavy Commercial Vehicle EPS Market Value, 2026–2036, By Demand Type</a:t>
                      </a:r>
                      <a:endParaRPr sz="1050"/>
                    </a:p>
                  </a:txBody>
                  <a:tcPr marL="9525" marR="9525" marT="9525" marB="0" anchor="ctr"/>
                </a:tc>
              </a:tr>
              <a:tr h="337215">
                <a:tc>
                  <a:txBody>
                    <a:bodyPr wrap="square"/>
                    <a:lstStyle/>
                    <a:p>
                      <a:pPr algn="l"/>
                      <a:r>
                        <a:rPr sz="1050" b="0" i="0">
                          <a:solidFill>
                            <a:srgbClr val="000000"/>
                          </a:solidFill>
                          <a:latin typeface="Calibri"/>
                        </a:rPr>
                        <a:t>Figure 103: Argentina Heavy Commercial Vehicle EPS Market Value, 2026–2036, By Gross Vehicle Weight</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6"/>
        </p:xfrm>
        <a:graphic>
          <a:graphicData uri="http://schemas.openxmlformats.org/drawingml/2006/table">
            <a:tbl>
              <a:tblPr>
                <a:tableStyleId>{3B4B98B0-60AC-42C2-AFA5-B58CD77FA1E5}</a:tableStyleId>
              </a:tblPr>
              <a:tblGrid>
                <a:gridCol w="5876925"/>
              </a:tblGrid>
              <a:tr h="167233">
                <a:tc>
                  <a:txBody>
                    <a:bodyPr wrap="square"/>
                    <a:lstStyle/>
                    <a:p>
                      <a:pPr algn="l"/>
                      <a:r>
                        <a:rPr sz="1050" b="0" i="0">
                          <a:solidFill>
                            <a:srgbClr val="000000"/>
                          </a:solidFill>
                          <a:latin typeface="Calibri"/>
                        </a:rPr>
                        <a:t>Figure 104: Argentina Heavy Commercial Vehicle EPS Market Value, 2026–2036, By Propulsion Type</a:t>
                      </a:r>
                      <a:endParaRPr sz="1050"/>
                    </a:p>
                  </a:txBody>
                  <a:tcPr marL="9525" marR="9525" marT="9525" marB="0" anchor="ctr"/>
                </a:tc>
              </a:tr>
              <a:tr h="167233">
                <a:tc>
                  <a:txBody>
                    <a:bodyPr wrap="square"/>
                    <a:lstStyle/>
                    <a:p>
                      <a:pPr algn="l"/>
                      <a:r>
                        <a:rPr sz="1050" b="0" i="0">
                          <a:solidFill>
                            <a:srgbClr val="000000"/>
                          </a:solidFill>
                          <a:latin typeface="Calibri"/>
                        </a:rPr>
                        <a:t>Figure 105: Eastern Europe Heavy Commercial Vehicle EPS Market Value, 2021–2036</a:t>
                      </a:r>
                      <a:endParaRPr sz="1050"/>
                    </a:p>
                  </a:txBody>
                  <a:tcPr marL="9525" marR="9525" marT="9525" marB="0" anchor="ctr"/>
                </a:tc>
              </a:tr>
              <a:tr h="327776">
                <a:tc>
                  <a:txBody>
                    <a:bodyPr wrap="square"/>
                    <a:lstStyle/>
                    <a:p>
                      <a:pPr algn="l"/>
                      <a:r>
                        <a:rPr sz="1050" b="0" i="0">
                          <a:solidFill>
                            <a:srgbClr val="000000"/>
                          </a:solidFill>
                          <a:latin typeface="Calibri"/>
                        </a:rPr>
                        <a:t>Figure 106: Eastern Europe Heavy Commercial Vehicle EPS Market Incremental $ Opportunity, 2026–2036</a:t>
                      </a:r>
                      <a:endParaRPr sz="1050"/>
                    </a:p>
                  </a:txBody>
                  <a:tcPr marL="9525" marR="9525" marT="9525" marB="0" anchor="ctr"/>
                </a:tc>
              </a:tr>
              <a:tr h="327776">
                <a:tc>
                  <a:txBody>
                    <a:bodyPr wrap="square"/>
                    <a:lstStyle/>
                    <a:p>
                      <a:pPr algn="l"/>
                      <a:r>
                        <a:rPr sz="1050" b="0" i="0">
                          <a:solidFill>
                            <a:srgbClr val="000000"/>
                          </a:solidFill>
                          <a:latin typeface="Calibri"/>
                        </a:rPr>
                        <a:t>Figure 107: Eastern Europe Heavy Commercial Vehicle EPS Market Value, 2026–2036 By System Architecture</a:t>
                      </a:r>
                      <a:endParaRPr sz="1050"/>
                    </a:p>
                  </a:txBody>
                  <a:tcPr marL="9525" marR="9525" marT="9525" marB="0" anchor="ctr"/>
                </a:tc>
              </a:tr>
              <a:tr h="327776">
                <a:tc>
                  <a:txBody>
                    <a:bodyPr wrap="square"/>
                    <a:lstStyle/>
                    <a:p>
                      <a:pPr algn="l"/>
                      <a:r>
                        <a:rPr sz="1050" b="0" i="0">
                          <a:solidFill>
                            <a:srgbClr val="000000"/>
                          </a:solidFill>
                          <a:latin typeface="Calibri"/>
                        </a:rPr>
                        <a:t>Figure 108: Eastern Europe Heavy Commercial Vehicle EPS Market Value, 2026–2036 Y-o-Y Comparison By System Architecture</a:t>
                      </a:r>
                      <a:endParaRPr sz="1050"/>
                    </a:p>
                  </a:txBody>
                  <a:tcPr marL="9525" marR="9525" marT="9525" marB="0" anchor="ctr"/>
                </a:tc>
              </a:tr>
              <a:tr h="327776">
                <a:tc>
                  <a:txBody>
                    <a:bodyPr wrap="square"/>
                    <a:lstStyle/>
                    <a:p>
                      <a:pPr algn="l"/>
                      <a:r>
                        <a:rPr sz="1050" b="0" i="0">
                          <a:solidFill>
                            <a:srgbClr val="000000"/>
                          </a:solidFill>
                          <a:latin typeface="Calibri"/>
                        </a:rPr>
                        <a:t>Figure 109: Eastern Europe Heavy Commercial Vehicle EPS Market Value, 2026–2036 BPS Analysis By System Architecture</a:t>
                      </a:r>
                      <a:endParaRPr sz="1050"/>
                    </a:p>
                  </a:txBody>
                  <a:tcPr marL="9525" marR="9525" marT="9525" marB="0" anchor="ctr"/>
                </a:tc>
              </a:tr>
              <a:tr h="327776">
                <a:tc>
                  <a:txBody>
                    <a:bodyPr wrap="square"/>
                    <a:lstStyle/>
                    <a:p>
                      <a:pPr algn="l"/>
                      <a:r>
                        <a:rPr sz="1050" b="0" i="0">
                          <a:solidFill>
                            <a:srgbClr val="000000"/>
                          </a:solidFill>
                          <a:latin typeface="Calibri"/>
                        </a:rPr>
                        <a:t>Figure 110: Eastern Europe Heavy Commercial Vehicle EPS Market Attractiveness Analysis By System Architecture</a:t>
                      </a:r>
                      <a:endParaRPr sz="1050"/>
                    </a:p>
                  </a:txBody>
                  <a:tcPr marL="9525" marR="9525" marT="9525" marB="0" anchor="ctr"/>
                </a:tc>
              </a:tr>
              <a:tr h="167233">
                <a:tc>
                  <a:txBody>
                    <a:bodyPr wrap="square"/>
                    <a:lstStyle/>
                    <a:p>
                      <a:pPr algn="l"/>
                      <a:r>
                        <a:rPr sz="1050" b="0" i="0">
                          <a:solidFill>
                            <a:srgbClr val="000000"/>
                          </a:solidFill>
                          <a:latin typeface="Calibri"/>
                        </a:rPr>
                        <a:t>Figure 111: Eastern Europe Heavy Commercial Vehicle EPS Market Value, 2026–2036 By Vehicle Type</a:t>
                      </a:r>
                      <a:endParaRPr sz="1050"/>
                    </a:p>
                  </a:txBody>
                  <a:tcPr marL="9525" marR="9525" marT="9525" marB="0" anchor="ctr"/>
                </a:tc>
              </a:tr>
              <a:tr h="327776">
                <a:tc>
                  <a:txBody>
                    <a:bodyPr wrap="square"/>
                    <a:lstStyle/>
                    <a:p>
                      <a:pPr algn="l"/>
                      <a:r>
                        <a:rPr sz="1050" b="0" i="0">
                          <a:solidFill>
                            <a:srgbClr val="000000"/>
                          </a:solidFill>
                          <a:latin typeface="Calibri"/>
                        </a:rPr>
                        <a:t>Figure 112: Eastern Europe Heavy Commercial Vehicle EPS Market Value, 2026–2036 Y-o-Y Comparison By Vehicle Type</a:t>
                      </a:r>
                      <a:endParaRPr sz="1050"/>
                    </a:p>
                  </a:txBody>
                  <a:tcPr marL="9525" marR="9525" marT="9525" marB="0" anchor="ctr"/>
                </a:tc>
              </a:tr>
              <a:tr h="327776">
                <a:tc>
                  <a:txBody>
                    <a:bodyPr wrap="square"/>
                    <a:lstStyle/>
                    <a:p>
                      <a:pPr algn="l"/>
                      <a:r>
                        <a:rPr sz="1050" b="0" i="0">
                          <a:solidFill>
                            <a:srgbClr val="000000"/>
                          </a:solidFill>
                          <a:latin typeface="Calibri"/>
                        </a:rPr>
                        <a:t>Figure 113: Eastern Europe Heavy Commercial Vehicle EPS Market Value, 2026–2036 BPS Analysis By Vehicle Type</a:t>
                      </a:r>
                      <a:endParaRPr sz="1050"/>
                    </a:p>
                  </a:txBody>
                  <a:tcPr marL="9525" marR="9525" marT="9525" marB="0" anchor="ctr"/>
                </a:tc>
              </a:tr>
              <a:tr h="327776">
                <a:tc>
                  <a:txBody>
                    <a:bodyPr wrap="square"/>
                    <a:lstStyle/>
                    <a:p>
                      <a:pPr algn="l"/>
                      <a:r>
                        <a:rPr sz="1050" b="0" i="0">
                          <a:solidFill>
                            <a:srgbClr val="000000"/>
                          </a:solidFill>
                          <a:latin typeface="Calibri"/>
                        </a:rPr>
                        <a:t>Figure 114: Eastern Europe Heavy Commercial Vehicle EPS Market Attractiveness Analysis By Vehicle Type</a:t>
                      </a:r>
                      <a:endParaRPr sz="1050"/>
                    </a:p>
                  </a:txBody>
                  <a:tcPr marL="9525" marR="9525" marT="9525" marB="0" anchor="ctr"/>
                </a:tc>
              </a:tr>
              <a:tr h="167233">
                <a:tc>
                  <a:txBody>
                    <a:bodyPr wrap="square"/>
                    <a:lstStyle/>
                    <a:p>
                      <a:pPr algn="l"/>
                      <a:r>
                        <a:rPr sz="1050" b="0" i="0">
                          <a:solidFill>
                            <a:srgbClr val="000000"/>
                          </a:solidFill>
                          <a:latin typeface="Calibri"/>
                        </a:rPr>
                        <a:t>Figure 115: Eastern Europe Heavy Commercial Vehicle EPS Market Value, 2026–2036 By Demand Type</a:t>
                      </a:r>
                      <a:endParaRPr sz="1050"/>
                    </a:p>
                  </a:txBody>
                  <a:tcPr marL="9525" marR="9525" marT="9525" marB="0" anchor="ctr"/>
                </a:tc>
              </a:tr>
              <a:tr h="327776">
                <a:tc>
                  <a:txBody>
                    <a:bodyPr wrap="square"/>
                    <a:lstStyle/>
                    <a:p>
                      <a:pPr algn="l"/>
                      <a:r>
                        <a:rPr sz="1050" b="0" i="0">
                          <a:solidFill>
                            <a:srgbClr val="000000"/>
                          </a:solidFill>
                          <a:latin typeface="Calibri"/>
                        </a:rPr>
                        <a:t>Figure 116: Eastern Europe Heavy Commercial Vehicle EPS Market Value, 2026–2036 Y-o-Y Comparison By Demand Type</a:t>
                      </a:r>
                      <a:endParaRPr sz="1050"/>
                    </a:p>
                  </a:txBody>
                  <a:tcPr marL="9525" marR="9525" marT="9525" marB="0" anchor="ctr"/>
                </a:tc>
              </a:tr>
              <a:tr h="327776">
                <a:tc>
                  <a:txBody>
                    <a:bodyPr wrap="square"/>
                    <a:lstStyle/>
                    <a:p>
                      <a:pPr algn="l"/>
                      <a:r>
                        <a:rPr sz="1050" b="0" i="0">
                          <a:solidFill>
                            <a:srgbClr val="000000"/>
                          </a:solidFill>
                          <a:latin typeface="Calibri"/>
                        </a:rPr>
                        <a:t>Figure 117: Eastern Europe Heavy Commercial Vehicle EPS Market Value, 2026–2036 BPS Analysis By Demand Type</a:t>
                      </a:r>
                      <a:endParaRPr sz="1050"/>
                    </a:p>
                  </a:txBody>
                  <a:tcPr marL="9525" marR="9525" marT="9525" marB="0" anchor="ctr"/>
                </a:tc>
              </a:tr>
              <a:tr h="327776">
                <a:tc>
                  <a:txBody>
                    <a:bodyPr wrap="square"/>
                    <a:lstStyle/>
                    <a:p>
                      <a:pPr algn="l"/>
                      <a:r>
                        <a:rPr sz="1050" b="0" i="0">
                          <a:solidFill>
                            <a:srgbClr val="000000"/>
                          </a:solidFill>
                          <a:latin typeface="Calibri"/>
                        </a:rPr>
                        <a:t>Figure 118: Eastern Europe Heavy Commercial Vehicle EPS Market Attractiveness Analysis By Demand Type</a:t>
                      </a:r>
                      <a:endParaRPr sz="1050"/>
                    </a:p>
                  </a:txBody>
                  <a:tcPr marL="9525" marR="9525" marT="9525" marB="0" anchor="ctr"/>
                </a:tc>
              </a:tr>
              <a:tr h="327776">
                <a:tc>
                  <a:txBody>
                    <a:bodyPr wrap="square"/>
                    <a:lstStyle/>
                    <a:p>
                      <a:pPr algn="l"/>
                      <a:r>
                        <a:rPr sz="1050" b="0" i="0">
                          <a:solidFill>
                            <a:srgbClr val="000000"/>
                          </a:solidFill>
                          <a:latin typeface="Calibri"/>
                        </a:rPr>
                        <a:t>Figure 119: Eastern Europe Heavy Commercial Vehicle EPS Market Value, 2026–2036 By Propulsion Type</a:t>
                      </a:r>
                      <a:endParaRPr sz="1050"/>
                    </a:p>
                  </a:txBody>
                  <a:tcPr marL="9525" marR="9525" marT="9525" marB="0" anchor="ctr"/>
                </a:tc>
              </a:tr>
              <a:tr h="327776">
                <a:tc>
                  <a:txBody>
                    <a:bodyPr wrap="square"/>
                    <a:lstStyle/>
                    <a:p>
                      <a:pPr algn="l"/>
                      <a:r>
                        <a:rPr sz="1050" b="0" i="0">
                          <a:solidFill>
                            <a:srgbClr val="000000"/>
                          </a:solidFill>
                          <a:latin typeface="Calibri"/>
                        </a:rPr>
                        <a:t>Figure 120: Eastern Europe Heavy Commercial Vehicle EPS Market Value, 2026–2036 Y-o-Y Comparison By Propulsion Type</a:t>
                      </a:r>
                      <a:endParaRPr sz="1050"/>
                    </a:p>
                  </a:txBody>
                  <a:tcPr marL="9525" marR="9525" marT="9525" marB="0" anchor="ctr"/>
                </a:tc>
              </a:tr>
              <a:tr h="327776">
                <a:tc>
                  <a:txBody>
                    <a:bodyPr wrap="square"/>
                    <a:lstStyle/>
                    <a:p>
                      <a:pPr algn="l"/>
                      <a:r>
                        <a:rPr sz="1050" b="0" i="0">
                          <a:solidFill>
                            <a:srgbClr val="000000"/>
                          </a:solidFill>
                          <a:latin typeface="Calibri"/>
                        </a:rPr>
                        <a:t>Figure 121: Eastern Europe Heavy Commercial Vehicle EPS Market Value, 2026–2036 BPS Analysis By Propulsion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(4/9)</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335896">
                <a:tc>
                  <a:txBody>
                    <a:bodyPr wrap="square"/>
                    <a:lstStyle/>
                    <a:p>
                      <a:pPr algn="l"/>
                      <a:r>
                        <a:rPr sz="1050" b="0" i="0">
                          <a:solidFill>
                            <a:srgbClr val="000000"/>
                          </a:solidFill>
                          <a:latin typeface="Calibri"/>
                        </a:rPr>
                        <a:t>Figure 122: Eastern Europe Heavy Commercial Vehicle EPS Market Attractiveness Analysis By Propulsion Type</a:t>
                      </a:r>
                      <a:endParaRPr sz="1050"/>
                    </a:p>
                  </a:txBody>
                  <a:tcPr marL="9525" marR="9525" marT="9525" marB="0" anchor="ctr"/>
                </a:tc>
              </a:tr>
              <a:tr h="335896">
                <a:tc>
                  <a:txBody>
                    <a:bodyPr wrap="square"/>
                    <a:lstStyle/>
                    <a:p>
                      <a:pPr algn="l"/>
                      <a:r>
                        <a:rPr sz="1050" b="0" i="0">
                          <a:solidFill>
                            <a:srgbClr val="000000"/>
                          </a:solidFill>
                          <a:latin typeface="Calibri"/>
                        </a:rPr>
                        <a:t>Figure 123: Eastern Europe Heavy Commercial Vehicle EPS Market Value, 2026–2036 By Gross Vehicle Weight</a:t>
                      </a:r>
                      <a:endParaRPr sz="1050"/>
                    </a:p>
                  </a:txBody>
                  <a:tcPr marL="9525" marR="9525" marT="9525" marB="0" anchor="ctr"/>
                </a:tc>
              </a:tr>
              <a:tr h="335896">
                <a:tc>
                  <a:txBody>
                    <a:bodyPr wrap="square"/>
                    <a:lstStyle/>
                    <a:p>
                      <a:pPr algn="l"/>
                      <a:r>
                        <a:rPr sz="1050" b="0" i="0">
                          <a:solidFill>
                            <a:srgbClr val="000000"/>
                          </a:solidFill>
                          <a:latin typeface="Calibri"/>
                        </a:rPr>
                        <a:t>Figure 124: Eastern Europe Heavy Commercial Vehicle EPS Market Value, 2026–2036 Y-o-Y Comparison By Gross Vehicle Weight</a:t>
                      </a:r>
                      <a:endParaRPr sz="1050"/>
                    </a:p>
                  </a:txBody>
                  <a:tcPr marL="9525" marR="9525" marT="9525" marB="0" anchor="ctr"/>
                </a:tc>
              </a:tr>
              <a:tr h="335896">
                <a:tc>
                  <a:txBody>
                    <a:bodyPr wrap="square"/>
                    <a:lstStyle/>
                    <a:p>
                      <a:pPr algn="l"/>
                      <a:r>
                        <a:rPr sz="1050" b="0" i="0">
                          <a:solidFill>
                            <a:srgbClr val="000000"/>
                          </a:solidFill>
                          <a:latin typeface="Calibri"/>
                        </a:rPr>
                        <a:t>Figure 125: Eastern Europe Heavy Commercial Vehicle EPS Market Value, 2026–2036 BPS Analysis By Gross Vehicle Weight</a:t>
                      </a:r>
                      <a:endParaRPr sz="1050"/>
                    </a:p>
                  </a:txBody>
                  <a:tcPr marL="9525" marR="9525" marT="9525" marB="0" anchor="ctr"/>
                </a:tc>
              </a:tr>
              <a:tr h="335896">
                <a:tc>
                  <a:txBody>
                    <a:bodyPr wrap="square"/>
                    <a:lstStyle/>
                    <a:p>
                      <a:pPr algn="l"/>
                      <a:r>
                        <a:rPr sz="1050" b="0" i="0">
                          <a:solidFill>
                            <a:srgbClr val="000000"/>
                          </a:solidFill>
                          <a:latin typeface="Calibri"/>
                        </a:rPr>
                        <a:t>Figure 126: Eastern Europe Heavy Commercial Vehicle EPS Market Attractiveness Analysis By Gross Vehicle Weight</a:t>
                      </a:r>
                      <a:endParaRPr sz="1050"/>
                    </a:p>
                  </a:txBody>
                  <a:tcPr marL="9525" marR="9525" marT="9525" marB="0" anchor="ctr"/>
                </a:tc>
              </a:tr>
              <a:tr h="171375">
                <a:tc>
                  <a:txBody>
                    <a:bodyPr wrap="square"/>
                    <a:lstStyle/>
                    <a:p>
                      <a:pPr algn="l"/>
                      <a:r>
                        <a:rPr sz="1050" b="0" i="0">
                          <a:solidFill>
                            <a:srgbClr val="000000"/>
                          </a:solidFill>
                          <a:latin typeface="Calibri"/>
                        </a:rPr>
                        <a:t>Figure 127: Eastern Europe Heavy Commercial Vehicle EPS Market Value, 2026–2036 By Region</a:t>
                      </a:r>
                      <a:endParaRPr sz="1050"/>
                    </a:p>
                  </a:txBody>
                  <a:tcPr marL="9525" marR="9525" marT="9525" marB="0" anchor="ctr"/>
                </a:tc>
              </a:tr>
              <a:tr h="335896">
                <a:tc>
                  <a:txBody>
                    <a:bodyPr wrap="square"/>
                    <a:lstStyle/>
                    <a:p>
                      <a:pPr algn="l"/>
                      <a:r>
                        <a:rPr sz="1050" b="0" i="0">
                          <a:solidFill>
                            <a:srgbClr val="000000"/>
                          </a:solidFill>
                          <a:latin typeface="Calibri"/>
                        </a:rPr>
                        <a:t>Figure 128: Eastern Europe Heavy Commercial Vehicle EPS Market Value, 2026–2036 Y-o-Y Comparison By Region</a:t>
                      </a:r>
                      <a:endParaRPr sz="1050"/>
                    </a:p>
                  </a:txBody>
                  <a:tcPr marL="9525" marR="9525" marT="9525" marB="0" anchor="ctr"/>
                </a:tc>
              </a:tr>
              <a:tr h="335896">
                <a:tc>
                  <a:txBody>
                    <a:bodyPr wrap="square"/>
                    <a:lstStyle/>
                    <a:p>
                      <a:pPr algn="l"/>
                      <a:r>
                        <a:rPr sz="1050" b="0" i="0">
                          <a:solidFill>
                            <a:srgbClr val="000000"/>
                          </a:solidFill>
                          <a:latin typeface="Calibri"/>
                        </a:rPr>
                        <a:t>Figure 129: Eastern Europe Heavy Commercial Vehicle EPS Market Value, 2026–2036 BPS Analysis By Region</a:t>
                      </a:r>
                      <a:endParaRPr sz="1050"/>
                    </a:p>
                  </a:txBody>
                  <a:tcPr marL="9525" marR="9525" marT="9525" marB="0" anchor="ctr"/>
                </a:tc>
              </a:tr>
              <a:tr h="171375">
                <a:tc>
                  <a:txBody>
                    <a:bodyPr wrap="square"/>
                    <a:lstStyle/>
                    <a:p>
                      <a:pPr algn="l"/>
                      <a:r>
                        <a:rPr sz="1050" b="0" i="0">
                          <a:solidFill>
                            <a:srgbClr val="000000"/>
                          </a:solidFill>
                          <a:latin typeface="Calibri"/>
                        </a:rPr>
                        <a:t>Figure 130: Eastern Europe Heavy Commercial Vehicle EPS Market Attractiveness Analysis By Region</a:t>
                      </a:r>
                      <a:endParaRPr sz="1050"/>
                    </a:p>
                  </a:txBody>
                  <a:tcPr marL="9525" marR="9525" marT="9525" marB="0" anchor="ctr"/>
                </a:tc>
              </a:tr>
              <a:tr h="171375">
                <a:tc>
                  <a:txBody>
                    <a:bodyPr wrap="square"/>
                    <a:lstStyle/>
                    <a:p>
                      <a:pPr algn="l"/>
                      <a:r>
                        <a:rPr sz="1050" b="0" i="0">
                          <a:solidFill>
                            <a:srgbClr val="000000"/>
                          </a:solidFill>
                          <a:latin typeface="Calibri"/>
                        </a:rPr>
                        <a:t>Figure 131: Russia Heavy Commercial Vehicle EPS Market Value, 2026–2036, By System Architecture</a:t>
                      </a:r>
                      <a:endParaRPr sz="1050"/>
                    </a:p>
                  </a:txBody>
                  <a:tcPr marL="9525" marR="9525" marT="9525" marB="0" anchor="ctr"/>
                </a:tc>
              </a:tr>
              <a:tr h="171375">
                <a:tc>
                  <a:txBody>
                    <a:bodyPr wrap="square"/>
                    <a:lstStyle/>
                    <a:p>
                      <a:pPr algn="l"/>
                      <a:r>
                        <a:rPr sz="1050" b="0" i="0">
                          <a:solidFill>
                            <a:srgbClr val="000000"/>
                          </a:solidFill>
                          <a:latin typeface="Calibri"/>
                        </a:rPr>
                        <a:t>Figure 132: Russia Heavy Commercial Vehicle EPS Market Value, 2026–2036, By Vehicle Type</a:t>
                      </a:r>
                      <a:endParaRPr sz="1050"/>
                    </a:p>
                  </a:txBody>
                  <a:tcPr marL="9525" marR="9525" marT="9525" marB="0" anchor="ctr"/>
                </a:tc>
              </a:tr>
              <a:tr h="171375">
                <a:tc>
                  <a:txBody>
                    <a:bodyPr wrap="square"/>
                    <a:lstStyle/>
                    <a:p>
                      <a:pPr algn="l"/>
                      <a:r>
                        <a:rPr sz="1050" b="0" i="0">
                          <a:solidFill>
                            <a:srgbClr val="000000"/>
                          </a:solidFill>
                          <a:latin typeface="Calibri"/>
                        </a:rPr>
                        <a:t>Figure 133: Russia Heavy Commercial Vehicle EPS Market Value, 2026–2036, By Demand Type</a:t>
                      </a:r>
                      <a:endParaRPr sz="1050"/>
                    </a:p>
                  </a:txBody>
                  <a:tcPr marL="9525" marR="9525" marT="9525" marB="0" anchor="ctr"/>
                </a:tc>
              </a:tr>
              <a:tr h="171375">
                <a:tc>
                  <a:txBody>
                    <a:bodyPr wrap="square"/>
                    <a:lstStyle/>
                    <a:p>
                      <a:pPr algn="l"/>
                      <a:r>
                        <a:rPr sz="1050" b="0" i="0">
                          <a:solidFill>
                            <a:srgbClr val="000000"/>
                          </a:solidFill>
                          <a:latin typeface="Calibri"/>
                        </a:rPr>
                        <a:t>Figure 134: Russia Heavy Commercial Vehicle EPS Market Value, 2026–2036, By Gross Vehicle Weight</a:t>
                      </a:r>
                      <a:endParaRPr sz="1050"/>
                    </a:p>
                  </a:txBody>
                  <a:tcPr marL="9525" marR="9525" marT="9525" marB="0" anchor="ctr"/>
                </a:tc>
              </a:tr>
              <a:tr h="171375">
                <a:tc>
                  <a:txBody>
                    <a:bodyPr wrap="square"/>
                    <a:lstStyle/>
                    <a:p>
                      <a:pPr algn="l"/>
                      <a:r>
                        <a:rPr sz="1050" b="0" i="0">
                          <a:solidFill>
                            <a:srgbClr val="000000"/>
                          </a:solidFill>
                          <a:latin typeface="Calibri"/>
                        </a:rPr>
                        <a:t>Figure 135: Russia Heavy Commercial Vehicle EPS Market Value, 2026–2036, By Propulsion Type</a:t>
                      </a:r>
                      <a:endParaRPr sz="1050"/>
                    </a:p>
                  </a:txBody>
                  <a:tcPr marL="9525" marR="9525" marT="9525" marB="0" anchor="ctr"/>
                </a:tc>
              </a:tr>
              <a:tr h="171375">
                <a:tc>
                  <a:txBody>
                    <a:bodyPr wrap="square"/>
                    <a:lstStyle/>
                    <a:p>
                      <a:pPr algn="l"/>
                      <a:r>
                        <a:rPr sz="1050" b="0" i="0">
                          <a:solidFill>
                            <a:srgbClr val="000000"/>
                          </a:solidFill>
                          <a:latin typeface="Calibri"/>
                        </a:rPr>
                        <a:t>Figure 136: Hungary Heavy Commercial Vehicle EPS Market Value, 2026–2036, By System Architecture</a:t>
                      </a:r>
                      <a:endParaRPr sz="1050"/>
                    </a:p>
                  </a:txBody>
                  <a:tcPr marL="9525" marR="9525" marT="9525" marB="0" anchor="ctr"/>
                </a:tc>
              </a:tr>
              <a:tr h="171375">
                <a:tc>
                  <a:txBody>
                    <a:bodyPr wrap="square"/>
                    <a:lstStyle/>
                    <a:p>
                      <a:pPr algn="l"/>
                      <a:r>
                        <a:rPr sz="1050" b="0" i="0">
                          <a:solidFill>
                            <a:srgbClr val="000000"/>
                          </a:solidFill>
                          <a:latin typeface="Calibri"/>
                        </a:rPr>
                        <a:t>Figure 137: Hungary Heavy Commercial Vehicle EPS Market Value, 2026–2036, By Vehicle Type</a:t>
                      </a:r>
                      <a:endParaRPr sz="1050"/>
                    </a:p>
                  </a:txBody>
                  <a:tcPr marL="9525" marR="9525" marT="9525" marB="0" anchor="ctr"/>
                </a:tc>
              </a:tr>
              <a:tr h="171375">
                <a:tc>
                  <a:txBody>
                    <a:bodyPr wrap="square"/>
                    <a:lstStyle/>
                    <a:p>
                      <a:pPr algn="l"/>
                      <a:r>
                        <a:rPr sz="1050" b="0" i="0">
                          <a:solidFill>
                            <a:srgbClr val="000000"/>
                          </a:solidFill>
                          <a:latin typeface="Calibri"/>
                        </a:rPr>
                        <a:t>Figure 138: Hungary Heavy Commercial Vehicle EPS Market Value, 2026–2036, By Demand Type</a:t>
                      </a:r>
                      <a:endParaRPr sz="1050"/>
                    </a:p>
                  </a:txBody>
                  <a:tcPr marL="9525" marR="9525" marT="9525" marB="0" anchor="ctr"/>
                </a:tc>
              </a:tr>
              <a:tr h="335896">
                <a:tc>
                  <a:txBody>
                    <a:bodyPr wrap="square"/>
                    <a:lstStyle/>
                    <a:p>
                      <a:pPr algn="l"/>
                      <a:r>
                        <a:rPr sz="1050" b="0" i="0">
                          <a:solidFill>
                            <a:srgbClr val="000000"/>
                          </a:solidFill>
                          <a:latin typeface="Calibri"/>
                        </a:rPr>
                        <a:t>Figure 139: Hungary Heavy Commercial Vehicle EPS Market Value, 2026–2036, By Gross Vehicle Weight</a:t>
                      </a:r>
                      <a:endParaRPr sz="1050"/>
                    </a:p>
                  </a:txBody>
                  <a:tcPr marL="9525" marR="9525" marT="9525" marB="0" anchor="ctr"/>
                </a:tc>
              </a:tr>
              <a:tr h="171375">
                <a:tc>
                  <a:txBody>
                    <a:bodyPr wrap="square"/>
                    <a:lstStyle/>
                    <a:p>
                      <a:pPr algn="l"/>
                      <a:r>
                        <a:rPr sz="1050" b="0" i="0">
                          <a:solidFill>
                            <a:srgbClr val="000000"/>
                          </a:solidFill>
                          <a:latin typeface="Calibri"/>
                        </a:rPr>
                        <a:t>Figure 140: Hungary Heavy Commercial Vehicle EPS Market Value, 2026–2036, By Propulsion Type</a:t>
                      </a:r>
                      <a:endParaRPr sz="1050"/>
                    </a:p>
                  </a:txBody>
                  <a:tcPr marL="9525" marR="9525" marT="9525" marB="0" anchor="ctr"/>
                </a:tc>
              </a:tr>
              <a:tr h="171375">
                <a:tc>
                  <a:txBody>
                    <a:bodyPr wrap="square"/>
                    <a:lstStyle/>
                    <a:p>
                      <a:pPr algn="l"/>
                      <a:r>
                        <a:rPr sz="1050" b="0" i="0">
                          <a:solidFill>
                            <a:srgbClr val="000000"/>
                          </a:solidFill>
                          <a:latin typeface="Calibri"/>
                        </a:rPr>
                        <a:t>Figure 141: Poland Heavy Commercial Vehicle EPS Market Value, 2026–2036, By System Architecture</a:t>
                      </a:r>
                      <a:endParaRPr sz="1050"/>
                    </a:p>
                  </a:txBody>
                  <a:tcPr marL="9525" marR="9525" marT="9525" marB="0" anchor="ctr"/>
                </a:tc>
              </a:tr>
              <a:tr h="171375">
                <a:tc>
                  <a:txBody>
                    <a:bodyPr wrap="square"/>
                    <a:lstStyle/>
                    <a:p>
                      <a:pPr algn="l"/>
                      <a:r>
                        <a:rPr sz="1050" b="0" i="0">
                          <a:solidFill>
                            <a:srgbClr val="000000"/>
                          </a:solidFill>
                          <a:latin typeface="Calibri"/>
                        </a:rPr>
                        <a:t>Figure 142: Poland Heavy Commercial Vehicle EPS Market Value, 2026–2036, By Vehicle Type</a:t>
                      </a:r>
                      <a:endParaRPr sz="1050"/>
                    </a:p>
                  </a:txBody>
                  <a:tcPr marL="9525" marR="9525" marT="9525" marB="0" anchor="ctr"/>
                </a:tc>
              </a:tr>
              <a:tr h="171375">
                <a:tc>
                  <a:txBody>
                    <a:bodyPr wrap="square"/>
                    <a:lstStyle/>
                    <a:p>
                      <a:pPr algn="l"/>
                      <a:r>
                        <a:rPr sz="1050" b="0" i="0">
                          <a:solidFill>
                            <a:srgbClr val="000000"/>
                          </a:solidFill>
                          <a:latin typeface="Calibri"/>
                        </a:rPr>
                        <a:t>Figure 143: Poland Heavy Commercial Vehicle EPS Market Value, 2026–2036, By Demand Type</a:t>
                      </a:r>
                      <a:endParaRPr sz="1050"/>
                    </a:p>
                  </a:txBody>
                  <a:tcPr marL="9525" marR="9525" marT="9525" marB="0" anchor="ctr"/>
                </a:tc>
              </a:tr>
              <a:tr h="171375">
                <a:tc>
                  <a:txBody>
                    <a:bodyPr wrap="square"/>
                    <a:lstStyle/>
                    <a:p>
                      <a:pPr algn="l"/>
                      <a:r>
                        <a:rPr sz="1050" b="0" i="0">
                          <a:solidFill>
                            <a:srgbClr val="000000"/>
                          </a:solidFill>
                          <a:latin typeface="Calibri"/>
                        </a:rPr>
                        <a:t>Figure 144: Poland Heavy Commercial Vehicle EPS Market Value, 2026–2036, By Gross Vehicle Weight</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172727">
                <a:tc>
                  <a:txBody>
                    <a:bodyPr wrap="square"/>
                    <a:lstStyle/>
                    <a:p>
                      <a:pPr algn="l"/>
                      <a:r>
                        <a:rPr sz="1050" b="0" i="0">
                          <a:solidFill>
                            <a:srgbClr val="000000"/>
                          </a:solidFill>
                          <a:latin typeface="Calibri"/>
                        </a:rPr>
                        <a:t>Figure 145: Poland Heavy Commercial Vehicle EPS Market Value, 2026–2036, By Propulsion Type</a:t>
                      </a:r>
                      <a:endParaRPr sz="1050"/>
                    </a:p>
                  </a:txBody>
                  <a:tcPr marL="9525" marR="9525" marT="9525" marB="0" anchor="ctr"/>
                </a:tc>
              </a:tr>
              <a:tr h="338544">
                <a:tc>
                  <a:txBody>
                    <a:bodyPr wrap="square"/>
                    <a:lstStyle/>
                    <a:p>
                      <a:pPr algn="l"/>
                      <a:r>
                        <a:rPr sz="1050" b="0" i="0">
                          <a:solidFill>
                            <a:srgbClr val="000000"/>
                          </a:solidFill>
                          <a:latin typeface="Calibri"/>
                        </a:rPr>
                        <a:t>Figure 146: Balkan and Baltics Heavy Commercial Vehicle EPS Market Value, 2026–2036, By System Architecture</a:t>
                      </a:r>
                      <a:endParaRPr sz="1050"/>
                    </a:p>
                  </a:txBody>
                  <a:tcPr marL="9525" marR="9525" marT="9525" marB="0" anchor="ctr"/>
                </a:tc>
              </a:tr>
              <a:tr h="338544">
                <a:tc>
                  <a:txBody>
                    <a:bodyPr wrap="square"/>
                    <a:lstStyle/>
                    <a:p>
                      <a:pPr algn="l"/>
                      <a:r>
                        <a:rPr sz="1050" b="0" i="0">
                          <a:solidFill>
                            <a:srgbClr val="000000"/>
                          </a:solidFill>
                          <a:latin typeface="Calibri"/>
                        </a:rPr>
                        <a:t>Figure 147: Balkan and Baltics Heavy Commercial Vehicle EPS Market Value, 2026–2036, By Vehicle Type</a:t>
                      </a:r>
                      <a:endParaRPr sz="1050"/>
                    </a:p>
                  </a:txBody>
                  <a:tcPr marL="9525" marR="9525" marT="9525" marB="0" anchor="ctr"/>
                </a:tc>
              </a:tr>
              <a:tr h="338544">
                <a:tc>
                  <a:txBody>
                    <a:bodyPr wrap="square"/>
                    <a:lstStyle/>
                    <a:p>
                      <a:pPr algn="l"/>
                      <a:r>
                        <a:rPr sz="1050" b="0" i="0">
                          <a:solidFill>
                            <a:srgbClr val="000000"/>
                          </a:solidFill>
                          <a:latin typeface="Calibri"/>
                        </a:rPr>
                        <a:t>Figure 148: Balkan and Baltics Heavy Commercial Vehicle EPS Market Value, 2026–2036, By Demand Type</a:t>
                      </a:r>
                      <a:endParaRPr sz="1050"/>
                    </a:p>
                  </a:txBody>
                  <a:tcPr marL="9525" marR="9525" marT="9525" marB="0" anchor="ctr"/>
                </a:tc>
              </a:tr>
              <a:tr h="338544">
                <a:tc>
                  <a:txBody>
                    <a:bodyPr wrap="square"/>
                    <a:lstStyle/>
                    <a:p>
                      <a:pPr algn="l"/>
                      <a:r>
                        <a:rPr sz="1050" b="0" i="0">
                          <a:solidFill>
                            <a:srgbClr val="000000"/>
                          </a:solidFill>
                          <a:latin typeface="Calibri"/>
                        </a:rPr>
                        <a:t>Figure 149: Balkan and Baltics Heavy Commercial Vehicle EPS Market Value, 2026–2036, By Gross Vehicle Weight</a:t>
                      </a:r>
                      <a:endParaRPr sz="1050"/>
                    </a:p>
                  </a:txBody>
                  <a:tcPr marL="9525" marR="9525" marT="9525" marB="0" anchor="ctr"/>
                </a:tc>
              </a:tr>
              <a:tr h="338544">
                <a:tc>
                  <a:txBody>
                    <a:bodyPr wrap="square"/>
                    <a:lstStyle/>
                    <a:p>
                      <a:pPr algn="l"/>
                      <a:r>
                        <a:rPr sz="1050" b="0" i="0">
                          <a:solidFill>
                            <a:srgbClr val="000000"/>
                          </a:solidFill>
                          <a:latin typeface="Calibri"/>
                        </a:rPr>
                        <a:t>Figure 150: Balkan and Baltics Heavy Commercial Vehicle EPS Market Value, 2026–2036, By Propulsion Type</a:t>
                      </a:r>
                      <a:endParaRPr sz="1050"/>
                    </a:p>
                  </a:txBody>
                  <a:tcPr marL="9525" marR="9525" marT="9525" marB="0" anchor="ctr"/>
                </a:tc>
              </a:tr>
              <a:tr h="172727">
                <a:tc>
                  <a:txBody>
                    <a:bodyPr wrap="square"/>
                    <a:lstStyle/>
                    <a:p>
                      <a:pPr algn="l"/>
                      <a:r>
                        <a:rPr sz="1050" b="0" i="0">
                          <a:solidFill>
                            <a:srgbClr val="000000"/>
                          </a:solidFill>
                          <a:latin typeface="Calibri"/>
                        </a:rPr>
                        <a:t>Figure 151: Western Europe Heavy Commercial Vehicle EPS Market Value, 2021–2036</a:t>
                      </a:r>
                      <a:endParaRPr sz="1050"/>
                    </a:p>
                  </a:txBody>
                  <a:tcPr marL="9525" marR="9525" marT="9525" marB="0" anchor="ctr"/>
                </a:tc>
              </a:tr>
              <a:tr h="338544">
                <a:tc>
                  <a:txBody>
                    <a:bodyPr wrap="square"/>
                    <a:lstStyle/>
                    <a:p>
                      <a:pPr algn="l"/>
                      <a:r>
                        <a:rPr sz="1050" b="0" i="0">
                          <a:solidFill>
                            <a:srgbClr val="000000"/>
                          </a:solidFill>
                          <a:latin typeface="Calibri"/>
                        </a:rPr>
                        <a:t>Figure 152: Western Europe Heavy Commercial Vehicle EPS Market Incremental $ Opportunity, 2026–2036</a:t>
                      </a:r>
                      <a:endParaRPr sz="1050"/>
                    </a:p>
                  </a:txBody>
                  <a:tcPr marL="9525" marR="9525" marT="9525" marB="0" anchor="ctr"/>
                </a:tc>
              </a:tr>
              <a:tr h="338544">
                <a:tc>
                  <a:txBody>
                    <a:bodyPr wrap="square"/>
                    <a:lstStyle/>
                    <a:p>
                      <a:pPr algn="l"/>
                      <a:r>
                        <a:rPr sz="1050" b="0" i="0">
                          <a:solidFill>
                            <a:srgbClr val="000000"/>
                          </a:solidFill>
                          <a:latin typeface="Calibri"/>
                        </a:rPr>
                        <a:t>Figure 153: Western Europe Heavy Commercial Vehicle EPS Market Value, 2026–2036 By System Architecture</a:t>
                      </a:r>
                      <a:endParaRPr sz="1050"/>
                    </a:p>
                  </a:txBody>
                  <a:tcPr marL="9525" marR="9525" marT="9525" marB="0" anchor="ctr"/>
                </a:tc>
              </a:tr>
              <a:tr h="338544">
                <a:tc>
                  <a:txBody>
                    <a:bodyPr wrap="square"/>
                    <a:lstStyle/>
                    <a:p>
                      <a:pPr algn="l"/>
                      <a:r>
                        <a:rPr sz="1050" b="0" i="0">
                          <a:solidFill>
                            <a:srgbClr val="000000"/>
                          </a:solidFill>
                          <a:latin typeface="Calibri"/>
                        </a:rPr>
                        <a:t>Figure 154: Western Europe Heavy Commercial Vehicle EPS Market Value, 2026–2036 Y-o-Y Comparison By System Architecture</a:t>
                      </a:r>
                      <a:endParaRPr sz="1050"/>
                    </a:p>
                  </a:txBody>
                  <a:tcPr marL="9525" marR="9525" marT="9525" marB="0" anchor="ctr"/>
                </a:tc>
              </a:tr>
              <a:tr h="338544">
                <a:tc>
                  <a:txBody>
                    <a:bodyPr wrap="square"/>
                    <a:lstStyle/>
                    <a:p>
                      <a:pPr algn="l"/>
                      <a:r>
                        <a:rPr sz="1050" b="0" i="0">
                          <a:solidFill>
                            <a:srgbClr val="000000"/>
                          </a:solidFill>
                          <a:latin typeface="Calibri"/>
                        </a:rPr>
                        <a:t>Figure 155: Western Europe Heavy Commercial Vehicle EPS Market Value, 2026–2036 BPS Analysis By System Architecture</a:t>
                      </a:r>
                      <a:endParaRPr sz="1050"/>
                    </a:p>
                  </a:txBody>
                  <a:tcPr marL="9525" marR="9525" marT="9525" marB="0" anchor="ctr"/>
                </a:tc>
              </a:tr>
              <a:tr h="338544">
                <a:tc>
                  <a:txBody>
                    <a:bodyPr wrap="square"/>
                    <a:lstStyle/>
                    <a:p>
                      <a:pPr algn="l"/>
                      <a:r>
                        <a:rPr sz="1050" b="0" i="0">
                          <a:solidFill>
                            <a:srgbClr val="000000"/>
                          </a:solidFill>
                          <a:latin typeface="Calibri"/>
                        </a:rPr>
                        <a:t>Figure 156: Western Europe Heavy Commercial Vehicle EPS Market Attractiveness Analysis By System Architecture</a:t>
                      </a:r>
                      <a:endParaRPr sz="1050"/>
                    </a:p>
                  </a:txBody>
                  <a:tcPr marL="9525" marR="9525" marT="9525" marB="0" anchor="ctr"/>
                </a:tc>
              </a:tr>
              <a:tr h="172727">
                <a:tc>
                  <a:txBody>
                    <a:bodyPr wrap="square"/>
                    <a:lstStyle/>
                    <a:p>
                      <a:pPr algn="l"/>
                      <a:r>
                        <a:rPr sz="1050" b="0" i="0">
                          <a:solidFill>
                            <a:srgbClr val="000000"/>
                          </a:solidFill>
                          <a:latin typeface="Calibri"/>
                        </a:rPr>
                        <a:t>Figure 157: Western Europe Heavy Commercial Vehicle EPS Market Value, 2026–2036 By Vehicle Type</a:t>
                      </a:r>
                      <a:endParaRPr sz="1050"/>
                    </a:p>
                  </a:txBody>
                  <a:tcPr marL="9525" marR="9525" marT="9525" marB="0" anchor="ctr"/>
                </a:tc>
              </a:tr>
              <a:tr h="338544">
                <a:tc>
                  <a:txBody>
                    <a:bodyPr wrap="square"/>
                    <a:lstStyle/>
                    <a:p>
                      <a:pPr algn="l"/>
                      <a:r>
                        <a:rPr sz="1050" b="0" i="0">
                          <a:solidFill>
                            <a:srgbClr val="000000"/>
                          </a:solidFill>
                          <a:latin typeface="Calibri"/>
                        </a:rPr>
                        <a:t>Figure 158: Western Europe Heavy Commercial Vehicle EPS Market Value, 2026–2036 Y-o-Y Comparison By Vehicle Type</a:t>
                      </a:r>
                      <a:endParaRPr sz="1050"/>
                    </a:p>
                  </a:txBody>
                  <a:tcPr marL="9525" marR="9525" marT="9525" marB="0" anchor="ctr"/>
                </a:tc>
              </a:tr>
              <a:tr h="338544">
                <a:tc>
                  <a:txBody>
                    <a:bodyPr wrap="square"/>
                    <a:lstStyle/>
                    <a:p>
                      <a:pPr algn="l"/>
                      <a:r>
                        <a:rPr sz="1050" b="0" i="0">
                          <a:solidFill>
                            <a:srgbClr val="000000"/>
                          </a:solidFill>
                          <a:latin typeface="Calibri"/>
                        </a:rPr>
                        <a:t>Figure 159: Western Europe Heavy Commercial Vehicle EPS Market Value, 2026–2036 BPS Analysis By Vehicle Type</a:t>
                      </a:r>
                      <a:endParaRPr sz="1050"/>
                    </a:p>
                  </a:txBody>
                  <a:tcPr marL="9525" marR="9525" marT="9525" marB="0" anchor="ctr"/>
                </a:tc>
              </a:tr>
              <a:tr h="338544">
                <a:tc>
                  <a:txBody>
                    <a:bodyPr wrap="square"/>
                    <a:lstStyle/>
                    <a:p>
                      <a:pPr algn="l"/>
                      <a:r>
                        <a:rPr sz="1050" b="0" i="0">
                          <a:solidFill>
                            <a:srgbClr val="000000"/>
                          </a:solidFill>
                          <a:latin typeface="Calibri"/>
                        </a:rPr>
                        <a:t>Figure 160: Western Europe Heavy Commercial Vehicle EPS Market Attractiveness Analysis By Vehicle Type</a:t>
                      </a:r>
                      <a:endParaRPr sz="1050"/>
                    </a:p>
                  </a:txBody>
                  <a:tcPr marL="9525" marR="9525" marT="9525" marB="0" anchor="ctr"/>
                </a:tc>
              </a:tr>
              <a:tr h="338544">
                <a:tc>
                  <a:txBody>
                    <a:bodyPr wrap="square"/>
                    <a:lstStyle/>
                    <a:p>
                      <a:pPr algn="l"/>
                      <a:r>
                        <a:rPr sz="1050" b="0" i="0">
                          <a:solidFill>
                            <a:srgbClr val="000000"/>
                          </a:solidFill>
                          <a:latin typeface="Calibri"/>
                        </a:rPr>
                        <a:t>Figure 161: Western Europe Heavy Commercial Vehicle EPS Market Value, 2026–2036 By Demand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(5/9)</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38100">
                <a:tc>
                  <a:txBody>
                    <a:bodyPr wrap="square"/>
                    <a:lstStyle/>
                    <a:p>
                      <a:pPr algn="l"/>
                      <a:r>
                        <a:rPr sz="1050" b="0" i="0">
                          <a:solidFill>
                            <a:srgbClr val="000000"/>
                          </a:solidFill>
                          <a:latin typeface="Calibri"/>
                        </a:rPr>
                        <a:t>Figure 162: Western Europe Heavy Commercial Vehicle EPS Market Value, 2026–2036 Y-o-Y Comparison By Demand Type</a:t>
                      </a:r>
                      <a:endParaRPr sz="1050"/>
                    </a:p>
                  </a:txBody>
                  <a:tcPr marL="9525" marR="9525" marT="9525" marB="0" anchor="ctr"/>
                </a:tc>
              </a:tr>
              <a:tr h="338100">
                <a:tc>
                  <a:txBody>
                    <a:bodyPr wrap="square"/>
                    <a:lstStyle/>
                    <a:p>
                      <a:pPr algn="l"/>
                      <a:r>
                        <a:rPr sz="1050" b="0" i="0">
                          <a:solidFill>
                            <a:srgbClr val="000000"/>
                          </a:solidFill>
                          <a:latin typeface="Calibri"/>
                        </a:rPr>
                        <a:t>Figure 163: Western Europe Heavy Commercial Vehicle EPS Market Value, 2026–2036 BPS Analysis By Demand Type</a:t>
                      </a:r>
                      <a:endParaRPr sz="1050"/>
                    </a:p>
                  </a:txBody>
                  <a:tcPr marL="9525" marR="9525" marT="9525" marB="0" anchor="ctr"/>
                </a:tc>
              </a:tr>
              <a:tr h="338100">
                <a:tc>
                  <a:txBody>
                    <a:bodyPr wrap="square"/>
                    <a:lstStyle/>
                    <a:p>
                      <a:pPr algn="l"/>
                      <a:r>
                        <a:rPr sz="1050" b="0" i="0">
                          <a:solidFill>
                            <a:srgbClr val="000000"/>
                          </a:solidFill>
                          <a:latin typeface="Calibri"/>
                        </a:rPr>
                        <a:t>Figure 164: Western Europe Heavy Commercial Vehicle EPS Market Attractiveness Analysis By Demand Type</a:t>
                      </a:r>
                      <a:endParaRPr sz="1050"/>
                    </a:p>
                  </a:txBody>
                  <a:tcPr marL="9525" marR="9525" marT="9525" marB="0" anchor="ctr"/>
                </a:tc>
              </a:tr>
              <a:tr h="338100">
                <a:tc>
                  <a:txBody>
                    <a:bodyPr wrap="square"/>
                    <a:lstStyle/>
                    <a:p>
                      <a:pPr algn="l"/>
                      <a:r>
                        <a:rPr sz="1050" b="0" i="0">
                          <a:solidFill>
                            <a:srgbClr val="000000"/>
                          </a:solidFill>
                          <a:latin typeface="Calibri"/>
                        </a:rPr>
                        <a:t>Figure 165: Western Europe Heavy Commercial Vehicle EPS Market Value, 2026–2036 By Propulsion Type</a:t>
                      </a:r>
                      <a:endParaRPr sz="1050"/>
                    </a:p>
                  </a:txBody>
                  <a:tcPr marL="9525" marR="9525" marT="9525" marB="0" anchor="ctr"/>
                </a:tc>
              </a:tr>
              <a:tr h="338100">
                <a:tc>
                  <a:txBody>
                    <a:bodyPr wrap="square"/>
                    <a:lstStyle/>
                    <a:p>
                      <a:pPr algn="l"/>
                      <a:r>
                        <a:rPr sz="1050" b="0" i="0">
                          <a:solidFill>
                            <a:srgbClr val="000000"/>
                          </a:solidFill>
                          <a:latin typeface="Calibri"/>
                        </a:rPr>
                        <a:t>Figure 166: Western Europe Heavy Commercial Vehicle EPS Market Value, 2026–2036 Y-o-Y Comparison By Propulsion Type</a:t>
                      </a:r>
                      <a:endParaRPr sz="1050"/>
                    </a:p>
                  </a:txBody>
                  <a:tcPr marL="9525" marR="9525" marT="9525" marB="0" anchor="ctr"/>
                </a:tc>
              </a:tr>
              <a:tr h="338100">
                <a:tc>
                  <a:txBody>
                    <a:bodyPr wrap="square"/>
                    <a:lstStyle/>
                    <a:p>
                      <a:pPr algn="l"/>
                      <a:r>
                        <a:rPr sz="1050" b="0" i="0">
                          <a:solidFill>
                            <a:srgbClr val="000000"/>
                          </a:solidFill>
                          <a:latin typeface="Calibri"/>
                        </a:rPr>
                        <a:t>Figure 167: Western Europe Heavy Commercial Vehicle EPS Market Value, 2026–2036 BPS Analysis By Propulsion Type</a:t>
                      </a:r>
                      <a:endParaRPr sz="1050"/>
                    </a:p>
                  </a:txBody>
                  <a:tcPr marL="9525" marR="9525" marT="9525" marB="0" anchor="ctr"/>
                </a:tc>
              </a:tr>
              <a:tr h="338100">
                <a:tc>
                  <a:txBody>
                    <a:bodyPr wrap="square"/>
                    <a:lstStyle/>
                    <a:p>
                      <a:pPr algn="l"/>
                      <a:r>
                        <a:rPr sz="1050" b="0" i="0">
                          <a:solidFill>
                            <a:srgbClr val="000000"/>
                          </a:solidFill>
                          <a:latin typeface="Calibri"/>
                        </a:rPr>
                        <a:t>Figure 168: Western Europe Heavy Commercial Vehicle EPS Market Attractiveness Analysis By Propulsion Type</a:t>
                      </a:r>
                      <a:endParaRPr sz="1050"/>
                    </a:p>
                  </a:txBody>
                  <a:tcPr marL="9525" marR="9525" marT="9525" marB="0" anchor="ctr"/>
                </a:tc>
              </a:tr>
              <a:tr h="338100">
                <a:tc>
                  <a:txBody>
                    <a:bodyPr wrap="square"/>
                    <a:lstStyle/>
                    <a:p>
                      <a:pPr algn="l"/>
                      <a:r>
                        <a:rPr sz="1050" b="0" i="0">
                          <a:solidFill>
                            <a:srgbClr val="000000"/>
                          </a:solidFill>
                          <a:latin typeface="Calibri"/>
                        </a:rPr>
                        <a:t>Figure 169: Western Europe Heavy Commercial Vehicle EPS Market Value, 2026–2036 By Gross Vehicle Weight</a:t>
                      </a:r>
                      <a:endParaRPr sz="1050"/>
                    </a:p>
                  </a:txBody>
                  <a:tcPr marL="9525" marR="9525" marT="9525" marB="0" anchor="ctr"/>
                </a:tc>
              </a:tr>
              <a:tr h="338100">
                <a:tc>
                  <a:txBody>
                    <a:bodyPr wrap="square"/>
                    <a:lstStyle/>
                    <a:p>
                      <a:pPr algn="l"/>
                      <a:r>
                        <a:rPr sz="1050" b="0" i="0">
                          <a:solidFill>
                            <a:srgbClr val="000000"/>
                          </a:solidFill>
                          <a:latin typeface="Calibri"/>
                        </a:rPr>
                        <a:t>Figure 170: Western Europe Heavy Commercial Vehicle EPS Market Value, 2026–2036 Y-o-Y Comparison By Gross Vehicle Weight</a:t>
                      </a:r>
                      <a:endParaRPr sz="1050"/>
                    </a:p>
                  </a:txBody>
                  <a:tcPr marL="9525" marR="9525" marT="9525" marB="0" anchor="ctr"/>
                </a:tc>
              </a:tr>
              <a:tr h="338100">
                <a:tc>
                  <a:txBody>
                    <a:bodyPr wrap="square"/>
                    <a:lstStyle/>
                    <a:p>
                      <a:pPr algn="l"/>
                      <a:r>
                        <a:rPr sz="1050" b="0" i="0">
                          <a:solidFill>
                            <a:srgbClr val="000000"/>
                          </a:solidFill>
                          <a:latin typeface="Calibri"/>
                        </a:rPr>
                        <a:t>Figure 171: Western Europe Heavy Commercial Vehicle EPS Market Value, 2026–2036 BPS Analysis By Gross Vehicle Weight</a:t>
                      </a:r>
                      <a:endParaRPr sz="1050"/>
                    </a:p>
                  </a:txBody>
                  <a:tcPr marL="9525" marR="9525" marT="9525" marB="0" anchor="ctr"/>
                </a:tc>
              </a:tr>
              <a:tr h="338100">
                <a:tc>
                  <a:txBody>
                    <a:bodyPr wrap="square"/>
                    <a:lstStyle/>
                    <a:p>
                      <a:pPr algn="l"/>
                      <a:r>
                        <a:rPr sz="1050" b="0" i="0">
                          <a:solidFill>
                            <a:srgbClr val="000000"/>
                          </a:solidFill>
                          <a:latin typeface="Calibri"/>
                        </a:rPr>
                        <a:t>Figure 172: Western Europe Heavy Commercial Vehicle EPS Market Attractiveness Analysis By Gross Vehicle Weight</a:t>
                      </a:r>
                      <a:endParaRPr sz="1050"/>
                    </a:p>
                  </a:txBody>
                  <a:tcPr marL="9525" marR="9525" marT="9525" marB="0" anchor="ctr"/>
                </a:tc>
              </a:tr>
              <a:tr h="172500">
                <a:tc>
                  <a:txBody>
                    <a:bodyPr wrap="square"/>
                    <a:lstStyle/>
                    <a:p>
                      <a:pPr algn="l"/>
                      <a:r>
                        <a:rPr sz="1050" b="0" i="0">
                          <a:solidFill>
                            <a:srgbClr val="000000"/>
                          </a:solidFill>
                          <a:latin typeface="Calibri"/>
                        </a:rPr>
                        <a:t>Figure 173: Western Europe Heavy Commercial Vehicle EPS Market Value, 2026–2036 By Country</a:t>
                      </a:r>
                      <a:endParaRPr sz="1050"/>
                    </a:p>
                  </a:txBody>
                  <a:tcPr marL="9525" marR="9525" marT="9525" marB="0" anchor="ctr"/>
                </a:tc>
              </a:tr>
              <a:tr h="338100">
                <a:tc>
                  <a:txBody>
                    <a:bodyPr wrap="square"/>
                    <a:lstStyle/>
                    <a:p>
                      <a:pPr algn="l"/>
                      <a:r>
                        <a:rPr sz="1050" b="0" i="0">
                          <a:solidFill>
                            <a:srgbClr val="000000"/>
                          </a:solidFill>
                          <a:latin typeface="Calibri"/>
                        </a:rPr>
                        <a:t>Figure 174: Western Europe Heavy Commercial Vehicle EPS Market Value, 2026–2036 Y-o-Y Comparison By Country</a:t>
                      </a:r>
                      <a:endParaRPr sz="1050"/>
                    </a:p>
                  </a:txBody>
                  <a:tcPr marL="9525" marR="9525" marT="9525" marB="0" anchor="ctr"/>
                </a:tc>
              </a:tr>
              <a:tr h="338100">
                <a:tc>
                  <a:txBody>
                    <a:bodyPr wrap="square"/>
                    <a:lstStyle/>
                    <a:p>
                      <a:pPr algn="l"/>
                      <a:r>
                        <a:rPr sz="1050" b="0" i="0">
                          <a:solidFill>
                            <a:srgbClr val="000000"/>
                          </a:solidFill>
                          <a:latin typeface="Calibri"/>
                        </a:rPr>
                        <a:t>Figure 175: Western Europe Heavy Commercial Vehicle EPS Market Value, 2026–2036 BPS Analysis By Country</a:t>
                      </a:r>
                      <a:endParaRPr sz="1050"/>
                    </a:p>
                  </a:txBody>
                  <a:tcPr marL="9525" marR="9525" marT="9525" marB="0" anchor="ctr"/>
                </a:tc>
              </a:tr>
              <a:tr h="172500">
                <a:tc>
                  <a:txBody>
                    <a:bodyPr wrap="square"/>
                    <a:lstStyle/>
                    <a:p>
                      <a:pPr algn="l"/>
                      <a:r>
                        <a:rPr sz="1050" b="0" i="0">
                          <a:solidFill>
                            <a:srgbClr val="000000"/>
                          </a:solidFill>
                          <a:latin typeface="Calibri"/>
                        </a:rPr>
                        <a:t>Figure 176: Western Europe Heavy Commercial Vehicle EPS Market Attractiveness Analysis By Country</a:t>
                      </a:r>
                      <a:endParaRPr sz="1050"/>
                    </a:p>
                  </a:txBody>
                  <a:tcPr marL="9525" marR="9525" marT="9525" marB="0" anchor="ctr"/>
                </a:tc>
              </a:tr>
              <a:tr h="172500">
                <a:tc>
                  <a:txBody>
                    <a:bodyPr wrap="square"/>
                    <a:lstStyle/>
                    <a:p>
                      <a:pPr algn="l"/>
                      <a:r>
                        <a:rPr sz="1050" b="0" i="0">
                          <a:solidFill>
                            <a:srgbClr val="000000"/>
                          </a:solidFill>
                          <a:latin typeface="Calibri"/>
                        </a:rPr>
                        <a:t>Figure 177: Germany Heavy Commercial Vehicle EPS Market Value, 2026–2036, By System Architecture</a:t>
                      </a:r>
                      <a:endParaRPr sz="1050"/>
                    </a:p>
                  </a:txBody>
                  <a:tcPr marL="9525" marR="9525" marT="9525" marB="0" anchor="ctr"/>
                </a:tc>
              </a:tr>
              <a:tr h="172500">
                <a:tc>
                  <a:txBody>
                    <a:bodyPr wrap="square"/>
                    <a:lstStyle/>
                    <a:p>
                      <a:pPr algn="l"/>
                      <a:r>
                        <a:rPr sz="1050" b="0" i="0">
                          <a:solidFill>
                            <a:srgbClr val="000000"/>
                          </a:solidFill>
                          <a:latin typeface="Calibri"/>
                        </a:rPr>
                        <a:t>Figure 178: Germany Heavy Commercial Vehicle EPS Market Value, 2026–2036, By Vehicle Type</a:t>
                      </a:r>
                      <a:endParaRPr sz="1050"/>
                    </a:p>
                  </a:txBody>
                  <a:tcPr marL="9525" marR="9525" marT="9525" marB="0" anchor="ctr"/>
                </a:tc>
              </a:tr>
              <a:tr h="172500">
                <a:tc>
                  <a:txBody>
                    <a:bodyPr wrap="square"/>
                    <a:lstStyle/>
                    <a:p>
                      <a:pPr algn="l"/>
                      <a:r>
                        <a:rPr sz="1050" b="0" i="0">
                          <a:solidFill>
                            <a:srgbClr val="000000"/>
                          </a:solidFill>
                          <a:latin typeface="Calibri"/>
                        </a:rPr>
                        <a:t>Figure 179: Germany Heavy Commercial Vehicle EPS Market Value, 2026–2036, By Demand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333289">
                <a:tc>
                  <a:txBody>
                    <a:bodyPr wrap="square"/>
                    <a:lstStyle/>
                    <a:p>
                      <a:pPr algn="l"/>
                      <a:r>
                        <a:rPr sz="1050" b="0" i="0">
                          <a:solidFill>
                            <a:srgbClr val="000000"/>
                          </a:solidFill>
                          <a:latin typeface="Calibri"/>
                        </a:rPr>
                        <a:t>Figure 180: Germany Heavy Commercial Vehicle EPS Market Value, 2026–2036,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Figure 181: Germany Heavy Commercial Vehicle EPS Market Value, 2026–2036, By Propulsion Type</a:t>
                      </a:r>
                      <a:endParaRPr sz="1050"/>
                    </a:p>
                  </a:txBody>
                  <a:tcPr marL="9525" marR="9525" marT="9525" marB="0" anchor="ctr"/>
                </a:tc>
              </a:tr>
              <a:tr h="170045">
                <a:tc>
                  <a:txBody>
                    <a:bodyPr wrap="square"/>
                    <a:lstStyle/>
                    <a:p>
                      <a:pPr algn="l"/>
                      <a:r>
                        <a:rPr sz="1050" b="0" i="0">
                          <a:solidFill>
                            <a:srgbClr val="000000"/>
                          </a:solidFill>
                          <a:latin typeface="Calibri"/>
                        </a:rPr>
                        <a:t>Figure 182: Italy Heavy Commercial Vehicle EPS Market Value, 2026–2036, By System Architecture</a:t>
                      </a:r>
                      <a:endParaRPr sz="1050"/>
                    </a:p>
                  </a:txBody>
                  <a:tcPr marL="9525" marR="9525" marT="9525" marB="0" anchor="ctr"/>
                </a:tc>
              </a:tr>
              <a:tr h="170045">
                <a:tc>
                  <a:txBody>
                    <a:bodyPr wrap="square"/>
                    <a:lstStyle/>
                    <a:p>
                      <a:pPr algn="l"/>
                      <a:r>
                        <a:rPr sz="1050" b="0" i="0">
                          <a:solidFill>
                            <a:srgbClr val="000000"/>
                          </a:solidFill>
                          <a:latin typeface="Calibri"/>
                        </a:rPr>
                        <a:t>Figure 183: Italy Heavy Commercial Vehicle EPS Market Value, 2026–2036, By Vehicle Type</a:t>
                      </a:r>
                      <a:endParaRPr sz="1050"/>
                    </a:p>
                  </a:txBody>
                  <a:tcPr marL="9525" marR="9525" marT="9525" marB="0" anchor="ctr"/>
                </a:tc>
              </a:tr>
              <a:tr h="170045">
                <a:tc>
                  <a:txBody>
                    <a:bodyPr wrap="square"/>
                    <a:lstStyle/>
                    <a:p>
                      <a:pPr algn="l"/>
                      <a:r>
                        <a:rPr sz="1050" b="0" i="0">
                          <a:solidFill>
                            <a:srgbClr val="000000"/>
                          </a:solidFill>
                          <a:latin typeface="Calibri"/>
                        </a:rPr>
                        <a:t>Figure 184: Italy Heavy Commercial Vehicle EPS Market Value, 2026–2036, By Demand Type</a:t>
                      </a:r>
                      <a:endParaRPr sz="1050"/>
                    </a:p>
                  </a:txBody>
                  <a:tcPr marL="9525" marR="9525" marT="9525" marB="0" anchor="ctr"/>
                </a:tc>
              </a:tr>
              <a:tr h="170045">
                <a:tc>
                  <a:txBody>
                    <a:bodyPr wrap="square"/>
                    <a:lstStyle/>
                    <a:p>
                      <a:pPr algn="l"/>
                      <a:r>
                        <a:rPr sz="1050" b="0" i="0">
                          <a:solidFill>
                            <a:srgbClr val="000000"/>
                          </a:solidFill>
                          <a:latin typeface="Calibri"/>
                        </a:rPr>
                        <a:t>Figure 185: Italy Heavy Commercial Vehicle EPS Market Value, 2026–2036,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Figure 186: Italy Heavy Commercial Vehicle EPS Market Value, 2026–2036, By Propulsion Type</a:t>
                      </a:r>
                      <a:endParaRPr sz="1050"/>
                    </a:p>
                  </a:txBody>
                  <a:tcPr marL="9525" marR="9525" marT="9525" marB="0" anchor="ctr"/>
                </a:tc>
              </a:tr>
              <a:tr h="170045">
                <a:tc>
                  <a:txBody>
                    <a:bodyPr wrap="square"/>
                    <a:lstStyle/>
                    <a:p>
                      <a:pPr algn="l"/>
                      <a:r>
                        <a:rPr sz="1050" b="0" i="0">
                          <a:solidFill>
                            <a:srgbClr val="000000"/>
                          </a:solidFill>
                          <a:latin typeface="Calibri"/>
                        </a:rPr>
                        <a:t>Figure 187: France Heavy Commercial Vehicle EPS Market Value, 2026–2036, By System Architecture</a:t>
                      </a:r>
                      <a:endParaRPr sz="1050"/>
                    </a:p>
                  </a:txBody>
                  <a:tcPr marL="9525" marR="9525" marT="9525" marB="0" anchor="ctr"/>
                </a:tc>
              </a:tr>
              <a:tr h="170045">
                <a:tc>
                  <a:txBody>
                    <a:bodyPr wrap="square"/>
                    <a:lstStyle/>
                    <a:p>
                      <a:pPr algn="l"/>
                      <a:r>
                        <a:rPr sz="1050" b="0" i="0">
                          <a:solidFill>
                            <a:srgbClr val="000000"/>
                          </a:solidFill>
                          <a:latin typeface="Calibri"/>
                        </a:rPr>
                        <a:t>Figure 188: France Heavy Commercial Vehicle EPS Market Value, 2026–2036, By Vehicle Type</a:t>
                      </a:r>
                      <a:endParaRPr sz="1050"/>
                    </a:p>
                  </a:txBody>
                  <a:tcPr marL="9525" marR="9525" marT="9525" marB="0" anchor="ctr"/>
                </a:tc>
              </a:tr>
              <a:tr h="170045">
                <a:tc>
                  <a:txBody>
                    <a:bodyPr wrap="square"/>
                    <a:lstStyle/>
                    <a:p>
                      <a:pPr algn="l"/>
                      <a:r>
                        <a:rPr sz="1050" b="0" i="0">
                          <a:solidFill>
                            <a:srgbClr val="000000"/>
                          </a:solidFill>
                          <a:latin typeface="Calibri"/>
                        </a:rPr>
                        <a:t>Figure 189: France Heavy Commercial Vehicle EPS Market Value, 2026–2036, By Demand Type</a:t>
                      </a:r>
                      <a:endParaRPr sz="1050"/>
                    </a:p>
                  </a:txBody>
                  <a:tcPr marL="9525" marR="9525" marT="9525" marB="0" anchor="ctr"/>
                </a:tc>
              </a:tr>
              <a:tr h="170045">
                <a:tc>
                  <a:txBody>
                    <a:bodyPr wrap="square"/>
                    <a:lstStyle/>
                    <a:p>
                      <a:pPr algn="l"/>
                      <a:r>
                        <a:rPr sz="1050" b="0" i="0">
                          <a:solidFill>
                            <a:srgbClr val="000000"/>
                          </a:solidFill>
                          <a:latin typeface="Calibri"/>
                        </a:rPr>
                        <a:t>Figure 190: France Heavy Commercial Vehicle EPS Market Value, 2026–2036,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Figure 191: France Heavy Commercial Vehicle EPS Market Value, 2026–2036, By Propulsion Type</a:t>
                      </a:r>
                      <a:endParaRPr sz="1050"/>
                    </a:p>
                  </a:txBody>
                  <a:tcPr marL="9525" marR="9525" marT="9525" marB="0" anchor="ctr"/>
                </a:tc>
              </a:tr>
              <a:tr h="170045">
                <a:tc>
                  <a:txBody>
                    <a:bodyPr wrap="square"/>
                    <a:lstStyle/>
                    <a:p>
                      <a:pPr algn="l"/>
                      <a:r>
                        <a:rPr sz="1050" b="0" i="0">
                          <a:solidFill>
                            <a:srgbClr val="000000"/>
                          </a:solidFill>
                          <a:latin typeface="Calibri"/>
                        </a:rPr>
                        <a:t>Figure 192: U.K. Heavy Commercial Vehicle EPS Market Value, 2026–2036, By System Architecture</a:t>
                      </a:r>
                      <a:endParaRPr sz="1050"/>
                    </a:p>
                  </a:txBody>
                  <a:tcPr marL="9525" marR="9525" marT="9525" marB="0" anchor="ctr"/>
                </a:tc>
              </a:tr>
              <a:tr h="170045">
                <a:tc>
                  <a:txBody>
                    <a:bodyPr wrap="square"/>
                    <a:lstStyle/>
                    <a:p>
                      <a:pPr algn="l"/>
                      <a:r>
                        <a:rPr sz="1050" b="0" i="0">
                          <a:solidFill>
                            <a:srgbClr val="000000"/>
                          </a:solidFill>
                          <a:latin typeface="Calibri"/>
                        </a:rPr>
                        <a:t>Figure 193: U.K. Heavy Commercial Vehicle EPS Market Value, 2026–2036, By Vehicle Type</a:t>
                      </a:r>
                      <a:endParaRPr sz="1050"/>
                    </a:p>
                  </a:txBody>
                  <a:tcPr marL="9525" marR="9525" marT="9525" marB="0" anchor="ctr"/>
                </a:tc>
              </a:tr>
              <a:tr h="170045">
                <a:tc>
                  <a:txBody>
                    <a:bodyPr wrap="square"/>
                    <a:lstStyle/>
                    <a:p>
                      <a:pPr algn="l"/>
                      <a:r>
                        <a:rPr sz="1050" b="0" i="0">
                          <a:solidFill>
                            <a:srgbClr val="000000"/>
                          </a:solidFill>
                          <a:latin typeface="Calibri"/>
                        </a:rPr>
                        <a:t>Figure 194: U.K. Heavy Commercial Vehicle EPS Market Value, 2026–2036, By Demand Type</a:t>
                      </a:r>
                      <a:endParaRPr sz="1050"/>
                    </a:p>
                  </a:txBody>
                  <a:tcPr marL="9525" marR="9525" marT="9525" marB="0" anchor="ctr"/>
                </a:tc>
              </a:tr>
              <a:tr h="170045">
                <a:tc>
                  <a:txBody>
                    <a:bodyPr wrap="square"/>
                    <a:lstStyle/>
                    <a:p>
                      <a:pPr algn="l"/>
                      <a:r>
                        <a:rPr sz="1050" b="0" i="0">
                          <a:solidFill>
                            <a:srgbClr val="000000"/>
                          </a:solidFill>
                          <a:latin typeface="Calibri"/>
                        </a:rPr>
                        <a:t>Figure 195: U.K. Heavy Commercial Vehicle EPS Market Value, 2026–2036,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Figure 196: U.K. Heavy Commercial Vehicle EPS Market Value, 2026–2036, By Propulsion Type</a:t>
                      </a:r>
                      <a:endParaRPr sz="1050"/>
                    </a:p>
                  </a:txBody>
                  <a:tcPr marL="9525" marR="9525" marT="9525" marB="0" anchor="ctr"/>
                </a:tc>
              </a:tr>
              <a:tr h="170045">
                <a:tc>
                  <a:txBody>
                    <a:bodyPr wrap="square"/>
                    <a:lstStyle/>
                    <a:p>
                      <a:pPr algn="l"/>
                      <a:r>
                        <a:rPr sz="1050" b="0" i="0">
                          <a:solidFill>
                            <a:srgbClr val="000000"/>
                          </a:solidFill>
                          <a:latin typeface="Calibri"/>
                        </a:rPr>
                        <a:t>Figure 197: Spain Heavy Commercial Vehicle EPS Market Value, 2026–2036, By System Architecture</a:t>
                      </a:r>
                      <a:endParaRPr sz="1050"/>
                    </a:p>
                  </a:txBody>
                  <a:tcPr marL="9525" marR="9525" marT="9525" marB="0" anchor="ctr"/>
                </a:tc>
              </a:tr>
              <a:tr h="170045">
                <a:tc>
                  <a:txBody>
                    <a:bodyPr wrap="square"/>
                    <a:lstStyle/>
                    <a:p>
                      <a:pPr algn="l"/>
                      <a:r>
                        <a:rPr sz="1050" b="0" i="0">
                          <a:solidFill>
                            <a:srgbClr val="000000"/>
                          </a:solidFill>
                          <a:latin typeface="Calibri"/>
                        </a:rPr>
                        <a:t>Figure 198: Spain Heavy Commercial Vehicle EPS Market Value, 2026–2036, By Vehicle Type</a:t>
                      </a:r>
                      <a:endParaRPr sz="1050"/>
                    </a:p>
                  </a:txBody>
                  <a:tcPr marL="9525" marR="9525" marT="9525" marB="0" anchor="ctr"/>
                </a:tc>
              </a:tr>
              <a:tr h="170045">
                <a:tc>
                  <a:txBody>
                    <a:bodyPr wrap="square"/>
                    <a:lstStyle/>
                    <a:p>
                      <a:pPr algn="l"/>
                      <a:r>
                        <a:rPr sz="1050" b="0" i="0">
                          <a:solidFill>
                            <a:srgbClr val="000000"/>
                          </a:solidFill>
                          <a:latin typeface="Calibri"/>
                        </a:rPr>
                        <a:t>Figure 199: Spain Heavy Commercial Vehicle EPS Market Value, 2026–2036, By Demand Type</a:t>
                      </a:r>
                      <a:endParaRPr sz="1050"/>
                    </a:p>
                  </a:txBody>
                  <a:tcPr marL="9525" marR="9525" marT="9525" marB="0" anchor="ctr"/>
                </a:tc>
              </a:tr>
              <a:tr h="170045">
                <a:tc>
                  <a:txBody>
                    <a:bodyPr wrap="square"/>
                    <a:lstStyle/>
                    <a:p>
                      <a:pPr algn="l"/>
                      <a:r>
                        <a:rPr sz="1050" b="0" i="0">
                          <a:solidFill>
                            <a:srgbClr val="000000"/>
                          </a:solidFill>
                          <a:latin typeface="Calibri"/>
                        </a:rPr>
                        <a:t>Figure 200: Spain Heavy Commercial Vehicle EPS Market Value, 2026–2036,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Figure 201: Spain Heavy Commercial Vehicle EPS Market Value, 2026–2036, By Propulsion Type</a:t>
                      </a:r>
                      <a:endParaRPr sz="1050"/>
                    </a:p>
                  </a:txBody>
                  <a:tcPr marL="9525" marR="9525" marT="9525" marB="0" anchor="ctr"/>
                </a:tc>
              </a:tr>
              <a:tr h="170045">
                <a:tc>
                  <a:txBody>
                    <a:bodyPr wrap="square"/>
                    <a:lstStyle/>
                    <a:p>
                      <a:pPr algn="l"/>
                      <a:r>
                        <a:rPr sz="1050" b="0" i="0">
                          <a:solidFill>
                            <a:srgbClr val="000000"/>
                          </a:solidFill>
                          <a:latin typeface="Calibri"/>
                        </a:rPr>
                        <a:t>Figure 202: BENELUX Heavy Commercial Vehicle EPS Market Value, 2026–2036, By System Architecture</a:t>
                      </a:r>
                      <a:endParaRPr sz="1050"/>
                    </a:p>
                  </a:txBody>
                  <a:tcPr marL="9525" marR="9525" marT="9525" marB="0" anchor="ctr"/>
                </a:tc>
              </a:tr>
              <a:tr h="170045">
                <a:tc>
                  <a:txBody>
                    <a:bodyPr wrap="square"/>
                    <a:lstStyle/>
                    <a:p>
                      <a:pPr algn="l"/>
                      <a:r>
                        <a:rPr sz="1050" b="0" i="0">
                          <a:solidFill>
                            <a:srgbClr val="000000"/>
                          </a:solidFill>
                          <a:latin typeface="Calibri"/>
                        </a:rPr>
                        <a:t>Figure 203: BENELUX Heavy Commercial Vehicle EPS Market Value, 2026–2036, By Vehicle Type</a:t>
                      </a:r>
                      <a:endParaRPr sz="1050"/>
                    </a:p>
                  </a:txBody>
                  <a:tcPr marL="9525" marR="9525" marT="9525" marB="0" anchor="ctr"/>
                </a:tc>
              </a:tr>
              <a:tr h="170045">
                <a:tc>
                  <a:txBody>
                    <a:bodyPr wrap="square"/>
                    <a:lstStyle/>
                    <a:p>
                      <a:pPr algn="l"/>
                      <a:r>
                        <a:rPr sz="1050" b="0" i="0">
                          <a:solidFill>
                            <a:srgbClr val="000000"/>
                          </a:solidFill>
                          <a:latin typeface="Calibri"/>
                        </a:rPr>
                        <a:t>Figure 204: BENELUX Heavy Commercial Vehicle EPS Market Value, 2026–2036, By Demand Type</a:t>
                      </a:r>
                      <a:endParaRPr sz="1050"/>
                    </a:p>
                  </a:txBody>
                  <a:tcPr marL="9525" marR="9525" marT="9525" marB="0" anchor="ctr"/>
                </a:tc>
              </a:tr>
              <a:tr h="333289">
                <a:tc>
                  <a:txBody>
                    <a:bodyPr wrap="square"/>
                    <a:lstStyle/>
                    <a:p>
                      <a:pPr algn="l"/>
                      <a:r>
                        <a:rPr sz="1050" b="0" i="0">
                          <a:solidFill>
                            <a:srgbClr val="000000"/>
                          </a:solidFill>
                          <a:latin typeface="Calibri"/>
                        </a:rPr>
                        <a:t>Figure 205: BENELUX Heavy Commercial Vehicle EPS Market Value, 2026–2036,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Figure 206: BENELUX Heavy Commercial Vehicle EPS Market Value, 2026–2036, By Propulsion Type</a:t>
                      </a:r>
                      <a:endParaRPr sz="1050"/>
                    </a:p>
                  </a:txBody>
                  <a:tcPr marL="9525" marR="9525" marT="9525" marB="0" anchor="ctr"/>
                </a:tc>
              </a:tr>
              <a:tr h="170045">
                <a:tc>
                  <a:txBody>
                    <a:bodyPr wrap="square"/>
                    <a:lstStyle/>
                    <a:p>
                      <a:pPr algn="l"/>
                      <a:r>
                        <a:rPr sz="1050" b="0" i="0">
                          <a:solidFill>
                            <a:srgbClr val="000000"/>
                          </a:solidFill>
                          <a:latin typeface="Calibri"/>
                        </a:rPr>
                        <a:t>Figure 207: Nordics Heavy Commercial Vehicle EPS Market Value, 2026–2036, By System Architecture</a:t>
                      </a:r>
                      <a:endParaRPr sz="1050"/>
                    </a:p>
                  </a:txBody>
                  <a:tcPr marL="9525" marR="9525" marT="9525" marB="0" anchor="ctr"/>
                </a:tc>
              </a:tr>
              <a:tr h="170045">
                <a:tc>
                  <a:txBody>
                    <a:bodyPr wrap="square"/>
                    <a:lstStyle/>
                    <a:p>
                      <a:pPr algn="l"/>
                      <a:r>
                        <a:rPr sz="1050" b="0" i="0">
                          <a:solidFill>
                            <a:srgbClr val="000000"/>
                          </a:solidFill>
                          <a:latin typeface="Calibri"/>
                        </a:rPr>
                        <a:t>Figure 208: Nordics Heavy Commercial Vehicle EPS Market Value, 2026–2036, By Vehicle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(6/9)</a:t>
            </a:r>
          </a:p>
        </p:txBody>
      </p:sp>
      <p:graphicFrame>
        <p:nvGraphicFramePr>
          <p:cNvPr id="9" name="FMI Contents Table"/>
          <p:cNvGraphicFramePr>
            <a:graphicFrameLocks noGrp="1"/>
          </p:cNvGraphicFramePr>
          <p:nvPr/>
        </p:nvGraphicFramePr>
        <p:xfrm>
          <a:off x="142875" y="981075"/>
          <a:ext cx="5876925" cy="5257806"/>
        </p:xfrm>
        <a:graphic>
          <a:graphicData uri="http://schemas.openxmlformats.org/drawingml/2006/table">
            <a:tbl>
              <a:tblPr>
                <a:tableStyleId>{3B4B98B0-60AC-42C2-AFA5-B58CD77FA1E5}</a:tableStyleId>
              </a:tblPr>
              <a:tblGrid>
                <a:gridCol w="5876925"/>
              </a:tblGrid>
              <a:tr h="177389">
                <a:tc>
                  <a:txBody>
                    <a:bodyPr wrap="square"/>
                    <a:lstStyle/>
                    <a:p>
                      <a:pPr algn="l"/>
                      <a:r>
                        <a:rPr sz="1050" b="0" i="0">
                          <a:solidFill>
                            <a:srgbClr val="000000"/>
                          </a:solidFill>
                          <a:latin typeface="Calibri"/>
                        </a:rPr>
                        <a:t>Figure 209: Nordics Heavy Commercial Vehicle EPS Market Value, 2026–2036, By Demand Type</a:t>
                      </a:r>
                      <a:endParaRPr sz="1050"/>
                    </a:p>
                  </a:txBody>
                  <a:tcPr marL="9525" marR="9525" marT="9525" marB="0" anchor="ctr"/>
                </a:tc>
              </a:tr>
              <a:tr h="177389">
                <a:tc>
                  <a:txBody>
                    <a:bodyPr wrap="square"/>
                    <a:lstStyle/>
                    <a:p>
                      <a:pPr algn="l"/>
                      <a:r>
                        <a:rPr sz="1050" b="0" i="0">
                          <a:solidFill>
                            <a:srgbClr val="000000"/>
                          </a:solidFill>
                          <a:latin typeface="Calibri"/>
                        </a:rPr>
                        <a:t>Figure 210: Nordics Heavy Commercial Vehicle EPS Market Value, 2026–2036, By Gross Vehicle Weight</a:t>
                      </a:r>
                      <a:endParaRPr sz="1050"/>
                    </a:p>
                  </a:txBody>
                  <a:tcPr marL="9525" marR="9525" marT="9525" marB="0" anchor="ctr"/>
                </a:tc>
              </a:tr>
              <a:tr h="177389">
                <a:tc>
                  <a:txBody>
                    <a:bodyPr wrap="square"/>
                    <a:lstStyle/>
                    <a:p>
                      <a:pPr algn="l"/>
                      <a:r>
                        <a:rPr sz="1050" b="0" i="0">
                          <a:solidFill>
                            <a:srgbClr val="000000"/>
                          </a:solidFill>
                          <a:latin typeface="Calibri"/>
                        </a:rPr>
                        <a:t>Figure 211: Nordics Heavy Commercial Vehicle EPS Market Value, 2026–2036, By Propulsion Type</a:t>
                      </a:r>
                      <a:endParaRPr sz="1050"/>
                    </a:p>
                  </a:txBody>
                  <a:tcPr marL="9525" marR="9525" marT="9525" marB="0" anchor="ctr"/>
                </a:tc>
              </a:tr>
              <a:tr h="177389">
                <a:tc>
                  <a:txBody>
                    <a:bodyPr wrap="square"/>
                    <a:lstStyle/>
                    <a:p>
                      <a:pPr algn="l"/>
                      <a:r>
                        <a:rPr sz="1050" b="0" i="0">
                          <a:solidFill>
                            <a:srgbClr val="000000"/>
                          </a:solidFill>
                          <a:latin typeface="Calibri"/>
                        </a:rPr>
                        <a:t>Figure 212: East Asia Heavy Commercial Vehicle EPS Market Value, 2021–2036</a:t>
                      </a:r>
                      <a:endParaRPr sz="1050"/>
                    </a:p>
                  </a:txBody>
                  <a:tcPr marL="9525" marR="9525" marT="9525" marB="0" anchor="ctr"/>
                </a:tc>
              </a:tr>
              <a:tr h="177389">
                <a:tc>
                  <a:txBody>
                    <a:bodyPr wrap="square"/>
                    <a:lstStyle/>
                    <a:p>
                      <a:pPr algn="l"/>
                      <a:r>
                        <a:rPr sz="1050" b="0" i="0">
                          <a:solidFill>
                            <a:srgbClr val="000000"/>
                          </a:solidFill>
                          <a:latin typeface="Calibri"/>
                        </a:rPr>
                        <a:t>Figure 213: East Asia Heavy Commercial Vehicle EPS Market Incremental $ Opportunity, 2026–2036</a:t>
                      </a:r>
                      <a:endParaRPr sz="1050"/>
                    </a:p>
                  </a:txBody>
                  <a:tcPr marL="9525" marR="9525" marT="9525" marB="0" anchor="ctr"/>
                </a:tc>
              </a:tr>
              <a:tr h="177389">
                <a:tc>
                  <a:txBody>
                    <a:bodyPr wrap="square"/>
                    <a:lstStyle/>
                    <a:p>
                      <a:pPr algn="l"/>
                      <a:r>
                        <a:rPr sz="1050" b="0" i="0">
                          <a:solidFill>
                            <a:srgbClr val="000000"/>
                          </a:solidFill>
                          <a:latin typeface="Calibri"/>
                        </a:rPr>
                        <a:t>Figure 214: East Asia Heavy Commercial Vehicle EPS Market Value, 2026–2036 By System Architecture</a:t>
                      </a:r>
                      <a:endParaRPr sz="1050"/>
                    </a:p>
                  </a:txBody>
                  <a:tcPr marL="9525" marR="9525" marT="9525" marB="0" anchor="ctr"/>
                </a:tc>
              </a:tr>
              <a:tr h="347682">
                <a:tc>
                  <a:txBody>
                    <a:bodyPr wrap="square"/>
                    <a:lstStyle/>
                    <a:p>
                      <a:pPr algn="l"/>
                      <a:r>
                        <a:rPr sz="1050" b="0" i="0">
                          <a:solidFill>
                            <a:srgbClr val="000000"/>
                          </a:solidFill>
                          <a:latin typeface="Calibri"/>
                        </a:rPr>
                        <a:t>Figure 215: East Asia Heavy Commercial Vehicle EPS Market Value, 2026–2036 Y-o-Y Comparison By System Architecture</a:t>
                      </a:r>
                      <a:endParaRPr sz="1050"/>
                    </a:p>
                  </a:txBody>
                  <a:tcPr marL="9525" marR="9525" marT="9525" marB="0" anchor="ctr"/>
                </a:tc>
              </a:tr>
              <a:tr h="347682">
                <a:tc>
                  <a:txBody>
                    <a:bodyPr wrap="square"/>
                    <a:lstStyle/>
                    <a:p>
                      <a:pPr algn="l"/>
                      <a:r>
                        <a:rPr sz="1050" b="0" i="0">
                          <a:solidFill>
                            <a:srgbClr val="000000"/>
                          </a:solidFill>
                          <a:latin typeface="Calibri"/>
                        </a:rPr>
                        <a:t>Figure 216: East Asia Heavy Commercial Vehicle EPS Market Value, 2026–2036 BPS Analysis By System Architecture</a:t>
                      </a:r>
                      <a:endParaRPr sz="1050"/>
                    </a:p>
                  </a:txBody>
                  <a:tcPr marL="9525" marR="9525" marT="9525" marB="0" anchor="ctr"/>
                </a:tc>
              </a:tr>
              <a:tr h="347682">
                <a:tc>
                  <a:txBody>
                    <a:bodyPr wrap="square"/>
                    <a:lstStyle/>
                    <a:p>
                      <a:pPr algn="l"/>
                      <a:r>
                        <a:rPr sz="1050" b="0" i="0">
                          <a:solidFill>
                            <a:srgbClr val="000000"/>
                          </a:solidFill>
                          <a:latin typeface="Calibri"/>
                        </a:rPr>
                        <a:t>Figure 217: East Asia Heavy Commercial Vehicle EPS Market Attractiveness Analysis By System Architecture</a:t>
                      </a:r>
                      <a:endParaRPr sz="1050"/>
                    </a:p>
                  </a:txBody>
                  <a:tcPr marL="9525" marR="9525" marT="9525" marB="0" anchor="ctr"/>
                </a:tc>
              </a:tr>
              <a:tr h="177389">
                <a:tc>
                  <a:txBody>
                    <a:bodyPr wrap="square"/>
                    <a:lstStyle/>
                    <a:p>
                      <a:pPr algn="l"/>
                      <a:r>
                        <a:rPr sz="1050" b="0" i="0">
                          <a:solidFill>
                            <a:srgbClr val="000000"/>
                          </a:solidFill>
                          <a:latin typeface="Calibri"/>
                        </a:rPr>
                        <a:t>Figure 218: East Asia Heavy Commercial Vehicle EPS Market Value, 2026–2036 By Vehicle Type</a:t>
                      </a:r>
                      <a:endParaRPr sz="1050"/>
                    </a:p>
                  </a:txBody>
                  <a:tcPr marL="9525" marR="9525" marT="9525" marB="0" anchor="ctr"/>
                </a:tc>
              </a:tr>
              <a:tr h="347682">
                <a:tc>
                  <a:txBody>
                    <a:bodyPr wrap="square"/>
                    <a:lstStyle/>
                    <a:p>
                      <a:pPr algn="l"/>
                      <a:r>
                        <a:rPr sz="1050" b="0" i="0">
                          <a:solidFill>
                            <a:srgbClr val="000000"/>
                          </a:solidFill>
                          <a:latin typeface="Calibri"/>
                        </a:rPr>
                        <a:t>Figure 219: East Asia Heavy Commercial Vehicle EPS Market Value, 2026–2036 Y-o-Y Comparison By Vehicle Type</a:t>
                      </a:r>
                      <a:endParaRPr sz="1050"/>
                    </a:p>
                  </a:txBody>
                  <a:tcPr marL="9525" marR="9525" marT="9525" marB="0" anchor="ctr"/>
                </a:tc>
              </a:tr>
              <a:tr h="347682">
                <a:tc>
                  <a:txBody>
                    <a:bodyPr wrap="square"/>
                    <a:lstStyle/>
                    <a:p>
                      <a:pPr algn="l"/>
                      <a:r>
                        <a:rPr sz="1050" b="0" i="0">
                          <a:solidFill>
                            <a:srgbClr val="000000"/>
                          </a:solidFill>
                          <a:latin typeface="Calibri"/>
                        </a:rPr>
                        <a:t>Figure 220: East Asia Heavy Commercial Vehicle EPS Market Value, 2026–2036 BPS Analysis By Vehicle Type</a:t>
                      </a:r>
                      <a:endParaRPr sz="1050"/>
                    </a:p>
                  </a:txBody>
                  <a:tcPr marL="9525" marR="9525" marT="9525" marB="0" anchor="ctr"/>
                </a:tc>
              </a:tr>
              <a:tr h="177389">
                <a:tc>
                  <a:txBody>
                    <a:bodyPr wrap="square"/>
                    <a:lstStyle/>
                    <a:p>
                      <a:pPr algn="l"/>
                      <a:r>
                        <a:rPr sz="1050" b="0" i="0">
                          <a:solidFill>
                            <a:srgbClr val="000000"/>
                          </a:solidFill>
                          <a:latin typeface="Calibri"/>
                        </a:rPr>
                        <a:t>Figure 221: East Asia Heavy Commercial Vehicle EPS Market Attractiveness Analysis By Vehicle Type</a:t>
                      </a:r>
                      <a:endParaRPr sz="1050"/>
                    </a:p>
                  </a:txBody>
                  <a:tcPr marL="9525" marR="9525" marT="9525" marB="0" anchor="ctr"/>
                </a:tc>
              </a:tr>
              <a:tr h="177389">
                <a:tc>
                  <a:txBody>
                    <a:bodyPr wrap="square"/>
                    <a:lstStyle/>
                    <a:p>
                      <a:pPr algn="l"/>
                      <a:r>
                        <a:rPr sz="1050" b="0" i="0">
                          <a:solidFill>
                            <a:srgbClr val="000000"/>
                          </a:solidFill>
                          <a:latin typeface="Calibri"/>
                        </a:rPr>
                        <a:t>Figure 222: East Asia Heavy Commercial Vehicle EPS Market Value, 2026–2036 By Demand Type</a:t>
                      </a:r>
                      <a:endParaRPr sz="1050"/>
                    </a:p>
                  </a:txBody>
                  <a:tcPr marL="9525" marR="9525" marT="9525" marB="0" anchor="ctr"/>
                </a:tc>
              </a:tr>
              <a:tr h="347682">
                <a:tc>
                  <a:txBody>
                    <a:bodyPr wrap="square"/>
                    <a:lstStyle/>
                    <a:p>
                      <a:pPr algn="l"/>
                      <a:r>
                        <a:rPr sz="1050" b="0" i="0">
                          <a:solidFill>
                            <a:srgbClr val="000000"/>
                          </a:solidFill>
                          <a:latin typeface="Calibri"/>
                        </a:rPr>
                        <a:t>Figure 223: East Asia Heavy Commercial Vehicle EPS Market Value, 2026–2036 Y-o-Y Comparison By Demand Type</a:t>
                      </a:r>
                      <a:endParaRPr sz="1050"/>
                    </a:p>
                  </a:txBody>
                  <a:tcPr marL="9525" marR="9525" marT="9525" marB="0" anchor="ctr"/>
                </a:tc>
              </a:tr>
              <a:tr h="347682">
                <a:tc>
                  <a:txBody>
                    <a:bodyPr wrap="square"/>
                    <a:lstStyle/>
                    <a:p>
                      <a:pPr algn="l"/>
                      <a:r>
                        <a:rPr sz="1050" b="0" i="0">
                          <a:solidFill>
                            <a:srgbClr val="000000"/>
                          </a:solidFill>
                          <a:latin typeface="Calibri"/>
                        </a:rPr>
                        <a:t>Figure 224: East Asia Heavy Commercial Vehicle EPS Market Value, 2026–2036 BPS Analysis By Demand Type</a:t>
                      </a:r>
                      <a:endParaRPr sz="1050"/>
                    </a:p>
                  </a:txBody>
                  <a:tcPr marL="9525" marR="9525" marT="9525" marB="0" anchor="ctr"/>
                </a:tc>
              </a:tr>
              <a:tr h="177389">
                <a:tc>
                  <a:txBody>
                    <a:bodyPr wrap="square"/>
                    <a:lstStyle/>
                    <a:p>
                      <a:pPr algn="l"/>
                      <a:r>
                        <a:rPr sz="1050" b="0" i="0">
                          <a:solidFill>
                            <a:srgbClr val="000000"/>
                          </a:solidFill>
                          <a:latin typeface="Calibri"/>
                        </a:rPr>
                        <a:t>Figure 225: East Asia Heavy Commercial Vehicle EPS Market Attractiveness Analysis By Demand Type</a:t>
                      </a:r>
                      <a:endParaRPr sz="1050"/>
                    </a:p>
                  </a:txBody>
                  <a:tcPr marL="9525" marR="9525" marT="9525" marB="0" anchor="ctr"/>
                </a:tc>
              </a:tr>
              <a:tr h="177389">
                <a:tc>
                  <a:txBody>
                    <a:bodyPr wrap="square"/>
                    <a:lstStyle/>
                    <a:p>
                      <a:pPr algn="l"/>
                      <a:r>
                        <a:rPr sz="1050" b="0" i="0">
                          <a:solidFill>
                            <a:srgbClr val="000000"/>
                          </a:solidFill>
                          <a:latin typeface="Calibri"/>
                        </a:rPr>
                        <a:t>Figure 226: East Asia Heavy Commercial Vehicle EPS Market Value, 2026–2036 By Propulsion Type</a:t>
                      </a:r>
                      <a:endParaRPr sz="1050"/>
                    </a:p>
                  </a:txBody>
                  <a:tcPr marL="9525" marR="9525" marT="9525" marB="0" anchor="ctr"/>
                </a:tc>
              </a:tr>
              <a:tr h="347682">
                <a:tc>
                  <a:txBody>
                    <a:bodyPr wrap="square"/>
                    <a:lstStyle/>
                    <a:p>
                      <a:pPr algn="l"/>
                      <a:r>
                        <a:rPr sz="1050" b="0" i="0">
                          <a:solidFill>
                            <a:srgbClr val="000000"/>
                          </a:solidFill>
                          <a:latin typeface="Calibri"/>
                        </a:rPr>
                        <a:t>Figure 227: East Asia Heavy Commercial Vehicle EPS Market Value, 2026–2036 Y-o-Y Comparison By Propulsion Type</a:t>
                      </a:r>
                      <a:endParaRPr sz="1050"/>
                    </a:p>
                  </a:txBody>
                  <a:tcPr marL="9525" marR="9525" marT="9525" marB="0" anchor="ctr"/>
                </a:tc>
              </a:tr>
              <a:tr h="347682">
                <a:tc>
                  <a:txBody>
                    <a:bodyPr wrap="square"/>
                    <a:lstStyle/>
                    <a:p>
                      <a:pPr algn="l"/>
                      <a:r>
                        <a:rPr sz="1050" b="0" i="0">
                          <a:solidFill>
                            <a:srgbClr val="000000"/>
                          </a:solidFill>
                          <a:latin typeface="Calibri"/>
                        </a:rPr>
                        <a:t>Figure 228: East Asia Heavy Commercial Vehicle EPS Market Value, 2026–2036 BPS Analysis By Propulsion Type</a:t>
                      </a:r>
                      <a:endParaRPr sz="1050"/>
                    </a:p>
                  </a:txBody>
                  <a:tcPr marL="9525" marR="9525" marT="9525" marB="0" anchor="ctr"/>
                </a:tc>
              </a:tr>
              <a:tr h="177389">
                <a:tc>
                  <a:txBody>
                    <a:bodyPr wrap="square"/>
                    <a:lstStyle/>
                    <a:p>
                      <a:pPr algn="l"/>
                      <a:r>
                        <a:rPr sz="1050" b="0" i="0">
                          <a:solidFill>
                            <a:srgbClr val="000000"/>
                          </a:solidFill>
                          <a:latin typeface="Calibri"/>
                        </a:rPr>
                        <a:t>Figure 229: East Asia Heavy Commercial Vehicle EPS Market Attractiveness Analysis By Propulsion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335459">
                <a:tc>
                  <a:txBody>
                    <a:bodyPr wrap="square"/>
                    <a:lstStyle/>
                    <a:p>
                      <a:pPr algn="l"/>
                      <a:r>
                        <a:rPr sz="1050" b="0" i="0">
                          <a:solidFill>
                            <a:srgbClr val="000000"/>
                          </a:solidFill>
                          <a:latin typeface="Calibri"/>
                        </a:rPr>
                        <a:t>Figure 230: East Asia Heavy Commercial Vehicle EPS Market Value, 2026–2036 By Gross Vehicle Weight</a:t>
                      </a:r>
                      <a:endParaRPr sz="1050"/>
                    </a:p>
                  </a:txBody>
                  <a:tcPr marL="9525" marR="9525" marT="9525" marB="0" anchor="ctr"/>
                </a:tc>
              </a:tr>
              <a:tr h="335459">
                <a:tc>
                  <a:txBody>
                    <a:bodyPr wrap="square"/>
                    <a:lstStyle/>
                    <a:p>
                      <a:pPr algn="l"/>
                      <a:r>
                        <a:rPr sz="1050" b="0" i="0">
                          <a:solidFill>
                            <a:srgbClr val="000000"/>
                          </a:solidFill>
                          <a:latin typeface="Calibri"/>
                        </a:rPr>
                        <a:t>Figure 231: East Asia Heavy Commercial Vehicle EPS Market Value, 2026–2036 Y-o-Y Comparison By Gross Vehicle Weight</a:t>
                      </a:r>
                      <a:endParaRPr sz="1050"/>
                    </a:p>
                  </a:txBody>
                  <a:tcPr marL="9525" marR="9525" marT="9525" marB="0" anchor="ctr"/>
                </a:tc>
              </a:tr>
              <a:tr h="335459">
                <a:tc>
                  <a:txBody>
                    <a:bodyPr wrap="square"/>
                    <a:lstStyle/>
                    <a:p>
                      <a:pPr algn="l"/>
                      <a:r>
                        <a:rPr sz="1050" b="0" i="0">
                          <a:solidFill>
                            <a:srgbClr val="000000"/>
                          </a:solidFill>
                          <a:latin typeface="Calibri"/>
                        </a:rPr>
                        <a:t>Figure 232: East Asia Heavy Commercial Vehicle EPS Market Value, 2026–2036 BPS Analysis By Gross Vehicle Weight</a:t>
                      </a:r>
                      <a:endParaRPr sz="1050"/>
                    </a:p>
                  </a:txBody>
                  <a:tcPr marL="9525" marR="9525" marT="9525" marB="0" anchor="ctr"/>
                </a:tc>
              </a:tr>
              <a:tr h="335459">
                <a:tc>
                  <a:txBody>
                    <a:bodyPr wrap="square"/>
                    <a:lstStyle/>
                    <a:p>
                      <a:pPr algn="l"/>
                      <a:r>
                        <a:rPr sz="1050" b="0" i="0">
                          <a:solidFill>
                            <a:srgbClr val="000000"/>
                          </a:solidFill>
                          <a:latin typeface="Calibri"/>
                        </a:rPr>
                        <a:t>Figure 233: East Asia Heavy Commercial Vehicle EPS Market Attractiveness Analysis By Gross Vehicle Weight</a:t>
                      </a:r>
                      <a:endParaRPr sz="1050"/>
                    </a:p>
                  </a:txBody>
                  <a:tcPr marL="9525" marR="9525" marT="9525" marB="0" anchor="ctr"/>
                </a:tc>
              </a:tr>
              <a:tr h="171152">
                <a:tc>
                  <a:txBody>
                    <a:bodyPr wrap="square"/>
                    <a:lstStyle/>
                    <a:p>
                      <a:pPr algn="l"/>
                      <a:r>
                        <a:rPr sz="1050" b="0" i="0">
                          <a:solidFill>
                            <a:srgbClr val="000000"/>
                          </a:solidFill>
                          <a:latin typeface="Calibri"/>
                        </a:rPr>
                        <a:t>Figure 234: East Asia Heavy Commercial Vehicle EPS Market Value, 2026–2036 By Country</a:t>
                      </a:r>
                      <a:endParaRPr sz="1050"/>
                    </a:p>
                  </a:txBody>
                  <a:tcPr marL="9525" marR="9525" marT="9525" marB="0" anchor="ctr"/>
                </a:tc>
              </a:tr>
              <a:tr h="335459">
                <a:tc>
                  <a:txBody>
                    <a:bodyPr wrap="square"/>
                    <a:lstStyle/>
                    <a:p>
                      <a:pPr algn="l"/>
                      <a:r>
                        <a:rPr sz="1050" b="0" i="0">
                          <a:solidFill>
                            <a:srgbClr val="000000"/>
                          </a:solidFill>
                          <a:latin typeface="Calibri"/>
                        </a:rPr>
                        <a:t>Figure 235: East Asia Heavy Commercial Vehicle EPS Market Value, 2026–2036 Y-o-Y Comparison By Country</a:t>
                      </a:r>
                      <a:endParaRPr sz="1050"/>
                    </a:p>
                  </a:txBody>
                  <a:tcPr marL="9525" marR="9525" marT="9525" marB="0" anchor="ctr"/>
                </a:tc>
              </a:tr>
              <a:tr h="171152">
                <a:tc>
                  <a:txBody>
                    <a:bodyPr wrap="square"/>
                    <a:lstStyle/>
                    <a:p>
                      <a:pPr algn="l"/>
                      <a:r>
                        <a:rPr sz="1050" b="0" i="0">
                          <a:solidFill>
                            <a:srgbClr val="000000"/>
                          </a:solidFill>
                          <a:latin typeface="Calibri"/>
                        </a:rPr>
                        <a:t>Figure 236: East Asia Heavy Commercial Vehicle EPS Market Value, 2026–2036 BPS Analysis By Country</a:t>
                      </a:r>
                      <a:endParaRPr sz="1050"/>
                    </a:p>
                  </a:txBody>
                  <a:tcPr marL="9525" marR="9525" marT="9525" marB="0" anchor="ctr"/>
                </a:tc>
              </a:tr>
              <a:tr h="171152">
                <a:tc>
                  <a:txBody>
                    <a:bodyPr wrap="square"/>
                    <a:lstStyle/>
                    <a:p>
                      <a:pPr algn="l"/>
                      <a:r>
                        <a:rPr sz="1050" b="0" i="0">
                          <a:solidFill>
                            <a:srgbClr val="000000"/>
                          </a:solidFill>
                          <a:latin typeface="Calibri"/>
                        </a:rPr>
                        <a:t>Figure 237: East Asia Heavy Commercial Vehicle EPS Market Attractiveness Analysis By Country</a:t>
                      </a:r>
                      <a:endParaRPr sz="1050"/>
                    </a:p>
                  </a:txBody>
                  <a:tcPr marL="9525" marR="9525" marT="9525" marB="0" anchor="ctr"/>
                </a:tc>
              </a:tr>
              <a:tr h="171152">
                <a:tc>
                  <a:txBody>
                    <a:bodyPr wrap="square"/>
                    <a:lstStyle/>
                    <a:p>
                      <a:pPr algn="l"/>
                      <a:r>
                        <a:rPr sz="1050" b="0" i="0">
                          <a:solidFill>
                            <a:srgbClr val="000000"/>
                          </a:solidFill>
                          <a:latin typeface="Calibri"/>
                        </a:rPr>
                        <a:t>Figure 238: China Heavy Commercial Vehicle EPS Market Value, 2026–2036, By System Architecture</a:t>
                      </a:r>
                      <a:endParaRPr sz="1050"/>
                    </a:p>
                  </a:txBody>
                  <a:tcPr marL="9525" marR="9525" marT="9525" marB="0" anchor="ctr"/>
                </a:tc>
              </a:tr>
              <a:tr h="171152">
                <a:tc>
                  <a:txBody>
                    <a:bodyPr wrap="square"/>
                    <a:lstStyle/>
                    <a:p>
                      <a:pPr algn="l"/>
                      <a:r>
                        <a:rPr sz="1050" b="0" i="0">
                          <a:solidFill>
                            <a:srgbClr val="000000"/>
                          </a:solidFill>
                          <a:latin typeface="Calibri"/>
                        </a:rPr>
                        <a:t>Figure 239: China Heavy Commercial Vehicle EPS Market Value, 2026–2036, By Vehicle Type</a:t>
                      </a:r>
                      <a:endParaRPr sz="1050"/>
                    </a:p>
                  </a:txBody>
                  <a:tcPr marL="9525" marR="9525" marT="9525" marB="0" anchor="ctr"/>
                </a:tc>
              </a:tr>
              <a:tr h="171152">
                <a:tc>
                  <a:txBody>
                    <a:bodyPr wrap="square"/>
                    <a:lstStyle/>
                    <a:p>
                      <a:pPr algn="l"/>
                      <a:r>
                        <a:rPr sz="1050" b="0" i="0">
                          <a:solidFill>
                            <a:srgbClr val="000000"/>
                          </a:solidFill>
                          <a:latin typeface="Calibri"/>
                        </a:rPr>
                        <a:t>Figure 240: China Heavy Commercial Vehicle EPS Market Value, 2026–2036, By Demand Type</a:t>
                      </a:r>
                      <a:endParaRPr sz="1050"/>
                    </a:p>
                  </a:txBody>
                  <a:tcPr marL="9525" marR="9525" marT="9525" marB="0" anchor="ctr"/>
                </a:tc>
              </a:tr>
              <a:tr h="171152">
                <a:tc>
                  <a:txBody>
                    <a:bodyPr wrap="square"/>
                    <a:lstStyle/>
                    <a:p>
                      <a:pPr algn="l"/>
                      <a:r>
                        <a:rPr sz="1050" b="0" i="0">
                          <a:solidFill>
                            <a:srgbClr val="000000"/>
                          </a:solidFill>
                          <a:latin typeface="Calibri"/>
                        </a:rPr>
                        <a:t>Figure 241: China Heavy Commercial Vehicle EPS Market Value, 2026–2036,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Figure 242: China Heavy Commercial Vehicle EPS Market Value, 2026–2036, By Propulsion Type</a:t>
                      </a:r>
                      <a:endParaRPr sz="1050"/>
                    </a:p>
                  </a:txBody>
                  <a:tcPr marL="9525" marR="9525" marT="9525" marB="0" anchor="ctr"/>
                </a:tc>
              </a:tr>
              <a:tr h="171152">
                <a:tc>
                  <a:txBody>
                    <a:bodyPr wrap="square"/>
                    <a:lstStyle/>
                    <a:p>
                      <a:pPr algn="l"/>
                      <a:r>
                        <a:rPr sz="1050" b="0" i="0">
                          <a:solidFill>
                            <a:srgbClr val="000000"/>
                          </a:solidFill>
                          <a:latin typeface="Calibri"/>
                        </a:rPr>
                        <a:t>Figure 243: Japan Heavy Commercial Vehicle EPS Market Value, 2026–2036, By System Architecture</a:t>
                      </a:r>
                      <a:endParaRPr sz="1050"/>
                    </a:p>
                  </a:txBody>
                  <a:tcPr marL="9525" marR="9525" marT="9525" marB="0" anchor="ctr"/>
                </a:tc>
              </a:tr>
              <a:tr h="171152">
                <a:tc>
                  <a:txBody>
                    <a:bodyPr wrap="square"/>
                    <a:lstStyle/>
                    <a:p>
                      <a:pPr algn="l"/>
                      <a:r>
                        <a:rPr sz="1050" b="0" i="0">
                          <a:solidFill>
                            <a:srgbClr val="000000"/>
                          </a:solidFill>
                          <a:latin typeface="Calibri"/>
                        </a:rPr>
                        <a:t>Figure 244: Japan Heavy Commercial Vehicle EPS Market Value, 2026–2036, By Vehicle Type</a:t>
                      </a:r>
                      <a:endParaRPr sz="1050"/>
                    </a:p>
                  </a:txBody>
                  <a:tcPr marL="9525" marR="9525" marT="9525" marB="0" anchor="ctr"/>
                </a:tc>
              </a:tr>
              <a:tr h="171152">
                <a:tc>
                  <a:txBody>
                    <a:bodyPr wrap="square"/>
                    <a:lstStyle/>
                    <a:p>
                      <a:pPr algn="l"/>
                      <a:r>
                        <a:rPr sz="1050" b="0" i="0">
                          <a:solidFill>
                            <a:srgbClr val="000000"/>
                          </a:solidFill>
                          <a:latin typeface="Calibri"/>
                        </a:rPr>
                        <a:t>Figure 245: Japan Heavy Commercial Vehicle EPS Market Value, 2026–2036, By Demand Type</a:t>
                      </a:r>
                      <a:endParaRPr sz="1050"/>
                    </a:p>
                  </a:txBody>
                  <a:tcPr marL="9525" marR="9525" marT="9525" marB="0" anchor="ctr"/>
                </a:tc>
              </a:tr>
              <a:tr h="171152">
                <a:tc>
                  <a:txBody>
                    <a:bodyPr wrap="square"/>
                    <a:lstStyle/>
                    <a:p>
                      <a:pPr algn="l"/>
                      <a:r>
                        <a:rPr sz="1050" b="0" i="0">
                          <a:solidFill>
                            <a:srgbClr val="000000"/>
                          </a:solidFill>
                          <a:latin typeface="Calibri"/>
                        </a:rPr>
                        <a:t>Figure 246: Japan Heavy Commercial Vehicle EPS Market Value, 2026–2036,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Figure 247: Japan Heavy Commercial Vehicle EPS Market Value, 2026–2036, By Propulsion Type</a:t>
                      </a:r>
                      <a:endParaRPr sz="1050"/>
                    </a:p>
                  </a:txBody>
                  <a:tcPr marL="9525" marR="9525" marT="9525" marB="0" anchor="ctr"/>
                </a:tc>
              </a:tr>
              <a:tr h="335459">
                <a:tc>
                  <a:txBody>
                    <a:bodyPr wrap="square"/>
                    <a:lstStyle/>
                    <a:p>
                      <a:pPr algn="l"/>
                      <a:r>
                        <a:rPr sz="1050" b="0" i="0">
                          <a:solidFill>
                            <a:srgbClr val="000000"/>
                          </a:solidFill>
                          <a:latin typeface="Calibri"/>
                        </a:rPr>
                        <a:t>Figure 248: South Korea Heavy Commercial Vehicle EPS Market Value, 2026–2036, By System Architecture</a:t>
                      </a:r>
                      <a:endParaRPr sz="1050"/>
                    </a:p>
                  </a:txBody>
                  <a:tcPr marL="9525" marR="9525" marT="9525" marB="0" anchor="ctr"/>
                </a:tc>
              </a:tr>
              <a:tr h="171152">
                <a:tc>
                  <a:txBody>
                    <a:bodyPr wrap="square"/>
                    <a:lstStyle/>
                    <a:p>
                      <a:pPr algn="l"/>
                      <a:r>
                        <a:rPr sz="1050" b="0" i="0">
                          <a:solidFill>
                            <a:srgbClr val="000000"/>
                          </a:solidFill>
                          <a:latin typeface="Calibri"/>
                        </a:rPr>
                        <a:t>Figure 249: South Korea Heavy Commercial Vehicle EPS Market Value, 2026–2036, By Vehicle Type</a:t>
                      </a:r>
                      <a:endParaRPr sz="1050"/>
                    </a:p>
                  </a:txBody>
                  <a:tcPr marL="9525" marR="9525" marT="9525" marB="0" anchor="ctr"/>
                </a:tc>
              </a:tr>
              <a:tr h="171152">
                <a:tc>
                  <a:txBody>
                    <a:bodyPr wrap="square"/>
                    <a:lstStyle/>
                    <a:p>
                      <a:pPr algn="l"/>
                      <a:r>
                        <a:rPr sz="1050" b="0" i="0">
                          <a:solidFill>
                            <a:srgbClr val="000000"/>
                          </a:solidFill>
                          <a:latin typeface="Calibri"/>
                        </a:rPr>
                        <a:t>Figure 250: South Korea Heavy Commercial Vehicle EPS Market Value, 2026–2036, By Demand Type</a:t>
                      </a:r>
                      <a:endParaRPr sz="1050"/>
                    </a:p>
                  </a:txBody>
                  <a:tcPr marL="9525" marR="9525" marT="9525" marB="0" anchor="ctr"/>
                </a:tc>
              </a:tr>
              <a:tr h="335459">
                <a:tc>
                  <a:txBody>
                    <a:bodyPr wrap="square"/>
                    <a:lstStyle/>
                    <a:p>
                      <a:pPr algn="l"/>
                      <a:r>
                        <a:rPr sz="1050" b="0" i="0">
                          <a:solidFill>
                            <a:srgbClr val="000000"/>
                          </a:solidFill>
                          <a:latin typeface="Calibri"/>
                        </a:rPr>
                        <a:t>Figure 251: South Korea Heavy Commercial Vehicle EPS Market Value, 2026–2036,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Figure 252: South Korea Heavy Commercial Vehicle EPS Market Value, 2026–2036, By Propulsion Type</a:t>
                      </a:r>
                      <a:endParaRPr sz="1050"/>
                    </a:p>
                  </a:txBody>
                  <a:tcPr marL="9525" marR="9525" marT="9525" marB="0" anchor="ctr"/>
                </a:tc>
              </a:tr>
              <a:tr h="171152">
                <a:tc>
                  <a:txBody>
                    <a:bodyPr wrap="square"/>
                    <a:lstStyle/>
                    <a:p>
                      <a:pPr algn="l"/>
                      <a:r>
                        <a:rPr sz="1050" b="0" i="0">
                          <a:solidFill>
                            <a:srgbClr val="000000"/>
                          </a:solidFill>
                          <a:latin typeface="Calibri"/>
                        </a:rPr>
                        <a:t>Figure 253: South Asia &amp; Pacific Heavy Commercial Vehicle EPS Market Value,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(7/9)</a:t>
            </a:r>
          </a:p>
        </p:txBody>
      </p:sp>
      <p:graphicFrame>
        <p:nvGraphicFramePr>
          <p:cNvPr id="9" name="FMI Contents Table"/>
          <p:cNvGraphicFramePr>
            <a:graphicFrameLocks noGrp="1"/>
          </p:cNvGraphicFramePr>
          <p:nvPr/>
        </p:nvGraphicFramePr>
        <p:xfrm>
          <a:off x="142875" y="981075"/>
          <a:ext cx="5876925" cy="5257792"/>
        </p:xfrm>
        <a:graphic>
          <a:graphicData uri="http://schemas.openxmlformats.org/drawingml/2006/table">
            <a:tbl>
              <a:tblPr>
                <a:tableStyleId>{3B4B98B0-60AC-42C2-AFA5-B58CD77FA1E5}</a:tableStyleId>
              </a:tblPr>
              <a:tblGrid>
                <a:gridCol w="5876925"/>
              </a:tblGrid>
              <a:tr h="328612">
                <a:tc>
                  <a:txBody>
                    <a:bodyPr wrap="square"/>
                    <a:lstStyle/>
                    <a:p>
                      <a:pPr algn="l"/>
                      <a:r>
                        <a:rPr sz="1050" b="0" i="0">
                          <a:solidFill>
                            <a:srgbClr val="000000"/>
                          </a:solidFill>
                          <a:latin typeface="Calibri"/>
                        </a:rPr>
                        <a:t>Figure 254: South Asia &amp; Pacific Heavy Commercial Vehicle EPS Market Incremental $ Opportunity, 2026–2036</a:t>
                      </a:r>
                      <a:endParaRPr sz="1050"/>
                    </a:p>
                  </a:txBody>
                  <a:tcPr marL="9525" marR="9525" marT="9525" marB="0" anchor="ctr"/>
                </a:tc>
              </a:tr>
              <a:tr h="328612">
                <a:tc>
                  <a:txBody>
                    <a:bodyPr wrap="square"/>
                    <a:lstStyle/>
                    <a:p>
                      <a:pPr algn="l"/>
                      <a:r>
                        <a:rPr sz="1050" b="0" i="0">
                          <a:solidFill>
                            <a:srgbClr val="000000"/>
                          </a:solidFill>
                          <a:latin typeface="Calibri"/>
                        </a:rPr>
                        <a:t>Figure 255: South Asia &amp; Pacific Heavy Commercial Vehicle EPS Market Value, 2026–2036 By System Architecture</a:t>
                      </a:r>
                      <a:endParaRPr sz="1050"/>
                    </a:p>
                  </a:txBody>
                  <a:tcPr marL="9525" marR="9525" marT="9525" marB="0" anchor="ctr"/>
                </a:tc>
              </a:tr>
              <a:tr h="328612">
                <a:tc>
                  <a:txBody>
                    <a:bodyPr wrap="square"/>
                    <a:lstStyle/>
                    <a:p>
                      <a:pPr algn="l"/>
                      <a:r>
                        <a:rPr sz="1050" b="0" i="0">
                          <a:solidFill>
                            <a:srgbClr val="000000"/>
                          </a:solidFill>
                          <a:latin typeface="Calibri"/>
                        </a:rPr>
                        <a:t>Figure 256: South Asia &amp; Pacific Heavy Commercial Vehicle EPS Market Value, 2026–2036 Y-o-Y Comparison By System Architecture</a:t>
                      </a:r>
                      <a:endParaRPr sz="1050"/>
                    </a:p>
                  </a:txBody>
                  <a:tcPr marL="9525" marR="9525" marT="9525" marB="0" anchor="ctr"/>
                </a:tc>
              </a:tr>
              <a:tr h="328612">
                <a:tc>
                  <a:txBody>
                    <a:bodyPr wrap="square"/>
                    <a:lstStyle/>
                    <a:p>
                      <a:pPr algn="l"/>
                      <a:r>
                        <a:rPr sz="1050" b="0" i="0">
                          <a:solidFill>
                            <a:srgbClr val="000000"/>
                          </a:solidFill>
                          <a:latin typeface="Calibri"/>
                        </a:rPr>
                        <a:t>Figure 257: South Asia &amp; Pacific Heavy Commercial Vehicle EPS Market Value, 2026–2036 BPS Analysis By System Architecture</a:t>
                      </a:r>
                      <a:endParaRPr sz="1050"/>
                    </a:p>
                  </a:txBody>
                  <a:tcPr marL="9525" marR="9525" marT="9525" marB="0" anchor="ctr"/>
                </a:tc>
              </a:tr>
              <a:tr h="328612">
                <a:tc>
                  <a:txBody>
                    <a:bodyPr wrap="square"/>
                    <a:lstStyle/>
                    <a:p>
                      <a:pPr algn="l"/>
                      <a:r>
                        <a:rPr sz="1050" b="0" i="0">
                          <a:solidFill>
                            <a:srgbClr val="000000"/>
                          </a:solidFill>
                          <a:latin typeface="Calibri"/>
                        </a:rPr>
                        <a:t>Figure 258: South Asia &amp; Pacific Heavy Commercial Vehicle EPS Market Attractiveness Analysis By System Architecture</a:t>
                      </a:r>
                      <a:endParaRPr sz="1050"/>
                    </a:p>
                  </a:txBody>
                  <a:tcPr marL="9525" marR="9525" marT="9525" marB="0" anchor="ctr"/>
                </a:tc>
              </a:tr>
              <a:tr h="328612">
                <a:tc>
                  <a:txBody>
                    <a:bodyPr wrap="square"/>
                    <a:lstStyle/>
                    <a:p>
                      <a:pPr algn="l"/>
                      <a:r>
                        <a:rPr sz="1050" b="0" i="0">
                          <a:solidFill>
                            <a:srgbClr val="000000"/>
                          </a:solidFill>
                          <a:latin typeface="Calibri"/>
                        </a:rPr>
                        <a:t>Figure 259: South Asia &amp; Pacific Heavy Commercial Vehicle EPS Market Value, 2026–2036 By Vehicle Type</a:t>
                      </a:r>
                      <a:endParaRPr sz="1050"/>
                    </a:p>
                  </a:txBody>
                  <a:tcPr marL="9525" marR="9525" marT="9525" marB="0" anchor="ctr"/>
                </a:tc>
              </a:tr>
              <a:tr h="328612">
                <a:tc>
                  <a:txBody>
                    <a:bodyPr wrap="square"/>
                    <a:lstStyle/>
                    <a:p>
                      <a:pPr algn="l"/>
                      <a:r>
                        <a:rPr sz="1050" b="0" i="0">
                          <a:solidFill>
                            <a:srgbClr val="000000"/>
                          </a:solidFill>
                          <a:latin typeface="Calibri"/>
                        </a:rPr>
                        <a:t>Figure 260: South Asia &amp; Pacific Heavy Commercial Vehicle EPS Market Value, 2026–2036 Y-o-Y Comparison By Vehicle Type</a:t>
                      </a:r>
                      <a:endParaRPr sz="1050"/>
                    </a:p>
                  </a:txBody>
                  <a:tcPr marL="9525" marR="9525" marT="9525" marB="0" anchor="ctr"/>
                </a:tc>
              </a:tr>
              <a:tr h="328612">
                <a:tc>
                  <a:txBody>
                    <a:bodyPr wrap="square"/>
                    <a:lstStyle/>
                    <a:p>
                      <a:pPr algn="l"/>
                      <a:r>
                        <a:rPr sz="1050" b="0" i="0">
                          <a:solidFill>
                            <a:srgbClr val="000000"/>
                          </a:solidFill>
                          <a:latin typeface="Calibri"/>
                        </a:rPr>
                        <a:t>Figure 261: South Asia &amp; Pacific Heavy Commercial Vehicle EPS Market Value, 2026–2036 BPS Analysis By Vehicle Type</a:t>
                      </a:r>
                      <a:endParaRPr sz="1050"/>
                    </a:p>
                  </a:txBody>
                  <a:tcPr marL="9525" marR="9525" marT="9525" marB="0" anchor="ctr"/>
                </a:tc>
              </a:tr>
              <a:tr h="328612">
                <a:tc>
                  <a:txBody>
                    <a:bodyPr wrap="square"/>
                    <a:lstStyle/>
                    <a:p>
                      <a:pPr algn="l"/>
                      <a:r>
                        <a:rPr sz="1050" b="0" i="0">
                          <a:solidFill>
                            <a:srgbClr val="000000"/>
                          </a:solidFill>
                          <a:latin typeface="Calibri"/>
                        </a:rPr>
                        <a:t>Figure 262: South Asia &amp; Pacific Heavy Commercial Vehicle EPS Market Attractiveness Analysis By Vehicle Type</a:t>
                      </a:r>
                      <a:endParaRPr sz="1050"/>
                    </a:p>
                  </a:txBody>
                  <a:tcPr marL="9525" marR="9525" marT="9525" marB="0" anchor="ctr"/>
                </a:tc>
              </a:tr>
              <a:tr h="328612">
                <a:tc>
                  <a:txBody>
                    <a:bodyPr wrap="square"/>
                    <a:lstStyle/>
                    <a:p>
                      <a:pPr algn="l"/>
                      <a:r>
                        <a:rPr sz="1050" b="0" i="0">
                          <a:solidFill>
                            <a:srgbClr val="000000"/>
                          </a:solidFill>
                          <a:latin typeface="Calibri"/>
                        </a:rPr>
                        <a:t>Figure 263: South Asia &amp; Pacific Heavy Commercial Vehicle EPS Market Value, 2026–2036 By Demand Type</a:t>
                      </a:r>
                      <a:endParaRPr sz="1050"/>
                    </a:p>
                  </a:txBody>
                  <a:tcPr marL="9525" marR="9525" marT="9525" marB="0" anchor="ctr"/>
                </a:tc>
              </a:tr>
              <a:tr h="328612">
                <a:tc>
                  <a:txBody>
                    <a:bodyPr wrap="square"/>
                    <a:lstStyle/>
                    <a:p>
                      <a:pPr algn="l"/>
                      <a:r>
                        <a:rPr sz="1050" b="0" i="0">
                          <a:solidFill>
                            <a:srgbClr val="000000"/>
                          </a:solidFill>
                          <a:latin typeface="Calibri"/>
                        </a:rPr>
                        <a:t>Figure 264: South Asia &amp; Pacific Heavy Commercial Vehicle EPS Market Value, 2026–2036 Y-o-Y Comparison By Demand Type</a:t>
                      </a:r>
                      <a:endParaRPr sz="1050"/>
                    </a:p>
                  </a:txBody>
                  <a:tcPr marL="9525" marR="9525" marT="9525" marB="0" anchor="ctr"/>
                </a:tc>
              </a:tr>
              <a:tr h="328612">
                <a:tc>
                  <a:txBody>
                    <a:bodyPr wrap="square"/>
                    <a:lstStyle/>
                    <a:p>
                      <a:pPr algn="l"/>
                      <a:r>
                        <a:rPr sz="1050" b="0" i="0">
                          <a:solidFill>
                            <a:srgbClr val="000000"/>
                          </a:solidFill>
                          <a:latin typeface="Calibri"/>
                        </a:rPr>
                        <a:t>Figure 265: South Asia &amp; Pacific Heavy Commercial Vehicle EPS Market Value, 2026–2036 BPS Analysis By Demand Type</a:t>
                      </a:r>
                      <a:endParaRPr sz="1050"/>
                    </a:p>
                  </a:txBody>
                  <a:tcPr marL="9525" marR="9525" marT="9525" marB="0" anchor="ctr"/>
                </a:tc>
              </a:tr>
              <a:tr h="328612">
                <a:tc>
                  <a:txBody>
                    <a:bodyPr wrap="square"/>
                    <a:lstStyle/>
                    <a:p>
                      <a:pPr algn="l"/>
                      <a:r>
                        <a:rPr sz="1050" b="0" i="0">
                          <a:solidFill>
                            <a:srgbClr val="000000"/>
                          </a:solidFill>
                          <a:latin typeface="Calibri"/>
                        </a:rPr>
                        <a:t>Figure 266: South Asia &amp; Pacific Heavy Commercial Vehicle EPS Market Attractiveness Analysis By Demand Type</a:t>
                      </a:r>
                      <a:endParaRPr sz="1050"/>
                    </a:p>
                  </a:txBody>
                  <a:tcPr marL="9525" marR="9525" marT="9525" marB="0" anchor="ctr"/>
                </a:tc>
              </a:tr>
              <a:tr h="328612">
                <a:tc>
                  <a:txBody>
                    <a:bodyPr wrap="square"/>
                    <a:lstStyle/>
                    <a:p>
                      <a:pPr algn="l"/>
                      <a:r>
                        <a:rPr sz="1050" b="0" i="0">
                          <a:solidFill>
                            <a:srgbClr val="000000"/>
                          </a:solidFill>
                          <a:latin typeface="Calibri"/>
                        </a:rPr>
                        <a:t>Figure 267: South Asia &amp; Pacific Heavy Commercial Vehicle EPS Market Value, 2026–2036 By Propulsion Type</a:t>
                      </a:r>
                      <a:endParaRPr sz="1050"/>
                    </a:p>
                  </a:txBody>
                  <a:tcPr marL="9525" marR="9525" marT="9525" marB="0" anchor="ctr"/>
                </a:tc>
              </a:tr>
              <a:tr h="328612">
                <a:tc>
                  <a:txBody>
                    <a:bodyPr wrap="square"/>
                    <a:lstStyle/>
                    <a:p>
                      <a:pPr algn="l"/>
                      <a:r>
                        <a:rPr sz="1050" b="0" i="0">
                          <a:solidFill>
                            <a:srgbClr val="000000"/>
                          </a:solidFill>
                          <a:latin typeface="Calibri"/>
                        </a:rPr>
                        <a:t>Figure 268: South Asia &amp; Pacific Heavy Commercial Vehicle EPS Market Value, 2026–2036 Y-o-Y Comparison By Propulsion Type</a:t>
                      </a:r>
                      <a:endParaRPr sz="1050"/>
                    </a:p>
                  </a:txBody>
                  <a:tcPr marL="9525" marR="9525" marT="9525" marB="0" anchor="ctr"/>
                </a:tc>
              </a:tr>
              <a:tr h="328612">
                <a:tc>
                  <a:txBody>
                    <a:bodyPr wrap="square"/>
                    <a:lstStyle/>
                    <a:p>
                      <a:pPr algn="l"/>
                      <a:r>
                        <a:rPr sz="1050" b="0" i="0">
                          <a:solidFill>
                            <a:srgbClr val="000000"/>
                          </a:solidFill>
                          <a:latin typeface="Calibri"/>
                        </a:rPr>
                        <a:t>Figure 269: South Asia &amp; Pacific Heavy Commercial Vehicle EPS Market Value, 2026–2036 BPS Analysis By Propulsion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4"/>
        </p:xfrm>
        <a:graphic>
          <a:graphicData uri="http://schemas.openxmlformats.org/drawingml/2006/table">
            <a:tbl>
              <a:tblPr>
                <a:tableStyleId>{3B4B98B0-60AC-42C2-AFA5-B58CD77FA1E5}</a:tableStyleId>
              </a:tblPr>
              <a:tblGrid>
                <a:gridCol w="5876925"/>
              </a:tblGrid>
              <a:tr h="336774">
                <a:tc>
                  <a:txBody>
                    <a:bodyPr wrap="square"/>
                    <a:lstStyle/>
                    <a:p>
                      <a:pPr algn="l"/>
                      <a:r>
                        <a:rPr sz="1050" b="0" i="0">
                          <a:solidFill>
                            <a:srgbClr val="000000"/>
                          </a:solidFill>
                          <a:latin typeface="Calibri"/>
                        </a:rPr>
                        <a:t>Figure 270: South Asia &amp; Pacific Heavy Commercial Vehicle EPS Market Attractiveness Analysis By Propulsion Type</a:t>
                      </a:r>
                      <a:endParaRPr sz="1050"/>
                    </a:p>
                  </a:txBody>
                  <a:tcPr marL="9525" marR="9525" marT="9525" marB="0" anchor="ctr"/>
                </a:tc>
              </a:tr>
              <a:tr h="336774">
                <a:tc>
                  <a:txBody>
                    <a:bodyPr wrap="square"/>
                    <a:lstStyle/>
                    <a:p>
                      <a:pPr algn="l"/>
                      <a:r>
                        <a:rPr sz="1050" b="0" i="0">
                          <a:solidFill>
                            <a:srgbClr val="000000"/>
                          </a:solidFill>
                          <a:latin typeface="Calibri"/>
                        </a:rPr>
                        <a:t>Figure 271: South Asia &amp; Pacific Heavy Commercial Vehicle EPS Market Value, 2026–2036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272: South Asia &amp; Pacific Heavy Commercial Vehicle EPS Market Value, 2026–2036 Y-o-Y Comparison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273: South Asia &amp; Pacific Heavy Commercial Vehicle EPS Market Value, 2026–2036 BPS Analysis By Gross Vehicle Weight</a:t>
                      </a:r>
                      <a:endParaRPr sz="1050"/>
                    </a:p>
                  </a:txBody>
                  <a:tcPr marL="9525" marR="9525" marT="9525" marB="0" anchor="ctr"/>
                </a:tc>
              </a:tr>
              <a:tr h="336774">
                <a:tc>
                  <a:txBody>
                    <a:bodyPr wrap="square"/>
                    <a:lstStyle/>
                    <a:p>
                      <a:pPr algn="l"/>
                      <a:r>
                        <a:rPr sz="1050" b="0" i="0">
                          <a:solidFill>
                            <a:srgbClr val="000000"/>
                          </a:solidFill>
                          <a:latin typeface="Calibri"/>
                        </a:rPr>
                        <a:t>Figure 274: South Asia &amp; Pacific Heavy Commercial Vehicle EPS Market Attractiveness Analysis By Gross Vehicle Weight</a:t>
                      </a:r>
                      <a:endParaRPr sz="1050"/>
                    </a:p>
                  </a:txBody>
                  <a:tcPr marL="9525" marR="9525" marT="9525" marB="0" anchor="ctr"/>
                </a:tc>
              </a:tr>
              <a:tr h="171824">
                <a:tc>
                  <a:txBody>
                    <a:bodyPr wrap="square"/>
                    <a:lstStyle/>
                    <a:p>
                      <a:pPr algn="l"/>
                      <a:r>
                        <a:rPr sz="1050" b="0" i="0">
                          <a:solidFill>
                            <a:srgbClr val="000000"/>
                          </a:solidFill>
                          <a:latin typeface="Calibri"/>
                        </a:rPr>
                        <a:t>Figure 275: South Asia &amp; Pacific Heavy Commercial Vehicle EPS Market Value, 2026–2036 By Country</a:t>
                      </a:r>
                      <a:endParaRPr sz="1050"/>
                    </a:p>
                  </a:txBody>
                  <a:tcPr marL="9525" marR="9525" marT="9525" marB="0" anchor="ctr"/>
                </a:tc>
              </a:tr>
              <a:tr h="336774">
                <a:tc>
                  <a:txBody>
                    <a:bodyPr wrap="square"/>
                    <a:lstStyle/>
                    <a:p>
                      <a:pPr algn="l"/>
                      <a:r>
                        <a:rPr sz="1050" b="0" i="0">
                          <a:solidFill>
                            <a:srgbClr val="000000"/>
                          </a:solidFill>
                          <a:latin typeface="Calibri"/>
                        </a:rPr>
                        <a:t>Figure 276: South Asia &amp; Pacific Heavy Commercial Vehicle EPS Market Value, 2026–2036 Y-o-Y Comparison By Country</a:t>
                      </a:r>
                      <a:endParaRPr sz="1050"/>
                    </a:p>
                  </a:txBody>
                  <a:tcPr marL="9525" marR="9525" marT="9525" marB="0" anchor="ctr"/>
                </a:tc>
              </a:tr>
              <a:tr h="336774">
                <a:tc>
                  <a:txBody>
                    <a:bodyPr wrap="square"/>
                    <a:lstStyle/>
                    <a:p>
                      <a:pPr algn="l"/>
                      <a:r>
                        <a:rPr sz="1050" b="0" i="0">
                          <a:solidFill>
                            <a:srgbClr val="000000"/>
                          </a:solidFill>
                          <a:latin typeface="Calibri"/>
                        </a:rPr>
                        <a:t>Figure 277: South Asia &amp; Pacific Heavy Commercial Vehicle EPS Market Value, 2026–2036 BPS Analysis By Country</a:t>
                      </a:r>
                      <a:endParaRPr sz="1050"/>
                    </a:p>
                  </a:txBody>
                  <a:tcPr marL="9525" marR="9525" marT="9525" marB="0" anchor="ctr"/>
                </a:tc>
              </a:tr>
              <a:tr h="336774">
                <a:tc>
                  <a:txBody>
                    <a:bodyPr wrap="square"/>
                    <a:lstStyle/>
                    <a:p>
                      <a:pPr algn="l"/>
                      <a:r>
                        <a:rPr sz="1050" b="0" i="0">
                          <a:solidFill>
                            <a:srgbClr val="000000"/>
                          </a:solidFill>
                          <a:latin typeface="Calibri"/>
                        </a:rPr>
                        <a:t>Figure 278: South Asia &amp; Pacific Heavy Commercial Vehicle EPS Market Attractiveness Analysis By Country</a:t>
                      </a:r>
                      <a:endParaRPr sz="1050"/>
                    </a:p>
                  </a:txBody>
                  <a:tcPr marL="9525" marR="9525" marT="9525" marB="0" anchor="ctr"/>
                </a:tc>
              </a:tr>
              <a:tr h="171824">
                <a:tc>
                  <a:txBody>
                    <a:bodyPr wrap="square"/>
                    <a:lstStyle/>
                    <a:p>
                      <a:pPr algn="l"/>
                      <a:r>
                        <a:rPr sz="1050" b="0" i="0">
                          <a:solidFill>
                            <a:srgbClr val="000000"/>
                          </a:solidFill>
                          <a:latin typeface="Calibri"/>
                        </a:rPr>
                        <a:t>Figure 279: India Heavy Commercial Vehicle EPS Market Value, 2026–2036, By System Architecture</a:t>
                      </a:r>
                      <a:endParaRPr sz="1050"/>
                    </a:p>
                  </a:txBody>
                  <a:tcPr marL="9525" marR="9525" marT="9525" marB="0" anchor="ctr"/>
                </a:tc>
              </a:tr>
              <a:tr h="171824">
                <a:tc>
                  <a:txBody>
                    <a:bodyPr wrap="square"/>
                    <a:lstStyle/>
                    <a:p>
                      <a:pPr algn="l"/>
                      <a:r>
                        <a:rPr sz="1050" b="0" i="0">
                          <a:solidFill>
                            <a:srgbClr val="000000"/>
                          </a:solidFill>
                          <a:latin typeface="Calibri"/>
                        </a:rPr>
                        <a:t>Figure 280: India Heavy Commercial Vehicle EPS Market Value, 2026–2036, By Vehicle Type</a:t>
                      </a:r>
                      <a:endParaRPr sz="1050"/>
                    </a:p>
                  </a:txBody>
                  <a:tcPr marL="9525" marR="9525" marT="9525" marB="0" anchor="ctr"/>
                </a:tc>
              </a:tr>
              <a:tr h="171824">
                <a:tc>
                  <a:txBody>
                    <a:bodyPr wrap="square"/>
                    <a:lstStyle/>
                    <a:p>
                      <a:pPr algn="l"/>
                      <a:r>
                        <a:rPr sz="1050" b="0" i="0">
                          <a:solidFill>
                            <a:srgbClr val="000000"/>
                          </a:solidFill>
                          <a:latin typeface="Calibri"/>
                        </a:rPr>
                        <a:t>Figure 281: India Heavy Commercial Vehicle EPS Market Value, 2026–2036, By Demand Type</a:t>
                      </a:r>
                      <a:endParaRPr sz="1050"/>
                    </a:p>
                  </a:txBody>
                  <a:tcPr marL="9525" marR="9525" marT="9525" marB="0" anchor="ctr"/>
                </a:tc>
              </a:tr>
              <a:tr h="171824">
                <a:tc>
                  <a:txBody>
                    <a:bodyPr wrap="square"/>
                    <a:lstStyle/>
                    <a:p>
                      <a:pPr algn="l"/>
                      <a:r>
                        <a:rPr sz="1050" b="0" i="0">
                          <a:solidFill>
                            <a:srgbClr val="000000"/>
                          </a:solidFill>
                          <a:latin typeface="Calibri"/>
                        </a:rPr>
                        <a:t>Figure 282: India Heavy Commercial Vehicle EPS Market Value, 2026–2036, By Gross Vehicle Weight</a:t>
                      </a:r>
                      <a:endParaRPr sz="1050"/>
                    </a:p>
                  </a:txBody>
                  <a:tcPr marL="9525" marR="9525" marT="9525" marB="0" anchor="ctr"/>
                </a:tc>
              </a:tr>
              <a:tr h="171824">
                <a:tc>
                  <a:txBody>
                    <a:bodyPr wrap="square"/>
                    <a:lstStyle/>
                    <a:p>
                      <a:pPr algn="l"/>
                      <a:r>
                        <a:rPr sz="1050" b="0" i="0">
                          <a:solidFill>
                            <a:srgbClr val="000000"/>
                          </a:solidFill>
                          <a:latin typeface="Calibri"/>
                        </a:rPr>
                        <a:t>Figure 283: India Heavy Commercial Vehicle EPS Market Value, 2026–2036, By Propulsion Type</a:t>
                      </a:r>
                      <a:endParaRPr sz="1050"/>
                    </a:p>
                  </a:txBody>
                  <a:tcPr marL="9525" marR="9525" marT="9525" marB="0" anchor="ctr"/>
                </a:tc>
              </a:tr>
              <a:tr h="171824">
                <a:tc>
                  <a:txBody>
                    <a:bodyPr wrap="square"/>
                    <a:lstStyle/>
                    <a:p>
                      <a:pPr algn="l"/>
                      <a:r>
                        <a:rPr sz="1050" b="0" i="0">
                          <a:solidFill>
                            <a:srgbClr val="000000"/>
                          </a:solidFill>
                          <a:latin typeface="Calibri"/>
                        </a:rPr>
                        <a:t>Figure 284: ASEAN Heavy Commercial Vehicle EPS Market Value, 2026–2036, By System Architecture</a:t>
                      </a:r>
                      <a:endParaRPr sz="1050"/>
                    </a:p>
                  </a:txBody>
                  <a:tcPr marL="9525" marR="9525" marT="9525" marB="0" anchor="ctr"/>
                </a:tc>
              </a:tr>
              <a:tr h="171824">
                <a:tc>
                  <a:txBody>
                    <a:bodyPr wrap="square"/>
                    <a:lstStyle/>
                    <a:p>
                      <a:pPr algn="l"/>
                      <a:r>
                        <a:rPr sz="1050" b="0" i="0">
                          <a:solidFill>
                            <a:srgbClr val="000000"/>
                          </a:solidFill>
                          <a:latin typeface="Calibri"/>
                        </a:rPr>
                        <a:t>Figure 285: ASEAN Heavy Commercial Vehicle EPS Market Value, 2026–2036, By Vehicle Type</a:t>
                      </a:r>
                      <a:endParaRPr sz="1050"/>
                    </a:p>
                  </a:txBody>
                  <a:tcPr marL="9525" marR="9525" marT="9525" marB="0" anchor="ctr"/>
                </a:tc>
              </a:tr>
              <a:tr h="171824">
                <a:tc>
                  <a:txBody>
                    <a:bodyPr wrap="square"/>
                    <a:lstStyle/>
                    <a:p>
                      <a:pPr algn="l"/>
                      <a:r>
                        <a:rPr sz="1050" b="0" i="0">
                          <a:solidFill>
                            <a:srgbClr val="000000"/>
                          </a:solidFill>
                          <a:latin typeface="Calibri"/>
                        </a:rPr>
                        <a:t>Figure 286: ASEAN Heavy Commercial Vehicle EPS Market Value, 2026–2036, By Demand Type</a:t>
                      </a:r>
                      <a:endParaRPr sz="1050"/>
                    </a:p>
                  </a:txBody>
                  <a:tcPr marL="9525" marR="9525" marT="9525" marB="0" anchor="ctr"/>
                </a:tc>
              </a:tr>
              <a:tr h="171824">
                <a:tc>
                  <a:txBody>
                    <a:bodyPr wrap="square"/>
                    <a:lstStyle/>
                    <a:p>
                      <a:pPr algn="l"/>
                      <a:r>
                        <a:rPr sz="1050" b="0" i="0">
                          <a:solidFill>
                            <a:srgbClr val="000000"/>
                          </a:solidFill>
                          <a:latin typeface="Calibri"/>
                        </a:rPr>
                        <a:t>Figure 287: ASEAN Heavy Commercial Vehicle EPS Market Value, 2026–2036, By Gross Vehicle Weight</a:t>
                      </a:r>
                      <a:endParaRPr sz="1050"/>
                    </a:p>
                  </a:txBody>
                  <a:tcPr marL="9525" marR="9525" marT="9525" marB="0" anchor="ctr"/>
                </a:tc>
              </a:tr>
              <a:tr h="171824">
                <a:tc>
                  <a:txBody>
                    <a:bodyPr wrap="square"/>
                    <a:lstStyle/>
                    <a:p>
                      <a:pPr algn="l"/>
                      <a:r>
                        <a:rPr sz="1050" b="0" i="0">
                          <a:solidFill>
                            <a:srgbClr val="000000"/>
                          </a:solidFill>
                          <a:latin typeface="Calibri"/>
                        </a:rPr>
                        <a:t>Figure 288: ASEAN Heavy Commercial Vehicle EPS Market Value, 2026–2036, By Propulsion Type</a:t>
                      </a:r>
                      <a:endParaRPr sz="1050"/>
                    </a:p>
                  </a:txBody>
                  <a:tcPr marL="9525" marR="9525" marT="9525" marB="0" anchor="ctr"/>
                </a:tc>
              </a:tr>
              <a:tr h="336774">
                <a:tc>
                  <a:txBody>
                    <a:bodyPr wrap="square"/>
                    <a:lstStyle/>
                    <a:p>
                      <a:pPr algn="l"/>
                      <a:r>
                        <a:rPr sz="1050" b="0" i="0">
                          <a:solidFill>
                            <a:srgbClr val="000000"/>
                          </a:solidFill>
                          <a:latin typeface="Calibri"/>
                        </a:rPr>
                        <a:t>Figure 289: Australia and New Zealand Heavy Commercial Vehicle EPS Market Value, 2026–2036, By System Architecture</a:t>
                      </a:r>
                      <a:endParaRPr sz="1050"/>
                    </a:p>
                  </a:txBody>
                  <a:tcPr marL="9525" marR="9525" marT="9525" marB="0" anchor="ctr"/>
                </a:tc>
              </a:tr>
              <a:tr h="336774">
                <a:tc>
                  <a:txBody>
                    <a:bodyPr wrap="square"/>
                    <a:lstStyle/>
                    <a:p>
                      <a:pPr algn="l"/>
                      <a:r>
                        <a:rPr sz="1050" b="0" i="0">
                          <a:solidFill>
                            <a:srgbClr val="000000"/>
                          </a:solidFill>
                          <a:latin typeface="Calibri"/>
                        </a:rPr>
                        <a:t>Figure 290: Australia and New Zealand Heavy Commercial Vehicle EPS Market Value, 2026–2036, By Vehicle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(8/9)</a:t>
            </a:r>
          </a:p>
        </p:txBody>
      </p:sp>
      <p:graphicFrame>
        <p:nvGraphicFramePr>
          <p:cNvPr id="9" name="FMI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338990">
                <a:tc>
                  <a:txBody>
                    <a:bodyPr wrap="square"/>
                    <a:lstStyle/>
                    <a:p>
                      <a:pPr algn="l"/>
                      <a:r>
                        <a:rPr sz="1050" b="0" i="0">
                          <a:solidFill>
                            <a:srgbClr val="000000"/>
                          </a:solidFill>
                          <a:latin typeface="Calibri"/>
                        </a:rPr>
                        <a:t>Figure 291: Australia and New Zealand Heavy Commercial Vehicle EPS Market Value, 2026–2036, By Demand Type</a:t>
                      </a:r>
                      <a:endParaRPr sz="1050"/>
                    </a:p>
                  </a:txBody>
                  <a:tcPr marL="9525" marR="9525" marT="9525" marB="0" anchor="ctr"/>
                </a:tc>
              </a:tr>
              <a:tr h="338990">
                <a:tc>
                  <a:txBody>
                    <a:bodyPr wrap="square"/>
                    <a:lstStyle/>
                    <a:p>
                      <a:pPr algn="l"/>
                      <a:r>
                        <a:rPr sz="1050" b="0" i="0">
                          <a:solidFill>
                            <a:srgbClr val="000000"/>
                          </a:solidFill>
                          <a:latin typeface="Calibri"/>
                        </a:rPr>
                        <a:t>Figure 292: Australia and New Zealand Heavy Commercial Vehicle EPS Market Value, 2026–2036, By Gross Vehicle Weight</a:t>
                      </a:r>
                      <a:endParaRPr sz="1050"/>
                    </a:p>
                  </a:txBody>
                  <a:tcPr marL="9525" marR="9525" marT="9525" marB="0" anchor="ctr"/>
                </a:tc>
              </a:tr>
              <a:tr h="338990">
                <a:tc>
                  <a:txBody>
                    <a:bodyPr wrap="square"/>
                    <a:lstStyle/>
                    <a:p>
                      <a:pPr algn="l"/>
                      <a:r>
                        <a:rPr sz="1050" b="0" i="0">
                          <a:solidFill>
                            <a:srgbClr val="000000"/>
                          </a:solidFill>
                          <a:latin typeface="Calibri"/>
                        </a:rPr>
                        <a:t>Figure 293: Australia and New Zealand Heavy Commercial Vehicle EPS Market Value, 2026–2036, By Propulsion Type</a:t>
                      </a:r>
                      <a:endParaRPr sz="1050"/>
                    </a:p>
                  </a:txBody>
                  <a:tcPr marL="9525" marR="9525" marT="9525" marB="0" anchor="ctr"/>
                </a:tc>
              </a:tr>
              <a:tr h="172954">
                <a:tc>
                  <a:txBody>
                    <a:bodyPr wrap="square"/>
                    <a:lstStyle/>
                    <a:p>
                      <a:pPr algn="l"/>
                      <a:r>
                        <a:rPr sz="1050" b="0" i="0">
                          <a:solidFill>
                            <a:srgbClr val="000000"/>
                          </a:solidFill>
                          <a:latin typeface="Calibri"/>
                        </a:rPr>
                        <a:t>Figure 294: Middle East &amp; Africa Heavy Commercial Vehicle EPS Market Value, 2021–2036</a:t>
                      </a:r>
                      <a:endParaRPr sz="1050"/>
                    </a:p>
                  </a:txBody>
                  <a:tcPr marL="9525" marR="9525" marT="9525" marB="0" anchor="ctr"/>
                </a:tc>
              </a:tr>
              <a:tr h="338990">
                <a:tc>
                  <a:txBody>
                    <a:bodyPr wrap="square"/>
                    <a:lstStyle/>
                    <a:p>
                      <a:pPr algn="l"/>
                      <a:r>
                        <a:rPr sz="1050" b="0" i="0">
                          <a:solidFill>
                            <a:srgbClr val="000000"/>
                          </a:solidFill>
                          <a:latin typeface="Calibri"/>
                        </a:rPr>
                        <a:t>Figure 295: Middle East &amp; Africa Heavy Commercial Vehicle EPS Market Incremental $ Opportunity, 2026–2036</a:t>
                      </a:r>
                      <a:endParaRPr sz="1050"/>
                    </a:p>
                  </a:txBody>
                  <a:tcPr marL="9525" marR="9525" marT="9525" marB="0" anchor="ctr"/>
                </a:tc>
              </a:tr>
              <a:tr h="338990">
                <a:tc>
                  <a:txBody>
                    <a:bodyPr wrap="square"/>
                    <a:lstStyle/>
                    <a:p>
                      <a:pPr algn="l"/>
                      <a:r>
                        <a:rPr sz="1050" b="0" i="0">
                          <a:solidFill>
                            <a:srgbClr val="000000"/>
                          </a:solidFill>
                          <a:latin typeface="Calibri"/>
                        </a:rPr>
                        <a:t>Figure 296: Middle East &amp; Africa Heavy Commercial Vehicle EPS Market Value, 2026–2036 By System Architecture</a:t>
                      </a:r>
                      <a:endParaRPr sz="1050"/>
                    </a:p>
                  </a:txBody>
                  <a:tcPr marL="9525" marR="9525" marT="9525" marB="0" anchor="ctr"/>
                </a:tc>
              </a:tr>
              <a:tr h="338990">
                <a:tc>
                  <a:txBody>
                    <a:bodyPr wrap="square"/>
                    <a:lstStyle/>
                    <a:p>
                      <a:pPr algn="l"/>
                      <a:r>
                        <a:rPr sz="1050" b="0" i="0">
                          <a:solidFill>
                            <a:srgbClr val="000000"/>
                          </a:solidFill>
                          <a:latin typeface="Calibri"/>
                        </a:rPr>
                        <a:t>Figure 297: Middle East &amp; Africa Heavy Commercial Vehicle EPS Market Value, 2026–2036 Y-o-Y Comparison By System Architecture</a:t>
                      </a:r>
                      <a:endParaRPr sz="1050"/>
                    </a:p>
                  </a:txBody>
                  <a:tcPr marL="9525" marR="9525" marT="9525" marB="0" anchor="ctr"/>
                </a:tc>
              </a:tr>
              <a:tr h="338990">
                <a:tc>
                  <a:txBody>
                    <a:bodyPr wrap="square"/>
                    <a:lstStyle/>
                    <a:p>
                      <a:pPr algn="l"/>
                      <a:r>
                        <a:rPr sz="1050" b="0" i="0">
                          <a:solidFill>
                            <a:srgbClr val="000000"/>
                          </a:solidFill>
                          <a:latin typeface="Calibri"/>
                        </a:rPr>
                        <a:t>Figure 298: Middle East &amp; Africa Heavy Commercial Vehicle EPS Market Value, 2026–2036 BPS Analysis By System Architecture</a:t>
                      </a:r>
                      <a:endParaRPr sz="1050"/>
                    </a:p>
                  </a:txBody>
                  <a:tcPr marL="9525" marR="9525" marT="9525" marB="0" anchor="ctr"/>
                </a:tc>
              </a:tr>
              <a:tr h="338990">
                <a:tc>
                  <a:txBody>
                    <a:bodyPr wrap="square"/>
                    <a:lstStyle/>
                    <a:p>
                      <a:pPr algn="l"/>
                      <a:r>
                        <a:rPr sz="1050" b="0" i="0">
                          <a:solidFill>
                            <a:srgbClr val="000000"/>
                          </a:solidFill>
                          <a:latin typeface="Calibri"/>
                        </a:rPr>
                        <a:t>Figure 299: Middle East &amp; Africa Heavy Commercial Vehicle EPS Market Attractiveness Analysis By System Architecture</a:t>
                      </a:r>
                      <a:endParaRPr sz="1050"/>
                    </a:p>
                  </a:txBody>
                  <a:tcPr marL="9525" marR="9525" marT="9525" marB="0" anchor="ctr"/>
                </a:tc>
              </a:tr>
              <a:tr h="338990">
                <a:tc>
                  <a:txBody>
                    <a:bodyPr wrap="square"/>
                    <a:lstStyle/>
                    <a:p>
                      <a:pPr algn="l"/>
                      <a:r>
                        <a:rPr sz="1050" b="0" i="0">
                          <a:solidFill>
                            <a:srgbClr val="000000"/>
                          </a:solidFill>
                          <a:latin typeface="Calibri"/>
                        </a:rPr>
                        <a:t>Figure 300: Middle East &amp; Africa Heavy Commercial Vehicle EPS Market Value, 2026–2036 By Vehicle Type</a:t>
                      </a:r>
                      <a:endParaRPr sz="1050"/>
                    </a:p>
                  </a:txBody>
                  <a:tcPr marL="9525" marR="9525" marT="9525" marB="0" anchor="ctr"/>
                </a:tc>
              </a:tr>
              <a:tr h="338990">
                <a:tc>
                  <a:txBody>
                    <a:bodyPr wrap="square"/>
                    <a:lstStyle/>
                    <a:p>
                      <a:pPr algn="l"/>
                      <a:r>
                        <a:rPr sz="1050" b="0" i="0">
                          <a:solidFill>
                            <a:srgbClr val="000000"/>
                          </a:solidFill>
                          <a:latin typeface="Calibri"/>
                        </a:rPr>
                        <a:t>Figure 301: Middle East &amp; Africa Heavy Commercial Vehicle EPS Market Value, 2026–2036 Y-o-Y Comparison By Vehicle Type</a:t>
                      </a:r>
                      <a:endParaRPr sz="1050"/>
                    </a:p>
                  </a:txBody>
                  <a:tcPr marL="9525" marR="9525" marT="9525" marB="0" anchor="ctr"/>
                </a:tc>
              </a:tr>
              <a:tr h="338990">
                <a:tc>
                  <a:txBody>
                    <a:bodyPr wrap="square"/>
                    <a:lstStyle/>
                    <a:p>
                      <a:pPr algn="l"/>
                      <a:r>
                        <a:rPr sz="1050" b="0" i="0">
                          <a:solidFill>
                            <a:srgbClr val="000000"/>
                          </a:solidFill>
                          <a:latin typeface="Calibri"/>
                        </a:rPr>
                        <a:t>Figure 302: Middle East &amp; Africa Heavy Commercial Vehicle EPS Market Value, 2026–2036 BPS Analysis By Vehicle Type</a:t>
                      </a:r>
                      <a:endParaRPr sz="1050"/>
                    </a:p>
                  </a:txBody>
                  <a:tcPr marL="9525" marR="9525" marT="9525" marB="0" anchor="ctr"/>
                </a:tc>
              </a:tr>
              <a:tr h="338990">
                <a:tc>
                  <a:txBody>
                    <a:bodyPr wrap="square"/>
                    <a:lstStyle/>
                    <a:p>
                      <a:pPr algn="l"/>
                      <a:r>
                        <a:rPr sz="1050" b="0" i="0">
                          <a:solidFill>
                            <a:srgbClr val="000000"/>
                          </a:solidFill>
                          <a:latin typeface="Calibri"/>
                        </a:rPr>
                        <a:t>Figure 303: Middle East &amp; Africa Heavy Commercial Vehicle EPS Market Attractiveness Analysis By Vehicle Type</a:t>
                      </a:r>
                      <a:endParaRPr sz="1050"/>
                    </a:p>
                  </a:txBody>
                  <a:tcPr marL="9525" marR="9525" marT="9525" marB="0" anchor="ctr"/>
                </a:tc>
              </a:tr>
              <a:tr h="338990">
                <a:tc>
                  <a:txBody>
                    <a:bodyPr wrap="square"/>
                    <a:lstStyle/>
                    <a:p>
                      <a:pPr algn="l"/>
                      <a:r>
                        <a:rPr sz="1050" b="0" i="0">
                          <a:solidFill>
                            <a:srgbClr val="000000"/>
                          </a:solidFill>
                          <a:latin typeface="Calibri"/>
                        </a:rPr>
                        <a:t>Figure 304: Middle East &amp; Africa Heavy Commercial Vehicle EPS Market Value, 2026–2036 By Demand Type</a:t>
                      </a:r>
                      <a:endParaRPr sz="1050"/>
                    </a:p>
                  </a:txBody>
                  <a:tcPr marL="9525" marR="9525" marT="9525" marB="0" anchor="ctr"/>
                </a:tc>
              </a:tr>
              <a:tr h="338990">
                <a:tc>
                  <a:txBody>
                    <a:bodyPr wrap="square"/>
                    <a:lstStyle/>
                    <a:p>
                      <a:pPr algn="l"/>
                      <a:r>
                        <a:rPr sz="1050" b="0" i="0">
                          <a:solidFill>
                            <a:srgbClr val="000000"/>
                          </a:solidFill>
                          <a:latin typeface="Calibri"/>
                        </a:rPr>
                        <a:t>Figure 305: Middle East &amp; Africa Heavy Commercial Vehicle EPS Market Value, 2026–2036 Y-o-Y Comparison By Demand Type</a:t>
                      </a:r>
                      <a:endParaRPr sz="1050"/>
                    </a:p>
                  </a:txBody>
                  <a:tcPr marL="9525" marR="9525" marT="9525" marB="0" anchor="ctr"/>
                </a:tc>
              </a:tr>
              <a:tr h="338990">
                <a:tc>
                  <a:txBody>
                    <a:bodyPr wrap="square"/>
                    <a:lstStyle/>
                    <a:p>
                      <a:pPr algn="l"/>
                      <a:r>
                        <a:rPr sz="1050" b="0" i="0">
                          <a:solidFill>
                            <a:srgbClr val="000000"/>
                          </a:solidFill>
                          <a:latin typeface="Calibri"/>
                        </a:rPr>
                        <a:t>Figure 306: Middle East &amp; Africa Heavy Commercial Vehicle EPS Market Value, 2026–2036 BPS Analysis By Demand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338544">
                <a:tc>
                  <a:txBody>
                    <a:bodyPr wrap="square"/>
                    <a:lstStyle/>
                    <a:p>
                      <a:pPr algn="l"/>
                      <a:r>
                        <a:rPr sz="1050" b="0" i="0">
                          <a:solidFill>
                            <a:srgbClr val="000000"/>
                          </a:solidFill>
                          <a:latin typeface="Calibri"/>
                        </a:rPr>
                        <a:t>Figure 307: Middle East &amp; Africa Heavy Commercial Vehicle EPS Market Attractiveness Analysis By Demand Type</a:t>
                      </a:r>
                      <a:endParaRPr sz="1050"/>
                    </a:p>
                  </a:txBody>
                  <a:tcPr marL="9525" marR="9525" marT="9525" marB="0" anchor="ctr"/>
                </a:tc>
              </a:tr>
              <a:tr h="338544">
                <a:tc>
                  <a:txBody>
                    <a:bodyPr wrap="square"/>
                    <a:lstStyle/>
                    <a:p>
                      <a:pPr algn="l"/>
                      <a:r>
                        <a:rPr sz="1050" b="0" i="0">
                          <a:solidFill>
                            <a:srgbClr val="000000"/>
                          </a:solidFill>
                          <a:latin typeface="Calibri"/>
                        </a:rPr>
                        <a:t>Figure 308: Middle East &amp; Africa Heavy Commercial Vehicle EPS Market Value, 2026–2036 By Propulsion Type</a:t>
                      </a:r>
                      <a:endParaRPr sz="1050"/>
                    </a:p>
                  </a:txBody>
                  <a:tcPr marL="9525" marR="9525" marT="9525" marB="0" anchor="ctr"/>
                </a:tc>
              </a:tr>
              <a:tr h="338544">
                <a:tc>
                  <a:txBody>
                    <a:bodyPr wrap="square"/>
                    <a:lstStyle/>
                    <a:p>
                      <a:pPr algn="l"/>
                      <a:r>
                        <a:rPr sz="1050" b="0" i="0">
                          <a:solidFill>
                            <a:srgbClr val="000000"/>
                          </a:solidFill>
                          <a:latin typeface="Calibri"/>
                        </a:rPr>
                        <a:t>Figure 309: Middle East &amp; Africa Heavy Commercial Vehicle EPS Market Value, 2026–2036 Y-o-Y Comparison By Propulsion Type</a:t>
                      </a:r>
                      <a:endParaRPr sz="1050"/>
                    </a:p>
                  </a:txBody>
                  <a:tcPr marL="9525" marR="9525" marT="9525" marB="0" anchor="ctr"/>
                </a:tc>
              </a:tr>
              <a:tr h="338544">
                <a:tc>
                  <a:txBody>
                    <a:bodyPr wrap="square"/>
                    <a:lstStyle/>
                    <a:p>
                      <a:pPr algn="l"/>
                      <a:r>
                        <a:rPr sz="1050" b="0" i="0">
                          <a:solidFill>
                            <a:srgbClr val="000000"/>
                          </a:solidFill>
                          <a:latin typeface="Calibri"/>
                        </a:rPr>
                        <a:t>Figure 310: Middle East &amp; Africa Heavy Commercial Vehicle EPS Market Value, 2026–2036 BPS Analysis By Propulsion Type</a:t>
                      </a:r>
                      <a:endParaRPr sz="1050"/>
                    </a:p>
                  </a:txBody>
                  <a:tcPr marL="9525" marR="9525" marT="9525" marB="0" anchor="ctr"/>
                </a:tc>
              </a:tr>
              <a:tr h="338544">
                <a:tc>
                  <a:txBody>
                    <a:bodyPr wrap="square"/>
                    <a:lstStyle/>
                    <a:p>
                      <a:pPr algn="l"/>
                      <a:r>
                        <a:rPr sz="1050" b="0" i="0">
                          <a:solidFill>
                            <a:srgbClr val="000000"/>
                          </a:solidFill>
                          <a:latin typeface="Calibri"/>
                        </a:rPr>
                        <a:t>Figure 311: Middle East &amp; Africa Heavy Commercial Vehicle EPS Market Attractiveness Analysis By Propulsion Type</a:t>
                      </a:r>
                      <a:endParaRPr sz="1050"/>
                    </a:p>
                  </a:txBody>
                  <a:tcPr marL="9525" marR="9525" marT="9525" marB="0" anchor="ctr"/>
                </a:tc>
              </a:tr>
              <a:tr h="338544">
                <a:tc>
                  <a:txBody>
                    <a:bodyPr wrap="square"/>
                    <a:lstStyle/>
                    <a:p>
                      <a:pPr algn="l"/>
                      <a:r>
                        <a:rPr sz="1050" b="0" i="0">
                          <a:solidFill>
                            <a:srgbClr val="000000"/>
                          </a:solidFill>
                          <a:latin typeface="Calibri"/>
                        </a:rPr>
                        <a:t>Figure 312: Middle East &amp; Africa Heavy Commercial Vehicle EPS Market Value, 2026–2036 By Gross Vehicle Weight</a:t>
                      </a:r>
                      <a:endParaRPr sz="1050"/>
                    </a:p>
                  </a:txBody>
                  <a:tcPr marL="9525" marR="9525" marT="9525" marB="0" anchor="ctr"/>
                </a:tc>
              </a:tr>
              <a:tr h="338544">
                <a:tc>
                  <a:txBody>
                    <a:bodyPr wrap="square"/>
                    <a:lstStyle/>
                    <a:p>
                      <a:pPr algn="l"/>
                      <a:r>
                        <a:rPr sz="1050" b="0" i="0">
                          <a:solidFill>
                            <a:srgbClr val="000000"/>
                          </a:solidFill>
                          <a:latin typeface="Calibri"/>
                        </a:rPr>
                        <a:t>Figure 313: Middle East &amp; Africa Heavy Commercial Vehicle EPS Market Value, 2026–2036 Y-o-Y Comparison By Gross Vehicle Weight</a:t>
                      </a:r>
                      <a:endParaRPr sz="1050"/>
                    </a:p>
                  </a:txBody>
                  <a:tcPr marL="9525" marR="9525" marT="9525" marB="0" anchor="ctr"/>
                </a:tc>
              </a:tr>
              <a:tr h="338544">
                <a:tc>
                  <a:txBody>
                    <a:bodyPr wrap="square"/>
                    <a:lstStyle/>
                    <a:p>
                      <a:pPr algn="l"/>
                      <a:r>
                        <a:rPr sz="1050" b="0" i="0">
                          <a:solidFill>
                            <a:srgbClr val="000000"/>
                          </a:solidFill>
                          <a:latin typeface="Calibri"/>
                        </a:rPr>
                        <a:t>Figure 314: Middle East &amp; Africa Heavy Commercial Vehicle EPS Market Value, 2026–2036 BPS Analysis By Gross Vehicle Weight</a:t>
                      </a:r>
                      <a:endParaRPr sz="1050"/>
                    </a:p>
                  </a:txBody>
                  <a:tcPr marL="9525" marR="9525" marT="9525" marB="0" anchor="ctr"/>
                </a:tc>
              </a:tr>
              <a:tr h="338544">
                <a:tc>
                  <a:txBody>
                    <a:bodyPr wrap="square"/>
                    <a:lstStyle/>
                    <a:p>
                      <a:pPr algn="l"/>
                      <a:r>
                        <a:rPr sz="1050" b="0" i="0">
                          <a:solidFill>
                            <a:srgbClr val="000000"/>
                          </a:solidFill>
                          <a:latin typeface="Calibri"/>
                        </a:rPr>
                        <a:t>Figure 315: Middle East &amp; Africa Heavy Commercial Vehicle EPS Market Attractiveness Analysis By Gross Vehicle Weight</a:t>
                      </a:r>
                      <a:endParaRPr sz="1050"/>
                    </a:p>
                  </a:txBody>
                  <a:tcPr marL="9525" marR="9525" marT="9525" marB="0" anchor="ctr"/>
                </a:tc>
              </a:tr>
              <a:tr h="172727">
                <a:tc>
                  <a:txBody>
                    <a:bodyPr wrap="square"/>
                    <a:lstStyle/>
                    <a:p>
                      <a:pPr algn="l"/>
                      <a:r>
                        <a:rPr sz="1050" b="0" i="0">
                          <a:solidFill>
                            <a:srgbClr val="000000"/>
                          </a:solidFill>
                          <a:latin typeface="Calibri"/>
                        </a:rPr>
                        <a:t>Figure 316: Middle East &amp; Africa Heavy Commercial Vehicle EPS Market Value, 2026–2036 By Region</a:t>
                      </a:r>
                      <a:endParaRPr sz="1050"/>
                    </a:p>
                  </a:txBody>
                  <a:tcPr marL="9525" marR="9525" marT="9525" marB="0" anchor="ctr"/>
                </a:tc>
              </a:tr>
              <a:tr h="338544">
                <a:tc>
                  <a:txBody>
                    <a:bodyPr wrap="square"/>
                    <a:lstStyle/>
                    <a:p>
                      <a:pPr algn="l"/>
                      <a:r>
                        <a:rPr sz="1050" b="0" i="0">
                          <a:solidFill>
                            <a:srgbClr val="000000"/>
                          </a:solidFill>
                          <a:latin typeface="Calibri"/>
                        </a:rPr>
                        <a:t>Figure 317: Middle East &amp; Africa Heavy Commercial Vehicle EPS Market Value, 2026–2036 Y-o-Y Comparison By Region</a:t>
                      </a:r>
                      <a:endParaRPr sz="1050"/>
                    </a:p>
                  </a:txBody>
                  <a:tcPr marL="9525" marR="9525" marT="9525" marB="0" anchor="ctr"/>
                </a:tc>
              </a:tr>
              <a:tr h="338544">
                <a:tc>
                  <a:txBody>
                    <a:bodyPr wrap="square"/>
                    <a:lstStyle/>
                    <a:p>
                      <a:pPr algn="l"/>
                      <a:r>
                        <a:rPr sz="1050" b="0" i="0">
                          <a:solidFill>
                            <a:srgbClr val="000000"/>
                          </a:solidFill>
                          <a:latin typeface="Calibri"/>
                        </a:rPr>
                        <a:t>Figure 318: Middle East &amp; Africa Heavy Commercial Vehicle EPS Market Value, 2026–2036 BPS Analysis By Region</a:t>
                      </a:r>
                      <a:endParaRPr sz="1050"/>
                    </a:p>
                  </a:txBody>
                  <a:tcPr marL="9525" marR="9525" marT="9525" marB="0" anchor="ctr"/>
                </a:tc>
              </a:tr>
              <a:tr h="338544">
                <a:tc>
                  <a:txBody>
                    <a:bodyPr wrap="square"/>
                    <a:lstStyle/>
                    <a:p>
                      <a:pPr algn="l"/>
                      <a:r>
                        <a:rPr sz="1050" b="0" i="0">
                          <a:solidFill>
                            <a:srgbClr val="000000"/>
                          </a:solidFill>
                          <a:latin typeface="Calibri"/>
                        </a:rPr>
                        <a:t>Figure 319: Middle East &amp; Africa Heavy Commercial Vehicle EPS Market Attractiveness Analysis By Region</a:t>
                      </a:r>
                      <a:endParaRPr sz="1050"/>
                    </a:p>
                  </a:txBody>
                  <a:tcPr marL="9525" marR="9525" marT="9525" marB="0" anchor="ctr"/>
                </a:tc>
              </a:tr>
              <a:tr h="338544">
                <a:tc>
                  <a:txBody>
                    <a:bodyPr wrap="square"/>
                    <a:lstStyle/>
                    <a:p>
                      <a:pPr algn="l"/>
                      <a:r>
                        <a:rPr sz="1050" b="0" i="0">
                          <a:solidFill>
                            <a:srgbClr val="000000"/>
                          </a:solidFill>
                          <a:latin typeface="Calibri"/>
                        </a:rPr>
                        <a:t>Figure 320: GCC Countries Heavy Commercial Vehicle EPS Market Value, 2026–2036, By System Architecture</a:t>
                      </a:r>
                      <a:endParaRPr sz="1050"/>
                    </a:p>
                  </a:txBody>
                  <a:tcPr marL="9525" marR="9525" marT="9525" marB="0" anchor="ctr"/>
                </a:tc>
              </a:tr>
              <a:tr h="172727">
                <a:tc>
                  <a:txBody>
                    <a:bodyPr wrap="square"/>
                    <a:lstStyle/>
                    <a:p>
                      <a:pPr algn="l"/>
                      <a:r>
                        <a:rPr sz="1050" b="0" i="0">
                          <a:solidFill>
                            <a:srgbClr val="000000"/>
                          </a:solidFill>
                          <a:latin typeface="Calibri"/>
                        </a:rPr>
                        <a:t>Figure 321: GCC Countries Heavy Commercial Vehicle EPS Market Value, 2026–2036, By Vehicle Type</a:t>
                      </a:r>
                      <a:endParaRPr sz="1050"/>
                    </a:p>
                  </a:txBody>
                  <a:tcPr marL="9525" marR="9525" marT="9525" marB="0" anchor="ctr"/>
                </a:tc>
              </a:tr>
              <a:tr h="172727">
                <a:tc>
                  <a:txBody>
                    <a:bodyPr wrap="square"/>
                    <a:lstStyle/>
                    <a:p>
                      <a:pPr algn="l"/>
                      <a:r>
                        <a:rPr sz="1050" b="0" i="0">
                          <a:solidFill>
                            <a:srgbClr val="000000"/>
                          </a:solidFill>
                          <a:latin typeface="Calibri"/>
                        </a:rPr>
                        <a:t>Figure 322: GCC Countries Heavy Commercial Vehicle EPS Market Value, 2026–2036, By Demand Type</a:t>
                      </a:r>
                      <a:endParaRPr sz="1050"/>
                    </a:p>
                  </a:txBody>
                  <a:tcPr marL="9525" marR="9525" marT="9525" marB="0" anchor="ctr"/>
                </a:tc>
              </a:tr>
              <a:tr h="338544">
                <a:tc>
                  <a:txBody>
                    <a:bodyPr wrap="square"/>
                    <a:lstStyle/>
                    <a:p>
                      <a:pPr algn="l"/>
                      <a:r>
                        <a:rPr sz="1050" b="0" i="0">
                          <a:solidFill>
                            <a:srgbClr val="000000"/>
                          </a:solidFill>
                          <a:latin typeface="Calibri"/>
                        </a:rPr>
                        <a:t>Figure 323: GCC Countries Heavy Commercial Vehicle EPS Market Value, 2026–2036, By Gross Vehicle Weight</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(9/9)</a:t>
            </a:r>
          </a:p>
        </p:txBody>
      </p:sp>
      <p:graphicFrame>
        <p:nvGraphicFramePr>
          <p:cNvPr id="9" name="FMI Contents Table"/>
          <p:cNvGraphicFramePr>
            <a:graphicFrameLocks noGrp="1"/>
          </p:cNvGraphicFramePr>
          <p:nvPr/>
        </p:nvGraphicFramePr>
        <p:xfrm>
          <a:off x="142875" y="981075"/>
          <a:ext cx="5876925" cy="3627128"/>
        </p:xfrm>
        <a:graphic>
          <a:graphicData uri="http://schemas.openxmlformats.org/drawingml/2006/table">
            <a:tbl>
              <a:tblPr>
                <a:tableStyleId>{3B4B98B0-60AC-42C2-AFA5-B58CD77FA1E5}</a:tableStyleId>
              </a:tblPr>
              <a:tblGrid>
                <a:gridCol w="5876925"/>
              </a:tblGrid>
              <a:tr h="326708">
                <a:tc>
                  <a:txBody>
                    <a:bodyPr wrap="square"/>
                    <a:lstStyle/>
                    <a:p>
                      <a:pPr algn="l"/>
                      <a:r>
                        <a:rPr sz="1050" b="0" i="0">
                          <a:solidFill>
                            <a:srgbClr val="000000"/>
                          </a:solidFill>
                          <a:latin typeface="Calibri"/>
                        </a:rPr>
                        <a:t>Figure 324: GCC Countries Heavy Commercial Vehicle EPS Market Value, 2026–2036, By Propulsion Type</a:t>
                      </a:r>
                      <a:endParaRPr sz="1050"/>
                    </a:p>
                  </a:txBody>
                  <a:tcPr marL="9525" marR="9525" marT="9525" marB="0" anchor="ctr"/>
                </a:tc>
              </a:tr>
              <a:tr h="166688">
                <a:tc>
                  <a:txBody>
                    <a:bodyPr wrap="square"/>
                    <a:lstStyle/>
                    <a:p>
                      <a:pPr algn="l"/>
                      <a:r>
                        <a:rPr sz="1050" b="0" i="0">
                          <a:solidFill>
                            <a:srgbClr val="000000"/>
                          </a:solidFill>
                          <a:latin typeface="Calibri"/>
                        </a:rPr>
                        <a:t>Figure 325: Turkiye Heavy Commercial Vehicle EPS Market Value, 2026–2036, By System Architecture</a:t>
                      </a:r>
                      <a:endParaRPr sz="1050"/>
                    </a:p>
                  </a:txBody>
                  <a:tcPr marL="9525" marR="9525" marT="9525" marB="0" anchor="ctr"/>
                </a:tc>
              </a:tr>
              <a:tr h="166688">
                <a:tc>
                  <a:txBody>
                    <a:bodyPr wrap="square"/>
                    <a:lstStyle/>
                    <a:p>
                      <a:pPr algn="l"/>
                      <a:r>
                        <a:rPr sz="1050" b="0" i="0">
                          <a:solidFill>
                            <a:srgbClr val="000000"/>
                          </a:solidFill>
                          <a:latin typeface="Calibri"/>
                        </a:rPr>
                        <a:t>Figure 326: Turkiye Heavy Commercial Vehicle EPS Market Value, 2026–2036, By Vehicle Type</a:t>
                      </a:r>
                      <a:endParaRPr sz="1050"/>
                    </a:p>
                  </a:txBody>
                  <a:tcPr marL="9525" marR="9525" marT="9525" marB="0" anchor="ctr"/>
                </a:tc>
              </a:tr>
              <a:tr h="166688">
                <a:tc>
                  <a:txBody>
                    <a:bodyPr wrap="square"/>
                    <a:lstStyle/>
                    <a:p>
                      <a:pPr algn="l"/>
                      <a:r>
                        <a:rPr sz="1050" b="0" i="0">
                          <a:solidFill>
                            <a:srgbClr val="000000"/>
                          </a:solidFill>
                          <a:latin typeface="Calibri"/>
                        </a:rPr>
                        <a:t>Figure 327: Turkiye Heavy Commercial Vehicle EPS Market Value, 2026–2036, By Demand Type</a:t>
                      </a:r>
                      <a:endParaRPr sz="1050"/>
                    </a:p>
                  </a:txBody>
                  <a:tcPr marL="9525" marR="9525" marT="9525" marB="0" anchor="ctr"/>
                </a:tc>
              </a:tr>
              <a:tr h="166688">
                <a:tc>
                  <a:txBody>
                    <a:bodyPr wrap="square"/>
                    <a:lstStyle/>
                    <a:p>
                      <a:pPr algn="l"/>
                      <a:r>
                        <a:rPr sz="1050" b="0" i="0">
                          <a:solidFill>
                            <a:srgbClr val="000000"/>
                          </a:solidFill>
                          <a:latin typeface="Calibri"/>
                        </a:rPr>
                        <a:t>Figure 328: Turkiye Heavy Commercial Vehicle EPS Market Value, 2026–2036, By Gross Vehicle Weight</a:t>
                      </a:r>
                      <a:endParaRPr sz="1050"/>
                    </a:p>
                  </a:txBody>
                  <a:tcPr marL="9525" marR="9525" marT="9525" marB="0" anchor="ctr"/>
                </a:tc>
              </a:tr>
              <a:tr h="166688">
                <a:tc>
                  <a:txBody>
                    <a:bodyPr wrap="square"/>
                    <a:lstStyle/>
                    <a:p>
                      <a:pPr algn="l"/>
                      <a:r>
                        <a:rPr sz="1050" b="0" i="0">
                          <a:solidFill>
                            <a:srgbClr val="000000"/>
                          </a:solidFill>
                          <a:latin typeface="Calibri"/>
                        </a:rPr>
                        <a:t>Figure 329: Turkiye Heavy Commercial Vehicle EPS Market Value, 2026–2036, By Propulsion Type</a:t>
                      </a:r>
                      <a:endParaRPr sz="1050"/>
                    </a:p>
                  </a:txBody>
                  <a:tcPr marL="9525" marR="9525" marT="9525" marB="0" anchor="ctr"/>
                </a:tc>
              </a:tr>
              <a:tr h="326708">
                <a:tc>
                  <a:txBody>
                    <a:bodyPr wrap="square"/>
                    <a:lstStyle/>
                    <a:p>
                      <a:pPr algn="l"/>
                      <a:r>
                        <a:rPr sz="1050" b="0" i="0">
                          <a:solidFill>
                            <a:srgbClr val="000000"/>
                          </a:solidFill>
                          <a:latin typeface="Calibri"/>
                        </a:rPr>
                        <a:t>Figure 330: Northern Africa Heavy Commercial Vehicle EPS Market Value, 2026–2036, By System Architecture</a:t>
                      </a:r>
                      <a:endParaRPr sz="1050"/>
                    </a:p>
                  </a:txBody>
                  <a:tcPr marL="9525" marR="9525" marT="9525" marB="0" anchor="ctr"/>
                </a:tc>
              </a:tr>
              <a:tr h="166688">
                <a:tc>
                  <a:txBody>
                    <a:bodyPr wrap="square"/>
                    <a:lstStyle/>
                    <a:p>
                      <a:pPr algn="l"/>
                      <a:r>
                        <a:rPr sz="1050" b="0" i="0">
                          <a:solidFill>
                            <a:srgbClr val="000000"/>
                          </a:solidFill>
                          <a:latin typeface="Calibri"/>
                        </a:rPr>
                        <a:t>Figure 331: Northern Africa Heavy Commercial Vehicle EPS Market Value, 2026–2036, By Vehicle Type</a:t>
                      </a:r>
                      <a:endParaRPr sz="1050"/>
                    </a:p>
                  </a:txBody>
                  <a:tcPr marL="9525" marR="9525" marT="9525" marB="0" anchor="ctr"/>
                </a:tc>
              </a:tr>
              <a:tr h="166688">
                <a:tc>
                  <a:txBody>
                    <a:bodyPr wrap="square"/>
                    <a:lstStyle/>
                    <a:p>
                      <a:pPr algn="l"/>
                      <a:r>
                        <a:rPr sz="1050" b="0" i="0">
                          <a:solidFill>
                            <a:srgbClr val="000000"/>
                          </a:solidFill>
                          <a:latin typeface="Calibri"/>
                        </a:rPr>
                        <a:t>Figure 332: Northern Africa Heavy Commercial Vehicle EPS Market Value, 2026–2036, By Demand Type</a:t>
                      </a:r>
                      <a:endParaRPr sz="1050"/>
                    </a:p>
                  </a:txBody>
                  <a:tcPr marL="9525" marR="9525" marT="9525" marB="0" anchor="ctr"/>
                </a:tc>
              </a:tr>
              <a:tr h="326708">
                <a:tc>
                  <a:txBody>
                    <a:bodyPr wrap="square"/>
                    <a:lstStyle/>
                    <a:p>
                      <a:pPr algn="l"/>
                      <a:r>
                        <a:rPr sz="1050" b="0" i="0">
                          <a:solidFill>
                            <a:srgbClr val="000000"/>
                          </a:solidFill>
                          <a:latin typeface="Calibri"/>
                        </a:rPr>
                        <a:t>Figure 333: Northern Africa Heavy Commercial Vehicle EPS Market Value, 2026–2036, By Gross Vehicle Weight</a:t>
                      </a:r>
                      <a:endParaRPr sz="1050"/>
                    </a:p>
                  </a:txBody>
                  <a:tcPr marL="9525" marR="9525" marT="9525" marB="0" anchor="ctr"/>
                </a:tc>
              </a:tr>
              <a:tr h="326708">
                <a:tc>
                  <a:txBody>
                    <a:bodyPr wrap="square"/>
                    <a:lstStyle/>
                    <a:p>
                      <a:pPr algn="l"/>
                      <a:r>
                        <a:rPr sz="1050" b="0" i="0">
                          <a:solidFill>
                            <a:srgbClr val="000000"/>
                          </a:solidFill>
                          <a:latin typeface="Calibri"/>
                        </a:rPr>
                        <a:t>Figure 334: Northern Africa Heavy Commercial Vehicle EPS Market Value, 2026–2036, By Propulsion Type</a:t>
                      </a:r>
                      <a:endParaRPr sz="1050"/>
                    </a:p>
                  </a:txBody>
                  <a:tcPr marL="9525" marR="9525" marT="9525" marB="0" anchor="ctr"/>
                </a:tc>
              </a:tr>
              <a:tr h="326708">
                <a:tc>
                  <a:txBody>
                    <a:bodyPr wrap="square"/>
                    <a:lstStyle/>
                    <a:p>
                      <a:pPr algn="l"/>
                      <a:r>
                        <a:rPr sz="1050" b="0" i="0">
                          <a:solidFill>
                            <a:srgbClr val="000000"/>
                          </a:solidFill>
                          <a:latin typeface="Calibri"/>
                        </a:rPr>
                        <a:t>Figure 335: South Africa Heavy Commercial Vehicle EPS Market Value, 2026–2036, By System Architecture</a:t>
                      </a:r>
                      <a:endParaRPr sz="1050"/>
                    </a:p>
                  </a:txBody>
                  <a:tcPr marL="9525" marR="9525" marT="9525" marB="0" anchor="ctr"/>
                </a:tc>
              </a:tr>
              <a:tr h="166688">
                <a:tc>
                  <a:txBody>
                    <a:bodyPr wrap="square"/>
                    <a:lstStyle/>
                    <a:p>
                      <a:pPr algn="l"/>
                      <a:r>
                        <a:rPr sz="1050" b="0" i="0">
                          <a:solidFill>
                            <a:srgbClr val="000000"/>
                          </a:solidFill>
                          <a:latin typeface="Calibri"/>
                        </a:rPr>
                        <a:t>Figure 336: South Africa Heavy Commercial Vehicle EPS Market Value, 2026–2036, By Vehicle Type</a:t>
                      </a:r>
                      <a:endParaRPr sz="1050"/>
                    </a:p>
                  </a:txBody>
                  <a:tcPr marL="9525" marR="9525" marT="9525" marB="0" anchor="ctr"/>
                </a:tc>
              </a:tr>
              <a:tr h="166688">
                <a:tc>
                  <a:txBody>
                    <a:bodyPr wrap="square"/>
                    <a:lstStyle/>
                    <a:p>
                      <a:pPr algn="l"/>
                      <a:r>
                        <a:rPr sz="1050" b="0" i="0">
                          <a:solidFill>
                            <a:srgbClr val="000000"/>
                          </a:solidFill>
                          <a:latin typeface="Calibri"/>
                        </a:rPr>
                        <a:t>Figure 337: South Africa Heavy Commercial Vehicle EPS Market Value, 2026–2036, By Demand Type</a:t>
                      </a:r>
                      <a:endParaRPr sz="1050"/>
                    </a:p>
                  </a:txBody>
                  <a:tcPr marL="9525" marR="9525" marT="9525" marB="0" anchor="ctr"/>
                </a:tc>
              </a:tr>
              <a:tr h="326708">
                <a:tc>
                  <a:txBody>
                    <a:bodyPr wrap="square"/>
                    <a:lstStyle/>
                    <a:p>
                      <a:pPr algn="l"/>
                      <a:r>
                        <a:rPr sz="1050" b="0" i="0">
                          <a:solidFill>
                            <a:srgbClr val="000000"/>
                          </a:solidFill>
                          <a:latin typeface="Calibri"/>
                        </a:rPr>
                        <a:t>Figure 338: South Africa Heavy Commercial Vehicle EPS Market Value, 2026–2036, By Gross Vehicle Weight</a:t>
                      </a:r>
                      <a:endParaRPr sz="1050"/>
                    </a:p>
                  </a:txBody>
                  <a:tcPr marL="9525" marR="9525" marT="9525" marB="0" anchor="ctr"/>
                </a:tc>
              </a:tr>
              <a:tr h="166688">
                <a:tc>
                  <a:txBody>
                    <a:bodyPr wrap="square"/>
                    <a:lstStyle/>
                    <a:p>
                      <a:pPr algn="l"/>
                      <a:r>
                        <a:rPr sz="1050" b="0" i="0">
                          <a:solidFill>
                            <a:srgbClr val="000000"/>
                          </a:solidFill>
                          <a:latin typeface="Calibri"/>
                        </a:rPr>
                        <a:t>Figure 339: South Africa Heavy Commercial Vehicle EPS Market Value, 2026–2036, By Propulsion Type</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(1/8)</a:t>
            </a:r>
          </a:p>
        </p:txBody>
      </p:sp>
      <p:graphicFrame>
        <p:nvGraphicFramePr>
          <p:cNvPr id="9" name="FMI Contents Table"/>
          <p:cNvGraphicFramePr>
            <a:graphicFrameLocks noGrp="1"/>
          </p:cNvGraphicFramePr>
          <p:nvPr/>
        </p:nvGraphicFramePr>
        <p:xfrm>
          <a:off x="142875" y="981075"/>
          <a:ext cx="5876925" cy="5257803"/>
        </p:xfrm>
        <a:graphic>
          <a:graphicData uri="http://schemas.openxmlformats.org/drawingml/2006/table">
            <a:tbl>
              <a:tblPr>
                <a:tableStyleId>{3B4B98B0-60AC-42C2-AFA5-B58CD77FA1E5}</a:tableStyleId>
              </a:tblPr>
              <a:tblGrid>
                <a:gridCol w="5876925"/>
              </a:tblGrid>
              <a:tr h="170708">
                <a:tc>
                  <a:txBody>
                    <a:bodyPr wrap="square"/>
                    <a:lstStyle/>
                    <a:p>
                      <a:pPr algn="l"/>
                      <a:r>
                        <a:rPr sz="1050" b="0" i="0">
                          <a:solidFill>
                            <a:srgbClr val="000000"/>
                          </a:solidFill>
                          <a:latin typeface="Calibri"/>
                        </a:rPr>
                        <a:t>Table 1: Global Heavy Commercial Vehicle EPS Market Value, 2021-2036 By System Architecture</a:t>
                      </a:r>
                      <a:endParaRPr sz="1050"/>
                    </a:p>
                  </a:txBody>
                  <a:tcPr marL="9525" marR="9525" marT="9525" marB="0" anchor="ctr"/>
                </a:tc>
              </a:tr>
              <a:tr h="170708">
                <a:tc>
                  <a:txBody>
                    <a:bodyPr wrap="square"/>
                    <a:lstStyle/>
                    <a:p>
                      <a:pPr algn="l"/>
                      <a:r>
                        <a:rPr sz="1050" b="0" i="0">
                          <a:solidFill>
                            <a:srgbClr val="000000"/>
                          </a:solidFill>
                          <a:latin typeface="Calibri"/>
                        </a:rPr>
                        <a:t>Table 2: Global Heavy Commercial Vehicle EPS Market Volume, 2021-2036 By System Architecture</a:t>
                      </a:r>
                      <a:endParaRPr sz="1050"/>
                    </a:p>
                  </a:txBody>
                  <a:tcPr marL="9525" marR="9525" marT="9525" marB="0" anchor="ctr"/>
                </a:tc>
              </a:tr>
              <a:tr h="170708">
                <a:tc>
                  <a:txBody>
                    <a:bodyPr wrap="square"/>
                    <a:lstStyle/>
                    <a:p>
                      <a:pPr algn="l"/>
                      <a:r>
                        <a:rPr sz="1050" b="0" i="0">
                          <a:solidFill>
                            <a:srgbClr val="000000"/>
                          </a:solidFill>
                          <a:latin typeface="Calibri"/>
                        </a:rPr>
                        <a:t>Table 3: Global Heavy Commercial Vehicle EPS Market Value, 2021-2036 By Vehicle Type</a:t>
                      </a:r>
                      <a:endParaRPr sz="1050"/>
                    </a:p>
                  </a:txBody>
                  <a:tcPr marL="9525" marR="9525" marT="9525" marB="0" anchor="ctr"/>
                </a:tc>
              </a:tr>
              <a:tr h="170708">
                <a:tc>
                  <a:txBody>
                    <a:bodyPr wrap="square"/>
                    <a:lstStyle/>
                    <a:p>
                      <a:pPr algn="l"/>
                      <a:r>
                        <a:rPr sz="1050" b="0" i="0">
                          <a:solidFill>
                            <a:srgbClr val="000000"/>
                          </a:solidFill>
                          <a:latin typeface="Calibri"/>
                        </a:rPr>
                        <a:t>Table 4: Global Heavy Commercial Vehicle EPS Market Volume, 2021-2036 By Vehicle Type</a:t>
                      </a:r>
                      <a:endParaRPr sz="1050"/>
                    </a:p>
                  </a:txBody>
                  <a:tcPr marL="9525" marR="9525" marT="9525" marB="0" anchor="ctr"/>
                </a:tc>
              </a:tr>
              <a:tr h="170708">
                <a:tc>
                  <a:txBody>
                    <a:bodyPr wrap="square"/>
                    <a:lstStyle/>
                    <a:p>
                      <a:pPr algn="l"/>
                      <a:r>
                        <a:rPr sz="1050" b="0" i="0">
                          <a:solidFill>
                            <a:srgbClr val="000000"/>
                          </a:solidFill>
                          <a:latin typeface="Calibri"/>
                        </a:rPr>
                        <a:t>Table 5: Global Heavy Commercial Vehicle EPS Market Value, 2021-2036 By Gross Vehicle Weight</a:t>
                      </a:r>
                      <a:endParaRPr sz="1050"/>
                    </a:p>
                  </a:txBody>
                  <a:tcPr marL="9525" marR="9525" marT="9525" marB="0" anchor="ctr"/>
                </a:tc>
              </a:tr>
              <a:tr h="170708">
                <a:tc>
                  <a:txBody>
                    <a:bodyPr wrap="square"/>
                    <a:lstStyle/>
                    <a:p>
                      <a:pPr algn="l"/>
                      <a:r>
                        <a:rPr sz="1050" b="0" i="0">
                          <a:solidFill>
                            <a:srgbClr val="000000"/>
                          </a:solidFill>
                          <a:latin typeface="Calibri"/>
                        </a:rPr>
                        <a:t>Table 6: Global Heavy Commercial Vehicle EPS Market Volume, 2021-2036 By Gross Vehicle Weight</a:t>
                      </a:r>
                      <a:endParaRPr sz="1050"/>
                    </a:p>
                  </a:txBody>
                  <a:tcPr marL="9525" marR="9525" marT="9525" marB="0" anchor="ctr"/>
                </a:tc>
              </a:tr>
              <a:tr h="170708">
                <a:tc>
                  <a:txBody>
                    <a:bodyPr wrap="square"/>
                    <a:lstStyle/>
                    <a:p>
                      <a:pPr algn="l"/>
                      <a:r>
                        <a:rPr sz="1050" b="0" i="0">
                          <a:solidFill>
                            <a:srgbClr val="000000"/>
                          </a:solidFill>
                          <a:latin typeface="Calibri"/>
                        </a:rPr>
                        <a:t>Table 7: Global Heavy Commercial Vehicle EPS Market Value, 2021-2036 By Propulsion Type</a:t>
                      </a:r>
                      <a:endParaRPr sz="1050"/>
                    </a:p>
                  </a:txBody>
                  <a:tcPr marL="9525" marR="9525" marT="9525" marB="0" anchor="ctr"/>
                </a:tc>
              </a:tr>
              <a:tr h="170708">
                <a:tc>
                  <a:txBody>
                    <a:bodyPr wrap="square"/>
                    <a:lstStyle/>
                    <a:p>
                      <a:pPr algn="l"/>
                      <a:r>
                        <a:rPr sz="1050" b="0" i="0">
                          <a:solidFill>
                            <a:srgbClr val="000000"/>
                          </a:solidFill>
                          <a:latin typeface="Calibri"/>
                        </a:rPr>
                        <a:t>Table 8: Global Heavy Commercial Vehicle EPS Market Volume, 2021-2036 By Propulsion Type</a:t>
                      </a:r>
                      <a:endParaRPr sz="1050"/>
                    </a:p>
                  </a:txBody>
                  <a:tcPr marL="9525" marR="9525" marT="9525" marB="0" anchor="ctr"/>
                </a:tc>
              </a:tr>
              <a:tr h="170708">
                <a:tc>
                  <a:txBody>
                    <a:bodyPr wrap="square"/>
                    <a:lstStyle/>
                    <a:p>
                      <a:pPr algn="l"/>
                      <a:r>
                        <a:rPr sz="1050" b="0" i="0">
                          <a:solidFill>
                            <a:srgbClr val="000000"/>
                          </a:solidFill>
                          <a:latin typeface="Calibri"/>
                        </a:rPr>
                        <a:t>Table 9: Global Heavy Commercial Vehicle EPS Market Value, 2021-2036 By Demand Type</a:t>
                      </a:r>
                      <a:endParaRPr sz="1050"/>
                    </a:p>
                  </a:txBody>
                  <a:tcPr marL="9525" marR="9525" marT="9525" marB="0" anchor="ctr"/>
                </a:tc>
              </a:tr>
              <a:tr h="170708">
                <a:tc>
                  <a:txBody>
                    <a:bodyPr wrap="square"/>
                    <a:lstStyle/>
                    <a:p>
                      <a:pPr algn="l"/>
                      <a:r>
                        <a:rPr sz="1050" b="0" i="0">
                          <a:solidFill>
                            <a:srgbClr val="000000"/>
                          </a:solidFill>
                          <a:latin typeface="Calibri"/>
                        </a:rPr>
                        <a:t>Table 10: Global Heavy Commercial Vehicle EPS Market Volume, 2021-2036 By Demand Type</a:t>
                      </a:r>
                      <a:endParaRPr sz="1050"/>
                    </a:p>
                  </a:txBody>
                  <a:tcPr marL="9525" marR="9525" marT="9525" marB="0" anchor="ctr"/>
                </a:tc>
              </a:tr>
              <a:tr h="170708">
                <a:tc>
                  <a:txBody>
                    <a:bodyPr wrap="square"/>
                    <a:lstStyle/>
                    <a:p>
                      <a:pPr algn="l"/>
                      <a:r>
                        <a:rPr sz="1050" b="0" i="0">
                          <a:solidFill>
                            <a:srgbClr val="000000"/>
                          </a:solidFill>
                          <a:latin typeface="Calibri"/>
                        </a:rPr>
                        <a:t>Table 11: Global Heavy Commercial Vehicle EPS Market Value, 2021-2036 By Region</a:t>
                      </a:r>
                      <a:endParaRPr sz="1050"/>
                    </a:p>
                  </a:txBody>
                  <a:tcPr marL="9525" marR="9525" marT="9525" marB="0" anchor="ctr"/>
                </a:tc>
              </a:tr>
              <a:tr h="170708">
                <a:tc>
                  <a:txBody>
                    <a:bodyPr wrap="square"/>
                    <a:lstStyle/>
                    <a:p>
                      <a:pPr algn="l"/>
                      <a:r>
                        <a:rPr sz="1050" b="0" i="0">
                          <a:solidFill>
                            <a:srgbClr val="000000"/>
                          </a:solidFill>
                          <a:latin typeface="Calibri"/>
                        </a:rPr>
                        <a:t>Table 12: Global Heavy Commercial Vehicle EPS Market Volume,2021-2036 By Region</a:t>
                      </a:r>
                      <a:endParaRPr sz="1050"/>
                    </a:p>
                  </a:txBody>
                  <a:tcPr marL="9525" marR="9525" marT="9525" marB="0" anchor="ctr"/>
                </a:tc>
              </a:tr>
              <a:tr h="334587">
                <a:tc>
                  <a:txBody>
                    <a:bodyPr wrap="square"/>
                    <a:lstStyle/>
                    <a:p>
                      <a:pPr algn="l"/>
                      <a:r>
                        <a:rPr sz="1050" b="0" i="0">
                          <a:solidFill>
                            <a:srgbClr val="000000"/>
                          </a:solidFill>
                          <a:latin typeface="Calibri"/>
                        </a:rPr>
                        <a:t>Table 13: North America Heavy Commercial Vehicle EPS Market Value, 2021-2036 By System Architecture</a:t>
                      </a:r>
                      <a:endParaRPr sz="1050"/>
                    </a:p>
                  </a:txBody>
                  <a:tcPr marL="9525" marR="9525" marT="9525" marB="0" anchor="ctr"/>
                </a:tc>
              </a:tr>
              <a:tr h="334587">
                <a:tc>
                  <a:txBody>
                    <a:bodyPr wrap="square"/>
                    <a:lstStyle/>
                    <a:p>
                      <a:pPr algn="l"/>
                      <a:r>
                        <a:rPr sz="1050" b="0" i="0">
                          <a:solidFill>
                            <a:srgbClr val="000000"/>
                          </a:solidFill>
                          <a:latin typeface="Calibri"/>
                        </a:rPr>
                        <a:t>Table 14: North America Heavy Commercial Vehicle EPS Market Volume, 2021-2036 By System Architecture</a:t>
                      </a:r>
                      <a:endParaRPr sz="1050"/>
                    </a:p>
                  </a:txBody>
                  <a:tcPr marL="9525" marR="9525" marT="9525" marB="0" anchor="ctr"/>
                </a:tc>
              </a:tr>
              <a:tr h="170708">
                <a:tc>
                  <a:txBody>
                    <a:bodyPr wrap="square"/>
                    <a:lstStyle/>
                    <a:p>
                      <a:pPr algn="l"/>
                      <a:r>
                        <a:rPr sz="1050" b="0" i="0">
                          <a:solidFill>
                            <a:srgbClr val="000000"/>
                          </a:solidFill>
                          <a:latin typeface="Calibri"/>
                        </a:rPr>
                        <a:t>Table 15: North America Heavy Commercial Vehicle EPS Market Value, 2021-2036 By Vehicle Type</a:t>
                      </a:r>
                      <a:endParaRPr sz="1050"/>
                    </a:p>
                  </a:txBody>
                  <a:tcPr marL="9525" marR="9525" marT="9525" marB="0" anchor="ctr"/>
                </a:tc>
              </a:tr>
              <a:tr h="170708">
                <a:tc>
                  <a:txBody>
                    <a:bodyPr wrap="square"/>
                    <a:lstStyle/>
                    <a:p>
                      <a:pPr algn="l"/>
                      <a:r>
                        <a:rPr sz="1050" b="0" i="0">
                          <a:solidFill>
                            <a:srgbClr val="000000"/>
                          </a:solidFill>
                          <a:latin typeface="Calibri"/>
                        </a:rPr>
                        <a:t>Table 16: North America Heavy Commercial Vehicle EPS Market Volume, 2021-2036 By Vehicle Type</a:t>
                      </a:r>
                      <a:endParaRPr sz="1050"/>
                    </a:p>
                  </a:txBody>
                  <a:tcPr marL="9525" marR="9525" marT="9525" marB="0" anchor="ctr"/>
                </a:tc>
              </a:tr>
              <a:tr h="334587">
                <a:tc>
                  <a:txBody>
                    <a:bodyPr wrap="square"/>
                    <a:lstStyle/>
                    <a:p>
                      <a:pPr algn="l"/>
                      <a:r>
                        <a:rPr sz="1050" b="0" i="0">
                          <a:solidFill>
                            <a:srgbClr val="000000"/>
                          </a:solidFill>
                          <a:latin typeface="Calibri"/>
                        </a:rPr>
                        <a:t>Table 17: North America Heavy Commercial Vehicle EPS Market Value, 2021-2036 By Gross Vehicle Weight</a:t>
                      </a:r>
                      <a:endParaRPr sz="1050"/>
                    </a:p>
                  </a:txBody>
                  <a:tcPr marL="9525" marR="9525" marT="9525" marB="0" anchor="ctr"/>
                </a:tc>
              </a:tr>
              <a:tr h="334587">
                <a:tc>
                  <a:txBody>
                    <a:bodyPr wrap="square"/>
                    <a:lstStyle/>
                    <a:p>
                      <a:pPr algn="l"/>
                      <a:r>
                        <a:rPr sz="1050" b="0" i="0">
                          <a:solidFill>
                            <a:srgbClr val="000000"/>
                          </a:solidFill>
                          <a:latin typeface="Calibri"/>
                        </a:rPr>
                        <a:t>Table 18: North America Heavy Commercial Vehicle EPS Market Volume, 2021-2036 By Gross Vehicle Weight</a:t>
                      </a:r>
                      <a:endParaRPr sz="1050"/>
                    </a:p>
                  </a:txBody>
                  <a:tcPr marL="9525" marR="9525" marT="9525" marB="0" anchor="ctr"/>
                </a:tc>
              </a:tr>
              <a:tr h="170708">
                <a:tc>
                  <a:txBody>
                    <a:bodyPr wrap="square"/>
                    <a:lstStyle/>
                    <a:p>
                      <a:pPr algn="l"/>
                      <a:r>
                        <a:rPr sz="1050" b="0" i="0">
                          <a:solidFill>
                            <a:srgbClr val="000000"/>
                          </a:solidFill>
                          <a:latin typeface="Calibri"/>
                        </a:rPr>
                        <a:t>Table 19: North America Heavy Commercial Vehicle EPS Market Value, 2021-2036 By Propulsion Type</a:t>
                      </a:r>
                      <a:endParaRPr sz="1050"/>
                    </a:p>
                  </a:txBody>
                  <a:tcPr marL="9525" marR="9525" marT="9525" marB="0" anchor="ctr"/>
                </a:tc>
              </a:tr>
              <a:tr h="334587">
                <a:tc>
                  <a:txBody>
                    <a:bodyPr wrap="square"/>
                    <a:lstStyle/>
                    <a:p>
                      <a:pPr algn="l"/>
                      <a:r>
                        <a:rPr sz="1050" b="0" i="0">
                          <a:solidFill>
                            <a:srgbClr val="000000"/>
                          </a:solidFill>
                          <a:latin typeface="Calibri"/>
                        </a:rPr>
                        <a:t>Table 20: North America Heavy Commercial Vehicle EPS Market Volume, 2021-2036 By Propulsion Type</a:t>
                      </a:r>
                      <a:endParaRPr sz="1050"/>
                    </a:p>
                  </a:txBody>
                  <a:tcPr marL="9525" marR="9525" marT="9525" marB="0" anchor="ctr"/>
                </a:tc>
              </a:tr>
              <a:tr h="170708">
                <a:tc>
                  <a:txBody>
                    <a:bodyPr wrap="square"/>
                    <a:lstStyle/>
                    <a:p>
                      <a:pPr algn="l"/>
                      <a:r>
                        <a:rPr sz="1050" b="0" i="0">
                          <a:solidFill>
                            <a:srgbClr val="000000"/>
                          </a:solidFill>
                          <a:latin typeface="Calibri"/>
                        </a:rPr>
                        <a:t>Table 21: North America Heavy Commercial Vehicle EPS Market Value, 2021-2036 By Demand Type</a:t>
                      </a:r>
                      <a:endParaRPr sz="1050"/>
                    </a:p>
                  </a:txBody>
                  <a:tcPr marL="9525" marR="9525" marT="9525" marB="0" anchor="ctr"/>
                </a:tc>
              </a:tr>
              <a:tr h="170708">
                <a:tc>
                  <a:txBody>
                    <a:bodyPr wrap="square"/>
                    <a:lstStyle/>
                    <a:p>
                      <a:pPr algn="l"/>
                      <a:r>
                        <a:rPr sz="1050" b="0" i="0">
                          <a:solidFill>
                            <a:srgbClr val="000000"/>
                          </a:solidFill>
                          <a:latin typeface="Calibri"/>
                        </a:rPr>
                        <a:t>Table 22: North America Heavy Commercial Vehicle EPS Market Volume, 2021-2036 By Demand Type</a:t>
                      </a:r>
                      <a:endParaRPr sz="1050"/>
                    </a:p>
                  </a:txBody>
                  <a:tcPr marL="9525" marR="9525" marT="9525" marB="0" anchor="ctr"/>
                </a:tc>
              </a:tr>
              <a:tr h="170708">
                <a:tc>
                  <a:txBody>
                    <a:bodyPr wrap="square"/>
                    <a:lstStyle/>
                    <a:p>
                      <a:pPr algn="l"/>
                      <a:r>
                        <a:rPr sz="1050" b="0" i="0">
                          <a:solidFill>
                            <a:srgbClr val="000000"/>
                          </a:solidFill>
                          <a:latin typeface="Calibri"/>
                        </a:rPr>
                        <a:t>Table 23: North America Heavy Commercial Vehicle EPS Market Value, 2021-2036 By Country</a:t>
                      </a:r>
                      <a:endParaRPr sz="1050"/>
                    </a:p>
                  </a:txBody>
                  <a:tcPr marL="9525" marR="9525" marT="9525" marB="0" anchor="ctr"/>
                </a:tc>
              </a:tr>
              <a:tr h="170708">
                <a:tc>
                  <a:txBody>
                    <a:bodyPr wrap="square"/>
                    <a:lstStyle/>
                    <a:p>
                      <a:pPr algn="l"/>
                      <a:r>
                        <a:rPr sz="1050" b="0" i="0">
                          <a:solidFill>
                            <a:srgbClr val="000000"/>
                          </a:solidFill>
                          <a:latin typeface="Calibri"/>
                        </a:rPr>
                        <a:t>Table 24: North America Heavy Commercial Vehicle EPS Market Volume,2021-2036 By Country</a:t>
                      </a:r>
                      <a:endParaRPr sz="1050"/>
                    </a:p>
                  </a:txBody>
                  <a:tcPr marL="9525" marR="9525" marT="9525" marB="0" anchor="ctr"/>
                </a:tc>
              </a:tr>
              <a:tr h="170708">
                <a:tc>
                  <a:txBody>
                    <a:bodyPr wrap="square"/>
                    <a:lstStyle/>
                    <a:p>
                      <a:pPr algn="l"/>
                      <a:r>
                        <a:rPr sz="1050" b="0" i="0">
                          <a:solidFill>
                            <a:srgbClr val="000000"/>
                          </a:solidFill>
                          <a:latin typeface="Calibri"/>
                        </a:rPr>
                        <a:t>Table 25: U.S. Heavy Commercial Vehicle EPS Market Value, 2021-2036 By System Architecture</a:t>
                      </a:r>
                      <a:endParaRPr sz="1050"/>
                    </a:p>
                  </a:txBody>
                  <a:tcPr marL="9525" marR="9525" marT="9525" marB="0" anchor="ctr"/>
                </a:tc>
              </a:tr>
              <a:tr h="170708">
                <a:tc>
                  <a:txBody>
                    <a:bodyPr wrap="square"/>
                    <a:lstStyle/>
                    <a:p>
                      <a:pPr algn="l"/>
                      <a:r>
                        <a:rPr sz="1050" b="0" i="0">
                          <a:solidFill>
                            <a:srgbClr val="000000"/>
                          </a:solidFill>
                          <a:latin typeface="Calibri"/>
                        </a:rPr>
                        <a:t>Table 26: U.S. Heavy Commercial Vehicle EPS Market Volume, 2021-2036 By System Architecture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494">
                <a:tc>
                  <a:txBody>
                    <a:bodyPr wrap="square"/>
                    <a:lstStyle/>
                    <a:p>
                      <a:pPr algn="l"/>
                      <a:r>
                        <a:rPr sz="1050" b="0" i="0">
                          <a:solidFill>
                            <a:srgbClr val="000000"/>
                          </a:solidFill>
                          <a:latin typeface="Calibri"/>
                        </a:rPr>
                        <a:t>Table 27: U.S. Heavy Commercial Vehicle EPS Market Value, 2021-2036 By Vehicle Type</a:t>
                      </a:r>
                      <a:endParaRPr sz="1050"/>
                    </a:p>
                  </a:txBody>
                  <a:tcPr marL="9525" marR="9525" marT="9525" marB="0" anchor="ctr"/>
                </a:tc>
              </a:tr>
              <a:tr h="175494">
                <a:tc>
                  <a:txBody>
                    <a:bodyPr wrap="square"/>
                    <a:lstStyle/>
                    <a:p>
                      <a:pPr algn="l"/>
                      <a:r>
                        <a:rPr sz="1050" b="0" i="0">
                          <a:solidFill>
                            <a:srgbClr val="000000"/>
                          </a:solidFill>
                          <a:latin typeface="Calibri"/>
                        </a:rPr>
                        <a:t>Table 28: U.S. Heavy Commercial Vehicle EPS Market Volume, 2021-2036 By Vehicle Type</a:t>
                      </a:r>
                      <a:endParaRPr sz="1050"/>
                    </a:p>
                  </a:txBody>
                  <a:tcPr marL="9525" marR="9525" marT="9525" marB="0" anchor="ctr"/>
                </a:tc>
              </a:tr>
              <a:tr h="175494">
                <a:tc>
                  <a:txBody>
                    <a:bodyPr wrap="square"/>
                    <a:lstStyle/>
                    <a:p>
                      <a:pPr algn="l"/>
                      <a:r>
                        <a:rPr sz="1050" b="0" i="0">
                          <a:solidFill>
                            <a:srgbClr val="000000"/>
                          </a:solidFill>
                          <a:latin typeface="Calibri"/>
                        </a:rPr>
                        <a:t>Table 29: U.S. Heavy Commercial Vehicle EPS Market Value, 2021-2036 By Gross Vehicle Weight</a:t>
                      </a:r>
                      <a:endParaRPr sz="1050"/>
                    </a:p>
                  </a:txBody>
                  <a:tcPr marL="9525" marR="9525" marT="9525" marB="0" anchor="ctr"/>
                </a:tc>
              </a:tr>
              <a:tr h="175494">
                <a:tc>
                  <a:txBody>
                    <a:bodyPr wrap="square"/>
                    <a:lstStyle/>
                    <a:p>
                      <a:pPr algn="l"/>
                      <a:r>
                        <a:rPr sz="1050" b="0" i="0">
                          <a:solidFill>
                            <a:srgbClr val="000000"/>
                          </a:solidFill>
                          <a:latin typeface="Calibri"/>
                        </a:rPr>
                        <a:t>Table 30: U.S. Heavy Commercial Vehicle EPS Market Volume, 2021-2036 By Gross Vehicle Weight</a:t>
                      </a:r>
                      <a:endParaRPr sz="1050"/>
                    </a:p>
                  </a:txBody>
                  <a:tcPr marL="9525" marR="9525" marT="9525" marB="0" anchor="ctr"/>
                </a:tc>
              </a:tr>
              <a:tr h="175494">
                <a:tc>
                  <a:txBody>
                    <a:bodyPr wrap="square"/>
                    <a:lstStyle/>
                    <a:p>
                      <a:pPr algn="l"/>
                      <a:r>
                        <a:rPr sz="1050" b="0" i="0">
                          <a:solidFill>
                            <a:srgbClr val="000000"/>
                          </a:solidFill>
                          <a:latin typeface="Calibri"/>
                        </a:rPr>
                        <a:t>Table 31: U.S. Heavy Commercial Vehicle EPS Market Value, 2021-2036 By Propulsion Type</a:t>
                      </a:r>
                      <a:endParaRPr sz="1050"/>
                    </a:p>
                  </a:txBody>
                  <a:tcPr marL="9525" marR="9525" marT="9525" marB="0" anchor="ctr"/>
                </a:tc>
              </a:tr>
              <a:tr h="175494">
                <a:tc>
                  <a:txBody>
                    <a:bodyPr wrap="square"/>
                    <a:lstStyle/>
                    <a:p>
                      <a:pPr algn="l"/>
                      <a:r>
                        <a:rPr sz="1050" b="0" i="0">
                          <a:solidFill>
                            <a:srgbClr val="000000"/>
                          </a:solidFill>
                          <a:latin typeface="Calibri"/>
                        </a:rPr>
                        <a:t>Table 32: U.S. Heavy Commercial Vehicle EPS Market Volume, 2021-2036 By Propulsion Type</a:t>
                      </a:r>
                      <a:endParaRPr sz="1050"/>
                    </a:p>
                  </a:txBody>
                  <a:tcPr marL="9525" marR="9525" marT="9525" marB="0" anchor="ctr"/>
                </a:tc>
              </a:tr>
              <a:tr h="175494">
                <a:tc>
                  <a:txBody>
                    <a:bodyPr wrap="square"/>
                    <a:lstStyle/>
                    <a:p>
                      <a:pPr algn="l"/>
                      <a:r>
                        <a:rPr sz="1050" b="0" i="0">
                          <a:solidFill>
                            <a:srgbClr val="000000"/>
                          </a:solidFill>
                          <a:latin typeface="Calibri"/>
                        </a:rPr>
                        <a:t>Table 33: U.S. Heavy Commercial Vehicle EPS Market Value, 2021-2036 By Demand Type</a:t>
                      </a:r>
                      <a:endParaRPr sz="1050"/>
                    </a:p>
                  </a:txBody>
                  <a:tcPr marL="9525" marR="9525" marT="9525" marB="0" anchor="ctr"/>
                </a:tc>
              </a:tr>
              <a:tr h="175494">
                <a:tc>
                  <a:txBody>
                    <a:bodyPr wrap="square"/>
                    <a:lstStyle/>
                    <a:p>
                      <a:pPr algn="l"/>
                      <a:r>
                        <a:rPr sz="1050" b="0" i="0">
                          <a:solidFill>
                            <a:srgbClr val="000000"/>
                          </a:solidFill>
                          <a:latin typeface="Calibri"/>
                        </a:rPr>
                        <a:t>Table 34: U.S. Heavy Commercial Vehicle EPS Market Volume, 2021-2036 By Demand Type</a:t>
                      </a:r>
                      <a:endParaRPr sz="1050"/>
                    </a:p>
                  </a:txBody>
                  <a:tcPr marL="9525" marR="9525" marT="9525" marB="0" anchor="ctr"/>
                </a:tc>
              </a:tr>
              <a:tr h="175494">
                <a:tc>
                  <a:txBody>
                    <a:bodyPr wrap="square"/>
                    <a:lstStyle/>
                    <a:p>
                      <a:pPr algn="l"/>
                      <a:r>
                        <a:rPr sz="1050" b="0" i="0">
                          <a:solidFill>
                            <a:srgbClr val="000000"/>
                          </a:solidFill>
                          <a:latin typeface="Calibri"/>
                        </a:rPr>
                        <a:t>Table 35: Canada Heavy Commercial Vehicle EPS Market Value, 2021-2036 By System Architecture</a:t>
                      </a:r>
                      <a:endParaRPr sz="1050"/>
                    </a:p>
                  </a:txBody>
                  <a:tcPr marL="9525" marR="9525" marT="9525" marB="0" anchor="ctr"/>
                </a:tc>
              </a:tr>
              <a:tr h="175494">
                <a:tc>
                  <a:txBody>
                    <a:bodyPr wrap="square"/>
                    <a:lstStyle/>
                    <a:p>
                      <a:pPr algn="l"/>
                      <a:r>
                        <a:rPr sz="1050" b="0" i="0">
                          <a:solidFill>
                            <a:srgbClr val="000000"/>
                          </a:solidFill>
                          <a:latin typeface="Calibri"/>
                        </a:rPr>
                        <a:t>Table 36: Canada Heavy Commercial Vehicle EPS Market Volume, 2021-2036 By System Architecture</a:t>
                      </a:r>
                      <a:endParaRPr sz="1050"/>
                    </a:p>
                  </a:txBody>
                  <a:tcPr marL="9525" marR="9525" marT="9525" marB="0" anchor="ctr"/>
                </a:tc>
              </a:tr>
              <a:tr h="175494">
                <a:tc>
                  <a:txBody>
                    <a:bodyPr wrap="square"/>
                    <a:lstStyle/>
                    <a:p>
                      <a:pPr algn="l"/>
                      <a:r>
                        <a:rPr sz="1050" b="0" i="0">
                          <a:solidFill>
                            <a:srgbClr val="000000"/>
                          </a:solidFill>
                          <a:latin typeface="Calibri"/>
                        </a:rPr>
                        <a:t>Table 37: Canada Heavy Commercial Vehicle EPS Market Value, 2021-2036 By Vehicle Type</a:t>
                      </a:r>
                      <a:endParaRPr sz="1050"/>
                    </a:p>
                  </a:txBody>
                  <a:tcPr marL="9525" marR="9525" marT="9525" marB="0" anchor="ctr"/>
                </a:tc>
              </a:tr>
              <a:tr h="175494">
                <a:tc>
                  <a:txBody>
                    <a:bodyPr wrap="square"/>
                    <a:lstStyle/>
                    <a:p>
                      <a:pPr algn="l"/>
                      <a:r>
                        <a:rPr sz="1050" b="0" i="0">
                          <a:solidFill>
                            <a:srgbClr val="000000"/>
                          </a:solidFill>
                          <a:latin typeface="Calibri"/>
                        </a:rPr>
                        <a:t>Table 38: Canada Heavy Commercial Vehicle EPS Market Volume, 2021-2036 By Vehicle Type</a:t>
                      </a:r>
                      <a:endParaRPr sz="1050"/>
                    </a:p>
                  </a:txBody>
                  <a:tcPr marL="9525" marR="9525" marT="9525" marB="0" anchor="ctr"/>
                </a:tc>
              </a:tr>
              <a:tr h="175494">
                <a:tc>
                  <a:txBody>
                    <a:bodyPr wrap="square"/>
                    <a:lstStyle/>
                    <a:p>
                      <a:pPr algn="l"/>
                      <a:r>
                        <a:rPr sz="1050" b="0" i="0">
                          <a:solidFill>
                            <a:srgbClr val="000000"/>
                          </a:solidFill>
                          <a:latin typeface="Calibri"/>
                        </a:rPr>
                        <a:t>Table 39: Canada Heavy Commercial Vehicle EPS Market Value, 2021-2036 By Gross Vehicle Weight</a:t>
                      </a:r>
                      <a:endParaRPr sz="1050"/>
                    </a:p>
                  </a:txBody>
                  <a:tcPr marL="9525" marR="9525" marT="9525" marB="0" anchor="ctr"/>
                </a:tc>
              </a:tr>
              <a:tr h="175494">
                <a:tc>
                  <a:txBody>
                    <a:bodyPr wrap="square"/>
                    <a:lstStyle/>
                    <a:p>
                      <a:pPr algn="l"/>
                      <a:r>
                        <a:rPr sz="1050" b="0" i="0">
                          <a:solidFill>
                            <a:srgbClr val="000000"/>
                          </a:solidFill>
                          <a:latin typeface="Calibri"/>
                        </a:rPr>
                        <a:t>Table 40: Canada Heavy Commercial Vehicle EPS Market Volume, 2021-2036 By Gross Vehicle Weight</a:t>
                      </a:r>
                      <a:endParaRPr sz="1050"/>
                    </a:p>
                  </a:txBody>
                  <a:tcPr marL="9525" marR="9525" marT="9525" marB="0" anchor="ctr"/>
                </a:tc>
              </a:tr>
              <a:tr h="175494">
                <a:tc>
                  <a:txBody>
                    <a:bodyPr wrap="square"/>
                    <a:lstStyle/>
                    <a:p>
                      <a:pPr algn="l"/>
                      <a:r>
                        <a:rPr sz="1050" b="0" i="0">
                          <a:solidFill>
                            <a:srgbClr val="000000"/>
                          </a:solidFill>
                          <a:latin typeface="Calibri"/>
                        </a:rPr>
                        <a:t>Table 41: Canada Heavy Commercial Vehicle EPS Market Value, 2021-2036 By Propulsion Type</a:t>
                      </a:r>
                      <a:endParaRPr sz="1050"/>
                    </a:p>
                  </a:txBody>
                  <a:tcPr marL="9525" marR="9525" marT="9525" marB="0" anchor="ctr"/>
                </a:tc>
              </a:tr>
              <a:tr h="175494">
                <a:tc>
                  <a:txBody>
                    <a:bodyPr wrap="square"/>
                    <a:lstStyle/>
                    <a:p>
                      <a:pPr algn="l"/>
                      <a:r>
                        <a:rPr sz="1050" b="0" i="0">
                          <a:solidFill>
                            <a:srgbClr val="000000"/>
                          </a:solidFill>
                          <a:latin typeface="Calibri"/>
                        </a:rPr>
                        <a:t>Table 42: Canada Heavy Commercial Vehicle EPS Market Volume, 2021-2036 By Propulsion Type</a:t>
                      </a:r>
                      <a:endParaRPr sz="1050"/>
                    </a:p>
                  </a:txBody>
                  <a:tcPr marL="9525" marR="9525" marT="9525" marB="0" anchor="ctr"/>
                </a:tc>
              </a:tr>
              <a:tr h="175494">
                <a:tc>
                  <a:txBody>
                    <a:bodyPr wrap="square"/>
                    <a:lstStyle/>
                    <a:p>
                      <a:pPr algn="l"/>
                      <a:r>
                        <a:rPr sz="1050" b="0" i="0">
                          <a:solidFill>
                            <a:srgbClr val="000000"/>
                          </a:solidFill>
                          <a:latin typeface="Calibri"/>
                        </a:rPr>
                        <a:t>Table 43: Canada Heavy Commercial Vehicle EPS Market Value, 2021-2036 By Demand Type</a:t>
                      </a:r>
                      <a:endParaRPr sz="1050"/>
                    </a:p>
                  </a:txBody>
                  <a:tcPr marL="9525" marR="9525" marT="9525" marB="0" anchor="ctr"/>
                </a:tc>
              </a:tr>
              <a:tr h="175494">
                <a:tc>
                  <a:txBody>
                    <a:bodyPr wrap="square"/>
                    <a:lstStyle/>
                    <a:p>
                      <a:pPr algn="l"/>
                      <a:r>
                        <a:rPr sz="1050" b="0" i="0">
                          <a:solidFill>
                            <a:srgbClr val="000000"/>
                          </a:solidFill>
                          <a:latin typeface="Calibri"/>
                        </a:rPr>
                        <a:t>Table 44: Canada Heavy Commercial Vehicle EPS Market Volume, 2021-2036 By Demand Type</a:t>
                      </a:r>
                      <a:endParaRPr sz="1050"/>
                    </a:p>
                  </a:txBody>
                  <a:tcPr marL="9525" marR="9525" marT="9525" marB="0" anchor="ctr"/>
                </a:tc>
              </a:tr>
              <a:tr h="175494">
                <a:tc>
                  <a:txBody>
                    <a:bodyPr wrap="square"/>
                    <a:lstStyle/>
                    <a:p>
                      <a:pPr algn="l"/>
                      <a:r>
                        <a:rPr sz="1050" b="0" i="0">
                          <a:solidFill>
                            <a:srgbClr val="000000"/>
                          </a:solidFill>
                          <a:latin typeface="Calibri"/>
                        </a:rPr>
                        <a:t>Table 45: Mexico Heavy Commercial Vehicle EPS Market Value, 2021-2036 By System Architecture</a:t>
                      </a:r>
                      <a:endParaRPr sz="1050"/>
                    </a:p>
                  </a:txBody>
                  <a:tcPr marL="9525" marR="9525" marT="9525" marB="0" anchor="ctr"/>
                </a:tc>
              </a:tr>
              <a:tr h="175494">
                <a:tc>
                  <a:txBody>
                    <a:bodyPr wrap="square"/>
                    <a:lstStyle/>
                    <a:p>
                      <a:pPr algn="l"/>
                      <a:r>
                        <a:rPr sz="1050" b="0" i="0">
                          <a:solidFill>
                            <a:srgbClr val="000000"/>
                          </a:solidFill>
                          <a:latin typeface="Calibri"/>
                        </a:rPr>
                        <a:t>Table 46: Mexico Heavy Commercial Vehicle EPS Market Volume, 2021-2036 By System Architecture</a:t>
                      </a:r>
                      <a:endParaRPr sz="1050"/>
                    </a:p>
                  </a:txBody>
                  <a:tcPr marL="9525" marR="9525" marT="9525" marB="0" anchor="ctr"/>
                </a:tc>
              </a:tr>
              <a:tr h="175494">
                <a:tc>
                  <a:txBody>
                    <a:bodyPr wrap="square"/>
                    <a:lstStyle/>
                    <a:p>
                      <a:pPr algn="l"/>
                      <a:r>
                        <a:rPr sz="1050" b="0" i="0">
                          <a:solidFill>
                            <a:srgbClr val="000000"/>
                          </a:solidFill>
                          <a:latin typeface="Calibri"/>
                        </a:rPr>
                        <a:t>Table 47: Mexico Heavy Commercial Vehicle EPS Market Value, 2021-2036 By Vehicle Type</a:t>
                      </a:r>
                      <a:endParaRPr sz="1050"/>
                    </a:p>
                  </a:txBody>
                  <a:tcPr marL="9525" marR="9525" marT="9525" marB="0" anchor="ctr"/>
                </a:tc>
              </a:tr>
              <a:tr h="175494">
                <a:tc>
                  <a:txBody>
                    <a:bodyPr wrap="square"/>
                    <a:lstStyle/>
                    <a:p>
                      <a:pPr algn="l"/>
                      <a:r>
                        <a:rPr sz="1050" b="0" i="0">
                          <a:solidFill>
                            <a:srgbClr val="000000"/>
                          </a:solidFill>
                          <a:latin typeface="Calibri"/>
                        </a:rPr>
                        <a:t>Table 48: Mexico Heavy Commercial Vehicle EPS Market Volume, 2021-2036 By Vehicle Type</a:t>
                      </a:r>
                      <a:endParaRPr sz="1050"/>
                    </a:p>
                  </a:txBody>
                  <a:tcPr marL="9525" marR="9525" marT="9525" marB="0" anchor="ctr"/>
                </a:tc>
              </a:tr>
              <a:tr h="175494">
                <a:tc>
                  <a:txBody>
                    <a:bodyPr wrap="square"/>
                    <a:lstStyle/>
                    <a:p>
                      <a:pPr algn="l"/>
                      <a:r>
                        <a:rPr sz="1050" b="0" i="0">
                          <a:solidFill>
                            <a:srgbClr val="000000"/>
                          </a:solidFill>
                          <a:latin typeface="Calibri"/>
                        </a:rPr>
                        <a:t>Table 49: Mexico Heavy Commercial Vehicle EPS Market Value, 2021-2036 By Gross Vehicle Weight</a:t>
                      </a:r>
                      <a:endParaRPr sz="1050"/>
                    </a:p>
                  </a:txBody>
                  <a:tcPr marL="9525" marR="9525" marT="9525" marB="0" anchor="ctr"/>
                </a:tc>
              </a:tr>
              <a:tr h="175494">
                <a:tc>
                  <a:txBody>
                    <a:bodyPr wrap="square"/>
                    <a:lstStyle/>
                    <a:p>
                      <a:pPr algn="l"/>
                      <a:r>
                        <a:rPr sz="1050" b="0" i="0">
                          <a:solidFill>
                            <a:srgbClr val="000000"/>
                          </a:solidFill>
                          <a:latin typeface="Calibri"/>
                        </a:rPr>
                        <a:t>Table 50: Mexico Heavy Commercial Vehicle EPS Market Volume, 2021-2036 By Gross Vehicle Weight</a:t>
                      </a:r>
                      <a:endParaRPr sz="1050"/>
                    </a:p>
                  </a:txBody>
                  <a:tcPr marL="9525" marR="9525" marT="9525" marB="0" anchor="ctr"/>
                </a:tc>
              </a:tr>
              <a:tr h="175494">
                <a:tc>
                  <a:txBody>
                    <a:bodyPr wrap="square"/>
                    <a:lstStyle/>
                    <a:p>
                      <a:pPr algn="l"/>
                      <a:r>
                        <a:rPr sz="1050" b="0" i="0">
                          <a:solidFill>
                            <a:srgbClr val="000000"/>
                          </a:solidFill>
                          <a:latin typeface="Calibri"/>
                        </a:rPr>
                        <a:t>Table 51: Mexico Heavy Commercial Vehicle EPS Market Value, 2021-2036 By Propulsion Type</a:t>
                      </a:r>
                      <a:endParaRPr sz="1050"/>
                    </a:p>
                  </a:txBody>
                  <a:tcPr marL="9525" marR="9525" marT="9525" marB="0" anchor="ctr"/>
                </a:tc>
              </a:tr>
              <a:tr h="175494">
                <a:tc>
                  <a:txBody>
                    <a:bodyPr wrap="square"/>
                    <a:lstStyle/>
                    <a:p>
                      <a:pPr algn="l"/>
                      <a:r>
                        <a:rPr sz="1050" b="0" i="0">
                          <a:solidFill>
                            <a:srgbClr val="000000"/>
                          </a:solidFill>
                          <a:latin typeface="Calibri"/>
                        </a:rPr>
                        <a:t>Table 52: Mexico Heavy Commercial Vehicle EPS Market Volume, 2021-2036 By Propulsion Type</a:t>
                      </a:r>
                      <a:endParaRPr sz="1050"/>
                    </a:p>
                  </a:txBody>
                  <a:tcPr marL="9525" marR="9525" marT="9525" marB="0" anchor="ctr"/>
                </a:tc>
              </a:tr>
              <a:tr h="175494">
                <a:tc>
                  <a:txBody>
                    <a:bodyPr wrap="square"/>
                    <a:lstStyle/>
                    <a:p>
                      <a:pPr algn="l"/>
                      <a:r>
                        <a:rPr sz="1050" b="0" i="0">
                          <a:solidFill>
                            <a:srgbClr val="000000"/>
                          </a:solidFill>
                          <a:latin typeface="Calibri"/>
                        </a:rPr>
                        <a:t>Table 53: Mexico Heavy Commercial Vehicle EPS Market Value, 2021-2036 By Demand Type</a:t>
                      </a:r>
                      <a:endParaRPr sz="1050"/>
                    </a:p>
                  </a:txBody>
                  <a:tcPr marL="9525" marR="9525" marT="9525" marB="0" anchor="ctr"/>
                </a:tc>
              </a:tr>
              <a:tr h="175494">
                <a:tc>
                  <a:txBody>
                    <a:bodyPr wrap="square"/>
                    <a:lstStyle/>
                    <a:p>
                      <a:pPr algn="l"/>
                      <a:r>
                        <a:rPr sz="1050" b="0" i="0">
                          <a:solidFill>
                            <a:srgbClr val="000000"/>
                          </a:solidFill>
                          <a:latin typeface="Calibri"/>
                        </a:rPr>
                        <a:t>Table 54: Mexico Heavy Commercial Vehicle EPS Market Volume, 2021-2036 By Demand Type</a:t>
                      </a:r>
                      <a:endParaRPr sz="1050"/>
                    </a:p>
                  </a:txBody>
                  <a:tcPr marL="9525" marR="9525" marT="9525" marB="0" anchor="ctr"/>
                </a:tc>
              </a:tr>
              <a:tr h="343968">
                <a:tc>
                  <a:txBody>
                    <a:bodyPr wrap="square"/>
                    <a:lstStyle/>
                    <a:p>
                      <a:pPr algn="l"/>
                      <a:r>
                        <a:rPr sz="1050" b="0" i="0">
                          <a:solidFill>
                            <a:srgbClr val="000000"/>
                          </a:solidFill>
                          <a:latin typeface="Calibri"/>
                        </a:rPr>
                        <a:t>Table 55: Latin America Heavy Commercial Vehicle EPS Market Value, 2021-2036 By System Architecture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(2/8)</a:t>
            </a:r>
          </a:p>
        </p:txBody>
      </p:sp>
      <p:graphicFrame>
        <p:nvGraphicFramePr>
          <p:cNvPr id="9" name="FMI Contents Table"/>
          <p:cNvGraphicFramePr>
            <a:graphicFrameLocks noGrp="1"/>
          </p:cNvGraphicFramePr>
          <p:nvPr/>
        </p:nvGraphicFramePr>
        <p:xfrm>
          <a:off x="142875" y="981075"/>
          <a:ext cx="5876925" cy="5257790"/>
        </p:xfrm>
        <a:graphic>
          <a:graphicData uri="http://schemas.openxmlformats.org/drawingml/2006/table">
            <a:tbl>
              <a:tblPr>
                <a:tableStyleId>{3B4B98B0-60AC-42C2-AFA5-B58CD77FA1E5}</a:tableStyleId>
              </a:tblPr>
              <a:tblGrid>
                <a:gridCol w="5876925"/>
              </a:tblGrid>
              <a:tr h="334153">
                <a:tc>
                  <a:txBody>
                    <a:bodyPr wrap="square"/>
                    <a:lstStyle/>
                    <a:p>
                      <a:pPr algn="l"/>
                      <a:r>
                        <a:rPr sz="1050" b="0" i="0">
                          <a:solidFill>
                            <a:srgbClr val="000000"/>
                          </a:solidFill>
                          <a:latin typeface="Calibri"/>
                        </a:rPr>
                        <a:t>Table 56: Latin America Heavy Commercial Vehicle EPS Market Volume, 2021-2036 By System Architecture</a:t>
                      </a:r>
                      <a:endParaRPr sz="1050"/>
                    </a:p>
                  </a:txBody>
                  <a:tcPr marL="9525" marR="9525" marT="9525" marB="0" anchor="ctr"/>
                </a:tc>
              </a:tr>
              <a:tr h="170486">
                <a:tc>
                  <a:txBody>
                    <a:bodyPr wrap="square"/>
                    <a:lstStyle/>
                    <a:p>
                      <a:pPr algn="l"/>
                      <a:r>
                        <a:rPr sz="1050" b="0" i="0">
                          <a:solidFill>
                            <a:srgbClr val="000000"/>
                          </a:solidFill>
                          <a:latin typeface="Calibri"/>
                        </a:rPr>
                        <a:t>Table 57: Latin America Heavy Commercial Vehicle EPS Market Value, 2021-2036 By Vehicle Type</a:t>
                      </a:r>
                      <a:endParaRPr sz="1050"/>
                    </a:p>
                  </a:txBody>
                  <a:tcPr marL="9525" marR="9525" marT="9525" marB="0" anchor="ctr"/>
                </a:tc>
              </a:tr>
              <a:tr h="170486">
                <a:tc>
                  <a:txBody>
                    <a:bodyPr wrap="square"/>
                    <a:lstStyle/>
                    <a:p>
                      <a:pPr algn="l"/>
                      <a:r>
                        <a:rPr sz="1050" b="0" i="0">
                          <a:solidFill>
                            <a:srgbClr val="000000"/>
                          </a:solidFill>
                          <a:latin typeface="Calibri"/>
                        </a:rPr>
                        <a:t>Table 58: Latin America Heavy Commercial Vehicle EPS Market Volume, 2021-2036 By Vehicle Type</a:t>
                      </a:r>
                      <a:endParaRPr sz="1050"/>
                    </a:p>
                  </a:txBody>
                  <a:tcPr marL="9525" marR="9525" marT="9525" marB="0" anchor="ctr"/>
                </a:tc>
              </a:tr>
              <a:tr h="334153">
                <a:tc>
                  <a:txBody>
                    <a:bodyPr wrap="square"/>
                    <a:lstStyle/>
                    <a:p>
                      <a:pPr algn="l"/>
                      <a:r>
                        <a:rPr sz="1050" b="0" i="0">
                          <a:solidFill>
                            <a:srgbClr val="000000"/>
                          </a:solidFill>
                          <a:latin typeface="Calibri"/>
                        </a:rPr>
                        <a:t>Table 59: Latin America Heavy Commercial Vehicle EPS Market Value, 2021-2036 By Gross Vehicle Weight</a:t>
                      </a:r>
                      <a:endParaRPr sz="1050"/>
                    </a:p>
                  </a:txBody>
                  <a:tcPr marL="9525" marR="9525" marT="9525" marB="0" anchor="ctr"/>
                </a:tc>
              </a:tr>
              <a:tr h="334153">
                <a:tc>
                  <a:txBody>
                    <a:bodyPr wrap="square"/>
                    <a:lstStyle/>
                    <a:p>
                      <a:pPr algn="l"/>
                      <a:r>
                        <a:rPr sz="1050" b="0" i="0">
                          <a:solidFill>
                            <a:srgbClr val="000000"/>
                          </a:solidFill>
                          <a:latin typeface="Calibri"/>
                        </a:rPr>
                        <a:t>Table 60: Latin America Heavy Commercial Vehicle EPS Market Volume, 2021-2036 By Gross Vehicle Weight</a:t>
                      </a:r>
                      <a:endParaRPr sz="1050"/>
                    </a:p>
                  </a:txBody>
                  <a:tcPr marL="9525" marR="9525" marT="9525" marB="0" anchor="ctr"/>
                </a:tc>
              </a:tr>
              <a:tr h="170486">
                <a:tc>
                  <a:txBody>
                    <a:bodyPr wrap="square"/>
                    <a:lstStyle/>
                    <a:p>
                      <a:pPr algn="l"/>
                      <a:r>
                        <a:rPr sz="1050" b="0" i="0">
                          <a:solidFill>
                            <a:srgbClr val="000000"/>
                          </a:solidFill>
                          <a:latin typeface="Calibri"/>
                        </a:rPr>
                        <a:t>Table 61: Latin America Heavy Commercial Vehicle EPS Market Value, 2021-2036 By Propulsion Type</a:t>
                      </a:r>
                      <a:endParaRPr sz="1050"/>
                    </a:p>
                  </a:txBody>
                  <a:tcPr marL="9525" marR="9525" marT="9525" marB="0" anchor="ctr"/>
                </a:tc>
              </a:tr>
              <a:tr h="170486">
                <a:tc>
                  <a:txBody>
                    <a:bodyPr wrap="square"/>
                    <a:lstStyle/>
                    <a:p>
                      <a:pPr algn="l"/>
                      <a:r>
                        <a:rPr sz="1050" b="0" i="0">
                          <a:solidFill>
                            <a:srgbClr val="000000"/>
                          </a:solidFill>
                          <a:latin typeface="Calibri"/>
                        </a:rPr>
                        <a:t>Table 62: Latin America Heavy Commercial Vehicle EPS Market Volume, 2021-2036 By Propulsion Type</a:t>
                      </a:r>
                      <a:endParaRPr sz="1050"/>
                    </a:p>
                  </a:txBody>
                  <a:tcPr marL="9525" marR="9525" marT="9525" marB="0" anchor="ctr"/>
                </a:tc>
              </a:tr>
              <a:tr h="170486">
                <a:tc>
                  <a:txBody>
                    <a:bodyPr wrap="square"/>
                    <a:lstStyle/>
                    <a:p>
                      <a:pPr algn="l"/>
                      <a:r>
                        <a:rPr sz="1050" b="0" i="0">
                          <a:solidFill>
                            <a:srgbClr val="000000"/>
                          </a:solidFill>
                          <a:latin typeface="Calibri"/>
                        </a:rPr>
                        <a:t>Table 63: Latin America Heavy Commercial Vehicle EPS Market Value, 2021-2036 By Demand Type</a:t>
                      </a:r>
                      <a:endParaRPr sz="1050"/>
                    </a:p>
                  </a:txBody>
                  <a:tcPr marL="9525" marR="9525" marT="9525" marB="0" anchor="ctr"/>
                </a:tc>
              </a:tr>
              <a:tr h="170486">
                <a:tc>
                  <a:txBody>
                    <a:bodyPr wrap="square"/>
                    <a:lstStyle/>
                    <a:p>
                      <a:pPr algn="l"/>
                      <a:r>
                        <a:rPr sz="1050" b="0" i="0">
                          <a:solidFill>
                            <a:srgbClr val="000000"/>
                          </a:solidFill>
                          <a:latin typeface="Calibri"/>
                        </a:rPr>
                        <a:t>Table 64: Latin America Heavy Commercial Vehicle EPS Market Volume, 2021-2036 By Demand Type</a:t>
                      </a:r>
                      <a:endParaRPr sz="1050"/>
                    </a:p>
                  </a:txBody>
                  <a:tcPr marL="9525" marR="9525" marT="9525" marB="0" anchor="ctr"/>
                </a:tc>
              </a:tr>
              <a:tr h="170486">
                <a:tc>
                  <a:txBody>
                    <a:bodyPr wrap="square"/>
                    <a:lstStyle/>
                    <a:p>
                      <a:pPr algn="l"/>
                      <a:r>
                        <a:rPr sz="1050" b="0" i="0">
                          <a:solidFill>
                            <a:srgbClr val="000000"/>
                          </a:solidFill>
                          <a:latin typeface="Calibri"/>
                        </a:rPr>
                        <a:t>Table 65: Latin America Heavy Commercial Vehicle EPS Market Value, 2021-2036 By Country</a:t>
                      </a:r>
                      <a:endParaRPr sz="1050"/>
                    </a:p>
                  </a:txBody>
                  <a:tcPr marL="9525" marR="9525" marT="9525" marB="0" anchor="ctr"/>
                </a:tc>
              </a:tr>
              <a:tr h="170486">
                <a:tc>
                  <a:txBody>
                    <a:bodyPr wrap="square"/>
                    <a:lstStyle/>
                    <a:p>
                      <a:pPr algn="l"/>
                      <a:r>
                        <a:rPr sz="1050" b="0" i="0">
                          <a:solidFill>
                            <a:srgbClr val="000000"/>
                          </a:solidFill>
                          <a:latin typeface="Calibri"/>
                        </a:rPr>
                        <a:t>Table 66: Latin America Heavy Commercial Vehicle EPS Market Volume,2021-2036 By Country</a:t>
                      </a:r>
                      <a:endParaRPr sz="1050"/>
                    </a:p>
                  </a:txBody>
                  <a:tcPr marL="9525" marR="9525" marT="9525" marB="0" anchor="ctr"/>
                </a:tc>
              </a:tr>
              <a:tr h="170486">
                <a:tc>
                  <a:txBody>
                    <a:bodyPr wrap="square"/>
                    <a:lstStyle/>
                    <a:p>
                      <a:pPr algn="l"/>
                      <a:r>
                        <a:rPr sz="1050" b="0" i="0">
                          <a:solidFill>
                            <a:srgbClr val="000000"/>
                          </a:solidFill>
                          <a:latin typeface="Calibri"/>
                        </a:rPr>
                        <a:t>Table 67: Brazil Heavy Commercial Vehicle EPS Market Value, 2021-2036 By System Architecture</a:t>
                      </a:r>
                      <a:endParaRPr sz="1050"/>
                    </a:p>
                  </a:txBody>
                  <a:tcPr marL="9525" marR="9525" marT="9525" marB="0" anchor="ctr"/>
                </a:tc>
              </a:tr>
              <a:tr h="170486">
                <a:tc>
                  <a:txBody>
                    <a:bodyPr wrap="square"/>
                    <a:lstStyle/>
                    <a:p>
                      <a:pPr algn="l"/>
                      <a:r>
                        <a:rPr sz="1050" b="0" i="0">
                          <a:solidFill>
                            <a:srgbClr val="000000"/>
                          </a:solidFill>
                          <a:latin typeface="Calibri"/>
                        </a:rPr>
                        <a:t>Table 68: Brazil Heavy Commercial Vehicle EPS Market Volume, 2021-2036 By System Architecture</a:t>
                      </a:r>
                      <a:endParaRPr sz="1050"/>
                    </a:p>
                  </a:txBody>
                  <a:tcPr marL="9525" marR="9525" marT="9525" marB="0" anchor="ctr"/>
                </a:tc>
              </a:tr>
              <a:tr h="170486">
                <a:tc>
                  <a:txBody>
                    <a:bodyPr wrap="square"/>
                    <a:lstStyle/>
                    <a:p>
                      <a:pPr algn="l"/>
                      <a:r>
                        <a:rPr sz="1050" b="0" i="0">
                          <a:solidFill>
                            <a:srgbClr val="000000"/>
                          </a:solidFill>
                          <a:latin typeface="Calibri"/>
                        </a:rPr>
                        <a:t>Table 69: Brazil Heavy Commercial Vehicle EPS Market Value, 2021-2036 By Vehicle Type</a:t>
                      </a:r>
                      <a:endParaRPr sz="1050"/>
                    </a:p>
                  </a:txBody>
                  <a:tcPr marL="9525" marR="9525" marT="9525" marB="0" anchor="ctr"/>
                </a:tc>
              </a:tr>
              <a:tr h="170486">
                <a:tc>
                  <a:txBody>
                    <a:bodyPr wrap="square"/>
                    <a:lstStyle/>
                    <a:p>
                      <a:pPr algn="l"/>
                      <a:r>
                        <a:rPr sz="1050" b="0" i="0">
                          <a:solidFill>
                            <a:srgbClr val="000000"/>
                          </a:solidFill>
                          <a:latin typeface="Calibri"/>
                        </a:rPr>
                        <a:t>Table 70: Brazil Heavy Commercial Vehicle EPS Market Volume, 2021-2036 By Vehicle Type</a:t>
                      </a:r>
                      <a:endParaRPr sz="1050"/>
                    </a:p>
                  </a:txBody>
                  <a:tcPr marL="9525" marR="9525" marT="9525" marB="0" anchor="ctr"/>
                </a:tc>
              </a:tr>
              <a:tr h="170486">
                <a:tc>
                  <a:txBody>
                    <a:bodyPr wrap="square"/>
                    <a:lstStyle/>
                    <a:p>
                      <a:pPr algn="l"/>
                      <a:r>
                        <a:rPr sz="1050" b="0" i="0">
                          <a:solidFill>
                            <a:srgbClr val="000000"/>
                          </a:solidFill>
                          <a:latin typeface="Calibri"/>
                        </a:rPr>
                        <a:t>Table 71: Brazil Heavy Commercial Vehicle EPS Market Value, 2021-2036 By Gross Vehicle Weight</a:t>
                      </a:r>
                      <a:endParaRPr sz="1050"/>
                    </a:p>
                  </a:txBody>
                  <a:tcPr marL="9525" marR="9525" marT="9525" marB="0" anchor="ctr"/>
                </a:tc>
              </a:tr>
              <a:tr h="170486">
                <a:tc>
                  <a:txBody>
                    <a:bodyPr wrap="square"/>
                    <a:lstStyle/>
                    <a:p>
                      <a:pPr algn="l"/>
                      <a:r>
                        <a:rPr sz="1050" b="0" i="0">
                          <a:solidFill>
                            <a:srgbClr val="000000"/>
                          </a:solidFill>
                          <a:latin typeface="Calibri"/>
                        </a:rPr>
                        <a:t>Table 72: Brazil Heavy Commercial Vehicle EPS Market Volume, 2021-2036 By Gross Vehicle Weight</a:t>
                      </a:r>
                      <a:endParaRPr sz="1050"/>
                    </a:p>
                  </a:txBody>
                  <a:tcPr marL="9525" marR="9525" marT="9525" marB="0" anchor="ctr"/>
                </a:tc>
              </a:tr>
              <a:tr h="170486">
                <a:tc>
                  <a:txBody>
                    <a:bodyPr wrap="square"/>
                    <a:lstStyle/>
                    <a:p>
                      <a:pPr algn="l"/>
                      <a:r>
                        <a:rPr sz="1050" b="0" i="0">
                          <a:solidFill>
                            <a:srgbClr val="000000"/>
                          </a:solidFill>
                          <a:latin typeface="Calibri"/>
                        </a:rPr>
                        <a:t>Table 73: Brazil Heavy Commercial Vehicle EPS Market Value, 2021-2036 By Propulsion Type</a:t>
                      </a:r>
                      <a:endParaRPr sz="1050"/>
                    </a:p>
                  </a:txBody>
                  <a:tcPr marL="9525" marR="9525" marT="9525" marB="0" anchor="ctr"/>
                </a:tc>
              </a:tr>
              <a:tr h="170486">
                <a:tc>
                  <a:txBody>
                    <a:bodyPr wrap="square"/>
                    <a:lstStyle/>
                    <a:p>
                      <a:pPr algn="l"/>
                      <a:r>
                        <a:rPr sz="1050" b="0" i="0">
                          <a:solidFill>
                            <a:srgbClr val="000000"/>
                          </a:solidFill>
                          <a:latin typeface="Calibri"/>
                        </a:rPr>
                        <a:t>Table 74: Brazil Heavy Commercial Vehicle EPS Market Volume, 2021-2036 By Propulsion Type</a:t>
                      </a:r>
                      <a:endParaRPr sz="1050"/>
                    </a:p>
                  </a:txBody>
                  <a:tcPr marL="9525" marR="9525" marT="9525" marB="0" anchor="ctr"/>
                </a:tc>
              </a:tr>
              <a:tr h="170486">
                <a:tc>
                  <a:txBody>
                    <a:bodyPr wrap="square"/>
                    <a:lstStyle/>
                    <a:p>
                      <a:pPr algn="l"/>
                      <a:r>
                        <a:rPr sz="1050" b="0" i="0">
                          <a:solidFill>
                            <a:srgbClr val="000000"/>
                          </a:solidFill>
                          <a:latin typeface="Calibri"/>
                        </a:rPr>
                        <a:t>Table 75: Brazil Heavy Commercial Vehicle EPS Market Value, 2021-2036 By Demand Type</a:t>
                      </a:r>
                      <a:endParaRPr sz="1050"/>
                    </a:p>
                  </a:txBody>
                  <a:tcPr marL="9525" marR="9525" marT="9525" marB="0" anchor="ctr"/>
                </a:tc>
              </a:tr>
              <a:tr h="170486">
                <a:tc>
                  <a:txBody>
                    <a:bodyPr wrap="square"/>
                    <a:lstStyle/>
                    <a:p>
                      <a:pPr algn="l"/>
                      <a:r>
                        <a:rPr sz="1050" b="0" i="0">
                          <a:solidFill>
                            <a:srgbClr val="000000"/>
                          </a:solidFill>
                          <a:latin typeface="Calibri"/>
                        </a:rPr>
                        <a:t>Table 76: Brazil Heavy Commercial Vehicle EPS Market Volume, 2021-2036 By Demand Type</a:t>
                      </a:r>
                      <a:endParaRPr sz="1050"/>
                    </a:p>
                  </a:txBody>
                  <a:tcPr marL="9525" marR="9525" marT="9525" marB="0" anchor="ctr"/>
                </a:tc>
              </a:tr>
              <a:tr h="170486">
                <a:tc>
                  <a:txBody>
                    <a:bodyPr wrap="square"/>
                    <a:lstStyle/>
                    <a:p>
                      <a:pPr algn="l"/>
                      <a:r>
                        <a:rPr sz="1050" b="0" i="0">
                          <a:solidFill>
                            <a:srgbClr val="000000"/>
                          </a:solidFill>
                          <a:latin typeface="Calibri"/>
                        </a:rPr>
                        <a:t>Table 77: Argentina Heavy Commercial Vehicle EPS Market Value, 2021-2036 By System Architecture</a:t>
                      </a:r>
                      <a:endParaRPr sz="1050"/>
                    </a:p>
                  </a:txBody>
                  <a:tcPr marL="9525" marR="9525" marT="9525" marB="0" anchor="ctr"/>
                </a:tc>
              </a:tr>
              <a:tr h="170486">
                <a:tc>
                  <a:txBody>
                    <a:bodyPr wrap="square"/>
                    <a:lstStyle/>
                    <a:p>
                      <a:pPr algn="l"/>
                      <a:r>
                        <a:rPr sz="1050" b="0" i="0">
                          <a:solidFill>
                            <a:srgbClr val="000000"/>
                          </a:solidFill>
                          <a:latin typeface="Calibri"/>
                        </a:rPr>
                        <a:t>Table 78: Argentina Heavy Commercial Vehicle EPS Market Volume, 2021-2036 By System Architecture</a:t>
                      </a:r>
                      <a:endParaRPr sz="1050"/>
                    </a:p>
                  </a:txBody>
                  <a:tcPr marL="9525" marR="9525" marT="9525" marB="0" anchor="ctr"/>
                </a:tc>
              </a:tr>
              <a:tr h="170486">
                <a:tc>
                  <a:txBody>
                    <a:bodyPr wrap="square"/>
                    <a:lstStyle/>
                    <a:p>
                      <a:pPr algn="l"/>
                      <a:r>
                        <a:rPr sz="1050" b="0" i="0">
                          <a:solidFill>
                            <a:srgbClr val="000000"/>
                          </a:solidFill>
                          <a:latin typeface="Calibri"/>
                        </a:rPr>
                        <a:t>Table 79: Argentina Heavy Commercial Vehicle EPS Market Value, 2021-2036 By Vehicle Type</a:t>
                      </a:r>
                      <a:endParaRPr sz="1050"/>
                    </a:p>
                  </a:txBody>
                  <a:tcPr marL="9525" marR="9525" marT="9525" marB="0" anchor="ctr"/>
                </a:tc>
              </a:tr>
              <a:tr h="170486">
                <a:tc>
                  <a:txBody>
                    <a:bodyPr wrap="square"/>
                    <a:lstStyle/>
                    <a:p>
                      <a:pPr algn="l"/>
                      <a:r>
                        <a:rPr sz="1050" b="0" i="0">
                          <a:solidFill>
                            <a:srgbClr val="000000"/>
                          </a:solidFill>
                          <a:latin typeface="Calibri"/>
                        </a:rPr>
                        <a:t>Table 80: Argentina Heavy Commercial Vehicle EPS Market Volume, 2021-2036 By Vehicle Type</a:t>
                      </a:r>
                      <a:endParaRPr sz="1050"/>
                    </a:p>
                  </a:txBody>
                  <a:tcPr marL="9525" marR="9525" marT="9525" marB="0" anchor="ctr"/>
                </a:tc>
              </a:tr>
              <a:tr h="170486">
                <a:tc>
                  <a:txBody>
                    <a:bodyPr wrap="square"/>
                    <a:lstStyle/>
                    <a:p>
                      <a:pPr algn="l"/>
                      <a:r>
                        <a:rPr sz="1050" b="0" i="0">
                          <a:solidFill>
                            <a:srgbClr val="000000"/>
                          </a:solidFill>
                          <a:latin typeface="Calibri"/>
                        </a:rPr>
                        <a:t>Table 81: Argentina Heavy Commercial Vehicle EPS Market Value, 2021-2036 By Gross Vehicle Weight</a:t>
                      </a:r>
                      <a:endParaRPr sz="1050"/>
                    </a:p>
                  </a:txBody>
                  <a:tcPr marL="9525" marR="9525" marT="9525" marB="0" anchor="ctr"/>
                </a:tc>
              </a:tr>
              <a:tr h="334153">
                <a:tc>
                  <a:txBody>
                    <a:bodyPr wrap="square"/>
                    <a:lstStyle/>
                    <a:p>
                      <a:pPr algn="l"/>
                      <a:r>
                        <a:rPr sz="1050" b="0" i="0">
                          <a:solidFill>
                            <a:srgbClr val="000000"/>
                          </a:solidFill>
                          <a:latin typeface="Calibri"/>
                        </a:rPr>
                        <a:t>Table 82: Argentina Heavy Commercial Vehicle EPS Market Volume, 2021-2036 By Gross Vehicle Weight</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2"/>
        </p:xfrm>
        <a:graphic>
          <a:graphicData uri="http://schemas.openxmlformats.org/drawingml/2006/table">
            <a:tbl>
              <a:tblPr>
                <a:tableStyleId>{3B4B98B0-60AC-42C2-AFA5-B58CD77FA1E5}</a:tableStyleId>
              </a:tblPr>
              <a:tblGrid>
                <a:gridCol w="5876925"/>
              </a:tblGrid>
              <a:tr h="170930">
                <a:tc>
                  <a:txBody>
                    <a:bodyPr wrap="square"/>
                    <a:lstStyle/>
                    <a:p>
                      <a:pPr algn="l"/>
                      <a:r>
                        <a:rPr sz="1050" b="0" i="0">
                          <a:solidFill>
                            <a:srgbClr val="000000"/>
                          </a:solidFill>
                          <a:latin typeface="Calibri"/>
                        </a:rPr>
                        <a:t>Table 83: Argentina Heavy Commercial Vehicle EPS Market Value, 2021-2036 By Propulsion Type</a:t>
                      </a:r>
                      <a:endParaRPr sz="1050"/>
                    </a:p>
                  </a:txBody>
                  <a:tcPr marL="9525" marR="9525" marT="9525" marB="0" anchor="ctr"/>
                </a:tc>
              </a:tr>
              <a:tr h="170930">
                <a:tc>
                  <a:txBody>
                    <a:bodyPr wrap="square"/>
                    <a:lstStyle/>
                    <a:p>
                      <a:pPr algn="l"/>
                      <a:r>
                        <a:rPr sz="1050" b="0" i="0">
                          <a:solidFill>
                            <a:srgbClr val="000000"/>
                          </a:solidFill>
                          <a:latin typeface="Calibri"/>
                        </a:rPr>
                        <a:t>Table 84: Argentina Heavy Commercial Vehicle EPS Market Volume, 2021-2036 By Propulsion Type</a:t>
                      </a:r>
                      <a:endParaRPr sz="1050"/>
                    </a:p>
                  </a:txBody>
                  <a:tcPr marL="9525" marR="9525" marT="9525" marB="0" anchor="ctr"/>
                </a:tc>
              </a:tr>
              <a:tr h="170930">
                <a:tc>
                  <a:txBody>
                    <a:bodyPr wrap="square"/>
                    <a:lstStyle/>
                    <a:p>
                      <a:pPr algn="l"/>
                      <a:r>
                        <a:rPr sz="1050" b="0" i="0">
                          <a:solidFill>
                            <a:srgbClr val="000000"/>
                          </a:solidFill>
                          <a:latin typeface="Calibri"/>
                        </a:rPr>
                        <a:t>Table 85: Argentina Heavy Commercial Vehicle EPS Market Value, 2021-2036 By Demand Type</a:t>
                      </a:r>
                      <a:endParaRPr sz="1050"/>
                    </a:p>
                  </a:txBody>
                  <a:tcPr marL="9525" marR="9525" marT="9525" marB="0" anchor="ctr"/>
                </a:tc>
              </a:tr>
              <a:tr h="170930">
                <a:tc>
                  <a:txBody>
                    <a:bodyPr wrap="square"/>
                    <a:lstStyle/>
                    <a:p>
                      <a:pPr algn="l"/>
                      <a:r>
                        <a:rPr sz="1050" b="0" i="0">
                          <a:solidFill>
                            <a:srgbClr val="000000"/>
                          </a:solidFill>
                          <a:latin typeface="Calibri"/>
                        </a:rPr>
                        <a:t>Table 86: Argentina Heavy Commercial Vehicle EPS Market Volume, 2021-2036 By Demand Type</a:t>
                      </a:r>
                      <a:endParaRPr sz="1050"/>
                    </a:p>
                  </a:txBody>
                  <a:tcPr marL="9525" marR="9525" marT="9525" marB="0" anchor="ctr"/>
                </a:tc>
              </a:tr>
              <a:tr h="335022">
                <a:tc>
                  <a:txBody>
                    <a:bodyPr wrap="square"/>
                    <a:lstStyle/>
                    <a:p>
                      <a:pPr algn="l"/>
                      <a:r>
                        <a:rPr sz="1050" b="0" i="0">
                          <a:solidFill>
                            <a:srgbClr val="000000"/>
                          </a:solidFill>
                          <a:latin typeface="Calibri"/>
                        </a:rPr>
                        <a:t>Table 87: Eastern Europe Heavy Commercial Vehicle EPS Market Value, 2021-2036 By System Architecture</a:t>
                      </a:r>
                      <a:endParaRPr sz="1050"/>
                    </a:p>
                  </a:txBody>
                  <a:tcPr marL="9525" marR="9525" marT="9525" marB="0" anchor="ctr"/>
                </a:tc>
              </a:tr>
              <a:tr h="335022">
                <a:tc>
                  <a:txBody>
                    <a:bodyPr wrap="square"/>
                    <a:lstStyle/>
                    <a:p>
                      <a:pPr algn="l"/>
                      <a:r>
                        <a:rPr sz="1050" b="0" i="0">
                          <a:solidFill>
                            <a:srgbClr val="000000"/>
                          </a:solidFill>
                          <a:latin typeface="Calibri"/>
                        </a:rPr>
                        <a:t>Table 88: Eastern Europe Heavy Commercial Vehicle EPS Market Volume, 2021-2036 By System Architecture</a:t>
                      </a:r>
                      <a:endParaRPr sz="1050"/>
                    </a:p>
                  </a:txBody>
                  <a:tcPr marL="9525" marR="9525" marT="9525" marB="0" anchor="ctr"/>
                </a:tc>
              </a:tr>
              <a:tr h="170930">
                <a:tc>
                  <a:txBody>
                    <a:bodyPr wrap="square"/>
                    <a:lstStyle/>
                    <a:p>
                      <a:pPr algn="l"/>
                      <a:r>
                        <a:rPr sz="1050" b="0" i="0">
                          <a:solidFill>
                            <a:srgbClr val="000000"/>
                          </a:solidFill>
                          <a:latin typeface="Calibri"/>
                        </a:rPr>
                        <a:t>Table 89: Eastern Europe Heavy Commercial Vehicle EPS Market Value,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90: Eastern Europe Heavy Commercial Vehicle EPS Market Volume, 2021-2036 By Vehicle Type</a:t>
                      </a:r>
                      <a:endParaRPr sz="1050"/>
                    </a:p>
                  </a:txBody>
                  <a:tcPr marL="9525" marR="9525" marT="9525" marB="0" anchor="ctr"/>
                </a:tc>
              </a:tr>
              <a:tr h="335022">
                <a:tc>
                  <a:txBody>
                    <a:bodyPr wrap="square"/>
                    <a:lstStyle/>
                    <a:p>
                      <a:pPr algn="l"/>
                      <a:r>
                        <a:rPr sz="1050" b="0" i="0">
                          <a:solidFill>
                            <a:srgbClr val="000000"/>
                          </a:solidFill>
                          <a:latin typeface="Calibri"/>
                        </a:rPr>
                        <a:t>Table 91: Eastern Europe Heavy Commercial Vehicle EPS Market Value, 2021-2036 By Gross Vehicle Weight</a:t>
                      </a:r>
                      <a:endParaRPr sz="1050"/>
                    </a:p>
                  </a:txBody>
                  <a:tcPr marL="9525" marR="9525" marT="9525" marB="0" anchor="ctr"/>
                </a:tc>
              </a:tr>
              <a:tr h="335022">
                <a:tc>
                  <a:txBody>
                    <a:bodyPr wrap="square"/>
                    <a:lstStyle/>
                    <a:p>
                      <a:pPr algn="l"/>
                      <a:r>
                        <a:rPr sz="1050" b="0" i="0">
                          <a:solidFill>
                            <a:srgbClr val="000000"/>
                          </a:solidFill>
                          <a:latin typeface="Calibri"/>
                        </a:rPr>
                        <a:t>Table 92: Eastern Europe Heavy Commercial Vehicle EPS Market Volume, 2021-2036 By Gross Vehicle Weight</a:t>
                      </a:r>
                      <a:endParaRPr sz="1050"/>
                    </a:p>
                  </a:txBody>
                  <a:tcPr marL="9525" marR="9525" marT="9525" marB="0" anchor="ctr"/>
                </a:tc>
              </a:tr>
              <a:tr h="170930">
                <a:tc>
                  <a:txBody>
                    <a:bodyPr wrap="square"/>
                    <a:lstStyle/>
                    <a:p>
                      <a:pPr algn="l"/>
                      <a:r>
                        <a:rPr sz="1050" b="0" i="0">
                          <a:solidFill>
                            <a:srgbClr val="000000"/>
                          </a:solidFill>
                          <a:latin typeface="Calibri"/>
                        </a:rPr>
                        <a:t>Table 93: Eastern Europe Heavy Commercial Vehicle EPS Market Value, 2021-2036 By Propulsion Type</a:t>
                      </a:r>
                      <a:endParaRPr sz="1050"/>
                    </a:p>
                  </a:txBody>
                  <a:tcPr marL="9525" marR="9525" marT="9525" marB="0" anchor="ctr"/>
                </a:tc>
              </a:tr>
              <a:tr h="335022">
                <a:tc>
                  <a:txBody>
                    <a:bodyPr wrap="square"/>
                    <a:lstStyle/>
                    <a:p>
                      <a:pPr algn="l"/>
                      <a:r>
                        <a:rPr sz="1050" b="0" i="0">
                          <a:solidFill>
                            <a:srgbClr val="000000"/>
                          </a:solidFill>
                          <a:latin typeface="Calibri"/>
                        </a:rPr>
                        <a:t>Table 94: Eastern Europe Heavy Commercial Vehicle EPS Market Volume, 2021-2036 By Propulsion Type</a:t>
                      </a:r>
                      <a:endParaRPr sz="1050"/>
                    </a:p>
                  </a:txBody>
                  <a:tcPr marL="9525" marR="9525" marT="9525" marB="0" anchor="ctr"/>
                </a:tc>
              </a:tr>
              <a:tr h="170930">
                <a:tc>
                  <a:txBody>
                    <a:bodyPr wrap="square"/>
                    <a:lstStyle/>
                    <a:p>
                      <a:pPr algn="l"/>
                      <a:r>
                        <a:rPr sz="1050" b="0" i="0">
                          <a:solidFill>
                            <a:srgbClr val="000000"/>
                          </a:solidFill>
                          <a:latin typeface="Calibri"/>
                        </a:rPr>
                        <a:t>Table 95: Eastern Europe Heavy Commercial Vehicle EPS Market Value, 2021-2036 By Demand Type</a:t>
                      </a:r>
                      <a:endParaRPr sz="1050"/>
                    </a:p>
                  </a:txBody>
                  <a:tcPr marL="9525" marR="9525" marT="9525" marB="0" anchor="ctr"/>
                </a:tc>
              </a:tr>
              <a:tr h="170930">
                <a:tc>
                  <a:txBody>
                    <a:bodyPr wrap="square"/>
                    <a:lstStyle/>
                    <a:p>
                      <a:pPr algn="l"/>
                      <a:r>
                        <a:rPr sz="1050" b="0" i="0">
                          <a:solidFill>
                            <a:srgbClr val="000000"/>
                          </a:solidFill>
                          <a:latin typeface="Calibri"/>
                        </a:rPr>
                        <a:t>Table 96: Eastern Europe Heavy Commercial Vehicle EPS Market Volume, 2021-2036 By Demand Type</a:t>
                      </a:r>
                      <a:endParaRPr sz="1050"/>
                    </a:p>
                  </a:txBody>
                  <a:tcPr marL="9525" marR="9525" marT="9525" marB="0" anchor="ctr"/>
                </a:tc>
              </a:tr>
              <a:tr h="170930">
                <a:tc>
                  <a:txBody>
                    <a:bodyPr wrap="square"/>
                    <a:lstStyle/>
                    <a:p>
                      <a:pPr algn="l"/>
                      <a:r>
                        <a:rPr sz="1050" b="0" i="0">
                          <a:solidFill>
                            <a:srgbClr val="000000"/>
                          </a:solidFill>
                          <a:latin typeface="Calibri"/>
                        </a:rPr>
                        <a:t>Table 97: Eastern Europe Heavy Commercial Vehicle EPS Market Value, 2021-2036 By Country</a:t>
                      </a:r>
                      <a:endParaRPr sz="1050"/>
                    </a:p>
                  </a:txBody>
                  <a:tcPr marL="9525" marR="9525" marT="9525" marB="0" anchor="ctr"/>
                </a:tc>
              </a:tr>
              <a:tr h="170930">
                <a:tc>
                  <a:txBody>
                    <a:bodyPr wrap="square"/>
                    <a:lstStyle/>
                    <a:p>
                      <a:pPr algn="l"/>
                      <a:r>
                        <a:rPr sz="1050" b="0" i="0">
                          <a:solidFill>
                            <a:srgbClr val="000000"/>
                          </a:solidFill>
                          <a:latin typeface="Calibri"/>
                        </a:rPr>
                        <a:t>Table 98: Eastern Europe Heavy Commercial Vehicle EPS Market Volume,2021-2036 By Country</a:t>
                      </a:r>
                      <a:endParaRPr sz="1050"/>
                    </a:p>
                  </a:txBody>
                  <a:tcPr marL="9525" marR="9525" marT="9525" marB="0" anchor="ctr"/>
                </a:tc>
              </a:tr>
              <a:tr h="170930">
                <a:tc>
                  <a:txBody>
                    <a:bodyPr wrap="square"/>
                    <a:lstStyle/>
                    <a:p>
                      <a:pPr algn="l"/>
                      <a:r>
                        <a:rPr sz="1050" b="0" i="0">
                          <a:solidFill>
                            <a:srgbClr val="000000"/>
                          </a:solidFill>
                          <a:latin typeface="Calibri"/>
                        </a:rPr>
                        <a:t>Table 99: Hungary Heavy Commercial Vehicle EPS Market Value, 2021-2036 By System Architecture</a:t>
                      </a:r>
                      <a:endParaRPr sz="1050"/>
                    </a:p>
                  </a:txBody>
                  <a:tcPr marL="9525" marR="9525" marT="9525" marB="0" anchor="ctr"/>
                </a:tc>
              </a:tr>
              <a:tr h="170930">
                <a:tc>
                  <a:txBody>
                    <a:bodyPr wrap="square"/>
                    <a:lstStyle/>
                    <a:p>
                      <a:pPr algn="l"/>
                      <a:r>
                        <a:rPr sz="1050" b="0" i="0">
                          <a:solidFill>
                            <a:srgbClr val="000000"/>
                          </a:solidFill>
                          <a:latin typeface="Calibri"/>
                        </a:rPr>
                        <a:t>Table 100: Hungary Heavy Commercial Vehicle EPS Market Volume, 2021-2036 By System Architecture</a:t>
                      </a:r>
                      <a:endParaRPr sz="1050"/>
                    </a:p>
                  </a:txBody>
                  <a:tcPr marL="9525" marR="9525" marT="9525" marB="0" anchor="ctr"/>
                </a:tc>
              </a:tr>
              <a:tr h="170930">
                <a:tc>
                  <a:txBody>
                    <a:bodyPr wrap="square"/>
                    <a:lstStyle/>
                    <a:p>
                      <a:pPr algn="l"/>
                      <a:r>
                        <a:rPr sz="1050" b="0" i="0">
                          <a:solidFill>
                            <a:srgbClr val="000000"/>
                          </a:solidFill>
                          <a:latin typeface="Calibri"/>
                        </a:rPr>
                        <a:t>Table 101: Hungary Heavy Commercial Vehicle EPS Market Value,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102: Hungary Heavy Commercial Vehicle EPS Market Volume,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103: Hungary Heavy Commercial Vehicle EPS Market Value, 2021-2036 By Gross Vehicle Weight</a:t>
                      </a:r>
                      <a:endParaRPr sz="1050"/>
                    </a:p>
                  </a:txBody>
                  <a:tcPr marL="9525" marR="9525" marT="9525" marB="0" anchor="ctr"/>
                </a:tc>
              </a:tr>
              <a:tr h="335022">
                <a:tc>
                  <a:txBody>
                    <a:bodyPr wrap="square"/>
                    <a:lstStyle/>
                    <a:p>
                      <a:pPr algn="l"/>
                      <a:r>
                        <a:rPr sz="1050" b="0" i="0">
                          <a:solidFill>
                            <a:srgbClr val="000000"/>
                          </a:solidFill>
                          <a:latin typeface="Calibri"/>
                        </a:rPr>
                        <a:t>Table 104: Hungary Heavy Commercial Vehicle EPS Market Volume, 2021-2036 By Gross Vehicle Weight</a:t>
                      </a:r>
                      <a:endParaRPr sz="1050"/>
                    </a:p>
                  </a:txBody>
                  <a:tcPr marL="9525" marR="9525" marT="9525" marB="0" anchor="ctr"/>
                </a:tc>
              </a:tr>
              <a:tr h="170930">
                <a:tc>
                  <a:txBody>
                    <a:bodyPr wrap="square"/>
                    <a:lstStyle/>
                    <a:p>
                      <a:pPr algn="l"/>
                      <a:r>
                        <a:rPr sz="1050" b="0" i="0">
                          <a:solidFill>
                            <a:srgbClr val="000000"/>
                          </a:solidFill>
                          <a:latin typeface="Calibri"/>
                        </a:rPr>
                        <a:t>Table 105: Hungary Heavy Commercial Vehicle EPS Market Value, 2021-2036 By Propulsion Type</a:t>
                      </a:r>
                      <a:endParaRPr sz="1050"/>
                    </a:p>
                  </a:txBody>
                  <a:tcPr marL="9525" marR="9525" marT="9525" marB="0" anchor="ctr"/>
                </a:tc>
              </a:tr>
              <a:tr h="170930">
                <a:tc>
                  <a:txBody>
                    <a:bodyPr wrap="square"/>
                    <a:lstStyle/>
                    <a:p>
                      <a:pPr algn="l"/>
                      <a:r>
                        <a:rPr sz="1050" b="0" i="0">
                          <a:solidFill>
                            <a:srgbClr val="000000"/>
                          </a:solidFill>
                          <a:latin typeface="Calibri"/>
                        </a:rPr>
                        <a:t>Table 106: Hungary Heavy Commercial Vehicle EPS Market Volume, 2021-2036 By Propulsion Type</a:t>
                      </a:r>
                      <a:endParaRPr sz="1050"/>
                    </a:p>
                  </a:txBody>
                  <a:tcPr marL="9525" marR="9525" marT="9525" marB="0" anchor="ctr"/>
                </a:tc>
              </a:tr>
              <a:tr h="170930">
                <a:tc>
                  <a:txBody>
                    <a:bodyPr wrap="square"/>
                    <a:lstStyle/>
                    <a:p>
                      <a:pPr algn="l"/>
                      <a:r>
                        <a:rPr sz="1050" b="0" i="0">
                          <a:solidFill>
                            <a:srgbClr val="000000"/>
                          </a:solidFill>
                          <a:latin typeface="Calibri"/>
                        </a:rPr>
                        <a:t>Table 107: Hungary Heavy Commercial Vehicle EPS Market Value, 2021-2036 By Demand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(3/8)</a:t>
            </a:r>
          </a:p>
        </p:txBody>
      </p:sp>
      <p:graphicFrame>
        <p:nvGraphicFramePr>
          <p:cNvPr id="9" name="FMI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176200">
                <a:tc>
                  <a:txBody>
                    <a:bodyPr wrap="square"/>
                    <a:lstStyle/>
                    <a:p>
                      <a:pPr algn="l"/>
                      <a:r>
                        <a:rPr sz="1050" b="0" i="0">
                          <a:solidFill>
                            <a:srgbClr val="000000"/>
                          </a:solidFill>
                          <a:latin typeface="Calibri"/>
                        </a:rPr>
                        <a:t>Table 108: Hungary Heavy Commercial Vehicle EPS Market Volume, 2021-2036 By Demand Type</a:t>
                      </a:r>
                      <a:endParaRPr sz="1050"/>
                    </a:p>
                  </a:txBody>
                  <a:tcPr marL="9525" marR="9525" marT="9525" marB="0" anchor="ctr"/>
                </a:tc>
              </a:tr>
              <a:tr h="176200">
                <a:tc>
                  <a:txBody>
                    <a:bodyPr wrap="square"/>
                    <a:lstStyle/>
                    <a:p>
                      <a:pPr algn="l"/>
                      <a:r>
                        <a:rPr sz="1050" b="0" i="0">
                          <a:solidFill>
                            <a:srgbClr val="000000"/>
                          </a:solidFill>
                          <a:latin typeface="Calibri"/>
                        </a:rPr>
                        <a:t>Table 109: Poland Heavy Commercial Vehicle EPS Market Value, 2021-2036 By System Architecture</a:t>
                      </a:r>
                      <a:endParaRPr sz="1050"/>
                    </a:p>
                  </a:txBody>
                  <a:tcPr marL="9525" marR="9525" marT="9525" marB="0" anchor="ctr"/>
                </a:tc>
              </a:tr>
              <a:tr h="176200">
                <a:tc>
                  <a:txBody>
                    <a:bodyPr wrap="square"/>
                    <a:lstStyle/>
                    <a:p>
                      <a:pPr algn="l"/>
                      <a:r>
                        <a:rPr sz="1050" b="0" i="0">
                          <a:solidFill>
                            <a:srgbClr val="000000"/>
                          </a:solidFill>
                          <a:latin typeface="Calibri"/>
                        </a:rPr>
                        <a:t>Table 110: Poland Heavy Commercial Vehicle EPS Market Volume, 2021-2036 By System Architecture</a:t>
                      </a:r>
                      <a:endParaRPr sz="1050"/>
                    </a:p>
                  </a:txBody>
                  <a:tcPr marL="9525" marR="9525" marT="9525" marB="0" anchor="ctr"/>
                </a:tc>
              </a:tr>
              <a:tr h="176200">
                <a:tc>
                  <a:txBody>
                    <a:bodyPr wrap="square"/>
                    <a:lstStyle/>
                    <a:p>
                      <a:pPr algn="l"/>
                      <a:r>
                        <a:rPr sz="1050" b="0" i="0">
                          <a:solidFill>
                            <a:srgbClr val="000000"/>
                          </a:solidFill>
                          <a:latin typeface="Calibri"/>
                        </a:rPr>
                        <a:t>Table 111: Poland Heavy Commercial Vehicle EPS Market Value, 2021-2036 By Vehicle Type</a:t>
                      </a:r>
                      <a:endParaRPr sz="1050"/>
                    </a:p>
                  </a:txBody>
                  <a:tcPr marL="9525" marR="9525" marT="9525" marB="0" anchor="ctr"/>
                </a:tc>
              </a:tr>
              <a:tr h="176200">
                <a:tc>
                  <a:txBody>
                    <a:bodyPr wrap="square"/>
                    <a:lstStyle/>
                    <a:p>
                      <a:pPr algn="l"/>
                      <a:r>
                        <a:rPr sz="1050" b="0" i="0">
                          <a:solidFill>
                            <a:srgbClr val="000000"/>
                          </a:solidFill>
                          <a:latin typeface="Calibri"/>
                        </a:rPr>
                        <a:t>Table 112: Poland Heavy Commercial Vehicle EPS Market Volume, 2021-2036 By Vehicle Type</a:t>
                      </a:r>
                      <a:endParaRPr sz="1050"/>
                    </a:p>
                  </a:txBody>
                  <a:tcPr marL="9525" marR="9525" marT="9525" marB="0" anchor="ctr"/>
                </a:tc>
              </a:tr>
              <a:tr h="176200">
                <a:tc>
                  <a:txBody>
                    <a:bodyPr wrap="square"/>
                    <a:lstStyle/>
                    <a:p>
                      <a:pPr algn="l"/>
                      <a:r>
                        <a:rPr sz="1050" b="0" i="0">
                          <a:solidFill>
                            <a:srgbClr val="000000"/>
                          </a:solidFill>
                          <a:latin typeface="Calibri"/>
                        </a:rPr>
                        <a:t>Table 113: Poland Heavy Commercial Vehicle EPS Market Value, 2021-2036 By Gross Vehicle Weight</a:t>
                      </a:r>
                      <a:endParaRPr sz="1050"/>
                    </a:p>
                  </a:txBody>
                  <a:tcPr marL="9525" marR="9525" marT="9525" marB="0" anchor="ctr"/>
                </a:tc>
              </a:tr>
              <a:tr h="176200">
                <a:tc>
                  <a:txBody>
                    <a:bodyPr wrap="square"/>
                    <a:lstStyle/>
                    <a:p>
                      <a:pPr algn="l"/>
                      <a:r>
                        <a:rPr sz="1050" b="0" i="0">
                          <a:solidFill>
                            <a:srgbClr val="000000"/>
                          </a:solidFill>
                          <a:latin typeface="Calibri"/>
                        </a:rPr>
                        <a:t>Table 114: Poland Heavy Commercial Vehicle EPS Market Volume, 2021-2036 By Gross Vehicle Weight</a:t>
                      </a:r>
                      <a:endParaRPr sz="1050"/>
                    </a:p>
                  </a:txBody>
                  <a:tcPr marL="9525" marR="9525" marT="9525" marB="0" anchor="ctr"/>
                </a:tc>
              </a:tr>
              <a:tr h="176200">
                <a:tc>
                  <a:txBody>
                    <a:bodyPr wrap="square"/>
                    <a:lstStyle/>
                    <a:p>
                      <a:pPr algn="l"/>
                      <a:r>
                        <a:rPr sz="1050" b="0" i="0">
                          <a:solidFill>
                            <a:srgbClr val="000000"/>
                          </a:solidFill>
                          <a:latin typeface="Calibri"/>
                        </a:rPr>
                        <a:t>Table 115: Poland Heavy Commercial Vehicle EPS Market Value, 2021-2036 By Propulsion Type</a:t>
                      </a:r>
                      <a:endParaRPr sz="1050"/>
                    </a:p>
                  </a:txBody>
                  <a:tcPr marL="9525" marR="9525" marT="9525" marB="0" anchor="ctr"/>
                </a:tc>
              </a:tr>
              <a:tr h="176200">
                <a:tc>
                  <a:txBody>
                    <a:bodyPr wrap="square"/>
                    <a:lstStyle/>
                    <a:p>
                      <a:pPr algn="l"/>
                      <a:r>
                        <a:rPr sz="1050" b="0" i="0">
                          <a:solidFill>
                            <a:srgbClr val="000000"/>
                          </a:solidFill>
                          <a:latin typeface="Calibri"/>
                        </a:rPr>
                        <a:t>Table 116: Poland Heavy Commercial Vehicle EPS Market Volume, 2021-2036 By Propulsion Type</a:t>
                      </a:r>
                      <a:endParaRPr sz="1050"/>
                    </a:p>
                  </a:txBody>
                  <a:tcPr marL="9525" marR="9525" marT="9525" marB="0" anchor="ctr"/>
                </a:tc>
              </a:tr>
              <a:tr h="176200">
                <a:tc>
                  <a:txBody>
                    <a:bodyPr wrap="square"/>
                    <a:lstStyle/>
                    <a:p>
                      <a:pPr algn="l"/>
                      <a:r>
                        <a:rPr sz="1050" b="0" i="0">
                          <a:solidFill>
                            <a:srgbClr val="000000"/>
                          </a:solidFill>
                          <a:latin typeface="Calibri"/>
                        </a:rPr>
                        <a:t>Table 117: Poland Heavy Commercial Vehicle EPS Market Value, 2021-2036 By Demand Type</a:t>
                      </a:r>
                      <a:endParaRPr sz="1050"/>
                    </a:p>
                  </a:txBody>
                  <a:tcPr marL="9525" marR="9525" marT="9525" marB="0" anchor="ctr"/>
                </a:tc>
              </a:tr>
              <a:tr h="176200">
                <a:tc>
                  <a:txBody>
                    <a:bodyPr wrap="square"/>
                    <a:lstStyle/>
                    <a:p>
                      <a:pPr algn="l"/>
                      <a:r>
                        <a:rPr sz="1050" b="0" i="0">
                          <a:solidFill>
                            <a:srgbClr val="000000"/>
                          </a:solidFill>
                          <a:latin typeface="Calibri"/>
                        </a:rPr>
                        <a:t>Table 118: Poland Heavy Commercial Vehicle EPS Market Volume, 2021-2036 By Demand Type</a:t>
                      </a:r>
                      <a:endParaRPr sz="1050"/>
                    </a:p>
                  </a:txBody>
                  <a:tcPr marL="9525" marR="9525" marT="9525" marB="0" anchor="ctr"/>
                </a:tc>
              </a:tr>
              <a:tr h="176200">
                <a:tc>
                  <a:txBody>
                    <a:bodyPr wrap="square"/>
                    <a:lstStyle/>
                    <a:p>
                      <a:pPr algn="l"/>
                      <a:r>
                        <a:rPr sz="1050" b="0" i="0">
                          <a:solidFill>
                            <a:srgbClr val="000000"/>
                          </a:solidFill>
                          <a:latin typeface="Calibri"/>
                        </a:rPr>
                        <a:t>Table 119: Russia Heavy Commercial Vehicle EPS Market Value, 2021-2036 By System Architecture</a:t>
                      </a:r>
                      <a:endParaRPr sz="1050"/>
                    </a:p>
                  </a:txBody>
                  <a:tcPr marL="9525" marR="9525" marT="9525" marB="0" anchor="ctr"/>
                </a:tc>
              </a:tr>
              <a:tr h="176200">
                <a:tc>
                  <a:txBody>
                    <a:bodyPr wrap="square"/>
                    <a:lstStyle/>
                    <a:p>
                      <a:pPr algn="l"/>
                      <a:r>
                        <a:rPr sz="1050" b="0" i="0">
                          <a:solidFill>
                            <a:srgbClr val="000000"/>
                          </a:solidFill>
                          <a:latin typeface="Calibri"/>
                        </a:rPr>
                        <a:t>Table 120: Russia Heavy Commercial Vehicle EPS Market Volume, 2021-2036 By System Architecture</a:t>
                      </a:r>
                      <a:endParaRPr sz="1050"/>
                    </a:p>
                  </a:txBody>
                  <a:tcPr marL="9525" marR="9525" marT="9525" marB="0" anchor="ctr"/>
                </a:tc>
              </a:tr>
              <a:tr h="176200">
                <a:tc>
                  <a:txBody>
                    <a:bodyPr wrap="square"/>
                    <a:lstStyle/>
                    <a:p>
                      <a:pPr algn="l"/>
                      <a:r>
                        <a:rPr sz="1050" b="0" i="0">
                          <a:solidFill>
                            <a:srgbClr val="000000"/>
                          </a:solidFill>
                          <a:latin typeface="Calibri"/>
                        </a:rPr>
                        <a:t>Table 121: Russia Heavy Commercial Vehicle EPS Market Value, 2021-2036 By Vehicle Type</a:t>
                      </a:r>
                      <a:endParaRPr sz="1050"/>
                    </a:p>
                  </a:txBody>
                  <a:tcPr marL="9525" marR="9525" marT="9525" marB="0" anchor="ctr"/>
                </a:tc>
              </a:tr>
              <a:tr h="176200">
                <a:tc>
                  <a:txBody>
                    <a:bodyPr wrap="square"/>
                    <a:lstStyle/>
                    <a:p>
                      <a:pPr algn="l"/>
                      <a:r>
                        <a:rPr sz="1050" b="0" i="0">
                          <a:solidFill>
                            <a:srgbClr val="000000"/>
                          </a:solidFill>
                          <a:latin typeface="Calibri"/>
                        </a:rPr>
                        <a:t>Table 122: Russia Heavy Commercial Vehicle EPS Market Volume, 2021-2036 By Vehicle Type</a:t>
                      </a:r>
                      <a:endParaRPr sz="1050"/>
                    </a:p>
                  </a:txBody>
                  <a:tcPr marL="9525" marR="9525" marT="9525" marB="0" anchor="ctr"/>
                </a:tc>
              </a:tr>
              <a:tr h="176200">
                <a:tc>
                  <a:txBody>
                    <a:bodyPr wrap="square"/>
                    <a:lstStyle/>
                    <a:p>
                      <a:pPr algn="l"/>
                      <a:r>
                        <a:rPr sz="1050" b="0" i="0">
                          <a:solidFill>
                            <a:srgbClr val="000000"/>
                          </a:solidFill>
                          <a:latin typeface="Calibri"/>
                        </a:rPr>
                        <a:t>Table 123: Russia Heavy Commercial Vehicle EPS Market Value, 2021-2036 By Gross Vehicle Weight</a:t>
                      </a:r>
                      <a:endParaRPr sz="1050"/>
                    </a:p>
                  </a:txBody>
                  <a:tcPr marL="9525" marR="9525" marT="9525" marB="0" anchor="ctr"/>
                </a:tc>
              </a:tr>
              <a:tr h="176200">
                <a:tc>
                  <a:txBody>
                    <a:bodyPr wrap="square"/>
                    <a:lstStyle/>
                    <a:p>
                      <a:pPr algn="l"/>
                      <a:r>
                        <a:rPr sz="1050" b="0" i="0">
                          <a:solidFill>
                            <a:srgbClr val="000000"/>
                          </a:solidFill>
                          <a:latin typeface="Calibri"/>
                        </a:rPr>
                        <a:t>Table 124: Russia Heavy Commercial Vehicle EPS Market Volume, 2021-2036 By Gross Vehicle Weight</a:t>
                      </a:r>
                      <a:endParaRPr sz="1050"/>
                    </a:p>
                  </a:txBody>
                  <a:tcPr marL="9525" marR="9525" marT="9525" marB="0" anchor="ctr"/>
                </a:tc>
              </a:tr>
              <a:tr h="176200">
                <a:tc>
                  <a:txBody>
                    <a:bodyPr wrap="square"/>
                    <a:lstStyle/>
                    <a:p>
                      <a:pPr algn="l"/>
                      <a:r>
                        <a:rPr sz="1050" b="0" i="0">
                          <a:solidFill>
                            <a:srgbClr val="000000"/>
                          </a:solidFill>
                          <a:latin typeface="Calibri"/>
                        </a:rPr>
                        <a:t>Table 125: Russia Heavy Commercial Vehicle EPS Market Value, 2021-2036 By Propulsion Type</a:t>
                      </a:r>
                      <a:endParaRPr sz="1050"/>
                    </a:p>
                  </a:txBody>
                  <a:tcPr marL="9525" marR="9525" marT="9525" marB="0" anchor="ctr"/>
                </a:tc>
              </a:tr>
              <a:tr h="176200">
                <a:tc>
                  <a:txBody>
                    <a:bodyPr wrap="square"/>
                    <a:lstStyle/>
                    <a:p>
                      <a:pPr algn="l"/>
                      <a:r>
                        <a:rPr sz="1050" b="0" i="0">
                          <a:solidFill>
                            <a:srgbClr val="000000"/>
                          </a:solidFill>
                          <a:latin typeface="Calibri"/>
                        </a:rPr>
                        <a:t>Table 126: Russia Heavy Commercial Vehicle EPS Market Volume, 2021-2036 By Propulsion Type</a:t>
                      </a:r>
                      <a:endParaRPr sz="1050"/>
                    </a:p>
                  </a:txBody>
                  <a:tcPr marL="9525" marR="9525" marT="9525" marB="0" anchor="ctr"/>
                </a:tc>
              </a:tr>
              <a:tr h="176200">
                <a:tc>
                  <a:txBody>
                    <a:bodyPr wrap="square"/>
                    <a:lstStyle/>
                    <a:p>
                      <a:pPr algn="l"/>
                      <a:r>
                        <a:rPr sz="1050" b="0" i="0">
                          <a:solidFill>
                            <a:srgbClr val="000000"/>
                          </a:solidFill>
                          <a:latin typeface="Calibri"/>
                        </a:rPr>
                        <a:t>Table 127: Russia Heavy Commercial Vehicle EPS Market Value, 2021-2036 By Demand Type</a:t>
                      </a:r>
                      <a:endParaRPr sz="1050"/>
                    </a:p>
                  </a:txBody>
                  <a:tcPr marL="9525" marR="9525" marT="9525" marB="0" anchor="ctr"/>
                </a:tc>
              </a:tr>
              <a:tr h="176200">
                <a:tc>
                  <a:txBody>
                    <a:bodyPr wrap="square"/>
                    <a:lstStyle/>
                    <a:p>
                      <a:pPr algn="l"/>
                      <a:r>
                        <a:rPr sz="1050" b="0" i="0">
                          <a:solidFill>
                            <a:srgbClr val="000000"/>
                          </a:solidFill>
                          <a:latin typeface="Calibri"/>
                        </a:rPr>
                        <a:t>Table 128: Russia Heavy Commercial Vehicle EPS Market Volume, 2021-2036 By Demand Type</a:t>
                      </a:r>
                      <a:endParaRPr sz="1050"/>
                    </a:p>
                  </a:txBody>
                  <a:tcPr marL="9525" marR="9525" marT="9525" marB="0" anchor="ctr"/>
                </a:tc>
              </a:tr>
              <a:tr h="345351">
                <a:tc>
                  <a:txBody>
                    <a:bodyPr wrap="square"/>
                    <a:lstStyle/>
                    <a:p>
                      <a:pPr algn="l"/>
                      <a:r>
                        <a:rPr sz="1050" b="0" i="0">
                          <a:solidFill>
                            <a:srgbClr val="000000"/>
                          </a:solidFill>
                          <a:latin typeface="Calibri"/>
                        </a:rPr>
                        <a:t>Table 129: Balkan and Baltics Heavy Commercial Vehicle EPS Market Value, 2021-2036 By System Architecture</a:t>
                      </a:r>
                      <a:endParaRPr sz="1050"/>
                    </a:p>
                  </a:txBody>
                  <a:tcPr marL="9525" marR="9525" marT="9525" marB="0" anchor="ctr"/>
                </a:tc>
              </a:tr>
              <a:tr h="345351">
                <a:tc>
                  <a:txBody>
                    <a:bodyPr wrap="square"/>
                    <a:lstStyle/>
                    <a:p>
                      <a:pPr algn="l"/>
                      <a:r>
                        <a:rPr sz="1050" b="0" i="0">
                          <a:solidFill>
                            <a:srgbClr val="000000"/>
                          </a:solidFill>
                          <a:latin typeface="Calibri"/>
                        </a:rPr>
                        <a:t>Table 130: Balkan and Baltics Heavy Commercial Vehicle EPS Market Volume, 2021-2036 By System Architecture</a:t>
                      </a:r>
                      <a:endParaRPr sz="1050"/>
                    </a:p>
                  </a:txBody>
                  <a:tcPr marL="9525" marR="9525" marT="9525" marB="0" anchor="ctr"/>
                </a:tc>
              </a:tr>
              <a:tr h="176200">
                <a:tc>
                  <a:txBody>
                    <a:bodyPr wrap="square"/>
                    <a:lstStyle/>
                    <a:p>
                      <a:pPr algn="l"/>
                      <a:r>
                        <a:rPr sz="1050" b="0" i="0">
                          <a:solidFill>
                            <a:srgbClr val="000000"/>
                          </a:solidFill>
                          <a:latin typeface="Calibri"/>
                        </a:rPr>
                        <a:t>Table 131: Balkan and Baltics Heavy Commercial Vehicle EPS Market Value, 2021-2036 By Vehicle Type</a:t>
                      </a:r>
                      <a:endParaRPr sz="1050"/>
                    </a:p>
                  </a:txBody>
                  <a:tcPr marL="9525" marR="9525" marT="9525" marB="0" anchor="ctr"/>
                </a:tc>
              </a:tr>
              <a:tr h="345351">
                <a:tc>
                  <a:txBody>
                    <a:bodyPr wrap="square"/>
                    <a:lstStyle/>
                    <a:p>
                      <a:pPr algn="l"/>
                      <a:r>
                        <a:rPr sz="1050" b="0" i="0">
                          <a:solidFill>
                            <a:srgbClr val="000000"/>
                          </a:solidFill>
                          <a:latin typeface="Calibri"/>
                        </a:rPr>
                        <a:t>Table 132: Balkan and Baltics Heavy Commercial Vehicle EPS Market Volume, 2021-2036 By Vehicle Type</a:t>
                      </a:r>
                      <a:endParaRPr sz="1050"/>
                    </a:p>
                  </a:txBody>
                  <a:tcPr marL="9525" marR="9525" marT="9525" marB="0" anchor="ctr"/>
                </a:tc>
              </a:tr>
              <a:tr h="345351">
                <a:tc>
                  <a:txBody>
                    <a:bodyPr wrap="square"/>
                    <a:lstStyle/>
                    <a:p>
                      <a:pPr algn="l"/>
                      <a:r>
                        <a:rPr sz="1050" b="0" i="0">
                          <a:solidFill>
                            <a:srgbClr val="000000"/>
                          </a:solidFill>
                          <a:latin typeface="Calibri"/>
                        </a:rPr>
                        <a:t>Table 133: Balkan and Baltics Heavy Commercial Vehicle EPS Market Value, 2021-2036 By Gross Vehicle Weight</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27360">
                <a:tc>
                  <a:txBody>
                    <a:bodyPr wrap="square"/>
                    <a:lstStyle/>
                    <a:p>
                      <a:pPr algn="l"/>
                      <a:r>
                        <a:rPr sz="1050" b="0" i="0">
                          <a:solidFill>
                            <a:srgbClr val="000000"/>
                          </a:solidFill>
                          <a:latin typeface="Calibri"/>
                        </a:rPr>
                        <a:t>Table 134: Balkan and Baltics Heavy Commercial Vehicle EPS Market Volume, 2021-2036 By Gross Vehicle Weight</a:t>
                      </a:r>
                      <a:endParaRPr sz="1050"/>
                    </a:p>
                  </a:txBody>
                  <a:tcPr marL="9525" marR="9525" marT="9525" marB="0" anchor="ctr"/>
                </a:tc>
              </a:tr>
              <a:tr h="327360">
                <a:tc>
                  <a:txBody>
                    <a:bodyPr wrap="square"/>
                    <a:lstStyle/>
                    <a:p>
                      <a:pPr algn="l"/>
                      <a:r>
                        <a:rPr sz="1050" b="0" i="0">
                          <a:solidFill>
                            <a:srgbClr val="000000"/>
                          </a:solidFill>
                          <a:latin typeface="Calibri"/>
                        </a:rPr>
                        <a:t>Table 135: Balkan and Baltics Heavy Commercial Vehicle EPS Market Value, 2021-2036 By Propulsion Type</a:t>
                      </a:r>
                      <a:endParaRPr sz="1050"/>
                    </a:p>
                  </a:txBody>
                  <a:tcPr marL="9525" marR="9525" marT="9525" marB="0" anchor="ctr"/>
                </a:tc>
              </a:tr>
              <a:tr h="327360">
                <a:tc>
                  <a:txBody>
                    <a:bodyPr wrap="square"/>
                    <a:lstStyle/>
                    <a:p>
                      <a:pPr algn="l"/>
                      <a:r>
                        <a:rPr sz="1050" b="0" i="0">
                          <a:solidFill>
                            <a:srgbClr val="000000"/>
                          </a:solidFill>
                          <a:latin typeface="Calibri"/>
                        </a:rPr>
                        <a:t>Table 136: Balkan and Baltics Heavy Commercial Vehicle EPS Market Volume, 2021-2036 By Propulsion Type</a:t>
                      </a:r>
                      <a:endParaRPr sz="1050"/>
                    </a:p>
                  </a:txBody>
                  <a:tcPr marL="9525" marR="9525" marT="9525" marB="0" anchor="ctr"/>
                </a:tc>
              </a:tr>
              <a:tr h="327360">
                <a:tc>
                  <a:txBody>
                    <a:bodyPr wrap="square"/>
                    <a:lstStyle/>
                    <a:p>
                      <a:pPr algn="l"/>
                      <a:r>
                        <a:rPr sz="1050" b="0" i="0">
                          <a:solidFill>
                            <a:srgbClr val="000000"/>
                          </a:solidFill>
                          <a:latin typeface="Calibri"/>
                        </a:rPr>
                        <a:t>Table 137: Balkan and Baltics Heavy Commercial Vehicle EPS Market Value, 2021-2036 By Demand Type</a:t>
                      </a:r>
                      <a:endParaRPr sz="1050"/>
                    </a:p>
                  </a:txBody>
                  <a:tcPr marL="9525" marR="9525" marT="9525" marB="0" anchor="ctr"/>
                </a:tc>
              </a:tr>
              <a:tr h="327360">
                <a:tc>
                  <a:txBody>
                    <a:bodyPr wrap="square"/>
                    <a:lstStyle/>
                    <a:p>
                      <a:pPr algn="l"/>
                      <a:r>
                        <a:rPr sz="1050" b="0" i="0">
                          <a:solidFill>
                            <a:srgbClr val="000000"/>
                          </a:solidFill>
                          <a:latin typeface="Calibri"/>
                        </a:rPr>
                        <a:t>Table 138: Balkan and Baltics Heavy Commercial Vehicle EPS Market Volume, 2021-2036 By Demand Type</a:t>
                      </a:r>
                      <a:endParaRPr sz="1050"/>
                    </a:p>
                  </a:txBody>
                  <a:tcPr marL="9525" marR="9525" marT="9525" marB="0" anchor="ctr"/>
                </a:tc>
              </a:tr>
              <a:tr h="327360">
                <a:tc>
                  <a:txBody>
                    <a:bodyPr wrap="square"/>
                    <a:lstStyle/>
                    <a:p>
                      <a:pPr algn="l"/>
                      <a:r>
                        <a:rPr sz="1050" b="0" i="0">
                          <a:solidFill>
                            <a:srgbClr val="000000"/>
                          </a:solidFill>
                          <a:latin typeface="Calibri"/>
                        </a:rPr>
                        <a:t>Table 139: Western Europe Heavy Commercial Vehicle EPS Market Value, 2021-2036 By System Architecture</a:t>
                      </a:r>
                      <a:endParaRPr sz="1050"/>
                    </a:p>
                  </a:txBody>
                  <a:tcPr marL="9525" marR="9525" marT="9525" marB="0" anchor="ctr"/>
                </a:tc>
              </a:tr>
              <a:tr h="327360">
                <a:tc>
                  <a:txBody>
                    <a:bodyPr wrap="square"/>
                    <a:lstStyle/>
                    <a:p>
                      <a:pPr algn="l"/>
                      <a:r>
                        <a:rPr sz="1050" b="0" i="0">
                          <a:solidFill>
                            <a:srgbClr val="000000"/>
                          </a:solidFill>
                          <a:latin typeface="Calibri"/>
                        </a:rPr>
                        <a:t>Table 140: Western Europe Heavy Commercial Vehicle EPS Market Volume, 2021-2036 By System Architecture</a:t>
                      </a:r>
                      <a:endParaRPr sz="1050"/>
                    </a:p>
                  </a:txBody>
                  <a:tcPr marL="9525" marR="9525" marT="9525" marB="0" anchor="ctr"/>
                </a:tc>
              </a:tr>
              <a:tr h="167020">
                <a:tc>
                  <a:txBody>
                    <a:bodyPr wrap="square"/>
                    <a:lstStyle/>
                    <a:p>
                      <a:pPr algn="l"/>
                      <a:r>
                        <a:rPr sz="1050" b="0" i="0">
                          <a:solidFill>
                            <a:srgbClr val="000000"/>
                          </a:solidFill>
                          <a:latin typeface="Calibri"/>
                        </a:rPr>
                        <a:t>Table 141: Western Europe Heavy Commercial Vehicle EPS Market Value, 2021-2036 By Vehicle Type</a:t>
                      </a:r>
                      <a:endParaRPr sz="1050"/>
                    </a:p>
                  </a:txBody>
                  <a:tcPr marL="9525" marR="9525" marT="9525" marB="0" anchor="ctr"/>
                </a:tc>
              </a:tr>
              <a:tr h="167020">
                <a:tc>
                  <a:txBody>
                    <a:bodyPr wrap="square"/>
                    <a:lstStyle/>
                    <a:p>
                      <a:pPr algn="l"/>
                      <a:r>
                        <a:rPr sz="1050" b="0" i="0">
                          <a:solidFill>
                            <a:srgbClr val="000000"/>
                          </a:solidFill>
                          <a:latin typeface="Calibri"/>
                        </a:rPr>
                        <a:t>Table 142: Western Europe Heavy Commercial Vehicle EPS Market Volume, 2021-2036 By Vehicle Type</a:t>
                      </a:r>
                      <a:endParaRPr sz="1050"/>
                    </a:p>
                  </a:txBody>
                  <a:tcPr marL="9525" marR="9525" marT="9525" marB="0" anchor="ctr"/>
                </a:tc>
              </a:tr>
              <a:tr h="327360">
                <a:tc>
                  <a:txBody>
                    <a:bodyPr wrap="square"/>
                    <a:lstStyle/>
                    <a:p>
                      <a:pPr algn="l"/>
                      <a:r>
                        <a:rPr sz="1050" b="0" i="0">
                          <a:solidFill>
                            <a:srgbClr val="000000"/>
                          </a:solidFill>
                          <a:latin typeface="Calibri"/>
                        </a:rPr>
                        <a:t>Table 143: Western Europe Heavy Commercial Vehicle EPS Market Value, 2021-2036 By Gross Vehicle Weight</a:t>
                      </a:r>
                      <a:endParaRPr sz="1050"/>
                    </a:p>
                  </a:txBody>
                  <a:tcPr marL="9525" marR="9525" marT="9525" marB="0" anchor="ctr"/>
                </a:tc>
              </a:tr>
              <a:tr h="327360">
                <a:tc>
                  <a:txBody>
                    <a:bodyPr wrap="square"/>
                    <a:lstStyle/>
                    <a:p>
                      <a:pPr algn="l"/>
                      <a:r>
                        <a:rPr sz="1050" b="0" i="0">
                          <a:solidFill>
                            <a:srgbClr val="000000"/>
                          </a:solidFill>
                          <a:latin typeface="Calibri"/>
                        </a:rPr>
                        <a:t>Table 144: Western Europe Heavy Commercial Vehicle EPS Market Volume, 2021-2036 By Gross Vehicle Weight</a:t>
                      </a:r>
                      <a:endParaRPr sz="1050"/>
                    </a:p>
                  </a:txBody>
                  <a:tcPr marL="9525" marR="9525" marT="9525" marB="0" anchor="ctr"/>
                </a:tc>
              </a:tr>
              <a:tr h="327360">
                <a:tc>
                  <a:txBody>
                    <a:bodyPr wrap="square"/>
                    <a:lstStyle/>
                    <a:p>
                      <a:pPr algn="l"/>
                      <a:r>
                        <a:rPr sz="1050" b="0" i="0">
                          <a:solidFill>
                            <a:srgbClr val="000000"/>
                          </a:solidFill>
                          <a:latin typeface="Calibri"/>
                        </a:rPr>
                        <a:t>Table 145: Western Europe Heavy Commercial Vehicle EPS Market Value, 2021-2036 By Propulsion Type</a:t>
                      </a:r>
                      <a:endParaRPr sz="1050"/>
                    </a:p>
                  </a:txBody>
                  <a:tcPr marL="9525" marR="9525" marT="9525" marB="0" anchor="ctr"/>
                </a:tc>
              </a:tr>
              <a:tr h="327360">
                <a:tc>
                  <a:txBody>
                    <a:bodyPr wrap="square"/>
                    <a:lstStyle/>
                    <a:p>
                      <a:pPr algn="l"/>
                      <a:r>
                        <a:rPr sz="1050" b="0" i="0">
                          <a:solidFill>
                            <a:srgbClr val="000000"/>
                          </a:solidFill>
                          <a:latin typeface="Calibri"/>
                        </a:rPr>
                        <a:t>Table 146: Western Europe Heavy Commercial Vehicle EPS Market Volume, 2021-2036 By Propulsion Type</a:t>
                      </a:r>
                      <a:endParaRPr sz="1050"/>
                    </a:p>
                  </a:txBody>
                  <a:tcPr marL="9525" marR="9525" marT="9525" marB="0" anchor="ctr"/>
                </a:tc>
              </a:tr>
              <a:tr h="167020">
                <a:tc>
                  <a:txBody>
                    <a:bodyPr wrap="square"/>
                    <a:lstStyle/>
                    <a:p>
                      <a:pPr algn="l"/>
                      <a:r>
                        <a:rPr sz="1050" b="0" i="0">
                          <a:solidFill>
                            <a:srgbClr val="000000"/>
                          </a:solidFill>
                          <a:latin typeface="Calibri"/>
                        </a:rPr>
                        <a:t>Table 147: Western Europe Heavy Commercial Vehicle EPS Market Value, 2021-2036 By Demand Type</a:t>
                      </a:r>
                      <a:endParaRPr sz="1050"/>
                    </a:p>
                  </a:txBody>
                  <a:tcPr marL="9525" marR="9525" marT="9525" marB="0" anchor="ctr"/>
                </a:tc>
              </a:tr>
              <a:tr h="327360">
                <a:tc>
                  <a:txBody>
                    <a:bodyPr wrap="square"/>
                    <a:lstStyle/>
                    <a:p>
                      <a:pPr algn="l"/>
                      <a:r>
                        <a:rPr sz="1050" b="0" i="0">
                          <a:solidFill>
                            <a:srgbClr val="000000"/>
                          </a:solidFill>
                          <a:latin typeface="Calibri"/>
                        </a:rPr>
                        <a:t>Table 148: Western Europe Heavy Commercial Vehicle EPS Market Volume, 2021-2036 By Demand Type</a:t>
                      </a:r>
                      <a:endParaRPr sz="1050"/>
                    </a:p>
                  </a:txBody>
                  <a:tcPr marL="9525" marR="9525" marT="9525" marB="0" anchor="ctr"/>
                </a:tc>
              </a:tr>
              <a:tr h="167020">
                <a:tc>
                  <a:txBody>
                    <a:bodyPr wrap="square"/>
                    <a:lstStyle/>
                    <a:p>
                      <a:pPr algn="l"/>
                      <a:r>
                        <a:rPr sz="1050" b="0" i="0">
                          <a:solidFill>
                            <a:srgbClr val="000000"/>
                          </a:solidFill>
                          <a:latin typeface="Calibri"/>
                        </a:rPr>
                        <a:t>Table 149: Western Europe Heavy Commercial Vehicle EPS Market Value, 2021-2036 By Country</a:t>
                      </a:r>
                      <a:endParaRPr sz="1050"/>
                    </a:p>
                  </a:txBody>
                  <a:tcPr marL="9525" marR="9525" marT="9525" marB="0" anchor="ctr"/>
                </a:tc>
              </a:tr>
              <a:tr h="167020">
                <a:tc>
                  <a:txBody>
                    <a:bodyPr wrap="square"/>
                    <a:lstStyle/>
                    <a:p>
                      <a:pPr algn="l"/>
                      <a:r>
                        <a:rPr sz="1050" b="0" i="0">
                          <a:solidFill>
                            <a:srgbClr val="000000"/>
                          </a:solidFill>
                          <a:latin typeface="Calibri"/>
                        </a:rPr>
                        <a:t>Table 150: Western Europe Heavy Commercial Vehicle EPS Market Volume,2021-2036 By Country</a:t>
                      </a:r>
                      <a:endParaRPr sz="1050"/>
                    </a:p>
                  </a:txBody>
                  <a:tcPr marL="9525" marR="9525" marT="9525" marB="0" anchor="ctr"/>
                </a:tc>
              </a:tr>
              <a:tr h="167020">
                <a:tc>
                  <a:txBody>
                    <a:bodyPr wrap="square"/>
                    <a:lstStyle/>
                    <a:p>
                      <a:pPr algn="l"/>
                      <a:r>
                        <a:rPr sz="1050" b="0" i="0">
                          <a:solidFill>
                            <a:srgbClr val="000000"/>
                          </a:solidFill>
                          <a:latin typeface="Calibri"/>
                        </a:rPr>
                        <a:t>Table 151: Germany Heavy Commercial Vehicle EPS Market Value, 2021-2036 By System Architecture</a:t>
                      </a:r>
                      <a:endParaRPr sz="1050"/>
                    </a:p>
                  </a:txBody>
                  <a:tcPr marL="9525" marR="9525" marT="9525" marB="0" anchor="ctr"/>
                </a:tc>
              </a:tr>
              <a:tr h="327360">
                <a:tc>
                  <a:txBody>
                    <a:bodyPr wrap="square"/>
                    <a:lstStyle/>
                    <a:p>
                      <a:pPr algn="l"/>
                      <a:r>
                        <a:rPr sz="1050" b="0" i="0">
                          <a:solidFill>
                            <a:srgbClr val="000000"/>
                          </a:solidFill>
                          <a:latin typeface="Calibri"/>
                        </a:rPr>
                        <a:t>Table 152: Germany Heavy Commercial Vehicle EPS Market Volume, 2021-2036 By System Architecture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(4/8)</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153: Germany Heavy Commercial Vehicle EPS Market Value,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154: Germany Heavy Commercial Vehicle EPS Market Volume,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155: Germany Heavy Commercial Vehicle EPS Market Value, 2021-2036 By Gross Vehicle Weight</a:t>
                      </a:r>
                      <a:endParaRPr sz="1050"/>
                    </a:p>
                  </a:txBody>
                  <a:tcPr marL="9525" marR="9525" marT="9525" marB="0" anchor="ctr"/>
                </a:tc>
              </a:tr>
              <a:tr h="332858">
                <a:tc>
                  <a:txBody>
                    <a:bodyPr wrap="square"/>
                    <a:lstStyle/>
                    <a:p>
                      <a:pPr algn="l"/>
                      <a:r>
                        <a:rPr sz="1050" b="0" i="0">
                          <a:solidFill>
                            <a:srgbClr val="000000"/>
                          </a:solidFill>
                          <a:latin typeface="Calibri"/>
                        </a:rPr>
                        <a:t>Table 156: Germany Heavy Commercial Vehicle EPS Market Volume,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157: Germany Heavy Commercial Vehicle EPS Market Value,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158: Germany Heavy Commercial Vehicle EPS Market Volume,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159: Germany Heavy Commercial Vehicle EPS Market Value,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160: Germany Heavy Commercial Vehicle EPS Market Volume,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161: Italy Heavy Commercial Vehicle EPS Market Value,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162: Italy Heavy Commercial Vehicle EPS Market Volume,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163: Italy Heavy Commercial Vehicle EPS Market Value,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164: Italy Heavy Commercial Vehicle EPS Market Volume,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165: Italy Heavy Commercial Vehicle EPS Market Value,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166: Italy Heavy Commercial Vehicle EPS Market Volume,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167: Italy Heavy Commercial Vehicle EPS Market Value,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168: Italy Heavy Commercial Vehicle EPS Market Volume,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169: Italy Heavy Commercial Vehicle EPS Market Value,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170: Italy Heavy Commercial Vehicle EPS Market Volume,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171: France Heavy Commercial Vehicle EPS Market Value,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172: France Heavy Commercial Vehicle EPS Market Volume,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173: France Heavy Commercial Vehicle EPS Market Value,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174: France Heavy Commercial Vehicle EPS Market Volume,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175: France Heavy Commercial Vehicle EPS Market Value,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176: France Heavy Commercial Vehicle EPS Market Volume,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177: France Heavy Commercial Vehicle EPS Market Value,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178: France Heavy Commercial Vehicle EPS Market Volume,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179: France Heavy Commercial Vehicle EPS Market Value,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180: France Heavy Commercial Vehicle EPS Market Volume,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181: U.K. Heavy Commercial Vehicle EPS Market Value,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182: U.K. Heavy Commercial Vehicle EPS Market Volume, 2021-2036 By System Architecture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183: U.K. Heavy Commercial Vehicle EPS Market Value, 2021-2036 By Vehicle Type</a:t>
                      </a:r>
                      <a:endParaRPr sz="1050"/>
                    </a:p>
                  </a:txBody>
                  <a:tcPr marL="9525" marR="9525" marT="9525" marB="0" anchor="ctr"/>
                </a:tc>
              </a:tr>
              <a:tr h="170045">
                <a:tc>
                  <a:txBody>
                    <a:bodyPr wrap="square"/>
                    <a:lstStyle/>
                    <a:p>
                      <a:pPr algn="l"/>
                      <a:r>
                        <a:rPr sz="1050" b="0" i="0">
                          <a:solidFill>
                            <a:srgbClr val="000000"/>
                          </a:solidFill>
                          <a:latin typeface="Calibri"/>
                        </a:rPr>
                        <a:t>Table 184: U.K. Heavy Commercial Vehicle EPS Market Volume, 2021-2036 By Vehicle Type</a:t>
                      </a:r>
                      <a:endParaRPr sz="1050"/>
                    </a:p>
                  </a:txBody>
                  <a:tcPr marL="9525" marR="9525" marT="9525" marB="0" anchor="ctr"/>
                </a:tc>
              </a:tr>
              <a:tr h="170045">
                <a:tc>
                  <a:txBody>
                    <a:bodyPr wrap="square"/>
                    <a:lstStyle/>
                    <a:p>
                      <a:pPr algn="l"/>
                      <a:r>
                        <a:rPr sz="1050" b="0" i="0">
                          <a:solidFill>
                            <a:srgbClr val="000000"/>
                          </a:solidFill>
                          <a:latin typeface="Calibri"/>
                        </a:rPr>
                        <a:t>Table 185: U.K. Heavy Commercial Vehicle EPS Market Value, 2021-2036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Table 186: U.K. Heavy Commercial Vehicle EPS Market Volume, 2021-2036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Table 187: U.K. Heavy Commercial Vehicle EPS Market Value, 2021-2036 By Propulsion Type</a:t>
                      </a:r>
                      <a:endParaRPr sz="1050"/>
                    </a:p>
                  </a:txBody>
                  <a:tcPr marL="9525" marR="9525" marT="9525" marB="0" anchor="ctr"/>
                </a:tc>
              </a:tr>
              <a:tr h="170045">
                <a:tc>
                  <a:txBody>
                    <a:bodyPr wrap="square"/>
                    <a:lstStyle/>
                    <a:p>
                      <a:pPr algn="l"/>
                      <a:r>
                        <a:rPr sz="1050" b="0" i="0">
                          <a:solidFill>
                            <a:srgbClr val="000000"/>
                          </a:solidFill>
                          <a:latin typeface="Calibri"/>
                        </a:rPr>
                        <a:t>Table 188: U.K. Heavy Commercial Vehicle EPS Market Volume, 2021-2036 By Propulsion Type</a:t>
                      </a:r>
                      <a:endParaRPr sz="1050"/>
                    </a:p>
                  </a:txBody>
                  <a:tcPr marL="9525" marR="9525" marT="9525" marB="0" anchor="ctr"/>
                </a:tc>
              </a:tr>
              <a:tr h="170045">
                <a:tc>
                  <a:txBody>
                    <a:bodyPr wrap="square"/>
                    <a:lstStyle/>
                    <a:p>
                      <a:pPr algn="l"/>
                      <a:r>
                        <a:rPr sz="1050" b="0" i="0">
                          <a:solidFill>
                            <a:srgbClr val="000000"/>
                          </a:solidFill>
                          <a:latin typeface="Calibri"/>
                        </a:rPr>
                        <a:t>Table 189: U.K. Heavy Commercial Vehicle EPS Market Value, 2021-2036 By Demand Type</a:t>
                      </a:r>
                      <a:endParaRPr sz="1050"/>
                    </a:p>
                  </a:txBody>
                  <a:tcPr marL="9525" marR="9525" marT="9525" marB="0" anchor="ctr"/>
                </a:tc>
              </a:tr>
              <a:tr h="170045">
                <a:tc>
                  <a:txBody>
                    <a:bodyPr wrap="square"/>
                    <a:lstStyle/>
                    <a:p>
                      <a:pPr algn="l"/>
                      <a:r>
                        <a:rPr sz="1050" b="0" i="0">
                          <a:solidFill>
                            <a:srgbClr val="000000"/>
                          </a:solidFill>
                          <a:latin typeface="Calibri"/>
                        </a:rPr>
                        <a:t>Table 190: U.K. Heavy Commercial Vehicle EPS Market Volume, 2021-2036 By Demand Type</a:t>
                      </a:r>
                      <a:endParaRPr sz="1050"/>
                    </a:p>
                  </a:txBody>
                  <a:tcPr marL="9525" marR="9525" marT="9525" marB="0" anchor="ctr"/>
                </a:tc>
              </a:tr>
              <a:tr h="170045">
                <a:tc>
                  <a:txBody>
                    <a:bodyPr wrap="square"/>
                    <a:lstStyle/>
                    <a:p>
                      <a:pPr algn="l"/>
                      <a:r>
                        <a:rPr sz="1050" b="0" i="0">
                          <a:solidFill>
                            <a:srgbClr val="000000"/>
                          </a:solidFill>
                          <a:latin typeface="Calibri"/>
                        </a:rPr>
                        <a:t>Table 191: Spain Heavy Commercial Vehicle EPS Market Value, 2021-2036 By System Architecture</a:t>
                      </a:r>
                      <a:endParaRPr sz="1050"/>
                    </a:p>
                  </a:txBody>
                  <a:tcPr marL="9525" marR="9525" marT="9525" marB="0" anchor="ctr"/>
                </a:tc>
              </a:tr>
              <a:tr h="170045">
                <a:tc>
                  <a:txBody>
                    <a:bodyPr wrap="square"/>
                    <a:lstStyle/>
                    <a:p>
                      <a:pPr algn="l"/>
                      <a:r>
                        <a:rPr sz="1050" b="0" i="0">
                          <a:solidFill>
                            <a:srgbClr val="000000"/>
                          </a:solidFill>
                          <a:latin typeface="Calibri"/>
                        </a:rPr>
                        <a:t>Table 192: Spain Heavy Commercial Vehicle EPS Market Volume, 2021-2036 By System Architecture</a:t>
                      </a:r>
                      <a:endParaRPr sz="1050"/>
                    </a:p>
                  </a:txBody>
                  <a:tcPr marL="9525" marR="9525" marT="9525" marB="0" anchor="ctr"/>
                </a:tc>
              </a:tr>
              <a:tr h="170045">
                <a:tc>
                  <a:txBody>
                    <a:bodyPr wrap="square"/>
                    <a:lstStyle/>
                    <a:p>
                      <a:pPr algn="l"/>
                      <a:r>
                        <a:rPr sz="1050" b="0" i="0">
                          <a:solidFill>
                            <a:srgbClr val="000000"/>
                          </a:solidFill>
                          <a:latin typeface="Calibri"/>
                        </a:rPr>
                        <a:t>Table 193: Spain Heavy Commercial Vehicle EPS Market Value, 2021-2036 By Vehicle Type</a:t>
                      </a:r>
                      <a:endParaRPr sz="1050"/>
                    </a:p>
                  </a:txBody>
                  <a:tcPr marL="9525" marR="9525" marT="9525" marB="0" anchor="ctr"/>
                </a:tc>
              </a:tr>
              <a:tr h="170045">
                <a:tc>
                  <a:txBody>
                    <a:bodyPr wrap="square"/>
                    <a:lstStyle/>
                    <a:p>
                      <a:pPr algn="l"/>
                      <a:r>
                        <a:rPr sz="1050" b="0" i="0">
                          <a:solidFill>
                            <a:srgbClr val="000000"/>
                          </a:solidFill>
                          <a:latin typeface="Calibri"/>
                        </a:rPr>
                        <a:t>Table 194: Spain Heavy Commercial Vehicle EPS Market Volume, 2021-2036 By Vehicle Type</a:t>
                      </a:r>
                      <a:endParaRPr sz="1050"/>
                    </a:p>
                  </a:txBody>
                  <a:tcPr marL="9525" marR="9525" marT="9525" marB="0" anchor="ctr"/>
                </a:tc>
              </a:tr>
              <a:tr h="170045">
                <a:tc>
                  <a:txBody>
                    <a:bodyPr wrap="square"/>
                    <a:lstStyle/>
                    <a:p>
                      <a:pPr algn="l"/>
                      <a:r>
                        <a:rPr sz="1050" b="0" i="0">
                          <a:solidFill>
                            <a:srgbClr val="000000"/>
                          </a:solidFill>
                          <a:latin typeface="Calibri"/>
                        </a:rPr>
                        <a:t>Table 195: Spain Heavy Commercial Vehicle EPS Market Value, 2021-2036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Table 196: Spain Heavy Commercial Vehicle EPS Market Volume, 2021-2036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Table 197: Spain Heavy Commercial Vehicle EPS Market Value, 2021-2036 By Propulsion Type</a:t>
                      </a:r>
                      <a:endParaRPr sz="1050"/>
                    </a:p>
                  </a:txBody>
                  <a:tcPr marL="9525" marR="9525" marT="9525" marB="0" anchor="ctr"/>
                </a:tc>
              </a:tr>
              <a:tr h="170045">
                <a:tc>
                  <a:txBody>
                    <a:bodyPr wrap="square"/>
                    <a:lstStyle/>
                    <a:p>
                      <a:pPr algn="l"/>
                      <a:r>
                        <a:rPr sz="1050" b="0" i="0">
                          <a:solidFill>
                            <a:srgbClr val="000000"/>
                          </a:solidFill>
                          <a:latin typeface="Calibri"/>
                        </a:rPr>
                        <a:t>Table 198: Spain Heavy Commercial Vehicle EPS Market Volume, 2021-2036 By Propulsion Type</a:t>
                      </a:r>
                      <a:endParaRPr sz="1050"/>
                    </a:p>
                  </a:txBody>
                  <a:tcPr marL="9525" marR="9525" marT="9525" marB="0" anchor="ctr"/>
                </a:tc>
              </a:tr>
              <a:tr h="170045">
                <a:tc>
                  <a:txBody>
                    <a:bodyPr wrap="square"/>
                    <a:lstStyle/>
                    <a:p>
                      <a:pPr algn="l"/>
                      <a:r>
                        <a:rPr sz="1050" b="0" i="0">
                          <a:solidFill>
                            <a:srgbClr val="000000"/>
                          </a:solidFill>
                          <a:latin typeface="Calibri"/>
                        </a:rPr>
                        <a:t>Table 199: Spain Heavy Commercial Vehicle EPS Market Value, 2021-2036 By Demand Type</a:t>
                      </a:r>
                      <a:endParaRPr sz="1050"/>
                    </a:p>
                  </a:txBody>
                  <a:tcPr marL="9525" marR="9525" marT="9525" marB="0" anchor="ctr"/>
                </a:tc>
              </a:tr>
              <a:tr h="170045">
                <a:tc>
                  <a:txBody>
                    <a:bodyPr wrap="square"/>
                    <a:lstStyle/>
                    <a:p>
                      <a:pPr algn="l"/>
                      <a:r>
                        <a:rPr sz="1050" b="0" i="0">
                          <a:solidFill>
                            <a:srgbClr val="000000"/>
                          </a:solidFill>
                          <a:latin typeface="Calibri"/>
                        </a:rPr>
                        <a:t>Table 200: Spain Heavy Commercial Vehicle EPS Market Volume, 2021-2036 By Demand Type</a:t>
                      </a:r>
                      <a:endParaRPr sz="1050"/>
                    </a:p>
                  </a:txBody>
                  <a:tcPr marL="9525" marR="9525" marT="9525" marB="0" anchor="ctr"/>
                </a:tc>
              </a:tr>
              <a:tr h="170045">
                <a:tc>
                  <a:txBody>
                    <a:bodyPr wrap="square"/>
                    <a:lstStyle/>
                    <a:p>
                      <a:pPr algn="l"/>
                      <a:r>
                        <a:rPr sz="1050" b="0" i="0">
                          <a:solidFill>
                            <a:srgbClr val="000000"/>
                          </a:solidFill>
                          <a:latin typeface="Calibri"/>
                        </a:rPr>
                        <a:t>Table 201: BENELUX Heavy Commercial Vehicle EPS Market Value, 2021-2036 By System Architecture</a:t>
                      </a:r>
                      <a:endParaRPr sz="1050"/>
                    </a:p>
                  </a:txBody>
                  <a:tcPr marL="9525" marR="9525" marT="9525" marB="0" anchor="ctr"/>
                </a:tc>
              </a:tr>
              <a:tr h="333289">
                <a:tc>
                  <a:txBody>
                    <a:bodyPr wrap="square"/>
                    <a:lstStyle/>
                    <a:p>
                      <a:pPr algn="l"/>
                      <a:r>
                        <a:rPr sz="1050" b="0" i="0">
                          <a:solidFill>
                            <a:srgbClr val="000000"/>
                          </a:solidFill>
                          <a:latin typeface="Calibri"/>
                        </a:rPr>
                        <a:t>Table 202: BENELUX Heavy Commercial Vehicle EPS Market Volume, 2021-2036 By System Architecture</a:t>
                      </a:r>
                      <a:endParaRPr sz="1050"/>
                    </a:p>
                  </a:txBody>
                  <a:tcPr marL="9525" marR="9525" marT="9525" marB="0" anchor="ctr"/>
                </a:tc>
              </a:tr>
              <a:tr h="170045">
                <a:tc>
                  <a:txBody>
                    <a:bodyPr wrap="square"/>
                    <a:lstStyle/>
                    <a:p>
                      <a:pPr algn="l"/>
                      <a:r>
                        <a:rPr sz="1050" b="0" i="0">
                          <a:solidFill>
                            <a:srgbClr val="000000"/>
                          </a:solidFill>
                          <a:latin typeface="Calibri"/>
                        </a:rPr>
                        <a:t>Table 203: BENELUX Heavy Commercial Vehicle EPS Market Value, 2021-2036 By Vehicle Type</a:t>
                      </a:r>
                      <a:endParaRPr sz="1050"/>
                    </a:p>
                  </a:txBody>
                  <a:tcPr marL="9525" marR="9525" marT="9525" marB="0" anchor="ctr"/>
                </a:tc>
              </a:tr>
              <a:tr h="170045">
                <a:tc>
                  <a:txBody>
                    <a:bodyPr wrap="square"/>
                    <a:lstStyle/>
                    <a:p>
                      <a:pPr algn="l"/>
                      <a:r>
                        <a:rPr sz="1050" b="0" i="0">
                          <a:solidFill>
                            <a:srgbClr val="000000"/>
                          </a:solidFill>
                          <a:latin typeface="Calibri"/>
                        </a:rPr>
                        <a:t>Table 204: BENELUX Heavy Commercial Vehicle EPS Market Volume, 2021-2036 By Vehicle Type</a:t>
                      </a:r>
                      <a:endParaRPr sz="1050"/>
                    </a:p>
                  </a:txBody>
                  <a:tcPr marL="9525" marR="9525" marT="9525" marB="0" anchor="ctr"/>
                </a:tc>
              </a:tr>
              <a:tr h="170045">
                <a:tc>
                  <a:txBody>
                    <a:bodyPr wrap="square"/>
                    <a:lstStyle/>
                    <a:p>
                      <a:pPr algn="l"/>
                      <a:r>
                        <a:rPr sz="1050" b="0" i="0">
                          <a:solidFill>
                            <a:srgbClr val="000000"/>
                          </a:solidFill>
                          <a:latin typeface="Calibri"/>
                        </a:rPr>
                        <a:t>Table 205: BENELUX Heavy Commercial Vehicle EPS Market Value, 2021-2036 By Gross Vehicle Weight</a:t>
                      </a:r>
                      <a:endParaRPr sz="1050"/>
                    </a:p>
                  </a:txBody>
                  <a:tcPr marL="9525" marR="9525" marT="9525" marB="0" anchor="ctr"/>
                </a:tc>
              </a:tr>
              <a:tr h="333289">
                <a:tc>
                  <a:txBody>
                    <a:bodyPr wrap="square"/>
                    <a:lstStyle/>
                    <a:p>
                      <a:pPr algn="l"/>
                      <a:r>
                        <a:rPr sz="1050" b="0" i="0">
                          <a:solidFill>
                            <a:srgbClr val="000000"/>
                          </a:solidFill>
                          <a:latin typeface="Calibri"/>
                        </a:rPr>
                        <a:t>Table 206: BENELUX Heavy Commercial Vehicle EPS Market Volume, 2021-2036 By Gross Vehicle Weight</a:t>
                      </a:r>
                      <a:endParaRPr sz="1050"/>
                    </a:p>
                  </a:txBody>
                  <a:tcPr marL="9525" marR="9525" marT="9525" marB="0" anchor="ctr"/>
                </a:tc>
              </a:tr>
              <a:tr h="170045">
                <a:tc>
                  <a:txBody>
                    <a:bodyPr wrap="square"/>
                    <a:lstStyle/>
                    <a:p>
                      <a:pPr algn="l"/>
                      <a:r>
                        <a:rPr sz="1050" b="0" i="0">
                          <a:solidFill>
                            <a:srgbClr val="000000"/>
                          </a:solidFill>
                          <a:latin typeface="Calibri"/>
                        </a:rPr>
                        <a:t>Table 207: BENELUX Heavy Commercial Vehicle EPS Market Value, 2021-2036 By Propulsion Type</a:t>
                      </a:r>
                      <a:endParaRPr sz="1050"/>
                    </a:p>
                  </a:txBody>
                  <a:tcPr marL="9525" marR="9525" marT="9525" marB="0" anchor="ctr"/>
                </a:tc>
              </a:tr>
              <a:tr h="170045">
                <a:tc>
                  <a:txBody>
                    <a:bodyPr wrap="square"/>
                    <a:lstStyle/>
                    <a:p>
                      <a:pPr algn="l"/>
                      <a:r>
                        <a:rPr sz="1050" b="0" i="0">
                          <a:solidFill>
                            <a:srgbClr val="000000"/>
                          </a:solidFill>
                          <a:latin typeface="Calibri"/>
                        </a:rPr>
                        <a:t>Table 208: BENELUX Heavy Commercial Vehicle EPS Market Volume, 2021-2036 By Propulsion Type</a:t>
                      </a:r>
                      <a:endParaRPr sz="1050"/>
                    </a:p>
                  </a:txBody>
                  <a:tcPr marL="9525" marR="9525" marT="9525" marB="0" anchor="ctr"/>
                </a:tc>
              </a:tr>
              <a:tr h="170045">
                <a:tc>
                  <a:txBody>
                    <a:bodyPr wrap="square"/>
                    <a:lstStyle/>
                    <a:p>
                      <a:pPr algn="l"/>
                      <a:r>
                        <a:rPr sz="1050" b="0" i="0">
                          <a:solidFill>
                            <a:srgbClr val="000000"/>
                          </a:solidFill>
                          <a:latin typeface="Calibri"/>
                        </a:rPr>
                        <a:t>Table 209: BENELUX Heavy Commercial Vehicle EPS Market Value, 2021-2036 By Demand Type</a:t>
                      </a:r>
                      <a:endParaRPr sz="1050"/>
                    </a:p>
                  </a:txBody>
                  <a:tcPr marL="9525" marR="9525" marT="9525" marB="0" anchor="ctr"/>
                </a:tc>
              </a:tr>
              <a:tr h="170045">
                <a:tc>
                  <a:txBody>
                    <a:bodyPr wrap="square"/>
                    <a:lstStyle/>
                    <a:p>
                      <a:pPr algn="l"/>
                      <a:r>
                        <a:rPr sz="1050" b="0" i="0">
                          <a:solidFill>
                            <a:srgbClr val="000000"/>
                          </a:solidFill>
                          <a:latin typeface="Calibri"/>
                        </a:rPr>
                        <a:t>Table 210: BENELUX Heavy Commercial Vehicle EPS Market Volume, 2021-2036 By Demand Type</a:t>
                      </a:r>
                      <a:endParaRPr sz="1050"/>
                    </a:p>
                  </a:txBody>
                  <a:tcPr marL="9525" marR="9525" marT="9525" marB="0" anchor="ctr"/>
                </a:tc>
              </a:tr>
              <a:tr h="170045">
                <a:tc>
                  <a:txBody>
                    <a:bodyPr wrap="square"/>
                    <a:lstStyle/>
                    <a:p>
                      <a:pPr algn="l"/>
                      <a:r>
                        <a:rPr sz="1050" b="0" i="0">
                          <a:solidFill>
                            <a:srgbClr val="000000"/>
                          </a:solidFill>
                          <a:latin typeface="Calibri"/>
                        </a:rPr>
                        <a:t>Table 211: Nordics Heavy Commercial Vehicle EPS Market Value, 2021-2036 By System Architecture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(5/8)</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212: Nordics Heavy Commercial Vehicle EPS Market Volume,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213: Nordics Heavy Commercial Vehicle EPS Market Value,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214: Nordics Heavy Commercial Vehicle EPS Market Volume,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215: Nordics Heavy Commercial Vehicle EPS Market Value,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216: Nordics Heavy Commercial Vehicle EPS Market Volume,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217: Nordics Heavy Commercial Vehicle EPS Market Value,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218: Nordics Heavy Commercial Vehicle EPS Market Volume,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219: Nordics Heavy Commercial Vehicle EPS Market Value,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220: Nordics Heavy Commercial Vehicle EPS Market Volume,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221: East Asia Heavy Commercial Vehicle EPS Market Value,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222: East Asia Heavy Commercial Vehicle EPS Market Volume,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223: East Asia Heavy Commercial Vehicle EPS Market Value,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224: East Asia Heavy Commercial Vehicle EPS Market Volume,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225: East Asia Heavy Commercial Vehicle EPS Market Value, 2021-2036 By Gross Vehicle Weight</a:t>
                      </a:r>
                      <a:endParaRPr sz="1050"/>
                    </a:p>
                  </a:txBody>
                  <a:tcPr marL="9525" marR="9525" marT="9525" marB="0" anchor="ctr"/>
                </a:tc>
              </a:tr>
              <a:tr h="332858">
                <a:tc>
                  <a:txBody>
                    <a:bodyPr wrap="square"/>
                    <a:lstStyle/>
                    <a:p>
                      <a:pPr algn="l"/>
                      <a:r>
                        <a:rPr sz="1050" b="0" i="0">
                          <a:solidFill>
                            <a:srgbClr val="000000"/>
                          </a:solidFill>
                          <a:latin typeface="Calibri"/>
                        </a:rPr>
                        <a:t>Table 226: East Asia Heavy Commercial Vehicle EPS Market Volume,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227: East Asia Heavy Commercial Vehicle EPS Market Value,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228: East Asia Heavy Commercial Vehicle EPS Market Volume,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229: East Asia Heavy Commercial Vehicle EPS Market Value,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230: East Asia Heavy Commercial Vehicle EPS Market Volume, 2021-2036 By Demand Type</a:t>
                      </a:r>
                      <a:endParaRPr sz="1050"/>
                    </a:p>
                  </a:txBody>
                  <a:tcPr marL="9525" marR="9525" marT="9525" marB="0" anchor="ctr"/>
                </a:tc>
              </a:tr>
              <a:tr h="169826">
                <a:tc>
                  <a:txBody>
                    <a:bodyPr wrap="square"/>
                    <a:lstStyle/>
                    <a:p>
                      <a:pPr algn="l"/>
                      <a:r>
                        <a:rPr sz="1050" b="0" i="0">
                          <a:solidFill>
                            <a:srgbClr val="000000"/>
                          </a:solidFill>
                          <a:latin typeface="Calibri"/>
                        </a:rPr>
                        <a:t>Table 231: East Asia Heavy Commercial Vehicle EPS Market Value, 2021-2036 By Country</a:t>
                      </a:r>
                      <a:endParaRPr sz="1050"/>
                    </a:p>
                  </a:txBody>
                  <a:tcPr marL="9525" marR="9525" marT="9525" marB="0" anchor="ctr"/>
                </a:tc>
              </a:tr>
              <a:tr h="169826">
                <a:tc>
                  <a:txBody>
                    <a:bodyPr wrap="square"/>
                    <a:lstStyle/>
                    <a:p>
                      <a:pPr algn="l"/>
                      <a:r>
                        <a:rPr sz="1050" b="0" i="0">
                          <a:solidFill>
                            <a:srgbClr val="000000"/>
                          </a:solidFill>
                          <a:latin typeface="Calibri"/>
                        </a:rPr>
                        <a:t>Table 232: East Asia Heavy Commercial Vehicle EPS Market Volume,2021-2036 By Country</a:t>
                      </a:r>
                      <a:endParaRPr sz="1050"/>
                    </a:p>
                  </a:txBody>
                  <a:tcPr marL="9525" marR="9525" marT="9525" marB="0" anchor="ctr"/>
                </a:tc>
              </a:tr>
              <a:tr h="169826">
                <a:tc>
                  <a:txBody>
                    <a:bodyPr wrap="square"/>
                    <a:lstStyle/>
                    <a:p>
                      <a:pPr algn="l"/>
                      <a:r>
                        <a:rPr sz="1050" b="0" i="0">
                          <a:solidFill>
                            <a:srgbClr val="000000"/>
                          </a:solidFill>
                          <a:latin typeface="Calibri"/>
                        </a:rPr>
                        <a:t>Table 233: China Heavy Commercial Vehicle EPS Market Value,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234: China Heavy Commercial Vehicle EPS Market Volume, 2021-2036 By System Architecture</a:t>
                      </a:r>
                      <a:endParaRPr sz="1050"/>
                    </a:p>
                  </a:txBody>
                  <a:tcPr marL="9525" marR="9525" marT="9525" marB="0" anchor="ctr"/>
                </a:tc>
              </a:tr>
              <a:tr h="169826">
                <a:tc>
                  <a:txBody>
                    <a:bodyPr wrap="square"/>
                    <a:lstStyle/>
                    <a:p>
                      <a:pPr algn="l"/>
                      <a:r>
                        <a:rPr sz="1050" b="0" i="0">
                          <a:solidFill>
                            <a:srgbClr val="000000"/>
                          </a:solidFill>
                          <a:latin typeface="Calibri"/>
                        </a:rPr>
                        <a:t>Table 235: China Heavy Commercial Vehicle EPS Market Value,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236: China Heavy Commercial Vehicle EPS Market Volume, 2021-2036 By Vehicle Type</a:t>
                      </a:r>
                      <a:endParaRPr sz="1050"/>
                    </a:p>
                  </a:txBody>
                  <a:tcPr marL="9525" marR="9525" marT="9525" marB="0" anchor="ctr"/>
                </a:tc>
              </a:tr>
              <a:tr h="169826">
                <a:tc>
                  <a:txBody>
                    <a:bodyPr wrap="square"/>
                    <a:lstStyle/>
                    <a:p>
                      <a:pPr algn="l"/>
                      <a:r>
                        <a:rPr sz="1050" b="0" i="0">
                          <a:solidFill>
                            <a:srgbClr val="000000"/>
                          </a:solidFill>
                          <a:latin typeface="Calibri"/>
                        </a:rPr>
                        <a:t>Table 237: China Heavy Commercial Vehicle EPS Market Value,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238: China Heavy Commercial Vehicle EPS Market Volume, 2021-2036 By Gross Vehicle Weight</a:t>
                      </a:r>
                      <a:endParaRPr sz="1050"/>
                    </a:p>
                  </a:txBody>
                  <a:tcPr marL="9525" marR="9525" marT="9525" marB="0" anchor="ctr"/>
                </a:tc>
              </a:tr>
              <a:tr h="169826">
                <a:tc>
                  <a:txBody>
                    <a:bodyPr wrap="square"/>
                    <a:lstStyle/>
                    <a:p>
                      <a:pPr algn="l"/>
                      <a:r>
                        <a:rPr sz="1050" b="0" i="0">
                          <a:solidFill>
                            <a:srgbClr val="000000"/>
                          </a:solidFill>
                          <a:latin typeface="Calibri"/>
                        </a:rPr>
                        <a:t>Table 239: China Heavy Commercial Vehicle EPS Market Value,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240: China Heavy Commercial Vehicle EPS Market Volume, 2021-2036 By Propulsion Type</a:t>
                      </a:r>
                      <a:endParaRPr sz="1050"/>
                    </a:p>
                  </a:txBody>
                  <a:tcPr marL="9525" marR="9525" marT="9525" marB="0" anchor="ctr"/>
                </a:tc>
              </a:tr>
              <a:tr h="169826">
                <a:tc>
                  <a:txBody>
                    <a:bodyPr wrap="square"/>
                    <a:lstStyle/>
                    <a:p>
                      <a:pPr algn="l"/>
                      <a:r>
                        <a:rPr sz="1050" b="0" i="0">
                          <a:solidFill>
                            <a:srgbClr val="000000"/>
                          </a:solidFill>
                          <a:latin typeface="Calibri"/>
                        </a:rPr>
                        <a:t>Table 241: China Heavy Commercial Vehicle EPS Market Value, 2021-2036 By Demand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171152">
                <a:tc>
                  <a:txBody>
                    <a:bodyPr wrap="square"/>
                    <a:lstStyle/>
                    <a:p>
                      <a:pPr algn="l"/>
                      <a:r>
                        <a:rPr sz="1050" b="0" i="0">
                          <a:solidFill>
                            <a:srgbClr val="000000"/>
                          </a:solidFill>
                          <a:latin typeface="Calibri"/>
                        </a:rPr>
                        <a:t>Table 242: China Heavy Commercial Vehicle EPS Market Volume, 2021-2036 By Demand Type</a:t>
                      </a:r>
                      <a:endParaRPr sz="1050"/>
                    </a:p>
                  </a:txBody>
                  <a:tcPr marL="9525" marR="9525" marT="9525" marB="0" anchor="ctr"/>
                </a:tc>
              </a:tr>
              <a:tr h="171152">
                <a:tc>
                  <a:txBody>
                    <a:bodyPr wrap="square"/>
                    <a:lstStyle/>
                    <a:p>
                      <a:pPr algn="l"/>
                      <a:r>
                        <a:rPr sz="1050" b="0" i="0">
                          <a:solidFill>
                            <a:srgbClr val="000000"/>
                          </a:solidFill>
                          <a:latin typeface="Calibri"/>
                        </a:rPr>
                        <a:t>Table 243: Japan Heavy Commercial Vehicle EPS Market Value,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244: Japan Heavy Commercial Vehicle EPS Market Volume,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245: Japan Heavy Commercial Vehicle EPS Market Value,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246: Japan Heavy Commercial Vehicle EPS Market Volume,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247: Japan Heavy Commercial Vehicle EPS Market Value, 2021-2036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Table 248: Japan Heavy Commercial Vehicle EPS Market Volume, 2021-2036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Table 249: Japan Heavy Commercial Vehicle EPS Market Value, 2021-2036 By Propulsion Type</a:t>
                      </a:r>
                      <a:endParaRPr sz="1050"/>
                    </a:p>
                  </a:txBody>
                  <a:tcPr marL="9525" marR="9525" marT="9525" marB="0" anchor="ctr"/>
                </a:tc>
              </a:tr>
              <a:tr h="171152">
                <a:tc>
                  <a:txBody>
                    <a:bodyPr wrap="square"/>
                    <a:lstStyle/>
                    <a:p>
                      <a:pPr algn="l"/>
                      <a:r>
                        <a:rPr sz="1050" b="0" i="0">
                          <a:solidFill>
                            <a:srgbClr val="000000"/>
                          </a:solidFill>
                          <a:latin typeface="Calibri"/>
                        </a:rPr>
                        <a:t>Table 250: Japan Heavy Commercial Vehicle EPS Market Volume, 2021-2036 By Propulsion Type</a:t>
                      </a:r>
                      <a:endParaRPr sz="1050"/>
                    </a:p>
                  </a:txBody>
                  <a:tcPr marL="9525" marR="9525" marT="9525" marB="0" anchor="ctr"/>
                </a:tc>
              </a:tr>
              <a:tr h="171152">
                <a:tc>
                  <a:txBody>
                    <a:bodyPr wrap="square"/>
                    <a:lstStyle/>
                    <a:p>
                      <a:pPr algn="l"/>
                      <a:r>
                        <a:rPr sz="1050" b="0" i="0">
                          <a:solidFill>
                            <a:srgbClr val="000000"/>
                          </a:solidFill>
                          <a:latin typeface="Calibri"/>
                        </a:rPr>
                        <a:t>Table 251: Japan Heavy Commercial Vehicle EPS Market Value, 2021-2036 By Demand Type</a:t>
                      </a:r>
                      <a:endParaRPr sz="1050"/>
                    </a:p>
                  </a:txBody>
                  <a:tcPr marL="9525" marR="9525" marT="9525" marB="0" anchor="ctr"/>
                </a:tc>
              </a:tr>
              <a:tr h="171152">
                <a:tc>
                  <a:txBody>
                    <a:bodyPr wrap="square"/>
                    <a:lstStyle/>
                    <a:p>
                      <a:pPr algn="l"/>
                      <a:r>
                        <a:rPr sz="1050" b="0" i="0">
                          <a:solidFill>
                            <a:srgbClr val="000000"/>
                          </a:solidFill>
                          <a:latin typeface="Calibri"/>
                        </a:rPr>
                        <a:t>Table 252: Japan Heavy Commercial Vehicle EPS Market Volume, 2021-2036 By Demand Type</a:t>
                      </a:r>
                      <a:endParaRPr sz="1050"/>
                    </a:p>
                  </a:txBody>
                  <a:tcPr marL="9525" marR="9525" marT="9525" marB="0" anchor="ctr"/>
                </a:tc>
              </a:tr>
              <a:tr h="335459">
                <a:tc>
                  <a:txBody>
                    <a:bodyPr wrap="square"/>
                    <a:lstStyle/>
                    <a:p>
                      <a:pPr algn="l"/>
                      <a:r>
                        <a:rPr sz="1050" b="0" i="0">
                          <a:solidFill>
                            <a:srgbClr val="000000"/>
                          </a:solidFill>
                          <a:latin typeface="Calibri"/>
                        </a:rPr>
                        <a:t>Table 253: South Korea Heavy Commercial Vehicle EPS Market Value, 2021-2036 By System Architecture</a:t>
                      </a:r>
                      <a:endParaRPr sz="1050"/>
                    </a:p>
                  </a:txBody>
                  <a:tcPr marL="9525" marR="9525" marT="9525" marB="0" anchor="ctr"/>
                </a:tc>
              </a:tr>
              <a:tr h="335459">
                <a:tc>
                  <a:txBody>
                    <a:bodyPr wrap="square"/>
                    <a:lstStyle/>
                    <a:p>
                      <a:pPr algn="l"/>
                      <a:r>
                        <a:rPr sz="1050" b="0" i="0">
                          <a:solidFill>
                            <a:srgbClr val="000000"/>
                          </a:solidFill>
                          <a:latin typeface="Calibri"/>
                        </a:rPr>
                        <a:t>Table 254: South Korea Heavy Commercial Vehicle EPS Market Volume,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255: South Korea Heavy Commercial Vehicle EPS Market Value,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256: South Korea Heavy Commercial Vehicle EPS Market Volume, 2021-2036 By Vehicle Type</a:t>
                      </a:r>
                      <a:endParaRPr sz="1050"/>
                    </a:p>
                  </a:txBody>
                  <a:tcPr marL="9525" marR="9525" marT="9525" marB="0" anchor="ctr"/>
                </a:tc>
              </a:tr>
              <a:tr h="335459">
                <a:tc>
                  <a:txBody>
                    <a:bodyPr wrap="square"/>
                    <a:lstStyle/>
                    <a:p>
                      <a:pPr algn="l"/>
                      <a:r>
                        <a:rPr sz="1050" b="0" i="0">
                          <a:solidFill>
                            <a:srgbClr val="000000"/>
                          </a:solidFill>
                          <a:latin typeface="Calibri"/>
                        </a:rPr>
                        <a:t>Table 257: South Korea Heavy Commercial Vehicle EPS Market Value, 2021-2036 By Gross Vehicle Weight</a:t>
                      </a:r>
                      <a:endParaRPr sz="1050"/>
                    </a:p>
                  </a:txBody>
                  <a:tcPr marL="9525" marR="9525" marT="9525" marB="0" anchor="ctr"/>
                </a:tc>
              </a:tr>
              <a:tr h="335459">
                <a:tc>
                  <a:txBody>
                    <a:bodyPr wrap="square"/>
                    <a:lstStyle/>
                    <a:p>
                      <a:pPr algn="l"/>
                      <a:r>
                        <a:rPr sz="1050" b="0" i="0">
                          <a:solidFill>
                            <a:srgbClr val="000000"/>
                          </a:solidFill>
                          <a:latin typeface="Calibri"/>
                        </a:rPr>
                        <a:t>Table 258: South Korea Heavy Commercial Vehicle EPS Market Volume, 2021-2036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Table 259: South Korea Heavy Commercial Vehicle EPS Market Value, 2021-2036 By Propulsion Type</a:t>
                      </a:r>
                      <a:endParaRPr sz="1050"/>
                    </a:p>
                  </a:txBody>
                  <a:tcPr marL="9525" marR="9525" marT="9525" marB="0" anchor="ctr"/>
                </a:tc>
              </a:tr>
              <a:tr h="171152">
                <a:tc>
                  <a:txBody>
                    <a:bodyPr wrap="square"/>
                    <a:lstStyle/>
                    <a:p>
                      <a:pPr algn="l"/>
                      <a:r>
                        <a:rPr sz="1050" b="0" i="0">
                          <a:solidFill>
                            <a:srgbClr val="000000"/>
                          </a:solidFill>
                          <a:latin typeface="Calibri"/>
                        </a:rPr>
                        <a:t>Table 260: South Korea Heavy Commercial Vehicle EPS Market Volume, 2021-2036 By Propulsion Type</a:t>
                      </a:r>
                      <a:endParaRPr sz="1050"/>
                    </a:p>
                  </a:txBody>
                  <a:tcPr marL="9525" marR="9525" marT="9525" marB="0" anchor="ctr"/>
                </a:tc>
              </a:tr>
              <a:tr h="171152">
                <a:tc>
                  <a:txBody>
                    <a:bodyPr wrap="square"/>
                    <a:lstStyle/>
                    <a:p>
                      <a:pPr algn="l"/>
                      <a:r>
                        <a:rPr sz="1050" b="0" i="0">
                          <a:solidFill>
                            <a:srgbClr val="000000"/>
                          </a:solidFill>
                          <a:latin typeface="Calibri"/>
                        </a:rPr>
                        <a:t>Table 261: South Korea Heavy Commercial Vehicle EPS Market Value, 2021-2036 By Demand Type</a:t>
                      </a:r>
                      <a:endParaRPr sz="1050"/>
                    </a:p>
                  </a:txBody>
                  <a:tcPr marL="9525" marR="9525" marT="9525" marB="0" anchor="ctr"/>
                </a:tc>
              </a:tr>
              <a:tr h="171152">
                <a:tc>
                  <a:txBody>
                    <a:bodyPr wrap="square"/>
                    <a:lstStyle/>
                    <a:p>
                      <a:pPr algn="l"/>
                      <a:r>
                        <a:rPr sz="1050" b="0" i="0">
                          <a:solidFill>
                            <a:srgbClr val="000000"/>
                          </a:solidFill>
                          <a:latin typeface="Calibri"/>
                        </a:rPr>
                        <a:t>Table 262: South Korea Heavy Commercial Vehicle EPS Market Volume, 2021-2036 By Demand Type</a:t>
                      </a:r>
                      <a:endParaRPr sz="1050"/>
                    </a:p>
                  </a:txBody>
                  <a:tcPr marL="9525" marR="9525" marT="9525" marB="0" anchor="ctr"/>
                </a:tc>
              </a:tr>
              <a:tr h="335459">
                <a:tc>
                  <a:txBody>
                    <a:bodyPr wrap="square"/>
                    <a:lstStyle/>
                    <a:p>
                      <a:pPr algn="l"/>
                      <a:r>
                        <a:rPr sz="1050" b="0" i="0">
                          <a:solidFill>
                            <a:srgbClr val="000000"/>
                          </a:solidFill>
                          <a:latin typeface="Calibri"/>
                        </a:rPr>
                        <a:t>Table 263: South Asia and Pacific Heavy Commercial Vehicle EPS Market Value, 2021-2036 By System Architecture</a:t>
                      </a:r>
                      <a:endParaRPr sz="1050"/>
                    </a:p>
                  </a:txBody>
                  <a:tcPr marL="9525" marR="9525" marT="9525" marB="0" anchor="ctr"/>
                </a:tc>
              </a:tr>
              <a:tr h="335459">
                <a:tc>
                  <a:txBody>
                    <a:bodyPr wrap="square"/>
                    <a:lstStyle/>
                    <a:p>
                      <a:pPr algn="l"/>
                      <a:r>
                        <a:rPr sz="1050" b="0" i="0">
                          <a:solidFill>
                            <a:srgbClr val="000000"/>
                          </a:solidFill>
                          <a:latin typeface="Calibri"/>
                        </a:rPr>
                        <a:t>Table 264: South Asia and Pacific Heavy Commercial Vehicle EPS Market Volume, 2021-2036 By System Architecture</a:t>
                      </a:r>
                      <a:endParaRPr sz="1050"/>
                    </a:p>
                  </a:txBody>
                  <a:tcPr marL="9525" marR="9525" marT="9525" marB="0" anchor="ctr"/>
                </a:tc>
              </a:tr>
              <a:tr h="335459">
                <a:tc>
                  <a:txBody>
                    <a:bodyPr wrap="square"/>
                    <a:lstStyle/>
                    <a:p>
                      <a:pPr algn="l"/>
                      <a:r>
                        <a:rPr sz="1050" b="0" i="0">
                          <a:solidFill>
                            <a:srgbClr val="000000"/>
                          </a:solidFill>
                          <a:latin typeface="Calibri"/>
                        </a:rPr>
                        <a:t>Table 265: South Asia and Pacific Heavy Commercial Vehicle EPS Market Value, 2021-2036 By Vehicle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(6/8)</a:t>
            </a:r>
          </a:p>
        </p:txBody>
      </p:sp>
      <p:graphicFrame>
        <p:nvGraphicFramePr>
          <p:cNvPr id="9" name="FMI Contents Table"/>
          <p:cNvGraphicFramePr>
            <a:graphicFrameLocks noGrp="1"/>
          </p:cNvGraphicFramePr>
          <p:nvPr/>
        </p:nvGraphicFramePr>
        <p:xfrm>
          <a:off x="142875" y="981075"/>
          <a:ext cx="5876925" cy="5257797"/>
        </p:xfrm>
        <a:graphic>
          <a:graphicData uri="http://schemas.openxmlformats.org/drawingml/2006/table">
            <a:tbl>
              <a:tblPr>
                <a:tableStyleId>{3B4B98B0-60AC-42C2-AFA5-B58CD77FA1E5}</a:tableStyleId>
              </a:tblPr>
              <a:tblGrid>
                <a:gridCol w="5876925"/>
              </a:tblGrid>
              <a:tr h="335459">
                <a:tc>
                  <a:txBody>
                    <a:bodyPr wrap="square"/>
                    <a:lstStyle/>
                    <a:p>
                      <a:pPr algn="l"/>
                      <a:r>
                        <a:rPr sz="1050" b="0" i="0">
                          <a:solidFill>
                            <a:srgbClr val="000000"/>
                          </a:solidFill>
                          <a:latin typeface="Calibri"/>
                        </a:rPr>
                        <a:t>Table 266: South Asia and Pacific Heavy Commercial Vehicle EPS Market Volume, 2021-2036 By Vehicle Type</a:t>
                      </a:r>
                      <a:endParaRPr sz="1050"/>
                    </a:p>
                  </a:txBody>
                  <a:tcPr marL="9525" marR="9525" marT="9525" marB="0" anchor="ctr"/>
                </a:tc>
              </a:tr>
              <a:tr h="335459">
                <a:tc>
                  <a:txBody>
                    <a:bodyPr wrap="square"/>
                    <a:lstStyle/>
                    <a:p>
                      <a:pPr algn="l"/>
                      <a:r>
                        <a:rPr sz="1050" b="0" i="0">
                          <a:solidFill>
                            <a:srgbClr val="000000"/>
                          </a:solidFill>
                          <a:latin typeface="Calibri"/>
                        </a:rPr>
                        <a:t>Table 267: South Asia and Pacific Heavy Commercial Vehicle EPS Market Value, 2021-2036 By Gross Vehicle Weight</a:t>
                      </a:r>
                      <a:endParaRPr sz="1050"/>
                    </a:p>
                  </a:txBody>
                  <a:tcPr marL="9525" marR="9525" marT="9525" marB="0" anchor="ctr"/>
                </a:tc>
              </a:tr>
              <a:tr h="335459">
                <a:tc>
                  <a:txBody>
                    <a:bodyPr wrap="square"/>
                    <a:lstStyle/>
                    <a:p>
                      <a:pPr algn="l"/>
                      <a:r>
                        <a:rPr sz="1050" b="0" i="0">
                          <a:solidFill>
                            <a:srgbClr val="000000"/>
                          </a:solidFill>
                          <a:latin typeface="Calibri"/>
                        </a:rPr>
                        <a:t>Table 268: South Asia and Pacific Heavy Commercial Vehicle EPS Market Volume, 2021-2036 By Gross Vehicle Weight</a:t>
                      </a:r>
                      <a:endParaRPr sz="1050"/>
                    </a:p>
                  </a:txBody>
                  <a:tcPr marL="9525" marR="9525" marT="9525" marB="0" anchor="ctr"/>
                </a:tc>
              </a:tr>
              <a:tr h="335459">
                <a:tc>
                  <a:txBody>
                    <a:bodyPr wrap="square"/>
                    <a:lstStyle/>
                    <a:p>
                      <a:pPr algn="l"/>
                      <a:r>
                        <a:rPr sz="1050" b="0" i="0">
                          <a:solidFill>
                            <a:srgbClr val="000000"/>
                          </a:solidFill>
                          <a:latin typeface="Calibri"/>
                        </a:rPr>
                        <a:t>Table 269: South Asia and Pacific Heavy Commercial Vehicle EPS Market Value, 2021-2036 By Propulsion Type</a:t>
                      </a:r>
                      <a:endParaRPr sz="1050"/>
                    </a:p>
                  </a:txBody>
                  <a:tcPr marL="9525" marR="9525" marT="9525" marB="0" anchor="ctr"/>
                </a:tc>
              </a:tr>
              <a:tr h="335459">
                <a:tc>
                  <a:txBody>
                    <a:bodyPr wrap="square"/>
                    <a:lstStyle/>
                    <a:p>
                      <a:pPr algn="l"/>
                      <a:r>
                        <a:rPr sz="1050" b="0" i="0">
                          <a:solidFill>
                            <a:srgbClr val="000000"/>
                          </a:solidFill>
                          <a:latin typeface="Calibri"/>
                        </a:rPr>
                        <a:t>Table 270: South Asia and Pacific Heavy Commercial Vehicle EPS Market Volume, 2021-2036 By Propulsion Type</a:t>
                      </a:r>
                      <a:endParaRPr sz="1050"/>
                    </a:p>
                  </a:txBody>
                  <a:tcPr marL="9525" marR="9525" marT="9525" marB="0" anchor="ctr"/>
                </a:tc>
              </a:tr>
              <a:tr h="335459">
                <a:tc>
                  <a:txBody>
                    <a:bodyPr wrap="square"/>
                    <a:lstStyle/>
                    <a:p>
                      <a:pPr algn="l"/>
                      <a:r>
                        <a:rPr sz="1050" b="0" i="0">
                          <a:solidFill>
                            <a:srgbClr val="000000"/>
                          </a:solidFill>
                          <a:latin typeface="Calibri"/>
                        </a:rPr>
                        <a:t>Table 271: South Asia and Pacific Heavy Commercial Vehicle EPS Market Value, 2021-2036 By Demand Type</a:t>
                      </a:r>
                      <a:endParaRPr sz="1050"/>
                    </a:p>
                  </a:txBody>
                  <a:tcPr marL="9525" marR="9525" marT="9525" marB="0" anchor="ctr"/>
                </a:tc>
              </a:tr>
              <a:tr h="335459">
                <a:tc>
                  <a:txBody>
                    <a:bodyPr wrap="square"/>
                    <a:lstStyle/>
                    <a:p>
                      <a:pPr algn="l"/>
                      <a:r>
                        <a:rPr sz="1050" b="0" i="0">
                          <a:solidFill>
                            <a:srgbClr val="000000"/>
                          </a:solidFill>
                          <a:latin typeface="Calibri"/>
                        </a:rPr>
                        <a:t>Table 272: South Asia and Pacific Heavy Commercial Vehicle EPS Market Volume, 2021-2036 By Demand Type</a:t>
                      </a:r>
                      <a:endParaRPr sz="1050"/>
                    </a:p>
                  </a:txBody>
                  <a:tcPr marL="9525" marR="9525" marT="9525" marB="0" anchor="ctr"/>
                </a:tc>
              </a:tr>
              <a:tr h="171152">
                <a:tc>
                  <a:txBody>
                    <a:bodyPr wrap="square"/>
                    <a:lstStyle/>
                    <a:p>
                      <a:pPr algn="l"/>
                      <a:r>
                        <a:rPr sz="1050" b="0" i="0">
                          <a:solidFill>
                            <a:srgbClr val="000000"/>
                          </a:solidFill>
                          <a:latin typeface="Calibri"/>
                        </a:rPr>
                        <a:t>Table 273: South Asia and Pacific Heavy Commercial Vehicle EPS Market Value, 2021-2036 By Country</a:t>
                      </a:r>
                      <a:endParaRPr sz="1050"/>
                    </a:p>
                  </a:txBody>
                  <a:tcPr marL="9525" marR="9525" marT="9525" marB="0" anchor="ctr"/>
                </a:tc>
              </a:tr>
              <a:tr h="171152">
                <a:tc>
                  <a:txBody>
                    <a:bodyPr wrap="square"/>
                    <a:lstStyle/>
                    <a:p>
                      <a:pPr algn="l"/>
                      <a:r>
                        <a:rPr sz="1050" b="0" i="0">
                          <a:solidFill>
                            <a:srgbClr val="000000"/>
                          </a:solidFill>
                          <a:latin typeface="Calibri"/>
                        </a:rPr>
                        <a:t>Table 274: South Asia and Pacific Heavy Commercial Vehicle EPS Market Volume,2021-2036 By Country</a:t>
                      </a:r>
                      <a:endParaRPr sz="1050"/>
                    </a:p>
                  </a:txBody>
                  <a:tcPr marL="9525" marR="9525" marT="9525" marB="0" anchor="ctr"/>
                </a:tc>
              </a:tr>
              <a:tr h="171152">
                <a:tc>
                  <a:txBody>
                    <a:bodyPr wrap="square"/>
                    <a:lstStyle/>
                    <a:p>
                      <a:pPr algn="l"/>
                      <a:r>
                        <a:rPr sz="1050" b="0" i="0">
                          <a:solidFill>
                            <a:srgbClr val="000000"/>
                          </a:solidFill>
                          <a:latin typeface="Calibri"/>
                        </a:rPr>
                        <a:t>Table 275: India Heavy Commercial Vehicle EPS Market Value,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276: India Heavy Commercial Vehicle EPS Market Volume,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277: India Heavy Commercial Vehicle EPS Market Value,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278: India Heavy Commercial Vehicle EPS Market Volume,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279: India Heavy Commercial Vehicle EPS Market Value, 2021-2036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Table 280: India Heavy Commercial Vehicle EPS Market Volume, 2021-2036 By Gross Vehicle Weight</a:t>
                      </a:r>
                      <a:endParaRPr sz="1050"/>
                    </a:p>
                  </a:txBody>
                  <a:tcPr marL="9525" marR="9525" marT="9525" marB="0" anchor="ctr"/>
                </a:tc>
              </a:tr>
              <a:tr h="171152">
                <a:tc>
                  <a:txBody>
                    <a:bodyPr wrap="square"/>
                    <a:lstStyle/>
                    <a:p>
                      <a:pPr algn="l"/>
                      <a:r>
                        <a:rPr sz="1050" b="0" i="0">
                          <a:solidFill>
                            <a:srgbClr val="000000"/>
                          </a:solidFill>
                          <a:latin typeface="Calibri"/>
                        </a:rPr>
                        <a:t>Table 281: India Heavy Commercial Vehicle EPS Market Value, 2021-2036 By Propulsion Type</a:t>
                      </a:r>
                      <a:endParaRPr sz="1050"/>
                    </a:p>
                  </a:txBody>
                  <a:tcPr marL="9525" marR="9525" marT="9525" marB="0" anchor="ctr"/>
                </a:tc>
              </a:tr>
              <a:tr h="171152">
                <a:tc>
                  <a:txBody>
                    <a:bodyPr wrap="square"/>
                    <a:lstStyle/>
                    <a:p>
                      <a:pPr algn="l"/>
                      <a:r>
                        <a:rPr sz="1050" b="0" i="0">
                          <a:solidFill>
                            <a:srgbClr val="000000"/>
                          </a:solidFill>
                          <a:latin typeface="Calibri"/>
                        </a:rPr>
                        <a:t>Table 282: India Heavy Commercial Vehicle EPS Market Volume, 2021-2036 By Propulsion Type</a:t>
                      </a:r>
                      <a:endParaRPr sz="1050"/>
                    </a:p>
                  </a:txBody>
                  <a:tcPr marL="9525" marR="9525" marT="9525" marB="0" anchor="ctr"/>
                </a:tc>
              </a:tr>
              <a:tr h="171152">
                <a:tc>
                  <a:txBody>
                    <a:bodyPr wrap="square"/>
                    <a:lstStyle/>
                    <a:p>
                      <a:pPr algn="l"/>
                      <a:r>
                        <a:rPr sz="1050" b="0" i="0">
                          <a:solidFill>
                            <a:srgbClr val="000000"/>
                          </a:solidFill>
                          <a:latin typeface="Calibri"/>
                        </a:rPr>
                        <a:t>Table 283: India Heavy Commercial Vehicle EPS Market Value, 2021-2036 By Demand Type</a:t>
                      </a:r>
                      <a:endParaRPr sz="1050"/>
                    </a:p>
                  </a:txBody>
                  <a:tcPr marL="9525" marR="9525" marT="9525" marB="0" anchor="ctr"/>
                </a:tc>
              </a:tr>
              <a:tr h="171152">
                <a:tc>
                  <a:txBody>
                    <a:bodyPr wrap="square"/>
                    <a:lstStyle/>
                    <a:p>
                      <a:pPr algn="l"/>
                      <a:r>
                        <a:rPr sz="1050" b="0" i="0">
                          <a:solidFill>
                            <a:srgbClr val="000000"/>
                          </a:solidFill>
                          <a:latin typeface="Calibri"/>
                        </a:rPr>
                        <a:t>Table 284: India Heavy Commercial Vehicle EPS Market Volume, 2021-2036 By Demand Type</a:t>
                      </a:r>
                      <a:endParaRPr sz="1050"/>
                    </a:p>
                  </a:txBody>
                  <a:tcPr marL="9525" marR="9525" marT="9525" marB="0" anchor="ctr"/>
                </a:tc>
              </a:tr>
              <a:tr h="171152">
                <a:tc>
                  <a:txBody>
                    <a:bodyPr wrap="square"/>
                    <a:lstStyle/>
                    <a:p>
                      <a:pPr algn="l"/>
                      <a:r>
                        <a:rPr sz="1050" b="0" i="0">
                          <a:solidFill>
                            <a:srgbClr val="000000"/>
                          </a:solidFill>
                          <a:latin typeface="Calibri"/>
                        </a:rPr>
                        <a:t>Table 285: ASEAN Heavy Commercial Vehicle EPS Market Value,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286: ASEAN Heavy Commercial Vehicle EPS Market Volume, 2021-2036 By System Architecture</a:t>
                      </a:r>
                      <a:endParaRPr sz="1050"/>
                    </a:p>
                  </a:txBody>
                  <a:tcPr marL="9525" marR="9525" marT="9525" marB="0" anchor="ctr"/>
                </a:tc>
              </a:tr>
              <a:tr h="171152">
                <a:tc>
                  <a:txBody>
                    <a:bodyPr wrap="square"/>
                    <a:lstStyle/>
                    <a:p>
                      <a:pPr algn="l"/>
                      <a:r>
                        <a:rPr sz="1050" b="0" i="0">
                          <a:solidFill>
                            <a:srgbClr val="000000"/>
                          </a:solidFill>
                          <a:latin typeface="Calibri"/>
                        </a:rPr>
                        <a:t>Table 287: ASEAN Heavy Commercial Vehicle EPS Market Value,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288: ASEAN Heavy Commercial Vehicle EPS Market Volume, 2021-2036 By Vehicle Type</a:t>
                      </a:r>
                      <a:endParaRPr sz="1050"/>
                    </a:p>
                  </a:txBody>
                  <a:tcPr marL="9525" marR="9525" marT="9525" marB="0" anchor="ctr"/>
                </a:tc>
              </a:tr>
              <a:tr h="171152">
                <a:tc>
                  <a:txBody>
                    <a:bodyPr wrap="square"/>
                    <a:lstStyle/>
                    <a:p>
                      <a:pPr algn="l"/>
                      <a:r>
                        <a:rPr sz="1050" b="0" i="0">
                          <a:solidFill>
                            <a:srgbClr val="000000"/>
                          </a:solidFill>
                          <a:latin typeface="Calibri"/>
                        </a:rPr>
                        <a:t>Table 289: ASEAN Heavy Commercial Vehicle EPS Market Value, 2021-2036 By Gross Vehicle Weight</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2500">
                <a:tc>
                  <a:txBody>
                    <a:bodyPr wrap="square"/>
                    <a:lstStyle/>
                    <a:p>
                      <a:pPr algn="l"/>
                      <a:r>
                        <a:rPr sz="1050" b="0" i="0">
                          <a:solidFill>
                            <a:srgbClr val="000000"/>
                          </a:solidFill>
                          <a:latin typeface="Calibri"/>
                        </a:rPr>
                        <a:t>Table 290: ASEAN Heavy Commercial Vehicle EPS Market Volume, 2021-2036 By Gross Vehicle Weight</a:t>
                      </a:r>
                      <a:endParaRPr sz="1050"/>
                    </a:p>
                  </a:txBody>
                  <a:tcPr marL="9525" marR="9525" marT="9525" marB="0" anchor="ctr"/>
                </a:tc>
              </a:tr>
              <a:tr h="172500">
                <a:tc>
                  <a:txBody>
                    <a:bodyPr wrap="square"/>
                    <a:lstStyle/>
                    <a:p>
                      <a:pPr algn="l"/>
                      <a:r>
                        <a:rPr sz="1050" b="0" i="0">
                          <a:solidFill>
                            <a:srgbClr val="000000"/>
                          </a:solidFill>
                          <a:latin typeface="Calibri"/>
                        </a:rPr>
                        <a:t>Table 291: ASEAN Heavy Commercial Vehicle EPS Market Value, 2021-2036 By Propulsion Type</a:t>
                      </a:r>
                      <a:endParaRPr sz="1050"/>
                    </a:p>
                  </a:txBody>
                  <a:tcPr marL="9525" marR="9525" marT="9525" marB="0" anchor="ctr"/>
                </a:tc>
              </a:tr>
              <a:tr h="172500">
                <a:tc>
                  <a:txBody>
                    <a:bodyPr wrap="square"/>
                    <a:lstStyle/>
                    <a:p>
                      <a:pPr algn="l"/>
                      <a:r>
                        <a:rPr sz="1050" b="0" i="0">
                          <a:solidFill>
                            <a:srgbClr val="000000"/>
                          </a:solidFill>
                          <a:latin typeface="Calibri"/>
                        </a:rPr>
                        <a:t>Table 292: ASEAN Heavy Commercial Vehicle EPS Market Volume, 2021-2036 By Propulsion Type</a:t>
                      </a:r>
                      <a:endParaRPr sz="1050"/>
                    </a:p>
                  </a:txBody>
                  <a:tcPr marL="9525" marR="9525" marT="9525" marB="0" anchor="ctr"/>
                </a:tc>
              </a:tr>
              <a:tr h="172500">
                <a:tc>
                  <a:txBody>
                    <a:bodyPr wrap="square"/>
                    <a:lstStyle/>
                    <a:p>
                      <a:pPr algn="l"/>
                      <a:r>
                        <a:rPr sz="1050" b="0" i="0">
                          <a:solidFill>
                            <a:srgbClr val="000000"/>
                          </a:solidFill>
                          <a:latin typeface="Calibri"/>
                        </a:rPr>
                        <a:t>Table 293: ASEAN Heavy Commercial Vehicle EPS Market Value, 2021-2036 By Demand Type</a:t>
                      </a:r>
                      <a:endParaRPr sz="1050"/>
                    </a:p>
                  </a:txBody>
                  <a:tcPr marL="9525" marR="9525" marT="9525" marB="0" anchor="ctr"/>
                </a:tc>
              </a:tr>
              <a:tr h="172500">
                <a:tc>
                  <a:txBody>
                    <a:bodyPr wrap="square"/>
                    <a:lstStyle/>
                    <a:p>
                      <a:pPr algn="l"/>
                      <a:r>
                        <a:rPr sz="1050" b="0" i="0">
                          <a:solidFill>
                            <a:srgbClr val="000000"/>
                          </a:solidFill>
                          <a:latin typeface="Calibri"/>
                        </a:rPr>
                        <a:t>Table 294: ASEAN Heavy Commercial Vehicle EPS Market Volume, 2021-2036 By Demand Type</a:t>
                      </a:r>
                      <a:endParaRPr sz="1050"/>
                    </a:p>
                  </a:txBody>
                  <a:tcPr marL="9525" marR="9525" marT="9525" marB="0" anchor="ctr"/>
                </a:tc>
              </a:tr>
              <a:tr h="338100">
                <a:tc>
                  <a:txBody>
                    <a:bodyPr wrap="square"/>
                    <a:lstStyle/>
                    <a:p>
                      <a:pPr algn="l"/>
                      <a:r>
                        <a:rPr sz="1050" b="0" i="0">
                          <a:solidFill>
                            <a:srgbClr val="000000"/>
                          </a:solidFill>
                          <a:latin typeface="Calibri"/>
                        </a:rPr>
                        <a:t>Table 295: Australia and New Zealand Heavy Commercial Vehicle EPS Market Value, 2021-2036 By System Architecture</a:t>
                      </a:r>
                      <a:endParaRPr sz="1050"/>
                    </a:p>
                  </a:txBody>
                  <a:tcPr marL="9525" marR="9525" marT="9525" marB="0" anchor="ctr"/>
                </a:tc>
              </a:tr>
              <a:tr h="338100">
                <a:tc>
                  <a:txBody>
                    <a:bodyPr wrap="square"/>
                    <a:lstStyle/>
                    <a:p>
                      <a:pPr algn="l"/>
                      <a:r>
                        <a:rPr sz="1050" b="0" i="0">
                          <a:solidFill>
                            <a:srgbClr val="000000"/>
                          </a:solidFill>
                          <a:latin typeface="Calibri"/>
                        </a:rPr>
                        <a:t>Table 296: Australia and New Zealand Heavy Commercial Vehicle EPS Market Volume, 2021-2036 By System Architecture</a:t>
                      </a:r>
                      <a:endParaRPr sz="1050"/>
                    </a:p>
                  </a:txBody>
                  <a:tcPr marL="9525" marR="9525" marT="9525" marB="0" anchor="ctr"/>
                </a:tc>
              </a:tr>
              <a:tr h="338100">
                <a:tc>
                  <a:txBody>
                    <a:bodyPr wrap="square"/>
                    <a:lstStyle/>
                    <a:p>
                      <a:pPr algn="l"/>
                      <a:r>
                        <a:rPr sz="1050" b="0" i="0">
                          <a:solidFill>
                            <a:srgbClr val="000000"/>
                          </a:solidFill>
                          <a:latin typeface="Calibri"/>
                        </a:rPr>
                        <a:t>Table 297: Australia and New Zealand Heavy Commercial Vehicle EPS Market Value, 2021-2036 By Vehicle Type</a:t>
                      </a:r>
                      <a:endParaRPr sz="1050"/>
                    </a:p>
                  </a:txBody>
                  <a:tcPr marL="9525" marR="9525" marT="9525" marB="0" anchor="ctr"/>
                </a:tc>
              </a:tr>
              <a:tr h="338100">
                <a:tc>
                  <a:txBody>
                    <a:bodyPr wrap="square"/>
                    <a:lstStyle/>
                    <a:p>
                      <a:pPr algn="l"/>
                      <a:r>
                        <a:rPr sz="1050" b="0" i="0">
                          <a:solidFill>
                            <a:srgbClr val="000000"/>
                          </a:solidFill>
                          <a:latin typeface="Calibri"/>
                        </a:rPr>
                        <a:t>Table 298: Australia and New Zealand Heavy Commercial Vehicle EPS Market Volume, 2021-2036 By Vehicle Type</a:t>
                      </a:r>
                      <a:endParaRPr sz="1050"/>
                    </a:p>
                  </a:txBody>
                  <a:tcPr marL="9525" marR="9525" marT="9525" marB="0" anchor="ctr"/>
                </a:tc>
              </a:tr>
              <a:tr h="338100">
                <a:tc>
                  <a:txBody>
                    <a:bodyPr wrap="square"/>
                    <a:lstStyle/>
                    <a:p>
                      <a:pPr algn="l"/>
                      <a:r>
                        <a:rPr sz="1050" b="0" i="0">
                          <a:solidFill>
                            <a:srgbClr val="000000"/>
                          </a:solidFill>
                          <a:latin typeface="Calibri"/>
                        </a:rPr>
                        <a:t>Table 299: Australia and New Zealand Heavy Commercial Vehicle EPS Market Value, 2021-2036 By Gross Vehicle Weight</a:t>
                      </a:r>
                      <a:endParaRPr sz="1050"/>
                    </a:p>
                  </a:txBody>
                  <a:tcPr marL="9525" marR="9525" marT="9525" marB="0" anchor="ctr"/>
                </a:tc>
              </a:tr>
              <a:tr h="338100">
                <a:tc>
                  <a:txBody>
                    <a:bodyPr wrap="square"/>
                    <a:lstStyle/>
                    <a:p>
                      <a:pPr algn="l"/>
                      <a:r>
                        <a:rPr sz="1050" b="0" i="0">
                          <a:solidFill>
                            <a:srgbClr val="000000"/>
                          </a:solidFill>
                          <a:latin typeface="Calibri"/>
                        </a:rPr>
                        <a:t>Table 300: Australia and New Zealand Heavy Commercial Vehicle EPS Market Volume, 2021-2036 By Gross Vehicle Weight</a:t>
                      </a:r>
                      <a:endParaRPr sz="1050"/>
                    </a:p>
                  </a:txBody>
                  <a:tcPr marL="9525" marR="9525" marT="9525" marB="0" anchor="ctr"/>
                </a:tc>
              </a:tr>
              <a:tr h="338100">
                <a:tc>
                  <a:txBody>
                    <a:bodyPr wrap="square"/>
                    <a:lstStyle/>
                    <a:p>
                      <a:pPr algn="l"/>
                      <a:r>
                        <a:rPr sz="1050" b="0" i="0">
                          <a:solidFill>
                            <a:srgbClr val="000000"/>
                          </a:solidFill>
                          <a:latin typeface="Calibri"/>
                        </a:rPr>
                        <a:t>Table 301: Australia and New Zealand Heavy Commercial Vehicle EPS Market Value, 2021-2036 By Propulsion Type</a:t>
                      </a:r>
                      <a:endParaRPr sz="1050"/>
                    </a:p>
                  </a:txBody>
                  <a:tcPr marL="9525" marR="9525" marT="9525" marB="0" anchor="ctr"/>
                </a:tc>
              </a:tr>
              <a:tr h="338100">
                <a:tc>
                  <a:txBody>
                    <a:bodyPr wrap="square"/>
                    <a:lstStyle/>
                    <a:p>
                      <a:pPr algn="l"/>
                      <a:r>
                        <a:rPr sz="1050" b="0" i="0">
                          <a:solidFill>
                            <a:srgbClr val="000000"/>
                          </a:solidFill>
                          <a:latin typeface="Calibri"/>
                        </a:rPr>
                        <a:t>Table 302: Australia and New Zealand Heavy Commercial Vehicle EPS Market Volume, 2021-2036 By Propulsion Type</a:t>
                      </a:r>
                      <a:endParaRPr sz="1050"/>
                    </a:p>
                  </a:txBody>
                  <a:tcPr marL="9525" marR="9525" marT="9525" marB="0" anchor="ctr"/>
                </a:tc>
              </a:tr>
              <a:tr h="338100">
                <a:tc>
                  <a:txBody>
                    <a:bodyPr wrap="square"/>
                    <a:lstStyle/>
                    <a:p>
                      <a:pPr algn="l"/>
                      <a:r>
                        <a:rPr sz="1050" b="0" i="0">
                          <a:solidFill>
                            <a:srgbClr val="000000"/>
                          </a:solidFill>
                          <a:latin typeface="Calibri"/>
                        </a:rPr>
                        <a:t>Table 303: Australia and New Zealand Heavy Commercial Vehicle EPS Market Value, 2021-2036 By Demand Type</a:t>
                      </a:r>
                      <a:endParaRPr sz="1050"/>
                    </a:p>
                  </a:txBody>
                  <a:tcPr marL="9525" marR="9525" marT="9525" marB="0" anchor="ctr"/>
                </a:tc>
              </a:tr>
              <a:tr h="338100">
                <a:tc>
                  <a:txBody>
                    <a:bodyPr wrap="square"/>
                    <a:lstStyle/>
                    <a:p>
                      <a:pPr algn="l"/>
                      <a:r>
                        <a:rPr sz="1050" b="0" i="0">
                          <a:solidFill>
                            <a:srgbClr val="000000"/>
                          </a:solidFill>
                          <a:latin typeface="Calibri"/>
                        </a:rPr>
                        <a:t>Table 304: Australia and New Zealand Heavy Commercial Vehicle EPS Market Volume, 2021-2036 By Demand Type</a:t>
                      </a:r>
                      <a:endParaRPr sz="1050"/>
                    </a:p>
                  </a:txBody>
                  <a:tcPr marL="9525" marR="9525" marT="9525" marB="0" anchor="ctr"/>
                </a:tc>
              </a:tr>
              <a:tr h="338100">
                <a:tc>
                  <a:txBody>
                    <a:bodyPr wrap="square"/>
                    <a:lstStyle/>
                    <a:p>
                      <a:pPr algn="l"/>
                      <a:r>
                        <a:rPr sz="1050" b="0" i="0">
                          <a:solidFill>
                            <a:srgbClr val="000000"/>
                          </a:solidFill>
                          <a:latin typeface="Calibri"/>
                        </a:rPr>
                        <a:t>Table 305: Middle East and Africa Heavy Commercial Vehicle EPS Market Value, 2021-2036 By System Architecture</a:t>
                      </a:r>
                      <a:endParaRPr sz="1050"/>
                    </a:p>
                  </a:txBody>
                  <a:tcPr marL="9525" marR="9525" marT="9525" marB="0" anchor="ctr"/>
                </a:tc>
              </a:tr>
              <a:tr h="338100">
                <a:tc>
                  <a:txBody>
                    <a:bodyPr wrap="square"/>
                    <a:lstStyle/>
                    <a:p>
                      <a:pPr algn="l"/>
                      <a:r>
                        <a:rPr sz="1050" b="0" i="0">
                          <a:solidFill>
                            <a:srgbClr val="000000"/>
                          </a:solidFill>
                          <a:latin typeface="Calibri"/>
                        </a:rPr>
                        <a:t>Table 306: Middle East and Africa Heavy Commercial Vehicle EPS Market Volume, 2021-2036 By System Architecture</a:t>
                      </a:r>
                      <a:endParaRPr sz="1050"/>
                    </a:p>
                  </a:txBody>
                  <a:tcPr marL="9525" marR="9525" marT="9525" marB="0" anchor="ctr"/>
                </a:tc>
              </a:tr>
              <a:tr h="338100">
                <a:tc>
                  <a:txBody>
                    <a:bodyPr wrap="square"/>
                    <a:lstStyle/>
                    <a:p>
                      <a:pPr algn="l"/>
                      <a:r>
                        <a:rPr sz="1050" b="0" i="0">
                          <a:solidFill>
                            <a:srgbClr val="000000"/>
                          </a:solidFill>
                          <a:latin typeface="Calibri"/>
                        </a:rPr>
                        <a:t>Table 307: Middle East and Africa Heavy Commercial Vehicle EPS Market Value, 2021-2036 By Vehicle Type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(7/8)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27360">
                <a:tc>
                  <a:txBody>
                    <a:bodyPr wrap="square"/>
                    <a:lstStyle/>
                    <a:p>
                      <a:pPr algn="l"/>
                      <a:r>
                        <a:rPr sz="1050" b="0" i="0">
                          <a:solidFill>
                            <a:srgbClr val="000000"/>
                          </a:solidFill>
                          <a:latin typeface="Calibri"/>
                        </a:rPr>
                        <a:t>Table 308: Middle East and Africa Heavy Commercial Vehicle EPS Market Volume, 2021-2036 By Vehicle Type</a:t>
                      </a:r>
                      <a:endParaRPr sz="1050"/>
                    </a:p>
                  </a:txBody>
                  <a:tcPr marL="9525" marR="9525" marT="9525" marB="0" anchor="ctr"/>
                </a:tc>
              </a:tr>
              <a:tr h="327360">
                <a:tc>
                  <a:txBody>
                    <a:bodyPr wrap="square"/>
                    <a:lstStyle/>
                    <a:p>
                      <a:pPr algn="l"/>
                      <a:r>
                        <a:rPr sz="1050" b="0" i="0">
                          <a:solidFill>
                            <a:srgbClr val="000000"/>
                          </a:solidFill>
                          <a:latin typeface="Calibri"/>
                        </a:rPr>
                        <a:t>Table 309: Middle East and Africa Heavy Commercial Vehicle EPS Market Value, 2021-2036 By Gross Vehicle Weight</a:t>
                      </a:r>
                      <a:endParaRPr sz="1050"/>
                    </a:p>
                  </a:txBody>
                  <a:tcPr marL="9525" marR="9525" marT="9525" marB="0" anchor="ctr"/>
                </a:tc>
              </a:tr>
              <a:tr h="327360">
                <a:tc>
                  <a:txBody>
                    <a:bodyPr wrap="square"/>
                    <a:lstStyle/>
                    <a:p>
                      <a:pPr algn="l"/>
                      <a:r>
                        <a:rPr sz="1050" b="0" i="0">
                          <a:solidFill>
                            <a:srgbClr val="000000"/>
                          </a:solidFill>
                          <a:latin typeface="Calibri"/>
                        </a:rPr>
                        <a:t>Table 310: Middle East and Africa Heavy Commercial Vehicle EPS Market Volume, 2021-2036 By Gross Vehicle Weight</a:t>
                      </a:r>
                      <a:endParaRPr sz="1050"/>
                    </a:p>
                  </a:txBody>
                  <a:tcPr marL="9525" marR="9525" marT="9525" marB="0" anchor="ctr"/>
                </a:tc>
              </a:tr>
              <a:tr h="327360">
                <a:tc>
                  <a:txBody>
                    <a:bodyPr wrap="square"/>
                    <a:lstStyle/>
                    <a:p>
                      <a:pPr algn="l"/>
                      <a:r>
                        <a:rPr sz="1050" b="0" i="0">
                          <a:solidFill>
                            <a:srgbClr val="000000"/>
                          </a:solidFill>
                          <a:latin typeface="Calibri"/>
                        </a:rPr>
                        <a:t>Table 311: Middle East and Africa Heavy Commercial Vehicle EPS Market Value, 2021-2036 By Propulsion Type</a:t>
                      </a:r>
                      <a:endParaRPr sz="1050"/>
                    </a:p>
                  </a:txBody>
                  <a:tcPr marL="9525" marR="9525" marT="9525" marB="0" anchor="ctr"/>
                </a:tc>
              </a:tr>
              <a:tr h="327360">
                <a:tc>
                  <a:txBody>
                    <a:bodyPr wrap="square"/>
                    <a:lstStyle/>
                    <a:p>
                      <a:pPr algn="l"/>
                      <a:r>
                        <a:rPr sz="1050" b="0" i="0">
                          <a:solidFill>
                            <a:srgbClr val="000000"/>
                          </a:solidFill>
                          <a:latin typeface="Calibri"/>
                        </a:rPr>
                        <a:t>Table 312: Middle East and Africa Heavy Commercial Vehicle EPS Market Volume, 2021-2036 By Propulsion Type</a:t>
                      </a:r>
                      <a:endParaRPr sz="1050"/>
                    </a:p>
                  </a:txBody>
                  <a:tcPr marL="9525" marR="9525" marT="9525" marB="0" anchor="ctr"/>
                </a:tc>
              </a:tr>
              <a:tr h="327360">
                <a:tc>
                  <a:txBody>
                    <a:bodyPr wrap="square"/>
                    <a:lstStyle/>
                    <a:p>
                      <a:pPr algn="l"/>
                      <a:r>
                        <a:rPr sz="1050" b="0" i="0">
                          <a:solidFill>
                            <a:srgbClr val="000000"/>
                          </a:solidFill>
                          <a:latin typeface="Calibri"/>
                        </a:rPr>
                        <a:t>Table 313: Middle East and Africa Heavy Commercial Vehicle EPS Market Value, 2021-2036 By Demand Type</a:t>
                      </a:r>
                      <a:endParaRPr sz="1050"/>
                    </a:p>
                  </a:txBody>
                  <a:tcPr marL="9525" marR="9525" marT="9525" marB="0" anchor="ctr"/>
                </a:tc>
              </a:tr>
              <a:tr h="327360">
                <a:tc>
                  <a:txBody>
                    <a:bodyPr wrap="square"/>
                    <a:lstStyle/>
                    <a:p>
                      <a:pPr algn="l"/>
                      <a:r>
                        <a:rPr sz="1050" b="0" i="0">
                          <a:solidFill>
                            <a:srgbClr val="000000"/>
                          </a:solidFill>
                          <a:latin typeface="Calibri"/>
                        </a:rPr>
                        <a:t>Table 314: Middle East and Africa Heavy Commercial Vehicle EPS Market Volume, 2021-2036 By Demand Type</a:t>
                      </a:r>
                      <a:endParaRPr sz="1050"/>
                    </a:p>
                  </a:txBody>
                  <a:tcPr marL="9525" marR="9525" marT="9525" marB="0" anchor="ctr"/>
                </a:tc>
              </a:tr>
              <a:tr h="167020">
                <a:tc>
                  <a:txBody>
                    <a:bodyPr wrap="square"/>
                    <a:lstStyle/>
                    <a:p>
                      <a:pPr algn="l"/>
                      <a:r>
                        <a:rPr sz="1050" b="0" i="0">
                          <a:solidFill>
                            <a:srgbClr val="000000"/>
                          </a:solidFill>
                          <a:latin typeface="Calibri"/>
                        </a:rPr>
                        <a:t>Table 315: Middle East and Africa Heavy Commercial Vehicle EPS Market Value, 2021-2036 By Country</a:t>
                      </a:r>
                      <a:endParaRPr sz="1050"/>
                    </a:p>
                  </a:txBody>
                  <a:tcPr marL="9525" marR="9525" marT="9525" marB="0" anchor="ctr"/>
                </a:tc>
              </a:tr>
              <a:tr h="327360">
                <a:tc>
                  <a:txBody>
                    <a:bodyPr wrap="square"/>
                    <a:lstStyle/>
                    <a:p>
                      <a:pPr algn="l"/>
                      <a:r>
                        <a:rPr sz="1050" b="0" i="0">
                          <a:solidFill>
                            <a:srgbClr val="000000"/>
                          </a:solidFill>
                          <a:latin typeface="Calibri"/>
                        </a:rPr>
                        <a:t>Table 316: Middle East and Africa Heavy Commercial Vehicle EPS Market Volume,2021-2036 By Country</a:t>
                      </a:r>
                      <a:endParaRPr sz="1050"/>
                    </a:p>
                  </a:txBody>
                  <a:tcPr marL="9525" marR="9525" marT="9525" marB="0" anchor="ctr"/>
                </a:tc>
              </a:tr>
              <a:tr h="327360">
                <a:tc>
                  <a:txBody>
                    <a:bodyPr wrap="square"/>
                    <a:lstStyle/>
                    <a:p>
                      <a:pPr algn="l"/>
                      <a:r>
                        <a:rPr sz="1050" b="0" i="0">
                          <a:solidFill>
                            <a:srgbClr val="000000"/>
                          </a:solidFill>
                          <a:latin typeface="Calibri"/>
                        </a:rPr>
                        <a:t>Table 317: GCC Countries Heavy Commercial Vehicle EPS Market Value, 2021-2036 By System Architecture</a:t>
                      </a:r>
                      <a:endParaRPr sz="1050"/>
                    </a:p>
                  </a:txBody>
                  <a:tcPr marL="9525" marR="9525" marT="9525" marB="0" anchor="ctr"/>
                </a:tc>
              </a:tr>
              <a:tr h="327360">
                <a:tc>
                  <a:txBody>
                    <a:bodyPr wrap="square"/>
                    <a:lstStyle/>
                    <a:p>
                      <a:pPr algn="l"/>
                      <a:r>
                        <a:rPr sz="1050" b="0" i="0">
                          <a:solidFill>
                            <a:srgbClr val="000000"/>
                          </a:solidFill>
                          <a:latin typeface="Calibri"/>
                        </a:rPr>
                        <a:t>Table 318: GCC Countries Heavy Commercial Vehicle EPS Market Volume, 2021-2036 By System Architecture</a:t>
                      </a:r>
                      <a:endParaRPr sz="1050"/>
                    </a:p>
                  </a:txBody>
                  <a:tcPr marL="9525" marR="9525" marT="9525" marB="0" anchor="ctr"/>
                </a:tc>
              </a:tr>
              <a:tr h="167020">
                <a:tc>
                  <a:txBody>
                    <a:bodyPr wrap="square"/>
                    <a:lstStyle/>
                    <a:p>
                      <a:pPr algn="l"/>
                      <a:r>
                        <a:rPr sz="1050" b="0" i="0">
                          <a:solidFill>
                            <a:srgbClr val="000000"/>
                          </a:solidFill>
                          <a:latin typeface="Calibri"/>
                        </a:rPr>
                        <a:t>Table 319: GCC Countries Heavy Commercial Vehicle EPS Market Value, 2021-2036 By Vehicle Type</a:t>
                      </a:r>
                      <a:endParaRPr sz="1050"/>
                    </a:p>
                  </a:txBody>
                  <a:tcPr marL="9525" marR="9525" marT="9525" marB="0" anchor="ctr"/>
                </a:tc>
              </a:tr>
              <a:tr h="167020">
                <a:tc>
                  <a:txBody>
                    <a:bodyPr wrap="square"/>
                    <a:lstStyle/>
                    <a:p>
                      <a:pPr algn="l"/>
                      <a:r>
                        <a:rPr sz="1050" b="0" i="0">
                          <a:solidFill>
                            <a:srgbClr val="000000"/>
                          </a:solidFill>
                          <a:latin typeface="Calibri"/>
                        </a:rPr>
                        <a:t>Table 320: GCC Countries Heavy Commercial Vehicle EPS Market Volume, 2021-2036 By Vehicle Type</a:t>
                      </a:r>
                      <a:endParaRPr sz="1050"/>
                    </a:p>
                  </a:txBody>
                  <a:tcPr marL="9525" marR="9525" marT="9525" marB="0" anchor="ctr"/>
                </a:tc>
              </a:tr>
              <a:tr h="327360">
                <a:tc>
                  <a:txBody>
                    <a:bodyPr wrap="square"/>
                    <a:lstStyle/>
                    <a:p>
                      <a:pPr algn="l"/>
                      <a:r>
                        <a:rPr sz="1050" b="0" i="0">
                          <a:solidFill>
                            <a:srgbClr val="000000"/>
                          </a:solidFill>
                          <a:latin typeface="Calibri"/>
                        </a:rPr>
                        <a:t>Table 321: GCC Countries Heavy Commercial Vehicle EPS Market Value, 2021-2036 By Gross Vehicle Weight</a:t>
                      </a:r>
                      <a:endParaRPr sz="1050"/>
                    </a:p>
                  </a:txBody>
                  <a:tcPr marL="9525" marR="9525" marT="9525" marB="0" anchor="ctr"/>
                </a:tc>
              </a:tr>
              <a:tr h="327360">
                <a:tc>
                  <a:txBody>
                    <a:bodyPr wrap="square"/>
                    <a:lstStyle/>
                    <a:p>
                      <a:pPr algn="l"/>
                      <a:r>
                        <a:rPr sz="1050" b="0" i="0">
                          <a:solidFill>
                            <a:srgbClr val="000000"/>
                          </a:solidFill>
                          <a:latin typeface="Calibri"/>
                        </a:rPr>
                        <a:t>Table 322: GCC Countries Heavy Commercial Vehicle EPS Market Volume, 2021-2036 By Gross Vehicle Weight</a:t>
                      </a:r>
                      <a:endParaRPr sz="1050"/>
                    </a:p>
                  </a:txBody>
                  <a:tcPr marL="9525" marR="9525" marT="9525" marB="0" anchor="ctr"/>
                </a:tc>
              </a:tr>
              <a:tr h="167020">
                <a:tc>
                  <a:txBody>
                    <a:bodyPr wrap="square"/>
                    <a:lstStyle/>
                    <a:p>
                      <a:pPr algn="l"/>
                      <a:r>
                        <a:rPr sz="1050" b="0" i="0">
                          <a:solidFill>
                            <a:srgbClr val="000000"/>
                          </a:solidFill>
                          <a:latin typeface="Calibri"/>
                        </a:rPr>
                        <a:t>Table 323: GCC Countries Heavy Commercial Vehicle EPS Market Value, 2021-2036 By Propulsion Type</a:t>
                      </a:r>
                      <a:endParaRPr sz="1050"/>
                    </a:p>
                  </a:txBody>
                  <a:tcPr marL="9525" marR="9525" marT="9525" marB="0" anchor="ctr"/>
                </a:tc>
              </a:tr>
              <a:tr h="327360">
                <a:tc>
                  <a:txBody>
                    <a:bodyPr wrap="square"/>
                    <a:lstStyle/>
                    <a:p>
                      <a:pPr algn="l"/>
                      <a:r>
                        <a:rPr sz="1050" b="0" i="0">
                          <a:solidFill>
                            <a:srgbClr val="000000"/>
                          </a:solidFill>
                          <a:latin typeface="Calibri"/>
                        </a:rPr>
                        <a:t>Table 324: GCC Countries Heavy Commercial Vehicle EPS Market Volume, 2021-2036 By Propulsion Type</a:t>
                      </a:r>
                      <a:endParaRPr sz="1050"/>
                    </a:p>
                  </a:txBody>
                  <a:tcPr marL="9525" marR="9525" marT="9525" marB="0" anchor="ctr"/>
                </a:tc>
              </a:tr>
              <a:tr h="167020">
                <a:tc>
                  <a:txBody>
                    <a:bodyPr wrap="square"/>
                    <a:lstStyle/>
                    <a:p>
                      <a:pPr algn="l"/>
                      <a:r>
                        <a:rPr sz="1050" b="0" i="0">
                          <a:solidFill>
                            <a:srgbClr val="000000"/>
                          </a:solidFill>
                          <a:latin typeface="Calibri"/>
                        </a:rPr>
                        <a:t>Table 325: GCC Countries Heavy Commercial Vehicle EPS Market Value, 2021-2036 By Demand Type</a:t>
                      </a:r>
                      <a:endParaRPr sz="1050"/>
                    </a:p>
                  </a:txBody>
                  <a:tcPr marL="9525" marR="9525" marT="9525" marB="0" anchor="ctr"/>
                </a:tc>
              </a:tr>
              <a:tr h="167020">
                <a:tc>
                  <a:txBody>
                    <a:bodyPr wrap="square"/>
                    <a:lstStyle/>
                    <a:p>
                      <a:pPr algn="l"/>
                      <a:r>
                        <a:rPr sz="1050" b="0" i="0">
                          <a:solidFill>
                            <a:srgbClr val="000000"/>
                          </a:solidFill>
                          <a:latin typeface="Calibri"/>
                        </a:rPr>
                        <a:t>Table 326: GCC Countries Heavy Commercial Vehicle EPS Market Volume, 2021-2036 By Demand Type</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1599">
                <a:tc>
                  <a:txBody>
                    <a:bodyPr wrap="square"/>
                    <a:lstStyle/>
                    <a:p>
                      <a:pPr algn="l"/>
                      <a:r>
                        <a:rPr sz="1050" b="0" i="0">
                          <a:solidFill>
                            <a:srgbClr val="000000"/>
                          </a:solidFill>
                          <a:latin typeface="Calibri"/>
                        </a:rPr>
                        <a:t>Table 327: Turkiye Heavy Commercial Vehicle EPS Market Value, 2021-2036 By System Architecture</a:t>
                      </a:r>
                      <a:endParaRPr sz="1050"/>
                    </a:p>
                  </a:txBody>
                  <a:tcPr marL="9525" marR="9525" marT="9525" marB="0" anchor="ctr"/>
                </a:tc>
              </a:tr>
              <a:tr h="171599">
                <a:tc>
                  <a:txBody>
                    <a:bodyPr wrap="square"/>
                    <a:lstStyle/>
                    <a:p>
                      <a:pPr algn="l"/>
                      <a:r>
                        <a:rPr sz="1050" b="0" i="0">
                          <a:solidFill>
                            <a:srgbClr val="000000"/>
                          </a:solidFill>
                          <a:latin typeface="Calibri"/>
                        </a:rPr>
                        <a:t>Table 328: Turkiye Heavy Commercial Vehicle EPS Market Volume, 2021-2036 By System Architecture</a:t>
                      </a:r>
                      <a:endParaRPr sz="1050"/>
                    </a:p>
                  </a:txBody>
                  <a:tcPr marL="9525" marR="9525" marT="9525" marB="0" anchor="ctr"/>
                </a:tc>
              </a:tr>
              <a:tr h="171599">
                <a:tc>
                  <a:txBody>
                    <a:bodyPr wrap="square"/>
                    <a:lstStyle/>
                    <a:p>
                      <a:pPr algn="l"/>
                      <a:r>
                        <a:rPr sz="1050" b="0" i="0">
                          <a:solidFill>
                            <a:srgbClr val="000000"/>
                          </a:solidFill>
                          <a:latin typeface="Calibri"/>
                        </a:rPr>
                        <a:t>Table 329: Turkiye Heavy Commercial Vehicle EPS Market Value, 2021-2036 By Vehicle Type</a:t>
                      </a:r>
                      <a:endParaRPr sz="1050"/>
                    </a:p>
                  </a:txBody>
                  <a:tcPr marL="9525" marR="9525" marT="9525" marB="0" anchor="ctr"/>
                </a:tc>
              </a:tr>
              <a:tr h="171599">
                <a:tc>
                  <a:txBody>
                    <a:bodyPr wrap="square"/>
                    <a:lstStyle/>
                    <a:p>
                      <a:pPr algn="l"/>
                      <a:r>
                        <a:rPr sz="1050" b="0" i="0">
                          <a:solidFill>
                            <a:srgbClr val="000000"/>
                          </a:solidFill>
                          <a:latin typeface="Calibri"/>
                        </a:rPr>
                        <a:t>Table 330: Turkiye Heavy Commercial Vehicle EPS Market Volume, 2021-2036 By Vehicle Type</a:t>
                      </a:r>
                      <a:endParaRPr sz="1050"/>
                    </a:p>
                  </a:txBody>
                  <a:tcPr marL="9525" marR="9525" marT="9525" marB="0" anchor="ctr"/>
                </a:tc>
              </a:tr>
              <a:tr h="171599">
                <a:tc>
                  <a:txBody>
                    <a:bodyPr wrap="square"/>
                    <a:lstStyle/>
                    <a:p>
                      <a:pPr algn="l"/>
                      <a:r>
                        <a:rPr sz="1050" b="0" i="0">
                          <a:solidFill>
                            <a:srgbClr val="000000"/>
                          </a:solidFill>
                          <a:latin typeface="Calibri"/>
                        </a:rPr>
                        <a:t>Table 331: Turkiye Heavy Commercial Vehicle EPS Market Value, 2021-2036 By Gross Vehicle Weight</a:t>
                      </a:r>
                      <a:endParaRPr sz="1050"/>
                    </a:p>
                  </a:txBody>
                  <a:tcPr marL="9525" marR="9525" marT="9525" marB="0" anchor="ctr"/>
                </a:tc>
              </a:tr>
              <a:tr h="171599">
                <a:tc>
                  <a:txBody>
                    <a:bodyPr wrap="square"/>
                    <a:lstStyle/>
                    <a:p>
                      <a:pPr algn="l"/>
                      <a:r>
                        <a:rPr sz="1050" b="0" i="0">
                          <a:solidFill>
                            <a:srgbClr val="000000"/>
                          </a:solidFill>
                          <a:latin typeface="Calibri"/>
                        </a:rPr>
                        <a:t>Table 332: Turkiye Heavy Commercial Vehicle EPS Market Volume, 2021-2036 By Gross Vehicle Weight</a:t>
                      </a:r>
                      <a:endParaRPr sz="1050"/>
                    </a:p>
                  </a:txBody>
                  <a:tcPr marL="9525" marR="9525" marT="9525" marB="0" anchor="ctr"/>
                </a:tc>
              </a:tr>
              <a:tr h="171599">
                <a:tc>
                  <a:txBody>
                    <a:bodyPr wrap="square"/>
                    <a:lstStyle/>
                    <a:p>
                      <a:pPr algn="l"/>
                      <a:r>
                        <a:rPr sz="1050" b="0" i="0">
                          <a:solidFill>
                            <a:srgbClr val="000000"/>
                          </a:solidFill>
                          <a:latin typeface="Calibri"/>
                        </a:rPr>
                        <a:t>Table 333: Turkiye Heavy Commercial Vehicle EPS Market Value, 2021-2036 By Propulsion Type</a:t>
                      </a:r>
                      <a:endParaRPr sz="1050"/>
                    </a:p>
                  </a:txBody>
                  <a:tcPr marL="9525" marR="9525" marT="9525" marB="0" anchor="ctr"/>
                </a:tc>
              </a:tr>
              <a:tr h="171599">
                <a:tc>
                  <a:txBody>
                    <a:bodyPr wrap="square"/>
                    <a:lstStyle/>
                    <a:p>
                      <a:pPr algn="l"/>
                      <a:r>
                        <a:rPr sz="1050" b="0" i="0">
                          <a:solidFill>
                            <a:srgbClr val="000000"/>
                          </a:solidFill>
                          <a:latin typeface="Calibri"/>
                        </a:rPr>
                        <a:t>Table 334: Turkiye Heavy Commercial Vehicle EPS Market Volume, 2021-2036 By Propulsion Type</a:t>
                      </a:r>
                      <a:endParaRPr sz="1050"/>
                    </a:p>
                  </a:txBody>
                  <a:tcPr marL="9525" marR="9525" marT="9525" marB="0" anchor="ctr"/>
                </a:tc>
              </a:tr>
              <a:tr h="171599">
                <a:tc>
                  <a:txBody>
                    <a:bodyPr wrap="square"/>
                    <a:lstStyle/>
                    <a:p>
                      <a:pPr algn="l"/>
                      <a:r>
                        <a:rPr sz="1050" b="0" i="0">
                          <a:solidFill>
                            <a:srgbClr val="000000"/>
                          </a:solidFill>
                          <a:latin typeface="Calibri"/>
                        </a:rPr>
                        <a:t>Table 335: Turkiye Heavy Commercial Vehicle EPS Market Value, 2021-2036 By Demand Type</a:t>
                      </a:r>
                      <a:endParaRPr sz="1050"/>
                    </a:p>
                  </a:txBody>
                  <a:tcPr marL="9525" marR="9525" marT="9525" marB="0" anchor="ctr"/>
                </a:tc>
              </a:tr>
              <a:tr h="171599">
                <a:tc>
                  <a:txBody>
                    <a:bodyPr wrap="square"/>
                    <a:lstStyle/>
                    <a:p>
                      <a:pPr algn="l"/>
                      <a:r>
                        <a:rPr sz="1050" b="0" i="0">
                          <a:solidFill>
                            <a:srgbClr val="000000"/>
                          </a:solidFill>
                          <a:latin typeface="Calibri"/>
                        </a:rPr>
                        <a:t>Table 336: Turkiye Heavy Commercial Vehicle EPS Market Volume, 2021-2036 By Demand Type</a:t>
                      </a:r>
                      <a:endParaRPr sz="1050"/>
                    </a:p>
                  </a:txBody>
                  <a:tcPr marL="9525" marR="9525" marT="9525" marB="0" anchor="ctr"/>
                </a:tc>
              </a:tr>
              <a:tr h="336334">
                <a:tc>
                  <a:txBody>
                    <a:bodyPr wrap="square"/>
                    <a:lstStyle/>
                    <a:p>
                      <a:pPr algn="l"/>
                      <a:r>
                        <a:rPr sz="1050" b="0" i="0">
                          <a:solidFill>
                            <a:srgbClr val="000000"/>
                          </a:solidFill>
                          <a:latin typeface="Calibri"/>
                        </a:rPr>
                        <a:t>Table 337: Northern Africa Heavy Commercial Vehicle EPS Market Value, 2021-2036 By System Architecture</a:t>
                      </a:r>
                      <a:endParaRPr sz="1050"/>
                    </a:p>
                  </a:txBody>
                  <a:tcPr marL="9525" marR="9525" marT="9525" marB="0" anchor="ctr"/>
                </a:tc>
              </a:tr>
              <a:tr h="336334">
                <a:tc>
                  <a:txBody>
                    <a:bodyPr wrap="square"/>
                    <a:lstStyle/>
                    <a:p>
                      <a:pPr algn="l"/>
                      <a:r>
                        <a:rPr sz="1050" b="0" i="0">
                          <a:solidFill>
                            <a:srgbClr val="000000"/>
                          </a:solidFill>
                          <a:latin typeface="Calibri"/>
                        </a:rPr>
                        <a:t>Table 338: Northern Africa Heavy Commercial Vehicle EPS Market Volume, 2021-2036 By System Architecture</a:t>
                      </a:r>
                      <a:endParaRPr sz="1050"/>
                    </a:p>
                  </a:txBody>
                  <a:tcPr marL="9525" marR="9525" marT="9525" marB="0" anchor="ctr"/>
                </a:tc>
              </a:tr>
              <a:tr h="171599">
                <a:tc>
                  <a:txBody>
                    <a:bodyPr wrap="square"/>
                    <a:lstStyle/>
                    <a:p>
                      <a:pPr algn="l"/>
                      <a:r>
                        <a:rPr sz="1050" b="0" i="0">
                          <a:solidFill>
                            <a:srgbClr val="000000"/>
                          </a:solidFill>
                          <a:latin typeface="Calibri"/>
                        </a:rPr>
                        <a:t>Table 339: Northern Africa Heavy Commercial Vehicle EPS Market Value, 2021-2036 By Vehicle Type</a:t>
                      </a:r>
                      <a:endParaRPr sz="1050"/>
                    </a:p>
                  </a:txBody>
                  <a:tcPr marL="9525" marR="9525" marT="9525" marB="0" anchor="ctr"/>
                </a:tc>
              </a:tr>
              <a:tr h="171599">
                <a:tc>
                  <a:txBody>
                    <a:bodyPr wrap="square"/>
                    <a:lstStyle/>
                    <a:p>
                      <a:pPr algn="l"/>
                      <a:r>
                        <a:rPr sz="1050" b="0" i="0">
                          <a:solidFill>
                            <a:srgbClr val="000000"/>
                          </a:solidFill>
                          <a:latin typeface="Calibri"/>
                        </a:rPr>
                        <a:t>Table 340: Northern Africa Heavy Commercial Vehicle EPS Market Volume, 2021-2036 By Vehicle Type</a:t>
                      </a:r>
                      <a:endParaRPr sz="1050"/>
                    </a:p>
                  </a:txBody>
                  <a:tcPr marL="9525" marR="9525" marT="9525" marB="0" anchor="ctr"/>
                </a:tc>
              </a:tr>
              <a:tr h="336334">
                <a:tc>
                  <a:txBody>
                    <a:bodyPr wrap="square"/>
                    <a:lstStyle/>
                    <a:p>
                      <a:pPr algn="l"/>
                      <a:r>
                        <a:rPr sz="1050" b="0" i="0">
                          <a:solidFill>
                            <a:srgbClr val="000000"/>
                          </a:solidFill>
                          <a:latin typeface="Calibri"/>
                        </a:rPr>
                        <a:t>Table 341: Northern Africa Heavy Commercial Vehicle EPS Market Value, 2021-2036 By Gross Vehicle Weight</a:t>
                      </a:r>
                      <a:endParaRPr sz="1050"/>
                    </a:p>
                  </a:txBody>
                  <a:tcPr marL="9525" marR="9525" marT="9525" marB="0" anchor="ctr"/>
                </a:tc>
              </a:tr>
              <a:tr h="336334">
                <a:tc>
                  <a:txBody>
                    <a:bodyPr wrap="square"/>
                    <a:lstStyle/>
                    <a:p>
                      <a:pPr algn="l"/>
                      <a:r>
                        <a:rPr sz="1050" b="0" i="0">
                          <a:solidFill>
                            <a:srgbClr val="000000"/>
                          </a:solidFill>
                          <a:latin typeface="Calibri"/>
                        </a:rPr>
                        <a:t>Table 342: Northern Africa Heavy Commercial Vehicle EPS Market Volume, 2021-2036 By Gross Vehicle Weight</a:t>
                      </a:r>
                      <a:endParaRPr sz="1050"/>
                    </a:p>
                  </a:txBody>
                  <a:tcPr marL="9525" marR="9525" marT="9525" marB="0" anchor="ctr"/>
                </a:tc>
              </a:tr>
              <a:tr h="336334">
                <a:tc>
                  <a:txBody>
                    <a:bodyPr wrap="square"/>
                    <a:lstStyle/>
                    <a:p>
                      <a:pPr algn="l"/>
                      <a:r>
                        <a:rPr sz="1050" b="0" i="0">
                          <a:solidFill>
                            <a:srgbClr val="000000"/>
                          </a:solidFill>
                          <a:latin typeface="Calibri"/>
                        </a:rPr>
                        <a:t>Table 343: Northern Africa Heavy Commercial Vehicle EPS Market Value, 2021-2036 By Propulsion Type</a:t>
                      </a:r>
                      <a:endParaRPr sz="1050"/>
                    </a:p>
                  </a:txBody>
                  <a:tcPr marL="9525" marR="9525" marT="9525" marB="0" anchor="ctr"/>
                </a:tc>
              </a:tr>
              <a:tr h="336334">
                <a:tc>
                  <a:txBody>
                    <a:bodyPr wrap="square"/>
                    <a:lstStyle/>
                    <a:p>
                      <a:pPr algn="l"/>
                      <a:r>
                        <a:rPr sz="1050" b="0" i="0">
                          <a:solidFill>
                            <a:srgbClr val="000000"/>
                          </a:solidFill>
                          <a:latin typeface="Calibri"/>
                        </a:rPr>
                        <a:t>Table 344: Northern Africa Heavy Commercial Vehicle EPS Market Volume, 2021-2036 By Propulsion Type</a:t>
                      </a:r>
                      <a:endParaRPr sz="1050"/>
                    </a:p>
                  </a:txBody>
                  <a:tcPr marL="9525" marR="9525" marT="9525" marB="0" anchor="ctr"/>
                </a:tc>
              </a:tr>
              <a:tr h="171599">
                <a:tc>
                  <a:txBody>
                    <a:bodyPr wrap="square"/>
                    <a:lstStyle/>
                    <a:p>
                      <a:pPr algn="l"/>
                      <a:r>
                        <a:rPr sz="1050" b="0" i="0">
                          <a:solidFill>
                            <a:srgbClr val="000000"/>
                          </a:solidFill>
                          <a:latin typeface="Calibri"/>
                        </a:rPr>
                        <a:t>Table 345: Northern Africa Heavy Commercial Vehicle EPS Market Value, 2021-2036 By Demand Type</a:t>
                      </a:r>
                      <a:endParaRPr sz="1050"/>
                    </a:p>
                  </a:txBody>
                  <a:tcPr marL="9525" marR="9525" marT="9525" marB="0" anchor="ctr"/>
                </a:tc>
              </a:tr>
              <a:tr h="336334">
                <a:tc>
                  <a:txBody>
                    <a:bodyPr wrap="square"/>
                    <a:lstStyle/>
                    <a:p>
                      <a:pPr algn="l"/>
                      <a:r>
                        <a:rPr sz="1050" b="0" i="0">
                          <a:solidFill>
                            <a:srgbClr val="000000"/>
                          </a:solidFill>
                          <a:latin typeface="Calibri"/>
                        </a:rPr>
                        <a:t>Table 346: Northern Africa Heavy Commercial Vehicle EPS Market Volume, 2021-2036 By Demand Type</a:t>
                      </a:r>
                      <a:endParaRPr sz="1050"/>
                    </a:p>
                  </a:txBody>
                  <a:tcPr marL="9525" marR="9525" marT="9525" marB="0" anchor="ctr"/>
                </a:tc>
              </a:tr>
              <a:tr h="336334">
                <a:tc>
                  <a:txBody>
                    <a:bodyPr wrap="square"/>
                    <a:lstStyle/>
                    <a:p>
                      <a:pPr algn="l"/>
                      <a:r>
                        <a:rPr sz="1050" b="0" i="0">
                          <a:solidFill>
                            <a:srgbClr val="000000"/>
                          </a:solidFill>
                          <a:latin typeface="Calibri"/>
                        </a:rPr>
                        <a:t>Table 347: South Africa Heavy Commercial Vehicle EPS Market Value, 2021-2036 By System Architecture</a:t>
                      </a:r>
                      <a:endParaRPr sz="1050"/>
                    </a:p>
                  </a:txBody>
                  <a:tcPr marL="9525" marR="9525" marT="9525" marB="0" anchor="ctr"/>
                </a:tc>
              </a:tr>
              <a:tr h="336334">
                <a:tc>
                  <a:txBody>
                    <a:bodyPr wrap="square"/>
                    <a:lstStyle/>
                    <a:p>
                      <a:pPr algn="l"/>
                      <a:r>
                        <a:rPr sz="1050" b="0" i="0">
                          <a:solidFill>
                            <a:srgbClr val="000000"/>
                          </a:solidFill>
                          <a:latin typeface="Calibri"/>
                        </a:rPr>
                        <a:t>Table 348: South Africa Heavy Commercial Vehicle EPS Market Volume, 2021-2036 By System Architecture</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(8/8)</a:t>
            </a:r>
          </a:p>
        </p:txBody>
      </p:sp>
      <p:graphicFrame>
        <p:nvGraphicFramePr>
          <p:cNvPr id="9" name="FMI Contents Table"/>
          <p:cNvGraphicFramePr>
            <a:graphicFrameLocks noGrp="1"/>
          </p:cNvGraphicFramePr>
          <p:nvPr/>
        </p:nvGraphicFramePr>
        <p:xfrm>
          <a:off x="142875" y="981075"/>
          <a:ext cx="5876925" cy="1653544"/>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349: South Africa Heavy Commercial Vehicle EPS Market Value, 2021-2036 By Vehicle Type</a:t>
                      </a:r>
                      <a:endParaRPr sz="1050"/>
                    </a:p>
                  </a:txBody>
                  <a:tcPr marL="9525" marR="9525" marT="9525" marB="0" anchor="ctr"/>
                </a:tc>
              </a:tr>
              <a:tr h="166688">
                <a:tc>
                  <a:txBody>
                    <a:bodyPr wrap="square"/>
                    <a:lstStyle/>
                    <a:p>
                      <a:pPr algn="l"/>
                      <a:r>
                        <a:rPr sz="1050" b="0" i="0">
                          <a:solidFill>
                            <a:srgbClr val="000000"/>
                          </a:solidFill>
                          <a:latin typeface="Calibri"/>
                        </a:rPr>
                        <a:t>Table 350: South Africa Heavy Commercial Vehicle EPS Market Volume, 2021-2036 By Vehicle Type</a:t>
                      </a:r>
                      <a:endParaRPr sz="1050"/>
                    </a:p>
                  </a:txBody>
                  <a:tcPr marL="9525" marR="9525" marT="9525" marB="0" anchor="ctr"/>
                </a:tc>
              </a:tr>
              <a:tr h="326708">
                <a:tc>
                  <a:txBody>
                    <a:bodyPr wrap="square"/>
                    <a:lstStyle/>
                    <a:p>
                      <a:pPr algn="l"/>
                      <a:r>
                        <a:rPr sz="1050" b="0" i="0">
                          <a:solidFill>
                            <a:srgbClr val="000000"/>
                          </a:solidFill>
                          <a:latin typeface="Calibri"/>
                        </a:rPr>
                        <a:t>Table 351: South Africa Heavy Commercial Vehicle EPS Market Value, 2021-2036 By Gross Vehicle Weight</a:t>
                      </a:r>
                      <a:endParaRPr sz="1050"/>
                    </a:p>
                  </a:txBody>
                  <a:tcPr marL="9525" marR="9525" marT="9525" marB="0" anchor="ctr"/>
                </a:tc>
              </a:tr>
              <a:tr h="326708">
                <a:tc>
                  <a:txBody>
                    <a:bodyPr wrap="square"/>
                    <a:lstStyle/>
                    <a:p>
                      <a:pPr algn="l"/>
                      <a:r>
                        <a:rPr sz="1050" b="0" i="0">
                          <a:solidFill>
                            <a:srgbClr val="000000"/>
                          </a:solidFill>
                          <a:latin typeface="Calibri"/>
                        </a:rPr>
                        <a:t>Table 352: South Africa Heavy Commercial Vehicle EPS Market Volume, 2021-2036 By Gross Vehicle Weight</a:t>
                      </a:r>
                      <a:endParaRPr sz="1050"/>
                    </a:p>
                  </a:txBody>
                  <a:tcPr marL="9525" marR="9525" marT="9525" marB="0" anchor="ctr"/>
                </a:tc>
              </a:tr>
              <a:tr h="166688">
                <a:tc>
                  <a:txBody>
                    <a:bodyPr wrap="square"/>
                    <a:lstStyle/>
                    <a:p>
                      <a:pPr algn="l"/>
                      <a:r>
                        <a:rPr sz="1050" b="0" i="0">
                          <a:solidFill>
                            <a:srgbClr val="000000"/>
                          </a:solidFill>
                          <a:latin typeface="Calibri"/>
                        </a:rPr>
                        <a:t>Table 353: South Africa Heavy Commercial Vehicle EPS Market Value, 2021-2036 By Propulsion Type</a:t>
                      </a:r>
                      <a:endParaRPr sz="1050"/>
                    </a:p>
                  </a:txBody>
                  <a:tcPr marL="9525" marR="9525" marT="9525" marB="0" anchor="ctr"/>
                </a:tc>
              </a:tr>
              <a:tr h="166688">
                <a:tc>
                  <a:txBody>
                    <a:bodyPr wrap="square"/>
                    <a:lstStyle/>
                    <a:p>
                      <a:pPr algn="l"/>
                      <a:r>
                        <a:rPr sz="1050" b="0" i="0">
                          <a:solidFill>
                            <a:srgbClr val="000000"/>
                          </a:solidFill>
                          <a:latin typeface="Calibri"/>
                        </a:rPr>
                        <a:t>Table 354: South Africa Heavy Commercial Vehicle EPS Market Volume, 2021-2036 By Propulsion Type</a:t>
                      </a:r>
                      <a:endParaRPr sz="1050"/>
                    </a:p>
                  </a:txBody>
                  <a:tcPr marL="9525" marR="9525" marT="9525" marB="0" anchor="ctr"/>
                </a:tc>
              </a:tr>
              <a:tr h="166688">
                <a:tc>
                  <a:txBody>
                    <a:bodyPr wrap="square"/>
                    <a:lstStyle/>
                    <a:p>
                      <a:pPr algn="l"/>
                      <a:r>
                        <a:rPr sz="1050" b="0" i="0">
                          <a:solidFill>
                            <a:srgbClr val="000000"/>
                          </a:solidFill>
                          <a:latin typeface="Calibri"/>
                        </a:rPr>
                        <a:t>Table 355: South Africa Heavy Commercial Vehicle EPS Market Value, 2021-2036 By Demand Type</a:t>
                      </a:r>
                      <a:endParaRPr sz="1050"/>
                    </a:p>
                  </a:txBody>
                  <a:tcPr marL="9525" marR="9525" marT="9525" marB="0" anchor="ctr"/>
                </a:tc>
              </a:tr>
              <a:tr h="166688">
                <a:tc>
                  <a:txBody>
                    <a:bodyPr wrap="square"/>
                    <a:lstStyle/>
                    <a:p>
                      <a:pPr algn="l"/>
                      <a:r>
                        <a:rPr sz="1050" b="0" i="0">
                          <a:solidFill>
                            <a:srgbClr val="000000"/>
                          </a:solidFill>
                          <a:latin typeface="Calibri"/>
                        </a:rPr>
                        <a:t>Table 356: South Africa Heavy Commercial Vehicle EPS Market Volume, 2021-2036 By Propulsion Type</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11400"/>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2616200"/>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321050"/>
            <a:ext cx="7124700" cy="26543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System Architecture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Vehicle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Gross Vehicle Weight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Propulsion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Demand Type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463652" cy="186689"/>
          </a:xfrm>
          <a:prstGeom prst="rect">
            <a:avLst/>
          </a:prstGeom>
          <a:noFill/>
        </p:spPr>
        <p:txBody>
          <a:bodyPr wrap="none" lIns="0" rIns="0" tIns="0" bIns="0">
            <a:spAutoFit/>
          </a:bodyPr>
          <a:lstStyle/>
          <a:p>
            <a:r>
              <a:rPr sz="1100" b="0">
                <a:solidFill>
                  <a:srgbClr val="2E2E2E"/>
                </a:solidFill>
                <a:latin typeface="Calibri"/>
              </a:rPr>
              <a:t>Global heavy commercial vehicle EPS market is projected to</a:t>
            </a:r>
          </a:p>
        </p:txBody>
      </p:sp>
      <p:sp>
        <p:nvSpPr>
          <p:cNvPr id="35" name="TextBox 34"/>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6" name="Picture 35" descr="lock.png"/>
          <p:cNvPicPr>
            <a:picLocks noChangeAspect="1"/>
          </p:cNvPicPr>
          <p:nvPr/>
        </p:nvPicPr>
        <p:blipFill>
          <a:blip r:embed="rId6"/>
          <a:stretch>
            <a:fillRect/>
          </a:stretch>
        </p:blipFill>
        <p:spPr>
          <a:xfrm>
            <a:off x="8509166" y="2204848"/>
            <a:ext cx="128699" cy="187198"/>
          </a:xfrm>
          <a:prstGeom prst="rect">
            <a:avLst/>
          </a:prstGeom>
        </p:spPr>
      </p:pic>
      <p:sp>
        <p:nvSpPr>
          <p:cNvPr id="37" name="TextBox 36"/>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848100" cy="186689"/>
          </a:xfrm>
          <a:prstGeom prst="rect">
            <a:avLst/>
          </a:prstGeom>
          <a:noFill/>
        </p:spPr>
        <p:txBody>
          <a:bodyPr wrap="none" lIns="0" rIns="0" tIns="0" bIns="0">
            <a:spAutoFit/>
          </a:bodyPr>
          <a:lstStyle/>
          <a:p>
            <a:r>
              <a:rPr sz="1100" b="0">
                <a:solidFill>
                  <a:srgbClr val="2E2E2E"/>
                </a:solidFill>
                <a:latin typeface="Calibri"/>
              </a:rPr>
              <a:t>2036. Global heavy commercial vehicle EPS market volume stood at</a:t>
            </a:r>
          </a:p>
        </p:txBody>
      </p:sp>
      <p:pic>
        <p:nvPicPr>
          <p:cNvPr id="39" name="Picture 38" descr="lock.png"/>
          <p:cNvPicPr>
            <a:picLocks noChangeAspect="1"/>
          </p:cNvPicPr>
          <p:nvPr/>
        </p:nvPicPr>
        <p:blipFill>
          <a:blip r:embed="rId6"/>
          <a:stretch>
            <a:fillRect/>
          </a:stretch>
        </p:blipFill>
        <p:spPr>
          <a:xfrm>
            <a:off x="8035157" y="2540128"/>
            <a:ext cx="128699" cy="187198"/>
          </a:xfrm>
          <a:prstGeom prst="rect">
            <a:avLst/>
          </a:prstGeom>
        </p:spPr>
      </p:pic>
      <p:sp>
        <p:nvSpPr>
          <p:cNvPr id="40" name="TextBox 39"/>
          <p:cNvSpPr txBox="1"/>
          <p:nvPr/>
        </p:nvSpPr>
        <p:spPr>
          <a:xfrm>
            <a:off x="8202653" y="2549907"/>
            <a:ext cx="2245097" cy="186689"/>
          </a:xfrm>
          <a:prstGeom prst="rect">
            <a:avLst/>
          </a:prstGeom>
          <a:noFill/>
        </p:spPr>
        <p:txBody>
          <a:bodyPr wrap="none" lIns="0" rIns="0" tIns="0" bIns="0">
            <a:spAutoFit/>
          </a:bodyPr>
          <a:lstStyle/>
          <a:p>
            <a:r>
              <a:rPr sz="1100" b="0">
                <a:solidFill>
                  <a:srgbClr val="2E2E2E"/>
                </a:solidFill>
                <a:latin typeface="Calibri"/>
              </a:rPr>
              <a:t>Units in 2025 and is expected to reach</a:t>
            </a:r>
          </a:p>
        </p:txBody>
      </p:sp>
      <p:pic>
        <p:nvPicPr>
          <p:cNvPr id="41" name="Picture 40" descr="lock.png"/>
          <p:cNvPicPr>
            <a:picLocks noChangeAspect="1"/>
          </p:cNvPicPr>
          <p:nvPr/>
        </p:nvPicPr>
        <p:blipFill>
          <a:blip r:embed="rId6"/>
          <a:stretch>
            <a:fillRect/>
          </a:stretch>
        </p:blipFill>
        <p:spPr>
          <a:xfrm>
            <a:off x="10395802" y="2540128"/>
            <a:ext cx="128699" cy="187198"/>
          </a:xfrm>
          <a:prstGeom prst="rect">
            <a:avLst/>
          </a:prstGeom>
        </p:spPr>
      </p:pic>
      <p:sp>
        <p:nvSpPr>
          <p:cNvPr id="42" name="TextBox 41"/>
          <p:cNvSpPr txBox="1"/>
          <p:nvPr/>
        </p:nvSpPr>
        <p:spPr>
          <a:xfrm>
            <a:off x="10563297" y="2549907"/>
            <a:ext cx="1139775" cy="186689"/>
          </a:xfrm>
          <a:prstGeom prst="rect">
            <a:avLst/>
          </a:prstGeom>
          <a:noFill/>
        </p:spPr>
        <p:txBody>
          <a:bodyPr wrap="none" lIns="0" rIns="0" tIns="0" bIns="0">
            <a:spAutoFit/>
          </a:bodyPr>
          <a:lstStyle/>
          <a:p>
            <a:r>
              <a:rPr sz="1100" b="0">
                <a:solidFill>
                  <a:srgbClr val="2E2E2E"/>
                </a:solidFill>
                <a:latin typeface="Calibri"/>
              </a:rPr>
              <a:t>Units by 2036 end,</a:t>
            </a:r>
          </a:p>
        </p:txBody>
      </p:sp>
      <p:sp>
        <p:nvSpPr>
          <p:cNvPr id="43" name="TextBox 42"/>
          <p:cNvSpPr txBox="1"/>
          <p:nvPr/>
        </p:nvSpPr>
        <p:spPr>
          <a:xfrm>
            <a:off x="8048625" y="2717547"/>
            <a:ext cx="787234" cy="186689"/>
          </a:xfrm>
          <a:prstGeom prst="rect">
            <a:avLst/>
          </a:prstGeom>
          <a:noFill/>
        </p:spPr>
        <p:txBody>
          <a:bodyPr wrap="none" lIns="0" rIns="0" tIns="0" bIns="0">
            <a:spAutoFit/>
          </a:bodyPr>
          <a:lstStyle/>
          <a:p>
            <a:r>
              <a:rPr sz="1100" b="0">
                <a:solidFill>
                  <a:srgbClr val="2E2E2E"/>
                </a:solidFill>
                <a:latin typeface="Calibri"/>
              </a:rPr>
              <a:t>at a CAGR of</a:t>
            </a:r>
          </a:p>
        </p:txBody>
      </p:sp>
      <p:pic>
        <p:nvPicPr>
          <p:cNvPr id="44" name="Picture 43" descr="lock.png"/>
          <p:cNvPicPr>
            <a:picLocks noChangeAspect="1"/>
          </p:cNvPicPr>
          <p:nvPr/>
        </p:nvPicPr>
        <p:blipFill>
          <a:blip r:embed="rId6"/>
          <a:stretch>
            <a:fillRect/>
          </a:stretch>
        </p:blipFill>
        <p:spPr>
          <a:xfrm>
            <a:off x="8783910" y="2707768"/>
            <a:ext cx="128699" cy="187198"/>
          </a:xfrm>
          <a:prstGeom prst="rect">
            <a:avLst/>
          </a:prstGeom>
        </p:spPr>
      </p:pic>
      <p:sp>
        <p:nvSpPr>
          <p:cNvPr id="45" name="TextBox 44"/>
          <p:cNvSpPr txBox="1"/>
          <p:nvPr/>
        </p:nvSpPr>
        <p:spPr>
          <a:xfrm>
            <a:off x="8951406"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7" name="TextBox 46"/>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562287" cy="194310"/>
          </a:xfrm>
          <a:prstGeom prst="rect">
            <a:avLst/>
          </a:prstGeom>
          <a:noFill/>
        </p:spPr>
        <p:txBody>
          <a:bodyPr wrap="none" lIns="0" rIns="0" tIns="0" bIns="0">
            <a:spAutoFit/>
          </a:bodyPr>
          <a:lstStyle/>
          <a:p>
            <a:r>
              <a:rPr sz="1150" b="0">
                <a:solidFill>
                  <a:srgbClr val="2E2E2E"/>
                </a:solidFill>
                <a:latin typeface="Calibri"/>
              </a:rPr>
              <a:t>▪ Demand concentrates in 'Recirculating Ball and Nut Type'</a:t>
            </a:r>
          </a:p>
        </p:txBody>
      </p:sp>
      <p:sp>
        <p:nvSpPr>
          <p:cNvPr id="52" name="TextBox 51"/>
          <p:cNvSpPr txBox="1"/>
          <p:nvPr/>
        </p:nvSpPr>
        <p:spPr>
          <a:xfrm>
            <a:off x="8048625" y="4859572"/>
            <a:ext cx="1723256" cy="194310"/>
          </a:xfrm>
          <a:prstGeom prst="rect">
            <a:avLst/>
          </a:prstGeom>
          <a:noFill/>
        </p:spPr>
        <p:txBody>
          <a:bodyPr wrap="none" lIns="0" rIns="0" tIns="0" bIns="0">
            <a:spAutoFit/>
          </a:bodyPr>
          <a:lstStyle/>
          <a:p>
            <a:r>
              <a:rPr sz="1150" b="0">
                <a:solidFill>
                  <a:srgbClr val="2E2E2E"/>
                </a:solidFill>
                <a:latin typeface="Calibri"/>
              </a:rPr>
              <a:t>within System Architecture.</a:t>
            </a:r>
          </a:p>
        </p:txBody>
      </p:sp>
      <p:sp>
        <p:nvSpPr>
          <p:cNvPr id="53" name="TextBox 5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System Architecture  ·  range across 2021–2036 (US$/Units)</a:t>
            </a:r>
          </a:p>
        </p:txBody>
      </p:sp>
      <p:cxnSp>
        <p:nvCxnSpPr>
          <p:cNvPr id="12" name="Connector 11"/>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4"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6" name="Connector 25"/>
          <p:cNvCxnSpPr/>
          <p:nvPr/>
        </p:nvCxnSpPr>
        <p:spPr>
          <a:xfrm flipV="1">
            <a:off x="1533525" y="3027478"/>
            <a:ext cx="0" cy="9207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020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02080" y="30274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314450" y="3047750"/>
            <a:ext cx="438150" cy="4612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314450" y="306991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875078"/>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3286125" y="1670329"/>
            <a:ext cx="0" cy="19035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154680" y="186068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1546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067050" y="1712680"/>
            <a:ext cx="438150" cy="9540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067050" y="175866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409825" y="1517929"/>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5038725" y="2200340"/>
            <a:ext cx="0" cy="13419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907280" y="233453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907280" y="220034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819650" y="2229922"/>
            <a:ext cx="438150" cy="6722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4819650" y="226223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162425" y="2047940"/>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6791325" y="1775210"/>
            <a:ext cx="0" cy="17787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659880" y="195308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659880" y="177521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6572250" y="1815310"/>
            <a:ext cx="438150" cy="8911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6572250" y="185845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915025" y="1622810"/>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50" name="TextBox 49"/>
          <p:cNvSpPr txBox="1"/>
          <p:nvPr/>
        </p:nvSpPr>
        <p:spPr>
          <a:xfrm>
            <a:off x="6572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Recirculating Ball an…</a:t>
            </a:r>
          </a:p>
        </p:txBody>
      </p:sp>
      <p:sp>
        <p:nvSpPr>
          <p:cNvPr id="51" name="TextBox 50"/>
          <p:cNvSpPr txBox="1"/>
          <p:nvPr/>
        </p:nvSpPr>
        <p:spPr>
          <a:xfrm>
            <a:off x="24098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Rack Assist</a:t>
            </a:r>
          </a:p>
        </p:txBody>
      </p:sp>
      <p:sp>
        <p:nvSpPr>
          <p:cNvPr id="52" name="TextBox 51"/>
          <p:cNvSpPr txBox="1"/>
          <p:nvPr/>
        </p:nvSpPr>
        <p:spPr>
          <a:xfrm>
            <a:off x="41624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Column Assist</a:t>
            </a:r>
          </a:p>
        </p:txBody>
      </p:sp>
      <p:sp>
        <p:nvSpPr>
          <p:cNvPr id="53" name="TextBox 52"/>
          <p:cNvSpPr txBox="1"/>
          <p:nvPr/>
        </p:nvSpPr>
        <p:spPr>
          <a:xfrm>
            <a:off x="59150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Steer by Wire</a:t>
            </a:r>
          </a:p>
        </p:txBody>
      </p:sp>
      <p:sp>
        <p:nvSpPr>
          <p:cNvPr id="54" name="Rounded Rectangle 53"/>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56" name="Connector 55"/>
          <p:cNvCxnSpPr/>
          <p:nvPr/>
        </p:nvCxnSpPr>
        <p:spPr>
          <a:xfrm>
            <a:off x="619125" y="431748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19125" y="472862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19125" y="55509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19125" y="596207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4317482"/>
            <a:ext cx="0" cy="1644588"/>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90550" y="431748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90550" y="472862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90550" y="555092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596207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7" name="FMI Scale tick"/>
          <p:cNvSpPr txBox="1"/>
          <p:nvPr/>
        </p:nvSpPr>
        <p:spPr>
          <a:xfrm>
            <a:off x="219075" y="4250807"/>
            <a:ext cx="361950" cy="133350"/>
          </a:xfrm>
          <a:prstGeom prst="rect">
            <a:avLst/>
          </a:prstGeom>
          <a:noFill/>
        </p:spPr>
        <p:txBody>
          <a:bodyPr wrap="none" lIns="0" rIns="0" tIns="0" bIns="0" anchor="ctr">
            <a:spAutoFit/>
          </a:bodyPr>
          <a:lstStyle/>
          <a:p>
            <a:pPr algn="r"/>
            <a:r>
              <a:rPr sz="1100" b="0">
                <a:solidFill>
                  <a:srgbClr val="6C7A89"/>
                </a:solidFill>
                <a:latin typeface="Calibri"/>
              </a:rPr>
              <a:t>+57%</a:t>
            </a:r>
          </a:p>
        </p:txBody>
      </p:sp>
      <p:sp>
        <p:nvSpPr>
          <p:cNvPr id="68" name="FMI Scale tick"/>
          <p:cNvSpPr txBox="1"/>
          <p:nvPr/>
        </p:nvSpPr>
        <p:spPr>
          <a:xfrm>
            <a:off x="219075" y="4661954"/>
            <a:ext cx="361950" cy="133350"/>
          </a:xfrm>
          <a:prstGeom prst="rect">
            <a:avLst/>
          </a:prstGeom>
          <a:noFill/>
        </p:spPr>
        <p:txBody>
          <a:bodyPr wrap="none" lIns="0" rIns="0" tIns="0" bIns="0" anchor="ctr">
            <a:spAutoFit/>
          </a:bodyPr>
          <a:lstStyle/>
          <a:p>
            <a:pPr algn="r"/>
            <a:r>
              <a:rPr sz="1100" b="0">
                <a:solidFill>
                  <a:srgbClr val="6C7A89"/>
                </a:solidFill>
                <a:latin typeface="Calibri"/>
              </a:rPr>
              <a:t>+29%</a:t>
            </a:r>
          </a:p>
        </p:txBody>
      </p:sp>
      <p:sp>
        <p:nvSpPr>
          <p:cNvPr id="69"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70" name="FMI Scale tick"/>
          <p:cNvSpPr txBox="1"/>
          <p:nvPr/>
        </p:nvSpPr>
        <p:spPr>
          <a:xfrm>
            <a:off x="219075" y="5484248"/>
            <a:ext cx="361950" cy="133350"/>
          </a:xfrm>
          <a:prstGeom prst="rect">
            <a:avLst/>
          </a:prstGeom>
          <a:noFill/>
        </p:spPr>
        <p:txBody>
          <a:bodyPr wrap="none" lIns="0" rIns="0" tIns="0" bIns="0" anchor="ctr">
            <a:spAutoFit/>
          </a:bodyPr>
          <a:lstStyle/>
          <a:p>
            <a:pPr algn="r"/>
            <a:r>
              <a:rPr sz="1100" b="0">
                <a:solidFill>
                  <a:srgbClr val="6C7A89"/>
                </a:solidFill>
                <a:latin typeface="Calibri"/>
              </a:rPr>
              <a:t>-29%</a:t>
            </a:r>
          </a:p>
        </p:txBody>
      </p:sp>
      <p:sp>
        <p:nvSpPr>
          <p:cNvPr id="71" name="FMI Scale tick"/>
          <p:cNvSpPr txBox="1"/>
          <p:nvPr/>
        </p:nvSpPr>
        <p:spPr>
          <a:xfrm>
            <a:off x="219075" y="5895395"/>
            <a:ext cx="361950" cy="133350"/>
          </a:xfrm>
          <a:prstGeom prst="rect">
            <a:avLst/>
          </a:prstGeom>
          <a:noFill/>
        </p:spPr>
        <p:txBody>
          <a:bodyPr wrap="none" lIns="0" rIns="0" tIns="0" bIns="0" anchor="ctr">
            <a:spAutoFit/>
          </a:bodyPr>
          <a:lstStyle/>
          <a:p>
            <a:pPr algn="r"/>
            <a:r>
              <a:rPr sz="1100" b="0">
                <a:solidFill>
                  <a:srgbClr val="6C7A89"/>
                </a:solidFill>
                <a:latin typeface="Calibri"/>
              </a:rPr>
              <a:t>-57%</a:t>
            </a:r>
          </a:p>
        </p:txBody>
      </p:sp>
      <p:cxnSp>
        <p:nvCxnSpPr>
          <p:cNvPr id="72" name="Connector 71"/>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893989"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619125" y="428058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FMI Data Label"/>
          <p:cNvSpPr txBox="1"/>
          <p:nvPr/>
        </p:nvSpPr>
        <p:spPr>
          <a:xfrm>
            <a:off x="1626054" y="4994539"/>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6" name="Rectangle 75"/>
          <p:cNvSpPr/>
          <p:nvPr/>
        </p:nvSpPr>
        <p:spPr>
          <a:xfrm>
            <a:off x="2907846" y="5139776"/>
            <a:ext cx="457200" cy="40072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MI Data Label"/>
          <p:cNvSpPr txBox="1"/>
          <p:nvPr/>
        </p:nvSpPr>
        <p:spPr>
          <a:xfrm>
            <a:off x="2632982" y="5550027"/>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8" name="Rectangle 77"/>
          <p:cNvSpPr/>
          <p:nvPr/>
        </p:nvSpPr>
        <p:spPr>
          <a:xfrm>
            <a:off x="3914775" y="5139776"/>
            <a:ext cx="457200" cy="51540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MI Data Label"/>
          <p:cNvSpPr txBox="1"/>
          <p:nvPr/>
        </p:nvSpPr>
        <p:spPr>
          <a:xfrm>
            <a:off x="3639911" y="5664709"/>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0" name="Rectangle 79"/>
          <p:cNvSpPr/>
          <p:nvPr/>
        </p:nvSpPr>
        <p:spPr>
          <a:xfrm>
            <a:off x="4921704" y="4582018"/>
            <a:ext cx="457200" cy="55775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MI Data Label"/>
          <p:cNvSpPr txBox="1"/>
          <p:nvPr/>
        </p:nvSpPr>
        <p:spPr>
          <a:xfrm>
            <a:off x="4646839" y="443914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2" name="Rectangle 81"/>
          <p:cNvSpPr/>
          <p:nvPr/>
        </p:nvSpPr>
        <p:spPr>
          <a:xfrm>
            <a:off x="5928632" y="4953835"/>
            <a:ext cx="457200" cy="18594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MI Data Label"/>
          <p:cNvSpPr txBox="1"/>
          <p:nvPr/>
        </p:nvSpPr>
        <p:spPr>
          <a:xfrm>
            <a:off x="5653768" y="4810960"/>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4" name="Rectangle 83"/>
          <p:cNvSpPr/>
          <p:nvPr/>
        </p:nvSpPr>
        <p:spPr>
          <a:xfrm>
            <a:off x="6935561" y="5139776"/>
            <a:ext cx="457200" cy="7693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MI Data Label"/>
          <p:cNvSpPr txBox="1"/>
          <p:nvPr/>
        </p:nvSpPr>
        <p:spPr>
          <a:xfrm>
            <a:off x="6660696" y="5226238"/>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6" name="TextBox 85"/>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87" name="TextBox 86"/>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88" name="TextBox 87"/>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89" name="TextBox 88"/>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90" name="TextBox 89"/>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91" name="TextBox 90"/>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92" name="TextBox 91"/>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93" name="Rounded Rectangle 92"/>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95" name="Rectangle 94"/>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8" name="Picture 97" descr="lock.png"/>
          <p:cNvPicPr>
            <a:picLocks noChangeAspect="1"/>
          </p:cNvPicPr>
          <p:nvPr/>
        </p:nvPicPr>
        <p:blipFill>
          <a:blip r:embed="rId4"/>
          <a:stretch>
            <a:fillRect/>
          </a:stretch>
        </p:blipFill>
        <p:spPr>
          <a:xfrm>
            <a:off x="1469175" y="2848154"/>
            <a:ext cx="128699" cy="187198"/>
          </a:xfrm>
          <a:prstGeom prst="rect">
            <a:avLst/>
          </a:prstGeom>
        </p:spPr>
      </p:pic>
      <p:pic>
        <p:nvPicPr>
          <p:cNvPr id="99" name="Picture 98" descr="lock.png"/>
          <p:cNvPicPr>
            <a:picLocks noChangeAspect="1"/>
          </p:cNvPicPr>
          <p:nvPr/>
        </p:nvPicPr>
        <p:blipFill>
          <a:blip r:embed="rId4"/>
          <a:stretch>
            <a:fillRect/>
          </a:stretch>
        </p:blipFill>
        <p:spPr>
          <a:xfrm>
            <a:off x="3221775" y="1491005"/>
            <a:ext cx="128699" cy="187198"/>
          </a:xfrm>
          <a:prstGeom prst="rect">
            <a:avLst/>
          </a:prstGeom>
        </p:spPr>
      </p:pic>
      <p:pic>
        <p:nvPicPr>
          <p:cNvPr id="100" name="Picture 99" descr="lock.png"/>
          <p:cNvPicPr>
            <a:picLocks noChangeAspect="1"/>
          </p:cNvPicPr>
          <p:nvPr/>
        </p:nvPicPr>
        <p:blipFill>
          <a:blip r:embed="rId4"/>
          <a:stretch>
            <a:fillRect/>
          </a:stretch>
        </p:blipFill>
        <p:spPr>
          <a:xfrm>
            <a:off x="4974375" y="2021016"/>
            <a:ext cx="128699" cy="187198"/>
          </a:xfrm>
          <a:prstGeom prst="rect">
            <a:avLst/>
          </a:prstGeom>
        </p:spPr>
      </p:pic>
      <p:pic>
        <p:nvPicPr>
          <p:cNvPr id="101" name="Picture 100" descr="lock.png"/>
          <p:cNvPicPr>
            <a:picLocks noChangeAspect="1"/>
          </p:cNvPicPr>
          <p:nvPr/>
        </p:nvPicPr>
        <p:blipFill>
          <a:blip r:embed="rId4"/>
          <a:stretch>
            <a:fillRect/>
          </a:stretch>
        </p:blipFill>
        <p:spPr>
          <a:xfrm>
            <a:off x="6726975" y="1595886"/>
            <a:ext cx="128699" cy="187198"/>
          </a:xfrm>
          <a:prstGeom prst="rect">
            <a:avLst/>
          </a:prstGeom>
        </p:spPr>
      </p:pic>
      <p:pic>
        <p:nvPicPr>
          <p:cNvPr id="102" name="Picture 101" descr="lock.png"/>
          <p:cNvPicPr>
            <a:picLocks noChangeAspect="1"/>
          </p:cNvPicPr>
          <p:nvPr/>
        </p:nvPicPr>
        <p:blipFill>
          <a:blip r:embed="rId4"/>
          <a:stretch>
            <a:fillRect/>
          </a:stretch>
        </p:blipFill>
        <p:spPr>
          <a:xfrm>
            <a:off x="1058240" y="4253659"/>
            <a:ext cx="128699" cy="187198"/>
          </a:xfrm>
          <a:prstGeom prst="rect">
            <a:avLst/>
          </a:prstGeom>
        </p:spPr>
      </p:pic>
      <p:pic>
        <p:nvPicPr>
          <p:cNvPr id="103" name="Picture 102" descr="lock.png"/>
          <p:cNvPicPr>
            <a:picLocks noChangeAspect="1"/>
          </p:cNvPicPr>
          <p:nvPr/>
        </p:nvPicPr>
        <p:blipFill>
          <a:blip r:embed="rId4"/>
          <a:stretch>
            <a:fillRect/>
          </a:stretch>
        </p:blipFill>
        <p:spPr>
          <a:xfrm>
            <a:off x="2065168" y="4967614"/>
            <a:ext cx="128699" cy="187198"/>
          </a:xfrm>
          <a:prstGeom prst="rect">
            <a:avLst/>
          </a:prstGeom>
        </p:spPr>
      </p:pic>
      <p:pic>
        <p:nvPicPr>
          <p:cNvPr id="104" name="Picture 103" descr="lock.png"/>
          <p:cNvPicPr>
            <a:picLocks noChangeAspect="1"/>
          </p:cNvPicPr>
          <p:nvPr/>
        </p:nvPicPr>
        <p:blipFill>
          <a:blip r:embed="rId4"/>
          <a:stretch>
            <a:fillRect/>
          </a:stretch>
        </p:blipFill>
        <p:spPr>
          <a:xfrm>
            <a:off x="3072097" y="5523102"/>
            <a:ext cx="128699" cy="187198"/>
          </a:xfrm>
          <a:prstGeom prst="rect">
            <a:avLst/>
          </a:prstGeom>
        </p:spPr>
      </p:pic>
      <p:pic>
        <p:nvPicPr>
          <p:cNvPr id="105" name="Picture 104" descr="lock.png"/>
          <p:cNvPicPr>
            <a:picLocks noChangeAspect="1"/>
          </p:cNvPicPr>
          <p:nvPr/>
        </p:nvPicPr>
        <p:blipFill>
          <a:blip r:embed="rId4"/>
          <a:stretch>
            <a:fillRect/>
          </a:stretch>
        </p:blipFill>
        <p:spPr>
          <a:xfrm>
            <a:off x="4079026" y="5637785"/>
            <a:ext cx="128699" cy="187198"/>
          </a:xfrm>
          <a:prstGeom prst="rect">
            <a:avLst/>
          </a:prstGeom>
        </p:spPr>
      </p:pic>
      <p:pic>
        <p:nvPicPr>
          <p:cNvPr id="106" name="Picture 105" descr="lock.png"/>
          <p:cNvPicPr>
            <a:picLocks noChangeAspect="1"/>
          </p:cNvPicPr>
          <p:nvPr/>
        </p:nvPicPr>
        <p:blipFill>
          <a:blip r:embed="rId4"/>
          <a:stretch>
            <a:fillRect/>
          </a:stretch>
        </p:blipFill>
        <p:spPr>
          <a:xfrm>
            <a:off x="5085954" y="4412219"/>
            <a:ext cx="128699" cy="187198"/>
          </a:xfrm>
          <a:prstGeom prst="rect">
            <a:avLst/>
          </a:prstGeom>
        </p:spPr>
      </p:pic>
      <p:pic>
        <p:nvPicPr>
          <p:cNvPr id="107" name="Picture 106" descr="lock.png"/>
          <p:cNvPicPr>
            <a:picLocks noChangeAspect="1"/>
          </p:cNvPicPr>
          <p:nvPr/>
        </p:nvPicPr>
        <p:blipFill>
          <a:blip r:embed="rId4"/>
          <a:stretch>
            <a:fillRect/>
          </a:stretch>
        </p:blipFill>
        <p:spPr>
          <a:xfrm>
            <a:off x="6092883" y="4784035"/>
            <a:ext cx="128699" cy="187198"/>
          </a:xfrm>
          <a:prstGeom prst="rect">
            <a:avLst/>
          </a:prstGeom>
        </p:spPr>
      </p:pic>
      <p:pic>
        <p:nvPicPr>
          <p:cNvPr id="108" name="Picture 107" descr="lock.png"/>
          <p:cNvPicPr>
            <a:picLocks noChangeAspect="1"/>
          </p:cNvPicPr>
          <p:nvPr/>
        </p:nvPicPr>
        <p:blipFill>
          <a:blip r:embed="rId4"/>
          <a:stretch>
            <a:fillRect/>
          </a:stretch>
        </p:blipFill>
        <p:spPr>
          <a:xfrm>
            <a:off x="7099811" y="5199314"/>
            <a:ext cx="128699" cy="187198"/>
          </a:xfrm>
          <a:prstGeom prst="rect">
            <a:avLst/>
          </a:prstGeom>
        </p:spPr>
      </p:pic>
      <p:sp>
        <p:nvSpPr>
          <p:cNvPr id="109" name="TextBox 108"/>
          <p:cNvSpPr txBox="1"/>
          <p:nvPr/>
        </p:nvSpPr>
        <p:spPr>
          <a:xfrm>
            <a:off x="8048625" y="1471995"/>
            <a:ext cx="3447615" cy="194310"/>
          </a:xfrm>
          <a:prstGeom prst="rect">
            <a:avLst/>
          </a:prstGeom>
          <a:noFill/>
        </p:spPr>
        <p:txBody>
          <a:bodyPr wrap="none" lIns="0" rIns="0" tIns="0" bIns="0">
            <a:spAutoFit/>
          </a:bodyPr>
          <a:lstStyle/>
          <a:p>
            <a:r>
              <a:rPr sz="1150" b="0">
                <a:solidFill>
                  <a:srgbClr val="2E2E2E"/>
                </a:solidFill>
                <a:latin typeface="Calibri"/>
              </a:rPr>
              <a:t>Rack assist segment is expected to command the highest</a:t>
            </a:r>
          </a:p>
        </p:txBody>
      </p:sp>
      <p:sp>
        <p:nvSpPr>
          <p:cNvPr id="110" name="TextBox 109"/>
          <p:cNvSpPr txBox="1"/>
          <p:nvPr/>
        </p:nvSpPr>
        <p:spPr>
          <a:xfrm>
            <a:off x="8048625" y="1647255"/>
            <a:ext cx="1299083" cy="194310"/>
          </a:xfrm>
          <a:prstGeom prst="rect">
            <a:avLst/>
          </a:prstGeom>
          <a:noFill/>
        </p:spPr>
        <p:txBody>
          <a:bodyPr wrap="none" lIns="0" rIns="0" tIns="0" bIns="0">
            <a:spAutoFit/>
          </a:bodyPr>
          <a:lstStyle/>
          <a:p>
            <a:r>
              <a:rPr sz="1150" b="0">
                <a:solidFill>
                  <a:srgbClr val="2E2E2E"/>
                </a:solidFill>
                <a:latin typeface="Calibri"/>
              </a:rPr>
              <a:t>average price of US$</a:t>
            </a:r>
          </a:p>
        </p:txBody>
      </p:sp>
      <p:pic>
        <p:nvPicPr>
          <p:cNvPr id="111" name="Picture 110" descr="lock.png"/>
          <p:cNvPicPr>
            <a:picLocks noChangeAspect="1"/>
          </p:cNvPicPr>
          <p:nvPr/>
        </p:nvPicPr>
        <p:blipFill>
          <a:blip r:embed="rId4"/>
          <a:stretch>
            <a:fillRect/>
          </a:stretch>
        </p:blipFill>
        <p:spPr>
          <a:xfrm>
            <a:off x="9296862" y="1637031"/>
            <a:ext cx="134549" cy="195707"/>
          </a:xfrm>
          <a:prstGeom prst="rect">
            <a:avLst/>
          </a:prstGeom>
        </p:spPr>
      </p:pic>
      <p:sp>
        <p:nvSpPr>
          <p:cNvPr id="112" name="TextBox 111"/>
          <p:cNvSpPr txBox="1"/>
          <p:nvPr/>
        </p:nvSpPr>
        <p:spPr>
          <a:xfrm>
            <a:off x="9471971" y="1647255"/>
            <a:ext cx="2330236" cy="194310"/>
          </a:xfrm>
          <a:prstGeom prst="rect">
            <a:avLst/>
          </a:prstGeom>
          <a:noFill/>
        </p:spPr>
        <p:txBody>
          <a:bodyPr wrap="none" lIns="0" rIns="0" tIns="0" bIns="0">
            <a:spAutoFit/>
          </a:bodyPr>
          <a:lstStyle/>
          <a:p>
            <a:r>
              <a:rPr sz="1150" b="0">
                <a:solidFill>
                  <a:srgbClr val="2E2E2E"/>
                </a:solidFill>
                <a:latin typeface="Calibri"/>
              </a:rPr>
              <a:t>per Unit in 2036. Average selling price</a:t>
            </a:r>
          </a:p>
        </p:txBody>
      </p:sp>
      <p:sp>
        <p:nvSpPr>
          <p:cNvPr id="113" name="TextBox 112"/>
          <p:cNvSpPr txBox="1"/>
          <p:nvPr/>
        </p:nvSpPr>
        <p:spPr>
          <a:xfrm>
            <a:off x="8048625" y="1822515"/>
            <a:ext cx="3182615" cy="194310"/>
          </a:xfrm>
          <a:prstGeom prst="rect">
            <a:avLst/>
          </a:prstGeom>
          <a:noFill/>
        </p:spPr>
        <p:txBody>
          <a:bodyPr wrap="none" lIns="0" rIns="0" tIns="0" bIns="0">
            <a:spAutoFit/>
          </a:bodyPr>
          <a:lstStyle/>
          <a:p>
            <a:r>
              <a:rPr sz="1150" b="0">
                <a:solidFill>
                  <a:srgbClr val="2E2E2E"/>
                </a:solidFill>
                <a:latin typeface="Calibri"/>
              </a:rPr>
              <a:t>of heavy commercial vehicle EPS is estimated at US$</a:t>
            </a:r>
          </a:p>
        </p:txBody>
      </p:sp>
      <p:pic>
        <p:nvPicPr>
          <p:cNvPr id="114" name="Picture 113" descr="lock.png"/>
          <p:cNvPicPr>
            <a:picLocks noChangeAspect="1"/>
          </p:cNvPicPr>
          <p:nvPr/>
        </p:nvPicPr>
        <p:blipFill>
          <a:blip r:embed="rId4"/>
          <a:stretch>
            <a:fillRect/>
          </a:stretch>
        </p:blipFill>
        <p:spPr>
          <a:xfrm>
            <a:off x="11180393" y="1812291"/>
            <a:ext cx="134549" cy="195707"/>
          </a:xfrm>
          <a:prstGeom prst="rect">
            <a:avLst/>
          </a:prstGeom>
        </p:spPr>
      </p:pic>
      <p:sp>
        <p:nvSpPr>
          <p:cNvPr id="115" name="TextBox 114"/>
          <p:cNvSpPr txBox="1"/>
          <p:nvPr/>
        </p:nvSpPr>
        <p:spPr>
          <a:xfrm>
            <a:off x="11355503"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16" name="TextBox 115"/>
          <p:cNvSpPr txBox="1"/>
          <p:nvPr/>
        </p:nvSpPr>
        <p:spPr>
          <a:xfrm>
            <a:off x="8048625" y="1997775"/>
            <a:ext cx="3698924" cy="194310"/>
          </a:xfrm>
          <a:prstGeom prst="rect">
            <a:avLst/>
          </a:prstGeom>
          <a:noFill/>
        </p:spPr>
        <p:txBody>
          <a:bodyPr wrap="none" lIns="0" rIns="0" tIns="0" bIns="0">
            <a:spAutoFit/>
          </a:bodyPr>
          <a:lstStyle/>
          <a:p>
            <a:r>
              <a:rPr sz="1150" b="0">
                <a:solidFill>
                  <a:srgbClr val="2E2E2E"/>
                </a:solidFill>
                <a:latin typeface="Calibri"/>
              </a:rPr>
              <a:t>Unit in 2025 and is projected to remain broadly stable at US$</a:t>
            </a:r>
          </a:p>
        </p:txBody>
      </p:sp>
      <p:pic>
        <p:nvPicPr>
          <p:cNvPr id="117" name="Picture 116" descr="lock.png"/>
          <p:cNvPicPr>
            <a:picLocks noChangeAspect="1"/>
          </p:cNvPicPr>
          <p:nvPr/>
        </p:nvPicPr>
        <p:blipFill>
          <a:blip r:embed="rId4"/>
          <a:stretch>
            <a:fillRect/>
          </a:stretch>
        </p:blipFill>
        <p:spPr>
          <a:xfrm>
            <a:off x="8034545" y="2162811"/>
            <a:ext cx="134549" cy="195707"/>
          </a:xfrm>
          <a:prstGeom prst="rect">
            <a:avLst/>
          </a:prstGeom>
        </p:spPr>
      </p:pic>
      <p:sp>
        <p:nvSpPr>
          <p:cNvPr id="118" name="TextBox 117"/>
          <p:cNvSpPr txBox="1"/>
          <p:nvPr/>
        </p:nvSpPr>
        <p:spPr>
          <a:xfrm>
            <a:off x="8209654"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19" name="TextBox 118"/>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20" name="TextBox 119"/>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21" name="TextBox 120"/>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22" name="Picture 121" descr="lock.png"/>
          <p:cNvPicPr>
            <a:picLocks noChangeAspect="1"/>
          </p:cNvPicPr>
          <p:nvPr/>
        </p:nvPicPr>
        <p:blipFill>
          <a:blip r:embed="rId4"/>
          <a:stretch>
            <a:fillRect/>
          </a:stretch>
        </p:blipFill>
        <p:spPr>
          <a:xfrm>
            <a:off x="8524680" y="2741169"/>
            <a:ext cx="134549" cy="195707"/>
          </a:xfrm>
          <a:prstGeom prst="rect">
            <a:avLst/>
          </a:prstGeom>
        </p:spPr>
      </p:pic>
      <p:sp>
        <p:nvSpPr>
          <p:cNvPr id="123" name="TextBox 122"/>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4 of 7 regions price above and 3 below.</a:t>
            </a:r>
          </a:p>
        </p:txBody>
      </p:sp>
      <p:sp>
        <p:nvSpPr>
          <p:cNvPr id="124" name="TextBox 123"/>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25" name="Picture 124" descr="lock.png"/>
          <p:cNvPicPr>
            <a:picLocks noChangeAspect="1"/>
          </p:cNvPicPr>
          <p:nvPr/>
        </p:nvPicPr>
        <p:blipFill>
          <a:blip r:embed="rId4"/>
          <a:stretch>
            <a:fillRect/>
          </a:stretch>
        </p:blipFill>
        <p:spPr>
          <a:xfrm>
            <a:off x="10105842" y="2969007"/>
            <a:ext cx="134549" cy="195707"/>
          </a:xfrm>
          <a:prstGeom prst="rect">
            <a:avLst/>
          </a:prstGeom>
        </p:spPr>
      </p:pic>
      <p:sp>
        <p:nvSpPr>
          <p:cNvPr id="126" name="TextBox 125"/>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27" name="TextBox 126"/>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28" name="Picture 127" descr="lock.png"/>
          <p:cNvPicPr>
            <a:picLocks noChangeAspect="1"/>
          </p:cNvPicPr>
          <p:nvPr/>
        </p:nvPicPr>
        <p:blipFill>
          <a:blip r:embed="rId4"/>
          <a:stretch>
            <a:fillRect/>
          </a:stretch>
        </p:blipFill>
        <p:spPr>
          <a:xfrm>
            <a:off x="9651433" y="3144267"/>
            <a:ext cx="134549" cy="195707"/>
          </a:xfrm>
          <a:prstGeom prst="rect">
            <a:avLst/>
          </a:prstGeom>
        </p:spPr>
      </p:pic>
      <p:sp>
        <p:nvSpPr>
          <p:cNvPr id="129" name="TextBox 128"/>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30" name="TextBox 129"/>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547144" cy="186689"/>
          </a:xfrm>
          <a:prstGeom prst="rect">
            <a:avLst/>
          </a:prstGeom>
          <a:noFill/>
        </p:spPr>
        <p:txBody>
          <a:bodyPr wrap="none" lIns="0" rIns="0" tIns="0" bIns="0">
            <a:spAutoFit/>
          </a:bodyPr>
          <a:lstStyle/>
          <a:p>
            <a:r>
              <a:rPr sz="1100" b="0">
                <a:solidFill>
                  <a:srgbClr val="2E2E2E"/>
                </a:solidFill>
                <a:latin typeface="Calibri"/>
              </a:rPr>
              <a:t>Heavy commercial vehicle EPS market is projected to register</a:t>
            </a:r>
          </a:p>
        </p:txBody>
      </p:sp>
      <p:pic>
        <p:nvPicPr>
          <p:cNvPr id="35" name="Picture 34" descr="lock.png"/>
          <p:cNvPicPr>
            <a:picLocks noChangeAspect="1"/>
          </p:cNvPicPr>
          <p:nvPr/>
        </p:nvPicPr>
        <p:blipFill>
          <a:blip r:embed="rId6"/>
          <a:stretch>
            <a:fillRect/>
          </a:stretch>
        </p:blipFill>
        <p:spPr>
          <a:xfrm>
            <a:off x="11543821" y="2037208"/>
            <a:ext cx="128699" cy="187198"/>
          </a:xfrm>
          <a:prstGeom prst="rect">
            <a:avLst/>
          </a:prstGeom>
        </p:spPr>
      </p:pic>
      <p:sp>
        <p:nvSpPr>
          <p:cNvPr id="36" name="TextBox 35"/>
          <p:cNvSpPr txBox="1"/>
          <p:nvPr/>
        </p:nvSpPr>
        <p:spPr>
          <a:xfrm>
            <a:off x="11711317"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7" name="TextBox 36"/>
          <p:cNvSpPr txBox="1"/>
          <p:nvPr/>
        </p:nvSpPr>
        <p:spPr>
          <a:xfrm>
            <a:off x="8048625" y="2214627"/>
            <a:ext cx="3818086" cy="186689"/>
          </a:xfrm>
          <a:prstGeom prst="rect">
            <a:avLst/>
          </a:prstGeom>
          <a:noFill/>
        </p:spPr>
        <p:txBody>
          <a:bodyPr wrap="none" lIns="0" rIns="0" tIns="0" bIns="0">
            <a:spAutoFit/>
          </a:bodyPr>
          <a:lstStyle/>
          <a:p>
            <a:r>
              <a:rPr sz="1100" b="0">
                <a:solidFill>
                  <a:srgbClr val="2E2E2E"/>
                </a:solidFill>
                <a:latin typeface="Calibri"/>
              </a:rPr>
              <a:t>increase in its revenue by the end of forecast period, 2036. Global</a:t>
            </a:r>
          </a:p>
        </p:txBody>
      </p:sp>
      <p:sp>
        <p:nvSpPr>
          <p:cNvPr id="38" name="TextBox 37"/>
          <p:cNvSpPr txBox="1"/>
          <p:nvPr/>
        </p:nvSpPr>
        <p:spPr>
          <a:xfrm>
            <a:off x="8048625" y="2382267"/>
            <a:ext cx="3769791" cy="186689"/>
          </a:xfrm>
          <a:prstGeom prst="rect">
            <a:avLst/>
          </a:prstGeom>
          <a:noFill/>
        </p:spPr>
        <p:txBody>
          <a:bodyPr wrap="none" lIns="0" rIns="0" tIns="0" bIns="0">
            <a:spAutoFit/>
          </a:bodyPr>
          <a:lstStyle/>
          <a:p>
            <a:r>
              <a:rPr sz="1100" b="0">
                <a:solidFill>
                  <a:srgbClr val="2E2E2E"/>
                </a:solidFill>
                <a:latin typeface="Calibri"/>
              </a:rPr>
              <a:t>heavy commercial vehicle EPS market is expected to be valued at</a:t>
            </a:r>
          </a:p>
        </p:txBody>
      </p:sp>
      <p:sp>
        <p:nvSpPr>
          <p:cNvPr id="39" name="TextBox 38"/>
          <p:cNvSpPr txBox="1"/>
          <p:nvPr/>
        </p:nvSpPr>
        <p:spPr>
          <a:xfrm>
            <a:off x="8048625" y="2549907"/>
            <a:ext cx="301029" cy="186689"/>
          </a:xfrm>
          <a:prstGeom prst="rect">
            <a:avLst/>
          </a:prstGeom>
          <a:noFill/>
        </p:spPr>
        <p:txBody>
          <a:bodyPr wrap="none" lIns="0" rIns="0" tIns="0" bIns="0">
            <a:spAutoFit/>
          </a:bodyPr>
          <a:lstStyle/>
          <a:p>
            <a:r>
              <a:rPr sz="1100" b="0">
                <a:solidFill>
                  <a:srgbClr val="2E2E2E"/>
                </a:solidFill>
                <a:latin typeface="Calibri"/>
              </a:rPr>
              <a:t>US$</a:t>
            </a:r>
          </a:p>
        </p:txBody>
      </p:sp>
      <p:pic>
        <p:nvPicPr>
          <p:cNvPr id="40" name="Picture 39" descr="lock.png"/>
          <p:cNvPicPr>
            <a:picLocks noChangeAspect="1"/>
          </p:cNvPicPr>
          <p:nvPr/>
        </p:nvPicPr>
        <p:blipFill>
          <a:blip r:embed="rId6"/>
          <a:stretch>
            <a:fillRect/>
          </a:stretch>
        </p:blipFill>
        <p:spPr>
          <a:xfrm>
            <a:off x="8297706" y="2540128"/>
            <a:ext cx="128699" cy="187198"/>
          </a:xfrm>
          <a:prstGeom prst="rect">
            <a:avLst/>
          </a:prstGeom>
        </p:spPr>
      </p:pic>
      <p:sp>
        <p:nvSpPr>
          <p:cNvPr id="41" name="TextBox 40"/>
          <p:cNvSpPr txBox="1"/>
          <p:nvPr/>
        </p:nvSpPr>
        <p:spPr>
          <a:xfrm>
            <a:off x="8465202" y="2549907"/>
            <a:ext cx="1036091" cy="186689"/>
          </a:xfrm>
          <a:prstGeom prst="rect">
            <a:avLst/>
          </a:prstGeom>
          <a:noFill/>
        </p:spPr>
        <p:txBody>
          <a:bodyPr wrap="none" lIns="0" rIns="0" tIns="0" bIns="0">
            <a:spAutoFit/>
          </a:bodyPr>
          <a:lstStyle/>
          <a:p>
            <a:r>
              <a:rPr sz="1100" b="0">
                <a:solidFill>
                  <a:srgbClr val="2E2E2E"/>
                </a:solidFill>
                <a:latin typeface="Calibri"/>
              </a:rPr>
              <a:t>Mn by 2036 end.</a:t>
            </a:r>
          </a:p>
        </p:txBody>
      </p:sp>
      <p:sp>
        <p:nvSpPr>
          <p:cNvPr id="42" name="TextBox 41"/>
          <p:cNvSpPr txBox="1"/>
          <p:nvPr/>
        </p:nvSpPr>
        <p:spPr>
          <a:xfrm>
            <a:off x="8048625" y="2767838"/>
            <a:ext cx="3650009" cy="186689"/>
          </a:xfrm>
          <a:prstGeom prst="rect">
            <a:avLst/>
          </a:prstGeom>
          <a:noFill/>
        </p:spPr>
        <p:txBody>
          <a:bodyPr wrap="none" lIns="0" rIns="0" tIns="0" bIns="0">
            <a:spAutoFit/>
          </a:bodyPr>
          <a:lstStyle/>
          <a:p>
            <a:r>
              <a:rPr sz="1100" b="0">
                <a:solidFill>
                  <a:srgbClr val="2E2E2E"/>
                </a:solidFill>
                <a:latin typeface="Calibri"/>
              </a:rPr>
              <a:t>It is projected to create overall incremental opportunity of US$</a:t>
            </a:r>
          </a:p>
        </p:txBody>
      </p:sp>
      <p:pic>
        <p:nvPicPr>
          <p:cNvPr id="43" name="Picture 42" descr="lock.png"/>
          <p:cNvPicPr>
            <a:picLocks noChangeAspect="1"/>
          </p:cNvPicPr>
          <p:nvPr/>
        </p:nvPicPr>
        <p:blipFill>
          <a:blip r:embed="rId6"/>
          <a:stretch>
            <a:fillRect/>
          </a:stretch>
        </p:blipFill>
        <p:spPr>
          <a:xfrm>
            <a:off x="8035157" y="2925700"/>
            <a:ext cx="128699" cy="187198"/>
          </a:xfrm>
          <a:prstGeom prst="rect">
            <a:avLst/>
          </a:prstGeom>
        </p:spPr>
      </p:pic>
      <p:sp>
        <p:nvSpPr>
          <p:cNvPr id="44" name="TextBox 43"/>
          <p:cNvSpPr txBox="1"/>
          <p:nvPr/>
        </p:nvSpPr>
        <p:spPr>
          <a:xfrm>
            <a:off x="8202653" y="2935479"/>
            <a:ext cx="3418085" cy="186689"/>
          </a:xfrm>
          <a:prstGeom prst="rect">
            <a:avLst/>
          </a:prstGeom>
          <a:noFill/>
        </p:spPr>
        <p:txBody>
          <a:bodyPr wrap="none" lIns="0" rIns="0" tIns="0" bIns="0">
            <a:spAutoFit/>
          </a:bodyPr>
          <a:lstStyle/>
          <a:p>
            <a:r>
              <a:rPr sz="1100" b="0">
                <a:solidFill>
                  <a:srgbClr val="2E2E2E"/>
                </a:solidFill>
                <a:latin typeface="Calibri"/>
              </a:rPr>
              <a:t>Mn from 2025 to 2036. Growth in end-use industries along</a:t>
            </a:r>
          </a:p>
        </p:txBody>
      </p:sp>
      <p:sp>
        <p:nvSpPr>
          <p:cNvPr id="45" name="TextBox 44"/>
          <p:cNvSpPr txBox="1"/>
          <p:nvPr/>
        </p:nvSpPr>
        <p:spPr>
          <a:xfrm>
            <a:off x="8048625" y="3103119"/>
            <a:ext cx="3454375" cy="186689"/>
          </a:xfrm>
          <a:prstGeom prst="rect">
            <a:avLst/>
          </a:prstGeom>
          <a:noFill/>
        </p:spPr>
        <p:txBody>
          <a:bodyPr wrap="none" lIns="0" rIns="0" tIns="0" bIns="0">
            <a:spAutoFit/>
          </a:bodyPr>
          <a:lstStyle/>
          <a:p>
            <a:r>
              <a:rPr sz="1100" b="0">
                <a:solidFill>
                  <a:srgbClr val="2E2E2E"/>
                </a:solidFill>
                <a:latin typeface="Calibri"/>
              </a:rPr>
              <a:t>with infrastructure investment is fuelling demand for heavy</a:t>
            </a:r>
          </a:p>
        </p:txBody>
      </p:sp>
      <p:sp>
        <p:nvSpPr>
          <p:cNvPr id="46" name="TextBox 45"/>
          <p:cNvSpPr txBox="1"/>
          <p:nvPr/>
        </p:nvSpPr>
        <p:spPr>
          <a:xfrm>
            <a:off x="8048625" y="3270759"/>
            <a:ext cx="1443459" cy="186689"/>
          </a:xfrm>
          <a:prstGeom prst="rect">
            <a:avLst/>
          </a:prstGeom>
          <a:noFill/>
        </p:spPr>
        <p:txBody>
          <a:bodyPr wrap="none" lIns="0" rIns="0" tIns="0" bIns="0">
            <a:spAutoFit/>
          </a:bodyPr>
          <a:lstStyle/>
          <a:p>
            <a:r>
              <a:rPr sz="1100" b="0">
                <a:solidFill>
                  <a:srgbClr val="2E2E2E"/>
                </a:solidFill>
                <a:latin typeface="Calibri"/>
              </a:rPr>
              <a:t>commercial vehicle EPS.</a:t>
            </a:r>
          </a:p>
        </p:txBody>
      </p:sp>
      <p:sp>
        <p:nvSpPr>
          <p:cNvPr id="47" name="TextBox 46"/>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8" name="Picture 47" descr="lock.png"/>
          <p:cNvPicPr>
            <a:picLocks noChangeAspect="1"/>
          </p:cNvPicPr>
          <p:nvPr/>
        </p:nvPicPr>
        <p:blipFill>
          <a:blip r:embed="rId6"/>
          <a:stretch>
            <a:fillRect/>
          </a:stretch>
        </p:blipFill>
        <p:spPr>
          <a:xfrm>
            <a:off x="10866614" y="4446251"/>
            <a:ext cx="134549" cy="195707"/>
          </a:xfrm>
          <a:prstGeom prst="rect">
            <a:avLst/>
          </a:prstGeom>
        </p:spPr>
      </p:pic>
      <p:sp>
        <p:nvSpPr>
          <p:cNvPr id="49" name="TextBox 48"/>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231678" cy="194310"/>
          </a:xfrm>
          <a:prstGeom prst="rect">
            <a:avLst/>
          </a:prstGeom>
          <a:noFill/>
        </p:spPr>
        <p:txBody>
          <a:bodyPr wrap="none" lIns="0" rIns="0" tIns="0" bIns="0">
            <a:spAutoFit/>
          </a:bodyPr>
          <a:lstStyle/>
          <a:p>
            <a:r>
              <a:rPr sz="1150" b="0">
                <a:solidFill>
                  <a:srgbClr val="2E2E2E"/>
                </a:solidFill>
                <a:latin typeface="Calibri"/>
              </a:rPr>
              <a:t>▪ Demand concentrates in 'Rack Assist' within System</a:t>
            </a:r>
          </a:p>
        </p:txBody>
      </p:sp>
      <p:sp>
        <p:nvSpPr>
          <p:cNvPr id="51" name="TextBox 50"/>
          <p:cNvSpPr txBox="1"/>
          <p:nvPr/>
        </p:nvSpPr>
        <p:spPr>
          <a:xfrm>
            <a:off x="8048625" y="4859572"/>
            <a:ext cx="854087" cy="194310"/>
          </a:xfrm>
          <a:prstGeom prst="rect">
            <a:avLst/>
          </a:prstGeom>
          <a:noFill/>
        </p:spPr>
        <p:txBody>
          <a:bodyPr wrap="none" lIns="0" rIns="0" tIns="0" bIns="0">
            <a:spAutoFit/>
          </a:bodyPr>
          <a:lstStyle/>
          <a:p>
            <a:r>
              <a:rPr sz="1150" b="0">
                <a:solidFill>
                  <a:srgbClr val="2E2E2E"/>
                </a:solidFill>
                <a:latin typeface="Calibri"/>
              </a:rPr>
              <a:t>Architecture.</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704914" cy="194310"/>
          </a:xfrm>
          <a:prstGeom prst="rect">
            <a:avLst/>
          </a:prstGeom>
          <a:noFill/>
        </p:spPr>
        <p:txBody>
          <a:bodyPr wrap="none" lIns="0" rIns="0" tIns="0" bIns="0">
            <a:spAutoFit/>
          </a:bodyPr>
          <a:lstStyle/>
          <a:p>
            <a:r>
              <a:rPr sz="1150" b="0">
                <a:solidFill>
                  <a:srgbClr val="2E2E2E"/>
                </a:solidFill>
                <a:latin typeface="Calibri"/>
              </a:rPr>
              <a:t>Heavy commercial vehicle EPS market is projected to register</a:t>
            </a:r>
          </a:p>
        </p:txBody>
      </p:sp>
      <p:pic>
        <p:nvPicPr>
          <p:cNvPr id="32" name="Picture 31" descr="lock.png"/>
          <p:cNvPicPr>
            <a:picLocks noChangeAspect="1"/>
          </p:cNvPicPr>
          <p:nvPr/>
        </p:nvPicPr>
        <p:blipFill>
          <a:blip r:embed="rId6"/>
          <a:stretch>
            <a:fillRect/>
          </a:stretch>
        </p:blipFill>
        <p:spPr>
          <a:xfrm>
            <a:off x="3930293" y="4961826"/>
            <a:ext cx="134549" cy="195707"/>
          </a:xfrm>
          <a:prstGeom prst="rect">
            <a:avLst/>
          </a:prstGeom>
        </p:spPr>
      </p:pic>
      <p:sp>
        <p:nvSpPr>
          <p:cNvPr id="33" name="TextBox 32"/>
          <p:cNvSpPr txBox="1"/>
          <p:nvPr/>
        </p:nvSpPr>
        <p:spPr>
          <a:xfrm>
            <a:off x="4105403" y="4972050"/>
            <a:ext cx="7410933"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heavy commercial vehicle EPS market is expected to be</a:t>
            </a:r>
          </a:p>
        </p:txBody>
      </p:sp>
      <p:sp>
        <p:nvSpPr>
          <p:cNvPr id="34" name="TextBox 33"/>
          <p:cNvSpPr txBox="1"/>
          <p:nvPr/>
        </p:nvSpPr>
        <p:spPr>
          <a:xfrm>
            <a:off x="276225" y="5147310"/>
            <a:ext cx="892026" cy="194310"/>
          </a:xfrm>
          <a:prstGeom prst="rect">
            <a:avLst/>
          </a:prstGeom>
          <a:noFill/>
        </p:spPr>
        <p:txBody>
          <a:bodyPr wrap="none" lIns="0" rIns="0" tIns="0" bIns="0">
            <a:spAutoFit/>
          </a:bodyPr>
          <a:lstStyle/>
          <a:p>
            <a:r>
              <a:rPr sz="1150" b="0">
                <a:solidFill>
                  <a:srgbClr val="2E2E2E"/>
                </a:solidFill>
                <a:latin typeface="Calibri"/>
              </a:rPr>
              <a:t>valued at US$</a:t>
            </a:r>
          </a:p>
        </p:txBody>
      </p:sp>
      <p:pic>
        <p:nvPicPr>
          <p:cNvPr id="35" name="Picture 34" descr="lock.png"/>
          <p:cNvPicPr>
            <a:picLocks noChangeAspect="1"/>
          </p:cNvPicPr>
          <p:nvPr/>
        </p:nvPicPr>
        <p:blipFill>
          <a:blip r:embed="rId6"/>
          <a:stretch>
            <a:fillRect/>
          </a:stretch>
        </p:blipFill>
        <p:spPr>
          <a:xfrm>
            <a:off x="1117405" y="5137086"/>
            <a:ext cx="134549" cy="195707"/>
          </a:xfrm>
          <a:prstGeom prst="rect">
            <a:avLst/>
          </a:prstGeom>
        </p:spPr>
      </p:pic>
      <p:sp>
        <p:nvSpPr>
          <p:cNvPr id="36" name="TextBox 35"/>
          <p:cNvSpPr txBox="1"/>
          <p:nvPr/>
        </p:nvSpPr>
        <p:spPr>
          <a:xfrm>
            <a:off x="1292514" y="5147310"/>
            <a:ext cx="4849068" cy="194310"/>
          </a:xfrm>
          <a:prstGeom prst="rect">
            <a:avLst/>
          </a:prstGeom>
          <a:noFill/>
        </p:spPr>
        <p:txBody>
          <a:bodyPr wrap="none" lIns="0" rIns="0" tIns="0" bIns="0">
            <a:spAutoFit/>
          </a:bodyPr>
          <a:lstStyle/>
          <a:p>
            <a:r>
              <a:rPr sz="1150" b="0">
                <a:solidFill>
                  <a:srgbClr val="2E2E2E"/>
                </a:solidFill>
                <a:latin typeface="Calibri"/>
              </a:rPr>
              <a:t>Mn by 2036 end. It is projected to create overall incremental opportunity of US$</a:t>
            </a:r>
          </a:p>
        </p:txBody>
      </p:sp>
      <p:pic>
        <p:nvPicPr>
          <p:cNvPr id="37" name="Picture 36" descr="lock.png"/>
          <p:cNvPicPr>
            <a:picLocks noChangeAspect="1"/>
          </p:cNvPicPr>
          <p:nvPr/>
        </p:nvPicPr>
        <p:blipFill>
          <a:blip r:embed="rId6"/>
          <a:stretch>
            <a:fillRect/>
          </a:stretch>
        </p:blipFill>
        <p:spPr>
          <a:xfrm>
            <a:off x="6090736" y="5137086"/>
            <a:ext cx="134549" cy="195707"/>
          </a:xfrm>
          <a:prstGeom prst="rect">
            <a:avLst/>
          </a:prstGeom>
        </p:spPr>
      </p:pic>
      <p:sp>
        <p:nvSpPr>
          <p:cNvPr id="38" name="TextBox 37"/>
          <p:cNvSpPr txBox="1"/>
          <p:nvPr/>
        </p:nvSpPr>
        <p:spPr>
          <a:xfrm>
            <a:off x="6265845" y="5147310"/>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39" name="TextBox 38"/>
          <p:cNvSpPr txBox="1"/>
          <p:nvPr/>
        </p:nvSpPr>
        <p:spPr>
          <a:xfrm>
            <a:off x="276225" y="5375147"/>
            <a:ext cx="11248454" cy="194310"/>
          </a:xfrm>
          <a:prstGeom prst="rect">
            <a:avLst/>
          </a:prstGeom>
          <a:noFill/>
        </p:spPr>
        <p:txBody>
          <a:bodyPr wrap="none" lIns="0" rIns="0" tIns="0" bIns="0">
            <a:spAutoFit/>
          </a:bodyPr>
          <a:lstStyle/>
          <a:p>
            <a:r>
              <a:rPr sz="1150" b="0">
                <a:solidFill>
                  <a:srgbClr val="2E2E2E"/>
                </a:solidFill>
                <a:latin typeface="Calibri"/>
              </a:rPr>
              <a:t>Growth in end-use industries along with infrastructure investment is fuelling demand for heavy commercial vehicle EPS. Global heavy commercial vehicle EPS market is projected to register</a:t>
            </a:r>
          </a:p>
        </p:txBody>
      </p:sp>
      <p:pic>
        <p:nvPicPr>
          <p:cNvPr id="40" name="Picture 39" descr="lock.png"/>
          <p:cNvPicPr>
            <a:picLocks noChangeAspect="1"/>
          </p:cNvPicPr>
          <p:nvPr/>
        </p:nvPicPr>
        <p:blipFill>
          <a:blip r:embed="rId6"/>
          <a:stretch>
            <a:fillRect/>
          </a:stretch>
        </p:blipFill>
        <p:spPr>
          <a:xfrm>
            <a:off x="11473833" y="5364924"/>
            <a:ext cx="134549" cy="195707"/>
          </a:xfrm>
          <a:prstGeom prst="rect">
            <a:avLst/>
          </a:prstGeom>
        </p:spPr>
      </p:pic>
      <p:sp>
        <p:nvSpPr>
          <p:cNvPr id="41" name="TextBox 40"/>
          <p:cNvSpPr txBox="1"/>
          <p:nvPr/>
        </p:nvSpPr>
        <p:spPr>
          <a:xfrm>
            <a:off x="11648942" y="537514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42" name="TextBox 41"/>
          <p:cNvSpPr txBox="1"/>
          <p:nvPr/>
        </p:nvSpPr>
        <p:spPr>
          <a:xfrm>
            <a:off x="276225" y="5550407"/>
            <a:ext cx="3353196" cy="194310"/>
          </a:xfrm>
          <a:prstGeom prst="rect">
            <a:avLst/>
          </a:prstGeom>
          <a:noFill/>
        </p:spPr>
        <p:txBody>
          <a:bodyPr wrap="none" lIns="0" rIns="0" tIns="0" bIns="0">
            <a:spAutoFit/>
          </a:bodyPr>
          <a:lstStyle/>
          <a:p>
            <a:r>
              <a:rPr sz="1150" b="0">
                <a:solidFill>
                  <a:srgbClr val="2E2E2E"/>
                </a:solidFill>
                <a:latin typeface="Calibri"/>
              </a:rPr>
              <a:t>increase in volume by the end of forecast period, 2036.</a:t>
            </a:r>
          </a:p>
        </p:txBody>
      </p:sp>
      <p:sp>
        <p:nvSpPr>
          <p:cNvPr id="43" name="TextBox 42"/>
          <p:cNvSpPr txBox="1"/>
          <p:nvPr/>
        </p:nvSpPr>
        <p:spPr>
          <a:xfrm>
            <a:off x="276225" y="5778245"/>
            <a:ext cx="3726308" cy="194310"/>
          </a:xfrm>
          <a:prstGeom prst="rect">
            <a:avLst/>
          </a:prstGeom>
          <a:noFill/>
        </p:spPr>
        <p:txBody>
          <a:bodyPr wrap="none" lIns="0" rIns="0" tIns="0" bIns="0">
            <a:spAutoFit/>
          </a:bodyPr>
          <a:lstStyle/>
          <a:p>
            <a:r>
              <a:rPr sz="1150" b="0">
                <a:solidFill>
                  <a:srgbClr val="2E2E2E"/>
                </a:solidFill>
                <a:latin typeface="Calibri"/>
              </a:rPr>
              <a:t>Global heavy commercial vehicle EPS market volume stood at</a:t>
            </a:r>
          </a:p>
        </p:txBody>
      </p:sp>
      <p:pic>
        <p:nvPicPr>
          <p:cNvPr id="44" name="Picture 43" descr="lock.png"/>
          <p:cNvPicPr>
            <a:picLocks noChangeAspect="1"/>
          </p:cNvPicPr>
          <p:nvPr/>
        </p:nvPicPr>
        <p:blipFill>
          <a:blip r:embed="rId6"/>
          <a:stretch>
            <a:fillRect/>
          </a:stretch>
        </p:blipFill>
        <p:spPr>
          <a:xfrm>
            <a:off x="3951687" y="5768022"/>
            <a:ext cx="134549" cy="195707"/>
          </a:xfrm>
          <a:prstGeom prst="rect">
            <a:avLst/>
          </a:prstGeom>
        </p:spPr>
      </p:pic>
      <p:sp>
        <p:nvSpPr>
          <p:cNvPr id="45" name="TextBox 44"/>
          <p:cNvSpPr txBox="1"/>
          <p:nvPr/>
        </p:nvSpPr>
        <p:spPr>
          <a:xfrm>
            <a:off x="4126797" y="577824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46" name="Picture 45" descr="lock.png"/>
          <p:cNvPicPr>
            <a:picLocks noChangeAspect="1"/>
          </p:cNvPicPr>
          <p:nvPr/>
        </p:nvPicPr>
        <p:blipFill>
          <a:blip r:embed="rId6"/>
          <a:stretch>
            <a:fillRect/>
          </a:stretch>
        </p:blipFill>
        <p:spPr>
          <a:xfrm>
            <a:off x="6419634" y="5768022"/>
            <a:ext cx="134549" cy="195707"/>
          </a:xfrm>
          <a:prstGeom prst="rect">
            <a:avLst/>
          </a:prstGeom>
        </p:spPr>
      </p:pic>
      <p:sp>
        <p:nvSpPr>
          <p:cNvPr id="47" name="TextBox 46"/>
          <p:cNvSpPr txBox="1"/>
          <p:nvPr/>
        </p:nvSpPr>
        <p:spPr>
          <a:xfrm>
            <a:off x="6594743" y="577824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8" name="Picture 47" descr="lock.png"/>
          <p:cNvPicPr>
            <a:picLocks noChangeAspect="1"/>
          </p:cNvPicPr>
          <p:nvPr/>
        </p:nvPicPr>
        <p:blipFill>
          <a:blip r:embed="rId6"/>
          <a:stretch>
            <a:fillRect/>
          </a:stretch>
        </p:blipFill>
        <p:spPr>
          <a:xfrm>
            <a:off x="8508460" y="5768022"/>
            <a:ext cx="134549" cy="195707"/>
          </a:xfrm>
          <a:prstGeom prst="rect">
            <a:avLst/>
          </a:prstGeom>
        </p:spPr>
      </p:pic>
      <p:sp>
        <p:nvSpPr>
          <p:cNvPr id="49" name="TextBox 48"/>
          <p:cNvSpPr txBox="1"/>
          <p:nvPr/>
        </p:nvSpPr>
        <p:spPr>
          <a:xfrm>
            <a:off x="8683569" y="577824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0" name="TextBox 49"/>
          <p:cNvSpPr txBox="1"/>
          <p:nvPr/>
        </p:nvSpPr>
        <p:spPr>
          <a:xfrm>
            <a:off x="276225" y="595350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51"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5" cy="2132071"/>
        </p:xfrm>
        <a:graphic>
          <a:graphicData uri="http://schemas.openxmlformats.org/drawingml/2006/table">
            <a:tbl>
              <a:tblPr>
                <a:tableStyleId>{5C22544A-7EE6-4342-B048-85BDC9FD1C3A}</a:tableStyleId>
              </a:tblPr>
              <a:tblGrid>
                <a:gridCol w="1195234"/>
                <a:gridCol w="909249"/>
                <a:gridCol w="620557"/>
                <a:gridCol w="11897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Balkan &amp; Baltics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Poland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523950" cy="178817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734000" y="1293011"/>
            <a:ext cx="1219375" cy="178817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ectangle 19"/>
          <p:cNvSpPr/>
          <p:nvPr/>
        </p:nvSpPr>
        <p:spPr>
          <a:xfrm>
            <a:off x="4210050" y="3081187"/>
            <a:ext cx="1444790" cy="1410590"/>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1" name="Rectangle 20"/>
          <p:cNvSpPr/>
          <p:nvPr/>
        </p:nvSpPr>
        <p:spPr>
          <a:xfrm>
            <a:off x="4210050" y="4491777"/>
            <a:ext cx="1444790" cy="1386833"/>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654840" y="3081187"/>
            <a:ext cx="1152101" cy="1251602"/>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3" name="Rectangle 22"/>
          <p:cNvSpPr/>
          <p:nvPr/>
        </p:nvSpPr>
        <p:spPr>
          <a:xfrm>
            <a:off x="6806940" y="3081187"/>
            <a:ext cx="1146435" cy="1251602"/>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24" name="Rectangle 23"/>
          <p:cNvSpPr/>
          <p:nvPr/>
        </p:nvSpPr>
        <p:spPr>
          <a:xfrm>
            <a:off x="5654840" y="4332788"/>
            <a:ext cx="1204342" cy="823340"/>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KSA</a:t>
            </a:r>
          </a:p>
          <a:p>
            <a:pPr algn="ctr"/>
            <a:r>
              <a:rPr sz="1100" b="0">
                <a:solidFill>
                  <a:srgbClr val="FFFFFF"/>
                </a:solidFill>
                <a:latin typeface="Calibri"/>
              </a:rPr>
              <a:t> </a:t>
            </a:r>
          </a:p>
        </p:txBody>
      </p:sp>
      <p:sp>
        <p:nvSpPr>
          <p:cNvPr id="25" name="Rectangle 24"/>
          <p:cNvSpPr/>
          <p:nvPr/>
        </p:nvSpPr>
        <p:spPr>
          <a:xfrm>
            <a:off x="5654840" y="5156128"/>
            <a:ext cx="1204342" cy="722481"/>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Hungary</a:t>
            </a:r>
          </a:p>
          <a:p>
            <a:pPr algn="ctr"/>
            <a:r>
              <a:rPr sz="1100" b="0">
                <a:solidFill>
                  <a:srgbClr val="FFFFFF"/>
                </a:solidFill>
                <a:latin typeface="Calibri"/>
              </a:rPr>
              <a:t> </a:t>
            </a:r>
          </a:p>
        </p:txBody>
      </p:sp>
      <p:sp>
        <p:nvSpPr>
          <p:cNvPr id="26" name="Rectangle 25"/>
          <p:cNvSpPr/>
          <p:nvPr/>
        </p:nvSpPr>
        <p:spPr>
          <a:xfrm>
            <a:off x="6859182" y="4332788"/>
            <a:ext cx="1094193" cy="787438"/>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7" name="Rectangle 26"/>
          <p:cNvSpPr/>
          <p:nvPr/>
        </p:nvSpPr>
        <p:spPr>
          <a:xfrm>
            <a:off x="6859182" y="5120226"/>
            <a:ext cx="1094193" cy="758383"/>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ASEAN</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8892" cy="2159451"/>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539383" y="4515032"/>
            <a:ext cx="330041" cy="480060"/>
          </a:xfrm>
          <a:prstGeom prst="rect">
            <a:avLst/>
          </a:prstGeom>
        </p:spPr>
      </p:pic>
      <p:pic>
        <p:nvPicPr>
          <p:cNvPr id="38" name="Picture 37" descr="lock.png"/>
          <p:cNvPicPr>
            <a:picLocks noChangeAspect="1"/>
          </p:cNvPicPr>
          <p:nvPr/>
        </p:nvPicPr>
        <p:blipFill>
          <a:blip r:embed="rId6"/>
          <a:stretch>
            <a:fillRect/>
          </a:stretch>
        </p:blipFill>
        <p:spPr>
          <a:xfrm>
            <a:off x="5414399" y="2187098"/>
            <a:ext cx="115252" cy="167639"/>
          </a:xfrm>
          <a:prstGeom prst="rect">
            <a:avLst/>
          </a:prstGeom>
        </p:spPr>
      </p:pic>
      <p:pic>
        <p:nvPicPr>
          <p:cNvPr id="39" name="Picture 38" descr="lock.png"/>
          <p:cNvPicPr>
            <a:picLocks noChangeAspect="1"/>
          </p:cNvPicPr>
          <p:nvPr/>
        </p:nvPicPr>
        <p:blipFill>
          <a:blip r:embed="rId6"/>
          <a:stretch>
            <a:fillRect/>
          </a:stretch>
        </p:blipFill>
        <p:spPr>
          <a:xfrm>
            <a:off x="7286061" y="2187098"/>
            <a:ext cx="115252" cy="167639"/>
          </a:xfrm>
          <a:prstGeom prst="rect">
            <a:avLst/>
          </a:prstGeom>
        </p:spPr>
      </p:pic>
      <p:pic>
        <p:nvPicPr>
          <p:cNvPr id="40" name="Picture 39" descr="lock.png"/>
          <p:cNvPicPr>
            <a:picLocks noChangeAspect="1"/>
          </p:cNvPicPr>
          <p:nvPr/>
        </p:nvPicPr>
        <p:blipFill>
          <a:blip r:embed="rId6"/>
          <a:stretch>
            <a:fillRect/>
          </a:stretch>
        </p:blipFill>
        <p:spPr>
          <a:xfrm>
            <a:off x="4874819" y="3786482"/>
            <a:ext cx="115252" cy="167639"/>
          </a:xfrm>
          <a:prstGeom prst="rect">
            <a:avLst/>
          </a:prstGeom>
        </p:spPr>
      </p:pic>
      <p:pic>
        <p:nvPicPr>
          <p:cNvPr id="41" name="Picture 40" descr="lock.png"/>
          <p:cNvPicPr>
            <a:picLocks noChangeAspect="1"/>
          </p:cNvPicPr>
          <p:nvPr/>
        </p:nvPicPr>
        <p:blipFill>
          <a:blip r:embed="rId6"/>
          <a:stretch>
            <a:fillRect/>
          </a:stretch>
        </p:blipFill>
        <p:spPr>
          <a:xfrm>
            <a:off x="4874819" y="5185193"/>
            <a:ext cx="115252" cy="167639"/>
          </a:xfrm>
          <a:prstGeom prst="rect">
            <a:avLst/>
          </a:prstGeom>
        </p:spPr>
      </p:pic>
      <p:pic>
        <p:nvPicPr>
          <p:cNvPr id="42" name="Picture 41" descr="lock.png"/>
          <p:cNvPicPr>
            <a:picLocks noChangeAspect="1"/>
          </p:cNvPicPr>
          <p:nvPr/>
        </p:nvPicPr>
        <p:blipFill>
          <a:blip r:embed="rId6"/>
          <a:stretch>
            <a:fillRect/>
          </a:stretch>
        </p:blipFill>
        <p:spPr>
          <a:xfrm>
            <a:off x="6173264" y="3706988"/>
            <a:ext cx="115252" cy="167639"/>
          </a:xfrm>
          <a:prstGeom prst="rect">
            <a:avLst/>
          </a:prstGeom>
        </p:spPr>
      </p:pic>
      <p:pic>
        <p:nvPicPr>
          <p:cNvPr id="43" name="Picture 42" descr="lock.png"/>
          <p:cNvPicPr>
            <a:picLocks noChangeAspect="1"/>
          </p:cNvPicPr>
          <p:nvPr/>
        </p:nvPicPr>
        <p:blipFill>
          <a:blip r:embed="rId6"/>
          <a:stretch>
            <a:fillRect/>
          </a:stretch>
        </p:blipFill>
        <p:spPr>
          <a:xfrm>
            <a:off x="7322531" y="3706988"/>
            <a:ext cx="115252" cy="167639"/>
          </a:xfrm>
          <a:prstGeom prst="rect">
            <a:avLst/>
          </a:prstGeom>
        </p:spPr>
      </p:pic>
      <p:pic>
        <p:nvPicPr>
          <p:cNvPr id="44" name="Picture 43" descr="lock.png"/>
          <p:cNvPicPr>
            <a:picLocks noChangeAspect="1"/>
          </p:cNvPicPr>
          <p:nvPr/>
        </p:nvPicPr>
        <p:blipFill>
          <a:blip r:embed="rId6"/>
          <a:stretch>
            <a:fillRect/>
          </a:stretch>
        </p:blipFill>
        <p:spPr>
          <a:xfrm>
            <a:off x="6199385" y="4744458"/>
            <a:ext cx="115252" cy="167639"/>
          </a:xfrm>
          <a:prstGeom prst="rect">
            <a:avLst/>
          </a:prstGeom>
        </p:spPr>
      </p:pic>
      <p:pic>
        <p:nvPicPr>
          <p:cNvPr id="45" name="Picture 44" descr="lock.png"/>
          <p:cNvPicPr>
            <a:picLocks noChangeAspect="1"/>
          </p:cNvPicPr>
          <p:nvPr/>
        </p:nvPicPr>
        <p:blipFill>
          <a:blip r:embed="rId6"/>
          <a:stretch>
            <a:fillRect/>
          </a:stretch>
        </p:blipFill>
        <p:spPr>
          <a:xfrm>
            <a:off x="6199385" y="5517368"/>
            <a:ext cx="115252" cy="167639"/>
          </a:xfrm>
          <a:prstGeom prst="rect">
            <a:avLst/>
          </a:prstGeom>
        </p:spPr>
      </p:pic>
      <p:pic>
        <p:nvPicPr>
          <p:cNvPr id="46" name="Picture 45" descr="lock.png"/>
          <p:cNvPicPr>
            <a:picLocks noChangeAspect="1"/>
          </p:cNvPicPr>
          <p:nvPr/>
        </p:nvPicPr>
        <p:blipFill>
          <a:blip r:embed="rId6"/>
          <a:stretch>
            <a:fillRect/>
          </a:stretch>
        </p:blipFill>
        <p:spPr>
          <a:xfrm>
            <a:off x="7348652" y="4726507"/>
            <a:ext cx="115252" cy="167639"/>
          </a:xfrm>
          <a:prstGeom prst="rect">
            <a:avLst/>
          </a:prstGeom>
        </p:spPr>
      </p:pic>
      <p:pic>
        <p:nvPicPr>
          <p:cNvPr id="47" name="Picture 46" descr="lock.png"/>
          <p:cNvPicPr>
            <a:picLocks noChangeAspect="1"/>
          </p:cNvPicPr>
          <p:nvPr/>
        </p:nvPicPr>
        <p:blipFill>
          <a:blip r:embed="rId6"/>
          <a:stretch>
            <a:fillRect/>
          </a:stretch>
        </p:blipFill>
        <p:spPr>
          <a:xfrm>
            <a:off x="7348652" y="5499417"/>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175439" y="4490163"/>
            <a:ext cx="357960" cy="520669"/>
          </a:xfrm>
          <a:prstGeom prst="rect">
            <a:avLst/>
          </a:prstGeom>
        </p:spPr>
      </p:pic>
      <p:sp>
        <p:nvSpPr>
          <p:cNvPr id="50" name="TextBox 49"/>
          <p:cNvSpPr txBox="1"/>
          <p:nvPr/>
        </p:nvSpPr>
        <p:spPr>
          <a:xfrm>
            <a:off x="257175" y="6160574"/>
            <a:ext cx="4032274" cy="186689"/>
          </a:xfrm>
          <a:prstGeom prst="rect">
            <a:avLst/>
          </a:prstGeom>
          <a:noFill/>
        </p:spPr>
        <p:txBody>
          <a:bodyPr wrap="none" lIns="0" rIns="0" tIns="0" bIns="0">
            <a:spAutoFit/>
          </a:bodyPr>
          <a:lstStyle/>
          <a:p>
            <a:r>
              <a:rPr sz="1100" b="0">
                <a:solidFill>
                  <a:srgbClr val="2E2E2E"/>
                </a:solidFill>
                <a:latin typeface="Calibri"/>
              </a:rPr>
              <a:t>The U.S. heavy commercial vehicle EPS market is projected to register</a:t>
            </a:r>
          </a:p>
        </p:txBody>
      </p:sp>
      <p:pic>
        <p:nvPicPr>
          <p:cNvPr id="51" name="Picture 50" descr="lock.png"/>
          <p:cNvPicPr>
            <a:picLocks noChangeAspect="1"/>
          </p:cNvPicPr>
          <p:nvPr/>
        </p:nvPicPr>
        <p:blipFill>
          <a:blip r:embed="rId6"/>
          <a:stretch>
            <a:fillRect/>
          </a:stretch>
        </p:blipFill>
        <p:spPr>
          <a:xfrm>
            <a:off x="4237501" y="6150795"/>
            <a:ext cx="128699" cy="187198"/>
          </a:xfrm>
          <a:prstGeom prst="rect">
            <a:avLst/>
          </a:prstGeom>
        </p:spPr>
      </p:pic>
      <p:sp>
        <p:nvSpPr>
          <p:cNvPr id="52" name="TextBox 51"/>
          <p:cNvSpPr txBox="1"/>
          <p:nvPr/>
        </p:nvSpPr>
        <p:spPr>
          <a:xfrm>
            <a:off x="4404997" y="6160574"/>
            <a:ext cx="4198970" cy="186689"/>
          </a:xfrm>
          <a:prstGeom prst="rect">
            <a:avLst/>
          </a:prstGeom>
          <a:noFill/>
        </p:spPr>
        <p:txBody>
          <a:bodyPr wrap="none" lIns="0" rIns="0" tIns="0" bIns="0">
            <a:spAutoFit/>
          </a:bodyPr>
          <a:lstStyle/>
          <a:p>
            <a:r>
              <a:rPr sz="1100" b="0">
                <a:solidFill>
                  <a:srgbClr val="2E2E2E"/>
                </a:solidFill>
                <a:latin typeface="Calibri"/>
              </a:rPr>
              <a:t>X higher value than Canada in 2036. India posts the highest CAGR Index (</a:t>
            </a:r>
          </a:p>
        </p:txBody>
      </p:sp>
      <p:pic>
        <p:nvPicPr>
          <p:cNvPr id="53" name="Picture 52" descr="lock.png"/>
          <p:cNvPicPr>
            <a:picLocks noChangeAspect="1"/>
          </p:cNvPicPr>
          <p:nvPr/>
        </p:nvPicPr>
        <p:blipFill>
          <a:blip r:embed="rId6"/>
          <a:stretch>
            <a:fillRect/>
          </a:stretch>
        </p:blipFill>
        <p:spPr>
          <a:xfrm>
            <a:off x="8552018" y="6150795"/>
            <a:ext cx="128699" cy="187198"/>
          </a:xfrm>
          <a:prstGeom prst="rect">
            <a:avLst/>
          </a:prstGeom>
        </p:spPr>
      </p:pic>
      <p:sp>
        <p:nvSpPr>
          <p:cNvPr id="54" name="TextBox 53"/>
          <p:cNvSpPr txBox="1"/>
          <p:nvPr/>
        </p:nvSpPr>
        <p:spPr>
          <a:xfrm>
            <a:off x="8719514"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457545" y="6150795"/>
            <a:ext cx="128699" cy="187198"/>
          </a:xfrm>
          <a:prstGeom prst="rect">
            <a:avLst/>
          </a:prstGeom>
        </p:spPr>
      </p:pic>
      <p:sp>
        <p:nvSpPr>
          <p:cNvPr id="56" name="TextBox 55"/>
          <p:cNvSpPr txBox="1"/>
          <p:nvPr/>
        </p:nvSpPr>
        <p:spPr>
          <a:xfrm>
            <a:off x="9625041"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200" cy="1485896"/>
        </p:xfrm>
        <a:graphic>
          <a:graphicData uri="http://schemas.openxmlformats.org/drawingml/2006/table">
            <a:tbl>
              <a:tblPr>
                <a:tableStyleId>{5C22544A-7EE6-4342-B048-85BDC9FD1C3A}</a:tableStyleId>
              </a:tblPr>
              <a:tblGrid>
                <a:gridCol w="1917762"/>
                <a:gridCol w="3323146"/>
                <a:gridCol w="3323146"/>
                <a:gridCol w="33231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KSA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917762"/>
                <a:gridCol w="3323146"/>
                <a:gridCol w="3323146"/>
                <a:gridCol w="33231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KSA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868190"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68190" y="3580638"/>
            <a:ext cx="366712" cy="5334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'Busses and Coaches'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2 vehicle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074318" cy="194310"/>
          </a:xfrm>
          <a:prstGeom prst="rect">
            <a:avLst/>
          </a:prstGeom>
          <a:noFill/>
        </p:spPr>
        <p:txBody>
          <a:bodyPr wrap="none" lIns="0" rIns="0" tIns="0" bIns="0">
            <a:spAutoFit/>
          </a:bodyPr>
          <a:lstStyle/>
          <a:p>
            <a:r>
              <a:rPr sz="1150" b="0">
                <a:solidFill>
                  <a:srgbClr val="2E2E2E"/>
                </a:solidFill>
                <a:latin typeface="Calibri"/>
              </a:rPr>
              <a:t>Global heavy commercial vehicle EPS market is expected to witness</a:t>
            </a:r>
          </a:p>
        </p:txBody>
      </p:sp>
      <p:pic>
        <p:nvPicPr>
          <p:cNvPr id="32" name="Picture 31" descr="lock.png"/>
          <p:cNvPicPr>
            <a:picLocks noChangeAspect="1"/>
          </p:cNvPicPr>
          <p:nvPr/>
        </p:nvPicPr>
        <p:blipFill>
          <a:blip r:embed="rId4"/>
          <a:stretch>
            <a:fillRect/>
          </a:stretch>
        </p:blipFill>
        <p:spPr>
          <a:xfrm>
            <a:off x="4299697" y="1389951"/>
            <a:ext cx="134549" cy="195707"/>
          </a:xfrm>
          <a:prstGeom prst="rect">
            <a:avLst/>
          </a:prstGeom>
        </p:spPr>
      </p:pic>
      <p:sp>
        <p:nvSpPr>
          <p:cNvPr id="33" name="TextBox 32"/>
          <p:cNvSpPr txBox="1"/>
          <p:nvPr/>
        </p:nvSpPr>
        <p:spPr>
          <a:xfrm>
            <a:off x="4474806" y="1400175"/>
            <a:ext cx="5962984" cy="194310"/>
          </a:xfrm>
          <a:prstGeom prst="rect">
            <a:avLst/>
          </a:prstGeom>
          <a:noFill/>
        </p:spPr>
        <p:txBody>
          <a:bodyPr wrap="none" lIns="0" rIns="0" tIns="0" bIns="0">
            <a:spAutoFit/>
          </a:bodyPr>
          <a:lstStyle/>
          <a:p>
            <a:r>
              <a:rPr sz="1150" b="0">
                <a:solidFill>
                  <a:srgbClr val="2E2E2E"/>
                </a:solidFill>
                <a:latin typeface="Calibri"/>
              </a:rPr>
              <a:t>X increase in revenue by 2036 end. Global heavy commercial vehicle EPS market accounted for US$</a:t>
            </a:r>
          </a:p>
        </p:txBody>
      </p:sp>
      <p:pic>
        <p:nvPicPr>
          <p:cNvPr id="34" name="Picture 33" descr="lock.png"/>
          <p:cNvPicPr>
            <a:picLocks noChangeAspect="1"/>
          </p:cNvPicPr>
          <p:nvPr/>
        </p:nvPicPr>
        <p:blipFill>
          <a:blip r:embed="rId4"/>
          <a:stretch>
            <a:fillRect/>
          </a:stretch>
        </p:blipFill>
        <p:spPr>
          <a:xfrm>
            <a:off x="10386945" y="1389951"/>
            <a:ext cx="134549" cy="195707"/>
          </a:xfrm>
          <a:prstGeom prst="rect">
            <a:avLst/>
          </a:prstGeom>
        </p:spPr>
      </p:pic>
      <p:sp>
        <p:nvSpPr>
          <p:cNvPr id="35" name="TextBox 34"/>
          <p:cNvSpPr txBox="1"/>
          <p:nvPr/>
        </p:nvSpPr>
        <p:spPr>
          <a:xfrm>
            <a:off x="10562055" y="1400175"/>
            <a:ext cx="1174142" cy="194310"/>
          </a:xfrm>
          <a:prstGeom prst="rect">
            <a:avLst/>
          </a:prstGeom>
          <a:noFill/>
        </p:spPr>
        <p:txBody>
          <a:bodyPr wrap="none" lIns="0" rIns="0" tIns="0" bIns="0">
            <a:spAutoFit/>
          </a:bodyPr>
          <a:lstStyle/>
          <a:p>
            <a:r>
              <a:rPr sz="1150" b="0">
                <a:solidFill>
                  <a:srgbClr val="2E2E2E"/>
                </a:solidFill>
                <a:latin typeface="Calibri"/>
              </a:rPr>
              <a:t>Mn in 2025, which</a:t>
            </a:r>
          </a:p>
        </p:txBody>
      </p:sp>
      <p:sp>
        <p:nvSpPr>
          <p:cNvPr id="36" name="TextBox 35"/>
          <p:cNvSpPr txBox="1"/>
          <p:nvPr/>
        </p:nvSpPr>
        <p:spPr>
          <a:xfrm>
            <a:off x="276225" y="1575435"/>
            <a:ext cx="1861318" cy="194310"/>
          </a:xfrm>
          <a:prstGeom prst="rect">
            <a:avLst/>
          </a:prstGeom>
          <a:noFill/>
        </p:spPr>
        <p:txBody>
          <a:bodyPr wrap="none" lIns="0" rIns="0" tIns="0" bIns="0">
            <a:spAutoFit/>
          </a:bodyPr>
          <a:lstStyle/>
          <a:p>
            <a:r>
              <a:rPr sz="1150" b="0">
                <a:solidFill>
                  <a:srgbClr val="2E2E2E"/>
                </a:solidFill>
                <a:latin typeface="Calibri"/>
              </a:rPr>
              <a:t>is expected to increase to US$</a:t>
            </a:r>
          </a:p>
        </p:txBody>
      </p:sp>
      <p:pic>
        <p:nvPicPr>
          <p:cNvPr id="37" name="Picture 36" descr="lock.png"/>
          <p:cNvPicPr>
            <a:picLocks noChangeAspect="1"/>
          </p:cNvPicPr>
          <p:nvPr/>
        </p:nvPicPr>
        <p:blipFill>
          <a:blip r:embed="rId4"/>
          <a:stretch>
            <a:fillRect/>
          </a:stretch>
        </p:blipFill>
        <p:spPr>
          <a:xfrm>
            <a:off x="2086697" y="1565211"/>
            <a:ext cx="134549" cy="195707"/>
          </a:xfrm>
          <a:prstGeom prst="rect">
            <a:avLst/>
          </a:prstGeom>
        </p:spPr>
      </p:pic>
      <p:sp>
        <p:nvSpPr>
          <p:cNvPr id="38" name="TextBox 37"/>
          <p:cNvSpPr txBox="1"/>
          <p:nvPr/>
        </p:nvSpPr>
        <p:spPr>
          <a:xfrm>
            <a:off x="2261807"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738515" y="1565211"/>
            <a:ext cx="134549" cy="195707"/>
          </a:xfrm>
          <a:prstGeom prst="rect">
            <a:avLst/>
          </a:prstGeom>
        </p:spPr>
      </p:pic>
      <p:sp>
        <p:nvSpPr>
          <p:cNvPr id="40" name="TextBox 39"/>
          <p:cNvSpPr txBox="1"/>
          <p:nvPr/>
        </p:nvSpPr>
        <p:spPr>
          <a:xfrm>
            <a:off x="39136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539698" cy="194310"/>
          </a:xfrm>
          <a:prstGeom prst="rect">
            <a:avLst/>
          </a:prstGeom>
          <a:noFill/>
        </p:spPr>
        <p:txBody>
          <a:bodyPr wrap="none" lIns="0" rIns="0" tIns="0" bIns="0">
            <a:spAutoFit/>
          </a:bodyPr>
          <a:lstStyle/>
          <a:p>
            <a:r>
              <a:rPr sz="1150" b="0">
                <a:solidFill>
                  <a:srgbClr val="2E2E2E"/>
                </a:solidFill>
                <a:latin typeface="Calibri"/>
              </a:rPr>
              <a:t>The global heavy commercial vehicle EPS market has been analysed on the basis of system architecture, vehicle type, gross vehicle weight and propulsion type across the globe. North America is</a:t>
            </a:r>
          </a:p>
        </p:txBody>
      </p:sp>
      <p:sp>
        <p:nvSpPr>
          <p:cNvPr id="42" name="TextBox 41"/>
          <p:cNvSpPr txBox="1"/>
          <p:nvPr/>
        </p:nvSpPr>
        <p:spPr>
          <a:xfrm>
            <a:off x="276225" y="1978533"/>
            <a:ext cx="9429372" cy="194310"/>
          </a:xfrm>
          <a:prstGeom prst="rect">
            <a:avLst/>
          </a:prstGeom>
          <a:noFill/>
        </p:spPr>
        <p:txBody>
          <a:bodyPr wrap="none" lIns="0" rIns="0" tIns="0" bIns="0">
            <a:spAutoFit/>
          </a:bodyPr>
          <a:lstStyle/>
          <a:p>
            <a:r>
              <a:rPr sz="1150" b="0">
                <a:solidFill>
                  <a:srgbClr val="2E2E2E"/>
                </a:solidFill>
                <a:latin typeface="Calibri"/>
              </a:rPr>
              <a:t>expected to remain the largest market for heavy commercial vehicle EPS,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9654751" y="1968309"/>
            <a:ext cx="134549" cy="195707"/>
          </a:xfrm>
          <a:prstGeom prst="rect">
            <a:avLst/>
          </a:prstGeom>
        </p:spPr>
      </p:pic>
      <p:sp>
        <p:nvSpPr>
          <p:cNvPr id="44" name="TextBox 43"/>
          <p:cNvSpPr txBox="1"/>
          <p:nvPr/>
        </p:nvSpPr>
        <p:spPr>
          <a:xfrm>
            <a:off x="9829860"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5343698" cy="194310"/>
          </a:xfrm>
          <a:prstGeom prst="rect">
            <a:avLst/>
          </a:prstGeom>
          <a:noFill/>
        </p:spPr>
        <p:txBody>
          <a:bodyPr wrap="none" lIns="0" rIns="0" tIns="0" bIns="0">
            <a:spAutoFit/>
          </a:bodyPr>
          <a:lstStyle/>
          <a:p>
            <a:r>
              <a:rPr sz="1150" b="0">
                <a:solidFill>
                  <a:srgbClr val="2E2E2E"/>
                </a:solidFill>
                <a:latin typeface="Calibri"/>
              </a:rPr>
              <a:t>▪ The market is consolidated: the leading vehicle type category 'Heavy Duty Trucks' holds</a:t>
            </a:r>
          </a:p>
        </p:txBody>
      </p:sp>
      <p:pic>
        <p:nvPicPr>
          <p:cNvPr id="46" name="Picture 45" descr="lock.png"/>
          <p:cNvPicPr>
            <a:picLocks noChangeAspect="1"/>
          </p:cNvPicPr>
          <p:nvPr/>
        </p:nvPicPr>
        <p:blipFill>
          <a:blip r:embed="rId4"/>
          <a:stretch>
            <a:fillRect/>
          </a:stretch>
        </p:blipFill>
        <p:spPr>
          <a:xfrm>
            <a:off x="5569077" y="3266376"/>
            <a:ext cx="134549" cy="195707"/>
          </a:xfrm>
          <a:prstGeom prst="rect">
            <a:avLst/>
          </a:prstGeom>
        </p:spPr>
      </p:pic>
      <p:sp>
        <p:nvSpPr>
          <p:cNvPr id="47" name="TextBox 46"/>
          <p:cNvSpPr txBox="1"/>
          <p:nvPr/>
        </p:nvSpPr>
        <p:spPr>
          <a:xfrm>
            <a:off x="5744186"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4859052" cy="194310"/>
          </a:xfrm>
          <a:prstGeom prst="rect">
            <a:avLst/>
          </a:prstGeom>
          <a:noFill/>
        </p:spPr>
        <p:txBody>
          <a:bodyPr wrap="none" lIns="0" rIns="0" tIns="0" bIns="0">
            <a:spAutoFit/>
          </a:bodyPr>
          <a:lstStyle/>
          <a:p>
            <a:r>
              <a:rPr sz="1150" b="0">
                <a:solidFill>
                  <a:srgbClr val="2E2E2E"/>
                </a:solidFill>
                <a:latin typeface="Calibri"/>
              </a:rPr>
              <a:t>▪ Demand spans 7 regions and 5 segmentation lenses (2 vehicle type categories).</a:t>
            </a:r>
          </a:p>
        </p:txBody>
      </p:sp>
      <p:sp>
        <p:nvSpPr>
          <p:cNvPr id="49" name="TextBox 48"/>
          <p:cNvSpPr txBox="1"/>
          <p:nvPr/>
        </p:nvSpPr>
        <p:spPr>
          <a:xfrm>
            <a:off x="276225" y="373227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50" name="Picture 49" descr="lock.png"/>
          <p:cNvPicPr>
            <a:picLocks noChangeAspect="1"/>
          </p:cNvPicPr>
          <p:nvPr/>
        </p:nvPicPr>
        <p:blipFill>
          <a:blip r:embed="rId4"/>
          <a:stretch>
            <a:fillRect/>
          </a:stretch>
        </p:blipFill>
        <p:spPr>
          <a:xfrm>
            <a:off x="3176367" y="3722052"/>
            <a:ext cx="134549" cy="195707"/>
          </a:xfrm>
          <a:prstGeom prst="rect">
            <a:avLst/>
          </a:prstGeom>
        </p:spPr>
      </p:pic>
      <p:sp>
        <p:nvSpPr>
          <p:cNvPr id="51" name="TextBox 50"/>
          <p:cNvSpPr txBox="1"/>
          <p:nvPr/>
        </p:nvSpPr>
        <p:spPr>
          <a:xfrm>
            <a:off x="3351477"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854573" cy="194310"/>
          </a:xfrm>
          <a:prstGeom prst="rect">
            <a:avLst/>
          </a:prstGeom>
          <a:noFill/>
        </p:spPr>
        <p:txBody>
          <a:bodyPr wrap="none" lIns="0" rIns="0" tIns="0" bIns="0">
            <a:spAutoFit/>
          </a:bodyPr>
          <a:lstStyle/>
          <a:p>
            <a:r>
              <a:rPr sz="1150" b="0">
                <a:solidFill>
                  <a:srgbClr val="2E2E2E"/>
                </a:solidFill>
                <a:latin typeface="Calibri"/>
              </a:rPr>
              <a:t>▪ Accelerating uptake of 'Busses and Coaches' (</a:t>
            </a:r>
          </a:p>
        </p:txBody>
      </p:sp>
      <p:pic>
        <p:nvPicPr>
          <p:cNvPr id="53" name="Picture 52" descr="lock.png"/>
          <p:cNvPicPr>
            <a:picLocks noChangeAspect="1"/>
          </p:cNvPicPr>
          <p:nvPr/>
        </p:nvPicPr>
        <p:blipFill>
          <a:blip r:embed="rId4"/>
          <a:stretch>
            <a:fillRect/>
          </a:stretch>
        </p:blipFill>
        <p:spPr>
          <a:xfrm>
            <a:off x="3079951" y="5028501"/>
            <a:ext cx="134549" cy="195707"/>
          </a:xfrm>
          <a:prstGeom prst="rect">
            <a:avLst/>
          </a:prstGeom>
        </p:spPr>
      </p:pic>
      <p:sp>
        <p:nvSpPr>
          <p:cNvPr id="54" name="TextBox 53"/>
          <p:cNvSpPr txBox="1"/>
          <p:nvPr/>
        </p:nvSpPr>
        <p:spPr>
          <a:xfrm>
            <a:off x="3255061"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6" name="Picture 55" descr="lock.png"/>
          <p:cNvPicPr>
            <a:picLocks noChangeAspect="1"/>
          </p:cNvPicPr>
          <p:nvPr/>
        </p:nvPicPr>
        <p:blipFill>
          <a:blip r:embed="rId4"/>
          <a:stretch>
            <a:fillRect/>
          </a:stretch>
        </p:blipFill>
        <p:spPr>
          <a:xfrm>
            <a:off x="3102424" y="5256339"/>
            <a:ext cx="134549" cy="195707"/>
          </a:xfrm>
          <a:prstGeom prst="rect">
            <a:avLst/>
          </a:prstGeom>
        </p:spPr>
      </p:pic>
      <p:sp>
        <p:nvSpPr>
          <p:cNvPr id="57" name="TextBox 56"/>
          <p:cNvSpPr txBox="1"/>
          <p:nvPr/>
        </p:nvSpPr>
        <p:spPr>
          <a:xfrm>
            <a:off x="3277533"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386571" cy="194310"/>
          </a:xfrm>
          <a:prstGeom prst="rect">
            <a:avLst/>
          </a:prstGeom>
          <a:noFill/>
        </p:spPr>
        <p:txBody>
          <a:bodyPr wrap="none" lIns="0" rIns="0" tIns="0" bIns="0">
            <a:spAutoFit/>
          </a:bodyPr>
          <a:lstStyle/>
          <a:p>
            <a:r>
              <a:rPr sz="1150" b="0">
                <a:solidFill>
                  <a:srgbClr val="2E2E2E"/>
                </a:solidFill>
                <a:latin typeface="Calibri"/>
              </a:rPr>
              <a:t>▪ Momentum in Busses and Coaches within vehicle type</a:t>
            </a:r>
          </a:p>
        </p:txBody>
      </p:sp>
      <p:sp>
        <p:nvSpPr>
          <p:cNvPr id="59" name="TextBox 58"/>
          <p:cNvSpPr txBox="1"/>
          <p:nvPr/>
        </p:nvSpPr>
        <p:spPr>
          <a:xfrm>
            <a:off x="276225" y="566966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0" name="Picture 59" descr="lock.png"/>
          <p:cNvPicPr>
            <a:picLocks noChangeAspect="1"/>
          </p:cNvPicPr>
          <p:nvPr/>
        </p:nvPicPr>
        <p:blipFill>
          <a:blip r:embed="rId4"/>
          <a:stretch>
            <a:fillRect/>
          </a:stretch>
        </p:blipFill>
        <p:spPr>
          <a:xfrm>
            <a:off x="345793" y="5659437"/>
            <a:ext cx="134549" cy="195707"/>
          </a:xfrm>
          <a:prstGeom prst="rect">
            <a:avLst/>
          </a:prstGeom>
        </p:spPr>
      </p:pic>
      <p:sp>
        <p:nvSpPr>
          <p:cNvPr id="61" name="TextBox 60"/>
          <p:cNvSpPr txBox="1"/>
          <p:nvPr/>
        </p:nvSpPr>
        <p:spPr>
          <a:xfrm>
            <a:off x="520902"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5038725"/>
            <a:ext cx="2718792" cy="194310"/>
          </a:xfrm>
          <a:prstGeom prst="rect">
            <a:avLst/>
          </a:prstGeom>
          <a:noFill/>
        </p:spPr>
        <p:txBody>
          <a:bodyPr wrap="none" lIns="0" rIns="0" tIns="0" bIns="0">
            <a:spAutoFit/>
          </a:bodyPr>
          <a:lstStyle/>
          <a:p>
            <a:r>
              <a:rPr sz="1150" b="0">
                <a:solidFill>
                  <a:srgbClr val="2E2E2E"/>
                </a:solidFill>
                <a:latin typeface="Calibri"/>
              </a:rPr>
              <a:t>▪ Slower momentum in 'Heavy Duty Trucks' (</a:t>
            </a:r>
          </a:p>
        </p:txBody>
      </p:sp>
      <p:pic>
        <p:nvPicPr>
          <p:cNvPr id="63" name="Picture 62" descr="lock.png"/>
          <p:cNvPicPr>
            <a:picLocks noChangeAspect="1"/>
          </p:cNvPicPr>
          <p:nvPr/>
        </p:nvPicPr>
        <p:blipFill>
          <a:blip r:embed="rId4"/>
          <a:stretch>
            <a:fillRect/>
          </a:stretch>
        </p:blipFill>
        <p:spPr>
          <a:xfrm>
            <a:off x="7039921" y="5028501"/>
            <a:ext cx="134549" cy="195707"/>
          </a:xfrm>
          <a:prstGeom prst="rect">
            <a:avLst/>
          </a:prstGeom>
        </p:spPr>
      </p:pic>
      <p:sp>
        <p:nvSpPr>
          <p:cNvPr id="64" name="TextBox 63"/>
          <p:cNvSpPr txBox="1"/>
          <p:nvPr/>
        </p:nvSpPr>
        <p:spPr>
          <a:xfrm>
            <a:off x="7215030"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31599"/>
            <a:ext cx="134549" cy="195707"/>
          </a:xfrm>
          <a:prstGeom prst="rect">
            <a:avLst/>
          </a:prstGeom>
        </p:spPr>
      </p:pic>
      <p:sp>
        <p:nvSpPr>
          <p:cNvPr id="68" name="TextBox 67"/>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669660"/>
            <a:ext cx="3533775" cy="194310"/>
          </a:xfrm>
          <a:prstGeom prst="rect">
            <a:avLst/>
          </a:prstGeom>
          <a:noFill/>
        </p:spPr>
        <p:txBody>
          <a:bodyPr wrap="none" lIns="0" rIns="0" tIns="0" bIns="0">
            <a:spAutoFit/>
          </a:bodyPr>
          <a:lstStyle/>
          <a:p>
            <a:r>
              <a:rPr sz="1150" b="0">
                <a:solidFill>
                  <a:srgbClr val="2E2E2E"/>
                </a:solidFill>
                <a:latin typeface="Calibri"/>
              </a:rPr>
              <a:t>▪ Value concentration in 'Heavy Duty Trucks' raises barriers</a:t>
            </a:r>
          </a:p>
        </p:txBody>
      </p:sp>
      <p:sp>
        <p:nvSpPr>
          <p:cNvPr id="70" name="TextBox 69"/>
          <p:cNvSpPr txBox="1"/>
          <p:nvPr/>
        </p:nvSpPr>
        <p:spPr>
          <a:xfrm>
            <a:off x="4371975" y="5844920"/>
            <a:ext cx="1107963" cy="194310"/>
          </a:xfrm>
          <a:prstGeom prst="rect">
            <a:avLst/>
          </a:prstGeom>
          <a:noFill/>
        </p:spPr>
        <p:txBody>
          <a:bodyPr wrap="none" lIns="0" rIns="0" tIns="0" bIns="0">
            <a:spAutoFit/>
          </a:bodyPr>
          <a:lstStyle/>
          <a:p>
            <a:r>
              <a:rPr sz="1150" b="0">
                <a:solidFill>
                  <a:srgbClr val="2E2E2E"/>
                </a:solidFill>
                <a:latin typeface="Calibri"/>
              </a:rPr>
              <a:t>for new entrants.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4" name="Rounded Rectangle 13"/>
          <p:cNvSpPr/>
          <p:nvPr/>
        </p:nvSpPr>
        <p:spPr>
          <a:xfrm>
            <a:off x="6172200" y="98107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790825"/>
            <a:ext cx="5876925"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7655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146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0400"/>
            <a:ext cx="5610225" cy="10858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790825"/>
            <a:ext cx="5876925"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7655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146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0400"/>
            <a:ext cx="5610225" cy="10858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495800"/>
            <a:ext cx="11906250" cy="2114550"/>
          </a:xfrm>
          <a:prstGeom prst="roundRect">
            <a:avLst>
              <a:gd name="adj" fmla="val 36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55295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Vehicle Type Share (2036)</a:t>
            </a:r>
          </a:p>
        </p:txBody>
      </p:sp>
      <p:graphicFrame>
        <p:nvGraphicFramePr>
          <p:cNvPr id="28" name="Chart 27"/>
          <p:cNvGraphicFramePr>
            <a:graphicFrameLocks noGrp="1"/>
          </p:cNvGraphicFramePr>
          <p:nvPr/>
        </p:nvGraphicFramePr>
        <p:xfrm>
          <a:off x="238125" y="4781550"/>
          <a:ext cx="11715750" cy="1771650"/>
        </p:xfrm>
        <a:graphic>
          <a:graphicData uri="http://schemas.openxmlformats.org/drawingml/2006/chart">
            <c:chart xmlns:c="http://schemas.openxmlformats.org/drawingml/2006/chart" r:id="rId3"/>
          </a:graphicData>
        </a:graphic>
      </p:graphicFrame>
      <p:sp>
        <p:nvSpPr>
          <p:cNvPr id="29" name="TextBox 28"/>
          <p:cNvSpPr txBox="1"/>
          <p:nvPr/>
        </p:nvSpPr>
        <p:spPr>
          <a:xfrm>
            <a:off x="3914859" y="5553075"/>
            <a:ext cx="847557"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53896" y="5402105"/>
            <a:ext cx="347376" cy="505274"/>
          </a:xfrm>
          <a:prstGeom prst="rect">
            <a:avLst/>
          </a:prstGeom>
        </p:spPr>
      </p:pic>
      <p:sp>
        <p:nvSpPr>
          <p:cNvPr id="32" name="TextBox 31"/>
          <p:cNvSpPr txBox="1"/>
          <p:nvPr/>
        </p:nvSpPr>
        <p:spPr>
          <a:xfrm>
            <a:off x="276225" y="1400175"/>
            <a:ext cx="5565973" cy="186689"/>
          </a:xfrm>
          <a:prstGeom prst="rect">
            <a:avLst/>
          </a:prstGeom>
          <a:noFill/>
        </p:spPr>
        <p:txBody>
          <a:bodyPr wrap="none" lIns="0" rIns="0" tIns="0" bIns="0">
            <a:spAutoFit/>
          </a:bodyPr>
          <a:lstStyle/>
          <a:p>
            <a:r>
              <a:rPr sz="1100" b="0">
                <a:solidFill>
                  <a:srgbClr val="2E2E2E"/>
                </a:solidFill>
                <a:latin typeface="Calibri"/>
              </a:rPr>
              <a:t>▪ Capacity and product development are concentrating in 'Busses and Coaches' and in South Asia</a:t>
            </a:r>
          </a:p>
        </p:txBody>
      </p:sp>
      <p:sp>
        <p:nvSpPr>
          <p:cNvPr id="33" name="TextBox 32"/>
          <p:cNvSpPr txBox="1"/>
          <p:nvPr/>
        </p:nvSpPr>
        <p:spPr>
          <a:xfrm>
            <a:off x="276225" y="1567815"/>
            <a:ext cx="2170335" cy="186689"/>
          </a:xfrm>
          <a:prstGeom prst="rect">
            <a:avLst/>
          </a:prstGeom>
          <a:noFill/>
        </p:spPr>
        <p:txBody>
          <a:bodyPr wrap="none" lIns="0" rIns="0" tIns="0" bIns="0">
            <a:spAutoFit/>
          </a:bodyPr>
          <a:lstStyle/>
          <a:p>
            <a:r>
              <a:rPr sz="1100" b="0">
                <a:solidFill>
                  <a:srgbClr val="2E2E2E"/>
                </a:solidFill>
                <a:latin typeface="Calibri"/>
              </a:rPr>
              <a:t>&amp; Pacific, the fastest-growing region.</a:t>
            </a:r>
          </a:p>
        </p:txBody>
      </p:sp>
      <p:sp>
        <p:nvSpPr>
          <p:cNvPr id="34" name="TextBox 33"/>
          <p:cNvSpPr txBox="1"/>
          <p:nvPr/>
        </p:nvSpPr>
        <p:spPr>
          <a:xfrm>
            <a:off x="276225" y="1785747"/>
            <a:ext cx="5029274" cy="186689"/>
          </a:xfrm>
          <a:prstGeom prst="rect">
            <a:avLst/>
          </a:prstGeom>
          <a:noFill/>
        </p:spPr>
        <p:txBody>
          <a:bodyPr wrap="none" lIns="0" rIns="0" tIns="0" bIns="0">
            <a:spAutoFit/>
          </a:bodyPr>
          <a:lstStyle/>
          <a:p>
            <a:r>
              <a:rPr sz="1100" b="0">
                <a:solidFill>
                  <a:srgbClr val="2E2E2E"/>
                </a:solidFill>
                <a:latin typeface="Calibri"/>
              </a:rPr>
              <a:t>▪ Portfolio expansion is tracking the shift toward higher-growth vehicle type categories.</a:t>
            </a:r>
          </a:p>
        </p:txBody>
      </p:sp>
      <p:sp>
        <p:nvSpPr>
          <p:cNvPr id="35" name="TextBox 34"/>
          <p:cNvSpPr txBox="1"/>
          <p:nvPr/>
        </p:nvSpPr>
        <p:spPr>
          <a:xfrm>
            <a:off x="276225" y="2003678"/>
            <a:ext cx="5313312" cy="186689"/>
          </a:xfrm>
          <a:prstGeom prst="rect">
            <a:avLst/>
          </a:prstGeom>
          <a:noFill/>
        </p:spPr>
        <p:txBody>
          <a:bodyPr wrap="none" lIns="0" rIns="0" tIns="0" bIns="0">
            <a:spAutoFit/>
          </a:bodyPr>
          <a:lstStyle/>
          <a:p>
            <a:r>
              <a:rPr sz="1100" b="0">
                <a:solidFill>
                  <a:srgbClr val="2E2E2E"/>
                </a:solidFill>
                <a:latin typeface="Calibri"/>
              </a:rPr>
              <a:t>▪ Commercial focus is intensifying in North America and South Asia &amp; Pacific, which together</a:t>
            </a:r>
          </a:p>
        </p:txBody>
      </p:sp>
      <p:sp>
        <p:nvSpPr>
          <p:cNvPr id="36" name="TextBox 35"/>
          <p:cNvSpPr txBox="1"/>
          <p:nvPr/>
        </p:nvSpPr>
        <p:spPr>
          <a:xfrm>
            <a:off x="276225" y="2171319"/>
            <a:ext cx="725586" cy="186689"/>
          </a:xfrm>
          <a:prstGeom prst="rect">
            <a:avLst/>
          </a:prstGeom>
          <a:noFill/>
        </p:spPr>
        <p:txBody>
          <a:bodyPr wrap="none" lIns="0" rIns="0" tIns="0" bIns="0">
            <a:spAutoFit/>
          </a:bodyPr>
          <a:lstStyle/>
          <a:p>
            <a:r>
              <a:rPr sz="1100" b="0">
                <a:solidFill>
                  <a:srgbClr val="2E2E2E"/>
                </a:solidFill>
                <a:latin typeface="Calibri"/>
              </a:rPr>
              <a:t>account for</a:t>
            </a:r>
          </a:p>
        </p:txBody>
      </p:sp>
      <p:pic>
        <p:nvPicPr>
          <p:cNvPr id="37" name="Picture 36" descr="lock.png"/>
          <p:cNvPicPr>
            <a:picLocks noChangeAspect="1"/>
          </p:cNvPicPr>
          <p:nvPr/>
        </p:nvPicPr>
        <p:blipFill>
          <a:blip r:embed="rId5"/>
          <a:stretch>
            <a:fillRect/>
          </a:stretch>
        </p:blipFill>
        <p:spPr>
          <a:xfrm>
            <a:off x="949863" y="2161540"/>
            <a:ext cx="128699" cy="187198"/>
          </a:xfrm>
          <a:prstGeom prst="rect">
            <a:avLst/>
          </a:prstGeom>
        </p:spPr>
      </p:pic>
      <p:sp>
        <p:nvSpPr>
          <p:cNvPr id="38" name="TextBox 37"/>
          <p:cNvSpPr txBox="1"/>
          <p:nvPr/>
        </p:nvSpPr>
        <p:spPr>
          <a:xfrm>
            <a:off x="1117359" y="2171319"/>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39" name="TextBox 38"/>
          <p:cNvSpPr txBox="1"/>
          <p:nvPr/>
        </p:nvSpPr>
        <p:spPr>
          <a:xfrm>
            <a:off x="6305550" y="1400175"/>
            <a:ext cx="1508943" cy="186689"/>
          </a:xfrm>
          <a:prstGeom prst="rect">
            <a:avLst/>
          </a:prstGeom>
          <a:noFill/>
        </p:spPr>
        <p:txBody>
          <a:bodyPr wrap="none" lIns="0" rIns="0" tIns="0" bIns="0">
            <a:spAutoFit/>
          </a:bodyPr>
          <a:lstStyle/>
          <a:p>
            <a:r>
              <a:rPr sz="1100" b="0">
                <a:solidFill>
                  <a:srgbClr val="2E2E2E"/>
                </a:solidFill>
                <a:latin typeface="Calibri"/>
              </a:rPr>
              <a:t>▪ Market value rises from</a:t>
            </a:r>
          </a:p>
        </p:txBody>
      </p:sp>
      <p:pic>
        <p:nvPicPr>
          <p:cNvPr id="40" name="Picture 39" descr="lock.png"/>
          <p:cNvPicPr>
            <a:picLocks noChangeAspect="1"/>
          </p:cNvPicPr>
          <p:nvPr/>
        </p:nvPicPr>
        <p:blipFill>
          <a:blip r:embed="rId5"/>
          <a:stretch>
            <a:fillRect/>
          </a:stretch>
        </p:blipFill>
        <p:spPr>
          <a:xfrm>
            <a:off x="7762545" y="1390396"/>
            <a:ext cx="128699" cy="187198"/>
          </a:xfrm>
          <a:prstGeom prst="rect">
            <a:avLst/>
          </a:prstGeom>
        </p:spPr>
      </p:pic>
      <p:sp>
        <p:nvSpPr>
          <p:cNvPr id="41" name="TextBox 40"/>
          <p:cNvSpPr txBox="1"/>
          <p:nvPr/>
        </p:nvSpPr>
        <p:spPr>
          <a:xfrm>
            <a:off x="7930040" y="1400175"/>
            <a:ext cx="1130498" cy="186689"/>
          </a:xfrm>
          <a:prstGeom prst="rect">
            <a:avLst/>
          </a:prstGeom>
          <a:noFill/>
        </p:spPr>
        <p:txBody>
          <a:bodyPr wrap="none" lIns="0" rIns="0" tIns="0" bIns="0">
            <a:spAutoFit/>
          </a:bodyPr>
          <a:lstStyle/>
          <a:p>
            <a:r>
              <a:rPr sz="1100" b="0">
                <a:solidFill>
                  <a:srgbClr val="2E2E2E"/>
                </a:solidFill>
                <a:latin typeface="Calibri"/>
              </a:rPr>
              <a:t>US$ Mn in 2026 to</a:t>
            </a:r>
          </a:p>
        </p:txBody>
      </p:sp>
      <p:pic>
        <p:nvPicPr>
          <p:cNvPr id="42" name="Picture 41" descr="lock.png"/>
          <p:cNvPicPr>
            <a:picLocks noChangeAspect="1"/>
          </p:cNvPicPr>
          <p:nvPr/>
        </p:nvPicPr>
        <p:blipFill>
          <a:blip r:embed="rId5"/>
          <a:stretch>
            <a:fillRect/>
          </a:stretch>
        </p:blipFill>
        <p:spPr>
          <a:xfrm>
            <a:off x="9008591" y="1390396"/>
            <a:ext cx="128699" cy="187198"/>
          </a:xfrm>
          <a:prstGeom prst="rect">
            <a:avLst/>
          </a:prstGeom>
        </p:spPr>
      </p:pic>
      <p:sp>
        <p:nvSpPr>
          <p:cNvPr id="43" name="TextBox 42"/>
          <p:cNvSpPr txBox="1"/>
          <p:nvPr/>
        </p:nvSpPr>
        <p:spPr>
          <a:xfrm>
            <a:off x="9176086" y="1400175"/>
            <a:ext cx="1013445" cy="186689"/>
          </a:xfrm>
          <a:prstGeom prst="rect">
            <a:avLst/>
          </a:prstGeom>
          <a:noFill/>
        </p:spPr>
        <p:txBody>
          <a:bodyPr wrap="none" lIns="0" rIns="0" tIns="0" bIns="0">
            <a:spAutoFit/>
          </a:bodyPr>
          <a:lstStyle/>
          <a:p>
            <a:r>
              <a:rPr sz="1100" b="0">
                <a:solidFill>
                  <a:srgbClr val="2E2E2E"/>
                </a:solidFill>
                <a:latin typeface="Calibri"/>
              </a:rPr>
              <a:t>US$ Mn in 2036.</a:t>
            </a:r>
          </a:p>
        </p:txBody>
      </p:sp>
      <p:sp>
        <p:nvSpPr>
          <p:cNvPr id="44" name="TextBox 43"/>
          <p:cNvSpPr txBox="1"/>
          <p:nvPr/>
        </p:nvSpPr>
        <p:spPr>
          <a:xfrm>
            <a:off x="6305550" y="1618107"/>
            <a:ext cx="1331572" cy="186689"/>
          </a:xfrm>
          <a:prstGeom prst="rect">
            <a:avLst/>
          </a:prstGeom>
          <a:noFill/>
        </p:spPr>
        <p:txBody>
          <a:bodyPr wrap="none" lIns="0" rIns="0" tIns="0" bIns="0">
            <a:spAutoFit/>
          </a:bodyPr>
          <a:lstStyle/>
          <a:p>
            <a:r>
              <a:rPr sz="1100" b="0">
                <a:solidFill>
                  <a:srgbClr val="2E2E2E"/>
                </a:solidFill>
                <a:latin typeface="Calibri"/>
              </a:rPr>
              <a:t>▪ The forecast CAGR is</a:t>
            </a:r>
          </a:p>
        </p:txBody>
      </p:sp>
      <p:pic>
        <p:nvPicPr>
          <p:cNvPr id="45" name="Picture 44" descr="lock.png"/>
          <p:cNvPicPr>
            <a:picLocks noChangeAspect="1"/>
          </p:cNvPicPr>
          <p:nvPr/>
        </p:nvPicPr>
        <p:blipFill>
          <a:blip r:embed="rId5"/>
          <a:stretch>
            <a:fillRect/>
          </a:stretch>
        </p:blipFill>
        <p:spPr>
          <a:xfrm>
            <a:off x="7585174" y="1608328"/>
            <a:ext cx="128699" cy="187198"/>
          </a:xfrm>
          <a:prstGeom prst="rect">
            <a:avLst/>
          </a:prstGeom>
        </p:spPr>
      </p:pic>
      <p:sp>
        <p:nvSpPr>
          <p:cNvPr id="46" name="TextBox 45"/>
          <p:cNvSpPr txBox="1"/>
          <p:nvPr/>
        </p:nvSpPr>
        <p:spPr>
          <a:xfrm>
            <a:off x="7752670" y="1618107"/>
            <a:ext cx="1008533" cy="186689"/>
          </a:xfrm>
          <a:prstGeom prst="rect">
            <a:avLst/>
          </a:prstGeom>
          <a:noFill/>
        </p:spPr>
        <p:txBody>
          <a:bodyPr wrap="none" lIns="0" rIns="0" tIns="0" bIns="0">
            <a:spAutoFit/>
          </a:bodyPr>
          <a:lstStyle/>
          <a:p>
            <a:r>
              <a:rPr sz="1100" b="0">
                <a:solidFill>
                  <a:srgbClr val="2E2E2E"/>
                </a:solidFill>
                <a:latin typeface="Calibri"/>
              </a:rPr>
              <a:t>over 2026-2036.</a:t>
            </a:r>
          </a:p>
        </p:txBody>
      </p:sp>
      <p:sp>
        <p:nvSpPr>
          <p:cNvPr id="47" name="TextBox 46"/>
          <p:cNvSpPr txBox="1"/>
          <p:nvPr/>
        </p:nvSpPr>
        <p:spPr>
          <a:xfrm>
            <a:off x="6305550" y="1836039"/>
            <a:ext cx="3408536" cy="186689"/>
          </a:xfrm>
          <a:prstGeom prst="rect">
            <a:avLst/>
          </a:prstGeom>
          <a:noFill/>
        </p:spPr>
        <p:txBody>
          <a:bodyPr wrap="none" lIns="0" rIns="0" tIns="0" bIns="0">
            <a:spAutoFit/>
          </a:bodyPr>
          <a:lstStyle/>
          <a:p>
            <a:r>
              <a:rPr sz="1100" b="0">
                <a:solidFill>
                  <a:srgbClr val="2E2E2E"/>
                </a:solidFill>
                <a:latin typeface="Calibri"/>
              </a:rPr>
              <a:t>▪ 'Heavy Duty Trucks' is the lead vehicle type category with</a:t>
            </a:r>
          </a:p>
        </p:txBody>
      </p:sp>
      <p:pic>
        <p:nvPicPr>
          <p:cNvPr id="48" name="Picture 47" descr="lock.png"/>
          <p:cNvPicPr>
            <a:picLocks noChangeAspect="1"/>
          </p:cNvPicPr>
          <p:nvPr/>
        </p:nvPicPr>
        <p:blipFill>
          <a:blip r:embed="rId5"/>
          <a:stretch>
            <a:fillRect/>
          </a:stretch>
        </p:blipFill>
        <p:spPr>
          <a:xfrm>
            <a:off x="9662137" y="1826260"/>
            <a:ext cx="128699" cy="187198"/>
          </a:xfrm>
          <a:prstGeom prst="rect">
            <a:avLst/>
          </a:prstGeom>
        </p:spPr>
      </p:pic>
      <p:sp>
        <p:nvSpPr>
          <p:cNvPr id="49" name="TextBox 48"/>
          <p:cNvSpPr txBox="1"/>
          <p:nvPr/>
        </p:nvSpPr>
        <p:spPr>
          <a:xfrm>
            <a:off x="9829633" y="1836039"/>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50" name="TextBox 49"/>
          <p:cNvSpPr txBox="1"/>
          <p:nvPr/>
        </p:nvSpPr>
        <p:spPr>
          <a:xfrm>
            <a:off x="6305550" y="2053970"/>
            <a:ext cx="2283841" cy="186689"/>
          </a:xfrm>
          <a:prstGeom prst="rect">
            <a:avLst/>
          </a:prstGeom>
          <a:noFill/>
        </p:spPr>
        <p:txBody>
          <a:bodyPr wrap="none" lIns="0" rIns="0" tIns="0" bIns="0">
            <a:spAutoFit/>
          </a:bodyPr>
          <a:lstStyle/>
          <a:p>
            <a:r>
              <a:rPr sz="1100" b="0">
                <a:solidFill>
                  <a:srgbClr val="2E2E2E"/>
                </a:solidFill>
                <a:latin typeface="Calibri"/>
              </a:rPr>
              <a:t>▪ North America is the lead region with</a:t>
            </a:r>
          </a:p>
        </p:txBody>
      </p:sp>
      <p:pic>
        <p:nvPicPr>
          <p:cNvPr id="51" name="Picture 50" descr="lock.png"/>
          <p:cNvPicPr>
            <a:picLocks noChangeAspect="1"/>
          </p:cNvPicPr>
          <p:nvPr/>
        </p:nvPicPr>
        <p:blipFill>
          <a:blip r:embed="rId5"/>
          <a:stretch>
            <a:fillRect/>
          </a:stretch>
        </p:blipFill>
        <p:spPr>
          <a:xfrm>
            <a:off x="8537443" y="2044192"/>
            <a:ext cx="128699" cy="187198"/>
          </a:xfrm>
          <a:prstGeom prst="rect">
            <a:avLst/>
          </a:prstGeom>
        </p:spPr>
      </p:pic>
      <p:sp>
        <p:nvSpPr>
          <p:cNvPr id="52" name="TextBox 51"/>
          <p:cNvSpPr txBox="1"/>
          <p:nvPr/>
        </p:nvSpPr>
        <p:spPr>
          <a:xfrm>
            <a:off x="8704939" y="2053970"/>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53" name="TextBox 52"/>
          <p:cNvSpPr txBox="1"/>
          <p:nvPr/>
        </p:nvSpPr>
        <p:spPr>
          <a:xfrm>
            <a:off x="6305550" y="2271903"/>
            <a:ext cx="2841823" cy="186689"/>
          </a:xfrm>
          <a:prstGeom prst="rect">
            <a:avLst/>
          </a:prstGeom>
          <a:noFill/>
        </p:spPr>
        <p:txBody>
          <a:bodyPr wrap="none" lIns="0" rIns="0" tIns="0" bIns="0">
            <a:spAutoFit/>
          </a:bodyPr>
          <a:lstStyle/>
          <a:p>
            <a:r>
              <a:rPr sz="1100" b="0">
                <a:solidFill>
                  <a:srgbClr val="2E2E2E"/>
                </a:solidFill>
                <a:latin typeface="Calibri"/>
              </a:rPr>
              <a:t>▪ The incremental opportunity over 2026-2036 is</a:t>
            </a:r>
          </a:p>
        </p:txBody>
      </p:sp>
      <p:pic>
        <p:nvPicPr>
          <p:cNvPr id="54" name="Picture 53" descr="lock.png"/>
          <p:cNvPicPr>
            <a:picLocks noChangeAspect="1"/>
          </p:cNvPicPr>
          <p:nvPr/>
        </p:nvPicPr>
        <p:blipFill>
          <a:blip r:embed="rId5"/>
          <a:stretch>
            <a:fillRect/>
          </a:stretch>
        </p:blipFill>
        <p:spPr>
          <a:xfrm>
            <a:off x="9095425" y="2262124"/>
            <a:ext cx="128699" cy="187198"/>
          </a:xfrm>
          <a:prstGeom prst="rect">
            <a:avLst/>
          </a:prstGeom>
        </p:spPr>
      </p:pic>
      <p:sp>
        <p:nvSpPr>
          <p:cNvPr id="55" name="TextBox 54"/>
          <p:cNvSpPr txBox="1"/>
          <p:nvPr/>
        </p:nvSpPr>
        <p:spPr>
          <a:xfrm>
            <a:off x="926292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6" name="TextBox 55"/>
          <p:cNvSpPr txBox="1"/>
          <p:nvPr/>
        </p:nvSpPr>
        <p:spPr>
          <a:xfrm>
            <a:off x="276225" y="3209925"/>
            <a:ext cx="5591175" cy="186689"/>
          </a:xfrm>
          <a:prstGeom prst="rect">
            <a:avLst/>
          </a:prstGeom>
          <a:noFill/>
        </p:spPr>
        <p:txBody>
          <a:bodyPr wrap="none" lIns="0" rIns="0" tIns="0" bIns="0">
            <a:spAutoFit/>
          </a:bodyPr>
          <a:lstStyle/>
          <a:p>
            <a:r>
              <a:rPr sz="1100" b="0">
                <a:solidFill>
                  <a:srgbClr val="2E2E2E"/>
                </a:solidFill>
                <a:latin typeface="Calibri"/>
              </a:rPr>
              <a:t>▪ Investment is flowing toward 'Busses and Coaches', the fastest-growing vehicle type category at</a:t>
            </a:r>
          </a:p>
        </p:txBody>
      </p:sp>
      <p:pic>
        <p:nvPicPr>
          <p:cNvPr id="57" name="Picture 56" descr="lock.png"/>
          <p:cNvPicPr>
            <a:picLocks noChangeAspect="1"/>
          </p:cNvPicPr>
          <p:nvPr/>
        </p:nvPicPr>
        <p:blipFill>
          <a:blip r:embed="rId5"/>
          <a:stretch>
            <a:fillRect/>
          </a:stretch>
        </p:blipFill>
        <p:spPr>
          <a:xfrm>
            <a:off x="262757" y="3367786"/>
            <a:ext cx="128699" cy="187198"/>
          </a:xfrm>
          <a:prstGeom prst="rect">
            <a:avLst/>
          </a:prstGeom>
        </p:spPr>
      </p:pic>
      <p:sp>
        <p:nvSpPr>
          <p:cNvPr id="58" name="TextBox 57"/>
          <p:cNvSpPr txBox="1"/>
          <p:nvPr/>
        </p:nvSpPr>
        <p:spPr>
          <a:xfrm>
            <a:off x="430253" y="3377565"/>
            <a:ext cx="430617"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59" name="TextBox 58"/>
          <p:cNvSpPr txBox="1"/>
          <p:nvPr/>
        </p:nvSpPr>
        <p:spPr>
          <a:xfrm>
            <a:off x="276225" y="359549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60" name="Picture 59" descr="lock.png"/>
          <p:cNvPicPr>
            <a:picLocks noChangeAspect="1"/>
          </p:cNvPicPr>
          <p:nvPr/>
        </p:nvPicPr>
        <p:blipFill>
          <a:blip r:embed="rId5"/>
          <a:stretch>
            <a:fillRect/>
          </a:stretch>
        </p:blipFill>
        <p:spPr>
          <a:xfrm>
            <a:off x="1576057" y="3585718"/>
            <a:ext cx="128699" cy="187198"/>
          </a:xfrm>
          <a:prstGeom prst="rect">
            <a:avLst/>
          </a:prstGeom>
        </p:spPr>
      </p:pic>
      <p:sp>
        <p:nvSpPr>
          <p:cNvPr id="61" name="TextBox 60"/>
          <p:cNvSpPr txBox="1"/>
          <p:nvPr/>
        </p:nvSpPr>
        <p:spPr>
          <a:xfrm>
            <a:off x="1743553" y="3595497"/>
            <a:ext cx="3444808" cy="186689"/>
          </a:xfrm>
          <a:prstGeom prst="rect">
            <a:avLst/>
          </a:prstGeom>
          <a:noFill/>
        </p:spPr>
        <p:txBody>
          <a:bodyPr wrap="none" lIns="0" rIns="0" tIns="0" bIns="0">
            <a:spAutoFit/>
          </a:bodyPr>
          <a:lstStyle/>
          <a:p>
            <a:r>
              <a:rPr sz="1100" b="0">
                <a:solidFill>
                  <a:srgbClr val="2E2E2E"/>
                </a:solidFill>
                <a:latin typeface="Calibri"/>
              </a:rPr>
              <a:t>CAGR) is a priority region for new capacity and distribution.</a:t>
            </a:r>
          </a:p>
        </p:txBody>
      </p:sp>
      <p:sp>
        <p:nvSpPr>
          <p:cNvPr id="62" name="TextBox 61"/>
          <p:cNvSpPr txBox="1"/>
          <p:nvPr/>
        </p:nvSpPr>
        <p:spPr>
          <a:xfrm>
            <a:off x="276225" y="3813429"/>
            <a:ext cx="4919315" cy="186689"/>
          </a:xfrm>
          <a:prstGeom prst="rect">
            <a:avLst/>
          </a:prstGeom>
          <a:noFill/>
        </p:spPr>
        <p:txBody>
          <a:bodyPr wrap="none" lIns="0" rIns="0" tIns="0" bIns="0">
            <a:spAutoFit/>
          </a:bodyPr>
          <a:lstStyle/>
          <a:p>
            <a:r>
              <a:rPr sz="1100" b="0">
                <a:solidFill>
                  <a:srgbClr val="2E2E2E"/>
                </a:solidFill>
                <a:latin typeface="Calibri"/>
              </a:rPr>
              <a:t>▪ Scale players are anchoring their portfolios around 'Heavy Duty Trucks', which holds</a:t>
            </a:r>
          </a:p>
        </p:txBody>
      </p:sp>
      <p:pic>
        <p:nvPicPr>
          <p:cNvPr id="63" name="Picture 62" descr="lock.png"/>
          <p:cNvPicPr>
            <a:picLocks noChangeAspect="1"/>
          </p:cNvPicPr>
          <p:nvPr/>
        </p:nvPicPr>
        <p:blipFill>
          <a:blip r:embed="rId5"/>
          <a:stretch>
            <a:fillRect/>
          </a:stretch>
        </p:blipFill>
        <p:spPr>
          <a:xfrm>
            <a:off x="5143591" y="3803650"/>
            <a:ext cx="128699" cy="187198"/>
          </a:xfrm>
          <a:prstGeom prst="rect">
            <a:avLst/>
          </a:prstGeom>
        </p:spPr>
      </p:pic>
      <p:sp>
        <p:nvSpPr>
          <p:cNvPr id="64" name="TextBox 63"/>
          <p:cNvSpPr txBox="1"/>
          <p:nvPr/>
        </p:nvSpPr>
        <p:spPr>
          <a:xfrm>
            <a:off x="5311087" y="3813429"/>
            <a:ext cx="424631"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65" name="TextBox 64"/>
          <p:cNvSpPr txBox="1"/>
          <p:nvPr/>
        </p:nvSpPr>
        <p:spPr>
          <a:xfrm>
            <a:off x="6305550" y="3209925"/>
            <a:ext cx="5510584" cy="186689"/>
          </a:xfrm>
          <a:prstGeom prst="rect">
            <a:avLst/>
          </a:prstGeom>
          <a:noFill/>
        </p:spPr>
        <p:txBody>
          <a:bodyPr wrap="none" lIns="0" rIns="0" tIns="0" bIns="0">
            <a:spAutoFit/>
          </a:bodyPr>
          <a:lstStyle/>
          <a:p>
            <a:r>
              <a:rPr sz="1100" b="0">
                <a:solidFill>
                  <a:srgbClr val="2E2E2E"/>
                </a:solidFill>
                <a:latin typeface="Calibri"/>
              </a:rPr>
              <a:t>▪ R&amp;D programmes are focused on material performance, process efficiency and automation, in</a:t>
            </a:r>
          </a:p>
        </p:txBody>
      </p:sp>
      <p:sp>
        <p:nvSpPr>
          <p:cNvPr id="66" name="TextBox 65"/>
          <p:cNvSpPr txBox="1"/>
          <p:nvPr/>
        </p:nvSpPr>
        <p:spPr>
          <a:xfrm>
            <a:off x="6305550" y="3377565"/>
            <a:ext cx="3073474" cy="186689"/>
          </a:xfrm>
          <a:prstGeom prst="rect">
            <a:avLst/>
          </a:prstGeom>
          <a:noFill/>
        </p:spPr>
        <p:txBody>
          <a:bodyPr wrap="none" lIns="0" rIns="0" tIns="0" bIns="0">
            <a:spAutoFit/>
          </a:bodyPr>
          <a:lstStyle/>
          <a:p>
            <a:r>
              <a:rPr sz="1100" b="0">
                <a:solidFill>
                  <a:srgbClr val="2E2E2E"/>
                </a:solidFill>
                <a:latin typeface="Calibri"/>
              </a:rPr>
              <a:t>line with the migration toward 'Busses and Coaches'.</a:t>
            </a:r>
          </a:p>
        </p:txBody>
      </p:sp>
      <p:sp>
        <p:nvSpPr>
          <p:cNvPr id="67" name="TextBox 66"/>
          <p:cNvSpPr txBox="1"/>
          <p:nvPr/>
        </p:nvSpPr>
        <p:spPr>
          <a:xfrm>
            <a:off x="6305550" y="3595497"/>
            <a:ext cx="5242644" cy="186689"/>
          </a:xfrm>
          <a:prstGeom prst="rect">
            <a:avLst/>
          </a:prstGeom>
          <a:noFill/>
        </p:spPr>
        <p:txBody>
          <a:bodyPr wrap="none" lIns="0" rIns="0" tIns="0" bIns="0">
            <a:spAutoFit/>
          </a:bodyPr>
          <a:lstStyle/>
          <a:p>
            <a:r>
              <a:rPr sz="1100" b="0">
                <a:solidFill>
                  <a:srgbClr val="2E2E2E"/>
                </a:solidFill>
                <a:latin typeface="Calibri"/>
              </a:rPr>
              <a:t>▪ Development spend is targeting the vehicle type categories that gain share through 2036.</a:t>
            </a:r>
          </a:p>
        </p:txBody>
      </p:sp>
      <p:sp>
        <p:nvSpPr>
          <p:cNvPr id="68" name="TextBox 67"/>
          <p:cNvSpPr txBox="1"/>
          <p:nvPr/>
        </p:nvSpPr>
        <p:spPr>
          <a:xfrm>
            <a:off x="6305550" y="381342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9" name="Picture 68" descr="lock.png"/>
          <p:cNvPicPr>
            <a:picLocks noChangeAspect="1"/>
          </p:cNvPicPr>
          <p:nvPr/>
        </p:nvPicPr>
        <p:blipFill>
          <a:blip r:embed="rId5"/>
          <a:stretch>
            <a:fillRect/>
          </a:stretch>
        </p:blipFill>
        <p:spPr>
          <a:xfrm>
            <a:off x="7847947" y="3803650"/>
            <a:ext cx="128699" cy="187198"/>
          </a:xfrm>
          <a:prstGeom prst="rect">
            <a:avLst/>
          </a:prstGeom>
        </p:spPr>
      </p:pic>
      <p:sp>
        <p:nvSpPr>
          <p:cNvPr id="70" name="TextBox 69"/>
          <p:cNvSpPr txBox="1"/>
          <p:nvPr/>
        </p:nvSpPr>
        <p:spPr>
          <a:xfrm>
            <a:off x="8015443" y="3813429"/>
            <a:ext cx="3416977" cy="186689"/>
          </a:xfrm>
          <a:prstGeom prst="rect">
            <a:avLst/>
          </a:prstGeom>
          <a:noFill/>
        </p:spPr>
        <p:txBody>
          <a:bodyPr wrap="none" lIns="0" rIns="0" tIns="0" bIns="0">
            <a:spAutoFit/>
          </a:bodyPr>
          <a:lstStyle/>
          <a:p>
            <a:r>
              <a:rPr sz="1100" b="0">
                <a:solidFill>
                  <a:srgbClr val="2E2E2E"/>
                </a:solidFill>
                <a:latin typeface="Calibri"/>
              </a:rPr>
              <a:t>forecast CAGR by sustaining both volume growth and price</a:t>
            </a:r>
          </a:p>
        </p:txBody>
      </p:sp>
      <p:sp>
        <p:nvSpPr>
          <p:cNvPr id="71" name="TextBox 70"/>
          <p:cNvSpPr txBox="1"/>
          <p:nvPr/>
        </p:nvSpPr>
        <p:spPr>
          <a:xfrm>
            <a:off x="6305550" y="3981069"/>
            <a:ext cx="708669" cy="186689"/>
          </a:xfrm>
          <a:prstGeom prst="rect">
            <a:avLst/>
          </a:prstGeom>
          <a:noFill/>
        </p:spPr>
        <p:txBody>
          <a:bodyPr wrap="none" lIns="0" rIns="0" tIns="0" bIns="0">
            <a:spAutoFit/>
          </a:bodyPr>
          <a:lstStyle/>
          <a:p>
            <a:r>
              <a:rPr sz="1100" b="0">
                <a:solidFill>
                  <a:srgbClr val="2E2E2E"/>
                </a:solidFill>
                <a:latin typeface="Calibri"/>
              </a:rPr>
              <a:t>realisation.</a:t>
            </a:r>
          </a:p>
        </p:txBody>
      </p:sp>
      <p:sp>
        <p:nvSpPr>
          <p:cNvPr id="72" name="lockshield_28"/>
          <p:cNvSpPr/>
          <p:nvPr/>
        </p:nvSpPr>
        <p:spPr>
          <a:xfrm>
            <a:off x="238125" y="4781550"/>
            <a:ext cx="11715750" cy="17716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'Busses and Coaches' category and the 'Busses and Coaches' vehicle type route, where growth outpaces the market.</a:t>
            </a:r>
          </a:p>
        </p:txBody>
      </p:sp>
      <p:sp>
        <p:nvSpPr>
          <p:cNvPr id="18" name="Rounded Rectangle 17"/>
          <p:cNvSpPr/>
          <p:nvPr/>
        </p:nvSpPr>
        <p:spPr>
          <a:xfrm>
            <a:off x="142875"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95825"/>
            <a:ext cx="11906250" cy="1914525"/>
          </a:xfrm>
          <a:prstGeom prst="roundRect">
            <a:avLst>
              <a:gd name="adj" fmla="val 3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81550"/>
            <a:ext cx="11639550" cy="209550"/>
          </a:xfrm>
          <a:prstGeom prst="rect">
            <a:avLst/>
          </a:prstGeom>
          <a:noFill/>
        </p:spPr>
        <p:txBody>
          <a:bodyPr wrap="square" lIns="0" rIns="19050" tIns="9525" bIns="9525">
            <a:spAutoFit/>
          </a:bodyPr>
          <a:lstStyle/>
          <a:p>
            <a:pPr algn="l"/>
            <a:r>
              <a:rPr sz="1300" b="1">
                <a:solidFill>
                  <a:srgbClr val="0B2E4A"/>
                </a:solidFill>
                <a:latin typeface="Calibri"/>
              </a:rPr>
              <a:t>FMI Analysis and Recommendation</a:t>
            </a:r>
          </a:p>
        </p:txBody>
      </p:sp>
      <p:sp>
        <p:nvSpPr>
          <p:cNvPr id="28" name="Rectangle 27"/>
          <p:cNvSpPr/>
          <p:nvPr/>
        </p:nvSpPr>
        <p:spPr>
          <a:xfrm>
            <a:off x="276225" y="5019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105400"/>
            <a:ext cx="11639550" cy="1428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 and region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'Heavy Duty Trucks' as the value anchor of the portfolio.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product qualification and industry certification into the offer to protect pricing as competition intensifies.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176254" cy="194310"/>
          </a:xfrm>
          <a:prstGeom prst="rect">
            <a:avLst/>
          </a:prstGeom>
          <a:noFill/>
        </p:spPr>
        <p:txBody>
          <a:bodyPr wrap="none" lIns="0" rIns="0" tIns="0" bIns="0">
            <a:spAutoFit/>
          </a:bodyPr>
          <a:lstStyle/>
          <a:p>
            <a:r>
              <a:rPr sz="1150" b="0">
                <a:solidFill>
                  <a:srgbClr val="2E2E2E"/>
                </a:solidFill>
                <a:latin typeface="Calibri"/>
              </a:rPr>
              <a:t>▪ Balance scale in 'Heavy Duty Trucks' with targeted growth in 'Busses and Coaches' to</a:t>
            </a:r>
          </a:p>
        </p:txBody>
      </p:sp>
      <p:sp>
        <p:nvSpPr>
          <p:cNvPr id="32" name="TextBox 31"/>
          <p:cNvSpPr txBox="1"/>
          <p:nvPr/>
        </p:nvSpPr>
        <p:spPr>
          <a:xfrm>
            <a:off x="276225" y="1575435"/>
            <a:ext cx="765943" cy="194310"/>
          </a:xfrm>
          <a:prstGeom prst="rect">
            <a:avLst/>
          </a:prstGeom>
          <a:noFill/>
        </p:spPr>
        <p:txBody>
          <a:bodyPr wrap="none" lIns="0" rIns="0" tIns="0" bIns="0">
            <a:spAutoFit/>
          </a:bodyPr>
          <a:lstStyle/>
          <a:p>
            <a:r>
              <a:rPr sz="1150" b="0">
                <a:solidFill>
                  <a:srgbClr val="2E2E2E"/>
                </a:solidFill>
                <a:latin typeface="Calibri"/>
              </a:rPr>
              <a:t>capture the</a:t>
            </a:r>
          </a:p>
        </p:txBody>
      </p:sp>
      <p:pic>
        <p:nvPicPr>
          <p:cNvPr id="33" name="Picture 32" descr="lock.png"/>
          <p:cNvPicPr>
            <a:picLocks noChangeAspect="1"/>
          </p:cNvPicPr>
          <p:nvPr/>
        </p:nvPicPr>
        <p:blipFill>
          <a:blip r:embed="rId4"/>
          <a:stretch>
            <a:fillRect/>
          </a:stretch>
        </p:blipFill>
        <p:spPr>
          <a:xfrm>
            <a:off x="991322" y="1565211"/>
            <a:ext cx="134549" cy="195707"/>
          </a:xfrm>
          <a:prstGeom prst="rect">
            <a:avLst/>
          </a:prstGeom>
        </p:spPr>
      </p:pic>
      <p:sp>
        <p:nvSpPr>
          <p:cNvPr id="34" name="TextBox 33"/>
          <p:cNvSpPr txBox="1"/>
          <p:nvPr/>
        </p:nvSpPr>
        <p:spPr>
          <a:xfrm>
            <a:off x="1166432"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1803273"/>
            <a:ext cx="1154174" cy="194310"/>
          </a:xfrm>
          <a:prstGeom prst="rect">
            <a:avLst/>
          </a:prstGeom>
          <a:noFill/>
        </p:spPr>
        <p:txBody>
          <a:bodyPr wrap="none" lIns="0" rIns="0" tIns="0" bIns="0">
            <a:spAutoFit/>
          </a:bodyPr>
          <a:lstStyle/>
          <a:p>
            <a:r>
              <a:rPr sz="1150" b="0">
                <a:solidFill>
                  <a:srgbClr val="2E2E2E"/>
                </a:solidFill>
                <a:latin typeface="Calibri"/>
              </a:rPr>
              <a:t>▪ The market adds</a:t>
            </a:r>
          </a:p>
        </p:txBody>
      </p:sp>
      <p:pic>
        <p:nvPicPr>
          <p:cNvPr id="36" name="Picture 35" descr="lock.png"/>
          <p:cNvPicPr>
            <a:picLocks noChangeAspect="1"/>
          </p:cNvPicPr>
          <p:nvPr/>
        </p:nvPicPr>
        <p:blipFill>
          <a:blip r:embed="rId4"/>
          <a:stretch>
            <a:fillRect/>
          </a:stretch>
        </p:blipFill>
        <p:spPr>
          <a:xfrm>
            <a:off x="1379553" y="1793049"/>
            <a:ext cx="134549" cy="195707"/>
          </a:xfrm>
          <a:prstGeom prst="rect">
            <a:avLst/>
          </a:prstGeom>
        </p:spPr>
      </p:pic>
      <p:sp>
        <p:nvSpPr>
          <p:cNvPr id="37" name="TextBox 36"/>
          <p:cNvSpPr txBox="1"/>
          <p:nvPr/>
        </p:nvSpPr>
        <p:spPr>
          <a:xfrm>
            <a:off x="1554662" y="1803273"/>
            <a:ext cx="1851620"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38" name="Picture 37" descr="lock.png"/>
          <p:cNvPicPr>
            <a:picLocks noChangeAspect="1"/>
          </p:cNvPicPr>
          <p:nvPr/>
        </p:nvPicPr>
        <p:blipFill>
          <a:blip r:embed="rId4"/>
          <a:stretch>
            <a:fillRect/>
          </a:stretch>
        </p:blipFill>
        <p:spPr>
          <a:xfrm>
            <a:off x="3355436" y="1793049"/>
            <a:ext cx="134549" cy="195707"/>
          </a:xfrm>
          <a:prstGeom prst="rect">
            <a:avLst/>
          </a:prstGeom>
        </p:spPr>
      </p:pic>
      <p:sp>
        <p:nvSpPr>
          <p:cNvPr id="39" name="TextBox 38"/>
          <p:cNvSpPr txBox="1"/>
          <p:nvPr/>
        </p:nvSpPr>
        <p:spPr>
          <a:xfrm>
            <a:off x="3530546" y="1803273"/>
            <a:ext cx="1871017" cy="194310"/>
          </a:xfrm>
          <a:prstGeom prst="rect">
            <a:avLst/>
          </a:prstGeom>
          <a:noFill/>
        </p:spPr>
        <p:txBody>
          <a:bodyPr wrap="none" lIns="0" rIns="0" tIns="0" bIns="0">
            <a:spAutoFit/>
          </a:bodyPr>
          <a:lstStyle/>
          <a:p>
            <a:r>
              <a:rPr sz="1150" b="0">
                <a:solidFill>
                  <a:srgbClr val="2E2E2E"/>
                </a:solidFill>
                <a:latin typeface="Calibri"/>
              </a:rPr>
              <a:t>x expansion on the 2026 base.</a:t>
            </a:r>
          </a:p>
        </p:txBody>
      </p:sp>
      <p:sp>
        <p:nvSpPr>
          <p:cNvPr id="40" name="TextBox 39"/>
          <p:cNvSpPr txBox="1"/>
          <p:nvPr/>
        </p:nvSpPr>
        <p:spPr>
          <a:xfrm>
            <a:off x="276225" y="3381375"/>
            <a:ext cx="2053294" cy="194310"/>
          </a:xfrm>
          <a:prstGeom prst="rect">
            <a:avLst/>
          </a:prstGeom>
          <a:noFill/>
        </p:spPr>
        <p:txBody>
          <a:bodyPr wrap="none" lIns="0" rIns="0" tIns="0" bIns="0">
            <a:spAutoFit/>
          </a:bodyPr>
          <a:lstStyle/>
          <a:p>
            <a:r>
              <a:rPr sz="1150" b="0">
                <a:solidFill>
                  <a:srgbClr val="2E2E2E"/>
                </a:solidFill>
                <a:latin typeface="Calibri"/>
              </a:rPr>
              <a:t>▪ Prioritise 'Busses and Coaches' (</a:t>
            </a:r>
          </a:p>
        </p:txBody>
      </p:sp>
      <p:pic>
        <p:nvPicPr>
          <p:cNvPr id="41" name="Picture 40" descr="lock.png"/>
          <p:cNvPicPr>
            <a:picLocks noChangeAspect="1"/>
          </p:cNvPicPr>
          <p:nvPr/>
        </p:nvPicPr>
        <p:blipFill>
          <a:blip r:embed="rId4"/>
          <a:stretch>
            <a:fillRect/>
          </a:stretch>
        </p:blipFill>
        <p:spPr>
          <a:xfrm>
            <a:off x="2278673" y="3371151"/>
            <a:ext cx="134549" cy="195707"/>
          </a:xfrm>
          <a:prstGeom prst="rect">
            <a:avLst/>
          </a:prstGeom>
        </p:spPr>
      </p:pic>
      <p:sp>
        <p:nvSpPr>
          <p:cNvPr id="42" name="TextBox 41"/>
          <p:cNvSpPr txBox="1"/>
          <p:nvPr/>
        </p:nvSpPr>
        <p:spPr>
          <a:xfrm>
            <a:off x="2453783" y="3381375"/>
            <a:ext cx="3209981" cy="194310"/>
          </a:xfrm>
          <a:prstGeom prst="rect">
            <a:avLst/>
          </a:prstGeom>
          <a:noFill/>
        </p:spPr>
        <p:txBody>
          <a:bodyPr wrap="none" lIns="0" rIns="0" tIns="0" bIns="0">
            <a:spAutoFit/>
          </a:bodyPr>
          <a:lstStyle/>
          <a:p>
            <a:r>
              <a:rPr sz="1150" b="0">
                <a:solidFill>
                  <a:srgbClr val="2E2E2E"/>
                </a:solidFill>
                <a:latin typeface="Calibri"/>
              </a:rPr>
              <a:t>CAGR) for growth, while 'Heavy Duty Trucks' anchors</a:t>
            </a:r>
          </a:p>
        </p:txBody>
      </p:sp>
      <p:pic>
        <p:nvPicPr>
          <p:cNvPr id="43" name="Picture 42" descr="lock.png"/>
          <p:cNvPicPr>
            <a:picLocks noChangeAspect="1"/>
          </p:cNvPicPr>
          <p:nvPr/>
        </p:nvPicPr>
        <p:blipFill>
          <a:blip r:embed="rId4"/>
          <a:stretch>
            <a:fillRect/>
          </a:stretch>
        </p:blipFill>
        <p:spPr>
          <a:xfrm>
            <a:off x="262145" y="3546411"/>
            <a:ext cx="134549" cy="195707"/>
          </a:xfrm>
          <a:prstGeom prst="rect">
            <a:avLst/>
          </a:prstGeom>
        </p:spPr>
      </p:pic>
      <p:sp>
        <p:nvSpPr>
          <p:cNvPr id="44" name="TextBox 43"/>
          <p:cNvSpPr txBox="1"/>
          <p:nvPr/>
        </p:nvSpPr>
        <p:spPr>
          <a:xfrm>
            <a:off x="437254" y="3556635"/>
            <a:ext cx="1992250" cy="194310"/>
          </a:xfrm>
          <a:prstGeom prst="rect">
            <a:avLst/>
          </a:prstGeom>
          <a:noFill/>
        </p:spPr>
        <p:txBody>
          <a:bodyPr wrap="none" lIns="0" rIns="0" tIns="0" bIns="0">
            <a:spAutoFit/>
          </a:bodyPr>
          <a:lstStyle/>
          <a:p>
            <a:r>
              <a:rPr sz="1150" b="0">
                <a:solidFill>
                  <a:srgbClr val="2E2E2E"/>
                </a:solidFill>
                <a:latin typeface="Calibri"/>
              </a:rPr>
              <a:t>of value and funds the portfolio.</a:t>
            </a:r>
          </a:p>
        </p:txBody>
      </p:sp>
      <p:sp>
        <p:nvSpPr>
          <p:cNvPr id="45" name="TextBox 44"/>
          <p:cNvSpPr txBox="1"/>
          <p:nvPr/>
        </p:nvSpPr>
        <p:spPr>
          <a:xfrm>
            <a:off x="6305550" y="3381375"/>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6" name="Picture 45" descr="lock.png"/>
          <p:cNvPicPr>
            <a:picLocks noChangeAspect="1"/>
          </p:cNvPicPr>
          <p:nvPr/>
        </p:nvPicPr>
        <p:blipFill>
          <a:blip r:embed="rId4"/>
          <a:stretch>
            <a:fillRect/>
          </a:stretch>
        </p:blipFill>
        <p:spPr>
          <a:xfrm>
            <a:off x="7975392" y="3371151"/>
            <a:ext cx="134549" cy="195707"/>
          </a:xfrm>
          <a:prstGeom prst="rect">
            <a:avLst/>
          </a:prstGeom>
        </p:spPr>
      </p:pic>
      <p:sp>
        <p:nvSpPr>
          <p:cNvPr id="47" name="TextBox 46"/>
          <p:cNvSpPr txBox="1"/>
          <p:nvPr/>
        </p:nvSpPr>
        <p:spPr>
          <a:xfrm>
            <a:off x="8150501" y="3381375"/>
            <a:ext cx="3193739" cy="194310"/>
          </a:xfrm>
          <a:prstGeom prst="rect">
            <a:avLst/>
          </a:prstGeom>
          <a:noFill/>
        </p:spPr>
        <p:txBody>
          <a:bodyPr wrap="none" lIns="0" rIns="0" tIns="0" bIns="0">
            <a:spAutoFit/>
          </a:bodyPr>
          <a:lstStyle/>
          <a:p>
            <a:r>
              <a:rPr sz="1150" b="0">
                <a:solidFill>
                  <a:srgbClr val="2E2E2E"/>
                </a:solidFill>
                <a:latin typeface="Calibri"/>
              </a:rPr>
              <a:t>of value) and capture upside in South Asia &amp; Pacific (</a:t>
            </a:r>
          </a:p>
        </p:txBody>
      </p:sp>
      <p:pic>
        <p:nvPicPr>
          <p:cNvPr id="48" name="Picture 47" descr="lock.png"/>
          <p:cNvPicPr>
            <a:picLocks noChangeAspect="1"/>
          </p:cNvPicPr>
          <p:nvPr/>
        </p:nvPicPr>
        <p:blipFill>
          <a:blip r:embed="rId4"/>
          <a:stretch>
            <a:fillRect/>
          </a:stretch>
        </p:blipFill>
        <p:spPr>
          <a:xfrm>
            <a:off x="11293395" y="3371151"/>
            <a:ext cx="134549" cy="195707"/>
          </a:xfrm>
          <a:prstGeom prst="rect">
            <a:avLst/>
          </a:prstGeom>
        </p:spPr>
      </p:pic>
      <p:sp>
        <p:nvSpPr>
          <p:cNvPr id="49" name="TextBox 48"/>
          <p:cNvSpPr txBox="1"/>
          <p:nvPr/>
        </p:nvSpPr>
        <p:spPr>
          <a:xfrm>
            <a:off x="6305550" y="3556635"/>
            <a:ext cx="490941" cy="194310"/>
          </a:xfrm>
          <a:prstGeom prst="rect">
            <a:avLst/>
          </a:prstGeom>
          <a:noFill/>
        </p:spPr>
        <p:txBody>
          <a:bodyPr wrap="none" lIns="0" rIns="0" tIns="0" bIns="0">
            <a:spAutoFit/>
          </a:bodyPr>
          <a:lstStyle/>
          <a:p>
            <a:r>
              <a:rPr sz="1150" b="0">
                <a:solidFill>
                  <a:srgbClr val="2E2E2E"/>
                </a:solidFill>
                <a:latin typeface="Calibri"/>
              </a:rPr>
              <a:t>CAGR).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Heavy Commercial Vehicle EPS Market Value (US$ Mn): Scenario Forecast, 2025 and 2036</a:t>
            </a:r>
          </a:p>
        </p:txBody>
      </p:sp>
      <p:cxnSp>
        <p:nvCxnSpPr>
          <p:cNvPr id="15" name="Connector 14"/>
          <p:cNvCxnSpPr/>
          <p:nvPr/>
        </p:nvCxnSpPr>
        <p:spPr>
          <a:xfrm>
            <a:off x="238125" y="413385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60003"/>
            <a:ext cx="635826" cy="673847"/>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22905"/>
            <a:ext cx="635826" cy="1110945"/>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27887"/>
            <a:ext cx="635826" cy="130596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602230"/>
            <a:ext cx="635826" cy="153162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889555"/>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84780"/>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32380"/>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27605"/>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375205"/>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70430"/>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40055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40055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40055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Heavy Commercial Vehicle EPS Market Attractiveness Analysis By Region, 2026–2036</a:t>
            </a:r>
          </a:p>
        </p:txBody>
      </p:sp>
      <p:graphicFrame>
        <p:nvGraphicFramePr>
          <p:cNvPr id="36" name="Chart 35"/>
          <p:cNvGraphicFramePr>
            <a:graphicFrameLocks noGrp="1"/>
          </p:cNvGraphicFramePr>
          <p:nvPr/>
        </p:nvGraphicFramePr>
        <p:xfrm>
          <a:off x="6267450" y="2181225"/>
          <a:ext cx="5686425" cy="2409825"/>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781550"/>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191125"/>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171575"/>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171575"/>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171575"/>
            <a:ext cx="157162" cy="228600"/>
          </a:xfrm>
          <a:prstGeom prst="rect">
            <a:avLst/>
          </a:prstGeom>
        </p:spPr>
      </p:pic>
      <p:sp>
        <p:nvSpPr>
          <p:cNvPr id="45" name="TextBox 44"/>
          <p:cNvSpPr txBox="1"/>
          <p:nvPr/>
        </p:nvSpPr>
        <p:spPr>
          <a:xfrm>
            <a:off x="1702407" y="1026429"/>
            <a:ext cx="900484" cy="146456"/>
          </a:xfrm>
          <a:prstGeom prst="rect">
            <a:avLst/>
          </a:prstGeom>
          <a:noFill/>
        </p:spPr>
        <p:txBody>
          <a:bodyPr wrap="none" lIns="0" rIns="0" tIns="0" bIns="0">
            <a:spAutoFit/>
          </a:bodyPr>
          <a:lstStyle/>
          <a:p>
            <a:r>
              <a:rPr sz="835" b="1">
                <a:solidFill>
                  <a:srgbClr val="6C7A89"/>
                </a:solidFill>
                <a:latin typeface="Calibri"/>
              </a:rPr>
              <a:t>OPTIMISTIC (2036)</a:t>
            </a:r>
          </a:p>
        </p:txBody>
      </p:sp>
      <p:sp>
        <p:nvSpPr>
          <p:cNvPr id="46" name="TextBox 45"/>
          <p:cNvSpPr txBox="1"/>
          <p:nvPr/>
        </p:nvSpPr>
        <p:spPr>
          <a:xfrm>
            <a:off x="1934715"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195753" y="1410482"/>
            <a:ext cx="97811" cy="142270"/>
          </a:xfrm>
          <a:prstGeom prst="rect">
            <a:avLst/>
          </a:prstGeom>
        </p:spPr>
      </p:pic>
      <p:sp>
        <p:nvSpPr>
          <p:cNvPr id="48" name="TextBox 47"/>
          <p:cNvSpPr txBox="1"/>
          <p:nvPr/>
        </p:nvSpPr>
        <p:spPr>
          <a:xfrm>
            <a:off x="5853687" y="1026429"/>
            <a:ext cx="665599" cy="146456"/>
          </a:xfrm>
          <a:prstGeom prst="rect">
            <a:avLst/>
          </a:prstGeom>
          <a:noFill/>
        </p:spPr>
        <p:txBody>
          <a:bodyPr wrap="none" lIns="0" rIns="0" tIns="0" bIns="0">
            <a:spAutoFit/>
          </a:bodyPr>
          <a:lstStyle/>
          <a:p>
            <a:r>
              <a:rPr sz="835" b="1">
                <a:solidFill>
                  <a:srgbClr val="6C7A89"/>
                </a:solidFill>
                <a:latin typeface="Calibri"/>
              </a:rPr>
              <a:t>LIKELY (2036)</a:t>
            </a:r>
          </a:p>
        </p:txBody>
      </p:sp>
      <p:sp>
        <p:nvSpPr>
          <p:cNvPr id="49" name="TextBox 48"/>
          <p:cNvSpPr txBox="1"/>
          <p:nvPr/>
        </p:nvSpPr>
        <p:spPr>
          <a:xfrm>
            <a:off x="5968553"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29591" y="1410482"/>
            <a:ext cx="97811" cy="142270"/>
          </a:xfrm>
          <a:prstGeom prst="rect">
            <a:avLst/>
          </a:prstGeom>
        </p:spPr>
      </p:pic>
      <p:sp>
        <p:nvSpPr>
          <p:cNvPr id="51" name="TextBox 50"/>
          <p:cNvSpPr txBox="1"/>
          <p:nvPr/>
        </p:nvSpPr>
        <p:spPr>
          <a:xfrm>
            <a:off x="9626124" y="1026429"/>
            <a:ext cx="1064576" cy="146456"/>
          </a:xfrm>
          <a:prstGeom prst="rect">
            <a:avLst/>
          </a:prstGeom>
          <a:noFill/>
        </p:spPr>
        <p:txBody>
          <a:bodyPr wrap="none" lIns="0" rIns="0" tIns="0" bIns="0">
            <a:spAutoFit/>
          </a:bodyPr>
          <a:lstStyle/>
          <a:p>
            <a:r>
              <a:rPr sz="835" b="1">
                <a:solidFill>
                  <a:srgbClr val="6C7A89"/>
                </a:solidFill>
                <a:latin typeface="Calibri"/>
              </a:rPr>
              <a:t>CONSERVATIVE (2036)</a:t>
            </a:r>
          </a:p>
        </p:txBody>
      </p:sp>
      <p:sp>
        <p:nvSpPr>
          <p:cNvPr id="52" name="TextBox 51"/>
          <p:cNvSpPr txBox="1"/>
          <p:nvPr/>
        </p:nvSpPr>
        <p:spPr>
          <a:xfrm>
            <a:off x="9940478"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01516" y="1410482"/>
            <a:ext cx="97811" cy="142270"/>
          </a:xfrm>
          <a:prstGeom prst="rect">
            <a:avLst/>
          </a:prstGeom>
        </p:spPr>
      </p:pic>
      <p:sp>
        <p:nvSpPr>
          <p:cNvPr id="54" name="TextBox 53"/>
          <p:cNvSpPr txBox="1"/>
          <p:nvPr/>
        </p:nvSpPr>
        <p:spPr>
          <a:xfrm>
            <a:off x="2032418" y="281914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10931"/>
            <a:ext cx="108107" cy="157246"/>
          </a:xfrm>
          <a:prstGeom prst="rect">
            <a:avLst/>
          </a:prstGeom>
        </p:spPr>
      </p:pic>
      <p:sp>
        <p:nvSpPr>
          <p:cNvPr id="56" name="TextBox 55"/>
          <p:cNvSpPr txBox="1"/>
          <p:nvPr/>
        </p:nvSpPr>
        <p:spPr>
          <a:xfrm>
            <a:off x="2032418" y="256197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53756"/>
            <a:ext cx="108107" cy="157246"/>
          </a:xfrm>
          <a:prstGeom prst="rect">
            <a:avLst/>
          </a:prstGeom>
        </p:spPr>
      </p:pic>
      <p:sp>
        <p:nvSpPr>
          <p:cNvPr id="58" name="TextBox 57"/>
          <p:cNvSpPr txBox="1"/>
          <p:nvPr/>
        </p:nvSpPr>
        <p:spPr>
          <a:xfrm>
            <a:off x="2032418" y="230479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296581"/>
            <a:ext cx="108107" cy="157246"/>
          </a:xfrm>
          <a:prstGeom prst="rect">
            <a:avLst/>
          </a:prstGeom>
        </p:spPr>
      </p:pic>
      <p:sp>
        <p:nvSpPr>
          <p:cNvPr id="60" name="TextBox 59"/>
          <p:cNvSpPr txBox="1"/>
          <p:nvPr/>
        </p:nvSpPr>
        <p:spPr>
          <a:xfrm>
            <a:off x="276225" y="5200650"/>
            <a:ext cx="1993962" cy="194310"/>
          </a:xfrm>
          <a:prstGeom prst="rect">
            <a:avLst/>
          </a:prstGeom>
          <a:noFill/>
        </p:spPr>
        <p:txBody>
          <a:bodyPr wrap="none" lIns="0" rIns="0" tIns="0" bIns="0">
            <a:spAutoFit/>
          </a:bodyPr>
          <a:lstStyle/>
          <a:p>
            <a:r>
              <a:rPr sz="1150" b="0">
                <a:solidFill>
                  <a:srgbClr val="2E2E2E"/>
                </a:solidFill>
                <a:latin typeface="Calibri"/>
              </a:rPr>
              <a:t>▪ Optimistic: the market reaches</a:t>
            </a:r>
          </a:p>
        </p:txBody>
      </p:sp>
      <p:pic>
        <p:nvPicPr>
          <p:cNvPr id="61" name="Picture 60" descr="lock.png"/>
          <p:cNvPicPr>
            <a:picLocks noChangeAspect="1"/>
          </p:cNvPicPr>
          <p:nvPr/>
        </p:nvPicPr>
        <p:blipFill>
          <a:blip r:embed="rId5"/>
          <a:stretch>
            <a:fillRect/>
          </a:stretch>
        </p:blipFill>
        <p:spPr>
          <a:xfrm>
            <a:off x="2219340" y="5190426"/>
            <a:ext cx="134549" cy="195707"/>
          </a:xfrm>
          <a:prstGeom prst="rect">
            <a:avLst/>
          </a:prstGeom>
        </p:spPr>
      </p:pic>
      <p:sp>
        <p:nvSpPr>
          <p:cNvPr id="62" name="TextBox 61"/>
          <p:cNvSpPr txBox="1"/>
          <p:nvPr/>
        </p:nvSpPr>
        <p:spPr>
          <a:xfrm>
            <a:off x="2394450" y="520065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3547412" y="5190426"/>
            <a:ext cx="134549" cy="195707"/>
          </a:xfrm>
          <a:prstGeom prst="rect">
            <a:avLst/>
          </a:prstGeom>
        </p:spPr>
      </p:pic>
      <p:sp>
        <p:nvSpPr>
          <p:cNvPr id="64" name="TextBox 63"/>
          <p:cNvSpPr txBox="1"/>
          <p:nvPr/>
        </p:nvSpPr>
        <p:spPr>
          <a:xfrm>
            <a:off x="3722522" y="5200650"/>
            <a:ext cx="3799886" cy="194310"/>
          </a:xfrm>
          <a:prstGeom prst="rect">
            <a:avLst/>
          </a:prstGeom>
          <a:noFill/>
        </p:spPr>
        <p:txBody>
          <a:bodyPr wrap="none" lIns="0" rIns="0" tIns="0" bIns="0">
            <a:spAutoFit/>
          </a:bodyPr>
          <a:lstStyle/>
          <a:p>
            <a:r>
              <a:rPr sz="1150" b="0">
                <a:solidFill>
                  <a:srgbClr val="2E2E2E"/>
                </a:solidFill>
                <a:latin typeface="Calibri"/>
              </a:rPr>
              <a:t>CAGR, assuming faster adoption and stronger price realisation.</a:t>
            </a:r>
          </a:p>
        </p:txBody>
      </p:sp>
      <p:sp>
        <p:nvSpPr>
          <p:cNvPr id="65" name="TextBox 64"/>
          <p:cNvSpPr txBox="1"/>
          <p:nvPr/>
        </p:nvSpPr>
        <p:spPr>
          <a:xfrm>
            <a:off x="276225" y="5428488"/>
            <a:ext cx="2634071" cy="194310"/>
          </a:xfrm>
          <a:prstGeom prst="rect">
            <a:avLst/>
          </a:prstGeom>
          <a:noFill/>
        </p:spPr>
        <p:txBody>
          <a:bodyPr wrap="none" lIns="0" rIns="0" tIns="0" bIns="0">
            <a:spAutoFit/>
          </a:bodyPr>
          <a:lstStyle/>
          <a:p>
            <a:r>
              <a:rPr sz="1150" b="0">
                <a:solidFill>
                  <a:srgbClr val="2E2E2E"/>
                </a:solidFill>
                <a:latin typeface="Calibri"/>
              </a:rPr>
              <a:t>▪ Likely (base forecast): the market reaches</a:t>
            </a:r>
          </a:p>
        </p:txBody>
      </p:sp>
      <p:pic>
        <p:nvPicPr>
          <p:cNvPr id="66" name="Picture 65" descr="lock.png"/>
          <p:cNvPicPr>
            <a:picLocks noChangeAspect="1"/>
          </p:cNvPicPr>
          <p:nvPr/>
        </p:nvPicPr>
        <p:blipFill>
          <a:blip r:embed="rId5"/>
          <a:stretch>
            <a:fillRect/>
          </a:stretch>
        </p:blipFill>
        <p:spPr>
          <a:xfrm>
            <a:off x="2859450" y="5418264"/>
            <a:ext cx="134549" cy="195707"/>
          </a:xfrm>
          <a:prstGeom prst="rect">
            <a:avLst/>
          </a:prstGeom>
        </p:spPr>
      </p:pic>
      <p:sp>
        <p:nvSpPr>
          <p:cNvPr id="67" name="TextBox 66"/>
          <p:cNvSpPr txBox="1"/>
          <p:nvPr/>
        </p:nvSpPr>
        <p:spPr>
          <a:xfrm>
            <a:off x="3034559" y="5428488"/>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8" name="Picture 67" descr="lock.png"/>
          <p:cNvPicPr>
            <a:picLocks noChangeAspect="1"/>
          </p:cNvPicPr>
          <p:nvPr/>
        </p:nvPicPr>
        <p:blipFill>
          <a:blip r:embed="rId5"/>
          <a:stretch>
            <a:fillRect/>
          </a:stretch>
        </p:blipFill>
        <p:spPr>
          <a:xfrm>
            <a:off x="4187522" y="5418264"/>
            <a:ext cx="134549" cy="195707"/>
          </a:xfrm>
          <a:prstGeom prst="rect">
            <a:avLst/>
          </a:prstGeom>
        </p:spPr>
      </p:pic>
      <p:sp>
        <p:nvSpPr>
          <p:cNvPr id="69" name="TextBox 68"/>
          <p:cNvSpPr txBox="1"/>
          <p:nvPr/>
        </p:nvSpPr>
        <p:spPr>
          <a:xfrm>
            <a:off x="4362631" y="542848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656325"/>
            <a:ext cx="2155415" cy="194310"/>
          </a:xfrm>
          <a:prstGeom prst="rect">
            <a:avLst/>
          </a:prstGeom>
          <a:noFill/>
        </p:spPr>
        <p:txBody>
          <a:bodyPr wrap="none" lIns="0" rIns="0" tIns="0" bIns="0">
            <a:spAutoFit/>
          </a:bodyPr>
          <a:lstStyle/>
          <a:p>
            <a:r>
              <a:rPr sz="1150" b="0">
                <a:solidFill>
                  <a:srgbClr val="2E2E2E"/>
                </a:solidFill>
                <a:latin typeface="Calibri"/>
              </a:rPr>
              <a:t>▪ Conservative: the market reaches</a:t>
            </a:r>
          </a:p>
        </p:txBody>
      </p:sp>
      <p:pic>
        <p:nvPicPr>
          <p:cNvPr id="71" name="Picture 70" descr="lock.png"/>
          <p:cNvPicPr>
            <a:picLocks noChangeAspect="1"/>
          </p:cNvPicPr>
          <p:nvPr/>
        </p:nvPicPr>
        <p:blipFill>
          <a:blip r:embed="rId5"/>
          <a:stretch>
            <a:fillRect/>
          </a:stretch>
        </p:blipFill>
        <p:spPr>
          <a:xfrm>
            <a:off x="2380794" y="5646102"/>
            <a:ext cx="134549" cy="195707"/>
          </a:xfrm>
          <a:prstGeom prst="rect">
            <a:avLst/>
          </a:prstGeom>
        </p:spPr>
      </p:pic>
      <p:sp>
        <p:nvSpPr>
          <p:cNvPr id="72" name="TextBox 71"/>
          <p:cNvSpPr txBox="1"/>
          <p:nvPr/>
        </p:nvSpPr>
        <p:spPr>
          <a:xfrm>
            <a:off x="2555903" y="5656325"/>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73" name="Picture 72" descr="lock.png"/>
          <p:cNvPicPr>
            <a:picLocks noChangeAspect="1"/>
          </p:cNvPicPr>
          <p:nvPr/>
        </p:nvPicPr>
        <p:blipFill>
          <a:blip r:embed="rId5"/>
          <a:stretch>
            <a:fillRect/>
          </a:stretch>
        </p:blipFill>
        <p:spPr>
          <a:xfrm>
            <a:off x="3708866" y="5646102"/>
            <a:ext cx="134549" cy="195707"/>
          </a:xfrm>
          <a:prstGeom prst="rect">
            <a:avLst/>
          </a:prstGeom>
        </p:spPr>
      </p:pic>
      <p:sp>
        <p:nvSpPr>
          <p:cNvPr id="74" name="TextBox 73"/>
          <p:cNvSpPr txBox="1"/>
          <p:nvPr/>
        </p:nvSpPr>
        <p:spPr>
          <a:xfrm>
            <a:off x="3883975" y="5656325"/>
            <a:ext cx="3198000" cy="194310"/>
          </a:xfrm>
          <a:prstGeom prst="rect">
            <a:avLst/>
          </a:prstGeom>
          <a:noFill/>
        </p:spPr>
        <p:txBody>
          <a:bodyPr wrap="none" lIns="0" rIns="0" tIns="0" bIns="0">
            <a:spAutoFit/>
          </a:bodyPr>
          <a:lstStyle/>
          <a:p>
            <a:r>
              <a:rPr sz="1150" b="0">
                <a:solidFill>
                  <a:srgbClr val="2E2E2E"/>
                </a:solidFill>
                <a:latin typeface="Calibri"/>
              </a:rPr>
              <a:t>CAGR, assuming slower adoption and tighter pricing.</a:t>
            </a:r>
          </a:p>
        </p:txBody>
      </p:sp>
      <p:sp>
        <p:nvSpPr>
          <p:cNvPr id="75" name="TextBox 74"/>
          <p:cNvSpPr txBox="1"/>
          <p:nvPr/>
        </p:nvSpPr>
        <p:spPr>
          <a:xfrm>
            <a:off x="276225" y="5884163"/>
            <a:ext cx="4386671"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plus or minus</a:t>
            </a:r>
          </a:p>
        </p:txBody>
      </p:sp>
      <p:pic>
        <p:nvPicPr>
          <p:cNvPr id="76" name="Picture 75" descr="lock.png"/>
          <p:cNvPicPr>
            <a:picLocks noChangeAspect="1"/>
          </p:cNvPicPr>
          <p:nvPr/>
        </p:nvPicPr>
        <p:blipFill>
          <a:blip r:embed="rId5"/>
          <a:stretch>
            <a:fillRect/>
          </a:stretch>
        </p:blipFill>
        <p:spPr>
          <a:xfrm>
            <a:off x="4612050" y="5873940"/>
            <a:ext cx="134549" cy="195707"/>
          </a:xfrm>
          <a:prstGeom prst="rect">
            <a:avLst/>
          </a:prstGeom>
        </p:spPr>
      </p:pic>
      <p:sp>
        <p:nvSpPr>
          <p:cNvPr id="77" name="TextBox 76"/>
          <p:cNvSpPr txBox="1"/>
          <p:nvPr/>
        </p:nvSpPr>
        <p:spPr>
          <a:xfrm>
            <a:off x="4787159" y="5884163"/>
            <a:ext cx="1158168" cy="194310"/>
          </a:xfrm>
          <a:prstGeom prst="rect">
            <a:avLst/>
          </a:prstGeom>
          <a:noFill/>
        </p:spPr>
        <p:txBody>
          <a:bodyPr wrap="none" lIns="0" rIns="0" tIns="0" bIns="0">
            <a:spAutoFit/>
          </a:bodyPr>
          <a:lstStyle/>
          <a:p>
            <a:r>
              <a:rPr sz="1150" b="0">
                <a:solidFill>
                  <a:srgbClr val="2E2E2E"/>
                </a:solidFill>
                <a:latin typeface="Calibri"/>
              </a:rPr>
              <a:t>across 2026-2036.</a:t>
            </a:r>
          </a:p>
        </p:txBody>
      </p:sp>
      <p:sp>
        <p:nvSpPr>
          <p:cNvPr id="78" name="TextBox 77"/>
          <p:cNvSpPr txBox="1"/>
          <p:nvPr/>
        </p:nvSpPr>
        <p:spPr>
          <a:xfrm>
            <a:off x="276225" y="6112001"/>
            <a:ext cx="3829856" cy="194310"/>
          </a:xfrm>
          <a:prstGeom prst="rect">
            <a:avLst/>
          </a:prstGeom>
          <a:noFill/>
        </p:spPr>
        <p:txBody>
          <a:bodyPr wrap="none" lIns="0" rIns="0" tIns="0" bIns="0">
            <a:spAutoFit/>
          </a:bodyPr>
          <a:lstStyle/>
          <a:p>
            <a:r>
              <a:rPr sz="1150" b="0">
                <a:solidFill>
                  <a:srgbClr val="2E2E2E"/>
                </a:solidFill>
                <a:latin typeface="Calibri"/>
              </a:rPr>
              <a:t>▪ The gap between the optimistic and conservative outcomes is</a:t>
            </a:r>
          </a:p>
        </p:txBody>
      </p:sp>
      <p:pic>
        <p:nvPicPr>
          <p:cNvPr id="79" name="Picture 78" descr="lock.png"/>
          <p:cNvPicPr>
            <a:picLocks noChangeAspect="1"/>
          </p:cNvPicPr>
          <p:nvPr/>
        </p:nvPicPr>
        <p:blipFill>
          <a:blip r:embed="rId5"/>
          <a:stretch>
            <a:fillRect/>
          </a:stretch>
        </p:blipFill>
        <p:spPr>
          <a:xfrm>
            <a:off x="4055235" y="6101778"/>
            <a:ext cx="134549" cy="195707"/>
          </a:xfrm>
          <a:prstGeom prst="rect">
            <a:avLst/>
          </a:prstGeom>
        </p:spPr>
      </p:pic>
      <p:sp>
        <p:nvSpPr>
          <p:cNvPr id="80" name="TextBox 79"/>
          <p:cNvSpPr txBox="1"/>
          <p:nvPr/>
        </p:nvSpPr>
        <p:spPr>
          <a:xfrm>
            <a:off x="4230344" y="6112001"/>
            <a:ext cx="5341416" cy="194310"/>
          </a:xfrm>
          <a:prstGeom prst="rect">
            <a:avLst/>
          </a:prstGeom>
          <a:noFill/>
        </p:spPr>
        <p:txBody>
          <a:bodyPr wrap="none" lIns="0" rIns="0" tIns="0" bIns="0">
            <a:spAutoFit/>
          </a:bodyPr>
          <a:lstStyle/>
          <a:p>
            <a:r>
              <a:rPr sz="1150" b="0">
                <a:solidFill>
                  <a:srgbClr val="2E2E2E"/>
                </a:solidFill>
                <a:latin typeface="Calibri"/>
              </a:rPr>
              <a:t>US$ Mn in 2036, which frames the planning range for capacity and investment decisions.</a:t>
            </a:r>
          </a:p>
        </p:txBody>
      </p:sp>
      <p:sp>
        <p:nvSpPr>
          <p:cNvPr id="81" name="lockshield_36"/>
          <p:cNvSpPr/>
          <p:nvPr/>
        </p:nvSpPr>
        <p:spPr>
          <a:xfrm>
            <a:off x="6267450" y="21812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Heavy Commercial Vehicle EPS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7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29" name="Rectangle 28"/>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36" name="Rectangle 35"/>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3" name="Rectangle 42"/>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0" name="Rectangle 49"/>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Eastern Europe</a:t>
            </a:r>
          </a:p>
        </p:txBody>
      </p:sp>
      <p:sp>
        <p:nvSpPr>
          <p:cNvPr id="57" name="Rectangle 56"/>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Western Europe</a:t>
            </a:r>
          </a:p>
        </p:txBody>
      </p:sp>
      <p:sp>
        <p:nvSpPr>
          <p:cNvPr id="64" name="Rectangle 63"/>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5" name="Rectangle 64"/>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Oval 66"/>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0" name="Rectangle 6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72" name="Rounded Rectangle 7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74" name="Rectangle 7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6" name="Rounded Rectangle 7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8" name="Rectangle 7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80" name="Rectangle 7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82" name="TextBox 8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3" name="TextBox 8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4" name="Picture 83" descr="950_4_605E5C.png"/>
          <p:cNvPicPr>
            <a:picLocks noChangeAspect="1"/>
          </p:cNvPicPr>
          <p:nvPr/>
        </p:nvPicPr>
        <p:blipFill>
          <a:blip r:embed="rId4"/>
          <a:stretch>
            <a:fillRect/>
          </a:stretch>
        </p:blipFill>
        <p:spPr>
          <a:xfrm>
            <a:off x="1934425" y="2286582"/>
            <a:ext cx="1195728" cy="361950"/>
          </a:xfrm>
          <a:prstGeom prst="rect">
            <a:avLst/>
          </a:prstGeom>
        </p:spPr>
      </p:pic>
      <p:pic>
        <p:nvPicPr>
          <p:cNvPr id="85" name="Picture 84" descr="1_605_605E5C.png"/>
          <p:cNvPicPr>
            <a:picLocks noChangeAspect="1"/>
          </p:cNvPicPr>
          <p:nvPr/>
        </p:nvPicPr>
        <p:blipFill>
          <a:blip r:embed="rId5"/>
          <a:stretch>
            <a:fillRect/>
          </a:stretch>
        </p:blipFill>
        <p:spPr>
          <a:xfrm>
            <a:off x="1934425" y="2779432"/>
            <a:ext cx="1195728" cy="361950"/>
          </a:xfrm>
          <a:prstGeom prst="rect">
            <a:avLst/>
          </a:prstGeom>
        </p:spPr>
      </p:pic>
      <p:pic>
        <p:nvPicPr>
          <p:cNvPr id="86" name="Picture 85" descr="5_4__605E5C.png"/>
          <p:cNvPicPr>
            <a:picLocks noChangeAspect="1"/>
          </p:cNvPicPr>
          <p:nvPr/>
        </p:nvPicPr>
        <p:blipFill>
          <a:blip r:embed="rId6"/>
          <a:stretch>
            <a:fillRect/>
          </a:stretch>
        </p:blipFill>
        <p:spPr>
          <a:xfrm>
            <a:off x="2041071" y="3272281"/>
            <a:ext cx="982436" cy="361950"/>
          </a:xfrm>
          <a:prstGeom prst="rect">
            <a:avLst/>
          </a:prstGeom>
        </p:spPr>
      </p:pic>
      <p:pic>
        <p:nvPicPr>
          <p:cNvPr id="87" name="Picture 86" descr="374_4_605E5C.png"/>
          <p:cNvPicPr>
            <a:picLocks noChangeAspect="1"/>
          </p:cNvPicPr>
          <p:nvPr/>
        </p:nvPicPr>
        <p:blipFill>
          <a:blip r:embed="rId7"/>
          <a:stretch>
            <a:fillRect/>
          </a:stretch>
        </p:blipFill>
        <p:spPr>
          <a:xfrm>
            <a:off x="3379504" y="2286582"/>
            <a:ext cx="1195728" cy="361950"/>
          </a:xfrm>
          <a:prstGeom prst="rect">
            <a:avLst/>
          </a:prstGeom>
        </p:spPr>
      </p:pic>
      <p:pic>
        <p:nvPicPr>
          <p:cNvPr id="88" name="Picture 87" descr="667_6_605E5C.png"/>
          <p:cNvPicPr>
            <a:picLocks noChangeAspect="1"/>
          </p:cNvPicPr>
          <p:nvPr/>
        </p:nvPicPr>
        <p:blipFill>
          <a:blip r:embed="rId8"/>
          <a:stretch>
            <a:fillRect/>
          </a:stretch>
        </p:blipFill>
        <p:spPr>
          <a:xfrm>
            <a:off x="3379504" y="2779432"/>
            <a:ext cx="1195728" cy="361950"/>
          </a:xfrm>
          <a:prstGeom prst="rect">
            <a:avLst/>
          </a:prstGeom>
        </p:spPr>
      </p:pic>
      <p:pic>
        <p:nvPicPr>
          <p:cNvPr id="89" name="Picture 88" descr="6_0__605E5C.png"/>
          <p:cNvPicPr>
            <a:picLocks noChangeAspect="1"/>
          </p:cNvPicPr>
          <p:nvPr/>
        </p:nvPicPr>
        <p:blipFill>
          <a:blip r:embed="rId9"/>
          <a:stretch>
            <a:fillRect/>
          </a:stretch>
        </p:blipFill>
        <p:spPr>
          <a:xfrm>
            <a:off x="3486150" y="3272281"/>
            <a:ext cx="982436" cy="361950"/>
          </a:xfrm>
          <a:prstGeom prst="rect">
            <a:avLst/>
          </a:prstGeom>
        </p:spPr>
      </p:pic>
      <p:pic>
        <p:nvPicPr>
          <p:cNvPr id="90" name="Picture 89" descr="345_6_605E5C.png"/>
          <p:cNvPicPr>
            <a:picLocks noChangeAspect="1"/>
          </p:cNvPicPr>
          <p:nvPr/>
        </p:nvPicPr>
        <p:blipFill>
          <a:blip r:embed="rId10"/>
          <a:stretch>
            <a:fillRect/>
          </a:stretch>
        </p:blipFill>
        <p:spPr>
          <a:xfrm>
            <a:off x="4824582" y="2286582"/>
            <a:ext cx="1195728" cy="361950"/>
          </a:xfrm>
          <a:prstGeom prst="rect">
            <a:avLst/>
          </a:prstGeom>
        </p:spPr>
      </p:pic>
      <p:pic>
        <p:nvPicPr>
          <p:cNvPr id="91" name="Picture 90" descr="693_4_605E5C.png"/>
          <p:cNvPicPr>
            <a:picLocks noChangeAspect="1"/>
          </p:cNvPicPr>
          <p:nvPr/>
        </p:nvPicPr>
        <p:blipFill>
          <a:blip r:embed="rId11"/>
          <a:stretch>
            <a:fillRect/>
          </a:stretch>
        </p:blipFill>
        <p:spPr>
          <a:xfrm>
            <a:off x="4824582" y="2779432"/>
            <a:ext cx="1195728" cy="361950"/>
          </a:xfrm>
          <a:prstGeom prst="rect">
            <a:avLst/>
          </a:prstGeom>
        </p:spPr>
      </p:pic>
      <p:pic>
        <p:nvPicPr>
          <p:cNvPr id="92" name="Picture 91" descr="7_2__605E5C.png"/>
          <p:cNvPicPr>
            <a:picLocks noChangeAspect="1"/>
          </p:cNvPicPr>
          <p:nvPr/>
        </p:nvPicPr>
        <p:blipFill>
          <a:blip r:embed="rId12"/>
          <a:stretch>
            <a:fillRect/>
          </a:stretch>
        </p:blipFill>
        <p:spPr>
          <a:xfrm>
            <a:off x="4931228" y="3272281"/>
            <a:ext cx="982436" cy="361950"/>
          </a:xfrm>
          <a:prstGeom prst="rect">
            <a:avLst/>
          </a:prstGeom>
        </p:spPr>
      </p:pic>
      <p:pic>
        <p:nvPicPr>
          <p:cNvPr id="93" name="Picture 92" descr="230_4_605E5C.png"/>
          <p:cNvPicPr>
            <a:picLocks noChangeAspect="1"/>
          </p:cNvPicPr>
          <p:nvPr/>
        </p:nvPicPr>
        <p:blipFill>
          <a:blip r:embed="rId13"/>
          <a:stretch>
            <a:fillRect/>
          </a:stretch>
        </p:blipFill>
        <p:spPr>
          <a:xfrm>
            <a:off x="6269661" y="2286582"/>
            <a:ext cx="1195728" cy="361950"/>
          </a:xfrm>
          <a:prstGeom prst="rect">
            <a:avLst/>
          </a:prstGeom>
        </p:spPr>
      </p:pic>
      <p:pic>
        <p:nvPicPr>
          <p:cNvPr id="94" name="Picture 93" descr="450_0_605E5C.png"/>
          <p:cNvPicPr>
            <a:picLocks noChangeAspect="1"/>
          </p:cNvPicPr>
          <p:nvPr/>
        </p:nvPicPr>
        <p:blipFill>
          <a:blip r:embed="rId14"/>
          <a:stretch>
            <a:fillRect/>
          </a:stretch>
        </p:blipFill>
        <p:spPr>
          <a:xfrm>
            <a:off x="6269661" y="2779432"/>
            <a:ext cx="1195728" cy="361950"/>
          </a:xfrm>
          <a:prstGeom prst="rect">
            <a:avLst/>
          </a:prstGeom>
        </p:spPr>
      </p:pic>
      <p:pic>
        <p:nvPicPr>
          <p:cNvPr id="95" name="Picture 94" descr="6_9__605E5C.png"/>
          <p:cNvPicPr>
            <a:picLocks noChangeAspect="1"/>
          </p:cNvPicPr>
          <p:nvPr/>
        </p:nvPicPr>
        <p:blipFill>
          <a:blip r:embed="rId15"/>
          <a:stretch>
            <a:fillRect/>
          </a:stretch>
        </p:blipFill>
        <p:spPr>
          <a:xfrm>
            <a:off x="6376307" y="3272281"/>
            <a:ext cx="982436" cy="361950"/>
          </a:xfrm>
          <a:prstGeom prst="rect">
            <a:avLst/>
          </a:prstGeom>
        </p:spPr>
      </p:pic>
      <p:pic>
        <p:nvPicPr>
          <p:cNvPr id="96" name="Picture 95" descr="201_6_605E5C.png"/>
          <p:cNvPicPr>
            <a:picLocks noChangeAspect="1"/>
          </p:cNvPicPr>
          <p:nvPr/>
        </p:nvPicPr>
        <p:blipFill>
          <a:blip r:embed="rId16"/>
          <a:stretch>
            <a:fillRect/>
          </a:stretch>
        </p:blipFill>
        <p:spPr>
          <a:xfrm>
            <a:off x="7714739" y="2286582"/>
            <a:ext cx="1195728" cy="361950"/>
          </a:xfrm>
          <a:prstGeom prst="rect">
            <a:avLst/>
          </a:prstGeom>
        </p:spPr>
      </p:pic>
      <p:pic>
        <p:nvPicPr>
          <p:cNvPr id="97" name="Picture 96" descr="379_5_605E5C.png"/>
          <p:cNvPicPr>
            <a:picLocks noChangeAspect="1"/>
          </p:cNvPicPr>
          <p:nvPr/>
        </p:nvPicPr>
        <p:blipFill>
          <a:blip r:embed="rId17"/>
          <a:stretch>
            <a:fillRect/>
          </a:stretch>
        </p:blipFill>
        <p:spPr>
          <a:xfrm>
            <a:off x="7714739" y="2779432"/>
            <a:ext cx="1195728" cy="361950"/>
          </a:xfrm>
          <a:prstGeom prst="rect">
            <a:avLst/>
          </a:prstGeom>
        </p:spPr>
      </p:pic>
      <p:pic>
        <p:nvPicPr>
          <p:cNvPr id="98" name="Picture 97" descr="6_5__605E5C.png"/>
          <p:cNvPicPr>
            <a:picLocks noChangeAspect="1"/>
          </p:cNvPicPr>
          <p:nvPr/>
        </p:nvPicPr>
        <p:blipFill>
          <a:blip r:embed="rId18"/>
          <a:stretch>
            <a:fillRect/>
          </a:stretch>
        </p:blipFill>
        <p:spPr>
          <a:xfrm>
            <a:off x="7821385" y="3272281"/>
            <a:ext cx="982436" cy="361950"/>
          </a:xfrm>
          <a:prstGeom prst="rect">
            <a:avLst/>
          </a:prstGeom>
        </p:spPr>
      </p:pic>
      <p:pic>
        <p:nvPicPr>
          <p:cNvPr id="99" name="Picture 98" descr="177_0_605E5C.png"/>
          <p:cNvPicPr>
            <a:picLocks noChangeAspect="1"/>
          </p:cNvPicPr>
          <p:nvPr/>
        </p:nvPicPr>
        <p:blipFill>
          <a:blip r:embed="rId19"/>
          <a:stretch>
            <a:fillRect/>
          </a:stretch>
        </p:blipFill>
        <p:spPr>
          <a:xfrm>
            <a:off x="9159818" y="2286582"/>
            <a:ext cx="1195728" cy="361950"/>
          </a:xfrm>
          <a:prstGeom prst="rect">
            <a:avLst/>
          </a:prstGeom>
        </p:spPr>
      </p:pic>
      <p:pic>
        <p:nvPicPr>
          <p:cNvPr id="100" name="Picture 99" descr="351_9_605E5C.png"/>
          <p:cNvPicPr>
            <a:picLocks noChangeAspect="1"/>
          </p:cNvPicPr>
          <p:nvPr/>
        </p:nvPicPr>
        <p:blipFill>
          <a:blip r:embed="rId20"/>
          <a:stretch>
            <a:fillRect/>
          </a:stretch>
        </p:blipFill>
        <p:spPr>
          <a:xfrm>
            <a:off x="9159818" y="2779432"/>
            <a:ext cx="1195728" cy="361950"/>
          </a:xfrm>
          <a:prstGeom prst="rect">
            <a:avLst/>
          </a:prstGeom>
        </p:spPr>
      </p:pic>
      <p:pic>
        <p:nvPicPr>
          <p:cNvPr id="101" name="Picture 100" descr="7_1__605E5C.png"/>
          <p:cNvPicPr>
            <a:picLocks noChangeAspect="1"/>
          </p:cNvPicPr>
          <p:nvPr/>
        </p:nvPicPr>
        <p:blipFill>
          <a:blip r:embed="rId21"/>
          <a:stretch>
            <a:fillRect/>
          </a:stretch>
        </p:blipFill>
        <p:spPr>
          <a:xfrm>
            <a:off x="9266464" y="3272281"/>
            <a:ext cx="982436" cy="361950"/>
          </a:xfrm>
          <a:prstGeom prst="rect">
            <a:avLst/>
          </a:prstGeom>
        </p:spPr>
      </p:pic>
      <p:pic>
        <p:nvPicPr>
          <p:cNvPr id="102" name="Picture 101" descr="120_6_605E5C.png"/>
          <p:cNvPicPr>
            <a:picLocks noChangeAspect="1"/>
          </p:cNvPicPr>
          <p:nvPr/>
        </p:nvPicPr>
        <p:blipFill>
          <a:blip r:embed="rId22"/>
          <a:stretch>
            <a:fillRect/>
          </a:stretch>
        </p:blipFill>
        <p:spPr>
          <a:xfrm>
            <a:off x="10604896" y="2286582"/>
            <a:ext cx="1195728" cy="361950"/>
          </a:xfrm>
          <a:prstGeom prst="rect">
            <a:avLst/>
          </a:prstGeom>
        </p:spPr>
      </p:pic>
      <p:pic>
        <p:nvPicPr>
          <p:cNvPr id="103" name="Picture 102" descr="232_7_605E5C.png"/>
          <p:cNvPicPr>
            <a:picLocks noChangeAspect="1"/>
          </p:cNvPicPr>
          <p:nvPr/>
        </p:nvPicPr>
        <p:blipFill>
          <a:blip r:embed="rId23"/>
          <a:stretch>
            <a:fillRect/>
          </a:stretch>
        </p:blipFill>
        <p:spPr>
          <a:xfrm>
            <a:off x="10604896" y="2779432"/>
            <a:ext cx="1195728" cy="361950"/>
          </a:xfrm>
          <a:prstGeom prst="rect">
            <a:avLst/>
          </a:prstGeom>
        </p:spPr>
      </p:pic>
      <p:pic>
        <p:nvPicPr>
          <p:cNvPr id="104" name="Picture 103" descr="6_8__605E5C.png"/>
          <p:cNvPicPr>
            <a:picLocks noChangeAspect="1"/>
          </p:cNvPicPr>
          <p:nvPr/>
        </p:nvPicPr>
        <p:blipFill>
          <a:blip r:embed="rId24"/>
          <a:stretch>
            <a:fillRect/>
          </a:stretch>
        </p:blipFill>
        <p:spPr>
          <a:xfrm>
            <a:off x="10711542" y="3272281"/>
            <a:ext cx="982436" cy="361950"/>
          </a:xfrm>
          <a:prstGeom prst="rect">
            <a:avLst/>
          </a:prstGeom>
        </p:spPr>
      </p:pic>
      <p:pic>
        <p:nvPicPr>
          <p:cNvPr id="105" name="Picture 104" descr="lock.png"/>
          <p:cNvPicPr>
            <a:picLocks noChangeAspect="1"/>
          </p:cNvPicPr>
          <p:nvPr/>
        </p:nvPicPr>
        <p:blipFill>
          <a:blip r:embed="rId25"/>
          <a:stretch>
            <a:fillRect/>
          </a:stretch>
        </p:blipFill>
        <p:spPr>
          <a:xfrm>
            <a:off x="2438944"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3884023"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5329101"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6774180"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8219258" y="2827057"/>
            <a:ext cx="183356" cy="266700"/>
          </a:xfrm>
          <a:prstGeom prst="rect">
            <a:avLst/>
          </a:prstGeom>
        </p:spPr>
      </p:pic>
      <p:pic>
        <p:nvPicPr>
          <p:cNvPr id="110" name="Picture 109" descr="lock.png"/>
          <p:cNvPicPr>
            <a:picLocks noChangeAspect="1"/>
          </p:cNvPicPr>
          <p:nvPr/>
        </p:nvPicPr>
        <p:blipFill>
          <a:blip r:embed="rId25"/>
          <a:stretch>
            <a:fillRect/>
          </a:stretch>
        </p:blipFill>
        <p:spPr>
          <a:xfrm>
            <a:off x="9664337" y="2827057"/>
            <a:ext cx="183356" cy="266700"/>
          </a:xfrm>
          <a:prstGeom prst="rect">
            <a:avLst/>
          </a:prstGeom>
        </p:spPr>
      </p:pic>
      <p:pic>
        <p:nvPicPr>
          <p:cNvPr id="111" name="Picture 110" descr="lock.png"/>
          <p:cNvPicPr>
            <a:picLocks noChangeAspect="1"/>
          </p:cNvPicPr>
          <p:nvPr/>
        </p:nvPicPr>
        <p:blipFill>
          <a:blip r:embed="rId25"/>
          <a:stretch>
            <a:fillRect/>
          </a:stretch>
        </p:blipFill>
        <p:spPr>
          <a:xfrm>
            <a:off x="11109415" y="2827057"/>
            <a:ext cx="183356" cy="266700"/>
          </a:xfrm>
          <a:prstGeom prst="rect">
            <a:avLst/>
          </a:prstGeom>
        </p:spPr>
      </p:pic>
      <p:sp>
        <p:nvSpPr>
          <p:cNvPr id="112" name="TextBox 111"/>
          <p:cNvSpPr txBox="1"/>
          <p:nvPr/>
        </p:nvSpPr>
        <p:spPr>
          <a:xfrm>
            <a:off x="485775" y="4229437"/>
            <a:ext cx="2641550" cy="186689"/>
          </a:xfrm>
          <a:prstGeom prst="rect">
            <a:avLst/>
          </a:prstGeom>
          <a:noFill/>
        </p:spPr>
        <p:txBody>
          <a:bodyPr wrap="none" lIns="0" rIns="0" tIns="0" bIns="0">
            <a:spAutoFit/>
          </a:bodyPr>
          <a:lstStyle/>
          <a:p>
            <a:r>
              <a:rPr sz="1100" b="0">
                <a:solidFill>
                  <a:srgbClr val="2E2E2E"/>
                </a:solidFill>
                <a:latin typeface="Calibri"/>
              </a:rPr>
              <a:t>North America heavy commercial vehicle EPS</a:t>
            </a:r>
          </a:p>
        </p:txBody>
      </p:sp>
      <p:sp>
        <p:nvSpPr>
          <p:cNvPr id="113" name="TextBox 112"/>
          <p:cNvSpPr txBox="1"/>
          <p:nvPr/>
        </p:nvSpPr>
        <p:spPr>
          <a:xfrm>
            <a:off x="485775" y="4397077"/>
            <a:ext cx="1801986" cy="186689"/>
          </a:xfrm>
          <a:prstGeom prst="rect">
            <a:avLst/>
          </a:prstGeom>
          <a:noFill/>
        </p:spPr>
        <p:txBody>
          <a:bodyPr wrap="none" lIns="0" rIns="0" tIns="0" bIns="0">
            <a:spAutoFit/>
          </a:bodyPr>
          <a:lstStyle/>
          <a:p>
            <a:r>
              <a:rPr sz="1100" b="0">
                <a:solidFill>
                  <a:srgbClr val="2E2E2E"/>
                </a:solidFill>
                <a:latin typeface="Calibri"/>
              </a:rPr>
              <a:t>market is projected to register</a:t>
            </a:r>
          </a:p>
        </p:txBody>
      </p:sp>
      <p:pic>
        <p:nvPicPr>
          <p:cNvPr id="114" name="Picture 113" descr="lock.png"/>
          <p:cNvPicPr>
            <a:picLocks noChangeAspect="1"/>
          </p:cNvPicPr>
          <p:nvPr/>
        </p:nvPicPr>
        <p:blipFill>
          <a:blip r:embed="rId25"/>
          <a:stretch>
            <a:fillRect/>
          </a:stretch>
        </p:blipFill>
        <p:spPr>
          <a:xfrm>
            <a:off x="2235812" y="4387298"/>
            <a:ext cx="128699" cy="187198"/>
          </a:xfrm>
          <a:prstGeom prst="rect">
            <a:avLst/>
          </a:prstGeom>
        </p:spPr>
      </p:pic>
      <p:sp>
        <p:nvSpPr>
          <p:cNvPr id="115" name="TextBox 114"/>
          <p:cNvSpPr txBox="1"/>
          <p:nvPr/>
        </p:nvSpPr>
        <p:spPr>
          <a:xfrm>
            <a:off x="2403308" y="4397077"/>
            <a:ext cx="880293" cy="186689"/>
          </a:xfrm>
          <a:prstGeom prst="rect">
            <a:avLst/>
          </a:prstGeom>
          <a:noFill/>
        </p:spPr>
        <p:txBody>
          <a:bodyPr wrap="none" lIns="0" rIns="0" tIns="0" bIns="0">
            <a:spAutoFit/>
          </a:bodyPr>
          <a:lstStyle/>
          <a:p>
            <a:r>
              <a:rPr sz="1100" b="0">
                <a:solidFill>
                  <a:srgbClr val="2E2E2E"/>
                </a:solidFill>
                <a:latin typeface="Calibri"/>
              </a:rPr>
              <a:t>X higher value</a:t>
            </a:r>
          </a:p>
        </p:txBody>
      </p:sp>
      <p:sp>
        <p:nvSpPr>
          <p:cNvPr id="116" name="TextBox 115"/>
          <p:cNvSpPr txBox="1"/>
          <p:nvPr/>
        </p:nvSpPr>
        <p:spPr>
          <a:xfrm>
            <a:off x="485775" y="4564717"/>
            <a:ext cx="2781523" cy="186689"/>
          </a:xfrm>
          <a:prstGeom prst="rect">
            <a:avLst/>
          </a:prstGeom>
          <a:noFill/>
        </p:spPr>
        <p:txBody>
          <a:bodyPr wrap="none" lIns="0" rIns="0" tIns="0" bIns="0">
            <a:spAutoFit/>
          </a:bodyPr>
          <a:lstStyle/>
          <a:p>
            <a:r>
              <a:rPr sz="1100" b="0">
                <a:solidFill>
                  <a:srgbClr val="2E2E2E"/>
                </a:solidFill>
                <a:latin typeface="Calibri"/>
              </a:rPr>
              <a:t>than South Asia &amp; Pacific in 2036. Among heavy</a:t>
            </a:r>
          </a:p>
        </p:txBody>
      </p:sp>
      <p:sp>
        <p:nvSpPr>
          <p:cNvPr id="117" name="TextBox 116"/>
          <p:cNvSpPr txBox="1"/>
          <p:nvPr/>
        </p:nvSpPr>
        <p:spPr>
          <a:xfrm>
            <a:off x="485775" y="4732357"/>
            <a:ext cx="2762696" cy="186689"/>
          </a:xfrm>
          <a:prstGeom prst="rect">
            <a:avLst/>
          </a:prstGeom>
          <a:noFill/>
        </p:spPr>
        <p:txBody>
          <a:bodyPr wrap="none" lIns="0" rIns="0" tIns="0" bIns="0">
            <a:spAutoFit/>
          </a:bodyPr>
          <a:lstStyle/>
          <a:p>
            <a:r>
              <a:rPr sz="1100" b="0">
                <a:solidFill>
                  <a:srgbClr val="2E2E2E"/>
                </a:solidFill>
                <a:latin typeface="Calibri"/>
              </a:rPr>
              <a:t>commercial vehicle EPS by region, South Asia &amp;</a:t>
            </a:r>
          </a:p>
        </p:txBody>
      </p:sp>
      <p:sp>
        <p:nvSpPr>
          <p:cNvPr id="118" name="TextBox 117"/>
          <p:cNvSpPr txBox="1"/>
          <p:nvPr/>
        </p:nvSpPr>
        <p:spPr>
          <a:xfrm>
            <a:off x="485775" y="4899997"/>
            <a:ext cx="2895830" cy="186689"/>
          </a:xfrm>
          <a:prstGeom prst="rect">
            <a:avLst/>
          </a:prstGeom>
          <a:noFill/>
        </p:spPr>
        <p:txBody>
          <a:bodyPr wrap="none" lIns="0" rIns="0" tIns="0" bIns="0">
            <a:spAutoFit/>
          </a:bodyPr>
          <a:lstStyle/>
          <a:p>
            <a:r>
              <a:rPr sz="1100" b="0">
                <a:solidFill>
                  <a:srgbClr val="2E2E2E"/>
                </a:solidFill>
                <a:latin typeface="Calibri"/>
              </a:rPr>
              <a:t>Pacific is expected to witness the highest CAGR of</a:t>
            </a:r>
          </a:p>
        </p:txBody>
      </p:sp>
      <p:pic>
        <p:nvPicPr>
          <p:cNvPr id="119" name="Picture 118" descr="lock.png"/>
          <p:cNvPicPr>
            <a:picLocks noChangeAspect="1"/>
          </p:cNvPicPr>
          <p:nvPr/>
        </p:nvPicPr>
        <p:blipFill>
          <a:blip r:embed="rId25"/>
          <a:stretch>
            <a:fillRect/>
          </a:stretch>
        </p:blipFill>
        <p:spPr>
          <a:xfrm>
            <a:off x="472307" y="5057858"/>
            <a:ext cx="128699" cy="187198"/>
          </a:xfrm>
          <a:prstGeom prst="rect">
            <a:avLst/>
          </a:prstGeom>
        </p:spPr>
      </p:pic>
      <p:sp>
        <p:nvSpPr>
          <p:cNvPr id="120" name="TextBox 119"/>
          <p:cNvSpPr txBox="1"/>
          <p:nvPr/>
        </p:nvSpPr>
        <p:spPr>
          <a:xfrm>
            <a:off x="639803" y="506763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21" name="TextBox 120"/>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22" name="TextBox 121"/>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23" name="Picture 122" descr="lock.png"/>
          <p:cNvPicPr>
            <a:picLocks noChangeAspect="1"/>
          </p:cNvPicPr>
          <p:nvPr/>
        </p:nvPicPr>
        <p:blipFill>
          <a:blip r:embed="rId25"/>
          <a:stretch>
            <a:fillRect/>
          </a:stretch>
        </p:blipFill>
        <p:spPr>
          <a:xfrm>
            <a:off x="2822716" y="5443430"/>
            <a:ext cx="128699" cy="187198"/>
          </a:xfrm>
          <a:prstGeom prst="rect">
            <a:avLst/>
          </a:prstGeom>
        </p:spPr>
      </p:pic>
      <p:sp>
        <p:nvSpPr>
          <p:cNvPr id="124" name="TextBox 123"/>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5" name="TextBox 124"/>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26" name="Picture 125" descr="lock.png"/>
          <p:cNvPicPr>
            <a:picLocks noChangeAspect="1"/>
          </p:cNvPicPr>
          <p:nvPr/>
        </p:nvPicPr>
        <p:blipFill>
          <a:blip r:embed="rId25"/>
          <a:stretch>
            <a:fillRect/>
          </a:stretch>
        </p:blipFill>
        <p:spPr>
          <a:xfrm>
            <a:off x="1576057" y="5611070"/>
            <a:ext cx="128699" cy="187198"/>
          </a:xfrm>
          <a:prstGeom prst="rect">
            <a:avLst/>
          </a:prstGeom>
        </p:spPr>
      </p:pic>
      <p:sp>
        <p:nvSpPr>
          <p:cNvPr id="127" name="TextBox 126"/>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8" name="TextBox 127"/>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29" name="Picture 128" descr="lock.png"/>
          <p:cNvPicPr>
            <a:picLocks noChangeAspect="1"/>
          </p:cNvPicPr>
          <p:nvPr/>
        </p:nvPicPr>
        <p:blipFill>
          <a:blip r:embed="rId25"/>
          <a:stretch>
            <a:fillRect/>
          </a:stretch>
        </p:blipFill>
        <p:spPr>
          <a:xfrm>
            <a:off x="4850003" y="4219658"/>
            <a:ext cx="128699" cy="187198"/>
          </a:xfrm>
          <a:prstGeom prst="rect">
            <a:avLst/>
          </a:prstGeom>
        </p:spPr>
      </p:pic>
      <p:sp>
        <p:nvSpPr>
          <p:cNvPr id="130" name="TextBox 129"/>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5"/>
          <a:stretch>
            <a:fillRect/>
          </a:stretch>
        </p:blipFill>
        <p:spPr>
          <a:xfrm>
            <a:off x="5876949" y="4219658"/>
            <a:ext cx="128699" cy="187198"/>
          </a:xfrm>
          <a:prstGeom prst="rect">
            <a:avLst/>
          </a:prstGeom>
        </p:spPr>
      </p:pic>
      <p:sp>
        <p:nvSpPr>
          <p:cNvPr id="132" name="TextBox 131"/>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33" name="TextBox 132"/>
          <p:cNvSpPr txBox="1"/>
          <p:nvPr/>
        </p:nvSpPr>
        <p:spPr>
          <a:xfrm>
            <a:off x="3838575" y="4447369"/>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34" name="Picture 133" descr="lock.png"/>
          <p:cNvPicPr>
            <a:picLocks noChangeAspect="1"/>
          </p:cNvPicPr>
          <p:nvPr/>
        </p:nvPicPr>
        <p:blipFill>
          <a:blip r:embed="rId25"/>
          <a:stretch>
            <a:fillRect/>
          </a:stretch>
        </p:blipFill>
        <p:spPr>
          <a:xfrm>
            <a:off x="4518727" y="4437590"/>
            <a:ext cx="128699" cy="187198"/>
          </a:xfrm>
          <a:prstGeom prst="rect">
            <a:avLst/>
          </a:prstGeom>
        </p:spPr>
      </p:pic>
      <p:sp>
        <p:nvSpPr>
          <p:cNvPr id="135" name="TextBox 134"/>
          <p:cNvSpPr txBox="1"/>
          <p:nvPr/>
        </p:nvSpPr>
        <p:spPr>
          <a:xfrm>
            <a:off x="468622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5"/>
          <a:stretch>
            <a:fillRect/>
          </a:stretch>
        </p:blipFill>
        <p:spPr>
          <a:xfrm>
            <a:off x="5545673" y="4437590"/>
            <a:ext cx="128699" cy="187198"/>
          </a:xfrm>
          <a:prstGeom prst="rect">
            <a:avLst/>
          </a:prstGeom>
        </p:spPr>
      </p:pic>
      <p:sp>
        <p:nvSpPr>
          <p:cNvPr id="137" name="TextBox 136"/>
          <p:cNvSpPr txBox="1"/>
          <p:nvPr/>
        </p:nvSpPr>
        <p:spPr>
          <a:xfrm>
            <a:off x="571316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8" name="TextBox 137"/>
          <p:cNvSpPr txBox="1"/>
          <p:nvPr/>
        </p:nvSpPr>
        <p:spPr>
          <a:xfrm>
            <a:off x="3838575" y="4665301"/>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9" name="Picture 138" descr="lock.png"/>
          <p:cNvPicPr>
            <a:picLocks noChangeAspect="1"/>
          </p:cNvPicPr>
          <p:nvPr/>
        </p:nvPicPr>
        <p:blipFill>
          <a:blip r:embed="rId25"/>
          <a:stretch>
            <a:fillRect/>
          </a:stretch>
        </p:blipFill>
        <p:spPr>
          <a:xfrm>
            <a:off x="5136770" y="4655522"/>
            <a:ext cx="128699" cy="187198"/>
          </a:xfrm>
          <a:prstGeom prst="rect">
            <a:avLst/>
          </a:prstGeom>
        </p:spPr>
      </p:pic>
      <p:sp>
        <p:nvSpPr>
          <p:cNvPr id="140" name="TextBox 139"/>
          <p:cNvSpPr txBox="1"/>
          <p:nvPr/>
        </p:nvSpPr>
        <p:spPr>
          <a:xfrm>
            <a:off x="530426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5"/>
          <a:stretch>
            <a:fillRect/>
          </a:stretch>
        </p:blipFill>
        <p:spPr>
          <a:xfrm>
            <a:off x="6163716" y="4655522"/>
            <a:ext cx="128699" cy="187198"/>
          </a:xfrm>
          <a:prstGeom prst="rect">
            <a:avLst/>
          </a:prstGeom>
        </p:spPr>
      </p:pic>
      <p:sp>
        <p:nvSpPr>
          <p:cNvPr id="142" name="TextBox 141"/>
          <p:cNvSpPr txBox="1"/>
          <p:nvPr/>
        </p:nvSpPr>
        <p:spPr>
          <a:xfrm>
            <a:off x="6331212"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3" name="TextBox 142"/>
          <p:cNvSpPr txBox="1"/>
          <p:nvPr/>
        </p:nvSpPr>
        <p:spPr>
          <a:xfrm>
            <a:off x="3838575" y="4883233"/>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44" name="Picture 143" descr="lock.png"/>
          <p:cNvPicPr>
            <a:picLocks noChangeAspect="1"/>
          </p:cNvPicPr>
          <p:nvPr/>
        </p:nvPicPr>
        <p:blipFill>
          <a:blip r:embed="rId25"/>
          <a:stretch>
            <a:fillRect/>
          </a:stretch>
        </p:blipFill>
        <p:spPr>
          <a:xfrm>
            <a:off x="4794887" y="4873454"/>
            <a:ext cx="128699" cy="187198"/>
          </a:xfrm>
          <a:prstGeom prst="rect">
            <a:avLst/>
          </a:prstGeom>
        </p:spPr>
      </p:pic>
      <p:sp>
        <p:nvSpPr>
          <p:cNvPr id="145" name="TextBox 144"/>
          <p:cNvSpPr txBox="1"/>
          <p:nvPr/>
        </p:nvSpPr>
        <p:spPr>
          <a:xfrm>
            <a:off x="496238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5"/>
          <a:stretch>
            <a:fillRect/>
          </a:stretch>
        </p:blipFill>
        <p:spPr>
          <a:xfrm>
            <a:off x="5821833" y="4873454"/>
            <a:ext cx="128699" cy="187198"/>
          </a:xfrm>
          <a:prstGeom prst="rect">
            <a:avLst/>
          </a:prstGeom>
        </p:spPr>
      </p:pic>
      <p:sp>
        <p:nvSpPr>
          <p:cNvPr id="147" name="TextBox 146"/>
          <p:cNvSpPr txBox="1"/>
          <p:nvPr/>
        </p:nvSpPr>
        <p:spPr>
          <a:xfrm>
            <a:off x="5989329" y="4883233"/>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8" name="TextBox 147"/>
          <p:cNvSpPr txBox="1"/>
          <p:nvPr/>
        </p:nvSpPr>
        <p:spPr>
          <a:xfrm>
            <a:off x="3838575" y="5101165"/>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9" name="Picture 148" descr="lock.png"/>
          <p:cNvPicPr>
            <a:picLocks noChangeAspect="1"/>
          </p:cNvPicPr>
          <p:nvPr/>
        </p:nvPicPr>
        <p:blipFill>
          <a:blip r:embed="rId25"/>
          <a:stretch>
            <a:fillRect/>
          </a:stretch>
        </p:blipFill>
        <p:spPr>
          <a:xfrm>
            <a:off x="5173571" y="5091385"/>
            <a:ext cx="128699" cy="187198"/>
          </a:xfrm>
          <a:prstGeom prst="rect">
            <a:avLst/>
          </a:prstGeom>
        </p:spPr>
      </p:pic>
      <p:sp>
        <p:nvSpPr>
          <p:cNvPr id="150" name="TextBox 149"/>
          <p:cNvSpPr txBox="1"/>
          <p:nvPr/>
        </p:nvSpPr>
        <p:spPr>
          <a:xfrm>
            <a:off x="5341067"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1" name="Picture 150" descr="lock.png"/>
          <p:cNvPicPr>
            <a:picLocks noChangeAspect="1"/>
          </p:cNvPicPr>
          <p:nvPr/>
        </p:nvPicPr>
        <p:blipFill>
          <a:blip r:embed="rId25"/>
          <a:stretch>
            <a:fillRect/>
          </a:stretch>
        </p:blipFill>
        <p:spPr>
          <a:xfrm>
            <a:off x="6200517" y="5091385"/>
            <a:ext cx="128699" cy="187198"/>
          </a:xfrm>
          <a:prstGeom prst="rect">
            <a:avLst/>
          </a:prstGeom>
        </p:spPr>
      </p:pic>
      <p:sp>
        <p:nvSpPr>
          <p:cNvPr id="152" name="TextBox 151"/>
          <p:cNvSpPr txBox="1"/>
          <p:nvPr/>
        </p:nvSpPr>
        <p:spPr>
          <a:xfrm>
            <a:off x="6368013"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3" name="TextBox 152"/>
          <p:cNvSpPr txBox="1"/>
          <p:nvPr/>
        </p:nvSpPr>
        <p:spPr>
          <a:xfrm>
            <a:off x="3838575" y="5319097"/>
            <a:ext cx="1096630" cy="186689"/>
          </a:xfrm>
          <a:prstGeom prst="rect">
            <a:avLst/>
          </a:prstGeom>
          <a:noFill/>
        </p:spPr>
        <p:txBody>
          <a:bodyPr wrap="none" lIns="0" rIns="0" tIns="0" bIns="0">
            <a:spAutoFit/>
          </a:bodyPr>
          <a:lstStyle/>
          <a:p>
            <a:r>
              <a:rPr sz="1100" b="0">
                <a:solidFill>
                  <a:srgbClr val="2E2E2E"/>
                </a:solidFill>
                <a:latin typeface="Calibri"/>
              </a:rPr>
              <a:t>● Eastern Europe:</a:t>
            </a:r>
          </a:p>
        </p:txBody>
      </p:sp>
      <p:pic>
        <p:nvPicPr>
          <p:cNvPr id="154" name="Picture 153" descr="lock.png"/>
          <p:cNvPicPr>
            <a:picLocks noChangeAspect="1"/>
          </p:cNvPicPr>
          <p:nvPr/>
        </p:nvPicPr>
        <p:blipFill>
          <a:blip r:embed="rId25"/>
          <a:stretch>
            <a:fillRect/>
          </a:stretch>
        </p:blipFill>
        <p:spPr>
          <a:xfrm>
            <a:off x="4883257" y="5309317"/>
            <a:ext cx="128699" cy="187198"/>
          </a:xfrm>
          <a:prstGeom prst="rect">
            <a:avLst/>
          </a:prstGeom>
        </p:spPr>
      </p:pic>
      <p:sp>
        <p:nvSpPr>
          <p:cNvPr id="155" name="TextBox 154"/>
          <p:cNvSpPr txBox="1"/>
          <p:nvPr/>
        </p:nvSpPr>
        <p:spPr>
          <a:xfrm>
            <a:off x="5050753"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6" name="Picture 155" descr="lock.png"/>
          <p:cNvPicPr>
            <a:picLocks noChangeAspect="1"/>
          </p:cNvPicPr>
          <p:nvPr/>
        </p:nvPicPr>
        <p:blipFill>
          <a:blip r:embed="rId25"/>
          <a:stretch>
            <a:fillRect/>
          </a:stretch>
        </p:blipFill>
        <p:spPr>
          <a:xfrm>
            <a:off x="5910203" y="5309317"/>
            <a:ext cx="128699" cy="187198"/>
          </a:xfrm>
          <a:prstGeom prst="rect">
            <a:avLst/>
          </a:prstGeom>
        </p:spPr>
      </p:pic>
      <p:sp>
        <p:nvSpPr>
          <p:cNvPr id="157" name="TextBox 156"/>
          <p:cNvSpPr txBox="1"/>
          <p:nvPr/>
        </p:nvSpPr>
        <p:spPr>
          <a:xfrm>
            <a:off x="6077699"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8" name="TextBox 157"/>
          <p:cNvSpPr txBox="1"/>
          <p:nvPr/>
        </p:nvSpPr>
        <p:spPr>
          <a:xfrm>
            <a:off x="3838575" y="5537029"/>
            <a:ext cx="1155600" cy="186689"/>
          </a:xfrm>
          <a:prstGeom prst="rect">
            <a:avLst/>
          </a:prstGeom>
          <a:noFill/>
        </p:spPr>
        <p:txBody>
          <a:bodyPr wrap="none" lIns="0" rIns="0" tIns="0" bIns="0">
            <a:spAutoFit/>
          </a:bodyPr>
          <a:lstStyle/>
          <a:p>
            <a:r>
              <a:rPr sz="1100" b="0">
                <a:solidFill>
                  <a:srgbClr val="2E2E2E"/>
                </a:solidFill>
                <a:latin typeface="Calibri"/>
              </a:rPr>
              <a:t>● Western Europe:</a:t>
            </a:r>
          </a:p>
        </p:txBody>
      </p:sp>
      <p:pic>
        <p:nvPicPr>
          <p:cNvPr id="159" name="Picture 158" descr="lock.png"/>
          <p:cNvPicPr>
            <a:picLocks noChangeAspect="1"/>
          </p:cNvPicPr>
          <p:nvPr/>
        </p:nvPicPr>
        <p:blipFill>
          <a:blip r:embed="rId25"/>
          <a:stretch>
            <a:fillRect/>
          </a:stretch>
        </p:blipFill>
        <p:spPr>
          <a:xfrm>
            <a:off x="4942227" y="5527249"/>
            <a:ext cx="128699" cy="187198"/>
          </a:xfrm>
          <a:prstGeom prst="rect">
            <a:avLst/>
          </a:prstGeom>
        </p:spPr>
      </p:pic>
      <p:sp>
        <p:nvSpPr>
          <p:cNvPr id="160" name="TextBox 159"/>
          <p:cNvSpPr txBox="1"/>
          <p:nvPr/>
        </p:nvSpPr>
        <p:spPr>
          <a:xfrm>
            <a:off x="5109723" y="553702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1" name="Picture 160" descr="lock.png"/>
          <p:cNvPicPr>
            <a:picLocks noChangeAspect="1"/>
          </p:cNvPicPr>
          <p:nvPr/>
        </p:nvPicPr>
        <p:blipFill>
          <a:blip r:embed="rId25"/>
          <a:stretch>
            <a:fillRect/>
          </a:stretch>
        </p:blipFill>
        <p:spPr>
          <a:xfrm>
            <a:off x="5969173" y="5527249"/>
            <a:ext cx="128699" cy="187198"/>
          </a:xfrm>
          <a:prstGeom prst="rect">
            <a:avLst/>
          </a:prstGeom>
        </p:spPr>
      </p:pic>
      <p:sp>
        <p:nvSpPr>
          <p:cNvPr id="162" name="TextBox 161"/>
          <p:cNvSpPr txBox="1"/>
          <p:nvPr/>
        </p:nvSpPr>
        <p:spPr>
          <a:xfrm>
            <a:off x="6136669" y="553702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63" name="TextBox 162"/>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64" name="TextBox 163"/>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65" name="Picture 164" descr="lock.png"/>
          <p:cNvPicPr>
            <a:picLocks noChangeAspect="1"/>
          </p:cNvPicPr>
          <p:nvPr/>
        </p:nvPicPr>
        <p:blipFill>
          <a:blip r:embed="rId25"/>
          <a:stretch>
            <a:fillRect/>
          </a:stretch>
        </p:blipFill>
        <p:spPr>
          <a:xfrm>
            <a:off x="8674884" y="6007677"/>
            <a:ext cx="134549" cy="195707"/>
          </a:xfrm>
          <a:prstGeom prst="rect">
            <a:avLst/>
          </a:prstGeom>
        </p:spPr>
      </p:pic>
      <p:sp>
        <p:nvSpPr>
          <p:cNvPr id="166" name="TextBox 165"/>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29546"/>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247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44858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8" name="BPS Value 1"/>
          <p:cNvSpPr txBox="1"/>
          <p:nvPr/>
        </p:nvSpPr>
        <p:spPr>
          <a:xfrm>
            <a:off x="6305550" y="151049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723557"/>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7187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64259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22" name="BPS Value 2"/>
          <p:cNvSpPr txBox="1"/>
          <p:nvPr/>
        </p:nvSpPr>
        <p:spPr>
          <a:xfrm>
            <a:off x="6305550" y="170450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01757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01280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193660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6" name="BPS Value 3"/>
          <p:cNvSpPr txBox="1"/>
          <p:nvPr/>
        </p:nvSpPr>
        <p:spPr>
          <a:xfrm>
            <a:off x="6305550" y="199852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237130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36654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29034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30" name="BPS Value 4"/>
          <p:cNvSpPr txBox="1"/>
          <p:nvPr/>
        </p:nvSpPr>
        <p:spPr>
          <a:xfrm>
            <a:off x="6305550" y="235225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95251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294775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8715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4" name="BPS Value 5"/>
          <p:cNvSpPr txBox="1"/>
          <p:nvPr/>
        </p:nvSpPr>
        <p:spPr>
          <a:xfrm>
            <a:off x="6305550" y="29334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377469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37699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369373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37556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FMI Legend Chip"/>
          <p:cNvSpPr/>
          <p:nvPr/>
        </p:nvSpPr>
        <p:spPr>
          <a:xfrm>
            <a:off x="4551045" y="466557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4712970" y="466081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458461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42" name="BPS Value 7"/>
          <p:cNvSpPr txBox="1"/>
          <p:nvPr/>
        </p:nvSpPr>
        <p:spPr>
          <a:xfrm>
            <a:off x="6305550" y="464652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5" name="Rectangle 4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Rounded Rectangle 4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r>
          </a:p>
        </p:txBody>
      </p:sp>
      <p:sp>
        <p:nvSpPr>
          <p:cNvPr id="48" name="Rounded Rectangle 4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r>
          </a:p>
        </p:txBody>
      </p:sp>
      <p:sp>
        <p:nvSpPr>
          <p:cNvPr id="49" name="Rounded Rectangle 4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1" name="Picture 50" descr="lock.png"/>
          <p:cNvPicPr>
            <a:picLocks noChangeAspect="1"/>
          </p:cNvPicPr>
          <p:nvPr/>
        </p:nvPicPr>
        <p:blipFill>
          <a:blip r:embed="rId5"/>
          <a:stretch>
            <a:fillRect/>
          </a:stretch>
        </p:blipFill>
        <p:spPr>
          <a:xfrm>
            <a:off x="2333863" y="3121818"/>
            <a:ext cx="343793" cy="500062"/>
          </a:xfrm>
          <a:prstGeom prst="rect">
            <a:avLst/>
          </a:prstGeom>
        </p:spPr>
      </p:pic>
      <p:pic>
        <p:nvPicPr>
          <p:cNvPr id="52" name="Picture 51" descr="3_692_308_605E5C.png"/>
          <p:cNvPicPr>
            <a:picLocks noChangeAspect="1"/>
          </p:cNvPicPr>
          <p:nvPr/>
        </p:nvPicPr>
        <p:blipFill>
          <a:blip r:embed="rId6"/>
          <a:stretch>
            <a:fillRect/>
          </a:stretch>
        </p:blipFill>
        <p:spPr>
          <a:xfrm>
            <a:off x="744310" y="5897562"/>
            <a:ext cx="2740473" cy="482599"/>
          </a:xfrm>
          <a:prstGeom prst="rect">
            <a:avLst/>
          </a:prstGeom>
        </p:spPr>
      </p:pic>
      <p:pic>
        <p:nvPicPr>
          <p:cNvPr id="53" name="Picture 52" descr="6_462_135_605E5C.png"/>
          <p:cNvPicPr>
            <a:picLocks noChangeAspect="1"/>
          </p:cNvPicPr>
          <p:nvPr/>
        </p:nvPicPr>
        <p:blipFill>
          <a:blip r:embed="rId7"/>
          <a:stretch>
            <a:fillRect/>
          </a:stretch>
        </p:blipFill>
        <p:spPr>
          <a:xfrm>
            <a:off x="4778148" y="5897562"/>
            <a:ext cx="2740473" cy="482599"/>
          </a:xfrm>
          <a:prstGeom prst="rect">
            <a:avLst/>
          </a:prstGeom>
        </p:spPr>
      </p:pic>
      <p:pic>
        <p:nvPicPr>
          <p:cNvPr id="54" name="Picture 53" descr="5_8__605E5C.png"/>
          <p:cNvPicPr>
            <a:picLocks noChangeAspect="1"/>
          </p:cNvPicPr>
          <p:nvPr/>
        </p:nvPicPr>
        <p:blipFill>
          <a:blip r:embed="rId8"/>
          <a:stretch>
            <a:fillRect/>
          </a:stretch>
        </p:blipFill>
        <p:spPr>
          <a:xfrm>
            <a:off x="9465355" y="5897562"/>
            <a:ext cx="1309912" cy="482599"/>
          </a:xfrm>
          <a:prstGeom prst="rect">
            <a:avLst/>
          </a:prstGeom>
        </p:spPr>
      </p:pic>
      <p:pic>
        <p:nvPicPr>
          <p:cNvPr id="55" name="Picture 54" descr="lock.png"/>
          <p:cNvPicPr>
            <a:picLocks noChangeAspect="1"/>
          </p:cNvPicPr>
          <p:nvPr/>
        </p:nvPicPr>
        <p:blipFill>
          <a:blip r:embed="rId5"/>
          <a:stretch>
            <a:fillRect/>
          </a:stretch>
        </p:blipFill>
        <p:spPr>
          <a:xfrm>
            <a:off x="5914657" y="5893409"/>
            <a:ext cx="337498" cy="490906"/>
          </a:xfrm>
          <a:prstGeom prst="rect">
            <a:avLst/>
          </a:prstGeom>
        </p:spPr>
      </p:pic>
      <p:sp>
        <p:nvSpPr>
          <p:cNvPr id="56" name="TextBox 55"/>
          <p:cNvSpPr txBox="1"/>
          <p:nvPr/>
        </p:nvSpPr>
        <p:spPr>
          <a:xfrm>
            <a:off x="7239000" y="1400175"/>
            <a:ext cx="4406069" cy="194310"/>
          </a:xfrm>
          <a:prstGeom prst="rect">
            <a:avLst/>
          </a:prstGeom>
          <a:noFill/>
        </p:spPr>
        <p:txBody>
          <a:bodyPr wrap="none" lIns="0" rIns="0" tIns="0" bIns="0">
            <a:spAutoFit/>
          </a:bodyPr>
          <a:lstStyle/>
          <a:p>
            <a:r>
              <a:rPr sz="1150" b="0">
                <a:solidFill>
                  <a:srgbClr val="2E2E2E"/>
                </a:solidFill>
                <a:latin typeface="Calibri"/>
              </a:rPr>
              <a:t>South Asia &amp; Pacific heavy commercial vehicle EPS market is projected to</a:t>
            </a:r>
          </a:p>
        </p:txBody>
      </p:sp>
      <p:sp>
        <p:nvSpPr>
          <p:cNvPr id="57" name="TextBox 56"/>
          <p:cNvSpPr txBox="1"/>
          <p:nvPr/>
        </p:nvSpPr>
        <p:spPr>
          <a:xfrm>
            <a:off x="7239000" y="1575435"/>
            <a:ext cx="532320" cy="194310"/>
          </a:xfrm>
          <a:prstGeom prst="rect">
            <a:avLst/>
          </a:prstGeom>
          <a:noFill/>
        </p:spPr>
        <p:txBody>
          <a:bodyPr wrap="none" lIns="0" rIns="0" tIns="0" bIns="0">
            <a:spAutoFit/>
          </a:bodyPr>
          <a:lstStyle/>
          <a:p>
            <a:r>
              <a:rPr sz="1150" b="0">
                <a:solidFill>
                  <a:srgbClr val="2E2E2E"/>
                </a:solidFill>
                <a:latin typeface="Calibri"/>
              </a:rPr>
              <a:t>register</a:t>
            </a:r>
          </a:p>
        </p:txBody>
      </p:sp>
      <p:pic>
        <p:nvPicPr>
          <p:cNvPr id="58" name="Picture 57" descr="lock.png"/>
          <p:cNvPicPr>
            <a:picLocks noChangeAspect="1"/>
          </p:cNvPicPr>
          <p:nvPr/>
        </p:nvPicPr>
        <p:blipFill>
          <a:blip r:embed="rId5"/>
          <a:stretch>
            <a:fillRect/>
          </a:stretch>
        </p:blipFill>
        <p:spPr>
          <a:xfrm>
            <a:off x="7720474" y="1565211"/>
            <a:ext cx="134549" cy="195707"/>
          </a:xfrm>
          <a:prstGeom prst="rect">
            <a:avLst/>
          </a:prstGeom>
        </p:spPr>
      </p:pic>
      <p:sp>
        <p:nvSpPr>
          <p:cNvPr id="59" name="TextBox 58"/>
          <p:cNvSpPr txBox="1"/>
          <p:nvPr/>
        </p:nvSpPr>
        <p:spPr>
          <a:xfrm>
            <a:off x="7895584" y="1575435"/>
            <a:ext cx="3602223"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heavy</a:t>
            </a:r>
          </a:p>
        </p:txBody>
      </p:sp>
      <p:sp>
        <p:nvSpPr>
          <p:cNvPr id="60" name="TextBox 59"/>
          <p:cNvSpPr txBox="1"/>
          <p:nvPr/>
        </p:nvSpPr>
        <p:spPr>
          <a:xfrm>
            <a:off x="7239000" y="1750695"/>
            <a:ext cx="4644826" cy="194310"/>
          </a:xfrm>
          <a:prstGeom prst="rect">
            <a:avLst/>
          </a:prstGeom>
          <a:noFill/>
        </p:spPr>
        <p:txBody>
          <a:bodyPr wrap="none" lIns="0" rIns="0" tIns="0" bIns="0">
            <a:spAutoFit/>
          </a:bodyPr>
          <a:lstStyle/>
          <a:p>
            <a:r>
              <a:rPr sz="1150" b="0">
                <a:solidFill>
                  <a:srgbClr val="2E2E2E"/>
                </a:solidFill>
                <a:latin typeface="Calibri"/>
              </a:rPr>
              <a:t>commercial vehicle EPS by region, South Asia &amp; Pacific is expected to witness</a:t>
            </a:r>
          </a:p>
        </p:txBody>
      </p:sp>
      <p:sp>
        <p:nvSpPr>
          <p:cNvPr id="61" name="TextBox 60"/>
          <p:cNvSpPr txBox="1"/>
          <p:nvPr/>
        </p:nvSpPr>
        <p:spPr>
          <a:xfrm>
            <a:off x="7239000" y="192595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62" name="Picture 61" descr="lock.png"/>
          <p:cNvPicPr>
            <a:picLocks noChangeAspect="1"/>
          </p:cNvPicPr>
          <p:nvPr/>
        </p:nvPicPr>
        <p:blipFill>
          <a:blip r:embed="rId5"/>
          <a:stretch>
            <a:fillRect/>
          </a:stretch>
        </p:blipFill>
        <p:spPr>
          <a:xfrm>
            <a:off x="8452133" y="1915731"/>
            <a:ext cx="134549" cy="195707"/>
          </a:xfrm>
          <a:prstGeom prst="rect">
            <a:avLst/>
          </a:prstGeom>
        </p:spPr>
      </p:pic>
      <p:sp>
        <p:nvSpPr>
          <p:cNvPr id="63" name="TextBox 62"/>
          <p:cNvSpPr txBox="1"/>
          <p:nvPr/>
        </p:nvSpPr>
        <p:spPr>
          <a:xfrm>
            <a:off x="8627242"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4" name="TextBox 63"/>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5" name="TextBox 64"/>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6" name="Picture 65" descr="lock.png"/>
          <p:cNvPicPr>
            <a:picLocks noChangeAspect="1"/>
          </p:cNvPicPr>
          <p:nvPr/>
        </p:nvPicPr>
        <p:blipFill>
          <a:blip r:embed="rId5"/>
          <a:stretch>
            <a:fillRect/>
          </a:stretch>
        </p:blipFill>
        <p:spPr>
          <a:xfrm>
            <a:off x="9025226" y="2318829"/>
            <a:ext cx="134549" cy="195707"/>
          </a:xfrm>
          <a:prstGeom prst="rect">
            <a:avLst/>
          </a:prstGeom>
        </p:spPr>
      </p:pic>
      <p:sp>
        <p:nvSpPr>
          <p:cNvPr id="67" name="TextBox 66"/>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8" name="Picture 67" descr="lock.png"/>
          <p:cNvPicPr>
            <a:picLocks noChangeAspect="1"/>
          </p:cNvPicPr>
          <p:nvPr/>
        </p:nvPicPr>
        <p:blipFill>
          <a:blip r:embed="rId5"/>
          <a:stretch>
            <a:fillRect/>
          </a:stretch>
        </p:blipFill>
        <p:spPr>
          <a:xfrm>
            <a:off x="10595478" y="2318829"/>
            <a:ext cx="134549" cy="195707"/>
          </a:xfrm>
          <a:prstGeom prst="rect">
            <a:avLst/>
          </a:prstGeom>
        </p:spPr>
      </p:pic>
      <p:sp>
        <p:nvSpPr>
          <p:cNvPr id="69" name="TextBox 68"/>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0" name="TextBox 69"/>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71" name="Picture 70" descr="lock.png"/>
          <p:cNvPicPr>
            <a:picLocks noChangeAspect="1"/>
          </p:cNvPicPr>
          <p:nvPr/>
        </p:nvPicPr>
        <p:blipFill>
          <a:blip r:embed="rId5"/>
          <a:stretch>
            <a:fillRect/>
          </a:stretch>
        </p:blipFill>
        <p:spPr>
          <a:xfrm>
            <a:off x="9271685" y="2494089"/>
            <a:ext cx="134549" cy="195707"/>
          </a:xfrm>
          <a:prstGeom prst="rect">
            <a:avLst/>
          </a:prstGeom>
        </p:spPr>
      </p:pic>
      <p:sp>
        <p:nvSpPr>
          <p:cNvPr id="72" name="TextBox 71"/>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73" name="TextBox 72"/>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74" name="Picture 73" descr="lock.png"/>
          <p:cNvPicPr>
            <a:picLocks noChangeAspect="1"/>
          </p:cNvPicPr>
          <p:nvPr/>
        </p:nvPicPr>
        <p:blipFill>
          <a:blip r:embed="rId5"/>
          <a:stretch>
            <a:fillRect/>
          </a:stretch>
        </p:blipFill>
        <p:spPr>
          <a:xfrm>
            <a:off x="7943258" y="2669349"/>
            <a:ext cx="134549" cy="195707"/>
          </a:xfrm>
          <a:prstGeom prst="rect">
            <a:avLst/>
          </a:prstGeom>
        </p:spPr>
      </p:pic>
      <p:sp>
        <p:nvSpPr>
          <p:cNvPr id="75" name="TextBox 74"/>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6"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59525"/>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5476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47856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8" name="BPS Value 1"/>
          <p:cNvSpPr txBox="1"/>
          <p:nvPr/>
        </p:nvSpPr>
        <p:spPr>
          <a:xfrm>
            <a:off x="6305550" y="154047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804284"/>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79952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2332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22" name="BPS Value 2"/>
          <p:cNvSpPr txBox="1"/>
          <p:nvPr/>
        </p:nvSpPr>
        <p:spPr>
          <a:xfrm>
            <a:off x="6305550" y="178523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11047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10571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02951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6" name="BPS Value 3"/>
          <p:cNvSpPr txBox="1"/>
          <p:nvPr/>
        </p:nvSpPr>
        <p:spPr>
          <a:xfrm>
            <a:off x="6305550" y="209142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245771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4529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37675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30" name="BPS Value 4"/>
          <p:cNvSpPr txBox="1"/>
          <p:nvPr/>
        </p:nvSpPr>
        <p:spPr>
          <a:xfrm>
            <a:off x="6305550" y="24386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92558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292081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84461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4" name="BPS Value 5"/>
          <p:cNvSpPr txBox="1"/>
          <p:nvPr/>
        </p:nvSpPr>
        <p:spPr>
          <a:xfrm>
            <a:off x="6305550" y="290653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349536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349060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341440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347631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551045" y="445743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4712970" y="445267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437647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42" name="BPS Value 7"/>
          <p:cNvSpPr txBox="1"/>
          <p:nvPr/>
        </p:nvSpPr>
        <p:spPr>
          <a:xfrm>
            <a:off x="6305550" y="443838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Rounded Rectangle 4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5" name="Rectangle 4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Rounded Rectangle 4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8" name="Rounded Rectangle 4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9" name="Rounded Rectangle 4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1" name="Picture 50" descr="lock.png"/>
          <p:cNvPicPr>
            <a:picLocks noChangeAspect="1"/>
          </p:cNvPicPr>
          <p:nvPr/>
        </p:nvPicPr>
        <p:blipFill>
          <a:blip r:embed="rId5"/>
          <a:stretch>
            <a:fillRect/>
          </a:stretch>
        </p:blipFill>
        <p:spPr>
          <a:xfrm>
            <a:off x="2333863" y="3121818"/>
            <a:ext cx="343793" cy="500062"/>
          </a:xfrm>
          <a:prstGeom prst="rect">
            <a:avLst/>
          </a:prstGeom>
        </p:spPr>
      </p:pic>
      <p:pic>
        <p:nvPicPr>
          <p:cNvPr id="52" name="Picture 51" descr="2_400_605E5C.png"/>
          <p:cNvPicPr>
            <a:picLocks noChangeAspect="1"/>
          </p:cNvPicPr>
          <p:nvPr/>
        </p:nvPicPr>
        <p:blipFill>
          <a:blip r:embed="rId6"/>
          <a:stretch>
            <a:fillRect/>
          </a:stretch>
        </p:blipFill>
        <p:spPr>
          <a:xfrm>
            <a:off x="1317398" y="5897562"/>
            <a:ext cx="1594300" cy="482599"/>
          </a:xfrm>
          <a:prstGeom prst="rect">
            <a:avLst/>
          </a:prstGeom>
        </p:spPr>
      </p:pic>
      <p:pic>
        <p:nvPicPr>
          <p:cNvPr id="53" name="Picture 52" descr="4_380_605E5C.png"/>
          <p:cNvPicPr>
            <a:picLocks noChangeAspect="1"/>
          </p:cNvPicPr>
          <p:nvPr/>
        </p:nvPicPr>
        <p:blipFill>
          <a:blip r:embed="rId7"/>
          <a:stretch>
            <a:fillRect/>
          </a:stretch>
        </p:blipFill>
        <p:spPr>
          <a:xfrm>
            <a:off x="5351235" y="5897562"/>
            <a:ext cx="1594300" cy="482599"/>
          </a:xfrm>
          <a:prstGeom prst="rect">
            <a:avLst/>
          </a:prstGeom>
        </p:spPr>
      </p:pic>
      <p:pic>
        <p:nvPicPr>
          <p:cNvPr id="54" name="Picture 53" descr="6_2__605E5C.png"/>
          <p:cNvPicPr>
            <a:picLocks noChangeAspect="1"/>
          </p:cNvPicPr>
          <p:nvPr/>
        </p:nvPicPr>
        <p:blipFill>
          <a:blip r:embed="rId8"/>
          <a:stretch>
            <a:fillRect/>
          </a:stretch>
        </p:blipFill>
        <p:spPr>
          <a:xfrm>
            <a:off x="9465355" y="5897562"/>
            <a:ext cx="1309912" cy="482599"/>
          </a:xfrm>
          <a:prstGeom prst="rect">
            <a:avLst/>
          </a:prstGeom>
        </p:spPr>
      </p:pic>
      <p:pic>
        <p:nvPicPr>
          <p:cNvPr id="55" name="Picture 54" descr="lock.png"/>
          <p:cNvPicPr>
            <a:picLocks noChangeAspect="1"/>
          </p:cNvPicPr>
          <p:nvPr/>
        </p:nvPicPr>
        <p:blipFill>
          <a:blip r:embed="rId5"/>
          <a:stretch>
            <a:fillRect/>
          </a:stretch>
        </p:blipFill>
        <p:spPr>
          <a:xfrm>
            <a:off x="5914657" y="5893409"/>
            <a:ext cx="337498" cy="490906"/>
          </a:xfrm>
          <a:prstGeom prst="rect">
            <a:avLst/>
          </a:prstGeom>
        </p:spPr>
      </p:pic>
      <p:sp>
        <p:nvSpPr>
          <p:cNvPr id="56" name="TextBox 55"/>
          <p:cNvSpPr txBox="1"/>
          <p:nvPr/>
        </p:nvSpPr>
        <p:spPr>
          <a:xfrm>
            <a:off x="7239000" y="1400175"/>
            <a:ext cx="4595477" cy="194310"/>
          </a:xfrm>
          <a:prstGeom prst="rect">
            <a:avLst/>
          </a:prstGeom>
          <a:noFill/>
        </p:spPr>
        <p:txBody>
          <a:bodyPr wrap="none" lIns="0" rIns="0" tIns="0" bIns="0">
            <a:spAutoFit/>
          </a:bodyPr>
          <a:lstStyle/>
          <a:p>
            <a:r>
              <a:rPr sz="1150" b="0">
                <a:solidFill>
                  <a:srgbClr val="2E2E2E"/>
                </a:solidFill>
                <a:latin typeface="Calibri"/>
              </a:rPr>
              <a:t>North America heavy commercial vehicle EPS market is projected to register</a:t>
            </a:r>
          </a:p>
        </p:txBody>
      </p:sp>
      <p:pic>
        <p:nvPicPr>
          <p:cNvPr id="57" name="Picture 56" descr="lock.png"/>
          <p:cNvPicPr>
            <a:picLocks noChangeAspect="1"/>
          </p:cNvPicPr>
          <p:nvPr/>
        </p:nvPicPr>
        <p:blipFill>
          <a:blip r:embed="rId5"/>
          <a:stretch>
            <a:fillRect/>
          </a:stretch>
        </p:blipFill>
        <p:spPr>
          <a:xfrm>
            <a:off x="7224920" y="1565211"/>
            <a:ext cx="134549" cy="195707"/>
          </a:xfrm>
          <a:prstGeom prst="rect">
            <a:avLst/>
          </a:prstGeom>
        </p:spPr>
      </p:pic>
      <p:sp>
        <p:nvSpPr>
          <p:cNvPr id="58" name="TextBox 57"/>
          <p:cNvSpPr txBox="1"/>
          <p:nvPr/>
        </p:nvSpPr>
        <p:spPr>
          <a:xfrm>
            <a:off x="7400029" y="1575435"/>
            <a:ext cx="3778225" cy="194310"/>
          </a:xfrm>
          <a:prstGeom prst="rect">
            <a:avLst/>
          </a:prstGeom>
          <a:noFill/>
        </p:spPr>
        <p:txBody>
          <a:bodyPr wrap="none" lIns="0" rIns="0" tIns="0" bIns="0">
            <a:spAutoFit/>
          </a:bodyPr>
          <a:lstStyle/>
          <a:p>
            <a:r>
              <a:rPr sz="1150" b="0">
                <a:solidFill>
                  <a:srgbClr val="2E2E2E"/>
                </a:solidFill>
                <a:latin typeface="Calibri"/>
              </a:rPr>
              <a:t>X higher value than South Asia &amp; Pacific in 2036. Among heavy</a:t>
            </a:r>
          </a:p>
        </p:txBody>
      </p:sp>
      <p:sp>
        <p:nvSpPr>
          <p:cNvPr id="59" name="TextBox 58"/>
          <p:cNvSpPr txBox="1"/>
          <p:nvPr/>
        </p:nvSpPr>
        <p:spPr>
          <a:xfrm>
            <a:off x="7239000" y="1750695"/>
            <a:ext cx="4644826" cy="194310"/>
          </a:xfrm>
          <a:prstGeom prst="rect">
            <a:avLst/>
          </a:prstGeom>
          <a:noFill/>
        </p:spPr>
        <p:txBody>
          <a:bodyPr wrap="none" lIns="0" rIns="0" tIns="0" bIns="0">
            <a:spAutoFit/>
          </a:bodyPr>
          <a:lstStyle/>
          <a:p>
            <a:r>
              <a:rPr sz="1150" b="0">
                <a:solidFill>
                  <a:srgbClr val="2E2E2E"/>
                </a:solidFill>
                <a:latin typeface="Calibri"/>
              </a:rPr>
              <a:t>commercial vehicle EPS by region, South Asia &amp; Pacific is expected to witness</a:t>
            </a:r>
          </a:p>
        </p:txBody>
      </p:sp>
      <p:sp>
        <p:nvSpPr>
          <p:cNvPr id="60" name="TextBox 59"/>
          <p:cNvSpPr txBox="1"/>
          <p:nvPr/>
        </p:nvSpPr>
        <p:spPr>
          <a:xfrm>
            <a:off x="7239000" y="192595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61" name="Picture 60" descr="lock.png"/>
          <p:cNvPicPr>
            <a:picLocks noChangeAspect="1"/>
          </p:cNvPicPr>
          <p:nvPr/>
        </p:nvPicPr>
        <p:blipFill>
          <a:blip r:embed="rId5"/>
          <a:stretch>
            <a:fillRect/>
          </a:stretch>
        </p:blipFill>
        <p:spPr>
          <a:xfrm>
            <a:off x="8452133" y="1915731"/>
            <a:ext cx="134549" cy="195707"/>
          </a:xfrm>
          <a:prstGeom prst="rect">
            <a:avLst/>
          </a:prstGeom>
        </p:spPr>
      </p:pic>
      <p:sp>
        <p:nvSpPr>
          <p:cNvPr id="62" name="TextBox 61"/>
          <p:cNvSpPr txBox="1"/>
          <p:nvPr/>
        </p:nvSpPr>
        <p:spPr>
          <a:xfrm>
            <a:off x="8627242"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3" name="TextBox 62"/>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4" name="TextBox 63"/>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5" name="Picture 64" descr="lock.png"/>
          <p:cNvPicPr>
            <a:picLocks noChangeAspect="1"/>
          </p:cNvPicPr>
          <p:nvPr/>
        </p:nvPicPr>
        <p:blipFill>
          <a:blip r:embed="rId5"/>
          <a:stretch>
            <a:fillRect/>
          </a:stretch>
        </p:blipFill>
        <p:spPr>
          <a:xfrm>
            <a:off x="8106708" y="2318829"/>
            <a:ext cx="134549" cy="195707"/>
          </a:xfrm>
          <a:prstGeom prst="rect">
            <a:avLst/>
          </a:prstGeom>
        </p:spPr>
      </p:pic>
      <p:sp>
        <p:nvSpPr>
          <p:cNvPr id="66" name="TextBox 65"/>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7" name="Picture 66" descr="lock.png"/>
          <p:cNvPicPr>
            <a:picLocks noChangeAspect="1"/>
          </p:cNvPicPr>
          <p:nvPr/>
        </p:nvPicPr>
        <p:blipFill>
          <a:blip r:embed="rId5"/>
          <a:stretch>
            <a:fillRect/>
          </a:stretch>
        </p:blipFill>
        <p:spPr>
          <a:xfrm>
            <a:off x="9676961" y="2318829"/>
            <a:ext cx="134549" cy="195707"/>
          </a:xfrm>
          <a:prstGeom prst="rect">
            <a:avLst/>
          </a:prstGeom>
        </p:spPr>
      </p:pic>
      <p:sp>
        <p:nvSpPr>
          <p:cNvPr id="68" name="TextBox 67"/>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Share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3267075"/>
          </a:xfrm>
          <a:prstGeom prst="roundRect">
            <a:avLst>
              <a:gd name="adj" fmla="val 23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12" name="Table 11"/>
          <p:cNvGraphicFramePr>
            <a:graphicFrameLocks noGrp="1"/>
          </p:cNvGraphicFramePr>
          <p:nvPr/>
        </p:nvGraphicFramePr>
        <p:xfrm>
          <a:off x="152400" y="1238250"/>
          <a:ext cx="11892680" cy="280034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F-CAGR</a:t>
                      </a:r>
                      <a:endParaRPr sz="1100"/>
                    </a:p>
                  </a:txBody>
                  <a:tcPr marL="19050" marR="14288" marT="19050" marB="19050" anchor="ctr">
                    <a:solidFill>
                      <a:srgbClr val="E0E8EF"/>
                    </a:solidFill>
                  </a:tcPr>
                </a:tc>
              </a:tr>
              <a:tr h="246983">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983">
                <a:tc>
                  <a:txBody>
                    <a:bodyPr wrap="none"/>
                    <a:lstStyle/>
                    <a:p>
                      <a:pPr algn="l"/>
                      <a:r>
                        <a:rPr sz="1100" b="1">
                          <a:solidFill>
                            <a:srgbClr val="2E2E2E"/>
                          </a:solidFill>
                          <a:latin typeface="Calibri"/>
                        </a:rPr>
                        <a:t>East Asia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769">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983">
                <a:tc>
                  <a:txBody>
                    <a:bodyPr wrap="none"/>
                    <a:lstStyle/>
                    <a:p>
                      <a:pPr algn="l"/>
                      <a:r>
                        <a:rPr sz="1100" b="1">
                          <a:solidFill>
                            <a:srgbClr val="2E2E2E"/>
                          </a:solidFill>
                          <a:latin typeface="Calibri"/>
                        </a:rPr>
                        <a:t>Western 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Eastern Europe</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769">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381500"/>
            <a:ext cx="11906250" cy="2247900"/>
          </a:xfrm>
          <a:prstGeom prst="roundRect">
            <a:avLst>
              <a:gd name="adj" fmla="val 338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672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4705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91075"/>
            <a:ext cx="11639550" cy="1762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29244" y="2591179"/>
            <a:ext cx="366712" cy="533400"/>
          </a:xfrm>
          <a:prstGeom prst="rect">
            <a:avLst/>
          </a:prstGeom>
        </p:spPr>
      </p:pic>
      <p:sp>
        <p:nvSpPr>
          <p:cNvPr id="20" name="TextBox 19"/>
          <p:cNvSpPr txBox="1"/>
          <p:nvPr/>
        </p:nvSpPr>
        <p:spPr>
          <a:xfrm>
            <a:off x="276225" y="4800600"/>
            <a:ext cx="4895279" cy="194310"/>
          </a:xfrm>
          <a:prstGeom prst="rect">
            <a:avLst/>
          </a:prstGeom>
          <a:noFill/>
        </p:spPr>
        <p:txBody>
          <a:bodyPr wrap="none" lIns="0" rIns="0" tIns="0" bIns="0">
            <a:spAutoFit/>
          </a:bodyPr>
          <a:lstStyle/>
          <a:p>
            <a:r>
              <a:rPr sz="1150" b="0">
                <a:solidFill>
                  <a:srgbClr val="2E2E2E"/>
                </a:solidFill>
                <a:latin typeface="Calibri"/>
              </a:rPr>
              <a:t>South Asia &amp; Pacific heavy commercial vehicle EPS market is projected to register</a:t>
            </a:r>
          </a:p>
        </p:txBody>
      </p:sp>
      <p:pic>
        <p:nvPicPr>
          <p:cNvPr id="21" name="Picture 20" descr="lock.png"/>
          <p:cNvPicPr>
            <a:picLocks noChangeAspect="1"/>
          </p:cNvPicPr>
          <p:nvPr/>
        </p:nvPicPr>
        <p:blipFill>
          <a:blip r:embed="rId4"/>
          <a:stretch>
            <a:fillRect/>
          </a:stretch>
        </p:blipFill>
        <p:spPr>
          <a:xfrm>
            <a:off x="5120658" y="4790376"/>
            <a:ext cx="134549" cy="195707"/>
          </a:xfrm>
          <a:prstGeom prst="rect">
            <a:avLst/>
          </a:prstGeom>
        </p:spPr>
      </p:pic>
      <p:sp>
        <p:nvSpPr>
          <p:cNvPr id="22" name="TextBox 21"/>
          <p:cNvSpPr txBox="1"/>
          <p:nvPr/>
        </p:nvSpPr>
        <p:spPr>
          <a:xfrm>
            <a:off x="5295767" y="4800600"/>
            <a:ext cx="6443922"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heavy commercial vehicle EPS by region, South Asia &amp;</a:t>
            </a:r>
          </a:p>
        </p:txBody>
      </p:sp>
      <p:sp>
        <p:nvSpPr>
          <p:cNvPr id="23" name="TextBox 22"/>
          <p:cNvSpPr txBox="1"/>
          <p:nvPr/>
        </p:nvSpPr>
        <p:spPr>
          <a:xfrm>
            <a:off x="276225" y="4975860"/>
            <a:ext cx="3023996" cy="194310"/>
          </a:xfrm>
          <a:prstGeom prst="rect">
            <a:avLst/>
          </a:prstGeom>
          <a:noFill/>
        </p:spPr>
        <p:txBody>
          <a:bodyPr wrap="none" lIns="0" rIns="0" tIns="0" bIns="0">
            <a:spAutoFit/>
          </a:bodyPr>
          <a:lstStyle/>
          <a:p>
            <a:r>
              <a:rPr sz="1150" b="0">
                <a:solidFill>
                  <a:srgbClr val="2E2E2E"/>
                </a:solidFill>
                <a:latin typeface="Calibri"/>
              </a:rPr>
              <a:t>Pacific is expected to witness the highest CAGR of</a:t>
            </a:r>
          </a:p>
        </p:txBody>
      </p:sp>
      <p:pic>
        <p:nvPicPr>
          <p:cNvPr id="24" name="Picture 23" descr="lock.png"/>
          <p:cNvPicPr>
            <a:picLocks noChangeAspect="1"/>
          </p:cNvPicPr>
          <p:nvPr/>
        </p:nvPicPr>
        <p:blipFill>
          <a:blip r:embed="rId4"/>
          <a:stretch>
            <a:fillRect/>
          </a:stretch>
        </p:blipFill>
        <p:spPr>
          <a:xfrm>
            <a:off x="3249374" y="4965636"/>
            <a:ext cx="134549" cy="195707"/>
          </a:xfrm>
          <a:prstGeom prst="rect">
            <a:avLst/>
          </a:prstGeom>
        </p:spPr>
      </p:pic>
      <p:sp>
        <p:nvSpPr>
          <p:cNvPr id="25" name="TextBox 24"/>
          <p:cNvSpPr txBox="1"/>
          <p:nvPr/>
        </p:nvSpPr>
        <p:spPr>
          <a:xfrm>
            <a:off x="3424484" y="49758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20369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5193474"/>
            <a:ext cx="134549" cy="195707"/>
          </a:xfrm>
          <a:prstGeom prst="rect">
            <a:avLst/>
          </a:prstGeom>
        </p:spPr>
      </p:pic>
      <p:sp>
        <p:nvSpPr>
          <p:cNvPr id="28" name="TextBox 27"/>
          <p:cNvSpPr txBox="1"/>
          <p:nvPr/>
        </p:nvSpPr>
        <p:spPr>
          <a:xfrm>
            <a:off x="6447052" y="52036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5193474"/>
            <a:ext cx="134549" cy="195707"/>
          </a:xfrm>
          <a:prstGeom prst="rect">
            <a:avLst/>
          </a:prstGeom>
        </p:spPr>
      </p:pic>
      <p:sp>
        <p:nvSpPr>
          <p:cNvPr id="30" name="TextBox 29"/>
          <p:cNvSpPr txBox="1"/>
          <p:nvPr/>
        </p:nvSpPr>
        <p:spPr>
          <a:xfrm>
            <a:off x="8017304" y="520369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5193474"/>
            <a:ext cx="134549" cy="195707"/>
          </a:xfrm>
          <a:prstGeom prst="rect">
            <a:avLst/>
          </a:prstGeom>
        </p:spPr>
      </p:pic>
      <p:sp>
        <p:nvSpPr>
          <p:cNvPr id="32" name="TextBox 31"/>
          <p:cNvSpPr txBox="1"/>
          <p:nvPr/>
        </p:nvSpPr>
        <p:spPr>
          <a:xfrm>
            <a:off x="11128213" y="520369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537895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5368734"/>
            <a:ext cx="134549" cy="195707"/>
          </a:xfrm>
          <a:prstGeom prst="rect">
            <a:avLst/>
          </a:prstGeom>
        </p:spPr>
      </p:pic>
      <p:sp>
        <p:nvSpPr>
          <p:cNvPr id="35" name="TextBox 34"/>
          <p:cNvSpPr txBox="1"/>
          <p:nvPr/>
        </p:nvSpPr>
        <p:spPr>
          <a:xfrm>
            <a:off x="2783536" y="53789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2219326"/>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204276"/>
            <a:ext cx="366712" cy="533400"/>
          </a:xfrm>
          <a:prstGeom prst="rect">
            <a:avLst/>
          </a:prstGeom>
        </p:spPr>
      </p:pic>
      <p:sp>
        <p:nvSpPr>
          <p:cNvPr id="20" name="TextBox 19"/>
          <p:cNvSpPr txBox="1"/>
          <p:nvPr/>
        </p:nvSpPr>
        <p:spPr>
          <a:xfrm>
            <a:off x="276225" y="4219575"/>
            <a:ext cx="4595477" cy="194310"/>
          </a:xfrm>
          <a:prstGeom prst="rect">
            <a:avLst/>
          </a:prstGeom>
          <a:noFill/>
        </p:spPr>
        <p:txBody>
          <a:bodyPr wrap="none" lIns="0" rIns="0" tIns="0" bIns="0">
            <a:spAutoFit/>
          </a:bodyPr>
          <a:lstStyle/>
          <a:p>
            <a:r>
              <a:rPr sz="1150" b="0">
                <a:solidFill>
                  <a:srgbClr val="2E2E2E"/>
                </a:solidFill>
                <a:latin typeface="Calibri"/>
              </a:rPr>
              <a:t>North America heavy commercial vehicle EPS market is projected to register</a:t>
            </a:r>
          </a:p>
        </p:txBody>
      </p:sp>
      <p:pic>
        <p:nvPicPr>
          <p:cNvPr id="21" name="Picture 20" descr="lock.png"/>
          <p:cNvPicPr>
            <a:picLocks noChangeAspect="1"/>
          </p:cNvPicPr>
          <p:nvPr/>
        </p:nvPicPr>
        <p:blipFill>
          <a:blip r:embed="rId4"/>
          <a:stretch>
            <a:fillRect/>
          </a:stretch>
        </p:blipFill>
        <p:spPr>
          <a:xfrm>
            <a:off x="4820856" y="4209351"/>
            <a:ext cx="134549" cy="195707"/>
          </a:xfrm>
          <a:prstGeom prst="rect">
            <a:avLst/>
          </a:prstGeom>
        </p:spPr>
      </p:pic>
      <p:sp>
        <p:nvSpPr>
          <p:cNvPr id="22" name="TextBox 21"/>
          <p:cNvSpPr txBox="1"/>
          <p:nvPr/>
        </p:nvSpPr>
        <p:spPr>
          <a:xfrm>
            <a:off x="4995965" y="4219575"/>
            <a:ext cx="6619924" cy="194310"/>
          </a:xfrm>
          <a:prstGeom prst="rect">
            <a:avLst/>
          </a:prstGeom>
          <a:noFill/>
        </p:spPr>
        <p:txBody>
          <a:bodyPr wrap="none" lIns="0" rIns="0" tIns="0" bIns="0">
            <a:spAutoFit/>
          </a:bodyPr>
          <a:lstStyle/>
          <a:p>
            <a:r>
              <a:rPr sz="1150" b="0">
                <a:solidFill>
                  <a:srgbClr val="2E2E2E"/>
                </a:solidFill>
                <a:latin typeface="Calibri"/>
              </a:rPr>
              <a:t>X higher value than South Asia &amp; Pacific in 2036. Among heavy commercial vehicle EPS by region, South Asia &amp;</a:t>
            </a:r>
          </a:p>
        </p:txBody>
      </p:sp>
      <p:sp>
        <p:nvSpPr>
          <p:cNvPr id="23" name="TextBox 22"/>
          <p:cNvSpPr txBox="1"/>
          <p:nvPr/>
        </p:nvSpPr>
        <p:spPr>
          <a:xfrm>
            <a:off x="276225" y="4394835"/>
            <a:ext cx="3023996" cy="194310"/>
          </a:xfrm>
          <a:prstGeom prst="rect">
            <a:avLst/>
          </a:prstGeom>
          <a:noFill/>
        </p:spPr>
        <p:txBody>
          <a:bodyPr wrap="none" lIns="0" rIns="0" tIns="0" bIns="0">
            <a:spAutoFit/>
          </a:bodyPr>
          <a:lstStyle/>
          <a:p>
            <a:r>
              <a:rPr sz="1150" b="0">
                <a:solidFill>
                  <a:srgbClr val="2E2E2E"/>
                </a:solidFill>
                <a:latin typeface="Calibri"/>
              </a:rPr>
              <a:t>Pacific is expected to witness the highest CAGR of</a:t>
            </a:r>
          </a:p>
        </p:txBody>
      </p:sp>
      <p:pic>
        <p:nvPicPr>
          <p:cNvPr id="24" name="Picture 23" descr="lock.png"/>
          <p:cNvPicPr>
            <a:picLocks noChangeAspect="1"/>
          </p:cNvPicPr>
          <p:nvPr/>
        </p:nvPicPr>
        <p:blipFill>
          <a:blip r:embed="rId4"/>
          <a:stretch>
            <a:fillRect/>
          </a:stretch>
        </p:blipFill>
        <p:spPr>
          <a:xfrm>
            <a:off x="3249374" y="4384611"/>
            <a:ext cx="134549" cy="195707"/>
          </a:xfrm>
          <a:prstGeom prst="rect">
            <a:avLst/>
          </a:prstGeom>
        </p:spPr>
      </p:pic>
      <p:sp>
        <p:nvSpPr>
          <p:cNvPr id="25" name="TextBox 24"/>
          <p:cNvSpPr txBox="1"/>
          <p:nvPr/>
        </p:nvSpPr>
        <p:spPr>
          <a:xfrm>
            <a:off x="3424484"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612449"/>
            <a:ext cx="134549" cy="195707"/>
          </a:xfrm>
          <a:prstGeom prst="rect">
            <a:avLst/>
          </a:prstGeom>
        </p:spPr>
      </p:pic>
      <p:sp>
        <p:nvSpPr>
          <p:cNvPr id="28" name="TextBox 27"/>
          <p:cNvSpPr txBox="1"/>
          <p:nvPr/>
        </p:nvSpPr>
        <p:spPr>
          <a:xfrm>
            <a:off x="5942153"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612449"/>
            <a:ext cx="134549" cy="195707"/>
          </a:xfrm>
          <a:prstGeom prst="rect">
            <a:avLst/>
          </a:prstGeom>
        </p:spPr>
      </p:pic>
      <p:sp>
        <p:nvSpPr>
          <p:cNvPr id="30" name="TextBox 29"/>
          <p:cNvSpPr txBox="1"/>
          <p:nvPr/>
        </p:nvSpPr>
        <p:spPr>
          <a:xfrm>
            <a:off x="7512405" y="46226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East Asia</a:t>
            </a:r>
          </a:p>
          <a:p>
            <a:pPr>
              <a:spcBef>
                <a:spcPts val="500"/>
              </a:spcBef>
            </a:pPr>
            <a:r>
              <a:rPr sz="900">
                <a:solidFill>
                  <a:srgbClr val="40315E"/>
                </a:solidFill>
                <a:latin typeface="Calibri"/>
              </a:rPr>
              <a:t>■  </a:t>
            </a:r>
            <a:r>
              <a:rPr sz="750">
                <a:solidFill>
                  <a:srgbClr val="2E2E2E"/>
                </a:solidFill>
                <a:latin typeface="Calibri"/>
              </a:rPr>
              <a:t>   Latin America</a:t>
            </a:r>
          </a:p>
          <a:p>
            <a:pPr>
              <a:spcBef>
                <a:spcPts val="500"/>
              </a:spcBef>
            </a:pPr>
            <a:r>
              <a:rPr sz="900">
                <a:solidFill>
                  <a:srgbClr val="A35313"/>
                </a:solidFill>
                <a:latin typeface="Calibri"/>
              </a:rPr>
              <a:t>■  </a:t>
            </a:r>
            <a:r>
              <a:rPr sz="750">
                <a:solidFill>
                  <a:srgbClr val="2E2E2E"/>
                </a:solidFill>
                <a:latin typeface="Calibri"/>
              </a:rPr>
              <a:t>   Middle East &amp; Africa</a:t>
            </a:r>
          </a:p>
          <a:p>
            <a:pPr>
              <a:spcBef>
                <a:spcPts val="500"/>
              </a:spcBef>
            </a:pPr>
            <a:r>
              <a:rPr sz="900">
                <a:solidFill>
                  <a:srgbClr val="808080"/>
                </a:solidFill>
                <a:latin typeface="Calibri"/>
              </a:rPr>
              <a:t>■  </a:t>
            </a:r>
            <a:r>
              <a:rPr sz="750">
                <a:solidFill>
                  <a:srgbClr val="2E2E2E"/>
                </a:solidFill>
                <a:latin typeface="Calibri"/>
              </a:rPr>
              <a:t>   Eastern Europe</a:t>
            </a:r>
          </a:p>
          <a:p>
            <a:pPr>
              <a:spcBef>
                <a:spcPts val="500"/>
              </a:spcBef>
            </a:pPr>
            <a:r>
              <a:rPr sz="900">
                <a:solidFill>
                  <a:srgbClr val="0E72AE"/>
                </a:solidFill>
                <a:latin typeface="Calibri"/>
              </a:rPr>
              <a:t>■  </a:t>
            </a:r>
            <a:r>
              <a:rPr sz="750">
                <a:solidFill>
                  <a:srgbClr val="2E2E2E"/>
                </a:solidFill>
                <a:latin typeface="Calibri"/>
              </a:rPr>
              <a:t>   Western Europe</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East Asia</a:t>
            </a:r>
          </a:p>
          <a:p>
            <a:pPr>
              <a:spcBef>
                <a:spcPts val="500"/>
              </a:spcBef>
            </a:pPr>
            <a:r>
              <a:rPr sz="900">
                <a:solidFill>
                  <a:srgbClr val="40315E"/>
                </a:solidFill>
                <a:latin typeface="Calibri"/>
              </a:rPr>
              <a:t>■  </a:t>
            </a:r>
            <a:r>
              <a:rPr sz="750">
                <a:solidFill>
                  <a:srgbClr val="2E2E2E"/>
                </a:solidFill>
                <a:latin typeface="Calibri"/>
              </a:rPr>
              <a:t>   Latin America</a:t>
            </a:r>
          </a:p>
          <a:p>
            <a:pPr>
              <a:spcBef>
                <a:spcPts val="500"/>
              </a:spcBef>
            </a:pPr>
            <a:r>
              <a:rPr sz="900">
                <a:solidFill>
                  <a:srgbClr val="A35313"/>
                </a:solidFill>
                <a:latin typeface="Calibri"/>
              </a:rPr>
              <a:t>■  </a:t>
            </a:r>
            <a:r>
              <a:rPr sz="750">
                <a:solidFill>
                  <a:srgbClr val="2E2E2E"/>
                </a:solidFill>
                <a:latin typeface="Calibri"/>
              </a:rPr>
              <a:t>   Middle East &amp; Africa</a:t>
            </a:r>
          </a:p>
          <a:p>
            <a:pPr>
              <a:spcBef>
                <a:spcPts val="500"/>
              </a:spcBef>
            </a:pPr>
            <a:r>
              <a:rPr sz="900">
                <a:solidFill>
                  <a:srgbClr val="808080"/>
                </a:solidFill>
                <a:latin typeface="Calibri"/>
              </a:rPr>
              <a:t>■  </a:t>
            </a:r>
            <a:r>
              <a:rPr sz="750">
                <a:solidFill>
                  <a:srgbClr val="2E2E2E"/>
                </a:solidFill>
                <a:latin typeface="Calibri"/>
              </a:rPr>
              <a:t>   Eastern Europe</a:t>
            </a:r>
          </a:p>
          <a:p>
            <a:pPr>
              <a:spcBef>
                <a:spcPts val="500"/>
              </a:spcBef>
            </a:pPr>
            <a:r>
              <a:rPr sz="900">
                <a:solidFill>
                  <a:srgbClr val="0E72AE"/>
                </a:solidFill>
                <a:latin typeface="Calibri"/>
              </a:rPr>
              <a:t>■  </a:t>
            </a:r>
            <a:r>
              <a:rPr sz="750">
                <a:solidFill>
                  <a:srgbClr val="2E2E2E"/>
                </a:solidFill>
                <a:latin typeface="Calibri"/>
              </a:rPr>
              <a:t>   Western Europe</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080402"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318527" y="1266825"/>
            <a:ext cx="2879193" cy="274229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Rectangle 13"/>
          <p:cNvSpPr/>
          <p:nvPr/>
        </p:nvSpPr>
        <p:spPr>
          <a:xfrm>
            <a:off x="3318527" y="4009115"/>
            <a:ext cx="2879193" cy="2563135"/>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5" name="Rectangle 14"/>
          <p:cNvSpPr/>
          <p:nvPr/>
        </p:nvSpPr>
        <p:spPr>
          <a:xfrm>
            <a:off x="6197720" y="1266825"/>
            <a:ext cx="2351733" cy="3085158"/>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6197720" y="4351983"/>
            <a:ext cx="2351733" cy="2220267"/>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7" name="Rectangle 16"/>
          <p:cNvSpPr/>
          <p:nvPr/>
        </p:nvSpPr>
        <p:spPr>
          <a:xfrm>
            <a:off x="8549453" y="1266825"/>
            <a:ext cx="2013192" cy="2580875"/>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8" name="Rectangle 17"/>
          <p:cNvSpPr/>
          <p:nvPr/>
        </p:nvSpPr>
        <p:spPr>
          <a:xfrm>
            <a:off x="10562645" y="1266825"/>
            <a:ext cx="1391230" cy="2580875"/>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KSA</a:t>
            </a:r>
          </a:p>
          <a:p>
            <a:pPr algn="ctr"/>
            <a:r>
              <a:rPr sz="1100" b="0">
                <a:solidFill>
                  <a:srgbClr val="FFFFFF"/>
                </a:solidFill>
                <a:latin typeface="Calibri"/>
              </a:rPr>
              <a:t> </a:t>
            </a:r>
          </a:p>
        </p:txBody>
      </p:sp>
      <p:sp>
        <p:nvSpPr>
          <p:cNvPr id="19" name="Rectangle 18"/>
          <p:cNvSpPr/>
          <p:nvPr/>
        </p:nvSpPr>
        <p:spPr>
          <a:xfrm>
            <a:off x="8549453" y="3847700"/>
            <a:ext cx="2301551" cy="136896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Hungary</a:t>
            </a:r>
          </a:p>
          <a:p>
            <a:pPr algn="ctr"/>
            <a:r>
              <a:rPr sz="1100" b="0">
                <a:solidFill>
                  <a:srgbClr val="FFFFFF"/>
                </a:solidFill>
                <a:latin typeface="Calibri"/>
              </a:rPr>
              <a:t> </a:t>
            </a:r>
          </a:p>
        </p:txBody>
      </p:sp>
      <p:sp>
        <p:nvSpPr>
          <p:cNvPr id="20" name="Rectangle 19"/>
          <p:cNvSpPr/>
          <p:nvPr/>
        </p:nvSpPr>
        <p:spPr>
          <a:xfrm>
            <a:off x="8549453" y="5216666"/>
            <a:ext cx="2301551" cy="1355584"/>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1" name="Rectangle 20"/>
          <p:cNvSpPr/>
          <p:nvPr/>
        </p:nvSpPr>
        <p:spPr>
          <a:xfrm>
            <a:off x="10851004" y="3847700"/>
            <a:ext cx="1102871" cy="2724550"/>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ASEAN</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623887"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4603685" y="2637970"/>
            <a:ext cx="308877" cy="449275"/>
          </a:xfrm>
          <a:prstGeom prst="rect">
            <a:avLst/>
          </a:prstGeom>
        </p:spPr>
      </p:pic>
      <p:pic>
        <p:nvPicPr>
          <p:cNvPr id="25" name="Picture 24" descr="lock.png"/>
          <p:cNvPicPr>
            <a:picLocks noChangeAspect="1"/>
          </p:cNvPicPr>
          <p:nvPr/>
        </p:nvPicPr>
        <p:blipFill>
          <a:blip r:embed="rId4"/>
          <a:stretch>
            <a:fillRect/>
          </a:stretch>
        </p:blipFill>
        <p:spPr>
          <a:xfrm>
            <a:off x="4603685" y="5290682"/>
            <a:ext cx="308877" cy="449275"/>
          </a:xfrm>
          <a:prstGeom prst="rect">
            <a:avLst/>
          </a:prstGeom>
        </p:spPr>
      </p:pic>
      <p:pic>
        <p:nvPicPr>
          <p:cNvPr id="26" name="Picture 25" descr="lock.png"/>
          <p:cNvPicPr>
            <a:picLocks noChangeAspect="1"/>
          </p:cNvPicPr>
          <p:nvPr/>
        </p:nvPicPr>
        <p:blipFill>
          <a:blip r:embed="rId4"/>
          <a:stretch>
            <a:fillRect/>
          </a:stretch>
        </p:blipFill>
        <p:spPr>
          <a:xfrm>
            <a:off x="7219148" y="2809404"/>
            <a:ext cx="308877" cy="449275"/>
          </a:xfrm>
          <a:prstGeom prst="rect">
            <a:avLst/>
          </a:prstGeom>
        </p:spPr>
      </p:pic>
      <p:pic>
        <p:nvPicPr>
          <p:cNvPr id="27" name="Picture 26" descr="lock.png"/>
          <p:cNvPicPr>
            <a:picLocks noChangeAspect="1"/>
          </p:cNvPicPr>
          <p:nvPr/>
        </p:nvPicPr>
        <p:blipFill>
          <a:blip r:embed="rId4"/>
          <a:stretch>
            <a:fillRect/>
          </a:stretch>
        </p:blipFill>
        <p:spPr>
          <a:xfrm>
            <a:off x="7219148" y="5462116"/>
            <a:ext cx="308877" cy="449275"/>
          </a:xfrm>
          <a:prstGeom prst="rect">
            <a:avLst/>
          </a:prstGeom>
        </p:spPr>
      </p:pic>
      <p:pic>
        <p:nvPicPr>
          <p:cNvPr id="28" name="Picture 27" descr="lock.png"/>
          <p:cNvPicPr>
            <a:picLocks noChangeAspect="1"/>
          </p:cNvPicPr>
          <p:nvPr/>
        </p:nvPicPr>
        <p:blipFill>
          <a:blip r:embed="rId4"/>
          <a:stretch>
            <a:fillRect/>
          </a:stretch>
        </p:blipFill>
        <p:spPr>
          <a:xfrm>
            <a:off x="9401610" y="2557262"/>
            <a:ext cx="308877" cy="449275"/>
          </a:xfrm>
          <a:prstGeom prst="rect">
            <a:avLst/>
          </a:prstGeom>
        </p:spPr>
      </p:pic>
      <p:pic>
        <p:nvPicPr>
          <p:cNvPr id="29" name="Picture 28" descr="lock.png"/>
          <p:cNvPicPr>
            <a:picLocks noChangeAspect="1"/>
          </p:cNvPicPr>
          <p:nvPr/>
        </p:nvPicPr>
        <p:blipFill>
          <a:blip r:embed="rId4"/>
          <a:stretch>
            <a:fillRect/>
          </a:stretch>
        </p:blipFill>
        <p:spPr>
          <a:xfrm>
            <a:off x="11103821" y="2557262"/>
            <a:ext cx="308877" cy="449275"/>
          </a:xfrm>
          <a:prstGeom prst="rect">
            <a:avLst/>
          </a:prstGeom>
        </p:spPr>
      </p:pic>
      <p:pic>
        <p:nvPicPr>
          <p:cNvPr id="30" name="Picture 29" descr="lock.png"/>
          <p:cNvPicPr>
            <a:picLocks noChangeAspect="1"/>
          </p:cNvPicPr>
          <p:nvPr/>
        </p:nvPicPr>
        <p:blipFill>
          <a:blip r:embed="rId4"/>
          <a:stretch>
            <a:fillRect/>
          </a:stretch>
        </p:blipFill>
        <p:spPr>
          <a:xfrm>
            <a:off x="9545790" y="4532183"/>
            <a:ext cx="308877" cy="449275"/>
          </a:xfrm>
          <a:prstGeom prst="rect">
            <a:avLst/>
          </a:prstGeom>
        </p:spPr>
      </p:pic>
      <p:pic>
        <p:nvPicPr>
          <p:cNvPr id="31" name="Picture 30" descr="lock.png"/>
          <p:cNvPicPr>
            <a:picLocks noChangeAspect="1"/>
          </p:cNvPicPr>
          <p:nvPr/>
        </p:nvPicPr>
        <p:blipFill>
          <a:blip r:embed="rId4"/>
          <a:stretch>
            <a:fillRect/>
          </a:stretch>
        </p:blipFill>
        <p:spPr>
          <a:xfrm>
            <a:off x="9545790" y="5894458"/>
            <a:ext cx="308877" cy="449275"/>
          </a:xfrm>
          <a:prstGeom prst="rect">
            <a:avLst/>
          </a:prstGeom>
        </p:spPr>
      </p:pic>
      <p:pic>
        <p:nvPicPr>
          <p:cNvPr id="32" name="Picture 31" descr="lock.png"/>
          <p:cNvPicPr>
            <a:picLocks noChangeAspect="1"/>
          </p:cNvPicPr>
          <p:nvPr/>
        </p:nvPicPr>
        <p:blipFill>
          <a:blip r:embed="rId4"/>
          <a:stretch>
            <a:fillRect/>
          </a:stretch>
        </p:blipFill>
        <p:spPr>
          <a:xfrm>
            <a:off x="11248001" y="5209975"/>
            <a:ext cx="308877" cy="449275"/>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Gross Vehicle Weight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Demand Type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System Architecture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System Architecture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System Architecture,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System Architecture segment categorizes the market by system architecture.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Rack Assist</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Recirculating Ball and Nut Type</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Column Assist</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Steer by Wire</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System Architecture split shows how demand is distributed across system architecture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718_9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_288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6_0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694_8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225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8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660_6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271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6_8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325_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595_4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6_2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813446" cy="186689"/>
          </a:xfrm>
          <a:prstGeom prst="rect">
            <a:avLst/>
          </a:prstGeom>
          <a:noFill/>
        </p:spPr>
        <p:txBody>
          <a:bodyPr wrap="none" lIns="0" rIns="0" tIns="0" bIns="0">
            <a:spAutoFit/>
          </a:bodyPr>
          <a:lstStyle/>
          <a:p>
            <a:r>
              <a:rPr sz="1100" b="0">
                <a:solidFill>
                  <a:srgbClr val="2E2E2E"/>
                </a:solidFill>
                <a:latin typeface="Calibri"/>
              </a:rPr>
              <a:t>Among heavy commercial vehicle EPS by system</a:t>
            </a:r>
          </a:p>
        </p:txBody>
      </p:sp>
      <p:sp>
        <p:nvSpPr>
          <p:cNvPr id="80" name="TextBox 7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architecture, column assist segment is expected to</a:t>
            </a:r>
          </a:p>
        </p:txBody>
      </p:sp>
      <p:sp>
        <p:nvSpPr>
          <p:cNvPr id="81" name="TextBox 8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82" name="Picture 81" descr="lock.png"/>
          <p:cNvPicPr>
            <a:picLocks noChangeAspect="1"/>
          </p:cNvPicPr>
          <p:nvPr/>
        </p:nvPicPr>
        <p:blipFill>
          <a:blip r:embed="rId16"/>
          <a:stretch>
            <a:fillRect/>
          </a:stretch>
        </p:blipFill>
        <p:spPr>
          <a:xfrm>
            <a:off x="2108919" y="4554938"/>
            <a:ext cx="128699" cy="187198"/>
          </a:xfrm>
          <a:prstGeom prst="rect">
            <a:avLst/>
          </a:prstGeom>
        </p:spPr>
      </p:pic>
      <p:sp>
        <p:nvSpPr>
          <p:cNvPr id="83" name="TextBox 8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84" name="TextBox 83"/>
          <p:cNvSpPr txBox="1"/>
          <p:nvPr/>
        </p:nvSpPr>
        <p:spPr>
          <a:xfrm>
            <a:off x="485775" y="4732357"/>
            <a:ext cx="2415902" cy="186689"/>
          </a:xfrm>
          <a:prstGeom prst="rect">
            <a:avLst/>
          </a:prstGeom>
          <a:noFill/>
        </p:spPr>
        <p:txBody>
          <a:bodyPr wrap="none" lIns="0" rIns="0" tIns="0" bIns="0">
            <a:spAutoFit/>
          </a:bodyPr>
          <a:lstStyle/>
          <a:p>
            <a:r>
              <a:rPr sz="1100" b="0">
                <a:solidFill>
                  <a:srgbClr val="2E2E2E"/>
                </a:solidFill>
                <a:latin typeface="Calibri"/>
              </a:rPr>
              <a:t>period. In terms of value share by system</a:t>
            </a:r>
          </a:p>
        </p:txBody>
      </p:sp>
      <p:sp>
        <p:nvSpPr>
          <p:cNvPr id="85" name="TextBox 84"/>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architecture, the rack assist segment is expected to</a:t>
            </a:r>
          </a:p>
        </p:txBody>
      </p:sp>
      <p:sp>
        <p:nvSpPr>
          <p:cNvPr id="86" name="TextBox 85"/>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87" name="Picture 86" descr="lock.png"/>
          <p:cNvPicPr>
            <a:picLocks noChangeAspect="1"/>
          </p:cNvPicPr>
          <p:nvPr/>
        </p:nvPicPr>
        <p:blipFill>
          <a:blip r:embed="rId16"/>
          <a:stretch>
            <a:fillRect/>
          </a:stretch>
        </p:blipFill>
        <p:spPr>
          <a:xfrm>
            <a:off x="2116576" y="5057858"/>
            <a:ext cx="128699" cy="187198"/>
          </a:xfrm>
          <a:prstGeom prst="rect">
            <a:avLst/>
          </a:prstGeom>
        </p:spPr>
      </p:pic>
      <p:sp>
        <p:nvSpPr>
          <p:cNvPr id="88" name="TextBox 87"/>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9" name="TextBox 8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90" name="Picture 89" descr="lock.png"/>
          <p:cNvPicPr>
            <a:picLocks noChangeAspect="1"/>
          </p:cNvPicPr>
          <p:nvPr/>
        </p:nvPicPr>
        <p:blipFill>
          <a:blip r:embed="rId16"/>
          <a:stretch>
            <a:fillRect/>
          </a:stretch>
        </p:blipFill>
        <p:spPr>
          <a:xfrm>
            <a:off x="1330764" y="5225498"/>
            <a:ext cx="128699" cy="187198"/>
          </a:xfrm>
          <a:prstGeom prst="rect">
            <a:avLst/>
          </a:prstGeom>
        </p:spPr>
      </p:pic>
      <p:sp>
        <p:nvSpPr>
          <p:cNvPr id="91" name="TextBox 9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524497" cy="186689"/>
          </a:xfrm>
          <a:prstGeom prst="rect">
            <a:avLst/>
          </a:prstGeom>
          <a:noFill/>
        </p:spPr>
        <p:txBody>
          <a:bodyPr wrap="none" lIns="0" rIns="0" tIns="0" bIns="0">
            <a:spAutoFit/>
          </a:bodyPr>
          <a:lstStyle/>
          <a:p>
            <a:r>
              <a:rPr sz="1100" b="0">
                <a:solidFill>
                  <a:srgbClr val="2E2E2E"/>
                </a:solidFill>
                <a:latin typeface="Calibri"/>
              </a:rPr>
              <a:t>Rack assist segment is projected to register</a:t>
            </a:r>
          </a:p>
        </p:txBody>
      </p:sp>
      <p:pic>
        <p:nvPicPr>
          <p:cNvPr id="93" name="Picture 92" descr="lock.png"/>
          <p:cNvPicPr>
            <a:picLocks noChangeAspect="1"/>
          </p:cNvPicPr>
          <p:nvPr/>
        </p:nvPicPr>
        <p:blipFill>
          <a:blip r:embed="rId16"/>
          <a:stretch>
            <a:fillRect/>
          </a:stretch>
        </p:blipFill>
        <p:spPr>
          <a:xfrm>
            <a:off x="2958323" y="5443430"/>
            <a:ext cx="128699" cy="187198"/>
          </a:xfrm>
          <a:prstGeom prst="rect">
            <a:avLst/>
          </a:prstGeom>
        </p:spPr>
      </p:pic>
      <p:sp>
        <p:nvSpPr>
          <p:cNvPr id="94" name="TextBox 93"/>
          <p:cNvSpPr txBox="1"/>
          <p:nvPr/>
        </p:nvSpPr>
        <p:spPr>
          <a:xfrm>
            <a:off x="3125819"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95" name="TextBox 94"/>
          <p:cNvSpPr txBox="1"/>
          <p:nvPr/>
        </p:nvSpPr>
        <p:spPr>
          <a:xfrm>
            <a:off x="485775" y="5620849"/>
            <a:ext cx="2875657" cy="186689"/>
          </a:xfrm>
          <a:prstGeom prst="rect">
            <a:avLst/>
          </a:prstGeom>
          <a:noFill/>
        </p:spPr>
        <p:txBody>
          <a:bodyPr wrap="none" lIns="0" rIns="0" tIns="0" bIns="0">
            <a:spAutoFit/>
          </a:bodyPr>
          <a:lstStyle/>
          <a:p>
            <a:r>
              <a:rPr sz="1100" b="0">
                <a:solidFill>
                  <a:srgbClr val="2E2E2E"/>
                </a:solidFill>
                <a:latin typeface="Calibri"/>
              </a:rPr>
              <a:t>higher value than column assist segment in 2036.</a:t>
            </a:r>
          </a:p>
        </p:txBody>
      </p:sp>
      <p:sp>
        <p:nvSpPr>
          <p:cNvPr id="96" name="TextBox 95"/>
          <p:cNvSpPr txBox="1"/>
          <p:nvPr/>
        </p:nvSpPr>
        <p:spPr>
          <a:xfrm>
            <a:off x="3838575" y="4229437"/>
            <a:ext cx="850279" cy="186689"/>
          </a:xfrm>
          <a:prstGeom prst="rect">
            <a:avLst/>
          </a:prstGeom>
          <a:noFill/>
        </p:spPr>
        <p:txBody>
          <a:bodyPr wrap="none" lIns="0" rIns="0" tIns="0" bIns="0">
            <a:spAutoFit/>
          </a:bodyPr>
          <a:lstStyle/>
          <a:p>
            <a:r>
              <a:rPr sz="1100" b="0">
                <a:solidFill>
                  <a:srgbClr val="2E2E2E"/>
                </a:solidFill>
                <a:latin typeface="Calibri"/>
              </a:rPr>
              <a:t>● Rack Assist:</a:t>
            </a:r>
          </a:p>
        </p:txBody>
      </p:sp>
      <p:pic>
        <p:nvPicPr>
          <p:cNvPr id="97" name="Picture 96" descr="lock.png"/>
          <p:cNvPicPr>
            <a:picLocks noChangeAspect="1"/>
          </p:cNvPicPr>
          <p:nvPr/>
        </p:nvPicPr>
        <p:blipFill>
          <a:blip r:embed="rId16"/>
          <a:stretch>
            <a:fillRect/>
          </a:stretch>
        </p:blipFill>
        <p:spPr>
          <a:xfrm>
            <a:off x="4636906" y="4219658"/>
            <a:ext cx="128699" cy="187198"/>
          </a:xfrm>
          <a:prstGeom prst="rect">
            <a:avLst/>
          </a:prstGeom>
        </p:spPr>
      </p:pic>
      <p:sp>
        <p:nvSpPr>
          <p:cNvPr id="98" name="TextBox 97"/>
          <p:cNvSpPr txBox="1"/>
          <p:nvPr/>
        </p:nvSpPr>
        <p:spPr>
          <a:xfrm>
            <a:off x="480440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6"/>
          <a:stretch>
            <a:fillRect/>
          </a:stretch>
        </p:blipFill>
        <p:spPr>
          <a:xfrm>
            <a:off x="5663852" y="4219658"/>
            <a:ext cx="128699" cy="187198"/>
          </a:xfrm>
          <a:prstGeom prst="rect">
            <a:avLst/>
          </a:prstGeom>
        </p:spPr>
      </p:pic>
      <p:sp>
        <p:nvSpPr>
          <p:cNvPr id="100" name="TextBox 99"/>
          <p:cNvSpPr txBox="1"/>
          <p:nvPr/>
        </p:nvSpPr>
        <p:spPr>
          <a:xfrm>
            <a:off x="5831348"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447369"/>
            <a:ext cx="1997893" cy="186689"/>
          </a:xfrm>
          <a:prstGeom prst="rect">
            <a:avLst/>
          </a:prstGeom>
          <a:noFill/>
        </p:spPr>
        <p:txBody>
          <a:bodyPr wrap="none" lIns="0" rIns="0" tIns="0" bIns="0">
            <a:spAutoFit/>
          </a:bodyPr>
          <a:lstStyle/>
          <a:p>
            <a:r>
              <a:rPr sz="1100" b="0">
                <a:solidFill>
                  <a:srgbClr val="2E2E2E"/>
                </a:solidFill>
                <a:latin typeface="Calibri"/>
              </a:rPr>
              <a:t>● Recirculating Ball and Nut Type:</a:t>
            </a:r>
          </a:p>
        </p:txBody>
      </p:sp>
      <p:pic>
        <p:nvPicPr>
          <p:cNvPr id="102" name="Picture 101" descr="lock.png"/>
          <p:cNvPicPr>
            <a:picLocks noChangeAspect="1"/>
          </p:cNvPicPr>
          <p:nvPr/>
        </p:nvPicPr>
        <p:blipFill>
          <a:blip r:embed="rId16"/>
          <a:stretch>
            <a:fillRect/>
          </a:stretch>
        </p:blipFill>
        <p:spPr>
          <a:xfrm>
            <a:off x="5784520" y="4437590"/>
            <a:ext cx="128699" cy="187198"/>
          </a:xfrm>
          <a:prstGeom prst="rect">
            <a:avLst/>
          </a:prstGeom>
        </p:spPr>
      </p:pic>
      <p:sp>
        <p:nvSpPr>
          <p:cNvPr id="103" name="TextBox 102"/>
          <p:cNvSpPr txBox="1"/>
          <p:nvPr/>
        </p:nvSpPr>
        <p:spPr>
          <a:xfrm>
            <a:off x="595201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6811466" y="4437590"/>
            <a:ext cx="128699" cy="187198"/>
          </a:xfrm>
          <a:prstGeom prst="rect">
            <a:avLst/>
          </a:prstGeom>
        </p:spPr>
      </p:pic>
      <p:sp>
        <p:nvSpPr>
          <p:cNvPr id="105" name="TextBox 104"/>
          <p:cNvSpPr txBox="1"/>
          <p:nvPr/>
        </p:nvSpPr>
        <p:spPr>
          <a:xfrm>
            <a:off x="6978962" y="4447369"/>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06" name="TextBox 105"/>
          <p:cNvSpPr txBox="1"/>
          <p:nvPr/>
        </p:nvSpPr>
        <p:spPr>
          <a:xfrm>
            <a:off x="3838575" y="4615009"/>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07" name="TextBox 106"/>
          <p:cNvSpPr txBox="1"/>
          <p:nvPr/>
        </p:nvSpPr>
        <p:spPr>
          <a:xfrm>
            <a:off x="3838575" y="4832941"/>
            <a:ext cx="1023540" cy="186689"/>
          </a:xfrm>
          <a:prstGeom prst="rect">
            <a:avLst/>
          </a:prstGeom>
          <a:noFill/>
        </p:spPr>
        <p:txBody>
          <a:bodyPr wrap="none" lIns="0" rIns="0" tIns="0" bIns="0">
            <a:spAutoFit/>
          </a:bodyPr>
          <a:lstStyle/>
          <a:p>
            <a:r>
              <a:rPr sz="1100" b="0">
                <a:solidFill>
                  <a:srgbClr val="2E2E2E"/>
                </a:solidFill>
                <a:latin typeface="Calibri"/>
              </a:rPr>
              <a:t>● Column Assist:</a:t>
            </a:r>
          </a:p>
        </p:txBody>
      </p:sp>
      <p:pic>
        <p:nvPicPr>
          <p:cNvPr id="108" name="Picture 107" descr="lock.png"/>
          <p:cNvPicPr>
            <a:picLocks noChangeAspect="1"/>
          </p:cNvPicPr>
          <p:nvPr/>
        </p:nvPicPr>
        <p:blipFill>
          <a:blip r:embed="rId16"/>
          <a:stretch>
            <a:fillRect/>
          </a:stretch>
        </p:blipFill>
        <p:spPr>
          <a:xfrm>
            <a:off x="4810167" y="4823162"/>
            <a:ext cx="128699" cy="187198"/>
          </a:xfrm>
          <a:prstGeom prst="rect">
            <a:avLst/>
          </a:prstGeom>
        </p:spPr>
      </p:pic>
      <p:sp>
        <p:nvSpPr>
          <p:cNvPr id="109" name="TextBox 108"/>
          <p:cNvSpPr txBox="1"/>
          <p:nvPr/>
        </p:nvSpPr>
        <p:spPr>
          <a:xfrm>
            <a:off x="4977663"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6"/>
          <a:stretch>
            <a:fillRect/>
          </a:stretch>
        </p:blipFill>
        <p:spPr>
          <a:xfrm>
            <a:off x="5837113" y="4823162"/>
            <a:ext cx="128699" cy="187198"/>
          </a:xfrm>
          <a:prstGeom prst="rect">
            <a:avLst/>
          </a:prstGeom>
        </p:spPr>
      </p:pic>
      <p:sp>
        <p:nvSpPr>
          <p:cNvPr id="111" name="TextBox 110"/>
          <p:cNvSpPr txBox="1"/>
          <p:nvPr/>
        </p:nvSpPr>
        <p:spPr>
          <a:xfrm>
            <a:off x="6004609" y="483294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2" name="TextBox 111"/>
          <p:cNvSpPr txBox="1"/>
          <p:nvPr/>
        </p:nvSpPr>
        <p:spPr>
          <a:xfrm>
            <a:off x="3838575" y="5050872"/>
            <a:ext cx="1003622" cy="186689"/>
          </a:xfrm>
          <a:prstGeom prst="rect">
            <a:avLst/>
          </a:prstGeom>
          <a:noFill/>
        </p:spPr>
        <p:txBody>
          <a:bodyPr wrap="none" lIns="0" rIns="0" tIns="0" bIns="0">
            <a:spAutoFit/>
          </a:bodyPr>
          <a:lstStyle/>
          <a:p>
            <a:r>
              <a:rPr sz="1100" b="0">
                <a:solidFill>
                  <a:srgbClr val="2E2E2E"/>
                </a:solidFill>
                <a:latin typeface="Calibri"/>
              </a:rPr>
              <a:t>● Steer by Wire:</a:t>
            </a:r>
          </a:p>
        </p:txBody>
      </p:sp>
      <p:pic>
        <p:nvPicPr>
          <p:cNvPr id="113" name="Picture 112" descr="lock.png"/>
          <p:cNvPicPr>
            <a:picLocks noChangeAspect="1"/>
          </p:cNvPicPr>
          <p:nvPr/>
        </p:nvPicPr>
        <p:blipFill>
          <a:blip r:embed="rId16"/>
          <a:stretch>
            <a:fillRect/>
          </a:stretch>
        </p:blipFill>
        <p:spPr>
          <a:xfrm>
            <a:off x="4790249" y="5041093"/>
            <a:ext cx="128699" cy="187198"/>
          </a:xfrm>
          <a:prstGeom prst="rect">
            <a:avLst/>
          </a:prstGeom>
        </p:spPr>
      </p:pic>
      <p:sp>
        <p:nvSpPr>
          <p:cNvPr id="114" name="TextBox 113"/>
          <p:cNvSpPr txBox="1"/>
          <p:nvPr/>
        </p:nvSpPr>
        <p:spPr>
          <a:xfrm>
            <a:off x="4957744"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6"/>
          <a:stretch>
            <a:fillRect/>
          </a:stretch>
        </p:blipFill>
        <p:spPr>
          <a:xfrm>
            <a:off x="5817195" y="5041093"/>
            <a:ext cx="128699" cy="187198"/>
          </a:xfrm>
          <a:prstGeom prst="rect">
            <a:avLst/>
          </a:prstGeom>
        </p:spPr>
      </p:pic>
      <p:sp>
        <p:nvSpPr>
          <p:cNvPr id="116" name="TextBox 115"/>
          <p:cNvSpPr txBox="1"/>
          <p:nvPr/>
        </p:nvSpPr>
        <p:spPr>
          <a:xfrm>
            <a:off x="5984690"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8524875" y="5842641"/>
            <a:ext cx="3024869" cy="194310"/>
          </a:xfrm>
          <a:prstGeom prst="rect">
            <a:avLst/>
          </a:prstGeom>
          <a:noFill/>
        </p:spPr>
        <p:txBody>
          <a:bodyPr wrap="none" lIns="0" rIns="0" tIns="0" bIns="0">
            <a:spAutoFit/>
          </a:bodyPr>
          <a:lstStyle/>
          <a:p>
            <a:r>
              <a:rPr sz="1150" b="1">
                <a:solidFill>
                  <a:srgbClr val="0B2E4A"/>
                </a:solidFill>
                <a:latin typeface="Calibri"/>
              </a:rPr>
              <a:t>The System Architecture segment is projected to</a:t>
            </a:r>
          </a:p>
        </p:txBody>
      </p:sp>
      <p:sp>
        <p:nvSpPr>
          <p:cNvPr id="118" name="TextBox 11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19" name="Picture 118" descr="lock.png"/>
          <p:cNvPicPr>
            <a:picLocks noChangeAspect="1"/>
          </p:cNvPicPr>
          <p:nvPr/>
        </p:nvPicPr>
        <p:blipFill>
          <a:blip r:embed="rId16"/>
          <a:stretch>
            <a:fillRect/>
          </a:stretch>
        </p:blipFill>
        <p:spPr>
          <a:xfrm>
            <a:off x="9651852" y="6007677"/>
            <a:ext cx="134549" cy="195707"/>
          </a:xfrm>
          <a:prstGeom prst="rect">
            <a:avLst/>
          </a:prstGeom>
        </p:spPr>
      </p:pic>
      <p:sp>
        <p:nvSpPr>
          <p:cNvPr id="120" name="TextBox 11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System Architecture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System Architecture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System Architecture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System Architecture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Column assist followed by rack assist are expected to be the two most attractive system architecture segments in the global heavy commercial vehicle EPS market in terms of value over the forecast period.</a:t>
            </a:r>
          </a:p>
        </p:txBody>
      </p:sp>
      <p:sp>
        <p:nvSpPr>
          <p:cNvPr id="20" name="TextBox 19"/>
          <p:cNvSpPr txBox="1"/>
          <p:nvPr/>
        </p:nvSpPr>
        <p:spPr>
          <a:xfrm>
            <a:off x="257175" y="5945505"/>
            <a:ext cx="3071001" cy="186689"/>
          </a:xfrm>
          <a:prstGeom prst="rect">
            <a:avLst/>
          </a:prstGeom>
          <a:noFill/>
        </p:spPr>
        <p:txBody>
          <a:bodyPr wrap="none" lIns="0" rIns="0" tIns="0" bIns="0">
            <a:spAutoFit/>
          </a:bodyPr>
          <a:lstStyle/>
          <a:p>
            <a:r>
              <a:rPr sz="1100" b="0">
                <a:solidFill>
                  <a:srgbClr val="2E2E2E"/>
                </a:solidFill>
                <a:latin typeface="Calibri"/>
              </a:rPr>
              <a:t>Column assist and rack assist exhibit a CAGR index of</a:t>
            </a:r>
          </a:p>
        </p:txBody>
      </p:sp>
      <p:pic>
        <p:nvPicPr>
          <p:cNvPr id="21" name="Picture 20" descr="lock.png"/>
          <p:cNvPicPr>
            <a:picLocks noChangeAspect="1"/>
          </p:cNvPicPr>
          <p:nvPr/>
        </p:nvPicPr>
        <p:blipFill>
          <a:blip r:embed="rId6"/>
          <a:stretch>
            <a:fillRect/>
          </a:stretch>
        </p:blipFill>
        <p:spPr>
          <a:xfrm>
            <a:off x="3276228" y="5935726"/>
            <a:ext cx="128699" cy="187198"/>
          </a:xfrm>
          <a:prstGeom prst="rect">
            <a:avLst/>
          </a:prstGeom>
        </p:spPr>
      </p:pic>
      <p:sp>
        <p:nvSpPr>
          <p:cNvPr id="22" name="TextBox 21"/>
          <p:cNvSpPr txBox="1"/>
          <p:nvPr/>
        </p:nvSpPr>
        <p:spPr>
          <a:xfrm>
            <a:off x="344372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681618" y="5935726"/>
            <a:ext cx="128699" cy="187198"/>
          </a:xfrm>
          <a:prstGeom prst="rect">
            <a:avLst/>
          </a:prstGeom>
        </p:spPr>
      </p:pic>
      <p:sp>
        <p:nvSpPr>
          <p:cNvPr id="24" name="TextBox 23"/>
          <p:cNvSpPr txBox="1"/>
          <p:nvPr/>
        </p:nvSpPr>
        <p:spPr>
          <a:xfrm>
            <a:off x="3849114"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458087" y="5935726"/>
            <a:ext cx="128699" cy="187198"/>
          </a:xfrm>
          <a:prstGeom prst="rect">
            <a:avLst/>
          </a:prstGeom>
        </p:spPr>
      </p:pic>
      <p:sp>
        <p:nvSpPr>
          <p:cNvPr id="26" name="TextBox 25"/>
          <p:cNvSpPr txBox="1"/>
          <p:nvPr/>
        </p:nvSpPr>
        <p:spPr>
          <a:xfrm>
            <a:off x="562558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863477" y="5935726"/>
            <a:ext cx="128699" cy="187198"/>
          </a:xfrm>
          <a:prstGeom prst="rect">
            <a:avLst/>
          </a:prstGeom>
        </p:spPr>
      </p:pic>
      <p:sp>
        <p:nvSpPr>
          <p:cNvPr id="28" name="TextBox 27"/>
          <p:cNvSpPr txBox="1"/>
          <p:nvPr/>
        </p:nvSpPr>
        <p:spPr>
          <a:xfrm>
            <a:off x="6030973"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585377" y="5935726"/>
            <a:ext cx="128699" cy="187198"/>
          </a:xfrm>
          <a:prstGeom prst="rect">
            <a:avLst/>
          </a:prstGeom>
        </p:spPr>
      </p:pic>
      <p:sp>
        <p:nvSpPr>
          <p:cNvPr id="30" name="TextBox 29"/>
          <p:cNvSpPr txBox="1"/>
          <p:nvPr/>
        </p:nvSpPr>
        <p:spPr>
          <a:xfrm>
            <a:off x="8752873" y="5945505"/>
            <a:ext cx="2648098" cy="186689"/>
          </a:xfrm>
          <a:prstGeom prst="rect">
            <a:avLst/>
          </a:prstGeom>
          <a:noFill/>
        </p:spPr>
        <p:txBody>
          <a:bodyPr wrap="none" lIns="0" rIns="0" tIns="0" bIns="0">
            <a:spAutoFit/>
          </a:bodyPr>
          <a:lstStyle/>
          <a:p>
            <a:r>
              <a:rPr sz="1100" b="0">
                <a:solidFill>
                  <a:srgbClr val="2E2E2E"/>
                </a:solidFill>
                <a:latin typeface="Calibri"/>
              </a:rPr>
              <a:t>. The steer by wire segment is expected to be</a:t>
            </a:r>
          </a:p>
        </p:txBody>
      </p:sp>
      <p:sp>
        <p:nvSpPr>
          <p:cNvPr id="31" name="TextBox 30"/>
          <p:cNvSpPr txBox="1"/>
          <p:nvPr/>
        </p:nvSpPr>
        <p:spPr>
          <a:xfrm>
            <a:off x="257175" y="6113145"/>
            <a:ext cx="11580952" cy="186689"/>
          </a:xfrm>
          <a:prstGeom prst="rect">
            <a:avLst/>
          </a:prstGeom>
          <a:noFill/>
        </p:spPr>
        <p:txBody>
          <a:bodyPr wrap="none" lIns="0" rIns="0" tIns="0" bIns="0">
            <a:spAutoFit/>
          </a:bodyPr>
          <a:lstStyle/>
          <a:p>
            <a:r>
              <a:rPr sz="1100" b="0">
                <a:solidFill>
                  <a:srgbClr val="2E2E2E"/>
                </a:solidFill>
                <a:latin typeface="Calibri"/>
              </a:rPr>
              <a:t>less 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System Architecture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Recirculating Ball and Nut Type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Rack Assist</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Column Assist</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Steer by Wire</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System Architecture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System Architecture,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System Architecture (US$ Mn)</a:t>
            </a:r>
          </a:p>
        </p:txBody>
      </p:sp>
      <p:graphicFrame>
        <p:nvGraphicFramePr>
          <p:cNvPr id="12" name="Table 11"/>
          <p:cNvGraphicFramePr>
            <a:graphicFrameLocks noGrp="1"/>
          </p:cNvGraphicFramePr>
          <p:nvPr/>
        </p:nvGraphicFramePr>
        <p:xfrm>
          <a:off x="152400" y="1238250"/>
          <a:ext cx="11887205" cy="1485896"/>
        </p:xfrm>
        <a:graphic>
          <a:graphicData uri="http://schemas.openxmlformats.org/drawingml/2006/table">
            <a:tbl>
              <a:tblPr>
                <a:tableStyleId>{5C22544A-7EE6-4342-B048-85BDC9FD1C3A}</a:tableStyleId>
              </a:tblPr>
              <a:tblGrid>
                <a:gridCol w="2060865"/>
                <a:gridCol w="578020"/>
                <a:gridCol w="578020"/>
                <a:gridCol w="578020"/>
                <a:gridCol w="578020"/>
                <a:gridCol w="578020"/>
                <a:gridCol w="578020"/>
                <a:gridCol w="578020"/>
                <a:gridCol w="578020"/>
                <a:gridCol w="578020"/>
                <a:gridCol w="578020"/>
                <a:gridCol w="578020"/>
                <a:gridCol w="578020"/>
                <a:gridCol w="578020"/>
                <a:gridCol w="578020"/>
                <a:gridCol w="578020"/>
                <a:gridCol w="578020"/>
                <a:gridCol w="578020"/>
              </a:tblGrid>
              <a:tr h="246126">
                <a:tc>
                  <a:txBody>
                    <a:bodyPr wrap="none"/>
                    <a:lstStyle/>
                    <a:p>
                      <a:pPr algn="l"/>
                      <a:r>
                        <a:rPr sz="1100" b="1">
                          <a:solidFill>
                            <a:srgbClr val="0B2E4A"/>
                          </a:solidFill>
                          <a:latin typeface="Calibri"/>
                        </a:rPr>
                        <a:t>System Architecture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Recirculating Ball and Nut Type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Rack Assist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Column Assist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Steer by Wire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System Architecture</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939745" y="1837563"/>
            <a:ext cx="366712" cy="533399"/>
          </a:xfrm>
          <a:prstGeom prst="rect">
            <a:avLst/>
          </a:prstGeom>
        </p:spPr>
      </p:pic>
      <p:sp>
        <p:nvSpPr>
          <p:cNvPr id="20" name="TextBox 19"/>
          <p:cNvSpPr txBox="1"/>
          <p:nvPr/>
        </p:nvSpPr>
        <p:spPr>
          <a:xfrm>
            <a:off x="276225" y="3486150"/>
            <a:ext cx="2635783" cy="194310"/>
          </a:xfrm>
          <a:prstGeom prst="rect">
            <a:avLst/>
          </a:prstGeom>
          <a:noFill/>
        </p:spPr>
        <p:txBody>
          <a:bodyPr wrap="none" lIns="0" rIns="0" tIns="0" bIns="0">
            <a:spAutoFit/>
          </a:bodyPr>
          <a:lstStyle/>
          <a:p>
            <a:r>
              <a:rPr sz="1150" b="0">
                <a:solidFill>
                  <a:srgbClr val="2E2E2E"/>
                </a:solidFill>
                <a:latin typeface="Calibri"/>
              </a:rPr>
              <a:t>Rack assist segment is projected to register</a:t>
            </a:r>
          </a:p>
        </p:txBody>
      </p:sp>
      <p:pic>
        <p:nvPicPr>
          <p:cNvPr id="21" name="Picture 20" descr="lock.png"/>
          <p:cNvPicPr>
            <a:picLocks noChangeAspect="1"/>
          </p:cNvPicPr>
          <p:nvPr/>
        </p:nvPicPr>
        <p:blipFill>
          <a:blip r:embed="rId4"/>
          <a:stretch>
            <a:fillRect/>
          </a:stretch>
        </p:blipFill>
        <p:spPr>
          <a:xfrm>
            <a:off x="2861162" y="3475926"/>
            <a:ext cx="134549" cy="195707"/>
          </a:xfrm>
          <a:prstGeom prst="rect">
            <a:avLst/>
          </a:prstGeom>
        </p:spPr>
      </p:pic>
      <p:sp>
        <p:nvSpPr>
          <p:cNvPr id="22" name="TextBox 21"/>
          <p:cNvSpPr txBox="1"/>
          <p:nvPr/>
        </p:nvSpPr>
        <p:spPr>
          <a:xfrm>
            <a:off x="3036271" y="3486150"/>
            <a:ext cx="8306060" cy="194310"/>
          </a:xfrm>
          <a:prstGeom prst="rect">
            <a:avLst/>
          </a:prstGeom>
          <a:noFill/>
        </p:spPr>
        <p:txBody>
          <a:bodyPr wrap="none" lIns="0" rIns="0" tIns="0" bIns="0">
            <a:spAutoFit/>
          </a:bodyPr>
          <a:lstStyle/>
          <a:p>
            <a:r>
              <a:rPr sz="1150" b="0">
                <a:solidFill>
                  <a:srgbClr val="2E2E2E"/>
                </a:solidFill>
                <a:latin typeface="Calibri"/>
              </a:rPr>
              <a:t>X higher value than column assist segment in 2036. Among heavy commercial vehicle EPS by system architecture, column assist segment is</a:t>
            </a:r>
          </a:p>
        </p:txBody>
      </p:sp>
      <p:sp>
        <p:nvSpPr>
          <p:cNvPr id="23" name="TextBox 22"/>
          <p:cNvSpPr txBox="1"/>
          <p:nvPr/>
        </p:nvSpPr>
        <p:spPr>
          <a:xfrm>
            <a:off x="276225" y="366141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651186"/>
            <a:ext cx="134549" cy="195707"/>
          </a:xfrm>
          <a:prstGeom prst="rect">
            <a:avLst/>
          </a:prstGeom>
        </p:spPr>
      </p:pic>
      <p:sp>
        <p:nvSpPr>
          <p:cNvPr id="25" name="TextBox 24"/>
          <p:cNvSpPr txBox="1"/>
          <p:nvPr/>
        </p:nvSpPr>
        <p:spPr>
          <a:xfrm>
            <a:off x="2886495"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6852977" cy="194310"/>
          </a:xfrm>
          <a:prstGeom prst="rect">
            <a:avLst/>
          </a:prstGeom>
          <a:noFill/>
        </p:spPr>
        <p:txBody>
          <a:bodyPr wrap="none" lIns="0" rIns="0" tIns="0" bIns="0">
            <a:spAutoFit/>
          </a:bodyPr>
          <a:lstStyle/>
          <a:p>
            <a:r>
              <a:rPr sz="1150" b="0">
                <a:solidFill>
                  <a:srgbClr val="2E2E2E"/>
                </a:solidFill>
                <a:latin typeface="Calibri"/>
              </a:rPr>
              <a:t>In terms of value share by system architecture, the rack assist segment is expected to dominate the market, losing</a:t>
            </a:r>
          </a:p>
        </p:txBody>
      </p:sp>
      <p:pic>
        <p:nvPicPr>
          <p:cNvPr id="27" name="Picture 26" descr="lock.png"/>
          <p:cNvPicPr>
            <a:picLocks noChangeAspect="1"/>
          </p:cNvPicPr>
          <p:nvPr/>
        </p:nvPicPr>
        <p:blipFill>
          <a:blip r:embed="rId4"/>
          <a:stretch>
            <a:fillRect/>
          </a:stretch>
        </p:blipFill>
        <p:spPr>
          <a:xfrm>
            <a:off x="7078355" y="3879024"/>
            <a:ext cx="134549" cy="195707"/>
          </a:xfrm>
          <a:prstGeom prst="rect">
            <a:avLst/>
          </a:prstGeom>
        </p:spPr>
      </p:pic>
      <p:sp>
        <p:nvSpPr>
          <p:cNvPr id="28" name="TextBox 27"/>
          <p:cNvSpPr txBox="1"/>
          <p:nvPr/>
        </p:nvSpPr>
        <p:spPr>
          <a:xfrm>
            <a:off x="7253465"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648608" y="3879024"/>
            <a:ext cx="134549" cy="195707"/>
          </a:xfrm>
          <a:prstGeom prst="rect">
            <a:avLst/>
          </a:prstGeom>
        </p:spPr>
      </p:pic>
      <p:sp>
        <p:nvSpPr>
          <p:cNvPr id="30" name="TextBox 29"/>
          <p:cNvSpPr txBox="1"/>
          <p:nvPr/>
        </p:nvSpPr>
        <p:spPr>
          <a:xfrm>
            <a:off x="8823717" y="3889247"/>
            <a:ext cx="2713087" cy="194310"/>
          </a:xfrm>
          <a:prstGeom prst="rect">
            <a:avLst/>
          </a:prstGeom>
          <a:noFill/>
        </p:spPr>
        <p:txBody>
          <a:bodyPr wrap="none" lIns="0" rIns="0" tIns="0" bIns="0">
            <a:spAutoFit/>
          </a:bodyPr>
          <a:lstStyle/>
          <a:p>
            <a:r>
              <a:rPr sz="1150" b="0">
                <a:solidFill>
                  <a:srgbClr val="2E2E2E"/>
                </a:solidFill>
                <a:latin typeface="Calibri"/>
              </a:rPr>
              <a:t>share by 2036. The recirculating ball and nut</a:t>
            </a:r>
          </a:p>
        </p:txBody>
      </p:sp>
      <p:sp>
        <p:nvSpPr>
          <p:cNvPr id="31" name="TextBox 30"/>
          <p:cNvSpPr txBox="1"/>
          <p:nvPr/>
        </p:nvSpPr>
        <p:spPr>
          <a:xfrm>
            <a:off x="276225" y="4064507"/>
            <a:ext cx="2023343" cy="194310"/>
          </a:xfrm>
          <a:prstGeom prst="rect">
            <a:avLst/>
          </a:prstGeom>
          <a:noFill/>
        </p:spPr>
        <p:txBody>
          <a:bodyPr wrap="none" lIns="0" rIns="0" tIns="0" bIns="0">
            <a:spAutoFit/>
          </a:bodyPr>
          <a:lstStyle/>
          <a:p>
            <a:r>
              <a:rPr sz="1150" b="0">
                <a:solidFill>
                  <a:srgbClr val="2E2E2E"/>
                </a:solidFill>
                <a:latin typeface="Calibri"/>
              </a:rPr>
              <a:t>type segment is expected to lose</a:t>
            </a:r>
          </a:p>
        </p:txBody>
      </p:sp>
      <p:pic>
        <p:nvPicPr>
          <p:cNvPr id="32" name="Picture 31" descr="lock.png"/>
          <p:cNvPicPr>
            <a:picLocks noChangeAspect="1"/>
          </p:cNvPicPr>
          <p:nvPr/>
        </p:nvPicPr>
        <p:blipFill>
          <a:blip r:embed="rId4"/>
          <a:stretch>
            <a:fillRect/>
          </a:stretch>
        </p:blipFill>
        <p:spPr>
          <a:xfrm>
            <a:off x="2248722" y="4054284"/>
            <a:ext cx="134549" cy="195707"/>
          </a:xfrm>
          <a:prstGeom prst="rect">
            <a:avLst/>
          </a:prstGeom>
        </p:spPr>
      </p:pic>
      <p:sp>
        <p:nvSpPr>
          <p:cNvPr id="33" name="TextBox 32"/>
          <p:cNvSpPr txBox="1"/>
          <p:nvPr/>
        </p:nvSpPr>
        <p:spPr>
          <a:xfrm>
            <a:off x="2423831"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011335" y="4054284"/>
            <a:ext cx="134549" cy="195707"/>
          </a:xfrm>
          <a:prstGeom prst="rect">
            <a:avLst/>
          </a:prstGeom>
        </p:spPr>
      </p:pic>
      <p:sp>
        <p:nvSpPr>
          <p:cNvPr id="35" name="TextBox 34"/>
          <p:cNvSpPr txBox="1"/>
          <p:nvPr/>
        </p:nvSpPr>
        <p:spPr>
          <a:xfrm>
            <a:off x="5186445"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System Architecture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System Architecture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8204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7728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010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Steer by Wire</a:t>
            </a:r>
          </a:p>
        </p:txBody>
      </p:sp>
      <p:sp>
        <p:nvSpPr>
          <p:cNvPr id="18" name="BPS Value 1"/>
          <p:cNvSpPr txBox="1"/>
          <p:nvPr/>
        </p:nvSpPr>
        <p:spPr>
          <a:xfrm>
            <a:off x="6896100" y="196299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93231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92755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8513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Recirculating Ball and Nut Type</a:t>
            </a:r>
          </a:p>
        </p:txBody>
      </p:sp>
      <p:sp>
        <p:nvSpPr>
          <p:cNvPr id="22" name="BPS Value 2"/>
          <p:cNvSpPr txBox="1"/>
          <p:nvPr/>
        </p:nvSpPr>
        <p:spPr>
          <a:xfrm>
            <a:off x="6896100" y="291326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423524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23047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1542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Column Assist</a:t>
            </a:r>
          </a:p>
        </p:txBody>
      </p:sp>
      <p:sp>
        <p:nvSpPr>
          <p:cNvPr id="26" name="BPS Value 3"/>
          <p:cNvSpPr txBox="1"/>
          <p:nvPr/>
        </p:nvSpPr>
        <p:spPr>
          <a:xfrm>
            <a:off x="6896100" y="42161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57116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5664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4902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Rack Assist</a:t>
            </a:r>
          </a:p>
        </p:txBody>
      </p:sp>
      <p:sp>
        <p:nvSpPr>
          <p:cNvPr id="30" name="BPS Value 4"/>
          <p:cNvSpPr txBox="1"/>
          <p:nvPr/>
        </p:nvSpPr>
        <p:spPr>
          <a:xfrm>
            <a:off x="6896100" y="55521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System Architecture</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734010" cy="194310"/>
          </a:xfrm>
          <a:prstGeom prst="rect">
            <a:avLst/>
          </a:prstGeom>
          <a:noFill/>
        </p:spPr>
        <p:txBody>
          <a:bodyPr wrap="none" lIns="0" rIns="0" tIns="0" bIns="0">
            <a:spAutoFit/>
          </a:bodyPr>
          <a:lstStyle/>
          <a:p>
            <a:r>
              <a:rPr sz="1150" b="0">
                <a:solidFill>
                  <a:srgbClr val="2E2E2E"/>
                </a:solidFill>
                <a:latin typeface="Calibri"/>
              </a:rPr>
              <a:t>Among heavy commercial vehicle EPS by system architecture,</a:t>
            </a:r>
          </a:p>
        </p:txBody>
      </p:sp>
      <p:sp>
        <p:nvSpPr>
          <p:cNvPr id="38" name="TextBox 37"/>
          <p:cNvSpPr txBox="1"/>
          <p:nvPr/>
        </p:nvSpPr>
        <p:spPr>
          <a:xfrm>
            <a:off x="7829550" y="1575435"/>
            <a:ext cx="3989295" cy="194310"/>
          </a:xfrm>
          <a:prstGeom prst="rect">
            <a:avLst/>
          </a:prstGeom>
          <a:noFill/>
        </p:spPr>
        <p:txBody>
          <a:bodyPr wrap="none" lIns="0" rIns="0" tIns="0" bIns="0">
            <a:spAutoFit/>
          </a:bodyPr>
          <a:lstStyle/>
          <a:p>
            <a:r>
              <a:rPr sz="1150" b="0">
                <a:solidFill>
                  <a:srgbClr val="2E2E2E"/>
                </a:solidFill>
                <a:latin typeface="Calibri"/>
              </a:rPr>
              <a:t>column assist segment is expected to witness the highest CAGR of</a:t>
            </a:r>
          </a:p>
        </p:txBody>
      </p:sp>
      <p:pic>
        <p:nvPicPr>
          <p:cNvPr id="39" name="Picture 38" descr="lock.png"/>
          <p:cNvPicPr>
            <a:picLocks noChangeAspect="1"/>
          </p:cNvPicPr>
          <p:nvPr/>
        </p:nvPicPr>
        <p:blipFill>
          <a:blip r:embed="rId5"/>
          <a:stretch>
            <a:fillRect/>
          </a:stretch>
        </p:blipFill>
        <p:spPr>
          <a:xfrm>
            <a:off x="7815470" y="1740471"/>
            <a:ext cx="134549" cy="195707"/>
          </a:xfrm>
          <a:prstGeom prst="rect">
            <a:avLst/>
          </a:prstGeom>
        </p:spPr>
      </p:pic>
      <p:sp>
        <p:nvSpPr>
          <p:cNvPr id="40" name="TextBox 39"/>
          <p:cNvSpPr txBox="1"/>
          <p:nvPr/>
        </p:nvSpPr>
        <p:spPr>
          <a:xfrm>
            <a:off x="7990579" y="1750695"/>
            <a:ext cx="3569989"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system</a:t>
            </a:r>
          </a:p>
        </p:txBody>
      </p:sp>
      <p:sp>
        <p:nvSpPr>
          <p:cNvPr id="41" name="TextBox 40"/>
          <p:cNvSpPr txBox="1"/>
          <p:nvPr/>
        </p:nvSpPr>
        <p:spPr>
          <a:xfrm>
            <a:off x="7829550" y="1925955"/>
            <a:ext cx="3956223" cy="194310"/>
          </a:xfrm>
          <a:prstGeom prst="rect">
            <a:avLst/>
          </a:prstGeom>
          <a:noFill/>
        </p:spPr>
        <p:txBody>
          <a:bodyPr wrap="none" lIns="0" rIns="0" tIns="0" bIns="0">
            <a:spAutoFit/>
          </a:bodyPr>
          <a:lstStyle/>
          <a:p>
            <a:r>
              <a:rPr sz="1150" b="0">
                <a:solidFill>
                  <a:srgbClr val="2E2E2E"/>
                </a:solidFill>
                <a:latin typeface="Calibri"/>
              </a:rPr>
              <a:t>architecture, the rack assist segment is expected to dominate the</a:t>
            </a:r>
          </a:p>
        </p:txBody>
      </p:sp>
      <p:sp>
        <p:nvSpPr>
          <p:cNvPr id="42" name="TextBox 41"/>
          <p:cNvSpPr txBox="1"/>
          <p:nvPr/>
        </p:nvSpPr>
        <p:spPr>
          <a:xfrm>
            <a:off x="7829550" y="2101215"/>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3" name="Picture 42" descr="lock.png"/>
          <p:cNvPicPr>
            <a:picLocks noChangeAspect="1"/>
          </p:cNvPicPr>
          <p:nvPr/>
        </p:nvPicPr>
        <p:blipFill>
          <a:blip r:embed="rId5"/>
          <a:stretch>
            <a:fillRect/>
          </a:stretch>
        </p:blipFill>
        <p:spPr>
          <a:xfrm>
            <a:off x="8697258" y="2090991"/>
            <a:ext cx="134549" cy="195707"/>
          </a:xfrm>
          <a:prstGeom prst="rect">
            <a:avLst/>
          </a:prstGeom>
        </p:spPr>
      </p:pic>
      <p:sp>
        <p:nvSpPr>
          <p:cNvPr id="44" name="TextBox 43"/>
          <p:cNvSpPr txBox="1"/>
          <p:nvPr/>
        </p:nvSpPr>
        <p:spPr>
          <a:xfrm>
            <a:off x="8872367"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10267511" y="2090991"/>
            <a:ext cx="134549" cy="195707"/>
          </a:xfrm>
          <a:prstGeom prst="rect">
            <a:avLst/>
          </a:prstGeom>
        </p:spPr>
      </p:pic>
      <p:sp>
        <p:nvSpPr>
          <p:cNvPr id="46" name="TextBox 45"/>
          <p:cNvSpPr txBox="1"/>
          <p:nvPr/>
        </p:nvSpPr>
        <p:spPr>
          <a:xfrm>
            <a:off x="1044262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329053"/>
            <a:ext cx="3790205" cy="194310"/>
          </a:xfrm>
          <a:prstGeom prst="rect">
            <a:avLst/>
          </a:prstGeom>
          <a:noFill/>
        </p:spPr>
        <p:txBody>
          <a:bodyPr wrap="none" lIns="0" rIns="0" tIns="0" bIns="0">
            <a:spAutoFit/>
          </a:bodyPr>
          <a:lstStyle/>
          <a:p>
            <a:r>
              <a:rPr sz="1150" b="0">
                <a:solidFill>
                  <a:srgbClr val="2E2E2E"/>
                </a:solidFill>
                <a:latin typeface="Calibri"/>
              </a:rPr>
              <a:t>The recirculating ball and nut type segment is expected to lose</a:t>
            </a:r>
          </a:p>
        </p:txBody>
      </p:sp>
      <p:pic>
        <p:nvPicPr>
          <p:cNvPr id="48" name="Picture 47" descr="lock.png"/>
          <p:cNvPicPr>
            <a:picLocks noChangeAspect="1"/>
          </p:cNvPicPr>
          <p:nvPr/>
        </p:nvPicPr>
        <p:blipFill>
          <a:blip r:embed="rId5"/>
          <a:stretch>
            <a:fillRect/>
          </a:stretch>
        </p:blipFill>
        <p:spPr>
          <a:xfrm>
            <a:off x="11568909" y="2318829"/>
            <a:ext cx="134549" cy="195707"/>
          </a:xfrm>
          <a:prstGeom prst="rect">
            <a:avLst/>
          </a:prstGeom>
        </p:spPr>
      </p:pic>
      <p:sp>
        <p:nvSpPr>
          <p:cNvPr id="49" name="TextBox 48"/>
          <p:cNvSpPr txBox="1"/>
          <p:nvPr/>
        </p:nvSpPr>
        <p:spPr>
          <a:xfrm>
            <a:off x="7829550"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0" name="Picture 49" descr="lock.png"/>
          <p:cNvPicPr>
            <a:picLocks noChangeAspect="1"/>
          </p:cNvPicPr>
          <p:nvPr/>
        </p:nvPicPr>
        <p:blipFill>
          <a:blip r:embed="rId5"/>
          <a:stretch>
            <a:fillRect/>
          </a:stretch>
        </p:blipFill>
        <p:spPr>
          <a:xfrm>
            <a:off x="10417054" y="2494089"/>
            <a:ext cx="134549" cy="195707"/>
          </a:xfrm>
          <a:prstGeom prst="rect">
            <a:avLst/>
          </a:prstGeom>
        </p:spPr>
      </p:pic>
      <p:sp>
        <p:nvSpPr>
          <p:cNvPr id="51" name="TextBox 50"/>
          <p:cNvSpPr txBox="1"/>
          <p:nvPr/>
        </p:nvSpPr>
        <p:spPr>
          <a:xfrm>
            <a:off x="1059216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Vehicle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Vehicle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Vehicle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Vehicle Type segment categorizes the market by vehicle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Heavy Duty Trucks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Busses and Coaches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Vehicle Type split shows how demand is distributed across vehicle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1_411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2_386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5_4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988_8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1_994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7_3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812082" cy="186689"/>
          </a:xfrm>
          <a:prstGeom prst="rect">
            <a:avLst/>
          </a:prstGeom>
          <a:noFill/>
        </p:spPr>
        <p:txBody>
          <a:bodyPr wrap="none" lIns="0" rIns="0" tIns="0" bIns="0">
            <a:spAutoFit/>
          </a:bodyPr>
          <a:lstStyle/>
          <a:p>
            <a:r>
              <a:rPr sz="1100" b="0">
                <a:solidFill>
                  <a:srgbClr val="2E2E2E"/>
                </a:solidFill>
                <a:latin typeface="Calibri"/>
              </a:rPr>
              <a:t>Among heavy commercial vehicle EPS by vehicle</a:t>
            </a:r>
          </a:p>
        </p:txBody>
      </p:sp>
      <p:sp>
        <p:nvSpPr>
          <p:cNvPr id="58" name="TextBox 57"/>
          <p:cNvSpPr txBox="1"/>
          <p:nvPr/>
        </p:nvSpPr>
        <p:spPr>
          <a:xfrm>
            <a:off x="485775" y="4397077"/>
            <a:ext cx="2857103" cy="186689"/>
          </a:xfrm>
          <a:prstGeom prst="rect">
            <a:avLst/>
          </a:prstGeom>
          <a:noFill/>
        </p:spPr>
        <p:txBody>
          <a:bodyPr wrap="none" lIns="0" rIns="0" tIns="0" bIns="0">
            <a:spAutoFit/>
          </a:bodyPr>
          <a:lstStyle/>
          <a:p>
            <a:r>
              <a:rPr sz="1100" b="0">
                <a:solidFill>
                  <a:srgbClr val="2E2E2E"/>
                </a:solidFill>
                <a:latin typeface="Calibri"/>
              </a:rPr>
              <a:t>type, busses and coaches segment is expected to</a:t>
            </a:r>
          </a:p>
        </p:txBody>
      </p:sp>
      <p:sp>
        <p:nvSpPr>
          <p:cNvPr id="59" name="TextBox 58"/>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60" name="Picture 59" descr="lock.png"/>
          <p:cNvPicPr>
            <a:picLocks noChangeAspect="1"/>
          </p:cNvPicPr>
          <p:nvPr/>
        </p:nvPicPr>
        <p:blipFill>
          <a:blip r:embed="rId10"/>
          <a:stretch>
            <a:fillRect/>
          </a:stretch>
        </p:blipFill>
        <p:spPr>
          <a:xfrm>
            <a:off x="2108919" y="4554938"/>
            <a:ext cx="128699" cy="187198"/>
          </a:xfrm>
          <a:prstGeom prst="rect">
            <a:avLst/>
          </a:prstGeom>
        </p:spPr>
      </p:pic>
      <p:sp>
        <p:nvSpPr>
          <p:cNvPr id="61" name="TextBox 60"/>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2" name="TextBox 6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period. In terms of value share by vehicle type, the</a:t>
            </a:r>
          </a:p>
        </p:txBody>
      </p:sp>
      <p:sp>
        <p:nvSpPr>
          <p:cNvPr id="63" name="TextBox 62"/>
          <p:cNvSpPr txBox="1"/>
          <p:nvPr/>
        </p:nvSpPr>
        <p:spPr>
          <a:xfrm>
            <a:off x="485775" y="4899997"/>
            <a:ext cx="2426816" cy="186689"/>
          </a:xfrm>
          <a:prstGeom prst="rect">
            <a:avLst/>
          </a:prstGeom>
          <a:noFill/>
        </p:spPr>
        <p:txBody>
          <a:bodyPr wrap="none" lIns="0" rIns="0" tIns="0" bIns="0">
            <a:spAutoFit/>
          </a:bodyPr>
          <a:lstStyle/>
          <a:p>
            <a:r>
              <a:rPr sz="1100" b="0">
                <a:solidFill>
                  <a:srgbClr val="2E2E2E"/>
                </a:solidFill>
                <a:latin typeface="Calibri"/>
              </a:rPr>
              <a:t>heavy duty trucks segment is expected to</a:t>
            </a:r>
          </a:p>
        </p:txBody>
      </p:sp>
      <p:sp>
        <p:nvSpPr>
          <p:cNvPr id="64" name="TextBox 63"/>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65" name="Picture 64" descr="lock.png"/>
          <p:cNvPicPr>
            <a:picLocks noChangeAspect="1"/>
          </p:cNvPicPr>
          <p:nvPr/>
        </p:nvPicPr>
        <p:blipFill>
          <a:blip r:embed="rId10"/>
          <a:stretch>
            <a:fillRect/>
          </a:stretch>
        </p:blipFill>
        <p:spPr>
          <a:xfrm>
            <a:off x="2116576" y="5057858"/>
            <a:ext cx="128699" cy="187198"/>
          </a:xfrm>
          <a:prstGeom prst="rect">
            <a:avLst/>
          </a:prstGeom>
        </p:spPr>
      </p:pic>
      <p:sp>
        <p:nvSpPr>
          <p:cNvPr id="66" name="TextBox 65"/>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7" name="TextBox 66"/>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8" name="Picture 67" descr="lock.png"/>
          <p:cNvPicPr>
            <a:picLocks noChangeAspect="1"/>
          </p:cNvPicPr>
          <p:nvPr/>
        </p:nvPicPr>
        <p:blipFill>
          <a:blip r:embed="rId10"/>
          <a:stretch>
            <a:fillRect/>
          </a:stretch>
        </p:blipFill>
        <p:spPr>
          <a:xfrm>
            <a:off x="1330764" y="5225498"/>
            <a:ext cx="128699" cy="187198"/>
          </a:xfrm>
          <a:prstGeom prst="rect">
            <a:avLst/>
          </a:prstGeom>
        </p:spPr>
      </p:pic>
      <p:sp>
        <p:nvSpPr>
          <p:cNvPr id="69" name="TextBox 68"/>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Heavy duty trucks segment is projected to register</a:t>
            </a:r>
          </a:p>
        </p:txBody>
      </p:sp>
      <p:pic>
        <p:nvPicPr>
          <p:cNvPr id="71" name="Picture 70" descr="lock.png"/>
          <p:cNvPicPr>
            <a:picLocks noChangeAspect="1"/>
          </p:cNvPicPr>
          <p:nvPr/>
        </p:nvPicPr>
        <p:blipFill>
          <a:blip r:embed="rId10"/>
          <a:stretch>
            <a:fillRect/>
          </a:stretch>
        </p:blipFill>
        <p:spPr>
          <a:xfrm>
            <a:off x="472307" y="5611070"/>
            <a:ext cx="128699" cy="187198"/>
          </a:xfrm>
          <a:prstGeom prst="rect">
            <a:avLst/>
          </a:prstGeom>
        </p:spPr>
      </p:pic>
      <p:sp>
        <p:nvSpPr>
          <p:cNvPr id="72" name="TextBox 71"/>
          <p:cNvSpPr txBox="1"/>
          <p:nvPr/>
        </p:nvSpPr>
        <p:spPr>
          <a:xfrm>
            <a:off x="639803" y="5620849"/>
            <a:ext cx="2317675" cy="186689"/>
          </a:xfrm>
          <a:prstGeom prst="rect">
            <a:avLst/>
          </a:prstGeom>
          <a:noFill/>
        </p:spPr>
        <p:txBody>
          <a:bodyPr wrap="none" lIns="0" rIns="0" tIns="0" bIns="0">
            <a:spAutoFit/>
          </a:bodyPr>
          <a:lstStyle/>
          <a:p>
            <a:r>
              <a:rPr sz="1100" b="0">
                <a:solidFill>
                  <a:srgbClr val="2E2E2E"/>
                </a:solidFill>
                <a:latin typeface="Calibri"/>
              </a:rPr>
              <a:t>X higher value than busses and coaches</a:t>
            </a:r>
          </a:p>
        </p:txBody>
      </p:sp>
      <p:sp>
        <p:nvSpPr>
          <p:cNvPr id="73" name="TextBox 72"/>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74" name="TextBox 73"/>
          <p:cNvSpPr txBox="1"/>
          <p:nvPr/>
        </p:nvSpPr>
        <p:spPr>
          <a:xfrm>
            <a:off x="3838575" y="4229437"/>
            <a:ext cx="1280021" cy="186689"/>
          </a:xfrm>
          <a:prstGeom prst="rect">
            <a:avLst/>
          </a:prstGeom>
          <a:noFill/>
        </p:spPr>
        <p:txBody>
          <a:bodyPr wrap="none" lIns="0" rIns="0" tIns="0" bIns="0">
            <a:spAutoFit/>
          </a:bodyPr>
          <a:lstStyle/>
          <a:p>
            <a:r>
              <a:rPr sz="1100" b="0">
                <a:solidFill>
                  <a:srgbClr val="2E2E2E"/>
                </a:solidFill>
                <a:latin typeface="Calibri"/>
              </a:rPr>
              <a:t>● Heavy Duty Trucks:</a:t>
            </a:r>
          </a:p>
        </p:txBody>
      </p:sp>
      <p:pic>
        <p:nvPicPr>
          <p:cNvPr id="75" name="Picture 74" descr="lock.png"/>
          <p:cNvPicPr>
            <a:picLocks noChangeAspect="1"/>
          </p:cNvPicPr>
          <p:nvPr/>
        </p:nvPicPr>
        <p:blipFill>
          <a:blip r:embed="rId10"/>
          <a:stretch>
            <a:fillRect/>
          </a:stretch>
        </p:blipFill>
        <p:spPr>
          <a:xfrm>
            <a:off x="5066647" y="4219658"/>
            <a:ext cx="128699" cy="187198"/>
          </a:xfrm>
          <a:prstGeom prst="rect">
            <a:avLst/>
          </a:prstGeom>
        </p:spPr>
      </p:pic>
      <p:sp>
        <p:nvSpPr>
          <p:cNvPr id="76" name="TextBox 75"/>
          <p:cNvSpPr txBox="1"/>
          <p:nvPr/>
        </p:nvSpPr>
        <p:spPr>
          <a:xfrm>
            <a:off x="523414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6093593" y="4219658"/>
            <a:ext cx="128699" cy="187198"/>
          </a:xfrm>
          <a:prstGeom prst="rect">
            <a:avLst/>
          </a:prstGeom>
        </p:spPr>
      </p:pic>
      <p:sp>
        <p:nvSpPr>
          <p:cNvPr id="78" name="TextBox 77"/>
          <p:cNvSpPr txBox="1"/>
          <p:nvPr/>
        </p:nvSpPr>
        <p:spPr>
          <a:xfrm>
            <a:off x="626108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9" name="TextBox 78"/>
          <p:cNvSpPr txBox="1"/>
          <p:nvPr/>
        </p:nvSpPr>
        <p:spPr>
          <a:xfrm>
            <a:off x="3838575" y="4447369"/>
            <a:ext cx="1361058" cy="186689"/>
          </a:xfrm>
          <a:prstGeom prst="rect">
            <a:avLst/>
          </a:prstGeom>
          <a:noFill/>
        </p:spPr>
        <p:txBody>
          <a:bodyPr wrap="none" lIns="0" rIns="0" tIns="0" bIns="0">
            <a:spAutoFit/>
          </a:bodyPr>
          <a:lstStyle/>
          <a:p>
            <a:r>
              <a:rPr sz="1100" b="0">
                <a:solidFill>
                  <a:srgbClr val="2E2E2E"/>
                </a:solidFill>
                <a:latin typeface="Calibri"/>
              </a:rPr>
              <a:t>● Busses and Coaches:</a:t>
            </a:r>
          </a:p>
        </p:txBody>
      </p:sp>
      <p:pic>
        <p:nvPicPr>
          <p:cNvPr id="80" name="Picture 79" descr="lock.png"/>
          <p:cNvPicPr>
            <a:picLocks noChangeAspect="1"/>
          </p:cNvPicPr>
          <p:nvPr/>
        </p:nvPicPr>
        <p:blipFill>
          <a:blip r:embed="rId10"/>
          <a:stretch>
            <a:fillRect/>
          </a:stretch>
        </p:blipFill>
        <p:spPr>
          <a:xfrm>
            <a:off x="5147684" y="4437590"/>
            <a:ext cx="128699" cy="187198"/>
          </a:xfrm>
          <a:prstGeom prst="rect">
            <a:avLst/>
          </a:prstGeom>
        </p:spPr>
      </p:pic>
      <p:sp>
        <p:nvSpPr>
          <p:cNvPr id="81" name="TextBox 80"/>
          <p:cNvSpPr txBox="1"/>
          <p:nvPr/>
        </p:nvSpPr>
        <p:spPr>
          <a:xfrm>
            <a:off x="531518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0"/>
          <a:stretch>
            <a:fillRect/>
          </a:stretch>
        </p:blipFill>
        <p:spPr>
          <a:xfrm>
            <a:off x="6174630" y="4437590"/>
            <a:ext cx="128699" cy="187198"/>
          </a:xfrm>
          <a:prstGeom prst="rect">
            <a:avLst/>
          </a:prstGeom>
        </p:spPr>
      </p:pic>
      <p:sp>
        <p:nvSpPr>
          <p:cNvPr id="83" name="TextBox 82"/>
          <p:cNvSpPr txBox="1"/>
          <p:nvPr/>
        </p:nvSpPr>
        <p:spPr>
          <a:xfrm>
            <a:off x="6342126"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4" name="TextBox 8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Vehicle Type segment is projected to grow at a</a:t>
            </a:r>
          </a:p>
        </p:txBody>
      </p:sp>
      <p:sp>
        <p:nvSpPr>
          <p:cNvPr id="85" name="TextBox 8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6" name="Picture 85" descr="lock.png"/>
          <p:cNvPicPr>
            <a:picLocks noChangeAspect="1"/>
          </p:cNvPicPr>
          <p:nvPr/>
        </p:nvPicPr>
        <p:blipFill>
          <a:blip r:embed="rId10"/>
          <a:stretch>
            <a:fillRect/>
          </a:stretch>
        </p:blipFill>
        <p:spPr>
          <a:xfrm>
            <a:off x="9048826" y="6007677"/>
            <a:ext cx="134549" cy="195707"/>
          </a:xfrm>
          <a:prstGeom prst="rect">
            <a:avLst/>
          </a:prstGeom>
        </p:spPr>
      </p:pic>
      <p:sp>
        <p:nvSpPr>
          <p:cNvPr id="87" name="TextBox 8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Vehicle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Vehicle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Vehicle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89444" cy="186689"/>
          </a:xfrm>
          <a:prstGeom prst="rect">
            <a:avLst/>
          </a:prstGeom>
          <a:noFill/>
        </p:spPr>
        <p:txBody>
          <a:bodyPr wrap="none" lIns="0" rIns="0" tIns="0" bIns="0">
            <a:spAutoFit/>
          </a:bodyPr>
          <a:lstStyle/>
          <a:p>
            <a:r>
              <a:rPr sz="1100" b="0">
                <a:solidFill>
                  <a:srgbClr val="2E2E2E"/>
                </a:solidFill>
                <a:latin typeface="Calibri"/>
              </a:rPr>
              <a:t>Heavy duty trucks followed by busses and coaches are expected to be the two most attractive vehicle type segments in the global heavy commercial vehicle EPS market in terms of value over the forecast</a:t>
            </a:r>
          </a:p>
        </p:txBody>
      </p:sp>
      <p:sp>
        <p:nvSpPr>
          <p:cNvPr id="20" name="TextBox 19"/>
          <p:cNvSpPr txBox="1"/>
          <p:nvPr/>
        </p:nvSpPr>
        <p:spPr>
          <a:xfrm>
            <a:off x="257175" y="5945505"/>
            <a:ext cx="4279188" cy="186689"/>
          </a:xfrm>
          <a:prstGeom prst="rect">
            <a:avLst/>
          </a:prstGeom>
          <a:noFill/>
        </p:spPr>
        <p:txBody>
          <a:bodyPr wrap="none" lIns="0" rIns="0" tIns="0" bIns="0">
            <a:spAutoFit/>
          </a:bodyPr>
          <a:lstStyle/>
          <a:p>
            <a:r>
              <a:rPr sz="1100" b="0">
                <a:solidFill>
                  <a:srgbClr val="2E2E2E"/>
                </a:solidFill>
                <a:latin typeface="Calibri"/>
              </a:rPr>
              <a:t>period. Heavy duty trucks and busses and coaches exhibit a CAGR index of</a:t>
            </a:r>
          </a:p>
        </p:txBody>
      </p:sp>
      <p:pic>
        <p:nvPicPr>
          <p:cNvPr id="21" name="Picture 20" descr="lock.png"/>
          <p:cNvPicPr>
            <a:picLocks noChangeAspect="1"/>
          </p:cNvPicPr>
          <p:nvPr/>
        </p:nvPicPr>
        <p:blipFill>
          <a:blip r:embed="rId6"/>
          <a:stretch>
            <a:fillRect/>
          </a:stretch>
        </p:blipFill>
        <p:spPr>
          <a:xfrm>
            <a:off x="4484415" y="5935726"/>
            <a:ext cx="128699" cy="187198"/>
          </a:xfrm>
          <a:prstGeom prst="rect">
            <a:avLst/>
          </a:prstGeom>
        </p:spPr>
      </p:pic>
      <p:sp>
        <p:nvSpPr>
          <p:cNvPr id="22" name="TextBox 21"/>
          <p:cNvSpPr txBox="1"/>
          <p:nvPr/>
        </p:nvSpPr>
        <p:spPr>
          <a:xfrm>
            <a:off x="465191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889805" y="5935726"/>
            <a:ext cx="128699" cy="187198"/>
          </a:xfrm>
          <a:prstGeom prst="rect">
            <a:avLst/>
          </a:prstGeom>
        </p:spPr>
      </p:pic>
      <p:sp>
        <p:nvSpPr>
          <p:cNvPr id="24" name="TextBox 23"/>
          <p:cNvSpPr txBox="1"/>
          <p:nvPr/>
        </p:nvSpPr>
        <p:spPr>
          <a:xfrm>
            <a:off x="5057301"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666274" y="5935726"/>
            <a:ext cx="128699" cy="187198"/>
          </a:xfrm>
          <a:prstGeom prst="rect">
            <a:avLst/>
          </a:prstGeom>
        </p:spPr>
      </p:pic>
      <p:sp>
        <p:nvSpPr>
          <p:cNvPr id="26" name="TextBox 25"/>
          <p:cNvSpPr txBox="1"/>
          <p:nvPr/>
        </p:nvSpPr>
        <p:spPr>
          <a:xfrm>
            <a:off x="683377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071664" y="5935726"/>
            <a:ext cx="128699" cy="187198"/>
          </a:xfrm>
          <a:prstGeom prst="rect">
            <a:avLst/>
          </a:prstGeom>
        </p:spPr>
      </p:pic>
      <p:sp>
        <p:nvSpPr>
          <p:cNvPr id="28" name="TextBox 27"/>
          <p:cNvSpPr txBox="1"/>
          <p:nvPr/>
        </p:nvSpPr>
        <p:spPr>
          <a:xfrm>
            <a:off x="7239160"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793564" y="5935726"/>
            <a:ext cx="128699" cy="187198"/>
          </a:xfrm>
          <a:prstGeom prst="rect">
            <a:avLst/>
          </a:prstGeom>
        </p:spPr>
      </p:pic>
      <p:sp>
        <p:nvSpPr>
          <p:cNvPr id="30" name="TextBox 29"/>
          <p:cNvSpPr txBox="1"/>
          <p:nvPr/>
        </p:nvSpPr>
        <p:spPr>
          <a:xfrm>
            <a:off x="9961060" y="5945505"/>
            <a:ext cx="1263922" cy="186689"/>
          </a:xfrm>
          <a:prstGeom prst="rect">
            <a:avLst/>
          </a:prstGeom>
          <a:noFill/>
        </p:spPr>
        <p:txBody>
          <a:bodyPr wrap="none" lIns="0" rIns="0" tIns="0" bIns="0">
            <a:spAutoFit/>
          </a:bodyPr>
          <a:lstStyle/>
          <a:p>
            <a:r>
              <a:rPr sz="1100" b="0">
                <a:solidFill>
                  <a:srgbClr val="2E2E2E"/>
                </a:solidFill>
                <a:latin typeface="Calibri"/>
              </a:rPr>
              <a:t>. Bubbles right of the</a:t>
            </a:r>
          </a:p>
        </p:txBody>
      </p:sp>
      <p:sp>
        <p:nvSpPr>
          <p:cNvPr id="31" name="TextBox 30"/>
          <p:cNvSpPr txBox="1"/>
          <p:nvPr/>
        </p:nvSpPr>
        <p:spPr>
          <a:xfrm>
            <a:off x="257175" y="611314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Vehicle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Type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Heavy Duty Trucks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Busses and Coaches</a:t>
            </a:r>
          </a:p>
        </p:txBody>
      </p:sp>
      <p:graphicFrame>
        <p:nvGraphicFramePr>
          <p:cNvPr id="15" name="Chart 14"/>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3384" y="3583939"/>
            <a:ext cx="402511" cy="58547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Vehicle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Vehicle Type (US$ Mn)</a:t>
            </a:r>
          </a:p>
        </p:txBody>
      </p:sp>
      <p:graphicFrame>
        <p:nvGraphicFramePr>
          <p:cNvPr id="12" name="Table 11"/>
          <p:cNvGraphicFramePr>
            <a:graphicFrameLocks noGrp="1"/>
          </p:cNvGraphicFramePr>
          <p:nvPr/>
        </p:nvGraphicFramePr>
        <p:xfrm>
          <a:off x="152400" y="1238250"/>
          <a:ext cx="11887193" cy="990600"/>
        </p:xfrm>
        <a:graphic>
          <a:graphicData uri="http://schemas.openxmlformats.org/drawingml/2006/table">
            <a:tbl>
              <a:tblPr>
                <a:tableStyleId>{5C22544A-7EE6-4342-B048-85BDC9FD1C3A}</a:tableStyleId>
              </a:tblPr>
              <a:tblGrid>
                <a:gridCol w="1446813"/>
                <a:gridCol w="614140"/>
                <a:gridCol w="614140"/>
                <a:gridCol w="614140"/>
                <a:gridCol w="614140"/>
                <a:gridCol w="614140"/>
                <a:gridCol w="614140"/>
                <a:gridCol w="614140"/>
                <a:gridCol w="614140"/>
                <a:gridCol w="614140"/>
                <a:gridCol w="614140"/>
                <a:gridCol w="614140"/>
                <a:gridCol w="614140"/>
                <a:gridCol w="614140"/>
                <a:gridCol w="614140"/>
                <a:gridCol w="614140"/>
                <a:gridCol w="614140"/>
                <a:gridCol w="614140"/>
              </a:tblGrid>
              <a:tr h="246126">
                <a:tc>
                  <a:txBody>
                    <a:bodyPr wrap="none"/>
                    <a:lstStyle/>
                    <a:p>
                      <a:pPr algn="l"/>
                      <a:r>
                        <a:rPr sz="1100" b="1">
                          <a:solidFill>
                            <a:srgbClr val="0B2E4A"/>
                          </a:solidFill>
                          <a:latin typeface="Calibri"/>
                        </a:rPr>
                        <a:t>Vehicle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Heavy Duty Trucks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Busses and Coaches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Vehicle Type</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32713" y="1589913"/>
            <a:ext cx="366712" cy="533400"/>
          </a:xfrm>
          <a:prstGeom prst="rect">
            <a:avLst/>
          </a:prstGeom>
        </p:spPr>
      </p:pic>
      <p:sp>
        <p:nvSpPr>
          <p:cNvPr id="20" name="TextBox 19"/>
          <p:cNvSpPr txBox="1"/>
          <p:nvPr/>
        </p:nvSpPr>
        <p:spPr>
          <a:xfrm>
            <a:off x="276225" y="2990850"/>
            <a:ext cx="3064234" cy="194310"/>
          </a:xfrm>
          <a:prstGeom prst="rect">
            <a:avLst/>
          </a:prstGeom>
          <a:noFill/>
        </p:spPr>
        <p:txBody>
          <a:bodyPr wrap="none" lIns="0" rIns="0" tIns="0" bIns="0">
            <a:spAutoFit/>
          </a:bodyPr>
          <a:lstStyle/>
          <a:p>
            <a:r>
              <a:rPr sz="1150" b="0">
                <a:solidFill>
                  <a:srgbClr val="2E2E2E"/>
                </a:solidFill>
                <a:latin typeface="Calibri"/>
              </a:rPr>
              <a:t>Heavy duty trucks segment is projected to register</a:t>
            </a:r>
          </a:p>
        </p:txBody>
      </p:sp>
      <p:pic>
        <p:nvPicPr>
          <p:cNvPr id="21" name="Picture 20" descr="lock.png"/>
          <p:cNvPicPr>
            <a:picLocks noChangeAspect="1"/>
          </p:cNvPicPr>
          <p:nvPr/>
        </p:nvPicPr>
        <p:blipFill>
          <a:blip r:embed="rId4"/>
          <a:stretch>
            <a:fillRect/>
          </a:stretch>
        </p:blipFill>
        <p:spPr>
          <a:xfrm>
            <a:off x="3289613" y="2980626"/>
            <a:ext cx="134549" cy="195707"/>
          </a:xfrm>
          <a:prstGeom prst="rect">
            <a:avLst/>
          </a:prstGeom>
        </p:spPr>
      </p:pic>
      <p:sp>
        <p:nvSpPr>
          <p:cNvPr id="22" name="TextBox 21"/>
          <p:cNvSpPr txBox="1"/>
          <p:nvPr/>
        </p:nvSpPr>
        <p:spPr>
          <a:xfrm>
            <a:off x="3464722" y="2990850"/>
            <a:ext cx="7901285" cy="194310"/>
          </a:xfrm>
          <a:prstGeom prst="rect">
            <a:avLst/>
          </a:prstGeom>
          <a:noFill/>
        </p:spPr>
        <p:txBody>
          <a:bodyPr wrap="none" lIns="0" rIns="0" tIns="0" bIns="0">
            <a:spAutoFit/>
          </a:bodyPr>
          <a:lstStyle/>
          <a:p>
            <a:r>
              <a:rPr sz="1150" b="0">
                <a:solidFill>
                  <a:srgbClr val="2E2E2E"/>
                </a:solidFill>
                <a:latin typeface="Calibri"/>
              </a:rPr>
              <a:t>X higher value than busses and coaches segment in 2036. Among heavy commercial vehicle EPS by vehicle type, busses and coaches</a:t>
            </a:r>
          </a:p>
        </p:txBody>
      </p:sp>
      <p:sp>
        <p:nvSpPr>
          <p:cNvPr id="23" name="TextBox 22"/>
          <p:cNvSpPr txBox="1"/>
          <p:nvPr/>
        </p:nvSpPr>
        <p:spPr>
          <a:xfrm>
            <a:off x="276225" y="31661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155886"/>
            <a:ext cx="134549" cy="195707"/>
          </a:xfrm>
          <a:prstGeom prst="rect">
            <a:avLst/>
          </a:prstGeom>
        </p:spPr>
      </p:pic>
      <p:sp>
        <p:nvSpPr>
          <p:cNvPr id="25" name="TextBox 24"/>
          <p:cNvSpPr txBox="1"/>
          <p:nvPr/>
        </p:nvSpPr>
        <p:spPr>
          <a:xfrm>
            <a:off x="3557127"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6832153" cy="194310"/>
          </a:xfrm>
          <a:prstGeom prst="rect">
            <a:avLst/>
          </a:prstGeom>
          <a:noFill/>
        </p:spPr>
        <p:txBody>
          <a:bodyPr wrap="none" lIns="0" rIns="0" tIns="0" bIns="0">
            <a:spAutoFit/>
          </a:bodyPr>
          <a:lstStyle/>
          <a:p>
            <a:r>
              <a:rPr sz="1150" b="0">
                <a:solidFill>
                  <a:srgbClr val="2E2E2E"/>
                </a:solidFill>
                <a:latin typeface="Calibri"/>
              </a:rPr>
              <a:t>In terms of value share by vehicle type, the heavy duty trucks segment is expected to dominate the market, losing</a:t>
            </a:r>
          </a:p>
        </p:txBody>
      </p:sp>
      <p:pic>
        <p:nvPicPr>
          <p:cNvPr id="27" name="Picture 26" descr="lock.png"/>
          <p:cNvPicPr>
            <a:picLocks noChangeAspect="1"/>
          </p:cNvPicPr>
          <p:nvPr/>
        </p:nvPicPr>
        <p:blipFill>
          <a:blip r:embed="rId4"/>
          <a:stretch>
            <a:fillRect/>
          </a:stretch>
        </p:blipFill>
        <p:spPr>
          <a:xfrm>
            <a:off x="7057532" y="3383724"/>
            <a:ext cx="134549" cy="195707"/>
          </a:xfrm>
          <a:prstGeom prst="rect">
            <a:avLst/>
          </a:prstGeom>
        </p:spPr>
      </p:pic>
      <p:sp>
        <p:nvSpPr>
          <p:cNvPr id="28" name="TextBox 27"/>
          <p:cNvSpPr txBox="1"/>
          <p:nvPr/>
        </p:nvSpPr>
        <p:spPr>
          <a:xfrm>
            <a:off x="7232641"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627784" y="3383724"/>
            <a:ext cx="134549" cy="195707"/>
          </a:xfrm>
          <a:prstGeom prst="rect">
            <a:avLst/>
          </a:prstGeom>
        </p:spPr>
      </p:pic>
      <p:sp>
        <p:nvSpPr>
          <p:cNvPr id="30" name="TextBox 29"/>
          <p:cNvSpPr txBox="1"/>
          <p:nvPr/>
        </p:nvSpPr>
        <p:spPr>
          <a:xfrm>
            <a:off x="8802894"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Vehicle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Vehicle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Vehicle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71192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70715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6309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Busses and Coaches</a:t>
            </a:r>
          </a:p>
        </p:txBody>
      </p:sp>
      <p:sp>
        <p:nvSpPr>
          <p:cNvPr id="18" name="BPS Value 1"/>
          <p:cNvSpPr txBox="1"/>
          <p:nvPr/>
        </p:nvSpPr>
        <p:spPr>
          <a:xfrm>
            <a:off x="6896100" y="26928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99811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99334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9171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Heavy Duty Trucks</a:t>
            </a:r>
          </a:p>
        </p:txBody>
      </p:sp>
      <p:sp>
        <p:nvSpPr>
          <p:cNvPr id="22" name="BPS Value 2"/>
          <p:cNvSpPr txBox="1"/>
          <p:nvPr/>
        </p:nvSpPr>
        <p:spPr>
          <a:xfrm>
            <a:off x="6896100" y="497906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Vehicle Type</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957649" cy="194310"/>
          </a:xfrm>
          <a:prstGeom prst="rect">
            <a:avLst/>
          </a:prstGeom>
          <a:noFill/>
        </p:spPr>
        <p:txBody>
          <a:bodyPr wrap="none" lIns="0" rIns="0" tIns="0" bIns="0">
            <a:spAutoFit/>
          </a:bodyPr>
          <a:lstStyle/>
          <a:p>
            <a:r>
              <a:rPr sz="1150" b="0">
                <a:solidFill>
                  <a:srgbClr val="2E2E2E"/>
                </a:solidFill>
                <a:latin typeface="Calibri"/>
              </a:rPr>
              <a:t>Among heavy commercial vehicle EPS by vehicle type, busses and</a:t>
            </a:r>
          </a:p>
        </p:txBody>
      </p:sp>
      <p:sp>
        <p:nvSpPr>
          <p:cNvPr id="30" name="TextBox 29"/>
          <p:cNvSpPr txBox="1"/>
          <p:nvPr/>
        </p:nvSpPr>
        <p:spPr>
          <a:xfrm>
            <a:off x="7829550" y="1575435"/>
            <a:ext cx="3666958" cy="194310"/>
          </a:xfrm>
          <a:prstGeom prst="rect">
            <a:avLst/>
          </a:prstGeom>
          <a:noFill/>
        </p:spPr>
        <p:txBody>
          <a:bodyPr wrap="none" lIns="0" rIns="0" tIns="0" bIns="0">
            <a:spAutoFit/>
          </a:bodyPr>
          <a:lstStyle/>
          <a:p>
            <a:r>
              <a:rPr sz="1150" b="0">
                <a:solidFill>
                  <a:srgbClr val="2E2E2E"/>
                </a:solidFill>
                <a:latin typeface="Calibri"/>
              </a:rPr>
              <a:t>coaches segment is expected to witness the highest CAGR of</a:t>
            </a:r>
          </a:p>
        </p:txBody>
      </p:sp>
      <p:pic>
        <p:nvPicPr>
          <p:cNvPr id="31" name="Picture 30" descr="lock.png"/>
          <p:cNvPicPr>
            <a:picLocks noChangeAspect="1"/>
          </p:cNvPicPr>
          <p:nvPr/>
        </p:nvPicPr>
        <p:blipFill>
          <a:blip r:embed="rId5"/>
          <a:stretch>
            <a:fillRect/>
          </a:stretch>
        </p:blipFill>
        <p:spPr>
          <a:xfrm>
            <a:off x="11445662" y="1565211"/>
            <a:ext cx="134549" cy="195707"/>
          </a:xfrm>
          <a:prstGeom prst="rect">
            <a:avLst/>
          </a:prstGeom>
        </p:spPr>
      </p:pic>
      <p:sp>
        <p:nvSpPr>
          <p:cNvPr id="32" name="TextBox 31"/>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3" name="TextBox 32"/>
          <p:cNvSpPr txBox="1"/>
          <p:nvPr/>
        </p:nvSpPr>
        <p:spPr>
          <a:xfrm>
            <a:off x="7829550" y="1978533"/>
            <a:ext cx="3710620" cy="194310"/>
          </a:xfrm>
          <a:prstGeom prst="rect">
            <a:avLst/>
          </a:prstGeom>
          <a:noFill/>
        </p:spPr>
        <p:txBody>
          <a:bodyPr wrap="none" lIns="0" rIns="0" tIns="0" bIns="0">
            <a:spAutoFit/>
          </a:bodyPr>
          <a:lstStyle/>
          <a:p>
            <a:r>
              <a:rPr sz="1150" b="0">
                <a:solidFill>
                  <a:srgbClr val="2E2E2E"/>
                </a:solidFill>
                <a:latin typeface="Calibri"/>
              </a:rPr>
              <a:t>In terms of value share by vehicle type, the heavy duty trucks</a:t>
            </a:r>
          </a:p>
        </p:txBody>
      </p:sp>
      <p:sp>
        <p:nvSpPr>
          <p:cNvPr id="34" name="TextBox 33"/>
          <p:cNvSpPr txBox="1"/>
          <p:nvPr/>
        </p:nvSpPr>
        <p:spPr>
          <a:xfrm>
            <a:off x="7829550" y="2153793"/>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35" name="Picture 34" descr="lock.png"/>
          <p:cNvPicPr>
            <a:picLocks noChangeAspect="1"/>
          </p:cNvPicPr>
          <p:nvPr/>
        </p:nvPicPr>
        <p:blipFill>
          <a:blip r:embed="rId5"/>
          <a:stretch>
            <a:fillRect/>
          </a:stretch>
        </p:blipFill>
        <p:spPr>
          <a:xfrm>
            <a:off x="10943347" y="2143569"/>
            <a:ext cx="134549" cy="195707"/>
          </a:xfrm>
          <a:prstGeom prst="rect">
            <a:avLst/>
          </a:prstGeom>
        </p:spPr>
      </p:pic>
      <p:sp>
        <p:nvSpPr>
          <p:cNvPr id="36" name="TextBox 35"/>
          <p:cNvSpPr txBox="1"/>
          <p:nvPr/>
        </p:nvSpPr>
        <p:spPr>
          <a:xfrm>
            <a:off x="11118457" y="2153793"/>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7" name="TextBox 36"/>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8" name="Picture 37" descr="lock.png"/>
          <p:cNvPicPr>
            <a:picLocks noChangeAspect="1"/>
          </p:cNvPicPr>
          <p:nvPr/>
        </p:nvPicPr>
        <p:blipFill>
          <a:blip r:embed="rId5"/>
          <a:stretch>
            <a:fillRect/>
          </a:stretch>
        </p:blipFill>
        <p:spPr>
          <a:xfrm>
            <a:off x="8712947" y="2318829"/>
            <a:ext cx="134549" cy="195707"/>
          </a:xfrm>
          <a:prstGeom prst="rect">
            <a:avLst/>
          </a:prstGeom>
        </p:spPr>
      </p:pic>
      <p:sp>
        <p:nvSpPr>
          <p:cNvPr id="39" name="TextBox 38"/>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Gross Vehicle Weight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Gross Vehicle Weight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Gross Vehicle Weight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Gross Vehicle Weight,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Gross Vehicle Weight segment categorizes the market by gross vehicle weight.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26 to 40 Tons</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16 to 26 Tons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Above 40 Tons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Gross Vehicle Weight split shows how demand is distributed across gross vehicle weight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1_916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3_540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6_3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254_2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484_4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6_7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229_4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355_7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4_5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710308" cy="186689"/>
          </a:xfrm>
          <a:prstGeom prst="rect">
            <a:avLst/>
          </a:prstGeom>
          <a:noFill/>
        </p:spPr>
        <p:txBody>
          <a:bodyPr wrap="none" lIns="0" rIns="0" tIns="0" bIns="0">
            <a:spAutoFit/>
          </a:bodyPr>
          <a:lstStyle/>
          <a:p>
            <a:r>
              <a:rPr sz="1100" b="0">
                <a:solidFill>
                  <a:srgbClr val="2E2E2E"/>
                </a:solidFill>
                <a:latin typeface="Calibri"/>
              </a:rPr>
              <a:t>Among heavy commercial vehicle EPS by gross</a:t>
            </a:r>
          </a:p>
        </p:txBody>
      </p:sp>
      <p:sp>
        <p:nvSpPr>
          <p:cNvPr id="69" name="TextBox 68"/>
          <p:cNvSpPr txBox="1"/>
          <p:nvPr/>
        </p:nvSpPr>
        <p:spPr>
          <a:xfrm>
            <a:off x="485775" y="4397077"/>
            <a:ext cx="2904579" cy="186689"/>
          </a:xfrm>
          <a:prstGeom prst="rect">
            <a:avLst/>
          </a:prstGeom>
          <a:noFill/>
        </p:spPr>
        <p:txBody>
          <a:bodyPr wrap="none" lIns="0" rIns="0" tIns="0" bIns="0">
            <a:spAutoFit/>
          </a:bodyPr>
          <a:lstStyle/>
          <a:p>
            <a:r>
              <a:rPr sz="1100" b="0">
                <a:solidFill>
                  <a:srgbClr val="2E2E2E"/>
                </a:solidFill>
                <a:latin typeface="Calibri"/>
              </a:rPr>
              <a:t>vehicle weight, 16 to 26 tons segment is expected</a:t>
            </a:r>
          </a:p>
        </p:txBody>
      </p:sp>
      <p:sp>
        <p:nvSpPr>
          <p:cNvPr id="70" name="TextBox 69"/>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71" name="Picture 70" descr="lock.png"/>
          <p:cNvPicPr>
            <a:picLocks noChangeAspect="1"/>
          </p:cNvPicPr>
          <p:nvPr/>
        </p:nvPicPr>
        <p:blipFill>
          <a:blip r:embed="rId13"/>
          <a:stretch>
            <a:fillRect/>
          </a:stretch>
        </p:blipFill>
        <p:spPr>
          <a:xfrm>
            <a:off x="2261170" y="4554938"/>
            <a:ext cx="128699" cy="187198"/>
          </a:xfrm>
          <a:prstGeom prst="rect">
            <a:avLst/>
          </a:prstGeom>
        </p:spPr>
      </p:pic>
      <p:sp>
        <p:nvSpPr>
          <p:cNvPr id="72" name="TextBox 71"/>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73" name="TextBox 72"/>
          <p:cNvSpPr txBox="1"/>
          <p:nvPr/>
        </p:nvSpPr>
        <p:spPr>
          <a:xfrm>
            <a:off x="485775" y="4732357"/>
            <a:ext cx="2806625" cy="186689"/>
          </a:xfrm>
          <a:prstGeom prst="rect">
            <a:avLst/>
          </a:prstGeom>
          <a:noFill/>
        </p:spPr>
        <p:txBody>
          <a:bodyPr wrap="none" lIns="0" rIns="0" tIns="0" bIns="0">
            <a:spAutoFit/>
          </a:bodyPr>
          <a:lstStyle/>
          <a:p>
            <a:r>
              <a:rPr sz="1100" b="0">
                <a:solidFill>
                  <a:srgbClr val="2E2E2E"/>
                </a:solidFill>
                <a:latin typeface="Calibri"/>
              </a:rPr>
              <a:t>forecast period. In terms of value share by gross</a:t>
            </a:r>
          </a:p>
        </p:txBody>
      </p:sp>
      <p:sp>
        <p:nvSpPr>
          <p:cNvPr id="74" name="TextBox 73"/>
          <p:cNvSpPr txBox="1"/>
          <p:nvPr/>
        </p:nvSpPr>
        <p:spPr>
          <a:xfrm>
            <a:off x="485775" y="4899997"/>
            <a:ext cx="2572246" cy="186689"/>
          </a:xfrm>
          <a:prstGeom prst="rect">
            <a:avLst/>
          </a:prstGeom>
          <a:noFill/>
        </p:spPr>
        <p:txBody>
          <a:bodyPr wrap="none" lIns="0" rIns="0" tIns="0" bIns="0">
            <a:spAutoFit/>
          </a:bodyPr>
          <a:lstStyle/>
          <a:p>
            <a:r>
              <a:rPr sz="1100" b="0">
                <a:solidFill>
                  <a:srgbClr val="2E2E2E"/>
                </a:solidFill>
                <a:latin typeface="Calibri"/>
              </a:rPr>
              <a:t>vehicle weight, the 26 to 40 tons segment is</a:t>
            </a:r>
          </a:p>
        </p:txBody>
      </p:sp>
      <p:sp>
        <p:nvSpPr>
          <p:cNvPr id="75" name="TextBox 74"/>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76" name="Picture 75" descr="lock.png"/>
          <p:cNvPicPr>
            <a:picLocks noChangeAspect="1"/>
          </p:cNvPicPr>
          <p:nvPr/>
        </p:nvPicPr>
        <p:blipFill>
          <a:blip r:embed="rId13"/>
          <a:stretch>
            <a:fillRect/>
          </a:stretch>
        </p:blipFill>
        <p:spPr>
          <a:xfrm>
            <a:off x="2900479" y="5057858"/>
            <a:ext cx="128699" cy="187198"/>
          </a:xfrm>
          <a:prstGeom prst="rect">
            <a:avLst/>
          </a:prstGeom>
        </p:spPr>
      </p:pic>
      <p:sp>
        <p:nvSpPr>
          <p:cNvPr id="77" name="TextBox 76"/>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665561" cy="186689"/>
          </a:xfrm>
          <a:prstGeom prst="rect">
            <a:avLst/>
          </a:prstGeom>
          <a:noFill/>
        </p:spPr>
        <p:txBody>
          <a:bodyPr wrap="none" lIns="0" rIns="0" tIns="0" bIns="0">
            <a:spAutoFit/>
          </a:bodyPr>
          <a:lstStyle/>
          <a:p>
            <a:r>
              <a:rPr sz="1100" b="0">
                <a:solidFill>
                  <a:srgbClr val="2E2E2E"/>
                </a:solidFill>
                <a:latin typeface="Calibri"/>
              </a:rPr>
              <a:t>26 to 40 tons segment is projected to register</a:t>
            </a:r>
          </a:p>
        </p:txBody>
      </p:sp>
      <p:pic>
        <p:nvPicPr>
          <p:cNvPr id="82" name="Picture 81" descr="lock.png"/>
          <p:cNvPicPr>
            <a:picLocks noChangeAspect="1"/>
          </p:cNvPicPr>
          <p:nvPr/>
        </p:nvPicPr>
        <p:blipFill>
          <a:blip r:embed="rId13"/>
          <a:stretch>
            <a:fillRect/>
          </a:stretch>
        </p:blipFill>
        <p:spPr>
          <a:xfrm>
            <a:off x="472307" y="5611070"/>
            <a:ext cx="128699" cy="187198"/>
          </a:xfrm>
          <a:prstGeom prst="rect">
            <a:avLst/>
          </a:prstGeom>
        </p:spPr>
      </p:pic>
      <p:sp>
        <p:nvSpPr>
          <p:cNvPr id="83" name="TextBox 82"/>
          <p:cNvSpPr txBox="1"/>
          <p:nvPr/>
        </p:nvSpPr>
        <p:spPr>
          <a:xfrm>
            <a:off x="639803" y="5620849"/>
            <a:ext cx="2612355" cy="186689"/>
          </a:xfrm>
          <a:prstGeom prst="rect">
            <a:avLst/>
          </a:prstGeom>
          <a:noFill/>
        </p:spPr>
        <p:txBody>
          <a:bodyPr wrap="none" lIns="0" rIns="0" tIns="0" bIns="0">
            <a:spAutoFit/>
          </a:bodyPr>
          <a:lstStyle/>
          <a:p>
            <a:r>
              <a:rPr sz="1100" b="0">
                <a:solidFill>
                  <a:srgbClr val="2E2E2E"/>
                </a:solidFill>
                <a:latin typeface="Calibri"/>
              </a:rPr>
              <a:t>X higher value than 16 to 26 tons segment in</a:t>
            </a:r>
          </a:p>
        </p:txBody>
      </p:sp>
      <p:sp>
        <p:nvSpPr>
          <p:cNvPr id="84" name="TextBox 83"/>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5" name="TextBox 84"/>
          <p:cNvSpPr txBox="1"/>
          <p:nvPr/>
        </p:nvSpPr>
        <p:spPr>
          <a:xfrm>
            <a:off x="3838575" y="4229437"/>
            <a:ext cx="998711" cy="186689"/>
          </a:xfrm>
          <a:prstGeom prst="rect">
            <a:avLst/>
          </a:prstGeom>
          <a:noFill/>
        </p:spPr>
        <p:txBody>
          <a:bodyPr wrap="none" lIns="0" rIns="0" tIns="0" bIns="0">
            <a:spAutoFit/>
          </a:bodyPr>
          <a:lstStyle/>
          <a:p>
            <a:r>
              <a:rPr sz="1100" b="0">
                <a:solidFill>
                  <a:srgbClr val="2E2E2E"/>
                </a:solidFill>
                <a:latin typeface="Calibri"/>
              </a:rPr>
              <a:t>● 26 to 40 Tons:</a:t>
            </a:r>
          </a:p>
        </p:txBody>
      </p:sp>
      <p:pic>
        <p:nvPicPr>
          <p:cNvPr id="86" name="Picture 85" descr="lock.png"/>
          <p:cNvPicPr>
            <a:picLocks noChangeAspect="1"/>
          </p:cNvPicPr>
          <p:nvPr/>
        </p:nvPicPr>
        <p:blipFill>
          <a:blip r:embed="rId13"/>
          <a:stretch>
            <a:fillRect/>
          </a:stretch>
        </p:blipFill>
        <p:spPr>
          <a:xfrm>
            <a:off x="4785337" y="4219658"/>
            <a:ext cx="128699" cy="187198"/>
          </a:xfrm>
          <a:prstGeom prst="rect">
            <a:avLst/>
          </a:prstGeom>
        </p:spPr>
      </p:pic>
      <p:sp>
        <p:nvSpPr>
          <p:cNvPr id="87" name="TextBox 86"/>
          <p:cNvSpPr txBox="1"/>
          <p:nvPr/>
        </p:nvSpPr>
        <p:spPr>
          <a:xfrm>
            <a:off x="495283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8" name="Picture 87" descr="lock.png"/>
          <p:cNvPicPr>
            <a:picLocks noChangeAspect="1"/>
          </p:cNvPicPr>
          <p:nvPr/>
        </p:nvPicPr>
        <p:blipFill>
          <a:blip r:embed="rId13"/>
          <a:stretch>
            <a:fillRect/>
          </a:stretch>
        </p:blipFill>
        <p:spPr>
          <a:xfrm>
            <a:off x="5812283" y="4219658"/>
            <a:ext cx="128699" cy="187198"/>
          </a:xfrm>
          <a:prstGeom prst="rect">
            <a:avLst/>
          </a:prstGeom>
        </p:spPr>
      </p:pic>
      <p:sp>
        <p:nvSpPr>
          <p:cNvPr id="89" name="TextBox 88"/>
          <p:cNvSpPr txBox="1"/>
          <p:nvPr/>
        </p:nvSpPr>
        <p:spPr>
          <a:xfrm>
            <a:off x="597977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0" name="TextBox 89"/>
          <p:cNvSpPr txBox="1"/>
          <p:nvPr/>
        </p:nvSpPr>
        <p:spPr>
          <a:xfrm>
            <a:off x="3838575" y="4447369"/>
            <a:ext cx="998711" cy="186689"/>
          </a:xfrm>
          <a:prstGeom prst="rect">
            <a:avLst/>
          </a:prstGeom>
          <a:noFill/>
        </p:spPr>
        <p:txBody>
          <a:bodyPr wrap="none" lIns="0" rIns="0" tIns="0" bIns="0">
            <a:spAutoFit/>
          </a:bodyPr>
          <a:lstStyle/>
          <a:p>
            <a:r>
              <a:rPr sz="1100" b="0">
                <a:solidFill>
                  <a:srgbClr val="2E2E2E"/>
                </a:solidFill>
                <a:latin typeface="Calibri"/>
              </a:rPr>
              <a:t>● 16 to 26 Tons:</a:t>
            </a:r>
          </a:p>
        </p:txBody>
      </p:sp>
      <p:pic>
        <p:nvPicPr>
          <p:cNvPr id="91" name="Picture 90" descr="lock.png"/>
          <p:cNvPicPr>
            <a:picLocks noChangeAspect="1"/>
          </p:cNvPicPr>
          <p:nvPr/>
        </p:nvPicPr>
        <p:blipFill>
          <a:blip r:embed="rId13"/>
          <a:stretch>
            <a:fillRect/>
          </a:stretch>
        </p:blipFill>
        <p:spPr>
          <a:xfrm>
            <a:off x="4785337" y="4437590"/>
            <a:ext cx="128699" cy="187198"/>
          </a:xfrm>
          <a:prstGeom prst="rect">
            <a:avLst/>
          </a:prstGeom>
        </p:spPr>
      </p:pic>
      <p:sp>
        <p:nvSpPr>
          <p:cNvPr id="92" name="TextBox 91"/>
          <p:cNvSpPr txBox="1"/>
          <p:nvPr/>
        </p:nvSpPr>
        <p:spPr>
          <a:xfrm>
            <a:off x="495283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3" name="Picture 92" descr="lock.png"/>
          <p:cNvPicPr>
            <a:picLocks noChangeAspect="1"/>
          </p:cNvPicPr>
          <p:nvPr/>
        </p:nvPicPr>
        <p:blipFill>
          <a:blip r:embed="rId13"/>
          <a:stretch>
            <a:fillRect/>
          </a:stretch>
        </p:blipFill>
        <p:spPr>
          <a:xfrm>
            <a:off x="5812283" y="4437590"/>
            <a:ext cx="128699" cy="187198"/>
          </a:xfrm>
          <a:prstGeom prst="rect">
            <a:avLst/>
          </a:prstGeom>
        </p:spPr>
      </p:pic>
      <p:sp>
        <p:nvSpPr>
          <p:cNvPr id="94" name="TextBox 93"/>
          <p:cNvSpPr txBox="1"/>
          <p:nvPr/>
        </p:nvSpPr>
        <p:spPr>
          <a:xfrm>
            <a:off x="597977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5" name="TextBox 94"/>
          <p:cNvSpPr txBox="1"/>
          <p:nvPr/>
        </p:nvSpPr>
        <p:spPr>
          <a:xfrm>
            <a:off x="3838575" y="4665301"/>
            <a:ext cx="1065014" cy="186689"/>
          </a:xfrm>
          <a:prstGeom prst="rect">
            <a:avLst/>
          </a:prstGeom>
          <a:noFill/>
        </p:spPr>
        <p:txBody>
          <a:bodyPr wrap="none" lIns="0" rIns="0" tIns="0" bIns="0">
            <a:spAutoFit/>
          </a:bodyPr>
          <a:lstStyle/>
          <a:p>
            <a:r>
              <a:rPr sz="1100" b="0">
                <a:solidFill>
                  <a:srgbClr val="2E2E2E"/>
                </a:solidFill>
                <a:latin typeface="Calibri"/>
              </a:rPr>
              <a:t>● Above 40 Tons:</a:t>
            </a:r>
          </a:p>
        </p:txBody>
      </p:sp>
      <p:pic>
        <p:nvPicPr>
          <p:cNvPr id="96" name="Picture 95" descr="lock.png"/>
          <p:cNvPicPr>
            <a:picLocks noChangeAspect="1"/>
          </p:cNvPicPr>
          <p:nvPr/>
        </p:nvPicPr>
        <p:blipFill>
          <a:blip r:embed="rId13"/>
          <a:stretch>
            <a:fillRect/>
          </a:stretch>
        </p:blipFill>
        <p:spPr>
          <a:xfrm>
            <a:off x="4851640" y="4655522"/>
            <a:ext cx="128699" cy="187198"/>
          </a:xfrm>
          <a:prstGeom prst="rect">
            <a:avLst/>
          </a:prstGeom>
        </p:spPr>
      </p:pic>
      <p:sp>
        <p:nvSpPr>
          <p:cNvPr id="97" name="TextBox 96"/>
          <p:cNvSpPr txBox="1"/>
          <p:nvPr/>
        </p:nvSpPr>
        <p:spPr>
          <a:xfrm>
            <a:off x="501913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3"/>
          <a:stretch>
            <a:fillRect/>
          </a:stretch>
        </p:blipFill>
        <p:spPr>
          <a:xfrm>
            <a:off x="5878586" y="4655522"/>
            <a:ext cx="128699" cy="187198"/>
          </a:xfrm>
          <a:prstGeom prst="rect">
            <a:avLst/>
          </a:prstGeom>
        </p:spPr>
      </p:pic>
      <p:sp>
        <p:nvSpPr>
          <p:cNvPr id="99" name="TextBox 98"/>
          <p:cNvSpPr txBox="1"/>
          <p:nvPr/>
        </p:nvSpPr>
        <p:spPr>
          <a:xfrm>
            <a:off x="6046082"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0" name="TextBox 99"/>
          <p:cNvSpPr txBox="1"/>
          <p:nvPr/>
        </p:nvSpPr>
        <p:spPr>
          <a:xfrm>
            <a:off x="8524875" y="5842641"/>
            <a:ext cx="3087340" cy="194310"/>
          </a:xfrm>
          <a:prstGeom prst="rect">
            <a:avLst/>
          </a:prstGeom>
          <a:noFill/>
        </p:spPr>
        <p:txBody>
          <a:bodyPr wrap="none" lIns="0" rIns="0" tIns="0" bIns="0">
            <a:spAutoFit/>
          </a:bodyPr>
          <a:lstStyle/>
          <a:p>
            <a:r>
              <a:rPr sz="1150" b="1">
                <a:solidFill>
                  <a:srgbClr val="0B2E4A"/>
                </a:solidFill>
                <a:latin typeface="Calibri"/>
              </a:rPr>
              <a:t>The Gross Vehicle Weight segment is projected to</a:t>
            </a:r>
          </a:p>
        </p:txBody>
      </p:sp>
      <p:sp>
        <p:nvSpPr>
          <p:cNvPr id="101" name="TextBox 100"/>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02" name="Picture 101" descr="lock.png"/>
          <p:cNvPicPr>
            <a:picLocks noChangeAspect="1"/>
          </p:cNvPicPr>
          <p:nvPr/>
        </p:nvPicPr>
        <p:blipFill>
          <a:blip r:embed="rId13"/>
          <a:stretch>
            <a:fillRect/>
          </a:stretch>
        </p:blipFill>
        <p:spPr>
          <a:xfrm>
            <a:off x="9651852" y="6007677"/>
            <a:ext cx="134549" cy="195707"/>
          </a:xfrm>
          <a:prstGeom prst="rect">
            <a:avLst/>
          </a:prstGeom>
        </p:spPr>
      </p:pic>
      <p:sp>
        <p:nvSpPr>
          <p:cNvPr id="103" name="TextBox 102"/>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Gross Vehicle Weight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Gross Vehicle Weight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Gross Vehicle Weight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Gross Vehicle Weight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18639" cy="186689"/>
          </a:xfrm>
          <a:prstGeom prst="rect">
            <a:avLst/>
          </a:prstGeom>
          <a:noFill/>
        </p:spPr>
        <p:txBody>
          <a:bodyPr wrap="none" lIns="0" rIns="0" tIns="0" bIns="0">
            <a:spAutoFit/>
          </a:bodyPr>
          <a:lstStyle/>
          <a:p>
            <a:r>
              <a:rPr sz="1100" b="0">
                <a:solidFill>
                  <a:srgbClr val="2E2E2E"/>
                </a:solidFill>
                <a:latin typeface="Calibri"/>
              </a:rPr>
              <a:t>26 to 40 tons followed by 16 to 26 tons are expected to be the two most attractive gross vehicle weight segments in the global heavy commercial vehicle EPS market in terms of value over the forecast</a:t>
            </a:r>
          </a:p>
        </p:txBody>
      </p:sp>
      <p:sp>
        <p:nvSpPr>
          <p:cNvPr id="20" name="TextBox 19"/>
          <p:cNvSpPr txBox="1"/>
          <p:nvPr/>
        </p:nvSpPr>
        <p:spPr>
          <a:xfrm>
            <a:off x="257175" y="5861685"/>
            <a:ext cx="3644808" cy="186689"/>
          </a:xfrm>
          <a:prstGeom prst="rect">
            <a:avLst/>
          </a:prstGeom>
          <a:noFill/>
        </p:spPr>
        <p:txBody>
          <a:bodyPr wrap="none" lIns="0" rIns="0" tIns="0" bIns="0">
            <a:spAutoFit/>
          </a:bodyPr>
          <a:lstStyle/>
          <a:p>
            <a:r>
              <a:rPr sz="1100" b="0">
                <a:solidFill>
                  <a:srgbClr val="2E2E2E"/>
                </a:solidFill>
                <a:latin typeface="Calibri"/>
              </a:rPr>
              <a:t>period. 26 to 40 tons and 16 to 26 tons exhibit a CAGR index of</a:t>
            </a:r>
          </a:p>
        </p:txBody>
      </p:sp>
      <p:pic>
        <p:nvPicPr>
          <p:cNvPr id="21" name="Picture 20" descr="lock.png"/>
          <p:cNvPicPr>
            <a:picLocks noChangeAspect="1"/>
          </p:cNvPicPr>
          <p:nvPr/>
        </p:nvPicPr>
        <p:blipFill>
          <a:blip r:embed="rId6"/>
          <a:stretch>
            <a:fillRect/>
          </a:stretch>
        </p:blipFill>
        <p:spPr>
          <a:xfrm>
            <a:off x="3850035" y="5851905"/>
            <a:ext cx="128699" cy="187198"/>
          </a:xfrm>
          <a:prstGeom prst="rect">
            <a:avLst/>
          </a:prstGeom>
        </p:spPr>
      </p:pic>
      <p:sp>
        <p:nvSpPr>
          <p:cNvPr id="22" name="TextBox 21"/>
          <p:cNvSpPr txBox="1"/>
          <p:nvPr/>
        </p:nvSpPr>
        <p:spPr>
          <a:xfrm>
            <a:off x="401753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255425" y="5851905"/>
            <a:ext cx="128699" cy="187198"/>
          </a:xfrm>
          <a:prstGeom prst="rect">
            <a:avLst/>
          </a:prstGeom>
        </p:spPr>
      </p:pic>
      <p:sp>
        <p:nvSpPr>
          <p:cNvPr id="24" name="TextBox 23"/>
          <p:cNvSpPr txBox="1"/>
          <p:nvPr/>
        </p:nvSpPr>
        <p:spPr>
          <a:xfrm>
            <a:off x="4422921"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031894" y="5851905"/>
            <a:ext cx="128699" cy="187198"/>
          </a:xfrm>
          <a:prstGeom prst="rect">
            <a:avLst/>
          </a:prstGeom>
        </p:spPr>
      </p:pic>
      <p:sp>
        <p:nvSpPr>
          <p:cNvPr id="26" name="TextBox 25"/>
          <p:cNvSpPr txBox="1"/>
          <p:nvPr/>
        </p:nvSpPr>
        <p:spPr>
          <a:xfrm>
            <a:off x="619939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437284" y="5851905"/>
            <a:ext cx="128699" cy="187198"/>
          </a:xfrm>
          <a:prstGeom prst="rect">
            <a:avLst/>
          </a:prstGeom>
        </p:spPr>
      </p:pic>
      <p:sp>
        <p:nvSpPr>
          <p:cNvPr id="28" name="TextBox 27"/>
          <p:cNvSpPr txBox="1"/>
          <p:nvPr/>
        </p:nvSpPr>
        <p:spPr>
          <a:xfrm>
            <a:off x="6604780"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159184" y="5851905"/>
            <a:ext cx="128699" cy="187198"/>
          </a:xfrm>
          <a:prstGeom prst="rect">
            <a:avLst/>
          </a:prstGeom>
        </p:spPr>
      </p:pic>
      <p:sp>
        <p:nvSpPr>
          <p:cNvPr id="30" name="TextBox 29"/>
          <p:cNvSpPr txBox="1"/>
          <p:nvPr/>
        </p:nvSpPr>
        <p:spPr>
          <a:xfrm>
            <a:off x="9326680" y="5861685"/>
            <a:ext cx="1827634" cy="186689"/>
          </a:xfrm>
          <a:prstGeom prst="rect">
            <a:avLst/>
          </a:prstGeom>
          <a:noFill/>
        </p:spPr>
        <p:txBody>
          <a:bodyPr wrap="none" lIns="0" rIns="0" tIns="0" bIns="0">
            <a:spAutoFit/>
          </a:bodyPr>
          <a:lstStyle/>
          <a:p>
            <a:r>
              <a:rPr sz="1100" b="0">
                <a:solidFill>
                  <a:srgbClr val="2E2E2E"/>
                </a:solidFill>
                <a:latin typeface="Calibri"/>
              </a:rPr>
              <a:t>. The above 40 tons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Gross Vehicle Weight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Gross Vehicle Weight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16 to 26 Tons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26 to 40 Tons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40 Tons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Gross Vehicle Weight</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7"/>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3094826" y="5123309"/>
            <a:ext cx="263506" cy="383281"/>
          </a:xfrm>
          <a:prstGeom prst="rect">
            <a:avLst/>
          </a:prstGeom>
        </p:spPr>
      </p:pic>
      <p:sp>
        <p:nvSpPr>
          <p:cNvPr id="27" name="TextBox 26"/>
          <p:cNvSpPr txBox="1"/>
          <p:nvPr/>
        </p:nvSpPr>
        <p:spPr>
          <a:xfrm>
            <a:off x="6305550" y="4484320"/>
            <a:ext cx="4283102" cy="194310"/>
          </a:xfrm>
          <a:prstGeom prst="rect">
            <a:avLst/>
          </a:prstGeom>
          <a:noFill/>
        </p:spPr>
        <p:txBody>
          <a:bodyPr wrap="none" lIns="0" rIns="0" tIns="0" bIns="0">
            <a:spAutoFit/>
          </a:bodyPr>
          <a:lstStyle/>
          <a:p>
            <a:r>
              <a:rPr sz="1150" b="0">
                <a:solidFill>
                  <a:srgbClr val="2E2E2E"/>
                </a:solidFill>
                <a:latin typeface="Calibri"/>
              </a:rPr>
              <a:t>By 2036, 26 to 40 tons segment is anticipated to witness an increase of</a:t>
            </a:r>
          </a:p>
        </p:txBody>
      </p:sp>
      <p:pic>
        <p:nvPicPr>
          <p:cNvPr id="28" name="Picture 27" descr="lock.png"/>
          <p:cNvPicPr>
            <a:picLocks noChangeAspect="1"/>
          </p:cNvPicPr>
          <p:nvPr/>
        </p:nvPicPr>
        <p:blipFill>
          <a:blip r:embed="rId7"/>
          <a:stretch>
            <a:fillRect/>
          </a:stretch>
        </p:blipFill>
        <p:spPr>
          <a:xfrm>
            <a:off x="10537806" y="4474096"/>
            <a:ext cx="134549" cy="195707"/>
          </a:xfrm>
          <a:prstGeom prst="rect">
            <a:avLst/>
          </a:prstGeom>
        </p:spPr>
      </p:pic>
      <p:sp>
        <p:nvSpPr>
          <p:cNvPr id="29" name="TextBox 28"/>
          <p:cNvSpPr txBox="1"/>
          <p:nvPr/>
        </p:nvSpPr>
        <p:spPr>
          <a:xfrm>
            <a:off x="10712915" y="448432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0" name="TextBox 29"/>
          <p:cNvSpPr txBox="1"/>
          <p:nvPr/>
        </p:nvSpPr>
        <p:spPr>
          <a:xfrm>
            <a:off x="6305550" y="4659580"/>
            <a:ext cx="5532536" cy="194310"/>
          </a:xfrm>
          <a:prstGeom prst="rect">
            <a:avLst/>
          </a:prstGeom>
          <a:noFill/>
        </p:spPr>
        <p:txBody>
          <a:bodyPr wrap="none" lIns="0" rIns="0" tIns="0" bIns="0">
            <a:spAutoFit/>
          </a:bodyPr>
          <a:lstStyle/>
          <a:p>
            <a:r>
              <a:rPr sz="1150" b="0">
                <a:solidFill>
                  <a:srgbClr val="2E2E2E"/>
                </a:solidFill>
                <a:latin typeface="Calibri"/>
              </a:rPr>
              <a:t>value as compared to 2026. The 26 to 40 tons segment is expected to create an incremental</a:t>
            </a:r>
          </a:p>
        </p:txBody>
      </p:sp>
      <p:sp>
        <p:nvSpPr>
          <p:cNvPr id="31" name="TextBox 30"/>
          <p:cNvSpPr txBox="1"/>
          <p:nvPr/>
        </p:nvSpPr>
        <p:spPr>
          <a:xfrm>
            <a:off x="6305550" y="483484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824616"/>
            <a:ext cx="134549" cy="195707"/>
          </a:xfrm>
          <a:prstGeom prst="rect">
            <a:avLst/>
          </a:prstGeom>
        </p:spPr>
      </p:pic>
      <p:sp>
        <p:nvSpPr>
          <p:cNvPr id="33" name="TextBox 32"/>
          <p:cNvSpPr txBox="1"/>
          <p:nvPr/>
        </p:nvSpPr>
        <p:spPr>
          <a:xfrm>
            <a:off x="7638756" y="4834840"/>
            <a:ext cx="4232634" cy="194310"/>
          </a:xfrm>
          <a:prstGeom prst="rect">
            <a:avLst/>
          </a:prstGeom>
          <a:noFill/>
        </p:spPr>
        <p:txBody>
          <a:bodyPr wrap="none" lIns="0" rIns="0" tIns="0" bIns="0">
            <a:spAutoFit/>
          </a:bodyPr>
          <a:lstStyle/>
          <a:p>
            <a:r>
              <a:rPr sz="1150" b="0">
                <a:solidFill>
                  <a:srgbClr val="2E2E2E"/>
                </a:solidFill>
                <a:latin typeface="Calibri"/>
              </a:rPr>
              <a:t>Mn for the overall heavy commercial vehicle EPS market from 2026 to</a:t>
            </a:r>
          </a:p>
        </p:txBody>
      </p:sp>
      <p:sp>
        <p:nvSpPr>
          <p:cNvPr id="34" name="TextBox 33"/>
          <p:cNvSpPr txBox="1"/>
          <p:nvPr/>
        </p:nvSpPr>
        <p:spPr>
          <a:xfrm>
            <a:off x="6305550" y="5010100"/>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35" name="TextBox 34"/>
          <p:cNvSpPr txBox="1"/>
          <p:nvPr/>
        </p:nvSpPr>
        <p:spPr>
          <a:xfrm>
            <a:off x="6305550" y="5237938"/>
            <a:ext cx="5024784" cy="194310"/>
          </a:xfrm>
          <a:prstGeom prst="rect">
            <a:avLst/>
          </a:prstGeom>
          <a:noFill/>
        </p:spPr>
        <p:txBody>
          <a:bodyPr wrap="none" lIns="0" rIns="0" tIns="0" bIns="0">
            <a:spAutoFit/>
          </a:bodyPr>
          <a:lstStyle/>
          <a:p>
            <a:r>
              <a:rPr sz="1150" b="0">
                <a:solidFill>
                  <a:srgbClr val="2E2E2E"/>
                </a:solidFill>
                <a:latin typeface="Calibri"/>
              </a:rPr>
              <a:t>The 16 to 26 tons segment is expected to create an incremental opportunity of US$</a:t>
            </a:r>
          </a:p>
        </p:txBody>
      </p:sp>
      <p:pic>
        <p:nvPicPr>
          <p:cNvPr id="36" name="Picture 35" descr="lock.png"/>
          <p:cNvPicPr>
            <a:picLocks noChangeAspect="1"/>
          </p:cNvPicPr>
          <p:nvPr/>
        </p:nvPicPr>
        <p:blipFill>
          <a:blip r:embed="rId7"/>
          <a:stretch>
            <a:fillRect/>
          </a:stretch>
        </p:blipFill>
        <p:spPr>
          <a:xfrm>
            <a:off x="11279488" y="5227714"/>
            <a:ext cx="134549" cy="195707"/>
          </a:xfrm>
          <a:prstGeom prst="rect">
            <a:avLst/>
          </a:prstGeom>
        </p:spPr>
      </p:pic>
      <p:sp>
        <p:nvSpPr>
          <p:cNvPr id="37" name="TextBox 36"/>
          <p:cNvSpPr txBox="1"/>
          <p:nvPr/>
        </p:nvSpPr>
        <p:spPr>
          <a:xfrm>
            <a:off x="11454597" y="5237938"/>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8" name="TextBox 37"/>
          <p:cNvSpPr txBox="1"/>
          <p:nvPr/>
        </p:nvSpPr>
        <p:spPr>
          <a:xfrm>
            <a:off x="6305550" y="5413197"/>
            <a:ext cx="5488037" cy="194310"/>
          </a:xfrm>
          <a:prstGeom prst="rect">
            <a:avLst/>
          </a:prstGeom>
          <a:noFill/>
        </p:spPr>
        <p:txBody>
          <a:bodyPr wrap="none" lIns="0" rIns="0" tIns="0" bIns="0">
            <a:spAutoFit/>
          </a:bodyPr>
          <a:lstStyle/>
          <a:p>
            <a:r>
              <a:rPr sz="1150" b="0">
                <a:solidFill>
                  <a:srgbClr val="2E2E2E"/>
                </a:solidFill>
                <a:latin typeface="Calibri"/>
              </a:rPr>
              <a:t>for the overall heavy commercial vehicle EPS market from 2026 to 2036. The above 40 tons</a:t>
            </a:r>
          </a:p>
        </p:txBody>
      </p:sp>
      <p:sp>
        <p:nvSpPr>
          <p:cNvPr id="39" name="TextBox 38"/>
          <p:cNvSpPr txBox="1"/>
          <p:nvPr/>
        </p:nvSpPr>
        <p:spPr>
          <a:xfrm>
            <a:off x="6305550" y="558845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40" name="Picture 39" descr="lock.png"/>
          <p:cNvPicPr>
            <a:picLocks noChangeAspect="1"/>
          </p:cNvPicPr>
          <p:nvPr/>
        </p:nvPicPr>
        <p:blipFill>
          <a:blip r:embed="rId7"/>
          <a:stretch>
            <a:fillRect/>
          </a:stretch>
        </p:blipFill>
        <p:spPr>
          <a:xfrm>
            <a:off x="10210642" y="5578234"/>
            <a:ext cx="134549" cy="195707"/>
          </a:xfrm>
          <a:prstGeom prst="rect">
            <a:avLst/>
          </a:prstGeom>
        </p:spPr>
      </p:pic>
      <p:sp>
        <p:nvSpPr>
          <p:cNvPr id="41" name="TextBox 40"/>
          <p:cNvSpPr txBox="1"/>
          <p:nvPr/>
        </p:nvSpPr>
        <p:spPr>
          <a:xfrm>
            <a:off x="10385751" y="558845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42" name="TextBox 41"/>
          <p:cNvSpPr txBox="1"/>
          <p:nvPr/>
        </p:nvSpPr>
        <p:spPr>
          <a:xfrm>
            <a:off x="6305550" y="5763717"/>
            <a:ext cx="3490118" cy="194310"/>
          </a:xfrm>
          <a:prstGeom prst="rect">
            <a:avLst/>
          </a:prstGeom>
          <a:noFill/>
        </p:spPr>
        <p:txBody>
          <a:bodyPr wrap="none" lIns="0" rIns="0" tIns="0" bIns="0">
            <a:spAutoFit/>
          </a:bodyPr>
          <a:lstStyle/>
          <a:p>
            <a:r>
              <a:rPr sz="1150" b="0">
                <a:solidFill>
                  <a:srgbClr val="2E2E2E"/>
                </a:solidFill>
                <a:latin typeface="Calibri"/>
              </a:rPr>
              <a:t>heavy commercial vehicle EPS market from 2026 to 2036.</a:t>
            </a:r>
          </a:p>
        </p:txBody>
      </p:sp>
      <p:sp>
        <p:nvSpPr>
          <p:cNvPr id="43"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Gross Vehicle Weight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Gross Vehicle Weight,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Gross Vehicle Weight (US$ Mn)</a:t>
            </a:r>
          </a:p>
        </p:txBody>
      </p:sp>
      <p:graphicFrame>
        <p:nvGraphicFramePr>
          <p:cNvPr id="12" name="Table 11"/>
          <p:cNvGraphicFramePr>
            <a:graphicFrameLocks noGrp="1"/>
          </p:cNvGraphicFramePr>
          <p:nvPr/>
        </p:nvGraphicFramePr>
        <p:xfrm>
          <a:off x="152400" y="1238250"/>
          <a:ext cx="11887198" cy="1238250"/>
        </p:xfrm>
        <a:graphic>
          <a:graphicData uri="http://schemas.openxmlformats.org/drawingml/2006/table">
            <a:tbl>
              <a:tblPr>
                <a:tableStyleId>{5C22544A-7EE6-4342-B048-85BDC9FD1C3A}</a:tableStyleId>
              </a:tblPr>
              <a:tblGrid>
                <a:gridCol w="1525086"/>
                <a:gridCol w="609536"/>
                <a:gridCol w="609536"/>
                <a:gridCol w="609536"/>
                <a:gridCol w="609536"/>
                <a:gridCol w="609536"/>
                <a:gridCol w="609536"/>
                <a:gridCol w="609536"/>
                <a:gridCol w="609536"/>
                <a:gridCol w="609536"/>
                <a:gridCol w="609536"/>
                <a:gridCol w="609536"/>
                <a:gridCol w="609536"/>
                <a:gridCol w="609536"/>
                <a:gridCol w="609536"/>
                <a:gridCol w="609536"/>
                <a:gridCol w="609536"/>
                <a:gridCol w="609536"/>
              </a:tblGrid>
              <a:tr h="246126">
                <a:tc>
                  <a:txBody>
                    <a:bodyPr wrap="none"/>
                    <a:lstStyle/>
                    <a:p>
                      <a:pPr algn="l"/>
                      <a:r>
                        <a:rPr sz="1100" b="1">
                          <a:solidFill>
                            <a:srgbClr val="0B2E4A"/>
                          </a:solidFill>
                          <a:latin typeface="Calibri"/>
                        </a:rPr>
                        <a:t>Gross Vehicle Weight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16 to 26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26 to 40 Tons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Above 40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Gross Vehicle Weight</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71851" y="1713738"/>
            <a:ext cx="366712" cy="533400"/>
          </a:xfrm>
          <a:prstGeom prst="rect">
            <a:avLst/>
          </a:prstGeom>
        </p:spPr>
      </p:pic>
      <p:sp>
        <p:nvSpPr>
          <p:cNvPr id="20" name="TextBox 19"/>
          <p:cNvSpPr txBox="1"/>
          <p:nvPr/>
        </p:nvSpPr>
        <p:spPr>
          <a:xfrm>
            <a:off x="276225" y="3238500"/>
            <a:ext cx="2783259" cy="194310"/>
          </a:xfrm>
          <a:prstGeom prst="rect">
            <a:avLst/>
          </a:prstGeom>
          <a:noFill/>
        </p:spPr>
        <p:txBody>
          <a:bodyPr wrap="none" lIns="0" rIns="0" tIns="0" bIns="0">
            <a:spAutoFit/>
          </a:bodyPr>
          <a:lstStyle/>
          <a:p>
            <a:r>
              <a:rPr sz="1150" b="0">
                <a:solidFill>
                  <a:srgbClr val="2E2E2E"/>
                </a:solidFill>
                <a:latin typeface="Calibri"/>
              </a:rPr>
              <a:t>26 to 40 tons segment is projected to register</a:t>
            </a:r>
          </a:p>
        </p:txBody>
      </p:sp>
      <p:pic>
        <p:nvPicPr>
          <p:cNvPr id="21" name="Picture 20" descr="lock.png"/>
          <p:cNvPicPr>
            <a:picLocks noChangeAspect="1"/>
          </p:cNvPicPr>
          <p:nvPr/>
        </p:nvPicPr>
        <p:blipFill>
          <a:blip r:embed="rId4"/>
          <a:stretch>
            <a:fillRect/>
          </a:stretch>
        </p:blipFill>
        <p:spPr>
          <a:xfrm>
            <a:off x="3008638" y="3228276"/>
            <a:ext cx="134549" cy="195707"/>
          </a:xfrm>
          <a:prstGeom prst="rect">
            <a:avLst/>
          </a:prstGeom>
        </p:spPr>
      </p:pic>
      <p:sp>
        <p:nvSpPr>
          <p:cNvPr id="22" name="TextBox 21"/>
          <p:cNvSpPr txBox="1"/>
          <p:nvPr/>
        </p:nvSpPr>
        <p:spPr>
          <a:xfrm>
            <a:off x="3183747" y="3238500"/>
            <a:ext cx="8292083" cy="194310"/>
          </a:xfrm>
          <a:prstGeom prst="rect">
            <a:avLst/>
          </a:prstGeom>
          <a:noFill/>
        </p:spPr>
        <p:txBody>
          <a:bodyPr wrap="none" lIns="0" rIns="0" tIns="0" bIns="0">
            <a:spAutoFit/>
          </a:bodyPr>
          <a:lstStyle/>
          <a:p>
            <a:r>
              <a:rPr sz="1150" b="0">
                <a:solidFill>
                  <a:srgbClr val="2E2E2E"/>
                </a:solidFill>
                <a:latin typeface="Calibri"/>
              </a:rPr>
              <a:t>X higher value than 16 to 26 tons segment in 2036. Among heavy commercial vehicle EPS by gross vehicle weight, 16 to 26 tons segment is</a:t>
            </a:r>
          </a:p>
        </p:txBody>
      </p:sp>
      <p:sp>
        <p:nvSpPr>
          <p:cNvPr id="23" name="TextBox 22"/>
          <p:cNvSpPr txBox="1"/>
          <p:nvPr/>
        </p:nvSpPr>
        <p:spPr>
          <a:xfrm>
            <a:off x="276225" y="341376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403536"/>
            <a:ext cx="134549" cy="195707"/>
          </a:xfrm>
          <a:prstGeom prst="rect">
            <a:avLst/>
          </a:prstGeom>
        </p:spPr>
      </p:pic>
      <p:sp>
        <p:nvSpPr>
          <p:cNvPr id="25" name="TextBox 24"/>
          <p:cNvSpPr txBox="1"/>
          <p:nvPr/>
        </p:nvSpPr>
        <p:spPr>
          <a:xfrm>
            <a:off x="2886495"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7131384" cy="194310"/>
          </a:xfrm>
          <a:prstGeom prst="rect">
            <a:avLst/>
          </a:prstGeom>
          <a:noFill/>
        </p:spPr>
        <p:txBody>
          <a:bodyPr wrap="none" lIns="0" rIns="0" tIns="0" bIns="0">
            <a:spAutoFit/>
          </a:bodyPr>
          <a:lstStyle/>
          <a:p>
            <a:r>
              <a:rPr sz="1150" b="0">
                <a:solidFill>
                  <a:srgbClr val="2E2E2E"/>
                </a:solidFill>
                <a:latin typeface="Calibri"/>
              </a:rPr>
              <a:t>In terms of value share by gross vehicle weight, the 26 to 40 tons segment is expected to dominate the market, gaining</a:t>
            </a:r>
          </a:p>
        </p:txBody>
      </p:sp>
      <p:pic>
        <p:nvPicPr>
          <p:cNvPr id="27" name="Picture 26" descr="lock.png"/>
          <p:cNvPicPr>
            <a:picLocks noChangeAspect="1"/>
          </p:cNvPicPr>
          <p:nvPr/>
        </p:nvPicPr>
        <p:blipFill>
          <a:blip r:embed="rId4"/>
          <a:stretch>
            <a:fillRect/>
          </a:stretch>
        </p:blipFill>
        <p:spPr>
          <a:xfrm>
            <a:off x="7356763" y="3631374"/>
            <a:ext cx="134549" cy="195707"/>
          </a:xfrm>
          <a:prstGeom prst="rect">
            <a:avLst/>
          </a:prstGeom>
        </p:spPr>
      </p:pic>
      <p:sp>
        <p:nvSpPr>
          <p:cNvPr id="28" name="TextBox 27"/>
          <p:cNvSpPr txBox="1"/>
          <p:nvPr/>
        </p:nvSpPr>
        <p:spPr>
          <a:xfrm>
            <a:off x="753187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927016" y="3631374"/>
            <a:ext cx="134549" cy="195707"/>
          </a:xfrm>
          <a:prstGeom prst="rect">
            <a:avLst/>
          </a:prstGeom>
        </p:spPr>
      </p:pic>
      <p:sp>
        <p:nvSpPr>
          <p:cNvPr id="30" name="TextBox 29"/>
          <p:cNvSpPr txBox="1"/>
          <p:nvPr/>
        </p:nvSpPr>
        <p:spPr>
          <a:xfrm>
            <a:off x="9102125" y="3641597"/>
            <a:ext cx="2616671" cy="194310"/>
          </a:xfrm>
          <a:prstGeom prst="rect">
            <a:avLst/>
          </a:prstGeom>
          <a:noFill/>
        </p:spPr>
        <p:txBody>
          <a:bodyPr wrap="none" lIns="0" rIns="0" tIns="0" bIns="0">
            <a:spAutoFit/>
          </a:bodyPr>
          <a:lstStyle/>
          <a:p>
            <a:r>
              <a:rPr sz="1150" b="0">
                <a:solidFill>
                  <a:srgbClr val="2E2E2E"/>
                </a:solidFill>
                <a:latin typeface="Calibri"/>
              </a:rPr>
              <a:t>share by 2036. The above 40 tons segment</a:t>
            </a:r>
          </a:p>
        </p:txBody>
      </p:sp>
      <p:sp>
        <p:nvSpPr>
          <p:cNvPr id="31" name="TextBox 30"/>
          <p:cNvSpPr txBox="1"/>
          <p:nvPr/>
        </p:nvSpPr>
        <p:spPr>
          <a:xfrm>
            <a:off x="276225" y="3816857"/>
            <a:ext cx="1178706" cy="194310"/>
          </a:xfrm>
          <a:prstGeom prst="rect">
            <a:avLst/>
          </a:prstGeom>
          <a:noFill/>
        </p:spPr>
        <p:txBody>
          <a:bodyPr wrap="none" lIns="0" rIns="0" tIns="0" bIns="0">
            <a:spAutoFit/>
          </a:bodyPr>
          <a:lstStyle/>
          <a:p>
            <a:r>
              <a:rPr sz="1150" b="0">
                <a:solidFill>
                  <a:srgbClr val="2E2E2E"/>
                </a:solidFill>
                <a:latin typeface="Calibri"/>
              </a:rPr>
              <a:t>is expected to lose</a:t>
            </a:r>
          </a:p>
        </p:txBody>
      </p:sp>
      <p:pic>
        <p:nvPicPr>
          <p:cNvPr id="32" name="Picture 31" descr="lock.png"/>
          <p:cNvPicPr>
            <a:picLocks noChangeAspect="1"/>
          </p:cNvPicPr>
          <p:nvPr/>
        </p:nvPicPr>
        <p:blipFill>
          <a:blip r:embed="rId4"/>
          <a:stretch>
            <a:fillRect/>
          </a:stretch>
        </p:blipFill>
        <p:spPr>
          <a:xfrm>
            <a:off x="1404085" y="3806634"/>
            <a:ext cx="134549" cy="195707"/>
          </a:xfrm>
          <a:prstGeom prst="rect">
            <a:avLst/>
          </a:prstGeom>
        </p:spPr>
      </p:pic>
      <p:sp>
        <p:nvSpPr>
          <p:cNvPr id="33" name="TextBox 32"/>
          <p:cNvSpPr txBox="1"/>
          <p:nvPr/>
        </p:nvSpPr>
        <p:spPr>
          <a:xfrm>
            <a:off x="1579194"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166699" y="3806634"/>
            <a:ext cx="134549" cy="195707"/>
          </a:xfrm>
          <a:prstGeom prst="rect">
            <a:avLst/>
          </a:prstGeom>
        </p:spPr>
      </p:pic>
      <p:sp>
        <p:nvSpPr>
          <p:cNvPr id="35" name="TextBox 34"/>
          <p:cNvSpPr txBox="1"/>
          <p:nvPr/>
        </p:nvSpPr>
        <p:spPr>
          <a:xfrm>
            <a:off x="4341808"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Gross Vehicle Weight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Gross Vehicle Weight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Gross Vehicle Weight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5690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5214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7594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Above 40 Tons</a:t>
            </a:r>
          </a:p>
        </p:txBody>
      </p:sp>
      <p:sp>
        <p:nvSpPr>
          <p:cNvPr id="18" name="BPS Value 1"/>
          <p:cNvSpPr txBox="1"/>
          <p:nvPr/>
        </p:nvSpPr>
        <p:spPr>
          <a:xfrm>
            <a:off x="6896100" y="183785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9540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906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144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16 to 26 Tons</a:t>
            </a:r>
          </a:p>
        </p:txBody>
      </p:sp>
      <p:sp>
        <p:nvSpPr>
          <p:cNvPr id="22" name="BPS Value 2"/>
          <p:cNvSpPr txBox="1"/>
          <p:nvPr/>
        </p:nvSpPr>
        <p:spPr>
          <a:xfrm>
            <a:off x="6896100" y="227635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439594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3911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3149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26 to 40 Tons</a:t>
            </a:r>
          </a:p>
        </p:txBody>
      </p:sp>
      <p:sp>
        <p:nvSpPr>
          <p:cNvPr id="26" name="BPS Value 3"/>
          <p:cNvSpPr txBox="1"/>
          <p:nvPr/>
        </p:nvSpPr>
        <p:spPr>
          <a:xfrm>
            <a:off x="6896100" y="437689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Gross Vehicle Weight</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heavy commercial vehicle EPS by gross vehicle weight, 16 to</a:t>
            </a:r>
          </a:p>
        </p:txBody>
      </p:sp>
      <p:sp>
        <p:nvSpPr>
          <p:cNvPr id="34" name="TextBox 33"/>
          <p:cNvSpPr txBox="1"/>
          <p:nvPr/>
        </p:nvSpPr>
        <p:spPr>
          <a:xfrm>
            <a:off x="7829550" y="1575435"/>
            <a:ext cx="3631016" cy="194310"/>
          </a:xfrm>
          <a:prstGeom prst="rect">
            <a:avLst/>
          </a:prstGeom>
          <a:noFill/>
        </p:spPr>
        <p:txBody>
          <a:bodyPr wrap="none" lIns="0" rIns="0" tIns="0" bIns="0">
            <a:spAutoFit/>
          </a:bodyPr>
          <a:lstStyle/>
          <a:p>
            <a:r>
              <a:rPr sz="1150" b="0">
                <a:solidFill>
                  <a:srgbClr val="2E2E2E"/>
                </a:solidFill>
                <a:latin typeface="Calibri"/>
              </a:rPr>
              <a:t>26 tons segment is expected to witness the highest CAGR of</a:t>
            </a:r>
          </a:p>
        </p:txBody>
      </p:sp>
      <p:pic>
        <p:nvPicPr>
          <p:cNvPr id="35" name="Picture 34" descr="lock.png"/>
          <p:cNvPicPr>
            <a:picLocks noChangeAspect="1"/>
          </p:cNvPicPr>
          <p:nvPr/>
        </p:nvPicPr>
        <p:blipFill>
          <a:blip r:embed="rId5"/>
          <a:stretch>
            <a:fillRect/>
          </a:stretch>
        </p:blipFill>
        <p:spPr>
          <a:xfrm>
            <a:off x="11409720" y="1565211"/>
            <a:ext cx="134549" cy="195707"/>
          </a:xfrm>
          <a:prstGeom prst="rect">
            <a:avLst/>
          </a:prstGeom>
        </p:spPr>
      </p:pic>
      <p:sp>
        <p:nvSpPr>
          <p:cNvPr id="36" name="TextBox 35"/>
          <p:cNvSpPr txBox="1"/>
          <p:nvPr/>
        </p:nvSpPr>
        <p:spPr>
          <a:xfrm>
            <a:off x="7829550" y="1750695"/>
            <a:ext cx="3912579"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gross vehicle</a:t>
            </a:r>
          </a:p>
        </p:txBody>
      </p:sp>
      <p:sp>
        <p:nvSpPr>
          <p:cNvPr id="37" name="TextBox 36"/>
          <p:cNvSpPr txBox="1"/>
          <p:nvPr/>
        </p:nvSpPr>
        <p:spPr>
          <a:xfrm>
            <a:off x="7829550" y="1925955"/>
            <a:ext cx="3810744" cy="194310"/>
          </a:xfrm>
          <a:prstGeom prst="rect">
            <a:avLst/>
          </a:prstGeom>
          <a:noFill/>
        </p:spPr>
        <p:txBody>
          <a:bodyPr wrap="none" lIns="0" rIns="0" tIns="0" bIns="0">
            <a:spAutoFit/>
          </a:bodyPr>
          <a:lstStyle/>
          <a:p>
            <a:r>
              <a:rPr sz="1150" b="0">
                <a:solidFill>
                  <a:srgbClr val="2E2E2E"/>
                </a:solidFill>
                <a:latin typeface="Calibri"/>
              </a:rPr>
              <a:t>weight, the 26 to 40 tons segment is expected to dominate the</a:t>
            </a:r>
          </a:p>
        </p:txBody>
      </p:sp>
      <p:sp>
        <p:nvSpPr>
          <p:cNvPr id="38" name="TextBox 37"/>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39" name="Picture 38" descr="lock.png"/>
          <p:cNvPicPr>
            <a:picLocks noChangeAspect="1"/>
          </p:cNvPicPr>
          <p:nvPr/>
        </p:nvPicPr>
        <p:blipFill>
          <a:blip r:embed="rId5"/>
          <a:stretch>
            <a:fillRect/>
          </a:stretch>
        </p:blipFill>
        <p:spPr>
          <a:xfrm>
            <a:off x="8778556" y="2090991"/>
            <a:ext cx="134549" cy="195707"/>
          </a:xfrm>
          <a:prstGeom prst="rect">
            <a:avLst/>
          </a:prstGeom>
        </p:spPr>
      </p:pic>
      <p:sp>
        <p:nvSpPr>
          <p:cNvPr id="40" name="TextBox 39"/>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1" name="Picture 40" descr="lock.png"/>
          <p:cNvPicPr>
            <a:picLocks noChangeAspect="1"/>
          </p:cNvPicPr>
          <p:nvPr/>
        </p:nvPicPr>
        <p:blipFill>
          <a:blip r:embed="rId5"/>
          <a:stretch>
            <a:fillRect/>
          </a:stretch>
        </p:blipFill>
        <p:spPr>
          <a:xfrm>
            <a:off x="10348808" y="2090991"/>
            <a:ext cx="134549" cy="195707"/>
          </a:xfrm>
          <a:prstGeom prst="rect">
            <a:avLst/>
          </a:prstGeom>
        </p:spPr>
      </p:pic>
      <p:sp>
        <p:nvSpPr>
          <p:cNvPr id="42" name="TextBox 41"/>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TextBox 42"/>
          <p:cNvSpPr txBox="1"/>
          <p:nvPr/>
        </p:nvSpPr>
        <p:spPr>
          <a:xfrm>
            <a:off x="7829550" y="2329053"/>
            <a:ext cx="2849153" cy="194310"/>
          </a:xfrm>
          <a:prstGeom prst="rect">
            <a:avLst/>
          </a:prstGeom>
          <a:noFill/>
        </p:spPr>
        <p:txBody>
          <a:bodyPr wrap="none" lIns="0" rIns="0" tIns="0" bIns="0">
            <a:spAutoFit/>
          </a:bodyPr>
          <a:lstStyle/>
          <a:p>
            <a:r>
              <a:rPr sz="1150" b="0">
                <a:solidFill>
                  <a:srgbClr val="2E2E2E"/>
                </a:solidFill>
                <a:latin typeface="Calibri"/>
              </a:rPr>
              <a:t>The above 40 tons segment is expected to lose</a:t>
            </a:r>
          </a:p>
        </p:txBody>
      </p:sp>
      <p:pic>
        <p:nvPicPr>
          <p:cNvPr id="44" name="Picture 43" descr="lock.png"/>
          <p:cNvPicPr>
            <a:picLocks noChangeAspect="1"/>
          </p:cNvPicPr>
          <p:nvPr/>
        </p:nvPicPr>
        <p:blipFill>
          <a:blip r:embed="rId5"/>
          <a:stretch>
            <a:fillRect/>
          </a:stretch>
        </p:blipFill>
        <p:spPr>
          <a:xfrm>
            <a:off x="10627857" y="2318829"/>
            <a:ext cx="134549" cy="195707"/>
          </a:xfrm>
          <a:prstGeom prst="rect">
            <a:avLst/>
          </a:prstGeom>
        </p:spPr>
      </p:pic>
      <p:sp>
        <p:nvSpPr>
          <p:cNvPr id="45" name="TextBox 44"/>
          <p:cNvSpPr txBox="1"/>
          <p:nvPr/>
        </p:nvSpPr>
        <p:spPr>
          <a:xfrm>
            <a:off x="10802966"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6" name="TextBox 45"/>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7" name="Picture 46" descr="lock.png"/>
          <p:cNvPicPr>
            <a:picLocks noChangeAspect="1"/>
          </p:cNvPicPr>
          <p:nvPr/>
        </p:nvPicPr>
        <p:blipFill>
          <a:blip r:embed="rId5"/>
          <a:stretch>
            <a:fillRect/>
          </a:stretch>
        </p:blipFill>
        <p:spPr>
          <a:xfrm>
            <a:off x="9630324" y="2494089"/>
            <a:ext cx="134549" cy="195707"/>
          </a:xfrm>
          <a:prstGeom prst="rect">
            <a:avLst/>
          </a:prstGeom>
        </p:spPr>
      </p:pic>
      <p:sp>
        <p:nvSpPr>
          <p:cNvPr id="48" name="TextBox 47"/>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Propulsion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Propulsion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Propulsion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Propulsion Type segment categorizes the market by propulsion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Internal Combustion Engine</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Hybrid</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Electric</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Propulsion Type split shows how demand is distributed across propulsion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1_064_605E5C.png"/>
          <p:cNvPicPr>
            <a:picLocks noChangeAspect="1"/>
          </p:cNvPicPr>
          <p:nvPr/>
        </p:nvPicPr>
        <p:blipFill>
          <a:blip r:embed="rId4"/>
          <a:stretch>
            <a:fillRect/>
          </a:stretch>
        </p:blipFill>
        <p:spPr>
          <a:xfrm>
            <a:off x="2897811" y="2286582"/>
            <a:ext cx="1195728" cy="361950"/>
          </a:xfrm>
          <a:prstGeom prst="rect">
            <a:avLst/>
          </a:prstGeom>
        </p:spPr>
      </p:pic>
      <p:pic>
        <p:nvPicPr>
          <p:cNvPr id="57" name="Picture 56" descr="1_777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5_3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808_8_605E5C.png"/>
          <p:cNvPicPr>
            <a:picLocks noChangeAspect="1"/>
          </p:cNvPicPr>
          <p:nvPr/>
        </p:nvPicPr>
        <p:blipFill>
          <a:blip r:embed="rId7"/>
          <a:stretch>
            <a:fillRect/>
          </a:stretch>
        </p:blipFill>
        <p:spPr>
          <a:xfrm>
            <a:off x="6269661" y="2286582"/>
            <a:ext cx="1195728" cy="361950"/>
          </a:xfrm>
          <a:prstGeom prst="rect">
            <a:avLst/>
          </a:prstGeom>
        </p:spPr>
      </p:pic>
      <p:pic>
        <p:nvPicPr>
          <p:cNvPr id="60" name="Picture 59" descr="1_759_605E5C.png"/>
          <p:cNvPicPr>
            <a:picLocks noChangeAspect="1"/>
          </p:cNvPicPr>
          <p:nvPr/>
        </p:nvPicPr>
        <p:blipFill>
          <a:blip r:embed="rId8"/>
          <a:stretch>
            <a:fillRect/>
          </a:stretch>
        </p:blipFill>
        <p:spPr>
          <a:xfrm>
            <a:off x="6269661" y="2779432"/>
            <a:ext cx="1195728" cy="361950"/>
          </a:xfrm>
          <a:prstGeom prst="rect">
            <a:avLst/>
          </a:prstGeom>
        </p:spPr>
      </p:pic>
      <p:pic>
        <p:nvPicPr>
          <p:cNvPr id="61" name="Picture 60" descr="8_1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526_8_605E5C.png"/>
          <p:cNvPicPr>
            <a:picLocks noChangeAspect="1"/>
          </p:cNvPicPr>
          <p:nvPr/>
        </p:nvPicPr>
        <p:blipFill>
          <a:blip r:embed="rId10"/>
          <a:stretch>
            <a:fillRect/>
          </a:stretch>
        </p:blipFill>
        <p:spPr>
          <a:xfrm>
            <a:off x="9641511" y="2286582"/>
            <a:ext cx="1195728" cy="361950"/>
          </a:xfrm>
          <a:prstGeom prst="rect">
            <a:avLst/>
          </a:prstGeom>
        </p:spPr>
      </p:pic>
      <p:pic>
        <p:nvPicPr>
          <p:cNvPr id="63" name="Picture 62" descr="844_5_605E5C.png"/>
          <p:cNvPicPr>
            <a:picLocks noChangeAspect="1"/>
          </p:cNvPicPr>
          <p:nvPr/>
        </p:nvPicPr>
        <p:blipFill>
          <a:blip r:embed="rId11"/>
          <a:stretch>
            <a:fillRect/>
          </a:stretch>
        </p:blipFill>
        <p:spPr>
          <a:xfrm>
            <a:off x="9641511" y="2779432"/>
            <a:ext cx="1195728" cy="361950"/>
          </a:xfrm>
          <a:prstGeom prst="rect">
            <a:avLst/>
          </a:prstGeom>
        </p:spPr>
      </p:pic>
      <p:pic>
        <p:nvPicPr>
          <p:cNvPr id="64" name="Picture 63" descr="4_8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381250" cy="186689"/>
          </a:xfrm>
          <a:prstGeom prst="rect">
            <a:avLst/>
          </a:prstGeom>
          <a:noFill/>
        </p:spPr>
        <p:txBody>
          <a:bodyPr wrap="none" lIns="0" rIns="0" tIns="0" bIns="0">
            <a:spAutoFit/>
          </a:bodyPr>
          <a:lstStyle/>
          <a:p>
            <a:r>
              <a:rPr sz="1100" b="0">
                <a:solidFill>
                  <a:srgbClr val="2E2E2E"/>
                </a:solidFill>
                <a:latin typeface="Calibri"/>
              </a:rPr>
              <a:t>Among heavy commercial vehicle EPS by</a:t>
            </a:r>
          </a:p>
        </p:txBody>
      </p:sp>
      <p:sp>
        <p:nvSpPr>
          <p:cNvPr id="69" name="TextBox 68"/>
          <p:cNvSpPr txBox="1"/>
          <p:nvPr/>
        </p:nvSpPr>
        <p:spPr>
          <a:xfrm>
            <a:off x="485775" y="4397077"/>
            <a:ext cx="2748508" cy="186689"/>
          </a:xfrm>
          <a:prstGeom prst="rect">
            <a:avLst/>
          </a:prstGeom>
          <a:noFill/>
        </p:spPr>
        <p:txBody>
          <a:bodyPr wrap="none" lIns="0" rIns="0" tIns="0" bIns="0">
            <a:spAutoFit/>
          </a:bodyPr>
          <a:lstStyle/>
          <a:p>
            <a:r>
              <a:rPr sz="1100" b="0">
                <a:solidFill>
                  <a:srgbClr val="2E2E2E"/>
                </a:solidFill>
                <a:latin typeface="Calibri"/>
              </a:rPr>
              <a:t>propulsion type, hybrid segment is expected to</a:t>
            </a:r>
          </a:p>
        </p:txBody>
      </p:sp>
      <p:sp>
        <p:nvSpPr>
          <p:cNvPr id="70" name="TextBox 69"/>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71" name="Picture 70" descr="lock.png"/>
          <p:cNvPicPr>
            <a:picLocks noChangeAspect="1"/>
          </p:cNvPicPr>
          <p:nvPr/>
        </p:nvPicPr>
        <p:blipFill>
          <a:blip r:embed="rId13"/>
          <a:stretch>
            <a:fillRect/>
          </a:stretch>
        </p:blipFill>
        <p:spPr>
          <a:xfrm>
            <a:off x="2108919" y="4554938"/>
            <a:ext cx="128699" cy="187198"/>
          </a:xfrm>
          <a:prstGeom prst="rect">
            <a:avLst/>
          </a:prstGeom>
        </p:spPr>
      </p:pic>
      <p:sp>
        <p:nvSpPr>
          <p:cNvPr id="72" name="TextBox 71"/>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period. In terms of value share by propulsion type,</a:t>
            </a:r>
          </a:p>
        </p:txBody>
      </p:sp>
      <p:sp>
        <p:nvSpPr>
          <p:cNvPr id="74" name="TextBox 73"/>
          <p:cNvSpPr txBox="1"/>
          <p:nvPr/>
        </p:nvSpPr>
        <p:spPr>
          <a:xfrm>
            <a:off x="485775" y="4899997"/>
            <a:ext cx="2501850" cy="186689"/>
          </a:xfrm>
          <a:prstGeom prst="rect">
            <a:avLst/>
          </a:prstGeom>
          <a:noFill/>
        </p:spPr>
        <p:txBody>
          <a:bodyPr wrap="none" lIns="0" rIns="0" tIns="0" bIns="0">
            <a:spAutoFit/>
          </a:bodyPr>
          <a:lstStyle/>
          <a:p>
            <a:r>
              <a:rPr sz="1100" b="0">
                <a:solidFill>
                  <a:srgbClr val="2E2E2E"/>
                </a:solidFill>
                <a:latin typeface="Calibri"/>
              </a:rPr>
              <a:t>the internal combustion engine segment is</a:t>
            </a:r>
          </a:p>
        </p:txBody>
      </p:sp>
      <p:sp>
        <p:nvSpPr>
          <p:cNvPr id="75" name="TextBox 74"/>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76" name="Picture 75" descr="lock.png"/>
          <p:cNvPicPr>
            <a:picLocks noChangeAspect="1"/>
          </p:cNvPicPr>
          <p:nvPr/>
        </p:nvPicPr>
        <p:blipFill>
          <a:blip r:embed="rId13"/>
          <a:stretch>
            <a:fillRect/>
          </a:stretch>
        </p:blipFill>
        <p:spPr>
          <a:xfrm>
            <a:off x="2822716" y="5057858"/>
            <a:ext cx="128699" cy="187198"/>
          </a:xfrm>
          <a:prstGeom prst="rect">
            <a:avLst/>
          </a:prstGeom>
        </p:spPr>
      </p:pic>
      <p:sp>
        <p:nvSpPr>
          <p:cNvPr id="77" name="TextBox 76"/>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863105" cy="186689"/>
          </a:xfrm>
          <a:prstGeom prst="rect">
            <a:avLst/>
          </a:prstGeom>
          <a:noFill/>
        </p:spPr>
        <p:txBody>
          <a:bodyPr wrap="none" lIns="0" rIns="0" tIns="0" bIns="0">
            <a:spAutoFit/>
          </a:bodyPr>
          <a:lstStyle/>
          <a:p>
            <a:r>
              <a:rPr sz="1100" b="0">
                <a:solidFill>
                  <a:srgbClr val="2E2E2E"/>
                </a:solidFill>
                <a:latin typeface="Calibri"/>
              </a:rPr>
              <a:t>Internal combustion engine segment is projected</a:t>
            </a:r>
          </a:p>
        </p:txBody>
      </p:sp>
      <p:sp>
        <p:nvSpPr>
          <p:cNvPr id="82" name="TextBox 81"/>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83" name="Picture 82" descr="lock.png"/>
          <p:cNvPicPr>
            <a:picLocks noChangeAspect="1"/>
          </p:cNvPicPr>
          <p:nvPr/>
        </p:nvPicPr>
        <p:blipFill>
          <a:blip r:embed="rId13"/>
          <a:stretch>
            <a:fillRect/>
          </a:stretch>
        </p:blipFill>
        <p:spPr>
          <a:xfrm>
            <a:off x="1098567" y="5611070"/>
            <a:ext cx="128699" cy="187198"/>
          </a:xfrm>
          <a:prstGeom prst="rect">
            <a:avLst/>
          </a:prstGeom>
        </p:spPr>
      </p:pic>
      <p:sp>
        <p:nvSpPr>
          <p:cNvPr id="84" name="TextBox 83"/>
          <p:cNvSpPr txBox="1"/>
          <p:nvPr/>
        </p:nvSpPr>
        <p:spPr>
          <a:xfrm>
            <a:off x="1266063" y="5620849"/>
            <a:ext cx="2091754" cy="186689"/>
          </a:xfrm>
          <a:prstGeom prst="rect">
            <a:avLst/>
          </a:prstGeom>
          <a:noFill/>
        </p:spPr>
        <p:txBody>
          <a:bodyPr wrap="none" lIns="0" rIns="0" tIns="0" bIns="0">
            <a:spAutoFit/>
          </a:bodyPr>
          <a:lstStyle/>
          <a:p>
            <a:r>
              <a:rPr sz="1100" b="0">
                <a:solidFill>
                  <a:srgbClr val="2E2E2E"/>
                </a:solidFill>
                <a:latin typeface="Calibri"/>
              </a:rPr>
              <a:t>X higher value than hybrid segment</a:t>
            </a:r>
          </a:p>
        </p:txBody>
      </p:sp>
      <p:sp>
        <p:nvSpPr>
          <p:cNvPr id="85" name="TextBox 84"/>
          <p:cNvSpPr txBox="1"/>
          <p:nvPr/>
        </p:nvSpPr>
        <p:spPr>
          <a:xfrm>
            <a:off x="485775" y="578848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86" name="TextBox 85"/>
          <p:cNvSpPr txBox="1"/>
          <p:nvPr/>
        </p:nvSpPr>
        <p:spPr>
          <a:xfrm>
            <a:off x="3838575" y="4229437"/>
            <a:ext cx="1809080" cy="186689"/>
          </a:xfrm>
          <a:prstGeom prst="rect">
            <a:avLst/>
          </a:prstGeom>
          <a:noFill/>
        </p:spPr>
        <p:txBody>
          <a:bodyPr wrap="none" lIns="0" rIns="0" tIns="0" bIns="0">
            <a:spAutoFit/>
          </a:bodyPr>
          <a:lstStyle/>
          <a:p>
            <a:r>
              <a:rPr sz="1100" b="0">
                <a:solidFill>
                  <a:srgbClr val="2E2E2E"/>
                </a:solidFill>
                <a:latin typeface="Calibri"/>
              </a:rPr>
              <a:t>● Internal Combustion Engine:</a:t>
            </a:r>
          </a:p>
        </p:txBody>
      </p:sp>
      <p:pic>
        <p:nvPicPr>
          <p:cNvPr id="87" name="Picture 86" descr="lock.png"/>
          <p:cNvPicPr>
            <a:picLocks noChangeAspect="1"/>
          </p:cNvPicPr>
          <p:nvPr/>
        </p:nvPicPr>
        <p:blipFill>
          <a:blip r:embed="rId13"/>
          <a:stretch>
            <a:fillRect/>
          </a:stretch>
        </p:blipFill>
        <p:spPr>
          <a:xfrm>
            <a:off x="5595706" y="4219658"/>
            <a:ext cx="128699" cy="187198"/>
          </a:xfrm>
          <a:prstGeom prst="rect">
            <a:avLst/>
          </a:prstGeom>
        </p:spPr>
      </p:pic>
      <p:sp>
        <p:nvSpPr>
          <p:cNvPr id="88" name="TextBox 87"/>
          <p:cNvSpPr txBox="1"/>
          <p:nvPr/>
        </p:nvSpPr>
        <p:spPr>
          <a:xfrm>
            <a:off x="576320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622652" y="4219658"/>
            <a:ext cx="128699" cy="187198"/>
          </a:xfrm>
          <a:prstGeom prst="rect">
            <a:avLst/>
          </a:prstGeom>
        </p:spPr>
      </p:pic>
      <p:sp>
        <p:nvSpPr>
          <p:cNvPr id="90" name="TextBox 89"/>
          <p:cNvSpPr txBox="1"/>
          <p:nvPr/>
        </p:nvSpPr>
        <p:spPr>
          <a:xfrm>
            <a:off x="679014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91" name="TextBox 9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92" name="TextBox 91"/>
          <p:cNvSpPr txBox="1"/>
          <p:nvPr/>
        </p:nvSpPr>
        <p:spPr>
          <a:xfrm>
            <a:off x="3838575" y="4615009"/>
            <a:ext cx="607714" cy="186689"/>
          </a:xfrm>
          <a:prstGeom prst="rect">
            <a:avLst/>
          </a:prstGeom>
          <a:noFill/>
        </p:spPr>
        <p:txBody>
          <a:bodyPr wrap="none" lIns="0" rIns="0" tIns="0" bIns="0">
            <a:spAutoFit/>
          </a:bodyPr>
          <a:lstStyle/>
          <a:p>
            <a:r>
              <a:rPr sz="1100" b="0">
                <a:solidFill>
                  <a:srgbClr val="2E2E2E"/>
                </a:solidFill>
                <a:latin typeface="Calibri"/>
              </a:rPr>
              <a:t>● Hybrid:</a:t>
            </a:r>
          </a:p>
        </p:txBody>
      </p:sp>
      <p:pic>
        <p:nvPicPr>
          <p:cNvPr id="93" name="Picture 92" descr="lock.png"/>
          <p:cNvPicPr>
            <a:picLocks noChangeAspect="1"/>
          </p:cNvPicPr>
          <p:nvPr/>
        </p:nvPicPr>
        <p:blipFill>
          <a:blip r:embed="rId13"/>
          <a:stretch>
            <a:fillRect/>
          </a:stretch>
        </p:blipFill>
        <p:spPr>
          <a:xfrm>
            <a:off x="4394341" y="4605230"/>
            <a:ext cx="128699" cy="187198"/>
          </a:xfrm>
          <a:prstGeom prst="rect">
            <a:avLst/>
          </a:prstGeom>
        </p:spPr>
      </p:pic>
      <p:sp>
        <p:nvSpPr>
          <p:cNvPr id="94" name="TextBox 93"/>
          <p:cNvSpPr txBox="1"/>
          <p:nvPr/>
        </p:nvSpPr>
        <p:spPr>
          <a:xfrm>
            <a:off x="456183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5421287" y="4605230"/>
            <a:ext cx="128699" cy="187198"/>
          </a:xfrm>
          <a:prstGeom prst="rect">
            <a:avLst/>
          </a:prstGeom>
        </p:spPr>
      </p:pic>
      <p:sp>
        <p:nvSpPr>
          <p:cNvPr id="96" name="TextBox 95"/>
          <p:cNvSpPr txBox="1"/>
          <p:nvPr/>
        </p:nvSpPr>
        <p:spPr>
          <a:xfrm>
            <a:off x="5588783" y="461500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7" name="TextBox 96"/>
          <p:cNvSpPr txBox="1"/>
          <p:nvPr/>
        </p:nvSpPr>
        <p:spPr>
          <a:xfrm>
            <a:off x="3838575" y="4832941"/>
            <a:ext cx="645914" cy="186689"/>
          </a:xfrm>
          <a:prstGeom prst="rect">
            <a:avLst/>
          </a:prstGeom>
          <a:noFill/>
        </p:spPr>
        <p:txBody>
          <a:bodyPr wrap="none" lIns="0" rIns="0" tIns="0" bIns="0">
            <a:spAutoFit/>
          </a:bodyPr>
          <a:lstStyle/>
          <a:p>
            <a:r>
              <a:rPr sz="1100" b="0">
                <a:solidFill>
                  <a:srgbClr val="2E2E2E"/>
                </a:solidFill>
                <a:latin typeface="Calibri"/>
              </a:rPr>
              <a:t>● Electric:</a:t>
            </a:r>
          </a:p>
        </p:txBody>
      </p:sp>
      <p:pic>
        <p:nvPicPr>
          <p:cNvPr id="98" name="Picture 97" descr="lock.png"/>
          <p:cNvPicPr>
            <a:picLocks noChangeAspect="1"/>
          </p:cNvPicPr>
          <p:nvPr/>
        </p:nvPicPr>
        <p:blipFill>
          <a:blip r:embed="rId13"/>
          <a:stretch>
            <a:fillRect/>
          </a:stretch>
        </p:blipFill>
        <p:spPr>
          <a:xfrm>
            <a:off x="4432540" y="4823162"/>
            <a:ext cx="128699" cy="187198"/>
          </a:xfrm>
          <a:prstGeom prst="rect">
            <a:avLst/>
          </a:prstGeom>
        </p:spPr>
      </p:pic>
      <p:sp>
        <p:nvSpPr>
          <p:cNvPr id="99" name="TextBox 98"/>
          <p:cNvSpPr txBox="1"/>
          <p:nvPr/>
        </p:nvSpPr>
        <p:spPr>
          <a:xfrm>
            <a:off x="4600036"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3"/>
          <a:stretch>
            <a:fillRect/>
          </a:stretch>
        </p:blipFill>
        <p:spPr>
          <a:xfrm>
            <a:off x="5459486" y="4823162"/>
            <a:ext cx="128699" cy="187198"/>
          </a:xfrm>
          <a:prstGeom prst="rect">
            <a:avLst/>
          </a:prstGeom>
        </p:spPr>
      </p:pic>
      <p:sp>
        <p:nvSpPr>
          <p:cNvPr id="101" name="TextBox 100"/>
          <p:cNvSpPr txBox="1"/>
          <p:nvPr/>
        </p:nvSpPr>
        <p:spPr>
          <a:xfrm>
            <a:off x="5626982"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2" name="TextBox 101"/>
          <p:cNvSpPr txBox="1"/>
          <p:nvPr/>
        </p:nvSpPr>
        <p:spPr>
          <a:xfrm>
            <a:off x="8524875" y="5842641"/>
            <a:ext cx="3116721" cy="194310"/>
          </a:xfrm>
          <a:prstGeom prst="rect">
            <a:avLst/>
          </a:prstGeom>
          <a:noFill/>
        </p:spPr>
        <p:txBody>
          <a:bodyPr wrap="none" lIns="0" rIns="0" tIns="0" bIns="0">
            <a:spAutoFit/>
          </a:bodyPr>
          <a:lstStyle/>
          <a:p>
            <a:r>
              <a:rPr sz="1150" b="1">
                <a:solidFill>
                  <a:srgbClr val="0B2E4A"/>
                </a:solidFill>
                <a:latin typeface="Calibri"/>
              </a:rPr>
              <a:t>The Propulsion Type segment is projected to grow</a:t>
            </a:r>
          </a:p>
        </p:txBody>
      </p:sp>
      <p:sp>
        <p:nvSpPr>
          <p:cNvPr id="103" name="TextBox 102"/>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04" name="Picture 103" descr="lock.png"/>
          <p:cNvPicPr>
            <a:picLocks noChangeAspect="1"/>
          </p:cNvPicPr>
          <p:nvPr/>
        </p:nvPicPr>
        <p:blipFill>
          <a:blip r:embed="rId13"/>
          <a:stretch>
            <a:fillRect/>
          </a:stretch>
        </p:blipFill>
        <p:spPr>
          <a:xfrm>
            <a:off x="9310118" y="6007677"/>
            <a:ext cx="134549" cy="195707"/>
          </a:xfrm>
          <a:prstGeom prst="rect">
            <a:avLst/>
          </a:prstGeom>
        </p:spPr>
      </p:pic>
      <p:sp>
        <p:nvSpPr>
          <p:cNvPr id="105" name="TextBox 104"/>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Propulsion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Propulsion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Propulsion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Propulsion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09635" cy="186689"/>
          </a:xfrm>
          <a:prstGeom prst="rect">
            <a:avLst/>
          </a:prstGeom>
          <a:noFill/>
        </p:spPr>
        <p:txBody>
          <a:bodyPr wrap="none" lIns="0" rIns="0" tIns="0" bIns="0">
            <a:spAutoFit/>
          </a:bodyPr>
          <a:lstStyle/>
          <a:p>
            <a:r>
              <a:rPr sz="1100" b="0">
                <a:solidFill>
                  <a:srgbClr val="2E2E2E"/>
                </a:solidFill>
                <a:latin typeface="Calibri"/>
              </a:rPr>
              <a:t>Hybrid followed by internal combustion engine are expected to be the two most attractive propulsion type segments in the global heavy commercial vehicle EPS market in terms of value over the forecast</a:t>
            </a:r>
          </a:p>
        </p:txBody>
      </p:sp>
      <p:sp>
        <p:nvSpPr>
          <p:cNvPr id="20" name="TextBox 19"/>
          <p:cNvSpPr txBox="1"/>
          <p:nvPr/>
        </p:nvSpPr>
        <p:spPr>
          <a:xfrm>
            <a:off x="257175" y="5861685"/>
            <a:ext cx="4089829" cy="186689"/>
          </a:xfrm>
          <a:prstGeom prst="rect">
            <a:avLst/>
          </a:prstGeom>
          <a:noFill/>
        </p:spPr>
        <p:txBody>
          <a:bodyPr wrap="none" lIns="0" rIns="0" tIns="0" bIns="0">
            <a:spAutoFit/>
          </a:bodyPr>
          <a:lstStyle/>
          <a:p>
            <a:r>
              <a:rPr sz="1100" b="0">
                <a:solidFill>
                  <a:srgbClr val="2E2E2E"/>
                </a:solidFill>
                <a:latin typeface="Calibri"/>
              </a:rPr>
              <a:t>period. Hybrid and internal combustion engine exhibit a CAGR index of</a:t>
            </a:r>
          </a:p>
        </p:txBody>
      </p:sp>
      <p:pic>
        <p:nvPicPr>
          <p:cNvPr id="21" name="Picture 20" descr="lock.png"/>
          <p:cNvPicPr>
            <a:picLocks noChangeAspect="1"/>
          </p:cNvPicPr>
          <p:nvPr/>
        </p:nvPicPr>
        <p:blipFill>
          <a:blip r:embed="rId6"/>
          <a:stretch>
            <a:fillRect/>
          </a:stretch>
        </p:blipFill>
        <p:spPr>
          <a:xfrm>
            <a:off x="4295056" y="5851905"/>
            <a:ext cx="128699" cy="187198"/>
          </a:xfrm>
          <a:prstGeom prst="rect">
            <a:avLst/>
          </a:prstGeom>
        </p:spPr>
      </p:pic>
      <p:sp>
        <p:nvSpPr>
          <p:cNvPr id="22" name="TextBox 21"/>
          <p:cNvSpPr txBox="1"/>
          <p:nvPr/>
        </p:nvSpPr>
        <p:spPr>
          <a:xfrm>
            <a:off x="446255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700446" y="5851905"/>
            <a:ext cx="128699" cy="187198"/>
          </a:xfrm>
          <a:prstGeom prst="rect">
            <a:avLst/>
          </a:prstGeom>
        </p:spPr>
      </p:pic>
      <p:sp>
        <p:nvSpPr>
          <p:cNvPr id="24" name="TextBox 23"/>
          <p:cNvSpPr txBox="1"/>
          <p:nvPr/>
        </p:nvSpPr>
        <p:spPr>
          <a:xfrm>
            <a:off x="486794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476915" y="5851905"/>
            <a:ext cx="128699" cy="187198"/>
          </a:xfrm>
          <a:prstGeom prst="rect">
            <a:avLst/>
          </a:prstGeom>
        </p:spPr>
      </p:pic>
      <p:sp>
        <p:nvSpPr>
          <p:cNvPr id="26" name="TextBox 25"/>
          <p:cNvSpPr txBox="1"/>
          <p:nvPr/>
        </p:nvSpPr>
        <p:spPr>
          <a:xfrm>
            <a:off x="664441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882305" y="5851905"/>
            <a:ext cx="128699" cy="187198"/>
          </a:xfrm>
          <a:prstGeom prst="rect">
            <a:avLst/>
          </a:prstGeom>
        </p:spPr>
      </p:pic>
      <p:sp>
        <p:nvSpPr>
          <p:cNvPr id="28" name="TextBox 27"/>
          <p:cNvSpPr txBox="1"/>
          <p:nvPr/>
        </p:nvSpPr>
        <p:spPr>
          <a:xfrm>
            <a:off x="704980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604205" y="5851905"/>
            <a:ext cx="128699" cy="187198"/>
          </a:xfrm>
          <a:prstGeom prst="rect">
            <a:avLst/>
          </a:prstGeom>
        </p:spPr>
      </p:pic>
      <p:sp>
        <p:nvSpPr>
          <p:cNvPr id="30" name="TextBox 29"/>
          <p:cNvSpPr txBox="1"/>
          <p:nvPr/>
        </p:nvSpPr>
        <p:spPr>
          <a:xfrm>
            <a:off x="9771701" y="5861685"/>
            <a:ext cx="1445096" cy="186689"/>
          </a:xfrm>
          <a:prstGeom prst="rect">
            <a:avLst/>
          </a:prstGeom>
          <a:noFill/>
        </p:spPr>
        <p:txBody>
          <a:bodyPr wrap="none" lIns="0" rIns="0" tIns="0" bIns="0">
            <a:spAutoFit/>
          </a:bodyPr>
          <a:lstStyle/>
          <a:p>
            <a:r>
              <a:rPr sz="1100" b="0">
                <a:solidFill>
                  <a:srgbClr val="2E2E2E"/>
                </a:solidFill>
                <a:latin typeface="Calibri"/>
              </a:rPr>
              <a:t>. The electric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Propulsion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Propulsion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Internal Combustion Engine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Electric</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Hybrid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Propulsion Type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3094826" y="5123309"/>
            <a:ext cx="263506" cy="383281"/>
          </a:xfrm>
          <a:prstGeom prst="rect">
            <a:avLst/>
          </a:prstGeom>
        </p:spPr>
      </p:pic>
      <p:sp>
        <p:nvSpPr>
          <p:cNvPr id="27" name="TextBox 26"/>
          <p:cNvSpPr txBox="1"/>
          <p:nvPr/>
        </p:nvSpPr>
        <p:spPr>
          <a:xfrm>
            <a:off x="6305550" y="4286250"/>
            <a:ext cx="3882320" cy="194310"/>
          </a:xfrm>
          <a:prstGeom prst="rect">
            <a:avLst/>
          </a:prstGeom>
          <a:noFill/>
        </p:spPr>
        <p:txBody>
          <a:bodyPr wrap="none" lIns="0" rIns="0" tIns="0" bIns="0">
            <a:spAutoFit/>
          </a:bodyPr>
          <a:lstStyle/>
          <a:p>
            <a:r>
              <a:rPr sz="1150" b="0">
                <a:solidFill>
                  <a:srgbClr val="2E2E2E"/>
                </a:solidFill>
                <a:latin typeface="Calibri"/>
              </a:rPr>
              <a:t>By 2036, hybrid segment is anticipated to witness an increase of</a:t>
            </a:r>
          </a:p>
        </p:txBody>
      </p:sp>
      <p:pic>
        <p:nvPicPr>
          <p:cNvPr id="28" name="Picture 27" descr="lock.png"/>
          <p:cNvPicPr>
            <a:picLocks noChangeAspect="1"/>
          </p:cNvPicPr>
          <p:nvPr/>
        </p:nvPicPr>
        <p:blipFill>
          <a:blip r:embed="rId7"/>
          <a:stretch>
            <a:fillRect/>
          </a:stretch>
        </p:blipFill>
        <p:spPr>
          <a:xfrm>
            <a:off x="10137024" y="4276026"/>
            <a:ext cx="134549" cy="195707"/>
          </a:xfrm>
          <a:prstGeom prst="rect">
            <a:avLst/>
          </a:prstGeom>
        </p:spPr>
      </p:pic>
      <p:sp>
        <p:nvSpPr>
          <p:cNvPr id="29" name="TextBox 28"/>
          <p:cNvSpPr txBox="1"/>
          <p:nvPr/>
        </p:nvSpPr>
        <p:spPr>
          <a:xfrm>
            <a:off x="10312133" y="4286250"/>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30" name="TextBox 29"/>
          <p:cNvSpPr txBox="1"/>
          <p:nvPr/>
        </p:nvSpPr>
        <p:spPr>
          <a:xfrm>
            <a:off x="6305550" y="4461510"/>
            <a:ext cx="5517418" cy="194310"/>
          </a:xfrm>
          <a:prstGeom prst="rect">
            <a:avLst/>
          </a:prstGeom>
          <a:noFill/>
        </p:spPr>
        <p:txBody>
          <a:bodyPr wrap="none" lIns="0" rIns="0" tIns="0" bIns="0">
            <a:spAutoFit/>
          </a:bodyPr>
          <a:lstStyle/>
          <a:p>
            <a:r>
              <a:rPr sz="1150" b="0">
                <a:solidFill>
                  <a:srgbClr val="2E2E2E"/>
                </a:solidFill>
                <a:latin typeface="Calibri"/>
              </a:rPr>
              <a:t>compared to 2026. The hybrid segment is expected to create an incremental opportunity of</a:t>
            </a:r>
          </a:p>
        </p:txBody>
      </p:sp>
      <p:sp>
        <p:nvSpPr>
          <p:cNvPr id="31" name="TextBox 30"/>
          <p:cNvSpPr txBox="1"/>
          <p:nvPr/>
        </p:nvSpPr>
        <p:spPr>
          <a:xfrm>
            <a:off x="6305550" y="4636770"/>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2" name="Picture 31" descr="lock.png"/>
          <p:cNvPicPr>
            <a:picLocks noChangeAspect="1"/>
          </p:cNvPicPr>
          <p:nvPr/>
        </p:nvPicPr>
        <p:blipFill>
          <a:blip r:embed="rId7"/>
          <a:stretch>
            <a:fillRect/>
          </a:stretch>
        </p:blipFill>
        <p:spPr>
          <a:xfrm>
            <a:off x="6565953" y="4626546"/>
            <a:ext cx="134549" cy="195707"/>
          </a:xfrm>
          <a:prstGeom prst="rect">
            <a:avLst/>
          </a:prstGeom>
        </p:spPr>
      </p:pic>
      <p:sp>
        <p:nvSpPr>
          <p:cNvPr id="33" name="TextBox 32"/>
          <p:cNvSpPr txBox="1"/>
          <p:nvPr/>
        </p:nvSpPr>
        <p:spPr>
          <a:xfrm>
            <a:off x="6741062" y="4636770"/>
            <a:ext cx="4599185" cy="194310"/>
          </a:xfrm>
          <a:prstGeom prst="rect">
            <a:avLst/>
          </a:prstGeom>
          <a:noFill/>
        </p:spPr>
        <p:txBody>
          <a:bodyPr wrap="none" lIns="0" rIns="0" tIns="0" bIns="0">
            <a:spAutoFit/>
          </a:bodyPr>
          <a:lstStyle/>
          <a:p>
            <a:r>
              <a:rPr sz="1150" b="0">
                <a:solidFill>
                  <a:srgbClr val="2E2E2E"/>
                </a:solidFill>
                <a:latin typeface="Calibri"/>
              </a:rPr>
              <a:t>Mn for the overall heavy commercial vehicle EPS market from 2026 to 2036.</a:t>
            </a:r>
          </a:p>
        </p:txBody>
      </p:sp>
      <p:sp>
        <p:nvSpPr>
          <p:cNvPr id="34" name="TextBox 33"/>
          <p:cNvSpPr txBox="1"/>
          <p:nvPr/>
        </p:nvSpPr>
        <p:spPr>
          <a:xfrm>
            <a:off x="6305550" y="4864607"/>
            <a:ext cx="5591175" cy="194310"/>
          </a:xfrm>
          <a:prstGeom prst="rect">
            <a:avLst/>
          </a:prstGeom>
          <a:noFill/>
        </p:spPr>
        <p:txBody>
          <a:bodyPr wrap="none" lIns="0" rIns="0" tIns="0" bIns="0">
            <a:spAutoFit/>
          </a:bodyPr>
          <a:lstStyle/>
          <a:p>
            <a:r>
              <a:rPr sz="1150" b="0">
                <a:solidFill>
                  <a:srgbClr val="2E2E2E"/>
                </a:solidFill>
                <a:latin typeface="Calibri"/>
              </a:rPr>
              <a:t>The internal combustion engine segment is expected to create an incremental opportunity of</a:t>
            </a:r>
          </a:p>
        </p:txBody>
      </p:sp>
      <p:sp>
        <p:nvSpPr>
          <p:cNvPr id="35" name="TextBox 34"/>
          <p:cNvSpPr txBox="1"/>
          <p:nvPr/>
        </p:nvSpPr>
        <p:spPr>
          <a:xfrm>
            <a:off x="6305550" y="503986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6" name="Picture 35" descr="lock.png"/>
          <p:cNvPicPr>
            <a:picLocks noChangeAspect="1"/>
          </p:cNvPicPr>
          <p:nvPr/>
        </p:nvPicPr>
        <p:blipFill>
          <a:blip r:embed="rId7"/>
          <a:stretch>
            <a:fillRect/>
          </a:stretch>
        </p:blipFill>
        <p:spPr>
          <a:xfrm>
            <a:off x="6565953" y="5029644"/>
            <a:ext cx="134549" cy="195707"/>
          </a:xfrm>
          <a:prstGeom prst="rect">
            <a:avLst/>
          </a:prstGeom>
        </p:spPr>
      </p:pic>
      <p:sp>
        <p:nvSpPr>
          <p:cNvPr id="37" name="TextBox 36"/>
          <p:cNvSpPr txBox="1"/>
          <p:nvPr/>
        </p:nvSpPr>
        <p:spPr>
          <a:xfrm>
            <a:off x="6741062" y="5039867"/>
            <a:ext cx="4853061" cy="194310"/>
          </a:xfrm>
          <a:prstGeom prst="rect">
            <a:avLst/>
          </a:prstGeom>
          <a:noFill/>
        </p:spPr>
        <p:txBody>
          <a:bodyPr wrap="none" lIns="0" rIns="0" tIns="0" bIns="0">
            <a:spAutoFit/>
          </a:bodyPr>
          <a:lstStyle/>
          <a:p>
            <a:r>
              <a:rPr sz="1150" b="0">
                <a:solidFill>
                  <a:srgbClr val="2E2E2E"/>
                </a:solidFill>
                <a:latin typeface="Calibri"/>
              </a:rPr>
              <a:t>Mn for the overall heavy commercial vehicle EPS market from 2026 to 2036. The</a:t>
            </a:r>
          </a:p>
        </p:txBody>
      </p:sp>
      <p:sp>
        <p:nvSpPr>
          <p:cNvPr id="38" name="TextBox 37"/>
          <p:cNvSpPr txBox="1"/>
          <p:nvPr/>
        </p:nvSpPr>
        <p:spPr>
          <a:xfrm>
            <a:off x="6305550" y="5215127"/>
            <a:ext cx="4425751" cy="194310"/>
          </a:xfrm>
          <a:prstGeom prst="rect">
            <a:avLst/>
          </a:prstGeom>
          <a:noFill/>
        </p:spPr>
        <p:txBody>
          <a:bodyPr wrap="none" lIns="0" rIns="0" tIns="0" bIns="0">
            <a:spAutoFit/>
          </a:bodyPr>
          <a:lstStyle/>
          <a:p>
            <a:r>
              <a:rPr sz="1150" b="0">
                <a:solidFill>
                  <a:srgbClr val="2E2E2E"/>
                </a:solidFill>
                <a:latin typeface="Calibri"/>
              </a:rPr>
              <a:t>electric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680455" y="5204904"/>
            <a:ext cx="134549" cy="195707"/>
          </a:xfrm>
          <a:prstGeom prst="rect">
            <a:avLst/>
          </a:prstGeom>
        </p:spPr>
      </p:pic>
      <p:sp>
        <p:nvSpPr>
          <p:cNvPr id="40" name="TextBox 39"/>
          <p:cNvSpPr txBox="1"/>
          <p:nvPr/>
        </p:nvSpPr>
        <p:spPr>
          <a:xfrm>
            <a:off x="10855564" y="521512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41" name="TextBox 40"/>
          <p:cNvSpPr txBox="1"/>
          <p:nvPr/>
        </p:nvSpPr>
        <p:spPr>
          <a:xfrm>
            <a:off x="6305550" y="5390387"/>
            <a:ext cx="3927127" cy="194310"/>
          </a:xfrm>
          <a:prstGeom prst="rect">
            <a:avLst/>
          </a:prstGeom>
          <a:noFill/>
        </p:spPr>
        <p:txBody>
          <a:bodyPr wrap="none" lIns="0" rIns="0" tIns="0" bIns="0">
            <a:spAutoFit/>
          </a:bodyPr>
          <a:lstStyle/>
          <a:p>
            <a:r>
              <a:rPr sz="1150" b="0">
                <a:solidFill>
                  <a:srgbClr val="2E2E2E"/>
                </a:solidFill>
                <a:latin typeface="Calibri"/>
              </a:rPr>
              <a:t>overall heavy commercial vehicle EPS market from 2026 to 2036.</a:t>
            </a:r>
          </a:p>
        </p:txBody>
      </p:sp>
      <p:sp>
        <p:nvSpPr>
          <p:cNvPr id="42"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Propulsion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Propulsion Type,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Propulsion Type (US$ Mn)</a:t>
            </a:r>
          </a:p>
        </p:txBody>
      </p:sp>
      <p:graphicFrame>
        <p:nvGraphicFramePr>
          <p:cNvPr id="12" name="Table 11"/>
          <p:cNvGraphicFramePr>
            <a:graphicFrameLocks noGrp="1"/>
          </p:cNvGraphicFramePr>
          <p:nvPr/>
        </p:nvGraphicFramePr>
        <p:xfrm>
          <a:off x="152400" y="1238250"/>
          <a:ext cx="11887205" cy="1238250"/>
        </p:xfrm>
        <a:graphic>
          <a:graphicData uri="http://schemas.openxmlformats.org/drawingml/2006/table">
            <a:tbl>
              <a:tblPr>
                <a:tableStyleId>{5C22544A-7EE6-4342-B048-85BDC9FD1C3A}</a:tableStyleId>
              </a:tblPr>
              <a:tblGrid>
                <a:gridCol w="1888536"/>
                <a:gridCol w="588157"/>
                <a:gridCol w="588157"/>
                <a:gridCol w="588157"/>
                <a:gridCol w="588157"/>
                <a:gridCol w="588157"/>
                <a:gridCol w="588157"/>
                <a:gridCol w="588157"/>
                <a:gridCol w="588157"/>
                <a:gridCol w="588157"/>
                <a:gridCol w="588157"/>
                <a:gridCol w="588157"/>
                <a:gridCol w="588157"/>
                <a:gridCol w="588157"/>
                <a:gridCol w="588157"/>
                <a:gridCol w="588157"/>
                <a:gridCol w="588157"/>
                <a:gridCol w="588157"/>
              </a:tblGrid>
              <a:tr h="246126">
                <a:tc>
                  <a:txBody>
                    <a:bodyPr wrap="none"/>
                    <a:lstStyle/>
                    <a:p>
                      <a:pPr algn="l"/>
                      <a:r>
                        <a:rPr sz="1100" b="1">
                          <a:solidFill>
                            <a:srgbClr val="0B2E4A"/>
                          </a:solidFill>
                          <a:latin typeface="Calibri"/>
                        </a:rPr>
                        <a:t>Propulsion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Electric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Hybrid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Propulsion Type</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53580" y="1713738"/>
            <a:ext cx="366712" cy="533400"/>
          </a:xfrm>
          <a:prstGeom prst="rect">
            <a:avLst/>
          </a:prstGeom>
        </p:spPr>
      </p:pic>
      <p:sp>
        <p:nvSpPr>
          <p:cNvPr id="20" name="TextBox 19"/>
          <p:cNvSpPr txBox="1"/>
          <p:nvPr/>
        </p:nvSpPr>
        <p:spPr>
          <a:xfrm>
            <a:off x="276225" y="3238500"/>
            <a:ext cx="3638165" cy="194310"/>
          </a:xfrm>
          <a:prstGeom prst="rect">
            <a:avLst/>
          </a:prstGeom>
          <a:noFill/>
        </p:spPr>
        <p:txBody>
          <a:bodyPr wrap="none" lIns="0" rIns="0" tIns="0" bIns="0">
            <a:spAutoFit/>
          </a:bodyPr>
          <a:lstStyle/>
          <a:p>
            <a:r>
              <a:rPr sz="1150" b="0">
                <a:solidFill>
                  <a:srgbClr val="2E2E2E"/>
                </a:solidFill>
                <a:latin typeface="Calibri"/>
              </a:rPr>
              <a:t>Internal combustion engine segment is projected to register</a:t>
            </a:r>
          </a:p>
        </p:txBody>
      </p:sp>
      <p:pic>
        <p:nvPicPr>
          <p:cNvPr id="21" name="Picture 20" descr="lock.png"/>
          <p:cNvPicPr>
            <a:picLocks noChangeAspect="1"/>
          </p:cNvPicPr>
          <p:nvPr/>
        </p:nvPicPr>
        <p:blipFill>
          <a:blip r:embed="rId4"/>
          <a:stretch>
            <a:fillRect/>
          </a:stretch>
        </p:blipFill>
        <p:spPr>
          <a:xfrm>
            <a:off x="3863544" y="3228276"/>
            <a:ext cx="134549" cy="195707"/>
          </a:xfrm>
          <a:prstGeom prst="rect">
            <a:avLst/>
          </a:prstGeom>
        </p:spPr>
      </p:pic>
      <p:sp>
        <p:nvSpPr>
          <p:cNvPr id="22" name="TextBox 21"/>
          <p:cNvSpPr txBox="1"/>
          <p:nvPr/>
        </p:nvSpPr>
        <p:spPr>
          <a:xfrm>
            <a:off x="4038653" y="3238500"/>
            <a:ext cx="7804013" cy="194310"/>
          </a:xfrm>
          <a:prstGeom prst="rect">
            <a:avLst/>
          </a:prstGeom>
          <a:noFill/>
        </p:spPr>
        <p:txBody>
          <a:bodyPr wrap="none" lIns="0" rIns="0" tIns="0" bIns="0">
            <a:spAutoFit/>
          </a:bodyPr>
          <a:lstStyle/>
          <a:p>
            <a:r>
              <a:rPr sz="1150" b="0">
                <a:solidFill>
                  <a:srgbClr val="2E2E2E"/>
                </a:solidFill>
                <a:latin typeface="Calibri"/>
              </a:rPr>
              <a:t>X higher value than hybrid segment in 2036. Among heavy commercial vehicle EPS by propulsion type, hybrid segment is expected</a:t>
            </a:r>
          </a:p>
        </p:txBody>
      </p:sp>
      <p:sp>
        <p:nvSpPr>
          <p:cNvPr id="23" name="TextBox 22"/>
          <p:cNvSpPr txBox="1"/>
          <p:nvPr/>
        </p:nvSpPr>
        <p:spPr>
          <a:xfrm>
            <a:off x="276225" y="3413760"/>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24" name="Picture 23" descr="lock.png"/>
          <p:cNvPicPr>
            <a:picLocks noChangeAspect="1"/>
          </p:cNvPicPr>
          <p:nvPr/>
        </p:nvPicPr>
        <p:blipFill>
          <a:blip r:embed="rId4"/>
          <a:stretch>
            <a:fillRect/>
          </a:stretch>
        </p:blipFill>
        <p:spPr>
          <a:xfrm>
            <a:off x="2132320" y="3403536"/>
            <a:ext cx="134549" cy="195707"/>
          </a:xfrm>
          <a:prstGeom prst="rect">
            <a:avLst/>
          </a:prstGeom>
        </p:spPr>
      </p:pic>
      <p:sp>
        <p:nvSpPr>
          <p:cNvPr id="25" name="TextBox 24"/>
          <p:cNvSpPr txBox="1"/>
          <p:nvPr/>
        </p:nvSpPr>
        <p:spPr>
          <a:xfrm>
            <a:off x="2307429"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7636284" cy="194310"/>
          </a:xfrm>
          <a:prstGeom prst="rect">
            <a:avLst/>
          </a:prstGeom>
          <a:noFill/>
        </p:spPr>
        <p:txBody>
          <a:bodyPr wrap="none" lIns="0" rIns="0" tIns="0" bIns="0">
            <a:spAutoFit/>
          </a:bodyPr>
          <a:lstStyle/>
          <a:p>
            <a:r>
              <a:rPr sz="1150" b="0">
                <a:solidFill>
                  <a:srgbClr val="2E2E2E"/>
                </a:solidFill>
                <a:latin typeface="Calibri"/>
              </a:rPr>
              <a:t>In terms of value share by propulsion type, the internal combustion engine segment is expected to dominate the market, losing</a:t>
            </a:r>
          </a:p>
        </p:txBody>
      </p:sp>
      <p:pic>
        <p:nvPicPr>
          <p:cNvPr id="27" name="Picture 26" descr="lock.png"/>
          <p:cNvPicPr>
            <a:picLocks noChangeAspect="1"/>
          </p:cNvPicPr>
          <p:nvPr/>
        </p:nvPicPr>
        <p:blipFill>
          <a:blip r:embed="rId4"/>
          <a:stretch>
            <a:fillRect/>
          </a:stretch>
        </p:blipFill>
        <p:spPr>
          <a:xfrm>
            <a:off x="7861663" y="3631374"/>
            <a:ext cx="134549" cy="195707"/>
          </a:xfrm>
          <a:prstGeom prst="rect">
            <a:avLst/>
          </a:prstGeom>
        </p:spPr>
      </p:pic>
      <p:sp>
        <p:nvSpPr>
          <p:cNvPr id="28" name="TextBox 27"/>
          <p:cNvSpPr txBox="1"/>
          <p:nvPr/>
        </p:nvSpPr>
        <p:spPr>
          <a:xfrm>
            <a:off x="8036772"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431915" y="3631374"/>
            <a:ext cx="134549" cy="195707"/>
          </a:xfrm>
          <a:prstGeom prst="rect">
            <a:avLst/>
          </a:prstGeom>
        </p:spPr>
      </p:pic>
      <p:sp>
        <p:nvSpPr>
          <p:cNvPr id="30" name="TextBox 29"/>
          <p:cNvSpPr txBox="1"/>
          <p:nvPr/>
        </p:nvSpPr>
        <p:spPr>
          <a:xfrm>
            <a:off x="9607024"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Propulsion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Propulsion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Propulsion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11205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10728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310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Electric</a:t>
            </a:r>
          </a:p>
        </p:txBody>
      </p:sp>
      <p:sp>
        <p:nvSpPr>
          <p:cNvPr id="18" name="BPS Value 1"/>
          <p:cNvSpPr txBox="1"/>
          <p:nvPr/>
        </p:nvSpPr>
        <p:spPr>
          <a:xfrm>
            <a:off x="6896100" y="20930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347077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346601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3898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Hybrid</a:t>
            </a:r>
          </a:p>
        </p:txBody>
      </p:sp>
      <p:sp>
        <p:nvSpPr>
          <p:cNvPr id="22" name="BPS Value 2"/>
          <p:cNvSpPr txBox="1"/>
          <p:nvPr/>
        </p:nvSpPr>
        <p:spPr>
          <a:xfrm>
            <a:off x="6896100" y="345172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531617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53114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52352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Internal Combustion Engine</a:t>
            </a:r>
          </a:p>
        </p:txBody>
      </p:sp>
      <p:sp>
        <p:nvSpPr>
          <p:cNvPr id="26" name="BPS Value 3"/>
          <p:cNvSpPr txBox="1"/>
          <p:nvPr/>
        </p:nvSpPr>
        <p:spPr>
          <a:xfrm>
            <a:off x="6896100" y="529712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Propulsion Type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904022" cy="194310"/>
          </a:xfrm>
          <a:prstGeom prst="rect">
            <a:avLst/>
          </a:prstGeom>
          <a:noFill/>
        </p:spPr>
        <p:txBody>
          <a:bodyPr wrap="none" lIns="0" rIns="0" tIns="0" bIns="0">
            <a:spAutoFit/>
          </a:bodyPr>
          <a:lstStyle/>
          <a:p>
            <a:r>
              <a:rPr sz="1150" b="0">
                <a:solidFill>
                  <a:srgbClr val="2E2E2E"/>
                </a:solidFill>
                <a:latin typeface="Calibri"/>
              </a:rPr>
              <a:t>Among heavy commercial vehicle EPS by propulsion type, hybrid</a:t>
            </a:r>
          </a:p>
        </p:txBody>
      </p:sp>
      <p:sp>
        <p:nvSpPr>
          <p:cNvPr id="34" name="TextBox 33"/>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5" name="Picture 34" descr="lock.png"/>
          <p:cNvPicPr>
            <a:picLocks noChangeAspect="1"/>
          </p:cNvPicPr>
          <p:nvPr/>
        </p:nvPicPr>
        <p:blipFill>
          <a:blip r:embed="rId5"/>
          <a:stretch>
            <a:fillRect/>
          </a:stretch>
        </p:blipFill>
        <p:spPr>
          <a:xfrm>
            <a:off x="10935343" y="1565211"/>
            <a:ext cx="134549" cy="195707"/>
          </a:xfrm>
          <a:prstGeom prst="rect">
            <a:avLst/>
          </a:prstGeom>
        </p:spPr>
      </p:pic>
      <p:sp>
        <p:nvSpPr>
          <p:cNvPr id="36" name="TextBox 35"/>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7" name="TextBox 36"/>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8" name="TextBox 37"/>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propulsion type, the internal combustion</a:t>
            </a:r>
          </a:p>
        </p:txBody>
      </p:sp>
      <p:sp>
        <p:nvSpPr>
          <p:cNvPr id="39" name="TextBox 38"/>
          <p:cNvSpPr txBox="1"/>
          <p:nvPr/>
        </p:nvSpPr>
        <p:spPr>
          <a:xfrm>
            <a:off x="7829550" y="2153793"/>
            <a:ext cx="3599085" cy="194310"/>
          </a:xfrm>
          <a:prstGeom prst="rect">
            <a:avLst/>
          </a:prstGeom>
          <a:noFill/>
        </p:spPr>
        <p:txBody>
          <a:bodyPr wrap="none" lIns="0" rIns="0" tIns="0" bIns="0">
            <a:spAutoFit/>
          </a:bodyPr>
          <a:lstStyle/>
          <a:p>
            <a:r>
              <a:rPr sz="1150" b="0">
                <a:solidFill>
                  <a:srgbClr val="2E2E2E"/>
                </a:solidFill>
                <a:latin typeface="Calibri"/>
              </a:rPr>
              <a:t>engine segment is expected to dominate the market, losing</a:t>
            </a:r>
          </a:p>
        </p:txBody>
      </p:sp>
      <p:pic>
        <p:nvPicPr>
          <p:cNvPr id="40" name="Picture 39" descr="lock.png"/>
          <p:cNvPicPr>
            <a:picLocks noChangeAspect="1"/>
          </p:cNvPicPr>
          <p:nvPr/>
        </p:nvPicPr>
        <p:blipFill>
          <a:blip r:embed="rId5"/>
          <a:stretch>
            <a:fillRect/>
          </a:stretch>
        </p:blipFill>
        <p:spPr>
          <a:xfrm>
            <a:off x="11377789" y="2143569"/>
            <a:ext cx="134549" cy="195707"/>
          </a:xfrm>
          <a:prstGeom prst="rect">
            <a:avLst/>
          </a:prstGeom>
        </p:spPr>
      </p:pic>
      <p:sp>
        <p:nvSpPr>
          <p:cNvPr id="41" name="TextBox 40"/>
          <p:cNvSpPr txBox="1"/>
          <p:nvPr/>
        </p:nvSpPr>
        <p:spPr>
          <a:xfrm>
            <a:off x="7829550"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2" name="Picture 41" descr="lock.png"/>
          <p:cNvPicPr>
            <a:picLocks noChangeAspect="1"/>
          </p:cNvPicPr>
          <p:nvPr/>
        </p:nvPicPr>
        <p:blipFill>
          <a:blip r:embed="rId5"/>
          <a:stretch>
            <a:fillRect/>
          </a:stretch>
        </p:blipFill>
        <p:spPr>
          <a:xfrm>
            <a:off x="9224693" y="2318829"/>
            <a:ext cx="134549" cy="195707"/>
          </a:xfrm>
          <a:prstGeom prst="rect">
            <a:avLst/>
          </a:prstGeom>
        </p:spPr>
      </p:pic>
      <p:sp>
        <p:nvSpPr>
          <p:cNvPr id="43" name="TextBox 42"/>
          <p:cNvSpPr txBox="1"/>
          <p:nvPr/>
        </p:nvSpPr>
        <p:spPr>
          <a:xfrm>
            <a:off x="939980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Demand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Demand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Demand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Demand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Demand Type segment categorizes the market by demand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OEM</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Aftermaket</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Demand Type split shows how demand is distributed across demand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2_042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3_613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5_9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357_7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766_9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7_9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881114" cy="186689"/>
          </a:xfrm>
          <a:prstGeom prst="rect">
            <a:avLst/>
          </a:prstGeom>
          <a:noFill/>
        </p:spPr>
        <p:txBody>
          <a:bodyPr wrap="none" lIns="0" rIns="0" tIns="0" bIns="0">
            <a:spAutoFit/>
          </a:bodyPr>
          <a:lstStyle/>
          <a:p>
            <a:r>
              <a:rPr sz="1100" b="0">
                <a:solidFill>
                  <a:srgbClr val="2E2E2E"/>
                </a:solidFill>
                <a:latin typeface="Calibri"/>
              </a:rPr>
              <a:t>Among heavy commercial vehicle EPS by demand</a:t>
            </a:r>
          </a:p>
        </p:txBody>
      </p:sp>
      <p:sp>
        <p:nvSpPr>
          <p:cNvPr id="58" name="TextBox 57"/>
          <p:cNvSpPr txBox="1"/>
          <p:nvPr/>
        </p:nvSpPr>
        <p:spPr>
          <a:xfrm>
            <a:off x="485775" y="4397077"/>
            <a:ext cx="2839640" cy="186689"/>
          </a:xfrm>
          <a:prstGeom prst="rect">
            <a:avLst/>
          </a:prstGeom>
          <a:noFill/>
        </p:spPr>
        <p:txBody>
          <a:bodyPr wrap="none" lIns="0" rIns="0" tIns="0" bIns="0">
            <a:spAutoFit/>
          </a:bodyPr>
          <a:lstStyle/>
          <a:p>
            <a:r>
              <a:rPr sz="1100" b="0">
                <a:solidFill>
                  <a:srgbClr val="2E2E2E"/>
                </a:solidFill>
                <a:latin typeface="Calibri"/>
              </a:rPr>
              <a:t>type, aftermaket segment is expected to witness</a:t>
            </a:r>
          </a:p>
        </p:txBody>
      </p:sp>
      <p:sp>
        <p:nvSpPr>
          <p:cNvPr id="59" name="TextBox 58"/>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60" name="Picture 59" descr="lock.png"/>
          <p:cNvPicPr>
            <a:picLocks noChangeAspect="1"/>
          </p:cNvPicPr>
          <p:nvPr/>
        </p:nvPicPr>
        <p:blipFill>
          <a:blip r:embed="rId10"/>
          <a:stretch>
            <a:fillRect/>
          </a:stretch>
        </p:blipFill>
        <p:spPr>
          <a:xfrm>
            <a:off x="1646163" y="4554938"/>
            <a:ext cx="128699" cy="187198"/>
          </a:xfrm>
          <a:prstGeom prst="rect">
            <a:avLst/>
          </a:prstGeom>
        </p:spPr>
      </p:pic>
      <p:sp>
        <p:nvSpPr>
          <p:cNvPr id="61" name="TextBox 60"/>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2" name="TextBox 61"/>
          <p:cNvSpPr txBox="1"/>
          <p:nvPr/>
        </p:nvSpPr>
        <p:spPr>
          <a:xfrm>
            <a:off x="485775" y="4732357"/>
            <a:ext cx="2898849" cy="186689"/>
          </a:xfrm>
          <a:prstGeom prst="rect">
            <a:avLst/>
          </a:prstGeom>
          <a:noFill/>
        </p:spPr>
        <p:txBody>
          <a:bodyPr wrap="none" lIns="0" rIns="0" tIns="0" bIns="0">
            <a:spAutoFit/>
          </a:bodyPr>
          <a:lstStyle/>
          <a:p>
            <a:r>
              <a:rPr sz="1100" b="0">
                <a:solidFill>
                  <a:srgbClr val="2E2E2E"/>
                </a:solidFill>
                <a:latin typeface="Calibri"/>
              </a:rPr>
              <a:t>In terms of value share by demand type, the OEM</a:t>
            </a:r>
          </a:p>
        </p:txBody>
      </p:sp>
      <p:sp>
        <p:nvSpPr>
          <p:cNvPr id="63" name="TextBox 62"/>
          <p:cNvSpPr txBox="1"/>
          <p:nvPr/>
        </p:nvSpPr>
        <p:spPr>
          <a:xfrm>
            <a:off x="485775" y="489999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64" name="TextBox 63"/>
          <p:cNvSpPr txBox="1"/>
          <p:nvPr/>
        </p:nvSpPr>
        <p:spPr>
          <a:xfrm>
            <a:off x="485775" y="506763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65" name="Picture 64" descr="lock.png"/>
          <p:cNvPicPr>
            <a:picLocks noChangeAspect="1"/>
          </p:cNvPicPr>
          <p:nvPr/>
        </p:nvPicPr>
        <p:blipFill>
          <a:blip r:embed="rId10"/>
          <a:stretch>
            <a:fillRect/>
          </a:stretch>
        </p:blipFill>
        <p:spPr>
          <a:xfrm>
            <a:off x="841814" y="5057858"/>
            <a:ext cx="128699" cy="187198"/>
          </a:xfrm>
          <a:prstGeom prst="rect">
            <a:avLst/>
          </a:prstGeom>
        </p:spPr>
      </p:pic>
      <p:sp>
        <p:nvSpPr>
          <p:cNvPr id="66" name="TextBox 65"/>
          <p:cNvSpPr txBox="1"/>
          <p:nvPr/>
        </p:nvSpPr>
        <p:spPr>
          <a:xfrm>
            <a:off x="1009309"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7" name="Picture 66" descr="lock.png"/>
          <p:cNvPicPr>
            <a:picLocks noChangeAspect="1"/>
          </p:cNvPicPr>
          <p:nvPr/>
        </p:nvPicPr>
        <p:blipFill>
          <a:blip r:embed="rId10"/>
          <a:stretch>
            <a:fillRect/>
          </a:stretch>
        </p:blipFill>
        <p:spPr>
          <a:xfrm>
            <a:off x="2343794" y="5057858"/>
            <a:ext cx="128699" cy="187198"/>
          </a:xfrm>
          <a:prstGeom prst="rect">
            <a:avLst/>
          </a:prstGeom>
        </p:spPr>
      </p:pic>
      <p:sp>
        <p:nvSpPr>
          <p:cNvPr id="68" name="TextBox 67"/>
          <p:cNvSpPr txBox="1"/>
          <p:nvPr/>
        </p:nvSpPr>
        <p:spPr>
          <a:xfrm>
            <a:off x="2511290" y="506763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69" name="TextBox 68"/>
          <p:cNvSpPr txBox="1"/>
          <p:nvPr/>
        </p:nvSpPr>
        <p:spPr>
          <a:xfrm>
            <a:off x="485775" y="523527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0" name="TextBox 69"/>
          <p:cNvSpPr txBox="1"/>
          <p:nvPr/>
        </p:nvSpPr>
        <p:spPr>
          <a:xfrm>
            <a:off x="485775" y="5453209"/>
            <a:ext cx="2197893" cy="186689"/>
          </a:xfrm>
          <a:prstGeom prst="rect">
            <a:avLst/>
          </a:prstGeom>
          <a:noFill/>
        </p:spPr>
        <p:txBody>
          <a:bodyPr wrap="none" lIns="0" rIns="0" tIns="0" bIns="0">
            <a:spAutoFit/>
          </a:bodyPr>
          <a:lstStyle/>
          <a:p>
            <a:r>
              <a:rPr sz="1100" b="0">
                <a:solidFill>
                  <a:srgbClr val="2E2E2E"/>
                </a:solidFill>
                <a:latin typeface="Calibri"/>
              </a:rPr>
              <a:t>OEM segment is projected to register</a:t>
            </a:r>
          </a:p>
        </p:txBody>
      </p:sp>
      <p:pic>
        <p:nvPicPr>
          <p:cNvPr id="71" name="Picture 70" descr="lock.png"/>
          <p:cNvPicPr>
            <a:picLocks noChangeAspect="1"/>
          </p:cNvPicPr>
          <p:nvPr/>
        </p:nvPicPr>
        <p:blipFill>
          <a:blip r:embed="rId10"/>
          <a:stretch>
            <a:fillRect/>
          </a:stretch>
        </p:blipFill>
        <p:spPr>
          <a:xfrm>
            <a:off x="2631720" y="5443430"/>
            <a:ext cx="128699" cy="187198"/>
          </a:xfrm>
          <a:prstGeom prst="rect">
            <a:avLst/>
          </a:prstGeom>
        </p:spPr>
      </p:pic>
      <p:sp>
        <p:nvSpPr>
          <p:cNvPr id="72" name="TextBox 71"/>
          <p:cNvSpPr txBox="1"/>
          <p:nvPr/>
        </p:nvSpPr>
        <p:spPr>
          <a:xfrm>
            <a:off x="2799216" y="5453209"/>
            <a:ext cx="543594" cy="186689"/>
          </a:xfrm>
          <a:prstGeom prst="rect">
            <a:avLst/>
          </a:prstGeom>
          <a:noFill/>
        </p:spPr>
        <p:txBody>
          <a:bodyPr wrap="none" lIns="0" rIns="0" tIns="0" bIns="0">
            <a:spAutoFit/>
          </a:bodyPr>
          <a:lstStyle/>
          <a:p>
            <a:r>
              <a:rPr sz="1100" b="0">
                <a:solidFill>
                  <a:srgbClr val="2E2E2E"/>
                </a:solidFill>
                <a:latin typeface="Calibri"/>
              </a:rPr>
              <a:t>X higher</a:t>
            </a:r>
          </a:p>
        </p:txBody>
      </p:sp>
      <p:sp>
        <p:nvSpPr>
          <p:cNvPr id="73" name="TextBox 72"/>
          <p:cNvSpPr txBox="1"/>
          <p:nvPr/>
        </p:nvSpPr>
        <p:spPr>
          <a:xfrm>
            <a:off x="485775" y="5620849"/>
            <a:ext cx="2349326" cy="186689"/>
          </a:xfrm>
          <a:prstGeom prst="rect">
            <a:avLst/>
          </a:prstGeom>
          <a:noFill/>
        </p:spPr>
        <p:txBody>
          <a:bodyPr wrap="none" lIns="0" rIns="0" tIns="0" bIns="0">
            <a:spAutoFit/>
          </a:bodyPr>
          <a:lstStyle/>
          <a:p>
            <a:r>
              <a:rPr sz="1100" b="0">
                <a:solidFill>
                  <a:srgbClr val="2E2E2E"/>
                </a:solidFill>
                <a:latin typeface="Calibri"/>
              </a:rPr>
              <a:t>value than aftermaket segment in 2036.</a:t>
            </a:r>
          </a:p>
        </p:txBody>
      </p:sp>
      <p:sp>
        <p:nvSpPr>
          <p:cNvPr id="74" name="TextBox 73"/>
          <p:cNvSpPr txBox="1"/>
          <p:nvPr/>
        </p:nvSpPr>
        <p:spPr>
          <a:xfrm>
            <a:off x="3838575" y="4229437"/>
            <a:ext cx="509761" cy="186689"/>
          </a:xfrm>
          <a:prstGeom prst="rect">
            <a:avLst/>
          </a:prstGeom>
          <a:noFill/>
        </p:spPr>
        <p:txBody>
          <a:bodyPr wrap="none" lIns="0" rIns="0" tIns="0" bIns="0">
            <a:spAutoFit/>
          </a:bodyPr>
          <a:lstStyle/>
          <a:p>
            <a:r>
              <a:rPr sz="1100" b="0">
                <a:solidFill>
                  <a:srgbClr val="2E2E2E"/>
                </a:solidFill>
                <a:latin typeface="Calibri"/>
              </a:rPr>
              <a:t>● OEM:</a:t>
            </a:r>
          </a:p>
        </p:txBody>
      </p:sp>
      <p:pic>
        <p:nvPicPr>
          <p:cNvPr id="75" name="Picture 74" descr="lock.png"/>
          <p:cNvPicPr>
            <a:picLocks noChangeAspect="1"/>
          </p:cNvPicPr>
          <p:nvPr/>
        </p:nvPicPr>
        <p:blipFill>
          <a:blip r:embed="rId10"/>
          <a:stretch>
            <a:fillRect/>
          </a:stretch>
        </p:blipFill>
        <p:spPr>
          <a:xfrm>
            <a:off x="4296387" y="4219658"/>
            <a:ext cx="128699" cy="187198"/>
          </a:xfrm>
          <a:prstGeom prst="rect">
            <a:avLst/>
          </a:prstGeom>
        </p:spPr>
      </p:pic>
      <p:sp>
        <p:nvSpPr>
          <p:cNvPr id="76" name="TextBox 75"/>
          <p:cNvSpPr txBox="1"/>
          <p:nvPr/>
        </p:nvSpPr>
        <p:spPr>
          <a:xfrm>
            <a:off x="446388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5323333" y="4219658"/>
            <a:ext cx="128699" cy="187198"/>
          </a:xfrm>
          <a:prstGeom prst="rect">
            <a:avLst/>
          </a:prstGeom>
        </p:spPr>
      </p:pic>
      <p:sp>
        <p:nvSpPr>
          <p:cNvPr id="78" name="TextBox 77"/>
          <p:cNvSpPr txBox="1"/>
          <p:nvPr/>
        </p:nvSpPr>
        <p:spPr>
          <a:xfrm>
            <a:off x="549082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9" name="TextBox 78"/>
          <p:cNvSpPr txBox="1"/>
          <p:nvPr/>
        </p:nvSpPr>
        <p:spPr>
          <a:xfrm>
            <a:off x="3838575" y="4447369"/>
            <a:ext cx="876746" cy="186689"/>
          </a:xfrm>
          <a:prstGeom prst="rect">
            <a:avLst/>
          </a:prstGeom>
          <a:noFill/>
        </p:spPr>
        <p:txBody>
          <a:bodyPr wrap="none" lIns="0" rIns="0" tIns="0" bIns="0">
            <a:spAutoFit/>
          </a:bodyPr>
          <a:lstStyle/>
          <a:p>
            <a:r>
              <a:rPr sz="1100" b="0">
                <a:solidFill>
                  <a:srgbClr val="2E2E2E"/>
                </a:solidFill>
                <a:latin typeface="Calibri"/>
              </a:rPr>
              <a:t>● Aftermaket:</a:t>
            </a:r>
          </a:p>
        </p:txBody>
      </p:sp>
      <p:pic>
        <p:nvPicPr>
          <p:cNvPr id="80" name="Picture 79" descr="lock.png"/>
          <p:cNvPicPr>
            <a:picLocks noChangeAspect="1"/>
          </p:cNvPicPr>
          <p:nvPr/>
        </p:nvPicPr>
        <p:blipFill>
          <a:blip r:embed="rId10"/>
          <a:stretch>
            <a:fillRect/>
          </a:stretch>
        </p:blipFill>
        <p:spPr>
          <a:xfrm>
            <a:off x="4663373" y="4437590"/>
            <a:ext cx="128699" cy="187198"/>
          </a:xfrm>
          <a:prstGeom prst="rect">
            <a:avLst/>
          </a:prstGeom>
        </p:spPr>
      </p:pic>
      <p:sp>
        <p:nvSpPr>
          <p:cNvPr id="81" name="TextBox 80"/>
          <p:cNvSpPr txBox="1"/>
          <p:nvPr/>
        </p:nvSpPr>
        <p:spPr>
          <a:xfrm>
            <a:off x="483086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0"/>
          <a:stretch>
            <a:fillRect/>
          </a:stretch>
        </p:blipFill>
        <p:spPr>
          <a:xfrm>
            <a:off x="5690319" y="4437590"/>
            <a:ext cx="128699" cy="187198"/>
          </a:xfrm>
          <a:prstGeom prst="rect">
            <a:avLst/>
          </a:prstGeom>
        </p:spPr>
      </p:pic>
      <p:sp>
        <p:nvSpPr>
          <p:cNvPr id="83" name="TextBox 82"/>
          <p:cNvSpPr txBox="1"/>
          <p:nvPr/>
        </p:nvSpPr>
        <p:spPr>
          <a:xfrm>
            <a:off x="5857814"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4" name="TextBox 83"/>
          <p:cNvSpPr txBox="1"/>
          <p:nvPr/>
        </p:nvSpPr>
        <p:spPr>
          <a:xfrm>
            <a:off x="8524875" y="5842641"/>
            <a:ext cx="3134407" cy="194310"/>
          </a:xfrm>
          <a:prstGeom prst="rect">
            <a:avLst/>
          </a:prstGeom>
          <a:noFill/>
        </p:spPr>
        <p:txBody>
          <a:bodyPr wrap="none" lIns="0" rIns="0" tIns="0" bIns="0">
            <a:spAutoFit/>
          </a:bodyPr>
          <a:lstStyle/>
          <a:p>
            <a:r>
              <a:rPr sz="1150" b="1">
                <a:solidFill>
                  <a:srgbClr val="0B2E4A"/>
                </a:solidFill>
                <a:latin typeface="Calibri"/>
              </a:rPr>
              <a:t>The Demand Type segment is projected to grow at</a:t>
            </a:r>
          </a:p>
        </p:txBody>
      </p:sp>
      <p:sp>
        <p:nvSpPr>
          <p:cNvPr id="85" name="TextBox 84"/>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86" name="Picture 85" descr="lock.png"/>
          <p:cNvPicPr>
            <a:picLocks noChangeAspect="1"/>
          </p:cNvPicPr>
          <p:nvPr/>
        </p:nvPicPr>
        <p:blipFill>
          <a:blip r:embed="rId10"/>
          <a:stretch>
            <a:fillRect/>
          </a:stretch>
        </p:blipFill>
        <p:spPr>
          <a:xfrm>
            <a:off x="9154084" y="6007677"/>
            <a:ext cx="134549" cy="195707"/>
          </a:xfrm>
          <a:prstGeom prst="rect">
            <a:avLst/>
          </a:prstGeom>
        </p:spPr>
      </p:pic>
      <p:sp>
        <p:nvSpPr>
          <p:cNvPr id="87" name="TextBox 86"/>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Demand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Demand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Demand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Demand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436920" cy="186689"/>
          </a:xfrm>
          <a:prstGeom prst="rect">
            <a:avLst/>
          </a:prstGeom>
          <a:noFill/>
        </p:spPr>
        <p:txBody>
          <a:bodyPr wrap="none" lIns="0" rIns="0" tIns="0" bIns="0">
            <a:spAutoFit/>
          </a:bodyPr>
          <a:lstStyle/>
          <a:p>
            <a:r>
              <a:rPr sz="1100" b="0">
                <a:solidFill>
                  <a:srgbClr val="2E2E2E"/>
                </a:solidFill>
                <a:latin typeface="Calibri"/>
              </a:rPr>
              <a:t>OEM followed by aftermaket are expected to be the two most attractive demand type segments in the global heavy commercial vehicle EPS market in terms of value over the forecast period. OEM and</a:t>
            </a:r>
          </a:p>
        </p:txBody>
      </p:sp>
      <p:sp>
        <p:nvSpPr>
          <p:cNvPr id="20" name="TextBox 19"/>
          <p:cNvSpPr txBox="1"/>
          <p:nvPr/>
        </p:nvSpPr>
        <p:spPr>
          <a:xfrm>
            <a:off x="257175" y="5945505"/>
            <a:ext cx="2067453" cy="186689"/>
          </a:xfrm>
          <a:prstGeom prst="rect">
            <a:avLst/>
          </a:prstGeom>
          <a:noFill/>
        </p:spPr>
        <p:txBody>
          <a:bodyPr wrap="none" lIns="0" rIns="0" tIns="0" bIns="0">
            <a:spAutoFit/>
          </a:bodyPr>
          <a:lstStyle/>
          <a:p>
            <a:r>
              <a:rPr sz="1100" b="0">
                <a:solidFill>
                  <a:srgbClr val="2E2E2E"/>
                </a:solidFill>
                <a:latin typeface="Calibri"/>
              </a:rPr>
              <a:t>aftermaket exhibit a CAGR index of</a:t>
            </a:r>
          </a:p>
        </p:txBody>
      </p:sp>
      <p:pic>
        <p:nvPicPr>
          <p:cNvPr id="21" name="Picture 20" descr="lock.png"/>
          <p:cNvPicPr>
            <a:picLocks noChangeAspect="1"/>
          </p:cNvPicPr>
          <p:nvPr/>
        </p:nvPicPr>
        <p:blipFill>
          <a:blip r:embed="rId6"/>
          <a:stretch>
            <a:fillRect/>
          </a:stretch>
        </p:blipFill>
        <p:spPr>
          <a:xfrm>
            <a:off x="2272680" y="5935726"/>
            <a:ext cx="128699" cy="187198"/>
          </a:xfrm>
          <a:prstGeom prst="rect">
            <a:avLst/>
          </a:prstGeom>
        </p:spPr>
      </p:pic>
      <p:sp>
        <p:nvSpPr>
          <p:cNvPr id="22" name="TextBox 21"/>
          <p:cNvSpPr txBox="1"/>
          <p:nvPr/>
        </p:nvSpPr>
        <p:spPr>
          <a:xfrm>
            <a:off x="244017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678070" y="5935726"/>
            <a:ext cx="128699" cy="187198"/>
          </a:xfrm>
          <a:prstGeom prst="rect">
            <a:avLst/>
          </a:prstGeom>
        </p:spPr>
      </p:pic>
      <p:sp>
        <p:nvSpPr>
          <p:cNvPr id="24" name="TextBox 23"/>
          <p:cNvSpPr txBox="1"/>
          <p:nvPr/>
        </p:nvSpPr>
        <p:spPr>
          <a:xfrm>
            <a:off x="284556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454539" y="5935726"/>
            <a:ext cx="128699" cy="187198"/>
          </a:xfrm>
          <a:prstGeom prst="rect">
            <a:avLst/>
          </a:prstGeom>
        </p:spPr>
      </p:pic>
      <p:sp>
        <p:nvSpPr>
          <p:cNvPr id="26" name="TextBox 25"/>
          <p:cNvSpPr txBox="1"/>
          <p:nvPr/>
        </p:nvSpPr>
        <p:spPr>
          <a:xfrm>
            <a:off x="462203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859929" y="5935726"/>
            <a:ext cx="128699" cy="187198"/>
          </a:xfrm>
          <a:prstGeom prst="rect">
            <a:avLst/>
          </a:prstGeom>
        </p:spPr>
      </p:pic>
      <p:sp>
        <p:nvSpPr>
          <p:cNvPr id="28" name="TextBox 27"/>
          <p:cNvSpPr txBox="1"/>
          <p:nvPr/>
        </p:nvSpPr>
        <p:spPr>
          <a:xfrm>
            <a:off x="5027425"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7581829" y="5935726"/>
            <a:ext cx="128699" cy="187198"/>
          </a:xfrm>
          <a:prstGeom prst="rect">
            <a:avLst/>
          </a:prstGeom>
        </p:spPr>
      </p:pic>
      <p:sp>
        <p:nvSpPr>
          <p:cNvPr id="30" name="TextBox 29"/>
          <p:cNvSpPr txBox="1"/>
          <p:nvPr/>
        </p:nvSpPr>
        <p:spPr>
          <a:xfrm>
            <a:off x="7749325" y="5945505"/>
            <a:ext cx="3403334"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a:t>
            </a:r>
          </a:p>
        </p:txBody>
      </p:sp>
      <p:sp>
        <p:nvSpPr>
          <p:cNvPr id="31" name="TextBox 30"/>
          <p:cNvSpPr txBox="1"/>
          <p:nvPr/>
        </p:nvSpPr>
        <p:spPr>
          <a:xfrm>
            <a:off x="257175" y="611314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Demand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Demand Type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OEM</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Aftermaket</a:t>
            </a:r>
          </a:p>
        </p:txBody>
      </p:sp>
      <p:graphicFrame>
        <p:nvGraphicFramePr>
          <p:cNvPr id="15" name="Chart 14"/>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3384" y="3583939"/>
            <a:ext cx="402511" cy="58547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Demand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Demand Type,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Demand Type (US$ Mn)</a:t>
            </a:r>
          </a:p>
        </p:txBody>
      </p:sp>
      <p:graphicFrame>
        <p:nvGraphicFramePr>
          <p:cNvPr id="12" name="Table 11"/>
          <p:cNvGraphicFramePr>
            <a:graphicFrameLocks noGrp="1"/>
          </p:cNvGraphicFramePr>
          <p:nvPr/>
        </p:nvGraphicFramePr>
        <p:xfrm>
          <a:off x="152400" y="1238250"/>
          <a:ext cx="11887196" cy="990600"/>
        </p:xfrm>
        <a:graphic>
          <a:graphicData uri="http://schemas.openxmlformats.org/drawingml/2006/table">
            <a:tbl>
              <a:tblPr>
                <a:tableStyleId>{5C22544A-7EE6-4342-B048-85BDC9FD1C3A}</a:tableStyleId>
              </a:tblPr>
              <a:tblGrid>
                <a:gridCol w="1078154"/>
                <a:gridCol w="635826"/>
                <a:gridCol w="635826"/>
                <a:gridCol w="635826"/>
                <a:gridCol w="635826"/>
                <a:gridCol w="635826"/>
                <a:gridCol w="635826"/>
                <a:gridCol w="635826"/>
                <a:gridCol w="635826"/>
                <a:gridCol w="635826"/>
                <a:gridCol w="635826"/>
                <a:gridCol w="635826"/>
                <a:gridCol w="635826"/>
                <a:gridCol w="635826"/>
                <a:gridCol w="635826"/>
                <a:gridCol w="635826"/>
                <a:gridCol w="635826"/>
                <a:gridCol w="635826"/>
              </a:tblGrid>
              <a:tr h="246126">
                <a:tc>
                  <a:txBody>
                    <a:bodyPr wrap="none"/>
                    <a:lstStyle/>
                    <a:p>
                      <a:pPr algn="l"/>
                      <a:r>
                        <a:rPr sz="1100" b="1">
                          <a:solidFill>
                            <a:srgbClr val="0B2E4A"/>
                          </a:solidFill>
                          <a:latin typeface="Calibri"/>
                        </a:rPr>
                        <a:t>Demand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OEM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Aftermaket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Demand Type</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48385" y="1589913"/>
            <a:ext cx="366712" cy="533400"/>
          </a:xfrm>
          <a:prstGeom prst="rect">
            <a:avLst/>
          </a:prstGeom>
        </p:spPr>
      </p:pic>
      <p:sp>
        <p:nvSpPr>
          <p:cNvPr id="20" name="TextBox 19"/>
          <p:cNvSpPr txBox="1"/>
          <p:nvPr/>
        </p:nvSpPr>
        <p:spPr>
          <a:xfrm>
            <a:off x="276225" y="2990850"/>
            <a:ext cx="2294334" cy="194310"/>
          </a:xfrm>
          <a:prstGeom prst="rect">
            <a:avLst/>
          </a:prstGeom>
          <a:noFill/>
        </p:spPr>
        <p:txBody>
          <a:bodyPr wrap="none" lIns="0" rIns="0" tIns="0" bIns="0">
            <a:spAutoFit/>
          </a:bodyPr>
          <a:lstStyle/>
          <a:p>
            <a:r>
              <a:rPr sz="1150" b="0">
                <a:solidFill>
                  <a:srgbClr val="2E2E2E"/>
                </a:solidFill>
                <a:latin typeface="Calibri"/>
              </a:rPr>
              <a:t>OEM segment is projected to register</a:t>
            </a:r>
          </a:p>
        </p:txBody>
      </p:sp>
      <p:pic>
        <p:nvPicPr>
          <p:cNvPr id="21" name="Picture 20" descr="lock.png"/>
          <p:cNvPicPr>
            <a:picLocks noChangeAspect="1"/>
          </p:cNvPicPr>
          <p:nvPr/>
        </p:nvPicPr>
        <p:blipFill>
          <a:blip r:embed="rId4"/>
          <a:stretch>
            <a:fillRect/>
          </a:stretch>
        </p:blipFill>
        <p:spPr>
          <a:xfrm>
            <a:off x="2519713" y="2980626"/>
            <a:ext cx="134549" cy="195707"/>
          </a:xfrm>
          <a:prstGeom prst="rect">
            <a:avLst/>
          </a:prstGeom>
        </p:spPr>
      </p:pic>
      <p:sp>
        <p:nvSpPr>
          <p:cNvPr id="22" name="TextBox 21"/>
          <p:cNvSpPr txBox="1"/>
          <p:nvPr/>
        </p:nvSpPr>
        <p:spPr>
          <a:xfrm>
            <a:off x="2694822" y="2990850"/>
            <a:ext cx="9093646" cy="194310"/>
          </a:xfrm>
          <a:prstGeom prst="rect">
            <a:avLst/>
          </a:prstGeom>
          <a:noFill/>
        </p:spPr>
        <p:txBody>
          <a:bodyPr wrap="none" lIns="0" rIns="0" tIns="0" bIns="0">
            <a:spAutoFit/>
          </a:bodyPr>
          <a:lstStyle/>
          <a:p>
            <a:r>
              <a:rPr sz="1150" b="0">
                <a:solidFill>
                  <a:srgbClr val="2E2E2E"/>
                </a:solidFill>
                <a:latin typeface="Calibri"/>
              </a:rPr>
              <a:t>X higher value than aftermaket segment in 2036. Among heavy commercial vehicle EPS by demand type, aftermaket segment is expected to witness the</a:t>
            </a:r>
          </a:p>
        </p:txBody>
      </p:sp>
      <p:sp>
        <p:nvSpPr>
          <p:cNvPr id="23" name="TextBox 22"/>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3155886"/>
            <a:ext cx="134549" cy="195707"/>
          </a:xfrm>
          <a:prstGeom prst="rect">
            <a:avLst/>
          </a:prstGeom>
        </p:spPr>
      </p:pic>
      <p:sp>
        <p:nvSpPr>
          <p:cNvPr id="25" name="TextBox 24"/>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6148685" cy="194310"/>
          </a:xfrm>
          <a:prstGeom prst="rect">
            <a:avLst/>
          </a:prstGeom>
          <a:noFill/>
        </p:spPr>
        <p:txBody>
          <a:bodyPr wrap="none" lIns="0" rIns="0" tIns="0" bIns="0">
            <a:spAutoFit/>
          </a:bodyPr>
          <a:lstStyle/>
          <a:p>
            <a:r>
              <a:rPr sz="1150" b="0">
                <a:solidFill>
                  <a:srgbClr val="2E2E2E"/>
                </a:solidFill>
                <a:latin typeface="Calibri"/>
              </a:rPr>
              <a:t>In terms of value share by demand type, the OEM segment is expected to dominate the market, losing</a:t>
            </a:r>
          </a:p>
        </p:txBody>
      </p:sp>
      <p:pic>
        <p:nvPicPr>
          <p:cNvPr id="27" name="Picture 26" descr="lock.png"/>
          <p:cNvPicPr>
            <a:picLocks noChangeAspect="1"/>
          </p:cNvPicPr>
          <p:nvPr/>
        </p:nvPicPr>
        <p:blipFill>
          <a:blip r:embed="rId4"/>
          <a:stretch>
            <a:fillRect/>
          </a:stretch>
        </p:blipFill>
        <p:spPr>
          <a:xfrm>
            <a:off x="6374064" y="3383724"/>
            <a:ext cx="134549" cy="195707"/>
          </a:xfrm>
          <a:prstGeom prst="rect">
            <a:avLst/>
          </a:prstGeom>
        </p:spPr>
      </p:pic>
      <p:sp>
        <p:nvSpPr>
          <p:cNvPr id="28" name="TextBox 27"/>
          <p:cNvSpPr txBox="1"/>
          <p:nvPr/>
        </p:nvSpPr>
        <p:spPr>
          <a:xfrm>
            <a:off x="6549173"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944316" y="3383724"/>
            <a:ext cx="134549" cy="195707"/>
          </a:xfrm>
          <a:prstGeom prst="rect">
            <a:avLst/>
          </a:prstGeom>
        </p:spPr>
      </p:pic>
      <p:sp>
        <p:nvSpPr>
          <p:cNvPr id="30" name="TextBox 29"/>
          <p:cNvSpPr txBox="1"/>
          <p:nvPr/>
        </p:nvSpPr>
        <p:spPr>
          <a:xfrm>
            <a:off x="8119425"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Demand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Demand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Demand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07156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06680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9060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Aftermaket</a:t>
            </a:r>
          </a:p>
        </p:txBody>
      </p:sp>
      <p:sp>
        <p:nvSpPr>
          <p:cNvPr id="18" name="BPS Value 1"/>
          <p:cNvSpPr txBox="1"/>
          <p:nvPr/>
        </p:nvSpPr>
        <p:spPr>
          <a:xfrm>
            <a:off x="6896100" y="205251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35775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3529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2767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OEM</a:t>
            </a:r>
          </a:p>
        </p:txBody>
      </p:sp>
      <p:sp>
        <p:nvSpPr>
          <p:cNvPr id="22" name="BPS Value 2"/>
          <p:cNvSpPr txBox="1"/>
          <p:nvPr/>
        </p:nvSpPr>
        <p:spPr>
          <a:xfrm>
            <a:off x="6896100" y="433870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Demand Type</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4038091" cy="194310"/>
          </a:xfrm>
          <a:prstGeom prst="rect">
            <a:avLst/>
          </a:prstGeom>
          <a:noFill/>
        </p:spPr>
        <p:txBody>
          <a:bodyPr wrap="none" lIns="0" rIns="0" tIns="0" bIns="0">
            <a:spAutoFit/>
          </a:bodyPr>
          <a:lstStyle/>
          <a:p>
            <a:r>
              <a:rPr sz="1150" b="0">
                <a:solidFill>
                  <a:srgbClr val="2E2E2E"/>
                </a:solidFill>
                <a:latin typeface="Calibri"/>
              </a:rPr>
              <a:t>Among heavy commercial vehicle EPS by demand type, aftermaket</a:t>
            </a:r>
          </a:p>
        </p:txBody>
      </p:sp>
      <p:sp>
        <p:nvSpPr>
          <p:cNvPr id="30" name="TextBox 2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1" name="Picture 30" descr="lock.png"/>
          <p:cNvPicPr>
            <a:picLocks noChangeAspect="1"/>
          </p:cNvPicPr>
          <p:nvPr/>
        </p:nvPicPr>
        <p:blipFill>
          <a:blip r:embed="rId5"/>
          <a:stretch>
            <a:fillRect/>
          </a:stretch>
        </p:blipFill>
        <p:spPr>
          <a:xfrm>
            <a:off x="10935343" y="1565211"/>
            <a:ext cx="134549" cy="195707"/>
          </a:xfrm>
          <a:prstGeom prst="rect">
            <a:avLst/>
          </a:prstGeom>
        </p:spPr>
      </p:pic>
      <p:sp>
        <p:nvSpPr>
          <p:cNvPr id="32" name="TextBox 3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3" name="TextBox 32"/>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4" name="TextBox 33"/>
          <p:cNvSpPr txBox="1"/>
          <p:nvPr/>
        </p:nvSpPr>
        <p:spPr>
          <a:xfrm>
            <a:off x="7829550" y="1978533"/>
            <a:ext cx="3697783" cy="194310"/>
          </a:xfrm>
          <a:prstGeom prst="rect">
            <a:avLst/>
          </a:prstGeom>
          <a:noFill/>
        </p:spPr>
        <p:txBody>
          <a:bodyPr wrap="none" lIns="0" rIns="0" tIns="0" bIns="0">
            <a:spAutoFit/>
          </a:bodyPr>
          <a:lstStyle/>
          <a:p>
            <a:r>
              <a:rPr sz="1150" b="0">
                <a:solidFill>
                  <a:srgbClr val="2E2E2E"/>
                </a:solidFill>
                <a:latin typeface="Calibri"/>
              </a:rPr>
              <a:t>In terms of value share by demand type, the OEM segment is</a:t>
            </a:r>
          </a:p>
        </p:txBody>
      </p:sp>
      <p:sp>
        <p:nvSpPr>
          <p:cNvPr id="35" name="TextBox 34"/>
          <p:cNvSpPr txBox="1"/>
          <p:nvPr/>
        </p:nvSpPr>
        <p:spPr>
          <a:xfrm>
            <a:off x="7829550" y="2153793"/>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36" name="Picture 35" descr="lock.png"/>
          <p:cNvPicPr>
            <a:picLocks noChangeAspect="1"/>
          </p:cNvPicPr>
          <p:nvPr/>
        </p:nvPicPr>
        <p:blipFill>
          <a:blip r:embed="rId5"/>
          <a:stretch>
            <a:fillRect/>
          </a:stretch>
        </p:blipFill>
        <p:spPr>
          <a:xfrm>
            <a:off x="10272716" y="2143569"/>
            <a:ext cx="134549" cy="195707"/>
          </a:xfrm>
          <a:prstGeom prst="rect">
            <a:avLst/>
          </a:prstGeom>
        </p:spPr>
      </p:pic>
      <p:sp>
        <p:nvSpPr>
          <p:cNvPr id="37" name="TextBox 36"/>
          <p:cNvSpPr txBox="1"/>
          <p:nvPr/>
        </p:nvSpPr>
        <p:spPr>
          <a:xfrm>
            <a:off x="10447825" y="2153793"/>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38" name="TextBox 37"/>
          <p:cNvSpPr txBox="1"/>
          <p:nvPr/>
        </p:nvSpPr>
        <p:spPr>
          <a:xfrm>
            <a:off x="7829550" y="2329053"/>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39" name="Picture 38" descr="lock.png"/>
          <p:cNvPicPr>
            <a:picLocks noChangeAspect="1"/>
          </p:cNvPicPr>
          <p:nvPr/>
        </p:nvPicPr>
        <p:blipFill>
          <a:blip r:embed="rId5"/>
          <a:stretch>
            <a:fillRect/>
          </a:stretch>
        </p:blipFill>
        <p:spPr>
          <a:xfrm>
            <a:off x="8027482" y="2318829"/>
            <a:ext cx="134549" cy="195707"/>
          </a:xfrm>
          <a:prstGeom prst="rect">
            <a:avLst/>
          </a:prstGeom>
        </p:spPr>
      </p:pic>
      <p:sp>
        <p:nvSpPr>
          <p:cNvPr id="40" name="TextBox 39"/>
          <p:cNvSpPr txBox="1"/>
          <p:nvPr/>
        </p:nvSpPr>
        <p:spPr>
          <a:xfrm>
            <a:off x="8202591"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082800"/>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2387600"/>
            <a:ext cx="7239000" cy="971550"/>
          </a:xfrm>
          <a:prstGeom prst="rect">
            <a:avLst/>
          </a:prstGeom>
          <a:noFill/>
        </p:spPr>
        <p:txBody>
          <a:bodyPr wrap="square" lIns="0" rIns="0" tIns="0">
            <a:spAutoFit/>
          </a:bodyPr>
          <a:lstStyle/>
          <a:p>
            <a:r>
              <a:rPr sz="3000" b="1" cap="all" spc="400">
                <a:solidFill>
                  <a:srgbClr val="FFFFFF"/>
                </a:solidFill>
                <a:latin typeface="Calibri"/>
              </a:rPr>
              <a:t>Western Europe Market Outlook</a:t>
            </a:r>
          </a:p>
        </p:txBody>
      </p:sp>
      <p:sp>
        <p:nvSpPr>
          <p:cNvPr id="7" name="TextBox 6"/>
          <p:cNvSpPr txBox="1"/>
          <p:nvPr/>
        </p:nvSpPr>
        <p:spPr>
          <a:xfrm>
            <a:off x="914400" y="3549650"/>
            <a:ext cx="7124700" cy="26543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Western Europe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Western Europe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Western Europe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System Architecture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Vehicle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Gross Vehicle Weight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Propulsion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Demand Type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Western Europe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Western Europe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48100" cy="186689"/>
          </a:xfrm>
          <a:prstGeom prst="rect">
            <a:avLst/>
          </a:prstGeom>
          <a:noFill/>
        </p:spPr>
        <p:txBody>
          <a:bodyPr wrap="none" lIns="0" rIns="0" tIns="0" bIns="0">
            <a:spAutoFit/>
          </a:bodyPr>
          <a:lstStyle/>
          <a:p>
            <a:r>
              <a:rPr sz="1100" b="0">
                <a:solidFill>
                  <a:srgbClr val="2E2E2E"/>
                </a:solidFill>
                <a:latin typeface="Calibri"/>
              </a:rPr>
              <a:t>Western Europe heavy commercial vehicle EPS market is projected</a:t>
            </a:r>
          </a:p>
        </p:txBody>
      </p:sp>
      <p:sp>
        <p:nvSpPr>
          <p:cNvPr id="35" name="TextBox 34"/>
          <p:cNvSpPr txBox="1"/>
          <p:nvPr/>
        </p:nvSpPr>
        <p:spPr>
          <a:xfrm>
            <a:off x="8048625" y="2214627"/>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36" name="Picture 35" descr="lock.png"/>
          <p:cNvPicPr>
            <a:picLocks noChangeAspect="1"/>
          </p:cNvPicPr>
          <p:nvPr/>
        </p:nvPicPr>
        <p:blipFill>
          <a:blip r:embed="rId6"/>
          <a:stretch>
            <a:fillRect/>
          </a:stretch>
        </p:blipFill>
        <p:spPr>
          <a:xfrm>
            <a:off x="8661417" y="2204848"/>
            <a:ext cx="128699" cy="187198"/>
          </a:xfrm>
          <a:prstGeom prst="rect">
            <a:avLst/>
          </a:prstGeom>
        </p:spPr>
      </p:pic>
      <p:sp>
        <p:nvSpPr>
          <p:cNvPr id="37" name="TextBox 36"/>
          <p:cNvSpPr txBox="1"/>
          <p:nvPr/>
        </p:nvSpPr>
        <p:spPr>
          <a:xfrm>
            <a:off x="8828913"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523406" cy="186689"/>
          </a:xfrm>
          <a:prstGeom prst="rect">
            <a:avLst/>
          </a:prstGeom>
          <a:noFill/>
        </p:spPr>
        <p:txBody>
          <a:bodyPr wrap="none" lIns="0" rIns="0" tIns="0" bIns="0">
            <a:spAutoFit/>
          </a:bodyPr>
          <a:lstStyle/>
          <a:p>
            <a:r>
              <a:rPr sz="1100" b="0">
                <a:solidFill>
                  <a:srgbClr val="2E2E2E"/>
                </a:solidFill>
                <a:latin typeface="Calibri"/>
              </a:rPr>
              <a:t>2036. Western Europe heavy commercial vehicle EPS market</a:t>
            </a:r>
          </a:p>
        </p:txBody>
      </p:sp>
      <p:sp>
        <p:nvSpPr>
          <p:cNvPr id="39" name="TextBox 38"/>
          <p:cNvSpPr txBox="1"/>
          <p:nvPr/>
        </p:nvSpPr>
        <p:spPr>
          <a:xfrm>
            <a:off x="8048625" y="2549907"/>
            <a:ext cx="998983" cy="186689"/>
          </a:xfrm>
          <a:prstGeom prst="rect">
            <a:avLst/>
          </a:prstGeom>
          <a:noFill/>
        </p:spPr>
        <p:txBody>
          <a:bodyPr wrap="none" lIns="0" rIns="0" tIns="0" bIns="0">
            <a:spAutoFit/>
          </a:bodyPr>
          <a:lstStyle/>
          <a:p>
            <a:r>
              <a:rPr sz="1100" b="0">
                <a:solidFill>
                  <a:srgbClr val="2E2E2E"/>
                </a:solidFill>
                <a:latin typeface="Calibri"/>
              </a:rPr>
              <a:t>volume stood at</a:t>
            </a:r>
          </a:p>
        </p:txBody>
      </p:sp>
      <p:pic>
        <p:nvPicPr>
          <p:cNvPr id="40" name="Picture 39" descr="lock.png"/>
          <p:cNvPicPr>
            <a:picLocks noChangeAspect="1"/>
          </p:cNvPicPr>
          <p:nvPr/>
        </p:nvPicPr>
        <p:blipFill>
          <a:blip r:embed="rId6"/>
          <a:stretch>
            <a:fillRect/>
          </a:stretch>
        </p:blipFill>
        <p:spPr>
          <a:xfrm>
            <a:off x="8995660" y="2540128"/>
            <a:ext cx="128699" cy="187198"/>
          </a:xfrm>
          <a:prstGeom prst="rect">
            <a:avLst/>
          </a:prstGeom>
        </p:spPr>
      </p:pic>
      <p:sp>
        <p:nvSpPr>
          <p:cNvPr id="41" name="TextBox 40"/>
          <p:cNvSpPr txBox="1"/>
          <p:nvPr/>
        </p:nvSpPr>
        <p:spPr>
          <a:xfrm>
            <a:off x="9163156" y="2549907"/>
            <a:ext cx="2245097" cy="186689"/>
          </a:xfrm>
          <a:prstGeom prst="rect">
            <a:avLst/>
          </a:prstGeom>
          <a:noFill/>
        </p:spPr>
        <p:txBody>
          <a:bodyPr wrap="none" lIns="0" rIns="0" tIns="0" bIns="0">
            <a:spAutoFit/>
          </a:bodyPr>
          <a:lstStyle/>
          <a:p>
            <a:r>
              <a:rPr sz="1100" b="0">
                <a:solidFill>
                  <a:srgbClr val="2E2E2E"/>
                </a:solidFill>
                <a:latin typeface="Calibri"/>
              </a:rPr>
              <a:t>Units in 2025 and is expected to reach</a:t>
            </a:r>
          </a:p>
        </p:txBody>
      </p:sp>
      <p:pic>
        <p:nvPicPr>
          <p:cNvPr id="42" name="Picture 41" descr="lock.png"/>
          <p:cNvPicPr>
            <a:picLocks noChangeAspect="1"/>
          </p:cNvPicPr>
          <p:nvPr/>
        </p:nvPicPr>
        <p:blipFill>
          <a:blip r:embed="rId6"/>
          <a:stretch>
            <a:fillRect/>
          </a:stretch>
        </p:blipFill>
        <p:spPr>
          <a:xfrm>
            <a:off x="11356305" y="2540128"/>
            <a:ext cx="128699" cy="187198"/>
          </a:xfrm>
          <a:prstGeom prst="rect">
            <a:avLst/>
          </a:prstGeom>
        </p:spPr>
      </p:pic>
      <p:sp>
        <p:nvSpPr>
          <p:cNvPr id="43" name="TextBox 42"/>
          <p:cNvSpPr txBox="1"/>
          <p:nvPr/>
        </p:nvSpPr>
        <p:spPr>
          <a:xfrm>
            <a:off x="8048625" y="271754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4" name="Picture 43" descr="lock.png"/>
          <p:cNvPicPr>
            <a:picLocks noChangeAspect="1"/>
          </p:cNvPicPr>
          <p:nvPr/>
        </p:nvPicPr>
        <p:blipFill>
          <a:blip r:embed="rId6"/>
          <a:stretch>
            <a:fillRect/>
          </a:stretch>
        </p:blipFill>
        <p:spPr>
          <a:xfrm>
            <a:off x="9879136" y="2707768"/>
            <a:ext cx="128699" cy="187198"/>
          </a:xfrm>
          <a:prstGeom prst="rect">
            <a:avLst/>
          </a:prstGeom>
        </p:spPr>
      </p:pic>
      <p:sp>
        <p:nvSpPr>
          <p:cNvPr id="45" name="TextBox 44"/>
          <p:cNvSpPr txBox="1"/>
          <p:nvPr/>
        </p:nvSpPr>
        <p:spPr>
          <a:xfrm>
            <a:off x="10046632"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7" name="TextBox 46"/>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8" name="TextBox 47"/>
          <p:cNvSpPr txBox="1"/>
          <p:nvPr/>
        </p:nvSpPr>
        <p:spPr>
          <a:xfrm>
            <a:off x="8048625" y="4456475"/>
            <a:ext cx="2242703" cy="194310"/>
          </a:xfrm>
          <a:prstGeom prst="rect">
            <a:avLst/>
          </a:prstGeom>
          <a:noFill/>
        </p:spPr>
        <p:txBody>
          <a:bodyPr wrap="none" lIns="0" rIns="0" tIns="0" bIns="0">
            <a:spAutoFit/>
          </a:bodyPr>
          <a:lstStyle/>
          <a:p>
            <a:r>
              <a:rPr sz="1150" b="0">
                <a:solidFill>
                  <a:srgbClr val="2E2E2E"/>
                </a:solidFill>
                <a:latin typeface="Calibri"/>
              </a:rPr>
              <a:t>▪ 'Germany' leads regional growth at</a:t>
            </a:r>
          </a:p>
        </p:txBody>
      </p:sp>
      <p:pic>
        <p:nvPicPr>
          <p:cNvPr id="49" name="Picture 48" descr="lock.png"/>
          <p:cNvPicPr>
            <a:picLocks noChangeAspect="1"/>
          </p:cNvPicPr>
          <p:nvPr/>
        </p:nvPicPr>
        <p:blipFill>
          <a:blip r:embed="rId6"/>
          <a:stretch>
            <a:fillRect/>
          </a:stretch>
        </p:blipFill>
        <p:spPr>
          <a:xfrm>
            <a:off x="10240482" y="4446251"/>
            <a:ext cx="134549" cy="195707"/>
          </a:xfrm>
          <a:prstGeom prst="rect">
            <a:avLst/>
          </a:prstGeom>
        </p:spPr>
      </p:pic>
      <p:sp>
        <p:nvSpPr>
          <p:cNvPr id="50" name="TextBox 49"/>
          <p:cNvSpPr txBox="1"/>
          <p:nvPr/>
        </p:nvSpPr>
        <p:spPr>
          <a:xfrm>
            <a:off x="10415591"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562287" cy="194310"/>
          </a:xfrm>
          <a:prstGeom prst="rect">
            <a:avLst/>
          </a:prstGeom>
          <a:noFill/>
        </p:spPr>
        <p:txBody>
          <a:bodyPr wrap="none" lIns="0" rIns="0" tIns="0" bIns="0">
            <a:spAutoFit/>
          </a:bodyPr>
          <a:lstStyle/>
          <a:p>
            <a:r>
              <a:rPr sz="1150" b="0">
                <a:solidFill>
                  <a:srgbClr val="2E2E2E"/>
                </a:solidFill>
                <a:latin typeface="Calibri"/>
              </a:rPr>
              <a:t>▪ Demand concentrates in 'Recirculating Ball and Nut Type'</a:t>
            </a:r>
          </a:p>
        </p:txBody>
      </p:sp>
      <p:sp>
        <p:nvSpPr>
          <p:cNvPr id="52" name="TextBox 51"/>
          <p:cNvSpPr txBox="1"/>
          <p:nvPr/>
        </p:nvSpPr>
        <p:spPr>
          <a:xfrm>
            <a:off x="8048625" y="4859572"/>
            <a:ext cx="1723256" cy="194310"/>
          </a:xfrm>
          <a:prstGeom prst="rect">
            <a:avLst/>
          </a:prstGeom>
          <a:noFill/>
        </p:spPr>
        <p:txBody>
          <a:bodyPr wrap="none" lIns="0" rIns="0" tIns="0" bIns="0">
            <a:spAutoFit/>
          </a:bodyPr>
          <a:lstStyle/>
          <a:p>
            <a:r>
              <a:rPr sz="1150" b="0">
                <a:solidFill>
                  <a:srgbClr val="2E2E2E"/>
                </a:solidFill>
                <a:latin typeface="Calibri"/>
              </a:rPr>
              <a:t>within System Architecture.</a:t>
            </a:r>
          </a:p>
        </p:txBody>
      </p:sp>
      <p:sp>
        <p:nvSpPr>
          <p:cNvPr id="53" name="TextBox 5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System Architecture  ·  range across 2021–2036 (US$/Units)</a:t>
            </a:r>
          </a:p>
        </p:txBody>
      </p:sp>
      <p:cxnSp>
        <p:nvCxnSpPr>
          <p:cNvPr id="12" name="Connector 11"/>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4"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533525" y="2863348"/>
            <a:ext cx="0" cy="2562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020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02080" y="286334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314450" y="2931588"/>
            <a:ext cx="438150" cy="12800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314450" y="299696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710948"/>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3286125" y="1670329"/>
            <a:ext cx="0" cy="46124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154680" y="213157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1546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067050" y="1793360"/>
            <a:ext cx="438150" cy="23043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067050" y="191120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409825" y="1517929"/>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5038725" y="2060237"/>
            <a:ext cx="0" cy="38987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907280" y="24501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907280" y="206023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819650" y="2164052"/>
            <a:ext cx="438150" cy="1948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4819650" y="226361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162425" y="1907837"/>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6791325" y="1714664"/>
            <a:ext cx="0" cy="45255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659880" y="216721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659880" y="171466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6572250" y="1835104"/>
            <a:ext cx="438150" cy="22606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6572250" y="195062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915025" y="1562264"/>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50" name="TextBox 49"/>
          <p:cNvSpPr txBox="1"/>
          <p:nvPr/>
        </p:nvSpPr>
        <p:spPr>
          <a:xfrm>
            <a:off x="6572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Recirculating Ball an…</a:t>
            </a:r>
          </a:p>
        </p:txBody>
      </p:sp>
      <p:sp>
        <p:nvSpPr>
          <p:cNvPr id="51" name="TextBox 50"/>
          <p:cNvSpPr txBox="1"/>
          <p:nvPr/>
        </p:nvSpPr>
        <p:spPr>
          <a:xfrm>
            <a:off x="24098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Rack Assist</a:t>
            </a:r>
          </a:p>
        </p:txBody>
      </p:sp>
      <p:sp>
        <p:nvSpPr>
          <p:cNvPr id="52" name="TextBox 51"/>
          <p:cNvSpPr txBox="1"/>
          <p:nvPr/>
        </p:nvSpPr>
        <p:spPr>
          <a:xfrm>
            <a:off x="41624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Column Assist</a:t>
            </a:r>
          </a:p>
        </p:txBody>
      </p:sp>
      <p:sp>
        <p:nvSpPr>
          <p:cNvPr id="53" name="TextBox 52"/>
          <p:cNvSpPr txBox="1"/>
          <p:nvPr/>
        </p:nvSpPr>
        <p:spPr>
          <a:xfrm>
            <a:off x="5915025" y="3365510"/>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Steer by Wire</a:t>
            </a:r>
          </a:p>
        </p:txBody>
      </p:sp>
      <p:sp>
        <p:nvSpPr>
          <p:cNvPr id="54" name="Rounded Rectangle 53"/>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Western Europe  ·  2026–2036</a:t>
            </a:r>
          </a:p>
        </p:txBody>
      </p:sp>
      <p:cxnSp>
        <p:nvCxnSpPr>
          <p:cNvPr id="56" name="Connector 55"/>
          <p:cNvCxnSpPr/>
          <p:nvPr/>
        </p:nvCxnSpPr>
        <p:spPr>
          <a:xfrm>
            <a:off x="619125" y="429662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19125" y="467628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19125" y="505595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19125" y="54356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19125" y="581529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4296621"/>
            <a:ext cx="0" cy="15186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90550" y="429662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90550" y="46762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90550" y="505595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90550" y="543562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581529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7" name="FMI Scale tick"/>
          <p:cNvSpPr txBox="1"/>
          <p:nvPr/>
        </p:nvSpPr>
        <p:spPr>
          <a:xfrm>
            <a:off x="138112" y="4229946"/>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+3.8%</a:t>
            </a:r>
          </a:p>
        </p:txBody>
      </p:sp>
      <p:sp>
        <p:nvSpPr>
          <p:cNvPr id="68" name="FMI Scale tick"/>
          <p:cNvSpPr txBox="1"/>
          <p:nvPr/>
        </p:nvSpPr>
        <p:spPr>
          <a:xfrm>
            <a:off x="138112" y="4609613"/>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+1.9%</a:t>
            </a:r>
          </a:p>
        </p:txBody>
      </p:sp>
      <p:sp>
        <p:nvSpPr>
          <p:cNvPr id="69" name="FMI Scale tick"/>
          <p:cNvSpPr txBox="1"/>
          <p:nvPr/>
        </p:nvSpPr>
        <p:spPr>
          <a:xfrm>
            <a:off x="219075" y="498928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Western Europe</a:t>
            </a:r>
          </a:p>
        </p:txBody>
      </p:sp>
      <p:sp>
        <p:nvSpPr>
          <p:cNvPr id="70" name="FMI Scale tick"/>
          <p:cNvSpPr txBox="1"/>
          <p:nvPr/>
        </p:nvSpPr>
        <p:spPr>
          <a:xfrm>
            <a:off x="164306" y="5368948"/>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-1.9%</a:t>
            </a:r>
          </a:p>
        </p:txBody>
      </p:sp>
      <p:sp>
        <p:nvSpPr>
          <p:cNvPr id="71" name="FMI Scale tick"/>
          <p:cNvSpPr txBox="1"/>
          <p:nvPr/>
        </p:nvSpPr>
        <p:spPr>
          <a:xfrm>
            <a:off x="164306" y="5748616"/>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-3.8%</a:t>
            </a:r>
          </a:p>
        </p:txBody>
      </p:sp>
      <p:cxnSp>
        <p:nvCxnSpPr>
          <p:cNvPr id="72" name="Connector 71"/>
          <p:cNvCxnSpPr/>
          <p:nvPr/>
        </p:nvCxnSpPr>
        <p:spPr>
          <a:xfrm>
            <a:off x="619125" y="505595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831056" y="4761753"/>
            <a:ext cx="457200" cy="29420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619125" y="4618878"/>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Rectangle 74"/>
          <p:cNvSpPr/>
          <p:nvPr/>
        </p:nvSpPr>
        <p:spPr>
          <a:xfrm>
            <a:off x="1712119" y="5034352"/>
            <a:ext cx="457200" cy="2160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MI Data Label"/>
          <p:cNvSpPr txBox="1"/>
          <p:nvPr/>
        </p:nvSpPr>
        <p:spPr>
          <a:xfrm>
            <a:off x="1500188" y="4891477"/>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7" name="Rectangle 76"/>
          <p:cNvSpPr/>
          <p:nvPr/>
        </p:nvSpPr>
        <p:spPr>
          <a:xfrm>
            <a:off x="2593181" y="5055956"/>
            <a:ext cx="457200" cy="35205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MI Data Label"/>
          <p:cNvSpPr txBox="1"/>
          <p:nvPr/>
        </p:nvSpPr>
        <p:spPr>
          <a:xfrm>
            <a:off x="2381250" y="5417535"/>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Rectangle 78"/>
          <p:cNvSpPr/>
          <p:nvPr/>
        </p:nvSpPr>
        <p:spPr>
          <a:xfrm>
            <a:off x="3474244" y="5055956"/>
            <a:ext cx="457200" cy="65422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MI Data Label"/>
          <p:cNvSpPr txBox="1"/>
          <p:nvPr/>
        </p:nvSpPr>
        <p:spPr>
          <a:xfrm>
            <a:off x="3262312" y="5719710"/>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1" name="Rectangle 80"/>
          <p:cNvSpPr/>
          <p:nvPr/>
        </p:nvSpPr>
        <p:spPr>
          <a:xfrm>
            <a:off x="4355306" y="5055956"/>
            <a:ext cx="457200" cy="28962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MI Data Label"/>
          <p:cNvSpPr txBox="1"/>
          <p:nvPr/>
        </p:nvSpPr>
        <p:spPr>
          <a:xfrm>
            <a:off x="4143375" y="5355102"/>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3" name="Rectangle 82"/>
          <p:cNvSpPr/>
          <p:nvPr/>
        </p:nvSpPr>
        <p:spPr>
          <a:xfrm>
            <a:off x="5236369" y="5055956"/>
            <a:ext cx="457200" cy="5053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MI Data Label"/>
          <p:cNvSpPr txBox="1"/>
          <p:nvPr/>
        </p:nvSpPr>
        <p:spPr>
          <a:xfrm>
            <a:off x="5024438" y="5116018"/>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5" name="Rectangle 84"/>
          <p:cNvSpPr/>
          <p:nvPr/>
        </p:nvSpPr>
        <p:spPr>
          <a:xfrm>
            <a:off x="6117431" y="5055956"/>
            <a:ext cx="457200" cy="31095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MI Data Label"/>
          <p:cNvSpPr txBox="1"/>
          <p:nvPr/>
        </p:nvSpPr>
        <p:spPr>
          <a:xfrm>
            <a:off x="5905500" y="5376436"/>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7" name="Rectangle 86"/>
          <p:cNvSpPr/>
          <p:nvPr/>
        </p:nvSpPr>
        <p:spPr>
          <a:xfrm>
            <a:off x="6998494" y="4981144"/>
            <a:ext cx="457200" cy="7481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MI Data Label"/>
          <p:cNvSpPr txBox="1"/>
          <p:nvPr/>
        </p:nvSpPr>
        <p:spPr>
          <a:xfrm>
            <a:off x="6786562" y="4838269"/>
            <a:ext cx="881062"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TextBox 88"/>
          <p:cNvSpPr txBox="1"/>
          <p:nvPr/>
        </p:nvSpPr>
        <p:spPr>
          <a:xfrm>
            <a:off x="619125"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Germany</a:t>
            </a:r>
          </a:p>
        </p:txBody>
      </p:sp>
      <p:sp>
        <p:nvSpPr>
          <p:cNvPr id="90" name="TextBox 89"/>
          <p:cNvSpPr txBox="1"/>
          <p:nvPr/>
        </p:nvSpPr>
        <p:spPr>
          <a:xfrm>
            <a:off x="1500188"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Italy</a:t>
            </a:r>
          </a:p>
        </p:txBody>
      </p:sp>
      <p:sp>
        <p:nvSpPr>
          <p:cNvPr id="91" name="TextBox 90"/>
          <p:cNvSpPr txBox="1"/>
          <p:nvPr/>
        </p:nvSpPr>
        <p:spPr>
          <a:xfrm>
            <a:off x="2381250"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France</a:t>
            </a:r>
          </a:p>
        </p:txBody>
      </p:sp>
      <p:sp>
        <p:nvSpPr>
          <p:cNvPr id="92" name="TextBox 91"/>
          <p:cNvSpPr txBox="1"/>
          <p:nvPr/>
        </p:nvSpPr>
        <p:spPr>
          <a:xfrm>
            <a:off x="3262312"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U.K.</a:t>
            </a:r>
          </a:p>
        </p:txBody>
      </p:sp>
      <p:sp>
        <p:nvSpPr>
          <p:cNvPr id="93" name="TextBox 92"/>
          <p:cNvSpPr txBox="1"/>
          <p:nvPr/>
        </p:nvSpPr>
        <p:spPr>
          <a:xfrm>
            <a:off x="4143375"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Spain</a:t>
            </a:r>
          </a:p>
        </p:txBody>
      </p:sp>
      <p:sp>
        <p:nvSpPr>
          <p:cNvPr id="94" name="TextBox 93"/>
          <p:cNvSpPr txBox="1"/>
          <p:nvPr/>
        </p:nvSpPr>
        <p:spPr>
          <a:xfrm>
            <a:off x="5024438"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BENELUX</a:t>
            </a:r>
          </a:p>
        </p:txBody>
      </p:sp>
      <p:sp>
        <p:nvSpPr>
          <p:cNvPr id="95" name="TextBox 94"/>
          <p:cNvSpPr txBox="1"/>
          <p:nvPr/>
        </p:nvSpPr>
        <p:spPr>
          <a:xfrm>
            <a:off x="5905500"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Nordics</a:t>
            </a:r>
          </a:p>
        </p:txBody>
      </p:sp>
      <p:sp>
        <p:nvSpPr>
          <p:cNvPr id="96" name="TextBox 95"/>
          <p:cNvSpPr txBox="1"/>
          <p:nvPr/>
        </p:nvSpPr>
        <p:spPr>
          <a:xfrm>
            <a:off x="6786562" y="5967740"/>
            <a:ext cx="881062" cy="247650"/>
          </a:xfrm>
          <a:prstGeom prst="rect">
            <a:avLst/>
          </a:prstGeom>
          <a:noFill/>
        </p:spPr>
        <p:txBody>
          <a:bodyPr wrap="square" lIns="28575" rIns="28575" tIns="9525" bIns="9525">
            <a:spAutoFit/>
          </a:bodyPr>
          <a:lstStyle/>
          <a:p>
            <a:pPr algn="ctr"/>
            <a:r>
              <a:rPr sz="1100" b="0">
                <a:solidFill>
                  <a:srgbClr val="2E2E2E"/>
                </a:solidFill>
                <a:latin typeface="Calibri"/>
              </a:rPr>
              <a:t>Rest of Western Europe</a:t>
            </a:r>
          </a:p>
        </p:txBody>
      </p:sp>
      <p:sp>
        <p:nvSpPr>
          <p:cNvPr id="97" name="Rounded Rectangle 96"/>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99" name="Rectangle 98"/>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1" name="TextBox 10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02" name="Picture 101" descr="lock.png"/>
          <p:cNvPicPr>
            <a:picLocks noChangeAspect="1"/>
          </p:cNvPicPr>
          <p:nvPr/>
        </p:nvPicPr>
        <p:blipFill>
          <a:blip r:embed="rId4"/>
          <a:stretch>
            <a:fillRect/>
          </a:stretch>
        </p:blipFill>
        <p:spPr>
          <a:xfrm>
            <a:off x="1469175" y="2684024"/>
            <a:ext cx="128699" cy="187198"/>
          </a:xfrm>
          <a:prstGeom prst="rect">
            <a:avLst/>
          </a:prstGeom>
        </p:spPr>
      </p:pic>
      <p:pic>
        <p:nvPicPr>
          <p:cNvPr id="103" name="Picture 102" descr="lock.png"/>
          <p:cNvPicPr>
            <a:picLocks noChangeAspect="1"/>
          </p:cNvPicPr>
          <p:nvPr/>
        </p:nvPicPr>
        <p:blipFill>
          <a:blip r:embed="rId4"/>
          <a:stretch>
            <a:fillRect/>
          </a:stretch>
        </p:blipFill>
        <p:spPr>
          <a:xfrm>
            <a:off x="3221775" y="1491005"/>
            <a:ext cx="128699" cy="187198"/>
          </a:xfrm>
          <a:prstGeom prst="rect">
            <a:avLst/>
          </a:prstGeom>
        </p:spPr>
      </p:pic>
      <p:pic>
        <p:nvPicPr>
          <p:cNvPr id="104" name="Picture 103" descr="lock.png"/>
          <p:cNvPicPr>
            <a:picLocks noChangeAspect="1"/>
          </p:cNvPicPr>
          <p:nvPr/>
        </p:nvPicPr>
        <p:blipFill>
          <a:blip r:embed="rId4"/>
          <a:stretch>
            <a:fillRect/>
          </a:stretch>
        </p:blipFill>
        <p:spPr>
          <a:xfrm>
            <a:off x="4974375" y="1880913"/>
            <a:ext cx="128699" cy="187198"/>
          </a:xfrm>
          <a:prstGeom prst="rect">
            <a:avLst/>
          </a:prstGeom>
        </p:spPr>
      </p:pic>
      <p:pic>
        <p:nvPicPr>
          <p:cNvPr id="105" name="Picture 104" descr="lock.png"/>
          <p:cNvPicPr>
            <a:picLocks noChangeAspect="1"/>
          </p:cNvPicPr>
          <p:nvPr/>
        </p:nvPicPr>
        <p:blipFill>
          <a:blip r:embed="rId4"/>
          <a:stretch>
            <a:fillRect/>
          </a:stretch>
        </p:blipFill>
        <p:spPr>
          <a:xfrm>
            <a:off x="6726975" y="1535340"/>
            <a:ext cx="128699" cy="187198"/>
          </a:xfrm>
          <a:prstGeom prst="rect">
            <a:avLst/>
          </a:prstGeom>
        </p:spPr>
      </p:pic>
      <p:pic>
        <p:nvPicPr>
          <p:cNvPr id="106" name="Picture 105" descr="lock.png"/>
          <p:cNvPicPr>
            <a:picLocks noChangeAspect="1"/>
          </p:cNvPicPr>
          <p:nvPr/>
        </p:nvPicPr>
        <p:blipFill>
          <a:blip r:embed="rId4"/>
          <a:stretch>
            <a:fillRect/>
          </a:stretch>
        </p:blipFill>
        <p:spPr>
          <a:xfrm>
            <a:off x="995306" y="4591954"/>
            <a:ext cx="128699" cy="187198"/>
          </a:xfrm>
          <a:prstGeom prst="rect">
            <a:avLst/>
          </a:prstGeom>
        </p:spPr>
      </p:pic>
      <p:pic>
        <p:nvPicPr>
          <p:cNvPr id="107" name="Picture 106" descr="lock.png"/>
          <p:cNvPicPr>
            <a:picLocks noChangeAspect="1"/>
          </p:cNvPicPr>
          <p:nvPr/>
        </p:nvPicPr>
        <p:blipFill>
          <a:blip r:embed="rId4"/>
          <a:stretch>
            <a:fillRect/>
          </a:stretch>
        </p:blipFill>
        <p:spPr>
          <a:xfrm>
            <a:off x="1876369" y="4864553"/>
            <a:ext cx="128699" cy="187198"/>
          </a:xfrm>
          <a:prstGeom prst="rect">
            <a:avLst/>
          </a:prstGeom>
        </p:spPr>
      </p:pic>
      <p:pic>
        <p:nvPicPr>
          <p:cNvPr id="108" name="Picture 107" descr="lock.png"/>
          <p:cNvPicPr>
            <a:picLocks noChangeAspect="1"/>
          </p:cNvPicPr>
          <p:nvPr/>
        </p:nvPicPr>
        <p:blipFill>
          <a:blip r:embed="rId4"/>
          <a:stretch>
            <a:fillRect/>
          </a:stretch>
        </p:blipFill>
        <p:spPr>
          <a:xfrm>
            <a:off x="2757431" y="5390611"/>
            <a:ext cx="128699" cy="187198"/>
          </a:xfrm>
          <a:prstGeom prst="rect">
            <a:avLst/>
          </a:prstGeom>
        </p:spPr>
      </p:pic>
      <p:pic>
        <p:nvPicPr>
          <p:cNvPr id="109" name="Picture 108" descr="lock.png"/>
          <p:cNvPicPr>
            <a:picLocks noChangeAspect="1"/>
          </p:cNvPicPr>
          <p:nvPr/>
        </p:nvPicPr>
        <p:blipFill>
          <a:blip r:embed="rId4"/>
          <a:stretch>
            <a:fillRect/>
          </a:stretch>
        </p:blipFill>
        <p:spPr>
          <a:xfrm>
            <a:off x="3638493" y="5692785"/>
            <a:ext cx="128699" cy="187198"/>
          </a:xfrm>
          <a:prstGeom prst="rect">
            <a:avLst/>
          </a:prstGeom>
        </p:spPr>
      </p:pic>
      <p:pic>
        <p:nvPicPr>
          <p:cNvPr id="110" name="Picture 109" descr="lock.png"/>
          <p:cNvPicPr>
            <a:picLocks noChangeAspect="1"/>
          </p:cNvPicPr>
          <p:nvPr/>
        </p:nvPicPr>
        <p:blipFill>
          <a:blip r:embed="rId4"/>
          <a:stretch>
            <a:fillRect/>
          </a:stretch>
        </p:blipFill>
        <p:spPr>
          <a:xfrm>
            <a:off x="4519556" y="5328178"/>
            <a:ext cx="128699" cy="187198"/>
          </a:xfrm>
          <a:prstGeom prst="rect">
            <a:avLst/>
          </a:prstGeom>
        </p:spPr>
      </p:pic>
      <p:pic>
        <p:nvPicPr>
          <p:cNvPr id="111" name="Picture 110" descr="lock.png"/>
          <p:cNvPicPr>
            <a:picLocks noChangeAspect="1"/>
          </p:cNvPicPr>
          <p:nvPr/>
        </p:nvPicPr>
        <p:blipFill>
          <a:blip r:embed="rId4"/>
          <a:stretch>
            <a:fillRect/>
          </a:stretch>
        </p:blipFill>
        <p:spPr>
          <a:xfrm>
            <a:off x="5400619" y="5089094"/>
            <a:ext cx="128699" cy="187198"/>
          </a:xfrm>
          <a:prstGeom prst="rect">
            <a:avLst/>
          </a:prstGeom>
        </p:spPr>
      </p:pic>
      <p:pic>
        <p:nvPicPr>
          <p:cNvPr id="112" name="Picture 111" descr="lock.png"/>
          <p:cNvPicPr>
            <a:picLocks noChangeAspect="1"/>
          </p:cNvPicPr>
          <p:nvPr/>
        </p:nvPicPr>
        <p:blipFill>
          <a:blip r:embed="rId4"/>
          <a:stretch>
            <a:fillRect/>
          </a:stretch>
        </p:blipFill>
        <p:spPr>
          <a:xfrm>
            <a:off x="6281681" y="5349511"/>
            <a:ext cx="128699" cy="187198"/>
          </a:xfrm>
          <a:prstGeom prst="rect">
            <a:avLst/>
          </a:prstGeom>
        </p:spPr>
      </p:pic>
      <p:pic>
        <p:nvPicPr>
          <p:cNvPr id="113" name="Picture 112" descr="lock.png"/>
          <p:cNvPicPr>
            <a:picLocks noChangeAspect="1"/>
          </p:cNvPicPr>
          <p:nvPr/>
        </p:nvPicPr>
        <p:blipFill>
          <a:blip r:embed="rId4"/>
          <a:stretch>
            <a:fillRect/>
          </a:stretch>
        </p:blipFill>
        <p:spPr>
          <a:xfrm>
            <a:off x="7162743" y="4811345"/>
            <a:ext cx="128699" cy="187198"/>
          </a:xfrm>
          <a:prstGeom prst="rect">
            <a:avLst/>
          </a:prstGeom>
        </p:spPr>
      </p:pic>
      <p:sp>
        <p:nvSpPr>
          <p:cNvPr id="114" name="TextBox 113"/>
          <p:cNvSpPr txBox="1"/>
          <p:nvPr/>
        </p:nvSpPr>
        <p:spPr>
          <a:xfrm>
            <a:off x="8048625" y="1471995"/>
            <a:ext cx="3447615" cy="194310"/>
          </a:xfrm>
          <a:prstGeom prst="rect">
            <a:avLst/>
          </a:prstGeom>
          <a:noFill/>
        </p:spPr>
        <p:txBody>
          <a:bodyPr wrap="none" lIns="0" rIns="0" tIns="0" bIns="0">
            <a:spAutoFit/>
          </a:bodyPr>
          <a:lstStyle/>
          <a:p>
            <a:r>
              <a:rPr sz="1150" b="0">
                <a:solidFill>
                  <a:srgbClr val="2E2E2E"/>
                </a:solidFill>
                <a:latin typeface="Calibri"/>
              </a:rPr>
              <a:t>Rack assist segment is expected to command the highest</a:t>
            </a:r>
          </a:p>
        </p:txBody>
      </p:sp>
      <p:sp>
        <p:nvSpPr>
          <p:cNvPr id="115" name="TextBox 114"/>
          <p:cNvSpPr txBox="1"/>
          <p:nvPr/>
        </p:nvSpPr>
        <p:spPr>
          <a:xfrm>
            <a:off x="8048625" y="1647255"/>
            <a:ext cx="1299083" cy="194310"/>
          </a:xfrm>
          <a:prstGeom prst="rect">
            <a:avLst/>
          </a:prstGeom>
          <a:noFill/>
        </p:spPr>
        <p:txBody>
          <a:bodyPr wrap="none" lIns="0" rIns="0" tIns="0" bIns="0">
            <a:spAutoFit/>
          </a:bodyPr>
          <a:lstStyle/>
          <a:p>
            <a:r>
              <a:rPr sz="1150" b="0">
                <a:solidFill>
                  <a:srgbClr val="2E2E2E"/>
                </a:solidFill>
                <a:latin typeface="Calibri"/>
              </a:rPr>
              <a:t>average price of US$</a:t>
            </a:r>
          </a:p>
        </p:txBody>
      </p:sp>
      <p:pic>
        <p:nvPicPr>
          <p:cNvPr id="116" name="Picture 115" descr="lock.png"/>
          <p:cNvPicPr>
            <a:picLocks noChangeAspect="1"/>
          </p:cNvPicPr>
          <p:nvPr/>
        </p:nvPicPr>
        <p:blipFill>
          <a:blip r:embed="rId4"/>
          <a:stretch>
            <a:fillRect/>
          </a:stretch>
        </p:blipFill>
        <p:spPr>
          <a:xfrm>
            <a:off x="9296862" y="1637031"/>
            <a:ext cx="134549" cy="195707"/>
          </a:xfrm>
          <a:prstGeom prst="rect">
            <a:avLst/>
          </a:prstGeom>
        </p:spPr>
      </p:pic>
      <p:sp>
        <p:nvSpPr>
          <p:cNvPr id="117" name="TextBox 116"/>
          <p:cNvSpPr txBox="1"/>
          <p:nvPr/>
        </p:nvSpPr>
        <p:spPr>
          <a:xfrm>
            <a:off x="9471971" y="1647255"/>
            <a:ext cx="2330236" cy="194310"/>
          </a:xfrm>
          <a:prstGeom prst="rect">
            <a:avLst/>
          </a:prstGeom>
          <a:noFill/>
        </p:spPr>
        <p:txBody>
          <a:bodyPr wrap="none" lIns="0" rIns="0" tIns="0" bIns="0">
            <a:spAutoFit/>
          </a:bodyPr>
          <a:lstStyle/>
          <a:p>
            <a:r>
              <a:rPr sz="1150" b="0">
                <a:solidFill>
                  <a:srgbClr val="2E2E2E"/>
                </a:solidFill>
                <a:latin typeface="Calibri"/>
              </a:rPr>
              <a:t>per Unit in 2036. Average selling price</a:t>
            </a:r>
          </a:p>
        </p:txBody>
      </p:sp>
      <p:sp>
        <p:nvSpPr>
          <p:cNvPr id="118" name="TextBox 117"/>
          <p:cNvSpPr txBox="1"/>
          <p:nvPr/>
        </p:nvSpPr>
        <p:spPr>
          <a:xfrm>
            <a:off x="8048625" y="1822515"/>
            <a:ext cx="3182615" cy="194310"/>
          </a:xfrm>
          <a:prstGeom prst="rect">
            <a:avLst/>
          </a:prstGeom>
          <a:noFill/>
        </p:spPr>
        <p:txBody>
          <a:bodyPr wrap="none" lIns="0" rIns="0" tIns="0" bIns="0">
            <a:spAutoFit/>
          </a:bodyPr>
          <a:lstStyle/>
          <a:p>
            <a:r>
              <a:rPr sz="1150" b="0">
                <a:solidFill>
                  <a:srgbClr val="2E2E2E"/>
                </a:solidFill>
                <a:latin typeface="Calibri"/>
              </a:rPr>
              <a:t>of heavy commercial vehicle EPS is estimated at US$</a:t>
            </a:r>
          </a:p>
        </p:txBody>
      </p:sp>
      <p:pic>
        <p:nvPicPr>
          <p:cNvPr id="119" name="Picture 118" descr="lock.png"/>
          <p:cNvPicPr>
            <a:picLocks noChangeAspect="1"/>
          </p:cNvPicPr>
          <p:nvPr/>
        </p:nvPicPr>
        <p:blipFill>
          <a:blip r:embed="rId4"/>
          <a:stretch>
            <a:fillRect/>
          </a:stretch>
        </p:blipFill>
        <p:spPr>
          <a:xfrm>
            <a:off x="11180393" y="1812291"/>
            <a:ext cx="134549" cy="195707"/>
          </a:xfrm>
          <a:prstGeom prst="rect">
            <a:avLst/>
          </a:prstGeom>
        </p:spPr>
      </p:pic>
      <p:sp>
        <p:nvSpPr>
          <p:cNvPr id="120" name="TextBox 119"/>
          <p:cNvSpPr txBox="1"/>
          <p:nvPr/>
        </p:nvSpPr>
        <p:spPr>
          <a:xfrm>
            <a:off x="11355503"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21" name="TextBox 120"/>
          <p:cNvSpPr txBox="1"/>
          <p:nvPr/>
        </p:nvSpPr>
        <p:spPr>
          <a:xfrm>
            <a:off x="8048625" y="1997775"/>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122" name="Picture 121" descr="lock.png"/>
          <p:cNvPicPr>
            <a:picLocks noChangeAspect="1"/>
          </p:cNvPicPr>
          <p:nvPr/>
        </p:nvPicPr>
        <p:blipFill>
          <a:blip r:embed="rId4"/>
          <a:stretch>
            <a:fillRect/>
          </a:stretch>
        </p:blipFill>
        <p:spPr>
          <a:xfrm>
            <a:off x="10902271" y="1987551"/>
            <a:ext cx="134549" cy="195707"/>
          </a:xfrm>
          <a:prstGeom prst="rect">
            <a:avLst/>
          </a:prstGeom>
        </p:spPr>
      </p:pic>
      <p:sp>
        <p:nvSpPr>
          <p:cNvPr id="123" name="TextBox 122"/>
          <p:cNvSpPr txBox="1"/>
          <p:nvPr/>
        </p:nvSpPr>
        <p:spPr>
          <a:xfrm>
            <a:off x="11077380" y="1997775"/>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124" name="TextBox 123"/>
          <p:cNvSpPr txBox="1"/>
          <p:nvPr/>
        </p:nvSpPr>
        <p:spPr>
          <a:xfrm>
            <a:off x="8048625" y="217303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125" name="TextBox 124"/>
          <p:cNvSpPr txBox="1"/>
          <p:nvPr/>
        </p:nvSpPr>
        <p:spPr>
          <a:xfrm>
            <a:off x="8048625" y="2400873"/>
            <a:ext cx="3709764" cy="194310"/>
          </a:xfrm>
          <a:prstGeom prst="rect">
            <a:avLst/>
          </a:prstGeom>
          <a:noFill/>
        </p:spPr>
        <p:txBody>
          <a:bodyPr wrap="none" lIns="0" rIns="0" tIns="0" bIns="0">
            <a:spAutoFit/>
          </a:bodyPr>
          <a:lstStyle/>
          <a:p>
            <a:r>
              <a:rPr sz="1150" b="0">
                <a:solidFill>
                  <a:srgbClr val="2E2E2E"/>
                </a:solidFill>
                <a:latin typeface="Calibri"/>
              </a:rPr>
              <a:t>Germany is the highest-priced country, while U.K. is the most</a:t>
            </a:r>
          </a:p>
        </p:txBody>
      </p:sp>
      <p:sp>
        <p:nvSpPr>
          <p:cNvPr id="126" name="TextBox 125"/>
          <p:cNvSpPr txBox="1"/>
          <p:nvPr/>
        </p:nvSpPr>
        <p:spPr>
          <a:xfrm>
            <a:off x="8048625" y="2576133"/>
            <a:ext cx="3811314" cy="194310"/>
          </a:xfrm>
          <a:prstGeom prst="rect">
            <a:avLst/>
          </a:prstGeom>
          <a:noFill/>
        </p:spPr>
        <p:txBody>
          <a:bodyPr wrap="none" lIns="0" rIns="0" tIns="0" bIns="0">
            <a:spAutoFit/>
          </a:bodyPr>
          <a:lstStyle/>
          <a:p>
            <a:r>
              <a:rPr sz="1150" b="0">
                <a:solidFill>
                  <a:srgbClr val="2E2E2E"/>
                </a:solidFill>
                <a:latin typeface="Calibri"/>
              </a:rPr>
              <a:t>price-competitive market. Against the Western Europe price of</a:t>
            </a:r>
          </a:p>
        </p:txBody>
      </p:sp>
      <p:pic>
        <p:nvPicPr>
          <p:cNvPr id="127" name="Picture 126" descr="lock.png"/>
          <p:cNvPicPr>
            <a:picLocks noChangeAspect="1"/>
          </p:cNvPicPr>
          <p:nvPr/>
        </p:nvPicPr>
        <p:blipFill>
          <a:blip r:embed="rId4"/>
          <a:stretch>
            <a:fillRect/>
          </a:stretch>
        </p:blipFill>
        <p:spPr>
          <a:xfrm>
            <a:off x="8034545" y="2741169"/>
            <a:ext cx="134549" cy="195707"/>
          </a:xfrm>
          <a:prstGeom prst="rect">
            <a:avLst/>
          </a:prstGeom>
        </p:spPr>
      </p:pic>
      <p:sp>
        <p:nvSpPr>
          <p:cNvPr id="128" name="TextBox 127"/>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3 of 8 countries price above and 5 below.</a:t>
            </a:r>
          </a:p>
        </p:txBody>
      </p:sp>
      <p:sp>
        <p:nvSpPr>
          <p:cNvPr id="129" name="TextBox 128"/>
          <p:cNvSpPr txBox="1"/>
          <p:nvPr/>
        </p:nvSpPr>
        <p:spPr>
          <a:xfrm>
            <a:off x="8048625" y="2979230"/>
            <a:ext cx="1781733" cy="194310"/>
          </a:xfrm>
          <a:prstGeom prst="rect">
            <a:avLst/>
          </a:prstGeom>
          <a:noFill/>
        </p:spPr>
        <p:txBody>
          <a:bodyPr wrap="none" lIns="0" rIns="0" tIns="0" bIns="0">
            <a:spAutoFit/>
          </a:bodyPr>
          <a:lstStyle/>
          <a:p>
            <a:r>
              <a:rPr sz="1150" b="0">
                <a:solidFill>
                  <a:srgbClr val="2E2E2E"/>
                </a:solidFill>
                <a:latin typeface="Calibri"/>
              </a:rPr>
              <a:t>'Germany' is the dearest at +</a:t>
            </a:r>
          </a:p>
        </p:txBody>
      </p:sp>
      <p:pic>
        <p:nvPicPr>
          <p:cNvPr id="130" name="Picture 129" descr="lock.png"/>
          <p:cNvPicPr>
            <a:picLocks noChangeAspect="1"/>
          </p:cNvPicPr>
          <p:nvPr/>
        </p:nvPicPr>
        <p:blipFill>
          <a:blip r:embed="rId4"/>
          <a:stretch>
            <a:fillRect/>
          </a:stretch>
        </p:blipFill>
        <p:spPr>
          <a:xfrm>
            <a:off x="9779512" y="2969007"/>
            <a:ext cx="134549" cy="195707"/>
          </a:xfrm>
          <a:prstGeom prst="rect">
            <a:avLst/>
          </a:prstGeom>
        </p:spPr>
      </p:pic>
      <p:sp>
        <p:nvSpPr>
          <p:cNvPr id="131" name="TextBox 130"/>
          <p:cNvSpPr txBox="1"/>
          <p:nvPr/>
        </p:nvSpPr>
        <p:spPr>
          <a:xfrm>
            <a:off x="9954621" y="2979230"/>
            <a:ext cx="1835360" cy="194310"/>
          </a:xfrm>
          <a:prstGeom prst="rect">
            <a:avLst/>
          </a:prstGeom>
          <a:noFill/>
        </p:spPr>
        <p:txBody>
          <a:bodyPr wrap="none" lIns="0" rIns="0" tIns="0" bIns="0">
            <a:spAutoFit/>
          </a:bodyPr>
          <a:lstStyle/>
          <a:p>
            <a:r>
              <a:rPr sz="1150" b="0">
                <a:solidFill>
                  <a:srgbClr val="2E2E2E"/>
                </a:solidFill>
                <a:latin typeface="Calibri"/>
              </a:rPr>
              <a:t>versus Western Europe, 'U.K.'</a:t>
            </a:r>
          </a:p>
        </p:txBody>
      </p:sp>
      <p:sp>
        <p:nvSpPr>
          <p:cNvPr id="132" name="TextBox 131"/>
          <p:cNvSpPr txBox="1"/>
          <p:nvPr/>
        </p:nvSpPr>
        <p:spPr>
          <a:xfrm>
            <a:off x="8048625" y="3154490"/>
            <a:ext cx="1074588" cy="194310"/>
          </a:xfrm>
          <a:prstGeom prst="rect">
            <a:avLst/>
          </a:prstGeom>
          <a:noFill/>
        </p:spPr>
        <p:txBody>
          <a:bodyPr wrap="none" lIns="0" rIns="0" tIns="0" bIns="0">
            <a:spAutoFit/>
          </a:bodyPr>
          <a:lstStyle/>
          <a:p>
            <a:r>
              <a:rPr sz="1150" b="0">
                <a:solidFill>
                  <a:srgbClr val="2E2E2E"/>
                </a:solidFill>
                <a:latin typeface="Calibri"/>
              </a:rPr>
              <a:t>the cheapest at -</a:t>
            </a:r>
          </a:p>
        </p:txBody>
      </p:sp>
      <p:pic>
        <p:nvPicPr>
          <p:cNvPr id="133" name="Picture 132" descr="lock.png"/>
          <p:cNvPicPr>
            <a:picLocks noChangeAspect="1"/>
          </p:cNvPicPr>
          <p:nvPr/>
        </p:nvPicPr>
        <p:blipFill>
          <a:blip r:embed="rId4"/>
          <a:stretch>
            <a:fillRect/>
          </a:stretch>
        </p:blipFill>
        <p:spPr>
          <a:xfrm>
            <a:off x="9072367" y="3144267"/>
            <a:ext cx="134549" cy="195707"/>
          </a:xfrm>
          <a:prstGeom prst="rect">
            <a:avLst/>
          </a:prstGeom>
        </p:spPr>
      </p:pic>
      <p:sp>
        <p:nvSpPr>
          <p:cNvPr id="134" name="TextBox 133"/>
          <p:cNvSpPr txBox="1"/>
          <p:nvPr/>
        </p:nvSpPr>
        <p:spPr>
          <a:xfrm>
            <a:off x="9247476" y="3154490"/>
            <a:ext cx="2496579" cy="194310"/>
          </a:xfrm>
          <a:prstGeom prst="rect">
            <a:avLst/>
          </a:prstGeom>
          <a:noFill/>
        </p:spPr>
        <p:txBody>
          <a:bodyPr wrap="none" lIns="0" rIns="0" tIns="0" bIns="0">
            <a:spAutoFit/>
          </a:bodyPr>
          <a:lstStyle/>
          <a:p>
            <a:r>
              <a:rPr sz="1150" b="0">
                <a:solidFill>
                  <a:srgbClr val="2E2E2E"/>
                </a:solidFill>
                <a:latin typeface="Calibri"/>
              </a:rPr>
              <a:t>pointing to premiumisation headroom in</a:t>
            </a:r>
          </a:p>
        </p:txBody>
      </p:sp>
      <p:sp>
        <p:nvSpPr>
          <p:cNvPr id="135" name="TextBox 134"/>
          <p:cNvSpPr txBox="1"/>
          <p:nvPr/>
        </p:nvSpPr>
        <p:spPr>
          <a:xfrm>
            <a:off x="8048625" y="3329750"/>
            <a:ext cx="1690166" cy="194310"/>
          </a:xfrm>
          <a:prstGeom prst="rect">
            <a:avLst/>
          </a:prstGeom>
          <a:noFill/>
        </p:spPr>
        <p:txBody>
          <a:bodyPr wrap="none" lIns="0" rIns="0" tIns="0" bIns="0">
            <a:spAutoFit/>
          </a:bodyPr>
          <a:lstStyle/>
          <a:p>
            <a:r>
              <a:rPr sz="1150" b="0">
                <a:solidFill>
                  <a:srgbClr val="2E2E2E"/>
                </a:solidFill>
                <a:latin typeface="Calibri"/>
              </a:rPr>
              <a:t>the lower-priced countries.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Western Europe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3051231"/>
          </a:xfrm>
          <a:prstGeom prst="roundRect">
            <a:avLst>
              <a:gd name="adj" fmla="val 24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733879"/>
            <a:ext cx="4133850" cy="1822506"/>
          </a:xfrm>
          <a:prstGeom prst="roundRect">
            <a:avLst>
              <a:gd name="adj" fmla="val 41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505772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778795" cy="186689"/>
          </a:xfrm>
          <a:prstGeom prst="rect">
            <a:avLst/>
          </a:prstGeom>
          <a:noFill/>
        </p:spPr>
        <p:txBody>
          <a:bodyPr wrap="none" lIns="0" rIns="0" tIns="0" bIns="0">
            <a:spAutoFit/>
          </a:bodyPr>
          <a:lstStyle/>
          <a:p>
            <a:r>
              <a:rPr sz="1100" b="0">
                <a:solidFill>
                  <a:srgbClr val="2E2E2E"/>
                </a:solidFill>
                <a:latin typeface="Calibri"/>
              </a:rPr>
              <a:t>Heavy commercial vehicle EPS market value in Western Europe is</a:t>
            </a:r>
          </a:p>
        </p:txBody>
      </p:sp>
      <p:sp>
        <p:nvSpPr>
          <p:cNvPr id="35" name="TextBox 34"/>
          <p:cNvSpPr txBox="1"/>
          <p:nvPr/>
        </p:nvSpPr>
        <p:spPr>
          <a:xfrm>
            <a:off x="8048625" y="2214627"/>
            <a:ext cx="1256555" cy="186689"/>
          </a:xfrm>
          <a:prstGeom prst="rect">
            <a:avLst/>
          </a:prstGeom>
          <a:noFill/>
        </p:spPr>
        <p:txBody>
          <a:bodyPr wrap="none" lIns="0" rIns="0" tIns="0" bIns="0">
            <a:spAutoFit/>
          </a:bodyPr>
          <a:lstStyle/>
          <a:p>
            <a:r>
              <a:rPr sz="1100" b="0">
                <a:solidFill>
                  <a:srgbClr val="2E2E2E"/>
                </a:solidFill>
                <a:latin typeface="Calibri"/>
              </a:rPr>
              <a:t>expected to increase</a:t>
            </a:r>
          </a:p>
        </p:txBody>
      </p:sp>
      <p:pic>
        <p:nvPicPr>
          <p:cNvPr id="36" name="Picture 35" descr="lock.png"/>
          <p:cNvPicPr>
            <a:picLocks noChangeAspect="1"/>
          </p:cNvPicPr>
          <p:nvPr/>
        </p:nvPicPr>
        <p:blipFill>
          <a:blip r:embed="rId6"/>
          <a:stretch>
            <a:fillRect/>
          </a:stretch>
        </p:blipFill>
        <p:spPr>
          <a:xfrm>
            <a:off x="9253232" y="2204848"/>
            <a:ext cx="128699" cy="187198"/>
          </a:xfrm>
          <a:prstGeom prst="rect">
            <a:avLst/>
          </a:prstGeom>
        </p:spPr>
      </p:pic>
      <p:sp>
        <p:nvSpPr>
          <p:cNvPr id="37" name="TextBox 36"/>
          <p:cNvSpPr txBox="1"/>
          <p:nvPr/>
        </p:nvSpPr>
        <p:spPr>
          <a:xfrm>
            <a:off x="9420728" y="2214627"/>
            <a:ext cx="2306215" cy="186689"/>
          </a:xfrm>
          <a:prstGeom prst="rect">
            <a:avLst/>
          </a:prstGeom>
          <a:noFill/>
        </p:spPr>
        <p:txBody>
          <a:bodyPr wrap="none" lIns="0" rIns="0" tIns="0" bIns="0">
            <a:spAutoFit/>
          </a:bodyPr>
          <a:lstStyle/>
          <a:p>
            <a:r>
              <a:rPr sz="1100" b="0">
                <a:solidFill>
                  <a:srgbClr val="2E2E2E"/>
                </a:solidFill>
                <a:latin typeface="Calibri"/>
              </a:rPr>
              <a:t>X between 2025 and 2036. In 2025, the</a:t>
            </a:r>
          </a:p>
        </p:txBody>
      </p:sp>
      <p:sp>
        <p:nvSpPr>
          <p:cNvPr id="38" name="TextBox 37"/>
          <p:cNvSpPr txBox="1"/>
          <p:nvPr/>
        </p:nvSpPr>
        <p:spPr>
          <a:xfrm>
            <a:off x="8048625" y="2382267"/>
            <a:ext cx="3562970" cy="186689"/>
          </a:xfrm>
          <a:prstGeom prst="rect">
            <a:avLst/>
          </a:prstGeom>
          <a:noFill/>
        </p:spPr>
        <p:txBody>
          <a:bodyPr wrap="none" lIns="0" rIns="0" tIns="0" bIns="0">
            <a:spAutoFit/>
          </a:bodyPr>
          <a:lstStyle/>
          <a:p>
            <a:r>
              <a:rPr sz="1100" b="0">
                <a:solidFill>
                  <a:srgbClr val="2E2E2E"/>
                </a:solidFill>
                <a:latin typeface="Calibri"/>
              </a:rPr>
              <a:t>heavy commercial vehicle EPS market in Western Europe was</a:t>
            </a:r>
          </a:p>
        </p:txBody>
      </p:sp>
      <p:sp>
        <p:nvSpPr>
          <p:cNvPr id="39" name="TextBox 38"/>
          <p:cNvSpPr txBox="1"/>
          <p:nvPr/>
        </p:nvSpPr>
        <p:spPr>
          <a:xfrm>
            <a:off x="8048625" y="2549907"/>
            <a:ext cx="856555" cy="186689"/>
          </a:xfrm>
          <a:prstGeom prst="rect">
            <a:avLst/>
          </a:prstGeom>
          <a:noFill/>
        </p:spPr>
        <p:txBody>
          <a:bodyPr wrap="none" lIns="0" rIns="0" tIns="0" bIns="0">
            <a:spAutoFit/>
          </a:bodyPr>
          <a:lstStyle/>
          <a:p>
            <a:r>
              <a:rPr sz="1100" b="0">
                <a:solidFill>
                  <a:srgbClr val="2E2E2E"/>
                </a:solidFill>
                <a:latin typeface="Calibri"/>
              </a:rPr>
              <a:t>valued at US$</a:t>
            </a:r>
          </a:p>
        </p:txBody>
      </p:sp>
      <p:pic>
        <p:nvPicPr>
          <p:cNvPr id="40" name="Picture 39" descr="lock.png"/>
          <p:cNvPicPr>
            <a:picLocks noChangeAspect="1"/>
          </p:cNvPicPr>
          <p:nvPr/>
        </p:nvPicPr>
        <p:blipFill>
          <a:blip r:embed="rId6"/>
          <a:stretch>
            <a:fillRect/>
          </a:stretch>
        </p:blipFill>
        <p:spPr>
          <a:xfrm>
            <a:off x="8853232" y="2540128"/>
            <a:ext cx="128699" cy="187198"/>
          </a:xfrm>
          <a:prstGeom prst="rect">
            <a:avLst/>
          </a:prstGeom>
        </p:spPr>
      </p:pic>
      <p:sp>
        <p:nvSpPr>
          <p:cNvPr id="41" name="TextBox 40"/>
          <p:cNvSpPr txBox="1"/>
          <p:nvPr/>
        </p:nvSpPr>
        <p:spPr>
          <a:xfrm>
            <a:off x="9020727"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2" name="Picture 41" descr="lock.png"/>
          <p:cNvPicPr>
            <a:picLocks noChangeAspect="1"/>
          </p:cNvPicPr>
          <p:nvPr/>
        </p:nvPicPr>
        <p:blipFill>
          <a:blip r:embed="rId6"/>
          <a:stretch>
            <a:fillRect/>
          </a:stretch>
        </p:blipFill>
        <p:spPr>
          <a:xfrm>
            <a:off x="11294640" y="2540128"/>
            <a:ext cx="128699" cy="187198"/>
          </a:xfrm>
          <a:prstGeom prst="rect">
            <a:avLst/>
          </a:prstGeom>
        </p:spPr>
      </p:pic>
      <p:sp>
        <p:nvSpPr>
          <p:cNvPr id="43" name="TextBox 42"/>
          <p:cNvSpPr txBox="1"/>
          <p:nvPr/>
        </p:nvSpPr>
        <p:spPr>
          <a:xfrm>
            <a:off x="11462136" y="2549907"/>
            <a:ext cx="269106"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44" name="TextBox 43"/>
          <p:cNvSpPr txBox="1"/>
          <p:nvPr/>
        </p:nvSpPr>
        <p:spPr>
          <a:xfrm>
            <a:off x="8048625" y="2717547"/>
            <a:ext cx="3030363" cy="186689"/>
          </a:xfrm>
          <a:prstGeom prst="rect">
            <a:avLst/>
          </a:prstGeom>
          <a:noFill/>
        </p:spPr>
        <p:txBody>
          <a:bodyPr wrap="none" lIns="0" rIns="0" tIns="0" bIns="0">
            <a:spAutoFit/>
          </a:bodyPr>
          <a:lstStyle/>
          <a:p>
            <a:r>
              <a:rPr sz="1100" b="0">
                <a:solidFill>
                  <a:srgbClr val="2E2E2E"/>
                </a:solidFill>
                <a:latin typeface="Calibri"/>
              </a:rPr>
              <a:t>by the end of 2026, reflecting a Y-o-Y growth rate of</a:t>
            </a:r>
          </a:p>
        </p:txBody>
      </p:sp>
      <p:pic>
        <p:nvPicPr>
          <p:cNvPr id="45" name="Picture 44" descr="lock.png"/>
          <p:cNvPicPr>
            <a:picLocks noChangeAspect="1"/>
          </p:cNvPicPr>
          <p:nvPr/>
        </p:nvPicPr>
        <p:blipFill>
          <a:blip r:embed="rId6"/>
          <a:stretch>
            <a:fillRect/>
          </a:stretch>
        </p:blipFill>
        <p:spPr>
          <a:xfrm>
            <a:off x="11027040" y="2707768"/>
            <a:ext cx="128699" cy="187198"/>
          </a:xfrm>
          <a:prstGeom prst="rect">
            <a:avLst/>
          </a:prstGeom>
        </p:spPr>
      </p:pic>
      <p:sp>
        <p:nvSpPr>
          <p:cNvPr id="46" name="TextBox 45"/>
          <p:cNvSpPr txBox="1"/>
          <p:nvPr/>
        </p:nvSpPr>
        <p:spPr>
          <a:xfrm>
            <a:off x="11194536"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583433" cy="186689"/>
          </a:xfrm>
          <a:prstGeom prst="rect">
            <a:avLst/>
          </a:prstGeom>
          <a:noFill/>
        </p:spPr>
        <p:txBody>
          <a:bodyPr wrap="none" lIns="0" rIns="0" tIns="0" bIns="0">
            <a:spAutoFit/>
          </a:bodyPr>
          <a:lstStyle/>
          <a:p>
            <a:r>
              <a:rPr sz="1100" b="0">
                <a:solidFill>
                  <a:srgbClr val="2E2E2E"/>
                </a:solidFill>
                <a:latin typeface="Calibri"/>
              </a:rPr>
              <a:t>The market in Western Europe is expected to account for US$</a:t>
            </a:r>
          </a:p>
        </p:txBody>
      </p:sp>
      <p:pic>
        <p:nvPicPr>
          <p:cNvPr id="48" name="Picture 47" descr="lock.png"/>
          <p:cNvPicPr>
            <a:picLocks noChangeAspect="1"/>
          </p:cNvPicPr>
          <p:nvPr/>
        </p:nvPicPr>
        <p:blipFill>
          <a:blip r:embed="rId6"/>
          <a:stretch>
            <a:fillRect/>
          </a:stretch>
        </p:blipFill>
        <p:spPr>
          <a:xfrm>
            <a:off x="8035157" y="3093340"/>
            <a:ext cx="128699" cy="187198"/>
          </a:xfrm>
          <a:prstGeom prst="rect">
            <a:avLst/>
          </a:prstGeom>
        </p:spPr>
      </p:pic>
      <p:sp>
        <p:nvSpPr>
          <p:cNvPr id="49" name="TextBox 48"/>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0" name="Picture 49" descr="lock.png"/>
          <p:cNvPicPr>
            <a:picLocks noChangeAspect="1"/>
          </p:cNvPicPr>
          <p:nvPr/>
        </p:nvPicPr>
        <p:blipFill>
          <a:blip r:embed="rId6"/>
          <a:stretch>
            <a:fillRect/>
          </a:stretch>
        </p:blipFill>
        <p:spPr>
          <a:xfrm>
            <a:off x="9646261" y="3093340"/>
            <a:ext cx="128699" cy="187198"/>
          </a:xfrm>
          <a:prstGeom prst="rect">
            <a:avLst/>
          </a:prstGeom>
        </p:spPr>
      </p:pic>
      <p:sp>
        <p:nvSpPr>
          <p:cNvPr id="51" name="TextBox 50"/>
          <p:cNvSpPr txBox="1"/>
          <p:nvPr/>
        </p:nvSpPr>
        <p:spPr>
          <a:xfrm>
            <a:off x="9813757" y="3103119"/>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52" name="TextBox 51"/>
          <p:cNvSpPr txBox="1"/>
          <p:nvPr/>
        </p:nvSpPr>
        <p:spPr>
          <a:xfrm>
            <a:off x="8048625" y="3270759"/>
            <a:ext cx="3817540" cy="186689"/>
          </a:xfrm>
          <a:prstGeom prst="rect">
            <a:avLst/>
          </a:prstGeom>
          <a:noFill/>
        </p:spPr>
        <p:txBody>
          <a:bodyPr wrap="none" lIns="0" rIns="0" tIns="0" bIns="0">
            <a:spAutoFit/>
          </a:bodyPr>
          <a:lstStyle/>
          <a:p>
            <a:r>
              <a:rPr sz="1100" b="0">
                <a:solidFill>
                  <a:srgbClr val="2E2E2E"/>
                </a:solidFill>
                <a:latin typeface="Calibri"/>
              </a:rPr>
              <a:t>Western Europe is expected to create an incremental opportunity</a:t>
            </a:r>
          </a:p>
        </p:txBody>
      </p:sp>
      <p:sp>
        <p:nvSpPr>
          <p:cNvPr id="53" name="TextBox 52"/>
          <p:cNvSpPr txBox="1"/>
          <p:nvPr/>
        </p:nvSpPr>
        <p:spPr>
          <a:xfrm>
            <a:off x="8048625" y="3438399"/>
            <a:ext cx="448915" cy="186689"/>
          </a:xfrm>
          <a:prstGeom prst="rect">
            <a:avLst/>
          </a:prstGeom>
          <a:noFill/>
        </p:spPr>
        <p:txBody>
          <a:bodyPr wrap="none" lIns="0" rIns="0" tIns="0" bIns="0">
            <a:spAutoFit/>
          </a:bodyPr>
          <a:lstStyle/>
          <a:p>
            <a:r>
              <a:rPr sz="1100" b="0">
                <a:solidFill>
                  <a:srgbClr val="2E2E2E"/>
                </a:solidFill>
                <a:latin typeface="Calibri"/>
              </a:rPr>
              <a:t>of US$</a:t>
            </a:r>
          </a:p>
        </p:txBody>
      </p:sp>
      <p:pic>
        <p:nvPicPr>
          <p:cNvPr id="54" name="Picture 53" descr="lock.png"/>
          <p:cNvPicPr>
            <a:picLocks noChangeAspect="1"/>
          </p:cNvPicPr>
          <p:nvPr/>
        </p:nvPicPr>
        <p:blipFill>
          <a:blip r:embed="rId6"/>
          <a:stretch>
            <a:fillRect/>
          </a:stretch>
        </p:blipFill>
        <p:spPr>
          <a:xfrm>
            <a:off x="8445591" y="3428620"/>
            <a:ext cx="128699" cy="187198"/>
          </a:xfrm>
          <a:prstGeom prst="rect">
            <a:avLst/>
          </a:prstGeom>
        </p:spPr>
      </p:pic>
      <p:sp>
        <p:nvSpPr>
          <p:cNvPr id="55" name="TextBox 54"/>
          <p:cNvSpPr txBox="1"/>
          <p:nvPr/>
        </p:nvSpPr>
        <p:spPr>
          <a:xfrm>
            <a:off x="8613087" y="3438399"/>
            <a:ext cx="3275930" cy="186689"/>
          </a:xfrm>
          <a:prstGeom prst="rect">
            <a:avLst/>
          </a:prstGeom>
          <a:noFill/>
        </p:spPr>
        <p:txBody>
          <a:bodyPr wrap="none" lIns="0" rIns="0" tIns="0" bIns="0">
            <a:spAutoFit/>
          </a:bodyPr>
          <a:lstStyle/>
          <a:p>
            <a:r>
              <a:rPr sz="1100" b="0">
                <a:solidFill>
                  <a:srgbClr val="2E2E2E"/>
                </a:solidFill>
                <a:latin typeface="Calibri"/>
              </a:rPr>
              <a:t>Mn for the overall heavy commercial vehicle EPS market</a:t>
            </a:r>
          </a:p>
        </p:txBody>
      </p:sp>
      <p:sp>
        <p:nvSpPr>
          <p:cNvPr id="56" name="TextBox 55"/>
          <p:cNvSpPr txBox="1"/>
          <p:nvPr/>
        </p:nvSpPr>
        <p:spPr>
          <a:xfrm>
            <a:off x="8048625" y="3606039"/>
            <a:ext cx="1171153" cy="186689"/>
          </a:xfrm>
          <a:prstGeom prst="rect">
            <a:avLst/>
          </a:prstGeom>
          <a:noFill/>
        </p:spPr>
        <p:txBody>
          <a:bodyPr wrap="none" lIns="0" rIns="0" tIns="0" bIns="0">
            <a:spAutoFit/>
          </a:bodyPr>
          <a:lstStyle/>
          <a:p>
            <a:r>
              <a:rPr sz="1100" b="0">
                <a:solidFill>
                  <a:srgbClr val="2E2E2E"/>
                </a:solidFill>
                <a:latin typeface="Calibri"/>
              </a:rPr>
              <a:t>from 2025 to 2036.</a:t>
            </a:r>
          </a:p>
        </p:txBody>
      </p:sp>
      <p:sp>
        <p:nvSpPr>
          <p:cNvPr id="57" name="TextBox 56"/>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8" name="Picture 57" descr="lock.png"/>
          <p:cNvPicPr>
            <a:picLocks noChangeAspect="1"/>
          </p:cNvPicPr>
          <p:nvPr/>
        </p:nvPicPr>
        <p:blipFill>
          <a:blip r:embed="rId6"/>
          <a:stretch>
            <a:fillRect/>
          </a:stretch>
        </p:blipFill>
        <p:spPr>
          <a:xfrm>
            <a:off x="10833861" y="3814192"/>
            <a:ext cx="128699" cy="187198"/>
          </a:xfrm>
          <a:prstGeom prst="rect">
            <a:avLst/>
          </a:prstGeom>
        </p:spPr>
      </p:pic>
      <p:sp>
        <p:nvSpPr>
          <p:cNvPr id="59" name="TextBox 58"/>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60" name="TextBox 59"/>
          <p:cNvSpPr txBox="1"/>
          <p:nvPr/>
        </p:nvSpPr>
        <p:spPr>
          <a:xfrm>
            <a:off x="8048625" y="5152979"/>
            <a:ext cx="2242703" cy="194310"/>
          </a:xfrm>
          <a:prstGeom prst="rect">
            <a:avLst/>
          </a:prstGeom>
          <a:noFill/>
        </p:spPr>
        <p:txBody>
          <a:bodyPr wrap="none" lIns="0" rIns="0" tIns="0" bIns="0">
            <a:spAutoFit/>
          </a:bodyPr>
          <a:lstStyle/>
          <a:p>
            <a:r>
              <a:rPr sz="1150" b="0">
                <a:solidFill>
                  <a:srgbClr val="2E2E2E"/>
                </a:solidFill>
                <a:latin typeface="Calibri"/>
              </a:rPr>
              <a:t>▪ 'Germany' leads regional growth at</a:t>
            </a:r>
          </a:p>
        </p:txBody>
      </p:sp>
      <p:pic>
        <p:nvPicPr>
          <p:cNvPr id="61" name="Picture 60" descr="lock.png"/>
          <p:cNvPicPr>
            <a:picLocks noChangeAspect="1"/>
          </p:cNvPicPr>
          <p:nvPr/>
        </p:nvPicPr>
        <p:blipFill>
          <a:blip r:embed="rId6"/>
          <a:stretch>
            <a:fillRect/>
          </a:stretch>
        </p:blipFill>
        <p:spPr>
          <a:xfrm>
            <a:off x="10240482" y="5142755"/>
            <a:ext cx="134549" cy="195707"/>
          </a:xfrm>
          <a:prstGeom prst="rect">
            <a:avLst/>
          </a:prstGeom>
        </p:spPr>
      </p:pic>
      <p:sp>
        <p:nvSpPr>
          <p:cNvPr id="62" name="TextBox 61"/>
          <p:cNvSpPr txBox="1"/>
          <p:nvPr/>
        </p:nvSpPr>
        <p:spPr>
          <a:xfrm>
            <a:off x="10415591"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8048625" y="5380816"/>
            <a:ext cx="3231678" cy="194310"/>
          </a:xfrm>
          <a:prstGeom prst="rect">
            <a:avLst/>
          </a:prstGeom>
          <a:noFill/>
        </p:spPr>
        <p:txBody>
          <a:bodyPr wrap="none" lIns="0" rIns="0" tIns="0" bIns="0">
            <a:spAutoFit/>
          </a:bodyPr>
          <a:lstStyle/>
          <a:p>
            <a:r>
              <a:rPr sz="1150" b="0">
                <a:solidFill>
                  <a:srgbClr val="2E2E2E"/>
                </a:solidFill>
                <a:latin typeface="Calibri"/>
              </a:rPr>
              <a:t>▪ Demand concentrates in 'Rack Assist' within System</a:t>
            </a:r>
          </a:p>
        </p:txBody>
      </p:sp>
      <p:sp>
        <p:nvSpPr>
          <p:cNvPr id="64" name="TextBox 63"/>
          <p:cNvSpPr txBox="1"/>
          <p:nvPr/>
        </p:nvSpPr>
        <p:spPr>
          <a:xfrm>
            <a:off x="8048625" y="5556076"/>
            <a:ext cx="854087" cy="194310"/>
          </a:xfrm>
          <a:prstGeom prst="rect">
            <a:avLst/>
          </a:prstGeom>
          <a:noFill/>
        </p:spPr>
        <p:txBody>
          <a:bodyPr wrap="none" lIns="0" rIns="0" tIns="0" bIns="0">
            <a:spAutoFit/>
          </a:bodyPr>
          <a:lstStyle/>
          <a:p>
            <a:r>
              <a:rPr sz="1150" b="0">
                <a:solidFill>
                  <a:srgbClr val="2E2E2E"/>
                </a:solidFill>
                <a:latin typeface="Calibri"/>
              </a:rPr>
              <a:t>Architecture.</a:t>
            </a:r>
          </a:p>
        </p:txBody>
      </p:sp>
      <p:sp>
        <p:nvSpPr>
          <p:cNvPr id="65" name="TextBox 64"/>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6" name="TextBox 65"/>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7"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Western Europe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990802" cy="186689"/>
          </a:xfrm>
          <a:prstGeom prst="rect">
            <a:avLst/>
          </a:prstGeom>
          <a:noFill/>
        </p:spPr>
        <p:txBody>
          <a:bodyPr wrap="none" lIns="0" rIns="0" tIns="0" bIns="0">
            <a:spAutoFit/>
          </a:bodyPr>
          <a:lstStyle/>
          <a:p>
            <a:r>
              <a:rPr sz="1100" b="0">
                <a:solidFill>
                  <a:srgbClr val="2E2E2E"/>
                </a:solidFill>
                <a:latin typeface="Calibri"/>
              </a:rPr>
              <a:t>Heavy commercial vehicle EPS market value in Western Europe is expected to increase</a:t>
            </a:r>
          </a:p>
        </p:txBody>
      </p:sp>
      <p:pic>
        <p:nvPicPr>
          <p:cNvPr id="32" name="Picture 31" descr="lock.png"/>
          <p:cNvPicPr>
            <a:picLocks noChangeAspect="1"/>
          </p:cNvPicPr>
          <p:nvPr/>
        </p:nvPicPr>
        <p:blipFill>
          <a:blip r:embed="rId6"/>
          <a:stretch>
            <a:fillRect/>
          </a:stretch>
        </p:blipFill>
        <p:spPr>
          <a:xfrm>
            <a:off x="5215078" y="4867021"/>
            <a:ext cx="128699" cy="187198"/>
          </a:xfrm>
          <a:prstGeom prst="rect">
            <a:avLst/>
          </a:prstGeom>
        </p:spPr>
      </p:pic>
      <p:sp>
        <p:nvSpPr>
          <p:cNvPr id="33" name="TextBox 32"/>
          <p:cNvSpPr txBox="1"/>
          <p:nvPr/>
        </p:nvSpPr>
        <p:spPr>
          <a:xfrm>
            <a:off x="5382574" y="4876800"/>
            <a:ext cx="6380162" cy="186689"/>
          </a:xfrm>
          <a:prstGeom prst="rect">
            <a:avLst/>
          </a:prstGeom>
          <a:noFill/>
        </p:spPr>
        <p:txBody>
          <a:bodyPr wrap="none" lIns="0" rIns="0" tIns="0" bIns="0">
            <a:spAutoFit/>
          </a:bodyPr>
          <a:lstStyle/>
          <a:p>
            <a:r>
              <a:rPr sz="1100" b="0">
                <a:solidFill>
                  <a:srgbClr val="2E2E2E"/>
                </a:solidFill>
                <a:latin typeface="Calibri"/>
              </a:rPr>
              <a:t>X between 2025 and 2036. In 2025, the heavy commercial vehicle EPS market in Western Europe was valued at</a:t>
            </a:r>
          </a:p>
        </p:txBody>
      </p:sp>
      <p:sp>
        <p:nvSpPr>
          <p:cNvPr id="34" name="TextBox 33"/>
          <p:cNvSpPr txBox="1"/>
          <p:nvPr/>
        </p:nvSpPr>
        <p:spPr>
          <a:xfrm>
            <a:off x="276225" y="5044440"/>
            <a:ext cx="301029" cy="186689"/>
          </a:xfrm>
          <a:prstGeom prst="rect">
            <a:avLst/>
          </a:prstGeom>
          <a:noFill/>
        </p:spPr>
        <p:txBody>
          <a:bodyPr wrap="none" lIns="0" rIns="0" tIns="0" bIns="0">
            <a:spAutoFit/>
          </a:bodyPr>
          <a:lstStyle/>
          <a:p>
            <a:r>
              <a:rPr sz="1100" b="0">
                <a:solidFill>
                  <a:srgbClr val="2E2E2E"/>
                </a:solidFill>
                <a:latin typeface="Calibri"/>
              </a:rPr>
              <a:t>US$</a:t>
            </a:r>
          </a:p>
        </p:txBody>
      </p:sp>
      <p:pic>
        <p:nvPicPr>
          <p:cNvPr id="35" name="Picture 34" descr="lock.png"/>
          <p:cNvPicPr>
            <a:picLocks noChangeAspect="1"/>
          </p:cNvPicPr>
          <p:nvPr/>
        </p:nvPicPr>
        <p:blipFill>
          <a:blip r:embed="rId6"/>
          <a:stretch>
            <a:fillRect/>
          </a:stretch>
        </p:blipFill>
        <p:spPr>
          <a:xfrm>
            <a:off x="525306" y="5034660"/>
            <a:ext cx="128699" cy="187198"/>
          </a:xfrm>
          <a:prstGeom prst="rect">
            <a:avLst/>
          </a:prstGeom>
        </p:spPr>
      </p:pic>
      <p:sp>
        <p:nvSpPr>
          <p:cNvPr id="36" name="TextBox 35"/>
          <p:cNvSpPr txBox="1"/>
          <p:nvPr/>
        </p:nvSpPr>
        <p:spPr>
          <a:xfrm>
            <a:off x="692802" y="5044440"/>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37" name="Picture 36" descr="lock.png"/>
          <p:cNvPicPr>
            <a:picLocks noChangeAspect="1"/>
          </p:cNvPicPr>
          <p:nvPr/>
        </p:nvPicPr>
        <p:blipFill>
          <a:blip r:embed="rId6"/>
          <a:stretch>
            <a:fillRect/>
          </a:stretch>
        </p:blipFill>
        <p:spPr>
          <a:xfrm>
            <a:off x="2966714" y="5034660"/>
            <a:ext cx="128699" cy="187198"/>
          </a:xfrm>
          <a:prstGeom prst="rect">
            <a:avLst/>
          </a:prstGeom>
        </p:spPr>
      </p:pic>
      <p:sp>
        <p:nvSpPr>
          <p:cNvPr id="38" name="TextBox 37"/>
          <p:cNvSpPr txBox="1"/>
          <p:nvPr/>
        </p:nvSpPr>
        <p:spPr>
          <a:xfrm>
            <a:off x="3134210" y="5044440"/>
            <a:ext cx="3254920" cy="186689"/>
          </a:xfrm>
          <a:prstGeom prst="rect">
            <a:avLst/>
          </a:prstGeom>
          <a:noFill/>
        </p:spPr>
        <p:txBody>
          <a:bodyPr wrap="none" lIns="0" rIns="0" tIns="0" bIns="0">
            <a:spAutoFit/>
          </a:bodyPr>
          <a:lstStyle/>
          <a:p>
            <a:r>
              <a:rPr sz="1100" b="0">
                <a:solidFill>
                  <a:srgbClr val="2E2E2E"/>
                </a:solidFill>
                <a:latin typeface="Calibri"/>
              </a:rPr>
              <a:t>Mn by the end of 2026, reflecting a Y-o-Y growth rate of</a:t>
            </a:r>
          </a:p>
        </p:txBody>
      </p:sp>
      <p:pic>
        <p:nvPicPr>
          <p:cNvPr id="39" name="Picture 38" descr="lock.png"/>
          <p:cNvPicPr>
            <a:picLocks noChangeAspect="1"/>
          </p:cNvPicPr>
          <p:nvPr/>
        </p:nvPicPr>
        <p:blipFill>
          <a:blip r:embed="rId6"/>
          <a:stretch>
            <a:fillRect/>
          </a:stretch>
        </p:blipFill>
        <p:spPr>
          <a:xfrm>
            <a:off x="6337182" y="5034660"/>
            <a:ext cx="128699" cy="187198"/>
          </a:xfrm>
          <a:prstGeom prst="rect">
            <a:avLst/>
          </a:prstGeom>
        </p:spPr>
      </p:pic>
      <p:sp>
        <p:nvSpPr>
          <p:cNvPr id="40" name="TextBox 39"/>
          <p:cNvSpPr txBox="1"/>
          <p:nvPr/>
        </p:nvSpPr>
        <p:spPr>
          <a:xfrm>
            <a:off x="6504678" y="5044440"/>
            <a:ext cx="3650282" cy="186689"/>
          </a:xfrm>
          <a:prstGeom prst="rect">
            <a:avLst/>
          </a:prstGeom>
          <a:noFill/>
        </p:spPr>
        <p:txBody>
          <a:bodyPr wrap="none" lIns="0" rIns="0" tIns="0" bIns="0">
            <a:spAutoFit/>
          </a:bodyPr>
          <a:lstStyle/>
          <a:p>
            <a:r>
              <a:rPr sz="1100" b="0">
                <a:solidFill>
                  <a:srgbClr val="2E2E2E"/>
                </a:solidFill>
                <a:latin typeface="Calibri"/>
              </a:rPr>
              <a:t>. The market in Western Europe is expected to account for US$</a:t>
            </a:r>
          </a:p>
        </p:txBody>
      </p:sp>
      <p:pic>
        <p:nvPicPr>
          <p:cNvPr id="41" name="Picture 40" descr="lock.png"/>
          <p:cNvPicPr>
            <a:picLocks noChangeAspect="1"/>
          </p:cNvPicPr>
          <p:nvPr/>
        </p:nvPicPr>
        <p:blipFill>
          <a:blip r:embed="rId6"/>
          <a:stretch>
            <a:fillRect/>
          </a:stretch>
        </p:blipFill>
        <p:spPr>
          <a:xfrm>
            <a:off x="10103012" y="5034660"/>
            <a:ext cx="128699" cy="187198"/>
          </a:xfrm>
          <a:prstGeom prst="rect">
            <a:avLst/>
          </a:prstGeom>
        </p:spPr>
      </p:pic>
      <p:sp>
        <p:nvSpPr>
          <p:cNvPr id="42" name="TextBox 41"/>
          <p:cNvSpPr txBox="1"/>
          <p:nvPr/>
        </p:nvSpPr>
        <p:spPr>
          <a:xfrm>
            <a:off x="10270508" y="5044440"/>
            <a:ext cx="1347671" cy="186689"/>
          </a:xfrm>
          <a:prstGeom prst="rect">
            <a:avLst/>
          </a:prstGeom>
          <a:noFill/>
        </p:spPr>
        <p:txBody>
          <a:bodyPr wrap="none" lIns="0" rIns="0" tIns="0" bIns="0">
            <a:spAutoFit/>
          </a:bodyPr>
          <a:lstStyle/>
          <a:p>
            <a:r>
              <a:rPr sz="1100" b="0">
                <a:solidFill>
                  <a:srgbClr val="2E2E2E"/>
                </a:solidFill>
                <a:latin typeface="Calibri"/>
              </a:rPr>
              <a:t>Mn by 2036 at a CAGR</a:t>
            </a:r>
          </a:p>
        </p:txBody>
      </p:sp>
      <p:sp>
        <p:nvSpPr>
          <p:cNvPr id="43" name="TextBox 42"/>
          <p:cNvSpPr txBox="1"/>
          <p:nvPr/>
        </p:nvSpPr>
        <p:spPr>
          <a:xfrm>
            <a:off x="276225" y="5212080"/>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44" name="Picture 43" descr="lock.png"/>
          <p:cNvPicPr>
            <a:picLocks noChangeAspect="1"/>
          </p:cNvPicPr>
          <p:nvPr/>
        </p:nvPicPr>
        <p:blipFill>
          <a:blip r:embed="rId6"/>
          <a:stretch>
            <a:fillRect/>
          </a:stretch>
        </p:blipFill>
        <p:spPr>
          <a:xfrm>
            <a:off x="416711" y="5202301"/>
            <a:ext cx="128699" cy="187198"/>
          </a:xfrm>
          <a:prstGeom prst="rect">
            <a:avLst/>
          </a:prstGeom>
        </p:spPr>
      </p:pic>
      <p:sp>
        <p:nvSpPr>
          <p:cNvPr id="45" name="TextBox 44"/>
          <p:cNvSpPr txBox="1"/>
          <p:nvPr/>
        </p:nvSpPr>
        <p:spPr>
          <a:xfrm>
            <a:off x="584207" y="5212080"/>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46" name="TextBox 45"/>
          <p:cNvSpPr txBox="1"/>
          <p:nvPr/>
        </p:nvSpPr>
        <p:spPr>
          <a:xfrm>
            <a:off x="276225" y="5430012"/>
            <a:ext cx="4221906" cy="186689"/>
          </a:xfrm>
          <a:prstGeom prst="rect">
            <a:avLst/>
          </a:prstGeom>
          <a:noFill/>
        </p:spPr>
        <p:txBody>
          <a:bodyPr wrap="none" lIns="0" rIns="0" tIns="0" bIns="0">
            <a:spAutoFit/>
          </a:bodyPr>
          <a:lstStyle/>
          <a:p>
            <a:r>
              <a:rPr sz="1100" b="0">
                <a:solidFill>
                  <a:srgbClr val="2E2E2E"/>
                </a:solidFill>
                <a:latin typeface="Calibri"/>
              </a:rPr>
              <a:t>Western Europe is expected to create an incremental opportunity of US$</a:t>
            </a:r>
          </a:p>
        </p:txBody>
      </p:sp>
      <p:pic>
        <p:nvPicPr>
          <p:cNvPr id="47" name="Picture 46" descr="lock.png"/>
          <p:cNvPicPr>
            <a:picLocks noChangeAspect="1"/>
          </p:cNvPicPr>
          <p:nvPr/>
        </p:nvPicPr>
        <p:blipFill>
          <a:blip r:embed="rId6"/>
          <a:stretch>
            <a:fillRect/>
          </a:stretch>
        </p:blipFill>
        <p:spPr>
          <a:xfrm>
            <a:off x="4446183" y="5420233"/>
            <a:ext cx="128699" cy="187198"/>
          </a:xfrm>
          <a:prstGeom prst="rect">
            <a:avLst/>
          </a:prstGeom>
        </p:spPr>
      </p:pic>
      <p:sp>
        <p:nvSpPr>
          <p:cNvPr id="48" name="TextBox 47"/>
          <p:cNvSpPr txBox="1"/>
          <p:nvPr/>
        </p:nvSpPr>
        <p:spPr>
          <a:xfrm>
            <a:off x="4613679" y="5430012"/>
            <a:ext cx="7195170" cy="186689"/>
          </a:xfrm>
          <a:prstGeom prst="rect">
            <a:avLst/>
          </a:prstGeom>
          <a:noFill/>
        </p:spPr>
        <p:txBody>
          <a:bodyPr wrap="none" lIns="0" rIns="0" tIns="0" bIns="0">
            <a:spAutoFit/>
          </a:bodyPr>
          <a:lstStyle/>
          <a:p>
            <a:r>
              <a:rPr sz="1100" b="0">
                <a:solidFill>
                  <a:srgbClr val="2E2E2E"/>
                </a:solidFill>
                <a:latin typeface="Calibri"/>
              </a:rPr>
              <a:t>Mn for the overall heavy commercial vehicle EPS market from 2025 to 2036. Absolute $ value for 2026 is estimated to be US$</a:t>
            </a:r>
          </a:p>
        </p:txBody>
      </p:sp>
      <p:pic>
        <p:nvPicPr>
          <p:cNvPr id="49" name="Picture 48" descr="lock.png"/>
          <p:cNvPicPr>
            <a:picLocks noChangeAspect="1"/>
          </p:cNvPicPr>
          <p:nvPr/>
        </p:nvPicPr>
        <p:blipFill>
          <a:blip r:embed="rId6"/>
          <a:stretch>
            <a:fillRect/>
          </a:stretch>
        </p:blipFill>
        <p:spPr>
          <a:xfrm>
            <a:off x="262757" y="5587873"/>
            <a:ext cx="128699" cy="187198"/>
          </a:xfrm>
          <a:prstGeom prst="rect">
            <a:avLst/>
          </a:prstGeom>
        </p:spPr>
      </p:pic>
      <p:sp>
        <p:nvSpPr>
          <p:cNvPr id="50" name="TextBox 49"/>
          <p:cNvSpPr txBox="1"/>
          <p:nvPr/>
        </p:nvSpPr>
        <p:spPr>
          <a:xfrm>
            <a:off x="430253" y="5597652"/>
            <a:ext cx="4750965" cy="186689"/>
          </a:xfrm>
          <a:prstGeom prst="rect">
            <a:avLst/>
          </a:prstGeom>
          <a:noFill/>
        </p:spPr>
        <p:txBody>
          <a:bodyPr wrap="none" lIns="0" rIns="0" tIns="0" bIns="0">
            <a:spAutoFit/>
          </a:bodyPr>
          <a:lstStyle/>
          <a:p>
            <a:r>
              <a:rPr sz="1100" b="0">
                <a:solidFill>
                  <a:srgbClr val="2E2E2E"/>
                </a:solidFill>
                <a:latin typeface="Calibri"/>
              </a:rPr>
              <a:t>Mn. Western Europe heavy commercial vehicle EPS market is projected to register</a:t>
            </a:r>
          </a:p>
        </p:txBody>
      </p:sp>
      <p:pic>
        <p:nvPicPr>
          <p:cNvPr id="51" name="Picture 50" descr="lock.png"/>
          <p:cNvPicPr>
            <a:picLocks noChangeAspect="1"/>
          </p:cNvPicPr>
          <p:nvPr/>
        </p:nvPicPr>
        <p:blipFill>
          <a:blip r:embed="rId6"/>
          <a:stretch>
            <a:fillRect/>
          </a:stretch>
        </p:blipFill>
        <p:spPr>
          <a:xfrm>
            <a:off x="5129270" y="5587873"/>
            <a:ext cx="128699" cy="187198"/>
          </a:xfrm>
          <a:prstGeom prst="rect">
            <a:avLst/>
          </a:prstGeom>
        </p:spPr>
      </p:pic>
      <p:sp>
        <p:nvSpPr>
          <p:cNvPr id="52" name="TextBox 51"/>
          <p:cNvSpPr txBox="1"/>
          <p:nvPr/>
        </p:nvSpPr>
        <p:spPr>
          <a:xfrm>
            <a:off x="5296766" y="5597652"/>
            <a:ext cx="3314948"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a:t>
            </a:r>
          </a:p>
        </p:txBody>
      </p:sp>
      <p:sp>
        <p:nvSpPr>
          <p:cNvPr id="53" name="TextBox 52"/>
          <p:cNvSpPr txBox="1"/>
          <p:nvPr/>
        </p:nvSpPr>
        <p:spPr>
          <a:xfrm>
            <a:off x="276225" y="5815584"/>
            <a:ext cx="4127227" cy="186689"/>
          </a:xfrm>
          <a:prstGeom prst="rect">
            <a:avLst/>
          </a:prstGeom>
          <a:noFill/>
        </p:spPr>
        <p:txBody>
          <a:bodyPr wrap="none" lIns="0" rIns="0" tIns="0" bIns="0">
            <a:spAutoFit/>
          </a:bodyPr>
          <a:lstStyle/>
          <a:p>
            <a:r>
              <a:rPr sz="1100" b="0">
                <a:solidFill>
                  <a:srgbClr val="2E2E2E"/>
                </a:solidFill>
                <a:latin typeface="Calibri"/>
              </a:rPr>
              <a:t>Western Europe heavy commercial vehicle EPS market volume stood at</a:t>
            </a:r>
          </a:p>
        </p:txBody>
      </p:sp>
      <p:pic>
        <p:nvPicPr>
          <p:cNvPr id="54" name="Picture 53" descr="lock.png"/>
          <p:cNvPicPr>
            <a:picLocks noChangeAspect="1"/>
          </p:cNvPicPr>
          <p:nvPr/>
        </p:nvPicPr>
        <p:blipFill>
          <a:blip r:embed="rId6"/>
          <a:stretch>
            <a:fillRect/>
          </a:stretch>
        </p:blipFill>
        <p:spPr>
          <a:xfrm>
            <a:off x="4351503" y="5805805"/>
            <a:ext cx="128699" cy="187198"/>
          </a:xfrm>
          <a:prstGeom prst="rect">
            <a:avLst/>
          </a:prstGeom>
        </p:spPr>
      </p:pic>
      <p:sp>
        <p:nvSpPr>
          <p:cNvPr id="55" name="TextBox 54"/>
          <p:cNvSpPr txBox="1"/>
          <p:nvPr/>
        </p:nvSpPr>
        <p:spPr>
          <a:xfrm>
            <a:off x="4518999" y="5815584"/>
            <a:ext cx="2245097" cy="186689"/>
          </a:xfrm>
          <a:prstGeom prst="rect">
            <a:avLst/>
          </a:prstGeom>
          <a:noFill/>
        </p:spPr>
        <p:txBody>
          <a:bodyPr wrap="none" lIns="0" rIns="0" tIns="0" bIns="0">
            <a:spAutoFit/>
          </a:bodyPr>
          <a:lstStyle/>
          <a:p>
            <a:r>
              <a:rPr sz="1100" b="0">
                <a:solidFill>
                  <a:srgbClr val="2E2E2E"/>
                </a:solidFill>
                <a:latin typeface="Calibri"/>
              </a:rPr>
              <a:t>Units in 2025 and is expected to reach</a:t>
            </a:r>
          </a:p>
        </p:txBody>
      </p:sp>
      <p:pic>
        <p:nvPicPr>
          <p:cNvPr id="56" name="Picture 55" descr="lock.png"/>
          <p:cNvPicPr>
            <a:picLocks noChangeAspect="1"/>
          </p:cNvPicPr>
          <p:nvPr/>
        </p:nvPicPr>
        <p:blipFill>
          <a:blip r:embed="rId6"/>
          <a:stretch>
            <a:fillRect/>
          </a:stretch>
        </p:blipFill>
        <p:spPr>
          <a:xfrm>
            <a:off x="6712148" y="5805805"/>
            <a:ext cx="128699" cy="187198"/>
          </a:xfrm>
          <a:prstGeom prst="rect">
            <a:avLst/>
          </a:prstGeom>
        </p:spPr>
      </p:pic>
      <p:sp>
        <p:nvSpPr>
          <p:cNvPr id="57" name="TextBox 56"/>
          <p:cNvSpPr txBox="1"/>
          <p:nvPr/>
        </p:nvSpPr>
        <p:spPr>
          <a:xfrm>
            <a:off x="6879644" y="5815584"/>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58" name="Picture 57" descr="lock.png"/>
          <p:cNvPicPr>
            <a:picLocks noChangeAspect="1"/>
          </p:cNvPicPr>
          <p:nvPr/>
        </p:nvPicPr>
        <p:blipFill>
          <a:blip r:embed="rId6"/>
          <a:stretch>
            <a:fillRect/>
          </a:stretch>
        </p:blipFill>
        <p:spPr>
          <a:xfrm>
            <a:off x="8710155" y="5805805"/>
            <a:ext cx="128699" cy="187198"/>
          </a:xfrm>
          <a:prstGeom prst="rect">
            <a:avLst/>
          </a:prstGeom>
        </p:spPr>
      </p:pic>
      <p:sp>
        <p:nvSpPr>
          <p:cNvPr id="59" name="TextBox 58"/>
          <p:cNvSpPr txBox="1"/>
          <p:nvPr/>
        </p:nvSpPr>
        <p:spPr>
          <a:xfrm>
            <a:off x="8877651" y="5815584"/>
            <a:ext cx="2743051" cy="186689"/>
          </a:xfrm>
          <a:prstGeom prst="rect">
            <a:avLst/>
          </a:prstGeom>
          <a:noFill/>
        </p:spPr>
        <p:txBody>
          <a:bodyPr wrap="none" lIns="0" rIns="0" tIns="0" bIns="0">
            <a:spAutoFit/>
          </a:bodyPr>
          <a:lstStyle/>
          <a:p>
            <a:r>
              <a:rPr sz="1100" b="0">
                <a:solidFill>
                  <a:srgbClr val="2E2E2E"/>
                </a:solidFill>
                <a:latin typeface="Calibri"/>
              </a:rPr>
              <a:t>. Value is projected to grow faster than volume</a:t>
            </a:r>
          </a:p>
        </p:txBody>
      </p:sp>
      <p:sp>
        <p:nvSpPr>
          <p:cNvPr id="60" name="TextBox 59"/>
          <p:cNvSpPr txBox="1"/>
          <p:nvPr/>
        </p:nvSpPr>
        <p:spPr>
          <a:xfrm>
            <a:off x="276225" y="5983224"/>
            <a:ext cx="4051920" cy="186689"/>
          </a:xfrm>
          <a:prstGeom prst="rect">
            <a:avLst/>
          </a:prstGeom>
          <a:noFill/>
        </p:spPr>
        <p:txBody>
          <a:bodyPr wrap="none" lIns="0" rIns="0" tIns="0" bIns="0">
            <a:spAutoFit/>
          </a:bodyPr>
          <a:lstStyle/>
          <a:p>
            <a:r>
              <a:rPr sz="1100" b="0">
                <a:solidFill>
                  <a:srgbClr val="2E2E2E"/>
                </a:solidFill>
                <a:latin typeface="Calibri"/>
              </a:rPr>
              <a:t>over the forecast period, owing to an increase in average selling price.</a:t>
            </a:r>
          </a:p>
        </p:txBody>
      </p:sp>
      <p:sp>
        <p:nvSpPr>
          <p:cNvPr id="61"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7067" cy="2132066"/>
        </p:xfrm>
        <a:graphic>
          <a:graphicData uri="http://schemas.openxmlformats.org/drawingml/2006/table">
            <a:tbl>
              <a:tblPr>
                <a:tableStyleId>{5C22544A-7EE6-4342-B048-85BDC9FD1C3A}</a:tableStyleId>
              </a:tblPr>
              <a:tblGrid>
                <a:gridCol w="710293"/>
                <a:gridCol w="1068161"/>
                <a:gridCol w="1068161"/>
                <a:gridCol w="1080452"/>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69420">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69420">
                <a:tc>
                  <a:txBody>
                    <a:bodyPr wrap="none"/>
                    <a:lstStyle/>
                    <a:p>
                      <a:pPr algn="l"/>
                      <a:r>
                        <a:rPr sz="1100" b="1">
                          <a:solidFill>
                            <a:srgbClr val="2E2E2E"/>
                          </a:solidFill>
                          <a:latin typeface="Calibri"/>
                        </a:rPr>
                        <a:t>Nordics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69420">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69420">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69420">
                <a:tc>
                  <a:txBody>
                    <a:bodyPr wrap="none"/>
                    <a:lstStyle/>
                    <a:p>
                      <a:pPr algn="l"/>
                      <a:r>
                        <a:rPr sz="1100" b="1">
                          <a:solidFill>
                            <a:srgbClr val="2E2E2E"/>
                          </a:solidFill>
                          <a:latin typeface="Calibri"/>
                        </a:rPr>
                        <a:t>BENELUX</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69420">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69420">
                <a:tc>
                  <a:txBody>
                    <a:bodyPr wrap="none"/>
                    <a:lstStyle/>
                    <a:p>
                      <a:pPr algn="l"/>
                      <a:r>
                        <a:rPr sz="1100" b="1">
                          <a:solidFill>
                            <a:srgbClr val="2E2E2E"/>
                          </a:solidFill>
                          <a:latin typeface="Calibri"/>
                        </a:rPr>
                        <a:t>Italy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2147527"/>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9" name="Rectangle 18"/>
          <p:cNvSpPr/>
          <p:nvPr/>
        </p:nvSpPr>
        <p:spPr>
          <a:xfrm>
            <a:off x="4210050" y="3440538"/>
            <a:ext cx="2028542" cy="135946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Italy</a:t>
            </a:r>
          </a:p>
          <a:p>
            <a:pPr algn="ctr"/>
            <a:r>
              <a:rPr sz="1100" b="0">
                <a:solidFill>
                  <a:srgbClr val="FFFFFF"/>
                </a:solidFill>
                <a:latin typeface="Calibri"/>
              </a:rPr>
              <a:t> </a:t>
            </a:r>
          </a:p>
        </p:txBody>
      </p:sp>
      <p:sp>
        <p:nvSpPr>
          <p:cNvPr id="20" name="Rectangle 19"/>
          <p:cNvSpPr/>
          <p:nvPr/>
        </p:nvSpPr>
        <p:spPr>
          <a:xfrm>
            <a:off x="4210050" y="4799998"/>
            <a:ext cx="2028542" cy="1078611"/>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6238592" y="3440538"/>
            <a:ext cx="892199" cy="1419704"/>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2" name="Rectangle 21"/>
          <p:cNvSpPr/>
          <p:nvPr/>
        </p:nvSpPr>
        <p:spPr>
          <a:xfrm>
            <a:off x="7130791" y="3440538"/>
            <a:ext cx="822584" cy="141970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Spain</a:t>
            </a:r>
          </a:p>
          <a:p>
            <a:pPr algn="ctr"/>
            <a:r>
              <a:rPr sz="1100" b="0">
                <a:solidFill>
                  <a:srgbClr val="FFFFFF"/>
                </a:solidFill>
                <a:latin typeface="Calibri"/>
              </a:rPr>
              <a:t> </a:t>
            </a:r>
          </a:p>
        </p:txBody>
      </p:sp>
      <p:sp>
        <p:nvSpPr>
          <p:cNvPr id="23" name="Rectangle 22"/>
          <p:cNvSpPr/>
          <p:nvPr/>
        </p:nvSpPr>
        <p:spPr>
          <a:xfrm>
            <a:off x="6238592" y="4860242"/>
            <a:ext cx="885056" cy="1018367"/>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BENELUX</a:t>
            </a:r>
          </a:p>
          <a:p>
            <a:pPr algn="ctr"/>
            <a:r>
              <a:rPr sz="1100" b="0">
                <a:solidFill>
                  <a:srgbClr val="FFFFFF"/>
                </a:solidFill>
                <a:latin typeface="Calibri"/>
              </a:rPr>
              <a:t> </a:t>
            </a:r>
          </a:p>
        </p:txBody>
      </p:sp>
      <p:sp>
        <p:nvSpPr>
          <p:cNvPr id="24" name="Rectangle 23"/>
          <p:cNvSpPr/>
          <p:nvPr/>
        </p:nvSpPr>
        <p:spPr>
          <a:xfrm>
            <a:off x="7123648" y="4860242"/>
            <a:ext cx="829727" cy="1018367"/>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Nordics</a:t>
            </a:r>
          </a:p>
          <a:p>
            <a:pPr algn="ctr"/>
            <a:r>
              <a:rPr sz="1100" b="0">
                <a:solidFill>
                  <a:srgbClr val="FFFFFF"/>
                </a:solidFill>
                <a:latin typeface="Calibri"/>
              </a:rPr>
              <a:t> </a:t>
            </a:r>
          </a:p>
        </p:txBody>
      </p:sp>
      <p:sp>
        <p:nvSpPr>
          <p:cNvPr id="25" name="Rounded Rectangle 24"/>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7" name="Chart 26"/>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8" name="Rounded Rectangle 27"/>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9" name="Table 28"/>
          <p:cNvGraphicFramePr>
            <a:graphicFrameLocks noGrp="1"/>
          </p:cNvGraphicFramePr>
          <p:nvPr/>
        </p:nvGraphicFramePr>
        <p:xfrm>
          <a:off x="8096250" y="3547710"/>
          <a:ext cx="3927067" cy="2159450"/>
        </p:xfrm>
        <a:graphic>
          <a:graphicData uri="http://schemas.openxmlformats.org/drawingml/2006/table">
            <a:tbl>
              <a:tblPr>
                <a:tableStyleId>{5C22544A-7EE6-4342-B048-85BDC9FD1C3A}</a:tableStyleId>
              </a:tblPr>
              <a:tblGrid>
                <a:gridCol w="710293"/>
                <a:gridCol w="1068161"/>
                <a:gridCol w="1068161"/>
                <a:gridCol w="1080452"/>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73332">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73332">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73332">
                <a:tc>
                  <a:txBody>
                    <a:bodyPr wrap="none"/>
                    <a:lstStyle/>
                    <a:p>
                      <a:pPr algn="l"/>
                      <a:r>
                        <a:rPr sz="1100" b="1">
                          <a:solidFill>
                            <a:srgbClr val="2E2E2E"/>
                          </a:solidFill>
                          <a:latin typeface="Calibri"/>
                        </a:rPr>
                        <a:t>Italy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73332">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73332">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73332">
                <a:tc>
                  <a:txBody>
                    <a:bodyPr wrap="none"/>
                    <a:lstStyle/>
                    <a:p>
                      <a:pPr algn="l"/>
                      <a:r>
                        <a:rPr sz="1100" b="1">
                          <a:solidFill>
                            <a:srgbClr val="2E2E2E"/>
                          </a:solidFill>
                          <a:latin typeface="Calibri"/>
                        </a:rPr>
                        <a:t>Nordics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73332">
                <a:tc>
                  <a:txBody>
                    <a:bodyPr wrap="none"/>
                    <a:lstStyle/>
                    <a:p>
                      <a:pPr algn="l"/>
                      <a:r>
                        <a:rPr sz="1100" b="1">
                          <a:solidFill>
                            <a:srgbClr val="2E2E2E"/>
                          </a:solidFill>
                          <a:latin typeface="Calibri"/>
                        </a:rPr>
                        <a:t>BENELUX</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0" name="TextBox 29"/>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1" name="Rounded Rectangle 30"/>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3188017" y="2125483"/>
            <a:ext cx="183356" cy="266700"/>
          </a:xfrm>
          <a:prstGeom prst="rect">
            <a:avLst/>
          </a:prstGeom>
        </p:spPr>
      </p:pic>
      <p:pic>
        <p:nvPicPr>
          <p:cNvPr id="34" name="Picture 33" descr="lock.png"/>
          <p:cNvPicPr>
            <a:picLocks noChangeAspect="1"/>
          </p:cNvPicPr>
          <p:nvPr/>
        </p:nvPicPr>
        <p:blipFill>
          <a:blip r:embed="rId6"/>
          <a:stretch>
            <a:fillRect/>
          </a:stretch>
        </p:blipFill>
        <p:spPr>
          <a:xfrm>
            <a:off x="2267368" y="4499161"/>
            <a:ext cx="351860" cy="511796"/>
          </a:xfrm>
          <a:prstGeom prst="rect">
            <a:avLst/>
          </a:prstGeom>
        </p:spPr>
      </p:pic>
      <p:pic>
        <p:nvPicPr>
          <p:cNvPr id="35" name="Picture 34" descr="lock.png"/>
          <p:cNvPicPr>
            <a:picLocks noChangeAspect="1"/>
          </p:cNvPicPr>
          <p:nvPr/>
        </p:nvPicPr>
        <p:blipFill>
          <a:blip r:embed="rId6"/>
          <a:stretch>
            <a:fillRect/>
          </a:stretch>
        </p:blipFill>
        <p:spPr>
          <a:xfrm>
            <a:off x="6024086" y="2366774"/>
            <a:ext cx="115252" cy="167639"/>
          </a:xfrm>
          <a:prstGeom prst="rect">
            <a:avLst/>
          </a:prstGeom>
        </p:spPr>
      </p:pic>
      <p:pic>
        <p:nvPicPr>
          <p:cNvPr id="36" name="Picture 35" descr="lock.png"/>
          <p:cNvPicPr>
            <a:picLocks noChangeAspect="1"/>
          </p:cNvPicPr>
          <p:nvPr/>
        </p:nvPicPr>
        <p:blipFill>
          <a:blip r:embed="rId6"/>
          <a:stretch>
            <a:fillRect/>
          </a:stretch>
        </p:blipFill>
        <p:spPr>
          <a:xfrm>
            <a:off x="5166695" y="4120268"/>
            <a:ext cx="115252" cy="167639"/>
          </a:xfrm>
          <a:prstGeom prst="rect">
            <a:avLst/>
          </a:prstGeom>
        </p:spPr>
      </p:pic>
      <p:pic>
        <p:nvPicPr>
          <p:cNvPr id="37" name="Picture 36" descr="lock.png"/>
          <p:cNvPicPr>
            <a:picLocks noChangeAspect="1"/>
          </p:cNvPicPr>
          <p:nvPr/>
        </p:nvPicPr>
        <p:blipFill>
          <a:blip r:embed="rId6"/>
          <a:stretch>
            <a:fillRect/>
          </a:stretch>
        </p:blipFill>
        <p:spPr>
          <a:xfrm>
            <a:off x="5166695" y="5339303"/>
            <a:ext cx="115252" cy="167639"/>
          </a:xfrm>
          <a:prstGeom prst="rect">
            <a:avLst/>
          </a:prstGeom>
        </p:spPr>
      </p:pic>
      <p:pic>
        <p:nvPicPr>
          <p:cNvPr id="38" name="Picture 37" descr="lock.png"/>
          <p:cNvPicPr>
            <a:picLocks noChangeAspect="1"/>
          </p:cNvPicPr>
          <p:nvPr/>
        </p:nvPicPr>
        <p:blipFill>
          <a:blip r:embed="rId6"/>
          <a:stretch>
            <a:fillRect/>
          </a:stretch>
        </p:blipFill>
        <p:spPr>
          <a:xfrm>
            <a:off x="6627065" y="4150390"/>
            <a:ext cx="115252" cy="167639"/>
          </a:xfrm>
          <a:prstGeom prst="rect">
            <a:avLst/>
          </a:prstGeom>
        </p:spPr>
      </p:pic>
      <p:pic>
        <p:nvPicPr>
          <p:cNvPr id="39" name="Picture 38" descr="lock.png"/>
          <p:cNvPicPr>
            <a:picLocks noChangeAspect="1"/>
          </p:cNvPicPr>
          <p:nvPr/>
        </p:nvPicPr>
        <p:blipFill>
          <a:blip r:embed="rId6"/>
          <a:stretch>
            <a:fillRect/>
          </a:stretch>
        </p:blipFill>
        <p:spPr>
          <a:xfrm>
            <a:off x="7484457" y="4150390"/>
            <a:ext cx="115252" cy="167639"/>
          </a:xfrm>
          <a:prstGeom prst="rect">
            <a:avLst/>
          </a:prstGeom>
        </p:spPr>
      </p:pic>
      <p:pic>
        <p:nvPicPr>
          <p:cNvPr id="40" name="Picture 39" descr="lock.png"/>
          <p:cNvPicPr>
            <a:picLocks noChangeAspect="1"/>
          </p:cNvPicPr>
          <p:nvPr/>
        </p:nvPicPr>
        <p:blipFill>
          <a:blip r:embed="rId6"/>
          <a:stretch>
            <a:fillRect/>
          </a:stretch>
        </p:blipFill>
        <p:spPr>
          <a:xfrm>
            <a:off x="6623494" y="5369425"/>
            <a:ext cx="115252" cy="167639"/>
          </a:xfrm>
          <a:prstGeom prst="rect">
            <a:avLst/>
          </a:prstGeom>
        </p:spPr>
      </p:pic>
      <p:pic>
        <p:nvPicPr>
          <p:cNvPr id="41" name="Picture 40" descr="lock.png"/>
          <p:cNvPicPr>
            <a:picLocks noChangeAspect="1"/>
          </p:cNvPicPr>
          <p:nvPr/>
        </p:nvPicPr>
        <p:blipFill>
          <a:blip r:embed="rId6"/>
          <a:stretch>
            <a:fillRect/>
          </a:stretch>
        </p:blipFill>
        <p:spPr>
          <a:xfrm>
            <a:off x="7480885" y="5369425"/>
            <a:ext cx="115252" cy="167639"/>
          </a:xfrm>
          <a:prstGeom prst="rect">
            <a:avLst/>
          </a:prstGeom>
        </p:spPr>
      </p:pic>
      <p:pic>
        <p:nvPicPr>
          <p:cNvPr id="42" name="Picture 41" descr="lock.png"/>
          <p:cNvPicPr>
            <a:picLocks noChangeAspect="1"/>
          </p:cNvPicPr>
          <p:nvPr/>
        </p:nvPicPr>
        <p:blipFill>
          <a:blip r:embed="rId6"/>
          <a:stretch>
            <a:fillRect/>
          </a:stretch>
        </p:blipFill>
        <p:spPr>
          <a:xfrm>
            <a:off x="11131867" y="2120920"/>
            <a:ext cx="183356" cy="266700"/>
          </a:xfrm>
          <a:prstGeom prst="rect">
            <a:avLst/>
          </a:prstGeom>
        </p:spPr>
      </p:pic>
      <p:pic>
        <p:nvPicPr>
          <p:cNvPr id="43" name="Picture 42" descr="lock.png"/>
          <p:cNvPicPr>
            <a:picLocks noChangeAspect="1"/>
          </p:cNvPicPr>
          <p:nvPr/>
        </p:nvPicPr>
        <p:blipFill>
          <a:blip r:embed="rId6"/>
          <a:stretch>
            <a:fillRect/>
          </a:stretch>
        </p:blipFill>
        <p:spPr>
          <a:xfrm>
            <a:off x="10209922" y="4492748"/>
            <a:ext cx="354406" cy="515499"/>
          </a:xfrm>
          <a:prstGeom prst="rect">
            <a:avLst/>
          </a:prstGeom>
        </p:spPr>
      </p:pic>
      <p:sp>
        <p:nvSpPr>
          <p:cNvPr id="44" name="TextBox 43"/>
          <p:cNvSpPr txBox="1"/>
          <p:nvPr/>
        </p:nvSpPr>
        <p:spPr>
          <a:xfrm>
            <a:off x="257175" y="6160574"/>
            <a:ext cx="4086845" cy="186689"/>
          </a:xfrm>
          <a:prstGeom prst="rect">
            <a:avLst/>
          </a:prstGeom>
          <a:noFill/>
        </p:spPr>
        <p:txBody>
          <a:bodyPr wrap="none" lIns="0" rIns="0" tIns="0" bIns="0">
            <a:spAutoFit/>
          </a:bodyPr>
          <a:lstStyle/>
          <a:p>
            <a:r>
              <a:rPr sz="1100" b="0">
                <a:solidFill>
                  <a:srgbClr val="2E2E2E"/>
                </a:solidFill>
                <a:latin typeface="Calibri"/>
              </a:rPr>
              <a:t>Germany heavy commercial vehicle EPS market is projected to register</a:t>
            </a:r>
          </a:p>
        </p:txBody>
      </p:sp>
      <p:pic>
        <p:nvPicPr>
          <p:cNvPr id="45" name="Picture 44" descr="lock.png"/>
          <p:cNvPicPr>
            <a:picLocks noChangeAspect="1"/>
          </p:cNvPicPr>
          <p:nvPr/>
        </p:nvPicPr>
        <p:blipFill>
          <a:blip r:embed="rId6"/>
          <a:stretch>
            <a:fillRect/>
          </a:stretch>
        </p:blipFill>
        <p:spPr>
          <a:xfrm>
            <a:off x="4292071" y="6150795"/>
            <a:ext cx="128699" cy="187198"/>
          </a:xfrm>
          <a:prstGeom prst="rect">
            <a:avLst/>
          </a:prstGeom>
        </p:spPr>
      </p:pic>
      <p:sp>
        <p:nvSpPr>
          <p:cNvPr id="46" name="TextBox 45"/>
          <p:cNvSpPr txBox="1"/>
          <p:nvPr/>
        </p:nvSpPr>
        <p:spPr>
          <a:xfrm>
            <a:off x="4459567" y="6160574"/>
            <a:ext cx="4262271" cy="186689"/>
          </a:xfrm>
          <a:prstGeom prst="rect">
            <a:avLst/>
          </a:prstGeom>
          <a:noFill/>
        </p:spPr>
        <p:txBody>
          <a:bodyPr wrap="none" lIns="0" rIns="0" tIns="0" bIns="0">
            <a:spAutoFit/>
          </a:bodyPr>
          <a:lstStyle/>
          <a:p>
            <a:r>
              <a:rPr sz="1100" b="0">
                <a:solidFill>
                  <a:srgbClr val="2E2E2E"/>
                </a:solidFill>
                <a:latin typeface="Calibri"/>
              </a:rPr>
              <a:t>X higher value than Italy in 2036. Germany posts the highest CAGR Index (</a:t>
            </a:r>
          </a:p>
        </p:txBody>
      </p:sp>
      <p:pic>
        <p:nvPicPr>
          <p:cNvPr id="47" name="Picture 46" descr="lock.png"/>
          <p:cNvPicPr>
            <a:picLocks noChangeAspect="1"/>
          </p:cNvPicPr>
          <p:nvPr/>
        </p:nvPicPr>
        <p:blipFill>
          <a:blip r:embed="rId6"/>
          <a:stretch>
            <a:fillRect/>
          </a:stretch>
        </p:blipFill>
        <p:spPr>
          <a:xfrm>
            <a:off x="8669890" y="6150795"/>
            <a:ext cx="128699" cy="187198"/>
          </a:xfrm>
          <a:prstGeom prst="rect">
            <a:avLst/>
          </a:prstGeom>
        </p:spPr>
      </p:pic>
      <p:sp>
        <p:nvSpPr>
          <p:cNvPr id="48" name="TextBox 47"/>
          <p:cNvSpPr txBox="1"/>
          <p:nvPr/>
        </p:nvSpPr>
        <p:spPr>
          <a:xfrm>
            <a:off x="8837386"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49" name="Picture 48" descr="lock.png"/>
          <p:cNvPicPr>
            <a:picLocks noChangeAspect="1"/>
          </p:cNvPicPr>
          <p:nvPr/>
        </p:nvPicPr>
        <p:blipFill>
          <a:blip r:embed="rId6"/>
          <a:stretch>
            <a:fillRect/>
          </a:stretch>
        </p:blipFill>
        <p:spPr>
          <a:xfrm>
            <a:off x="9575417" y="6150795"/>
            <a:ext cx="128699" cy="187198"/>
          </a:xfrm>
          <a:prstGeom prst="rect">
            <a:avLst/>
          </a:prstGeom>
        </p:spPr>
      </p:pic>
      <p:sp>
        <p:nvSpPr>
          <p:cNvPr id="50" name="TextBox 49"/>
          <p:cNvSpPr txBox="1"/>
          <p:nvPr/>
        </p:nvSpPr>
        <p:spPr>
          <a:xfrm>
            <a:off x="9742913" y="6160574"/>
            <a:ext cx="704304" cy="186689"/>
          </a:xfrm>
          <a:prstGeom prst="rect">
            <a:avLst/>
          </a:prstGeom>
          <a:noFill/>
        </p:spPr>
        <p:txBody>
          <a:bodyPr wrap="none" lIns="0" rIns="0" tIns="0" bIns="0">
            <a:spAutoFit/>
          </a:bodyPr>
          <a:lstStyle/>
          <a:p>
            <a:r>
              <a:rPr sz="1100" b="0">
                <a:solidFill>
                  <a:srgbClr val="2E2E2E"/>
                </a:solidFill>
                <a:latin typeface="Calibri"/>
              </a:rPr>
              <a:t>against the</a:t>
            </a:r>
          </a:p>
        </p:txBody>
      </p:sp>
      <p:sp>
        <p:nvSpPr>
          <p:cNvPr id="51" name="TextBox 50"/>
          <p:cNvSpPr txBox="1"/>
          <p:nvPr/>
        </p:nvSpPr>
        <p:spPr>
          <a:xfrm>
            <a:off x="257175" y="6328214"/>
            <a:ext cx="4835276" cy="186689"/>
          </a:xfrm>
          <a:prstGeom prst="rect">
            <a:avLst/>
          </a:prstGeom>
          <a:noFill/>
        </p:spPr>
        <p:txBody>
          <a:bodyPr wrap="none" lIns="0" rIns="0" tIns="0" bIns="0">
            <a:spAutoFit/>
          </a:bodyPr>
          <a:lstStyle/>
          <a:p>
            <a:r>
              <a:rPr sz="1100" b="0">
                <a:solidFill>
                  <a:srgbClr val="2E2E2E"/>
                </a:solidFill>
                <a:latin typeface="Calibri"/>
              </a:rPr>
              <a:t>Western Europe benchmark, while Germany offers the largest absolute opportunity</a:t>
            </a:r>
          </a:p>
        </p:txBody>
      </p:sp>
      <p:pic>
        <p:nvPicPr>
          <p:cNvPr id="52" name="Picture 51" descr="lock.png"/>
          <p:cNvPicPr>
            <a:picLocks noChangeAspect="1"/>
          </p:cNvPicPr>
          <p:nvPr/>
        </p:nvPicPr>
        <p:blipFill>
          <a:blip r:embed="rId6"/>
          <a:stretch>
            <a:fillRect/>
          </a:stretch>
        </p:blipFill>
        <p:spPr>
          <a:xfrm>
            <a:off x="5040503" y="6318435"/>
            <a:ext cx="128699" cy="187198"/>
          </a:xfrm>
          <a:prstGeom prst="rect">
            <a:avLst/>
          </a:prstGeom>
        </p:spPr>
      </p:pic>
      <p:sp>
        <p:nvSpPr>
          <p:cNvPr id="53" name="TextBox 52"/>
          <p:cNvSpPr txBox="1"/>
          <p:nvPr/>
        </p:nvSpPr>
        <p:spPr>
          <a:xfrm>
            <a:off x="5207999"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54" name="Picture 53" descr="lock.png"/>
          <p:cNvPicPr>
            <a:picLocks noChangeAspect="1"/>
          </p:cNvPicPr>
          <p:nvPr/>
        </p:nvPicPr>
        <p:blipFill>
          <a:blip r:embed="rId6"/>
          <a:stretch>
            <a:fillRect/>
          </a:stretch>
        </p:blipFill>
        <p:spPr>
          <a:xfrm>
            <a:off x="8467997" y="6318435"/>
            <a:ext cx="128699" cy="187198"/>
          </a:xfrm>
          <a:prstGeom prst="rect">
            <a:avLst/>
          </a:prstGeom>
        </p:spPr>
      </p:pic>
      <p:sp>
        <p:nvSpPr>
          <p:cNvPr id="55" name="TextBox 54"/>
          <p:cNvSpPr txBox="1"/>
          <p:nvPr/>
        </p:nvSpPr>
        <p:spPr>
          <a:xfrm>
            <a:off x="8635493" y="6328214"/>
            <a:ext cx="2065560" cy="186689"/>
          </a:xfrm>
          <a:prstGeom prst="rect">
            <a:avLst/>
          </a:prstGeom>
          <a:noFill/>
        </p:spPr>
        <p:txBody>
          <a:bodyPr wrap="none" lIns="0" rIns="0" tIns="0" bIns="0">
            <a:spAutoFit/>
          </a:bodyPr>
          <a:lstStyle/>
          <a:p>
            <a:r>
              <a:rPr sz="1100" b="0">
                <a:solidFill>
                  <a:srgbClr val="2E2E2E"/>
                </a:solidFill>
                <a:latin typeface="Calibri"/>
              </a:rPr>
              <a:t>of the Western Europe increment).</a:t>
            </a:r>
          </a:p>
        </p:txBody>
      </p:sp>
      <p:sp>
        <p:nvSpPr>
          <p:cNvPr id="5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27"/>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'Busses and Coaches'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Germany outpacing the Western Europe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2 vehicle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074318" cy="194310"/>
          </a:xfrm>
          <a:prstGeom prst="rect">
            <a:avLst/>
          </a:prstGeom>
          <a:noFill/>
        </p:spPr>
        <p:txBody>
          <a:bodyPr wrap="none" lIns="0" rIns="0" tIns="0" bIns="0">
            <a:spAutoFit/>
          </a:bodyPr>
          <a:lstStyle/>
          <a:p>
            <a:r>
              <a:rPr sz="1150" b="0">
                <a:solidFill>
                  <a:srgbClr val="2E2E2E"/>
                </a:solidFill>
                <a:latin typeface="Calibri"/>
              </a:rPr>
              <a:t>Global heavy commercial vehicle EPS market is expected to witness</a:t>
            </a:r>
          </a:p>
        </p:txBody>
      </p:sp>
      <p:pic>
        <p:nvPicPr>
          <p:cNvPr id="32" name="Picture 31" descr="lock.png"/>
          <p:cNvPicPr>
            <a:picLocks noChangeAspect="1"/>
          </p:cNvPicPr>
          <p:nvPr/>
        </p:nvPicPr>
        <p:blipFill>
          <a:blip r:embed="rId4"/>
          <a:stretch>
            <a:fillRect/>
          </a:stretch>
        </p:blipFill>
        <p:spPr>
          <a:xfrm>
            <a:off x="4299697" y="1389951"/>
            <a:ext cx="134549" cy="195707"/>
          </a:xfrm>
          <a:prstGeom prst="rect">
            <a:avLst/>
          </a:prstGeom>
        </p:spPr>
      </p:pic>
      <p:sp>
        <p:nvSpPr>
          <p:cNvPr id="33" name="TextBox 32"/>
          <p:cNvSpPr txBox="1"/>
          <p:nvPr/>
        </p:nvSpPr>
        <p:spPr>
          <a:xfrm>
            <a:off x="4474806" y="1400175"/>
            <a:ext cx="5962984" cy="194310"/>
          </a:xfrm>
          <a:prstGeom prst="rect">
            <a:avLst/>
          </a:prstGeom>
          <a:noFill/>
        </p:spPr>
        <p:txBody>
          <a:bodyPr wrap="none" lIns="0" rIns="0" tIns="0" bIns="0">
            <a:spAutoFit/>
          </a:bodyPr>
          <a:lstStyle/>
          <a:p>
            <a:r>
              <a:rPr sz="1150" b="0">
                <a:solidFill>
                  <a:srgbClr val="2E2E2E"/>
                </a:solidFill>
                <a:latin typeface="Calibri"/>
              </a:rPr>
              <a:t>X increase in revenue by 2036 end. Global heavy commercial vehicle EPS market accounted for US$</a:t>
            </a:r>
          </a:p>
        </p:txBody>
      </p:sp>
      <p:pic>
        <p:nvPicPr>
          <p:cNvPr id="34" name="Picture 33" descr="lock.png"/>
          <p:cNvPicPr>
            <a:picLocks noChangeAspect="1"/>
          </p:cNvPicPr>
          <p:nvPr/>
        </p:nvPicPr>
        <p:blipFill>
          <a:blip r:embed="rId4"/>
          <a:stretch>
            <a:fillRect/>
          </a:stretch>
        </p:blipFill>
        <p:spPr>
          <a:xfrm>
            <a:off x="10386945" y="1389951"/>
            <a:ext cx="134549" cy="195707"/>
          </a:xfrm>
          <a:prstGeom prst="rect">
            <a:avLst/>
          </a:prstGeom>
        </p:spPr>
      </p:pic>
      <p:sp>
        <p:nvSpPr>
          <p:cNvPr id="35" name="TextBox 34"/>
          <p:cNvSpPr txBox="1"/>
          <p:nvPr/>
        </p:nvSpPr>
        <p:spPr>
          <a:xfrm>
            <a:off x="10562055" y="1400175"/>
            <a:ext cx="1174142" cy="194310"/>
          </a:xfrm>
          <a:prstGeom prst="rect">
            <a:avLst/>
          </a:prstGeom>
          <a:noFill/>
        </p:spPr>
        <p:txBody>
          <a:bodyPr wrap="none" lIns="0" rIns="0" tIns="0" bIns="0">
            <a:spAutoFit/>
          </a:bodyPr>
          <a:lstStyle/>
          <a:p>
            <a:r>
              <a:rPr sz="1150" b="0">
                <a:solidFill>
                  <a:srgbClr val="2E2E2E"/>
                </a:solidFill>
                <a:latin typeface="Calibri"/>
              </a:rPr>
              <a:t>Mn in 2025, which</a:t>
            </a:r>
          </a:p>
        </p:txBody>
      </p:sp>
      <p:sp>
        <p:nvSpPr>
          <p:cNvPr id="36" name="TextBox 35"/>
          <p:cNvSpPr txBox="1"/>
          <p:nvPr/>
        </p:nvSpPr>
        <p:spPr>
          <a:xfrm>
            <a:off x="276225" y="1575435"/>
            <a:ext cx="1861318" cy="194310"/>
          </a:xfrm>
          <a:prstGeom prst="rect">
            <a:avLst/>
          </a:prstGeom>
          <a:noFill/>
        </p:spPr>
        <p:txBody>
          <a:bodyPr wrap="none" lIns="0" rIns="0" tIns="0" bIns="0">
            <a:spAutoFit/>
          </a:bodyPr>
          <a:lstStyle/>
          <a:p>
            <a:r>
              <a:rPr sz="1150" b="0">
                <a:solidFill>
                  <a:srgbClr val="2E2E2E"/>
                </a:solidFill>
                <a:latin typeface="Calibri"/>
              </a:rPr>
              <a:t>is expected to increase to US$</a:t>
            </a:r>
          </a:p>
        </p:txBody>
      </p:sp>
      <p:pic>
        <p:nvPicPr>
          <p:cNvPr id="37" name="Picture 36" descr="lock.png"/>
          <p:cNvPicPr>
            <a:picLocks noChangeAspect="1"/>
          </p:cNvPicPr>
          <p:nvPr/>
        </p:nvPicPr>
        <p:blipFill>
          <a:blip r:embed="rId4"/>
          <a:stretch>
            <a:fillRect/>
          </a:stretch>
        </p:blipFill>
        <p:spPr>
          <a:xfrm>
            <a:off x="2086697" y="1565211"/>
            <a:ext cx="134549" cy="195707"/>
          </a:xfrm>
          <a:prstGeom prst="rect">
            <a:avLst/>
          </a:prstGeom>
        </p:spPr>
      </p:pic>
      <p:sp>
        <p:nvSpPr>
          <p:cNvPr id="38" name="TextBox 37"/>
          <p:cNvSpPr txBox="1"/>
          <p:nvPr/>
        </p:nvSpPr>
        <p:spPr>
          <a:xfrm>
            <a:off x="2261807"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738515" y="1565211"/>
            <a:ext cx="134549" cy="195707"/>
          </a:xfrm>
          <a:prstGeom prst="rect">
            <a:avLst/>
          </a:prstGeom>
        </p:spPr>
      </p:pic>
      <p:sp>
        <p:nvSpPr>
          <p:cNvPr id="40" name="TextBox 39"/>
          <p:cNvSpPr txBox="1"/>
          <p:nvPr/>
        </p:nvSpPr>
        <p:spPr>
          <a:xfrm>
            <a:off x="39136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213368" cy="194310"/>
          </a:xfrm>
          <a:prstGeom prst="rect">
            <a:avLst/>
          </a:prstGeom>
          <a:noFill/>
        </p:spPr>
        <p:txBody>
          <a:bodyPr wrap="none" lIns="0" rIns="0" tIns="0" bIns="0">
            <a:spAutoFit/>
          </a:bodyPr>
          <a:lstStyle/>
          <a:p>
            <a:r>
              <a:rPr sz="1150" b="0">
                <a:solidFill>
                  <a:srgbClr val="2E2E2E"/>
                </a:solidFill>
                <a:latin typeface="Calibri"/>
              </a:rPr>
              <a:t>The global heavy commercial vehicle EPS market has been analysed on the basis of system architecture, vehicle type, gross vehicle weight and propulsion type across the globe. Germany is</a:t>
            </a:r>
          </a:p>
        </p:txBody>
      </p:sp>
      <p:sp>
        <p:nvSpPr>
          <p:cNvPr id="42" name="TextBox 41"/>
          <p:cNvSpPr txBox="1"/>
          <p:nvPr/>
        </p:nvSpPr>
        <p:spPr>
          <a:xfrm>
            <a:off x="276225" y="1978533"/>
            <a:ext cx="8803240" cy="194310"/>
          </a:xfrm>
          <a:prstGeom prst="rect">
            <a:avLst/>
          </a:prstGeom>
          <a:noFill/>
        </p:spPr>
        <p:txBody>
          <a:bodyPr wrap="none" lIns="0" rIns="0" tIns="0" bIns="0">
            <a:spAutoFit/>
          </a:bodyPr>
          <a:lstStyle/>
          <a:p>
            <a:r>
              <a:rPr sz="1150" b="0">
                <a:solidFill>
                  <a:srgbClr val="2E2E2E"/>
                </a:solidFill>
                <a:latin typeface="Calibri"/>
              </a:rPr>
              <a:t>expected to remain the largest market for heavy commercial vehicle EPS, while demand in Germany is projected to increase at the highest CAGR of</a:t>
            </a:r>
          </a:p>
        </p:txBody>
      </p:sp>
      <p:pic>
        <p:nvPicPr>
          <p:cNvPr id="43" name="Picture 42" descr="lock.png"/>
          <p:cNvPicPr>
            <a:picLocks noChangeAspect="1"/>
          </p:cNvPicPr>
          <p:nvPr/>
        </p:nvPicPr>
        <p:blipFill>
          <a:blip r:embed="rId4"/>
          <a:stretch>
            <a:fillRect/>
          </a:stretch>
        </p:blipFill>
        <p:spPr>
          <a:xfrm>
            <a:off x="9028619" y="1968309"/>
            <a:ext cx="134549" cy="195707"/>
          </a:xfrm>
          <a:prstGeom prst="rect">
            <a:avLst/>
          </a:prstGeom>
        </p:spPr>
      </p:pic>
      <p:sp>
        <p:nvSpPr>
          <p:cNvPr id="44" name="TextBox 43"/>
          <p:cNvSpPr txBox="1"/>
          <p:nvPr/>
        </p:nvSpPr>
        <p:spPr>
          <a:xfrm>
            <a:off x="9203728"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5343698" cy="194310"/>
          </a:xfrm>
          <a:prstGeom prst="rect">
            <a:avLst/>
          </a:prstGeom>
          <a:noFill/>
        </p:spPr>
        <p:txBody>
          <a:bodyPr wrap="none" lIns="0" rIns="0" tIns="0" bIns="0">
            <a:spAutoFit/>
          </a:bodyPr>
          <a:lstStyle/>
          <a:p>
            <a:r>
              <a:rPr sz="1150" b="0">
                <a:solidFill>
                  <a:srgbClr val="2E2E2E"/>
                </a:solidFill>
                <a:latin typeface="Calibri"/>
              </a:rPr>
              <a:t>▪ The market is consolidated: the leading vehicle type category 'Heavy Duty Trucks' holds</a:t>
            </a:r>
          </a:p>
        </p:txBody>
      </p:sp>
      <p:pic>
        <p:nvPicPr>
          <p:cNvPr id="46" name="Picture 45" descr="lock.png"/>
          <p:cNvPicPr>
            <a:picLocks noChangeAspect="1"/>
          </p:cNvPicPr>
          <p:nvPr/>
        </p:nvPicPr>
        <p:blipFill>
          <a:blip r:embed="rId4"/>
          <a:stretch>
            <a:fillRect/>
          </a:stretch>
        </p:blipFill>
        <p:spPr>
          <a:xfrm>
            <a:off x="5569077" y="3266376"/>
            <a:ext cx="134549" cy="195707"/>
          </a:xfrm>
          <a:prstGeom prst="rect">
            <a:avLst/>
          </a:prstGeom>
        </p:spPr>
      </p:pic>
      <p:sp>
        <p:nvSpPr>
          <p:cNvPr id="47" name="TextBox 46"/>
          <p:cNvSpPr txBox="1"/>
          <p:nvPr/>
        </p:nvSpPr>
        <p:spPr>
          <a:xfrm>
            <a:off x="5744186"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4978003" cy="194310"/>
          </a:xfrm>
          <a:prstGeom prst="rect">
            <a:avLst/>
          </a:prstGeom>
          <a:noFill/>
        </p:spPr>
        <p:txBody>
          <a:bodyPr wrap="none" lIns="0" rIns="0" tIns="0" bIns="0">
            <a:spAutoFit/>
          </a:bodyPr>
          <a:lstStyle/>
          <a:p>
            <a:r>
              <a:rPr sz="1150" b="0">
                <a:solidFill>
                  <a:srgbClr val="2E2E2E"/>
                </a:solidFill>
                <a:latin typeface="Calibri"/>
              </a:rPr>
              <a:t>▪ Demand spans 8 countries and 5 segmentation lenses (2 vehicle type categories).</a:t>
            </a:r>
          </a:p>
        </p:txBody>
      </p:sp>
      <p:sp>
        <p:nvSpPr>
          <p:cNvPr id="49" name="TextBox 48"/>
          <p:cNvSpPr txBox="1"/>
          <p:nvPr/>
        </p:nvSpPr>
        <p:spPr>
          <a:xfrm>
            <a:off x="276225" y="3732275"/>
            <a:ext cx="2599841" cy="194310"/>
          </a:xfrm>
          <a:prstGeom prst="rect">
            <a:avLst/>
          </a:prstGeom>
          <a:noFill/>
        </p:spPr>
        <p:txBody>
          <a:bodyPr wrap="none" lIns="0" rIns="0" tIns="0" bIns="0">
            <a:spAutoFit/>
          </a:bodyPr>
          <a:lstStyle/>
          <a:p>
            <a:r>
              <a:rPr sz="1150" b="0">
                <a:solidFill>
                  <a:srgbClr val="2E2E2E"/>
                </a:solidFill>
                <a:latin typeface="Calibri"/>
              </a:rPr>
              <a:t>▪ Germany is the largest country market at</a:t>
            </a:r>
          </a:p>
        </p:txBody>
      </p:sp>
      <p:pic>
        <p:nvPicPr>
          <p:cNvPr id="50" name="Picture 49" descr="lock.png"/>
          <p:cNvPicPr>
            <a:picLocks noChangeAspect="1"/>
          </p:cNvPicPr>
          <p:nvPr/>
        </p:nvPicPr>
        <p:blipFill>
          <a:blip r:embed="rId4"/>
          <a:stretch>
            <a:fillRect/>
          </a:stretch>
        </p:blipFill>
        <p:spPr>
          <a:xfrm>
            <a:off x="2825220" y="3722052"/>
            <a:ext cx="134549" cy="195707"/>
          </a:xfrm>
          <a:prstGeom prst="rect">
            <a:avLst/>
          </a:prstGeom>
        </p:spPr>
      </p:pic>
      <p:sp>
        <p:nvSpPr>
          <p:cNvPr id="51" name="TextBox 50"/>
          <p:cNvSpPr txBox="1"/>
          <p:nvPr/>
        </p:nvSpPr>
        <p:spPr>
          <a:xfrm>
            <a:off x="3000329"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854573" cy="194310"/>
          </a:xfrm>
          <a:prstGeom prst="rect">
            <a:avLst/>
          </a:prstGeom>
          <a:noFill/>
        </p:spPr>
        <p:txBody>
          <a:bodyPr wrap="none" lIns="0" rIns="0" tIns="0" bIns="0">
            <a:spAutoFit/>
          </a:bodyPr>
          <a:lstStyle/>
          <a:p>
            <a:r>
              <a:rPr sz="1150" b="0">
                <a:solidFill>
                  <a:srgbClr val="2E2E2E"/>
                </a:solidFill>
                <a:latin typeface="Calibri"/>
              </a:rPr>
              <a:t>▪ Accelerating uptake of 'Busses and Coaches' (</a:t>
            </a:r>
          </a:p>
        </p:txBody>
      </p:sp>
      <p:pic>
        <p:nvPicPr>
          <p:cNvPr id="53" name="Picture 52" descr="lock.png"/>
          <p:cNvPicPr>
            <a:picLocks noChangeAspect="1"/>
          </p:cNvPicPr>
          <p:nvPr/>
        </p:nvPicPr>
        <p:blipFill>
          <a:blip r:embed="rId4"/>
          <a:stretch>
            <a:fillRect/>
          </a:stretch>
        </p:blipFill>
        <p:spPr>
          <a:xfrm>
            <a:off x="3079951" y="5028501"/>
            <a:ext cx="134549" cy="195707"/>
          </a:xfrm>
          <a:prstGeom prst="rect">
            <a:avLst/>
          </a:prstGeom>
        </p:spPr>
      </p:pic>
      <p:sp>
        <p:nvSpPr>
          <p:cNvPr id="54" name="TextBox 53"/>
          <p:cNvSpPr txBox="1"/>
          <p:nvPr/>
        </p:nvSpPr>
        <p:spPr>
          <a:xfrm>
            <a:off x="3255061"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250913" cy="194310"/>
          </a:xfrm>
          <a:prstGeom prst="rect">
            <a:avLst/>
          </a:prstGeom>
          <a:noFill/>
        </p:spPr>
        <p:txBody>
          <a:bodyPr wrap="none" lIns="0" rIns="0" tIns="0" bIns="0">
            <a:spAutoFit/>
          </a:bodyPr>
          <a:lstStyle/>
          <a:p>
            <a:r>
              <a:rPr sz="1150" b="0">
                <a:solidFill>
                  <a:srgbClr val="2E2E2E"/>
                </a:solidFill>
                <a:latin typeface="Calibri"/>
              </a:rPr>
              <a:t>▪ Fast-growing demand in Germany (</a:t>
            </a:r>
          </a:p>
        </p:txBody>
      </p:sp>
      <p:pic>
        <p:nvPicPr>
          <p:cNvPr id="56" name="Picture 55" descr="lock.png"/>
          <p:cNvPicPr>
            <a:picLocks noChangeAspect="1"/>
          </p:cNvPicPr>
          <p:nvPr/>
        </p:nvPicPr>
        <p:blipFill>
          <a:blip r:embed="rId4"/>
          <a:stretch>
            <a:fillRect/>
          </a:stretch>
        </p:blipFill>
        <p:spPr>
          <a:xfrm>
            <a:off x="2476292" y="5256339"/>
            <a:ext cx="134549" cy="195707"/>
          </a:xfrm>
          <a:prstGeom prst="rect">
            <a:avLst/>
          </a:prstGeom>
        </p:spPr>
      </p:pic>
      <p:sp>
        <p:nvSpPr>
          <p:cNvPr id="57" name="TextBox 56"/>
          <p:cNvSpPr txBox="1"/>
          <p:nvPr/>
        </p:nvSpPr>
        <p:spPr>
          <a:xfrm>
            <a:off x="2651401"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386571" cy="194310"/>
          </a:xfrm>
          <a:prstGeom prst="rect">
            <a:avLst/>
          </a:prstGeom>
          <a:noFill/>
        </p:spPr>
        <p:txBody>
          <a:bodyPr wrap="none" lIns="0" rIns="0" tIns="0" bIns="0">
            <a:spAutoFit/>
          </a:bodyPr>
          <a:lstStyle/>
          <a:p>
            <a:r>
              <a:rPr sz="1150" b="0">
                <a:solidFill>
                  <a:srgbClr val="2E2E2E"/>
                </a:solidFill>
                <a:latin typeface="Calibri"/>
              </a:rPr>
              <a:t>▪ Momentum in Busses and Coaches within vehicle type</a:t>
            </a:r>
          </a:p>
        </p:txBody>
      </p:sp>
      <p:sp>
        <p:nvSpPr>
          <p:cNvPr id="59" name="TextBox 58"/>
          <p:cNvSpPr txBox="1"/>
          <p:nvPr/>
        </p:nvSpPr>
        <p:spPr>
          <a:xfrm>
            <a:off x="276225" y="566966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0" name="Picture 59" descr="lock.png"/>
          <p:cNvPicPr>
            <a:picLocks noChangeAspect="1"/>
          </p:cNvPicPr>
          <p:nvPr/>
        </p:nvPicPr>
        <p:blipFill>
          <a:blip r:embed="rId4"/>
          <a:stretch>
            <a:fillRect/>
          </a:stretch>
        </p:blipFill>
        <p:spPr>
          <a:xfrm>
            <a:off x="345793" y="5659437"/>
            <a:ext cx="134549" cy="195707"/>
          </a:xfrm>
          <a:prstGeom prst="rect">
            <a:avLst/>
          </a:prstGeom>
        </p:spPr>
      </p:pic>
      <p:sp>
        <p:nvSpPr>
          <p:cNvPr id="61" name="TextBox 60"/>
          <p:cNvSpPr txBox="1"/>
          <p:nvPr/>
        </p:nvSpPr>
        <p:spPr>
          <a:xfrm>
            <a:off x="520902"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5038725"/>
            <a:ext cx="2718792" cy="194310"/>
          </a:xfrm>
          <a:prstGeom prst="rect">
            <a:avLst/>
          </a:prstGeom>
          <a:noFill/>
        </p:spPr>
        <p:txBody>
          <a:bodyPr wrap="none" lIns="0" rIns="0" tIns="0" bIns="0">
            <a:spAutoFit/>
          </a:bodyPr>
          <a:lstStyle/>
          <a:p>
            <a:r>
              <a:rPr sz="1150" b="0">
                <a:solidFill>
                  <a:srgbClr val="2E2E2E"/>
                </a:solidFill>
                <a:latin typeface="Calibri"/>
              </a:rPr>
              <a:t>▪ Slower momentum in 'Heavy Duty Trucks' (</a:t>
            </a:r>
          </a:p>
        </p:txBody>
      </p:sp>
      <p:pic>
        <p:nvPicPr>
          <p:cNvPr id="63" name="Picture 62" descr="lock.png"/>
          <p:cNvPicPr>
            <a:picLocks noChangeAspect="1"/>
          </p:cNvPicPr>
          <p:nvPr/>
        </p:nvPicPr>
        <p:blipFill>
          <a:blip r:embed="rId4"/>
          <a:stretch>
            <a:fillRect/>
          </a:stretch>
        </p:blipFill>
        <p:spPr>
          <a:xfrm>
            <a:off x="7039921" y="5028501"/>
            <a:ext cx="134549" cy="195707"/>
          </a:xfrm>
          <a:prstGeom prst="rect">
            <a:avLst/>
          </a:prstGeom>
        </p:spPr>
      </p:pic>
      <p:sp>
        <p:nvSpPr>
          <p:cNvPr id="64" name="TextBox 63"/>
          <p:cNvSpPr txBox="1"/>
          <p:nvPr/>
        </p:nvSpPr>
        <p:spPr>
          <a:xfrm>
            <a:off x="7215030"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31599"/>
            <a:ext cx="134549" cy="195707"/>
          </a:xfrm>
          <a:prstGeom prst="rect">
            <a:avLst/>
          </a:prstGeom>
        </p:spPr>
      </p:pic>
      <p:sp>
        <p:nvSpPr>
          <p:cNvPr id="68" name="TextBox 67"/>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669660"/>
            <a:ext cx="3533775" cy="194310"/>
          </a:xfrm>
          <a:prstGeom prst="rect">
            <a:avLst/>
          </a:prstGeom>
          <a:noFill/>
        </p:spPr>
        <p:txBody>
          <a:bodyPr wrap="none" lIns="0" rIns="0" tIns="0" bIns="0">
            <a:spAutoFit/>
          </a:bodyPr>
          <a:lstStyle/>
          <a:p>
            <a:r>
              <a:rPr sz="1150" b="0">
                <a:solidFill>
                  <a:srgbClr val="2E2E2E"/>
                </a:solidFill>
                <a:latin typeface="Calibri"/>
              </a:rPr>
              <a:t>▪ Value concentration in 'Heavy Duty Trucks' raises barriers</a:t>
            </a:r>
          </a:p>
        </p:txBody>
      </p:sp>
      <p:sp>
        <p:nvSpPr>
          <p:cNvPr id="70" name="TextBox 69"/>
          <p:cNvSpPr txBox="1"/>
          <p:nvPr/>
        </p:nvSpPr>
        <p:spPr>
          <a:xfrm>
            <a:off x="4371975" y="5844920"/>
            <a:ext cx="1107963" cy="194310"/>
          </a:xfrm>
          <a:prstGeom prst="rect">
            <a:avLst/>
          </a:prstGeom>
          <a:noFill/>
        </p:spPr>
        <p:txBody>
          <a:bodyPr wrap="none" lIns="0" rIns="0" tIns="0" bIns="0">
            <a:spAutoFit/>
          </a:bodyPr>
          <a:lstStyle/>
          <a:p>
            <a:r>
              <a:rPr sz="1150" b="0">
                <a:solidFill>
                  <a:srgbClr val="2E2E2E"/>
                </a:solidFill>
                <a:latin typeface="Calibri"/>
              </a:rPr>
              <a:t>for new entrants.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4" name="Rounded Rectangle 13"/>
          <p:cNvSpPr/>
          <p:nvPr/>
        </p:nvSpPr>
        <p:spPr>
          <a:xfrm>
            <a:off x="6172200" y="98107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790825"/>
            <a:ext cx="5876925"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7655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146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0400"/>
            <a:ext cx="5610225" cy="10858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790825"/>
            <a:ext cx="5876925"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7655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146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0400"/>
            <a:ext cx="5610225" cy="10858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495800"/>
            <a:ext cx="11906250" cy="2114550"/>
          </a:xfrm>
          <a:prstGeom prst="roundRect">
            <a:avLst>
              <a:gd name="adj" fmla="val 36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55295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Vehicle Type Share (2036)</a:t>
            </a:r>
          </a:p>
        </p:txBody>
      </p:sp>
      <p:graphicFrame>
        <p:nvGraphicFramePr>
          <p:cNvPr id="28" name="Chart 27"/>
          <p:cNvGraphicFramePr>
            <a:graphicFrameLocks noGrp="1"/>
          </p:cNvGraphicFramePr>
          <p:nvPr/>
        </p:nvGraphicFramePr>
        <p:xfrm>
          <a:off x="238125" y="4781550"/>
          <a:ext cx="11715750" cy="1771650"/>
        </p:xfrm>
        <a:graphic>
          <a:graphicData uri="http://schemas.openxmlformats.org/drawingml/2006/chart">
            <c:chart xmlns:c="http://schemas.openxmlformats.org/drawingml/2006/chart" r:id="rId3"/>
          </a:graphicData>
        </a:graphic>
      </p:graphicFrame>
      <p:sp>
        <p:nvSpPr>
          <p:cNvPr id="29" name="TextBox 28"/>
          <p:cNvSpPr txBox="1"/>
          <p:nvPr/>
        </p:nvSpPr>
        <p:spPr>
          <a:xfrm>
            <a:off x="3914859" y="5553075"/>
            <a:ext cx="847557"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53896" y="5402105"/>
            <a:ext cx="347376" cy="505274"/>
          </a:xfrm>
          <a:prstGeom prst="rect">
            <a:avLst/>
          </a:prstGeom>
        </p:spPr>
      </p:pic>
      <p:sp>
        <p:nvSpPr>
          <p:cNvPr id="32" name="TextBox 31"/>
          <p:cNvSpPr txBox="1"/>
          <p:nvPr/>
        </p:nvSpPr>
        <p:spPr>
          <a:xfrm>
            <a:off x="276225" y="1400175"/>
            <a:ext cx="5525045" cy="186689"/>
          </a:xfrm>
          <a:prstGeom prst="rect">
            <a:avLst/>
          </a:prstGeom>
          <a:noFill/>
        </p:spPr>
        <p:txBody>
          <a:bodyPr wrap="none" lIns="0" rIns="0" tIns="0" bIns="0">
            <a:spAutoFit/>
          </a:bodyPr>
          <a:lstStyle/>
          <a:p>
            <a:r>
              <a:rPr sz="1100" b="0">
                <a:solidFill>
                  <a:srgbClr val="2E2E2E"/>
                </a:solidFill>
                <a:latin typeface="Calibri"/>
              </a:rPr>
              <a:t>▪ Capacity and product development are concentrating in 'Busses and Coaches' and in Germany,</a:t>
            </a:r>
          </a:p>
        </p:txBody>
      </p:sp>
      <p:sp>
        <p:nvSpPr>
          <p:cNvPr id="33" name="TextBox 32"/>
          <p:cNvSpPr txBox="1"/>
          <p:nvPr/>
        </p:nvSpPr>
        <p:spPr>
          <a:xfrm>
            <a:off x="276225" y="1567815"/>
            <a:ext cx="1687661" cy="186689"/>
          </a:xfrm>
          <a:prstGeom prst="rect">
            <a:avLst/>
          </a:prstGeom>
          <a:noFill/>
        </p:spPr>
        <p:txBody>
          <a:bodyPr wrap="none" lIns="0" rIns="0" tIns="0" bIns="0">
            <a:spAutoFit/>
          </a:bodyPr>
          <a:lstStyle/>
          <a:p>
            <a:r>
              <a:rPr sz="1100" b="0">
                <a:solidFill>
                  <a:srgbClr val="2E2E2E"/>
                </a:solidFill>
                <a:latin typeface="Calibri"/>
              </a:rPr>
              <a:t>the fastest-growing country.</a:t>
            </a:r>
          </a:p>
        </p:txBody>
      </p:sp>
      <p:sp>
        <p:nvSpPr>
          <p:cNvPr id="34" name="TextBox 33"/>
          <p:cNvSpPr txBox="1"/>
          <p:nvPr/>
        </p:nvSpPr>
        <p:spPr>
          <a:xfrm>
            <a:off x="276225" y="1785747"/>
            <a:ext cx="5029274" cy="186689"/>
          </a:xfrm>
          <a:prstGeom prst="rect">
            <a:avLst/>
          </a:prstGeom>
          <a:noFill/>
        </p:spPr>
        <p:txBody>
          <a:bodyPr wrap="none" lIns="0" rIns="0" tIns="0" bIns="0">
            <a:spAutoFit/>
          </a:bodyPr>
          <a:lstStyle/>
          <a:p>
            <a:r>
              <a:rPr sz="1100" b="0">
                <a:solidFill>
                  <a:srgbClr val="2E2E2E"/>
                </a:solidFill>
                <a:latin typeface="Calibri"/>
              </a:rPr>
              <a:t>▪ Portfolio expansion is tracking the shift toward higher-growth vehicle type categories.</a:t>
            </a:r>
          </a:p>
        </p:txBody>
      </p:sp>
      <p:sp>
        <p:nvSpPr>
          <p:cNvPr id="35" name="TextBox 34"/>
          <p:cNvSpPr txBox="1"/>
          <p:nvPr/>
        </p:nvSpPr>
        <p:spPr>
          <a:xfrm>
            <a:off x="276225" y="2003678"/>
            <a:ext cx="3812902" cy="186689"/>
          </a:xfrm>
          <a:prstGeom prst="rect">
            <a:avLst/>
          </a:prstGeom>
          <a:noFill/>
        </p:spPr>
        <p:txBody>
          <a:bodyPr wrap="none" lIns="0" rIns="0" tIns="0" bIns="0">
            <a:spAutoFit/>
          </a:bodyPr>
          <a:lstStyle/>
          <a:p>
            <a:r>
              <a:rPr sz="1100" b="0">
                <a:solidFill>
                  <a:srgbClr val="2E2E2E"/>
                </a:solidFill>
                <a:latin typeface="Calibri"/>
              </a:rPr>
              <a:t>▪ Commercial focus is intensifying in Germany, which accounts for</a:t>
            </a:r>
          </a:p>
        </p:txBody>
      </p:sp>
      <p:pic>
        <p:nvPicPr>
          <p:cNvPr id="36" name="Picture 35" descr="lock.png"/>
          <p:cNvPicPr>
            <a:picLocks noChangeAspect="1"/>
          </p:cNvPicPr>
          <p:nvPr/>
        </p:nvPicPr>
        <p:blipFill>
          <a:blip r:embed="rId5"/>
          <a:stretch>
            <a:fillRect/>
          </a:stretch>
        </p:blipFill>
        <p:spPr>
          <a:xfrm>
            <a:off x="4037178" y="1993900"/>
            <a:ext cx="128699" cy="187198"/>
          </a:xfrm>
          <a:prstGeom prst="rect">
            <a:avLst/>
          </a:prstGeom>
        </p:spPr>
      </p:pic>
      <p:sp>
        <p:nvSpPr>
          <p:cNvPr id="37" name="TextBox 36"/>
          <p:cNvSpPr txBox="1"/>
          <p:nvPr/>
        </p:nvSpPr>
        <p:spPr>
          <a:xfrm>
            <a:off x="4204674" y="2003678"/>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38" name="TextBox 37"/>
          <p:cNvSpPr txBox="1"/>
          <p:nvPr/>
        </p:nvSpPr>
        <p:spPr>
          <a:xfrm>
            <a:off x="6305550" y="1400175"/>
            <a:ext cx="1508943" cy="186689"/>
          </a:xfrm>
          <a:prstGeom prst="rect">
            <a:avLst/>
          </a:prstGeom>
          <a:noFill/>
        </p:spPr>
        <p:txBody>
          <a:bodyPr wrap="none" lIns="0" rIns="0" tIns="0" bIns="0">
            <a:spAutoFit/>
          </a:bodyPr>
          <a:lstStyle/>
          <a:p>
            <a:r>
              <a:rPr sz="1100" b="0">
                <a:solidFill>
                  <a:srgbClr val="2E2E2E"/>
                </a:solidFill>
                <a:latin typeface="Calibri"/>
              </a:rPr>
              <a:t>▪ Market value rises from</a:t>
            </a:r>
          </a:p>
        </p:txBody>
      </p:sp>
      <p:pic>
        <p:nvPicPr>
          <p:cNvPr id="39" name="Picture 38" descr="lock.png"/>
          <p:cNvPicPr>
            <a:picLocks noChangeAspect="1"/>
          </p:cNvPicPr>
          <p:nvPr/>
        </p:nvPicPr>
        <p:blipFill>
          <a:blip r:embed="rId5"/>
          <a:stretch>
            <a:fillRect/>
          </a:stretch>
        </p:blipFill>
        <p:spPr>
          <a:xfrm>
            <a:off x="7762545" y="1390396"/>
            <a:ext cx="128699" cy="187198"/>
          </a:xfrm>
          <a:prstGeom prst="rect">
            <a:avLst/>
          </a:prstGeom>
        </p:spPr>
      </p:pic>
      <p:sp>
        <p:nvSpPr>
          <p:cNvPr id="40" name="TextBox 39"/>
          <p:cNvSpPr txBox="1"/>
          <p:nvPr/>
        </p:nvSpPr>
        <p:spPr>
          <a:xfrm>
            <a:off x="7930040" y="1400175"/>
            <a:ext cx="1130498" cy="186689"/>
          </a:xfrm>
          <a:prstGeom prst="rect">
            <a:avLst/>
          </a:prstGeom>
          <a:noFill/>
        </p:spPr>
        <p:txBody>
          <a:bodyPr wrap="none" lIns="0" rIns="0" tIns="0" bIns="0">
            <a:spAutoFit/>
          </a:bodyPr>
          <a:lstStyle/>
          <a:p>
            <a:r>
              <a:rPr sz="1100" b="0">
                <a:solidFill>
                  <a:srgbClr val="2E2E2E"/>
                </a:solidFill>
                <a:latin typeface="Calibri"/>
              </a:rPr>
              <a:t>US$ Mn in 2026 to</a:t>
            </a:r>
          </a:p>
        </p:txBody>
      </p:sp>
      <p:pic>
        <p:nvPicPr>
          <p:cNvPr id="41" name="Picture 40" descr="lock.png"/>
          <p:cNvPicPr>
            <a:picLocks noChangeAspect="1"/>
          </p:cNvPicPr>
          <p:nvPr/>
        </p:nvPicPr>
        <p:blipFill>
          <a:blip r:embed="rId5"/>
          <a:stretch>
            <a:fillRect/>
          </a:stretch>
        </p:blipFill>
        <p:spPr>
          <a:xfrm>
            <a:off x="9008591" y="1390396"/>
            <a:ext cx="128699" cy="187198"/>
          </a:xfrm>
          <a:prstGeom prst="rect">
            <a:avLst/>
          </a:prstGeom>
        </p:spPr>
      </p:pic>
      <p:sp>
        <p:nvSpPr>
          <p:cNvPr id="42" name="TextBox 41"/>
          <p:cNvSpPr txBox="1"/>
          <p:nvPr/>
        </p:nvSpPr>
        <p:spPr>
          <a:xfrm>
            <a:off x="9176086" y="1400175"/>
            <a:ext cx="1013445" cy="186689"/>
          </a:xfrm>
          <a:prstGeom prst="rect">
            <a:avLst/>
          </a:prstGeom>
          <a:noFill/>
        </p:spPr>
        <p:txBody>
          <a:bodyPr wrap="none" lIns="0" rIns="0" tIns="0" bIns="0">
            <a:spAutoFit/>
          </a:bodyPr>
          <a:lstStyle/>
          <a:p>
            <a:r>
              <a:rPr sz="1100" b="0">
                <a:solidFill>
                  <a:srgbClr val="2E2E2E"/>
                </a:solidFill>
                <a:latin typeface="Calibri"/>
              </a:rPr>
              <a:t>US$ Mn in 2036.</a:t>
            </a:r>
          </a:p>
        </p:txBody>
      </p:sp>
      <p:sp>
        <p:nvSpPr>
          <p:cNvPr id="43" name="TextBox 42"/>
          <p:cNvSpPr txBox="1"/>
          <p:nvPr/>
        </p:nvSpPr>
        <p:spPr>
          <a:xfrm>
            <a:off x="6305550" y="1618107"/>
            <a:ext cx="1331572" cy="186689"/>
          </a:xfrm>
          <a:prstGeom prst="rect">
            <a:avLst/>
          </a:prstGeom>
          <a:noFill/>
        </p:spPr>
        <p:txBody>
          <a:bodyPr wrap="none" lIns="0" rIns="0" tIns="0" bIns="0">
            <a:spAutoFit/>
          </a:bodyPr>
          <a:lstStyle/>
          <a:p>
            <a:r>
              <a:rPr sz="1100" b="0">
                <a:solidFill>
                  <a:srgbClr val="2E2E2E"/>
                </a:solidFill>
                <a:latin typeface="Calibri"/>
              </a:rPr>
              <a:t>▪ The forecast CAGR is</a:t>
            </a:r>
          </a:p>
        </p:txBody>
      </p:sp>
      <p:pic>
        <p:nvPicPr>
          <p:cNvPr id="44" name="Picture 43" descr="lock.png"/>
          <p:cNvPicPr>
            <a:picLocks noChangeAspect="1"/>
          </p:cNvPicPr>
          <p:nvPr/>
        </p:nvPicPr>
        <p:blipFill>
          <a:blip r:embed="rId5"/>
          <a:stretch>
            <a:fillRect/>
          </a:stretch>
        </p:blipFill>
        <p:spPr>
          <a:xfrm>
            <a:off x="7585174" y="1608328"/>
            <a:ext cx="128699" cy="187198"/>
          </a:xfrm>
          <a:prstGeom prst="rect">
            <a:avLst/>
          </a:prstGeom>
        </p:spPr>
      </p:pic>
      <p:sp>
        <p:nvSpPr>
          <p:cNvPr id="45" name="TextBox 44"/>
          <p:cNvSpPr txBox="1"/>
          <p:nvPr/>
        </p:nvSpPr>
        <p:spPr>
          <a:xfrm>
            <a:off x="7752670" y="1618107"/>
            <a:ext cx="1008533" cy="186689"/>
          </a:xfrm>
          <a:prstGeom prst="rect">
            <a:avLst/>
          </a:prstGeom>
          <a:noFill/>
        </p:spPr>
        <p:txBody>
          <a:bodyPr wrap="none" lIns="0" rIns="0" tIns="0" bIns="0">
            <a:spAutoFit/>
          </a:bodyPr>
          <a:lstStyle/>
          <a:p>
            <a:r>
              <a:rPr sz="1100" b="0">
                <a:solidFill>
                  <a:srgbClr val="2E2E2E"/>
                </a:solidFill>
                <a:latin typeface="Calibri"/>
              </a:rPr>
              <a:t>over 2026-2036.</a:t>
            </a:r>
          </a:p>
        </p:txBody>
      </p:sp>
      <p:sp>
        <p:nvSpPr>
          <p:cNvPr id="46" name="TextBox 45"/>
          <p:cNvSpPr txBox="1"/>
          <p:nvPr/>
        </p:nvSpPr>
        <p:spPr>
          <a:xfrm>
            <a:off x="6305550" y="1836039"/>
            <a:ext cx="3408536" cy="186689"/>
          </a:xfrm>
          <a:prstGeom prst="rect">
            <a:avLst/>
          </a:prstGeom>
          <a:noFill/>
        </p:spPr>
        <p:txBody>
          <a:bodyPr wrap="none" lIns="0" rIns="0" tIns="0" bIns="0">
            <a:spAutoFit/>
          </a:bodyPr>
          <a:lstStyle/>
          <a:p>
            <a:r>
              <a:rPr sz="1100" b="0">
                <a:solidFill>
                  <a:srgbClr val="2E2E2E"/>
                </a:solidFill>
                <a:latin typeface="Calibri"/>
              </a:rPr>
              <a:t>▪ 'Heavy Duty Trucks' is the lead vehicle type category with</a:t>
            </a:r>
          </a:p>
        </p:txBody>
      </p:sp>
      <p:pic>
        <p:nvPicPr>
          <p:cNvPr id="47" name="Picture 46" descr="lock.png"/>
          <p:cNvPicPr>
            <a:picLocks noChangeAspect="1"/>
          </p:cNvPicPr>
          <p:nvPr/>
        </p:nvPicPr>
        <p:blipFill>
          <a:blip r:embed="rId5"/>
          <a:stretch>
            <a:fillRect/>
          </a:stretch>
        </p:blipFill>
        <p:spPr>
          <a:xfrm>
            <a:off x="9662137" y="1826260"/>
            <a:ext cx="128699" cy="187198"/>
          </a:xfrm>
          <a:prstGeom prst="rect">
            <a:avLst/>
          </a:prstGeom>
        </p:spPr>
      </p:pic>
      <p:sp>
        <p:nvSpPr>
          <p:cNvPr id="48" name="TextBox 47"/>
          <p:cNvSpPr txBox="1"/>
          <p:nvPr/>
        </p:nvSpPr>
        <p:spPr>
          <a:xfrm>
            <a:off x="9829633" y="1836039"/>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49" name="TextBox 48"/>
          <p:cNvSpPr txBox="1"/>
          <p:nvPr/>
        </p:nvSpPr>
        <p:spPr>
          <a:xfrm>
            <a:off x="6305550" y="2053970"/>
            <a:ext cx="2047006" cy="186689"/>
          </a:xfrm>
          <a:prstGeom prst="rect">
            <a:avLst/>
          </a:prstGeom>
          <a:noFill/>
        </p:spPr>
        <p:txBody>
          <a:bodyPr wrap="none" lIns="0" rIns="0" tIns="0" bIns="0">
            <a:spAutoFit/>
          </a:bodyPr>
          <a:lstStyle/>
          <a:p>
            <a:r>
              <a:rPr sz="1100" b="0">
                <a:solidFill>
                  <a:srgbClr val="2E2E2E"/>
                </a:solidFill>
                <a:latin typeface="Calibri"/>
              </a:rPr>
              <a:t>▪ Germany is the lead country with</a:t>
            </a:r>
          </a:p>
        </p:txBody>
      </p:sp>
      <p:pic>
        <p:nvPicPr>
          <p:cNvPr id="50" name="Picture 49" descr="lock.png"/>
          <p:cNvPicPr>
            <a:picLocks noChangeAspect="1"/>
          </p:cNvPicPr>
          <p:nvPr/>
        </p:nvPicPr>
        <p:blipFill>
          <a:blip r:embed="rId5"/>
          <a:stretch>
            <a:fillRect/>
          </a:stretch>
        </p:blipFill>
        <p:spPr>
          <a:xfrm>
            <a:off x="8300608" y="2044192"/>
            <a:ext cx="128699" cy="187198"/>
          </a:xfrm>
          <a:prstGeom prst="rect">
            <a:avLst/>
          </a:prstGeom>
        </p:spPr>
      </p:pic>
      <p:sp>
        <p:nvSpPr>
          <p:cNvPr id="51" name="TextBox 50"/>
          <p:cNvSpPr txBox="1"/>
          <p:nvPr/>
        </p:nvSpPr>
        <p:spPr>
          <a:xfrm>
            <a:off x="8468104" y="2053970"/>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52" name="TextBox 51"/>
          <p:cNvSpPr txBox="1"/>
          <p:nvPr/>
        </p:nvSpPr>
        <p:spPr>
          <a:xfrm>
            <a:off x="6305550" y="2271903"/>
            <a:ext cx="2841823" cy="186689"/>
          </a:xfrm>
          <a:prstGeom prst="rect">
            <a:avLst/>
          </a:prstGeom>
          <a:noFill/>
        </p:spPr>
        <p:txBody>
          <a:bodyPr wrap="none" lIns="0" rIns="0" tIns="0" bIns="0">
            <a:spAutoFit/>
          </a:bodyPr>
          <a:lstStyle/>
          <a:p>
            <a:r>
              <a:rPr sz="1100" b="0">
                <a:solidFill>
                  <a:srgbClr val="2E2E2E"/>
                </a:solidFill>
                <a:latin typeface="Calibri"/>
              </a:rPr>
              <a:t>▪ The incremental opportunity over 2026-2036 is</a:t>
            </a:r>
          </a:p>
        </p:txBody>
      </p:sp>
      <p:pic>
        <p:nvPicPr>
          <p:cNvPr id="53" name="Picture 52" descr="lock.png"/>
          <p:cNvPicPr>
            <a:picLocks noChangeAspect="1"/>
          </p:cNvPicPr>
          <p:nvPr/>
        </p:nvPicPr>
        <p:blipFill>
          <a:blip r:embed="rId5"/>
          <a:stretch>
            <a:fillRect/>
          </a:stretch>
        </p:blipFill>
        <p:spPr>
          <a:xfrm>
            <a:off x="9095425" y="2262124"/>
            <a:ext cx="128699" cy="187198"/>
          </a:xfrm>
          <a:prstGeom prst="rect">
            <a:avLst/>
          </a:prstGeom>
        </p:spPr>
      </p:pic>
      <p:sp>
        <p:nvSpPr>
          <p:cNvPr id="54" name="TextBox 53"/>
          <p:cNvSpPr txBox="1"/>
          <p:nvPr/>
        </p:nvSpPr>
        <p:spPr>
          <a:xfrm>
            <a:off x="926292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5" name="TextBox 54"/>
          <p:cNvSpPr txBox="1"/>
          <p:nvPr/>
        </p:nvSpPr>
        <p:spPr>
          <a:xfrm>
            <a:off x="276225" y="3209925"/>
            <a:ext cx="5591175" cy="186689"/>
          </a:xfrm>
          <a:prstGeom prst="rect">
            <a:avLst/>
          </a:prstGeom>
          <a:noFill/>
        </p:spPr>
        <p:txBody>
          <a:bodyPr wrap="none" lIns="0" rIns="0" tIns="0" bIns="0">
            <a:spAutoFit/>
          </a:bodyPr>
          <a:lstStyle/>
          <a:p>
            <a:r>
              <a:rPr sz="1100" b="0">
                <a:solidFill>
                  <a:srgbClr val="2E2E2E"/>
                </a:solidFill>
                <a:latin typeface="Calibri"/>
              </a:rPr>
              <a:t>▪ Investment is flowing toward 'Busses and Coaches', the fastest-growing vehicle type category at</a:t>
            </a:r>
          </a:p>
        </p:txBody>
      </p:sp>
      <p:pic>
        <p:nvPicPr>
          <p:cNvPr id="56" name="Picture 55" descr="lock.png"/>
          <p:cNvPicPr>
            <a:picLocks noChangeAspect="1"/>
          </p:cNvPicPr>
          <p:nvPr/>
        </p:nvPicPr>
        <p:blipFill>
          <a:blip r:embed="rId5"/>
          <a:stretch>
            <a:fillRect/>
          </a:stretch>
        </p:blipFill>
        <p:spPr>
          <a:xfrm>
            <a:off x="262757" y="3367786"/>
            <a:ext cx="128699" cy="187198"/>
          </a:xfrm>
          <a:prstGeom prst="rect">
            <a:avLst/>
          </a:prstGeom>
        </p:spPr>
      </p:pic>
      <p:sp>
        <p:nvSpPr>
          <p:cNvPr id="57" name="TextBox 56"/>
          <p:cNvSpPr txBox="1"/>
          <p:nvPr/>
        </p:nvSpPr>
        <p:spPr>
          <a:xfrm>
            <a:off x="430253" y="3377565"/>
            <a:ext cx="430617"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58" name="TextBox 57"/>
          <p:cNvSpPr txBox="1"/>
          <p:nvPr/>
        </p:nvSpPr>
        <p:spPr>
          <a:xfrm>
            <a:off x="276225" y="3595497"/>
            <a:ext cx="752871" cy="186689"/>
          </a:xfrm>
          <a:prstGeom prst="rect">
            <a:avLst/>
          </a:prstGeom>
          <a:noFill/>
        </p:spPr>
        <p:txBody>
          <a:bodyPr wrap="none" lIns="0" rIns="0" tIns="0" bIns="0">
            <a:spAutoFit/>
          </a:bodyPr>
          <a:lstStyle/>
          <a:p>
            <a:r>
              <a:rPr sz="1100" b="0">
                <a:solidFill>
                  <a:srgbClr val="2E2E2E"/>
                </a:solidFill>
                <a:latin typeface="Calibri"/>
              </a:rPr>
              <a:t>▪ Germany (</a:t>
            </a:r>
          </a:p>
        </p:txBody>
      </p:sp>
      <p:pic>
        <p:nvPicPr>
          <p:cNvPr id="59" name="Picture 58" descr="lock.png"/>
          <p:cNvPicPr>
            <a:picLocks noChangeAspect="1"/>
          </p:cNvPicPr>
          <p:nvPr/>
        </p:nvPicPr>
        <p:blipFill>
          <a:blip r:embed="rId5"/>
          <a:stretch>
            <a:fillRect/>
          </a:stretch>
        </p:blipFill>
        <p:spPr>
          <a:xfrm>
            <a:off x="977148" y="3585718"/>
            <a:ext cx="128699" cy="187198"/>
          </a:xfrm>
          <a:prstGeom prst="rect">
            <a:avLst/>
          </a:prstGeom>
        </p:spPr>
      </p:pic>
      <p:sp>
        <p:nvSpPr>
          <p:cNvPr id="60" name="TextBox 59"/>
          <p:cNvSpPr txBox="1"/>
          <p:nvPr/>
        </p:nvSpPr>
        <p:spPr>
          <a:xfrm>
            <a:off x="1144644" y="3595497"/>
            <a:ext cx="3520115" cy="186689"/>
          </a:xfrm>
          <a:prstGeom prst="rect">
            <a:avLst/>
          </a:prstGeom>
          <a:noFill/>
        </p:spPr>
        <p:txBody>
          <a:bodyPr wrap="none" lIns="0" rIns="0" tIns="0" bIns="0">
            <a:spAutoFit/>
          </a:bodyPr>
          <a:lstStyle/>
          <a:p>
            <a:r>
              <a:rPr sz="1100" b="0">
                <a:solidFill>
                  <a:srgbClr val="2E2E2E"/>
                </a:solidFill>
                <a:latin typeface="Calibri"/>
              </a:rPr>
              <a:t>CAGR) is a priority country for new capacity and distribution.</a:t>
            </a:r>
          </a:p>
        </p:txBody>
      </p:sp>
      <p:sp>
        <p:nvSpPr>
          <p:cNvPr id="61" name="TextBox 60"/>
          <p:cNvSpPr txBox="1"/>
          <p:nvPr/>
        </p:nvSpPr>
        <p:spPr>
          <a:xfrm>
            <a:off x="276225" y="3813429"/>
            <a:ext cx="4919315" cy="186689"/>
          </a:xfrm>
          <a:prstGeom prst="rect">
            <a:avLst/>
          </a:prstGeom>
          <a:noFill/>
        </p:spPr>
        <p:txBody>
          <a:bodyPr wrap="none" lIns="0" rIns="0" tIns="0" bIns="0">
            <a:spAutoFit/>
          </a:bodyPr>
          <a:lstStyle/>
          <a:p>
            <a:r>
              <a:rPr sz="1100" b="0">
                <a:solidFill>
                  <a:srgbClr val="2E2E2E"/>
                </a:solidFill>
                <a:latin typeface="Calibri"/>
              </a:rPr>
              <a:t>▪ Scale players are anchoring their portfolios around 'Heavy Duty Trucks', which holds</a:t>
            </a:r>
          </a:p>
        </p:txBody>
      </p:sp>
      <p:pic>
        <p:nvPicPr>
          <p:cNvPr id="62" name="Picture 61" descr="lock.png"/>
          <p:cNvPicPr>
            <a:picLocks noChangeAspect="1"/>
          </p:cNvPicPr>
          <p:nvPr/>
        </p:nvPicPr>
        <p:blipFill>
          <a:blip r:embed="rId5"/>
          <a:stretch>
            <a:fillRect/>
          </a:stretch>
        </p:blipFill>
        <p:spPr>
          <a:xfrm>
            <a:off x="5143591" y="3803650"/>
            <a:ext cx="128699" cy="187198"/>
          </a:xfrm>
          <a:prstGeom prst="rect">
            <a:avLst/>
          </a:prstGeom>
        </p:spPr>
      </p:pic>
      <p:sp>
        <p:nvSpPr>
          <p:cNvPr id="63" name="TextBox 62"/>
          <p:cNvSpPr txBox="1"/>
          <p:nvPr/>
        </p:nvSpPr>
        <p:spPr>
          <a:xfrm>
            <a:off x="5311087" y="3813429"/>
            <a:ext cx="424631"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64" name="TextBox 63"/>
          <p:cNvSpPr txBox="1"/>
          <p:nvPr/>
        </p:nvSpPr>
        <p:spPr>
          <a:xfrm>
            <a:off x="6305550" y="3209925"/>
            <a:ext cx="5510584" cy="186689"/>
          </a:xfrm>
          <a:prstGeom prst="rect">
            <a:avLst/>
          </a:prstGeom>
          <a:noFill/>
        </p:spPr>
        <p:txBody>
          <a:bodyPr wrap="none" lIns="0" rIns="0" tIns="0" bIns="0">
            <a:spAutoFit/>
          </a:bodyPr>
          <a:lstStyle/>
          <a:p>
            <a:r>
              <a:rPr sz="1100" b="0">
                <a:solidFill>
                  <a:srgbClr val="2E2E2E"/>
                </a:solidFill>
                <a:latin typeface="Calibri"/>
              </a:rPr>
              <a:t>▪ R&amp;D programmes are focused on material performance, process efficiency and automation, in</a:t>
            </a:r>
          </a:p>
        </p:txBody>
      </p:sp>
      <p:sp>
        <p:nvSpPr>
          <p:cNvPr id="65" name="TextBox 64"/>
          <p:cNvSpPr txBox="1"/>
          <p:nvPr/>
        </p:nvSpPr>
        <p:spPr>
          <a:xfrm>
            <a:off x="6305550" y="3377565"/>
            <a:ext cx="3073474" cy="186689"/>
          </a:xfrm>
          <a:prstGeom prst="rect">
            <a:avLst/>
          </a:prstGeom>
          <a:noFill/>
        </p:spPr>
        <p:txBody>
          <a:bodyPr wrap="none" lIns="0" rIns="0" tIns="0" bIns="0">
            <a:spAutoFit/>
          </a:bodyPr>
          <a:lstStyle/>
          <a:p>
            <a:r>
              <a:rPr sz="1100" b="0">
                <a:solidFill>
                  <a:srgbClr val="2E2E2E"/>
                </a:solidFill>
                <a:latin typeface="Calibri"/>
              </a:rPr>
              <a:t>line with the migration toward 'Busses and Coaches'.</a:t>
            </a:r>
          </a:p>
        </p:txBody>
      </p:sp>
      <p:sp>
        <p:nvSpPr>
          <p:cNvPr id="66" name="TextBox 65"/>
          <p:cNvSpPr txBox="1"/>
          <p:nvPr/>
        </p:nvSpPr>
        <p:spPr>
          <a:xfrm>
            <a:off x="6305550" y="3595497"/>
            <a:ext cx="5242644" cy="186689"/>
          </a:xfrm>
          <a:prstGeom prst="rect">
            <a:avLst/>
          </a:prstGeom>
          <a:noFill/>
        </p:spPr>
        <p:txBody>
          <a:bodyPr wrap="none" lIns="0" rIns="0" tIns="0" bIns="0">
            <a:spAutoFit/>
          </a:bodyPr>
          <a:lstStyle/>
          <a:p>
            <a:r>
              <a:rPr sz="1100" b="0">
                <a:solidFill>
                  <a:srgbClr val="2E2E2E"/>
                </a:solidFill>
                <a:latin typeface="Calibri"/>
              </a:rPr>
              <a:t>▪ Development spend is targeting the vehicle type categories that gain share through 2036.</a:t>
            </a:r>
          </a:p>
        </p:txBody>
      </p:sp>
      <p:sp>
        <p:nvSpPr>
          <p:cNvPr id="67" name="TextBox 66"/>
          <p:cNvSpPr txBox="1"/>
          <p:nvPr/>
        </p:nvSpPr>
        <p:spPr>
          <a:xfrm>
            <a:off x="6305550" y="381342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8" name="Picture 67" descr="lock.png"/>
          <p:cNvPicPr>
            <a:picLocks noChangeAspect="1"/>
          </p:cNvPicPr>
          <p:nvPr/>
        </p:nvPicPr>
        <p:blipFill>
          <a:blip r:embed="rId5"/>
          <a:stretch>
            <a:fillRect/>
          </a:stretch>
        </p:blipFill>
        <p:spPr>
          <a:xfrm>
            <a:off x="7847947" y="3803650"/>
            <a:ext cx="128699" cy="187198"/>
          </a:xfrm>
          <a:prstGeom prst="rect">
            <a:avLst/>
          </a:prstGeom>
        </p:spPr>
      </p:pic>
      <p:sp>
        <p:nvSpPr>
          <p:cNvPr id="69" name="TextBox 68"/>
          <p:cNvSpPr txBox="1"/>
          <p:nvPr/>
        </p:nvSpPr>
        <p:spPr>
          <a:xfrm>
            <a:off x="8015443" y="3813429"/>
            <a:ext cx="3416977" cy="186689"/>
          </a:xfrm>
          <a:prstGeom prst="rect">
            <a:avLst/>
          </a:prstGeom>
          <a:noFill/>
        </p:spPr>
        <p:txBody>
          <a:bodyPr wrap="none" lIns="0" rIns="0" tIns="0" bIns="0">
            <a:spAutoFit/>
          </a:bodyPr>
          <a:lstStyle/>
          <a:p>
            <a:r>
              <a:rPr sz="1100" b="0">
                <a:solidFill>
                  <a:srgbClr val="2E2E2E"/>
                </a:solidFill>
                <a:latin typeface="Calibri"/>
              </a:rPr>
              <a:t>forecast CAGR by sustaining both volume growth and price</a:t>
            </a:r>
          </a:p>
        </p:txBody>
      </p:sp>
      <p:sp>
        <p:nvSpPr>
          <p:cNvPr id="70" name="TextBox 69"/>
          <p:cNvSpPr txBox="1"/>
          <p:nvPr/>
        </p:nvSpPr>
        <p:spPr>
          <a:xfrm>
            <a:off x="6305550" y="3981069"/>
            <a:ext cx="708669" cy="186689"/>
          </a:xfrm>
          <a:prstGeom prst="rect">
            <a:avLst/>
          </a:prstGeom>
          <a:noFill/>
        </p:spPr>
        <p:txBody>
          <a:bodyPr wrap="none" lIns="0" rIns="0" tIns="0" bIns="0">
            <a:spAutoFit/>
          </a:bodyPr>
          <a:lstStyle/>
          <a:p>
            <a:r>
              <a:rPr sz="1100" b="0">
                <a:solidFill>
                  <a:srgbClr val="2E2E2E"/>
                </a:solidFill>
                <a:latin typeface="Calibri"/>
              </a:rPr>
              <a:t>realisation.</a:t>
            </a:r>
          </a:p>
        </p:txBody>
      </p:sp>
      <p:sp>
        <p:nvSpPr>
          <p:cNvPr id="71" name="lockshield_28"/>
          <p:cNvSpPr/>
          <p:nvPr/>
        </p:nvSpPr>
        <p:spPr>
          <a:xfrm>
            <a:off x="238125" y="4781550"/>
            <a:ext cx="11715750" cy="17716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'Busses and Coaches' category and the 'Busses and Coaches' vehicle type route, where growth outpaces the market.</a:t>
            </a:r>
          </a:p>
        </p:txBody>
      </p:sp>
      <p:sp>
        <p:nvSpPr>
          <p:cNvPr id="18" name="Rounded Rectangle 17"/>
          <p:cNvSpPr/>
          <p:nvPr/>
        </p:nvSpPr>
        <p:spPr>
          <a:xfrm>
            <a:off x="142875"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95825"/>
            <a:ext cx="11906250" cy="1914525"/>
          </a:xfrm>
          <a:prstGeom prst="roundRect">
            <a:avLst>
              <a:gd name="adj" fmla="val 3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81550"/>
            <a:ext cx="11639550" cy="209550"/>
          </a:xfrm>
          <a:prstGeom prst="rect">
            <a:avLst/>
          </a:prstGeom>
          <a:noFill/>
        </p:spPr>
        <p:txBody>
          <a:bodyPr wrap="square" lIns="0" rIns="19050" tIns="9525" bIns="9525">
            <a:spAutoFit/>
          </a:bodyPr>
          <a:lstStyle/>
          <a:p>
            <a:pPr algn="l"/>
            <a:r>
              <a:rPr sz="1300" b="1">
                <a:solidFill>
                  <a:srgbClr val="0B2E4A"/>
                </a:solidFill>
                <a:latin typeface="Calibri"/>
              </a:rPr>
              <a:t>FMI Analysis and Recommendation</a:t>
            </a:r>
          </a:p>
        </p:txBody>
      </p:sp>
      <p:sp>
        <p:nvSpPr>
          <p:cNvPr id="28" name="Rectangle 27"/>
          <p:cNvSpPr/>
          <p:nvPr/>
        </p:nvSpPr>
        <p:spPr>
          <a:xfrm>
            <a:off x="276225" y="5019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105400"/>
            <a:ext cx="11639550" cy="1428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 and country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'Heavy Duty Trucks' as the value anchor of the portfolio.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product qualification and industry certification into the offer to protect pricing as competition intensifies.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176254" cy="194310"/>
          </a:xfrm>
          <a:prstGeom prst="rect">
            <a:avLst/>
          </a:prstGeom>
          <a:noFill/>
        </p:spPr>
        <p:txBody>
          <a:bodyPr wrap="none" lIns="0" rIns="0" tIns="0" bIns="0">
            <a:spAutoFit/>
          </a:bodyPr>
          <a:lstStyle/>
          <a:p>
            <a:r>
              <a:rPr sz="1150" b="0">
                <a:solidFill>
                  <a:srgbClr val="2E2E2E"/>
                </a:solidFill>
                <a:latin typeface="Calibri"/>
              </a:rPr>
              <a:t>▪ Balance scale in 'Heavy Duty Trucks' with targeted growth in 'Busses and Coaches' to</a:t>
            </a:r>
          </a:p>
        </p:txBody>
      </p:sp>
      <p:sp>
        <p:nvSpPr>
          <p:cNvPr id="32" name="TextBox 31"/>
          <p:cNvSpPr txBox="1"/>
          <p:nvPr/>
        </p:nvSpPr>
        <p:spPr>
          <a:xfrm>
            <a:off x="276225" y="1575435"/>
            <a:ext cx="765943" cy="194310"/>
          </a:xfrm>
          <a:prstGeom prst="rect">
            <a:avLst/>
          </a:prstGeom>
          <a:noFill/>
        </p:spPr>
        <p:txBody>
          <a:bodyPr wrap="none" lIns="0" rIns="0" tIns="0" bIns="0">
            <a:spAutoFit/>
          </a:bodyPr>
          <a:lstStyle/>
          <a:p>
            <a:r>
              <a:rPr sz="1150" b="0">
                <a:solidFill>
                  <a:srgbClr val="2E2E2E"/>
                </a:solidFill>
                <a:latin typeface="Calibri"/>
              </a:rPr>
              <a:t>capture the</a:t>
            </a:r>
          </a:p>
        </p:txBody>
      </p:sp>
      <p:pic>
        <p:nvPicPr>
          <p:cNvPr id="33" name="Picture 32" descr="lock.png"/>
          <p:cNvPicPr>
            <a:picLocks noChangeAspect="1"/>
          </p:cNvPicPr>
          <p:nvPr/>
        </p:nvPicPr>
        <p:blipFill>
          <a:blip r:embed="rId4"/>
          <a:stretch>
            <a:fillRect/>
          </a:stretch>
        </p:blipFill>
        <p:spPr>
          <a:xfrm>
            <a:off x="991322" y="1565211"/>
            <a:ext cx="134549" cy="195707"/>
          </a:xfrm>
          <a:prstGeom prst="rect">
            <a:avLst/>
          </a:prstGeom>
        </p:spPr>
      </p:pic>
      <p:sp>
        <p:nvSpPr>
          <p:cNvPr id="34" name="TextBox 33"/>
          <p:cNvSpPr txBox="1"/>
          <p:nvPr/>
        </p:nvSpPr>
        <p:spPr>
          <a:xfrm>
            <a:off x="1166432"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1803273"/>
            <a:ext cx="1154174" cy="194310"/>
          </a:xfrm>
          <a:prstGeom prst="rect">
            <a:avLst/>
          </a:prstGeom>
          <a:noFill/>
        </p:spPr>
        <p:txBody>
          <a:bodyPr wrap="none" lIns="0" rIns="0" tIns="0" bIns="0">
            <a:spAutoFit/>
          </a:bodyPr>
          <a:lstStyle/>
          <a:p>
            <a:r>
              <a:rPr sz="1150" b="0">
                <a:solidFill>
                  <a:srgbClr val="2E2E2E"/>
                </a:solidFill>
                <a:latin typeface="Calibri"/>
              </a:rPr>
              <a:t>▪ The market adds</a:t>
            </a:r>
          </a:p>
        </p:txBody>
      </p:sp>
      <p:pic>
        <p:nvPicPr>
          <p:cNvPr id="36" name="Picture 35" descr="lock.png"/>
          <p:cNvPicPr>
            <a:picLocks noChangeAspect="1"/>
          </p:cNvPicPr>
          <p:nvPr/>
        </p:nvPicPr>
        <p:blipFill>
          <a:blip r:embed="rId4"/>
          <a:stretch>
            <a:fillRect/>
          </a:stretch>
        </p:blipFill>
        <p:spPr>
          <a:xfrm>
            <a:off x="1379553" y="1793049"/>
            <a:ext cx="134549" cy="195707"/>
          </a:xfrm>
          <a:prstGeom prst="rect">
            <a:avLst/>
          </a:prstGeom>
        </p:spPr>
      </p:pic>
      <p:sp>
        <p:nvSpPr>
          <p:cNvPr id="37" name="TextBox 36"/>
          <p:cNvSpPr txBox="1"/>
          <p:nvPr/>
        </p:nvSpPr>
        <p:spPr>
          <a:xfrm>
            <a:off x="1554662" y="1803273"/>
            <a:ext cx="1851620"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38" name="Picture 37" descr="lock.png"/>
          <p:cNvPicPr>
            <a:picLocks noChangeAspect="1"/>
          </p:cNvPicPr>
          <p:nvPr/>
        </p:nvPicPr>
        <p:blipFill>
          <a:blip r:embed="rId4"/>
          <a:stretch>
            <a:fillRect/>
          </a:stretch>
        </p:blipFill>
        <p:spPr>
          <a:xfrm>
            <a:off x="3355436" y="1793049"/>
            <a:ext cx="134549" cy="195707"/>
          </a:xfrm>
          <a:prstGeom prst="rect">
            <a:avLst/>
          </a:prstGeom>
        </p:spPr>
      </p:pic>
      <p:sp>
        <p:nvSpPr>
          <p:cNvPr id="39" name="TextBox 38"/>
          <p:cNvSpPr txBox="1"/>
          <p:nvPr/>
        </p:nvSpPr>
        <p:spPr>
          <a:xfrm>
            <a:off x="3530546" y="1803273"/>
            <a:ext cx="1871017" cy="194310"/>
          </a:xfrm>
          <a:prstGeom prst="rect">
            <a:avLst/>
          </a:prstGeom>
          <a:noFill/>
        </p:spPr>
        <p:txBody>
          <a:bodyPr wrap="none" lIns="0" rIns="0" tIns="0" bIns="0">
            <a:spAutoFit/>
          </a:bodyPr>
          <a:lstStyle/>
          <a:p>
            <a:r>
              <a:rPr sz="1150" b="0">
                <a:solidFill>
                  <a:srgbClr val="2E2E2E"/>
                </a:solidFill>
                <a:latin typeface="Calibri"/>
              </a:rPr>
              <a:t>x expansion on the 2026 base.</a:t>
            </a:r>
          </a:p>
        </p:txBody>
      </p:sp>
      <p:sp>
        <p:nvSpPr>
          <p:cNvPr id="40" name="TextBox 39"/>
          <p:cNvSpPr txBox="1"/>
          <p:nvPr/>
        </p:nvSpPr>
        <p:spPr>
          <a:xfrm>
            <a:off x="276225" y="3381375"/>
            <a:ext cx="2053294" cy="194310"/>
          </a:xfrm>
          <a:prstGeom prst="rect">
            <a:avLst/>
          </a:prstGeom>
          <a:noFill/>
        </p:spPr>
        <p:txBody>
          <a:bodyPr wrap="none" lIns="0" rIns="0" tIns="0" bIns="0">
            <a:spAutoFit/>
          </a:bodyPr>
          <a:lstStyle/>
          <a:p>
            <a:r>
              <a:rPr sz="1150" b="0">
                <a:solidFill>
                  <a:srgbClr val="2E2E2E"/>
                </a:solidFill>
                <a:latin typeface="Calibri"/>
              </a:rPr>
              <a:t>▪ Prioritise 'Busses and Coaches' (</a:t>
            </a:r>
          </a:p>
        </p:txBody>
      </p:sp>
      <p:pic>
        <p:nvPicPr>
          <p:cNvPr id="41" name="Picture 40" descr="lock.png"/>
          <p:cNvPicPr>
            <a:picLocks noChangeAspect="1"/>
          </p:cNvPicPr>
          <p:nvPr/>
        </p:nvPicPr>
        <p:blipFill>
          <a:blip r:embed="rId4"/>
          <a:stretch>
            <a:fillRect/>
          </a:stretch>
        </p:blipFill>
        <p:spPr>
          <a:xfrm>
            <a:off x="2278673" y="3371151"/>
            <a:ext cx="134549" cy="195707"/>
          </a:xfrm>
          <a:prstGeom prst="rect">
            <a:avLst/>
          </a:prstGeom>
        </p:spPr>
      </p:pic>
      <p:sp>
        <p:nvSpPr>
          <p:cNvPr id="42" name="TextBox 41"/>
          <p:cNvSpPr txBox="1"/>
          <p:nvPr/>
        </p:nvSpPr>
        <p:spPr>
          <a:xfrm>
            <a:off x="2453783" y="3381375"/>
            <a:ext cx="3209981" cy="194310"/>
          </a:xfrm>
          <a:prstGeom prst="rect">
            <a:avLst/>
          </a:prstGeom>
          <a:noFill/>
        </p:spPr>
        <p:txBody>
          <a:bodyPr wrap="none" lIns="0" rIns="0" tIns="0" bIns="0">
            <a:spAutoFit/>
          </a:bodyPr>
          <a:lstStyle/>
          <a:p>
            <a:r>
              <a:rPr sz="1150" b="0">
                <a:solidFill>
                  <a:srgbClr val="2E2E2E"/>
                </a:solidFill>
                <a:latin typeface="Calibri"/>
              </a:rPr>
              <a:t>CAGR) for growth, while 'Heavy Duty Trucks' anchors</a:t>
            </a:r>
          </a:p>
        </p:txBody>
      </p:sp>
      <p:pic>
        <p:nvPicPr>
          <p:cNvPr id="43" name="Picture 42" descr="lock.png"/>
          <p:cNvPicPr>
            <a:picLocks noChangeAspect="1"/>
          </p:cNvPicPr>
          <p:nvPr/>
        </p:nvPicPr>
        <p:blipFill>
          <a:blip r:embed="rId4"/>
          <a:stretch>
            <a:fillRect/>
          </a:stretch>
        </p:blipFill>
        <p:spPr>
          <a:xfrm>
            <a:off x="262145" y="3546411"/>
            <a:ext cx="134549" cy="195707"/>
          </a:xfrm>
          <a:prstGeom prst="rect">
            <a:avLst/>
          </a:prstGeom>
        </p:spPr>
      </p:pic>
      <p:sp>
        <p:nvSpPr>
          <p:cNvPr id="44" name="TextBox 43"/>
          <p:cNvSpPr txBox="1"/>
          <p:nvPr/>
        </p:nvSpPr>
        <p:spPr>
          <a:xfrm>
            <a:off x="437254" y="3556635"/>
            <a:ext cx="1992250" cy="194310"/>
          </a:xfrm>
          <a:prstGeom prst="rect">
            <a:avLst/>
          </a:prstGeom>
          <a:noFill/>
        </p:spPr>
        <p:txBody>
          <a:bodyPr wrap="none" lIns="0" rIns="0" tIns="0" bIns="0">
            <a:spAutoFit/>
          </a:bodyPr>
          <a:lstStyle/>
          <a:p>
            <a:r>
              <a:rPr sz="1150" b="0">
                <a:solidFill>
                  <a:srgbClr val="2E2E2E"/>
                </a:solidFill>
                <a:latin typeface="Calibri"/>
              </a:rPr>
              <a:t>of value and funds the portfolio.</a:t>
            </a:r>
          </a:p>
        </p:txBody>
      </p:sp>
      <p:sp>
        <p:nvSpPr>
          <p:cNvPr id="45" name="TextBox 44"/>
          <p:cNvSpPr txBox="1"/>
          <p:nvPr/>
        </p:nvSpPr>
        <p:spPr>
          <a:xfrm>
            <a:off x="6305550" y="3381375"/>
            <a:ext cx="2094371" cy="194310"/>
          </a:xfrm>
          <a:prstGeom prst="rect">
            <a:avLst/>
          </a:prstGeom>
          <a:noFill/>
        </p:spPr>
        <p:txBody>
          <a:bodyPr wrap="none" lIns="0" rIns="0" tIns="0" bIns="0">
            <a:spAutoFit/>
          </a:bodyPr>
          <a:lstStyle/>
          <a:p>
            <a:r>
              <a:rPr sz="1150" b="0">
                <a:solidFill>
                  <a:srgbClr val="2E2E2E"/>
                </a:solidFill>
                <a:latin typeface="Calibri"/>
              </a:rPr>
              <a:t>▪ Lead with Germany, which holds</a:t>
            </a:r>
          </a:p>
        </p:txBody>
      </p:sp>
      <p:pic>
        <p:nvPicPr>
          <p:cNvPr id="46" name="Picture 45" descr="lock.png"/>
          <p:cNvPicPr>
            <a:picLocks noChangeAspect="1"/>
          </p:cNvPicPr>
          <p:nvPr/>
        </p:nvPicPr>
        <p:blipFill>
          <a:blip r:embed="rId4"/>
          <a:stretch>
            <a:fillRect/>
          </a:stretch>
        </p:blipFill>
        <p:spPr>
          <a:xfrm>
            <a:off x="8349075" y="3371151"/>
            <a:ext cx="134549" cy="195707"/>
          </a:xfrm>
          <a:prstGeom prst="rect">
            <a:avLst/>
          </a:prstGeom>
        </p:spPr>
      </p:pic>
      <p:sp>
        <p:nvSpPr>
          <p:cNvPr id="47" name="TextBox 46"/>
          <p:cNvSpPr txBox="1"/>
          <p:nvPr/>
        </p:nvSpPr>
        <p:spPr>
          <a:xfrm>
            <a:off x="8524184" y="3381375"/>
            <a:ext cx="1782018" cy="194310"/>
          </a:xfrm>
          <a:prstGeom prst="rect">
            <a:avLst/>
          </a:prstGeom>
          <a:noFill/>
        </p:spPr>
        <p:txBody>
          <a:bodyPr wrap="none" lIns="0" rIns="0" tIns="0" bIns="0">
            <a:spAutoFit/>
          </a:bodyPr>
          <a:lstStyle/>
          <a:p>
            <a:r>
              <a:rPr sz="1150" b="0">
                <a:solidFill>
                  <a:srgbClr val="2E2E2E"/>
                </a:solidFill>
                <a:latin typeface="Calibri"/>
              </a:rPr>
              <a:t>of value and grows fastest at</a:t>
            </a:r>
          </a:p>
        </p:txBody>
      </p:sp>
      <p:pic>
        <p:nvPicPr>
          <p:cNvPr id="48" name="Picture 47" descr="lock.png"/>
          <p:cNvPicPr>
            <a:picLocks noChangeAspect="1"/>
          </p:cNvPicPr>
          <p:nvPr/>
        </p:nvPicPr>
        <p:blipFill>
          <a:blip r:embed="rId4"/>
          <a:stretch>
            <a:fillRect/>
          </a:stretch>
        </p:blipFill>
        <p:spPr>
          <a:xfrm>
            <a:off x="10255356" y="3371151"/>
            <a:ext cx="134549" cy="195707"/>
          </a:xfrm>
          <a:prstGeom prst="rect">
            <a:avLst/>
          </a:prstGeom>
        </p:spPr>
      </p:pic>
      <p:sp>
        <p:nvSpPr>
          <p:cNvPr id="49" name="TextBox 48"/>
          <p:cNvSpPr txBox="1"/>
          <p:nvPr/>
        </p:nvSpPr>
        <p:spPr>
          <a:xfrm>
            <a:off x="10430466" y="3381375"/>
            <a:ext cx="1310475" cy="194310"/>
          </a:xfrm>
          <a:prstGeom prst="rect">
            <a:avLst/>
          </a:prstGeom>
          <a:noFill/>
        </p:spPr>
        <p:txBody>
          <a:bodyPr wrap="none" lIns="0" rIns="0" tIns="0" bIns="0">
            <a:spAutoFit/>
          </a:bodyPr>
          <a:lstStyle/>
          <a:p>
            <a:r>
              <a:rPr sz="1150" b="0">
                <a:solidFill>
                  <a:srgbClr val="2E2E2E"/>
                </a:solidFill>
                <a:latin typeface="Calibri"/>
              </a:rPr>
              <a:t>CAGR, while building</a:t>
            </a:r>
          </a:p>
        </p:txBody>
      </p:sp>
      <p:sp>
        <p:nvSpPr>
          <p:cNvPr id="50" name="TextBox 49"/>
          <p:cNvSpPr txBox="1"/>
          <p:nvPr/>
        </p:nvSpPr>
        <p:spPr>
          <a:xfrm>
            <a:off x="6305550" y="3556635"/>
            <a:ext cx="2357090" cy="194310"/>
          </a:xfrm>
          <a:prstGeom prst="rect">
            <a:avLst/>
          </a:prstGeom>
          <a:noFill/>
        </p:spPr>
        <p:txBody>
          <a:bodyPr wrap="none" lIns="0" rIns="0" tIns="0" bIns="0">
            <a:spAutoFit/>
          </a:bodyPr>
          <a:lstStyle/>
          <a:p>
            <a:r>
              <a:rPr sz="1150" b="0">
                <a:solidFill>
                  <a:srgbClr val="2E2E2E"/>
                </a:solidFill>
                <a:latin typeface="Calibri"/>
              </a:rPr>
              <a:t>positions in the next-largest countries.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Heavy Commercial Vehicle EPS Market Value (US$ Mn): Scenario Forecast, 2025 and 2036</a:t>
            </a:r>
          </a:p>
        </p:txBody>
      </p:sp>
      <p:cxnSp>
        <p:nvCxnSpPr>
          <p:cNvPr id="15" name="Connector 14"/>
          <p:cNvCxnSpPr/>
          <p:nvPr/>
        </p:nvCxnSpPr>
        <p:spPr>
          <a:xfrm>
            <a:off x="238125" y="413385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70005"/>
            <a:ext cx="635826" cy="663845"/>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2987011"/>
            <a:ext cx="635826" cy="114683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765821"/>
            <a:ext cx="635826" cy="1368029"/>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506504"/>
            <a:ext cx="635826" cy="162734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85366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4888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59648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49171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33931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3453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40055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40055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40055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Heavy Commercial Vehicle EPS Market Attractiveness Analysis By Region, 2026–2036</a:t>
            </a:r>
          </a:p>
        </p:txBody>
      </p:sp>
      <p:graphicFrame>
        <p:nvGraphicFramePr>
          <p:cNvPr id="36" name="Chart 35"/>
          <p:cNvGraphicFramePr>
            <a:graphicFrameLocks noGrp="1"/>
          </p:cNvGraphicFramePr>
          <p:nvPr/>
        </p:nvGraphicFramePr>
        <p:xfrm>
          <a:off x="6267450" y="2181225"/>
          <a:ext cx="5686425" cy="2409825"/>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781550"/>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191125"/>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171575"/>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171575"/>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171575"/>
            <a:ext cx="157162" cy="228600"/>
          </a:xfrm>
          <a:prstGeom prst="rect">
            <a:avLst/>
          </a:prstGeom>
        </p:spPr>
      </p:pic>
      <p:sp>
        <p:nvSpPr>
          <p:cNvPr id="45" name="TextBox 44"/>
          <p:cNvSpPr txBox="1"/>
          <p:nvPr/>
        </p:nvSpPr>
        <p:spPr>
          <a:xfrm>
            <a:off x="1702407" y="1026429"/>
            <a:ext cx="900484" cy="146456"/>
          </a:xfrm>
          <a:prstGeom prst="rect">
            <a:avLst/>
          </a:prstGeom>
          <a:noFill/>
        </p:spPr>
        <p:txBody>
          <a:bodyPr wrap="none" lIns="0" rIns="0" tIns="0" bIns="0">
            <a:spAutoFit/>
          </a:bodyPr>
          <a:lstStyle/>
          <a:p>
            <a:r>
              <a:rPr sz="835" b="1">
                <a:solidFill>
                  <a:srgbClr val="6C7A89"/>
                </a:solidFill>
                <a:latin typeface="Calibri"/>
              </a:rPr>
              <a:t>OPTIMISTIC (2036)</a:t>
            </a:r>
          </a:p>
        </p:txBody>
      </p:sp>
      <p:sp>
        <p:nvSpPr>
          <p:cNvPr id="46" name="TextBox 45"/>
          <p:cNvSpPr txBox="1"/>
          <p:nvPr/>
        </p:nvSpPr>
        <p:spPr>
          <a:xfrm>
            <a:off x="1934715"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195753" y="1410482"/>
            <a:ext cx="97811" cy="142270"/>
          </a:xfrm>
          <a:prstGeom prst="rect">
            <a:avLst/>
          </a:prstGeom>
        </p:spPr>
      </p:pic>
      <p:sp>
        <p:nvSpPr>
          <p:cNvPr id="48" name="TextBox 47"/>
          <p:cNvSpPr txBox="1"/>
          <p:nvPr/>
        </p:nvSpPr>
        <p:spPr>
          <a:xfrm>
            <a:off x="5853687" y="1026429"/>
            <a:ext cx="665599" cy="146456"/>
          </a:xfrm>
          <a:prstGeom prst="rect">
            <a:avLst/>
          </a:prstGeom>
          <a:noFill/>
        </p:spPr>
        <p:txBody>
          <a:bodyPr wrap="none" lIns="0" rIns="0" tIns="0" bIns="0">
            <a:spAutoFit/>
          </a:bodyPr>
          <a:lstStyle/>
          <a:p>
            <a:r>
              <a:rPr sz="835" b="1">
                <a:solidFill>
                  <a:srgbClr val="6C7A89"/>
                </a:solidFill>
                <a:latin typeface="Calibri"/>
              </a:rPr>
              <a:t>LIKELY (2036)</a:t>
            </a:r>
          </a:p>
        </p:txBody>
      </p:sp>
      <p:sp>
        <p:nvSpPr>
          <p:cNvPr id="49" name="TextBox 48"/>
          <p:cNvSpPr txBox="1"/>
          <p:nvPr/>
        </p:nvSpPr>
        <p:spPr>
          <a:xfrm>
            <a:off x="5968553"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29591" y="1410482"/>
            <a:ext cx="97811" cy="142270"/>
          </a:xfrm>
          <a:prstGeom prst="rect">
            <a:avLst/>
          </a:prstGeom>
        </p:spPr>
      </p:pic>
      <p:sp>
        <p:nvSpPr>
          <p:cNvPr id="51" name="TextBox 50"/>
          <p:cNvSpPr txBox="1"/>
          <p:nvPr/>
        </p:nvSpPr>
        <p:spPr>
          <a:xfrm>
            <a:off x="9626124" y="1026429"/>
            <a:ext cx="1064576" cy="146456"/>
          </a:xfrm>
          <a:prstGeom prst="rect">
            <a:avLst/>
          </a:prstGeom>
          <a:noFill/>
        </p:spPr>
        <p:txBody>
          <a:bodyPr wrap="none" lIns="0" rIns="0" tIns="0" bIns="0">
            <a:spAutoFit/>
          </a:bodyPr>
          <a:lstStyle/>
          <a:p>
            <a:r>
              <a:rPr sz="835" b="1">
                <a:solidFill>
                  <a:srgbClr val="6C7A89"/>
                </a:solidFill>
                <a:latin typeface="Calibri"/>
              </a:rPr>
              <a:t>CONSERVATIVE (2036)</a:t>
            </a:r>
          </a:p>
        </p:txBody>
      </p:sp>
      <p:sp>
        <p:nvSpPr>
          <p:cNvPr id="52" name="TextBox 51"/>
          <p:cNvSpPr txBox="1"/>
          <p:nvPr/>
        </p:nvSpPr>
        <p:spPr>
          <a:xfrm>
            <a:off x="9940478"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01516" y="1410482"/>
            <a:ext cx="97811" cy="142270"/>
          </a:xfrm>
          <a:prstGeom prst="rect">
            <a:avLst/>
          </a:prstGeom>
        </p:spPr>
      </p:pic>
      <p:sp>
        <p:nvSpPr>
          <p:cNvPr id="54" name="TextBox 53"/>
          <p:cNvSpPr txBox="1"/>
          <p:nvPr/>
        </p:nvSpPr>
        <p:spPr>
          <a:xfrm>
            <a:off x="2032418" y="278325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775037"/>
            <a:ext cx="108107" cy="157246"/>
          </a:xfrm>
          <a:prstGeom prst="rect">
            <a:avLst/>
          </a:prstGeom>
        </p:spPr>
      </p:pic>
      <p:sp>
        <p:nvSpPr>
          <p:cNvPr id="56" name="TextBox 55"/>
          <p:cNvSpPr txBox="1"/>
          <p:nvPr/>
        </p:nvSpPr>
        <p:spPr>
          <a:xfrm>
            <a:off x="2032418" y="252607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17862"/>
            <a:ext cx="108107" cy="157246"/>
          </a:xfrm>
          <a:prstGeom prst="rect">
            <a:avLst/>
          </a:prstGeom>
        </p:spPr>
      </p:pic>
      <p:sp>
        <p:nvSpPr>
          <p:cNvPr id="58" name="TextBox 57"/>
          <p:cNvSpPr txBox="1"/>
          <p:nvPr/>
        </p:nvSpPr>
        <p:spPr>
          <a:xfrm>
            <a:off x="2032418" y="226890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260687"/>
            <a:ext cx="108107" cy="157246"/>
          </a:xfrm>
          <a:prstGeom prst="rect">
            <a:avLst/>
          </a:prstGeom>
        </p:spPr>
      </p:pic>
      <p:sp>
        <p:nvSpPr>
          <p:cNvPr id="60" name="TextBox 59"/>
          <p:cNvSpPr txBox="1"/>
          <p:nvPr/>
        </p:nvSpPr>
        <p:spPr>
          <a:xfrm>
            <a:off x="276225" y="5200650"/>
            <a:ext cx="1993962" cy="194310"/>
          </a:xfrm>
          <a:prstGeom prst="rect">
            <a:avLst/>
          </a:prstGeom>
          <a:noFill/>
        </p:spPr>
        <p:txBody>
          <a:bodyPr wrap="none" lIns="0" rIns="0" tIns="0" bIns="0">
            <a:spAutoFit/>
          </a:bodyPr>
          <a:lstStyle/>
          <a:p>
            <a:r>
              <a:rPr sz="1150" b="0">
                <a:solidFill>
                  <a:srgbClr val="2E2E2E"/>
                </a:solidFill>
                <a:latin typeface="Calibri"/>
              </a:rPr>
              <a:t>▪ Optimistic: the market reaches</a:t>
            </a:r>
          </a:p>
        </p:txBody>
      </p:sp>
      <p:pic>
        <p:nvPicPr>
          <p:cNvPr id="61" name="Picture 60" descr="lock.png"/>
          <p:cNvPicPr>
            <a:picLocks noChangeAspect="1"/>
          </p:cNvPicPr>
          <p:nvPr/>
        </p:nvPicPr>
        <p:blipFill>
          <a:blip r:embed="rId5"/>
          <a:stretch>
            <a:fillRect/>
          </a:stretch>
        </p:blipFill>
        <p:spPr>
          <a:xfrm>
            <a:off x="2219340" y="5190426"/>
            <a:ext cx="134549" cy="195707"/>
          </a:xfrm>
          <a:prstGeom prst="rect">
            <a:avLst/>
          </a:prstGeom>
        </p:spPr>
      </p:pic>
      <p:sp>
        <p:nvSpPr>
          <p:cNvPr id="62" name="TextBox 61"/>
          <p:cNvSpPr txBox="1"/>
          <p:nvPr/>
        </p:nvSpPr>
        <p:spPr>
          <a:xfrm>
            <a:off x="2394450" y="520065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3547412" y="5190426"/>
            <a:ext cx="134549" cy="195707"/>
          </a:xfrm>
          <a:prstGeom prst="rect">
            <a:avLst/>
          </a:prstGeom>
        </p:spPr>
      </p:pic>
      <p:sp>
        <p:nvSpPr>
          <p:cNvPr id="64" name="TextBox 63"/>
          <p:cNvSpPr txBox="1"/>
          <p:nvPr/>
        </p:nvSpPr>
        <p:spPr>
          <a:xfrm>
            <a:off x="3722522" y="5200650"/>
            <a:ext cx="3799886" cy="194310"/>
          </a:xfrm>
          <a:prstGeom prst="rect">
            <a:avLst/>
          </a:prstGeom>
          <a:noFill/>
        </p:spPr>
        <p:txBody>
          <a:bodyPr wrap="none" lIns="0" rIns="0" tIns="0" bIns="0">
            <a:spAutoFit/>
          </a:bodyPr>
          <a:lstStyle/>
          <a:p>
            <a:r>
              <a:rPr sz="1150" b="0">
                <a:solidFill>
                  <a:srgbClr val="2E2E2E"/>
                </a:solidFill>
                <a:latin typeface="Calibri"/>
              </a:rPr>
              <a:t>CAGR, assuming faster adoption and stronger price realisation.</a:t>
            </a:r>
          </a:p>
        </p:txBody>
      </p:sp>
      <p:sp>
        <p:nvSpPr>
          <p:cNvPr id="65" name="TextBox 64"/>
          <p:cNvSpPr txBox="1"/>
          <p:nvPr/>
        </p:nvSpPr>
        <p:spPr>
          <a:xfrm>
            <a:off x="276225" y="5428488"/>
            <a:ext cx="2634071" cy="194310"/>
          </a:xfrm>
          <a:prstGeom prst="rect">
            <a:avLst/>
          </a:prstGeom>
          <a:noFill/>
        </p:spPr>
        <p:txBody>
          <a:bodyPr wrap="none" lIns="0" rIns="0" tIns="0" bIns="0">
            <a:spAutoFit/>
          </a:bodyPr>
          <a:lstStyle/>
          <a:p>
            <a:r>
              <a:rPr sz="1150" b="0">
                <a:solidFill>
                  <a:srgbClr val="2E2E2E"/>
                </a:solidFill>
                <a:latin typeface="Calibri"/>
              </a:rPr>
              <a:t>▪ Likely (base forecast): the market reaches</a:t>
            </a:r>
          </a:p>
        </p:txBody>
      </p:sp>
      <p:pic>
        <p:nvPicPr>
          <p:cNvPr id="66" name="Picture 65" descr="lock.png"/>
          <p:cNvPicPr>
            <a:picLocks noChangeAspect="1"/>
          </p:cNvPicPr>
          <p:nvPr/>
        </p:nvPicPr>
        <p:blipFill>
          <a:blip r:embed="rId5"/>
          <a:stretch>
            <a:fillRect/>
          </a:stretch>
        </p:blipFill>
        <p:spPr>
          <a:xfrm>
            <a:off x="2859450" y="5418264"/>
            <a:ext cx="134549" cy="195707"/>
          </a:xfrm>
          <a:prstGeom prst="rect">
            <a:avLst/>
          </a:prstGeom>
        </p:spPr>
      </p:pic>
      <p:sp>
        <p:nvSpPr>
          <p:cNvPr id="67" name="TextBox 66"/>
          <p:cNvSpPr txBox="1"/>
          <p:nvPr/>
        </p:nvSpPr>
        <p:spPr>
          <a:xfrm>
            <a:off x="3034559" y="5428488"/>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8" name="Picture 67" descr="lock.png"/>
          <p:cNvPicPr>
            <a:picLocks noChangeAspect="1"/>
          </p:cNvPicPr>
          <p:nvPr/>
        </p:nvPicPr>
        <p:blipFill>
          <a:blip r:embed="rId5"/>
          <a:stretch>
            <a:fillRect/>
          </a:stretch>
        </p:blipFill>
        <p:spPr>
          <a:xfrm>
            <a:off x="4187522" y="5418264"/>
            <a:ext cx="134549" cy="195707"/>
          </a:xfrm>
          <a:prstGeom prst="rect">
            <a:avLst/>
          </a:prstGeom>
        </p:spPr>
      </p:pic>
      <p:sp>
        <p:nvSpPr>
          <p:cNvPr id="69" name="TextBox 68"/>
          <p:cNvSpPr txBox="1"/>
          <p:nvPr/>
        </p:nvSpPr>
        <p:spPr>
          <a:xfrm>
            <a:off x="4362631" y="542848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656325"/>
            <a:ext cx="2155415" cy="194310"/>
          </a:xfrm>
          <a:prstGeom prst="rect">
            <a:avLst/>
          </a:prstGeom>
          <a:noFill/>
        </p:spPr>
        <p:txBody>
          <a:bodyPr wrap="none" lIns="0" rIns="0" tIns="0" bIns="0">
            <a:spAutoFit/>
          </a:bodyPr>
          <a:lstStyle/>
          <a:p>
            <a:r>
              <a:rPr sz="1150" b="0">
                <a:solidFill>
                  <a:srgbClr val="2E2E2E"/>
                </a:solidFill>
                <a:latin typeface="Calibri"/>
              </a:rPr>
              <a:t>▪ Conservative: the market reaches</a:t>
            </a:r>
          </a:p>
        </p:txBody>
      </p:sp>
      <p:pic>
        <p:nvPicPr>
          <p:cNvPr id="71" name="Picture 70" descr="lock.png"/>
          <p:cNvPicPr>
            <a:picLocks noChangeAspect="1"/>
          </p:cNvPicPr>
          <p:nvPr/>
        </p:nvPicPr>
        <p:blipFill>
          <a:blip r:embed="rId5"/>
          <a:stretch>
            <a:fillRect/>
          </a:stretch>
        </p:blipFill>
        <p:spPr>
          <a:xfrm>
            <a:off x="2380794" y="5646102"/>
            <a:ext cx="134549" cy="195707"/>
          </a:xfrm>
          <a:prstGeom prst="rect">
            <a:avLst/>
          </a:prstGeom>
        </p:spPr>
      </p:pic>
      <p:sp>
        <p:nvSpPr>
          <p:cNvPr id="72" name="TextBox 71"/>
          <p:cNvSpPr txBox="1"/>
          <p:nvPr/>
        </p:nvSpPr>
        <p:spPr>
          <a:xfrm>
            <a:off x="2555903" y="5656325"/>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73" name="Picture 72" descr="lock.png"/>
          <p:cNvPicPr>
            <a:picLocks noChangeAspect="1"/>
          </p:cNvPicPr>
          <p:nvPr/>
        </p:nvPicPr>
        <p:blipFill>
          <a:blip r:embed="rId5"/>
          <a:stretch>
            <a:fillRect/>
          </a:stretch>
        </p:blipFill>
        <p:spPr>
          <a:xfrm>
            <a:off x="3708866" y="5646102"/>
            <a:ext cx="134549" cy="195707"/>
          </a:xfrm>
          <a:prstGeom prst="rect">
            <a:avLst/>
          </a:prstGeom>
        </p:spPr>
      </p:pic>
      <p:sp>
        <p:nvSpPr>
          <p:cNvPr id="74" name="TextBox 73"/>
          <p:cNvSpPr txBox="1"/>
          <p:nvPr/>
        </p:nvSpPr>
        <p:spPr>
          <a:xfrm>
            <a:off x="3883975" y="5656325"/>
            <a:ext cx="3198000" cy="194310"/>
          </a:xfrm>
          <a:prstGeom prst="rect">
            <a:avLst/>
          </a:prstGeom>
          <a:noFill/>
        </p:spPr>
        <p:txBody>
          <a:bodyPr wrap="none" lIns="0" rIns="0" tIns="0" bIns="0">
            <a:spAutoFit/>
          </a:bodyPr>
          <a:lstStyle/>
          <a:p>
            <a:r>
              <a:rPr sz="1150" b="0">
                <a:solidFill>
                  <a:srgbClr val="2E2E2E"/>
                </a:solidFill>
                <a:latin typeface="Calibri"/>
              </a:rPr>
              <a:t>CAGR, assuming slower adoption and tighter pricing.</a:t>
            </a:r>
          </a:p>
        </p:txBody>
      </p:sp>
      <p:sp>
        <p:nvSpPr>
          <p:cNvPr id="75" name="TextBox 74"/>
          <p:cNvSpPr txBox="1"/>
          <p:nvPr/>
        </p:nvSpPr>
        <p:spPr>
          <a:xfrm>
            <a:off x="276225" y="5884163"/>
            <a:ext cx="4386671"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plus or minus</a:t>
            </a:r>
          </a:p>
        </p:txBody>
      </p:sp>
      <p:pic>
        <p:nvPicPr>
          <p:cNvPr id="76" name="Picture 75" descr="lock.png"/>
          <p:cNvPicPr>
            <a:picLocks noChangeAspect="1"/>
          </p:cNvPicPr>
          <p:nvPr/>
        </p:nvPicPr>
        <p:blipFill>
          <a:blip r:embed="rId5"/>
          <a:stretch>
            <a:fillRect/>
          </a:stretch>
        </p:blipFill>
        <p:spPr>
          <a:xfrm>
            <a:off x="4612050" y="5873940"/>
            <a:ext cx="134549" cy="195707"/>
          </a:xfrm>
          <a:prstGeom prst="rect">
            <a:avLst/>
          </a:prstGeom>
        </p:spPr>
      </p:pic>
      <p:sp>
        <p:nvSpPr>
          <p:cNvPr id="77" name="TextBox 76"/>
          <p:cNvSpPr txBox="1"/>
          <p:nvPr/>
        </p:nvSpPr>
        <p:spPr>
          <a:xfrm>
            <a:off x="4787159" y="5884163"/>
            <a:ext cx="1158168" cy="194310"/>
          </a:xfrm>
          <a:prstGeom prst="rect">
            <a:avLst/>
          </a:prstGeom>
          <a:noFill/>
        </p:spPr>
        <p:txBody>
          <a:bodyPr wrap="none" lIns="0" rIns="0" tIns="0" bIns="0">
            <a:spAutoFit/>
          </a:bodyPr>
          <a:lstStyle/>
          <a:p>
            <a:r>
              <a:rPr sz="1150" b="0">
                <a:solidFill>
                  <a:srgbClr val="2E2E2E"/>
                </a:solidFill>
                <a:latin typeface="Calibri"/>
              </a:rPr>
              <a:t>across 2026-2036.</a:t>
            </a:r>
          </a:p>
        </p:txBody>
      </p:sp>
      <p:sp>
        <p:nvSpPr>
          <p:cNvPr id="78" name="TextBox 77"/>
          <p:cNvSpPr txBox="1"/>
          <p:nvPr/>
        </p:nvSpPr>
        <p:spPr>
          <a:xfrm>
            <a:off x="276225" y="6112001"/>
            <a:ext cx="3829856" cy="194310"/>
          </a:xfrm>
          <a:prstGeom prst="rect">
            <a:avLst/>
          </a:prstGeom>
          <a:noFill/>
        </p:spPr>
        <p:txBody>
          <a:bodyPr wrap="none" lIns="0" rIns="0" tIns="0" bIns="0">
            <a:spAutoFit/>
          </a:bodyPr>
          <a:lstStyle/>
          <a:p>
            <a:r>
              <a:rPr sz="1150" b="0">
                <a:solidFill>
                  <a:srgbClr val="2E2E2E"/>
                </a:solidFill>
                <a:latin typeface="Calibri"/>
              </a:rPr>
              <a:t>▪ The gap between the optimistic and conservative outcomes is</a:t>
            </a:r>
          </a:p>
        </p:txBody>
      </p:sp>
      <p:pic>
        <p:nvPicPr>
          <p:cNvPr id="79" name="Picture 78" descr="lock.png"/>
          <p:cNvPicPr>
            <a:picLocks noChangeAspect="1"/>
          </p:cNvPicPr>
          <p:nvPr/>
        </p:nvPicPr>
        <p:blipFill>
          <a:blip r:embed="rId5"/>
          <a:stretch>
            <a:fillRect/>
          </a:stretch>
        </p:blipFill>
        <p:spPr>
          <a:xfrm>
            <a:off x="4055235" y="6101778"/>
            <a:ext cx="134549" cy="195707"/>
          </a:xfrm>
          <a:prstGeom prst="rect">
            <a:avLst/>
          </a:prstGeom>
        </p:spPr>
      </p:pic>
      <p:sp>
        <p:nvSpPr>
          <p:cNvPr id="80" name="TextBox 79"/>
          <p:cNvSpPr txBox="1"/>
          <p:nvPr/>
        </p:nvSpPr>
        <p:spPr>
          <a:xfrm>
            <a:off x="4230344" y="6112001"/>
            <a:ext cx="5341416" cy="194310"/>
          </a:xfrm>
          <a:prstGeom prst="rect">
            <a:avLst/>
          </a:prstGeom>
          <a:noFill/>
        </p:spPr>
        <p:txBody>
          <a:bodyPr wrap="none" lIns="0" rIns="0" tIns="0" bIns="0">
            <a:spAutoFit/>
          </a:bodyPr>
          <a:lstStyle/>
          <a:p>
            <a:r>
              <a:rPr sz="1150" b="0">
                <a:solidFill>
                  <a:srgbClr val="2E2E2E"/>
                </a:solidFill>
                <a:latin typeface="Calibri"/>
              </a:rPr>
              <a:t>US$ Mn in 2036, which frames the planning range for capacity and investment decisions.</a:t>
            </a:r>
          </a:p>
        </p:txBody>
      </p:sp>
      <p:sp>
        <p:nvSpPr>
          <p:cNvPr id="81" name="lockshield_36"/>
          <p:cNvSpPr/>
          <p:nvPr/>
        </p:nvSpPr>
        <p:spPr>
          <a:xfrm>
            <a:off x="6267450" y="21812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Western Europe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Western Europe Heavy Commercial Vehicle EPS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 Country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8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Western Europe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Germany</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Italy</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France</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U.K.</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2986444" y="2339922"/>
            <a:ext cx="175498" cy="255270"/>
          </a:xfrm>
          <a:prstGeom prst="rect">
            <a:avLst/>
          </a:prstGeom>
        </p:spPr>
      </p:pic>
      <p:pic>
        <p:nvPicPr>
          <p:cNvPr id="64" name="Picture 63" descr="lock.png"/>
          <p:cNvPicPr>
            <a:picLocks noChangeAspect="1"/>
          </p:cNvPicPr>
          <p:nvPr/>
        </p:nvPicPr>
        <p:blipFill>
          <a:blip r:embed="rId4"/>
          <a:stretch>
            <a:fillRect/>
          </a:stretch>
        </p:blipFill>
        <p:spPr>
          <a:xfrm>
            <a:off x="2986444" y="2832772"/>
            <a:ext cx="175498" cy="255270"/>
          </a:xfrm>
          <a:prstGeom prst="rect">
            <a:avLst/>
          </a:prstGeom>
        </p:spPr>
      </p:pic>
      <p:pic>
        <p:nvPicPr>
          <p:cNvPr id="65" name="Picture 64" descr="lock.png"/>
          <p:cNvPicPr>
            <a:picLocks noChangeAspect="1"/>
          </p:cNvPicPr>
          <p:nvPr/>
        </p:nvPicPr>
        <p:blipFill>
          <a:blip r:embed="rId4"/>
          <a:stretch>
            <a:fillRect/>
          </a:stretch>
        </p:blipFill>
        <p:spPr>
          <a:xfrm>
            <a:off x="2986444" y="3325622"/>
            <a:ext cx="175498" cy="255270"/>
          </a:xfrm>
          <a:prstGeom prst="rect">
            <a:avLst/>
          </a:prstGeom>
        </p:spPr>
      </p:pic>
      <p:pic>
        <p:nvPicPr>
          <p:cNvPr id="66" name="Picture 65" descr="lock.png"/>
          <p:cNvPicPr>
            <a:picLocks noChangeAspect="1"/>
          </p:cNvPicPr>
          <p:nvPr/>
        </p:nvPicPr>
        <p:blipFill>
          <a:blip r:embed="rId4"/>
          <a:stretch>
            <a:fillRect/>
          </a:stretch>
        </p:blipFill>
        <p:spPr>
          <a:xfrm>
            <a:off x="5515333" y="2339922"/>
            <a:ext cx="175498" cy="255270"/>
          </a:xfrm>
          <a:prstGeom prst="rect">
            <a:avLst/>
          </a:prstGeom>
        </p:spPr>
      </p:pic>
      <p:pic>
        <p:nvPicPr>
          <p:cNvPr id="67" name="Picture 66" descr="lock.png"/>
          <p:cNvPicPr>
            <a:picLocks noChangeAspect="1"/>
          </p:cNvPicPr>
          <p:nvPr/>
        </p:nvPicPr>
        <p:blipFill>
          <a:blip r:embed="rId4"/>
          <a:stretch>
            <a:fillRect/>
          </a:stretch>
        </p:blipFill>
        <p:spPr>
          <a:xfrm>
            <a:off x="5515333" y="2832772"/>
            <a:ext cx="175498" cy="255270"/>
          </a:xfrm>
          <a:prstGeom prst="rect">
            <a:avLst/>
          </a:prstGeom>
        </p:spPr>
      </p:pic>
      <p:pic>
        <p:nvPicPr>
          <p:cNvPr id="68" name="Picture 67" descr="lock.png"/>
          <p:cNvPicPr>
            <a:picLocks noChangeAspect="1"/>
          </p:cNvPicPr>
          <p:nvPr/>
        </p:nvPicPr>
        <p:blipFill>
          <a:blip r:embed="rId4"/>
          <a:stretch>
            <a:fillRect/>
          </a:stretch>
        </p:blipFill>
        <p:spPr>
          <a:xfrm>
            <a:off x="5515333" y="3325622"/>
            <a:ext cx="175498" cy="255270"/>
          </a:xfrm>
          <a:prstGeom prst="rect">
            <a:avLst/>
          </a:prstGeom>
        </p:spPr>
      </p:pic>
      <p:pic>
        <p:nvPicPr>
          <p:cNvPr id="69" name="Picture 68" descr="lock.png"/>
          <p:cNvPicPr>
            <a:picLocks noChangeAspect="1"/>
          </p:cNvPicPr>
          <p:nvPr/>
        </p:nvPicPr>
        <p:blipFill>
          <a:blip r:embed="rId4"/>
          <a:stretch>
            <a:fillRect/>
          </a:stretch>
        </p:blipFill>
        <p:spPr>
          <a:xfrm>
            <a:off x="8044220" y="2339922"/>
            <a:ext cx="175498" cy="255270"/>
          </a:xfrm>
          <a:prstGeom prst="rect">
            <a:avLst/>
          </a:prstGeom>
        </p:spPr>
      </p:pic>
      <p:pic>
        <p:nvPicPr>
          <p:cNvPr id="70" name="Picture 69" descr="lock.png"/>
          <p:cNvPicPr>
            <a:picLocks noChangeAspect="1"/>
          </p:cNvPicPr>
          <p:nvPr/>
        </p:nvPicPr>
        <p:blipFill>
          <a:blip r:embed="rId4"/>
          <a:stretch>
            <a:fillRect/>
          </a:stretch>
        </p:blipFill>
        <p:spPr>
          <a:xfrm>
            <a:off x="8044220" y="2832772"/>
            <a:ext cx="175498" cy="255270"/>
          </a:xfrm>
          <a:prstGeom prst="rect">
            <a:avLst/>
          </a:prstGeom>
        </p:spPr>
      </p:pic>
      <p:pic>
        <p:nvPicPr>
          <p:cNvPr id="71" name="Picture 70" descr="lock.png"/>
          <p:cNvPicPr>
            <a:picLocks noChangeAspect="1"/>
          </p:cNvPicPr>
          <p:nvPr/>
        </p:nvPicPr>
        <p:blipFill>
          <a:blip r:embed="rId4"/>
          <a:stretch>
            <a:fillRect/>
          </a:stretch>
        </p:blipFill>
        <p:spPr>
          <a:xfrm>
            <a:off x="8044220" y="3325622"/>
            <a:ext cx="175498" cy="255270"/>
          </a:xfrm>
          <a:prstGeom prst="rect">
            <a:avLst/>
          </a:prstGeom>
        </p:spPr>
      </p:pic>
      <p:pic>
        <p:nvPicPr>
          <p:cNvPr id="72" name="Picture 71" descr="lock.png"/>
          <p:cNvPicPr>
            <a:picLocks noChangeAspect="1"/>
          </p:cNvPicPr>
          <p:nvPr/>
        </p:nvPicPr>
        <p:blipFill>
          <a:blip r:embed="rId4"/>
          <a:stretch>
            <a:fillRect/>
          </a:stretch>
        </p:blipFill>
        <p:spPr>
          <a:xfrm>
            <a:off x="10573106" y="2339922"/>
            <a:ext cx="175498" cy="255270"/>
          </a:xfrm>
          <a:prstGeom prst="rect">
            <a:avLst/>
          </a:prstGeom>
        </p:spPr>
      </p:pic>
      <p:pic>
        <p:nvPicPr>
          <p:cNvPr id="73" name="Picture 72" descr="lock.png"/>
          <p:cNvPicPr>
            <a:picLocks noChangeAspect="1"/>
          </p:cNvPicPr>
          <p:nvPr/>
        </p:nvPicPr>
        <p:blipFill>
          <a:blip r:embed="rId4"/>
          <a:stretch>
            <a:fillRect/>
          </a:stretch>
        </p:blipFill>
        <p:spPr>
          <a:xfrm>
            <a:off x="10573106" y="2832772"/>
            <a:ext cx="175498" cy="255270"/>
          </a:xfrm>
          <a:prstGeom prst="rect">
            <a:avLst/>
          </a:prstGeom>
        </p:spPr>
      </p:pic>
      <p:pic>
        <p:nvPicPr>
          <p:cNvPr id="74" name="Picture 73" descr="lock.png"/>
          <p:cNvPicPr>
            <a:picLocks noChangeAspect="1"/>
          </p:cNvPicPr>
          <p:nvPr/>
        </p:nvPicPr>
        <p:blipFill>
          <a:blip r:embed="rId4"/>
          <a:stretch>
            <a:fillRect/>
          </a:stretch>
        </p:blipFill>
        <p:spPr>
          <a:xfrm>
            <a:off x="10573106" y="3325622"/>
            <a:ext cx="175498" cy="255270"/>
          </a:xfrm>
          <a:prstGeom prst="rect">
            <a:avLst/>
          </a:prstGeom>
        </p:spPr>
      </p:pic>
      <p:sp>
        <p:nvSpPr>
          <p:cNvPr id="75" name="TextBox 74"/>
          <p:cNvSpPr txBox="1"/>
          <p:nvPr/>
        </p:nvSpPr>
        <p:spPr>
          <a:xfrm>
            <a:off x="485775" y="4229437"/>
            <a:ext cx="2886843" cy="186689"/>
          </a:xfrm>
          <a:prstGeom prst="rect">
            <a:avLst/>
          </a:prstGeom>
          <a:noFill/>
        </p:spPr>
        <p:txBody>
          <a:bodyPr wrap="none" lIns="0" rIns="0" tIns="0" bIns="0">
            <a:spAutoFit/>
          </a:bodyPr>
          <a:lstStyle/>
          <a:p>
            <a:r>
              <a:rPr sz="1100" b="0">
                <a:solidFill>
                  <a:srgbClr val="2E2E2E"/>
                </a:solidFill>
                <a:latin typeface="Calibri"/>
              </a:rPr>
              <a:t>Germany heavy commercial vehicle EPS market is</a:t>
            </a:r>
          </a:p>
        </p:txBody>
      </p:sp>
      <p:sp>
        <p:nvSpPr>
          <p:cNvPr id="76" name="TextBox 75"/>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77" name="Picture 76" descr="lock.png"/>
          <p:cNvPicPr>
            <a:picLocks noChangeAspect="1"/>
          </p:cNvPicPr>
          <p:nvPr/>
        </p:nvPicPr>
        <p:blipFill>
          <a:blip r:embed="rId4"/>
          <a:stretch>
            <a:fillRect/>
          </a:stretch>
        </p:blipFill>
        <p:spPr>
          <a:xfrm>
            <a:off x="1678376" y="4387298"/>
            <a:ext cx="128699" cy="187198"/>
          </a:xfrm>
          <a:prstGeom prst="rect">
            <a:avLst/>
          </a:prstGeom>
        </p:spPr>
      </p:pic>
      <p:sp>
        <p:nvSpPr>
          <p:cNvPr id="78" name="TextBox 77"/>
          <p:cNvSpPr txBox="1"/>
          <p:nvPr/>
        </p:nvSpPr>
        <p:spPr>
          <a:xfrm>
            <a:off x="1845872" y="4397077"/>
            <a:ext cx="1448643" cy="186689"/>
          </a:xfrm>
          <a:prstGeom prst="rect">
            <a:avLst/>
          </a:prstGeom>
          <a:noFill/>
        </p:spPr>
        <p:txBody>
          <a:bodyPr wrap="none" lIns="0" rIns="0" tIns="0" bIns="0">
            <a:spAutoFit/>
          </a:bodyPr>
          <a:lstStyle/>
          <a:p>
            <a:r>
              <a:rPr sz="1100" b="0">
                <a:solidFill>
                  <a:srgbClr val="2E2E2E"/>
                </a:solidFill>
                <a:latin typeface="Calibri"/>
              </a:rPr>
              <a:t>X higher value than Italy</a:t>
            </a:r>
          </a:p>
        </p:txBody>
      </p:sp>
      <p:sp>
        <p:nvSpPr>
          <p:cNvPr id="79" name="TextBox 78"/>
          <p:cNvSpPr txBox="1"/>
          <p:nvPr/>
        </p:nvSpPr>
        <p:spPr>
          <a:xfrm>
            <a:off x="485775" y="4564717"/>
            <a:ext cx="2869108" cy="186689"/>
          </a:xfrm>
          <a:prstGeom prst="rect">
            <a:avLst/>
          </a:prstGeom>
          <a:noFill/>
        </p:spPr>
        <p:txBody>
          <a:bodyPr wrap="none" lIns="0" rIns="0" tIns="0" bIns="0">
            <a:spAutoFit/>
          </a:bodyPr>
          <a:lstStyle/>
          <a:p>
            <a:r>
              <a:rPr sz="1100" b="0">
                <a:solidFill>
                  <a:srgbClr val="2E2E2E"/>
                </a:solidFill>
                <a:latin typeface="Calibri"/>
              </a:rPr>
              <a:t>in 2036. Among heavy commercial vehicle EPS by</a:t>
            </a:r>
          </a:p>
        </p:txBody>
      </p:sp>
      <p:sp>
        <p:nvSpPr>
          <p:cNvPr id="80" name="TextBox 79"/>
          <p:cNvSpPr txBox="1"/>
          <p:nvPr/>
        </p:nvSpPr>
        <p:spPr>
          <a:xfrm>
            <a:off x="485775" y="4732357"/>
            <a:ext cx="2612082" cy="186689"/>
          </a:xfrm>
          <a:prstGeom prst="rect">
            <a:avLst/>
          </a:prstGeom>
          <a:noFill/>
        </p:spPr>
        <p:txBody>
          <a:bodyPr wrap="none" lIns="0" rIns="0" tIns="0" bIns="0">
            <a:spAutoFit/>
          </a:bodyPr>
          <a:lstStyle/>
          <a:p>
            <a:r>
              <a:rPr sz="1100" b="0">
                <a:solidFill>
                  <a:srgbClr val="2E2E2E"/>
                </a:solidFill>
                <a:latin typeface="Calibri"/>
              </a:rPr>
              <a:t>country, Germany is expected to witness the</a:t>
            </a:r>
          </a:p>
        </p:txBody>
      </p:sp>
      <p:sp>
        <p:nvSpPr>
          <p:cNvPr id="81" name="TextBox 80"/>
          <p:cNvSpPr txBox="1"/>
          <p:nvPr/>
        </p:nvSpPr>
        <p:spPr>
          <a:xfrm>
            <a:off x="485775" y="489999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82" name="Picture 81" descr="lock.png"/>
          <p:cNvPicPr>
            <a:picLocks noChangeAspect="1"/>
          </p:cNvPicPr>
          <p:nvPr/>
        </p:nvPicPr>
        <p:blipFill>
          <a:blip r:embed="rId4"/>
          <a:stretch>
            <a:fillRect/>
          </a:stretch>
        </p:blipFill>
        <p:spPr>
          <a:xfrm>
            <a:off x="1424607" y="4890217"/>
            <a:ext cx="128699" cy="187198"/>
          </a:xfrm>
          <a:prstGeom prst="rect">
            <a:avLst/>
          </a:prstGeom>
        </p:spPr>
      </p:pic>
      <p:sp>
        <p:nvSpPr>
          <p:cNvPr id="83" name="TextBox 82"/>
          <p:cNvSpPr txBox="1"/>
          <p:nvPr/>
        </p:nvSpPr>
        <p:spPr>
          <a:xfrm>
            <a:off x="1592103"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84" name="TextBox 83"/>
          <p:cNvSpPr txBox="1"/>
          <p:nvPr/>
        </p:nvSpPr>
        <p:spPr>
          <a:xfrm>
            <a:off x="485775" y="5117929"/>
            <a:ext cx="2722860" cy="186689"/>
          </a:xfrm>
          <a:prstGeom prst="rect">
            <a:avLst/>
          </a:prstGeom>
          <a:noFill/>
        </p:spPr>
        <p:txBody>
          <a:bodyPr wrap="none" lIns="0" rIns="0" tIns="0" bIns="0">
            <a:spAutoFit/>
          </a:bodyPr>
          <a:lstStyle/>
          <a:p>
            <a:r>
              <a:rPr sz="1100" b="0">
                <a:solidFill>
                  <a:srgbClr val="2E2E2E"/>
                </a:solidFill>
                <a:latin typeface="Calibri"/>
              </a:rPr>
              <a:t>In terms of value share by country, Germany is</a:t>
            </a:r>
          </a:p>
        </p:txBody>
      </p:sp>
      <p:sp>
        <p:nvSpPr>
          <p:cNvPr id="85" name="TextBox 84"/>
          <p:cNvSpPr txBox="1"/>
          <p:nvPr/>
        </p:nvSpPr>
        <p:spPr>
          <a:xfrm>
            <a:off x="485775" y="5285569"/>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6" name="Picture 85" descr="lock.png"/>
          <p:cNvPicPr>
            <a:picLocks noChangeAspect="1"/>
          </p:cNvPicPr>
          <p:nvPr/>
        </p:nvPicPr>
        <p:blipFill>
          <a:blip r:embed="rId4"/>
          <a:stretch>
            <a:fillRect/>
          </a:stretch>
        </p:blipFill>
        <p:spPr>
          <a:xfrm>
            <a:off x="2900479" y="5275790"/>
            <a:ext cx="128699" cy="187198"/>
          </a:xfrm>
          <a:prstGeom prst="rect">
            <a:avLst/>
          </a:prstGeom>
        </p:spPr>
      </p:pic>
      <p:sp>
        <p:nvSpPr>
          <p:cNvPr id="87" name="TextBox 86"/>
          <p:cNvSpPr txBox="1"/>
          <p:nvPr/>
        </p:nvSpPr>
        <p:spPr>
          <a:xfrm>
            <a:off x="3067974"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8" name="TextBox 87"/>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9" name="Picture 88" descr="lock.png"/>
          <p:cNvPicPr>
            <a:picLocks noChangeAspect="1"/>
          </p:cNvPicPr>
          <p:nvPr/>
        </p:nvPicPr>
        <p:blipFill>
          <a:blip r:embed="rId4"/>
          <a:stretch>
            <a:fillRect/>
          </a:stretch>
        </p:blipFill>
        <p:spPr>
          <a:xfrm>
            <a:off x="1576057" y="5443430"/>
            <a:ext cx="128699" cy="187198"/>
          </a:xfrm>
          <a:prstGeom prst="rect">
            <a:avLst/>
          </a:prstGeom>
        </p:spPr>
      </p:pic>
      <p:sp>
        <p:nvSpPr>
          <p:cNvPr id="90" name="TextBox 89"/>
          <p:cNvSpPr txBox="1"/>
          <p:nvPr/>
        </p:nvSpPr>
        <p:spPr>
          <a:xfrm>
            <a:off x="1743553" y="5453209"/>
            <a:ext cx="1302940" cy="186689"/>
          </a:xfrm>
          <a:prstGeom prst="rect">
            <a:avLst/>
          </a:prstGeom>
          <a:noFill/>
        </p:spPr>
        <p:txBody>
          <a:bodyPr wrap="none" lIns="0" rIns="0" tIns="0" bIns="0">
            <a:spAutoFit/>
          </a:bodyPr>
          <a:lstStyle/>
          <a:p>
            <a:r>
              <a:rPr sz="1100" b="0">
                <a:solidFill>
                  <a:srgbClr val="2E2E2E"/>
                </a:solidFill>
                <a:latin typeface="Calibri"/>
              </a:rPr>
              <a:t>share by 2036. Italy is</a:t>
            </a:r>
          </a:p>
        </p:txBody>
      </p:sp>
      <p:sp>
        <p:nvSpPr>
          <p:cNvPr id="91" name="TextBox 90"/>
          <p:cNvSpPr txBox="1"/>
          <p:nvPr/>
        </p:nvSpPr>
        <p:spPr>
          <a:xfrm>
            <a:off x="485775" y="5620849"/>
            <a:ext cx="1012353" cy="186689"/>
          </a:xfrm>
          <a:prstGeom prst="rect">
            <a:avLst/>
          </a:prstGeom>
          <a:noFill/>
        </p:spPr>
        <p:txBody>
          <a:bodyPr wrap="none" lIns="0" rIns="0" tIns="0" bIns="0">
            <a:spAutoFit/>
          </a:bodyPr>
          <a:lstStyle/>
          <a:p>
            <a:r>
              <a:rPr sz="1100" b="0">
                <a:solidFill>
                  <a:srgbClr val="2E2E2E"/>
                </a:solidFill>
                <a:latin typeface="Calibri"/>
              </a:rPr>
              <a:t>expected to lose</a:t>
            </a:r>
          </a:p>
        </p:txBody>
      </p:sp>
      <p:pic>
        <p:nvPicPr>
          <p:cNvPr id="92" name="Picture 91" descr="lock.png"/>
          <p:cNvPicPr>
            <a:picLocks noChangeAspect="1"/>
          </p:cNvPicPr>
          <p:nvPr/>
        </p:nvPicPr>
        <p:blipFill>
          <a:blip r:embed="rId4"/>
          <a:stretch>
            <a:fillRect/>
          </a:stretch>
        </p:blipFill>
        <p:spPr>
          <a:xfrm>
            <a:off x="1446180" y="5611070"/>
            <a:ext cx="128699" cy="187198"/>
          </a:xfrm>
          <a:prstGeom prst="rect">
            <a:avLst/>
          </a:prstGeom>
        </p:spPr>
      </p:pic>
      <p:sp>
        <p:nvSpPr>
          <p:cNvPr id="93" name="TextBox 92"/>
          <p:cNvSpPr txBox="1"/>
          <p:nvPr/>
        </p:nvSpPr>
        <p:spPr>
          <a:xfrm>
            <a:off x="1613676" y="5620849"/>
            <a:ext cx="1693664" cy="186689"/>
          </a:xfrm>
          <a:prstGeom prst="rect">
            <a:avLst/>
          </a:prstGeom>
          <a:noFill/>
        </p:spPr>
        <p:txBody>
          <a:bodyPr wrap="none" lIns="0" rIns="0" tIns="0" bIns="0">
            <a:spAutoFit/>
          </a:bodyPr>
          <a:lstStyle/>
          <a:p>
            <a:r>
              <a:rPr sz="1100" b="0">
                <a:solidFill>
                  <a:srgbClr val="2E2E2E"/>
                </a:solidFill>
                <a:latin typeface="Calibri"/>
              </a:rPr>
              <a:t>BPS over the forecast period</a:t>
            </a:r>
          </a:p>
        </p:txBody>
      </p:sp>
      <p:sp>
        <p:nvSpPr>
          <p:cNvPr id="94" name="TextBox 93"/>
          <p:cNvSpPr txBox="1"/>
          <p:nvPr/>
        </p:nvSpPr>
        <p:spPr>
          <a:xfrm>
            <a:off x="485775" y="5788489"/>
            <a:ext cx="877837" cy="186689"/>
          </a:xfrm>
          <a:prstGeom prst="rect">
            <a:avLst/>
          </a:prstGeom>
          <a:noFill/>
        </p:spPr>
        <p:txBody>
          <a:bodyPr wrap="none" lIns="0" rIns="0" tIns="0" bIns="0">
            <a:spAutoFit/>
          </a:bodyPr>
          <a:lstStyle/>
          <a:p>
            <a:r>
              <a:rPr sz="1100" b="0">
                <a:solidFill>
                  <a:srgbClr val="2E2E2E"/>
                </a:solidFill>
                <a:latin typeface="Calibri"/>
              </a:rPr>
              <a:t>to account for</a:t>
            </a:r>
          </a:p>
        </p:txBody>
      </p:sp>
      <p:pic>
        <p:nvPicPr>
          <p:cNvPr id="95" name="Picture 94" descr="lock.png"/>
          <p:cNvPicPr>
            <a:picLocks noChangeAspect="1"/>
          </p:cNvPicPr>
          <p:nvPr/>
        </p:nvPicPr>
        <p:blipFill>
          <a:blip r:embed="rId4"/>
          <a:stretch>
            <a:fillRect/>
          </a:stretch>
        </p:blipFill>
        <p:spPr>
          <a:xfrm>
            <a:off x="1311664" y="5778710"/>
            <a:ext cx="128699" cy="187198"/>
          </a:xfrm>
          <a:prstGeom prst="rect">
            <a:avLst/>
          </a:prstGeom>
        </p:spPr>
      </p:pic>
      <p:sp>
        <p:nvSpPr>
          <p:cNvPr id="96" name="TextBox 95"/>
          <p:cNvSpPr txBox="1"/>
          <p:nvPr/>
        </p:nvSpPr>
        <p:spPr>
          <a:xfrm>
            <a:off x="1479160" y="578848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7" name="TextBox 96"/>
          <p:cNvSpPr txBox="1"/>
          <p:nvPr/>
        </p:nvSpPr>
        <p:spPr>
          <a:xfrm>
            <a:off x="3838575" y="4229437"/>
            <a:ext cx="751234" cy="186689"/>
          </a:xfrm>
          <a:prstGeom prst="rect">
            <a:avLst/>
          </a:prstGeom>
          <a:noFill/>
        </p:spPr>
        <p:txBody>
          <a:bodyPr wrap="none" lIns="0" rIns="0" tIns="0" bIns="0">
            <a:spAutoFit/>
          </a:bodyPr>
          <a:lstStyle/>
          <a:p>
            <a:r>
              <a:rPr sz="1100" b="0">
                <a:solidFill>
                  <a:srgbClr val="2E2E2E"/>
                </a:solidFill>
                <a:latin typeface="Calibri"/>
              </a:rPr>
              <a:t>● Germany:</a:t>
            </a:r>
          </a:p>
        </p:txBody>
      </p:sp>
      <p:pic>
        <p:nvPicPr>
          <p:cNvPr id="98" name="Picture 97" descr="lock.png"/>
          <p:cNvPicPr>
            <a:picLocks noChangeAspect="1"/>
          </p:cNvPicPr>
          <p:nvPr/>
        </p:nvPicPr>
        <p:blipFill>
          <a:blip r:embed="rId4"/>
          <a:stretch>
            <a:fillRect/>
          </a:stretch>
        </p:blipFill>
        <p:spPr>
          <a:xfrm>
            <a:off x="4537861" y="4219658"/>
            <a:ext cx="128699" cy="187198"/>
          </a:xfrm>
          <a:prstGeom prst="rect">
            <a:avLst/>
          </a:prstGeom>
        </p:spPr>
      </p:pic>
      <p:sp>
        <p:nvSpPr>
          <p:cNvPr id="99" name="TextBox 98"/>
          <p:cNvSpPr txBox="1"/>
          <p:nvPr/>
        </p:nvSpPr>
        <p:spPr>
          <a:xfrm>
            <a:off x="470535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4"/>
          <a:stretch>
            <a:fillRect/>
          </a:stretch>
        </p:blipFill>
        <p:spPr>
          <a:xfrm>
            <a:off x="5564807" y="4219658"/>
            <a:ext cx="128699" cy="187198"/>
          </a:xfrm>
          <a:prstGeom prst="rect">
            <a:avLst/>
          </a:prstGeom>
        </p:spPr>
      </p:pic>
      <p:sp>
        <p:nvSpPr>
          <p:cNvPr id="101" name="TextBox 100"/>
          <p:cNvSpPr txBox="1"/>
          <p:nvPr/>
        </p:nvSpPr>
        <p:spPr>
          <a:xfrm>
            <a:off x="5732303"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02" name="TextBox 101"/>
          <p:cNvSpPr txBox="1"/>
          <p:nvPr/>
        </p:nvSpPr>
        <p:spPr>
          <a:xfrm>
            <a:off x="3838575" y="4447369"/>
            <a:ext cx="474017" cy="186689"/>
          </a:xfrm>
          <a:prstGeom prst="rect">
            <a:avLst/>
          </a:prstGeom>
          <a:noFill/>
        </p:spPr>
        <p:txBody>
          <a:bodyPr wrap="none" lIns="0" rIns="0" tIns="0" bIns="0">
            <a:spAutoFit/>
          </a:bodyPr>
          <a:lstStyle/>
          <a:p>
            <a:r>
              <a:rPr sz="1100" b="0">
                <a:solidFill>
                  <a:srgbClr val="2E2E2E"/>
                </a:solidFill>
                <a:latin typeface="Calibri"/>
              </a:rPr>
              <a:t>● Italy:</a:t>
            </a:r>
          </a:p>
        </p:txBody>
      </p:sp>
      <p:pic>
        <p:nvPicPr>
          <p:cNvPr id="103" name="Picture 102" descr="lock.png"/>
          <p:cNvPicPr>
            <a:picLocks noChangeAspect="1"/>
          </p:cNvPicPr>
          <p:nvPr/>
        </p:nvPicPr>
        <p:blipFill>
          <a:blip r:embed="rId4"/>
          <a:stretch>
            <a:fillRect/>
          </a:stretch>
        </p:blipFill>
        <p:spPr>
          <a:xfrm>
            <a:off x="4260644" y="4437590"/>
            <a:ext cx="128699" cy="187198"/>
          </a:xfrm>
          <a:prstGeom prst="rect">
            <a:avLst/>
          </a:prstGeom>
        </p:spPr>
      </p:pic>
      <p:sp>
        <p:nvSpPr>
          <p:cNvPr id="104" name="TextBox 103"/>
          <p:cNvSpPr txBox="1"/>
          <p:nvPr/>
        </p:nvSpPr>
        <p:spPr>
          <a:xfrm>
            <a:off x="442813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5" name="Picture 104" descr="lock.png"/>
          <p:cNvPicPr>
            <a:picLocks noChangeAspect="1"/>
          </p:cNvPicPr>
          <p:nvPr/>
        </p:nvPicPr>
        <p:blipFill>
          <a:blip r:embed="rId4"/>
          <a:stretch>
            <a:fillRect/>
          </a:stretch>
        </p:blipFill>
        <p:spPr>
          <a:xfrm>
            <a:off x="5287590" y="4437590"/>
            <a:ext cx="128699" cy="187198"/>
          </a:xfrm>
          <a:prstGeom prst="rect">
            <a:avLst/>
          </a:prstGeom>
        </p:spPr>
      </p:pic>
      <p:sp>
        <p:nvSpPr>
          <p:cNvPr id="106" name="TextBox 105"/>
          <p:cNvSpPr txBox="1"/>
          <p:nvPr/>
        </p:nvSpPr>
        <p:spPr>
          <a:xfrm>
            <a:off x="5455086"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07" name="TextBox 106"/>
          <p:cNvSpPr txBox="1"/>
          <p:nvPr/>
        </p:nvSpPr>
        <p:spPr>
          <a:xfrm>
            <a:off x="3838575" y="4665301"/>
            <a:ext cx="611534" cy="186689"/>
          </a:xfrm>
          <a:prstGeom prst="rect">
            <a:avLst/>
          </a:prstGeom>
          <a:noFill/>
        </p:spPr>
        <p:txBody>
          <a:bodyPr wrap="none" lIns="0" rIns="0" tIns="0" bIns="0">
            <a:spAutoFit/>
          </a:bodyPr>
          <a:lstStyle/>
          <a:p>
            <a:r>
              <a:rPr sz="1100" b="0">
                <a:solidFill>
                  <a:srgbClr val="2E2E2E"/>
                </a:solidFill>
                <a:latin typeface="Calibri"/>
              </a:rPr>
              <a:t>● France:</a:t>
            </a:r>
          </a:p>
        </p:txBody>
      </p:sp>
      <p:pic>
        <p:nvPicPr>
          <p:cNvPr id="108" name="Picture 107" descr="lock.png"/>
          <p:cNvPicPr>
            <a:picLocks noChangeAspect="1"/>
          </p:cNvPicPr>
          <p:nvPr/>
        </p:nvPicPr>
        <p:blipFill>
          <a:blip r:embed="rId4"/>
          <a:stretch>
            <a:fillRect/>
          </a:stretch>
        </p:blipFill>
        <p:spPr>
          <a:xfrm>
            <a:off x="4398161" y="4655522"/>
            <a:ext cx="128699" cy="187198"/>
          </a:xfrm>
          <a:prstGeom prst="rect">
            <a:avLst/>
          </a:prstGeom>
        </p:spPr>
      </p:pic>
      <p:sp>
        <p:nvSpPr>
          <p:cNvPr id="109" name="TextBox 108"/>
          <p:cNvSpPr txBox="1"/>
          <p:nvPr/>
        </p:nvSpPr>
        <p:spPr>
          <a:xfrm>
            <a:off x="456565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4"/>
          <a:stretch>
            <a:fillRect/>
          </a:stretch>
        </p:blipFill>
        <p:spPr>
          <a:xfrm>
            <a:off x="5425107" y="4655522"/>
            <a:ext cx="128699" cy="187198"/>
          </a:xfrm>
          <a:prstGeom prst="rect">
            <a:avLst/>
          </a:prstGeom>
        </p:spPr>
      </p:pic>
      <p:sp>
        <p:nvSpPr>
          <p:cNvPr id="111" name="TextBox 110"/>
          <p:cNvSpPr txBox="1"/>
          <p:nvPr/>
        </p:nvSpPr>
        <p:spPr>
          <a:xfrm>
            <a:off x="5592603"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12" name="TextBox 111"/>
          <p:cNvSpPr txBox="1"/>
          <p:nvPr/>
        </p:nvSpPr>
        <p:spPr>
          <a:xfrm>
            <a:off x="3838575" y="4883233"/>
            <a:ext cx="462284" cy="186689"/>
          </a:xfrm>
          <a:prstGeom prst="rect">
            <a:avLst/>
          </a:prstGeom>
          <a:noFill/>
        </p:spPr>
        <p:txBody>
          <a:bodyPr wrap="none" lIns="0" rIns="0" tIns="0" bIns="0">
            <a:spAutoFit/>
          </a:bodyPr>
          <a:lstStyle/>
          <a:p>
            <a:r>
              <a:rPr sz="1100" b="0">
                <a:solidFill>
                  <a:srgbClr val="2E2E2E"/>
                </a:solidFill>
                <a:latin typeface="Calibri"/>
              </a:rPr>
              <a:t>● U.K.:</a:t>
            </a:r>
          </a:p>
        </p:txBody>
      </p:sp>
      <p:pic>
        <p:nvPicPr>
          <p:cNvPr id="113" name="Picture 112" descr="lock.png"/>
          <p:cNvPicPr>
            <a:picLocks noChangeAspect="1"/>
          </p:cNvPicPr>
          <p:nvPr/>
        </p:nvPicPr>
        <p:blipFill>
          <a:blip r:embed="rId4"/>
          <a:stretch>
            <a:fillRect/>
          </a:stretch>
        </p:blipFill>
        <p:spPr>
          <a:xfrm>
            <a:off x="4248911" y="4873454"/>
            <a:ext cx="128699" cy="187198"/>
          </a:xfrm>
          <a:prstGeom prst="rect">
            <a:avLst/>
          </a:prstGeom>
        </p:spPr>
      </p:pic>
      <p:sp>
        <p:nvSpPr>
          <p:cNvPr id="114" name="TextBox 113"/>
          <p:cNvSpPr txBox="1"/>
          <p:nvPr/>
        </p:nvSpPr>
        <p:spPr>
          <a:xfrm>
            <a:off x="4416407"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4"/>
          <a:stretch>
            <a:fillRect/>
          </a:stretch>
        </p:blipFill>
        <p:spPr>
          <a:xfrm>
            <a:off x="5275857" y="4873454"/>
            <a:ext cx="128699" cy="187198"/>
          </a:xfrm>
          <a:prstGeom prst="rect">
            <a:avLst/>
          </a:prstGeom>
        </p:spPr>
      </p:pic>
      <p:sp>
        <p:nvSpPr>
          <p:cNvPr id="116" name="TextBox 115"/>
          <p:cNvSpPr txBox="1"/>
          <p:nvPr/>
        </p:nvSpPr>
        <p:spPr>
          <a:xfrm>
            <a:off x="5443353" y="4883233"/>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17" name="TextBox 116"/>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Western Europe market is projected to grow at</a:t>
            </a:r>
          </a:p>
        </p:txBody>
      </p:sp>
      <p:sp>
        <p:nvSpPr>
          <p:cNvPr id="118" name="TextBox 117"/>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119" name="Picture 118" descr="lock.png"/>
          <p:cNvPicPr>
            <a:picLocks noChangeAspect="1"/>
          </p:cNvPicPr>
          <p:nvPr/>
        </p:nvPicPr>
        <p:blipFill>
          <a:blip r:embed="rId4"/>
          <a:stretch>
            <a:fillRect/>
          </a:stretch>
        </p:blipFill>
        <p:spPr>
          <a:xfrm>
            <a:off x="9154084" y="6007677"/>
            <a:ext cx="134549" cy="195707"/>
          </a:xfrm>
          <a:prstGeom prst="rect">
            <a:avLst/>
          </a:prstGeom>
        </p:spPr>
      </p:pic>
      <p:sp>
        <p:nvSpPr>
          <p:cNvPr id="120" name="TextBox 119"/>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 Country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8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Western Europe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Spain</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t>
            </a:r>
          </a:p>
        </p:txBody>
      </p:sp>
      <p:sp>
        <p:nvSpPr>
          <p:cNvPr id="25" name="Oval 24"/>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BENELUX</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t>
            </a:r>
          </a:p>
        </p:txBody>
      </p:sp>
      <p:sp>
        <p:nvSpPr>
          <p:cNvPr id="32" name="Oval 31"/>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Nordics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t>
            </a:r>
          </a:p>
        </p:txBody>
      </p:sp>
      <p:sp>
        <p:nvSpPr>
          <p:cNvPr id="39" name="Oval 38"/>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Rest of Western Europe</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46" name="Oval 45"/>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2986444" y="2339922"/>
            <a:ext cx="175498" cy="255270"/>
          </a:xfrm>
          <a:prstGeom prst="rect">
            <a:avLst/>
          </a:prstGeom>
        </p:spPr>
      </p:pic>
      <p:pic>
        <p:nvPicPr>
          <p:cNvPr id="54" name="Picture 53" descr="lock.png"/>
          <p:cNvPicPr>
            <a:picLocks noChangeAspect="1"/>
          </p:cNvPicPr>
          <p:nvPr/>
        </p:nvPicPr>
        <p:blipFill>
          <a:blip r:embed="rId4"/>
          <a:stretch>
            <a:fillRect/>
          </a:stretch>
        </p:blipFill>
        <p:spPr>
          <a:xfrm>
            <a:off x="2986444" y="2832772"/>
            <a:ext cx="175498" cy="255270"/>
          </a:xfrm>
          <a:prstGeom prst="rect">
            <a:avLst/>
          </a:prstGeom>
        </p:spPr>
      </p:pic>
      <p:pic>
        <p:nvPicPr>
          <p:cNvPr id="55" name="Picture 54" descr="lock.png"/>
          <p:cNvPicPr>
            <a:picLocks noChangeAspect="1"/>
          </p:cNvPicPr>
          <p:nvPr/>
        </p:nvPicPr>
        <p:blipFill>
          <a:blip r:embed="rId4"/>
          <a:stretch>
            <a:fillRect/>
          </a:stretch>
        </p:blipFill>
        <p:spPr>
          <a:xfrm>
            <a:off x="2986444" y="3325622"/>
            <a:ext cx="175498" cy="255270"/>
          </a:xfrm>
          <a:prstGeom prst="rect">
            <a:avLst/>
          </a:prstGeom>
        </p:spPr>
      </p:pic>
      <p:pic>
        <p:nvPicPr>
          <p:cNvPr id="56" name="Picture 55" descr="lock.png"/>
          <p:cNvPicPr>
            <a:picLocks noChangeAspect="1"/>
          </p:cNvPicPr>
          <p:nvPr/>
        </p:nvPicPr>
        <p:blipFill>
          <a:blip r:embed="rId4"/>
          <a:stretch>
            <a:fillRect/>
          </a:stretch>
        </p:blipFill>
        <p:spPr>
          <a:xfrm>
            <a:off x="5515333" y="2339922"/>
            <a:ext cx="175498" cy="255270"/>
          </a:xfrm>
          <a:prstGeom prst="rect">
            <a:avLst/>
          </a:prstGeom>
        </p:spPr>
      </p:pic>
      <p:pic>
        <p:nvPicPr>
          <p:cNvPr id="57" name="Picture 56" descr="lock.png"/>
          <p:cNvPicPr>
            <a:picLocks noChangeAspect="1"/>
          </p:cNvPicPr>
          <p:nvPr/>
        </p:nvPicPr>
        <p:blipFill>
          <a:blip r:embed="rId4"/>
          <a:stretch>
            <a:fillRect/>
          </a:stretch>
        </p:blipFill>
        <p:spPr>
          <a:xfrm>
            <a:off x="5515333" y="2832772"/>
            <a:ext cx="175498" cy="255270"/>
          </a:xfrm>
          <a:prstGeom prst="rect">
            <a:avLst/>
          </a:prstGeom>
        </p:spPr>
      </p:pic>
      <p:pic>
        <p:nvPicPr>
          <p:cNvPr id="58" name="Picture 57" descr="lock.png"/>
          <p:cNvPicPr>
            <a:picLocks noChangeAspect="1"/>
          </p:cNvPicPr>
          <p:nvPr/>
        </p:nvPicPr>
        <p:blipFill>
          <a:blip r:embed="rId4"/>
          <a:stretch>
            <a:fillRect/>
          </a:stretch>
        </p:blipFill>
        <p:spPr>
          <a:xfrm>
            <a:off x="5515333" y="3325622"/>
            <a:ext cx="175498" cy="255270"/>
          </a:xfrm>
          <a:prstGeom prst="rect">
            <a:avLst/>
          </a:prstGeom>
        </p:spPr>
      </p:pic>
      <p:pic>
        <p:nvPicPr>
          <p:cNvPr id="59" name="Picture 58" descr="lock.png"/>
          <p:cNvPicPr>
            <a:picLocks noChangeAspect="1"/>
          </p:cNvPicPr>
          <p:nvPr/>
        </p:nvPicPr>
        <p:blipFill>
          <a:blip r:embed="rId4"/>
          <a:stretch>
            <a:fillRect/>
          </a:stretch>
        </p:blipFill>
        <p:spPr>
          <a:xfrm>
            <a:off x="8044220" y="2339922"/>
            <a:ext cx="175498" cy="255270"/>
          </a:xfrm>
          <a:prstGeom prst="rect">
            <a:avLst/>
          </a:prstGeom>
        </p:spPr>
      </p:pic>
      <p:pic>
        <p:nvPicPr>
          <p:cNvPr id="60" name="Picture 59" descr="lock.png"/>
          <p:cNvPicPr>
            <a:picLocks noChangeAspect="1"/>
          </p:cNvPicPr>
          <p:nvPr/>
        </p:nvPicPr>
        <p:blipFill>
          <a:blip r:embed="rId4"/>
          <a:stretch>
            <a:fillRect/>
          </a:stretch>
        </p:blipFill>
        <p:spPr>
          <a:xfrm>
            <a:off x="8044220" y="2832772"/>
            <a:ext cx="175498" cy="255270"/>
          </a:xfrm>
          <a:prstGeom prst="rect">
            <a:avLst/>
          </a:prstGeom>
        </p:spPr>
      </p:pic>
      <p:pic>
        <p:nvPicPr>
          <p:cNvPr id="61" name="Picture 60" descr="lock.png"/>
          <p:cNvPicPr>
            <a:picLocks noChangeAspect="1"/>
          </p:cNvPicPr>
          <p:nvPr/>
        </p:nvPicPr>
        <p:blipFill>
          <a:blip r:embed="rId4"/>
          <a:stretch>
            <a:fillRect/>
          </a:stretch>
        </p:blipFill>
        <p:spPr>
          <a:xfrm>
            <a:off x="8044220" y="3325622"/>
            <a:ext cx="175498" cy="255270"/>
          </a:xfrm>
          <a:prstGeom prst="rect">
            <a:avLst/>
          </a:prstGeom>
        </p:spPr>
      </p:pic>
      <p:pic>
        <p:nvPicPr>
          <p:cNvPr id="62" name="Picture 61" descr="lock.png"/>
          <p:cNvPicPr>
            <a:picLocks noChangeAspect="1"/>
          </p:cNvPicPr>
          <p:nvPr/>
        </p:nvPicPr>
        <p:blipFill>
          <a:blip r:embed="rId4"/>
          <a:stretch>
            <a:fillRect/>
          </a:stretch>
        </p:blipFill>
        <p:spPr>
          <a:xfrm>
            <a:off x="10573106" y="2339922"/>
            <a:ext cx="175498" cy="255270"/>
          </a:xfrm>
          <a:prstGeom prst="rect">
            <a:avLst/>
          </a:prstGeom>
        </p:spPr>
      </p:pic>
      <p:pic>
        <p:nvPicPr>
          <p:cNvPr id="63" name="Picture 62" descr="lock.png"/>
          <p:cNvPicPr>
            <a:picLocks noChangeAspect="1"/>
          </p:cNvPicPr>
          <p:nvPr/>
        </p:nvPicPr>
        <p:blipFill>
          <a:blip r:embed="rId4"/>
          <a:stretch>
            <a:fillRect/>
          </a:stretch>
        </p:blipFill>
        <p:spPr>
          <a:xfrm>
            <a:off x="10573106" y="2832772"/>
            <a:ext cx="175498" cy="255270"/>
          </a:xfrm>
          <a:prstGeom prst="rect">
            <a:avLst/>
          </a:prstGeom>
        </p:spPr>
      </p:pic>
      <p:pic>
        <p:nvPicPr>
          <p:cNvPr id="64" name="Picture 63" descr="lock.png"/>
          <p:cNvPicPr>
            <a:picLocks noChangeAspect="1"/>
          </p:cNvPicPr>
          <p:nvPr/>
        </p:nvPicPr>
        <p:blipFill>
          <a:blip r:embed="rId4"/>
          <a:stretch>
            <a:fillRect/>
          </a:stretch>
        </p:blipFill>
        <p:spPr>
          <a:xfrm>
            <a:off x="10573106" y="3325622"/>
            <a:ext cx="175498" cy="255270"/>
          </a:xfrm>
          <a:prstGeom prst="rect">
            <a:avLst/>
          </a:prstGeom>
        </p:spPr>
      </p:pic>
      <p:sp>
        <p:nvSpPr>
          <p:cNvPr id="65" name="TextBox 64"/>
          <p:cNvSpPr txBox="1"/>
          <p:nvPr/>
        </p:nvSpPr>
        <p:spPr>
          <a:xfrm>
            <a:off x="485775" y="4229437"/>
            <a:ext cx="539501" cy="186689"/>
          </a:xfrm>
          <a:prstGeom prst="rect">
            <a:avLst/>
          </a:prstGeom>
          <a:noFill/>
        </p:spPr>
        <p:txBody>
          <a:bodyPr wrap="none" lIns="0" rIns="0" tIns="0" bIns="0">
            <a:spAutoFit/>
          </a:bodyPr>
          <a:lstStyle/>
          <a:p>
            <a:r>
              <a:rPr sz="1100" b="0">
                <a:solidFill>
                  <a:srgbClr val="2E2E2E"/>
                </a:solidFill>
                <a:latin typeface="Calibri"/>
              </a:rPr>
              <a:t>● Spain:</a:t>
            </a:r>
          </a:p>
        </p:txBody>
      </p:sp>
      <p:pic>
        <p:nvPicPr>
          <p:cNvPr id="66" name="Picture 65" descr="lock.png"/>
          <p:cNvPicPr>
            <a:picLocks noChangeAspect="1"/>
          </p:cNvPicPr>
          <p:nvPr/>
        </p:nvPicPr>
        <p:blipFill>
          <a:blip r:embed="rId4"/>
          <a:stretch>
            <a:fillRect/>
          </a:stretch>
        </p:blipFill>
        <p:spPr>
          <a:xfrm>
            <a:off x="973328" y="4219658"/>
            <a:ext cx="128699" cy="187198"/>
          </a:xfrm>
          <a:prstGeom prst="rect">
            <a:avLst/>
          </a:prstGeom>
        </p:spPr>
      </p:pic>
      <p:sp>
        <p:nvSpPr>
          <p:cNvPr id="67" name="TextBox 66"/>
          <p:cNvSpPr txBox="1"/>
          <p:nvPr/>
        </p:nvSpPr>
        <p:spPr>
          <a:xfrm>
            <a:off x="114082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8" name="Picture 67" descr="lock.png"/>
          <p:cNvPicPr>
            <a:picLocks noChangeAspect="1"/>
          </p:cNvPicPr>
          <p:nvPr/>
        </p:nvPicPr>
        <p:blipFill>
          <a:blip r:embed="rId4"/>
          <a:stretch>
            <a:fillRect/>
          </a:stretch>
        </p:blipFill>
        <p:spPr>
          <a:xfrm>
            <a:off x="2000274" y="4219658"/>
            <a:ext cx="128699" cy="187198"/>
          </a:xfrm>
          <a:prstGeom prst="rect">
            <a:avLst/>
          </a:prstGeom>
        </p:spPr>
      </p:pic>
      <p:sp>
        <p:nvSpPr>
          <p:cNvPr id="69" name="TextBox 68"/>
          <p:cNvSpPr txBox="1"/>
          <p:nvPr/>
        </p:nvSpPr>
        <p:spPr>
          <a:xfrm>
            <a:off x="2167770" y="422943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70" name="TextBox 69"/>
          <p:cNvSpPr txBox="1"/>
          <p:nvPr/>
        </p:nvSpPr>
        <p:spPr>
          <a:xfrm>
            <a:off x="485775" y="4447369"/>
            <a:ext cx="753370" cy="186689"/>
          </a:xfrm>
          <a:prstGeom prst="rect">
            <a:avLst/>
          </a:prstGeom>
          <a:noFill/>
        </p:spPr>
        <p:txBody>
          <a:bodyPr wrap="none" lIns="0" rIns="0" tIns="0" bIns="0">
            <a:spAutoFit/>
          </a:bodyPr>
          <a:lstStyle/>
          <a:p>
            <a:r>
              <a:rPr sz="1100" b="0">
                <a:solidFill>
                  <a:srgbClr val="2E2E2E"/>
                </a:solidFill>
                <a:latin typeface="Calibri"/>
              </a:rPr>
              <a:t>● BENELUX:</a:t>
            </a:r>
          </a:p>
        </p:txBody>
      </p:sp>
      <p:pic>
        <p:nvPicPr>
          <p:cNvPr id="71" name="Picture 70" descr="lock.png"/>
          <p:cNvPicPr>
            <a:picLocks noChangeAspect="1"/>
          </p:cNvPicPr>
          <p:nvPr/>
        </p:nvPicPr>
        <p:blipFill>
          <a:blip r:embed="rId4"/>
          <a:stretch>
            <a:fillRect/>
          </a:stretch>
        </p:blipFill>
        <p:spPr>
          <a:xfrm>
            <a:off x="1187197" y="4437590"/>
            <a:ext cx="128699" cy="187198"/>
          </a:xfrm>
          <a:prstGeom prst="rect">
            <a:avLst/>
          </a:prstGeom>
        </p:spPr>
      </p:pic>
      <p:sp>
        <p:nvSpPr>
          <p:cNvPr id="72" name="TextBox 71"/>
          <p:cNvSpPr txBox="1"/>
          <p:nvPr/>
        </p:nvSpPr>
        <p:spPr>
          <a:xfrm>
            <a:off x="13546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3" name="Picture 72" descr="lock.png"/>
          <p:cNvPicPr>
            <a:picLocks noChangeAspect="1"/>
          </p:cNvPicPr>
          <p:nvPr/>
        </p:nvPicPr>
        <p:blipFill>
          <a:blip r:embed="rId4"/>
          <a:stretch>
            <a:fillRect/>
          </a:stretch>
        </p:blipFill>
        <p:spPr>
          <a:xfrm>
            <a:off x="2214143" y="4437590"/>
            <a:ext cx="128699" cy="187198"/>
          </a:xfrm>
          <a:prstGeom prst="rect">
            <a:avLst/>
          </a:prstGeom>
        </p:spPr>
      </p:pic>
      <p:sp>
        <p:nvSpPr>
          <p:cNvPr id="74" name="TextBox 73"/>
          <p:cNvSpPr txBox="1"/>
          <p:nvPr/>
        </p:nvSpPr>
        <p:spPr>
          <a:xfrm>
            <a:off x="238163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75" name="TextBox 74"/>
          <p:cNvSpPr txBox="1"/>
          <p:nvPr/>
        </p:nvSpPr>
        <p:spPr>
          <a:xfrm>
            <a:off x="485775" y="4665301"/>
            <a:ext cx="661739" cy="186689"/>
          </a:xfrm>
          <a:prstGeom prst="rect">
            <a:avLst/>
          </a:prstGeom>
          <a:noFill/>
        </p:spPr>
        <p:txBody>
          <a:bodyPr wrap="none" lIns="0" rIns="0" tIns="0" bIns="0">
            <a:spAutoFit/>
          </a:bodyPr>
          <a:lstStyle/>
          <a:p>
            <a:r>
              <a:rPr sz="1100" b="0">
                <a:solidFill>
                  <a:srgbClr val="2E2E2E"/>
                </a:solidFill>
                <a:latin typeface="Calibri"/>
              </a:rPr>
              <a:t>● Nordics:</a:t>
            </a:r>
          </a:p>
        </p:txBody>
      </p:sp>
      <p:pic>
        <p:nvPicPr>
          <p:cNvPr id="76" name="Picture 75" descr="lock.png"/>
          <p:cNvPicPr>
            <a:picLocks noChangeAspect="1"/>
          </p:cNvPicPr>
          <p:nvPr/>
        </p:nvPicPr>
        <p:blipFill>
          <a:blip r:embed="rId4"/>
          <a:stretch>
            <a:fillRect/>
          </a:stretch>
        </p:blipFill>
        <p:spPr>
          <a:xfrm>
            <a:off x="1095566" y="4655522"/>
            <a:ext cx="128699" cy="187198"/>
          </a:xfrm>
          <a:prstGeom prst="rect">
            <a:avLst/>
          </a:prstGeom>
        </p:spPr>
      </p:pic>
      <p:sp>
        <p:nvSpPr>
          <p:cNvPr id="77" name="TextBox 76"/>
          <p:cNvSpPr txBox="1"/>
          <p:nvPr/>
        </p:nvSpPr>
        <p:spPr>
          <a:xfrm>
            <a:off x="126306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4"/>
          <a:stretch>
            <a:fillRect/>
          </a:stretch>
        </p:blipFill>
        <p:spPr>
          <a:xfrm>
            <a:off x="2122512" y="4655522"/>
            <a:ext cx="128699" cy="187198"/>
          </a:xfrm>
          <a:prstGeom prst="rect">
            <a:avLst/>
          </a:prstGeom>
        </p:spPr>
      </p:pic>
      <p:sp>
        <p:nvSpPr>
          <p:cNvPr id="79" name="TextBox 78"/>
          <p:cNvSpPr txBox="1"/>
          <p:nvPr/>
        </p:nvSpPr>
        <p:spPr>
          <a:xfrm>
            <a:off x="2290007"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80" name="TextBox 79"/>
          <p:cNvSpPr txBox="1"/>
          <p:nvPr/>
        </p:nvSpPr>
        <p:spPr>
          <a:xfrm>
            <a:off x="485775" y="4883233"/>
            <a:ext cx="1582067" cy="186689"/>
          </a:xfrm>
          <a:prstGeom prst="rect">
            <a:avLst/>
          </a:prstGeom>
          <a:noFill/>
        </p:spPr>
        <p:txBody>
          <a:bodyPr wrap="none" lIns="0" rIns="0" tIns="0" bIns="0">
            <a:spAutoFit/>
          </a:bodyPr>
          <a:lstStyle/>
          <a:p>
            <a:r>
              <a:rPr sz="1100" b="0">
                <a:solidFill>
                  <a:srgbClr val="2E2E2E"/>
                </a:solidFill>
                <a:latin typeface="Calibri"/>
              </a:rPr>
              <a:t>● Rest of Western Europe:</a:t>
            </a:r>
          </a:p>
        </p:txBody>
      </p:sp>
      <p:pic>
        <p:nvPicPr>
          <p:cNvPr id="81" name="Picture 80" descr="lock.png"/>
          <p:cNvPicPr>
            <a:picLocks noChangeAspect="1"/>
          </p:cNvPicPr>
          <p:nvPr/>
        </p:nvPicPr>
        <p:blipFill>
          <a:blip r:embed="rId4"/>
          <a:stretch>
            <a:fillRect/>
          </a:stretch>
        </p:blipFill>
        <p:spPr>
          <a:xfrm>
            <a:off x="2015894" y="4873454"/>
            <a:ext cx="128699" cy="187198"/>
          </a:xfrm>
          <a:prstGeom prst="rect">
            <a:avLst/>
          </a:prstGeom>
        </p:spPr>
      </p:pic>
      <p:sp>
        <p:nvSpPr>
          <p:cNvPr id="82" name="TextBox 81"/>
          <p:cNvSpPr txBox="1"/>
          <p:nvPr/>
        </p:nvSpPr>
        <p:spPr>
          <a:xfrm>
            <a:off x="218339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3" name="Picture 82" descr="lock.png"/>
          <p:cNvPicPr>
            <a:picLocks noChangeAspect="1"/>
          </p:cNvPicPr>
          <p:nvPr/>
        </p:nvPicPr>
        <p:blipFill>
          <a:blip r:embed="rId4"/>
          <a:stretch>
            <a:fillRect/>
          </a:stretch>
        </p:blipFill>
        <p:spPr>
          <a:xfrm>
            <a:off x="3042840" y="4873454"/>
            <a:ext cx="128699" cy="187198"/>
          </a:xfrm>
          <a:prstGeom prst="rect">
            <a:avLst/>
          </a:prstGeom>
        </p:spPr>
      </p:pic>
      <p:sp>
        <p:nvSpPr>
          <p:cNvPr id="84" name="TextBox 83"/>
          <p:cNvSpPr txBox="1"/>
          <p:nvPr/>
        </p:nvSpPr>
        <p:spPr>
          <a:xfrm>
            <a:off x="3210336" y="4883233"/>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00514"/>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49575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41955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Rest of Western Europe</a:t>
            </a:r>
          </a:p>
        </p:txBody>
      </p:sp>
      <p:sp>
        <p:nvSpPr>
          <p:cNvPr id="18" name="BPS Value 1"/>
          <p:cNvSpPr txBox="1"/>
          <p:nvPr/>
        </p:nvSpPr>
        <p:spPr>
          <a:xfrm>
            <a:off x="6305550" y="148146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62865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62389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54769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Nordics</a:t>
            </a:r>
          </a:p>
        </p:txBody>
      </p:sp>
      <p:sp>
        <p:nvSpPr>
          <p:cNvPr id="22" name="BPS Value 2"/>
          <p:cNvSpPr txBox="1"/>
          <p:nvPr/>
        </p:nvSpPr>
        <p:spPr>
          <a:xfrm>
            <a:off x="6305550" y="16096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181257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180781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173161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BENELUX</a:t>
            </a:r>
          </a:p>
        </p:txBody>
      </p:sp>
      <p:sp>
        <p:nvSpPr>
          <p:cNvPr id="26" name="BPS Value 3"/>
          <p:cNvSpPr txBox="1"/>
          <p:nvPr/>
        </p:nvSpPr>
        <p:spPr>
          <a:xfrm>
            <a:off x="6305550" y="179352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03177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02700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195080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Spain</a:t>
            </a:r>
          </a:p>
        </p:txBody>
      </p:sp>
      <p:sp>
        <p:nvSpPr>
          <p:cNvPr id="30" name="BPS Value 4"/>
          <p:cNvSpPr txBox="1"/>
          <p:nvPr/>
        </p:nvSpPr>
        <p:spPr>
          <a:xfrm>
            <a:off x="6305550" y="201272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29458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22898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213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U.K.</a:t>
            </a:r>
          </a:p>
        </p:txBody>
      </p:sp>
      <p:sp>
        <p:nvSpPr>
          <p:cNvPr id="34" name="BPS Value 5"/>
          <p:cNvSpPr txBox="1"/>
          <p:nvPr/>
        </p:nvSpPr>
        <p:spPr>
          <a:xfrm>
            <a:off x="6305550" y="227553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266699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26622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258602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France</a:t>
            </a:r>
          </a:p>
        </p:txBody>
      </p:sp>
      <p:sp>
        <p:nvSpPr>
          <p:cNvPr id="38" name="BPS Value 6"/>
          <p:cNvSpPr txBox="1"/>
          <p:nvPr/>
        </p:nvSpPr>
        <p:spPr>
          <a:xfrm>
            <a:off x="6305550" y="26479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551045" y="318802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4712970" y="31832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31070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Italy</a:t>
            </a:r>
          </a:p>
        </p:txBody>
      </p:sp>
      <p:sp>
        <p:nvSpPr>
          <p:cNvPr id="42" name="BPS Value 7"/>
          <p:cNvSpPr txBox="1"/>
          <p:nvPr/>
        </p:nvSpPr>
        <p:spPr>
          <a:xfrm>
            <a:off x="6305550" y="31689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551045" y="430184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a:off x="4712970" y="42970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4855845" y="42208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Germany</a:t>
            </a:r>
          </a:p>
        </p:txBody>
      </p:sp>
      <p:sp>
        <p:nvSpPr>
          <p:cNvPr id="46" name="BPS Value 8"/>
          <p:cNvSpPr txBox="1"/>
          <p:nvPr/>
        </p:nvSpPr>
        <p:spPr>
          <a:xfrm>
            <a:off x="6305550" y="428279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7" name="Rounded Rectangle 46"/>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9" name="Rectangle 48"/>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t>
            </a:r>
          </a:p>
        </p:txBody>
      </p:sp>
      <p:sp>
        <p:nvSpPr>
          <p:cNvPr id="52" name="Rounded Rectangle 51"/>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t>
            </a:r>
          </a:p>
        </p:txBody>
      </p:sp>
      <p:sp>
        <p:nvSpPr>
          <p:cNvPr id="53" name="Rounded Rectangle 52"/>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2368867" y="3171825"/>
            <a:ext cx="275034" cy="400050"/>
          </a:xfrm>
          <a:prstGeom prst="rect">
            <a:avLst/>
          </a:prstGeom>
        </p:spPr>
      </p:pic>
      <p:pic>
        <p:nvPicPr>
          <p:cNvPr id="56" name="Picture 55" descr="lock.png"/>
          <p:cNvPicPr>
            <a:picLocks noChangeAspect="1"/>
          </p:cNvPicPr>
          <p:nvPr/>
        </p:nvPicPr>
        <p:blipFill>
          <a:blip r:embed="rId5"/>
          <a:stretch>
            <a:fillRect/>
          </a:stretch>
        </p:blipFill>
        <p:spPr>
          <a:xfrm>
            <a:off x="2009775" y="6070282"/>
            <a:ext cx="209550" cy="304800"/>
          </a:xfrm>
          <a:prstGeom prst="rect">
            <a:avLst/>
          </a:prstGeom>
        </p:spPr>
      </p:pic>
      <p:pic>
        <p:nvPicPr>
          <p:cNvPr id="57" name="Picture 56" descr="lock.png"/>
          <p:cNvPicPr>
            <a:picLocks noChangeAspect="1"/>
          </p:cNvPicPr>
          <p:nvPr/>
        </p:nvPicPr>
        <p:blipFill>
          <a:blip r:embed="rId5"/>
          <a:stretch>
            <a:fillRect/>
          </a:stretch>
        </p:blipFill>
        <p:spPr>
          <a:xfrm>
            <a:off x="6043612" y="6070282"/>
            <a:ext cx="209550" cy="304800"/>
          </a:xfrm>
          <a:prstGeom prst="rect">
            <a:avLst/>
          </a:prstGeom>
        </p:spPr>
      </p:pic>
      <p:pic>
        <p:nvPicPr>
          <p:cNvPr id="58" name="Picture 57" descr="lock.png"/>
          <p:cNvPicPr>
            <a:picLocks noChangeAspect="1"/>
          </p:cNvPicPr>
          <p:nvPr/>
        </p:nvPicPr>
        <p:blipFill>
          <a:blip r:embed="rId5"/>
          <a:stretch>
            <a:fillRect/>
          </a:stretch>
        </p:blipFill>
        <p:spPr>
          <a:xfrm>
            <a:off x="10015537" y="6070282"/>
            <a:ext cx="209550" cy="304800"/>
          </a:xfrm>
          <a:prstGeom prst="rect">
            <a:avLst/>
          </a:prstGeom>
        </p:spPr>
      </p:pic>
      <p:sp>
        <p:nvSpPr>
          <p:cNvPr id="59" name="TextBox 58"/>
          <p:cNvSpPr txBox="1"/>
          <p:nvPr/>
        </p:nvSpPr>
        <p:spPr>
          <a:xfrm>
            <a:off x="7239000" y="1400175"/>
            <a:ext cx="4269147" cy="194310"/>
          </a:xfrm>
          <a:prstGeom prst="rect">
            <a:avLst/>
          </a:prstGeom>
          <a:noFill/>
        </p:spPr>
        <p:txBody>
          <a:bodyPr wrap="none" lIns="0" rIns="0" tIns="0" bIns="0">
            <a:spAutoFit/>
          </a:bodyPr>
          <a:lstStyle/>
          <a:p>
            <a:r>
              <a:rPr sz="1150" b="0">
                <a:solidFill>
                  <a:srgbClr val="2E2E2E"/>
                </a:solidFill>
                <a:latin typeface="Calibri"/>
              </a:rPr>
              <a:t>Germany heavy commercial vehicle EPS market is projected to register</a:t>
            </a:r>
          </a:p>
        </p:txBody>
      </p:sp>
      <p:pic>
        <p:nvPicPr>
          <p:cNvPr id="60" name="Picture 59" descr="lock.png"/>
          <p:cNvPicPr>
            <a:picLocks noChangeAspect="1"/>
          </p:cNvPicPr>
          <p:nvPr/>
        </p:nvPicPr>
        <p:blipFill>
          <a:blip r:embed="rId5"/>
          <a:stretch>
            <a:fillRect/>
          </a:stretch>
        </p:blipFill>
        <p:spPr>
          <a:xfrm>
            <a:off x="11457301" y="1389951"/>
            <a:ext cx="134549" cy="195707"/>
          </a:xfrm>
          <a:prstGeom prst="rect">
            <a:avLst/>
          </a:prstGeom>
        </p:spPr>
      </p:pic>
      <p:sp>
        <p:nvSpPr>
          <p:cNvPr id="61" name="TextBox 60"/>
          <p:cNvSpPr txBox="1"/>
          <p:nvPr/>
        </p:nvSpPr>
        <p:spPr>
          <a:xfrm>
            <a:off x="11632410"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62" name="TextBox 61"/>
          <p:cNvSpPr txBox="1"/>
          <p:nvPr/>
        </p:nvSpPr>
        <p:spPr>
          <a:xfrm>
            <a:off x="7239000" y="1575435"/>
            <a:ext cx="4478808" cy="194310"/>
          </a:xfrm>
          <a:prstGeom prst="rect">
            <a:avLst/>
          </a:prstGeom>
          <a:noFill/>
        </p:spPr>
        <p:txBody>
          <a:bodyPr wrap="none" lIns="0" rIns="0" tIns="0" bIns="0">
            <a:spAutoFit/>
          </a:bodyPr>
          <a:lstStyle/>
          <a:p>
            <a:r>
              <a:rPr sz="1150" b="0">
                <a:solidFill>
                  <a:srgbClr val="2E2E2E"/>
                </a:solidFill>
                <a:latin typeface="Calibri"/>
              </a:rPr>
              <a:t>higher volume than Italy in 2036. Among heavy commercial vehicle EPS by</a:t>
            </a:r>
          </a:p>
        </p:txBody>
      </p:sp>
      <p:sp>
        <p:nvSpPr>
          <p:cNvPr id="63" name="TextBox 62"/>
          <p:cNvSpPr txBox="1"/>
          <p:nvPr/>
        </p:nvSpPr>
        <p:spPr>
          <a:xfrm>
            <a:off x="7239000" y="1750695"/>
            <a:ext cx="3716592" cy="194310"/>
          </a:xfrm>
          <a:prstGeom prst="rect">
            <a:avLst/>
          </a:prstGeom>
          <a:noFill/>
        </p:spPr>
        <p:txBody>
          <a:bodyPr wrap="none" lIns="0" rIns="0" tIns="0" bIns="0">
            <a:spAutoFit/>
          </a:bodyPr>
          <a:lstStyle/>
          <a:p>
            <a:r>
              <a:rPr sz="1150" b="0">
                <a:solidFill>
                  <a:srgbClr val="2E2E2E"/>
                </a:solidFill>
                <a:latin typeface="Calibri"/>
              </a:rPr>
              <a:t>country, Germany is expected to witness the highest CAGR of</a:t>
            </a:r>
          </a:p>
        </p:txBody>
      </p:sp>
      <p:pic>
        <p:nvPicPr>
          <p:cNvPr id="64" name="Picture 63" descr="lock.png"/>
          <p:cNvPicPr>
            <a:picLocks noChangeAspect="1"/>
          </p:cNvPicPr>
          <p:nvPr/>
        </p:nvPicPr>
        <p:blipFill>
          <a:blip r:embed="rId5"/>
          <a:stretch>
            <a:fillRect/>
          </a:stretch>
        </p:blipFill>
        <p:spPr>
          <a:xfrm>
            <a:off x="10904746" y="1740471"/>
            <a:ext cx="134549" cy="195707"/>
          </a:xfrm>
          <a:prstGeom prst="rect">
            <a:avLst/>
          </a:prstGeom>
        </p:spPr>
      </p:pic>
      <p:sp>
        <p:nvSpPr>
          <p:cNvPr id="65" name="TextBox 64"/>
          <p:cNvSpPr txBox="1"/>
          <p:nvPr/>
        </p:nvSpPr>
        <p:spPr>
          <a:xfrm>
            <a:off x="11079855"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66" name="TextBox 65"/>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67" name="TextBox 66"/>
          <p:cNvSpPr txBox="1"/>
          <p:nvPr/>
        </p:nvSpPr>
        <p:spPr>
          <a:xfrm>
            <a:off x="7239000" y="2153793"/>
            <a:ext cx="4542420" cy="194310"/>
          </a:xfrm>
          <a:prstGeom prst="rect">
            <a:avLst/>
          </a:prstGeom>
          <a:noFill/>
        </p:spPr>
        <p:txBody>
          <a:bodyPr wrap="none" lIns="0" rIns="0" tIns="0" bIns="0">
            <a:spAutoFit/>
          </a:bodyPr>
          <a:lstStyle/>
          <a:p>
            <a:r>
              <a:rPr sz="1150" b="0">
                <a:solidFill>
                  <a:srgbClr val="2E2E2E"/>
                </a:solidFill>
                <a:latin typeface="Calibri"/>
              </a:rPr>
              <a:t>In terms of volume share by country, Germany is expected to dominate the</a:t>
            </a:r>
          </a:p>
        </p:txBody>
      </p:sp>
      <p:sp>
        <p:nvSpPr>
          <p:cNvPr id="68" name="TextBox 67"/>
          <p:cNvSpPr txBox="1"/>
          <p:nvPr/>
        </p:nvSpPr>
        <p:spPr>
          <a:xfrm>
            <a:off x="7239000" y="2329053"/>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69" name="Picture 68" descr="lock.png"/>
          <p:cNvPicPr>
            <a:picLocks noChangeAspect="1"/>
          </p:cNvPicPr>
          <p:nvPr/>
        </p:nvPicPr>
        <p:blipFill>
          <a:blip r:embed="rId5"/>
          <a:stretch>
            <a:fillRect/>
          </a:stretch>
        </p:blipFill>
        <p:spPr>
          <a:xfrm>
            <a:off x="8188006" y="2318829"/>
            <a:ext cx="134549" cy="195707"/>
          </a:xfrm>
          <a:prstGeom prst="rect">
            <a:avLst/>
          </a:prstGeom>
        </p:spPr>
      </p:pic>
      <p:sp>
        <p:nvSpPr>
          <p:cNvPr id="70" name="TextBox 69"/>
          <p:cNvSpPr txBox="1"/>
          <p:nvPr/>
        </p:nvSpPr>
        <p:spPr>
          <a:xfrm>
            <a:off x="836311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71" name="Picture 70" descr="lock.png"/>
          <p:cNvPicPr>
            <a:picLocks noChangeAspect="1"/>
          </p:cNvPicPr>
          <p:nvPr/>
        </p:nvPicPr>
        <p:blipFill>
          <a:blip r:embed="rId5"/>
          <a:stretch>
            <a:fillRect/>
          </a:stretch>
        </p:blipFill>
        <p:spPr>
          <a:xfrm>
            <a:off x="9758258" y="2318829"/>
            <a:ext cx="134549" cy="195707"/>
          </a:xfrm>
          <a:prstGeom prst="rect">
            <a:avLst/>
          </a:prstGeom>
        </p:spPr>
      </p:pic>
      <p:sp>
        <p:nvSpPr>
          <p:cNvPr id="72" name="TextBox 71"/>
          <p:cNvSpPr txBox="1"/>
          <p:nvPr/>
        </p:nvSpPr>
        <p:spPr>
          <a:xfrm>
            <a:off x="9933367" y="2329053"/>
            <a:ext cx="1358701" cy="194310"/>
          </a:xfrm>
          <a:prstGeom prst="rect">
            <a:avLst/>
          </a:prstGeom>
          <a:noFill/>
        </p:spPr>
        <p:txBody>
          <a:bodyPr wrap="none" lIns="0" rIns="0" tIns="0" bIns="0">
            <a:spAutoFit/>
          </a:bodyPr>
          <a:lstStyle/>
          <a:p>
            <a:r>
              <a:rPr sz="1150" b="0">
                <a:solidFill>
                  <a:srgbClr val="2E2E2E"/>
                </a:solidFill>
                <a:latin typeface="Calibri"/>
              </a:rPr>
              <a:t>share by 2036. Italy is</a:t>
            </a:r>
          </a:p>
        </p:txBody>
      </p:sp>
      <p:sp>
        <p:nvSpPr>
          <p:cNvPr id="73" name="TextBox 72"/>
          <p:cNvSpPr txBox="1"/>
          <p:nvPr/>
        </p:nvSpPr>
        <p:spPr>
          <a:xfrm>
            <a:off x="7239000" y="2504313"/>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74" name="Picture 73" descr="lock.png"/>
          <p:cNvPicPr>
            <a:picLocks noChangeAspect="1"/>
          </p:cNvPicPr>
          <p:nvPr/>
        </p:nvPicPr>
        <p:blipFill>
          <a:blip r:embed="rId5"/>
          <a:stretch>
            <a:fillRect/>
          </a:stretch>
        </p:blipFill>
        <p:spPr>
          <a:xfrm>
            <a:off x="8243060" y="2494089"/>
            <a:ext cx="134549" cy="195707"/>
          </a:xfrm>
          <a:prstGeom prst="rect">
            <a:avLst/>
          </a:prstGeom>
        </p:spPr>
      </p:pic>
      <p:sp>
        <p:nvSpPr>
          <p:cNvPr id="75" name="TextBox 74"/>
          <p:cNvSpPr txBox="1"/>
          <p:nvPr/>
        </p:nvSpPr>
        <p:spPr>
          <a:xfrm>
            <a:off x="841816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76" name="Picture 75" descr="lock.png"/>
          <p:cNvPicPr>
            <a:picLocks noChangeAspect="1"/>
          </p:cNvPicPr>
          <p:nvPr/>
        </p:nvPicPr>
        <p:blipFill>
          <a:blip r:embed="rId5"/>
          <a:stretch>
            <a:fillRect/>
          </a:stretch>
        </p:blipFill>
        <p:spPr>
          <a:xfrm>
            <a:off x="11005673" y="2494089"/>
            <a:ext cx="134549" cy="195707"/>
          </a:xfrm>
          <a:prstGeom prst="rect">
            <a:avLst/>
          </a:prstGeom>
        </p:spPr>
      </p:pic>
      <p:sp>
        <p:nvSpPr>
          <p:cNvPr id="77" name="TextBox 76"/>
          <p:cNvSpPr txBox="1"/>
          <p:nvPr/>
        </p:nvSpPr>
        <p:spPr>
          <a:xfrm>
            <a:off x="11180783"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78" name="TextBox 77"/>
          <p:cNvSpPr txBox="1"/>
          <p:nvPr/>
        </p:nvSpPr>
        <p:spPr>
          <a:xfrm>
            <a:off x="723900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7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00508"/>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49574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41954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Rest of Western Europe</a:t>
            </a:r>
          </a:p>
        </p:txBody>
      </p:sp>
      <p:sp>
        <p:nvSpPr>
          <p:cNvPr id="18" name="BPS Value 1"/>
          <p:cNvSpPr txBox="1"/>
          <p:nvPr/>
        </p:nvSpPr>
        <p:spPr>
          <a:xfrm>
            <a:off x="6305550" y="148145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627294"/>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6225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5463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Nordics</a:t>
            </a:r>
          </a:p>
        </p:txBody>
      </p:sp>
      <p:sp>
        <p:nvSpPr>
          <p:cNvPr id="22" name="BPS Value 2"/>
          <p:cNvSpPr txBox="1"/>
          <p:nvPr/>
        </p:nvSpPr>
        <p:spPr>
          <a:xfrm>
            <a:off x="6305550" y="160824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1809918"/>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180515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17289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BENELUX</a:t>
            </a:r>
          </a:p>
        </p:txBody>
      </p:sp>
      <p:sp>
        <p:nvSpPr>
          <p:cNvPr id="26" name="BPS Value 3"/>
          <p:cNvSpPr txBox="1"/>
          <p:nvPr/>
        </p:nvSpPr>
        <p:spPr>
          <a:xfrm>
            <a:off x="6305550" y="17908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02630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02154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194534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Spain</a:t>
            </a:r>
          </a:p>
        </p:txBody>
      </p:sp>
      <p:sp>
        <p:nvSpPr>
          <p:cNvPr id="30" name="BPS Value 4"/>
          <p:cNvSpPr txBox="1"/>
          <p:nvPr/>
        </p:nvSpPr>
        <p:spPr>
          <a:xfrm>
            <a:off x="6305550" y="200725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228090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227614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219994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U.K.</a:t>
            </a:r>
          </a:p>
        </p:txBody>
      </p:sp>
      <p:sp>
        <p:nvSpPr>
          <p:cNvPr id="34" name="BPS Value 5"/>
          <p:cNvSpPr txBox="1"/>
          <p:nvPr/>
        </p:nvSpPr>
        <p:spPr>
          <a:xfrm>
            <a:off x="6305550" y="22618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264219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263742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256122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France</a:t>
            </a:r>
          </a:p>
        </p:txBody>
      </p:sp>
      <p:sp>
        <p:nvSpPr>
          <p:cNvPr id="38" name="BPS Value 6"/>
          <p:cNvSpPr txBox="1"/>
          <p:nvPr/>
        </p:nvSpPr>
        <p:spPr>
          <a:xfrm>
            <a:off x="6305550" y="26231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551045" y="315941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4712970" y="315464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4855845" y="307844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Italy</a:t>
            </a:r>
          </a:p>
        </p:txBody>
      </p:sp>
      <p:sp>
        <p:nvSpPr>
          <p:cNvPr id="42" name="BPS Value 7"/>
          <p:cNvSpPr txBox="1"/>
          <p:nvPr/>
        </p:nvSpPr>
        <p:spPr>
          <a:xfrm>
            <a:off x="6305550" y="314036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551045" y="428851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a:off x="4712970" y="42837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4855845" y="420754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Germany</a:t>
            </a:r>
          </a:p>
        </p:txBody>
      </p:sp>
      <p:sp>
        <p:nvSpPr>
          <p:cNvPr id="46" name="BPS Value 8"/>
          <p:cNvSpPr txBox="1"/>
          <p:nvPr/>
        </p:nvSpPr>
        <p:spPr>
          <a:xfrm>
            <a:off x="6305550" y="42694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7" name="Rounded Rectangle 46"/>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9" name="Rectangle 48"/>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52" name="Rounded Rectangle 51"/>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53" name="Rounded Rectangle 52"/>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2368867" y="3171825"/>
            <a:ext cx="275034" cy="400050"/>
          </a:xfrm>
          <a:prstGeom prst="rect">
            <a:avLst/>
          </a:prstGeom>
        </p:spPr>
      </p:pic>
      <p:pic>
        <p:nvPicPr>
          <p:cNvPr id="56" name="Picture 55" descr="lock.png"/>
          <p:cNvPicPr>
            <a:picLocks noChangeAspect="1"/>
          </p:cNvPicPr>
          <p:nvPr/>
        </p:nvPicPr>
        <p:blipFill>
          <a:blip r:embed="rId5"/>
          <a:stretch>
            <a:fillRect/>
          </a:stretch>
        </p:blipFill>
        <p:spPr>
          <a:xfrm>
            <a:off x="2009775" y="6070282"/>
            <a:ext cx="209550" cy="304800"/>
          </a:xfrm>
          <a:prstGeom prst="rect">
            <a:avLst/>
          </a:prstGeom>
        </p:spPr>
      </p:pic>
      <p:pic>
        <p:nvPicPr>
          <p:cNvPr id="57" name="Picture 56" descr="lock.png"/>
          <p:cNvPicPr>
            <a:picLocks noChangeAspect="1"/>
          </p:cNvPicPr>
          <p:nvPr/>
        </p:nvPicPr>
        <p:blipFill>
          <a:blip r:embed="rId5"/>
          <a:stretch>
            <a:fillRect/>
          </a:stretch>
        </p:blipFill>
        <p:spPr>
          <a:xfrm>
            <a:off x="6043612" y="6070282"/>
            <a:ext cx="209550" cy="304800"/>
          </a:xfrm>
          <a:prstGeom prst="rect">
            <a:avLst/>
          </a:prstGeom>
        </p:spPr>
      </p:pic>
      <p:pic>
        <p:nvPicPr>
          <p:cNvPr id="58" name="Picture 57" descr="lock.png"/>
          <p:cNvPicPr>
            <a:picLocks noChangeAspect="1"/>
          </p:cNvPicPr>
          <p:nvPr/>
        </p:nvPicPr>
        <p:blipFill>
          <a:blip r:embed="rId5"/>
          <a:stretch>
            <a:fillRect/>
          </a:stretch>
        </p:blipFill>
        <p:spPr>
          <a:xfrm>
            <a:off x="10015537" y="6070282"/>
            <a:ext cx="209550" cy="304800"/>
          </a:xfrm>
          <a:prstGeom prst="rect">
            <a:avLst/>
          </a:prstGeom>
        </p:spPr>
      </p:pic>
      <p:sp>
        <p:nvSpPr>
          <p:cNvPr id="59" name="TextBox 58"/>
          <p:cNvSpPr txBox="1"/>
          <p:nvPr/>
        </p:nvSpPr>
        <p:spPr>
          <a:xfrm>
            <a:off x="7239000" y="1400175"/>
            <a:ext cx="4269147" cy="194310"/>
          </a:xfrm>
          <a:prstGeom prst="rect">
            <a:avLst/>
          </a:prstGeom>
          <a:noFill/>
        </p:spPr>
        <p:txBody>
          <a:bodyPr wrap="none" lIns="0" rIns="0" tIns="0" bIns="0">
            <a:spAutoFit/>
          </a:bodyPr>
          <a:lstStyle/>
          <a:p>
            <a:r>
              <a:rPr sz="1150" b="0">
                <a:solidFill>
                  <a:srgbClr val="2E2E2E"/>
                </a:solidFill>
                <a:latin typeface="Calibri"/>
              </a:rPr>
              <a:t>Germany heavy commercial vehicle EPS market is projected to register</a:t>
            </a:r>
          </a:p>
        </p:txBody>
      </p:sp>
      <p:pic>
        <p:nvPicPr>
          <p:cNvPr id="60" name="Picture 59" descr="lock.png"/>
          <p:cNvPicPr>
            <a:picLocks noChangeAspect="1"/>
          </p:cNvPicPr>
          <p:nvPr/>
        </p:nvPicPr>
        <p:blipFill>
          <a:blip r:embed="rId5"/>
          <a:stretch>
            <a:fillRect/>
          </a:stretch>
        </p:blipFill>
        <p:spPr>
          <a:xfrm>
            <a:off x="11457301" y="1389951"/>
            <a:ext cx="134549" cy="195707"/>
          </a:xfrm>
          <a:prstGeom prst="rect">
            <a:avLst/>
          </a:prstGeom>
        </p:spPr>
      </p:pic>
      <p:sp>
        <p:nvSpPr>
          <p:cNvPr id="61" name="TextBox 60"/>
          <p:cNvSpPr txBox="1"/>
          <p:nvPr/>
        </p:nvSpPr>
        <p:spPr>
          <a:xfrm>
            <a:off x="11632410"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62" name="TextBox 61"/>
          <p:cNvSpPr txBox="1"/>
          <p:nvPr/>
        </p:nvSpPr>
        <p:spPr>
          <a:xfrm>
            <a:off x="7239000" y="1575435"/>
            <a:ext cx="4355008" cy="194310"/>
          </a:xfrm>
          <a:prstGeom prst="rect">
            <a:avLst/>
          </a:prstGeom>
          <a:noFill/>
        </p:spPr>
        <p:txBody>
          <a:bodyPr wrap="none" lIns="0" rIns="0" tIns="0" bIns="0">
            <a:spAutoFit/>
          </a:bodyPr>
          <a:lstStyle/>
          <a:p>
            <a:r>
              <a:rPr sz="1150" b="0">
                <a:solidFill>
                  <a:srgbClr val="2E2E2E"/>
                </a:solidFill>
                <a:latin typeface="Calibri"/>
              </a:rPr>
              <a:t>higher value than Italy in 2036. Among heavy commercial vehicle EPS by</a:t>
            </a:r>
          </a:p>
        </p:txBody>
      </p:sp>
      <p:sp>
        <p:nvSpPr>
          <p:cNvPr id="63" name="TextBox 62"/>
          <p:cNvSpPr txBox="1"/>
          <p:nvPr/>
        </p:nvSpPr>
        <p:spPr>
          <a:xfrm>
            <a:off x="7239000" y="1750695"/>
            <a:ext cx="3716592" cy="194310"/>
          </a:xfrm>
          <a:prstGeom prst="rect">
            <a:avLst/>
          </a:prstGeom>
          <a:noFill/>
        </p:spPr>
        <p:txBody>
          <a:bodyPr wrap="none" lIns="0" rIns="0" tIns="0" bIns="0">
            <a:spAutoFit/>
          </a:bodyPr>
          <a:lstStyle/>
          <a:p>
            <a:r>
              <a:rPr sz="1150" b="0">
                <a:solidFill>
                  <a:srgbClr val="2E2E2E"/>
                </a:solidFill>
                <a:latin typeface="Calibri"/>
              </a:rPr>
              <a:t>country, Germany is expected to witness the highest CAGR of</a:t>
            </a:r>
          </a:p>
        </p:txBody>
      </p:sp>
      <p:pic>
        <p:nvPicPr>
          <p:cNvPr id="64" name="Picture 63" descr="lock.png"/>
          <p:cNvPicPr>
            <a:picLocks noChangeAspect="1"/>
          </p:cNvPicPr>
          <p:nvPr/>
        </p:nvPicPr>
        <p:blipFill>
          <a:blip r:embed="rId5"/>
          <a:stretch>
            <a:fillRect/>
          </a:stretch>
        </p:blipFill>
        <p:spPr>
          <a:xfrm>
            <a:off x="10904746" y="1740471"/>
            <a:ext cx="134549" cy="195707"/>
          </a:xfrm>
          <a:prstGeom prst="rect">
            <a:avLst/>
          </a:prstGeom>
        </p:spPr>
      </p:pic>
      <p:sp>
        <p:nvSpPr>
          <p:cNvPr id="65" name="TextBox 64"/>
          <p:cNvSpPr txBox="1"/>
          <p:nvPr/>
        </p:nvSpPr>
        <p:spPr>
          <a:xfrm>
            <a:off x="11079855"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66" name="TextBox 65"/>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67" name="TextBox 66"/>
          <p:cNvSpPr txBox="1"/>
          <p:nvPr/>
        </p:nvSpPr>
        <p:spPr>
          <a:xfrm>
            <a:off x="7239000" y="2153793"/>
            <a:ext cx="4418620" cy="194310"/>
          </a:xfrm>
          <a:prstGeom prst="rect">
            <a:avLst/>
          </a:prstGeom>
          <a:noFill/>
        </p:spPr>
        <p:txBody>
          <a:bodyPr wrap="none" lIns="0" rIns="0" tIns="0" bIns="0">
            <a:spAutoFit/>
          </a:bodyPr>
          <a:lstStyle/>
          <a:p>
            <a:r>
              <a:rPr sz="1150" b="0">
                <a:solidFill>
                  <a:srgbClr val="2E2E2E"/>
                </a:solidFill>
                <a:latin typeface="Calibri"/>
              </a:rPr>
              <a:t>In terms of value share by country, Germany is expected to dominate the</a:t>
            </a:r>
          </a:p>
        </p:txBody>
      </p:sp>
      <p:sp>
        <p:nvSpPr>
          <p:cNvPr id="68" name="TextBox 67"/>
          <p:cNvSpPr txBox="1"/>
          <p:nvPr/>
        </p:nvSpPr>
        <p:spPr>
          <a:xfrm>
            <a:off x="7239000" y="2329053"/>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69" name="Picture 68" descr="lock.png"/>
          <p:cNvPicPr>
            <a:picLocks noChangeAspect="1"/>
          </p:cNvPicPr>
          <p:nvPr/>
        </p:nvPicPr>
        <p:blipFill>
          <a:blip r:embed="rId5"/>
          <a:stretch>
            <a:fillRect/>
          </a:stretch>
        </p:blipFill>
        <p:spPr>
          <a:xfrm>
            <a:off x="8188006" y="2318829"/>
            <a:ext cx="134549" cy="195707"/>
          </a:xfrm>
          <a:prstGeom prst="rect">
            <a:avLst/>
          </a:prstGeom>
        </p:spPr>
      </p:pic>
      <p:sp>
        <p:nvSpPr>
          <p:cNvPr id="70" name="TextBox 69"/>
          <p:cNvSpPr txBox="1"/>
          <p:nvPr/>
        </p:nvSpPr>
        <p:spPr>
          <a:xfrm>
            <a:off x="836311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71" name="Picture 70" descr="lock.png"/>
          <p:cNvPicPr>
            <a:picLocks noChangeAspect="1"/>
          </p:cNvPicPr>
          <p:nvPr/>
        </p:nvPicPr>
        <p:blipFill>
          <a:blip r:embed="rId5"/>
          <a:stretch>
            <a:fillRect/>
          </a:stretch>
        </p:blipFill>
        <p:spPr>
          <a:xfrm>
            <a:off x="9758258" y="2318829"/>
            <a:ext cx="134549" cy="195707"/>
          </a:xfrm>
          <a:prstGeom prst="rect">
            <a:avLst/>
          </a:prstGeom>
        </p:spPr>
      </p:pic>
      <p:sp>
        <p:nvSpPr>
          <p:cNvPr id="72" name="TextBox 71"/>
          <p:cNvSpPr txBox="1"/>
          <p:nvPr/>
        </p:nvSpPr>
        <p:spPr>
          <a:xfrm>
            <a:off x="9933367" y="2329053"/>
            <a:ext cx="1358701" cy="194310"/>
          </a:xfrm>
          <a:prstGeom prst="rect">
            <a:avLst/>
          </a:prstGeom>
          <a:noFill/>
        </p:spPr>
        <p:txBody>
          <a:bodyPr wrap="none" lIns="0" rIns="0" tIns="0" bIns="0">
            <a:spAutoFit/>
          </a:bodyPr>
          <a:lstStyle/>
          <a:p>
            <a:r>
              <a:rPr sz="1150" b="0">
                <a:solidFill>
                  <a:srgbClr val="2E2E2E"/>
                </a:solidFill>
                <a:latin typeface="Calibri"/>
              </a:rPr>
              <a:t>share by 2036. Italy is</a:t>
            </a:r>
          </a:p>
        </p:txBody>
      </p:sp>
      <p:sp>
        <p:nvSpPr>
          <p:cNvPr id="73" name="TextBox 72"/>
          <p:cNvSpPr txBox="1"/>
          <p:nvPr/>
        </p:nvSpPr>
        <p:spPr>
          <a:xfrm>
            <a:off x="7239000" y="2504313"/>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74" name="Picture 73" descr="lock.png"/>
          <p:cNvPicPr>
            <a:picLocks noChangeAspect="1"/>
          </p:cNvPicPr>
          <p:nvPr/>
        </p:nvPicPr>
        <p:blipFill>
          <a:blip r:embed="rId5"/>
          <a:stretch>
            <a:fillRect/>
          </a:stretch>
        </p:blipFill>
        <p:spPr>
          <a:xfrm>
            <a:off x="8243060" y="2494089"/>
            <a:ext cx="134549" cy="195707"/>
          </a:xfrm>
          <a:prstGeom prst="rect">
            <a:avLst/>
          </a:prstGeom>
        </p:spPr>
      </p:pic>
      <p:sp>
        <p:nvSpPr>
          <p:cNvPr id="75" name="TextBox 74"/>
          <p:cNvSpPr txBox="1"/>
          <p:nvPr/>
        </p:nvSpPr>
        <p:spPr>
          <a:xfrm>
            <a:off x="841816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76" name="Picture 75" descr="lock.png"/>
          <p:cNvPicPr>
            <a:picLocks noChangeAspect="1"/>
          </p:cNvPicPr>
          <p:nvPr/>
        </p:nvPicPr>
        <p:blipFill>
          <a:blip r:embed="rId5"/>
          <a:stretch>
            <a:fillRect/>
          </a:stretch>
        </p:blipFill>
        <p:spPr>
          <a:xfrm>
            <a:off x="11005673" y="2494089"/>
            <a:ext cx="134549" cy="195707"/>
          </a:xfrm>
          <a:prstGeom prst="rect">
            <a:avLst/>
          </a:prstGeom>
        </p:spPr>
      </p:pic>
      <p:sp>
        <p:nvSpPr>
          <p:cNvPr id="77" name="TextBox 76"/>
          <p:cNvSpPr txBox="1"/>
          <p:nvPr/>
        </p:nvSpPr>
        <p:spPr>
          <a:xfrm>
            <a:off x="11180783"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78" name="TextBox 77"/>
          <p:cNvSpPr txBox="1"/>
          <p:nvPr/>
        </p:nvSpPr>
        <p:spPr>
          <a:xfrm>
            <a:off x="723900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7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Share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Market Size, By Country (Units)</a:t>
            </a:r>
          </a:p>
        </p:txBody>
      </p:sp>
      <p:graphicFrame>
        <p:nvGraphicFramePr>
          <p:cNvPr id="12" name="Table 11"/>
          <p:cNvGraphicFramePr>
            <a:graphicFrameLocks noGrp="1"/>
          </p:cNvGraphicFramePr>
          <p:nvPr/>
        </p:nvGraphicFramePr>
        <p:xfrm>
          <a:off x="152400" y="1238250"/>
          <a:ext cx="11887207" cy="2466975"/>
        </p:xfrm>
        <a:graphic>
          <a:graphicData uri="http://schemas.openxmlformats.org/drawingml/2006/table">
            <a:tbl>
              <a:tblPr>
                <a:tableStyleId>{5C22544A-7EE6-4342-B048-85BDC9FD1C3A}</a:tableStyleId>
              </a:tblPr>
              <a:tblGrid>
                <a:gridCol w="1593775"/>
                <a:gridCol w="605496"/>
                <a:gridCol w="605496"/>
                <a:gridCol w="605496"/>
                <a:gridCol w="605496"/>
                <a:gridCol w="605496"/>
                <a:gridCol w="605496"/>
                <a:gridCol w="605496"/>
                <a:gridCol w="605496"/>
                <a:gridCol w="605496"/>
                <a:gridCol w="605496"/>
                <a:gridCol w="605496"/>
                <a:gridCol w="605496"/>
                <a:gridCol w="605496"/>
                <a:gridCol w="605496"/>
                <a:gridCol w="605496"/>
                <a:gridCol w="605496"/>
                <a:gridCol w="60549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BENELUX</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Nordics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Rest of Western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Volume Share Read-out, By Country</a:t>
            </a:r>
          </a:p>
        </p:txBody>
      </p:sp>
      <p:sp>
        <p:nvSpPr>
          <p:cNvPr id="16" name="Rectangle 15"/>
          <p:cNvSpPr/>
          <p:nvPr/>
        </p:nvSpPr>
        <p:spPr>
          <a:xfrm>
            <a:off x="276225" y="43719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6201" y="2328100"/>
            <a:ext cx="366712" cy="533400"/>
          </a:xfrm>
          <a:prstGeom prst="rect">
            <a:avLst/>
          </a:prstGeom>
        </p:spPr>
      </p:pic>
      <p:sp>
        <p:nvSpPr>
          <p:cNvPr id="20" name="TextBox 19"/>
          <p:cNvSpPr txBox="1"/>
          <p:nvPr/>
        </p:nvSpPr>
        <p:spPr>
          <a:xfrm>
            <a:off x="276225" y="4467225"/>
            <a:ext cx="4269147" cy="194310"/>
          </a:xfrm>
          <a:prstGeom prst="rect">
            <a:avLst/>
          </a:prstGeom>
          <a:noFill/>
        </p:spPr>
        <p:txBody>
          <a:bodyPr wrap="none" lIns="0" rIns="0" tIns="0" bIns="0">
            <a:spAutoFit/>
          </a:bodyPr>
          <a:lstStyle/>
          <a:p>
            <a:r>
              <a:rPr sz="1150" b="0">
                <a:solidFill>
                  <a:srgbClr val="2E2E2E"/>
                </a:solidFill>
                <a:latin typeface="Calibri"/>
              </a:rPr>
              <a:t>Germany heavy commercial vehicle EPS market is projected to register</a:t>
            </a:r>
          </a:p>
        </p:txBody>
      </p:sp>
      <p:pic>
        <p:nvPicPr>
          <p:cNvPr id="21" name="Picture 20" descr="lock.png"/>
          <p:cNvPicPr>
            <a:picLocks noChangeAspect="1"/>
          </p:cNvPicPr>
          <p:nvPr/>
        </p:nvPicPr>
        <p:blipFill>
          <a:blip r:embed="rId4"/>
          <a:stretch>
            <a:fillRect/>
          </a:stretch>
        </p:blipFill>
        <p:spPr>
          <a:xfrm>
            <a:off x="4494526" y="4457001"/>
            <a:ext cx="134549" cy="195707"/>
          </a:xfrm>
          <a:prstGeom prst="rect">
            <a:avLst/>
          </a:prstGeom>
        </p:spPr>
      </p:pic>
      <p:sp>
        <p:nvSpPr>
          <p:cNvPr id="22" name="TextBox 21"/>
          <p:cNvSpPr txBox="1"/>
          <p:nvPr/>
        </p:nvSpPr>
        <p:spPr>
          <a:xfrm>
            <a:off x="4669635" y="4467225"/>
            <a:ext cx="7040388" cy="194310"/>
          </a:xfrm>
          <a:prstGeom prst="rect">
            <a:avLst/>
          </a:prstGeom>
          <a:noFill/>
        </p:spPr>
        <p:txBody>
          <a:bodyPr wrap="none" lIns="0" rIns="0" tIns="0" bIns="0">
            <a:spAutoFit/>
          </a:bodyPr>
          <a:lstStyle/>
          <a:p>
            <a:r>
              <a:rPr sz="1150" b="0">
                <a:solidFill>
                  <a:srgbClr val="2E2E2E"/>
                </a:solidFill>
                <a:latin typeface="Calibri"/>
              </a:rPr>
              <a:t>X higher volume than Italy in 2036. Among heavy commercial vehicle EPS by country, Germany is expected to witness</a:t>
            </a:r>
          </a:p>
        </p:txBody>
      </p:sp>
      <p:sp>
        <p:nvSpPr>
          <p:cNvPr id="23" name="TextBox 22"/>
          <p:cNvSpPr txBox="1"/>
          <p:nvPr/>
        </p:nvSpPr>
        <p:spPr>
          <a:xfrm>
            <a:off x="276225" y="46424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632261"/>
            <a:ext cx="134549" cy="195707"/>
          </a:xfrm>
          <a:prstGeom prst="rect">
            <a:avLst/>
          </a:prstGeom>
        </p:spPr>
      </p:pic>
      <p:sp>
        <p:nvSpPr>
          <p:cNvPr id="25" name="TextBox 24"/>
          <p:cNvSpPr txBox="1"/>
          <p:nvPr/>
        </p:nvSpPr>
        <p:spPr>
          <a:xfrm>
            <a:off x="1664467" y="46424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870322"/>
            <a:ext cx="5499162" cy="194310"/>
          </a:xfrm>
          <a:prstGeom prst="rect">
            <a:avLst/>
          </a:prstGeom>
          <a:noFill/>
        </p:spPr>
        <p:txBody>
          <a:bodyPr wrap="none" lIns="0" rIns="0" tIns="0" bIns="0">
            <a:spAutoFit/>
          </a:bodyPr>
          <a:lstStyle/>
          <a:p>
            <a:r>
              <a:rPr sz="1150" b="0">
                <a:solidFill>
                  <a:srgbClr val="2E2E2E"/>
                </a:solidFill>
                <a:latin typeface="Calibri"/>
              </a:rPr>
              <a:t>In terms of volume share by country, Germany is expected to dominate the market, gaining</a:t>
            </a:r>
          </a:p>
        </p:txBody>
      </p:sp>
      <p:pic>
        <p:nvPicPr>
          <p:cNvPr id="27" name="Picture 26" descr="lock.png"/>
          <p:cNvPicPr>
            <a:picLocks noChangeAspect="1"/>
          </p:cNvPicPr>
          <p:nvPr/>
        </p:nvPicPr>
        <p:blipFill>
          <a:blip r:embed="rId4"/>
          <a:stretch>
            <a:fillRect/>
          </a:stretch>
        </p:blipFill>
        <p:spPr>
          <a:xfrm>
            <a:off x="5724540" y="4860099"/>
            <a:ext cx="134549" cy="195707"/>
          </a:xfrm>
          <a:prstGeom prst="rect">
            <a:avLst/>
          </a:prstGeom>
        </p:spPr>
      </p:pic>
      <p:sp>
        <p:nvSpPr>
          <p:cNvPr id="28" name="TextBox 27"/>
          <p:cNvSpPr txBox="1"/>
          <p:nvPr/>
        </p:nvSpPr>
        <p:spPr>
          <a:xfrm>
            <a:off x="5899650" y="48703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294793" y="4860099"/>
            <a:ext cx="134549" cy="195707"/>
          </a:xfrm>
          <a:prstGeom prst="rect">
            <a:avLst/>
          </a:prstGeom>
        </p:spPr>
      </p:pic>
      <p:sp>
        <p:nvSpPr>
          <p:cNvPr id="30" name="TextBox 29"/>
          <p:cNvSpPr txBox="1"/>
          <p:nvPr/>
        </p:nvSpPr>
        <p:spPr>
          <a:xfrm>
            <a:off x="7469902" y="4870322"/>
            <a:ext cx="2370497" cy="194310"/>
          </a:xfrm>
          <a:prstGeom prst="rect">
            <a:avLst/>
          </a:prstGeom>
          <a:noFill/>
        </p:spPr>
        <p:txBody>
          <a:bodyPr wrap="none" lIns="0" rIns="0" tIns="0" bIns="0">
            <a:spAutoFit/>
          </a:bodyPr>
          <a:lstStyle/>
          <a:p>
            <a:r>
              <a:rPr sz="1150" b="0">
                <a:solidFill>
                  <a:srgbClr val="2E2E2E"/>
                </a:solidFill>
                <a:latin typeface="Calibri"/>
              </a:rPr>
              <a:t>share by 2036. Italy is expected to lose</a:t>
            </a:r>
          </a:p>
        </p:txBody>
      </p:sp>
      <p:pic>
        <p:nvPicPr>
          <p:cNvPr id="31" name="Picture 30" descr="lock.png"/>
          <p:cNvPicPr>
            <a:picLocks noChangeAspect="1"/>
          </p:cNvPicPr>
          <p:nvPr/>
        </p:nvPicPr>
        <p:blipFill>
          <a:blip r:embed="rId4"/>
          <a:stretch>
            <a:fillRect/>
          </a:stretch>
        </p:blipFill>
        <p:spPr>
          <a:xfrm>
            <a:off x="9789553" y="4860099"/>
            <a:ext cx="134549" cy="195707"/>
          </a:xfrm>
          <a:prstGeom prst="rect">
            <a:avLst/>
          </a:prstGeom>
        </p:spPr>
      </p:pic>
      <p:sp>
        <p:nvSpPr>
          <p:cNvPr id="32" name="TextBox 31"/>
          <p:cNvSpPr txBox="1"/>
          <p:nvPr/>
        </p:nvSpPr>
        <p:spPr>
          <a:xfrm>
            <a:off x="9964663" y="4870322"/>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33" name="TextBox 32"/>
          <p:cNvSpPr txBox="1"/>
          <p:nvPr/>
        </p:nvSpPr>
        <p:spPr>
          <a:xfrm>
            <a:off x="276225" y="5045582"/>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34" name="Picture 33" descr="lock.png"/>
          <p:cNvPicPr>
            <a:picLocks noChangeAspect="1"/>
          </p:cNvPicPr>
          <p:nvPr/>
        </p:nvPicPr>
        <p:blipFill>
          <a:blip r:embed="rId4"/>
          <a:stretch>
            <a:fillRect/>
          </a:stretch>
        </p:blipFill>
        <p:spPr>
          <a:xfrm>
            <a:off x="1560689" y="5035359"/>
            <a:ext cx="134549" cy="195707"/>
          </a:xfrm>
          <a:prstGeom prst="rect">
            <a:avLst/>
          </a:prstGeom>
        </p:spPr>
      </p:pic>
      <p:sp>
        <p:nvSpPr>
          <p:cNvPr id="35" name="TextBox 34"/>
          <p:cNvSpPr txBox="1"/>
          <p:nvPr/>
        </p:nvSpPr>
        <p:spPr>
          <a:xfrm>
            <a:off x="1735798" y="50455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Market Size, By Country (US$ Mn)</a:t>
            </a:r>
          </a:p>
        </p:txBody>
      </p:sp>
      <p:graphicFrame>
        <p:nvGraphicFramePr>
          <p:cNvPr id="12" name="Table 11"/>
          <p:cNvGraphicFramePr>
            <a:graphicFrameLocks noGrp="1"/>
          </p:cNvGraphicFramePr>
          <p:nvPr/>
        </p:nvGraphicFramePr>
        <p:xfrm>
          <a:off x="152400" y="1238250"/>
          <a:ext cx="11887194" cy="2466975"/>
        </p:xfrm>
        <a:graphic>
          <a:graphicData uri="http://schemas.openxmlformats.org/drawingml/2006/table">
            <a:tbl>
              <a:tblPr>
                <a:tableStyleId>{5C22544A-7EE6-4342-B048-85BDC9FD1C3A}</a:tableStyleId>
              </a:tblPr>
              <a:tblGrid>
                <a:gridCol w="1666726"/>
                <a:gridCol w="601204"/>
                <a:gridCol w="601204"/>
                <a:gridCol w="601204"/>
                <a:gridCol w="601204"/>
                <a:gridCol w="601204"/>
                <a:gridCol w="601204"/>
                <a:gridCol w="601204"/>
                <a:gridCol w="601204"/>
                <a:gridCol w="601204"/>
                <a:gridCol w="601204"/>
                <a:gridCol w="601204"/>
                <a:gridCol w="601204"/>
                <a:gridCol w="601204"/>
                <a:gridCol w="601204"/>
                <a:gridCol w="601204"/>
                <a:gridCol w="601204"/>
                <a:gridCol w="601204"/>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Italy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BENELUX</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Nordics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Rest of Western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Value Share Read-out, By Country</a:t>
            </a:r>
          </a:p>
        </p:txBody>
      </p:sp>
      <p:sp>
        <p:nvSpPr>
          <p:cNvPr id="16" name="Rectangle 15"/>
          <p:cNvSpPr/>
          <p:nvPr/>
        </p:nvSpPr>
        <p:spPr>
          <a:xfrm>
            <a:off x="276225" y="43719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42670" y="2328100"/>
            <a:ext cx="366712" cy="533400"/>
          </a:xfrm>
          <a:prstGeom prst="rect">
            <a:avLst/>
          </a:prstGeom>
        </p:spPr>
      </p:pic>
      <p:sp>
        <p:nvSpPr>
          <p:cNvPr id="20" name="TextBox 19"/>
          <p:cNvSpPr txBox="1"/>
          <p:nvPr/>
        </p:nvSpPr>
        <p:spPr>
          <a:xfrm>
            <a:off x="276225" y="4467225"/>
            <a:ext cx="4269147" cy="194310"/>
          </a:xfrm>
          <a:prstGeom prst="rect">
            <a:avLst/>
          </a:prstGeom>
          <a:noFill/>
        </p:spPr>
        <p:txBody>
          <a:bodyPr wrap="none" lIns="0" rIns="0" tIns="0" bIns="0">
            <a:spAutoFit/>
          </a:bodyPr>
          <a:lstStyle/>
          <a:p>
            <a:r>
              <a:rPr sz="1150" b="0">
                <a:solidFill>
                  <a:srgbClr val="2E2E2E"/>
                </a:solidFill>
                <a:latin typeface="Calibri"/>
              </a:rPr>
              <a:t>Germany heavy commercial vehicle EPS market is projected to register</a:t>
            </a:r>
          </a:p>
        </p:txBody>
      </p:sp>
      <p:pic>
        <p:nvPicPr>
          <p:cNvPr id="21" name="Picture 20" descr="lock.png"/>
          <p:cNvPicPr>
            <a:picLocks noChangeAspect="1"/>
          </p:cNvPicPr>
          <p:nvPr/>
        </p:nvPicPr>
        <p:blipFill>
          <a:blip r:embed="rId4"/>
          <a:stretch>
            <a:fillRect/>
          </a:stretch>
        </p:blipFill>
        <p:spPr>
          <a:xfrm>
            <a:off x="4494526" y="4457001"/>
            <a:ext cx="134549" cy="195707"/>
          </a:xfrm>
          <a:prstGeom prst="rect">
            <a:avLst/>
          </a:prstGeom>
        </p:spPr>
      </p:pic>
      <p:sp>
        <p:nvSpPr>
          <p:cNvPr id="22" name="TextBox 21"/>
          <p:cNvSpPr txBox="1"/>
          <p:nvPr/>
        </p:nvSpPr>
        <p:spPr>
          <a:xfrm>
            <a:off x="4669635" y="4467225"/>
            <a:ext cx="7148214" cy="194310"/>
          </a:xfrm>
          <a:prstGeom prst="rect">
            <a:avLst/>
          </a:prstGeom>
          <a:noFill/>
        </p:spPr>
        <p:txBody>
          <a:bodyPr wrap="none" lIns="0" rIns="0" tIns="0" bIns="0">
            <a:spAutoFit/>
          </a:bodyPr>
          <a:lstStyle/>
          <a:p>
            <a:r>
              <a:rPr sz="1150" b="0">
                <a:solidFill>
                  <a:srgbClr val="2E2E2E"/>
                </a:solidFill>
                <a:latin typeface="Calibri"/>
              </a:rPr>
              <a:t>X higher value than Italy in 2036. Among heavy commercial vehicle EPS by country, Germany is expected to witness the</a:t>
            </a:r>
          </a:p>
        </p:txBody>
      </p:sp>
      <p:sp>
        <p:nvSpPr>
          <p:cNvPr id="23" name="TextBox 22"/>
          <p:cNvSpPr txBox="1"/>
          <p:nvPr/>
        </p:nvSpPr>
        <p:spPr>
          <a:xfrm>
            <a:off x="276225" y="464248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4632261"/>
            <a:ext cx="134549" cy="195707"/>
          </a:xfrm>
          <a:prstGeom prst="rect">
            <a:avLst/>
          </a:prstGeom>
        </p:spPr>
      </p:pic>
      <p:sp>
        <p:nvSpPr>
          <p:cNvPr id="25" name="TextBox 24"/>
          <p:cNvSpPr txBox="1"/>
          <p:nvPr/>
        </p:nvSpPr>
        <p:spPr>
          <a:xfrm>
            <a:off x="1432841" y="46424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870322"/>
            <a:ext cx="5375361" cy="194310"/>
          </a:xfrm>
          <a:prstGeom prst="rect">
            <a:avLst/>
          </a:prstGeom>
          <a:noFill/>
        </p:spPr>
        <p:txBody>
          <a:bodyPr wrap="none" lIns="0" rIns="0" tIns="0" bIns="0">
            <a:spAutoFit/>
          </a:bodyPr>
          <a:lstStyle/>
          <a:p>
            <a:r>
              <a:rPr sz="1150" b="0">
                <a:solidFill>
                  <a:srgbClr val="2E2E2E"/>
                </a:solidFill>
                <a:latin typeface="Calibri"/>
              </a:rPr>
              <a:t>In terms of value share by country, Germany is expected to dominate the market, gaining</a:t>
            </a:r>
          </a:p>
        </p:txBody>
      </p:sp>
      <p:pic>
        <p:nvPicPr>
          <p:cNvPr id="27" name="Picture 26" descr="lock.png"/>
          <p:cNvPicPr>
            <a:picLocks noChangeAspect="1"/>
          </p:cNvPicPr>
          <p:nvPr/>
        </p:nvPicPr>
        <p:blipFill>
          <a:blip r:embed="rId4"/>
          <a:stretch>
            <a:fillRect/>
          </a:stretch>
        </p:blipFill>
        <p:spPr>
          <a:xfrm>
            <a:off x="5600740" y="4860099"/>
            <a:ext cx="134549" cy="195707"/>
          </a:xfrm>
          <a:prstGeom prst="rect">
            <a:avLst/>
          </a:prstGeom>
        </p:spPr>
      </p:pic>
      <p:sp>
        <p:nvSpPr>
          <p:cNvPr id="28" name="TextBox 27"/>
          <p:cNvSpPr txBox="1"/>
          <p:nvPr/>
        </p:nvSpPr>
        <p:spPr>
          <a:xfrm>
            <a:off x="5775850" y="48703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170993" y="4860099"/>
            <a:ext cx="134549" cy="195707"/>
          </a:xfrm>
          <a:prstGeom prst="rect">
            <a:avLst/>
          </a:prstGeom>
        </p:spPr>
      </p:pic>
      <p:sp>
        <p:nvSpPr>
          <p:cNvPr id="30" name="TextBox 29"/>
          <p:cNvSpPr txBox="1"/>
          <p:nvPr/>
        </p:nvSpPr>
        <p:spPr>
          <a:xfrm>
            <a:off x="7346102" y="4870322"/>
            <a:ext cx="2370497" cy="194310"/>
          </a:xfrm>
          <a:prstGeom prst="rect">
            <a:avLst/>
          </a:prstGeom>
          <a:noFill/>
        </p:spPr>
        <p:txBody>
          <a:bodyPr wrap="none" lIns="0" rIns="0" tIns="0" bIns="0">
            <a:spAutoFit/>
          </a:bodyPr>
          <a:lstStyle/>
          <a:p>
            <a:r>
              <a:rPr sz="1150" b="0">
                <a:solidFill>
                  <a:srgbClr val="2E2E2E"/>
                </a:solidFill>
                <a:latin typeface="Calibri"/>
              </a:rPr>
              <a:t>share by 2036. Italy is expected to lose</a:t>
            </a:r>
          </a:p>
        </p:txBody>
      </p:sp>
      <p:pic>
        <p:nvPicPr>
          <p:cNvPr id="31" name="Picture 30" descr="lock.png"/>
          <p:cNvPicPr>
            <a:picLocks noChangeAspect="1"/>
          </p:cNvPicPr>
          <p:nvPr/>
        </p:nvPicPr>
        <p:blipFill>
          <a:blip r:embed="rId4"/>
          <a:stretch>
            <a:fillRect/>
          </a:stretch>
        </p:blipFill>
        <p:spPr>
          <a:xfrm>
            <a:off x="9665753" y="4860099"/>
            <a:ext cx="134549" cy="195707"/>
          </a:xfrm>
          <a:prstGeom prst="rect">
            <a:avLst/>
          </a:prstGeom>
        </p:spPr>
      </p:pic>
      <p:sp>
        <p:nvSpPr>
          <p:cNvPr id="32" name="TextBox 31"/>
          <p:cNvSpPr txBox="1"/>
          <p:nvPr/>
        </p:nvSpPr>
        <p:spPr>
          <a:xfrm>
            <a:off x="9840862" y="4870322"/>
            <a:ext cx="1767185" cy="194310"/>
          </a:xfrm>
          <a:prstGeom prst="rect">
            <a:avLst/>
          </a:prstGeom>
          <a:noFill/>
        </p:spPr>
        <p:txBody>
          <a:bodyPr wrap="none" lIns="0" rIns="0" tIns="0" bIns="0">
            <a:spAutoFit/>
          </a:bodyPr>
          <a:lstStyle/>
          <a:p>
            <a:r>
              <a:rPr sz="1150" b="0">
                <a:solidFill>
                  <a:srgbClr val="2E2E2E"/>
                </a:solidFill>
                <a:latin typeface="Calibri"/>
              </a:rPr>
              <a:t>BPS over the forecast period</a:t>
            </a:r>
          </a:p>
        </p:txBody>
      </p:sp>
      <p:sp>
        <p:nvSpPr>
          <p:cNvPr id="33" name="TextBox 32"/>
          <p:cNvSpPr txBox="1"/>
          <p:nvPr/>
        </p:nvSpPr>
        <p:spPr>
          <a:xfrm>
            <a:off x="276225" y="5045582"/>
            <a:ext cx="914275" cy="194310"/>
          </a:xfrm>
          <a:prstGeom prst="rect">
            <a:avLst/>
          </a:prstGeom>
          <a:noFill/>
        </p:spPr>
        <p:txBody>
          <a:bodyPr wrap="none" lIns="0" rIns="0" tIns="0" bIns="0">
            <a:spAutoFit/>
          </a:bodyPr>
          <a:lstStyle/>
          <a:p>
            <a:r>
              <a:rPr sz="1150" b="0">
                <a:solidFill>
                  <a:srgbClr val="2E2E2E"/>
                </a:solidFill>
                <a:latin typeface="Calibri"/>
              </a:rPr>
              <a:t>to account for</a:t>
            </a:r>
          </a:p>
        </p:txBody>
      </p:sp>
      <p:pic>
        <p:nvPicPr>
          <p:cNvPr id="34" name="Picture 33" descr="lock.png"/>
          <p:cNvPicPr>
            <a:picLocks noChangeAspect="1"/>
          </p:cNvPicPr>
          <p:nvPr/>
        </p:nvPicPr>
        <p:blipFill>
          <a:blip r:embed="rId4"/>
          <a:stretch>
            <a:fillRect/>
          </a:stretch>
        </p:blipFill>
        <p:spPr>
          <a:xfrm>
            <a:off x="1139654" y="5035359"/>
            <a:ext cx="134549" cy="195707"/>
          </a:xfrm>
          <a:prstGeom prst="rect">
            <a:avLst/>
          </a:prstGeom>
        </p:spPr>
      </p:pic>
      <p:sp>
        <p:nvSpPr>
          <p:cNvPr id="35" name="TextBox 34"/>
          <p:cNvSpPr txBox="1"/>
          <p:nvPr/>
        </p:nvSpPr>
        <p:spPr>
          <a:xfrm>
            <a:off x="1314764" y="50455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Volume By Country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r>
              <a:rPr sz="850" b="1">
                <a:solidFill>
                  <a:srgbClr val="6C7A89"/>
                </a:solidFill>
                <a:latin typeface="Calibri"/>
              </a:rPr>
              <a:t>By segment</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Germany</a:t>
            </a:r>
          </a:p>
          <a:p>
            <a:pPr>
              <a:spcBef>
                <a:spcPts val="500"/>
              </a:spcBef>
            </a:pPr>
            <a:r>
              <a:rPr sz="900">
                <a:solidFill>
                  <a:srgbClr val="9E7E0A"/>
                </a:solidFill>
                <a:latin typeface="Calibri"/>
              </a:rPr>
              <a:t>■  </a:t>
            </a:r>
            <a:r>
              <a:rPr sz="750">
                <a:solidFill>
                  <a:srgbClr val="2E2E2E"/>
                </a:solidFill>
                <a:latin typeface="Calibri"/>
              </a:rPr>
              <a:t>   Italy</a:t>
            </a:r>
          </a:p>
          <a:p>
            <a:pPr>
              <a:spcBef>
                <a:spcPts val="500"/>
              </a:spcBef>
            </a:pPr>
            <a:r>
              <a:rPr sz="900">
                <a:solidFill>
                  <a:srgbClr val="008189"/>
                </a:solidFill>
                <a:latin typeface="Calibri"/>
              </a:rPr>
              <a:t>■  </a:t>
            </a:r>
            <a:r>
              <a:rPr sz="750">
                <a:solidFill>
                  <a:srgbClr val="2E2E2E"/>
                </a:solidFill>
                <a:latin typeface="Calibri"/>
              </a:rPr>
              <a:t>   France</a:t>
            </a:r>
          </a:p>
          <a:p>
            <a:pPr>
              <a:spcBef>
                <a:spcPts val="500"/>
              </a:spcBef>
            </a:pPr>
            <a:r>
              <a:rPr sz="900">
                <a:solidFill>
                  <a:srgbClr val="40315E"/>
                </a:solidFill>
                <a:latin typeface="Calibri"/>
              </a:rPr>
              <a:t>■  </a:t>
            </a:r>
            <a:r>
              <a:rPr sz="750">
                <a:solidFill>
                  <a:srgbClr val="2E2E2E"/>
                </a:solidFill>
                <a:latin typeface="Calibri"/>
              </a:rPr>
              <a:t>   U.K.</a:t>
            </a:r>
          </a:p>
          <a:p>
            <a:pPr>
              <a:spcBef>
                <a:spcPts val="500"/>
              </a:spcBef>
            </a:pPr>
            <a:r>
              <a:rPr sz="900">
                <a:solidFill>
                  <a:srgbClr val="A35313"/>
                </a:solidFill>
                <a:latin typeface="Calibri"/>
              </a:rPr>
              <a:t>■  </a:t>
            </a:r>
            <a:r>
              <a:rPr sz="750">
                <a:solidFill>
                  <a:srgbClr val="2E2E2E"/>
                </a:solidFill>
                <a:latin typeface="Calibri"/>
              </a:rPr>
              <a:t>   Spain</a:t>
            </a:r>
          </a:p>
          <a:p>
            <a:pPr>
              <a:spcBef>
                <a:spcPts val="500"/>
              </a:spcBef>
            </a:pPr>
            <a:r>
              <a:rPr sz="900">
                <a:solidFill>
                  <a:srgbClr val="808080"/>
                </a:solidFill>
                <a:latin typeface="Calibri"/>
              </a:rPr>
              <a:t>■  </a:t>
            </a:r>
            <a:r>
              <a:rPr sz="750">
                <a:solidFill>
                  <a:srgbClr val="2E2E2E"/>
                </a:solidFill>
                <a:latin typeface="Calibri"/>
              </a:rPr>
              <a:t>   BENELUX</a:t>
            </a:r>
          </a:p>
          <a:p>
            <a:pPr>
              <a:spcBef>
                <a:spcPts val="500"/>
              </a:spcBef>
            </a:pPr>
            <a:r>
              <a:rPr sz="900">
                <a:solidFill>
                  <a:srgbClr val="0E72AE"/>
                </a:solidFill>
                <a:latin typeface="Calibri"/>
              </a:rPr>
              <a:t>■  </a:t>
            </a:r>
            <a:r>
              <a:rPr sz="750">
                <a:solidFill>
                  <a:srgbClr val="2E2E2E"/>
                </a:solidFill>
                <a:latin typeface="Calibri"/>
              </a:rPr>
              <a:t>   Nordics</a:t>
            </a:r>
          </a:p>
          <a:p>
            <a:pPr>
              <a:spcBef>
                <a:spcPts val="500"/>
              </a:spcBef>
            </a:pPr>
            <a:r>
              <a:rPr sz="900">
                <a:solidFill>
                  <a:srgbClr val="A86F00"/>
                </a:solidFill>
                <a:latin typeface="Calibri"/>
              </a:rPr>
              <a:t>■  </a:t>
            </a:r>
            <a:r>
              <a:rPr sz="750">
                <a:solidFill>
                  <a:srgbClr val="2E2E2E"/>
                </a:solidFill>
                <a:latin typeface="Calibri"/>
              </a:rPr>
              <a:t>   Rest of Western Europe</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By Country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r>
              <a:rPr sz="850" b="1">
                <a:solidFill>
                  <a:srgbClr val="6C7A89"/>
                </a:solidFill>
                <a:latin typeface="Calibri"/>
              </a:rPr>
              <a:t>By segment</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Germany</a:t>
            </a:r>
          </a:p>
          <a:p>
            <a:pPr>
              <a:spcBef>
                <a:spcPts val="500"/>
              </a:spcBef>
            </a:pPr>
            <a:r>
              <a:rPr sz="900">
                <a:solidFill>
                  <a:srgbClr val="9E7E0A"/>
                </a:solidFill>
                <a:latin typeface="Calibri"/>
              </a:rPr>
              <a:t>■  </a:t>
            </a:r>
            <a:r>
              <a:rPr sz="750">
                <a:solidFill>
                  <a:srgbClr val="2E2E2E"/>
                </a:solidFill>
                <a:latin typeface="Calibri"/>
              </a:rPr>
              <a:t>   Italy</a:t>
            </a:r>
          </a:p>
          <a:p>
            <a:pPr>
              <a:spcBef>
                <a:spcPts val="500"/>
              </a:spcBef>
            </a:pPr>
            <a:r>
              <a:rPr sz="900">
                <a:solidFill>
                  <a:srgbClr val="008189"/>
                </a:solidFill>
                <a:latin typeface="Calibri"/>
              </a:rPr>
              <a:t>■  </a:t>
            </a:r>
            <a:r>
              <a:rPr sz="750">
                <a:solidFill>
                  <a:srgbClr val="2E2E2E"/>
                </a:solidFill>
                <a:latin typeface="Calibri"/>
              </a:rPr>
              <a:t>   France</a:t>
            </a:r>
          </a:p>
          <a:p>
            <a:pPr>
              <a:spcBef>
                <a:spcPts val="500"/>
              </a:spcBef>
            </a:pPr>
            <a:r>
              <a:rPr sz="900">
                <a:solidFill>
                  <a:srgbClr val="40315E"/>
                </a:solidFill>
                <a:latin typeface="Calibri"/>
              </a:rPr>
              <a:t>■  </a:t>
            </a:r>
            <a:r>
              <a:rPr sz="750">
                <a:solidFill>
                  <a:srgbClr val="2E2E2E"/>
                </a:solidFill>
                <a:latin typeface="Calibri"/>
              </a:rPr>
              <a:t>   U.K.</a:t>
            </a:r>
          </a:p>
          <a:p>
            <a:pPr>
              <a:spcBef>
                <a:spcPts val="500"/>
              </a:spcBef>
            </a:pPr>
            <a:r>
              <a:rPr sz="900">
                <a:solidFill>
                  <a:srgbClr val="A35313"/>
                </a:solidFill>
                <a:latin typeface="Calibri"/>
              </a:rPr>
              <a:t>■  </a:t>
            </a:r>
            <a:r>
              <a:rPr sz="750">
                <a:solidFill>
                  <a:srgbClr val="2E2E2E"/>
                </a:solidFill>
                <a:latin typeface="Calibri"/>
              </a:rPr>
              <a:t>   Spain</a:t>
            </a:r>
          </a:p>
          <a:p>
            <a:pPr>
              <a:spcBef>
                <a:spcPts val="500"/>
              </a:spcBef>
            </a:pPr>
            <a:r>
              <a:rPr sz="900">
                <a:solidFill>
                  <a:srgbClr val="808080"/>
                </a:solidFill>
                <a:latin typeface="Calibri"/>
              </a:rPr>
              <a:t>■  </a:t>
            </a:r>
            <a:r>
              <a:rPr sz="750">
                <a:solidFill>
                  <a:srgbClr val="2E2E2E"/>
                </a:solidFill>
                <a:latin typeface="Calibri"/>
              </a:rPr>
              <a:t>   BENELUX</a:t>
            </a:r>
          </a:p>
          <a:p>
            <a:pPr>
              <a:spcBef>
                <a:spcPts val="500"/>
              </a:spcBef>
            </a:pPr>
            <a:r>
              <a:rPr sz="900">
                <a:solidFill>
                  <a:srgbClr val="0E72AE"/>
                </a:solidFill>
                <a:latin typeface="Calibri"/>
              </a:rPr>
              <a:t>■  </a:t>
            </a:r>
            <a:r>
              <a:rPr sz="750">
                <a:solidFill>
                  <a:srgbClr val="2E2E2E"/>
                </a:solidFill>
                <a:latin typeface="Calibri"/>
              </a:rPr>
              <a:t>   Nordics</a:t>
            </a:r>
          </a:p>
          <a:p>
            <a:pPr>
              <a:spcBef>
                <a:spcPts val="500"/>
              </a:spcBef>
            </a:pPr>
            <a:r>
              <a:rPr sz="900">
                <a:solidFill>
                  <a:srgbClr val="A86F00"/>
                </a:solidFill>
                <a:latin typeface="Calibri"/>
              </a:rPr>
              <a:t>■  </a:t>
            </a:r>
            <a:r>
              <a:rPr sz="750">
                <a:solidFill>
                  <a:srgbClr val="2E2E2E"/>
                </a:solidFill>
                <a:latin typeface="Calibri"/>
              </a:rPr>
              <a:t>   Rest of Western Europe</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6"/>
          <a:stretch>
            <a:fillRect/>
          </a:stretch>
        </p:blipFill>
        <p:spPr>
          <a:xfrm>
            <a:off x="4933434" y="2176405"/>
            <a:ext cx="347145" cy="504938"/>
          </a:xfrm>
          <a:prstGeom prst="rect">
            <a:avLst/>
          </a:prstGeom>
        </p:spPr>
      </p:pic>
      <p:pic>
        <p:nvPicPr>
          <p:cNvPr id="24" name="Picture 23" descr="lock.png"/>
          <p:cNvPicPr>
            <a:picLocks noChangeAspect="1"/>
          </p:cNvPicPr>
          <p:nvPr/>
        </p:nvPicPr>
        <p:blipFill>
          <a:blip r:embed="rId6"/>
          <a:stretch>
            <a:fillRect/>
          </a:stretch>
        </p:blipFill>
        <p:spPr>
          <a:xfrm>
            <a:off x="4933434" y="5062480"/>
            <a:ext cx="347145" cy="504938"/>
          </a:xfrm>
          <a:prstGeom prst="rect">
            <a:avLst/>
          </a:prstGeom>
        </p:spPr>
      </p:pic>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Heavy Commercial Vehicle EPS Market Top 7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Western Europe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market by country  ·  2036 (US$ Mn)  ·  tile size = market value</a:t>
            </a:r>
          </a:p>
        </p:txBody>
      </p:sp>
      <p:sp>
        <p:nvSpPr>
          <p:cNvPr id="12" name="Rectangle 11"/>
          <p:cNvSpPr/>
          <p:nvPr/>
        </p:nvSpPr>
        <p:spPr>
          <a:xfrm>
            <a:off x="238125" y="1266825"/>
            <a:ext cx="5486719"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3" name="Rectangle 12"/>
          <p:cNvSpPr/>
          <p:nvPr/>
        </p:nvSpPr>
        <p:spPr>
          <a:xfrm>
            <a:off x="5724844" y="1266825"/>
            <a:ext cx="3375569" cy="2958287"/>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Italy</a:t>
            </a:r>
          </a:p>
          <a:p>
            <a:pPr algn="ctr"/>
            <a:r>
              <a:rPr sz="1100" b="0">
                <a:solidFill>
                  <a:srgbClr val="FFFFFF"/>
                </a:solidFill>
                <a:latin typeface="Calibri"/>
              </a:rPr>
              <a:t> </a:t>
            </a:r>
          </a:p>
        </p:txBody>
      </p:sp>
      <p:sp>
        <p:nvSpPr>
          <p:cNvPr id="14" name="Rectangle 13"/>
          <p:cNvSpPr/>
          <p:nvPr/>
        </p:nvSpPr>
        <p:spPr>
          <a:xfrm>
            <a:off x="5724844" y="4225112"/>
            <a:ext cx="3375569" cy="2347138"/>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15" name="Rectangle 14"/>
          <p:cNvSpPr/>
          <p:nvPr/>
        </p:nvSpPr>
        <p:spPr>
          <a:xfrm>
            <a:off x="9100413" y="1266825"/>
            <a:ext cx="2853462" cy="1607400"/>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6" name="Rectangle 15"/>
          <p:cNvSpPr/>
          <p:nvPr/>
        </p:nvSpPr>
        <p:spPr>
          <a:xfrm>
            <a:off x="9100413" y="2874225"/>
            <a:ext cx="2853462" cy="1481982"/>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Spain</a:t>
            </a:r>
          </a:p>
          <a:p>
            <a:pPr algn="ctr"/>
            <a:r>
              <a:rPr sz="1100" b="0">
                <a:solidFill>
                  <a:srgbClr val="FFFFFF"/>
                </a:solidFill>
                <a:latin typeface="Calibri"/>
              </a:rPr>
              <a:t> </a:t>
            </a:r>
          </a:p>
        </p:txBody>
      </p:sp>
      <p:sp>
        <p:nvSpPr>
          <p:cNvPr id="17" name="Rectangle 16"/>
          <p:cNvSpPr/>
          <p:nvPr/>
        </p:nvSpPr>
        <p:spPr>
          <a:xfrm>
            <a:off x="9100413" y="4356207"/>
            <a:ext cx="1472767" cy="2216043"/>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BENELUX</a:t>
            </a:r>
          </a:p>
          <a:p>
            <a:pPr algn="ctr"/>
            <a:r>
              <a:rPr sz="1100" b="0">
                <a:solidFill>
                  <a:srgbClr val="FFFFFF"/>
                </a:solidFill>
                <a:latin typeface="Calibri"/>
              </a:rPr>
              <a:t> </a:t>
            </a:r>
          </a:p>
        </p:txBody>
      </p:sp>
      <p:sp>
        <p:nvSpPr>
          <p:cNvPr id="18" name="Rectangle 17"/>
          <p:cNvSpPr/>
          <p:nvPr/>
        </p:nvSpPr>
        <p:spPr>
          <a:xfrm>
            <a:off x="10573179" y="4356207"/>
            <a:ext cx="1380696" cy="2216043"/>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Nordics</a:t>
            </a:r>
          </a:p>
          <a:p>
            <a:pPr algn="ctr"/>
            <a:r>
              <a:rPr sz="1100" b="0">
                <a:solidFill>
                  <a:srgbClr val="FFFFFF"/>
                </a:solidFill>
                <a:latin typeface="Calibri"/>
              </a:rPr>
              <a:t>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2923858" y="3919537"/>
            <a:ext cx="115252" cy="167639"/>
          </a:xfrm>
          <a:prstGeom prst="rect">
            <a:avLst/>
          </a:prstGeom>
        </p:spPr>
      </p:pic>
      <p:pic>
        <p:nvPicPr>
          <p:cNvPr id="21" name="Picture 20" descr="lock.png"/>
          <p:cNvPicPr>
            <a:picLocks noChangeAspect="1"/>
          </p:cNvPicPr>
          <p:nvPr/>
        </p:nvPicPr>
        <p:blipFill>
          <a:blip r:embed="rId4"/>
          <a:stretch>
            <a:fillRect/>
          </a:stretch>
        </p:blipFill>
        <p:spPr>
          <a:xfrm>
            <a:off x="7355002" y="2745968"/>
            <a:ext cx="115252" cy="167639"/>
          </a:xfrm>
          <a:prstGeom prst="rect">
            <a:avLst/>
          </a:prstGeom>
        </p:spPr>
      </p:pic>
      <p:pic>
        <p:nvPicPr>
          <p:cNvPr id="22" name="Picture 21" descr="lock.png"/>
          <p:cNvPicPr>
            <a:picLocks noChangeAspect="1"/>
          </p:cNvPicPr>
          <p:nvPr/>
        </p:nvPicPr>
        <p:blipFill>
          <a:blip r:embed="rId4"/>
          <a:stretch>
            <a:fillRect/>
          </a:stretch>
        </p:blipFill>
        <p:spPr>
          <a:xfrm>
            <a:off x="7355002" y="5398681"/>
            <a:ext cx="115252" cy="167639"/>
          </a:xfrm>
          <a:prstGeom prst="rect">
            <a:avLst/>
          </a:prstGeom>
        </p:spPr>
      </p:pic>
      <p:pic>
        <p:nvPicPr>
          <p:cNvPr id="23" name="Picture 22" descr="lock.png"/>
          <p:cNvPicPr>
            <a:picLocks noChangeAspect="1"/>
          </p:cNvPicPr>
          <p:nvPr/>
        </p:nvPicPr>
        <p:blipFill>
          <a:blip r:embed="rId4"/>
          <a:stretch>
            <a:fillRect/>
          </a:stretch>
        </p:blipFill>
        <p:spPr>
          <a:xfrm>
            <a:off x="10469517" y="2070525"/>
            <a:ext cx="115252" cy="167639"/>
          </a:xfrm>
          <a:prstGeom prst="rect">
            <a:avLst/>
          </a:prstGeom>
        </p:spPr>
      </p:pic>
      <p:pic>
        <p:nvPicPr>
          <p:cNvPr id="24" name="Picture 23" descr="lock.png"/>
          <p:cNvPicPr>
            <a:picLocks noChangeAspect="1"/>
          </p:cNvPicPr>
          <p:nvPr/>
        </p:nvPicPr>
        <p:blipFill>
          <a:blip r:embed="rId4"/>
          <a:stretch>
            <a:fillRect/>
          </a:stretch>
        </p:blipFill>
        <p:spPr>
          <a:xfrm>
            <a:off x="10469517" y="3615216"/>
            <a:ext cx="115252" cy="167639"/>
          </a:xfrm>
          <a:prstGeom prst="rect">
            <a:avLst/>
          </a:prstGeom>
        </p:spPr>
      </p:pic>
      <p:pic>
        <p:nvPicPr>
          <p:cNvPr id="25" name="Picture 24" descr="lock.png"/>
          <p:cNvPicPr>
            <a:picLocks noChangeAspect="1"/>
          </p:cNvPicPr>
          <p:nvPr/>
        </p:nvPicPr>
        <p:blipFill>
          <a:blip r:embed="rId4"/>
          <a:stretch>
            <a:fillRect/>
          </a:stretch>
        </p:blipFill>
        <p:spPr>
          <a:xfrm>
            <a:off x="9779170" y="5464228"/>
            <a:ext cx="115252" cy="167639"/>
          </a:xfrm>
          <a:prstGeom prst="rect">
            <a:avLst/>
          </a:prstGeom>
        </p:spPr>
      </p:pic>
      <p:pic>
        <p:nvPicPr>
          <p:cNvPr id="26" name="Picture 25" descr="lock.png"/>
          <p:cNvPicPr>
            <a:picLocks noChangeAspect="1"/>
          </p:cNvPicPr>
          <p:nvPr/>
        </p:nvPicPr>
        <p:blipFill>
          <a:blip r:embed="rId4"/>
          <a:stretch>
            <a:fillRect/>
          </a:stretch>
        </p:blipFill>
        <p:spPr>
          <a:xfrm>
            <a:off x="11205900" y="5464228"/>
            <a:ext cx="115252" cy="167639"/>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Western Europe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Gross Vehicle Weight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Demand Type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System Architecture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System Architecture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System Architecture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System Architecture,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System Architecture segment categorizes the market by system architecture.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Recirculating Ball and Nut Type</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Rack Assist</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Column Assist</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Steer by Wire</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System Architecture split shows how demand is distributed across system architecture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36_8_605E5C.png"/>
          <p:cNvPicPr>
            <a:picLocks noChangeAspect="1"/>
          </p:cNvPicPr>
          <p:nvPr/>
        </p:nvPicPr>
        <p:blipFill>
          <a:blip r:embed="rId4"/>
          <a:stretch>
            <a:fillRect/>
          </a:stretch>
        </p:blipFill>
        <p:spPr>
          <a:xfrm>
            <a:off x="2582976" y="2286582"/>
            <a:ext cx="982436" cy="361950"/>
          </a:xfrm>
          <a:prstGeom prst="rect">
            <a:avLst/>
          </a:prstGeom>
        </p:spPr>
      </p:pic>
      <p:pic>
        <p:nvPicPr>
          <p:cNvPr id="64" name="Picture 63" descr="68_5_605E5C.png"/>
          <p:cNvPicPr>
            <a:picLocks noChangeAspect="1"/>
          </p:cNvPicPr>
          <p:nvPr/>
        </p:nvPicPr>
        <p:blipFill>
          <a:blip r:embed="rId5"/>
          <a:stretch>
            <a:fillRect/>
          </a:stretch>
        </p:blipFill>
        <p:spPr>
          <a:xfrm>
            <a:off x="2582976" y="2779432"/>
            <a:ext cx="982436" cy="361950"/>
          </a:xfrm>
          <a:prstGeom prst="rect">
            <a:avLst/>
          </a:prstGeom>
        </p:spPr>
      </p:pic>
      <p:pic>
        <p:nvPicPr>
          <p:cNvPr id="65" name="Picture 64" descr="6_4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35_7_605E5C.png"/>
          <p:cNvPicPr>
            <a:picLocks noChangeAspect="1"/>
          </p:cNvPicPr>
          <p:nvPr/>
        </p:nvPicPr>
        <p:blipFill>
          <a:blip r:embed="rId7"/>
          <a:stretch>
            <a:fillRect/>
          </a:stretch>
        </p:blipFill>
        <p:spPr>
          <a:xfrm>
            <a:off x="5111864" y="2286582"/>
            <a:ext cx="982436" cy="361950"/>
          </a:xfrm>
          <a:prstGeom prst="rect">
            <a:avLst/>
          </a:prstGeom>
        </p:spPr>
      </p:pic>
      <p:pic>
        <p:nvPicPr>
          <p:cNvPr id="67" name="Picture 66" descr="68_6_605E5C.png"/>
          <p:cNvPicPr>
            <a:picLocks noChangeAspect="1"/>
          </p:cNvPicPr>
          <p:nvPr/>
        </p:nvPicPr>
        <p:blipFill>
          <a:blip r:embed="rId8"/>
          <a:stretch>
            <a:fillRect/>
          </a:stretch>
        </p:blipFill>
        <p:spPr>
          <a:xfrm>
            <a:off x="5111864" y="2779432"/>
            <a:ext cx="982436" cy="361950"/>
          </a:xfrm>
          <a:prstGeom prst="rect">
            <a:avLst/>
          </a:prstGeom>
        </p:spPr>
      </p:pic>
      <p:pic>
        <p:nvPicPr>
          <p:cNvPr id="68" name="Picture 67" descr="6_8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1_5_605E5C.png"/>
          <p:cNvPicPr>
            <a:picLocks noChangeAspect="1"/>
          </p:cNvPicPr>
          <p:nvPr/>
        </p:nvPicPr>
        <p:blipFill>
          <a:blip r:embed="rId10"/>
          <a:stretch>
            <a:fillRect/>
          </a:stretch>
        </p:blipFill>
        <p:spPr>
          <a:xfrm>
            <a:off x="7640751" y="2286582"/>
            <a:ext cx="982436" cy="361950"/>
          </a:xfrm>
          <a:prstGeom prst="rect">
            <a:avLst/>
          </a:prstGeom>
        </p:spPr>
      </p:pic>
      <p:pic>
        <p:nvPicPr>
          <p:cNvPr id="70" name="Picture 69" descr="63_5_605E5C.png"/>
          <p:cNvPicPr>
            <a:picLocks noChangeAspect="1"/>
          </p:cNvPicPr>
          <p:nvPr/>
        </p:nvPicPr>
        <p:blipFill>
          <a:blip r:embed="rId11"/>
          <a:stretch>
            <a:fillRect/>
          </a:stretch>
        </p:blipFill>
        <p:spPr>
          <a:xfrm>
            <a:off x="7640751" y="2779432"/>
            <a:ext cx="982436" cy="361950"/>
          </a:xfrm>
          <a:prstGeom prst="rect">
            <a:avLst/>
          </a:prstGeom>
        </p:spPr>
      </p:pic>
      <p:pic>
        <p:nvPicPr>
          <p:cNvPr id="71" name="Picture 70" descr="7_3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16_7_605E5C.png"/>
          <p:cNvPicPr>
            <a:picLocks noChangeAspect="1"/>
          </p:cNvPicPr>
          <p:nvPr/>
        </p:nvPicPr>
        <p:blipFill>
          <a:blip r:embed="rId13"/>
          <a:stretch>
            <a:fillRect/>
          </a:stretch>
        </p:blipFill>
        <p:spPr>
          <a:xfrm>
            <a:off x="10169638" y="2286582"/>
            <a:ext cx="982436" cy="361950"/>
          </a:xfrm>
          <a:prstGeom prst="rect">
            <a:avLst/>
          </a:prstGeom>
        </p:spPr>
      </p:pic>
      <p:pic>
        <p:nvPicPr>
          <p:cNvPr id="73" name="Picture 72" descr="32_1_605E5C.png"/>
          <p:cNvPicPr>
            <a:picLocks noChangeAspect="1"/>
          </p:cNvPicPr>
          <p:nvPr/>
        </p:nvPicPr>
        <p:blipFill>
          <a:blip r:embed="rId14"/>
          <a:stretch>
            <a:fillRect/>
          </a:stretch>
        </p:blipFill>
        <p:spPr>
          <a:xfrm>
            <a:off x="10169638" y="2779432"/>
            <a:ext cx="982436" cy="361950"/>
          </a:xfrm>
          <a:prstGeom prst="rect">
            <a:avLst/>
          </a:prstGeom>
        </p:spPr>
      </p:pic>
      <p:pic>
        <p:nvPicPr>
          <p:cNvPr id="74" name="Picture 73" descr="6_8__605E5C.png"/>
          <p:cNvPicPr>
            <a:picLocks noChangeAspect="1"/>
          </p:cNvPicPr>
          <p:nvPr/>
        </p:nvPicPr>
        <p:blipFill>
          <a:blip r:embed="rId9"/>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5"/>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5"/>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5"/>
          <a:stretch>
            <a:fillRect/>
          </a:stretch>
        </p:blipFill>
        <p:spPr>
          <a:xfrm>
            <a:off x="10567511" y="2827057"/>
            <a:ext cx="183356" cy="266700"/>
          </a:xfrm>
          <a:prstGeom prst="rect">
            <a:avLst/>
          </a:prstGeom>
        </p:spPr>
      </p:pic>
      <p:sp>
        <p:nvSpPr>
          <p:cNvPr id="79" name="TextBox 78"/>
          <p:cNvSpPr txBox="1"/>
          <p:nvPr/>
        </p:nvSpPr>
        <p:spPr>
          <a:xfrm>
            <a:off x="485775" y="4229437"/>
            <a:ext cx="2813446" cy="186689"/>
          </a:xfrm>
          <a:prstGeom prst="rect">
            <a:avLst/>
          </a:prstGeom>
          <a:noFill/>
        </p:spPr>
        <p:txBody>
          <a:bodyPr wrap="none" lIns="0" rIns="0" tIns="0" bIns="0">
            <a:spAutoFit/>
          </a:bodyPr>
          <a:lstStyle/>
          <a:p>
            <a:r>
              <a:rPr sz="1100" b="0">
                <a:solidFill>
                  <a:srgbClr val="2E2E2E"/>
                </a:solidFill>
                <a:latin typeface="Calibri"/>
              </a:rPr>
              <a:t>Among heavy commercial vehicle EPS by system</a:t>
            </a:r>
          </a:p>
        </p:txBody>
      </p:sp>
      <p:sp>
        <p:nvSpPr>
          <p:cNvPr id="80" name="TextBox 7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architecture, column assist segment is expected to</a:t>
            </a:r>
          </a:p>
        </p:txBody>
      </p:sp>
      <p:sp>
        <p:nvSpPr>
          <p:cNvPr id="81" name="TextBox 8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82" name="Picture 81" descr="lock.png"/>
          <p:cNvPicPr>
            <a:picLocks noChangeAspect="1"/>
          </p:cNvPicPr>
          <p:nvPr/>
        </p:nvPicPr>
        <p:blipFill>
          <a:blip r:embed="rId15"/>
          <a:stretch>
            <a:fillRect/>
          </a:stretch>
        </p:blipFill>
        <p:spPr>
          <a:xfrm>
            <a:off x="2108919" y="4554938"/>
            <a:ext cx="128699" cy="187198"/>
          </a:xfrm>
          <a:prstGeom prst="rect">
            <a:avLst/>
          </a:prstGeom>
        </p:spPr>
      </p:pic>
      <p:sp>
        <p:nvSpPr>
          <p:cNvPr id="83" name="TextBox 8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84" name="TextBox 83"/>
          <p:cNvSpPr txBox="1"/>
          <p:nvPr/>
        </p:nvSpPr>
        <p:spPr>
          <a:xfrm>
            <a:off x="485775" y="4732357"/>
            <a:ext cx="2415902" cy="186689"/>
          </a:xfrm>
          <a:prstGeom prst="rect">
            <a:avLst/>
          </a:prstGeom>
          <a:noFill/>
        </p:spPr>
        <p:txBody>
          <a:bodyPr wrap="none" lIns="0" rIns="0" tIns="0" bIns="0">
            <a:spAutoFit/>
          </a:bodyPr>
          <a:lstStyle/>
          <a:p>
            <a:r>
              <a:rPr sz="1100" b="0">
                <a:solidFill>
                  <a:srgbClr val="2E2E2E"/>
                </a:solidFill>
                <a:latin typeface="Calibri"/>
              </a:rPr>
              <a:t>period. In terms of value share by system</a:t>
            </a:r>
          </a:p>
        </p:txBody>
      </p:sp>
      <p:sp>
        <p:nvSpPr>
          <p:cNvPr id="85" name="TextBox 84"/>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architecture, the rack assist segment is expected to</a:t>
            </a:r>
          </a:p>
        </p:txBody>
      </p:sp>
      <p:sp>
        <p:nvSpPr>
          <p:cNvPr id="86" name="TextBox 85"/>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87" name="Picture 86" descr="lock.png"/>
          <p:cNvPicPr>
            <a:picLocks noChangeAspect="1"/>
          </p:cNvPicPr>
          <p:nvPr/>
        </p:nvPicPr>
        <p:blipFill>
          <a:blip r:embed="rId15"/>
          <a:stretch>
            <a:fillRect/>
          </a:stretch>
        </p:blipFill>
        <p:spPr>
          <a:xfrm>
            <a:off x="2116576" y="5057858"/>
            <a:ext cx="128699" cy="187198"/>
          </a:xfrm>
          <a:prstGeom prst="rect">
            <a:avLst/>
          </a:prstGeom>
        </p:spPr>
      </p:pic>
      <p:sp>
        <p:nvSpPr>
          <p:cNvPr id="88" name="TextBox 87"/>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9" name="TextBox 8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90" name="Picture 89" descr="lock.png"/>
          <p:cNvPicPr>
            <a:picLocks noChangeAspect="1"/>
          </p:cNvPicPr>
          <p:nvPr/>
        </p:nvPicPr>
        <p:blipFill>
          <a:blip r:embed="rId15"/>
          <a:stretch>
            <a:fillRect/>
          </a:stretch>
        </p:blipFill>
        <p:spPr>
          <a:xfrm>
            <a:off x="1330764" y="5225498"/>
            <a:ext cx="128699" cy="187198"/>
          </a:xfrm>
          <a:prstGeom prst="rect">
            <a:avLst/>
          </a:prstGeom>
        </p:spPr>
      </p:pic>
      <p:sp>
        <p:nvSpPr>
          <p:cNvPr id="91" name="TextBox 9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524497" cy="186689"/>
          </a:xfrm>
          <a:prstGeom prst="rect">
            <a:avLst/>
          </a:prstGeom>
          <a:noFill/>
        </p:spPr>
        <p:txBody>
          <a:bodyPr wrap="none" lIns="0" rIns="0" tIns="0" bIns="0">
            <a:spAutoFit/>
          </a:bodyPr>
          <a:lstStyle/>
          <a:p>
            <a:r>
              <a:rPr sz="1100" b="0">
                <a:solidFill>
                  <a:srgbClr val="2E2E2E"/>
                </a:solidFill>
                <a:latin typeface="Calibri"/>
              </a:rPr>
              <a:t>Rack assist segment is projected to register</a:t>
            </a:r>
          </a:p>
        </p:txBody>
      </p:sp>
      <p:pic>
        <p:nvPicPr>
          <p:cNvPr id="93" name="Picture 92" descr="lock.png"/>
          <p:cNvPicPr>
            <a:picLocks noChangeAspect="1"/>
          </p:cNvPicPr>
          <p:nvPr/>
        </p:nvPicPr>
        <p:blipFill>
          <a:blip r:embed="rId15"/>
          <a:stretch>
            <a:fillRect/>
          </a:stretch>
        </p:blipFill>
        <p:spPr>
          <a:xfrm>
            <a:off x="2958323" y="5443430"/>
            <a:ext cx="128699" cy="187198"/>
          </a:xfrm>
          <a:prstGeom prst="rect">
            <a:avLst/>
          </a:prstGeom>
        </p:spPr>
      </p:pic>
      <p:sp>
        <p:nvSpPr>
          <p:cNvPr id="94" name="TextBox 93"/>
          <p:cNvSpPr txBox="1"/>
          <p:nvPr/>
        </p:nvSpPr>
        <p:spPr>
          <a:xfrm>
            <a:off x="3125819"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95" name="TextBox 94"/>
          <p:cNvSpPr txBox="1"/>
          <p:nvPr/>
        </p:nvSpPr>
        <p:spPr>
          <a:xfrm>
            <a:off x="485775" y="5620849"/>
            <a:ext cx="2800350" cy="186689"/>
          </a:xfrm>
          <a:prstGeom prst="rect">
            <a:avLst/>
          </a:prstGeom>
          <a:noFill/>
        </p:spPr>
        <p:txBody>
          <a:bodyPr wrap="none" lIns="0" rIns="0" tIns="0" bIns="0">
            <a:spAutoFit/>
          </a:bodyPr>
          <a:lstStyle/>
          <a:p>
            <a:r>
              <a:rPr sz="1100" b="0">
                <a:solidFill>
                  <a:srgbClr val="2E2E2E"/>
                </a:solidFill>
                <a:latin typeface="Calibri"/>
              </a:rPr>
              <a:t>higher value than recirculating ball and nut type</a:t>
            </a:r>
          </a:p>
        </p:txBody>
      </p:sp>
      <p:sp>
        <p:nvSpPr>
          <p:cNvPr id="96" name="TextBox 95"/>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97" name="TextBox 96"/>
          <p:cNvSpPr txBox="1"/>
          <p:nvPr/>
        </p:nvSpPr>
        <p:spPr>
          <a:xfrm>
            <a:off x="3838575" y="4229437"/>
            <a:ext cx="1997893" cy="186689"/>
          </a:xfrm>
          <a:prstGeom prst="rect">
            <a:avLst/>
          </a:prstGeom>
          <a:noFill/>
        </p:spPr>
        <p:txBody>
          <a:bodyPr wrap="none" lIns="0" rIns="0" tIns="0" bIns="0">
            <a:spAutoFit/>
          </a:bodyPr>
          <a:lstStyle/>
          <a:p>
            <a:r>
              <a:rPr sz="1100" b="0">
                <a:solidFill>
                  <a:srgbClr val="2E2E2E"/>
                </a:solidFill>
                <a:latin typeface="Calibri"/>
              </a:rPr>
              <a:t>● Recirculating Ball and Nut Type:</a:t>
            </a:r>
          </a:p>
        </p:txBody>
      </p:sp>
      <p:pic>
        <p:nvPicPr>
          <p:cNvPr id="98" name="Picture 97" descr="lock.png"/>
          <p:cNvPicPr>
            <a:picLocks noChangeAspect="1"/>
          </p:cNvPicPr>
          <p:nvPr/>
        </p:nvPicPr>
        <p:blipFill>
          <a:blip r:embed="rId15"/>
          <a:stretch>
            <a:fillRect/>
          </a:stretch>
        </p:blipFill>
        <p:spPr>
          <a:xfrm>
            <a:off x="5784520" y="4219658"/>
            <a:ext cx="128699" cy="187198"/>
          </a:xfrm>
          <a:prstGeom prst="rect">
            <a:avLst/>
          </a:prstGeom>
        </p:spPr>
      </p:pic>
      <p:sp>
        <p:nvSpPr>
          <p:cNvPr id="99" name="TextBox 98"/>
          <p:cNvSpPr txBox="1"/>
          <p:nvPr/>
        </p:nvSpPr>
        <p:spPr>
          <a:xfrm>
            <a:off x="595201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5"/>
          <a:stretch>
            <a:fillRect/>
          </a:stretch>
        </p:blipFill>
        <p:spPr>
          <a:xfrm>
            <a:off x="6811466" y="4219658"/>
            <a:ext cx="128699" cy="187198"/>
          </a:xfrm>
          <a:prstGeom prst="rect">
            <a:avLst/>
          </a:prstGeom>
        </p:spPr>
      </p:pic>
      <p:sp>
        <p:nvSpPr>
          <p:cNvPr id="101" name="TextBox 100"/>
          <p:cNvSpPr txBox="1"/>
          <p:nvPr/>
        </p:nvSpPr>
        <p:spPr>
          <a:xfrm>
            <a:off x="6978962"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2" name="TextBox 10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3" name="TextBox 102"/>
          <p:cNvSpPr txBox="1"/>
          <p:nvPr/>
        </p:nvSpPr>
        <p:spPr>
          <a:xfrm>
            <a:off x="3838575" y="4615009"/>
            <a:ext cx="850279" cy="186689"/>
          </a:xfrm>
          <a:prstGeom prst="rect">
            <a:avLst/>
          </a:prstGeom>
          <a:noFill/>
        </p:spPr>
        <p:txBody>
          <a:bodyPr wrap="none" lIns="0" rIns="0" tIns="0" bIns="0">
            <a:spAutoFit/>
          </a:bodyPr>
          <a:lstStyle/>
          <a:p>
            <a:r>
              <a:rPr sz="1100" b="0">
                <a:solidFill>
                  <a:srgbClr val="2E2E2E"/>
                </a:solidFill>
                <a:latin typeface="Calibri"/>
              </a:rPr>
              <a:t>● Rack Assist:</a:t>
            </a:r>
          </a:p>
        </p:txBody>
      </p:sp>
      <p:pic>
        <p:nvPicPr>
          <p:cNvPr id="104" name="Picture 103" descr="lock.png"/>
          <p:cNvPicPr>
            <a:picLocks noChangeAspect="1"/>
          </p:cNvPicPr>
          <p:nvPr/>
        </p:nvPicPr>
        <p:blipFill>
          <a:blip r:embed="rId15"/>
          <a:stretch>
            <a:fillRect/>
          </a:stretch>
        </p:blipFill>
        <p:spPr>
          <a:xfrm>
            <a:off x="4636906" y="4605230"/>
            <a:ext cx="128699" cy="187198"/>
          </a:xfrm>
          <a:prstGeom prst="rect">
            <a:avLst/>
          </a:prstGeom>
        </p:spPr>
      </p:pic>
      <p:sp>
        <p:nvSpPr>
          <p:cNvPr id="105" name="TextBox 104"/>
          <p:cNvSpPr txBox="1"/>
          <p:nvPr/>
        </p:nvSpPr>
        <p:spPr>
          <a:xfrm>
            <a:off x="480440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5"/>
          <a:stretch>
            <a:fillRect/>
          </a:stretch>
        </p:blipFill>
        <p:spPr>
          <a:xfrm>
            <a:off x="5663852" y="4605230"/>
            <a:ext cx="128699" cy="187198"/>
          </a:xfrm>
          <a:prstGeom prst="rect">
            <a:avLst/>
          </a:prstGeom>
        </p:spPr>
      </p:pic>
      <p:sp>
        <p:nvSpPr>
          <p:cNvPr id="107" name="TextBox 106"/>
          <p:cNvSpPr txBox="1"/>
          <p:nvPr/>
        </p:nvSpPr>
        <p:spPr>
          <a:xfrm>
            <a:off x="5831348"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8" name="TextBox 107"/>
          <p:cNvSpPr txBox="1"/>
          <p:nvPr/>
        </p:nvSpPr>
        <p:spPr>
          <a:xfrm>
            <a:off x="3838575" y="4832941"/>
            <a:ext cx="1023540" cy="186689"/>
          </a:xfrm>
          <a:prstGeom prst="rect">
            <a:avLst/>
          </a:prstGeom>
          <a:noFill/>
        </p:spPr>
        <p:txBody>
          <a:bodyPr wrap="none" lIns="0" rIns="0" tIns="0" bIns="0">
            <a:spAutoFit/>
          </a:bodyPr>
          <a:lstStyle/>
          <a:p>
            <a:r>
              <a:rPr sz="1100" b="0">
                <a:solidFill>
                  <a:srgbClr val="2E2E2E"/>
                </a:solidFill>
                <a:latin typeface="Calibri"/>
              </a:rPr>
              <a:t>● Column Assist:</a:t>
            </a:r>
          </a:p>
        </p:txBody>
      </p:sp>
      <p:pic>
        <p:nvPicPr>
          <p:cNvPr id="109" name="Picture 108" descr="lock.png"/>
          <p:cNvPicPr>
            <a:picLocks noChangeAspect="1"/>
          </p:cNvPicPr>
          <p:nvPr/>
        </p:nvPicPr>
        <p:blipFill>
          <a:blip r:embed="rId15"/>
          <a:stretch>
            <a:fillRect/>
          </a:stretch>
        </p:blipFill>
        <p:spPr>
          <a:xfrm>
            <a:off x="4810167" y="4823162"/>
            <a:ext cx="128699" cy="187198"/>
          </a:xfrm>
          <a:prstGeom prst="rect">
            <a:avLst/>
          </a:prstGeom>
        </p:spPr>
      </p:pic>
      <p:sp>
        <p:nvSpPr>
          <p:cNvPr id="110" name="TextBox 109"/>
          <p:cNvSpPr txBox="1"/>
          <p:nvPr/>
        </p:nvSpPr>
        <p:spPr>
          <a:xfrm>
            <a:off x="4977663"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5"/>
          <a:stretch>
            <a:fillRect/>
          </a:stretch>
        </p:blipFill>
        <p:spPr>
          <a:xfrm>
            <a:off x="5837113" y="4823162"/>
            <a:ext cx="128699" cy="187198"/>
          </a:xfrm>
          <a:prstGeom prst="rect">
            <a:avLst/>
          </a:prstGeom>
        </p:spPr>
      </p:pic>
      <p:sp>
        <p:nvSpPr>
          <p:cNvPr id="112" name="TextBox 111"/>
          <p:cNvSpPr txBox="1"/>
          <p:nvPr/>
        </p:nvSpPr>
        <p:spPr>
          <a:xfrm>
            <a:off x="6004609" y="483294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3" name="TextBox 112"/>
          <p:cNvSpPr txBox="1"/>
          <p:nvPr/>
        </p:nvSpPr>
        <p:spPr>
          <a:xfrm>
            <a:off x="3838575" y="5050872"/>
            <a:ext cx="1003622" cy="186689"/>
          </a:xfrm>
          <a:prstGeom prst="rect">
            <a:avLst/>
          </a:prstGeom>
          <a:noFill/>
        </p:spPr>
        <p:txBody>
          <a:bodyPr wrap="none" lIns="0" rIns="0" tIns="0" bIns="0">
            <a:spAutoFit/>
          </a:bodyPr>
          <a:lstStyle/>
          <a:p>
            <a:r>
              <a:rPr sz="1100" b="0">
                <a:solidFill>
                  <a:srgbClr val="2E2E2E"/>
                </a:solidFill>
                <a:latin typeface="Calibri"/>
              </a:rPr>
              <a:t>● Steer by Wire:</a:t>
            </a:r>
          </a:p>
        </p:txBody>
      </p:sp>
      <p:pic>
        <p:nvPicPr>
          <p:cNvPr id="114" name="Picture 113" descr="lock.png"/>
          <p:cNvPicPr>
            <a:picLocks noChangeAspect="1"/>
          </p:cNvPicPr>
          <p:nvPr/>
        </p:nvPicPr>
        <p:blipFill>
          <a:blip r:embed="rId15"/>
          <a:stretch>
            <a:fillRect/>
          </a:stretch>
        </p:blipFill>
        <p:spPr>
          <a:xfrm>
            <a:off x="4790249" y="5041093"/>
            <a:ext cx="128699" cy="187198"/>
          </a:xfrm>
          <a:prstGeom prst="rect">
            <a:avLst/>
          </a:prstGeom>
        </p:spPr>
      </p:pic>
      <p:sp>
        <p:nvSpPr>
          <p:cNvPr id="115" name="TextBox 114"/>
          <p:cNvSpPr txBox="1"/>
          <p:nvPr/>
        </p:nvSpPr>
        <p:spPr>
          <a:xfrm>
            <a:off x="4957744"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5"/>
          <a:stretch>
            <a:fillRect/>
          </a:stretch>
        </p:blipFill>
        <p:spPr>
          <a:xfrm>
            <a:off x="5817195" y="5041093"/>
            <a:ext cx="128699" cy="187198"/>
          </a:xfrm>
          <a:prstGeom prst="rect">
            <a:avLst/>
          </a:prstGeom>
        </p:spPr>
      </p:pic>
      <p:sp>
        <p:nvSpPr>
          <p:cNvPr id="117" name="TextBox 116"/>
          <p:cNvSpPr txBox="1"/>
          <p:nvPr/>
        </p:nvSpPr>
        <p:spPr>
          <a:xfrm>
            <a:off x="5984690"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42641"/>
            <a:ext cx="3024869" cy="194310"/>
          </a:xfrm>
          <a:prstGeom prst="rect">
            <a:avLst/>
          </a:prstGeom>
          <a:noFill/>
        </p:spPr>
        <p:txBody>
          <a:bodyPr wrap="none" lIns="0" rIns="0" tIns="0" bIns="0">
            <a:spAutoFit/>
          </a:bodyPr>
          <a:lstStyle/>
          <a:p>
            <a:r>
              <a:rPr sz="1150" b="1">
                <a:solidFill>
                  <a:srgbClr val="0B2E4A"/>
                </a:solidFill>
                <a:latin typeface="Calibri"/>
              </a:rPr>
              <a:t>The System Architecture segment is projected to</a:t>
            </a:r>
          </a:p>
        </p:txBody>
      </p:sp>
      <p:sp>
        <p:nvSpPr>
          <p:cNvPr id="119" name="TextBox 118"/>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20" name="Picture 119" descr="lock.png"/>
          <p:cNvPicPr>
            <a:picLocks noChangeAspect="1"/>
          </p:cNvPicPr>
          <p:nvPr/>
        </p:nvPicPr>
        <p:blipFill>
          <a:blip r:embed="rId15"/>
          <a:stretch>
            <a:fillRect/>
          </a:stretch>
        </p:blipFill>
        <p:spPr>
          <a:xfrm>
            <a:off x="9651852" y="6007677"/>
            <a:ext cx="134549" cy="195707"/>
          </a:xfrm>
          <a:prstGeom prst="rect">
            <a:avLst/>
          </a:prstGeom>
        </p:spPr>
      </p:pic>
      <p:sp>
        <p:nvSpPr>
          <p:cNvPr id="121" name="TextBox 120"/>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Structure &amp; Attractiveness, By System Architecture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System Architecture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System Architecture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System Architecture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52745" cy="186689"/>
          </a:xfrm>
          <a:prstGeom prst="rect">
            <a:avLst/>
          </a:prstGeom>
          <a:noFill/>
        </p:spPr>
        <p:txBody>
          <a:bodyPr wrap="none" lIns="0" rIns="0" tIns="0" bIns="0">
            <a:spAutoFit/>
          </a:bodyPr>
          <a:lstStyle/>
          <a:p>
            <a:r>
              <a:rPr sz="1100" b="0">
                <a:solidFill>
                  <a:srgbClr val="2E2E2E"/>
                </a:solidFill>
                <a:latin typeface="Calibri"/>
              </a:rPr>
              <a:t>Rack assist followed by recirculating ball and nut type are expected to be the two most attractive system architecture segments in the Western Europe heavy commercial vehicle EPS market in terms of</a:t>
            </a:r>
          </a:p>
        </p:txBody>
      </p:sp>
      <p:sp>
        <p:nvSpPr>
          <p:cNvPr id="20" name="TextBox 19"/>
          <p:cNvSpPr txBox="1"/>
          <p:nvPr/>
        </p:nvSpPr>
        <p:spPr>
          <a:xfrm>
            <a:off x="257175" y="5861685"/>
            <a:ext cx="5795151" cy="186689"/>
          </a:xfrm>
          <a:prstGeom prst="rect">
            <a:avLst/>
          </a:prstGeom>
          <a:noFill/>
        </p:spPr>
        <p:txBody>
          <a:bodyPr wrap="none" lIns="0" rIns="0" tIns="0" bIns="0">
            <a:spAutoFit/>
          </a:bodyPr>
          <a:lstStyle/>
          <a:p>
            <a:r>
              <a:rPr sz="1100" b="0">
                <a:solidFill>
                  <a:srgbClr val="2E2E2E"/>
                </a:solidFill>
                <a:latin typeface="Calibri"/>
              </a:rPr>
              <a:t>value over the forecast period. Rack assist and recirculating ball and nut type exhibit a CAGR index of</a:t>
            </a:r>
          </a:p>
        </p:txBody>
      </p:sp>
      <p:pic>
        <p:nvPicPr>
          <p:cNvPr id="21" name="Picture 20" descr="lock.png"/>
          <p:cNvPicPr>
            <a:picLocks noChangeAspect="1"/>
          </p:cNvPicPr>
          <p:nvPr/>
        </p:nvPicPr>
        <p:blipFill>
          <a:blip r:embed="rId6"/>
          <a:stretch>
            <a:fillRect/>
          </a:stretch>
        </p:blipFill>
        <p:spPr>
          <a:xfrm>
            <a:off x="6000378" y="5851905"/>
            <a:ext cx="128699" cy="187198"/>
          </a:xfrm>
          <a:prstGeom prst="rect">
            <a:avLst/>
          </a:prstGeom>
        </p:spPr>
      </p:pic>
      <p:sp>
        <p:nvSpPr>
          <p:cNvPr id="22" name="TextBox 21"/>
          <p:cNvSpPr txBox="1"/>
          <p:nvPr/>
        </p:nvSpPr>
        <p:spPr>
          <a:xfrm>
            <a:off x="616787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405768" y="5851905"/>
            <a:ext cx="128699" cy="187198"/>
          </a:xfrm>
          <a:prstGeom prst="rect">
            <a:avLst/>
          </a:prstGeom>
        </p:spPr>
      </p:pic>
      <p:sp>
        <p:nvSpPr>
          <p:cNvPr id="24" name="TextBox 23"/>
          <p:cNvSpPr txBox="1"/>
          <p:nvPr/>
        </p:nvSpPr>
        <p:spPr>
          <a:xfrm>
            <a:off x="657326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182237" y="5851905"/>
            <a:ext cx="128699" cy="187198"/>
          </a:xfrm>
          <a:prstGeom prst="rect">
            <a:avLst/>
          </a:prstGeom>
        </p:spPr>
      </p:pic>
      <p:sp>
        <p:nvSpPr>
          <p:cNvPr id="26" name="TextBox 25"/>
          <p:cNvSpPr txBox="1"/>
          <p:nvPr/>
        </p:nvSpPr>
        <p:spPr>
          <a:xfrm>
            <a:off x="834973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8587627" y="5851905"/>
            <a:ext cx="128699" cy="187198"/>
          </a:xfrm>
          <a:prstGeom prst="rect">
            <a:avLst/>
          </a:prstGeom>
        </p:spPr>
      </p:pic>
      <p:sp>
        <p:nvSpPr>
          <p:cNvPr id="28" name="TextBox 27"/>
          <p:cNvSpPr txBox="1"/>
          <p:nvPr/>
        </p:nvSpPr>
        <p:spPr>
          <a:xfrm>
            <a:off x="8755123"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243707" y="6019545"/>
            <a:ext cx="128699" cy="187198"/>
          </a:xfrm>
          <a:prstGeom prst="rect">
            <a:avLst/>
          </a:prstGeom>
        </p:spPr>
      </p:pic>
      <p:sp>
        <p:nvSpPr>
          <p:cNvPr id="30" name="TextBox 29"/>
          <p:cNvSpPr txBox="1"/>
          <p:nvPr/>
        </p:nvSpPr>
        <p:spPr>
          <a:xfrm>
            <a:off x="411203" y="6029325"/>
            <a:ext cx="11004706" cy="186689"/>
          </a:xfrm>
          <a:prstGeom prst="rect">
            <a:avLst/>
          </a:prstGeom>
          <a:noFill/>
        </p:spPr>
        <p:txBody>
          <a:bodyPr wrap="none" lIns="0" rIns="0" tIns="0" bIns="0">
            <a:spAutoFit/>
          </a:bodyPr>
          <a:lstStyle/>
          <a:p>
            <a:r>
              <a:rPr sz="1100" b="0">
                <a:solidFill>
                  <a:srgbClr val="2E2E2E"/>
                </a:solidFill>
                <a:latin typeface="Calibri"/>
              </a:rPr>
              <a:t>. The steer by wire segment is expected to be less attractive as compared to other segments over the forecast period, owing to its lower CAGR and incremental opportunity. Bubbles right of the</a:t>
            </a:r>
          </a:p>
        </p:txBody>
      </p:sp>
      <p:sp>
        <p:nvSpPr>
          <p:cNvPr id="31" name="TextBox 30"/>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Absolute $ Opportunity Analysis, By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System Architecture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Recirculating Ball and Nut Type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Rack Assist</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Column Assist</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Steer by Wire</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Analysis, By System Architecture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System Architecture,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By System Architecture (US$ Mn)</a:t>
            </a:r>
          </a:p>
        </p:txBody>
      </p:sp>
      <p:graphicFrame>
        <p:nvGraphicFramePr>
          <p:cNvPr id="12" name="Table 11"/>
          <p:cNvGraphicFramePr>
            <a:graphicFrameLocks noGrp="1"/>
          </p:cNvGraphicFramePr>
          <p:nvPr/>
        </p:nvGraphicFramePr>
        <p:xfrm>
          <a:off x="152400" y="1238250"/>
          <a:ext cx="11887205" cy="1485896"/>
        </p:xfrm>
        <a:graphic>
          <a:graphicData uri="http://schemas.openxmlformats.org/drawingml/2006/table">
            <a:tbl>
              <a:tblPr>
                <a:tableStyleId>{5C22544A-7EE6-4342-B048-85BDC9FD1C3A}</a:tableStyleId>
              </a:tblPr>
              <a:tblGrid>
                <a:gridCol w="2060865"/>
                <a:gridCol w="578020"/>
                <a:gridCol w="578020"/>
                <a:gridCol w="578020"/>
                <a:gridCol w="578020"/>
                <a:gridCol w="578020"/>
                <a:gridCol w="578020"/>
                <a:gridCol w="578020"/>
                <a:gridCol w="578020"/>
                <a:gridCol w="578020"/>
                <a:gridCol w="578020"/>
                <a:gridCol w="578020"/>
                <a:gridCol w="578020"/>
                <a:gridCol w="578020"/>
                <a:gridCol w="578020"/>
                <a:gridCol w="578020"/>
                <a:gridCol w="578020"/>
                <a:gridCol w="578020"/>
              </a:tblGrid>
              <a:tr h="246126">
                <a:tc>
                  <a:txBody>
                    <a:bodyPr wrap="none"/>
                    <a:lstStyle/>
                    <a:p>
                      <a:pPr algn="l"/>
                      <a:r>
                        <a:rPr sz="1100" b="1">
                          <a:solidFill>
                            <a:srgbClr val="0B2E4A"/>
                          </a:solidFill>
                          <a:latin typeface="Calibri"/>
                        </a:rPr>
                        <a:t>System Architecture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Recirculating Ball and Nut Type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Rack Assist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Column Assist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Steer by Wire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Value Analysis, By System Architecture</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939745" y="1837563"/>
            <a:ext cx="366712" cy="533399"/>
          </a:xfrm>
          <a:prstGeom prst="rect">
            <a:avLst/>
          </a:prstGeom>
        </p:spPr>
      </p:pic>
      <p:sp>
        <p:nvSpPr>
          <p:cNvPr id="20" name="TextBox 19"/>
          <p:cNvSpPr txBox="1"/>
          <p:nvPr/>
        </p:nvSpPr>
        <p:spPr>
          <a:xfrm>
            <a:off x="276225" y="3486150"/>
            <a:ext cx="2635783" cy="194310"/>
          </a:xfrm>
          <a:prstGeom prst="rect">
            <a:avLst/>
          </a:prstGeom>
          <a:noFill/>
        </p:spPr>
        <p:txBody>
          <a:bodyPr wrap="none" lIns="0" rIns="0" tIns="0" bIns="0">
            <a:spAutoFit/>
          </a:bodyPr>
          <a:lstStyle/>
          <a:p>
            <a:r>
              <a:rPr sz="1150" b="0">
                <a:solidFill>
                  <a:srgbClr val="2E2E2E"/>
                </a:solidFill>
                <a:latin typeface="Calibri"/>
              </a:rPr>
              <a:t>Rack assist segment is projected to register</a:t>
            </a:r>
          </a:p>
        </p:txBody>
      </p:sp>
      <p:pic>
        <p:nvPicPr>
          <p:cNvPr id="21" name="Picture 20" descr="lock.png"/>
          <p:cNvPicPr>
            <a:picLocks noChangeAspect="1"/>
          </p:cNvPicPr>
          <p:nvPr/>
        </p:nvPicPr>
        <p:blipFill>
          <a:blip r:embed="rId4"/>
          <a:stretch>
            <a:fillRect/>
          </a:stretch>
        </p:blipFill>
        <p:spPr>
          <a:xfrm>
            <a:off x="2861162" y="3475926"/>
            <a:ext cx="134549" cy="195707"/>
          </a:xfrm>
          <a:prstGeom prst="rect">
            <a:avLst/>
          </a:prstGeom>
        </p:spPr>
      </p:pic>
      <p:sp>
        <p:nvSpPr>
          <p:cNvPr id="22" name="TextBox 21"/>
          <p:cNvSpPr txBox="1"/>
          <p:nvPr/>
        </p:nvSpPr>
        <p:spPr>
          <a:xfrm>
            <a:off x="3036271" y="3486150"/>
            <a:ext cx="8613564" cy="194310"/>
          </a:xfrm>
          <a:prstGeom prst="rect">
            <a:avLst/>
          </a:prstGeom>
          <a:noFill/>
        </p:spPr>
        <p:txBody>
          <a:bodyPr wrap="none" lIns="0" rIns="0" tIns="0" bIns="0">
            <a:spAutoFit/>
          </a:bodyPr>
          <a:lstStyle/>
          <a:p>
            <a:r>
              <a:rPr sz="1150" b="0">
                <a:solidFill>
                  <a:srgbClr val="2E2E2E"/>
                </a:solidFill>
                <a:latin typeface="Calibri"/>
              </a:rPr>
              <a:t>X higher value than recirculating ball and nut type segment in 2036. Among heavy commercial vehicle EPS by system architecture, column assist</a:t>
            </a:r>
          </a:p>
        </p:txBody>
      </p:sp>
      <p:sp>
        <p:nvSpPr>
          <p:cNvPr id="23" name="TextBox 22"/>
          <p:cNvSpPr txBox="1"/>
          <p:nvPr/>
        </p:nvSpPr>
        <p:spPr>
          <a:xfrm>
            <a:off x="276225" y="36614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651186"/>
            <a:ext cx="134549" cy="195707"/>
          </a:xfrm>
          <a:prstGeom prst="rect">
            <a:avLst/>
          </a:prstGeom>
        </p:spPr>
      </p:pic>
      <p:sp>
        <p:nvSpPr>
          <p:cNvPr id="25" name="TextBox 24"/>
          <p:cNvSpPr txBox="1"/>
          <p:nvPr/>
        </p:nvSpPr>
        <p:spPr>
          <a:xfrm>
            <a:off x="3557127"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6852977" cy="194310"/>
          </a:xfrm>
          <a:prstGeom prst="rect">
            <a:avLst/>
          </a:prstGeom>
          <a:noFill/>
        </p:spPr>
        <p:txBody>
          <a:bodyPr wrap="none" lIns="0" rIns="0" tIns="0" bIns="0">
            <a:spAutoFit/>
          </a:bodyPr>
          <a:lstStyle/>
          <a:p>
            <a:r>
              <a:rPr sz="1150" b="0">
                <a:solidFill>
                  <a:srgbClr val="2E2E2E"/>
                </a:solidFill>
                <a:latin typeface="Calibri"/>
              </a:rPr>
              <a:t>In terms of value share by system architecture, the rack assist segment is expected to dominate the market, losing</a:t>
            </a:r>
          </a:p>
        </p:txBody>
      </p:sp>
      <p:pic>
        <p:nvPicPr>
          <p:cNvPr id="27" name="Picture 26" descr="lock.png"/>
          <p:cNvPicPr>
            <a:picLocks noChangeAspect="1"/>
          </p:cNvPicPr>
          <p:nvPr/>
        </p:nvPicPr>
        <p:blipFill>
          <a:blip r:embed="rId4"/>
          <a:stretch>
            <a:fillRect/>
          </a:stretch>
        </p:blipFill>
        <p:spPr>
          <a:xfrm>
            <a:off x="7078355" y="3879024"/>
            <a:ext cx="134549" cy="195707"/>
          </a:xfrm>
          <a:prstGeom prst="rect">
            <a:avLst/>
          </a:prstGeom>
        </p:spPr>
      </p:pic>
      <p:sp>
        <p:nvSpPr>
          <p:cNvPr id="28" name="TextBox 27"/>
          <p:cNvSpPr txBox="1"/>
          <p:nvPr/>
        </p:nvSpPr>
        <p:spPr>
          <a:xfrm>
            <a:off x="7253465"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648608" y="3879024"/>
            <a:ext cx="134549" cy="195707"/>
          </a:xfrm>
          <a:prstGeom prst="rect">
            <a:avLst/>
          </a:prstGeom>
        </p:spPr>
      </p:pic>
      <p:sp>
        <p:nvSpPr>
          <p:cNvPr id="30" name="TextBox 29"/>
          <p:cNvSpPr txBox="1"/>
          <p:nvPr/>
        </p:nvSpPr>
        <p:spPr>
          <a:xfrm>
            <a:off x="8823717" y="3889247"/>
            <a:ext cx="2713087" cy="194310"/>
          </a:xfrm>
          <a:prstGeom prst="rect">
            <a:avLst/>
          </a:prstGeom>
          <a:noFill/>
        </p:spPr>
        <p:txBody>
          <a:bodyPr wrap="none" lIns="0" rIns="0" tIns="0" bIns="0">
            <a:spAutoFit/>
          </a:bodyPr>
          <a:lstStyle/>
          <a:p>
            <a:r>
              <a:rPr sz="1150" b="0">
                <a:solidFill>
                  <a:srgbClr val="2E2E2E"/>
                </a:solidFill>
                <a:latin typeface="Calibri"/>
              </a:rPr>
              <a:t>share by 2036. The recirculating ball and nut</a:t>
            </a:r>
          </a:p>
        </p:txBody>
      </p:sp>
      <p:sp>
        <p:nvSpPr>
          <p:cNvPr id="31" name="TextBox 30"/>
          <p:cNvSpPr txBox="1"/>
          <p:nvPr/>
        </p:nvSpPr>
        <p:spPr>
          <a:xfrm>
            <a:off x="276225" y="4064507"/>
            <a:ext cx="2023343" cy="194310"/>
          </a:xfrm>
          <a:prstGeom prst="rect">
            <a:avLst/>
          </a:prstGeom>
          <a:noFill/>
        </p:spPr>
        <p:txBody>
          <a:bodyPr wrap="none" lIns="0" rIns="0" tIns="0" bIns="0">
            <a:spAutoFit/>
          </a:bodyPr>
          <a:lstStyle/>
          <a:p>
            <a:r>
              <a:rPr sz="1150" b="0">
                <a:solidFill>
                  <a:srgbClr val="2E2E2E"/>
                </a:solidFill>
                <a:latin typeface="Calibri"/>
              </a:rPr>
              <a:t>type segment is expected to lose</a:t>
            </a:r>
          </a:p>
        </p:txBody>
      </p:sp>
      <p:pic>
        <p:nvPicPr>
          <p:cNvPr id="32" name="Picture 31" descr="lock.png"/>
          <p:cNvPicPr>
            <a:picLocks noChangeAspect="1"/>
          </p:cNvPicPr>
          <p:nvPr/>
        </p:nvPicPr>
        <p:blipFill>
          <a:blip r:embed="rId4"/>
          <a:stretch>
            <a:fillRect/>
          </a:stretch>
        </p:blipFill>
        <p:spPr>
          <a:xfrm>
            <a:off x="2248722" y="4054284"/>
            <a:ext cx="134549" cy="195707"/>
          </a:xfrm>
          <a:prstGeom prst="rect">
            <a:avLst/>
          </a:prstGeom>
        </p:spPr>
      </p:pic>
      <p:sp>
        <p:nvSpPr>
          <p:cNvPr id="33" name="TextBox 32"/>
          <p:cNvSpPr txBox="1"/>
          <p:nvPr/>
        </p:nvSpPr>
        <p:spPr>
          <a:xfrm>
            <a:off x="2423831"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011335" y="4054284"/>
            <a:ext cx="134549" cy="195707"/>
          </a:xfrm>
          <a:prstGeom prst="rect">
            <a:avLst/>
          </a:prstGeom>
        </p:spPr>
      </p:pic>
      <p:sp>
        <p:nvSpPr>
          <p:cNvPr id="35" name="TextBox 34"/>
          <p:cNvSpPr txBox="1"/>
          <p:nvPr/>
        </p:nvSpPr>
        <p:spPr>
          <a:xfrm>
            <a:off x="5186445"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&amp; Share Shift, By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System Architecture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Composition, By System Architecture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8695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821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059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Steer by Wire</a:t>
            </a:r>
          </a:p>
        </p:txBody>
      </p:sp>
      <p:sp>
        <p:nvSpPr>
          <p:cNvPr id="18" name="BPS Value 1"/>
          <p:cNvSpPr txBox="1"/>
          <p:nvPr/>
        </p:nvSpPr>
        <p:spPr>
          <a:xfrm>
            <a:off x="6896100" y="19679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92648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9217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8455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Column Assist</a:t>
            </a:r>
          </a:p>
        </p:txBody>
      </p:sp>
      <p:sp>
        <p:nvSpPr>
          <p:cNvPr id="22" name="BPS Value 2"/>
          <p:cNvSpPr txBox="1"/>
          <p:nvPr/>
        </p:nvSpPr>
        <p:spPr>
          <a:xfrm>
            <a:off x="6896100" y="290743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422352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421875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1425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Recirculating Ball and Nut Type</a:t>
            </a:r>
          </a:p>
        </p:txBody>
      </p:sp>
      <p:sp>
        <p:nvSpPr>
          <p:cNvPr id="26" name="BPS Value 3"/>
          <p:cNvSpPr txBox="1"/>
          <p:nvPr/>
        </p:nvSpPr>
        <p:spPr>
          <a:xfrm>
            <a:off x="6896100" y="420447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557018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56542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4892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Rack Assist</a:t>
            </a:r>
          </a:p>
        </p:txBody>
      </p:sp>
      <p:sp>
        <p:nvSpPr>
          <p:cNvPr id="30" name="BPS Value 4"/>
          <p:cNvSpPr txBox="1"/>
          <p:nvPr/>
        </p:nvSpPr>
        <p:spPr>
          <a:xfrm>
            <a:off x="6896100" y="555113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Western Europe Read-out, By System Architecture</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734010" cy="194310"/>
          </a:xfrm>
          <a:prstGeom prst="rect">
            <a:avLst/>
          </a:prstGeom>
          <a:noFill/>
        </p:spPr>
        <p:txBody>
          <a:bodyPr wrap="none" lIns="0" rIns="0" tIns="0" bIns="0">
            <a:spAutoFit/>
          </a:bodyPr>
          <a:lstStyle/>
          <a:p>
            <a:r>
              <a:rPr sz="1150" b="0">
                <a:solidFill>
                  <a:srgbClr val="2E2E2E"/>
                </a:solidFill>
                <a:latin typeface="Calibri"/>
              </a:rPr>
              <a:t>Among heavy commercial vehicle EPS by system architecture,</a:t>
            </a:r>
          </a:p>
        </p:txBody>
      </p:sp>
      <p:sp>
        <p:nvSpPr>
          <p:cNvPr id="38" name="TextBox 37"/>
          <p:cNvSpPr txBox="1"/>
          <p:nvPr/>
        </p:nvSpPr>
        <p:spPr>
          <a:xfrm>
            <a:off x="7829550" y="1575435"/>
            <a:ext cx="3989295" cy="194310"/>
          </a:xfrm>
          <a:prstGeom prst="rect">
            <a:avLst/>
          </a:prstGeom>
          <a:noFill/>
        </p:spPr>
        <p:txBody>
          <a:bodyPr wrap="none" lIns="0" rIns="0" tIns="0" bIns="0">
            <a:spAutoFit/>
          </a:bodyPr>
          <a:lstStyle/>
          <a:p>
            <a:r>
              <a:rPr sz="1150" b="0">
                <a:solidFill>
                  <a:srgbClr val="2E2E2E"/>
                </a:solidFill>
                <a:latin typeface="Calibri"/>
              </a:rPr>
              <a:t>column assist segment is expected to witness the highest CAGR of</a:t>
            </a:r>
          </a:p>
        </p:txBody>
      </p:sp>
      <p:pic>
        <p:nvPicPr>
          <p:cNvPr id="39" name="Picture 38" descr="lock.png"/>
          <p:cNvPicPr>
            <a:picLocks noChangeAspect="1"/>
          </p:cNvPicPr>
          <p:nvPr/>
        </p:nvPicPr>
        <p:blipFill>
          <a:blip r:embed="rId5"/>
          <a:stretch>
            <a:fillRect/>
          </a:stretch>
        </p:blipFill>
        <p:spPr>
          <a:xfrm>
            <a:off x="7815470" y="1740471"/>
            <a:ext cx="134549" cy="195707"/>
          </a:xfrm>
          <a:prstGeom prst="rect">
            <a:avLst/>
          </a:prstGeom>
        </p:spPr>
      </p:pic>
      <p:sp>
        <p:nvSpPr>
          <p:cNvPr id="40" name="TextBox 39"/>
          <p:cNvSpPr txBox="1"/>
          <p:nvPr/>
        </p:nvSpPr>
        <p:spPr>
          <a:xfrm>
            <a:off x="7990579" y="1750695"/>
            <a:ext cx="3569989"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system</a:t>
            </a:r>
          </a:p>
        </p:txBody>
      </p:sp>
      <p:sp>
        <p:nvSpPr>
          <p:cNvPr id="41" name="TextBox 40"/>
          <p:cNvSpPr txBox="1"/>
          <p:nvPr/>
        </p:nvSpPr>
        <p:spPr>
          <a:xfrm>
            <a:off x="7829550" y="1925955"/>
            <a:ext cx="3956223" cy="194310"/>
          </a:xfrm>
          <a:prstGeom prst="rect">
            <a:avLst/>
          </a:prstGeom>
          <a:noFill/>
        </p:spPr>
        <p:txBody>
          <a:bodyPr wrap="none" lIns="0" rIns="0" tIns="0" bIns="0">
            <a:spAutoFit/>
          </a:bodyPr>
          <a:lstStyle/>
          <a:p>
            <a:r>
              <a:rPr sz="1150" b="0">
                <a:solidFill>
                  <a:srgbClr val="2E2E2E"/>
                </a:solidFill>
                <a:latin typeface="Calibri"/>
              </a:rPr>
              <a:t>architecture, the rack assist segment is expected to dominate the</a:t>
            </a:r>
          </a:p>
        </p:txBody>
      </p:sp>
      <p:sp>
        <p:nvSpPr>
          <p:cNvPr id="42" name="TextBox 41"/>
          <p:cNvSpPr txBox="1"/>
          <p:nvPr/>
        </p:nvSpPr>
        <p:spPr>
          <a:xfrm>
            <a:off x="7829550" y="2101215"/>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3" name="Picture 42" descr="lock.png"/>
          <p:cNvPicPr>
            <a:picLocks noChangeAspect="1"/>
          </p:cNvPicPr>
          <p:nvPr/>
        </p:nvPicPr>
        <p:blipFill>
          <a:blip r:embed="rId5"/>
          <a:stretch>
            <a:fillRect/>
          </a:stretch>
        </p:blipFill>
        <p:spPr>
          <a:xfrm>
            <a:off x="8697258" y="2090991"/>
            <a:ext cx="134549" cy="195707"/>
          </a:xfrm>
          <a:prstGeom prst="rect">
            <a:avLst/>
          </a:prstGeom>
        </p:spPr>
      </p:pic>
      <p:sp>
        <p:nvSpPr>
          <p:cNvPr id="44" name="TextBox 43"/>
          <p:cNvSpPr txBox="1"/>
          <p:nvPr/>
        </p:nvSpPr>
        <p:spPr>
          <a:xfrm>
            <a:off x="8872367"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10267511" y="2090991"/>
            <a:ext cx="134549" cy="195707"/>
          </a:xfrm>
          <a:prstGeom prst="rect">
            <a:avLst/>
          </a:prstGeom>
        </p:spPr>
      </p:pic>
      <p:sp>
        <p:nvSpPr>
          <p:cNvPr id="46" name="TextBox 45"/>
          <p:cNvSpPr txBox="1"/>
          <p:nvPr/>
        </p:nvSpPr>
        <p:spPr>
          <a:xfrm>
            <a:off x="1044262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TextBox 46"/>
          <p:cNvSpPr txBox="1"/>
          <p:nvPr/>
        </p:nvSpPr>
        <p:spPr>
          <a:xfrm>
            <a:off x="7829550" y="2329053"/>
            <a:ext cx="3790205" cy="194310"/>
          </a:xfrm>
          <a:prstGeom prst="rect">
            <a:avLst/>
          </a:prstGeom>
          <a:noFill/>
        </p:spPr>
        <p:txBody>
          <a:bodyPr wrap="none" lIns="0" rIns="0" tIns="0" bIns="0">
            <a:spAutoFit/>
          </a:bodyPr>
          <a:lstStyle/>
          <a:p>
            <a:r>
              <a:rPr sz="1150" b="0">
                <a:solidFill>
                  <a:srgbClr val="2E2E2E"/>
                </a:solidFill>
                <a:latin typeface="Calibri"/>
              </a:rPr>
              <a:t>The recirculating ball and nut type segment is expected to lose</a:t>
            </a:r>
          </a:p>
        </p:txBody>
      </p:sp>
      <p:pic>
        <p:nvPicPr>
          <p:cNvPr id="48" name="Picture 47" descr="lock.png"/>
          <p:cNvPicPr>
            <a:picLocks noChangeAspect="1"/>
          </p:cNvPicPr>
          <p:nvPr/>
        </p:nvPicPr>
        <p:blipFill>
          <a:blip r:embed="rId5"/>
          <a:stretch>
            <a:fillRect/>
          </a:stretch>
        </p:blipFill>
        <p:spPr>
          <a:xfrm>
            <a:off x="11568909" y="2318829"/>
            <a:ext cx="134549" cy="195707"/>
          </a:xfrm>
          <a:prstGeom prst="rect">
            <a:avLst/>
          </a:prstGeom>
        </p:spPr>
      </p:pic>
      <p:sp>
        <p:nvSpPr>
          <p:cNvPr id="49" name="TextBox 48"/>
          <p:cNvSpPr txBox="1"/>
          <p:nvPr/>
        </p:nvSpPr>
        <p:spPr>
          <a:xfrm>
            <a:off x="7829550"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0" name="Picture 49" descr="lock.png"/>
          <p:cNvPicPr>
            <a:picLocks noChangeAspect="1"/>
          </p:cNvPicPr>
          <p:nvPr/>
        </p:nvPicPr>
        <p:blipFill>
          <a:blip r:embed="rId5"/>
          <a:stretch>
            <a:fillRect/>
          </a:stretch>
        </p:blipFill>
        <p:spPr>
          <a:xfrm>
            <a:off x="10417054" y="2494089"/>
            <a:ext cx="134549" cy="195707"/>
          </a:xfrm>
          <a:prstGeom prst="rect">
            <a:avLst/>
          </a:prstGeom>
        </p:spPr>
      </p:pic>
      <p:sp>
        <p:nvSpPr>
          <p:cNvPr id="51" name="TextBox 50"/>
          <p:cNvSpPr txBox="1"/>
          <p:nvPr/>
        </p:nvSpPr>
        <p:spPr>
          <a:xfrm>
            <a:off x="1059216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Vehicle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Vehicle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Vehicle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Vehicle Type segment categorizes the market by vehicle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Heavy Duty Trucks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Busses and Coaches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Vehicle Type split shows how demand is distributed across vehicle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72_3_605E5C.png"/>
          <p:cNvPicPr>
            <a:picLocks noChangeAspect="1"/>
          </p:cNvPicPr>
          <p:nvPr/>
        </p:nvPicPr>
        <p:blipFill>
          <a:blip r:embed="rId4"/>
          <a:stretch>
            <a:fillRect/>
          </a:stretch>
        </p:blipFill>
        <p:spPr>
          <a:xfrm>
            <a:off x="3847419" y="2286582"/>
            <a:ext cx="982436" cy="361950"/>
          </a:xfrm>
          <a:prstGeom prst="rect">
            <a:avLst/>
          </a:prstGeom>
        </p:spPr>
      </p:pic>
      <p:pic>
        <p:nvPicPr>
          <p:cNvPr id="50" name="Picture 49" descr="129_0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6_0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48_3_605E5C.png"/>
          <p:cNvPicPr>
            <a:picLocks noChangeAspect="1"/>
          </p:cNvPicPr>
          <p:nvPr/>
        </p:nvPicPr>
        <p:blipFill>
          <a:blip r:embed="rId7"/>
          <a:stretch>
            <a:fillRect/>
          </a:stretch>
        </p:blipFill>
        <p:spPr>
          <a:xfrm>
            <a:off x="8905194" y="2286582"/>
            <a:ext cx="982436" cy="361950"/>
          </a:xfrm>
          <a:prstGeom prst="rect">
            <a:avLst/>
          </a:prstGeom>
        </p:spPr>
      </p:pic>
      <p:pic>
        <p:nvPicPr>
          <p:cNvPr id="53" name="Picture 52" descr="103_7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7_9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812082" cy="186689"/>
          </a:xfrm>
          <a:prstGeom prst="rect">
            <a:avLst/>
          </a:prstGeom>
          <a:noFill/>
        </p:spPr>
        <p:txBody>
          <a:bodyPr wrap="none" lIns="0" rIns="0" tIns="0" bIns="0">
            <a:spAutoFit/>
          </a:bodyPr>
          <a:lstStyle/>
          <a:p>
            <a:r>
              <a:rPr sz="1100" b="0">
                <a:solidFill>
                  <a:srgbClr val="2E2E2E"/>
                </a:solidFill>
                <a:latin typeface="Calibri"/>
              </a:rPr>
              <a:t>Among heavy commercial vehicle EPS by vehicle</a:t>
            </a:r>
          </a:p>
        </p:txBody>
      </p:sp>
      <p:sp>
        <p:nvSpPr>
          <p:cNvPr id="58" name="TextBox 57"/>
          <p:cNvSpPr txBox="1"/>
          <p:nvPr/>
        </p:nvSpPr>
        <p:spPr>
          <a:xfrm>
            <a:off x="485775" y="4397077"/>
            <a:ext cx="2857103" cy="186689"/>
          </a:xfrm>
          <a:prstGeom prst="rect">
            <a:avLst/>
          </a:prstGeom>
          <a:noFill/>
        </p:spPr>
        <p:txBody>
          <a:bodyPr wrap="none" lIns="0" rIns="0" tIns="0" bIns="0">
            <a:spAutoFit/>
          </a:bodyPr>
          <a:lstStyle/>
          <a:p>
            <a:r>
              <a:rPr sz="1100" b="0">
                <a:solidFill>
                  <a:srgbClr val="2E2E2E"/>
                </a:solidFill>
                <a:latin typeface="Calibri"/>
              </a:rPr>
              <a:t>type, busses and coaches segment is expected to</a:t>
            </a:r>
          </a:p>
        </p:txBody>
      </p:sp>
      <p:sp>
        <p:nvSpPr>
          <p:cNvPr id="59" name="TextBox 58"/>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60" name="Picture 59" descr="lock.png"/>
          <p:cNvPicPr>
            <a:picLocks noChangeAspect="1"/>
          </p:cNvPicPr>
          <p:nvPr/>
        </p:nvPicPr>
        <p:blipFill>
          <a:blip r:embed="rId10"/>
          <a:stretch>
            <a:fillRect/>
          </a:stretch>
        </p:blipFill>
        <p:spPr>
          <a:xfrm>
            <a:off x="2108919" y="4554938"/>
            <a:ext cx="128699" cy="187198"/>
          </a:xfrm>
          <a:prstGeom prst="rect">
            <a:avLst/>
          </a:prstGeom>
        </p:spPr>
      </p:pic>
      <p:sp>
        <p:nvSpPr>
          <p:cNvPr id="61" name="TextBox 60"/>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2" name="TextBox 6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period. In terms of value share by vehicle type, the</a:t>
            </a:r>
          </a:p>
        </p:txBody>
      </p:sp>
      <p:sp>
        <p:nvSpPr>
          <p:cNvPr id="63" name="TextBox 62"/>
          <p:cNvSpPr txBox="1"/>
          <p:nvPr/>
        </p:nvSpPr>
        <p:spPr>
          <a:xfrm>
            <a:off x="485775" y="4899997"/>
            <a:ext cx="2426816" cy="186689"/>
          </a:xfrm>
          <a:prstGeom prst="rect">
            <a:avLst/>
          </a:prstGeom>
          <a:noFill/>
        </p:spPr>
        <p:txBody>
          <a:bodyPr wrap="none" lIns="0" rIns="0" tIns="0" bIns="0">
            <a:spAutoFit/>
          </a:bodyPr>
          <a:lstStyle/>
          <a:p>
            <a:r>
              <a:rPr sz="1100" b="0">
                <a:solidFill>
                  <a:srgbClr val="2E2E2E"/>
                </a:solidFill>
                <a:latin typeface="Calibri"/>
              </a:rPr>
              <a:t>heavy duty trucks segment is expected to</a:t>
            </a:r>
          </a:p>
        </p:txBody>
      </p:sp>
      <p:sp>
        <p:nvSpPr>
          <p:cNvPr id="64" name="TextBox 63"/>
          <p:cNvSpPr txBox="1"/>
          <p:nvPr/>
        </p:nvSpPr>
        <p:spPr>
          <a:xfrm>
            <a:off x="485775" y="506763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65" name="Picture 64" descr="lock.png"/>
          <p:cNvPicPr>
            <a:picLocks noChangeAspect="1"/>
          </p:cNvPicPr>
          <p:nvPr/>
        </p:nvPicPr>
        <p:blipFill>
          <a:blip r:embed="rId10"/>
          <a:stretch>
            <a:fillRect/>
          </a:stretch>
        </p:blipFill>
        <p:spPr>
          <a:xfrm>
            <a:off x="2116576" y="5057858"/>
            <a:ext cx="128699" cy="187198"/>
          </a:xfrm>
          <a:prstGeom prst="rect">
            <a:avLst/>
          </a:prstGeom>
        </p:spPr>
      </p:pic>
      <p:sp>
        <p:nvSpPr>
          <p:cNvPr id="66" name="TextBox 65"/>
          <p:cNvSpPr txBox="1"/>
          <p:nvPr/>
        </p:nvSpPr>
        <p:spPr>
          <a:xfrm>
            <a:off x="2284072"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7" name="TextBox 66"/>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8" name="Picture 67" descr="lock.png"/>
          <p:cNvPicPr>
            <a:picLocks noChangeAspect="1"/>
          </p:cNvPicPr>
          <p:nvPr/>
        </p:nvPicPr>
        <p:blipFill>
          <a:blip r:embed="rId10"/>
          <a:stretch>
            <a:fillRect/>
          </a:stretch>
        </p:blipFill>
        <p:spPr>
          <a:xfrm>
            <a:off x="1330764" y="5225498"/>
            <a:ext cx="128699" cy="187198"/>
          </a:xfrm>
          <a:prstGeom prst="rect">
            <a:avLst/>
          </a:prstGeom>
        </p:spPr>
      </p:pic>
      <p:sp>
        <p:nvSpPr>
          <p:cNvPr id="69" name="TextBox 68"/>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Heavy duty trucks segment is projected to register</a:t>
            </a:r>
          </a:p>
        </p:txBody>
      </p:sp>
      <p:pic>
        <p:nvPicPr>
          <p:cNvPr id="71" name="Picture 70" descr="lock.png"/>
          <p:cNvPicPr>
            <a:picLocks noChangeAspect="1"/>
          </p:cNvPicPr>
          <p:nvPr/>
        </p:nvPicPr>
        <p:blipFill>
          <a:blip r:embed="rId10"/>
          <a:stretch>
            <a:fillRect/>
          </a:stretch>
        </p:blipFill>
        <p:spPr>
          <a:xfrm>
            <a:off x="472307" y="5611070"/>
            <a:ext cx="128699" cy="187198"/>
          </a:xfrm>
          <a:prstGeom prst="rect">
            <a:avLst/>
          </a:prstGeom>
        </p:spPr>
      </p:pic>
      <p:sp>
        <p:nvSpPr>
          <p:cNvPr id="72" name="TextBox 71"/>
          <p:cNvSpPr txBox="1"/>
          <p:nvPr/>
        </p:nvSpPr>
        <p:spPr>
          <a:xfrm>
            <a:off x="639803" y="5620849"/>
            <a:ext cx="2317675" cy="186689"/>
          </a:xfrm>
          <a:prstGeom prst="rect">
            <a:avLst/>
          </a:prstGeom>
          <a:noFill/>
        </p:spPr>
        <p:txBody>
          <a:bodyPr wrap="none" lIns="0" rIns="0" tIns="0" bIns="0">
            <a:spAutoFit/>
          </a:bodyPr>
          <a:lstStyle/>
          <a:p>
            <a:r>
              <a:rPr sz="1100" b="0">
                <a:solidFill>
                  <a:srgbClr val="2E2E2E"/>
                </a:solidFill>
                <a:latin typeface="Calibri"/>
              </a:rPr>
              <a:t>X higher value than busses and coaches</a:t>
            </a:r>
          </a:p>
        </p:txBody>
      </p:sp>
      <p:sp>
        <p:nvSpPr>
          <p:cNvPr id="73" name="TextBox 72"/>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74" name="TextBox 73"/>
          <p:cNvSpPr txBox="1"/>
          <p:nvPr/>
        </p:nvSpPr>
        <p:spPr>
          <a:xfrm>
            <a:off x="3838575" y="4229437"/>
            <a:ext cx="1280021" cy="186689"/>
          </a:xfrm>
          <a:prstGeom prst="rect">
            <a:avLst/>
          </a:prstGeom>
          <a:noFill/>
        </p:spPr>
        <p:txBody>
          <a:bodyPr wrap="none" lIns="0" rIns="0" tIns="0" bIns="0">
            <a:spAutoFit/>
          </a:bodyPr>
          <a:lstStyle/>
          <a:p>
            <a:r>
              <a:rPr sz="1100" b="0">
                <a:solidFill>
                  <a:srgbClr val="2E2E2E"/>
                </a:solidFill>
                <a:latin typeface="Calibri"/>
              </a:rPr>
              <a:t>● Heavy Duty Trucks:</a:t>
            </a:r>
          </a:p>
        </p:txBody>
      </p:sp>
      <p:pic>
        <p:nvPicPr>
          <p:cNvPr id="75" name="Picture 74" descr="lock.png"/>
          <p:cNvPicPr>
            <a:picLocks noChangeAspect="1"/>
          </p:cNvPicPr>
          <p:nvPr/>
        </p:nvPicPr>
        <p:blipFill>
          <a:blip r:embed="rId10"/>
          <a:stretch>
            <a:fillRect/>
          </a:stretch>
        </p:blipFill>
        <p:spPr>
          <a:xfrm>
            <a:off x="5066647" y="4219658"/>
            <a:ext cx="128699" cy="187198"/>
          </a:xfrm>
          <a:prstGeom prst="rect">
            <a:avLst/>
          </a:prstGeom>
        </p:spPr>
      </p:pic>
      <p:sp>
        <p:nvSpPr>
          <p:cNvPr id="76" name="TextBox 75"/>
          <p:cNvSpPr txBox="1"/>
          <p:nvPr/>
        </p:nvSpPr>
        <p:spPr>
          <a:xfrm>
            <a:off x="523414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6093593" y="4219658"/>
            <a:ext cx="128699" cy="187198"/>
          </a:xfrm>
          <a:prstGeom prst="rect">
            <a:avLst/>
          </a:prstGeom>
        </p:spPr>
      </p:pic>
      <p:sp>
        <p:nvSpPr>
          <p:cNvPr id="78" name="TextBox 77"/>
          <p:cNvSpPr txBox="1"/>
          <p:nvPr/>
        </p:nvSpPr>
        <p:spPr>
          <a:xfrm>
            <a:off x="626108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9" name="TextBox 78"/>
          <p:cNvSpPr txBox="1"/>
          <p:nvPr/>
        </p:nvSpPr>
        <p:spPr>
          <a:xfrm>
            <a:off x="3838575" y="4447369"/>
            <a:ext cx="1361058" cy="186689"/>
          </a:xfrm>
          <a:prstGeom prst="rect">
            <a:avLst/>
          </a:prstGeom>
          <a:noFill/>
        </p:spPr>
        <p:txBody>
          <a:bodyPr wrap="none" lIns="0" rIns="0" tIns="0" bIns="0">
            <a:spAutoFit/>
          </a:bodyPr>
          <a:lstStyle/>
          <a:p>
            <a:r>
              <a:rPr sz="1100" b="0">
                <a:solidFill>
                  <a:srgbClr val="2E2E2E"/>
                </a:solidFill>
                <a:latin typeface="Calibri"/>
              </a:rPr>
              <a:t>● Busses and Coaches:</a:t>
            </a:r>
          </a:p>
        </p:txBody>
      </p:sp>
      <p:pic>
        <p:nvPicPr>
          <p:cNvPr id="80" name="Picture 79" descr="lock.png"/>
          <p:cNvPicPr>
            <a:picLocks noChangeAspect="1"/>
          </p:cNvPicPr>
          <p:nvPr/>
        </p:nvPicPr>
        <p:blipFill>
          <a:blip r:embed="rId10"/>
          <a:stretch>
            <a:fillRect/>
          </a:stretch>
        </p:blipFill>
        <p:spPr>
          <a:xfrm>
            <a:off x="5147684" y="4437590"/>
            <a:ext cx="128699" cy="187198"/>
          </a:xfrm>
          <a:prstGeom prst="rect">
            <a:avLst/>
          </a:prstGeom>
        </p:spPr>
      </p:pic>
      <p:sp>
        <p:nvSpPr>
          <p:cNvPr id="81" name="TextBox 80"/>
          <p:cNvSpPr txBox="1"/>
          <p:nvPr/>
        </p:nvSpPr>
        <p:spPr>
          <a:xfrm>
            <a:off x="531518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0"/>
          <a:stretch>
            <a:fillRect/>
          </a:stretch>
        </p:blipFill>
        <p:spPr>
          <a:xfrm>
            <a:off x="6174630" y="4437590"/>
            <a:ext cx="128699" cy="187198"/>
          </a:xfrm>
          <a:prstGeom prst="rect">
            <a:avLst/>
          </a:prstGeom>
        </p:spPr>
      </p:pic>
      <p:sp>
        <p:nvSpPr>
          <p:cNvPr id="83" name="TextBox 82"/>
          <p:cNvSpPr txBox="1"/>
          <p:nvPr/>
        </p:nvSpPr>
        <p:spPr>
          <a:xfrm>
            <a:off x="6342126"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4" name="TextBox 8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Vehicle Type segment is projected to grow at a</a:t>
            </a:r>
          </a:p>
        </p:txBody>
      </p:sp>
      <p:sp>
        <p:nvSpPr>
          <p:cNvPr id="85" name="TextBox 8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6" name="Picture 85" descr="lock.png"/>
          <p:cNvPicPr>
            <a:picLocks noChangeAspect="1"/>
          </p:cNvPicPr>
          <p:nvPr/>
        </p:nvPicPr>
        <p:blipFill>
          <a:blip r:embed="rId10"/>
          <a:stretch>
            <a:fillRect/>
          </a:stretch>
        </p:blipFill>
        <p:spPr>
          <a:xfrm>
            <a:off x="9048826" y="6007677"/>
            <a:ext cx="134549" cy="195707"/>
          </a:xfrm>
          <a:prstGeom prst="rect">
            <a:avLst/>
          </a:prstGeom>
        </p:spPr>
      </p:pic>
      <p:sp>
        <p:nvSpPr>
          <p:cNvPr id="87" name="TextBox 8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Structure &amp; Attractiveness, By Vehicle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Vehicle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Vehicle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575" cy="186689"/>
          </a:xfrm>
          <a:prstGeom prst="rect">
            <a:avLst/>
          </a:prstGeom>
          <a:noFill/>
        </p:spPr>
        <p:txBody>
          <a:bodyPr wrap="none" lIns="0" rIns="0" tIns="0" bIns="0">
            <a:spAutoFit/>
          </a:bodyPr>
          <a:lstStyle/>
          <a:p>
            <a:r>
              <a:rPr sz="1100" b="0">
                <a:solidFill>
                  <a:srgbClr val="2E2E2E"/>
                </a:solidFill>
                <a:latin typeface="Calibri"/>
              </a:rPr>
              <a:t>Heavy duty trucks followed by busses and coaches are expected to be the two most attractive vehicle type segments in the Western Europe heavy commercial vehicle EPS market in terms of value over the</a:t>
            </a:r>
          </a:p>
        </p:txBody>
      </p:sp>
      <p:sp>
        <p:nvSpPr>
          <p:cNvPr id="20" name="TextBox 19"/>
          <p:cNvSpPr txBox="1"/>
          <p:nvPr/>
        </p:nvSpPr>
        <p:spPr>
          <a:xfrm>
            <a:off x="257175" y="5945505"/>
            <a:ext cx="4773049" cy="186689"/>
          </a:xfrm>
          <a:prstGeom prst="rect">
            <a:avLst/>
          </a:prstGeom>
          <a:noFill/>
        </p:spPr>
        <p:txBody>
          <a:bodyPr wrap="none" lIns="0" rIns="0" tIns="0" bIns="0">
            <a:spAutoFit/>
          </a:bodyPr>
          <a:lstStyle/>
          <a:p>
            <a:r>
              <a:rPr sz="1100" b="0">
                <a:solidFill>
                  <a:srgbClr val="2E2E2E"/>
                </a:solidFill>
                <a:latin typeface="Calibri"/>
              </a:rPr>
              <a:t>forecast period. Heavy duty trucks and busses and coaches exhibit a CAGR index of</a:t>
            </a:r>
          </a:p>
        </p:txBody>
      </p:sp>
      <p:pic>
        <p:nvPicPr>
          <p:cNvPr id="21" name="Picture 20" descr="lock.png"/>
          <p:cNvPicPr>
            <a:picLocks noChangeAspect="1"/>
          </p:cNvPicPr>
          <p:nvPr/>
        </p:nvPicPr>
        <p:blipFill>
          <a:blip r:embed="rId6"/>
          <a:stretch>
            <a:fillRect/>
          </a:stretch>
        </p:blipFill>
        <p:spPr>
          <a:xfrm>
            <a:off x="4978276" y="5935726"/>
            <a:ext cx="128699" cy="187198"/>
          </a:xfrm>
          <a:prstGeom prst="rect">
            <a:avLst/>
          </a:prstGeom>
        </p:spPr>
      </p:pic>
      <p:sp>
        <p:nvSpPr>
          <p:cNvPr id="22" name="TextBox 21"/>
          <p:cNvSpPr txBox="1"/>
          <p:nvPr/>
        </p:nvSpPr>
        <p:spPr>
          <a:xfrm>
            <a:off x="514577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383666" y="5935726"/>
            <a:ext cx="128699" cy="187198"/>
          </a:xfrm>
          <a:prstGeom prst="rect">
            <a:avLst/>
          </a:prstGeom>
        </p:spPr>
      </p:pic>
      <p:sp>
        <p:nvSpPr>
          <p:cNvPr id="24" name="TextBox 23"/>
          <p:cNvSpPr txBox="1"/>
          <p:nvPr/>
        </p:nvSpPr>
        <p:spPr>
          <a:xfrm>
            <a:off x="5551162"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160135" y="5935726"/>
            <a:ext cx="128699" cy="187198"/>
          </a:xfrm>
          <a:prstGeom prst="rect">
            <a:avLst/>
          </a:prstGeom>
        </p:spPr>
      </p:pic>
      <p:sp>
        <p:nvSpPr>
          <p:cNvPr id="26" name="TextBox 25"/>
          <p:cNvSpPr txBox="1"/>
          <p:nvPr/>
        </p:nvSpPr>
        <p:spPr>
          <a:xfrm>
            <a:off x="7327631"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565526" y="5935726"/>
            <a:ext cx="128699" cy="187198"/>
          </a:xfrm>
          <a:prstGeom prst="rect">
            <a:avLst/>
          </a:prstGeom>
        </p:spPr>
      </p:pic>
      <p:sp>
        <p:nvSpPr>
          <p:cNvPr id="28" name="TextBox 27"/>
          <p:cNvSpPr txBox="1"/>
          <p:nvPr/>
        </p:nvSpPr>
        <p:spPr>
          <a:xfrm>
            <a:off x="7733021"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287425" y="5935726"/>
            <a:ext cx="128699" cy="187198"/>
          </a:xfrm>
          <a:prstGeom prst="rect">
            <a:avLst/>
          </a:prstGeom>
        </p:spPr>
      </p:pic>
      <p:sp>
        <p:nvSpPr>
          <p:cNvPr id="30" name="TextBox 29"/>
          <p:cNvSpPr txBox="1"/>
          <p:nvPr/>
        </p:nvSpPr>
        <p:spPr>
          <a:xfrm>
            <a:off x="10454921" y="5945505"/>
            <a:ext cx="894481" cy="186689"/>
          </a:xfrm>
          <a:prstGeom prst="rect">
            <a:avLst/>
          </a:prstGeom>
          <a:noFill/>
        </p:spPr>
        <p:txBody>
          <a:bodyPr wrap="none" lIns="0" rIns="0" tIns="0" bIns="0">
            <a:spAutoFit/>
          </a:bodyPr>
          <a:lstStyle/>
          <a:p>
            <a:r>
              <a:rPr sz="1100" b="0">
                <a:solidFill>
                  <a:srgbClr val="2E2E2E"/>
                </a:solidFill>
                <a:latin typeface="Calibri"/>
              </a:rPr>
              <a:t>. Bubbles right</a:t>
            </a:r>
          </a:p>
        </p:txBody>
      </p:sp>
      <p:sp>
        <p:nvSpPr>
          <p:cNvPr id="31" name="TextBox 30"/>
          <p:cNvSpPr txBox="1"/>
          <p:nvPr/>
        </p:nvSpPr>
        <p:spPr>
          <a:xfrm>
            <a:off x="257175" y="6113145"/>
            <a:ext cx="3593785" cy="186689"/>
          </a:xfrm>
          <a:prstGeom prst="rect">
            <a:avLst/>
          </a:prstGeom>
          <a:noFill/>
        </p:spPr>
        <p:txBody>
          <a:bodyPr wrap="none" lIns="0" rIns="0" tIns="0" bIns="0">
            <a:spAutoFit/>
          </a:bodyPr>
          <a:lstStyle/>
          <a:p>
            <a:r>
              <a:rPr sz="1100" b="0">
                <a:solidFill>
                  <a:srgbClr val="2E2E2E"/>
                </a:solidFill>
                <a:latin typeface="Calibri"/>
              </a:rPr>
              <a:t>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Absolute $ Opportunity Analysis, By Vehicle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Type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Heavy Duty Trucks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Busses and Coaches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Analysis, By Vehicle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By Vehicle Type (US$ Mn)</a:t>
            </a:r>
          </a:p>
        </p:txBody>
      </p:sp>
      <p:graphicFrame>
        <p:nvGraphicFramePr>
          <p:cNvPr id="12" name="Table 11"/>
          <p:cNvGraphicFramePr>
            <a:graphicFrameLocks noGrp="1"/>
          </p:cNvGraphicFramePr>
          <p:nvPr/>
        </p:nvGraphicFramePr>
        <p:xfrm>
          <a:off x="152400" y="1238250"/>
          <a:ext cx="11887193" cy="990600"/>
        </p:xfrm>
        <a:graphic>
          <a:graphicData uri="http://schemas.openxmlformats.org/drawingml/2006/table">
            <a:tbl>
              <a:tblPr>
                <a:tableStyleId>{5C22544A-7EE6-4342-B048-85BDC9FD1C3A}</a:tableStyleId>
              </a:tblPr>
              <a:tblGrid>
                <a:gridCol w="1446813"/>
                <a:gridCol w="614140"/>
                <a:gridCol w="614140"/>
                <a:gridCol w="614140"/>
                <a:gridCol w="614140"/>
                <a:gridCol w="614140"/>
                <a:gridCol w="614140"/>
                <a:gridCol w="614140"/>
                <a:gridCol w="614140"/>
                <a:gridCol w="614140"/>
                <a:gridCol w="614140"/>
                <a:gridCol w="614140"/>
                <a:gridCol w="614140"/>
                <a:gridCol w="614140"/>
                <a:gridCol w="614140"/>
                <a:gridCol w="614140"/>
                <a:gridCol w="614140"/>
                <a:gridCol w="614140"/>
              </a:tblGrid>
              <a:tr h="246126">
                <a:tc>
                  <a:txBody>
                    <a:bodyPr wrap="none"/>
                    <a:lstStyle/>
                    <a:p>
                      <a:pPr algn="l"/>
                      <a:r>
                        <a:rPr sz="1100" b="1">
                          <a:solidFill>
                            <a:srgbClr val="0B2E4A"/>
                          </a:solidFill>
                          <a:latin typeface="Calibri"/>
                        </a:rPr>
                        <a:t>Vehicle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Heavy Duty Trucks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Busses and Coaches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Value Analysis, By Vehicle Type</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32713" y="1589913"/>
            <a:ext cx="366712" cy="533400"/>
          </a:xfrm>
          <a:prstGeom prst="rect">
            <a:avLst/>
          </a:prstGeom>
        </p:spPr>
      </p:pic>
      <p:sp>
        <p:nvSpPr>
          <p:cNvPr id="20" name="TextBox 19"/>
          <p:cNvSpPr txBox="1"/>
          <p:nvPr/>
        </p:nvSpPr>
        <p:spPr>
          <a:xfrm>
            <a:off x="276225" y="2990850"/>
            <a:ext cx="3064234" cy="194310"/>
          </a:xfrm>
          <a:prstGeom prst="rect">
            <a:avLst/>
          </a:prstGeom>
          <a:noFill/>
        </p:spPr>
        <p:txBody>
          <a:bodyPr wrap="none" lIns="0" rIns="0" tIns="0" bIns="0">
            <a:spAutoFit/>
          </a:bodyPr>
          <a:lstStyle/>
          <a:p>
            <a:r>
              <a:rPr sz="1150" b="0">
                <a:solidFill>
                  <a:srgbClr val="2E2E2E"/>
                </a:solidFill>
                <a:latin typeface="Calibri"/>
              </a:rPr>
              <a:t>Heavy duty trucks segment is projected to register</a:t>
            </a:r>
          </a:p>
        </p:txBody>
      </p:sp>
      <p:pic>
        <p:nvPicPr>
          <p:cNvPr id="21" name="Picture 20" descr="lock.png"/>
          <p:cNvPicPr>
            <a:picLocks noChangeAspect="1"/>
          </p:cNvPicPr>
          <p:nvPr/>
        </p:nvPicPr>
        <p:blipFill>
          <a:blip r:embed="rId4"/>
          <a:stretch>
            <a:fillRect/>
          </a:stretch>
        </p:blipFill>
        <p:spPr>
          <a:xfrm>
            <a:off x="3289613" y="2980626"/>
            <a:ext cx="134549" cy="195707"/>
          </a:xfrm>
          <a:prstGeom prst="rect">
            <a:avLst/>
          </a:prstGeom>
        </p:spPr>
      </p:pic>
      <p:sp>
        <p:nvSpPr>
          <p:cNvPr id="22" name="TextBox 21"/>
          <p:cNvSpPr txBox="1"/>
          <p:nvPr/>
        </p:nvSpPr>
        <p:spPr>
          <a:xfrm>
            <a:off x="3464722" y="2990850"/>
            <a:ext cx="7901285" cy="194310"/>
          </a:xfrm>
          <a:prstGeom prst="rect">
            <a:avLst/>
          </a:prstGeom>
          <a:noFill/>
        </p:spPr>
        <p:txBody>
          <a:bodyPr wrap="none" lIns="0" rIns="0" tIns="0" bIns="0">
            <a:spAutoFit/>
          </a:bodyPr>
          <a:lstStyle/>
          <a:p>
            <a:r>
              <a:rPr sz="1150" b="0">
                <a:solidFill>
                  <a:srgbClr val="2E2E2E"/>
                </a:solidFill>
                <a:latin typeface="Calibri"/>
              </a:rPr>
              <a:t>X higher value than busses and coaches segment in 2036. Among heavy commercial vehicle EPS by vehicle type, busses and coaches</a:t>
            </a:r>
          </a:p>
        </p:txBody>
      </p:sp>
      <p:sp>
        <p:nvSpPr>
          <p:cNvPr id="23" name="TextBox 22"/>
          <p:cNvSpPr txBox="1"/>
          <p:nvPr/>
        </p:nvSpPr>
        <p:spPr>
          <a:xfrm>
            <a:off x="276225" y="31661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4" name="Picture 23" descr="lock.png"/>
          <p:cNvPicPr>
            <a:picLocks noChangeAspect="1"/>
          </p:cNvPicPr>
          <p:nvPr/>
        </p:nvPicPr>
        <p:blipFill>
          <a:blip r:embed="rId4"/>
          <a:stretch>
            <a:fillRect/>
          </a:stretch>
        </p:blipFill>
        <p:spPr>
          <a:xfrm>
            <a:off x="3382018" y="3155886"/>
            <a:ext cx="134549" cy="195707"/>
          </a:xfrm>
          <a:prstGeom prst="rect">
            <a:avLst/>
          </a:prstGeom>
        </p:spPr>
      </p:pic>
      <p:sp>
        <p:nvSpPr>
          <p:cNvPr id="25" name="TextBox 24"/>
          <p:cNvSpPr txBox="1"/>
          <p:nvPr/>
        </p:nvSpPr>
        <p:spPr>
          <a:xfrm>
            <a:off x="3557127"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6832153" cy="194310"/>
          </a:xfrm>
          <a:prstGeom prst="rect">
            <a:avLst/>
          </a:prstGeom>
          <a:noFill/>
        </p:spPr>
        <p:txBody>
          <a:bodyPr wrap="none" lIns="0" rIns="0" tIns="0" bIns="0">
            <a:spAutoFit/>
          </a:bodyPr>
          <a:lstStyle/>
          <a:p>
            <a:r>
              <a:rPr sz="1150" b="0">
                <a:solidFill>
                  <a:srgbClr val="2E2E2E"/>
                </a:solidFill>
                <a:latin typeface="Calibri"/>
              </a:rPr>
              <a:t>In terms of value share by vehicle type, the heavy duty trucks segment is expected to dominate the market, losing</a:t>
            </a:r>
          </a:p>
        </p:txBody>
      </p:sp>
      <p:pic>
        <p:nvPicPr>
          <p:cNvPr id="27" name="Picture 26" descr="lock.png"/>
          <p:cNvPicPr>
            <a:picLocks noChangeAspect="1"/>
          </p:cNvPicPr>
          <p:nvPr/>
        </p:nvPicPr>
        <p:blipFill>
          <a:blip r:embed="rId4"/>
          <a:stretch>
            <a:fillRect/>
          </a:stretch>
        </p:blipFill>
        <p:spPr>
          <a:xfrm>
            <a:off x="7057532" y="3383724"/>
            <a:ext cx="134549" cy="195707"/>
          </a:xfrm>
          <a:prstGeom prst="rect">
            <a:avLst/>
          </a:prstGeom>
        </p:spPr>
      </p:pic>
      <p:sp>
        <p:nvSpPr>
          <p:cNvPr id="28" name="TextBox 27"/>
          <p:cNvSpPr txBox="1"/>
          <p:nvPr/>
        </p:nvSpPr>
        <p:spPr>
          <a:xfrm>
            <a:off x="7232641"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627784" y="3383724"/>
            <a:ext cx="134549" cy="195707"/>
          </a:xfrm>
          <a:prstGeom prst="rect">
            <a:avLst/>
          </a:prstGeom>
        </p:spPr>
      </p:pic>
      <p:sp>
        <p:nvSpPr>
          <p:cNvPr id="30" name="TextBox 29"/>
          <p:cNvSpPr txBox="1"/>
          <p:nvPr/>
        </p:nvSpPr>
        <p:spPr>
          <a:xfrm>
            <a:off x="8802894"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&amp; Share Shift, By Vehicle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Vehicle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Composition, By Vehicle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68996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6852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6090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Busses and Coaches</a:t>
            </a:r>
          </a:p>
        </p:txBody>
      </p:sp>
      <p:sp>
        <p:nvSpPr>
          <p:cNvPr id="18" name="BPS Value 1"/>
          <p:cNvSpPr txBox="1"/>
          <p:nvPr/>
        </p:nvSpPr>
        <p:spPr>
          <a:xfrm>
            <a:off x="6896100" y="26709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97615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97139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8951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Heavy Duty Trucks</a:t>
            </a:r>
          </a:p>
        </p:txBody>
      </p:sp>
      <p:sp>
        <p:nvSpPr>
          <p:cNvPr id="22" name="BPS Value 2"/>
          <p:cNvSpPr txBox="1"/>
          <p:nvPr/>
        </p:nvSpPr>
        <p:spPr>
          <a:xfrm>
            <a:off x="6896100" y="49571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Western Europe Read-out, By Vehicle Type</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957649" cy="194310"/>
          </a:xfrm>
          <a:prstGeom prst="rect">
            <a:avLst/>
          </a:prstGeom>
          <a:noFill/>
        </p:spPr>
        <p:txBody>
          <a:bodyPr wrap="none" lIns="0" rIns="0" tIns="0" bIns="0">
            <a:spAutoFit/>
          </a:bodyPr>
          <a:lstStyle/>
          <a:p>
            <a:r>
              <a:rPr sz="1150" b="0">
                <a:solidFill>
                  <a:srgbClr val="2E2E2E"/>
                </a:solidFill>
                <a:latin typeface="Calibri"/>
              </a:rPr>
              <a:t>Among heavy commercial vehicle EPS by vehicle type, busses and</a:t>
            </a:r>
          </a:p>
        </p:txBody>
      </p:sp>
      <p:sp>
        <p:nvSpPr>
          <p:cNvPr id="30" name="TextBox 29"/>
          <p:cNvSpPr txBox="1"/>
          <p:nvPr/>
        </p:nvSpPr>
        <p:spPr>
          <a:xfrm>
            <a:off x="7829550" y="1575435"/>
            <a:ext cx="3666958" cy="194310"/>
          </a:xfrm>
          <a:prstGeom prst="rect">
            <a:avLst/>
          </a:prstGeom>
          <a:noFill/>
        </p:spPr>
        <p:txBody>
          <a:bodyPr wrap="none" lIns="0" rIns="0" tIns="0" bIns="0">
            <a:spAutoFit/>
          </a:bodyPr>
          <a:lstStyle/>
          <a:p>
            <a:r>
              <a:rPr sz="1150" b="0">
                <a:solidFill>
                  <a:srgbClr val="2E2E2E"/>
                </a:solidFill>
                <a:latin typeface="Calibri"/>
              </a:rPr>
              <a:t>coaches segment is expected to witness the highest CAGR of</a:t>
            </a:r>
          </a:p>
        </p:txBody>
      </p:sp>
      <p:pic>
        <p:nvPicPr>
          <p:cNvPr id="31" name="Picture 30" descr="lock.png"/>
          <p:cNvPicPr>
            <a:picLocks noChangeAspect="1"/>
          </p:cNvPicPr>
          <p:nvPr/>
        </p:nvPicPr>
        <p:blipFill>
          <a:blip r:embed="rId5"/>
          <a:stretch>
            <a:fillRect/>
          </a:stretch>
        </p:blipFill>
        <p:spPr>
          <a:xfrm>
            <a:off x="11445662" y="1565211"/>
            <a:ext cx="134549" cy="195707"/>
          </a:xfrm>
          <a:prstGeom prst="rect">
            <a:avLst/>
          </a:prstGeom>
        </p:spPr>
      </p:pic>
      <p:sp>
        <p:nvSpPr>
          <p:cNvPr id="32" name="TextBox 31"/>
          <p:cNvSpPr txBox="1"/>
          <p:nvPr/>
        </p:nvSpPr>
        <p:spPr>
          <a:xfrm>
            <a:off x="78295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3" name="TextBox 32"/>
          <p:cNvSpPr txBox="1"/>
          <p:nvPr/>
        </p:nvSpPr>
        <p:spPr>
          <a:xfrm>
            <a:off x="7829550" y="1978533"/>
            <a:ext cx="3710620" cy="194310"/>
          </a:xfrm>
          <a:prstGeom prst="rect">
            <a:avLst/>
          </a:prstGeom>
          <a:noFill/>
        </p:spPr>
        <p:txBody>
          <a:bodyPr wrap="none" lIns="0" rIns="0" tIns="0" bIns="0">
            <a:spAutoFit/>
          </a:bodyPr>
          <a:lstStyle/>
          <a:p>
            <a:r>
              <a:rPr sz="1150" b="0">
                <a:solidFill>
                  <a:srgbClr val="2E2E2E"/>
                </a:solidFill>
                <a:latin typeface="Calibri"/>
              </a:rPr>
              <a:t>In terms of value share by vehicle type, the heavy duty trucks</a:t>
            </a:r>
          </a:p>
        </p:txBody>
      </p:sp>
      <p:sp>
        <p:nvSpPr>
          <p:cNvPr id="34" name="TextBox 33"/>
          <p:cNvSpPr txBox="1"/>
          <p:nvPr/>
        </p:nvSpPr>
        <p:spPr>
          <a:xfrm>
            <a:off x="7829550" y="2153793"/>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35" name="Picture 34" descr="lock.png"/>
          <p:cNvPicPr>
            <a:picLocks noChangeAspect="1"/>
          </p:cNvPicPr>
          <p:nvPr/>
        </p:nvPicPr>
        <p:blipFill>
          <a:blip r:embed="rId5"/>
          <a:stretch>
            <a:fillRect/>
          </a:stretch>
        </p:blipFill>
        <p:spPr>
          <a:xfrm>
            <a:off x="10943347" y="2143569"/>
            <a:ext cx="134549" cy="195707"/>
          </a:xfrm>
          <a:prstGeom prst="rect">
            <a:avLst/>
          </a:prstGeom>
        </p:spPr>
      </p:pic>
      <p:sp>
        <p:nvSpPr>
          <p:cNvPr id="36" name="TextBox 35"/>
          <p:cNvSpPr txBox="1"/>
          <p:nvPr/>
        </p:nvSpPr>
        <p:spPr>
          <a:xfrm>
            <a:off x="11118457" y="2153793"/>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37" name="TextBox 36"/>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38" name="Picture 37" descr="lock.png"/>
          <p:cNvPicPr>
            <a:picLocks noChangeAspect="1"/>
          </p:cNvPicPr>
          <p:nvPr/>
        </p:nvPicPr>
        <p:blipFill>
          <a:blip r:embed="rId5"/>
          <a:stretch>
            <a:fillRect/>
          </a:stretch>
        </p:blipFill>
        <p:spPr>
          <a:xfrm>
            <a:off x="8712947" y="2318829"/>
            <a:ext cx="134549" cy="195707"/>
          </a:xfrm>
          <a:prstGeom prst="rect">
            <a:avLst/>
          </a:prstGeom>
        </p:spPr>
      </p:pic>
      <p:sp>
        <p:nvSpPr>
          <p:cNvPr id="39" name="TextBox 38"/>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Gross Vehicle Weight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Gross Vehicle Weight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Gross Vehicle Weight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Gross Vehicle Weight,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Gross Vehicle Weight segment categorizes the market by gross vehicle weight.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26 to 40 Tons</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16 to 26 Tons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Above 40 Tons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Gross Vehicle Weight split shows how demand is distributed across gross vehicle weight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97_7_605E5C.png"/>
          <p:cNvPicPr>
            <a:picLocks noChangeAspect="1"/>
          </p:cNvPicPr>
          <p:nvPr/>
        </p:nvPicPr>
        <p:blipFill>
          <a:blip r:embed="rId4"/>
          <a:stretch>
            <a:fillRect/>
          </a:stretch>
        </p:blipFill>
        <p:spPr>
          <a:xfrm>
            <a:off x="3004457" y="2286582"/>
            <a:ext cx="982436" cy="361950"/>
          </a:xfrm>
          <a:prstGeom prst="rect">
            <a:avLst/>
          </a:prstGeom>
        </p:spPr>
      </p:pic>
      <p:pic>
        <p:nvPicPr>
          <p:cNvPr id="57" name="Picture 56" descr="190_1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6_9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12_8_605E5C.png"/>
          <p:cNvPicPr>
            <a:picLocks noChangeAspect="1"/>
          </p:cNvPicPr>
          <p:nvPr/>
        </p:nvPicPr>
        <p:blipFill>
          <a:blip r:embed="rId7"/>
          <a:stretch>
            <a:fillRect/>
          </a:stretch>
        </p:blipFill>
        <p:spPr>
          <a:xfrm>
            <a:off x="6376307" y="2286582"/>
            <a:ext cx="982436" cy="361950"/>
          </a:xfrm>
          <a:prstGeom prst="rect">
            <a:avLst/>
          </a:prstGeom>
        </p:spPr>
      </p:pic>
      <p:pic>
        <p:nvPicPr>
          <p:cNvPr id="60" name="Picture 59" descr="26_1_605E5C.png"/>
          <p:cNvPicPr>
            <a:picLocks noChangeAspect="1"/>
          </p:cNvPicPr>
          <p:nvPr/>
        </p:nvPicPr>
        <p:blipFill>
          <a:blip r:embed="rId8"/>
          <a:stretch>
            <a:fillRect/>
          </a:stretch>
        </p:blipFill>
        <p:spPr>
          <a:xfrm>
            <a:off x="6376307" y="2779432"/>
            <a:ext cx="982436" cy="361950"/>
          </a:xfrm>
          <a:prstGeom prst="rect">
            <a:avLst/>
          </a:prstGeom>
        </p:spPr>
      </p:pic>
      <p:pic>
        <p:nvPicPr>
          <p:cNvPr id="61" name="Picture 60" descr="7_4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10_1_605E5C.png"/>
          <p:cNvPicPr>
            <a:picLocks noChangeAspect="1"/>
          </p:cNvPicPr>
          <p:nvPr/>
        </p:nvPicPr>
        <p:blipFill>
          <a:blip r:embed="rId10"/>
          <a:stretch>
            <a:fillRect/>
          </a:stretch>
        </p:blipFill>
        <p:spPr>
          <a:xfrm>
            <a:off x="9748157" y="2286582"/>
            <a:ext cx="982436" cy="361950"/>
          </a:xfrm>
          <a:prstGeom prst="rect">
            <a:avLst/>
          </a:prstGeom>
        </p:spPr>
      </p:pic>
      <p:pic>
        <p:nvPicPr>
          <p:cNvPr id="63" name="Picture 62" descr="16_6_605E5C.png"/>
          <p:cNvPicPr>
            <a:picLocks noChangeAspect="1"/>
          </p:cNvPicPr>
          <p:nvPr/>
        </p:nvPicPr>
        <p:blipFill>
          <a:blip r:embed="rId11"/>
          <a:stretch>
            <a:fillRect/>
          </a:stretch>
        </p:blipFill>
        <p:spPr>
          <a:xfrm>
            <a:off x="9748157" y="2779432"/>
            <a:ext cx="982436" cy="361950"/>
          </a:xfrm>
          <a:prstGeom prst="rect">
            <a:avLst/>
          </a:prstGeom>
        </p:spPr>
      </p:pic>
      <p:pic>
        <p:nvPicPr>
          <p:cNvPr id="64" name="Picture 63" descr="5_1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710308" cy="186689"/>
          </a:xfrm>
          <a:prstGeom prst="rect">
            <a:avLst/>
          </a:prstGeom>
          <a:noFill/>
        </p:spPr>
        <p:txBody>
          <a:bodyPr wrap="none" lIns="0" rIns="0" tIns="0" bIns="0">
            <a:spAutoFit/>
          </a:bodyPr>
          <a:lstStyle/>
          <a:p>
            <a:r>
              <a:rPr sz="1100" b="0">
                <a:solidFill>
                  <a:srgbClr val="2E2E2E"/>
                </a:solidFill>
                <a:latin typeface="Calibri"/>
              </a:rPr>
              <a:t>Among heavy commercial vehicle EPS by gross</a:t>
            </a:r>
          </a:p>
        </p:txBody>
      </p:sp>
      <p:sp>
        <p:nvSpPr>
          <p:cNvPr id="69" name="TextBox 68"/>
          <p:cNvSpPr txBox="1"/>
          <p:nvPr/>
        </p:nvSpPr>
        <p:spPr>
          <a:xfrm>
            <a:off x="485775" y="4397077"/>
            <a:ext cx="2904579" cy="186689"/>
          </a:xfrm>
          <a:prstGeom prst="rect">
            <a:avLst/>
          </a:prstGeom>
          <a:noFill/>
        </p:spPr>
        <p:txBody>
          <a:bodyPr wrap="none" lIns="0" rIns="0" tIns="0" bIns="0">
            <a:spAutoFit/>
          </a:bodyPr>
          <a:lstStyle/>
          <a:p>
            <a:r>
              <a:rPr sz="1100" b="0">
                <a:solidFill>
                  <a:srgbClr val="2E2E2E"/>
                </a:solidFill>
                <a:latin typeface="Calibri"/>
              </a:rPr>
              <a:t>vehicle weight, 16 to 26 tons segment is expected</a:t>
            </a:r>
          </a:p>
        </p:txBody>
      </p:sp>
      <p:sp>
        <p:nvSpPr>
          <p:cNvPr id="70" name="TextBox 69"/>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71" name="Picture 70" descr="lock.png"/>
          <p:cNvPicPr>
            <a:picLocks noChangeAspect="1"/>
          </p:cNvPicPr>
          <p:nvPr/>
        </p:nvPicPr>
        <p:blipFill>
          <a:blip r:embed="rId13"/>
          <a:stretch>
            <a:fillRect/>
          </a:stretch>
        </p:blipFill>
        <p:spPr>
          <a:xfrm>
            <a:off x="2261170" y="4554938"/>
            <a:ext cx="128699" cy="187198"/>
          </a:xfrm>
          <a:prstGeom prst="rect">
            <a:avLst/>
          </a:prstGeom>
        </p:spPr>
      </p:pic>
      <p:sp>
        <p:nvSpPr>
          <p:cNvPr id="72" name="TextBox 71"/>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73" name="TextBox 72"/>
          <p:cNvSpPr txBox="1"/>
          <p:nvPr/>
        </p:nvSpPr>
        <p:spPr>
          <a:xfrm>
            <a:off x="485775" y="4732357"/>
            <a:ext cx="2806625" cy="186689"/>
          </a:xfrm>
          <a:prstGeom prst="rect">
            <a:avLst/>
          </a:prstGeom>
          <a:noFill/>
        </p:spPr>
        <p:txBody>
          <a:bodyPr wrap="none" lIns="0" rIns="0" tIns="0" bIns="0">
            <a:spAutoFit/>
          </a:bodyPr>
          <a:lstStyle/>
          <a:p>
            <a:r>
              <a:rPr sz="1100" b="0">
                <a:solidFill>
                  <a:srgbClr val="2E2E2E"/>
                </a:solidFill>
                <a:latin typeface="Calibri"/>
              </a:rPr>
              <a:t>forecast period. In terms of value share by gross</a:t>
            </a:r>
          </a:p>
        </p:txBody>
      </p:sp>
      <p:sp>
        <p:nvSpPr>
          <p:cNvPr id="74" name="TextBox 73"/>
          <p:cNvSpPr txBox="1"/>
          <p:nvPr/>
        </p:nvSpPr>
        <p:spPr>
          <a:xfrm>
            <a:off x="485775" y="4899997"/>
            <a:ext cx="2572246" cy="186689"/>
          </a:xfrm>
          <a:prstGeom prst="rect">
            <a:avLst/>
          </a:prstGeom>
          <a:noFill/>
        </p:spPr>
        <p:txBody>
          <a:bodyPr wrap="none" lIns="0" rIns="0" tIns="0" bIns="0">
            <a:spAutoFit/>
          </a:bodyPr>
          <a:lstStyle/>
          <a:p>
            <a:r>
              <a:rPr sz="1100" b="0">
                <a:solidFill>
                  <a:srgbClr val="2E2E2E"/>
                </a:solidFill>
                <a:latin typeface="Calibri"/>
              </a:rPr>
              <a:t>vehicle weight, the 26 to 40 tons segment is</a:t>
            </a:r>
          </a:p>
        </p:txBody>
      </p:sp>
      <p:sp>
        <p:nvSpPr>
          <p:cNvPr id="75" name="TextBox 74"/>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76" name="Picture 75" descr="lock.png"/>
          <p:cNvPicPr>
            <a:picLocks noChangeAspect="1"/>
          </p:cNvPicPr>
          <p:nvPr/>
        </p:nvPicPr>
        <p:blipFill>
          <a:blip r:embed="rId13"/>
          <a:stretch>
            <a:fillRect/>
          </a:stretch>
        </p:blipFill>
        <p:spPr>
          <a:xfrm>
            <a:off x="2900479" y="5057858"/>
            <a:ext cx="128699" cy="187198"/>
          </a:xfrm>
          <a:prstGeom prst="rect">
            <a:avLst/>
          </a:prstGeom>
        </p:spPr>
      </p:pic>
      <p:sp>
        <p:nvSpPr>
          <p:cNvPr id="77" name="TextBox 76"/>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665561" cy="186689"/>
          </a:xfrm>
          <a:prstGeom prst="rect">
            <a:avLst/>
          </a:prstGeom>
          <a:noFill/>
        </p:spPr>
        <p:txBody>
          <a:bodyPr wrap="none" lIns="0" rIns="0" tIns="0" bIns="0">
            <a:spAutoFit/>
          </a:bodyPr>
          <a:lstStyle/>
          <a:p>
            <a:r>
              <a:rPr sz="1100" b="0">
                <a:solidFill>
                  <a:srgbClr val="2E2E2E"/>
                </a:solidFill>
                <a:latin typeface="Calibri"/>
              </a:rPr>
              <a:t>26 to 40 tons segment is projected to register</a:t>
            </a:r>
          </a:p>
        </p:txBody>
      </p:sp>
      <p:pic>
        <p:nvPicPr>
          <p:cNvPr id="82" name="Picture 81" descr="lock.png"/>
          <p:cNvPicPr>
            <a:picLocks noChangeAspect="1"/>
          </p:cNvPicPr>
          <p:nvPr/>
        </p:nvPicPr>
        <p:blipFill>
          <a:blip r:embed="rId13"/>
          <a:stretch>
            <a:fillRect/>
          </a:stretch>
        </p:blipFill>
        <p:spPr>
          <a:xfrm>
            <a:off x="472307" y="5611070"/>
            <a:ext cx="128699" cy="187198"/>
          </a:xfrm>
          <a:prstGeom prst="rect">
            <a:avLst/>
          </a:prstGeom>
        </p:spPr>
      </p:pic>
      <p:sp>
        <p:nvSpPr>
          <p:cNvPr id="83" name="TextBox 82"/>
          <p:cNvSpPr txBox="1"/>
          <p:nvPr/>
        </p:nvSpPr>
        <p:spPr>
          <a:xfrm>
            <a:off x="639803" y="5620849"/>
            <a:ext cx="2612355" cy="186689"/>
          </a:xfrm>
          <a:prstGeom prst="rect">
            <a:avLst/>
          </a:prstGeom>
          <a:noFill/>
        </p:spPr>
        <p:txBody>
          <a:bodyPr wrap="none" lIns="0" rIns="0" tIns="0" bIns="0">
            <a:spAutoFit/>
          </a:bodyPr>
          <a:lstStyle/>
          <a:p>
            <a:r>
              <a:rPr sz="1100" b="0">
                <a:solidFill>
                  <a:srgbClr val="2E2E2E"/>
                </a:solidFill>
                <a:latin typeface="Calibri"/>
              </a:rPr>
              <a:t>X higher value than 16 to 26 tons segment in</a:t>
            </a:r>
          </a:p>
        </p:txBody>
      </p:sp>
      <p:sp>
        <p:nvSpPr>
          <p:cNvPr id="84" name="TextBox 83"/>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5" name="TextBox 84"/>
          <p:cNvSpPr txBox="1"/>
          <p:nvPr/>
        </p:nvSpPr>
        <p:spPr>
          <a:xfrm>
            <a:off x="3838575" y="4229437"/>
            <a:ext cx="998711" cy="186689"/>
          </a:xfrm>
          <a:prstGeom prst="rect">
            <a:avLst/>
          </a:prstGeom>
          <a:noFill/>
        </p:spPr>
        <p:txBody>
          <a:bodyPr wrap="none" lIns="0" rIns="0" tIns="0" bIns="0">
            <a:spAutoFit/>
          </a:bodyPr>
          <a:lstStyle/>
          <a:p>
            <a:r>
              <a:rPr sz="1100" b="0">
                <a:solidFill>
                  <a:srgbClr val="2E2E2E"/>
                </a:solidFill>
                <a:latin typeface="Calibri"/>
              </a:rPr>
              <a:t>● 26 to 40 Tons:</a:t>
            </a:r>
          </a:p>
        </p:txBody>
      </p:sp>
      <p:pic>
        <p:nvPicPr>
          <p:cNvPr id="86" name="Picture 85" descr="lock.png"/>
          <p:cNvPicPr>
            <a:picLocks noChangeAspect="1"/>
          </p:cNvPicPr>
          <p:nvPr/>
        </p:nvPicPr>
        <p:blipFill>
          <a:blip r:embed="rId13"/>
          <a:stretch>
            <a:fillRect/>
          </a:stretch>
        </p:blipFill>
        <p:spPr>
          <a:xfrm>
            <a:off x="4785337" y="4219658"/>
            <a:ext cx="128699" cy="187198"/>
          </a:xfrm>
          <a:prstGeom prst="rect">
            <a:avLst/>
          </a:prstGeom>
        </p:spPr>
      </p:pic>
      <p:sp>
        <p:nvSpPr>
          <p:cNvPr id="87" name="TextBox 86"/>
          <p:cNvSpPr txBox="1"/>
          <p:nvPr/>
        </p:nvSpPr>
        <p:spPr>
          <a:xfrm>
            <a:off x="495283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8" name="Picture 87" descr="lock.png"/>
          <p:cNvPicPr>
            <a:picLocks noChangeAspect="1"/>
          </p:cNvPicPr>
          <p:nvPr/>
        </p:nvPicPr>
        <p:blipFill>
          <a:blip r:embed="rId13"/>
          <a:stretch>
            <a:fillRect/>
          </a:stretch>
        </p:blipFill>
        <p:spPr>
          <a:xfrm>
            <a:off x="5812283" y="4219658"/>
            <a:ext cx="128699" cy="187198"/>
          </a:xfrm>
          <a:prstGeom prst="rect">
            <a:avLst/>
          </a:prstGeom>
        </p:spPr>
      </p:pic>
      <p:sp>
        <p:nvSpPr>
          <p:cNvPr id="89" name="TextBox 88"/>
          <p:cNvSpPr txBox="1"/>
          <p:nvPr/>
        </p:nvSpPr>
        <p:spPr>
          <a:xfrm>
            <a:off x="597977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0" name="TextBox 89"/>
          <p:cNvSpPr txBox="1"/>
          <p:nvPr/>
        </p:nvSpPr>
        <p:spPr>
          <a:xfrm>
            <a:off x="3838575" y="4447369"/>
            <a:ext cx="998711" cy="186689"/>
          </a:xfrm>
          <a:prstGeom prst="rect">
            <a:avLst/>
          </a:prstGeom>
          <a:noFill/>
        </p:spPr>
        <p:txBody>
          <a:bodyPr wrap="none" lIns="0" rIns="0" tIns="0" bIns="0">
            <a:spAutoFit/>
          </a:bodyPr>
          <a:lstStyle/>
          <a:p>
            <a:r>
              <a:rPr sz="1100" b="0">
                <a:solidFill>
                  <a:srgbClr val="2E2E2E"/>
                </a:solidFill>
                <a:latin typeface="Calibri"/>
              </a:rPr>
              <a:t>● 16 to 26 Tons:</a:t>
            </a:r>
          </a:p>
        </p:txBody>
      </p:sp>
      <p:pic>
        <p:nvPicPr>
          <p:cNvPr id="91" name="Picture 90" descr="lock.png"/>
          <p:cNvPicPr>
            <a:picLocks noChangeAspect="1"/>
          </p:cNvPicPr>
          <p:nvPr/>
        </p:nvPicPr>
        <p:blipFill>
          <a:blip r:embed="rId13"/>
          <a:stretch>
            <a:fillRect/>
          </a:stretch>
        </p:blipFill>
        <p:spPr>
          <a:xfrm>
            <a:off x="4785337" y="4437590"/>
            <a:ext cx="128699" cy="187198"/>
          </a:xfrm>
          <a:prstGeom prst="rect">
            <a:avLst/>
          </a:prstGeom>
        </p:spPr>
      </p:pic>
      <p:sp>
        <p:nvSpPr>
          <p:cNvPr id="92" name="TextBox 91"/>
          <p:cNvSpPr txBox="1"/>
          <p:nvPr/>
        </p:nvSpPr>
        <p:spPr>
          <a:xfrm>
            <a:off x="495283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3" name="Picture 92" descr="lock.png"/>
          <p:cNvPicPr>
            <a:picLocks noChangeAspect="1"/>
          </p:cNvPicPr>
          <p:nvPr/>
        </p:nvPicPr>
        <p:blipFill>
          <a:blip r:embed="rId13"/>
          <a:stretch>
            <a:fillRect/>
          </a:stretch>
        </p:blipFill>
        <p:spPr>
          <a:xfrm>
            <a:off x="5812283" y="4437590"/>
            <a:ext cx="128699" cy="187198"/>
          </a:xfrm>
          <a:prstGeom prst="rect">
            <a:avLst/>
          </a:prstGeom>
        </p:spPr>
      </p:pic>
      <p:sp>
        <p:nvSpPr>
          <p:cNvPr id="94" name="TextBox 93"/>
          <p:cNvSpPr txBox="1"/>
          <p:nvPr/>
        </p:nvSpPr>
        <p:spPr>
          <a:xfrm>
            <a:off x="597977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5" name="TextBox 94"/>
          <p:cNvSpPr txBox="1"/>
          <p:nvPr/>
        </p:nvSpPr>
        <p:spPr>
          <a:xfrm>
            <a:off x="3838575" y="4665301"/>
            <a:ext cx="1065014" cy="186689"/>
          </a:xfrm>
          <a:prstGeom prst="rect">
            <a:avLst/>
          </a:prstGeom>
          <a:noFill/>
        </p:spPr>
        <p:txBody>
          <a:bodyPr wrap="none" lIns="0" rIns="0" tIns="0" bIns="0">
            <a:spAutoFit/>
          </a:bodyPr>
          <a:lstStyle/>
          <a:p>
            <a:r>
              <a:rPr sz="1100" b="0">
                <a:solidFill>
                  <a:srgbClr val="2E2E2E"/>
                </a:solidFill>
                <a:latin typeface="Calibri"/>
              </a:rPr>
              <a:t>● Above 40 Tons:</a:t>
            </a:r>
          </a:p>
        </p:txBody>
      </p:sp>
      <p:pic>
        <p:nvPicPr>
          <p:cNvPr id="96" name="Picture 95" descr="lock.png"/>
          <p:cNvPicPr>
            <a:picLocks noChangeAspect="1"/>
          </p:cNvPicPr>
          <p:nvPr/>
        </p:nvPicPr>
        <p:blipFill>
          <a:blip r:embed="rId13"/>
          <a:stretch>
            <a:fillRect/>
          </a:stretch>
        </p:blipFill>
        <p:spPr>
          <a:xfrm>
            <a:off x="4851640" y="4655522"/>
            <a:ext cx="128699" cy="187198"/>
          </a:xfrm>
          <a:prstGeom prst="rect">
            <a:avLst/>
          </a:prstGeom>
        </p:spPr>
      </p:pic>
      <p:sp>
        <p:nvSpPr>
          <p:cNvPr id="97" name="TextBox 96"/>
          <p:cNvSpPr txBox="1"/>
          <p:nvPr/>
        </p:nvSpPr>
        <p:spPr>
          <a:xfrm>
            <a:off x="501913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3"/>
          <a:stretch>
            <a:fillRect/>
          </a:stretch>
        </p:blipFill>
        <p:spPr>
          <a:xfrm>
            <a:off x="5878586" y="4655522"/>
            <a:ext cx="128699" cy="187198"/>
          </a:xfrm>
          <a:prstGeom prst="rect">
            <a:avLst/>
          </a:prstGeom>
        </p:spPr>
      </p:pic>
      <p:sp>
        <p:nvSpPr>
          <p:cNvPr id="99" name="TextBox 98"/>
          <p:cNvSpPr txBox="1"/>
          <p:nvPr/>
        </p:nvSpPr>
        <p:spPr>
          <a:xfrm>
            <a:off x="6046082"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0" name="TextBox 99"/>
          <p:cNvSpPr txBox="1"/>
          <p:nvPr/>
        </p:nvSpPr>
        <p:spPr>
          <a:xfrm>
            <a:off x="8524875" y="5842641"/>
            <a:ext cx="3087340" cy="194310"/>
          </a:xfrm>
          <a:prstGeom prst="rect">
            <a:avLst/>
          </a:prstGeom>
          <a:noFill/>
        </p:spPr>
        <p:txBody>
          <a:bodyPr wrap="none" lIns="0" rIns="0" tIns="0" bIns="0">
            <a:spAutoFit/>
          </a:bodyPr>
          <a:lstStyle/>
          <a:p>
            <a:r>
              <a:rPr sz="1150" b="1">
                <a:solidFill>
                  <a:srgbClr val="0B2E4A"/>
                </a:solidFill>
                <a:latin typeface="Calibri"/>
              </a:rPr>
              <a:t>The Gross Vehicle Weight segment is projected to</a:t>
            </a:r>
          </a:p>
        </p:txBody>
      </p:sp>
      <p:sp>
        <p:nvSpPr>
          <p:cNvPr id="101" name="TextBox 100"/>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02" name="Picture 101" descr="lock.png"/>
          <p:cNvPicPr>
            <a:picLocks noChangeAspect="1"/>
          </p:cNvPicPr>
          <p:nvPr/>
        </p:nvPicPr>
        <p:blipFill>
          <a:blip r:embed="rId13"/>
          <a:stretch>
            <a:fillRect/>
          </a:stretch>
        </p:blipFill>
        <p:spPr>
          <a:xfrm>
            <a:off x="9651852" y="6007677"/>
            <a:ext cx="134549" cy="195707"/>
          </a:xfrm>
          <a:prstGeom prst="rect">
            <a:avLst/>
          </a:prstGeom>
        </p:spPr>
      </p:pic>
      <p:sp>
        <p:nvSpPr>
          <p:cNvPr id="103" name="TextBox 102"/>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Structure &amp; Attractiveness, By Gross Vehicle Weight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Gross Vehicle Weight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Gross Vehicle Weight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Gross Vehicle Weight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06770" cy="186689"/>
          </a:xfrm>
          <a:prstGeom prst="rect">
            <a:avLst/>
          </a:prstGeom>
          <a:noFill/>
        </p:spPr>
        <p:txBody>
          <a:bodyPr wrap="none" lIns="0" rIns="0" tIns="0" bIns="0">
            <a:spAutoFit/>
          </a:bodyPr>
          <a:lstStyle/>
          <a:p>
            <a:r>
              <a:rPr sz="1100" b="0">
                <a:solidFill>
                  <a:srgbClr val="2E2E2E"/>
                </a:solidFill>
                <a:latin typeface="Calibri"/>
              </a:rPr>
              <a:t>26 to 40 tons followed by 16 to 26 tons are expected to be the two most attractive gross vehicle weight segments in the Western Europe heavy commercial vehicle EPS market in terms of value over the</a:t>
            </a:r>
          </a:p>
        </p:txBody>
      </p:sp>
      <p:sp>
        <p:nvSpPr>
          <p:cNvPr id="20" name="TextBox 19"/>
          <p:cNvSpPr txBox="1"/>
          <p:nvPr/>
        </p:nvSpPr>
        <p:spPr>
          <a:xfrm>
            <a:off x="257175" y="5861685"/>
            <a:ext cx="4138669" cy="186689"/>
          </a:xfrm>
          <a:prstGeom prst="rect">
            <a:avLst/>
          </a:prstGeom>
          <a:noFill/>
        </p:spPr>
        <p:txBody>
          <a:bodyPr wrap="none" lIns="0" rIns="0" tIns="0" bIns="0">
            <a:spAutoFit/>
          </a:bodyPr>
          <a:lstStyle/>
          <a:p>
            <a:r>
              <a:rPr sz="1100" b="0">
                <a:solidFill>
                  <a:srgbClr val="2E2E2E"/>
                </a:solidFill>
                <a:latin typeface="Calibri"/>
              </a:rPr>
              <a:t>forecast period. 26 to 40 tons and 16 to 26 tons exhibit a CAGR index of</a:t>
            </a:r>
          </a:p>
        </p:txBody>
      </p:sp>
      <p:pic>
        <p:nvPicPr>
          <p:cNvPr id="21" name="Picture 20" descr="lock.png"/>
          <p:cNvPicPr>
            <a:picLocks noChangeAspect="1"/>
          </p:cNvPicPr>
          <p:nvPr/>
        </p:nvPicPr>
        <p:blipFill>
          <a:blip r:embed="rId6"/>
          <a:stretch>
            <a:fillRect/>
          </a:stretch>
        </p:blipFill>
        <p:spPr>
          <a:xfrm>
            <a:off x="4343896" y="5851905"/>
            <a:ext cx="128699" cy="187198"/>
          </a:xfrm>
          <a:prstGeom prst="rect">
            <a:avLst/>
          </a:prstGeom>
        </p:spPr>
      </p:pic>
      <p:sp>
        <p:nvSpPr>
          <p:cNvPr id="22" name="TextBox 21"/>
          <p:cNvSpPr txBox="1"/>
          <p:nvPr/>
        </p:nvSpPr>
        <p:spPr>
          <a:xfrm>
            <a:off x="451139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749286" y="5851905"/>
            <a:ext cx="128699" cy="187198"/>
          </a:xfrm>
          <a:prstGeom prst="rect">
            <a:avLst/>
          </a:prstGeom>
        </p:spPr>
      </p:pic>
      <p:sp>
        <p:nvSpPr>
          <p:cNvPr id="24" name="TextBox 23"/>
          <p:cNvSpPr txBox="1"/>
          <p:nvPr/>
        </p:nvSpPr>
        <p:spPr>
          <a:xfrm>
            <a:off x="491678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525755" y="5851905"/>
            <a:ext cx="128699" cy="187198"/>
          </a:xfrm>
          <a:prstGeom prst="rect">
            <a:avLst/>
          </a:prstGeom>
        </p:spPr>
      </p:pic>
      <p:sp>
        <p:nvSpPr>
          <p:cNvPr id="26" name="TextBox 25"/>
          <p:cNvSpPr txBox="1"/>
          <p:nvPr/>
        </p:nvSpPr>
        <p:spPr>
          <a:xfrm>
            <a:off x="669325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931146" y="5851905"/>
            <a:ext cx="128699" cy="187198"/>
          </a:xfrm>
          <a:prstGeom prst="rect">
            <a:avLst/>
          </a:prstGeom>
        </p:spPr>
      </p:pic>
      <p:sp>
        <p:nvSpPr>
          <p:cNvPr id="28" name="TextBox 27"/>
          <p:cNvSpPr txBox="1"/>
          <p:nvPr/>
        </p:nvSpPr>
        <p:spPr>
          <a:xfrm>
            <a:off x="709864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653046" y="5851905"/>
            <a:ext cx="128699" cy="187198"/>
          </a:xfrm>
          <a:prstGeom prst="rect">
            <a:avLst/>
          </a:prstGeom>
        </p:spPr>
      </p:pic>
      <p:sp>
        <p:nvSpPr>
          <p:cNvPr id="30" name="TextBox 29"/>
          <p:cNvSpPr txBox="1"/>
          <p:nvPr/>
        </p:nvSpPr>
        <p:spPr>
          <a:xfrm>
            <a:off x="9820541" y="5861685"/>
            <a:ext cx="1186160" cy="186689"/>
          </a:xfrm>
          <a:prstGeom prst="rect">
            <a:avLst/>
          </a:prstGeom>
          <a:noFill/>
        </p:spPr>
        <p:txBody>
          <a:bodyPr wrap="none" lIns="0" rIns="0" tIns="0" bIns="0">
            <a:spAutoFit/>
          </a:bodyPr>
          <a:lstStyle/>
          <a:p>
            <a:r>
              <a:rPr sz="1100" b="0">
                <a:solidFill>
                  <a:srgbClr val="2E2E2E"/>
                </a:solidFill>
                <a:latin typeface="Calibri"/>
              </a:rPr>
              <a:t>. The above 40 tons</a:t>
            </a:r>
          </a:p>
        </p:txBody>
      </p:sp>
      <p:sp>
        <p:nvSpPr>
          <p:cNvPr id="31" name="TextBox 30"/>
          <p:cNvSpPr txBox="1"/>
          <p:nvPr/>
        </p:nvSpPr>
        <p:spPr>
          <a:xfrm>
            <a:off x="257175" y="6029325"/>
            <a:ext cx="11549028" cy="186689"/>
          </a:xfrm>
          <a:prstGeom prst="rect">
            <a:avLst/>
          </a:prstGeom>
          <a:noFill/>
        </p:spPr>
        <p:txBody>
          <a:bodyPr wrap="none" lIns="0" rIns="0" tIns="0" bIns="0">
            <a:spAutoFit/>
          </a:bodyPr>
          <a:lstStyle/>
          <a:p>
            <a:r>
              <a:rPr sz="1100" b="0">
                <a:solidFill>
                  <a:srgbClr val="2E2E2E"/>
                </a:solidFill>
                <a:latin typeface="Calibri"/>
              </a:rPr>
              <a:t>segment is expected to be less attractive as compared to other segments over the forecast period, owing to its lower CAGR and incremental opportunity. Bubbles right of the CAGR-Index line grow faster</a:t>
            </a:r>
          </a:p>
        </p:txBody>
      </p:sp>
      <p:sp>
        <p:nvSpPr>
          <p:cNvPr id="32" name="TextBox 31"/>
          <p:cNvSpPr txBox="1"/>
          <p:nvPr/>
        </p:nvSpPr>
        <p:spPr>
          <a:xfrm>
            <a:off x="257175" y="619696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Absolute $ Opportunity Analysis, By Gross Vehicle Weight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Gross Vehicle Weight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16 to 26 Tons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26 to 40 Tons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Above 40 Tons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Western Europe Absolute $ Opportunity Analysis, By Gross Vehicle Weight</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484320"/>
            <a:ext cx="4283102" cy="194310"/>
          </a:xfrm>
          <a:prstGeom prst="rect">
            <a:avLst/>
          </a:prstGeom>
          <a:noFill/>
        </p:spPr>
        <p:txBody>
          <a:bodyPr wrap="none" lIns="0" rIns="0" tIns="0" bIns="0">
            <a:spAutoFit/>
          </a:bodyPr>
          <a:lstStyle/>
          <a:p>
            <a:r>
              <a:rPr sz="1150" b="0">
                <a:solidFill>
                  <a:srgbClr val="2E2E2E"/>
                </a:solidFill>
                <a:latin typeface="Calibri"/>
              </a:rPr>
              <a:t>By 2036, 26 to 40 tons segment is anticipated to witness an increase of</a:t>
            </a:r>
          </a:p>
        </p:txBody>
      </p:sp>
      <p:pic>
        <p:nvPicPr>
          <p:cNvPr id="28" name="Picture 27" descr="lock.png"/>
          <p:cNvPicPr>
            <a:picLocks noChangeAspect="1"/>
          </p:cNvPicPr>
          <p:nvPr/>
        </p:nvPicPr>
        <p:blipFill>
          <a:blip r:embed="rId7"/>
          <a:stretch>
            <a:fillRect/>
          </a:stretch>
        </p:blipFill>
        <p:spPr>
          <a:xfrm>
            <a:off x="10537806" y="4474096"/>
            <a:ext cx="134549" cy="195707"/>
          </a:xfrm>
          <a:prstGeom prst="rect">
            <a:avLst/>
          </a:prstGeom>
        </p:spPr>
      </p:pic>
      <p:sp>
        <p:nvSpPr>
          <p:cNvPr id="29" name="TextBox 28"/>
          <p:cNvSpPr txBox="1"/>
          <p:nvPr/>
        </p:nvSpPr>
        <p:spPr>
          <a:xfrm>
            <a:off x="10712915" y="448432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0" name="TextBox 29"/>
          <p:cNvSpPr txBox="1"/>
          <p:nvPr/>
        </p:nvSpPr>
        <p:spPr>
          <a:xfrm>
            <a:off x="6305550" y="4659580"/>
            <a:ext cx="5532536" cy="194310"/>
          </a:xfrm>
          <a:prstGeom prst="rect">
            <a:avLst/>
          </a:prstGeom>
          <a:noFill/>
        </p:spPr>
        <p:txBody>
          <a:bodyPr wrap="none" lIns="0" rIns="0" tIns="0" bIns="0">
            <a:spAutoFit/>
          </a:bodyPr>
          <a:lstStyle/>
          <a:p>
            <a:r>
              <a:rPr sz="1150" b="0">
                <a:solidFill>
                  <a:srgbClr val="2E2E2E"/>
                </a:solidFill>
                <a:latin typeface="Calibri"/>
              </a:rPr>
              <a:t>value as compared to 2026. The 26 to 40 tons segment is expected to create an incremental</a:t>
            </a:r>
          </a:p>
        </p:txBody>
      </p:sp>
      <p:sp>
        <p:nvSpPr>
          <p:cNvPr id="31" name="TextBox 30"/>
          <p:cNvSpPr txBox="1"/>
          <p:nvPr/>
        </p:nvSpPr>
        <p:spPr>
          <a:xfrm>
            <a:off x="6305550" y="483484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824616"/>
            <a:ext cx="134549" cy="195707"/>
          </a:xfrm>
          <a:prstGeom prst="rect">
            <a:avLst/>
          </a:prstGeom>
        </p:spPr>
      </p:pic>
      <p:sp>
        <p:nvSpPr>
          <p:cNvPr id="33" name="TextBox 32"/>
          <p:cNvSpPr txBox="1"/>
          <p:nvPr/>
        </p:nvSpPr>
        <p:spPr>
          <a:xfrm>
            <a:off x="7638756" y="4834840"/>
            <a:ext cx="4232634" cy="194310"/>
          </a:xfrm>
          <a:prstGeom prst="rect">
            <a:avLst/>
          </a:prstGeom>
          <a:noFill/>
        </p:spPr>
        <p:txBody>
          <a:bodyPr wrap="none" lIns="0" rIns="0" tIns="0" bIns="0">
            <a:spAutoFit/>
          </a:bodyPr>
          <a:lstStyle/>
          <a:p>
            <a:r>
              <a:rPr sz="1150" b="0">
                <a:solidFill>
                  <a:srgbClr val="2E2E2E"/>
                </a:solidFill>
                <a:latin typeface="Calibri"/>
              </a:rPr>
              <a:t>Mn for the overall heavy commercial vehicle EPS market from 2026 to</a:t>
            </a:r>
          </a:p>
        </p:txBody>
      </p:sp>
      <p:sp>
        <p:nvSpPr>
          <p:cNvPr id="34" name="TextBox 33"/>
          <p:cNvSpPr txBox="1"/>
          <p:nvPr/>
        </p:nvSpPr>
        <p:spPr>
          <a:xfrm>
            <a:off x="6305550" y="5010100"/>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35" name="TextBox 34"/>
          <p:cNvSpPr txBox="1"/>
          <p:nvPr/>
        </p:nvSpPr>
        <p:spPr>
          <a:xfrm>
            <a:off x="6305550" y="5237938"/>
            <a:ext cx="5024784" cy="194310"/>
          </a:xfrm>
          <a:prstGeom prst="rect">
            <a:avLst/>
          </a:prstGeom>
          <a:noFill/>
        </p:spPr>
        <p:txBody>
          <a:bodyPr wrap="none" lIns="0" rIns="0" tIns="0" bIns="0">
            <a:spAutoFit/>
          </a:bodyPr>
          <a:lstStyle/>
          <a:p>
            <a:r>
              <a:rPr sz="1150" b="0">
                <a:solidFill>
                  <a:srgbClr val="2E2E2E"/>
                </a:solidFill>
                <a:latin typeface="Calibri"/>
              </a:rPr>
              <a:t>The 16 to 26 tons segment is expected to create an incremental opportunity of US$</a:t>
            </a:r>
          </a:p>
        </p:txBody>
      </p:sp>
      <p:pic>
        <p:nvPicPr>
          <p:cNvPr id="36" name="Picture 35" descr="lock.png"/>
          <p:cNvPicPr>
            <a:picLocks noChangeAspect="1"/>
          </p:cNvPicPr>
          <p:nvPr/>
        </p:nvPicPr>
        <p:blipFill>
          <a:blip r:embed="rId7"/>
          <a:stretch>
            <a:fillRect/>
          </a:stretch>
        </p:blipFill>
        <p:spPr>
          <a:xfrm>
            <a:off x="11279488" y="5227714"/>
            <a:ext cx="134549" cy="195707"/>
          </a:xfrm>
          <a:prstGeom prst="rect">
            <a:avLst/>
          </a:prstGeom>
        </p:spPr>
      </p:pic>
      <p:sp>
        <p:nvSpPr>
          <p:cNvPr id="37" name="TextBox 36"/>
          <p:cNvSpPr txBox="1"/>
          <p:nvPr/>
        </p:nvSpPr>
        <p:spPr>
          <a:xfrm>
            <a:off x="11454597" y="5237938"/>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8" name="TextBox 37"/>
          <p:cNvSpPr txBox="1"/>
          <p:nvPr/>
        </p:nvSpPr>
        <p:spPr>
          <a:xfrm>
            <a:off x="6305550" y="5413197"/>
            <a:ext cx="5488037" cy="194310"/>
          </a:xfrm>
          <a:prstGeom prst="rect">
            <a:avLst/>
          </a:prstGeom>
          <a:noFill/>
        </p:spPr>
        <p:txBody>
          <a:bodyPr wrap="none" lIns="0" rIns="0" tIns="0" bIns="0">
            <a:spAutoFit/>
          </a:bodyPr>
          <a:lstStyle/>
          <a:p>
            <a:r>
              <a:rPr sz="1150" b="0">
                <a:solidFill>
                  <a:srgbClr val="2E2E2E"/>
                </a:solidFill>
                <a:latin typeface="Calibri"/>
              </a:rPr>
              <a:t>for the overall heavy commercial vehicle EPS market from 2026 to 2036. The above 40 tons</a:t>
            </a:r>
          </a:p>
        </p:txBody>
      </p:sp>
      <p:sp>
        <p:nvSpPr>
          <p:cNvPr id="39" name="TextBox 38"/>
          <p:cNvSpPr txBox="1"/>
          <p:nvPr/>
        </p:nvSpPr>
        <p:spPr>
          <a:xfrm>
            <a:off x="6305550" y="558845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40" name="Picture 39" descr="lock.png"/>
          <p:cNvPicPr>
            <a:picLocks noChangeAspect="1"/>
          </p:cNvPicPr>
          <p:nvPr/>
        </p:nvPicPr>
        <p:blipFill>
          <a:blip r:embed="rId7"/>
          <a:stretch>
            <a:fillRect/>
          </a:stretch>
        </p:blipFill>
        <p:spPr>
          <a:xfrm>
            <a:off x="10210642" y="5578234"/>
            <a:ext cx="134549" cy="195707"/>
          </a:xfrm>
          <a:prstGeom prst="rect">
            <a:avLst/>
          </a:prstGeom>
        </p:spPr>
      </p:pic>
      <p:sp>
        <p:nvSpPr>
          <p:cNvPr id="41" name="TextBox 40"/>
          <p:cNvSpPr txBox="1"/>
          <p:nvPr/>
        </p:nvSpPr>
        <p:spPr>
          <a:xfrm>
            <a:off x="10385751" y="558845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42" name="TextBox 41"/>
          <p:cNvSpPr txBox="1"/>
          <p:nvPr/>
        </p:nvSpPr>
        <p:spPr>
          <a:xfrm>
            <a:off x="6305550" y="5763717"/>
            <a:ext cx="3490118" cy="194310"/>
          </a:xfrm>
          <a:prstGeom prst="rect">
            <a:avLst/>
          </a:prstGeom>
          <a:noFill/>
        </p:spPr>
        <p:txBody>
          <a:bodyPr wrap="none" lIns="0" rIns="0" tIns="0" bIns="0">
            <a:spAutoFit/>
          </a:bodyPr>
          <a:lstStyle/>
          <a:p>
            <a:r>
              <a:rPr sz="1150" b="0">
                <a:solidFill>
                  <a:srgbClr val="2E2E2E"/>
                </a:solidFill>
                <a:latin typeface="Calibri"/>
              </a:rPr>
              <a:t>heavy commercial vehicle EPS market from 2026 to 2036.</a:t>
            </a:r>
          </a:p>
        </p:txBody>
      </p:sp>
      <p:sp>
        <p:nvSpPr>
          <p:cNvPr id="43"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Analysis, By Gross Vehicle Weight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Gross Vehicle Weight,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By Gross Vehicle Weight (US$ Mn)</a:t>
            </a:r>
          </a:p>
        </p:txBody>
      </p:sp>
      <p:graphicFrame>
        <p:nvGraphicFramePr>
          <p:cNvPr id="12" name="Table 11"/>
          <p:cNvGraphicFramePr>
            <a:graphicFrameLocks noGrp="1"/>
          </p:cNvGraphicFramePr>
          <p:nvPr/>
        </p:nvGraphicFramePr>
        <p:xfrm>
          <a:off x="152400" y="1238250"/>
          <a:ext cx="11887198" cy="1238250"/>
        </p:xfrm>
        <a:graphic>
          <a:graphicData uri="http://schemas.openxmlformats.org/drawingml/2006/table">
            <a:tbl>
              <a:tblPr>
                <a:tableStyleId>{5C22544A-7EE6-4342-B048-85BDC9FD1C3A}</a:tableStyleId>
              </a:tblPr>
              <a:tblGrid>
                <a:gridCol w="1525086"/>
                <a:gridCol w="609536"/>
                <a:gridCol w="609536"/>
                <a:gridCol w="609536"/>
                <a:gridCol w="609536"/>
                <a:gridCol w="609536"/>
                <a:gridCol w="609536"/>
                <a:gridCol w="609536"/>
                <a:gridCol w="609536"/>
                <a:gridCol w="609536"/>
                <a:gridCol w="609536"/>
                <a:gridCol w="609536"/>
                <a:gridCol w="609536"/>
                <a:gridCol w="609536"/>
                <a:gridCol w="609536"/>
                <a:gridCol w="609536"/>
                <a:gridCol w="609536"/>
                <a:gridCol w="609536"/>
              </a:tblGrid>
              <a:tr h="246126">
                <a:tc>
                  <a:txBody>
                    <a:bodyPr wrap="none"/>
                    <a:lstStyle/>
                    <a:p>
                      <a:pPr algn="l"/>
                      <a:r>
                        <a:rPr sz="1100" b="1">
                          <a:solidFill>
                            <a:srgbClr val="0B2E4A"/>
                          </a:solidFill>
                          <a:latin typeface="Calibri"/>
                        </a:rPr>
                        <a:t>Gross Vehicle Weight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16 to 26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26 to 40 Tons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Above 40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Value Analysis, By Gross Vehicle Weight</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71851" y="1713738"/>
            <a:ext cx="366712" cy="533400"/>
          </a:xfrm>
          <a:prstGeom prst="rect">
            <a:avLst/>
          </a:prstGeom>
        </p:spPr>
      </p:pic>
      <p:sp>
        <p:nvSpPr>
          <p:cNvPr id="20" name="TextBox 19"/>
          <p:cNvSpPr txBox="1"/>
          <p:nvPr/>
        </p:nvSpPr>
        <p:spPr>
          <a:xfrm>
            <a:off x="276225" y="3238500"/>
            <a:ext cx="2783259" cy="194310"/>
          </a:xfrm>
          <a:prstGeom prst="rect">
            <a:avLst/>
          </a:prstGeom>
          <a:noFill/>
        </p:spPr>
        <p:txBody>
          <a:bodyPr wrap="none" lIns="0" rIns="0" tIns="0" bIns="0">
            <a:spAutoFit/>
          </a:bodyPr>
          <a:lstStyle/>
          <a:p>
            <a:r>
              <a:rPr sz="1150" b="0">
                <a:solidFill>
                  <a:srgbClr val="2E2E2E"/>
                </a:solidFill>
                <a:latin typeface="Calibri"/>
              </a:rPr>
              <a:t>26 to 40 tons segment is projected to register</a:t>
            </a:r>
          </a:p>
        </p:txBody>
      </p:sp>
      <p:pic>
        <p:nvPicPr>
          <p:cNvPr id="21" name="Picture 20" descr="lock.png"/>
          <p:cNvPicPr>
            <a:picLocks noChangeAspect="1"/>
          </p:cNvPicPr>
          <p:nvPr/>
        </p:nvPicPr>
        <p:blipFill>
          <a:blip r:embed="rId4"/>
          <a:stretch>
            <a:fillRect/>
          </a:stretch>
        </p:blipFill>
        <p:spPr>
          <a:xfrm>
            <a:off x="3008638" y="3228276"/>
            <a:ext cx="134549" cy="195707"/>
          </a:xfrm>
          <a:prstGeom prst="rect">
            <a:avLst/>
          </a:prstGeom>
        </p:spPr>
      </p:pic>
      <p:sp>
        <p:nvSpPr>
          <p:cNvPr id="22" name="TextBox 21"/>
          <p:cNvSpPr txBox="1"/>
          <p:nvPr/>
        </p:nvSpPr>
        <p:spPr>
          <a:xfrm>
            <a:off x="3183747" y="3238500"/>
            <a:ext cx="8292083" cy="194310"/>
          </a:xfrm>
          <a:prstGeom prst="rect">
            <a:avLst/>
          </a:prstGeom>
          <a:noFill/>
        </p:spPr>
        <p:txBody>
          <a:bodyPr wrap="none" lIns="0" rIns="0" tIns="0" bIns="0">
            <a:spAutoFit/>
          </a:bodyPr>
          <a:lstStyle/>
          <a:p>
            <a:r>
              <a:rPr sz="1150" b="0">
                <a:solidFill>
                  <a:srgbClr val="2E2E2E"/>
                </a:solidFill>
                <a:latin typeface="Calibri"/>
              </a:rPr>
              <a:t>X higher value than 16 to 26 tons segment in 2036. Among heavy commercial vehicle EPS by gross vehicle weight, 16 to 26 tons segment is</a:t>
            </a:r>
          </a:p>
        </p:txBody>
      </p:sp>
      <p:sp>
        <p:nvSpPr>
          <p:cNvPr id="23" name="TextBox 22"/>
          <p:cNvSpPr txBox="1"/>
          <p:nvPr/>
        </p:nvSpPr>
        <p:spPr>
          <a:xfrm>
            <a:off x="276225" y="341376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403536"/>
            <a:ext cx="134549" cy="195707"/>
          </a:xfrm>
          <a:prstGeom prst="rect">
            <a:avLst/>
          </a:prstGeom>
        </p:spPr>
      </p:pic>
      <p:sp>
        <p:nvSpPr>
          <p:cNvPr id="25" name="TextBox 24"/>
          <p:cNvSpPr txBox="1"/>
          <p:nvPr/>
        </p:nvSpPr>
        <p:spPr>
          <a:xfrm>
            <a:off x="2886495"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7131384" cy="194310"/>
          </a:xfrm>
          <a:prstGeom prst="rect">
            <a:avLst/>
          </a:prstGeom>
          <a:noFill/>
        </p:spPr>
        <p:txBody>
          <a:bodyPr wrap="none" lIns="0" rIns="0" tIns="0" bIns="0">
            <a:spAutoFit/>
          </a:bodyPr>
          <a:lstStyle/>
          <a:p>
            <a:r>
              <a:rPr sz="1150" b="0">
                <a:solidFill>
                  <a:srgbClr val="2E2E2E"/>
                </a:solidFill>
                <a:latin typeface="Calibri"/>
              </a:rPr>
              <a:t>In terms of value share by gross vehicle weight, the 26 to 40 tons segment is expected to dominate the market, gaining</a:t>
            </a:r>
          </a:p>
        </p:txBody>
      </p:sp>
      <p:pic>
        <p:nvPicPr>
          <p:cNvPr id="27" name="Picture 26" descr="lock.png"/>
          <p:cNvPicPr>
            <a:picLocks noChangeAspect="1"/>
          </p:cNvPicPr>
          <p:nvPr/>
        </p:nvPicPr>
        <p:blipFill>
          <a:blip r:embed="rId4"/>
          <a:stretch>
            <a:fillRect/>
          </a:stretch>
        </p:blipFill>
        <p:spPr>
          <a:xfrm>
            <a:off x="7356763" y="3631374"/>
            <a:ext cx="134549" cy="195707"/>
          </a:xfrm>
          <a:prstGeom prst="rect">
            <a:avLst/>
          </a:prstGeom>
        </p:spPr>
      </p:pic>
      <p:sp>
        <p:nvSpPr>
          <p:cNvPr id="28" name="TextBox 27"/>
          <p:cNvSpPr txBox="1"/>
          <p:nvPr/>
        </p:nvSpPr>
        <p:spPr>
          <a:xfrm>
            <a:off x="753187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927016" y="3631374"/>
            <a:ext cx="134549" cy="195707"/>
          </a:xfrm>
          <a:prstGeom prst="rect">
            <a:avLst/>
          </a:prstGeom>
        </p:spPr>
      </p:pic>
      <p:sp>
        <p:nvSpPr>
          <p:cNvPr id="30" name="TextBox 29"/>
          <p:cNvSpPr txBox="1"/>
          <p:nvPr/>
        </p:nvSpPr>
        <p:spPr>
          <a:xfrm>
            <a:off x="9102125" y="3641597"/>
            <a:ext cx="2616671" cy="194310"/>
          </a:xfrm>
          <a:prstGeom prst="rect">
            <a:avLst/>
          </a:prstGeom>
          <a:noFill/>
        </p:spPr>
        <p:txBody>
          <a:bodyPr wrap="none" lIns="0" rIns="0" tIns="0" bIns="0">
            <a:spAutoFit/>
          </a:bodyPr>
          <a:lstStyle/>
          <a:p>
            <a:r>
              <a:rPr sz="1150" b="0">
                <a:solidFill>
                  <a:srgbClr val="2E2E2E"/>
                </a:solidFill>
                <a:latin typeface="Calibri"/>
              </a:rPr>
              <a:t>share by 2036. The above 40 tons segment</a:t>
            </a:r>
          </a:p>
        </p:txBody>
      </p:sp>
      <p:sp>
        <p:nvSpPr>
          <p:cNvPr id="31" name="TextBox 30"/>
          <p:cNvSpPr txBox="1"/>
          <p:nvPr/>
        </p:nvSpPr>
        <p:spPr>
          <a:xfrm>
            <a:off x="276225" y="3816857"/>
            <a:ext cx="1178706" cy="194310"/>
          </a:xfrm>
          <a:prstGeom prst="rect">
            <a:avLst/>
          </a:prstGeom>
          <a:noFill/>
        </p:spPr>
        <p:txBody>
          <a:bodyPr wrap="none" lIns="0" rIns="0" tIns="0" bIns="0">
            <a:spAutoFit/>
          </a:bodyPr>
          <a:lstStyle/>
          <a:p>
            <a:r>
              <a:rPr sz="1150" b="0">
                <a:solidFill>
                  <a:srgbClr val="2E2E2E"/>
                </a:solidFill>
                <a:latin typeface="Calibri"/>
              </a:rPr>
              <a:t>is expected to lose</a:t>
            </a:r>
          </a:p>
        </p:txBody>
      </p:sp>
      <p:pic>
        <p:nvPicPr>
          <p:cNvPr id="32" name="Picture 31" descr="lock.png"/>
          <p:cNvPicPr>
            <a:picLocks noChangeAspect="1"/>
          </p:cNvPicPr>
          <p:nvPr/>
        </p:nvPicPr>
        <p:blipFill>
          <a:blip r:embed="rId4"/>
          <a:stretch>
            <a:fillRect/>
          </a:stretch>
        </p:blipFill>
        <p:spPr>
          <a:xfrm>
            <a:off x="1404085" y="3806634"/>
            <a:ext cx="134549" cy="195707"/>
          </a:xfrm>
          <a:prstGeom prst="rect">
            <a:avLst/>
          </a:prstGeom>
        </p:spPr>
      </p:pic>
      <p:sp>
        <p:nvSpPr>
          <p:cNvPr id="33" name="TextBox 32"/>
          <p:cNvSpPr txBox="1"/>
          <p:nvPr/>
        </p:nvSpPr>
        <p:spPr>
          <a:xfrm>
            <a:off x="1579194"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166699" y="3806634"/>
            <a:ext cx="134549" cy="195707"/>
          </a:xfrm>
          <a:prstGeom prst="rect">
            <a:avLst/>
          </a:prstGeom>
        </p:spPr>
      </p:pic>
      <p:sp>
        <p:nvSpPr>
          <p:cNvPr id="35" name="TextBox 34"/>
          <p:cNvSpPr txBox="1"/>
          <p:nvPr/>
        </p:nvSpPr>
        <p:spPr>
          <a:xfrm>
            <a:off x="4341808"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&amp; Share Shift, By Gross Vehicle Weight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Gross Vehicle Weight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Composition, By Gross Vehicle Weight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3388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2912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5292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Above 40 Tons</a:t>
            </a:r>
          </a:p>
        </p:txBody>
      </p:sp>
      <p:sp>
        <p:nvSpPr>
          <p:cNvPr id="18" name="BPS Value 1"/>
          <p:cNvSpPr txBox="1"/>
          <p:nvPr/>
        </p:nvSpPr>
        <p:spPr>
          <a:xfrm>
            <a:off x="6896100" y="181483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5288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4811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719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16 to 26 Tons</a:t>
            </a:r>
          </a:p>
        </p:txBody>
      </p:sp>
      <p:sp>
        <p:nvSpPr>
          <p:cNvPr id="22" name="BPS Value 2"/>
          <p:cNvSpPr txBox="1"/>
          <p:nvPr/>
        </p:nvSpPr>
        <p:spPr>
          <a:xfrm>
            <a:off x="6896100" y="223383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437643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43716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42954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26 to 40 Tons</a:t>
            </a:r>
          </a:p>
        </p:txBody>
      </p:sp>
      <p:sp>
        <p:nvSpPr>
          <p:cNvPr id="26" name="BPS Value 3"/>
          <p:cNvSpPr txBox="1"/>
          <p:nvPr/>
        </p:nvSpPr>
        <p:spPr>
          <a:xfrm>
            <a:off x="6896100" y="435738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Western Europe Read-out, By Gross Vehicle Weight</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heavy commercial vehicle EPS by gross vehicle weight, 16 to</a:t>
            </a:r>
          </a:p>
        </p:txBody>
      </p:sp>
      <p:sp>
        <p:nvSpPr>
          <p:cNvPr id="34" name="TextBox 33"/>
          <p:cNvSpPr txBox="1"/>
          <p:nvPr/>
        </p:nvSpPr>
        <p:spPr>
          <a:xfrm>
            <a:off x="7829550" y="1575435"/>
            <a:ext cx="3631016" cy="194310"/>
          </a:xfrm>
          <a:prstGeom prst="rect">
            <a:avLst/>
          </a:prstGeom>
          <a:noFill/>
        </p:spPr>
        <p:txBody>
          <a:bodyPr wrap="none" lIns="0" rIns="0" tIns="0" bIns="0">
            <a:spAutoFit/>
          </a:bodyPr>
          <a:lstStyle/>
          <a:p>
            <a:r>
              <a:rPr sz="1150" b="0">
                <a:solidFill>
                  <a:srgbClr val="2E2E2E"/>
                </a:solidFill>
                <a:latin typeface="Calibri"/>
              </a:rPr>
              <a:t>26 tons segment is expected to witness the highest CAGR of</a:t>
            </a:r>
          </a:p>
        </p:txBody>
      </p:sp>
      <p:pic>
        <p:nvPicPr>
          <p:cNvPr id="35" name="Picture 34" descr="lock.png"/>
          <p:cNvPicPr>
            <a:picLocks noChangeAspect="1"/>
          </p:cNvPicPr>
          <p:nvPr/>
        </p:nvPicPr>
        <p:blipFill>
          <a:blip r:embed="rId5"/>
          <a:stretch>
            <a:fillRect/>
          </a:stretch>
        </p:blipFill>
        <p:spPr>
          <a:xfrm>
            <a:off x="11409720" y="1565211"/>
            <a:ext cx="134549" cy="195707"/>
          </a:xfrm>
          <a:prstGeom prst="rect">
            <a:avLst/>
          </a:prstGeom>
        </p:spPr>
      </p:pic>
      <p:sp>
        <p:nvSpPr>
          <p:cNvPr id="36" name="TextBox 35"/>
          <p:cNvSpPr txBox="1"/>
          <p:nvPr/>
        </p:nvSpPr>
        <p:spPr>
          <a:xfrm>
            <a:off x="7829550" y="1750695"/>
            <a:ext cx="3912579"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gross vehicle</a:t>
            </a:r>
          </a:p>
        </p:txBody>
      </p:sp>
      <p:sp>
        <p:nvSpPr>
          <p:cNvPr id="37" name="TextBox 36"/>
          <p:cNvSpPr txBox="1"/>
          <p:nvPr/>
        </p:nvSpPr>
        <p:spPr>
          <a:xfrm>
            <a:off x="7829550" y="1925955"/>
            <a:ext cx="3810744" cy="194310"/>
          </a:xfrm>
          <a:prstGeom prst="rect">
            <a:avLst/>
          </a:prstGeom>
          <a:noFill/>
        </p:spPr>
        <p:txBody>
          <a:bodyPr wrap="none" lIns="0" rIns="0" tIns="0" bIns="0">
            <a:spAutoFit/>
          </a:bodyPr>
          <a:lstStyle/>
          <a:p>
            <a:r>
              <a:rPr sz="1150" b="0">
                <a:solidFill>
                  <a:srgbClr val="2E2E2E"/>
                </a:solidFill>
                <a:latin typeface="Calibri"/>
              </a:rPr>
              <a:t>weight, the 26 to 40 tons segment is expected to dominate the</a:t>
            </a:r>
          </a:p>
        </p:txBody>
      </p:sp>
      <p:sp>
        <p:nvSpPr>
          <p:cNvPr id="38" name="TextBox 37"/>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39" name="Picture 38" descr="lock.png"/>
          <p:cNvPicPr>
            <a:picLocks noChangeAspect="1"/>
          </p:cNvPicPr>
          <p:nvPr/>
        </p:nvPicPr>
        <p:blipFill>
          <a:blip r:embed="rId5"/>
          <a:stretch>
            <a:fillRect/>
          </a:stretch>
        </p:blipFill>
        <p:spPr>
          <a:xfrm>
            <a:off x="8778556" y="2090991"/>
            <a:ext cx="134549" cy="195707"/>
          </a:xfrm>
          <a:prstGeom prst="rect">
            <a:avLst/>
          </a:prstGeom>
        </p:spPr>
      </p:pic>
      <p:sp>
        <p:nvSpPr>
          <p:cNvPr id="40" name="TextBox 39"/>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1" name="Picture 40" descr="lock.png"/>
          <p:cNvPicPr>
            <a:picLocks noChangeAspect="1"/>
          </p:cNvPicPr>
          <p:nvPr/>
        </p:nvPicPr>
        <p:blipFill>
          <a:blip r:embed="rId5"/>
          <a:stretch>
            <a:fillRect/>
          </a:stretch>
        </p:blipFill>
        <p:spPr>
          <a:xfrm>
            <a:off x="10348808" y="2090991"/>
            <a:ext cx="134549" cy="195707"/>
          </a:xfrm>
          <a:prstGeom prst="rect">
            <a:avLst/>
          </a:prstGeom>
        </p:spPr>
      </p:pic>
      <p:sp>
        <p:nvSpPr>
          <p:cNvPr id="42" name="TextBox 41"/>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3" name="TextBox 42"/>
          <p:cNvSpPr txBox="1"/>
          <p:nvPr/>
        </p:nvSpPr>
        <p:spPr>
          <a:xfrm>
            <a:off x="7829550" y="2329053"/>
            <a:ext cx="2849153" cy="194310"/>
          </a:xfrm>
          <a:prstGeom prst="rect">
            <a:avLst/>
          </a:prstGeom>
          <a:noFill/>
        </p:spPr>
        <p:txBody>
          <a:bodyPr wrap="none" lIns="0" rIns="0" tIns="0" bIns="0">
            <a:spAutoFit/>
          </a:bodyPr>
          <a:lstStyle/>
          <a:p>
            <a:r>
              <a:rPr sz="1150" b="0">
                <a:solidFill>
                  <a:srgbClr val="2E2E2E"/>
                </a:solidFill>
                <a:latin typeface="Calibri"/>
              </a:rPr>
              <a:t>The above 40 tons segment is expected to lose</a:t>
            </a:r>
          </a:p>
        </p:txBody>
      </p:sp>
      <p:pic>
        <p:nvPicPr>
          <p:cNvPr id="44" name="Picture 43" descr="lock.png"/>
          <p:cNvPicPr>
            <a:picLocks noChangeAspect="1"/>
          </p:cNvPicPr>
          <p:nvPr/>
        </p:nvPicPr>
        <p:blipFill>
          <a:blip r:embed="rId5"/>
          <a:stretch>
            <a:fillRect/>
          </a:stretch>
        </p:blipFill>
        <p:spPr>
          <a:xfrm>
            <a:off x="10627857" y="2318829"/>
            <a:ext cx="134549" cy="195707"/>
          </a:xfrm>
          <a:prstGeom prst="rect">
            <a:avLst/>
          </a:prstGeom>
        </p:spPr>
      </p:pic>
      <p:sp>
        <p:nvSpPr>
          <p:cNvPr id="45" name="TextBox 44"/>
          <p:cNvSpPr txBox="1"/>
          <p:nvPr/>
        </p:nvSpPr>
        <p:spPr>
          <a:xfrm>
            <a:off x="10802966"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6" name="TextBox 45"/>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7" name="Picture 46" descr="lock.png"/>
          <p:cNvPicPr>
            <a:picLocks noChangeAspect="1"/>
          </p:cNvPicPr>
          <p:nvPr/>
        </p:nvPicPr>
        <p:blipFill>
          <a:blip r:embed="rId5"/>
          <a:stretch>
            <a:fillRect/>
          </a:stretch>
        </p:blipFill>
        <p:spPr>
          <a:xfrm>
            <a:off x="9630324" y="2494089"/>
            <a:ext cx="134549" cy="195707"/>
          </a:xfrm>
          <a:prstGeom prst="rect">
            <a:avLst/>
          </a:prstGeom>
        </p:spPr>
      </p:pic>
      <p:sp>
        <p:nvSpPr>
          <p:cNvPr id="48" name="TextBox 47"/>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Propulsion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Propulsion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Propulsion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Propulsion Type segment categorizes the market by propulsion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Internal Combustion Engine</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Hybrid</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Electric</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2" name="Rectangle 41"/>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4" name="Rounded Rectangle 4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8" name="Rounded Rectangle 4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0" name="Rectangle 49"/>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Propulsion Type split shows how demand is distributed across propulsion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2" name="Rectangle 5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4" name="TextBox 5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6" name="Picture 55" descr="57_8_605E5C.png"/>
          <p:cNvPicPr>
            <a:picLocks noChangeAspect="1"/>
          </p:cNvPicPr>
          <p:nvPr/>
        </p:nvPicPr>
        <p:blipFill>
          <a:blip r:embed="rId4"/>
          <a:stretch>
            <a:fillRect/>
          </a:stretch>
        </p:blipFill>
        <p:spPr>
          <a:xfrm>
            <a:off x="3004457" y="2286582"/>
            <a:ext cx="982436" cy="361950"/>
          </a:xfrm>
          <a:prstGeom prst="rect">
            <a:avLst/>
          </a:prstGeom>
        </p:spPr>
      </p:pic>
      <p:pic>
        <p:nvPicPr>
          <p:cNvPr id="57" name="Picture 56" descr="102_6_605E5C.png"/>
          <p:cNvPicPr>
            <a:picLocks noChangeAspect="1"/>
          </p:cNvPicPr>
          <p:nvPr/>
        </p:nvPicPr>
        <p:blipFill>
          <a:blip r:embed="rId5"/>
          <a:stretch>
            <a:fillRect/>
          </a:stretch>
        </p:blipFill>
        <p:spPr>
          <a:xfrm>
            <a:off x="2897811" y="2779432"/>
            <a:ext cx="1195728" cy="361950"/>
          </a:xfrm>
          <a:prstGeom prst="rect">
            <a:avLst/>
          </a:prstGeom>
        </p:spPr>
      </p:pic>
      <p:pic>
        <p:nvPicPr>
          <p:cNvPr id="58" name="Picture 57" descr="5_9__605E5C.png"/>
          <p:cNvPicPr>
            <a:picLocks noChangeAspect="1"/>
          </p:cNvPicPr>
          <p:nvPr/>
        </p:nvPicPr>
        <p:blipFill>
          <a:blip r:embed="rId6"/>
          <a:stretch>
            <a:fillRect/>
          </a:stretch>
        </p:blipFill>
        <p:spPr>
          <a:xfrm>
            <a:off x="3004457" y="3272281"/>
            <a:ext cx="982436" cy="361950"/>
          </a:xfrm>
          <a:prstGeom prst="rect">
            <a:avLst/>
          </a:prstGeom>
        </p:spPr>
      </p:pic>
      <p:pic>
        <p:nvPicPr>
          <p:cNvPr id="59" name="Picture 58" descr="37_9_605E5C.png"/>
          <p:cNvPicPr>
            <a:picLocks noChangeAspect="1"/>
          </p:cNvPicPr>
          <p:nvPr/>
        </p:nvPicPr>
        <p:blipFill>
          <a:blip r:embed="rId7"/>
          <a:stretch>
            <a:fillRect/>
          </a:stretch>
        </p:blipFill>
        <p:spPr>
          <a:xfrm>
            <a:off x="6376307" y="2286582"/>
            <a:ext cx="982436" cy="361950"/>
          </a:xfrm>
          <a:prstGeom prst="rect">
            <a:avLst/>
          </a:prstGeom>
        </p:spPr>
      </p:pic>
      <p:pic>
        <p:nvPicPr>
          <p:cNvPr id="60" name="Picture 59" descr="87_5_605E5C.png"/>
          <p:cNvPicPr>
            <a:picLocks noChangeAspect="1"/>
          </p:cNvPicPr>
          <p:nvPr/>
        </p:nvPicPr>
        <p:blipFill>
          <a:blip r:embed="rId8"/>
          <a:stretch>
            <a:fillRect/>
          </a:stretch>
        </p:blipFill>
        <p:spPr>
          <a:xfrm>
            <a:off x="6376307" y="2779432"/>
            <a:ext cx="982436" cy="361950"/>
          </a:xfrm>
          <a:prstGeom prst="rect">
            <a:avLst/>
          </a:prstGeom>
        </p:spPr>
      </p:pic>
      <p:pic>
        <p:nvPicPr>
          <p:cNvPr id="61" name="Picture 60" descr="8_7__605E5C.png"/>
          <p:cNvPicPr>
            <a:picLocks noChangeAspect="1"/>
          </p:cNvPicPr>
          <p:nvPr/>
        </p:nvPicPr>
        <p:blipFill>
          <a:blip r:embed="rId9"/>
          <a:stretch>
            <a:fillRect/>
          </a:stretch>
        </p:blipFill>
        <p:spPr>
          <a:xfrm>
            <a:off x="6376307" y="3272281"/>
            <a:ext cx="982436" cy="361950"/>
          </a:xfrm>
          <a:prstGeom prst="rect">
            <a:avLst/>
          </a:prstGeom>
        </p:spPr>
      </p:pic>
      <p:pic>
        <p:nvPicPr>
          <p:cNvPr id="62" name="Picture 61" descr="24_9_605E5C.png"/>
          <p:cNvPicPr>
            <a:picLocks noChangeAspect="1"/>
          </p:cNvPicPr>
          <p:nvPr/>
        </p:nvPicPr>
        <p:blipFill>
          <a:blip r:embed="rId10"/>
          <a:stretch>
            <a:fillRect/>
          </a:stretch>
        </p:blipFill>
        <p:spPr>
          <a:xfrm>
            <a:off x="9748157" y="2286582"/>
            <a:ext cx="982436" cy="361950"/>
          </a:xfrm>
          <a:prstGeom prst="rect">
            <a:avLst/>
          </a:prstGeom>
        </p:spPr>
      </p:pic>
      <p:pic>
        <p:nvPicPr>
          <p:cNvPr id="63" name="Picture 62" descr="42_6_605E5C.png"/>
          <p:cNvPicPr>
            <a:picLocks noChangeAspect="1"/>
          </p:cNvPicPr>
          <p:nvPr/>
        </p:nvPicPr>
        <p:blipFill>
          <a:blip r:embed="rId11"/>
          <a:stretch>
            <a:fillRect/>
          </a:stretch>
        </p:blipFill>
        <p:spPr>
          <a:xfrm>
            <a:off x="9748157" y="2779432"/>
            <a:ext cx="982436" cy="361950"/>
          </a:xfrm>
          <a:prstGeom prst="rect">
            <a:avLst/>
          </a:prstGeom>
        </p:spPr>
      </p:pic>
      <p:pic>
        <p:nvPicPr>
          <p:cNvPr id="64" name="Picture 63" descr="5_5__605E5C.png"/>
          <p:cNvPicPr>
            <a:picLocks noChangeAspect="1"/>
          </p:cNvPicPr>
          <p:nvPr/>
        </p:nvPicPr>
        <p:blipFill>
          <a:blip r:embed="rId12"/>
          <a:stretch>
            <a:fillRect/>
          </a:stretch>
        </p:blipFill>
        <p:spPr>
          <a:xfrm>
            <a:off x="9748157" y="3272281"/>
            <a:ext cx="982436" cy="361950"/>
          </a:xfrm>
          <a:prstGeom prst="rect">
            <a:avLst/>
          </a:prstGeom>
        </p:spPr>
      </p:pic>
      <p:pic>
        <p:nvPicPr>
          <p:cNvPr id="65" name="Picture 64" descr="lock.png"/>
          <p:cNvPicPr>
            <a:picLocks noChangeAspect="1"/>
          </p:cNvPicPr>
          <p:nvPr/>
        </p:nvPicPr>
        <p:blipFill>
          <a:blip r:embed="rId13"/>
          <a:stretch>
            <a:fillRect/>
          </a:stretch>
        </p:blipFill>
        <p:spPr>
          <a:xfrm>
            <a:off x="3402330" y="2827057"/>
            <a:ext cx="183356" cy="266700"/>
          </a:xfrm>
          <a:prstGeom prst="rect">
            <a:avLst/>
          </a:prstGeom>
        </p:spPr>
      </p:pic>
      <p:pic>
        <p:nvPicPr>
          <p:cNvPr id="66" name="Picture 65" descr="lock.png"/>
          <p:cNvPicPr>
            <a:picLocks noChangeAspect="1"/>
          </p:cNvPicPr>
          <p:nvPr/>
        </p:nvPicPr>
        <p:blipFill>
          <a:blip r:embed="rId13"/>
          <a:stretch>
            <a:fillRect/>
          </a:stretch>
        </p:blipFill>
        <p:spPr>
          <a:xfrm>
            <a:off x="677418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10146030" y="2827057"/>
            <a:ext cx="183356" cy="266700"/>
          </a:xfrm>
          <a:prstGeom prst="rect">
            <a:avLst/>
          </a:prstGeom>
        </p:spPr>
      </p:pic>
      <p:sp>
        <p:nvSpPr>
          <p:cNvPr id="68" name="TextBox 67"/>
          <p:cNvSpPr txBox="1"/>
          <p:nvPr/>
        </p:nvSpPr>
        <p:spPr>
          <a:xfrm>
            <a:off x="485775" y="4229437"/>
            <a:ext cx="2381250" cy="186689"/>
          </a:xfrm>
          <a:prstGeom prst="rect">
            <a:avLst/>
          </a:prstGeom>
          <a:noFill/>
        </p:spPr>
        <p:txBody>
          <a:bodyPr wrap="none" lIns="0" rIns="0" tIns="0" bIns="0">
            <a:spAutoFit/>
          </a:bodyPr>
          <a:lstStyle/>
          <a:p>
            <a:r>
              <a:rPr sz="1100" b="0">
                <a:solidFill>
                  <a:srgbClr val="2E2E2E"/>
                </a:solidFill>
                <a:latin typeface="Calibri"/>
              </a:rPr>
              <a:t>Among heavy commercial vehicle EPS by</a:t>
            </a:r>
          </a:p>
        </p:txBody>
      </p:sp>
      <p:sp>
        <p:nvSpPr>
          <p:cNvPr id="69" name="TextBox 68"/>
          <p:cNvSpPr txBox="1"/>
          <p:nvPr/>
        </p:nvSpPr>
        <p:spPr>
          <a:xfrm>
            <a:off x="485775" y="4397077"/>
            <a:ext cx="2748508" cy="186689"/>
          </a:xfrm>
          <a:prstGeom prst="rect">
            <a:avLst/>
          </a:prstGeom>
          <a:noFill/>
        </p:spPr>
        <p:txBody>
          <a:bodyPr wrap="none" lIns="0" rIns="0" tIns="0" bIns="0">
            <a:spAutoFit/>
          </a:bodyPr>
          <a:lstStyle/>
          <a:p>
            <a:r>
              <a:rPr sz="1100" b="0">
                <a:solidFill>
                  <a:srgbClr val="2E2E2E"/>
                </a:solidFill>
                <a:latin typeface="Calibri"/>
              </a:rPr>
              <a:t>propulsion type, hybrid segment is expected to</a:t>
            </a:r>
          </a:p>
        </p:txBody>
      </p:sp>
      <p:sp>
        <p:nvSpPr>
          <p:cNvPr id="70" name="TextBox 69"/>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71" name="Picture 70" descr="lock.png"/>
          <p:cNvPicPr>
            <a:picLocks noChangeAspect="1"/>
          </p:cNvPicPr>
          <p:nvPr/>
        </p:nvPicPr>
        <p:blipFill>
          <a:blip r:embed="rId13"/>
          <a:stretch>
            <a:fillRect/>
          </a:stretch>
        </p:blipFill>
        <p:spPr>
          <a:xfrm>
            <a:off x="2108919" y="4554938"/>
            <a:ext cx="128699" cy="187198"/>
          </a:xfrm>
          <a:prstGeom prst="rect">
            <a:avLst/>
          </a:prstGeom>
        </p:spPr>
      </p:pic>
      <p:sp>
        <p:nvSpPr>
          <p:cNvPr id="72" name="TextBox 71"/>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period. In terms of value share by propulsion type,</a:t>
            </a:r>
          </a:p>
        </p:txBody>
      </p:sp>
      <p:sp>
        <p:nvSpPr>
          <p:cNvPr id="74" name="TextBox 73"/>
          <p:cNvSpPr txBox="1"/>
          <p:nvPr/>
        </p:nvSpPr>
        <p:spPr>
          <a:xfrm>
            <a:off x="485775" y="4899997"/>
            <a:ext cx="2501850" cy="186689"/>
          </a:xfrm>
          <a:prstGeom prst="rect">
            <a:avLst/>
          </a:prstGeom>
          <a:noFill/>
        </p:spPr>
        <p:txBody>
          <a:bodyPr wrap="none" lIns="0" rIns="0" tIns="0" bIns="0">
            <a:spAutoFit/>
          </a:bodyPr>
          <a:lstStyle/>
          <a:p>
            <a:r>
              <a:rPr sz="1100" b="0">
                <a:solidFill>
                  <a:srgbClr val="2E2E2E"/>
                </a:solidFill>
                <a:latin typeface="Calibri"/>
              </a:rPr>
              <a:t>the internal combustion engine segment is</a:t>
            </a:r>
          </a:p>
        </p:txBody>
      </p:sp>
      <p:sp>
        <p:nvSpPr>
          <p:cNvPr id="75" name="TextBox 74"/>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76" name="Picture 75" descr="lock.png"/>
          <p:cNvPicPr>
            <a:picLocks noChangeAspect="1"/>
          </p:cNvPicPr>
          <p:nvPr/>
        </p:nvPicPr>
        <p:blipFill>
          <a:blip r:embed="rId13"/>
          <a:stretch>
            <a:fillRect/>
          </a:stretch>
        </p:blipFill>
        <p:spPr>
          <a:xfrm>
            <a:off x="2822716" y="5057858"/>
            <a:ext cx="128699" cy="187198"/>
          </a:xfrm>
          <a:prstGeom prst="rect">
            <a:avLst/>
          </a:prstGeom>
        </p:spPr>
      </p:pic>
      <p:sp>
        <p:nvSpPr>
          <p:cNvPr id="77" name="TextBox 76"/>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78" name="TextBox 7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79" name="Picture 78" descr="lock.png"/>
          <p:cNvPicPr>
            <a:picLocks noChangeAspect="1"/>
          </p:cNvPicPr>
          <p:nvPr/>
        </p:nvPicPr>
        <p:blipFill>
          <a:blip r:embed="rId13"/>
          <a:stretch>
            <a:fillRect/>
          </a:stretch>
        </p:blipFill>
        <p:spPr>
          <a:xfrm>
            <a:off x="1576057" y="5225498"/>
            <a:ext cx="128699" cy="187198"/>
          </a:xfrm>
          <a:prstGeom prst="rect">
            <a:avLst/>
          </a:prstGeom>
        </p:spPr>
      </p:pic>
      <p:sp>
        <p:nvSpPr>
          <p:cNvPr id="80" name="TextBox 7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863105" cy="186689"/>
          </a:xfrm>
          <a:prstGeom prst="rect">
            <a:avLst/>
          </a:prstGeom>
          <a:noFill/>
        </p:spPr>
        <p:txBody>
          <a:bodyPr wrap="none" lIns="0" rIns="0" tIns="0" bIns="0">
            <a:spAutoFit/>
          </a:bodyPr>
          <a:lstStyle/>
          <a:p>
            <a:r>
              <a:rPr sz="1100" b="0">
                <a:solidFill>
                  <a:srgbClr val="2E2E2E"/>
                </a:solidFill>
                <a:latin typeface="Calibri"/>
              </a:rPr>
              <a:t>Internal combustion engine segment is projected</a:t>
            </a:r>
          </a:p>
        </p:txBody>
      </p:sp>
      <p:sp>
        <p:nvSpPr>
          <p:cNvPr id="82" name="TextBox 81"/>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83" name="Picture 82" descr="lock.png"/>
          <p:cNvPicPr>
            <a:picLocks noChangeAspect="1"/>
          </p:cNvPicPr>
          <p:nvPr/>
        </p:nvPicPr>
        <p:blipFill>
          <a:blip r:embed="rId13"/>
          <a:stretch>
            <a:fillRect/>
          </a:stretch>
        </p:blipFill>
        <p:spPr>
          <a:xfrm>
            <a:off x="1098567" y="5611070"/>
            <a:ext cx="128699" cy="187198"/>
          </a:xfrm>
          <a:prstGeom prst="rect">
            <a:avLst/>
          </a:prstGeom>
        </p:spPr>
      </p:pic>
      <p:sp>
        <p:nvSpPr>
          <p:cNvPr id="84" name="TextBox 83"/>
          <p:cNvSpPr txBox="1"/>
          <p:nvPr/>
        </p:nvSpPr>
        <p:spPr>
          <a:xfrm>
            <a:off x="1266063" y="5620849"/>
            <a:ext cx="2091754" cy="186689"/>
          </a:xfrm>
          <a:prstGeom prst="rect">
            <a:avLst/>
          </a:prstGeom>
          <a:noFill/>
        </p:spPr>
        <p:txBody>
          <a:bodyPr wrap="none" lIns="0" rIns="0" tIns="0" bIns="0">
            <a:spAutoFit/>
          </a:bodyPr>
          <a:lstStyle/>
          <a:p>
            <a:r>
              <a:rPr sz="1100" b="0">
                <a:solidFill>
                  <a:srgbClr val="2E2E2E"/>
                </a:solidFill>
                <a:latin typeface="Calibri"/>
              </a:rPr>
              <a:t>X higher value than hybrid segment</a:t>
            </a:r>
          </a:p>
        </p:txBody>
      </p:sp>
      <p:sp>
        <p:nvSpPr>
          <p:cNvPr id="85" name="TextBox 84"/>
          <p:cNvSpPr txBox="1"/>
          <p:nvPr/>
        </p:nvSpPr>
        <p:spPr>
          <a:xfrm>
            <a:off x="485775" y="578848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86" name="TextBox 85"/>
          <p:cNvSpPr txBox="1"/>
          <p:nvPr/>
        </p:nvSpPr>
        <p:spPr>
          <a:xfrm>
            <a:off x="3838575" y="4229437"/>
            <a:ext cx="1809080" cy="186689"/>
          </a:xfrm>
          <a:prstGeom prst="rect">
            <a:avLst/>
          </a:prstGeom>
          <a:noFill/>
        </p:spPr>
        <p:txBody>
          <a:bodyPr wrap="none" lIns="0" rIns="0" tIns="0" bIns="0">
            <a:spAutoFit/>
          </a:bodyPr>
          <a:lstStyle/>
          <a:p>
            <a:r>
              <a:rPr sz="1100" b="0">
                <a:solidFill>
                  <a:srgbClr val="2E2E2E"/>
                </a:solidFill>
                <a:latin typeface="Calibri"/>
              </a:rPr>
              <a:t>● Internal Combustion Engine:</a:t>
            </a:r>
          </a:p>
        </p:txBody>
      </p:sp>
      <p:pic>
        <p:nvPicPr>
          <p:cNvPr id="87" name="Picture 86" descr="lock.png"/>
          <p:cNvPicPr>
            <a:picLocks noChangeAspect="1"/>
          </p:cNvPicPr>
          <p:nvPr/>
        </p:nvPicPr>
        <p:blipFill>
          <a:blip r:embed="rId13"/>
          <a:stretch>
            <a:fillRect/>
          </a:stretch>
        </p:blipFill>
        <p:spPr>
          <a:xfrm>
            <a:off x="5595706" y="4219658"/>
            <a:ext cx="128699" cy="187198"/>
          </a:xfrm>
          <a:prstGeom prst="rect">
            <a:avLst/>
          </a:prstGeom>
        </p:spPr>
      </p:pic>
      <p:sp>
        <p:nvSpPr>
          <p:cNvPr id="88" name="TextBox 87"/>
          <p:cNvSpPr txBox="1"/>
          <p:nvPr/>
        </p:nvSpPr>
        <p:spPr>
          <a:xfrm>
            <a:off x="576320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622652" y="4219658"/>
            <a:ext cx="128699" cy="187198"/>
          </a:xfrm>
          <a:prstGeom prst="rect">
            <a:avLst/>
          </a:prstGeom>
        </p:spPr>
      </p:pic>
      <p:sp>
        <p:nvSpPr>
          <p:cNvPr id="90" name="TextBox 89"/>
          <p:cNvSpPr txBox="1"/>
          <p:nvPr/>
        </p:nvSpPr>
        <p:spPr>
          <a:xfrm>
            <a:off x="679014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91" name="TextBox 9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92" name="TextBox 91"/>
          <p:cNvSpPr txBox="1"/>
          <p:nvPr/>
        </p:nvSpPr>
        <p:spPr>
          <a:xfrm>
            <a:off x="3838575" y="4615009"/>
            <a:ext cx="607714" cy="186689"/>
          </a:xfrm>
          <a:prstGeom prst="rect">
            <a:avLst/>
          </a:prstGeom>
          <a:noFill/>
        </p:spPr>
        <p:txBody>
          <a:bodyPr wrap="none" lIns="0" rIns="0" tIns="0" bIns="0">
            <a:spAutoFit/>
          </a:bodyPr>
          <a:lstStyle/>
          <a:p>
            <a:r>
              <a:rPr sz="1100" b="0">
                <a:solidFill>
                  <a:srgbClr val="2E2E2E"/>
                </a:solidFill>
                <a:latin typeface="Calibri"/>
              </a:rPr>
              <a:t>● Hybrid:</a:t>
            </a:r>
          </a:p>
        </p:txBody>
      </p:sp>
      <p:pic>
        <p:nvPicPr>
          <p:cNvPr id="93" name="Picture 92" descr="lock.png"/>
          <p:cNvPicPr>
            <a:picLocks noChangeAspect="1"/>
          </p:cNvPicPr>
          <p:nvPr/>
        </p:nvPicPr>
        <p:blipFill>
          <a:blip r:embed="rId13"/>
          <a:stretch>
            <a:fillRect/>
          </a:stretch>
        </p:blipFill>
        <p:spPr>
          <a:xfrm>
            <a:off x="4394341" y="4605230"/>
            <a:ext cx="128699" cy="187198"/>
          </a:xfrm>
          <a:prstGeom prst="rect">
            <a:avLst/>
          </a:prstGeom>
        </p:spPr>
      </p:pic>
      <p:sp>
        <p:nvSpPr>
          <p:cNvPr id="94" name="TextBox 93"/>
          <p:cNvSpPr txBox="1"/>
          <p:nvPr/>
        </p:nvSpPr>
        <p:spPr>
          <a:xfrm>
            <a:off x="456183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5421287" y="4605230"/>
            <a:ext cx="128699" cy="187198"/>
          </a:xfrm>
          <a:prstGeom prst="rect">
            <a:avLst/>
          </a:prstGeom>
        </p:spPr>
      </p:pic>
      <p:sp>
        <p:nvSpPr>
          <p:cNvPr id="96" name="TextBox 95"/>
          <p:cNvSpPr txBox="1"/>
          <p:nvPr/>
        </p:nvSpPr>
        <p:spPr>
          <a:xfrm>
            <a:off x="5588783" y="461500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7" name="TextBox 96"/>
          <p:cNvSpPr txBox="1"/>
          <p:nvPr/>
        </p:nvSpPr>
        <p:spPr>
          <a:xfrm>
            <a:off x="3838575" y="4832941"/>
            <a:ext cx="645914" cy="186689"/>
          </a:xfrm>
          <a:prstGeom prst="rect">
            <a:avLst/>
          </a:prstGeom>
          <a:noFill/>
        </p:spPr>
        <p:txBody>
          <a:bodyPr wrap="none" lIns="0" rIns="0" tIns="0" bIns="0">
            <a:spAutoFit/>
          </a:bodyPr>
          <a:lstStyle/>
          <a:p>
            <a:r>
              <a:rPr sz="1100" b="0">
                <a:solidFill>
                  <a:srgbClr val="2E2E2E"/>
                </a:solidFill>
                <a:latin typeface="Calibri"/>
              </a:rPr>
              <a:t>● Electric:</a:t>
            </a:r>
          </a:p>
        </p:txBody>
      </p:sp>
      <p:pic>
        <p:nvPicPr>
          <p:cNvPr id="98" name="Picture 97" descr="lock.png"/>
          <p:cNvPicPr>
            <a:picLocks noChangeAspect="1"/>
          </p:cNvPicPr>
          <p:nvPr/>
        </p:nvPicPr>
        <p:blipFill>
          <a:blip r:embed="rId13"/>
          <a:stretch>
            <a:fillRect/>
          </a:stretch>
        </p:blipFill>
        <p:spPr>
          <a:xfrm>
            <a:off x="4432540" y="4823162"/>
            <a:ext cx="128699" cy="187198"/>
          </a:xfrm>
          <a:prstGeom prst="rect">
            <a:avLst/>
          </a:prstGeom>
        </p:spPr>
      </p:pic>
      <p:sp>
        <p:nvSpPr>
          <p:cNvPr id="99" name="TextBox 98"/>
          <p:cNvSpPr txBox="1"/>
          <p:nvPr/>
        </p:nvSpPr>
        <p:spPr>
          <a:xfrm>
            <a:off x="4600036"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3"/>
          <a:stretch>
            <a:fillRect/>
          </a:stretch>
        </p:blipFill>
        <p:spPr>
          <a:xfrm>
            <a:off x="5459486" y="4823162"/>
            <a:ext cx="128699" cy="187198"/>
          </a:xfrm>
          <a:prstGeom prst="rect">
            <a:avLst/>
          </a:prstGeom>
        </p:spPr>
      </p:pic>
      <p:sp>
        <p:nvSpPr>
          <p:cNvPr id="101" name="TextBox 100"/>
          <p:cNvSpPr txBox="1"/>
          <p:nvPr/>
        </p:nvSpPr>
        <p:spPr>
          <a:xfrm>
            <a:off x="5626982"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2" name="TextBox 101"/>
          <p:cNvSpPr txBox="1"/>
          <p:nvPr/>
        </p:nvSpPr>
        <p:spPr>
          <a:xfrm>
            <a:off x="8524875" y="5842641"/>
            <a:ext cx="3116721" cy="194310"/>
          </a:xfrm>
          <a:prstGeom prst="rect">
            <a:avLst/>
          </a:prstGeom>
          <a:noFill/>
        </p:spPr>
        <p:txBody>
          <a:bodyPr wrap="none" lIns="0" rIns="0" tIns="0" bIns="0">
            <a:spAutoFit/>
          </a:bodyPr>
          <a:lstStyle/>
          <a:p>
            <a:r>
              <a:rPr sz="1150" b="1">
                <a:solidFill>
                  <a:srgbClr val="0B2E4A"/>
                </a:solidFill>
                <a:latin typeface="Calibri"/>
              </a:rPr>
              <a:t>The Propulsion Type segment is projected to grow</a:t>
            </a:r>
          </a:p>
        </p:txBody>
      </p:sp>
      <p:sp>
        <p:nvSpPr>
          <p:cNvPr id="103" name="TextBox 102"/>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04" name="Picture 103" descr="lock.png"/>
          <p:cNvPicPr>
            <a:picLocks noChangeAspect="1"/>
          </p:cNvPicPr>
          <p:nvPr/>
        </p:nvPicPr>
        <p:blipFill>
          <a:blip r:embed="rId13"/>
          <a:stretch>
            <a:fillRect/>
          </a:stretch>
        </p:blipFill>
        <p:spPr>
          <a:xfrm>
            <a:off x="9310118" y="6007677"/>
            <a:ext cx="134549" cy="195707"/>
          </a:xfrm>
          <a:prstGeom prst="rect">
            <a:avLst/>
          </a:prstGeom>
        </p:spPr>
      </p:pic>
      <p:sp>
        <p:nvSpPr>
          <p:cNvPr id="105" name="TextBox 104"/>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Structure &amp; Attractiveness, By Propulsion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Propulsion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Propulsion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Propulsion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Internal combustion engine followed by hybrid are expected to be the two most attractive propulsion type segments in the Western Europe heavy commercial vehicle EPS market in terms of value over the</a:t>
            </a:r>
          </a:p>
        </p:txBody>
      </p:sp>
      <p:sp>
        <p:nvSpPr>
          <p:cNvPr id="20" name="TextBox 19"/>
          <p:cNvSpPr txBox="1"/>
          <p:nvPr/>
        </p:nvSpPr>
        <p:spPr>
          <a:xfrm>
            <a:off x="257175" y="5861685"/>
            <a:ext cx="4573049" cy="186689"/>
          </a:xfrm>
          <a:prstGeom prst="rect">
            <a:avLst/>
          </a:prstGeom>
          <a:noFill/>
        </p:spPr>
        <p:txBody>
          <a:bodyPr wrap="none" lIns="0" rIns="0" tIns="0" bIns="0">
            <a:spAutoFit/>
          </a:bodyPr>
          <a:lstStyle/>
          <a:p>
            <a:r>
              <a:rPr sz="1100" b="0">
                <a:solidFill>
                  <a:srgbClr val="2E2E2E"/>
                </a:solidFill>
                <a:latin typeface="Calibri"/>
              </a:rPr>
              <a:t>forecast period. Internal combustion engine and hybrid exhibit a CAGR index of</a:t>
            </a:r>
          </a:p>
        </p:txBody>
      </p:sp>
      <p:pic>
        <p:nvPicPr>
          <p:cNvPr id="21" name="Picture 20" descr="lock.png"/>
          <p:cNvPicPr>
            <a:picLocks noChangeAspect="1"/>
          </p:cNvPicPr>
          <p:nvPr/>
        </p:nvPicPr>
        <p:blipFill>
          <a:blip r:embed="rId6"/>
          <a:stretch>
            <a:fillRect/>
          </a:stretch>
        </p:blipFill>
        <p:spPr>
          <a:xfrm>
            <a:off x="4778276" y="5851905"/>
            <a:ext cx="128699" cy="187198"/>
          </a:xfrm>
          <a:prstGeom prst="rect">
            <a:avLst/>
          </a:prstGeom>
        </p:spPr>
      </p:pic>
      <p:sp>
        <p:nvSpPr>
          <p:cNvPr id="22" name="TextBox 21"/>
          <p:cNvSpPr txBox="1"/>
          <p:nvPr/>
        </p:nvSpPr>
        <p:spPr>
          <a:xfrm>
            <a:off x="494577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183666" y="5851905"/>
            <a:ext cx="128699" cy="187198"/>
          </a:xfrm>
          <a:prstGeom prst="rect">
            <a:avLst/>
          </a:prstGeom>
        </p:spPr>
      </p:pic>
      <p:sp>
        <p:nvSpPr>
          <p:cNvPr id="24" name="TextBox 23"/>
          <p:cNvSpPr txBox="1"/>
          <p:nvPr/>
        </p:nvSpPr>
        <p:spPr>
          <a:xfrm>
            <a:off x="535116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960135" y="5851905"/>
            <a:ext cx="128699" cy="187198"/>
          </a:xfrm>
          <a:prstGeom prst="rect">
            <a:avLst/>
          </a:prstGeom>
        </p:spPr>
      </p:pic>
      <p:sp>
        <p:nvSpPr>
          <p:cNvPr id="26" name="TextBox 25"/>
          <p:cNvSpPr txBox="1"/>
          <p:nvPr/>
        </p:nvSpPr>
        <p:spPr>
          <a:xfrm>
            <a:off x="712763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365525" y="5851905"/>
            <a:ext cx="128699" cy="187198"/>
          </a:xfrm>
          <a:prstGeom prst="rect">
            <a:avLst/>
          </a:prstGeom>
        </p:spPr>
      </p:pic>
      <p:sp>
        <p:nvSpPr>
          <p:cNvPr id="28" name="TextBox 27"/>
          <p:cNvSpPr txBox="1"/>
          <p:nvPr/>
        </p:nvSpPr>
        <p:spPr>
          <a:xfrm>
            <a:off x="753302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087425" y="5851905"/>
            <a:ext cx="128699" cy="187198"/>
          </a:xfrm>
          <a:prstGeom prst="rect">
            <a:avLst/>
          </a:prstGeom>
        </p:spPr>
      </p:pic>
      <p:sp>
        <p:nvSpPr>
          <p:cNvPr id="30" name="TextBox 29"/>
          <p:cNvSpPr txBox="1"/>
          <p:nvPr/>
        </p:nvSpPr>
        <p:spPr>
          <a:xfrm>
            <a:off x="10254921" y="5861685"/>
            <a:ext cx="803622" cy="186689"/>
          </a:xfrm>
          <a:prstGeom prst="rect">
            <a:avLst/>
          </a:prstGeom>
          <a:noFill/>
        </p:spPr>
        <p:txBody>
          <a:bodyPr wrap="none" lIns="0" rIns="0" tIns="0" bIns="0">
            <a:spAutoFit/>
          </a:bodyPr>
          <a:lstStyle/>
          <a:p>
            <a:r>
              <a:rPr sz="1100" b="0">
                <a:solidFill>
                  <a:srgbClr val="2E2E2E"/>
                </a:solidFill>
                <a:latin typeface="Calibri"/>
              </a:rPr>
              <a:t>. The electric</a:t>
            </a:r>
          </a:p>
        </p:txBody>
      </p:sp>
      <p:sp>
        <p:nvSpPr>
          <p:cNvPr id="31" name="TextBox 30"/>
          <p:cNvSpPr txBox="1"/>
          <p:nvPr/>
        </p:nvSpPr>
        <p:spPr>
          <a:xfrm>
            <a:off x="257175" y="6029325"/>
            <a:ext cx="11549028" cy="186689"/>
          </a:xfrm>
          <a:prstGeom prst="rect">
            <a:avLst/>
          </a:prstGeom>
          <a:noFill/>
        </p:spPr>
        <p:txBody>
          <a:bodyPr wrap="none" lIns="0" rIns="0" tIns="0" bIns="0">
            <a:spAutoFit/>
          </a:bodyPr>
          <a:lstStyle/>
          <a:p>
            <a:r>
              <a:rPr sz="1100" b="0">
                <a:solidFill>
                  <a:srgbClr val="2E2E2E"/>
                </a:solidFill>
                <a:latin typeface="Calibri"/>
              </a:rPr>
              <a:t>segment is expected to be less attractive as compared to other segments over the forecast period, owing to its lower CAGR and incremental opportunity. Bubbles right of the CAGR-Index line grow faster</a:t>
            </a:r>
          </a:p>
        </p:txBody>
      </p:sp>
      <p:sp>
        <p:nvSpPr>
          <p:cNvPr id="32" name="TextBox 31"/>
          <p:cNvSpPr txBox="1"/>
          <p:nvPr/>
        </p:nvSpPr>
        <p:spPr>
          <a:xfrm>
            <a:off x="257175" y="619696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Absolute $ Opportunity Analysis, By Propulsion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Propulsion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Internal Combustion Engine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Electric</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Hybrid</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Western Europe Absolute $ Opportunity Analysis, By Propulsion Type</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3094826" y="5123309"/>
            <a:ext cx="263506" cy="383281"/>
          </a:xfrm>
          <a:prstGeom prst="rect">
            <a:avLst/>
          </a:prstGeom>
        </p:spPr>
      </p:pic>
      <p:sp>
        <p:nvSpPr>
          <p:cNvPr id="27" name="TextBox 26"/>
          <p:cNvSpPr txBox="1"/>
          <p:nvPr/>
        </p:nvSpPr>
        <p:spPr>
          <a:xfrm>
            <a:off x="6305550" y="4484320"/>
            <a:ext cx="3882320" cy="194310"/>
          </a:xfrm>
          <a:prstGeom prst="rect">
            <a:avLst/>
          </a:prstGeom>
          <a:noFill/>
        </p:spPr>
        <p:txBody>
          <a:bodyPr wrap="none" lIns="0" rIns="0" tIns="0" bIns="0">
            <a:spAutoFit/>
          </a:bodyPr>
          <a:lstStyle/>
          <a:p>
            <a:r>
              <a:rPr sz="1150" b="0">
                <a:solidFill>
                  <a:srgbClr val="2E2E2E"/>
                </a:solidFill>
                <a:latin typeface="Calibri"/>
              </a:rPr>
              <a:t>By 2036, hybrid segment is anticipated to witness an increase of</a:t>
            </a:r>
          </a:p>
        </p:txBody>
      </p:sp>
      <p:pic>
        <p:nvPicPr>
          <p:cNvPr id="28" name="Picture 27" descr="lock.png"/>
          <p:cNvPicPr>
            <a:picLocks noChangeAspect="1"/>
          </p:cNvPicPr>
          <p:nvPr/>
        </p:nvPicPr>
        <p:blipFill>
          <a:blip r:embed="rId7"/>
          <a:stretch>
            <a:fillRect/>
          </a:stretch>
        </p:blipFill>
        <p:spPr>
          <a:xfrm>
            <a:off x="10137024" y="4474096"/>
            <a:ext cx="134549" cy="195707"/>
          </a:xfrm>
          <a:prstGeom prst="rect">
            <a:avLst/>
          </a:prstGeom>
        </p:spPr>
      </p:pic>
      <p:sp>
        <p:nvSpPr>
          <p:cNvPr id="29" name="TextBox 28"/>
          <p:cNvSpPr txBox="1"/>
          <p:nvPr/>
        </p:nvSpPr>
        <p:spPr>
          <a:xfrm>
            <a:off x="10312133" y="4484320"/>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30" name="TextBox 29"/>
          <p:cNvSpPr txBox="1"/>
          <p:nvPr/>
        </p:nvSpPr>
        <p:spPr>
          <a:xfrm>
            <a:off x="6305550" y="4659580"/>
            <a:ext cx="5517418" cy="194310"/>
          </a:xfrm>
          <a:prstGeom prst="rect">
            <a:avLst/>
          </a:prstGeom>
          <a:noFill/>
        </p:spPr>
        <p:txBody>
          <a:bodyPr wrap="none" lIns="0" rIns="0" tIns="0" bIns="0">
            <a:spAutoFit/>
          </a:bodyPr>
          <a:lstStyle/>
          <a:p>
            <a:r>
              <a:rPr sz="1150" b="0">
                <a:solidFill>
                  <a:srgbClr val="2E2E2E"/>
                </a:solidFill>
                <a:latin typeface="Calibri"/>
              </a:rPr>
              <a:t>compared to 2026. The hybrid segment is expected to create an incremental opportunity of</a:t>
            </a:r>
          </a:p>
        </p:txBody>
      </p:sp>
      <p:sp>
        <p:nvSpPr>
          <p:cNvPr id="31" name="TextBox 30"/>
          <p:cNvSpPr txBox="1"/>
          <p:nvPr/>
        </p:nvSpPr>
        <p:spPr>
          <a:xfrm>
            <a:off x="6305550" y="4834840"/>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2" name="Picture 31" descr="lock.png"/>
          <p:cNvPicPr>
            <a:picLocks noChangeAspect="1"/>
          </p:cNvPicPr>
          <p:nvPr/>
        </p:nvPicPr>
        <p:blipFill>
          <a:blip r:embed="rId7"/>
          <a:stretch>
            <a:fillRect/>
          </a:stretch>
        </p:blipFill>
        <p:spPr>
          <a:xfrm>
            <a:off x="6565953" y="4824616"/>
            <a:ext cx="134549" cy="195707"/>
          </a:xfrm>
          <a:prstGeom prst="rect">
            <a:avLst/>
          </a:prstGeom>
        </p:spPr>
      </p:pic>
      <p:sp>
        <p:nvSpPr>
          <p:cNvPr id="33" name="TextBox 32"/>
          <p:cNvSpPr txBox="1"/>
          <p:nvPr/>
        </p:nvSpPr>
        <p:spPr>
          <a:xfrm>
            <a:off x="6741062" y="4834840"/>
            <a:ext cx="4599185" cy="194310"/>
          </a:xfrm>
          <a:prstGeom prst="rect">
            <a:avLst/>
          </a:prstGeom>
          <a:noFill/>
        </p:spPr>
        <p:txBody>
          <a:bodyPr wrap="none" lIns="0" rIns="0" tIns="0" bIns="0">
            <a:spAutoFit/>
          </a:bodyPr>
          <a:lstStyle/>
          <a:p>
            <a:r>
              <a:rPr sz="1150" b="0">
                <a:solidFill>
                  <a:srgbClr val="2E2E2E"/>
                </a:solidFill>
                <a:latin typeface="Calibri"/>
              </a:rPr>
              <a:t>Mn for the overall heavy commercial vehicle EPS market from 2026 to 2036.</a:t>
            </a:r>
          </a:p>
        </p:txBody>
      </p:sp>
      <p:sp>
        <p:nvSpPr>
          <p:cNvPr id="34" name="TextBox 33"/>
          <p:cNvSpPr txBox="1"/>
          <p:nvPr/>
        </p:nvSpPr>
        <p:spPr>
          <a:xfrm>
            <a:off x="6305550" y="5062678"/>
            <a:ext cx="5591175" cy="194310"/>
          </a:xfrm>
          <a:prstGeom prst="rect">
            <a:avLst/>
          </a:prstGeom>
          <a:noFill/>
        </p:spPr>
        <p:txBody>
          <a:bodyPr wrap="none" lIns="0" rIns="0" tIns="0" bIns="0">
            <a:spAutoFit/>
          </a:bodyPr>
          <a:lstStyle/>
          <a:p>
            <a:r>
              <a:rPr sz="1150" b="0">
                <a:solidFill>
                  <a:srgbClr val="2E2E2E"/>
                </a:solidFill>
                <a:latin typeface="Calibri"/>
              </a:rPr>
              <a:t>The internal combustion engine segment is expected to create an incremental opportunity of</a:t>
            </a:r>
          </a:p>
        </p:txBody>
      </p:sp>
      <p:sp>
        <p:nvSpPr>
          <p:cNvPr id="35" name="TextBox 34"/>
          <p:cNvSpPr txBox="1"/>
          <p:nvPr/>
        </p:nvSpPr>
        <p:spPr>
          <a:xfrm>
            <a:off x="6305550" y="5237938"/>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6" name="Picture 35" descr="lock.png"/>
          <p:cNvPicPr>
            <a:picLocks noChangeAspect="1"/>
          </p:cNvPicPr>
          <p:nvPr/>
        </p:nvPicPr>
        <p:blipFill>
          <a:blip r:embed="rId7"/>
          <a:stretch>
            <a:fillRect/>
          </a:stretch>
        </p:blipFill>
        <p:spPr>
          <a:xfrm>
            <a:off x="6565953" y="5227714"/>
            <a:ext cx="134549" cy="195707"/>
          </a:xfrm>
          <a:prstGeom prst="rect">
            <a:avLst/>
          </a:prstGeom>
        </p:spPr>
      </p:pic>
      <p:sp>
        <p:nvSpPr>
          <p:cNvPr id="37" name="TextBox 36"/>
          <p:cNvSpPr txBox="1"/>
          <p:nvPr/>
        </p:nvSpPr>
        <p:spPr>
          <a:xfrm>
            <a:off x="6741062" y="5237938"/>
            <a:ext cx="4853061" cy="194310"/>
          </a:xfrm>
          <a:prstGeom prst="rect">
            <a:avLst/>
          </a:prstGeom>
          <a:noFill/>
        </p:spPr>
        <p:txBody>
          <a:bodyPr wrap="none" lIns="0" rIns="0" tIns="0" bIns="0">
            <a:spAutoFit/>
          </a:bodyPr>
          <a:lstStyle/>
          <a:p>
            <a:r>
              <a:rPr sz="1150" b="0">
                <a:solidFill>
                  <a:srgbClr val="2E2E2E"/>
                </a:solidFill>
                <a:latin typeface="Calibri"/>
              </a:rPr>
              <a:t>Mn for the overall heavy commercial vehicle EPS market from 2026 to 2036. The</a:t>
            </a:r>
          </a:p>
        </p:txBody>
      </p:sp>
      <p:sp>
        <p:nvSpPr>
          <p:cNvPr id="38" name="TextBox 37"/>
          <p:cNvSpPr txBox="1"/>
          <p:nvPr/>
        </p:nvSpPr>
        <p:spPr>
          <a:xfrm>
            <a:off x="6305550" y="5413197"/>
            <a:ext cx="4425751" cy="194310"/>
          </a:xfrm>
          <a:prstGeom prst="rect">
            <a:avLst/>
          </a:prstGeom>
          <a:noFill/>
        </p:spPr>
        <p:txBody>
          <a:bodyPr wrap="none" lIns="0" rIns="0" tIns="0" bIns="0">
            <a:spAutoFit/>
          </a:bodyPr>
          <a:lstStyle/>
          <a:p>
            <a:r>
              <a:rPr sz="1150" b="0">
                <a:solidFill>
                  <a:srgbClr val="2E2E2E"/>
                </a:solidFill>
                <a:latin typeface="Calibri"/>
              </a:rPr>
              <a:t>electric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680455" y="5402974"/>
            <a:ext cx="134549" cy="195707"/>
          </a:xfrm>
          <a:prstGeom prst="rect">
            <a:avLst/>
          </a:prstGeom>
        </p:spPr>
      </p:pic>
      <p:sp>
        <p:nvSpPr>
          <p:cNvPr id="40" name="TextBox 39"/>
          <p:cNvSpPr txBox="1"/>
          <p:nvPr/>
        </p:nvSpPr>
        <p:spPr>
          <a:xfrm>
            <a:off x="10855564" y="541319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41" name="TextBox 40"/>
          <p:cNvSpPr txBox="1"/>
          <p:nvPr/>
        </p:nvSpPr>
        <p:spPr>
          <a:xfrm>
            <a:off x="6305550" y="5588457"/>
            <a:ext cx="3927127" cy="194310"/>
          </a:xfrm>
          <a:prstGeom prst="rect">
            <a:avLst/>
          </a:prstGeom>
          <a:noFill/>
        </p:spPr>
        <p:txBody>
          <a:bodyPr wrap="none" lIns="0" rIns="0" tIns="0" bIns="0">
            <a:spAutoFit/>
          </a:bodyPr>
          <a:lstStyle/>
          <a:p>
            <a:r>
              <a:rPr sz="1150" b="0">
                <a:solidFill>
                  <a:srgbClr val="2E2E2E"/>
                </a:solidFill>
                <a:latin typeface="Calibri"/>
              </a:rPr>
              <a:t>overall heavy commercial vehicle EPS market from 2026 to 2036.</a:t>
            </a:r>
          </a:p>
        </p:txBody>
      </p:sp>
      <p:sp>
        <p:nvSpPr>
          <p:cNvPr id="42"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Analysis, By Propulsion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Propulsion Type, 2021–2036, highlighting the sub-segments driving growth</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By Propulsion Type (US$ Mn)</a:t>
            </a:r>
          </a:p>
        </p:txBody>
      </p:sp>
      <p:graphicFrame>
        <p:nvGraphicFramePr>
          <p:cNvPr id="12" name="Table 11"/>
          <p:cNvGraphicFramePr>
            <a:graphicFrameLocks noGrp="1"/>
          </p:cNvGraphicFramePr>
          <p:nvPr/>
        </p:nvGraphicFramePr>
        <p:xfrm>
          <a:off x="152400" y="1238250"/>
          <a:ext cx="11887205" cy="1238250"/>
        </p:xfrm>
        <a:graphic>
          <a:graphicData uri="http://schemas.openxmlformats.org/drawingml/2006/table">
            <a:tbl>
              <a:tblPr>
                <a:tableStyleId>{5C22544A-7EE6-4342-B048-85BDC9FD1C3A}</a:tableStyleId>
              </a:tblPr>
              <a:tblGrid>
                <a:gridCol w="1888536"/>
                <a:gridCol w="588157"/>
                <a:gridCol w="588157"/>
                <a:gridCol w="588157"/>
                <a:gridCol w="588157"/>
                <a:gridCol w="588157"/>
                <a:gridCol w="588157"/>
                <a:gridCol w="588157"/>
                <a:gridCol w="588157"/>
                <a:gridCol w="588157"/>
                <a:gridCol w="588157"/>
                <a:gridCol w="588157"/>
                <a:gridCol w="588157"/>
                <a:gridCol w="588157"/>
                <a:gridCol w="588157"/>
                <a:gridCol w="588157"/>
                <a:gridCol w="588157"/>
                <a:gridCol w="588157"/>
              </a:tblGrid>
              <a:tr h="246126">
                <a:tc>
                  <a:txBody>
                    <a:bodyPr wrap="none"/>
                    <a:lstStyle/>
                    <a:p>
                      <a:pPr algn="l"/>
                      <a:r>
                        <a:rPr sz="1100" b="1">
                          <a:solidFill>
                            <a:srgbClr val="0B2E4A"/>
                          </a:solidFill>
                          <a:latin typeface="Calibri"/>
                        </a:rPr>
                        <a:t>Propulsion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Electric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Hybrid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Value Analysis, By Propulsion Type</a:t>
            </a:r>
          </a:p>
        </p:txBody>
      </p:sp>
      <p:sp>
        <p:nvSpPr>
          <p:cNvPr id="16" name="Rectangle 15"/>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53580" y="1713738"/>
            <a:ext cx="366712" cy="533400"/>
          </a:xfrm>
          <a:prstGeom prst="rect">
            <a:avLst/>
          </a:prstGeom>
        </p:spPr>
      </p:pic>
      <p:sp>
        <p:nvSpPr>
          <p:cNvPr id="20" name="TextBox 19"/>
          <p:cNvSpPr txBox="1"/>
          <p:nvPr/>
        </p:nvSpPr>
        <p:spPr>
          <a:xfrm>
            <a:off x="276225" y="3238500"/>
            <a:ext cx="3638165" cy="194310"/>
          </a:xfrm>
          <a:prstGeom prst="rect">
            <a:avLst/>
          </a:prstGeom>
          <a:noFill/>
        </p:spPr>
        <p:txBody>
          <a:bodyPr wrap="none" lIns="0" rIns="0" tIns="0" bIns="0">
            <a:spAutoFit/>
          </a:bodyPr>
          <a:lstStyle/>
          <a:p>
            <a:r>
              <a:rPr sz="1150" b="0">
                <a:solidFill>
                  <a:srgbClr val="2E2E2E"/>
                </a:solidFill>
                <a:latin typeface="Calibri"/>
              </a:rPr>
              <a:t>Internal combustion engine segment is projected to register</a:t>
            </a:r>
          </a:p>
        </p:txBody>
      </p:sp>
      <p:pic>
        <p:nvPicPr>
          <p:cNvPr id="21" name="Picture 20" descr="lock.png"/>
          <p:cNvPicPr>
            <a:picLocks noChangeAspect="1"/>
          </p:cNvPicPr>
          <p:nvPr/>
        </p:nvPicPr>
        <p:blipFill>
          <a:blip r:embed="rId4"/>
          <a:stretch>
            <a:fillRect/>
          </a:stretch>
        </p:blipFill>
        <p:spPr>
          <a:xfrm>
            <a:off x="3863544" y="3228276"/>
            <a:ext cx="134549" cy="195707"/>
          </a:xfrm>
          <a:prstGeom prst="rect">
            <a:avLst/>
          </a:prstGeom>
        </p:spPr>
      </p:pic>
      <p:sp>
        <p:nvSpPr>
          <p:cNvPr id="22" name="TextBox 21"/>
          <p:cNvSpPr txBox="1"/>
          <p:nvPr/>
        </p:nvSpPr>
        <p:spPr>
          <a:xfrm>
            <a:off x="4038653" y="3238500"/>
            <a:ext cx="7804013" cy="194310"/>
          </a:xfrm>
          <a:prstGeom prst="rect">
            <a:avLst/>
          </a:prstGeom>
          <a:noFill/>
        </p:spPr>
        <p:txBody>
          <a:bodyPr wrap="none" lIns="0" rIns="0" tIns="0" bIns="0">
            <a:spAutoFit/>
          </a:bodyPr>
          <a:lstStyle/>
          <a:p>
            <a:r>
              <a:rPr sz="1150" b="0">
                <a:solidFill>
                  <a:srgbClr val="2E2E2E"/>
                </a:solidFill>
                <a:latin typeface="Calibri"/>
              </a:rPr>
              <a:t>X higher value than hybrid segment in 2036. Among heavy commercial vehicle EPS by propulsion type, hybrid segment is expected</a:t>
            </a:r>
          </a:p>
        </p:txBody>
      </p:sp>
      <p:sp>
        <p:nvSpPr>
          <p:cNvPr id="23" name="TextBox 22"/>
          <p:cNvSpPr txBox="1"/>
          <p:nvPr/>
        </p:nvSpPr>
        <p:spPr>
          <a:xfrm>
            <a:off x="276225" y="3413760"/>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24" name="Picture 23" descr="lock.png"/>
          <p:cNvPicPr>
            <a:picLocks noChangeAspect="1"/>
          </p:cNvPicPr>
          <p:nvPr/>
        </p:nvPicPr>
        <p:blipFill>
          <a:blip r:embed="rId4"/>
          <a:stretch>
            <a:fillRect/>
          </a:stretch>
        </p:blipFill>
        <p:spPr>
          <a:xfrm>
            <a:off x="2132320" y="3403536"/>
            <a:ext cx="134549" cy="195707"/>
          </a:xfrm>
          <a:prstGeom prst="rect">
            <a:avLst/>
          </a:prstGeom>
        </p:spPr>
      </p:pic>
      <p:sp>
        <p:nvSpPr>
          <p:cNvPr id="25" name="TextBox 24"/>
          <p:cNvSpPr txBox="1"/>
          <p:nvPr/>
        </p:nvSpPr>
        <p:spPr>
          <a:xfrm>
            <a:off x="2307429"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641597"/>
            <a:ext cx="7636284" cy="194310"/>
          </a:xfrm>
          <a:prstGeom prst="rect">
            <a:avLst/>
          </a:prstGeom>
          <a:noFill/>
        </p:spPr>
        <p:txBody>
          <a:bodyPr wrap="none" lIns="0" rIns="0" tIns="0" bIns="0">
            <a:spAutoFit/>
          </a:bodyPr>
          <a:lstStyle/>
          <a:p>
            <a:r>
              <a:rPr sz="1150" b="0">
                <a:solidFill>
                  <a:srgbClr val="2E2E2E"/>
                </a:solidFill>
                <a:latin typeface="Calibri"/>
              </a:rPr>
              <a:t>In terms of value share by propulsion type, the internal combustion engine segment is expected to dominate the market, losing</a:t>
            </a:r>
          </a:p>
        </p:txBody>
      </p:sp>
      <p:pic>
        <p:nvPicPr>
          <p:cNvPr id="27" name="Picture 26" descr="lock.png"/>
          <p:cNvPicPr>
            <a:picLocks noChangeAspect="1"/>
          </p:cNvPicPr>
          <p:nvPr/>
        </p:nvPicPr>
        <p:blipFill>
          <a:blip r:embed="rId4"/>
          <a:stretch>
            <a:fillRect/>
          </a:stretch>
        </p:blipFill>
        <p:spPr>
          <a:xfrm>
            <a:off x="7861663" y="3631374"/>
            <a:ext cx="134549" cy="195707"/>
          </a:xfrm>
          <a:prstGeom prst="rect">
            <a:avLst/>
          </a:prstGeom>
        </p:spPr>
      </p:pic>
      <p:sp>
        <p:nvSpPr>
          <p:cNvPr id="28" name="TextBox 27"/>
          <p:cNvSpPr txBox="1"/>
          <p:nvPr/>
        </p:nvSpPr>
        <p:spPr>
          <a:xfrm>
            <a:off x="8036772"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431915" y="3631374"/>
            <a:ext cx="134549" cy="195707"/>
          </a:xfrm>
          <a:prstGeom prst="rect">
            <a:avLst/>
          </a:prstGeom>
        </p:spPr>
      </p:pic>
      <p:sp>
        <p:nvSpPr>
          <p:cNvPr id="30" name="TextBox 29"/>
          <p:cNvSpPr txBox="1"/>
          <p:nvPr/>
        </p:nvSpPr>
        <p:spPr>
          <a:xfrm>
            <a:off x="9607024"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&amp; Share Shift, By Propulsion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Propulsion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Composition, By Propulsion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08955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0847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085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Electric</a:t>
            </a:r>
          </a:p>
        </p:txBody>
      </p:sp>
      <p:sp>
        <p:nvSpPr>
          <p:cNvPr id="18" name="BPS Value 1"/>
          <p:cNvSpPr txBox="1"/>
          <p:nvPr/>
        </p:nvSpPr>
        <p:spPr>
          <a:xfrm>
            <a:off x="6896100" y="207050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336757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33628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28661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Hybrid</a:t>
            </a:r>
          </a:p>
        </p:txBody>
      </p:sp>
      <p:sp>
        <p:nvSpPr>
          <p:cNvPr id="22" name="BPS Value 2"/>
          <p:cNvSpPr txBox="1"/>
          <p:nvPr/>
        </p:nvSpPr>
        <p:spPr>
          <a:xfrm>
            <a:off x="6896100" y="334852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523547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523070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51545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Internal Combustion Engine</a:t>
            </a:r>
          </a:p>
        </p:txBody>
      </p:sp>
      <p:sp>
        <p:nvSpPr>
          <p:cNvPr id="26" name="BPS Value 3"/>
          <p:cNvSpPr txBox="1"/>
          <p:nvPr/>
        </p:nvSpPr>
        <p:spPr>
          <a:xfrm>
            <a:off x="6896100" y="521642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Rounded Rectangle 26"/>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Western Europe Read-out, By Propulsion Type</a:t>
            </a:r>
          </a:p>
        </p:txBody>
      </p:sp>
      <p:sp>
        <p:nvSpPr>
          <p:cNvPr id="29" name="Rectangle 28"/>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557843" y="3833622"/>
            <a:ext cx="275034" cy="400050"/>
          </a:xfrm>
          <a:prstGeom prst="rect">
            <a:avLst/>
          </a:prstGeom>
        </p:spPr>
      </p:pic>
      <p:sp>
        <p:nvSpPr>
          <p:cNvPr id="33" name="TextBox 32"/>
          <p:cNvSpPr txBox="1"/>
          <p:nvPr/>
        </p:nvSpPr>
        <p:spPr>
          <a:xfrm>
            <a:off x="7829550" y="1400175"/>
            <a:ext cx="3904022" cy="194310"/>
          </a:xfrm>
          <a:prstGeom prst="rect">
            <a:avLst/>
          </a:prstGeom>
          <a:noFill/>
        </p:spPr>
        <p:txBody>
          <a:bodyPr wrap="none" lIns="0" rIns="0" tIns="0" bIns="0">
            <a:spAutoFit/>
          </a:bodyPr>
          <a:lstStyle/>
          <a:p>
            <a:r>
              <a:rPr sz="1150" b="0">
                <a:solidFill>
                  <a:srgbClr val="2E2E2E"/>
                </a:solidFill>
                <a:latin typeface="Calibri"/>
              </a:rPr>
              <a:t>Among heavy commercial vehicle EPS by propulsion type, hybrid</a:t>
            </a:r>
          </a:p>
        </p:txBody>
      </p:sp>
      <p:sp>
        <p:nvSpPr>
          <p:cNvPr id="34" name="TextBox 33"/>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5" name="Picture 34" descr="lock.png"/>
          <p:cNvPicPr>
            <a:picLocks noChangeAspect="1"/>
          </p:cNvPicPr>
          <p:nvPr/>
        </p:nvPicPr>
        <p:blipFill>
          <a:blip r:embed="rId5"/>
          <a:stretch>
            <a:fillRect/>
          </a:stretch>
        </p:blipFill>
        <p:spPr>
          <a:xfrm>
            <a:off x="10935343" y="1565211"/>
            <a:ext cx="134549" cy="195707"/>
          </a:xfrm>
          <a:prstGeom prst="rect">
            <a:avLst/>
          </a:prstGeom>
        </p:spPr>
      </p:pic>
      <p:sp>
        <p:nvSpPr>
          <p:cNvPr id="36" name="TextBox 35"/>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7" name="TextBox 36"/>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8" name="TextBox 37"/>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propulsion type, the internal combustion</a:t>
            </a:r>
          </a:p>
        </p:txBody>
      </p:sp>
      <p:sp>
        <p:nvSpPr>
          <p:cNvPr id="39" name="TextBox 38"/>
          <p:cNvSpPr txBox="1"/>
          <p:nvPr/>
        </p:nvSpPr>
        <p:spPr>
          <a:xfrm>
            <a:off x="7829550" y="2153793"/>
            <a:ext cx="3599085" cy="194310"/>
          </a:xfrm>
          <a:prstGeom prst="rect">
            <a:avLst/>
          </a:prstGeom>
          <a:noFill/>
        </p:spPr>
        <p:txBody>
          <a:bodyPr wrap="none" lIns="0" rIns="0" tIns="0" bIns="0">
            <a:spAutoFit/>
          </a:bodyPr>
          <a:lstStyle/>
          <a:p>
            <a:r>
              <a:rPr sz="1150" b="0">
                <a:solidFill>
                  <a:srgbClr val="2E2E2E"/>
                </a:solidFill>
                <a:latin typeface="Calibri"/>
              </a:rPr>
              <a:t>engine segment is expected to dominate the market, losing</a:t>
            </a:r>
          </a:p>
        </p:txBody>
      </p:sp>
      <p:pic>
        <p:nvPicPr>
          <p:cNvPr id="40" name="Picture 39" descr="lock.png"/>
          <p:cNvPicPr>
            <a:picLocks noChangeAspect="1"/>
          </p:cNvPicPr>
          <p:nvPr/>
        </p:nvPicPr>
        <p:blipFill>
          <a:blip r:embed="rId5"/>
          <a:stretch>
            <a:fillRect/>
          </a:stretch>
        </p:blipFill>
        <p:spPr>
          <a:xfrm>
            <a:off x="11377789" y="2143569"/>
            <a:ext cx="134549" cy="195707"/>
          </a:xfrm>
          <a:prstGeom prst="rect">
            <a:avLst/>
          </a:prstGeom>
        </p:spPr>
      </p:pic>
      <p:sp>
        <p:nvSpPr>
          <p:cNvPr id="41" name="TextBox 40"/>
          <p:cNvSpPr txBox="1"/>
          <p:nvPr/>
        </p:nvSpPr>
        <p:spPr>
          <a:xfrm>
            <a:off x="7829550"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2" name="Picture 41" descr="lock.png"/>
          <p:cNvPicPr>
            <a:picLocks noChangeAspect="1"/>
          </p:cNvPicPr>
          <p:nvPr/>
        </p:nvPicPr>
        <p:blipFill>
          <a:blip r:embed="rId5"/>
          <a:stretch>
            <a:fillRect/>
          </a:stretch>
        </p:blipFill>
        <p:spPr>
          <a:xfrm>
            <a:off x="9224693" y="2318829"/>
            <a:ext cx="134549" cy="195707"/>
          </a:xfrm>
          <a:prstGeom prst="rect">
            <a:avLst/>
          </a:prstGeom>
        </p:spPr>
      </p:pic>
      <p:sp>
        <p:nvSpPr>
          <p:cNvPr id="43" name="TextBox 42"/>
          <p:cNvSpPr txBox="1"/>
          <p:nvPr/>
        </p:nvSpPr>
        <p:spPr>
          <a:xfrm>
            <a:off x="939980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Demand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Demand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Demand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Demand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Demand Type segment categorizes the market by demand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OEM</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Aftermaket</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Demand Type split shows how demand is distributed across demand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101_3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188_4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6_4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9_3_605E5C.png"/>
          <p:cNvPicPr>
            <a:picLocks noChangeAspect="1"/>
          </p:cNvPicPr>
          <p:nvPr/>
        </p:nvPicPr>
        <p:blipFill>
          <a:blip r:embed="rId7"/>
          <a:stretch>
            <a:fillRect/>
          </a:stretch>
        </p:blipFill>
        <p:spPr>
          <a:xfrm>
            <a:off x="8905194" y="2286582"/>
            <a:ext cx="982436" cy="361950"/>
          </a:xfrm>
          <a:prstGeom prst="rect">
            <a:avLst/>
          </a:prstGeom>
        </p:spPr>
      </p:pic>
      <p:pic>
        <p:nvPicPr>
          <p:cNvPr id="53" name="Picture 52" descr="44_4_605E5C.png"/>
          <p:cNvPicPr>
            <a:picLocks noChangeAspect="1"/>
          </p:cNvPicPr>
          <p:nvPr/>
        </p:nvPicPr>
        <p:blipFill>
          <a:blip r:embed="rId8"/>
          <a:stretch>
            <a:fillRect/>
          </a:stretch>
        </p:blipFill>
        <p:spPr>
          <a:xfrm>
            <a:off x="8905194" y="2779432"/>
            <a:ext cx="982436" cy="361950"/>
          </a:xfrm>
          <a:prstGeom prst="rect">
            <a:avLst/>
          </a:prstGeom>
        </p:spPr>
      </p:pic>
      <p:pic>
        <p:nvPicPr>
          <p:cNvPr id="54" name="Picture 53" descr="8_7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881114" cy="186689"/>
          </a:xfrm>
          <a:prstGeom prst="rect">
            <a:avLst/>
          </a:prstGeom>
          <a:noFill/>
        </p:spPr>
        <p:txBody>
          <a:bodyPr wrap="none" lIns="0" rIns="0" tIns="0" bIns="0">
            <a:spAutoFit/>
          </a:bodyPr>
          <a:lstStyle/>
          <a:p>
            <a:r>
              <a:rPr sz="1100" b="0">
                <a:solidFill>
                  <a:srgbClr val="2E2E2E"/>
                </a:solidFill>
                <a:latin typeface="Calibri"/>
              </a:rPr>
              <a:t>Among heavy commercial vehicle EPS by demand</a:t>
            </a:r>
          </a:p>
        </p:txBody>
      </p:sp>
      <p:sp>
        <p:nvSpPr>
          <p:cNvPr id="58" name="TextBox 57"/>
          <p:cNvSpPr txBox="1"/>
          <p:nvPr/>
        </p:nvSpPr>
        <p:spPr>
          <a:xfrm>
            <a:off x="485775" y="4397077"/>
            <a:ext cx="2839640" cy="186689"/>
          </a:xfrm>
          <a:prstGeom prst="rect">
            <a:avLst/>
          </a:prstGeom>
          <a:noFill/>
        </p:spPr>
        <p:txBody>
          <a:bodyPr wrap="none" lIns="0" rIns="0" tIns="0" bIns="0">
            <a:spAutoFit/>
          </a:bodyPr>
          <a:lstStyle/>
          <a:p>
            <a:r>
              <a:rPr sz="1100" b="0">
                <a:solidFill>
                  <a:srgbClr val="2E2E2E"/>
                </a:solidFill>
                <a:latin typeface="Calibri"/>
              </a:rPr>
              <a:t>type, aftermaket segment is expected to witness</a:t>
            </a:r>
          </a:p>
        </p:txBody>
      </p:sp>
      <p:sp>
        <p:nvSpPr>
          <p:cNvPr id="59" name="TextBox 58"/>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60" name="Picture 59" descr="lock.png"/>
          <p:cNvPicPr>
            <a:picLocks noChangeAspect="1"/>
          </p:cNvPicPr>
          <p:nvPr/>
        </p:nvPicPr>
        <p:blipFill>
          <a:blip r:embed="rId10"/>
          <a:stretch>
            <a:fillRect/>
          </a:stretch>
        </p:blipFill>
        <p:spPr>
          <a:xfrm>
            <a:off x="1646163" y="4554938"/>
            <a:ext cx="128699" cy="187198"/>
          </a:xfrm>
          <a:prstGeom prst="rect">
            <a:avLst/>
          </a:prstGeom>
        </p:spPr>
      </p:pic>
      <p:sp>
        <p:nvSpPr>
          <p:cNvPr id="61" name="TextBox 60"/>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2" name="TextBox 61"/>
          <p:cNvSpPr txBox="1"/>
          <p:nvPr/>
        </p:nvSpPr>
        <p:spPr>
          <a:xfrm>
            <a:off x="485775" y="4732357"/>
            <a:ext cx="2898849" cy="186689"/>
          </a:xfrm>
          <a:prstGeom prst="rect">
            <a:avLst/>
          </a:prstGeom>
          <a:noFill/>
        </p:spPr>
        <p:txBody>
          <a:bodyPr wrap="none" lIns="0" rIns="0" tIns="0" bIns="0">
            <a:spAutoFit/>
          </a:bodyPr>
          <a:lstStyle/>
          <a:p>
            <a:r>
              <a:rPr sz="1100" b="0">
                <a:solidFill>
                  <a:srgbClr val="2E2E2E"/>
                </a:solidFill>
                <a:latin typeface="Calibri"/>
              </a:rPr>
              <a:t>In terms of value share by demand type, the OEM</a:t>
            </a:r>
          </a:p>
        </p:txBody>
      </p:sp>
      <p:sp>
        <p:nvSpPr>
          <p:cNvPr id="63" name="TextBox 62"/>
          <p:cNvSpPr txBox="1"/>
          <p:nvPr/>
        </p:nvSpPr>
        <p:spPr>
          <a:xfrm>
            <a:off x="485775" y="489999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64" name="TextBox 63"/>
          <p:cNvSpPr txBox="1"/>
          <p:nvPr/>
        </p:nvSpPr>
        <p:spPr>
          <a:xfrm>
            <a:off x="485775" y="506763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65" name="Picture 64" descr="lock.png"/>
          <p:cNvPicPr>
            <a:picLocks noChangeAspect="1"/>
          </p:cNvPicPr>
          <p:nvPr/>
        </p:nvPicPr>
        <p:blipFill>
          <a:blip r:embed="rId10"/>
          <a:stretch>
            <a:fillRect/>
          </a:stretch>
        </p:blipFill>
        <p:spPr>
          <a:xfrm>
            <a:off x="841814" y="5057858"/>
            <a:ext cx="128699" cy="187198"/>
          </a:xfrm>
          <a:prstGeom prst="rect">
            <a:avLst/>
          </a:prstGeom>
        </p:spPr>
      </p:pic>
      <p:sp>
        <p:nvSpPr>
          <p:cNvPr id="66" name="TextBox 65"/>
          <p:cNvSpPr txBox="1"/>
          <p:nvPr/>
        </p:nvSpPr>
        <p:spPr>
          <a:xfrm>
            <a:off x="1009309"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7" name="Picture 66" descr="lock.png"/>
          <p:cNvPicPr>
            <a:picLocks noChangeAspect="1"/>
          </p:cNvPicPr>
          <p:nvPr/>
        </p:nvPicPr>
        <p:blipFill>
          <a:blip r:embed="rId10"/>
          <a:stretch>
            <a:fillRect/>
          </a:stretch>
        </p:blipFill>
        <p:spPr>
          <a:xfrm>
            <a:off x="2343794" y="5057858"/>
            <a:ext cx="128699" cy="187198"/>
          </a:xfrm>
          <a:prstGeom prst="rect">
            <a:avLst/>
          </a:prstGeom>
        </p:spPr>
      </p:pic>
      <p:sp>
        <p:nvSpPr>
          <p:cNvPr id="68" name="TextBox 67"/>
          <p:cNvSpPr txBox="1"/>
          <p:nvPr/>
        </p:nvSpPr>
        <p:spPr>
          <a:xfrm>
            <a:off x="2511290" y="506763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69" name="TextBox 68"/>
          <p:cNvSpPr txBox="1"/>
          <p:nvPr/>
        </p:nvSpPr>
        <p:spPr>
          <a:xfrm>
            <a:off x="485775" y="523527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0" name="TextBox 69"/>
          <p:cNvSpPr txBox="1"/>
          <p:nvPr/>
        </p:nvSpPr>
        <p:spPr>
          <a:xfrm>
            <a:off x="485775" y="5453209"/>
            <a:ext cx="2197893" cy="186689"/>
          </a:xfrm>
          <a:prstGeom prst="rect">
            <a:avLst/>
          </a:prstGeom>
          <a:noFill/>
        </p:spPr>
        <p:txBody>
          <a:bodyPr wrap="none" lIns="0" rIns="0" tIns="0" bIns="0">
            <a:spAutoFit/>
          </a:bodyPr>
          <a:lstStyle/>
          <a:p>
            <a:r>
              <a:rPr sz="1100" b="0">
                <a:solidFill>
                  <a:srgbClr val="2E2E2E"/>
                </a:solidFill>
                <a:latin typeface="Calibri"/>
              </a:rPr>
              <a:t>OEM segment is projected to register</a:t>
            </a:r>
          </a:p>
        </p:txBody>
      </p:sp>
      <p:pic>
        <p:nvPicPr>
          <p:cNvPr id="71" name="Picture 70" descr="lock.png"/>
          <p:cNvPicPr>
            <a:picLocks noChangeAspect="1"/>
          </p:cNvPicPr>
          <p:nvPr/>
        </p:nvPicPr>
        <p:blipFill>
          <a:blip r:embed="rId10"/>
          <a:stretch>
            <a:fillRect/>
          </a:stretch>
        </p:blipFill>
        <p:spPr>
          <a:xfrm>
            <a:off x="2631720" y="5443430"/>
            <a:ext cx="128699" cy="187198"/>
          </a:xfrm>
          <a:prstGeom prst="rect">
            <a:avLst/>
          </a:prstGeom>
        </p:spPr>
      </p:pic>
      <p:sp>
        <p:nvSpPr>
          <p:cNvPr id="72" name="TextBox 71"/>
          <p:cNvSpPr txBox="1"/>
          <p:nvPr/>
        </p:nvSpPr>
        <p:spPr>
          <a:xfrm>
            <a:off x="2799216" y="5453209"/>
            <a:ext cx="543594" cy="186689"/>
          </a:xfrm>
          <a:prstGeom prst="rect">
            <a:avLst/>
          </a:prstGeom>
          <a:noFill/>
        </p:spPr>
        <p:txBody>
          <a:bodyPr wrap="none" lIns="0" rIns="0" tIns="0" bIns="0">
            <a:spAutoFit/>
          </a:bodyPr>
          <a:lstStyle/>
          <a:p>
            <a:r>
              <a:rPr sz="1100" b="0">
                <a:solidFill>
                  <a:srgbClr val="2E2E2E"/>
                </a:solidFill>
                <a:latin typeface="Calibri"/>
              </a:rPr>
              <a:t>X higher</a:t>
            </a:r>
          </a:p>
        </p:txBody>
      </p:sp>
      <p:sp>
        <p:nvSpPr>
          <p:cNvPr id="73" name="TextBox 72"/>
          <p:cNvSpPr txBox="1"/>
          <p:nvPr/>
        </p:nvSpPr>
        <p:spPr>
          <a:xfrm>
            <a:off x="485775" y="5620849"/>
            <a:ext cx="2349326" cy="186689"/>
          </a:xfrm>
          <a:prstGeom prst="rect">
            <a:avLst/>
          </a:prstGeom>
          <a:noFill/>
        </p:spPr>
        <p:txBody>
          <a:bodyPr wrap="none" lIns="0" rIns="0" tIns="0" bIns="0">
            <a:spAutoFit/>
          </a:bodyPr>
          <a:lstStyle/>
          <a:p>
            <a:r>
              <a:rPr sz="1100" b="0">
                <a:solidFill>
                  <a:srgbClr val="2E2E2E"/>
                </a:solidFill>
                <a:latin typeface="Calibri"/>
              </a:rPr>
              <a:t>value than aftermaket segment in 2036.</a:t>
            </a:r>
          </a:p>
        </p:txBody>
      </p:sp>
      <p:sp>
        <p:nvSpPr>
          <p:cNvPr id="74" name="TextBox 73"/>
          <p:cNvSpPr txBox="1"/>
          <p:nvPr/>
        </p:nvSpPr>
        <p:spPr>
          <a:xfrm>
            <a:off x="3838575" y="4229437"/>
            <a:ext cx="509761" cy="186689"/>
          </a:xfrm>
          <a:prstGeom prst="rect">
            <a:avLst/>
          </a:prstGeom>
          <a:noFill/>
        </p:spPr>
        <p:txBody>
          <a:bodyPr wrap="none" lIns="0" rIns="0" tIns="0" bIns="0">
            <a:spAutoFit/>
          </a:bodyPr>
          <a:lstStyle/>
          <a:p>
            <a:r>
              <a:rPr sz="1100" b="0">
                <a:solidFill>
                  <a:srgbClr val="2E2E2E"/>
                </a:solidFill>
                <a:latin typeface="Calibri"/>
              </a:rPr>
              <a:t>● OEM:</a:t>
            </a:r>
          </a:p>
        </p:txBody>
      </p:sp>
      <p:pic>
        <p:nvPicPr>
          <p:cNvPr id="75" name="Picture 74" descr="lock.png"/>
          <p:cNvPicPr>
            <a:picLocks noChangeAspect="1"/>
          </p:cNvPicPr>
          <p:nvPr/>
        </p:nvPicPr>
        <p:blipFill>
          <a:blip r:embed="rId10"/>
          <a:stretch>
            <a:fillRect/>
          </a:stretch>
        </p:blipFill>
        <p:spPr>
          <a:xfrm>
            <a:off x="4296387" y="4219658"/>
            <a:ext cx="128699" cy="187198"/>
          </a:xfrm>
          <a:prstGeom prst="rect">
            <a:avLst/>
          </a:prstGeom>
        </p:spPr>
      </p:pic>
      <p:sp>
        <p:nvSpPr>
          <p:cNvPr id="76" name="TextBox 75"/>
          <p:cNvSpPr txBox="1"/>
          <p:nvPr/>
        </p:nvSpPr>
        <p:spPr>
          <a:xfrm>
            <a:off x="446388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5323333" y="4219658"/>
            <a:ext cx="128699" cy="187198"/>
          </a:xfrm>
          <a:prstGeom prst="rect">
            <a:avLst/>
          </a:prstGeom>
        </p:spPr>
      </p:pic>
      <p:sp>
        <p:nvSpPr>
          <p:cNvPr id="78" name="TextBox 77"/>
          <p:cNvSpPr txBox="1"/>
          <p:nvPr/>
        </p:nvSpPr>
        <p:spPr>
          <a:xfrm>
            <a:off x="5490829"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79" name="TextBox 78"/>
          <p:cNvSpPr txBox="1"/>
          <p:nvPr/>
        </p:nvSpPr>
        <p:spPr>
          <a:xfrm>
            <a:off x="3838575" y="4447369"/>
            <a:ext cx="876746" cy="186689"/>
          </a:xfrm>
          <a:prstGeom prst="rect">
            <a:avLst/>
          </a:prstGeom>
          <a:noFill/>
        </p:spPr>
        <p:txBody>
          <a:bodyPr wrap="none" lIns="0" rIns="0" tIns="0" bIns="0">
            <a:spAutoFit/>
          </a:bodyPr>
          <a:lstStyle/>
          <a:p>
            <a:r>
              <a:rPr sz="1100" b="0">
                <a:solidFill>
                  <a:srgbClr val="2E2E2E"/>
                </a:solidFill>
                <a:latin typeface="Calibri"/>
              </a:rPr>
              <a:t>● Aftermaket:</a:t>
            </a:r>
          </a:p>
        </p:txBody>
      </p:sp>
      <p:pic>
        <p:nvPicPr>
          <p:cNvPr id="80" name="Picture 79" descr="lock.png"/>
          <p:cNvPicPr>
            <a:picLocks noChangeAspect="1"/>
          </p:cNvPicPr>
          <p:nvPr/>
        </p:nvPicPr>
        <p:blipFill>
          <a:blip r:embed="rId10"/>
          <a:stretch>
            <a:fillRect/>
          </a:stretch>
        </p:blipFill>
        <p:spPr>
          <a:xfrm>
            <a:off x="4663373" y="4437590"/>
            <a:ext cx="128699" cy="187198"/>
          </a:xfrm>
          <a:prstGeom prst="rect">
            <a:avLst/>
          </a:prstGeom>
        </p:spPr>
      </p:pic>
      <p:sp>
        <p:nvSpPr>
          <p:cNvPr id="81" name="TextBox 80"/>
          <p:cNvSpPr txBox="1"/>
          <p:nvPr/>
        </p:nvSpPr>
        <p:spPr>
          <a:xfrm>
            <a:off x="483086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0"/>
          <a:stretch>
            <a:fillRect/>
          </a:stretch>
        </p:blipFill>
        <p:spPr>
          <a:xfrm>
            <a:off x="5690319" y="4437590"/>
            <a:ext cx="128699" cy="187198"/>
          </a:xfrm>
          <a:prstGeom prst="rect">
            <a:avLst/>
          </a:prstGeom>
        </p:spPr>
      </p:pic>
      <p:sp>
        <p:nvSpPr>
          <p:cNvPr id="83" name="TextBox 82"/>
          <p:cNvSpPr txBox="1"/>
          <p:nvPr/>
        </p:nvSpPr>
        <p:spPr>
          <a:xfrm>
            <a:off x="5857814"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4" name="TextBox 83"/>
          <p:cNvSpPr txBox="1"/>
          <p:nvPr/>
        </p:nvSpPr>
        <p:spPr>
          <a:xfrm>
            <a:off x="8524875" y="5842641"/>
            <a:ext cx="3134407" cy="194310"/>
          </a:xfrm>
          <a:prstGeom prst="rect">
            <a:avLst/>
          </a:prstGeom>
          <a:noFill/>
        </p:spPr>
        <p:txBody>
          <a:bodyPr wrap="none" lIns="0" rIns="0" tIns="0" bIns="0">
            <a:spAutoFit/>
          </a:bodyPr>
          <a:lstStyle/>
          <a:p>
            <a:r>
              <a:rPr sz="1150" b="1">
                <a:solidFill>
                  <a:srgbClr val="0B2E4A"/>
                </a:solidFill>
                <a:latin typeface="Calibri"/>
              </a:rPr>
              <a:t>The Demand Type segment is projected to grow at</a:t>
            </a:r>
          </a:p>
        </p:txBody>
      </p:sp>
      <p:sp>
        <p:nvSpPr>
          <p:cNvPr id="85" name="TextBox 84"/>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86" name="Picture 85" descr="lock.png"/>
          <p:cNvPicPr>
            <a:picLocks noChangeAspect="1"/>
          </p:cNvPicPr>
          <p:nvPr/>
        </p:nvPicPr>
        <p:blipFill>
          <a:blip r:embed="rId10"/>
          <a:stretch>
            <a:fillRect/>
          </a:stretch>
        </p:blipFill>
        <p:spPr>
          <a:xfrm>
            <a:off x="9154084" y="6007677"/>
            <a:ext cx="134549" cy="195707"/>
          </a:xfrm>
          <a:prstGeom prst="rect">
            <a:avLst/>
          </a:prstGeom>
        </p:spPr>
      </p:pic>
      <p:sp>
        <p:nvSpPr>
          <p:cNvPr id="87" name="TextBox 86"/>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Structure &amp; Attractiveness, By Demand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Demand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Demand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Demand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461750" cy="186689"/>
          </a:xfrm>
          <a:prstGeom prst="rect">
            <a:avLst/>
          </a:prstGeom>
          <a:noFill/>
        </p:spPr>
        <p:txBody>
          <a:bodyPr wrap="none" lIns="0" rIns="0" tIns="0" bIns="0">
            <a:spAutoFit/>
          </a:bodyPr>
          <a:lstStyle/>
          <a:p>
            <a:r>
              <a:rPr sz="1100" b="0">
                <a:solidFill>
                  <a:srgbClr val="2E2E2E"/>
                </a:solidFill>
                <a:latin typeface="Calibri"/>
              </a:rPr>
              <a:t>OEM followed by aftermaket are expected to be the two most attractive demand type segments in the Western Europe heavy commercial vehicle EPS market in terms of value over the forecast period.</a:t>
            </a:r>
          </a:p>
        </p:txBody>
      </p:sp>
      <p:sp>
        <p:nvSpPr>
          <p:cNvPr id="20" name="TextBox 19"/>
          <p:cNvSpPr txBox="1"/>
          <p:nvPr/>
        </p:nvSpPr>
        <p:spPr>
          <a:xfrm>
            <a:off x="257175" y="5945505"/>
            <a:ext cx="2624616" cy="186689"/>
          </a:xfrm>
          <a:prstGeom prst="rect">
            <a:avLst/>
          </a:prstGeom>
          <a:noFill/>
        </p:spPr>
        <p:txBody>
          <a:bodyPr wrap="none" lIns="0" rIns="0" tIns="0" bIns="0">
            <a:spAutoFit/>
          </a:bodyPr>
          <a:lstStyle/>
          <a:p>
            <a:r>
              <a:rPr sz="1100" b="0">
                <a:solidFill>
                  <a:srgbClr val="2E2E2E"/>
                </a:solidFill>
                <a:latin typeface="Calibri"/>
              </a:rPr>
              <a:t>OEM and aftermaket exhibit a CAGR index of</a:t>
            </a:r>
          </a:p>
        </p:txBody>
      </p:sp>
      <p:pic>
        <p:nvPicPr>
          <p:cNvPr id="21" name="Picture 20" descr="lock.png"/>
          <p:cNvPicPr>
            <a:picLocks noChangeAspect="1"/>
          </p:cNvPicPr>
          <p:nvPr/>
        </p:nvPicPr>
        <p:blipFill>
          <a:blip r:embed="rId6"/>
          <a:stretch>
            <a:fillRect/>
          </a:stretch>
        </p:blipFill>
        <p:spPr>
          <a:xfrm>
            <a:off x="2829843" y="5935726"/>
            <a:ext cx="128699" cy="187198"/>
          </a:xfrm>
          <a:prstGeom prst="rect">
            <a:avLst/>
          </a:prstGeom>
        </p:spPr>
      </p:pic>
      <p:sp>
        <p:nvSpPr>
          <p:cNvPr id="22" name="TextBox 21"/>
          <p:cNvSpPr txBox="1"/>
          <p:nvPr/>
        </p:nvSpPr>
        <p:spPr>
          <a:xfrm>
            <a:off x="299733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235233" y="5935726"/>
            <a:ext cx="128699" cy="187198"/>
          </a:xfrm>
          <a:prstGeom prst="rect">
            <a:avLst/>
          </a:prstGeom>
        </p:spPr>
      </p:pic>
      <p:sp>
        <p:nvSpPr>
          <p:cNvPr id="24" name="TextBox 23"/>
          <p:cNvSpPr txBox="1"/>
          <p:nvPr/>
        </p:nvSpPr>
        <p:spPr>
          <a:xfrm>
            <a:off x="3402729"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011702" y="5935726"/>
            <a:ext cx="128699" cy="187198"/>
          </a:xfrm>
          <a:prstGeom prst="rect">
            <a:avLst/>
          </a:prstGeom>
        </p:spPr>
      </p:pic>
      <p:sp>
        <p:nvSpPr>
          <p:cNvPr id="26" name="TextBox 25"/>
          <p:cNvSpPr txBox="1"/>
          <p:nvPr/>
        </p:nvSpPr>
        <p:spPr>
          <a:xfrm>
            <a:off x="517919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417092" y="5935726"/>
            <a:ext cx="128699" cy="187198"/>
          </a:xfrm>
          <a:prstGeom prst="rect">
            <a:avLst/>
          </a:prstGeom>
        </p:spPr>
      </p:pic>
      <p:sp>
        <p:nvSpPr>
          <p:cNvPr id="28" name="TextBox 27"/>
          <p:cNvSpPr txBox="1"/>
          <p:nvPr/>
        </p:nvSpPr>
        <p:spPr>
          <a:xfrm>
            <a:off x="5584588"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138992" y="5935726"/>
            <a:ext cx="128699" cy="187198"/>
          </a:xfrm>
          <a:prstGeom prst="rect">
            <a:avLst/>
          </a:prstGeom>
        </p:spPr>
      </p:pic>
      <p:sp>
        <p:nvSpPr>
          <p:cNvPr id="30" name="TextBox 29"/>
          <p:cNvSpPr txBox="1"/>
          <p:nvPr/>
        </p:nvSpPr>
        <p:spPr>
          <a:xfrm>
            <a:off x="8306488" y="5945505"/>
            <a:ext cx="3181779"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a:t>
            </a:r>
          </a:p>
        </p:txBody>
      </p:sp>
      <p:sp>
        <p:nvSpPr>
          <p:cNvPr id="31" name="TextBox 30"/>
          <p:cNvSpPr txBox="1"/>
          <p:nvPr/>
        </p:nvSpPr>
        <p:spPr>
          <a:xfrm>
            <a:off x="257175" y="6113145"/>
            <a:ext cx="1306487" cy="186689"/>
          </a:xfrm>
          <a:prstGeom prst="rect">
            <a:avLst/>
          </a:prstGeom>
          <a:noFill/>
        </p:spPr>
        <p:txBody>
          <a:bodyPr wrap="none" lIns="0" rIns="0" tIns="0" bIns="0">
            <a:spAutoFit/>
          </a:bodyPr>
          <a:lstStyle/>
          <a:p>
            <a:r>
              <a:rPr sz="1100" b="0">
                <a:solidFill>
                  <a:srgbClr val="2E2E2E"/>
                </a:solidFill>
                <a:latin typeface="Calibri"/>
              </a:rPr>
              <a:t>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Absolute $ Opportunity Analysis, By Demand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Demand Type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OEM</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Incremental $ Opportunity (US$ Mn), 2026-2036, By Aftermaket</a:t>
            </a:r>
          </a:p>
        </p:txBody>
      </p:sp>
      <p:graphicFrame>
        <p:nvGraphicFramePr>
          <p:cNvPr id="15" name="Chart 14"/>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3384" y="3583939"/>
            <a:ext cx="402511" cy="58547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Analysis, By Demand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Demand Type,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By Demand Type (US$ Mn)</a:t>
            </a:r>
          </a:p>
        </p:txBody>
      </p:sp>
      <p:graphicFrame>
        <p:nvGraphicFramePr>
          <p:cNvPr id="12" name="Table 11"/>
          <p:cNvGraphicFramePr>
            <a:graphicFrameLocks noGrp="1"/>
          </p:cNvGraphicFramePr>
          <p:nvPr/>
        </p:nvGraphicFramePr>
        <p:xfrm>
          <a:off x="152400" y="1238250"/>
          <a:ext cx="11887196" cy="990600"/>
        </p:xfrm>
        <a:graphic>
          <a:graphicData uri="http://schemas.openxmlformats.org/drawingml/2006/table">
            <a:tbl>
              <a:tblPr>
                <a:tableStyleId>{5C22544A-7EE6-4342-B048-85BDC9FD1C3A}</a:tableStyleId>
              </a:tblPr>
              <a:tblGrid>
                <a:gridCol w="1078154"/>
                <a:gridCol w="635826"/>
                <a:gridCol w="635826"/>
                <a:gridCol w="635826"/>
                <a:gridCol w="635826"/>
                <a:gridCol w="635826"/>
                <a:gridCol w="635826"/>
                <a:gridCol w="635826"/>
                <a:gridCol w="635826"/>
                <a:gridCol w="635826"/>
                <a:gridCol w="635826"/>
                <a:gridCol w="635826"/>
                <a:gridCol w="635826"/>
                <a:gridCol w="635826"/>
                <a:gridCol w="635826"/>
                <a:gridCol w="635826"/>
                <a:gridCol w="635826"/>
                <a:gridCol w="635826"/>
              </a:tblGrid>
              <a:tr h="246126">
                <a:tc>
                  <a:txBody>
                    <a:bodyPr wrap="none"/>
                    <a:lstStyle/>
                    <a:p>
                      <a:pPr algn="l"/>
                      <a:r>
                        <a:rPr sz="1100" b="1">
                          <a:solidFill>
                            <a:srgbClr val="0B2E4A"/>
                          </a:solidFill>
                          <a:latin typeface="Calibri"/>
                        </a:rPr>
                        <a:t>Demand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OEM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Aftermaket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Western Europe Value Analysis, By Demand Type</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448385" y="1589913"/>
            <a:ext cx="366712" cy="533400"/>
          </a:xfrm>
          <a:prstGeom prst="rect">
            <a:avLst/>
          </a:prstGeom>
        </p:spPr>
      </p:pic>
      <p:sp>
        <p:nvSpPr>
          <p:cNvPr id="20" name="TextBox 19"/>
          <p:cNvSpPr txBox="1"/>
          <p:nvPr/>
        </p:nvSpPr>
        <p:spPr>
          <a:xfrm>
            <a:off x="276225" y="2990850"/>
            <a:ext cx="2294334" cy="194310"/>
          </a:xfrm>
          <a:prstGeom prst="rect">
            <a:avLst/>
          </a:prstGeom>
          <a:noFill/>
        </p:spPr>
        <p:txBody>
          <a:bodyPr wrap="none" lIns="0" rIns="0" tIns="0" bIns="0">
            <a:spAutoFit/>
          </a:bodyPr>
          <a:lstStyle/>
          <a:p>
            <a:r>
              <a:rPr sz="1150" b="0">
                <a:solidFill>
                  <a:srgbClr val="2E2E2E"/>
                </a:solidFill>
                <a:latin typeface="Calibri"/>
              </a:rPr>
              <a:t>OEM segment is projected to register</a:t>
            </a:r>
          </a:p>
        </p:txBody>
      </p:sp>
      <p:pic>
        <p:nvPicPr>
          <p:cNvPr id="21" name="Picture 20" descr="lock.png"/>
          <p:cNvPicPr>
            <a:picLocks noChangeAspect="1"/>
          </p:cNvPicPr>
          <p:nvPr/>
        </p:nvPicPr>
        <p:blipFill>
          <a:blip r:embed="rId4"/>
          <a:stretch>
            <a:fillRect/>
          </a:stretch>
        </p:blipFill>
        <p:spPr>
          <a:xfrm>
            <a:off x="2519713" y="2980626"/>
            <a:ext cx="134549" cy="195707"/>
          </a:xfrm>
          <a:prstGeom prst="rect">
            <a:avLst/>
          </a:prstGeom>
        </p:spPr>
      </p:pic>
      <p:sp>
        <p:nvSpPr>
          <p:cNvPr id="22" name="TextBox 21"/>
          <p:cNvSpPr txBox="1"/>
          <p:nvPr/>
        </p:nvSpPr>
        <p:spPr>
          <a:xfrm>
            <a:off x="2694822" y="2990850"/>
            <a:ext cx="9093646" cy="194310"/>
          </a:xfrm>
          <a:prstGeom prst="rect">
            <a:avLst/>
          </a:prstGeom>
          <a:noFill/>
        </p:spPr>
        <p:txBody>
          <a:bodyPr wrap="none" lIns="0" rIns="0" tIns="0" bIns="0">
            <a:spAutoFit/>
          </a:bodyPr>
          <a:lstStyle/>
          <a:p>
            <a:r>
              <a:rPr sz="1150" b="0">
                <a:solidFill>
                  <a:srgbClr val="2E2E2E"/>
                </a:solidFill>
                <a:latin typeface="Calibri"/>
              </a:rPr>
              <a:t>X higher value than aftermaket segment in 2036. Among heavy commercial vehicle EPS by demand type, aftermaket segment is expected to witness the</a:t>
            </a:r>
          </a:p>
        </p:txBody>
      </p:sp>
      <p:sp>
        <p:nvSpPr>
          <p:cNvPr id="23" name="TextBox 22"/>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3155886"/>
            <a:ext cx="134549" cy="195707"/>
          </a:xfrm>
          <a:prstGeom prst="rect">
            <a:avLst/>
          </a:prstGeom>
        </p:spPr>
      </p:pic>
      <p:sp>
        <p:nvSpPr>
          <p:cNvPr id="25" name="TextBox 24"/>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6148685" cy="194310"/>
          </a:xfrm>
          <a:prstGeom prst="rect">
            <a:avLst/>
          </a:prstGeom>
          <a:noFill/>
        </p:spPr>
        <p:txBody>
          <a:bodyPr wrap="none" lIns="0" rIns="0" tIns="0" bIns="0">
            <a:spAutoFit/>
          </a:bodyPr>
          <a:lstStyle/>
          <a:p>
            <a:r>
              <a:rPr sz="1150" b="0">
                <a:solidFill>
                  <a:srgbClr val="2E2E2E"/>
                </a:solidFill>
                <a:latin typeface="Calibri"/>
              </a:rPr>
              <a:t>In terms of value share by demand type, the OEM segment is expected to dominate the market, losing</a:t>
            </a:r>
          </a:p>
        </p:txBody>
      </p:sp>
      <p:pic>
        <p:nvPicPr>
          <p:cNvPr id="27" name="Picture 26" descr="lock.png"/>
          <p:cNvPicPr>
            <a:picLocks noChangeAspect="1"/>
          </p:cNvPicPr>
          <p:nvPr/>
        </p:nvPicPr>
        <p:blipFill>
          <a:blip r:embed="rId4"/>
          <a:stretch>
            <a:fillRect/>
          </a:stretch>
        </p:blipFill>
        <p:spPr>
          <a:xfrm>
            <a:off x="6374064" y="3383724"/>
            <a:ext cx="134549" cy="195707"/>
          </a:xfrm>
          <a:prstGeom prst="rect">
            <a:avLst/>
          </a:prstGeom>
        </p:spPr>
      </p:pic>
      <p:sp>
        <p:nvSpPr>
          <p:cNvPr id="28" name="TextBox 27"/>
          <p:cNvSpPr txBox="1"/>
          <p:nvPr/>
        </p:nvSpPr>
        <p:spPr>
          <a:xfrm>
            <a:off x="6549173"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944316" y="3383724"/>
            <a:ext cx="134549" cy="195707"/>
          </a:xfrm>
          <a:prstGeom prst="rect">
            <a:avLst/>
          </a:prstGeom>
        </p:spPr>
      </p:pic>
      <p:sp>
        <p:nvSpPr>
          <p:cNvPr id="30" name="TextBox 29"/>
          <p:cNvSpPr txBox="1"/>
          <p:nvPr/>
        </p:nvSpPr>
        <p:spPr>
          <a:xfrm>
            <a:off x="8119425"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Western Europe Market Value &amp; Share Shift, By Demand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Demand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 Value Composition, By Demand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1071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1023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261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Aftermaket</a:t>
            </a:r>
          </a:p>
        </p:txBody>
      </p:sp>
      <p:sp>
        <p:nvSpPr>
          <p:cNvPr id="18" name="BPS Value 1"/>
          <p:cNvSpPr txBox="1"/>
          <p:nvPr/>
        </p:nvSpPr>
        <p:spPr>
          <a:xfrm>
            <a:off x="6896100" y="208811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39335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3885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3123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OEM</a:t>
            </a:r>
          </a:p>
        </p:txBody>
      </p:sp>
      <p:sp>
        <p:nvSpPr>
          <p:cNvPr id="22" name="BPS Value 2"/>
          <p:cNvSpPr txBox="1"/>
          <p:nvPr/>
        </p:nvSpPr>
        <p:spPr>
          <a:xfrm>
            <a:off x="6896100" y="43743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Western Europe Read-out, By Demand Type</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4038091" cy="194310"/>
          </a:xfrm>
          <a:prstGeom prst="rect">
            <a:avLst/>
          </a:prstGeom>
          <a:noFill/>
        </p:spPr>
        <p:txBody>
          <a:bodyPr wrap="none" lIns="0" rIns="0" tIns="0" bIns="0">
            <a:spAutoFit/>
          </a:bodyPr>
          <a:lstStyle/>
          <a:p>
            <a:r>
              <a:rPr sz="1150" b="0">
                <a:solidFill>
                  <a:srgbClr val="2E2E2E"/>
                </a:solidFill>
                <a:latin typeface="Calibri"/>
              </a:rPr>
              <a:t>Among heavy commercial vehicle EPS by demand type, aftermaket</a:t>
            </a:r>
          </a:p>
        </p:txBody>
      </p:sp>
      <p:sp>
        <p:nvSpPr>
          <p:cNvPr id="30" name="TextBox 2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1" name="Picture 30" descr="lock.png"/>
          <p:cNvPicPr>
            <a:picLocks noChangeAspect="1"/>
          </p:cNvPicPr>
          <p:nvPr/>
        </p:nvPicPr>
        <p:blipFill>
          <a:blip r:embed="rId5"/>
          <a:stretch>
            <a:fillRect/>
          </a:stretch>
        </p:blipFill>
        <p:spPr>
          <a:xfrm>
            <a:off x="10935343" y="1565211"/>
            <a:ext cx="134549" cy="195707"/>
          </a:xfrm>
          <a:prstGeom prst="rect">
            <a:avLst/>
          </a:prstGeom>
        </p:spPr>
      </p:pic>
      <p:sp>
        <p:nvSpPr>
          <p:cNvPr id="32" name="TextBox 3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3" name="TextBox 32"/>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4" name="TextBox 33"/>
          <p:cNvSpPr txBox="1"/>
          <p:nvPr/>
        </p:nvSpPr>
        <p:spPr>
          <a:xfrm>
            <a:off x="7829550" y="1978533"/>
            <a:ext cx="3697783" cy="194310"/>
          </a:xfrm>
          <a:prstGeom prst="rect">
            <a:avLst/>
          </a:prstGeom>
          <a:noFill/>
        </p:spPr>
        <p:txBody>
          <a:bodyPr wrap="none" lIns="0" rIns="0" tIns="0" bIns="0">
            <a:spAutoFit/>
          </a:bodyPr>
          <a:lstStyle/>
          <a:p>
            <a:r>
              <a:rPr sz="1150" b="0">
                <a:solidFill>
                  <a:srgbClr val="2E2E2E"/>
                </a:solidFill>
                <a:latin typeface="Calibri"/>
              </a:rPr>
              <a:t>In terms of value share by demand type, the OEM segment is</a:t>
            </a:r>
          </a:p>
        </p:txBody>
      </p:sp>
      <p:sp>
        <p:nvSpPr>
          <p:cNvPr id="35" name="TextBox 34"/>
          <p:cNvSpPr txBox="1"/>
          <p:nvPr/>
        </p:nvSpPr>
        <p:spPr>
          <a:xfrm>
            <a:off x="7829550" y="2153793"/>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36" name="Picture 35" descr="lock.png"/>
          <p:cNvPicPr>
            <a:picLocks noChangeAspect="1"/>
          </p:cNvPicPr>
          <p:nvPr/>
        </p:nvPicPr>
        <p:blipFill>
          <a:blip r:embed="rId5"/>
          <a:stretch>
            <a:fillRect/>
          </a:stretch>
        </p:blipFill>
        <p:spPr>
          <a:xfrm>
            <a:off x="10272716" y="2143569"/>
            <a:ext cx="134549" cy="195707"/>
          </a:xfrm>
          <a:prstGeom prst="rect">
            <a:avLst/>
          </a:prstGeom>
        </p:spPr>
      </p:pic>
      <p:sp>
        <p:nvSpPr>
          <p:cNvPr id="37" name="TextBox 36"/>
          <p:cNvSpPr txBox="1"/>
          <p:nvPr/>
        </p:nvSpPr>
        <p:spPr>
          <a:xfrm>
            <a:off x="10447825" y="2153793"/>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38" name="TextBox 37"/>
          <p:cNvSpPr txBox="1"/>
          <p:nvPr/>
        </p:nvSpPr>
        <p:spPr>
          <a:xfrm>
            <a:off x="7829550" y="2329053"/>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39" name="Picture 38" descr="lock.png"/>
          <p:cNvPicPr>
            <a:picLocks noChangeAspect="1"/>
          </p:cNvPicPr>
          <p:nvPr/>
        </p:nvPicPr>
        <p:blipFill>
          <a:blip r:embed="rId5"/>
          <a:stretch>
            <a:fillRect/>
          </a:stretch>
        </p:blipFill>
        <p:spPr>
          <a:xfrm>
            <a:off x="8027482" y="2318829"/>
            <a:ext cx="134549" cy="195707"/>
          </a:xfrm>
          <a:prstGeom prst="rect">
            <a:avLst/>
          </a:prstGeom>
        </p:spPr>
      </p:pic>
      <p:sp>
        <p:nvSpPr>
          <p:cNvPr id="40" name="TextBox 39"/>
          <p:cNvSpPr txBox="1"/>
          <p:nvPr/>
        </p:nvSpPr>
        <p:spPr>
          <a:xfrm>
            <a:off x="8202591"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508250"/>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2813050"/>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517900"/>
            <a:ext cx="7124700" cy="22606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System Architecture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Vehicle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Gross Vehicle Weight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Propulsion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Demand Type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Volume Overview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Germany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Volume (Units),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008189"/>
                </a:solidFill>
                <a:latin typeface="Calibri"/>
              </a:rPr>
              <a:t> </a:t>
            </a:r>
          </a:p>
          <a:p>
            <a:pPr algn="ctr"/>
            <a:r>
              <a:rPr sz="1100" b="0">
                <a:solidFill>
                  <a:srgbClr val="6C7A89"/>
                </a:solidFill>
                <a:latin typeface="Calibri"/>
              </a:rPr>
              <a:t>vs Western Europe benchmark</a:t>
            </a:r>
          </a:p>
          <a:p>
            <a:pPr algn="ctr"/>
            <a:r>
              <a:rPr sz="1100" b="1">
                <a:solidFill>
                  <a:srgbClr val="2E7D32"/>
                </a:solidFill>
                <a:latin typeface="Calibri"/>
              </a:rPr>
              <a:t>▲ above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3495575" cy="186689"/>
          </a:xfrm>
          <a:prstGeom prst="rect">
            <a:avLst/>
          </a:prstGeom>
          <a:noFill/>
        </p:spPr>
        <p:txBody>
          <a:bodyPr wrap="none" lIns="0" rIns="0" tIns="0" bIns="0">
            <a:spAutoFit/>
          </a:bodyPr>
          <a:lstStyle/>
          <a:p>
            <a:r>
              <a:rPr sz="1100" b="0">
                <a:solidFill>
                  <a:srgbClr val="2E2E2E"/>
                </a:solidFill>
                <a:latin typeface="Calibri"/>
              </a:rPr>
              <a:t>Germany's heavy commercial vehicle eps market expands at</a:t>
            </a:r>
          </a:p>
        </p:txBody>
      </p:sp>
      <p:pic>
        <p:nvPicPr>
          <p:cNvPr id="41" name="Picture 40" descr="lock.png"/>
          <p:cNvPicPr>
            <a:picLocks noChangeAspect="1"/>
          </p:cNvPicPr>
          <p:nvPr/>
        </p:nvPicPr>
        <p:blipFill>
          <a:blip r:embed="rId8"/>
          <a:stretch>
            <a:fillRect/>
          </a:stretch>
        </p:blipFill>
        <p:spPr>
          <a:xfrm>
            <a:off x="11515112" y="2866771"/>
            <a:ext cx="128699" cy="187198"/>
          </a:xfrm>
          <a:prstGeom prst="rect">
            <a:avLst/>
          </a:prstGeom>
        </p:spPr>
      </p:pic>
      <p:sp>
        <p:nvSpPr>
          <p:cNvPr id="42" name="TextBox 41"/>
          <p:cNvSpPr txBox="1"/>
          <p:nvPr/>
        </p:nvSpPr>
        <p:spPr>
          <a:xfrm>
            <a:off x="8071485" y="3044190"/>
            <a:ext cx="3827891" cy="186689"/>
          </a:xfrm>
          <a:prstGeom prst="rect">
            <a:avLst/>
          </a:prstGeom>
          <a:noFill/>
        </p:spPr>
        <p:txBody>
          <a:bodyPr wrap="none" lIns="0" rIns="0" tIns="0" bIns="0">
            <a:spAutoFit/>
          </a:bodyPr>
          <a:lstStyle/>
          <a:p>
            <a:r>
              <a:rPr sz="1100" b="0">
                <a:solidFill>
                  <a:srgbClr val="2E2E2E"/>
                </a:solidFill>
                <a:latin typeface="Calibri"/>
              </a:rPr>
              <a:t>CAGR through 2036, outpacing the Western Europe benchmark of</a:t>
            </a:r>
          </a:p>
        </p:txBody>
      </p:sp>
      <p:pic>
        <p:nvPicPr>
          <p:cNvPr id="43" name="Picture 42" descr="lock.png"/>
          <p:cNvPicPr>
            <a:picLocks noChangeAspect="1"/>
          </p:cNvPicPr>
          <p:nvPr/>
        </p:nvPicPr>
        <p:blipFill>
          <a:blip r:embed="rId8"/>
          <a:stretch>
            <a:fillRect/>
          </a:stretch>
        </p:blipFill>
        <p:spPr>
          <a:xfrm>
            <a:off x="8058017" y="3202051"/>
            <a:ext cx="128699" cy="187198"/>
          </a:xfrm>
          <a:prstGeom prst="rect">
            <a:avLst/>
          </a:prstGeom>
        </p:spPr>
      </p:pic>
      <p:sp>
        <p:nvSpPr>
          <p:cNvPr id="44" name="TextBox 43"/>
          <p:cNvSpPr txBox="1"/>
          <p:nvPr/>
        </p:nvSpPr>
        <p:spPr>
          <a:xfrm>
            <a:off x="8225513" y="321183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5" name="Picture 44" descr="lock.png"/>
          <p:cNvPicPr>
            <a:picLocks noChangeAspect="1"/>
          </p:cNvPicPr>
          <p:nvPr/>
        </p:nvPicPr>
        <p:blipFill>
          <a:blip r:embed="rId8"/>
          <a:stretch>
            <a:fillRect/>
          </a:stretch>
        </p:blipFill>
        <p:spPr>
          <a:xfrm>
            <a:off x="8386463" y="3202051"/>
            <a:ext cx="128699" cy="187198"/>
          </a:xfrm>
          <a:prstGeom prst="rect">
            <a:avLst/>
          </a:prstGeom>
        </p:spPr>
      </p:pic>
      <p:sp>
        <p:nvSpPr>
          <p:cNvPr id="46" name="TextBox 45"/>
          <p:cNvSpPr txBox="1"/>
          <p:nvPr/>
        </p:nvSpPr>
        <p:spPr>
          <a:xfrm>
            <a:off x="8553959"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7" name="TextBox 46"/>
          <p:cNvSpPr txBox="1"/>
          <p:nvPr/>
        </p:nvSpPr>
        <p:spPr>
          <a:xfrm>
            <a:off x="257175" y="5966460"/>
            <a:ext cx="936773" cy="186689"/>
          </a:xfrm>
          <a:prstGeom prst="rect">
            <a:avLst/>
          </a:prstGeom>
          <a:noFill/>
        </p:spPr>
        <p:txBody>
          <a:bodyPr wrap="none" lIns="0" rIns="0" tIns="0" bIns="0">
            <a:spAutoFit/>
          </a:bodyPr>
          <a:lstStyle/>
          <a:p>
            <a:r>
              <a:rPr sz="1100" b="0">
                <a:solidFill>
                  <a:srgbClr val="2E2E2E"/>
                </a:solidFill>
                <a:latin typeface="Calibri"/>
              </a:rPr>
              <a:t>Germany holds</a:t>
            </a:r>
          </a:p>
        </p:txBody>
      </p:sp>
      <p:pic>
        <p:nvPicPr>
          <p:cNvPr id="48" name="Picture 47" descr="lock.png"/>
          <p:cNvPicPr>
            <a:picLocks noChangeAspect="1"/>
          </p:cNvPicPr>
          <p:nvPr/>
        </p:nvPicPr>
        <p:blipFill>
          <a:blip r:embed="rId8"/>
          <a:stretch>
            <a:fillRect/>
          </a:stretch>
        </p:blipFill>
        <p:spPr>
          <a:xfrm>
            <a:off x="1142000" y="5956680"/>
            <a:ext cx="128699" cy="187198"/>
          </a:xfrm>
          <a:prstGeom prst="rect">
            <a:avLst/>
          </a:prstGeom>
        </p:spPr>
      </p:pic>
      <p:sp>
        <p:nvSpPr>
          <p:cNvPr id="49" name="TextBox 48"/>
          <p:cNvSpPr txBox="1"/>
          <p:nvPr/>
        </p:nvSpPr>
        <p:spPr>
          <a:xfrm>
            <a:off x="1309496"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0" name="Picture 49" descr="lock.png"/>
          <p:cNvPicPr>
            <a:picLocks noChangeAspect="1"/>
          </p:cNvPicPr>
          <p:nvPr/>
        </p:nvPicPr>
        <p:blipFill>
          <a:blip r:embed="rId8"/>
          <a:stretch>
            <a:fillRect/>
          </a:stretch>
        </p:blipFill>
        <p:spPr>
          <a:xfrm>
            <a:off x="2292548" y="5956680"/>
            <a:ext cx="128699" cy="187198"/>
          </a:xfrm>
          <a:prstGeom prst="rect">
            <a:avLst/>
          </a:prstGeom>
        </p:spPr>
      </p:pic>
      <p:sp>
        <p:nvSpPr>
          <p:cNvPr id="51" name="TextBox 50"/>
          <p:cNvSpPr txBox="1"/>
          <p:nvPr/>
        </p:nvSpPr>
        <p:spPr>
          <a:xfrm>
            <a:off x="2460044" y="5966460"/>
            <a:ext cx="3096121" cy="186689"/>
          </a:xfrm>
          <a:prstGeom prst="rect">
            <a:avLst/>
          </a:prstGeom>
          <a:noFill/>
        </p:spPr>
        <p:txBody>
          <a:bodyPr wrap="none" lIns="0" rIns="0" tIns="0" bIns="0">
            <a:spAutoFit/>
          </a:bodyPr>
          <a:lstStyle/>
          <a:p>
            <a:r>
              <a:rPr sz="1100" b="0">
                <a:solidFill>
                  <a:srgbClr val="2E2E2E"/>
                </a:solidFill>
                <a:latin typeface="Calibri"/>
              </a:rPr>
              <a:t>of the Western Europe heavy commercial vehicle eps</a:t>
            </a:r>
          </a:p>
        </p:txBody>
      </p:sp>
      <p:sp>
        <p:nvSpPr>
          <p:cNvPr id="52" name="TextBox 51"/>
          <p:cNvSpPr txBox="1"/>
          <p:nvPr/>
        </p:nvSpPr>
        <p:spPr>
          <a:xfrm>
            <a:off x="257175" y="6134100"/>
            <a:ext cx="2708399" cy="186689"/>
          </a:xfrm>
          <a:prstGeom prst="rect">
            <a:avLst/>
          </a:prstGeom>
          <a:noFill/>
        </p:spPr>
        <p:txBody>
          <a:bodyPr wrap="none" lIns="0" rIns="0" tIns="0" bIns="0">
            <a:spAutoFit/>
          </a:bodyPr>
          <a:lstStyle/>
          <a:p>
            <a:r>
              <a:rPr sz="1100" b="0">
                <a:solidFill>
                  <a:srgbClr val="2E2E2E"/>
                </a:solidFill>
                <a:latin typeface="Calibri"/>
              </a:rPr>
              <a:t>market in 2026; by 2036 those shares move to</a:t>
            </a:r>
          </a:p>
        </p:txBody>
      </p:sp>
      <p:pic>
        <p:nvPicPr>
          <p:cNvPr id="53" name="Picture 52" descr="lock.png"/>
          <p:cNvPicPr>
            <a:picLocks noChangeAspect="1"/>
          </p:cNvPicPr>
          <p:nvPr/>
        </p:nvPicPr>
        <p:blipFill>
          <a:blip r:embed="rId8"/>
          <a:stretch>
            <a:fillRect/>
          </a:stretch>
        </p:blipFill>
        <p:spPr>
          <a:xfrm>
            <a:off x="2913625" y="6124320"/>
            <a:ext cx="128699" cy="187198"/>
          </a:xfrm>
          <a:prstGeom prst="rect">
            <a:avLst/>
          </a:prstGeom>
        </p:spPr>
      </p:pic>
      <p:sp>
        <p:nvSpPr>
          <p:cNvPr id="54" name="TextBox 53"/>
          <p:cNvSpPr txBox="1"/>
          <p:nvPr/>
        </p:nvSpPr>
        <p:spPr>
          <a:xfrm>
            <a:off x="308112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5" name="Picture 54" descr="lock.png"/>
          <p:cNvPicPr>
            <a:picLocks noChangeAspect="1"/>
          </p:cNvPicPr>
          <p:nvPr/>
        </p:nvPicPr>
        <p:blipFill>
          <a:blip r:embed="rId8"/>
          <a:stretch>
            <a:fillRect/>
          </a:stretch>
        </p:blipFill>
        <p:spPr>
          <a:xfrm>
            <a:off x="3319015" y="6124320"/>
            <a:ext cx="128699" cy="187198"/>
          </a:xfrm>
          <a:prstGeom prst="rect">
            <a:avLst/>
          </a:prstGeom>
        </p:spPr>
      </p:pic>
      <p:sp>
        <p:nvSpPr>
          <p:cNvPr id="56" name="TextBox 55"/>
          <p:cNvSpPr txBox="1"/>
          <p:nvPr/>
        </p:nvSpPr>
        <p:spPr>
          <a:xfrm>
            <a:off x="3486511"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7" name="TextBox 56"/>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8" name="Picture 57" descr="lock.png"/>
          <p:cNvPicPr>
            <a:picLocks noChangeAspect="1"/>
          </p:cNvPicPr>
          <p:nvPr/>
        </p:nvPicPr>
        <p:blipFill>
          <a:blip r:embed="rId8"/>
          <a:stretch>
            <a:fillRect/>
          </a:stretch>
        </p:blipFill>
        <p:spPr>
          <a:xfrm>
            <a:off x="7821530" y="5956680"/>
            <a:ext cx="128699" cy="187198"/>
          </a:xfrm>
          <a:prstGeom prst="rect">
            <a:avLst/>
          </a:prstGeom>
        </p:spPr>
      </p:pic>
      <p:sp>
        <p:nvSpPr>
          <p:cNvPr id="59" name="TextBox 58"/>
          <p:cNvSpPr txBox="1"/>
          <p:nvPr/>
        </p:nvSpPr>
        <p:spPr>
          <a:xfrm>
            <a:off x="7989026" y="5966460"/>
            <a:ext cx="3523679" cy="186689"/>
          </a:xfrm>
          <a:prstGeom prst="rect">
            <a:avLst/>
          </a:prstGeom>
          <a:noFill/>
        </p:spPr>
        <p:txBody>
          <a:bodyPr wrap="none" lIns="0" rIns="0" tIns="0" bIns="0">
            <a:spAutoFit/>
          </a:bodyPr>
          <a:lstStyle/>
          <a:p>
            <a:r>
              <a:rPr sz="1100" b="0">
                <a:solidFill>
                  <a:srgbClr val="2E2E2E"/>
                </a:solidFill>
                <a:latin typeface="Calibri"/>
              </a:rPr>
              <a:t>Units between 2026 and 2036 the Germany market grows to</a:t>
            </a:r>
          </a:p>
        </p:txBody>
      </p:sp>
      <p:pic>
        <p:nvPicPr>
          <p:cNvPr id="60" name="Picture 59" descr="lock.png"/>
          <p:cNvPicPr>
            <a:picLocks noChangeAspect="1"/>
          </p:cNvPicPr>
          <p:nvPr/>
        </p:nvPicPr>
        <p:blipFill>
          <a:blip r:embed="rId8"/>
          <a:stretch>
            <a:fillRect/>
          </a:stretch>
        </p:blipFill>
        <p:spPr>
          <a:xfrm>
            <a:off x="11460757" y="5956680"/>
            <a:ext cx="128699" cy="187198"/>
          </a:xfrm>
          <a:prstGeom prst="rect">
            <a:avLst/>
          </a:prstGeom>
        </p:spPr>
      </p:pic>
      <p:sp>
        <p:nvSpPr>
          <p:cNvPr id="61" name="TextBox 60"/>
          <p:cNvSpPr txBox="1"/>
          <p:nvPr/>
        </p:nvSpPr>
        <p:spPr>
          <a:xfrm>
            <a:off x="11628253" y="5966460"/>
            <a:ext cx="14577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2" name="TextBox 61"/>
          <p:cNvSpPr txBox="1"/>
          <p:nvPr/>
        </p:nvSpPr>
        <p:spPr>
          <a:xfrm>
            <a:off x="6286500" y="6134100"/>
            <a:ext cx="1755601" cy="186689"/>
          </a:xfrm>
          <a:prstGeom prst="rect">
            <a:avLst/>
          </a:prstGeom>
          <a:noFill/>
        </p:spPr>
        <p:txBody>
          <a:bodyPr wrap="none" lIns="0" rIns="0" tIns="0" bIns="0">
            <a:spAutoFit/>
          </a:bodyPr>
          <a:lstStyle/>
          <a:p>
            <a:r>
              <a:rPr sz="1100" b="0">
                <a:solidFill>
                  <a:srgbClr val="2E2E2E"/>
                </a:solidFill>
                <a:latin typeface="Calibri"/>
              </a:rPr>
              <a:t>its 2026 size over the decade.</a:t>
            </a:r>
          </a:p>
        </p:txBody>
      </p:sp>
      <p:sp>
        <p:nvSpPr>
          <p:cNvPr id="63"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Germany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008189"/>
                </a:solidFill>
                <a:latin typeface="Calibri"/>
              </a:rPr>
              <a:t> </a:t>
            </a:r>
          </a:p>
          <a:p>
            <a:pPr algn="ctr"/>
            <a:r>
              <a:rPr sz="1100" b="0">
                <a:solidFill>
                  <a:srgbClr val="6C7A89"/>
                </a:solidFill>
                <a:latin typeface="Calibri"/>
              </a:rPr>
              <a:t>vs Western Europe benchmark</a:t>
            </a:r>
          </a:p>
          <a:p>
            <a:pPr algn="ctr"/>
            <a:r>
              <a:rPr sz="1100" b="1">
                <a:solidFill>
                  <a:srgbClr val="2E7D32"/>
                </a:solidFill>
                <a:latin typeface="Calibri"/>
              </a:rPr>
              <a:t>▲ above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3495575" cy="186689"/>
          </a:xfrm>
          <a:prstGeom prst="rect">
            <a:avLst/>
          </a:prstGeom>
          <a:noFill/>
        </p:spPr>
        <p:txBody>
          <a:bodyPr wrap="none" lIns="0" rIns="0" tIns="0" bIns="0">
            <a:spAutoFit/>
          </a:bodyPr>
          <a:lstStyle/>
          <a:p>
            <a:r>
              <a:rPr sz="1100" b="0">
                <a:solidFill>
                  <a:srgbClr val="2E2E2E"/>
                </a:solidFill>
                <a:latin typeface="Calibri"/>
              </a:rPr>
              <a:t>Germany's heavy commercial vehicle eps market expands at</a:t>
            </a:r>
          </a:p>
        </p:txBody>
      </p:sp>
      <p:pic>
        <p:nvPicPr>
          <p:cNvPr id="41" name="Picture 40" descr="lock.png"/>
          <p:cNvPicPr>
            <a:picLocks noChangeAspect="1"/>
          </p:cNvPicPr>
          <p:nvPr/>
        </p:nvPicPr>
        <p:blipFill>
          <a:blip r:embed="rId8"/>
          <a:stretch>
            <a:fillRect/>
          </a:stretch>
        </p:blipFill>
        <p:spPr>
          <a:xfrm>
            <a:off x="11515112" y="2866771"/>
            <a:ext cx="128699" cy="187198"/>
          </a:xfrm>
          <a:prstGeom prst="rect">
            <a:avLst/>
          </a:prstGeom>
        </p:spPr>
      </p:pic>
      <p:sp>
        <p:nvSpPr>
          <p:cNvPr id="42" name="TextBox 41"/>
          <p:cNvSpPr txBox="1"/>
          <p:nvPr/>
        </p:nvSpPr>
        <p:spPr>
          <a:xfrm>
            <a:off x="8071485" y="3044190"/>
            <a:ext cx="3827891" cy="186689"/>
          </a:xfrm>
          <a:prstGeom prst="rect">
            <a:avLst/>
          </a:prstGeom>
          <a:noFill/>
        </p:spPr>
        <p:txBody>
          <a:bodyPr wrap="none" lIns="0" rIns="0" tIns="0" bIns="0">
            <a:spAutoFit/>
          </a:bodyPr>
          <a:lstStyle/>
          <a:p>
            <a:r>
              <a:rPr sz="1100" b="0">
                <a:solidFill>
                  <a:srgbClr val="2E2E2E"/>
                </a:solidFill>
                <a:latin typeface="Calibri"/>
              </a:rPr>
              <a:t>CAGR through 2036, outpacing the Western Europe benchmark of</a:t>
            </a:r>
          </a:p>
        </p:txBody>
      </p:sp>
      <p:pic>
        <p:nvPicPr>
          <p:cNvPr id="43" name="Picture 42" descr="lock.png"/>
          <p:cNvPicPr>
            <a:picLocks noChangeAspect="1"/>
          </p:cNvPicPr>
          <p:nvPr/>
        </p:nvPicPr>
        <p:blipFill>
          <a:blip r:embed="rId8"/>
          <a:stretch>
            <a:fillRect/>
          </a:stretch>
        </p:blipFill>
        <p:spPr>
          <a:xfrm>
            <a:off x="8058017" y="3202051"/>
            <a:ext cx="128699" cy="187198"/>
          </a:xfrm>
          <a:prstGeom prst="rect">
            <a:avLst/>
          </a:prstGeom>
        </p:spPr>
      </p:pic>
      <p:sp>
        <p:nvSpPr>
          <p:cNvPr id="44" name="TextBox 43"/>
          <p:cNvSpPr txBox="1"/>
          <p:nvPr/>
        </p:nvSpPr>
        <p:spPr>
          <a:xfrm>
            <a:off x="8225513" y="321183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5" name="Picture 44" descr="lock.png"/>
          <p:cNvPicPr>
            <a:picLocks noChangeAspect="1"/>
          </p:cNvPicPr>
          <p:nvPr/>
        </p:nvPicPr>
        <p:blipFill>
          <a:blip r:embed="rId8"/>
          <a:stretch>
            <a:fillRect/>
          </a:stretch>
        </p:blipFill>
        <p:spPr>
          <a:xfrm>
            <a:off x="8386463" y="3202051"/>
            <a:ext cx="128699" cy="187198"/>
          </a:xfrm>
          <a:prstGeom prst="rect">
            <a:avLst/>
          </a:prstGeom>
        </p:spPr>
      </p:pic>
      <p:sp>
        <p:nvSpPr>
          <p:cNvPr id="46" name="TextBox 45"/>
          <p:cNvSpPr txBox="1"/>
          <p:nvPr/>
        </p:nvSpPr>
        <p:spPr>
          <a:xfrm>
            <a:off x="8553959"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7" name="TextBox 46"/>
          <p:cNvSpPr txBox="1"/>
          <p:nvPr/>
        </p:nvSpPr>
        <p:spPr>
          <a:xfrm>
            <a:off x="257175" y="5966460"/>
            <a:ext cx="936773" cy="186689"/>
          </a:xfrm>
          <a:prstGeom prst="rect">
            <a:avLst/>
          </a:prstGeom>
          <a:noFill/>
        </p:spPr>
        <p:txBody>
          <a:bodyPr wrap="none" lIns="0" rIns="0" tIns="0" bIns="0">
            <a:spAutoFit/>
          </a:bodyPr>
          <a:lstStyle/>
          <a:p>
            <a:r>
              <a:rPr sz="1100" b="0">
                <a:solidFill>
                  <a:srgbClr val="2E2E2E"/>
                </a:solidFill>
                <a:latin typeface="Calibri"/>
              </a:rPr>
              <a:t>Germany holds</a:t>
            </a:r>
          </a:p>
        </p:txBody>
      </p:sp>
      <p:pic>
        <p:nvPicPr>
          <p:cNvPr id="48" name="Picture 47" descr="lock.png"/>
          <p:cNvPicPr>
            <a:picLocks noChangeAspect="1"/>
          </p:cNvPicPr>
          <p:nvPr/>
        </p:nvPicPr>
        <p:blipFill>
          <a:blip r:embed="rId8"/>
          <a:stretch>
            <a:fillRect/>
          </a:stretch>
        </p:blipFill>
        <p:spPr>
          <a:xfrm>
            <a:off x="1142000" y="5956680"/>
            <a:ext cx="128699" cy="187198"/>
          </a:xfrm>
          <a:prstGeom prst="rect">
            <a:avLst/>
          </a:prstGeom>
        </p:spPr>
      </p:pic>
      <p:sp>
        <p:nvSpPr>
          <p:cNvPr id="49" name="TextBox 48"/>
          <p:cNvSpPr txBox="1"/>
          <p:nvPr/>
        </p:nvSpPr>
        <p:spPr>
          <a:xfrm>
            <a:off x="1309496"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0" name="Picture 49" descr="lock.png"/>
          <p:cNvPicPr>
            <a:picLocks noChangeAspect="1"/>
          </p:cNvPicPr>
          <p:nvPr/>
        </p:nvPicPr>
        <p:blipFill>
          <a:blip r:embed="rId8"/>
          <a:stretch>
            <a:fillRect/>
          </a:stretch>
        </p:blipFill>
        <p:spPr>
          <a:xfrm>
            <a:off x="2292548" y="5956680"/>
            <a:ext cx="128699" cy="187198"/>
          </a:xfrm>
          <a:prstGeom prst="rect">
            <a:avLst/>
          </a:prstGeom>
        </p:spPr>
      </p:pic>
      <p:sp>
        <p:nvSpPr>
          <p:cNvPr id="51" name="TextBox 50"/>
          <p:cNvSpPr txBox="1"/>
          <p:nvPr/>
        </p:nvSpPr>
        <p:spPr>
          <a:xfrm>
            <a:off x="2460044" y="5966460"/>
            <a:ext cx="3096121" cy="186689"/>
          </a:xfrm>
          <a:prstGeom prst="rect">
            <a:avLst/>
          </a:prstGeom>
          <a:noFill/>
        </p:spPr>
        <p:txBody>
          <a:bodyPr wrap="none" lIns="0" rIns="0" tIns="0" bIns="0">
            <a:spAutoFit/>
          </a:bodyPr>
          <a:lstStyle/>
          <a:p>
            <a:r>
              <a:rPr sz="1100" b="0">
                <a:solidFill>
                  <a:srgbClr val="2E2E2E"/>
                </a:solidFill>
                <a:latin typeface="Calibri"/>
              </a:rPr>
              <a:t>of the Western Europe heavy commercial vehicle eps</a:t>
            </a:r>
          </a:p>
        </p:txBody>
      </p:sp>
      <p:sp>
        <p:nvSpPr>
          <p:cNvPr id="52" name="TextBox 51"/>
          <p:cNvSpPr txBox="1"/>
          <p:nvPr/>
        </p:nvSpPr>
        <p:spPr>
          <a:xfrm>
            <a:off x="257175" y="6134100"/>
            <a:ext cx="2708399" cy="186689"/>
          </a:xfrm>
          <a:prstGeom prst="rect">
            <a:avLst/>
          </a:prstGeom>
          <a:noFill/>
        </p:spPr>
        <p:txBody>
          <a:bodyPr wrap="none" lIns="0" rIns="0" tIns="0" bIns="0">
            <a:spAutoFit/>
          </a:bodyPr>
          <a:lstStyle/>
          <a:p>
            <a:r>
              <a:rPr sz="1100" b="0">
                <a:solidFill>
                  <a:srgbClr val="2E2E2E"/>
                </a:solidFill>
                <a:latin typeface="Calibri"/>
              </a:rPr>
              <a:t>market in 2026; by 2036 those shares move to</a:t>
            </a:r>
          </a:p>
        </p:txBody>
      </p:sp>
      <p:pic>
        <p:nvPicPr>
          <p:cNvPr id="53" name="Picture 52" descr="lock.png"/>
          <p:cNvPicPr>
            <a:picLocks noChangeAspect="1"/>
          </p:cNvPicPr>
          <p:nvPr/>
        </p:nvPicPr>
        <p:blipFill>
          <a:blip r:embed="rId8"/>
          <a:stretch>
            <a:fillRect/>
          </a:stretch>
        </p:blipFill>
        <p:spPr>
          <a:xfrm>
            <a:off x="2913625" y="6124320"/>
            <a:ext cx="128699" cy="187198"/>
          </a:xfrm>
          <a:prstGeom prst="rect">
            <a:avLst/>
          </a:prstGeom>
        </p:spPr>
      </p:pic>
      <p:sp>
        <p:nvSpPr>
          <p:cNvPr id="54" name="TextBox 53"/>
          <p:cNvSpPr txBox="1"/>
          <p:nvPr/>
        </p:nvSpPr>
        <p:spPr>
          <a:xfrm>
            <a:off x="308112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5" name="Picture 54" descr="lock.png"/>
          <p:cNvPicPr>
            <a:picLocks noChangeAspect="1"/>
          </p:cNvPicPr>
          <p:nvPr/>
        </p:nvPicPr>
        <p:blipFill>
          <a:blip r:embed="rId8"/>
          <a:stretch>
            <a:fillRect/>
          </a:stretch>
        </p:blipFill>
        <p:spPr>
          <a:xfrm>
            <a:off x="3319015" y="6124320"/>
            <a:ext cx="128699" cy="187198"/>
          </a:xfrm>
          <a:prstGeom prst="rect">
            <a:avLst/>
          </a:prstGeom>
        </p:spPr>
      </p:pic>
      <p:sp>
        <p:nvSpPr>
          <p:cNvPr id="56" name="TextBox 55"/>
          <p:cNvSpPr txBox="1"/>
          <p:nvPr/>
        </p:nvSpPr>
        <p:spPr>
          <a:xfrm>
            <a:off x="3486511"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7" name="TextBox 56"/>
          <p:cNvSpPr txBox="1"/>
          <p:nvPr/>
        </p:nvSpPr>
        <p:spPr>
          <a:xfrm>
            <a:off x="6286500" y="5882640"/>
            <a:ext cx="3179067" cy="186689"/>
          </a:xfrm>
          <a:prstGeom prst="rect">
            <a:avLst/>
          </a:prstGeom>
          <a:noFill/>
        </p:spPr>
        <p:txBody>
          <a:bodyPr wrap="none" lIns="0" rIns="0" tIns="0" bIns="0">
            <a:spAutoFit/>
          </a:bodyPr>
          <a:lstStyle/>
          <a:p>
            <a:r>
              <a:rPr sz="1100" b="0">
                <a:solidFill>
                  <a:srgbClr val="2E2E2E"/>
                </a:solidFill>
                <a:latin typeface="Calibri"/>
              </a:rPr>
              <a:t>The market in Germany is expected to account for US$</a:t>
            </a:r>
          </a:p>
        </p:txBody>
      </p:sp>
      <p:pic>
        <p:nvPicPr>
          <p:cNvPr id="58" name="Picture 57" descr="lock.png"/>
          <p:cNvPicPr>
            <a:picLocks noChangeAspect="1"/>
          </p:cNvPicPr>
          <p:nvPr/>
        </p:nvPicPr>
        <p:blipFill>
          <a:blip r:embed="rId8"/>
          <a:stretch>
            <a:fillRect/>
          </a:stretch>
        </p:blipFill>
        <p:spPr>
          <a:xfrm>
            <a:off x="9413619" y="5872860"/>
            <a:ext cx="128699" cy="187198"/>
          </a:xfrm>
          <a:prstGeom prst="rect">
            <a:avLst/>
          </a:prstGeom>
        </p:spPr>
      </p:pic>
      <p:sp>
        <p:nvSpPr>
          <p:cNvPr id="59" name="TextBox 58"/>
          <p:cNvSpPr txBox="1"/>
          <p:nvPr/>
        </p:nvSpPr>
        <p:spPr>
          <a:xfrm>
            <a:off x="9581115"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0" name="Picture 59" descr="lock.png"/>
          <p:cNvPicPr>
            <a:picLocks noChangeAspect="1"/>
          </p:cNvPicPr>
          <p:nvPr/>
        </p:nvPicPr>
        <p:blipFill>
          <a:blip r:embed="rId8"/>
          <a:stretch>
            <a:fillRect/>
          </a:stretch>
        </p:blipFill>
        <p:spPr>
          <a:xfrm>
            <a:off x="11024723" y="5872860"/>
            <a:ext cx="128699" cy="187198"/>
          </a:xfrm>
          <a:prstGeom prst="rect">
            <a:avLst/>
          </a:prstGeom>
        </p:spPr>
      </p:pic>
      <p:sp>
        <p:nvSpPr>
          <p:cNvPr id="61" name="TextBox 60"/>
          <p:cNvSpPr txBox="1"/>
          <p:nvPr/>
        </p:nvSpPr>
        <p:spPr>
          <a:xfrm>
            <a:off x="11192219"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2" name="TextBox 61"/>
          <p:cNvSpPr txBox="1"/>
          <p:nvPr/>
        </p:nvSpPr>
        <p:spPr>
          <a:xfrm>
            <a:off x="6286500" y="6050280"/>
            <a:ext cx="4749328" cy="186689"/>
          </a:xfrm>
          <a:prstGeom prst="rect">
            <a:avLst/>
          </a:prstGeom>
          <a:noFill/>
        </p:spPr>
        <p:txBody>
          <a:bodyPr wrap="none" lIns="0" rIns="0" tIns="0" bIns="0">
            <a:spAutoFit/>
          </a:bodyPr>
          <a:lstStyle/>
          <a:p>
            <a:r>
              <a:rPr sz="1100" b="0">
                <a:solidFill>
                  <a:srgbClr val="2E2E2E"/>
                </a:solidFill>
                <a:latin typeface="Calibri"/>
              </a:rPr>
              <a:t>forecast period. Germany is expected to create an incremental opportunity of US$</a:t>
            </a:r>
          </a:p>
        </p:txBody>
      </p:sp>
      <p:pic>
        <p:nvPicPr>
          <p:cNvPr id="63" name="Picture 62" descr="lock.png"/>
          <p:cNvPicPr>
            <a:picLocks noChangeAspect="1"/>
          </p:cNvPicPr>
          <p:nvPr/>
        </p:nvPicPr>
        <p:blipFill>
          <a:blip r:embed="rId8"/>
          <a:stretch>
            <a:fillRect/>
          </a:stretch>
        </p:blipFill>
        <p:spPr>
          <a:xfrm>
            <a:off x="10983880" y="6040501"/>
            <a:ext cx="128699" cy="187198"/>
          </a:xfrm>
          <a:prstGeom prst="rect">
            <a:avLst/>
          </a:prstGeom>
        </p:spPr>
      </p:pic>
      <p:sp>
        <p:nvSpPr>
          <p:cNvPr id="64" name="TextBox 63"/>
          <p:cNvSpPr txBox="1"/>
          <p:nvPr/>
        </p:nvSpPr>
        <p:spPr>
          <a:xfrm>
            <a:off x="11151376"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5" name="TextBox 64"/>
          <p:cNvSpPr txBox="1"/>
          <p:nvPr/>
        </p:nvSpPr>
        <p:spPr>
          <a:xfrm>
            <a:off x="6286500" y="6217920"/>
            <a:ext cx="3759696" cy="186689"/>
          </a:xfrm>
          <a:prstGeom prst="rect">
            <a:avLst/>
          </a:prstGeom>
          <a:noFill/>
        </p:spPr>
        <p:txBody>
          <a:bodyPr wrap="none" lIns="0" rIns="0" tIns="0" bIns="0">
            <a:spAutoFit/>
          </a:bodyPr>
          <a:lstStyle/>
          <a:p>
            <a:r>
              <a:rPr sz="1100" b="0">
                <a:solidFill>
                  <a:srgbClr val="2E2E2E"/>
                </a:solidFill>
                <a:latin typeface="Calibri"/>
              </a:rPr>
              <a:t>overall heavy commercial vehicle EPS market from 2025 to 2036.</a:t>
            </a:r>
          </a:p>
        </p:txBody>
      </p:sp>
      <p:sp>
        <p:nvSpPr>
          <p:cNvPr id="66"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Germany's key segments by value, highlighting the leading sub-segment of every segmentation</a:t>
            </a:r>
          </a:p>
        </p:txBody>
      </p:sp>
      <p:sp>
        <p:nvSpPr>
          <p:cNvPr id="10" name="Rounded Rectangle 9"/>
          <p:cNvSpPr/>
          <p:nvPr/>
        </p:nvSpPr>
        <p:spPr>
          <a:xfrm>
            <a:off x="1428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System Architecture  (US$ Mn)</a:t>
            </a:r>
          </a:p>
        </p:txBody>
      </p:sp>
      <p:graphicFrame>
        <p:nvGraphicFramePr>
          <p:cNvPr id="12" name="Chart 11"/>
          <p:cNvGraphicFramePr>
            <a:graphicFrameLocks noGrp="1"/>
          </p:cNvGraphicFramePr>
          <p:nvPr/>
        </p:nvGraphicFramePr>
        <p:xfrm>
          <a:off x="238125" y="1266825"/>
          <a:ext cx="2667000" cy="142875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Type  (US$ Mn)</a:t>
            </a:r>
          </a:p>
        </p:txBody>
      </p:sp>
      <p:graphicFrame>
        <p:nvGraphicFramePr>
          <p:cNvPr id="15" name="Chart 14"/>
          <p:cNvGraphicFramePr>
            <a:graphicFrameLocks noGrp="1"/>
          </p:cNvGraphicFramePr>
          <p:nvPr/>
        </p:nvGraphicFramePr>
        <p:xfrm>
          <a:off x="3248025" y="1266825"/>
          <a:ext cx="2667000" cy="14287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Gross Vehicle Weight  (US$ Mn)</a:t>
            </a:r>
          </a:p>
        </p:txBody>
      </p:sp>
      <p:graphicFrame>
        <p:nvGraphicFramePr>
          <p:cNvPr id="18" name="Chart 17"/>
          <p:cNvGraphicFramePr>
            <a:graphicFrameLocks noGrp="1"/>
          </p:cNvGraphicFramePr>
          <p:nvPr/>
        </p:nvGraphicFramePr>
        <p:xfrm>
          <a:off x="6257925" y="1266825"/>
          <a:ext cx="2667000" cy="14287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Propulsion Type  (US$ Mn)</a:t>
            </a:r>
          </a:p>
        </p:txBody>
      </p:sp>
      <p:graphicFrame>
        <p:nvGraphicFramePr>
          <p:cNvPr id="21" name="Chart 20"/>
          <p:cNvGraphicFramePr>
            <a:graphicFrameLocks noGrp="1"/>
          </p:cNvGraphicFramePr>
          <p:nvPr/>
        </p:nvGraphicFramePr>
        <p:xfrm>
          <a:off x="9267825" y="1266825"/>
          <a:ext cx="2667000" cy="14287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2886075"/>
            <a:ext cx="29718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2943225"/>
            <a:ext cx="2781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Demand Type  (US$ Mn)</a:t>
            </a:r>
          </a:p>
        </p:txBody>
      </p:sp>
      <p:graphicFrame>
        <p:nvGraphicFramePr>
          <p:cNvPr id="24" name="Chart 23"/>
          <p:cNvGraphicFramePr>
            <a:graphicFrameLocks noGrp="1"/>
          </p:cNvGraphicFramePr>
          <p:nvPr/>
        </p:nvGraphicFramePr>
        <p:xfrm>
          <a:off x="238125" y="3171825"/>
          <a:ext cx="2781300" cy="1428750"/>
        </p:xfrm>
        <a:graphic>
          <a:graphicData uri="http://schemas.openxmlformats.org/drawingml/2006/chart">
            <c:chart xmlns:c="http://schemas.openxmlformats.org/drawingml/2006/chart" r:id="rId7"/>
          </a:graphicData>
        </a:graphic>
      </p:graphicFrame>
      <p:sp>
        <p:nvSpPr>
          <p:cNvPr id="25" name="Rounded Rectangle 24"/>
          <p:cNvSpPr/>
          <p:nvPr/>
        </p:nvSpPr>
        <p:spPr>
          <a:xfrm>
            <a:off x="142875" y="4791075"/>
            <a:ext cx="11906250"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68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27" name="Rectangle 26"/>
          <p:cNvSpPr/>
          <p:nvPr/>
        </p:nvSpPr>
        <p:spPr>
          <a:xfrm>
            <a:off x="276225" y="511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200650"/>
            <a:ext cx="11639550" cy="13430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9"/>
          <a:stretch>
            <a:fillRect/>
          </a:stretch>
        </p:blipFill>
        <p:spPr>
          <a:xfrm>
            <a:off x="1811655" y="1762125"/>
            <a:ext cx="183356" cy="266700"/>
          </a:xfrm>
          <a:prstGeom prst="rect">
            <a:avLst/>
          </a:prstGeom>
        </p:spPr>
      </p:pic>
      <p:pic>
        <p:nvPicPr>
          <p:cNvPr id="31" name="Picture 30" descr="lock.png"/>
          <p:cNvPicPr>
            <a:picLocks noChangeAspect="1"/>
          </p:cNvPicPr>
          <p:nvPr/>
        </p:nvPicPr>
        <p:blipFill>
          <a:blip r:embed="rId9"/>
          <a:stretch>
            <a:fillRect/>
          </a:stretch>
        </p:blipFill>
        <p:spPr>
          <a:xfrm>
            <a:off x="4821555" y="1762125"/>
            <a:ext cx="183356" cy="266700"/>
          </a:xfrm>
          <a:prstGeom prst="rect">
            <a:avLst/>
          </a:prstGeom>
        </p:spPr>
      </p:pic>
      <p:pic>
        <p:nvPicPr>
          <p:cNvPr id="32" name="Picture 31" descr="lock.png"/>
          <p:cNvPicPr>
            <a:picLocks noChangeAspect="1"/>
          </p:cNvPicPr>
          <p:nvPr/>
        </p:nvPicPr>
        <p:blipFill>
          <a:blip r:embed="rId9"/>
          <a:stretch>
            <a:fillRect/>
          </a:stretch>
        </p:blipFill>
        <p:spPr>
          <a:xfrm>
            <a:off x="7831455" y="1762125"/>
            <a:ext cx="183356" cy="266700"/>
          </a:xfrm>
          <a:prstGeom prst="rect">
            <a:avLst/>
          </a:prstGeom>
        </p:spPr>
      </p:pic>
      <p:pic>
        <p:nvPicPr>
          <p:cNvPr id="33" name="Picture 32" descr="lock.png"/>
          <p:cNvPicPr>
            <a:picLocks noChangeAspect="1"/>
          </p:cNvPicPr>
          <p:nvPr/>
        </p:nvPicPr>
        <p:blipFill>
          <a:blip r:embed="rId9"/>
          <a:stretch>
            <a:fillRect/>
          </a:stretch>
        </p:blipFill>
        <p:spPr>
          <a:xfrm>
            <a:off x="10841355" y="1762125"/>
            <a:ext cx="183356" cy="266700"/>
          </a:xfrm>
          <a:prstGeom prst="rect">
            <a:avLst/>
          </a:prstGeom>
        </p:spPr>
      </p:pic>
      <p:pic>
        <p:nvPicPr>
          <p:cNvPr id="34" name="Picture 33" descr="lock.png"/>
          <p:cNvPicPr>
            <a:picLocks noChangeAspect="1"/>
          </p:cNvPicPr>
          <p:nvPr/>
        </p:nvPicPr>
        <p:blipFill>
          <a:blip r:embed="rId9"/>
          <a:stretch>
            <a:fillRect/>
          </a:stretch>
        </p:blipFill>
        <p:spPr>
          <a:xfrm>
            <a:off x="1868805" y="3667125"/>
            <a:ext cx="183356" cy="266700"/>
          </a:xfrm>
          <a:prstGeom prst="rect">
            <a:avLst/>
          </a:prstGeom>
        </p:spPr>
      </p:pic>
      <p:sp>
        <p:nvSpPr>
          <p:cNvPr id="35" name="TextBox 34"/>
          <p:cNvSpPr txBox="1"/>
          <p:nvPr/>
        </p:nvSpPr>
        <p:spPr>
          <a:xfrm>
            <a:off x="276225" y="48863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36" name="Picture 35" descr="lock.png"/>
          <p:cNvPicPr>
            <a:picLocks noChangeAspect="1"/>
          </p:cNvPicPr>
          <p:nvPr/>
        </p:nvPicPr>
        <p:blipFill>
          <a:blip r:embed="rId9"/>
          <a:stretch>
            <a:fillRect/>
          </a:stretch>
        </p:blipFill>
        <p:spPr>
          <a:xfrm>
            <a:off x="1688698" y="4878003"/>
            <a:ext cx="109510" cy="159288"/>
          </a:xfrm>
          <a:prstGeom prst="rect">
            <a:avLst/>
          </a:prstGeom>
        </p:spPr>
      </p:pic>
      <p:sp>
        <p:nvSpPr>
          <p:cNvPr id="37" name="TextBox 36"/>
          <p:cNvSpPr txBox="1"/>
          <p:nvPr/>
        </p:nvSpPr>
        <p:spPr>
          <a:xfrm>
            <a:off x="1831222" y="48863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38" name="TextBox 37"/>
          <p:cNvSpPr txBox="1"/>
          <p:nvPr/>
        </p:nvSpPr>
        <p:spPr>
          <a:xfrm>
            <a:off x="276225" y="5210175"/>
            <a:ext cx="2701556" cy="186689"/>
          </a:xfrm>
          <a:prstGeom prst="rect">
            <a:avLst/>
          </a:prstGeom>
          <a:noFill/>
        </p:spPr>
        <p:txBody>
          <a:bodyPr wrap="none" lIns="0" rIns="0" tIns="0" bIns="0">
            <a:spAutoFit/>
          </a:bodyPr>
          <a:lstStyle/>
          <a:p>
            <a:r>
              <a:rPr sz="1100" b="0">
                <a:solidFill>
                  <a:srgbClr val="2E2E2E"/>
                </a:solidFill>
                <a:latin typeface="Calibri"/>
              </a:rPr>
              <a:t>▪ By System Architecture, 'Rack Assist' leads at</a:t>
            </a:r>
          </a:p>
        </p:txBody>
      </p:sp>
      <p:pic>
        <p:nvPicPr>
          <p:cNvPr id="39" name="Picture 38" descr="lock.png"/>
          <p:cNvPicPr>
            <a:picLocks noChangeAspect="1"/>
          </p:cNvPicPr>
          <p:nvPr/>
        </p:nvPicPr>
        <p:blipFill>
          <a:blip r:embed="rId9"/>
          <a:stretch>
            <a:fillRect/>
          </a:stretch>
        </p:blipFill>
        <p:spPr>
          <a:xfrm>
            <a:off x="2925833" y="5200395"/>
            <a:ext cx="128699" cy="187198"/>
          </a:xfrm>
          <a:prstGeom prst="rect">
            <a:avLst/>
          </a:prstGeom>
        </p:spPr>
      </p:pic>
      <p:sp>
        <p:nvSpPr>
          <p:cNvPr id="40" name="TextBox 39"/>
          <p:cNvSpPr txBox="1"/>
          <p:nvPr/>
        </p:nvSpPr>
        <p:spPr>
          <a:xfrm>
            <a:off x="3093328" y="52101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1" name="Picture 40" descr="lock.png"/>
          <p:cNvPicPr>
            <a:picLocks noChangeAspect="1"/>
          </p:cNvPicPr>
          <p:nvPr/>
        </p:nvPicPr>
        <p:blipFill>
          <a:blip r:embed="rId9"/>
          <a:stretch>
            <a:fillRect/>
          </a:stretch>
        </p:blipFill>
        <p:spPr>
          <a:xfrm>
            <a:off x="3640909" y="5200395"/>
            <a:ext cx="128699" cy="187198"/>
          </a:xfrm>
          <a:prstGeom prst="rect">
            <a:avLst/>
          </a:prstGeom>
        </p:spPr>
      </p:pic>
      <p:sp>
        <p:nvSpPr>
          <p:cNvPr id="42" name="TextBox 41"/>
          <p:cNvSpPr txBox="1"/>
          <p:nvPr/>
        </p:nvSpPr>
        <p:spPr>
          <a:xfrm>
            <a:off x="3808405" y="5210175"/>
            <a:ext cx="2931864" cy="186689"/>
          </a:xfrm>
          <a:prstGeom prst="rect">
            <a:avLst/>
          </a:prstGeom>
          <a:noFill/>
        </p:spPr>
        <p:txBody>
          <a:bodyPr wrap="none" lIns="0" rIns="0" tIns="0" bIns="0">
            <a:spAutoFit/>
          </a:bodyPr>
          <a:lstStyle/>
          <a:p>
            <a:r>
              <a:rPr sz="1100" b="0">
                <a:solidFill>
                  <a:srgbClr val="2E2E2E"/>
                </a:solidFill>
                <a:latin typeface="Calibri"/>
              </a:rPr>
              <a:t>share), ahead of 'Recirculating Ball and Nut Type' (</a:t>
            </a:r>
          </a:p>
        </p:txBody>
      </p:sp>
      <p:pic>
        <p:nvPicPr>
          <p:cNvPr id="43" name="Picture 42" descr="lock.png"/>
          <p:cNvPicPr>
            <a:picLocks noChangeAspect="1"/>
          </p:cNvPicPr>
          <p:nvPr/>
        </p:nvPicPr>
        <p:blipFill>
          <a:blip r:embed="rId9"/>
          <a:stretch>
            <a:fillRect/>
          </a:stretch>
        </p:blipFill>
        <p:spPr>
          <a:xfrm>
            <a:off x="6688321" y="5200395"/>
            <a:ext cx="128699" cy="187198"/>
          </a:xfrm>
          <a:prstGeom prst="rect">
            <a:avLst/>
          </a:prstGeom>
        </p:spPr>
      </p:pic>
      <p:sp>
        <p:nvSpPr>
          <p:cNvPr id="44" name="TextBox 43"/>
          <p:cNvSpPr txBox="1"/>
          <p:nvPr/>
        </p:nvSpPr>
        <p:spPr>
          <a:xfrm>
            <a:off x="6855817" y="52101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5" name="TextBox 44"/>
          <p:cNvSpPr txBox="1"/>
          <p:nvPr/>
        </p:nvSpPr>
        <p:spPr>
          <a:xfrm>
            <a:off x="276225" y="5428107"/>
            <a:ext cx="2702374" cy="186689"/>
          </a:xfrm>
          <a:prstGeom prst="rect">
            <a:avLst/>
          </a:prstGeom>
          <a:noFill/>
        </p:spPr>
        <p:txBody>
          <a:bodyPr wrap="none" lIns="0" rIns="0" tIns="0" bIns="0">
            <a:spAutoFit/>
          </a:bodyPr>
          <a:lstStyle/>
          <a:p>
            <a:r>
              <a:rPr sz="1100" b="0">
                <a:solidFill>
                  <a:srgbClr val="2E2E2E"/>
                </a:solidFill>
                <a:latin typeface="Calibri"/>
              </a:rPr>
              <a:t>▪ By Vehicle Type, 'Heavy Duty Trucks' leads at</a:t>
            </a:r>
          </a:p>
        </p:txBody>
      </p:sp>
      <p:pic>
        <p:nvPicPr>
          <p:cNvPr id="46" name="Picture 45" descr="lock.png"/>
          <p:cNvPicPr>
            <a:picLocks noChangeAspect="1"/>
          </p:cNvPicPr>
          <p:nvPr/>
        </p:nvPicPr>
        <p:blipFill>
          <a:blip r:embed="rId9"/>
          <a:stretch>
            <a:fillRect/>
          </a:stretch>
        </p:blipFill>
        <p:spPr>
          <a:xfrm>
            <a:off x="2926651" y="5418327"/>
            <a:ext cx="128699" cy="187198"/>
          </a:xfrm>
          <a:prstGeom prst="rect">
            <a:avLst/>
          </a:prstGeom>
        </p:spPr>
      </p:pic>
      <p:sp>
        <p:nvSpPr>
          <p:cNvPr id="47" name="TextBox 46"/>
          <p:cNvSpPr txBox="1"/>
          <p:nvPr/>
        </p:nvSpPr>
        <p:spPr>
          <a:xfrm>
            <a:off x="3094147" y="54281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8" name="Picture 47" descr="lock.png"/>
          <p:cNvPicPr>
            <a:picLocks noChangeAspect="1"/>
          </p:cNvPicPr>
          <p:nvPr/>
        </p:nvPicPr>
        <p:blipFill>
          <a:blip r:embed="rId9"/>
          <a:stretch>
            <a:fillRect/>
          </a:stretch>
        </p:blipFill>
        <p:spPr>
          <a:xfrm>
            <a:off x="3641728" y="5418327"/>
            <a:ext cx="128699" cy="187198"/>
          </a:xfrm>
          <a:prstGeom prst="rect">
            <a:avLst/>
          </a:prstGeom>
        </p:spPr>
      </p:pic>
      <p:sp>
        <p:nvSpPr>
          <p:cNvPr id="49" name="TextBox 48"/>
          <p:cNvSpPr txBox="1"/>
          <p:nvPr/>
        </p:nvSpPr>
        <p:spPr>
          <a:xfrm>
            <a:off x="3809224" y="5428107"/>
            <a:ext cx="2295028" cy="186689"/>
          </a:xfrm>
          <a:prstGeom prst="rect">
            <a:avLst/>
          </a:prstGeom>
          <a:noFill/>
        </p:spPr>
        <p:txBody>
          <a:bodyPr wrap="none" lIns="0" rIns="0" tIns="0" bIns="0">
            <a:spAutoFit/>
          </a:bodyPr>
          <a:lstStyle/>
          <a:p>
            <a:r>
              <a:rPr sz="1100" b="0">
                <a:solidFill>
                  <a:srgbClr val="2E2E2E"/>
                </a:solidFill>
                <a:latin typeface="Calibri"/>
              </a:rPr>
              <a:t>share), ahead of 'Busses and Coaches' (</a:t>
            </a:r>
          </a:p>
        </p:txBody>
      </p:sp>
      <p:pic>
        <p:nvPicPr>
          <p:cNvPr id="50" name="Picture 49" descr="lock.png"/>
          <p:cNvPicPr>
            <a:picLocks noChangeAspect="1"/>
          </p:cNvPicPr>
          <p:nvPr/>
        </p:nvPicPr>
        <p:blipFill>
          <a:blip r:embed="rId9"/>
          <a:stretch>
            <a:fillRect/>
          </a:stretch>
        </p:blipFill>
        <p:spPr>
          <a:xfrm>
            <a:off x="6052304" y="5418327"/>
            <a:ext cx="128699" cy="187198"/>
          </a:xfrm>
          <a:prstGeom prst="rect">
            <a:avLst/>
          </a:prstGeom>
        </p:spPr>
      </p:pic>
      <p:sp>
        <p:nvSpPr>
          <p:cNvPr id="51" name="TextBox 50"/>
          <p:cNvSpPr txBox="1"/>
          <p:nvPr/>
        </p:nvSpPr>
        <p:spPr>
          <a:xfrm>
            <a:off x="6219800" y="54281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2" name="TextBox 51"/>
          <p:cNvSpPr txBox="1"/>
          <p:nvPr/>
        </p:nvSpPr>
        <p:spPr>
          <a:xfrm>
            <a:off x="276225" y="5646039"/>
            <a:ext cx="2910287" cy="186689"/>
          </a:xfrm>
          <a:prstGeom prst="rect">
            <a:avLst/>
          </a:prstGeom>
          <a:noFill/>
        </p:spPr>
        <p:txBody>
          <a:bodyPr wrap="none" lIns="0" rIns="0" tIns="0" bIns="0">
            <a:spAutoFit/>
          </a:bodyPr>
          <a:lstStyle/>
          <a:p>
            <a:r>
              <a:rPr sz="1100" b="0">
                <a:solidFill>
                  <a:srgbClr val="2E2E2E"/>
                </a:solidFill>
                <a:latin typeface="Calibri"/>
              </a:rPr>
              <a:t>▪ By Gross Vehicle Weight, '26 to 40 Tons' leads at</a:t>
            </a:r>
          </a:p>
        </p:txBody>
      </p:sp>
      <p:pic>
        <p:nvPicPr>
          <p:cNvPr id="53" name="Picture 52" descr="lock.png"/>
          <p:cNvPicPr>
            <a:picLocks noChangeAspect="1"/>
          </p:cNvPicPr>
          <p:nvPr/>
        </p:nvPicPr>
        <p:blipFill>
          <a:blip r:embed="rId9"/>
          <a:stretch>
            <a:fillRect/>
          </a:stretch>
        </p:blipFill>
        <p:spPr>
          <a:xfrm>
            <a:off x="3134564" y="5636259"/>
            <a:ext cx="128699" cy="187198"/>
          </a:xfrm>
          <a:prstGeom prst="rect">
            <a:avLst/>
          </a:prstGeom>
        </p:spPr>
      </p:pic>
      <p:sp>
        <p:nvSpPr>
          <p:cNvPr id="54" name="TextBox 53"/>
          <p:cNvSpPr txBox="1"/>
          <p:nvPr/>
        </p:nvSpPr>
        <p:spPr>
          <a:xfrm>
            <a:off x="3302060" y="56460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5" name="Picture 54" descr="lock.png"/>
          <p:cNvPicPr>
            <a:picLocks noChangeAspect="1"/>
          </p:cNvPicPr>
          <p:nvPr/>
        </p:nvPicPr>
        <p:blipFill>
          <a:blip r:embed="rId9"/>
          <a:stretch>
            <a:fillRect/>
          </a:stretch>
        </p:blipFill>
        <p:spPr>
          <a:xfrm>
            <a:off x="3849641" y="5636259"/>
            <a:ext cx="128699" cy="187198"/>
          </a:xfrm>
          <a:prstGeom prst="rect">
            <a:avLst/>
          </a:prstGeom>
        </p:spPr>
      </p:pic>
      <p:sp>
        <p:nvSpPr>
          <p:cNvPr id="56" name="TextBox 55"/>
          <p:cNvSpPr txBox="1"/>
          <p:nvPr/>
        </p:nvSpPr>
        <p:spPr>
          <a:xfrm>
            <a:off x="4017136" y="5646039"/>
            <a:ext cx="1932682" cy="186689"/>
          </a:xfrm>
          <a:prstGeom prst="rect">
            <a:avLst/>
          </a:prstGeom>
          <a:noFill/>
        </p:spPr>
        <p:txBody>
          <a:bodyPr wrap="none" lIns="0" rIns="0" tIns="0" bIns="0">
            <a:spAutoFit/>
          </a:bodyPr>
          <a:lstStyle/>
          <a:p>
            <a:r>
              <a:rPr sz="1100" b="0">
                <a:solidFill>
                  <a:srgbClr val="2E2E2E"/>
                </a:solidFill>
                <a:latin typeface="Calibri"/>
              </a:rPr>
              <a:t>share), ahead of '16 to 26 Tons' (</a:t>
            </a:r>
          </a:p>
        </p:txBody>
      </p:sp>
      <p:pic>
        <p:nvPicPr>
          <p:cNvPr id="57" name="Picture 56" descr="lock.png"/>
          <p:cNvPicPr>
            <a:picLocks noChangeAspect="1"/>
          </p:cNvPicPr>
          <p:nvPr/>
        </p:nvPicPr>
        <p:blipFill>
          <a:blip r:embed="rId9"/>
          <a:stretch>
            <a:fillRect/>
          </a:stretch>
        </p:blipFill>
        <p:spPr>
          <a:xfrm>
            <a:off x="5897870" y="5636259"/>
            <a:ext cx="128699" cy="187198"/>
          </a:xfrm>
          <a:prstGeom prst="rect">
            <a:avLst/>
          </a:prstGeom>
        </p:spPr>
      </p:pic>
      <p:sp>
        <p:nvSpPr>
          <p:cNvPr id="58" name="TextBox 57"/>
          <p:cNvSpPr txBox="1"/>
          <p:nvPr/>
        </p:nvSpPr>
        <p:spPr>
          <a:xfrm>
            <a:off x="6065366" y="56460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9" name="TextBox 58"/>
          <p:cNvSpPr txBox="1"/>
          <p:nvPr/>
        </p:nvSpPr>
        <p:spPr>
          <a:xfrm>
            <a:off x="276225" y="5863971"/>
            <a:ext cx="3423521" cy="186689"/>
          </a:xfrm>
          <a:prstGeom prst="rect">
            <a:avLst/>
          </a:prstGeom>
          <a:noFill/>
        </p:spPr>
        <p:txBody>
          <a:bodyPr wrap="none" lIns="0" rIns="0" tIns="0" bIns="0">
            <a:spAutoFit/>
          </a:bodyPr>
          <a:lstStyle/>
          <a:p>
            <a:r>
              <a:rPr sz="1100" b="0">
                <a:solidFill>
                  <a:srgbClr val="2E2E2E"/>
                </a:solidFill>
                <a:latin typeface="Calibri"/>
              </a:rPr>
              <a:t>▪ By Propulsion Type, 'Internal Combustion Engine' leads at</a:t>
            </a:r>
          </a:p>
        </p:txBody>
      </p:sp>
      <p:pic>
        <p:nvPicPr>
          <p:cNvPr id="60" name="Picture 59" descr="lock.png"/>
          <p:cNvPicPr>
            <a:picLocks noChangeAspect="1"/>
          </p:cNvPicPr>
          <p:nvPr/>
        </p:nvPicPr>
        <p:blipFill>
          <a:blip r:embed="rId9"/>
          <a:stretch>
            <a:fillRect/>
          </a:stretch>
        </p:blipFill>
        <p:spPr>
          <a:xfrm>
            <a:off x="3647798" y="5854191"/>
            <a:ext cx="128699" cy="187198"/>
          </a:xfrm>
          <a:prstGeom prst="rect">
            <a:avLst/>
          </a:prstGeom>
        </p:spPr>
      </p:pic>
      <p:sp>
        <p:nvSpPr>
          <p:cNvPr id="61" name="TextBox 60"/>
          <p:cNvSpPr txBox="1"/>
          <p:nvPr/>
        </p:nvSpPr>
        <p:spPr>
          <a:xfrm>
            <a:off x="3815294" y="5863971"/>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2" name="Picture 61" descr="lock.png"/>
          <p:cNvPicPr>
            <a:picLocks noChangeAspect="1"/>
          </p:cNvPicPr>
          <p:nvPr/>
        </p:nvPicPr>
        <p:blipFill>
          <a:blip r:embed="rId9"/>
          <a:stretch>
            <a:fillRect/>
          </a:stretch>
        </p:blipFill>
        <p:spPr>
          <a:xfrm>
            <a:off x="4362874" y="5854191"/>
            <a:ext cx="128699" cy="187198"/>
          </a:xfrm>
          <a:prstGeom prst="rect">
            <a:avLst/>
          </a:prstGeom>
        </p:spPr>
      </p:pic>
      <p:sp>
        <p:nvSpPr>
          <p:cNvPr id="63" name="TextBox 62"/>
          <p:cNvSpPr txBox="1"/>
          <p:nvPr/>
        </p:nvSpPr>
        <p:spPr>
          <a:xfrm>
            <a:off x="4530370" y="5863971"/>
            <a:ext cx="1541685" cy="186689"/>
          </a:xfrm>
          <a:prstGeom prst="rect">
            <a:avLst/>
          </a:prstGeom>
          <a:noFill/>
        </p:spPr>
        <p:txBody>
          <a:bodyPr wrap="none" lIns="0" rIns="0" tIns="0" bIns="0">
            <a:spAutoFit/>
          </a:bodyPr>
          <a:lstStyle/>
          <a:p>
            <a:r>
              <a:rPr sz="1100" b="0">
                <a:solidFill>
                  <a:srgbClr val="2E2E2E"/>
                </a:solidFill>
                <a:latin typeface="Calibri"/>
              </a:rPr>
              <a:t>share), ahead of 'Hybrid' (</a:t>
            </a:r>
          </a:p>
        </p:txBody>
      </p:sp>
      <p:pic>
        <p:nvPicPr>
          <p:cNvPr id="64" name="Picture 63" descr="lock.png"/>
          <p:cNvPicPr>
            <a:picLocks noChangeAspect="1"/>
          </p:cNvPicPr>
          <p:nvPr/>
        </p:nvPicPr>
        <p:blipFill>
          <a:blip r:embed="rId9"/>
          <a:stretch>
            <a:fillRect/>
          </a:stretch>
        </p:blipFill>
        <p:spPr>
          <a:xfrm>
            <a:off x="6020108" y="5854191"/>
            <a:ext cx="128699" cy="187198"/>
          </a:xfrm>
          <a:prstGeom prst="rect">
            <a:avLst/>
          </a:prstGeom>
        </p:spPr>
      </p:pic>
      <p:sp>
        <p:nvSpPr>
          <p:cNvPr id="65" name="TextBox 64"/>
          <p:cNvSpPr txBox="1"/>
          <p:nvPr/>
        </p:nvSpPr>
        <p:spPr>
          <a:xfrm>
            <a:off x="6187603" y="5863971"/>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6" name="TextBox 65"/>
          <p:cNvSpPr txBox="1"/>
          <p:nvPr/>
        </p:nvSpPr>
        <p:spPr>
          <a:xfrm>
            <a:off x="276225" y="6081903"/>
            <a:ext cx="1997326" cy="186689"/>
          </a:xfrm>
          <a:prstGeom prst="rect">
            <a:avLst/>
          </a:prstGeom>
          <a:noFill/>
        </p:spPr>
        <p:txBody>
          <a:bodyPr wrap="none" lIns="0" rIns="0" tIns="0" bIns="0">
            <a:spAutoFit/>
          </a:bodyPr>
          <a:lstStyle/>
          <a:p>
            <a:r>
              <a:rPr sz="1100" b="0">
                <a:solidFill>
                  <a:srgbClr val="2E2E2E"/>
                </a:solidFill>
                <a:latin typeface="Calibri"/>
              </a:rPr>
              <a:t>▪ By Demand Type, 'OEM' leads at</a:t>
            </a:r>
          </a:p>
        </p:txBody>
      </p:sp>
      <p:pic>
        <p:nvPicPr>
          <p:cNvPr id="67" name="Picture 66" descr="lock.png"/>
          <p:cNvPicPr>
            <a:picLocks noChangeAspect="1"/>
          </p:cNvPicPr>
          <p:nvPr/>
        </p:nvPicPr>
        <p:blipFill>
          <a:blip r:embed="rId9"/>
          <a:stretch>
            <a:fillRect/>
          </a:stretch>
        </p:blipFill>
        <p:spPr>
          <a:xfrm>
            <a:off x="2221603" y="6072123"/>
            <a:ext cx="128699" cy="187198"/>
          </a:xfrm>
          <a:prstGeom prst="rect">
            <a:avLst/>
          </a:prstGeom>
        </p:spPr>
      </p:pic>
      <p:sp>
        <p:nvSpPr>
          <p:cNvPr id="68" name="TextBox 67"/>
          <p:cNvSpPr txBox="1"/>
          <p:nvPr/>
        </p:nvSpPr>
        <p:spPr>
          <a:xfrm>
            <a:off x="2389098" y="6081903"/>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9" name="Picture 68" descr="lock.png"/>
          <p:cNvPicPr>
            <a:picLocks noChangeAspect="1"/>
          </p:cNvPicPr>
          <p:nvPr/>
        </p:nvPicPr>
        <p:blipFill>
          <a:blip r:embed="rId9"/>
          <a:stretch>
            <a:fillRect/>
          </a:stretch>
        </p:blipFill>
        <p:spPr>
          <a:xfrm>
            <a:off x="2936679" y="6072123"/>
            <a:ext cx="128699" cy="187198"/>
          </a:xfrm>
          <a:prstGeom prst="rect">
            <a:avLst/>
          </a:prstGeom>
        </p:spPr>
      </p:pic>
      <p:sp>
        <p:nvSpPr>
          <p:cNvPr id="70" name="TextBox 69"/>
          <p:cNvSpPr txBox="1"/>
          <p:nvPr/>
        </p:nvSpPr>
        <p:spPr>
          <a:xfrm>
            <a:off x="3104175" y="6081903"/>
            <a:ext cx="1810717" cy="186689"/>
          </a:xfrm>
          <a:prstGeom prst="rect">
            <a:avLst/>
          </a:prstGeom>
          <a:noFill/>
        </p:spPr>
        <p:txBody>
          <a:bodyPr wrap="none" lIns="0" rIns="0" tIns="0" bIns="0">
            <a:spAutoFit/>
          </a:bodyPr>
          <a:lstStyle/>
          <a:p>
            <a:r>
              <a:rPr sz="1100" b="0">
                <a:solidFill>
                  <a:srgbClr val="2E2E2E"/>
                </a:solidFill>
                <a:latin typeface="Calibri"/>
              </a:rPr>
              <a:t>share), ahead of 'Aftermaket' (</a:t>
            </a:r>
          </a:p>
        </p:txBody>
      </p:sp>
      <p:pic>
        <p:nvPicPr>
          <p:cNvPr id="71" name="Picture 70" descr="lock.png"/>
          <p:cNvPicPr>
            <a:picLocks noChangeAspect="1"/>
          </p:cNvPicPr>
          <p:nvPr/>
        </p:nvPicPr>
        <p:blipFill>
          <a:blip r:embed="rId9"/>
          <a:stretch>
            <a:fillRect/>
          </a:stretch>
        </p:blipFill>
        <p:spPr>
          <a:xfrm>
            <a:off x="4862944" y="6072123"/>
            <a:ext cx="128699" cy="187198"/>
          </a:xfrm>
          <a:prstGeom prst="rect">
            <a:avLst/>
          </a:prstGeom>
        </p:spPr>
      </p:pic>
      <p:sp>
        <p:nvSpPr>
          <p:cNvPr id="72" name="TextBox 71"/>
          <p:cNvSpPr txBox="1"/>
          <p:nvPr/>
        </p:nvSpPr>
        <p:spPr>
          <a:xfrm>
            <a:off x="5030440" y="6081903"/>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73" name="TextBox 72"/>
          <p:cNvSpPr txBox="1"/>
          <p:nvPr/>
        </p:nvSpPr>
        <p:spPr>
          <a:xfrm>
            <a:off x="276225" y="6299835"/>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74" name="lockshield_12"/>
          <p:cNvSpPr/>
          <p:nvPr/>
        </p:nvSpPr>
        <p:spPr>
          <a:xfrm>
            <a:off x="2381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ockshield_15"/>
          <p:cNvSpPr/>
          <p:nvPr/>
        </p:nvSpPr>
        <p:spPr>
          <a:xfrm>
            <a:off x="32480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ockshield_18"/>
          <p:cNvSpPr/>
          <p:nvPr/>
        </p:nvSpPr>
        <p:spPr>
          <a:xfrm>
            <a:off x="62579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ockshield_21"/>
          <p:cNvSpPr/>
          <p:nvPr/>
        </p:nvSpPr>
        <p:spPr>
          <a:xfrm>
            <a:off x="92678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lockshield_24"/>
          <p:cNvSpPr/>
          <p:nvPr/>
        </p:nvSpPr>
        <p:spPr>
          <a:xfrm>
            <a:off x="238125" y="3171825"/>
            <a:ext cx="27813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System Architecture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Vehicle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Gross Vehicle Weight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Propulsion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Demand Type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System Architecture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Segmental Analysis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System Architecture: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System Architecture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System Architecture</a:t>
            </a:r>
          </a:p>
        </p:txBody>
      </p:sp>
      <p:graphicFrame>
        <p:nvGraphicFramePr>
          <p:cNvPr id="15" name="Table 14"/>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2287680"/>
                <a:gridCol w="897535"/>
                <a:gridCol w="897535"/>
                <a:gridCol w="1133490"/>
                <a:gridCol w="641635"/>
              </a:tblGrid>
              <a:tr h="246126">
                <a:tc>
                  <a:txBody>
                    <a:bodyPr wrap="none"/>
                    <a:lstStyle/>
                    <a:p>
                      <a:pPr algn="l"/>
                      <a:r>
                        <a:rPr sz="1100" b="1">
                          <a:solidFill>
                            <a:srgbClr val="0B2E4A"/>
                          </a:solidFill>
                          <a:latin typeface="Calibri"/>
                        </a:rPr>
                        <a:t>System Architecture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Recirculating Ball and Nut Type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Rack Assist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Column Assist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Steer by Wire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System Architecture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067812" y="2237612"/>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Tables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System Architecture,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System Architecture (US$ Mn)</a:t>
            </a:r>
          </a:p>
        </p:txBody>
      </p:sp>
      <p:graphicFrame>
        <p:nvGraphicFramePr>
          <p:cNvPr id="16" name="Table 15"/>
          <p:cNvGraphicFramePr>
            <a:graphicFrameLocks noGrp="1"/>
          </p:cNvGraphicFramePr>
          <p:nvPr/>
        </p:nvGraphicFramePr>
        <p:xfrm>
          <a:off x="152400" y="1238250"/>
          <a:ext cx="11887205" cy="1485896"/>
        </p:xfrm>
        <a:graphic>
          <a:graphicData uri="http://schemas.openxmlformats.org/drawingml/2006/table">
            <a:tbl>
              <a:tblPr>
                <a:tableStyleId>{5C22544A-7EE6-4342-B048-85BDC9FD1C3A}</a:tableStyleId>
              </a:tblPr>
              <a:tblGrid>
                <a:gridCol w="2060865"/>
                <a:gridCol w="578020"/>
                <a:gridCol w="578020"/>
                <a:gridCol w="578020"/>
                <a:gridCol w="578020"/>
                <a:gridCol w="578020"/>
                <a:gridCol w="578020"/>
                <a:gridCol w="578020"/>
                <a:gridCol w="578020"/>
                <a:gridCol w="578020"/>
                <a:gridCol w="578020"/>
                <a:gridCol w="578020"/>
                <a:gridCol w="578020"/>
                <a:gridCol w="578020"/>
                <a:gridCol w="578020"/>
                <a:gridCol w="578020"/>
                <a:gridCol w="578020"/>
                <a:gridCol w="578020"/>
              </a:tblGrid>
              <a:tr h="246126">
                <a:tc>
                  <a:txBody>
                    <a:bodyPr wrap="none"/>
                    <a:lstStyle/>
                    <a:p>
                      <a:pPr algn="l"/>
                      <a:r>
                        <a:rPr sz="1100" b="1">
                          <a:solidFill>
                            <a:srgbClr val="0B2E4A"/>
                          </a:solidFill>
                          <a:latin typeface="Calibri"/>
                        </a:rPr>
                        <a:t>System Architecture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Recirculating Ball and Nut Type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Rack Assist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Column Assist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Steer by Wire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39745" y="1837563"/>
            <a:ext cx="366712" cy="533399"/>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Vehicle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Segmental Analysis Vehicle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Vehicle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Vehicle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Vehicle Type</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1464663"/>
                <a:gridCol w="1098303"/>
                <a:gridCol w="1098303"/>
                <a:gridCol w="1098303"/>
                <a:gridCol w="1098303"/>
              </a:tblGrid>
              <a:tr h="246126">
                <a:tc>
                  <a:txBody>
                    <a:bodyPr wrap="none"/>
                    <a:lstStyle/>
                    <a:p>
                      <a:pPr algn="l"/>
                      <a:r>
                        <a:rPr sz="1100" b="1">
                          <a:solidFill>
                            <a:srgbClr val="0B2E4A"/>
                          </a:solidFill>
                          <a:latin typeface="Calibri"/>
                        </a:rPr>
                        <a:t>Vehicle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Heavy Duty Trucks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Busses and Coaches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Vehicle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656304"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Tables Vehicle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Vehicle Type, 2021–2036</a:t>
            </a:r>
          </a:p>
        </p:txBody>
      </p:sp>
      <p:sp>
        <p:nvSpPr>
          <p:cNvPr id="14" name="Rounded Rectangle 13"/>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Vehicle Type (US$ Mn)</a:t>
            </a:r>
          </a:p>
        </p:txBody>
      </p:sp>
      <p:graphicFrame>
        <p:nvGraphicFramePr>
          <p:cNvPr id="16" name="Table 15"/>
          <p:cNvGraphicFramePr>
            <a:graphicFrameLocks noGrp="1"/>
          </p:cNvGraphicFramePr>
          <p:nvPr/>
        </p:nvGraphicFramePr>
        <p:xfrm>
          <a:off x="152400" y="1238250"/>
          <a:ext cx="11887193" cy="990600"/>
        </p:xfrm>
        <a:graphic>
          <a:graphicData uri="http://schemas.openxmlformats.org/drawingml/2006/table">
            <a:tbl>
              <a:tblPr>
                <a:tableStyleId>{5C22544A-7EE6-4342-B048-85BDC9FD1C3A}</a:tableStyleId>
              </a:tblPr>
              <a:tblGrid>
                <a:gridCol w="1446813"/>
                <a:gridCol w="614140"/>
                <a:gridCol w="614140"/>
                <a:gridCol w="614140"/>
                <a:gridCol w="614140"/>
                <a:gridCol w="614140"/>
                <a:gridCol w="614140"/>
                <a:gridCol w="614140"/>
                <a:gridCol w="614140"/>
                <a:gridCol w="614140"/>
                <a:gridCol w="614140"/>
                <a:gridCol w="614140"/>
                <a:gridCol w="614140"/>
                <a:gridCol w="614140"/>
                <a:gridCol w="614140"/>
                <a:gridCol w="614140"/>
                <a:gridCol w="614140"/>
                <a:gridCol w="614140"/>
              </a:tblGrid>
              <a:tr h="246126">
                <a:tc>
                  <a:txBody>
                    <a:bodyPr wrap="none"/>
                    <a:lstStyle/>
                    <a:p>
                      <a:pPr algn="l"/>
                      <a:r>
                        <a:rPr sz="1100" b="1">
                          <a:solidFill>
                            <a:srgbClr val="0B2E4A"/>
                          </a:solidFill>
                          <a:latin typeface="Calibri"/>
                        </a:rPr>
                        <a:t>Vehicle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Heavy Duty Trucks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Busses and Coaches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32713" y="1589912"/>
            <a:ext cx="366712" cy="533400"/>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Gross Vehicle Weight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Segmental Analysis Gross Vehicle Weight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Gross Vehicle Weight: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Gross Vehicle Weight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Gross Vehicle Weight</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531794"/>
                <a:gridCol w="1081520"/>
                <a:gridCol w="1081520"/>
                <a:gridCol w="1081520"/>
                <a:gridCol w="1081520"/>
              </a:tblGrid>
              <a:tr h="246126">
                <a:tc>
                  <a:txBody>
                    <a:bodyPr wrap="none"/>
                    <a:lstStyle/>
                    <a:p>
                      <a:pPr algn="l"/>
                      <a:r>
                        <a:rPr sz="1100" b="1">
                          <a:solidFill>
                            <a:srgbClr val="0B2E4A"/>
                          </a:solidFill>
                          <a:latin typeface="Calibri"/>
                        </a:rPr>
                        <a:t>Gross Vehicle Weight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16 to 26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26 to 40 Tons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Above 40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Gross Vehicle Weight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68986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Tables Gross Vehicle Weight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Gross Vehicle Weight, 2021–2036</a:t>
            </a:r>
          </a:p>
        </p:txBody>
      </p:sp>
      <p:sp>
        <p:nvSpPr>
          <p:cNvPr id="14" name="Rounded Rectangle 13"/>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Gross Vehicle Weight (US$ Mn)</a:t>
            </a:r>
          </a:p>
        </p:txBody>
      </p:sp>
      <p:graphicFrame>
        <p:nvGraphicFramePr>
          <p:cNvPr id="16" name="Table 15"/>
          <p:cNvGraphicFramePr>
            <a:graphicFrameLocks noGrp="1"/>
          </p:cNvGraphicFramePr>
          <p:nvPr/>
        </p:nvGraphicFramePr>
        <p:xfrm>
          <a:off x="152400" y="1238250"/>
          <a:ext cx="11887198" cy="1238250"/>
        </p:xfrm>
        <a:graphic>
          <a:graphicData uri="http://schemas.openxmlformats.org/drawingml/2006/table">
            <a:tbl>
              <a:tblPr>
                <a:tableStyleId>{5C22544A-7EE6-4342-B048-85BDC9FD1C3A}</a:tableStyleId>
              </a:tblPr>
              <a:tblGrid>
                <a:gridCol w="1525086"/>
                <a:gridCol w="609536"/>
                <a:gridCol w="609536"/>
                <a:gridCol w="609536"/>
                <a:gridCol w="609536"/>
                <a:gridCol w="609536"/>
                <a:gridCol w="609536"/>
                <a:gridCol w="609536"/>
                <a:gridCol w="609536"/>
                <a:gridCol w="609536"/>
                <a:gridCol w="609536"/>
                <a:gridCol w="609536"/>
                <a:gridCol w="609536"/>
                <a:gridCol w="609536"/>
                <a:gridCol w="609536"/>
                <a:gridCol w="609536"/>
                <a:gridCol w="609536"/>
                <a:gridCol w="609536"/>
              </a:tblGrid>
              <a:tr h="246126">
                <a:tc>
                  <a:txBody>
                    <a:bodyPr wrap="none"/>
                    <a:lstStyle/>
                    <a:p>
                      <a:pPr algn="l"/>
                      <a:r>
                        <a:rPr sz="1100" b="1">
                          <a:solidFill>
                            <a:srgbClr val="0B2E4A"/>
                          </a:solidFill>
                          <a:latin typeface="Calibri"/>
                        </a:rPr>
                        <a:t>Gross Vehicle Weight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16 to 26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26 to 40 Tons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Above 40 Tons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71851" y="1713737"/>
            <a:ext cx="366712" cy="53340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Propulsion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Segmental Analysis Propulsion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Propulsion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Propulsion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Propulsion Type</a:t>
            </a:r>
          </a:p>
        </p:txBody>
      </p:sp>
      <p:graphicFrame>
        <p:nvGraphicFramePr>
          <p:cNvPr id="15" name="Table 14"/>
          <p:cNvGraphicFramePr>
            <a:graphicFrameLocks noGrp="1"/>
          </p:cNvGraphicFramePr>
          <p:nvPr/>
        </p:nvGraphicFramePr>
        <p:xfrm>
          <a:off x="6181725" y="1238250"/>
          <a:ext cx="5857877" cy="2286000"/>
        </p:xfrm>
        <a:graphic>
          <a:graphicData uri="http://schemas.openxmlformats.org/drawingml/2006/table">
            <a:tbl>
              <a:tblPr>
                <a:tableStyleId>{5C22544A-7EE6-4342-B048-85BDC9FD1C3A}</a:tableStyleId>
              </a:tblPr>
              <a:tblGrid>
                <a:gridCol w="1830197"/>
                <a:gridCol w="1006920"/>
                <a:gridCol w="1006920"/>
                <a:gridCol w="1006920"/>
                <a:gridCol w="1006920"/>
              </a:tblGrid>
              <a:tr h="246126">
                <a:tc>
                  <a:txBody>
                    <a:bodyPr wrap="none"/>
                    <a:lstStyle/>
                    <a:p>
                      <a:pPr algn="l"/>
                      <a:r>
                        <a:rPr sz="1100" b="1">
                          <a:solidFill>
                            <a:srgbClr val="0B2E4A"/>
                          </a:solidFill>
                          <a:latin typeface="Calibri"/>
                        </a:rPr>
                        <a:t>Propulsion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Electric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Hybrid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Propulsion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39072"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Tables Propulsion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Propulsion Type, 2021–2036</a:t>
            </a:r>
          </a:p>
        </p:txBody>
      </p:sp>
      <p:sp>
        <p:nvSpPr>
          <p:cNvPr id="14" name="Rounded Rectangle 13"/>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Propulsion Type (US$ Mn)</a:t>
            </a:r>
          </a:p>
        </p:txBody>
      </p:sp>
      <p:graphicFrame>
        <p:nvGraphicFramePr>
          <p:cNvPr id="16" name="Table 15"/>
          <p:cNvGraphicFramePr>
            <a:graphicFrameLocks noGrp="1"/>
          </p:cNvGraphicFramePr>
          <p:nvPr/>
        </p:nvGraphicFramePr>
        <p:xfrm>
          <a:off x="152400" y="1238250"/>
          <a:ext cx="11887205" cy="1238250"/>
        </p:xfrm>
        <a:graphic>
          <a:graphicData uri="http://schemas.openxmlformats.org/drawingml/2006/table">
            <a:tbl>
              <a:tblPr>
                <a:tableStyleId>{5C22544A-7EE6-4342-B048-85BDC9FD1C3A}</a:tableStyleId>
              </a:tblPr>
              <a:tblGrid>
                <a:gridCol w="1888536"/>
                <a:gridCol w="588157"/>
                <a:gridCol w="588157"/>
                <a:gridCol w="588157"/>
                <a:gridCol w="588157"/>
                <a:gridCol w="588157"/>
                <a:gridCol w="588157"/>
                <a:gridCol w="588157"/>
                <a:gridCol w="588157"/>
                <a:gridCol w="588157"/>
                <a:gridCol w="588157"/>
                <a:gridCol w="588157"/>
                <a:gridCol w="588157"/>
                <a:gridCol w="588157"/>
                <a:gridCol w="588157"/>
                <a:gridCol w="588157"/>
                <a:gridCol w="588157"/>
                <a:gridCol w="588157"/>
              </a:tblGrid>
              <a:tr h="246126">
                <a:tc>
                  <a:txBody>
                    <a:bodyPr wrap="none"/>
                    <a:lstStyle/>
                    <a:p>
                      <a:pPr algn="l"/>
                      <a:r>
                        <a:rPr sz="1100" b="1">
                          <a:solidFill>
                            <a:srgbClr val="0B2E4A"/>
                          </a:solidFill>
                          <a:latin typeface="Calibri"/>
                        </a:rPr>
                        <a:t>Propulsion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Electric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Hybrid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53580" y="1713737"/>
            <a:ext cx="366712" cy="533400"/>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Demand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Segmental Analysis Demand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Germany segmental analysis by Demand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Demand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Demand Type</a:t>
            </a:r>
          </a:p>
        </p:txBody>
      </p:sp>
      <p:graphicFrame>
        <p:nvGraphicFramePr>
          <p:cNvPr id="15" name="Table 14"/>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1133660"/>
                <a:gridCol w="1181054"/>
                <a:gridCol w="1181054"/>
                <a:gridCol w="1181054"/>
                <a:gridCol w="1181054"/>
              </a:tblGrid>
              <a:tr h="246126">
                <a:tc>
                  <a:txBody>
                    <a:bodyPr wrap="none"/>
                    <a:lstStyle/>
                    <a:p>
                      <a:pPr algn="l"/>
                      <a:r>
                        <a:rPr sz="1100" b="1">
                          <a:solidFill>
                            <a:srgbClr val="0B2E4A"/>
                          </a:solidFill>
                          <a:latin typeface="Calibri"/>
                        </a:rPr>
                        <a:t>Demand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OEM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Aftermaket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Demand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490802"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Germany Heavy Commercial Vehicle EPS Market Tables Demand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Germany market by Demand Type, 2021–2036</a:t>
            </a:r>
          </a:p>
        </p:txBody>
      </p:sp>
      <p:sp>
        <p:nvSpPr>
          <p:cNvPr id="14" name="Rounded Rectangle 13"/>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Germany Value, By Demand Type (US$ Mn)</a:t>
            </a:r>
          </a:p>
        </p:txBody>
      </p:sp>
      <p:graphicFrame>
        <p:nvGraphicFramePr>
          <p:cNvPr id="16" name="Table 15"/>
          <p:cNvGraphicFramePr>
            <a:graphicFrameLocks noGrp="1"/>
          </p:cNvGraphicFramePr>
          <p:nvPr/>
        </p:nvGraphicFramePr>
        <p:xfrm>
          <a:off x="152400" y="1238250"/>
          <a:ext cx="11887196" cy="990600"/>
        </p:xfrm>
        <a:graphic>
          <a:graphicData uri="http://schemas.openxmlformats.org/drawingml/2006/table">
            <a:tbl>
              <a:tblPr>
                <a:tableStyleId>{5C22544A-7EE6-4342-B048-85BDC9FD1C3A}</a:tableStyleId>
              </a:tblPr>
              <a:tblGrid>
                <a:gridCol w="1078154"/>
                <a:gridCol w="635826"/>
                <a:gridCol w="635826"/>
                <a:gridCol w="635826"/>
                <a:gridCol w="635826"/>
                <a:gridCol w="635826"/>
                <a:gridCol w="635826"/>
                <a:gridCol w="635826"/>
                <a:gridCol w="635826"/>
                <a:gridCol w="635826"/>
                <a:gridCol w="635826"/>
                <a:gridCol w="635826"/>
                <a:gridCol w="635826"/>
                <a:gridCol w="635826"/>
                <a:gridCol w="635826"/>
                <a:gridCol w="635826"/>
                <a:gridCol w="635826"/>
                <a:gridCol w="635826"/>
              </a:tblGrid>
              <a:tr h="246126">
                <a:tc>
                  <a:txBody>
                    <a:bodyPr wrap="none"/>
                    <a:lstStyle/>
                    <a:p>
                      <a:pPr algn="l"/>
                      <a:r>
                        <a:rPr sz="1100" b="1">
                          <a:solidFill>
                            <a:srgbClr val="0B2E4A"/>
                          </a:solidFill>
                          <a:latin typeface="Calibri"/>
                        </a:rPr>
                        <a:t>Demand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OEM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Aftermaket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448385" y="1589912"/>
            <a:ext cx="366712" cy="53340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71051"/>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387.1</a:t>
            </a:r>
          </a:p>
        </p:txBody>
      </p:sp>
      <p:sp>
        <p:nvSpPr>
          <p:cNvPr id="14" name="TextBox 13"/>
          <p:cNvSpPr txBox="1"/>
          <p:nvPr/>
        </p:nvSpPr>
        <p:spPr>
          <a:xfrm>
            <a:off x="219075" y="256100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667.9</a:t>
            </a:r>
          </a:p>
        </p:txBody>
      </p:sp>
      <p:sp>
        <p:nvSpPr>
          <p:cNvPr id="15" name="TextBox 14"/>
          <p:cNvSpPr txBox="1"/>
          <p:nvPr/>
        </p:nvSpPr>
        <p:spPr>
          <a:xfrm>
            <a:off x="219075" y="1650949"/>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948.8</a:t>
            </a:r>
          </a:p>
        </p:txBody>
      </p:sp>
      <p:cxnSp>
        <p:nvCxnSpPr>
          <p:cNvPr id="16" name="Connector 15"/>
          <p:cNvCxnSpPr/>
          <p:nvPr/>
        </p:nvCxnSpPr>
        <p:spPr>
          <a:xfrm>
            <a:off x="1533525" y="3238763"/>
            <a:ext cx="0" cy="8895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314450" y="3238763"/>
            <a:ext cx="438150" cy="8895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3086363"/>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Recirculating Ball an…</a:t>
            </a:r>
          </a:p>
        </p:txBody>
      </p:sp>
      <p:cxnSp>
        <p:nvCxnSpPr>
          <p:cNvPr id="20" name="Connector 19"/>
          <p:cNvCxnSpPr/>
          <p:nvPr/>
        </p:nvCxnSpPr>
        <p:spPr>
          <a:xfrm>
            <a:off x="3286125" y="1927636"/>
            <a:ext cx="0" cy="18389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067050" y="1927636"/>
            <a:ext cx="438150" cy="18389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09825" y="1775236"/>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24098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Rack Assist</a:t>
            </a:r>
          </a:p>
        </p:txBody>
      </p:sp>
      <p:cxnSp>
        <p:nvCxnSpPr>
          <p:cNvPr id="24" name="Connector 23"/>
          <p:cNvCxnSpPr/>
          <p:nvPr/>
        </p:nvCxnSpPr>
        <p:spPr>
          <a:xfrm>
            <a:off x="5038725" y="2439674"/>
            <a:ext cx="0" cy="12963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819650" y="2439674"/>
            <a:ext cx="438150" cy="12963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62425" y="2287274"/>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41624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Column Assist</a:t>
            </a:r>
          </a:p>
        </p:txBody>
      </p:sp>
      <p:cxnSp>
        <p:nvCxnSpPr>
          <p:cNvPr id="28" name="Connector 27"/>
          <p:cNvCxnSpPr/>
          <p:nvPr/>
        </p:nvCxnSpPr>
        <p:spPr>
          <a:xfrm>
            <a:off x="6791325" y="2028960"/>
            <a:ext cx="0" cy="17184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572250" y="2028960"/>
            <a:ext cx="438150" cy="17184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15025" y="1876560"/>
            <a:ext cx="17526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5915025" y="3566301"/>
            <a:ext cx="1752600" cy="285750"/>
          </a:xfrm>
          <a:prstGeom prst="rect">
            <a:avLst/>
          </a:prstGeom>
          <a:noFill/>
        </p:spPr>
        <p:txBody>
          <a:bodyPr wrap="square" lIns="28575" rIns="28575" tIns="9525" bIns="9525">
            <a:spAutoFit/>
          </a:bodyPr>
          <a:lstStyle/>
          <a:p>
            <a:pPr algn="ctr"/>
            <a:r>
              <a:rPr sz="1100" b="0">
                <a:solidFill>
                  <a:srgbClr val="2E2E2E"/>
                </a:solidFill>
                <a:latin typeface="Calibri"/>
              </a:rPr>
              <a:t>Steer by Wire</a:t>
            </a:r>
          </a:p>
        </p:txBody>
      </p:sp>
      <p:sp>
        <p:nvSpPr>
          <p:cNvPr id="32" name="Rounded Rectangle 31"/>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34" name="Connector 33"/>
          <p:cNvCxnSpPr/>
          <p:nvPr/>
        </p:nvCxnSpPr>
        <p:spPr>
          <a:xfrm>
            <a:off x="619125" y="452016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9125" y="488473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9125" y="561386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9125" y="597842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9125" y="4520169"/>
            <a:ext cx="0" cy="1458257"/>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90550" y="452016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0550" y="488473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0550" y="561386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90550" y="597842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45" name="FMI Scale tick"/>
          <p:cNvSpPr txBox="1"/>
          <p:nvPr/>
        </p:nvSpPr>
        <p:spPr>
          <a:xfrm>
            <a:off x="219075" y="4453494"/>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sp>
        <p:nvSpPr>
          <p:cNvPr id="46" name="FMI Scale tick"/>
          <p:cNvSpPr txBox="1"/>
          <p:nvPr/>
        </p:nvSpPr>
        <p:spPr>
          <a:xfrm>
            <a:off x="219075" y="4818059"/>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47"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8" name="FMI Scale tick"/>
          <p:cNvSpPr txBox="1"/>
          <p:nvPr/>
        </p:nvSpPr>
        <p:spPr>
          <a:xfrm>
            <a:off x="219075" y="5547187"/>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49" name="FMI Scale tick"/>
          <p:cNvSpPr txBox="1"/>
          <p:nvPr/>
        </p:nvSpPr>
        <p:spPr>
          <a:xfrm>
            <a:off x="219075" y="5911751"/>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cxnSp>
        <p:nvCxnSpPr>
          <p:cNvPr id="50" name="Connector 49"/>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93989"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Data Label"/>
          <p:cNvSpPr txBox="1"/>
          <p:nvPr/>
        </p:nvSpPr>
        <p:spPr>
          <a:xfrm>
            <a:off x="619125" y="4471232"/>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3" name="Rectangle 52"/>
          <p:cNvSpPr/>
          <p:nvPr/>
        </p:nvSpPr>
        <p:spPr>
          <a:xfrm>
            <a:off x="1900918" y="5122180"/>
            <a:ext cx="457200" cy="12711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MI Data Label"/>
          <p:cNvSpPr txBox="1"/>
          <p:nvPr/>
        </p:nvSpPr>
        <p:spPr>
          <a:xfrm>
            <a:off x="1626054" y="497930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5" name="Rectangle 54"/>
          <p:cNvSpPr/>
          <p:nvPr/>
        </p:nvSpPr>
        <p:spPr>
          <a:xfrm>
            <a:off x="2907846" y="5249298"/>
            <a:ext cx="457200" cy="2415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MI Data Label"/>
          <p:cNvSpPr txBox="1"/>
          <p:nvPr/>
        </p:nvSpPr>
        <p:spPr>
          <a:xfrm>
            <a:off x="2632982" y="5500358"/>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7" name="Rectangle 56"/>
          <p:cNvSpPr/>
          <p:nvPr/>
        </p:nvSpPr>
        <p:spPr>
          <a:xfrm>
            <a:off x="3914775" y="5249298"/>
            <a:ext cx="457200" cy="30483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MI Data Label"/>
          <p:cNvSpPr txBox="1"/>
          <p:nvPr/>
        </p:nvSpPr>
        <p:spPr>
          <a:xfrm>
            <a:off x="3639911" y="556365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9" name="Rectangle 58"/>
          <p:cNvSpPr/>
          <p:nvPr/>
        </p:nvSpPr>
        <p:spPr>
          <a:xfrm>
            <a:off x="4921704" y="4706865"/>
            <a:ext cx="457200" cy="54243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4646839" y="4563990"/>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1" name="Rectangle 60"/>
          <p:cNvSpPr/>
          <p:nvPr/>
        </p:nvSpPr>
        <p:spPr>
          <a:xfrm>
            <a:off x="5928632" y="4831849"/>
            <a:ext cx="457200" cy="41744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5653768" y="4688974"/>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3" name="Rectangle 62"/>
          <p:cNvSpPr/>
          <p:nvPr/>
        </p:nvSpPr>
        <p:spPr>
          <a:xfrm>
            <a:off x="6935561" y="5222034"/>
            <a:ext cx="457200" cy="2726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6660696" y="5079159"/>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TextBox 64"/>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66" name="TextBox 65"/>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67" name="TextBox 66"/>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68" name="TextBox 67"/>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9" name="TextBox 68"/>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70" name="TextBox 69"/>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71" name="TextBox 70"/>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72" name="Rounded Rectangle 71"/>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4" name="Rectangle 73"/>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lock.png"/>
          <p:cNvPicPr>
            <a:picLocks noChangeAspect="1"/>
          </p:cNvPicPr>
          <p:nvPr/>
        </p:nvPicPr>
        <p:blipFill>
          <a:blip r:embed="rId4"/>
          <a:stretch>
            <a:fillRect/>
          </a:stretch>
        </p:blipFill>
        <p:spPr>
          <a:xfrm>
            <a:off x="1469175" y="3059439"/>
            <a:ext cx="128699" cy="187198"/>
          </a:xfrm>
          <a:prstGeom prst="rect">
            <a:avLst/>
          </a:prstGeom>
        </p:spPr>
      </p:pic>
      <p:pic>
        <p:nvPicPr>
          <p:cNvPr id="78" name="Picture 77" descr="lock.png"/>
          <p:cNvPicPr>
            <a:picLocks noChangeAspect="1"/>
          </p:cNvPicPr>
          <p:nvPr/>
        </p:nvPicPr>
        <p:blipFill>
          <a:blip r:embed="rId4"/>
          <a:stretch>
            <a:fillRect/>
          </a:stretch>
        </p:blipFill>
        <p:spPr>
          <a:xfrm>
            <a:off x="3221775" y="1748312"/>
            <a:ext cx="128699" cy="187198"/>
          </a:xfrm>
          <a:prstGeom prst="rect">
            <a:avLst/>
          </a:prstGeom>
        </p:spPr>
      </p:pic>
      <p:pic>
        <p:nvPicPr>
          <p:cNvPr id="79" name="Picture 78" descr="lock.png"/>
          <p:cNvPicPr>
            <a:picLocks noChangeAspect="1"/>
          </p:cNvPicPr>
          <p:nvPr/>
        </p:nvPicPr>
        <p:blipFill>
          <a:blip r:embed="rId4"/>
          <a:stretch>
            <a:fillRect/>
          </a:stretch>
        </p:blipFill>
        <p:spPr>
          <a:xfrm>
            <a:off x="4974375" y="2260350"/>
            <a:ext cx="128699" cy="187198"/>
          </a:xfrm>
          <a:prstGeom prst="rect">
            <a:avLst/>
          </a:prstGeom>
        </p:spPr>
      </p:pic>
      <p:pic>
        <p:nvPicPr>
          <p:cNvPr id="80" name="Picture 79" descr="lock.png"/>
          <p:cNvPicPr>
            <a:picLocks noChangeAspect="1"/>
          </p:cNvPicPr>
          <p:nvPr/>
        </p:nvPicPr>
        <p:blipFill>
          <a:blip r:embed="rId4"/>
          <a:stretch>
            <a:fillRect/>
          </a:stretch>
        </p:blipFill>
        <p:spPr>
          <a:xfrm>
            <a:off x="6726975" y="1849636"/>
            <a:ext cx="128699" cy="187198"/>
          </a:xfrm>
          <a:prstGeom prst="rect">
            <a:avLst/>
          </a:prstGeom>
        </p:spPr>
      </p:pic>
      <p:pic>
        <p:nvPicPr>
          <p:cNvPr id="81" name="Picture 80" descr="lock.png"/>
          <p:cNvPicPr>
            <a:picLocks noChangeAspect="1"/>
          </p:cNvPicPr>
          <p:nvPr/>
        </p:nvPicPr>
        <p:blipFill>
          <a:blip r:embed="rId4"/>
          <a:stretch>
            <a:fillRect/>
          </a:stretch>
        </p:blipFill>
        <p:spPr>
          <a:xfrm>
            <a:off x="1058240" y="4444308"/>
            <a:ext cx="128699" cy="187198"/>
          </a:xfrm>
          <a:prstGeom prst="rect">
            <a:avLst/>
          </a:prstGeom>
        </p:spPr>
      </p:pic>
      <p:pic>
        <p:nvPicPr>
          <p:cNvPr id="82" name="Picture 81" descr="lock.png"/>
          <p:cNvPicPr>
            <a:picLocks noChangeAspect="1"/>
          </p:cNvPicPr>
          <p:nvPr/>
        </p:nvPicPr>
        <p:blipFill>
          <a:blip r:embed="rId4"/>
          <a:stretch>
            <a:fillRect/>
          </a:stretch>
        </p:blipFill>
        <p:spPr>
          <a:xfrm>
            <a:off x="2065168" y="4952381"/>
            <a:ext cx="128699" cy="187198"/>
          </a:xfrm>
          <a:prstGeom prst="rect">
            <a:avLst/>
          </a:prstGeom>
        </p:spPr>
      </p:pic>
      <p:pic>
        <p:nvPicPr>
          <p:cNvPr id="83" name="Picture 82" descr="lock.png"/>
          <p:cNvPicPr>
            <a:picLocks noChangeAspect="1"/>
          </p:cNvPicPr>
          <p:nvPr/>
        </p:nvPicPr>
        <p:blipFill>
          <a:blip r:embed="rId4"/>
          <a:stretch>
            <a:fillRect/>
          </a:stretch>
        </p:blipFill>
        <p:spPr>
          <a:xfrm>
            <a:off x="3072097" y="5473433"/>
            <a:ext cx="128699" cy="187198"/>
          </a:xfrm>
          <a:prstGeom prst="rect">
            <a:avLst/>
          </a:prstGeom>
        </p:spPr>
      </p:pic>
      <p:pic>
        <p:nvPicPr>
          <p:cNvPr id="84" name="Picture 83" descr="lock.png"/>
          <p:cNvPicPr>
            <a:picLocks noChangeAspect="1"/>
          </p:cNvPicPr>
          <p:nvPr/>
        </p:nvPicPr>
        <p:blipFill>
          <a:blip r:embed="rId4"/>
          <a:stretch>
            <a:fillRect/>
          </a:stretch>
        </p:blipFill>
        <p:spPr>
          <a:xfrm>
            <a:off x="4079026" y="5536730"/>
            <a:ext cx="128699" cy="187198"/>
          </a:xfrm>
          <a:prstGeom prst="rect">
            <a:avLst/>
          </a:prstGeom>
        </p:spPr>
      </p:pic>
      <p:pic>
        <p:nvPicPr>
          <p:cNvPr id="85" name="Picture 84" descr="lock.png"/>
          <p:cNvPicPr>
            <a:picLocks noChangeAspect="1"/>
          </p:cNvPicPr>
          <p:nvPr/>
        </p:nvPicPr>
        <p:blipFill>
          <a:blip r:embed="rId4"/>
          <a:stretch>
            <a:fillRect/>
          </a:stretch>
        </p:blipFill>
        <p:spPr>
          <a:xfrm>
            <a:off x="5085954" y="4537066"/>
            <a:ext cx="128699" cy="187198"/>
          </a:xfrm>
          <a:prstGeom prst="rect">
            <a:avLst/>
          </a:prstGeom>
        </p:spPr>
      </p:pic>
      <p:pic>
        <p:nvPicPr>
          <p:cNvPr id="86" name="Picture 85" descr="lock.png"/>
          <p:cNvPicPr>
            <a:picLocks noChangeAspect="1"/>
          </p:cNvPicPr>
          <p:nvPr/>
        </p:nvPicPr>
        <p:blipFill>
          <a:blip r:embed="rId4"/>
          <a:stretch>
            <a:fillRect/>
          </a:stretch>
        </p:blipFill>
        <p:spPr>
          <a:xfrm>
            <a:off x="6092883" y="4662050"/>
            <a:ext cx="128699" cy="187198"/>
          </a:xfrm>
          <a:prstGeom prst="rect">
            <a:avLst/>
          </a:prstGeom>
        </p:spPr>
      </p:pic>
      <p:pic>
        <p:nvPicPr>
          <p:cNvPr id="87" name="Picture 86" descr="lock.png"/>
          <p:cNvPicPr>
            <a:picLocks noChangeAspect="1"/>
          </p:cNvPicPr>
          <p:nvPr/>
        </p:nvPicPr>
        <p:blipFill>
          <a:blip r:embed="rId4"/>
          <a:stretch>
            <a:fillRect/>
          </a:stretch>
        </p:blipFill>
        <p:spPr>
          <a:xfrm>
            <a:off x="7099811" y="5052235"/>
            <a:ext cx="128699" cy="187198"/>
          </a:xfrm>
          <a:prstGeom prst="rect">
            <a:avLst/>
          </a:prstGeom>
        </p:spPr>
      </p:pic>
      <p:sp>
        <p:nvSpPr>
          <p:cNvPr id="88" name="TextBox 87"/>
          <p:cNvSpPr txBox="1"/>
          <p:nvPr/>
        </p:nvSpPr>
        <p:spPr>
          <a:xfrm>
            <a:off x="8048625" y="1736673"/>
            <a:ext cx="3306129"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system</a:t>
            </a:r>
          </a:p>
        </p:txBody>
      </p:sp>
      <p:sp>
        <p:nvSpPr>
          <p:cNvPr id="89" name="TextBox 88"/>
          <p:cNvSpPr txBox="1"/>
          <p:nvPr/>
        </p:nvSpPr>
        <p:spPr>
          <a:xfrm>
            <a:off x="8048625" y="1911934"/>
            <a:ext cx="3589574" cy="194310"/>
          </a:xfrm>
          <a:prstGeom prst="rect">
            <a:avLst/>
          </a:prstGeom>
          <a:noFill/>
        </p:spPr>
        <p:txBody>
          <a:bodyPr wrap="none" lIns="0" rIns="0" tIns="0" bIns="0">
            <a:spAutoFit/>
          </a:bodyPr>
          <a:lstStyle/>
          <a:p>
            <a:r>
              <a:rPr sz="1150" b="0">
                <a:solidFill>
                  <a:srgbClr val="2E2E2E"/>
                </a:solidFill>
                <a:latin typeface="Calibri"/>
              </a:rPr>
              <a:t>architecture types in USD, harmonised across regions. Each</a:t>
            </a:r>
          </a:p>
        </p:txBody>
      </p:sp>
      <p:sp>
        <p:nvSpPr>
          <p:cNvPr id="90" name="TextBox 89"/>
          <p:cNvSpPr txBox="1"/>
          <p:nvPr/>
        </p:nvSpPr>
        <p:spPr>
          <a:xfrm>
            <a:off x="8048625" y="2087194"/>
            <a:ext cx="3663553" cy="194310"/>
          </a:xfrm>
          <a:prstGeom prst="rect">
            <a:avLst/>
          </a:prstGeom>
          <a:noFill/>
        </p:spPr>
        <p:txBody>
          <a:bodyPr wrap="none" lIns="0" rIns="0" tIns="0" bIns="0">
            <a:spAutoFit/>
          </a:bodyPr>
          <a:lstStyle/>
          <a:p>
            <a:r>
              <a:rPr sz="1150" b="0">
                <a:solidFill>
                  <a:srgbClr val="2E2E2E"/>
                </a:solidFill>
                <a:latin typeface="Calibri"/>
              </a:rPr>
              <a:t>candlestick spans the minimum-to-maximum observed price</a:t>
            </a:r>
          </a:p>
        </p:txBody>
      </p:sp>
      <p:sp>
        <p:nvSpPr>
          <p:cNvPr id="91" name="TextBox 90"/>
          <p:cNvSpPr txBox="1"/>
          <p:nvPr/>
        </p:nvSpPr>
        <p:spPr>
          <a:xfrm>
            <a:off x="8048625" y="2262454"/>
            <a:ext cx="3542890" cy="194310"/>
          </a:xfrm>
          <a:prstGeom prst="rect">
            <a:avLst/>
          </a:prstGeom>
          <a:noFill/>
        </p:spPr>
        <p:txBody>
          <a:bodyPr wrap="none" lIns="0" rIns="0" tIns="0" bIns="0">
            <a:spAutoFit/>
          </a:bodyPr>
          <a:lstStyle/>
          <a:p>
            <a:r>
              <a:rPr sz="1150" b="0">
                <a:solidFill>
                  <a:srgbClr val="2E2E2E"/>
                </a:solidFill>
                <a:latin typeface="Calibri"/>
              </a:rPr>
              <a:t>within the base year, giving a clear read of price range and</a:t>
            </a:r>
          </a:p>
        </p:txBody>
      </p:sp>
      <p:sp>
        <p:nvSpPr>
          <p:cNvPr id="92" name="TextBox 91"/>
          <p:cNvSpPr txBox="1"/>
          <p:nvPr/>
        </p:nvSpPr>
        <p:spPr>
          <a:xfrm>
            <a:off x="8048625" y="2437714"/>
            <a:ext cx="1184411" cy="194310"/>
          </a:xfrm>
          <a:prstGeom prst="rect">
            <a:avLst/>
          </a:prstGeom>
          <a:noFill/>
        </p:spPr>
        <p:txBody>
          <a:bodyPr wrap="none" lIns="0" rIns="0" tIns="0" bIns="0">
            <a:spAutoFit/>
          </a:bodyPr>
          <a:lstStyle/>
          <a:p>
            <a:r>
              <a:rPr sz="1150" b="0">
                <a:solidFill>
                  <a:srgbClr val="2E2E2E"/>
                </a:solidFill>
                <a:latin typeface="Calibri"/>
              </a:rPr>
              <a:t>market dispersion.</a:t>
            </a:r>
          </a:p>
        </p:txBody>
      </p:sp>
      <p:sp>
        <p:nvSpPr>
          <p:cNvPr id="93" name="TextBox 92"/>
          <p:cNvSpPr txBox="1"/>
          <p:nvPr/>
        </p:nvSpPr>
        <p:spPr>
          <a:xfrm>
            <a:off x="8048625" y="2665551"/>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94" name="TextBox 93"/>
          <p:cNvSpPr txBox="1"/>
          <p:nvPr/>
        </p:nvSpPr>
        <p:spPr>
          <a:xfrm>
            <a:off x="8048625" y="2840811"/>
            <a:ext cx="3288158" cy="194310"/>
          </a:xfrm>
          <a:prstGeom prst="rect">
            <a:avLst/>
          </a:prstGeom>
          <a:noFill/>
        </p:spPr>
        <p:txBody>
          <a:bodyPr wrap="none" lIns="0" rIns="0" tIns="0" bIns="0">
            <a:spAutoFit/>
          </a:bodyPr>
          <a:lstStyle/>
          <a:p>
            <a:r>
              <a:rPr sz="1150" b="0">
                <a:solidFill>
                  <a:srgbClr val="2E2E2E"/>
                </a:solidFill>
                <a:latin typeface="Calibri"/>
              </a:rPr>
              <a:t>price levels 'Rack Assist' shows the most movement (+</a:t>
            </a:r>
          </a:p>
        </p:txBody>
      </p:sp>
      <p:pic>
        <p:nvPicPr>
          <p:cNvPr id="95" name="Picture 94" descr="lock.png"/>
          <p:cNvPicPr>
            <a:picLocks noChangeAspect="1"/>
          </p:cNvPicPr>
          <p:nvPr/>
        </p:nvPicPr>
        <p:blipFill>
          <a:blip r:embed="rId4"/>
          <a:stretch>
            <a:fillRect/>
          </a:stretch>
        </p:blipFill>
        <p:spPr>
          <a:xfrm>
            <a:off x="11285937" y="2830588"/>
            <a:ext cx="134549" cy="195707"/>
          </a:xfrm>
          <a:prstGeom prst="rect">
            <a:avLst/>
          </a:prstGeom>
        </p:spPr>
      </p:pic>
      <p:sp>
        <p:nvSpPr>
          <p:cNvPr id="96" name="TextBox 95"/>
          <p:cNvSpPr txBox="1"/>
          <p:nvPr/>
        </p:nvSpPr>
        <p:spPr>
          <a:xfrm>
            <a:off x="11461047" y="2840811"/>
            <a:ext cx="376857" cy="194310"/>
          </a:xfrm>
          <a:prstGeom prst="rect">
            <a:avLst/>
          </a:prstGeom>
          <a:noFill/>
        </p:spPr>
        <p:txBody>
          <a:bodyPr wrap="none" lIns="0" rIns="0" tIns="0" bIns="0">
            <a:spAutoFit/>
          </a:bodyPr>
          <a:lstStyle/>
          <a:p>
            <a:r>
              <a:rPr sz="1150" b="0">
                <a:solidFill>
                  <a:srgbClr val="2E2E2E"/>
                </a:solidFill>
                <a:latin typeface="Calibri"/>
              </a:rPr>
              <a:t>) and</a:t>
            </a:r>
          </a:p>
        </p:txBody>
      </p:sp>
      <p:sp>
        <p:nvSpPr>
          <p:cNvPr id="97" name="TextBox 96"/>
          <p:cNvSpPr txBox="1"/>
          <p:nvPr/>
        </p:nvSpPr>
        <p:spPr>
          <a:xfrm>
            <a:off x="8048625" y="3016071"/>
            <a:ext cx="1667916" cy="194310"/>
          </a:xfrm>
          <a:prstGeom prst="rect">
            <a:avLst/>
          </a:prstGeom>
          <a:noFill/>
        </p:spPr>
        <p:txBody>
          <a:bodyPr wrap="none" lIns="0" rIns="0" tIns="0" bIns="0">
            <a:spAutoFit/>
          </a:bodyPr>
          <a:lstStyle/>
          <a:p>
            <a:r>
              <a:rPr sz="1150" b="0">
                <a:solidFill>
                  <a:srgbClr val="2E2E2E"/>
                </a:solidFill>
                <a:latin typeface="Calibri"/>
              </a:rPr>
              <a:t>'Column Assist' the least (+</a:t>
            </a:r>
          </a:p>
        </p:txBody>
      </p:sp>
      <p:pic>
        <p:nvPicPr>
          <p:cNvPr id="98" name="Picture 97" descr="lock.png"/>
          <p:cNvPicPr>
            <a:picLocks noChangeAspect="1"/>
          </p:cNvPicPr>
          <p:nvPr/>
        </p:nvPicPr>
        <p:blipFill>
          <a:blip r:embed="rId4"/>
          <a:stretch>
            <a:fillRect/>
          </a:stretch>
        </p:blipFill>
        <p:spPr>
          <a:xfrm>
            <a:off x="9665695" y="3005848"/>
            <a:ext cx="134549" cy="195707"/>
          </a:xfrm>
          <a:prstGeom prst="rect">
            <a:avLst/>
          </a:prstGeom>
        </p:spPr>
      </p:pic>
      <p:sp>
        <p:nvSpPr>
          <p:cNvPr id="99" name="TextBox 98"/>
          <p:cNvSpPr txBox="1"/>
          <p:nvPr/>
        </p:nvSpPr>
        <p:spPr>
          <a:xfrm>
            <a:off x="9840805" y="3016071"/>
            <a:ext cx="1961157" cy="194310"/>
          </a:xfrm>
          <a:prstGeom prst="rect">
            <a:avLst/>
          </a:prstGeom>
          <a:noFill/>
        </p:spPr>
        <p:txBody>
          <a:bodyPr wrap="none" lIns="0" rIns="0" tIns="0" bIns="0">
            <a:spAutoFit/>
          </a:bodyPr>
          <a:lstStyle/>
          <a:p>
            <a:r>
              <a:rPr sz="1150" b="0">
                <a:solidFill>
                  <a:srgbClr val="2E2E2E"/>
                </a:solidFill>
                <a:latin typeface="Calibri"/>
              </a:rPr>
              <a:t>) variability stakeholders should</a:t>
            </a:r>
          </a:p>
        </p:txBody>
      </p:sp>
      <p:sp>
        <p:nvSpPr>
          <p:cNvPr id="100" name="TextBox 99"/>
          <p:cNvSpPr txBox="1"/>
          <p:nvPr/>
        </p:nvSpPr>
        <p:spPr>
          <a:xfrm>
            <a:off x="8048625" y="3191331"/>
            <a:ext cx="2916187" cy="194310"/>
          </a:xfrm>
          <a:prstGeom prst="rect">
            <a:avLst/>
          </a:prstGeom>
          <a:noFill/>
        </p:spPr>
        <p:txBody>
          <a:bodyPr wrap="none" lIns="0" rIns="0" tIns="0" bIns="0">
            <a:spAutoFit/>
          </a:bodyPr>
          <a:lstStyle/>
          <a:p>
            <a:r>
              <a:rPr sz="1150" b="0">
                <a:solidFill>
                  <a:srgbClr val="2E2E2E"/>
                </a:solidFill>
                <a:latin typeface="Calibri"/>
              </a:rPr>
              <a:t>monitor when planning procurement or pricing.</a:t>
            </a:r>
          </a:p>
        </p:txBody>
      </p:sp>
      <p:sp>
        <p:nvSpPr>
          <p:cNvPr id="101" name="TextBox 100"/>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02" name="TextBox 101"/>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03" name="TextBox 102"/>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04" name="TextBox 103"/>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05" name="TextBox 104"/>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06" name="Picture 105" descr="lock.png"/>
          <p:cNvPicPr>
            <a:picLocks noChangeAspect="1"/>
          </p:cNvPicPr>
          <p:nvPr/>
        </p:nvPicPr>
        <p:blipFill>
          <a:blip r:embed="rId4"/>
          <a:stretch>
            <a:fillRect/>
          </a:stretch>
        </p:blipFill>
        <p:spPr>
          <a:xfrm>
            <a:off x="10338039" y="4162564"/>
            <a:ext cx="134549" cy="195707"/>
          </a:xfrm>
          <a:prstGeom prst="rect">
            <a:avLst/>
          </a:prstGeom>
        </p:spPr>
      </p:pic>
      <p:sp>
        <p:nvSpPr>
          <p:cNvPr id="107" name="TextBox 106"/>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08" name="TextBox 107"/>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09" name="TextBox 108"/>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10" name="TextBox 109"/>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Pricing Assessment: By System Architecture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system architecture,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System Architecture,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307848">
                <a:tc>
                  <a:txBody>
                    <a:bodyPr wrap="square"/>
                    <a:lstStyle/>
                    <a:p>
                      <a:pPr algn="l"/>
                      <a:r>
                        <a:rPr sz="850" b="1">
                          <a:solidFill>
                            <a:srgbClr val="FFFFFF"/>
                          </a:solidFill>
                          <a:latin typeface="Calibri"/>
                        </a:rPr>
                        <a:t>System Architecture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307848">
                <a:tc>
                  <a:txBody>
                    <a:bodyPr wrap="square"/>
                    <a:lstStyle/>
                    <a:p>
                      <a:pPr algn="l"/>
                      <a:r>
                        <a:rPr sz="850" b="1">
                          <a:solidFill>
                            <a:srgbClr val="1F1F1F"/>
                          </a:solidFill>
                          <a:latin typeface="Calibri"/>
                        </a:rPr>
                        <a:t>Rack Assist</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307848">
                <a:tc>
                  <a:txBody>
                    <a:bodyPr wrap="square"/>
                    <a:lstStyle/>
                    <a:p>
                      <a:pPr algn="l"/>
                      <a:r>
                        <a:rPr sz="850" b="1">
                          <a:solidFill>
                            <a:srgbClr val="1F1F1F"/>
                          </a:solidFill>
                          <a:latin typeface="Calibri"/>
                        </a:rPr>
                        <a:t>Steer by Wire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307848">
                <a:tc>
                  <a:txBody>
                    <a:bodyPr wrap="square"/>
                    <a:lstStyle/>
                    <a:p>
                      <a:pPr algn="l"/>
                      <a:r>
                        <a:rPr sz="850" b="1">
                          <a:solidFill>
                            <a:srgbClr val="1F1F1F"/>
                          </a:solidFill>
                          <a:latin typeface="Calibri"/>
                        </a:rPr>
                        <a:t>Column Assist</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307848">
                <a:tc>
                  <a:txBody>
                    <a:bodyPr wrap="square"/>
                    <a:lstStyle/>
                    <a:p>
                      <a:pPr algn="l"/>
                      <a:r>
                        <a:rPr sz="850" b="1">
                          <a:solidFill>
                            <a:srgbClr val="1F1F1F"/>
                          </a:solidFill>
                          <a:latin typeface="Calibri"/>
                        </a:rPr>
                        <a:t>Recirculating Ball and Nut Type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307848">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040505"/>
            <a:ext cx="330041" cy="480060"/>
          </a:xfrm>
          <a:prstGeom prst="rect">
            <a:avLst/>
          </a:prstGeom>
        </p:spPr>
      </p:pic>
      <p:sp>
        <p:nvSpPr>
          <p:cNvPr id="34" name="TextBox 33"/>
          <p:cNvSpPr txBox="1"/>
          <p:nvPr/>
        </p:nvSpPr>
        <p:spPr>
          <a:xfrm>
            <a:off x="411480" y="1110615"/>
            <a:ext cx="4062462" cy="217169"/>
          </a:xfrm>
          <a:prstGeom prst="rect">
            <a:avLst/>
          </a:prstGeom>
          <a:noFill/>
        </p:spPr>
        <p:txBody>
          <a:bodyPr wrap="none" lIns="0" rIns="0" tIns="0" bIns="0">
            <a:spAutoFit/>
          </a:bodyPr>
          <a:lstStyle/>
          <a:p>
            <a:r>
              <a:rPr sz="1300" b="1">
                <a:solidFill>
                  <a:srgbClr val="FFFFFF"/>
                </a:solidFill>
                <a:latin typeface="Calibri"/>
              </a:rPr>
              <a:t>Rack Assist commands the highest 2026 price point at US$</a:t>
            </a:r>
          </a:p>
        </p:txBody>
      </p:sp>
      <p:pic>
        <p:nvPicPr>
          <p:cNvPr id="35" name="Picture 34" descr="lock.png"/>
          <p:cNvPicPr>
            <a:picLocks noChangeAspect="1"/>
          </p:cNvPicPr>
          <p:nvPr/>
        </p:nvPicPr>
        <p:blipFill>
          <a:blip r:embed="rId6"/>
          <a:stretch>
            <a:fillRect/>
          </a:stretch>
        </p:blipFill>
        <p:spPr>
          <a:xfrm>
            <a:off x="4426403" y="1099058"/>
            <a:ext cx="152098" cy="221234"/>
          </a:xfrm>
          <a:prstGeom prst="rect">
            <a:avLst/>
          </a:prstGeom>
        </p:spPr>
      </p:pic>
      <p:sp>
        <p:nvSpPr>
          <p:cNvPr id="36" name="TextBox 35"/>
          <p:cNvSpPr txBox="1"/>
          <p:nvPr/>
        </p:nvSpPr>
        <p:spPr>
          <a:xfrm>
            <a:off x="4624352"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7" name="Picture 36" descr="lock.png"/>
          <p:cNvPicPr>
            <a:picLocks noChangeAspect="1"/>
          </p:cNvPicPr>
          <p:nvPr/>
        </p:nvPicPr>
        <p:blipFill>
          <a:blip r:embed="rId6"/>
          <a:stretch>
            <a:fillRect/>
          </a:stretch>
        </p:blipFill>
        <p:spPr>
          <a:xfrm>
            <a:off x="5245696" y="1099058"/>
            <a:ext cx="152098" cy="221234"/>
          </a:xfrm>
          <a:prstGeom prst="rect">
            <a:avLst/>
          </a:prstGeom>
        </p:spPr>
      </p:pic>
      <p:sp>
        <p:nvSpPr>
          <p:cNvPr id="38" name="TextBox 37"/>
          <p:cNvSpPr txBox="1"/>
          <p:nvPr/>
        </p:nvSpPr>
        <p:spPr>
          <a:xfrm>
            <a:off x="5443646" y="1110615"/>
            <a:ext cx="3272755" cy="217169"/>
          </a:xfrm>
          <a:prstGeom prst="rect">
            <a:avLst/>
          </a:prstGeom>
          <a:noFill/>
        </p:spPr>
        <p:txBody>
          <a:bodyPr wrap="none" lIns="0" rIns="0" tIns="0" bIns="0">
            <a:spAutoFit/>
          </a:bodyPr>
          <a:lstStyle/>
          <a:p>
            <a:r>
              <a:rPr sz="1300" b="1">
                <a:solidFill>
                  <a:srgbClr val="FFFFFF"/>
                </a:solidFill>
                <a:latin typeface="Calibri"/>
              </a:rPr>
              <a:t>premium over Recirculating Ball and Nut Type.</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3079439" cy="179069"/>
          </a:xfrm>
          <a:prstGeom prst="rect">
            <a:avLst/>
          </a:prstGeom>
          <a:noFill/>
        </p:spPr>
        <p:txBody>
          <a:bodyPr wrap="none" lIns="0" rIns="0" tIns="0" bIns="0">
            <a:spAutoFit/>
          </a:bodyPr>
          <a:lstStyle/>
          <a:p>
            <a:r>
              <a:rPr sz="1050" b="0">
                <a:solidFill>
                  <a:srgbClr val="1F1F1F"/>
                </a:solidFill>
                <a:latin typeface="Calibri"/>
              </a:rPr>
              <a:t>Rack Assist sits at the top of the 2026 price ladder at an</a:t>
            </a:r>
          </a:p>
        </p:txBody>
      </p:sp>
      <p:sp>
        <p:nvSpPr>
          <p:cNvPr id="43" name="TextBox 42"/>
          <p:cNvSpPr txBox="1"/>
          <p:nvPr/>
        </p:nvSpPr>
        <p:spPr>
          <a:xfrm>
            <a:off x="806576" y="5690996"/>
            <a:ext cx="512452" cy="179069"/>
          </a:xfrm>
          <a:prstGeom prst="rect">
            <a:avLst/>
          </a:prstGeom>
          <a:noFill/>
        </p:spPr>
        <p:txBody>
          <a:bodyPr wrap="none" lIns="0" rIns="0" tIns="0" bIns="0">
            <a:spAutoFit/>
          </a:bodyPr>
          <a:lstStyle/>
          <a:p>
            <a:r>
              <a:rPr sz="1050" b="0">
                <a:solidFill>
                  <a:srgbClr val="1F1F1F"/>
                </a:solidFill>
                <a:latin typeface="Calibri"/>
              </a:rPr>
              <a:t>index of</a:t>
            </a:r>
          </a:p>
        </p:txBody>
      </p:sp>
      <p:pic>
        <p:nvPicPr>
          <p:cNvPr id="44" name="Picture 43" descr="lock.png"/>
          <p:cNvPicPr>
            <a:picLocks noChangeAspect="1"/>
          </p:cNvPicPr>
          <p:nvPr/>
        </p:nvPicPr>
        <p:blipFill>
          <a:blip r:embed="rId6"/>
          <a:stretch>
            <a:fillRect/>
          </a:stretch>
        </p:blipFill>
        <p:spPr>
          <a:xfrm>
            <a:off x="1265978" y="5681662"/>
            <a:ext cx="122849" cy="178689"/>
          </a:xfrm>
          <a:prstGeom prst="rect">
            <a:avLst/>
          </a:prstGeom>
        </p:spPr>
      </p:pic>
      <p:sp>
        <p:nvSpPr>
          <p:cNvPr id="45" name="TextBox 44"/>
          <p:cNvSpPr txBox="1"/>
          <p:nvPr/>
        </p:nvSpPr>
        <p:spPr>
          <a:xfrm>
            <a:off x="1425861" y="5690996"/>
            <a:ext cx="2151198" cy="179069"/>
          </a:xfrm>
          <a:prstGeom prst="rect">
            <a:avLst/>
          </a:prstGeom>
          <a:noFill/>
        </p:spPr>
        <p:txBody>
          <a:bodyPr wrap="none" lIns="0" rIns="0" tIns="0" bIns="0">
            <a:spAutoFit/>
          </a:bodyPr>
          <a:lstStyle/>
          <a:p>
            <a:r>
              <a:rPr sz="1050" b="0">
                <a:solidFill>
                  <a:srgbClr val="1F1F1F"/>
                </a:solidFill>
                <a:latin typeface="Calibri"/>
              </a:rPr>
              <a:t>, while Recirculating Ball and Nut Type</a:t>
            </a:r>
          </a:p>
        </p:txBody>
      </p:sp>
      <p:sp>
        <p:nvSpPr>
          <p:cNvPr id="46" name="TextBox 45"/>
          <p:cNvSpPr txBox="1"/>
          <p:nvPr/>
        </p:nvSpPr>
        <p:spPr>
          <a:xfrm>
            <a:off x="806576" y="5851016"/>
            <a:ext cx="558812" cy="179069"/>
          </a:xfrm>
          <a:prstGeom prst="rect">
            <a:avLst/>
          </a:prstGeom>
          <a:noFill/>
        </p:spPr>
        <p:txBody>
          <a:bodyPr wrap="none" lIns="0" rIns="0" tIns="0" bIns="0">
            <a:spAutoFit/>
          </a:bodyPr>
          <a:lstStyle/>
          <a:p>
            <a:r>
              <a:rPr sz="1050" b="0">
                <a:solidFill>
                  <a:srgbClr val="1F1F1F"/>
                </a:solidFill>
                <a:latin typeface="Calibri"/>
              </a:rPr>
              <a:t>trades at</a:t>
            </a:r>
          </a:p>
        </p:txBody>
      </p:sp>
      <p:pic>
        <p:nvPicPr>
          <p:cNvPr id="47" name="Picture 46" descr="lock.png"/>
          <p:cNvPicPr>
            <a:picLocks noChangeAspect="1"/>
          </p:cNvPicPr>
          <p:nvPr/>
        </p:nvPicPr>
        <p:blipFill>
          <a:blip r:embed="rId6"/>
          <a:stretch>
            <a:fillRect/>
          </a:stretch>
        </p:blipFill>
        <p:spPr>
          <a:xfrm>
            <a:off x="1312338" y="5841682"/>
            <a:ext cx="122849" cy="178689"/>
          </a:xfrm>
          <a:prstGeom prst="rect">
            <a:avLst/>
          </a:prstGeom>
        </p:spPr>
      </p:pic>
      <p:sp>
        <p:nvSpPr>
          <p:cNvPr id="48" name="TextBox 47"/>
          <p:cNvSpPr txBox="1"/>
          <p:nvPr/>
        </p:nvSpPr>
        <p:spPr>
          <a:xfrm>
            <a:off x="1472221" y="5851016"/>
            <a:ext cx="2328304" cy="179069"/>
          </a:xfrm>
          <a:prstGeom prst="rect">
            <a:avLst/>
          </a:prstGeom>
          <a:noFill/>
        </p:spPr>
        <p:txBody>
          <a:bodyPr wrap="none" lIns="0" rIns="0" tIns="0" bIns="0">
            <a:spAutoFit/>
          </a:bodyPr>
          <a:lstStyle/>
          <a:p>
            <a:r>
              <a:rPr sz="1050" b="0">
                <a:solidFill>
                  <a:srgbClr val="1F1F1F"/>
                </a:solidFill>
                <a:latin typeface="Calibri"/>
              </a:rPr>
              <a:t>, which keeps the full system architecture</a:t>
            </a:r>
          </a:p>
        </p:txBody>
      </p:sp>
      <p:sp>
        <p:nvSpPr>
          <p:cNvPr id="49" name="TextBox 48"/>
          <p:cNvSpPr txBox="1"/>
          <p:nvPr/>
        </p:nvSpPr>
        <p:spPr>
          <a:xfrm>
            <a:off x="806576" y="6011036"/>
            <a:ext cx="817178" cy="179069"/>
          </a:xfrm>
          <a:prstGeom prst="rect">
            <a:avLst/>
          </a:prstGeom>
          <a:noFill/>
        </p:spPr>
        <p:txBody>
          <a:bodyPr wrap="none" lIns="0" rIns="0" tIns="0" bIns="0">
            <a:spAutoFit/>
          </a:bodyPr>
          <a:lstStyle/>
          <a:p>
            <a:r>
              <a:rPr sz="1050" b="0">
                <a:solidFill>
                  <a:srgbClr val="1F1F1F"/>
                </a:solidFill>
                <a:latin typeface="Calibri"/>
              </a:rPr>
              <a:t>spread within</a:t>
            </a:r>
          </a:p>
        </p:txBody>
      </p:sp>
      <p:pic>
        <p:nvPicPr>
          <p:cNvPr id="50" name="Picture 49" descr="lock.png"/>
          <p:cNvPicPr>
            <a:picLocks noChangeAspect="1"/>
          </p:cNvPicPr>
          <p:nvPr/>
        </p:nvPicPr>
        <p:blipFill>
          <a:blip r:embed="rId6"/>
          <a:stretch>
            <a:fillRect/>
          </a:stretch>
        </p:blipFill>
        <p:spPr>
          <a:xfrm>
            <a:off x="1570704" y="6001702"/>
            <a:ext cx="122849" cy="178689"/>
          </a:xfrm>
          <a:prstGeom prst="rect">
            <a:avLst/>
          </a:prstGeom>
        </p:spPr>
      </p:pic>
      <p:sp>
        <p:nvSpPr>
          <p:cNvPr id="51" name="TextBox 50"/>
          <p:cNvSpPr txBox="1"/>
          <p:nvPr/>
        </p:nvSpPr>
        <p:spPr>
          <a:xfrm>
            <a:off x="1730586"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2" name="TextBox 51"/>
          <p:cNvSpPr txBox="1"/>
          <p:nvPr/>
        </p:nvSpPr>
        <p:spPr>
          <a:xfrm>
            <a:off x="4732401" y="5530976"/>
            <a:ext cx="2548123" cy="179069"/>
          </a:xfrm>
          <a:prstGeom prst="rect">
            <a:avLst/>
          </a:prstGeom>
          <a:noFill/>
        </p:spPr>
        <p:txBody>
          <a:bodyPr wrap="none" lIns="0" rIns="0" tIns="0" bIns="0">
            <a:spAutoFit/>
          </a:bodyPr>
          <a:lstStyle/>
          <a:p>
            <a:r>
              <a:rPr sz="1050" b="0">
                <a:solidFill>
                  <a:srgbClr val="1F1F1F"/>
                </a:solidFill>
                <a:latin typeface="Calibri"/>
              </a:rPr>
              <a:t>Rack Assist posts the fastest price growth at a</a:t>
            </a:r>
          </a:p>
        </p:txBody>
      </p:sp>
      <p:pic>
        <p:nvPicPr>
          <p:cNvPr id="53" name="Picture 52" descr="lock.png"/>
          <p:cNvPicPr>
            <a:picLocks noChangeAspect="1"/>
          </p:cNvPicPr>
          <p:nvPr/>
        </p:nvPicPr>
        <p:blipFill>
          <a:blip r:embed="rId6"/>
          <a:stretch>
            <a:fillRect/>
          </a:stretch>
        </p:blipFill>
        <p:spPr>
          <a:xfrm>
            <a:off x="7227473" y="5521642"/>
            <a:ext cx="122849" cy="178689"/>
          </a:xfrm>
          <a:prstGeom prst="rect">
            <a:avLst/>
          </a:prstGeom>
        </p:spPr>
      </p:pic>
      <p:sp>
        <p:nvSpPr>
          <p:cNvPr id="54" name="TextBox 53"/>
          <p:cNvSpPr txBox="1"/>
          <p:nvPr/>
        </p:nvSpPr>
        <p:spPr>
          <a:xfrm>
            <a:off x="7387356" y="5530976"/>
            <a:ext cx="380909" cy="179069"/>
          </a:xfrm>
          <a:prstGeom prst="rect">
            <a:avLst/>
          </a:prstGeom>
          <a:noFill/>
        </p:spPr>
        <p:txBody>
          <a:bodyPr wrap="none" lIns="0" rIns="0" tIns="0" bIns="0">
            <a:spAutoFit/>
          </a:bodyPr>
          <a:lstStyle/>
          <a:p>
            <a:r>
              <a:rPr sz="1050" b="0">
                <a:solidFill>
                  <a:srgbClr val="1F1F1F"/>
                </a:solidFill>
                <a:latin typeface="Calibri"/>
              </a:rPr>
              <a:t>CAGR</a:t>
            </a:r>
          </a:p>
        </p:txBody>
      </p:sp>
      <p:sp>
        <p:nvSpPr>
          <p:cNvPr id="55" name="TextBox 54"/>
          <p:cNvSpPr txBox="1"/>
          <p:nvPr/>
        </p:nvSpPr>
        <p:spPr>
          <a:xfrm>
            <a:off x="4732401" y="5690996"/>
            <a:ext cx="2276995" cy="179069"/>
          </a:xfrm>
          <a:prstGeom prst="rect">
            <a:avLst/>
          </a:prstGeom>
          <a:noFill/>
        </p:spPr>
        <p:txBody>
          <a:bodyPr wrap="none" lIns="0" rIns="0" tIns="0" bIns="0">
            <a:spAutoFit/>
          </a:bodyPr>
          <a:lstStyle/>
          <a:p>
            <a:r>
              <a:rPr sz="1050" b="0">
                <a:solidFill>
                  <a:srgbClr val="1F1F1F"/>
                </a:solidFill>
                <a:latin typeface="Calibri"/>
              </a:rPr>
              <a:t>between 2026 and 2036, compared with</a:t>
            </a:r>
          </a:p>
        </p:txBody>
      </p:sp>
      <p:pic>
        <p:nvPicPr>
          <p:cNvPr id="56" name="Picture 55" descr="lock.png"/>
          <p:cNvPicPr>
            <a:picLocks noChangeAspect="1"/>
          </p:cNvPicPr>
          <p:nvPr/>
        </p:nvPicPr>
        <p:blipFill>
          <a:blip r:embed="rId6"/>
          <a:stretch>
            <a:fillRect/>
          </a:stretch>
        </p:blipFill>
        <p:spPr>
          <a:xfrm>
            <a:off x="6956346" y="5681662"/>
            <a:ext cx="122849" cy="178689"/>
          </a:xfrm>
          <a:prstGeom prst="rect">
            <a:avLst/>
          </a:prstGeom>
        </p:spPr>
      </p:pic>
      <p:sp>
        <p:nvSpPr>
          <p:cNvPr id="57" name="TextBox 56"/>
          <p:cNvSpPr txBox="1"/>
          <p:nvPr/>
        </p:nvSpPr>
        <p:spPr>
          <a:xfrm>
            <a:off x="7116228" y="5690996"/>
            <a:ext cx="682786" cy="179069"/>
          </a:xfrm>
          <a:prstGeom prst="rect">
            <a:avLst/>
          </a:prstGeom>
          <a:noFill/>
        </p:spPr>
        <p:txBody>
          <a:bodyPr wrap="none" lIns="0" rIns="0" tIns="0" bIns="0">
            <a:spAutoFit/>
          </a:bodyPr>
          <a:lstStyle/>
          <a:p>
            <a:r>
              <a:rPr sz="1050" b="0">
                <a:solidFill>
                  <a:srgbClr val="1F1F1F"/>
                </a:solidFill>
                <a:latin typeface="Calibri"/>
              </a:rPr>
              <a:t>for Column</a:t>
            </a:r>
          </a:p>
        </p:txBody>
      </p:sp>
      <p:sp>
        <p:nvSpPr>
          <p:cNvPr id="58" name="TextBox 57"/>
          <p:cNvSpPr txBox="1"/>
          <p:nvPr/>
        </p:nvSpPr>
        <p:spPr>
          <a:xfrm>
            <a:off x="4732401" y="5851016"/>
            <a:ext cx="418690" cy="179069"/>
          </a:xfrm>
          <a:prstGeom prst="rect">
            <a:avLst/>
          </a:prstGeom>
          <a:noFill/>
        </p:spPr>
        <p:txBody>
          <a:bodyPr wrap="none" lIns="0" rIns="0" tIns="0" bIns="0">
            <a:spAutoFit/>
          </a:bodyPr>
          <a:lstStyle/>
          <a:p>
            <a:r>
              <a:rPr sz="1050" b="0">
                <a:solidFill>
                  <a:srgbClr val="1F1F1F"/>
                </a:solidFill>
                <a:latin typeface="Calibri"/>
              </a:rPr>
              <a:t>Assist.</a:t>
            </a:r>
          </a:p>
        </p:txBody>
      </p:sp>
      <p:sp>
        <p:nvSpPr>
          <p:cNvPr id="59" name="TextBox 58"/>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60" name="Picture 59" descr="lock.png"/>
          <p:cNvPicPr>
            <a:picLocks noChangeAspect="1"/>
          </p:cNvPicPr>
          <p:nvPr/>
        </p:nvPicPr>
        <p:blipFill>
          <a:blip r:embed="rId6"/>
          <a:stretch>
            <a:fillRect/>
          </a:stretch>
        </p:blipFill>
        <p:spPr>
          <a:xfrm>
            <a:off x="10841019" y="5521642"/>
            <a:ext cx="122849" cy="178689"/>
          </a:xfrm>
          <a:prstGeom prst="rect">
            <a:avLst/>
          </a:prstGeom>
        </p:spPr>
      </p:pic>
      <p:sp>
        <p:nvSpPr>
          <p:cNvPr id="61" name="TextBox 60"/>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2" name="TextBox 61"/>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3" name="Picture 62" descr="lock.png"/>
          <p:cNvPicPr>
            <a:picLocks noChangeAspect="1"/>
          </p:cNvPicPr>
          <p:nvPr/>
        </p:nvPicPr>
        <p:blipFill>
          <a:blip r:embed="rId6"/>
          <a:stretch>
            <a:fillRect/>
          </a:stretch>
        </p:blipFill>
        <p:spPr>
          <a:xfrm>
            <a:off x="9342394" y="5681662"/>
            <a:ext cx="122849" cy="178689"/>
          </a:xfrm>
          <a:prstGeom prst="rect">
            <a:avLst/>
          </a:prstGeom>
        </p:spPr>
      </p:pic>
      <p:sp>
        <p:nvSpPr>
          <p:cNvPr id="64" name="TextBox 63"/>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5" name="TextBox 64"/>
          <p:cNvSpPr txBox="1"/>
          <p:nvPr/>
        </p:nvSpPr>
        <p:spPr>
          <a:xfrm>
            <a:off x="8658225" y="5851016"/>
            <a:ext cx="2959633" cy="179069"/>
          </a:xfrm>
          <a:prstGeom prst="rect">
            <a:avLst/>
          </a:prstGeom>
          <a:noFill/>
        </p:spPr>
        <p:txBody>
          <a:bodyPr wrap="none" lIns="0" rIns="0" tIns="0" bIns="0">
            <a:spAutoFit/>
          </a:bodyPr>
          <a:lstStyle/>
          <a:p>
            <a:r>
              <a:rPr sz="1050" b="0">
                <a:solidFill>
                  <a:srgbClr val="1F1F1F"/>
                </a:solidFill>
                <a:latin typeface="Calibri"/>
              </a:rPr>
              <a:t>highest and lowest priced system architecture moves</a:t>
            </a:r>
          </a:p>
        </p:txBody>
      </p:sp>
      <p:sp>
        <p:nvSpPr>
          <p:cNvPr id="66" name="TextBox 65"/>
          <p:cNvSpPr txBox="1"/>
          <p:nvPr/>
        </p:nvSpPr>
        <p:spPr>
          <a:xfrm>
            <a:off x="8658225" y="6011036"/>
            <a:ext cx="340295" cy="179069"/>
          </a:xfrm>
          <a:prstGeom prst="rect">
            <a:avLst/>
          </a:prstGeom>
          <a:noFill/>
        </p:spPr>
        <p:txBody>
          <a:bodyPr wrap="none" lIns="0" rIns="0" tIns="0" bIns="0">
            <a:spAutoFit/>
          </a:bodyPr>
          <a:lstStyle/>
          <a:p>
            <a:r>
              <a:rPr sz="1050" b="0">
                <a:solidFill>
                  <a:srgbClr val="1F1F1F"/>
                </a:solidFill>
                <a:latin typeface="Calibri"/>
              </a:rPr>
              <a:t>from</a:t>
            </a:r>
          </a:p>
        </p:txBody>
      </p:sp>
      <p:pic>
        <p:nvPicPr>
          <p:cNvPr id="67" name="Picture 66" descr="lock.png"/>
          <p:cNvPicPr>
            <a:picLocks noChangeAspect="1"/>
          </p:cNvPicPr>
          <p:nvPr/>
        </p:nvPicPr>
        <p:blipFill>
          <a:blip r:embed="rId6"/>
          <a:stretch>
            <a:fillRect/>
          </a:stretch>
        </p:blipFill>
        <p:spPr>
          <a:xfrm>
            <a:off x="8945469" y="6001702"/>
            <a:ext cx="122849" cy="178689"/>
          </a:xfrm>
          <a:prstGeom prst="rect">
            <a:avLst/>
          </a:prstGeom>
        </p:spPr>
      </p:pic>
      <p:sp>
        <p:nvSpPr>
          <p:cNvPr id="68" name="TextBox 67"/>
          <p:cNvSpPr txBox="1"/>
          <p:nvPr/>
        </p:nvSpPr>
        <p:spPr>
          <a:xfrm>
            <a:off x="9105352"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9" name="Picture 68" descr="lock.png"/>
          <p:cNvPicPr>
            <a:picLocks noChangeAspect="1"/>
          </p:cNvPicPr>
          <p:nvPr/>
        </p:nvPicPr>
        <p:blipFill>
          <a:blip r:embed="rId6"/>
          <a:stretch>
            <a:fillRect/>
          </a:stretch>
        </p:blipFill>
        <p:spPr>
          <a:xfrm>
            <a:off x="9675705" y="6001702"/>
            <a:ext cx="122849" cy="178689"/>
          </a:xfrm>
          <a:prstGeom prst="rect">
            <a:avLst/>
          </a:prstGeom>
        </p:spPr>
      </p:pic>
      <p:sp>
        <p:nvSpPr>
          <p:cNvPr id="70" name="TextBox 69"/>
          <p:cNvSpPr txBox="1"/>
          <p:nvPr/>
        </p:nvSpPr>
        <p:spPr>
          <a:xfrm>
            <a:off x="9835587"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71" name="Picture 70" descr="lock.png"/>
          <p:cNvPicPr>
            <a:picLocks noChangeAspect="1"/>
          </p:cNvPicPr>
          <p:nvPr/>
        </p:nvPicPr>
        <p:blipFill>
          <a:blip r:embed="rId6"/>
          <a:stretch>
            <a:fillRect/>
          </a:stretch>
        </p:blipFill>
        <p:spPr>
          <a:xfrm>
            <a:off x="3418190" y="3048804"/>
            <a:ext cx="454926" cy="661711"/>
          </a:xfrm>
          <a:prstGeom prst="rect">
            <a:avLst/>
          </a:prstGeom>
        </p:spPr>
      </p:pic>
      <p:pic>
        <p:nvPicPr>
          <p:cNvPr id="72" name="Picture 71" descr="lock.png"/>
          <p:cNvPicPr>
            <a:picLocks noChangeAspect="1"/>
          </p:cNvPicPr>
          <p:nvPr/>
        </p:nvPicPr>
        <p:blipFill>
          <a:blip r:embed="rId6"/>
          <a:stretch>
            <a:fillRect/>
          </a:stretch>
        </p:blipFill>
        <p:spPr>
          <a:xfrm>
            <a:off x="9403270" y="2219134"/>
            <a:ext cx="256698" cy="373379"/>
          </a:xfrm>
          <a:prstGeom prst="rect">
            <a:avLst/>
          </a:prstGeom>
        </p:spPr>
      </p:pic>
      <p:sp>
        <p:nvSpPr>
          <p:cNvPr id="73"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system architectures,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System Architectures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Western 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Eastern Europe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system architecture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6" name="Picture 35" descr="lock.png"/>
          <p:cNvPicPr>
            <a:picLocks noChangeAspect="1"/>
          </p:cNvPicPr>
          <p:nvPr/>
        </p:nvPicPr>
        <p:blipFill>
          <a:blip r:embed="rId5"/>
          <a:stretch>
            <a:fillRect/>
          </a:stretch>
        </p:blipFill>
        <p:spPr>
          <a:xfrm>
            <a:off x="5708750" y="1099058"/>
            <a:ext cx="152098" cy="221234"/>
          </a:xfrm>
          <a:prstGeom prst="rect">
            <a:avLst/>
          </a:prstGeom>
        </p:spPr>
      </p:pic>
      <p:sp>
        <p:nvSpPr>
          <p:cNvPr id="37" name="TextBox 36"/>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5071181" cy="143408"/>
          </a:xfrm>
          <a:prstGeom prst="rect">
            <a:avLst/>
          </a:prstGeom>
          <a:noFill/>
        </p:spPr>
        <p:txBody>
          <a:bodyPr wrap="none" lIns="0" rIns="0" tIns="0" bIns="0">
            <a:spAutoFit/>
          </a:bodyPr>
          <a:lstStyle/>
          <a:p>
            <a:r>
              <a:rPr sz="816" b="0">
                <a:solidFill>
                  <a:srgbClr val="59636E"/>
                </a:solidFill>
                <a:latin typeface="Calibri"/>
              </a:rPr>
              <a:t>Bar spans the lowest to highest system architecture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424451" y="1824212"/>
            <a:ext cx="95470" cy="138866"/>
          </a:xfrm>
          <a:prstGeom prst="rect">
            <a:avLst/>
          </a:prstGeom>
        </p:spPr>
      </p:pic>
      <p:sp>
        <p:nvSpPr>
          <p:cNvPr id="40" name="TextBox 39"/>
          <p:cNvSpPr txBox="1"/>
          <p:nvPr/>
        </p:nvSpPr>
        <p:spPr>
          <a:xfrm>
            <a:off x="5548703" y="1831467"/>
            <a:ext cx="1958578" cy="143408"/>
          </a:xfrm>
          <a:prstGeom prst="rect">
            <a:avLst/>
          </a:prstGeom>
          <a:noFill/>
        </p:spPr>
        <p:txBody>
          <a:bodyPr wrap="none" lIns="0" rIns="0" tIns="0" bIns="0">
            <a:spAutoFit/>
          </a:bodyPr>
          <a:lstStyle/>
          <a:p>
            <a:r>
              <a:rPr sz="816"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9" name="TextBox 48"/>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3011462" cy="179069"/>
          </a:xfrm>
          <a:prstGeom prst="rect">
            <a:avLst/>
          </a:prstGeom>
          <a:noFill/>
        </p:spPr>
        <p:txBody>
          <a:bodyPr wrap="none" lIns="0" rIns="0" tIns="0" bIns="0">
            <a:spAutoFit/>
          </a:bodyPr>
          <a:lstStyle/>
          <a:p>
            <a:r>
              <a:rPr sz="1050" b="0">
                <a:solidFill>
                  <a:srgbClr val="1F1F1F"/>
                </a:solidFill>
                <a:latin typeface="Calibri"/>
              </a:rPr>
              <a:t>South Asia &amp; Pacific shows the widest gap between its</a:t>
            </a:r>
          </a:p>
        </p:txBody>
      </p:sp>
      <p:sp>
        <p:nvSpPr>
          <p:cNvPr id="57" name="TextBox 56"/>
          <p:cNvSpPr txBox="1"/>
          <p:nvPr/>
        </p:nvSpPr>
        <p:spPr>
          <a:xfrm>
            <a:off x="8658225" y="5690996"/>
            <a:ext cx="2919784" cy="179069"/>
          </a:xfrm>
          <a:prstGeom prst="rect">
            <a:avLst/>
          </a:prstGeom>
          <a:noFill/>
        </p:spPr>
        <p:txBody>
          <a:bodyPr wrap="none" lIns="0" rIns="0" tIns="0" bIns="0">
            <a:spAutoFit/>
          </a:bodyPr>
          <a:lstStyle/>
          <a:p>
            <a:r>
              <a:rPr sz="1050" b="0">
                <a:solidFill>
                  <a:srgbClr val="1F1F1F"/>
                </a:solidFill>
                <a:latin typeface="Calibri"/>
              </a:rPr>
              <a:t>cheapest and most expensive system architecture at</a:t>
            </a:r>
          </a:p>
        </p:txBody>
      </p:sp>
      <p:pic>
        <p:nvPicPr>
          <p:cNvPr id="58" name="Picture 57" descr="lock.png"/>
          <p:cNvPicPr>
            <a:picLocks noChangeAspect="1"/>
          </p:cNvPicPr>
          <p:nvPr/>
        </p:nvPicPr>
        <p:blipFill>
          <a:blip r:embed="rId5"/>
          <a:stretch>
            <a:fillRect/>
          </a:stretch>
        </p:blipFill>
        <p:spPr>
          <a:xfrm>
            <a:off x="11524958" y="5681662"/>
            <a:ext cx="122849" cy="178689"/>
          </a:xfrm>
          <a:prstGeom prst="rect">
            <a:avLst/>
          </a:prstGeom>
        </p:spPr>
      </p:pic>
      <p:sp>
        <p:nvSpPr>
          <p:cNvPr id="59" name="TextBox 58"/>
          <p:cNvSpPr txBox="1"/>
          <p:nvPr/>
        </p:nvSpPr>
        <p:spPr>
          <a:xfrm>
            <a:off x="11684841" y="5690996"/>
            <a:ext cx="109537" cy="179069"/>
          </a:xfrm>
          <a:prstGeom prst="rect">
            <a:avLst/>
          </a:prstGeom>
          <a:noFill/>
        </p:spPr>
        <p:txBody>
          <a:bodyPr wrap="none" lIns="0" rIns="0" tIns="0" bIns="0">
            <a:spAutoFit/>
          </a:bodyPr>
          <a:lstStyle/>
          <a:p>
            <a:r>
              <a:rPr sz="1050" b="0">
                <a:solidFill>
                  <a:srgbClr val="1F1F1F"/>
                </a:solidFill>
                <a:latin typeface="Calibri"/>
              </a:rPr>
              <a:t>,</a:t>
            </a:r>
          </a:p>
        </p:txBody>
      </p:sp>
      <p:sp>
        <p:nvSpPr>
          <p:cNvPr id="60" name="TextBox 59"/>
          <p:cNvSpPr txBox="1"/>
          <p:nvPr/>
        </p:nvSpPr>
        <p:spPr>
          <a:xfrm>
            <a:off x="8658225" y="5851016"/>
            <a:ext cx="3004430" cy="179069"/>
          </a:xfrm>
          <a:prstGeom prst="rect">
            <a:avLst/>
          </a:prstGeom>
          <a:noFill/>
        </p:spPr>
        <p:txBody>
          <a:bodyPr wrap="none" lIns="0" rIns="0" tIns="0" bIns="0">
            <a:spAutoFit/>
          </a:bodyPr>
          <a:lstStyle/>
          <a:p>
            <a:r>
              <a:rPr sz="1050" b="0">
                <a:solidFill>
                  <a:srgbClr val="1F1F1F"/>
                </a:solidFill>
                <a:latin typeface="Calibri"/>
              </a:rPr>
              <a:t>so product mix shifts move its average price the 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none" lIns="0" rIns="0" tIns="0" bIns="0">
            <a:spAutoFit/>
          </a:bodyPr>
          <a:lstStyle/>
          <a:p>
            <a:pPr algn="ctr"/>
            <a:r>
              <a:rPr sz="1100" b="0">
                <a:solidFill>
                  <a:srgbClr val="6C7A89"/>
                </a:solidFill>
                <a:latin typeface="Calibri"/>
              </a:rPr>
              <a:t>189</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none" lIns="0" rIns="0" tIns="0" bIns="0">
            <a:spAutoFit/>
          </a:bodyPr>
          <a:lstStyle/>
          <a:p>
            <a:pPr algn="ctr"/>
            <a:r>
              <a:rPr sz="1100" b="0">
                <a:solidFill>
                  <a:srgbClr val="6C7A89"/>
                </a:solidFill>
                <a:latin typeface="Calibri"/>
              </a:rPr>
              <a:t>409</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none" lIns="0" rIns="0" tIns="0" bIns="0">
            <a:spAutoFit/>
          </a:bodyPr>
          <a:lstStyle/>
          <a:p>
            <a:pPr algn="ctr"/>
            <a:r>
              <a:rPr sz="1100" b="0">
                <a:solidFill>
                  <a:srgbClr val="6C7A89"/>
                </a:solidFill>
                <a:latin typeface="Calibri"/>
              </a:rPr>
              <a:t>629</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none" lIns="0" rIns="0" tIns="0" bIns="0">
            <a:spAutoFit/>
          </a:bodyPr>
          <a:lstStyle/>
          <a:p>
            <a:pPr algn="ctr"/>
            <a:r>
              <a:rPr sz="1100" b="0">
                <a:solidFill>
                  <a:srgbClr val="6C7A89"/>
                </a:solidFill>
                <a:latin typeface="Calibri"/>
              </a:rPr>
              <a:t>850</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1,070</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1,291</a:t>
            </a:r>
          </a:p>
        </p:txBody>
      </p:sp>
      <p:sp>
        <p:nvSpPr>
          <p:cNvPr id="25" name="TextBox 24"/>
          <p:cNvSpPr txBox="1"/>
          <p:nvPr/>
        </p:nvSpPr>
        <p:spPr>
          <a:xfrm>
            <a:off x="238125" y="2151696"/>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4005873" y="2076093"/>
            <a:ext cx="2921183"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8668" y="217550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772191"/>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2890523" y="2696587"/>
            <a:ext cx="2044324"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171395" y="279600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39268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2" name="Rectangle 31"/>
          <p:cNvSpPr/>
          <p:nvPr/>
        </p:nvSpPr>
        <p:spPr>
          <a:xfrm>
            <a:off x="2245041" y="3317082"/>
            <a:ext cx="1529527"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187761" y="341649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013180"/>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5" name="Rectangle 34"/>
          <p:cNvSpPr/>
          <p:nvPr/>
        </p:nvSpPr>
        <p:spPr>
          <a:xfrm>
            <a:off x="2045494" y="3937576"/>
            <a:ext cx="1379679"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897865"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463367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Western Europe</a:t>
            </a:r>
          </a:p>
        </p:txBody>
      </p:sp>
      <p:sp>
        <p:nvSpPr>
          <p:cNvPr id="38" name="Rectangle 37"/>
          <p:cNvSpPr/>
          <p:nvPr/>
        </p:nvSpPr>
        <p:spPr>
          <a:xfrm>
            <a:off x="3804770" y="4558070"/>
            <a:ext cx="2763126"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566531" y="465748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254169"/>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Eastern Europe</a:t>
            </a:r>
          </a:p>
        </p:txBody>
      </p:sp>
      <p:sp>
        <p:nvSpPr>
          <p:cNvPr id="41" name="Rectangle 40"/>
          <p:cNvSpPr/>
          <p:nvPr/>
        </p:nvSpPr>
        <p:spPr>
          <a:xfrm>
            <a:off x="3113476" y="5178565"/>
            <a:ext cx="2209348"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512714" y="5277981"/>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5874663"/>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4" name="Rectangle 43"/>
          <p:cNvSpPr/>
          <p:nvPr/>
        </p:nvSpPr>
        <p:spPr>
          <a:xfrm>
            <a:off x="2820523" y="5799059"/>
            <a:ext cx="1971280"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065637" y="589847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8" name="Rectangle 47"/>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50" name="Rounded Rectangle 49"/>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2" name="Rectangle 51"/>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4" name="Rounded Rectangle 53"/>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6" name="TextBox 55"/>
          <p:cNvSpPr txBox="1"/>
          <p:nvPr/>
        </p:nvSpPr>
        <p:spPr>
          <a:xfrm>
            <a:off x="8048625" y="1736673"/>
            <a:ext cx="3447615" cy="194310"/>
          </a:xfrm>
          <a:prstGeom prst="rect">
            <a:avLst/>
          </a:prstGeom>
          <a:noFill/>
        </p:spPr>
        <p:txBody>
          <a:bodyPr wrap="none" lIns="0" rIns="0" tIns="0" bIns="0">
            <a:spAutoFit/>
          </a:bodyPr>
          <a:lstStyle/>
          <a:p>
            <a:r>
              <a:rPr sz="1150" b="0">
                <a:solidFill>
                  <a:srgbClr val="2E2E2E"/>
                </a:solidFill>
                <a:latin typeface="Calibri"/>
              </a:rPr>
              <a:t>Rack assist segment is expected to command the highest</a:t>
            </a:r>
          </a:p>
        </p:txBody>
      </p:sp>
      <p:sp>
        <p:nvSpPr>
          <p:cNvPr id="57" name="TextBox 56"/>
          <p:cNvSpPr txBox="1"/>
          <p:nvPr/>
        </p:nvSpPr>
        <p:spPr>
          <a:xfrm>
            <a:off x="8048625" y="1911934"/>
            <a:ext cx="1299083" cy="194310"/>
          </a:xfrm>
          <a:prstGeom prst="rect">
            <a:avLst/>
          </a:prstGeom>
          <a:noFill/>
        </p:spPr>
        <p:txBody>
          <a:bodyPr wrap="none" lIns="0" rIns="0" tIns="0" bIns="0">
            <a:spAutoFit/>
          </a:bodyPr>
          <a:lstStyle/>
          <a:p>
            <a:r>
              <a:rPr sz="1150" b="0">
                <a:solidFill>
                  <a:srgbClr val="2E2E2E"/>
                </a:solidFill>
                <a:latin typeface="Calibri"/>
              </a:rPr>
              <a:t>average price of US$</a:t>
            </a:r>
          </a:p>
        </p:txBody>
      </p:sp>
      <p:pic>
        <p:nvPicPr>
          <p:cNvPr id="58" name="Picture 57" descr="lock.png"/>
          <p:cNvPicPr>
            <a:picLocks noChangeAspect="1"/>
          </p:cNvPicPr>
          <p:nvPr/>
        </p:nvPicPr>
        <p:blipFill>
          <a:blip r:embed="rId4"/>
          <a:stretch>
            <a:fillRect/>
          </a:stretch>
        </p:blipFill>
        <p:spPr>
          <a:xfrm>
            <a:off x="9296862" y="1901710"/>
            <a:ext cx="134549" cy="195707"/>
          </a:xfrm>
          <a:prstGeom prst="rect">
            <a:avLst/>
          </a:prstGeom>
        </p:spPr>
      </p:pic>
      <p:sp>
        <p:nvSpPr>
          <p:cNvPr id="59" name="TextBox 58"/>
          <p:cNvSpPr txBox="1"/>
          <p:nvPr/>
        </p:nvSpPr>
        <p:spPr>
          <a:xfrm>
            <a:off x="9471971" y="1911934"/>
            <a:ext cx="2330236" cy="194310"/>
          </a:xfrm>
          <a:prstGeom prst="rect">
            <a:avLst/>
          </a:prstGeom>
          <a:noFill/>
        </p:spPr>
        <p:txBody>
          <a:bodyPr wrap="none" lIns="0" rIns="0" tIns="0" bIns="0">
            <a:spAutoFit/>
          </a:bodyPr>
          <a:lstStyle/>
          <a:p>
            <a:r>
              <a:rPr sz="1150" b="0">
                <a:solidFill>
                  <a:srgbClr val="2E2E2E"/>
                </a:solidFill>
                <a:latin typeface="Calibri"/>
              </a:rPr>
              <a:t>per Unit in 2036. Average selling price</a:t>
            </a:r>
          </a:p>
        </p:txBody>
      </p:sp>
      <p:sp>
        <p:nvSpPr>
          <p:cNvPr id="60" name="TextBox 59"/>
          <p:cNvSpPr txBox="1"/>
          <p:nvPr/>
        </p:nvSpPr>
        <p:spPr>
          <a:xfrm>
            <a:off x="8048625" y="2087194"/>
            <a:ext cx="3182615" cy="194310"/>
          </a:xfrm>
          <a:prstGeom prst="rect">
            <a:avLst/>
          </a:prstGeom>
          <a:noFill/>
        </p:spPr>
        <p:txBody>
          <a:bodyPr wrap="none" lIns="0" rIns="0" tIns="0" bIns="0">
            <a:spAutoFit/>
          </a:bodyPr>
          <a:lstStyle/>
          <a:p>
            <a:r>
              <a:rPr sz="1150" b="0">
                <a:solidFill>
                  <a:srgbClr val="2E2E2E"/>
                </a:solidFill>
                <a:latin typeface="Calibri"/>
              </a:rPr>
              <a:t>of heavy commercial vehicle EPS is estimated at US$</a:t>
            </a:r>
          </a:p>
        </p:txBody>
      </p:sp>
      <p:pic>
        <p:nvPicPr>
          <p:cNvPr id="61" name="Picture 60" descr="lock.png"/>
          <p:cNvPicPr>
            <a:picLocks noChangeAspect="1"/>
          </p:cNvPicPr>
          <p:nvPr/>
        </p:nvPicPr>
        <p:blipFill>
          <a:blip r:embed="rId4"/>
          <a:stretch>
            <a:fillRect/>
          </a:stretch>
        </p:blipFill>
        <p:spPr>
          <a:xfrm>
            <a:off x="11180393" y="2076970"/>
            <a:ext cx="134549" cy="195707"/>
          </a:xfrm>
          <a:prstGeom prst="rect">
            <a:avLst/>
          </a:prstGeom>
        </p:spPr>
      </p:pic>
      <p:sp>
        <p:nvSpPr>
          <p:cNvPr id="62" name="TextBox 61"/>
          <p:cNvSpPr txBox="1"/>
          <p:nvPr/>
        </p:nvSpPr>
        <p:spPr>
          <a:xfrm>
            <a:off x="11355503" y="208719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3" name="TextBox 62"/>
          <p:cNvSpPr txBox="1"/>
          <p:nvPr/>
        </p:nvSpPr>
        <p:spPr>
          <a:xfrm>
            <a:off x="8048625" y="2262454"/>
            <a:ext cx="3698924" cy="194310"/>
          </a:xfrm>
          <a:prstGeom prst="rect">
            <a:avLst/>
          </a:prstGeom>
          <a:noFill/>
        </p:spPr>
        <p:txBody>
          <a:bodyPr wrap="none" lIns="0" rIns="0" tIns="0" bIns="0">
            <a:spAutoFit/>
          </a:bodyPr>
          <a:lstStyle/>
          <a:p>
            <a:r>
              <a:rPr sz="1150" b="0">
                <a:solidFill>
                  <a:srgbClr val="2E2E2E"/>
                </a:solidFill>
                <a:latin typeface="Calibri"/>
              </a:rPr>
              <a:t>Unit in 2025 and is projected to remain broadly stable at US$</a:t>
            </a:r>
          </a:p>
        </p:txBody>
      </p:sp>
      <p:pic>
        <p:nvPicPr>
          <p:cNvPr id="64" name="Picture 63" descr="lock.png"/>
          <p:cNvPicPr>
            <a:picLocks noChangeAspect="1"/>
          </p:cNvPicPr>
          <p:nvPr/>
        </p:nvPicPr>
        <p:blipFill>
          <a:blip r:embed="rId4"/>
          <a:stretch>
            <a:fillRect/>
          </a:stretch>
        </p:blipFill>
        <p:spPr>
          <a:xfrm>
            <a:off x="8034545" y="2427490"/>
            <a:ext cx="134549" cy="195707"/>
          </a:xfrm>
          <a:prstGeom prst="rect">
            <a:avLst/>
          </a:prstGeom>
        </p:spPr>
      </p:pic>
      <p:sp>
        <p:nvSpPr>
          <p:cNvPr id="65" name="TextBox 64"/>
          <p:cNvSpPr txBox="1"/>
          <p:nvPr/>
        </p:nvSpPr>
        <p:spPr>
          <a:xfrm>
            <a:off x="8209654" y="2437714"/>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66" name="TextBox 65"/>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7" name="TextBox 66"/>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8" name="TextBox 67"/>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9" name="TextBox 68"/>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70" name="TextBox 69"/>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71" name="TextBox 70"/>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2" name="TextBox 71"/>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Heavy Commercial Vehicle EPS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69342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6743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48025"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895600"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533650"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171700"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19275"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609975"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09975"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09975"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09975"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09975"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9975"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01189"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15922"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15922"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01189"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47925"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76638"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352787"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42772"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922177"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19105"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576638"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11366"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589908"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10503"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77684"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38550"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638550"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638550"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638550"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638550"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2952750"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184706"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946097"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46097"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184706"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2952750"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20794"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959403"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959403"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720794"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153275" y="1354081"/>
            <a:ext cx="489585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6625" y="1439806"/>
            <a:ext cx="4629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286625" y="1677931"/>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86625" y="1763656"/>
            <a:ext cx="462915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Heavy Commercial Vehicle EPS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Heavy Commercial Vehicle EPS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153275" y="4943046"/>
            <a:ext cx="489585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86625" y="5028771"/>
            <a:ext cx="462915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286625" y="5266896"/>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86625" y="5352621"/>
            <a:ext cx="462915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41146"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49027" y="1889132"/>
            <a:ext cx="128699" cy="187198"/>
          </a:xfrm>
          <a:prstGeom prst="rect">
            <a:avLst/>
          </a:prstGeom>
        </p:spPr>
      </p:pic>
      <p:sp>
        <p:nvSpPr>
          <p:cNvPr id="65" name="TextBox 64"/>
          <p:cNvSpPr txBox="1"/>
          <p:nvPr/>
        </p:nvSpPr>
        <p:spPr>
          <a:xfrm>
            <a:off x="4267058"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23363" y="2315626"/>
            <a:ext cx="92663" cy="134782"/>
          </a:xfrm>
          <a:prstGeom prst="rect">
            <a:avLst/>
          </a:prstGeom>
        </p:spPr>
      </p:pic>
      <p:sp>
        <p:nvSpPr>
          <p:cNvPr id="67" name="TextBox 66"/>
          <p:cNvSpPr txBox="1"/>
          <p:nvPr/>
        </p:nvSpPr>
        <p:spPr>
          <a:xfrm>
            <a:off x="5035718"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077486" y="3363591"/>
            <a:ext cx="92663" cy="134782"/>
          </a:xfrm>
          <a:prstGeom prst="rect">
            <a:avLst/>
          </a:prstGeom>
        </p:spPr>
      </p:pic>
      <p:sp>
        <p:nvSpPr>
          <p:cNvPr id="69" name="TextBox 68"/>
          <p:cNvSpPr txBox="1"/>
          <p:nvPr/>
        </p:nvSpPr>
        <p:spPr>
          <a:xfrm>
            <a:off x="5024921"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083091" y="4655202"/>
            <a:ext cx="97811" cy="142270"/>
          </a:xfrm>
          <a:prstGeom prst="rect">
            <a:avLst/>
          </a:prstGeom>
        </p:spPr>
      </p:pic>
      <p:sp>
        <p:nvSpPr>
          <p:cNvPr id="71" name="TextBox 70"/>
          <p:cNvSpPr txBox="1"/>
          <p:nvPr/>
        </p:nvSpPr>
        <p:spPr>
          <a:xfrm>
            <a:off x="4232042"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790363" y="5767261"/>
            <a:ext cx="92663" cy="134782"/>
          </a:xfrm>
          <a:prstGeom prst="rect">
            <a:avLst/>
          </a:prstGeom>
        </p:spPr>
      </p:pic>
      <p:sp>
        <p:nvSpPr>
          <p:cNvPr id="73" name="TextBox 72"/>
          <p:cNvSpPr txBox="1"/>
          <p:nvPr/>
        </p:nvSpPr>
        <p:spPr>
          <a:xfrm>
            <a:off x="3049408"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071911" y="6103453"/>
            <a:ext cx="97811" cy="142270"/>
          </a:xfrm>
          <a:prstGeom prst="rect">
            <a:avLst/>
          </a:prstGeom>
        </p:spPr>
      </p:pic>
      <p:sp>
        <p:nvSpPr>
          <p:cNvPr id="75" name="TextBox 74"/>
          <p:cNvSpPr txBox="1"/>
          <p:nvPr/>
        </p:nvSpPr>
        <p:spPr>
          <a:xfrm>
            <a:off x="1859088"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213046"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49552" y="5767261"/>
            <a:ext cx="92663" cy="134782"/>
          </a:xfrm>
          <a:prstGeom prst="rect">
            <a:avLst/>
          </a:prstGeom>
        </p:spPr>
      </p:pic>
      <p:sp>
        <p:nvSpPr>
          <p:cNvPr id="78" name="TextBox 77"/>
          <p:cNvSpPr txBox="1"/>
          <p:nvPr/>
        </p:nvSpPr>
        <p:spPr>
          <a:xfrm>
            <a:off x="1049566"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565060" y="4719297"/>
            <a:ext cx="92663" cy="134782"/>
          </a:xfrm>
          <a:prstGeom prst="rect">
            <a:avLst/>
          </a:prstGeom>
        </p:spPr>
      </p:pic>
      <p:sp>
        <p:nvSpPr>
          <p:cNvPr id="80" name="TextBox 79"/>
          <p:cNvSpPr txBox="1"/>
          <p:nvPr/>
        </p:nvSpPr>
        <p:spPr>
          <a:xfrm>
            <a:off x="1032227"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07588" y="3363591"/>
            <a:ext cx="92663" cy="134782"/>
          </a:xfrm>
          <a:prstGeom prst="rect">
            <a:avLst/>
          </a:prstGeom>
        </p:spPr>
      </p:pic>
      <p:sp>
        <p:nvSpPr>
          <p:cNvPr id="82" name="TextBox 81"/>
          <p:cNvSpPr txBox="1"/>
          <p:nvPr/>
        </p:nvSpPr>
        <p:spPr>
          <a:xfrm>
            <a:off x="1803098"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26451" y="2375977"/>
            <a:ext cx="92663" cy="134782"/>
          </a:xfrm>
          <a:prstGeom prst="rect">
            <a:avLst/>
          </a:prstGeom>
        </p:spPr>
      </p:pic>
      <p:sp>
        <p:nvSpPr>
          <p:cNvPr id="84" name="TextBox 83"/>
          <p:cNvSpPr txBox="1"/>
          <p:nvPr/>
        </p:nvSpPr>
        <p:spPr>
          <a:xfrm>
            <a:off x="728662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7975543" y="5352366"/>
            <a:ext cx="128699" cy="187198"/>
          </a:xfrm>
          <a:prstGeom prst="rect">
            <a:avLst/>
          </a:prstGeom>
        </p:spPr>
      </p:pic>
      <p:sp>
        <p:nvSpPr>
          <p:cNvPr id="86" name="TextBox 85"/>
          <p:cNvSpPr txBox="1"/>
          <p:nvPr/>
        </p:nvSpPr>
        <p:spPr>
          <a:xfrm>
            <a:off x="814303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28662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086048" y="5570298"/>
            <a:ext cx="128699" cy="187198"/>
          </a:xfrm>
          <a:prstGeom prst="rect">
            <a:avLst/>
          </a:prstGeom>
        </p:spPr>
      </p:pic>
      <p:sp>
        <p:nvSpPr>
          <p:cNvPr id="89" name="TextBox 88"/>
          <p:cNvSpPr txBox="1"/>
          <p:nvPr/>
        </p:nvSpPr>
        <p:spPr>
          <a:xfrm>
            <a:off x="925354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28662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713060" y="5788230"/>
            <a:ext cx="128699" cy="187198"/>
          </a:xfrm>
          <a:prstGeom prst="rect">
            <a:avLst/>
          </a:prstGeom>
        </p:spPr>
      </p:pic>
      <p:sp>
        <p:nvSpPr>
          <p:cNvPr id="92" name="TextBox 91"/>
          <p:cNvSpPr txBox="1"/>
          <p:nvPr/>
        </p:nvSpPr>
        <p:spPr>
          <a:xfrm>
            <a:off x="888055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28662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759991" y="6006162"/>
            <a:ext cx="128699" cy="187198"/>
          </a:xfrm>
          <a:prstGeom prst="rect">
            <a:avLst/>
          </a:prstGeom>
        </p:spPr>
      </p:pic>
      <p:sp>
        <p:nvSpPr>
          <p:cNvPr id="95" name="TextBox 94"/>
          <p:cNvSpPr txBox="1"/>
          <p:nvPr/>
        </p:nvSpPr>
        <p:spPr>
          <a:xfrm>
            <a:off x="892748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28662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834752" y="6224094"/>
            <a:ext cx="128699" cy="187198"/>
          </a:xfrm>
          <a:prstGeom prst="rect">
            <a:avLst/>
          </a:prstGeom>
        </p:spPr>
      </p:pic>
      <p:sp>
        <p:nvSpPr>
          <p:cNvPr id="98" name="TextBox 97"/>
          <p:cNvSpPr txBox="1"/>
          <p:nvPr/>
        </p:nvSpPr>
        <p:spPr>
          <a:xfrm>
            <a:off x="900224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2" cy="2271331"/>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9" cy="2271331"/>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400"/>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system architecture type and region (US$/Units).</a:t>
            </a:r>
          </a:p>
        </p:txBody>
      </p:sp>
      <p:sp>
        <p:nvSpPr>
          <p:cNvPr id="11" name="Rounded Rectangle 10"/>
          <p:cNvSpPr/>
          <p:nvPr/>
        </p:nvSpPr>
        <p:spPr>
          <a:xfrm>
            <a:off x="142875" y="1314450"/>
            <a:ext cx="11906250" cy="3000375"/>
          </a:xfrm>
          <a:prstGeom prst="roundRect">
            <a:avLst>
              <a:gd name="adj" fmla="val 2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System Architecture (US$/Units)</a:t>
            </a:r>
          </a:p>
        </p:txBody>
      </p:sp>
      <p:graphicFrame>
        <p:nvGraphicFramePr>
          <p:cNvPr id="13" name="Table 12"/>
          <p:cNvGraphicFramePr>
            <a:graphicFrameLocks noGrp="1"/>
          </p:cNvGraphicFramePr>
          <p:nvPr/>
        </p:nvGraphicFramePr>
        <p:xfrm>
          <a:off x="152400" y="1571625"/>
          <a:ext cx="11887199" cy="2533649"/>
        </p:xfrm>
        <a:graphic>
          <a:graphicData uri="http://schemas.openxmlformats.org/drawingml/2006/table">
            <a:tbl>
              <a:tblPr>
                <a:tableStyleId>{5C22544A-7EE6-4342-B048-85BDC9FD1C3A}</a:tableStyleId>
              </a:tblPr>
              <a:tblGrid>
                <a:gridCol w="1415084"/>
                <a:gridCol w="2094423"/>
                <a:gridCol w="2094423"/>
                <a:gridCol w="2094423"/>
                <a:gridCol w="2094423"/>
                <a:gridCol w="2094423"/>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Recirculating Ball and Nut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Rack Assist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Column Assist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Steer by Wire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26789">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26789">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26789">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E2E2E"/>
                          </a:solidFill>
                          <a:latin typeface="Calibri"/>
                        </a:rPr>
                        <a:t>Eastern Europe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26789">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4114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457700"/>
            <a:ext cx="11906250" cy="2085975"/>
          </a:xfrm>
          <a:prstGeom prst="roundRect">
            <a:avLst>
              <a:gd name="adj" fmla="val 36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867275"/>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16851" y="2694812"/>
            <a:ext cx="366712" cy="533400"/>
          </a:xfrm>
          <a:prstGeom prst="rect">
            <a:avLst/>
          </a:prstGeom>
        </p:spPr>
      </p:pic>
      <p:sp>
        <p:nvSpPr>
          <p:cNvPr id="21" name="TextBox 20"/>
          <p:cNvSpPr txBox="1"/>
          <p:nvPr/>
        </p:nvSpPr>
        <p:spPr>
          <a:xfrm>
            <a:off x="276225" y="487680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866576"/>
            <a:ext cx="134549" cy="195707"/>
          </a:xfrm>
          <a:prstGeom prst="rect">
            <a:avLst/>
          </a:prstGeom>
        </p:spPr>
      </p:pic>
      <p:sp>
        <p:nvSpPr>
          <p:cNvPr id="23" name="TextBox 22"/>
          <p:cNvSpPr txBox="1"/>
          <p:nvPr/>
        </p:nvSpPr>
        <p:spPr>
          <a:xfrm>
            <a:off x="5042176" y="4876800"/>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4866576"/>
            <a:ext cx="134549" cy="195707"/>
          </a:xfrm>
          <a:prstGeom prst="rect">
            <a:avLst/>
          </a:prstGeom>
        </p:spPr>
      </p:pic>
      <p:sp>
        <p:nvSpPr>
          <p:cNvPr id="25" name="TextBox 24"/>
          <p:cNvSpPr txBox="1"/>
          <p:nvPr/>
        </p:nvSpPr>
        <p:spPr>
          <a:xfrm>
            <a:off x="8871069" y="4876800"/>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5104638"/>
            <a:ext cx="6340946" cy="194310"/>
          </a:xfrm>
          <a:prstGeom prst="rect">
            <a:avLst/>
          </a:prstGeom>
          <a:noFill/>
        </p:spPr>
        <p:txBody>
          <a:bodyPr wrap="none" lIns="0" rIns="0" tIns="0" bIns="0">
            <a:spAutoFit/>
          </a:bodyPr>
          <a:lstStyle/>
          <a:p>
            <a:r>
              <a:rPr sz="1150" b="0">
                <a:solidFill>
                  <a:srgbClr val="2E2E2E"/>
                </a:solidFill>
                <a:latin typeface="Calibri"/>
              </a:rPr>
              <a:t>▪ Price ranges are benchmarked per system architecture type at 2026, derived as Value ÷ Volume with a ±</a:t>
            </a:r>
          </a:p>
        </p:txBody>
      </p:sp>
      <p:pic>
        <p:nvPicPr>
          <p:cNvPr id="27" name="Picture 26" descr="lock.png"/>
          <p:cNvPicPr>
            <a:picLocks noChangeAspect="1"/>
          </p:cNvPicPr>
          <p:nvPr/>
        </p:nvPicPr>
        <p:blipFill>
          <a:blip r:embed="rId4"/>
          <a:stretch>
            <a:fillRect/>
          </a:stretch>
        </p:blipFill>
        <p:spPr>
          <a:xfrm>
            <a:off x="6566325" y="5094414"/>
            <a:ext cx="134549" cy="195707"/>
          </a:xfrm>
          <a:prstGeom prst="rect">
            <a:avLst/>
          </a:prstGeom>
        </p:spPr>
      </p:pic>
      <p:sp>
        <p:nvSpPr>
          <p:cNvPr id="28" name="TextBox 27"/>
          <p:cNvSpPr txBox="1"/>
          <p:nvPr/>
        </p:nvSpPr>
        <p:spPr>
          <a:xfrm>
            <a:off x="6741434" y="5104638"/>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33247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322252"/>
            <a:ext cx="134549" cy="195707"/>
          </a:xfrm>
          <a:prstGeom prst="rect">
            <a:avLst/>
          </a:prstGeom>
        </p:spPr>
      </p:pic>
      <p:sp>
        <p:nvSpPr>
          <p:cNvPr id="31" name="TextBox 30"/>
          <p:cNvSpPr txBox="1"/>
          <p:nvPr/>
        </p:nvSpPr>
        <p:spPr>
          <a:xfrm>
            <a:off x="2541355" y="533247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56031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Price Forecast &amp; Dynamics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system architecture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System Architecture (US$/Units)</a:t>
            </a:r>
          </a:p>
        </p:txBody>
      </p:sp>
      <p:graphicFrame>
        <p:nvGraphicFramePr>
          <p:cNvPr id="13" name="Table 12"/>
          <p:cNvGraphicFramePr>
            <a:graphicFrameLocks noGrp="1"/>
          </p:cNvGraphicFramePr>
          <p:nvPr/>
        </p:nvGraphicFramePr>
        <p:xfrm>
          <a:off x="152400" y="1574749"/>
          <a:ext cx="11887201" cy="1504674"/>
        </p:xfrm>
        <a:graphic>
          <a:graphicData uri="http://schemas.openxmlformats.org/drawingml/2006/table">
            <a:tbl>
              <a:tblPr>
                <a:tableStyleId>{5C22544A-7EE6-4342-B048-85BDC9FD1C3A}</a:tableStyleId>
              </a:tblPr>
              <a:tblGrid>
                <a:gridCol w="4592797"/>
                <a:gridCol w="1215734"/>
                <a:gridCol w="1215734"/>
                <a:gridCol w="1215734"/>
                <a:gridCol w="1215734"/>
                <a:gridCol w="1215734"/>
                <a:gridCol w="1215734"/>
              </a:tblGrid>
              <a:tr h="246126">
                <a:tc>
                  <a:txBody>
                    <a:bodyPr wrap="none"/>
                    <a:lstStyle/>
                    <a:p>
                      <a:pPr algn="l"/>
                      <a:r>
                        <a:rPr sz="1100" b="1">
                          <a:solidFill>
                            <a:srgbClr val="0B2E4A"/>
                          </a:solidFill>
                          <a:latin typeface="Calibri"/>
                        </a:rPr>
                        <a:t>System Architecture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14637">
                <a:tc>
                  <a:txBody>
                    <a:bodyPr wrap="none"/>
                    <a:lstStyle/>
                    <a:p>
                      <a:pPr algn="l"/>
                      <a:r>
                        <a:rPr sz="1100" b="1">
                          <a:solidFill>
                            <a:srgbClr val="2E2E2E"/>
                          </a:solidFill>
                          <a:latin typeface="Calibri"/>
                        </a:rPr>
                        <a:t>Recirculating Ball and Nut 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4637">
                <a:tc>
                  <a:txBody>
                    <a:bodyPr wrap="none"/>
                    <a:lstStyle/>
                    <a:p>
                      <a:pPr algn="l"/>
                      <a:r>
                        <a:rPr sz="1100" b="1">
                          <a:solidFill>
                            <a:srgbClr val="2E2E2E"/>
                          </a:solidFill>
                          <a:latin typeface="Calibri"/>
                        </a:rPr>
                        <a:t>Rack Assist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14637">
                <a:tc>
                  <a:txBody>
                    <a:bodyPr wrap="none"/>
                    <a:lstStyle/>
                    <a:p>
                      <a:pPr algn="l"/>
                      <a:r>
                        <a:rPr sz="1100" b="1">
                          <a:solidFill>
                            <a:srgbClr val="2E2E2E"/>
                          </a:solidFill>
                          <a:latin typeface="Calibri"/>
                        </a:rPr>
                        <a:t>Column Assist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4637">
                <a:tc>
                  <a:txBody>
                    <a:bodyPr wrap="none"/>
                    <a:lstStyle/>
                    <a:p>
                      <a:pPr algn="l"/>
                      <a:r>
                        <a:rPr sz="1100" b="1">
                          <a:solidFill>
                            <a:srgbClr val="2E2E2E"/>
                          </a:solidFill>
                          <a:latin typeface="Calibri"/>
                        </a:rPr>
                        <a:t>Steer by Wire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8205709" y="2183449"/>
            <a:ext cx="366712" cy="533400"/>
          </a:xfrm>
          <a:prstGeom prst="rect">
            <a:avLst/>
          </a:prstGeom>
        </p:spPr>
      </p:pic>
      <p:sp>
        <p:nvSpPr>
          <p:cNvPr id="25" name="TextBox 24"/>
          <p:cNvSpPr txBox="1"/>
          <p:nvPr/>
        </p:nvSpPr>
        <p:spPr>
          <a:xfrm>
            <a:off x="6334125" y="3817595"/>
            <a:ext cx="3751941" cy="194310"/>
          </a:xfrm>
          <a:prstGeom prst="rect">
            <a:avLst/>
          </a:prstGeom>
          <a:noFill/>
        </p:spPr>
        <p:txBody>
          <a:bodyPr wrap="none" lIns="0" rIns="0" tIns="0" bIns="0">
            <a:spAutoFit/>
          </a:bodyPr>
          <a:lstStyle/>
          <a:p>
            <a:r>
              <a:rPr sz="1150" b="0">
                <a:solidFill>
                  <a:srgbClr val="2E2E2E"/>
                </a:solidFill>
                <a:latin typeface="Calibri"/>
              </a:rPr>
              <a:t>▪ Average system architecture price is projected to rise from ~</a:t>
            </a:r>
          </a:p>
        </p:txBody>
      </p:sp>
      <p:pic>
        <p:nvPicPr>
          <p:cNvPr id="26" name="Picture 25" descr="lock.png"/>
          <p:cNvPicPr>
            <a:picLocks noChangeAspect="1"/>
          </p:cNvPicPr>
          <p:nvPr/>
        </p:nvPicPr>
        <p:blipFill>
          <a:blip r:embed="rId4"/>
          <a:stretch>
            <a:fillRect/>
          </a:stretch>
        </p:blipFill>
        <p:spPr>
          <a:xfrm>
            <a:off x="10035220" y="3807371"/>
            <a:ext cx="134549" cy="195707"/>
          </a:xfrm>
          <a:prstGeom prst="rect">
            <a:avLst/>
          </a:prstGeom>
        </p:spPr>
      </p:pic>
      <p:sp>
        <p:nvSpPr>
          <p:cNvPr id="27" name="TextBox 26"/>
          <p:cNvSpPr txBox="1"/>
          <p:nvPr/>
        </p:nvSpPr>
        <p:spPr>
          <a:xfrm>
            <a:off x="10210329"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467595" y="3807371"/>
            <a:ext cx="134549" cy="195707"/>
          </a:xfrm>
          <a:prstGeom prst="rect">
            <a:avLst/>
          </a:prstGeom>
        </p:spPr>
      </p:pic>
      <p:sp>
        <p:nvSpPr>
          <p:cNvPr id="29" name="TextBox 28"/>
          <p:cNvSpPr txBox="1"/>
          <p:nvPr/>
        </p:nvSpPr>
        <p:spPr>
          <a:xfrm>
            <a:off x="10642704" y="3817595"/>
            <a:ext cx="854087" cy="194310"/>
          </a:xfrm>
          <a:prstGeom prst="rect">
            <a:avLst/>
          </a:prstGeom>
          <a:noFill/>
        </p:spPr>
        <p:txBody>
          <a:bodyPr wrap="none" lIns="0" rIns="0" tIns="0" bIns="0">
            <a:spAutoFit/>
          </a:bodyPr>
          <a:lstStyle/>
          <a:p>
            <a:r>
              <a:rPr sz="1150" b="0">
                <a:solidFill>
                  <a:srgbClr val="2E2E2E"/>
                </a:solidFill>
                <a:latin typeface="Calibri"/>
              </a:rPr>
              <a:t>US$/Units by</a:t>
            </a:r>
          </a:p>
        </p:txBody>
      </p:sp>
      <p:sp>
        <p:nvSpPr>
          <p:cNvPr id="30" name="TextBox 29"/>
          <p:cNvSpPr txBox="1"/>
          <p:nvPr/>
        </p:nvSpPr>
        <p:spPr>
          <a:xfrm>
            <a:off x="6334125" y="3992855"/>
            <a:ext cx="581669" cy="194310"/>
          </a:xfrm>
          <a:prstGeom prst="rect">
            <a:avLst/>
          </a:prstGeom>
          <a:noFill/>
        </p:spPr>
        <p:txBody>
          <a:bodyPr wrap="none" lIns="0" rIns="0" tIns="0" bIns="0">
            <a:spAutoFit/>
          </a:bodyPr>
          <a:lstStyle/>
          <a:p>
            <a:r>
              <a:rPr sz="1150" b="0">
                <a:solidFill>
                  <a:srgbClr val="2E2E2E"/>
                </a:solidFill>
                <a:latin typeface="Calibri"/>
              </a:rPr>
              <a:t>2036 a +</a:t>
            </a:r>
          </a:p>
        </p:txBody>
      </p:sp>
      <p:pic>
        <p:nvPicPr>
          <p:cNvPr id="31" name="Picture 30" descr="lock.png"/>
          <p:cNvPicPr>
            <a:picLocks noChangeAspect="1"/>
          </p:cNvPicPr>
          <p:nvPr/>
        </p:nvPicPr>
        <p:blipFill>
          <a:blip r:embed="rId4"/>
          <a:stretch>
            <a:fillRect/>
          </a:stretch>
        </p:blipFill>
        <p:spPr>
          <a:xfrm>
            <a:off x="6864948" y="3982631"/>
            <a:ext cx="134549" cy="195707"/>
          </a:xfrm>
          <a:prstGeom prst="rect">
            <a:avLst/>
          </a:prstGeom>
        </p:spPr>
      </p:pic>
      <p:sp>
        <p:nvSpPr>
          <p:cNvPr id="32" name="TextBox 31"/>
          <p:cNvSpPr txBox="1"/>
          <p:nvPr/>
        </p:nvSpPr>
        <p:spPr>
          <a:xfrm>
            <a:off x="7040058"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3880631" cy="194310"/>
          </a:xfrm>
          <a:prstGeom prst="rect">
            <a:avLst/>
          </a:prstGeom>
          <a:noFill/>
        </p:spPr>
        <p:txBody>
          <a:bodyPr wrap="none" lIns="0" rIns="0" tIns="0" bIns="0">
            <a:spAutoFit/>
          </a:bodyPr>
          <a:lstStyle/>
          <a:p>
            <a:r>
              <a:rPr sz="1150" b="0">
                <a:solidFill>
                  <a:srgbClr val="2E2E2E"/>
                </a:solidFill>
                <a:latin typeface="Calibri"/>
              </a:rPr>
              <a:t>▪ 'Rack Assist' shows the strongest forecast price appreciation (+</a:t>
            </a:r>
          </a:p>
        </p:txBody>
      </p:sp>
      <p:pic>
        <p:nvPicPr>
          <p:cNvPr id="34" name="Picture 33" descr="lock.png"/>
          <p:cNvPicPr>
            <a:picLocks noChangeAspect="1"/>
          </p:cNvPicPr>
          <p:nvPr/>
        </p:nvPicPr>
        <p:blipFill>
          <a:blip r:embed="rId4"/>
          <a:stretch>
            <a:fillRect/>
          </a:stretch>
        </p:blipFill>
        <p:spPr>
          <a:xfrm>
            <a:off x="10163910" y="4210469"/>
            <a:ext cx="134549" cy="195707"/>
          </a:xfrm>
          <a:prstGeom prst="rect">
            <a:avLst/>
          </a:prstGeom>
        </p:spPr>
      </p:pic>
      <p:sp>
        <p:nvSpPr>
          <p:cNvPr id="35" name="TextBox 34"/>
          <p:cNvSpPr txBox="1"/>
          <p:nvPr/>
        </p:nvSpPr>
        <p:spPr>
          <a:xfrm>
            <a:off x="10339019" y="4220692"/>
            <a:ext cx="1171574" cy="194310"/>
          </a:xfrm>
          <a:prstGeom prst="rect">
            <a:avLst/>
          </a:prstGeom>
          <a:noFill/>
        </p:spPr>
        <p:txBody>
          <a:bodyPr wrap="none" lIns="0" rIns="0" tIns="0" bIns="0">
            <a:spAutoFit/>
          </a:bodyPr>
          <a:lstStyle/>
          <a:p>
            <a:r>
              <a:rPr sz="1150" b="0">
                <a:solidFill>
                  <a:srgbClr val="2E2E2E"/>
                </a:solidFill>
                <a:latin typeface="Calibri"/>
              </a:rPr>
              <a:t>) over the horizon.</a:t>
            </a:r>
          </a:p>
        </p:txBody>
      </p:sp>
      <p:sp>
        <p:nvSpPr>
          <p:cNvPr id="36" name="TextBox 35"/>
          <p:cNvSpPr txBox="1"/>
          <p:nvPr/>
        </p:nvSpPr>
        <p:spPr>
          <a:xfrm>
            <a:off x="6334125" y="444853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7" name="TextBox 36"/>
          <p:cNvSpPr txBox="1"/>
          <p:nvPr/>
        </p:nvSpPr>
        <p:spPr>
          <a:xfrm>
            <a:off x="6334125" y="462379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8" name="TextBox 37"/>
          <p:cNvSpPr txBox="1"/>
          <p:nvPr/>
        </p:nvSpPr>
        <p:spPr>
          <a:xfrm>
            <a:off x="6334125" y="485162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9" name="TextBox 38"/>
          <p:cNvSpPr txBox="1"/>
          <p:nvPr/>
        </p:nvSpPr>
        <p:spPr>
          <a:xfrm>
            <a:off x="6334125" y="502688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1809876"/>
                <a:gridCol w="593808"/>
                <a:gridCol w="1248358"/>
                <a:gridCol w="1168616"/>
                <a:gridCol w="2856492"/>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Bosch</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ZF</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Knorr-Bremse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thyssenkrupp</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JTEKT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Nexteer Automotive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220729" y="3086680"/>
            <a:ext cx="330041" cy="480060"/>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7022782" cy="153161"/>
          </a:xfrm>
          <a:prstGeom prst="rect">
            <a:avLst/>
          </a:prstGeom>
          <a:noFill/>
        </p:spPr>
        <p:txBody>
          <a:bodyPr wrap="none" lIns="0" rIns="0" tIns="0" bIns="0">
            <a:spAutoFit/>
          </a:bodyPr>
          <a:lstStyle/>
          <a:p>
            <a:r>
              <a:rPr sz="879" b="0">
                <a:solidFill>
                  <a:srgbClr val="2E2E2E"/>
                </a:solidFill>
                <a:latin typeface="Calibri"/>
              </a:rPr>
              <a:t>▪ The Heavy Commercial Vehicle EPS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Heavy Commercial Vehicle EPS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Heavy Commercial Vehicle EPS Market Buyers / End-User Assessment</a:t>
            </a:r>
          </a:p>
        </p:txBody>
      </p:sp>
      <p:graphicFrame>
        <p:nvGraphicFramePr>
          <p:cNvPr id="12" name="Table 11"/>
          <p:cNvGraphicFramePr>
            <a:graphicFrameLocks noGrp="1"/>
          </p:cNvGraphicFramePr>
          <p:nvPr/>
        </p:nvGraphicFramePr>
        <p:xfrm>
          <a:off x="152400" y="1238250"/>
          <a:ext cx="11887201" cy="2714626"/>
        </p:xfrm>
        <a:graphic>
          <a:graphicData uri="http://schemas.openxmlformats.org/drawingml/2006/table">
            <a:tbl>
              <a:tblPr>
                <a:tableStyleId>{5C22544A-7EE6-4342-B048-85BDC9FD1C3A}</a:tableStyleId>
              </a:tblPr>
              <a:tblGrid>
                <a:gridCol w="1763108"/>
                <a:gridCol w="990456"/>
                <a:gridCol w="1295106"/>
                <a:gridCol w="1053556"/>
                <a:gridCol w="1496397"/>
                <a:gridCol w="1194460"/>
                <a:gridCol w="1430938"/>
                <a:gridCol w="1259880"/>
                <a:gridCol w="1403300"/>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Bosch</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ZF</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Knorr-Bremse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thyssenkrupp</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JTEKT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Argentina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Nexteer Automotive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LATAM</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NSK</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China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Hyundai Mobis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Japan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HL Mando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South Korea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China Automotive Systems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India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South Asia &amp; Pacific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506972" y="2451926"/>
            <a:ext cx="366712" cy="533400"/>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221132"/>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22113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3" name="TextBox 22"/>
          <p:cNvSpPr txBox="1"/>
          <p:nvPr/>
        </p:nvSpPr>
        <p:spPr>
          <a:xfrm>
            <a:off x="1724025" y="224851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24851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Growth moderating vs history.</a:t>
            </a:r>
          </a:p>
        </p:txBody>
      </p:sp>
      <p:sp>
        <p:nvSpPr>
          <p:cNvPr id="25" name="TextBox 24"/>
          <p:cNvSpPr txBox="1"/>
          <p:nvPr/>
        </p:nvSpPr>
        <p:spPr>
          <a:xfrm>
            <a:off x="8391525" y="224851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732236"/>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732236"/>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28" name="TextBox 27"/>
          <p:cNvSpPr txBox="1"/>
          <p:nvPr/>
        </p:nvSpPr>
        <p:spPr>
          <a:xfrm>
            <a:off x="1724025" y="275961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75961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TextBox 29"/>
          <p:cNvSpPr txBox="1"/>
          <p:nvPr/>
        </p:nvSpPr>
        <p:spPr>
          <a:xfrm>
            <a:off x="8391525" y="275961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243339"/>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24333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3" name="TextBox 32"/>
          <p:cNvSpPr txBox="1"/>
          <p:nvPr/>
        </p:nvSpPr>
        <p:spPr>
          <a:xfrm>
            <a:off x="1724025" y="3270720"/>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270720"/>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270720"/>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3754443"/>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3754443"/>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38" name="TextBox 37"/>
          <p:cNvSpPr txBox="1"/>
          <p:nvPr/>
        </p:nvSpPr>
        <p:spPr>
          <a:xfrm>
            <a:off x="1724025" y="378182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378182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Growth moderating vs history.</a:t>
            </a:r>
          </a:p>
        </p:txBody>
      </p:sp>
      <p:sp>
        <p:nvSpPr>
          <p:cNvPr id="40" name="TextBox 39"/>
          <p:cNvSpPr txBox="1"/>
          <p:nvPr/>
        </p:nvSpPr>
        <p:spPr>
          <a:xfrm>
            <a:off x="8391525" y="378182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265546"/>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265546"/>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Eastern Europe</a:t>
            </a:r>
          </a:p>
        </p:txBody>
      </p:sp>
      <p:sp>
        <p:nvSpPr>
          <p:cNvPr id="43" name="TextBox 42"/>
          <p:cNvSpPr txBox="1"/>
          <p:nvPr/>
        </p:nvSpPr>
        <p:spPr>
          <a:xfrm>
            <a:off x="1724025" y="4292927"/>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292927"/>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292927"/>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Rectangle 45"/>
          <p:cNvSpPr/>
          <p:nvPr/>
        </p:nvSpPr>
        <p:spPr>
          <a:xfrm>
            <a:off x="142875" y="4776650"/>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0025" y="4776650"/>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Western Europe</a:t>
            </a:r>
          </a:p>
        </p:txBody>
      </p:sp>
      <p:sp>
        <p:nvSpPr>
          <p:cNvPr id="48" name="TextBox 47"/>
          <p:cNvSpPr txBox="1"/>
          <p:nvPr/>
        </p:nvSpPr>
        <p:spPr>
          <a:xfrm>
            <a:off x="1724025" y="4804030"/>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5534025" y="4804030"/>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0" name="TextBox 49"/>
          <p:cNvSpPr txBox="1"/>
          <p:nvPr/>
        </p:nvSpPr>
        <p:spPr>
          <a:xfrm>
            <a:off x="8391525" y="4804030"/>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51" name="Connector 50"/>
          <p:cNvCxnSpPr/>
          <p:nvPr/>
        </p:nvCxnSpPr>
        <p:spPr>
          <a:xfrm>
            <a:off x="142875" y="5287753"/>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00025" y="5306007"/>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53" name="Rounded Rectangle 52"/>
          <p:cNvSpPr/>
          <p:nvPr/>
        </p:nvSpPr>
        <p:spPr>
          <a:xfrm>
            <a:off x="142875" y="5561559"/>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6225" y="5598066"/>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5" name="Connector 54"/>
          <p:cNvCxnSpPr/>
          <p:nvPr/>
        </p:nvCxnSpPr>
        <p:spPr>
          <a:xfrm>
            <a:off x="276225" y="5835364"/>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276225" y="5890125"/>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7" name="TextBox 5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8" name="TextBox 57"/>
          <p:cNvSpPr txBox="1"/>
          <p:nvPr/>
        </p:nvSpPr>
        <p:spPr>
          <a:xfrm>
            <a:off x="1752600" y="170210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9" name="Picture 58" descr="lock.png"/>
          <p:cNvPicPr>
            <a:picLocks noChangeAspect="1"/>
          </p:cNvPicPr>
          <p:nvPr/>
        </p:nvPicPr>
        <p:blipFill>
          <a:blip r:embed="rId4"/>
          <a:stretch>
            <a:fillRect/>
          </a:stretch>
        </p:blipFill>
        <p:spPr>
          <a:xfrm>
            <a:off x="2438789" y="1692329"/>
            <a:ext cx="128699" cy="187198"/>
          </a:xfrm>
          <a:prstGeom prst="rect">
            <a:avLst/>
          </a:prstGeom>
        </p:spPr>
      </p:pic>
      <p:sp>
        <p:nvSpPr>
          <p:cNvPr id="60" name="TextBox 59"/>
          <p:cNvSpPr txBox="1"/>
          <p:nvPr/>
        </p:nvSpPr>
        <p:spPr>
          <a:xfrm>
            <a:off x="2606285" y="170210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61" name="Picture 60" descr="lock.png"/>
          <p:cNvPicPr>
            <a:picLocks noChangeAspect="1"/>
          </p:cNvPicPr>
          <p:nvPr/>
        </p:nvPicPr>
        <p:blipFill>
          <a:blip r:embed="rId4"/>
          <a:stretch>
            <a:fillRect/>
          </a:stretch>
        </p:blipFill>
        <p:spPr>
          <a:xfrm>
            <a:off x="4110756" y="1692329"/>
            <a:ext cx="128699" cy="187198"/>
          </a:xfrm>
          <a:prstGeom prst="rect">
            <a:avLst/>
          </a:prstGeom>
        </p:spPr>
      </p:pic>
      <p:sp>
        <p:nvSpPr>
          <p:cNvPr id="62" name="TextBox 61"/>
          <p:cNvSpPr txBox="1"/>
          <p:nvPr/>
        </p:nvSpPr>
        <p:spPr>
          <a:xfrm>
            <a:off x="4278252" y="1702107"/>
            <a:ext cx="854082" cy="186689"/>
          </a:xfrm>
          <a:prstGeom prst="rect">
            <a:avLst/>
          </a:prstGeom>
          <a:noFill/>
        </p:spPr>
        <p:txBody>
          <a:bodyPr wrap="none" lIns="0" rIns="0" tIns="0" bIns="0">
            <a:spAutoFit/>
          </a:bodyPr>
          <a:lstStyle/>
          <a:p>
            <a:r>
              <a:rPr sz="1100" b="0">
                <a:solidFill>
                  <a:srgbClr val="2E2E2E"/>
                </a:solidFill>
                <a:latin typeface="Calibri"/>
              </a:rPr>
              <a:t>CAGR), Heavy</a:t>
            </a:r>
          </a:p>
        </p:txBody>
      </p:sp>
      <p:sp>
        <p:nvSpPr>
          <p:cNvPr id="63" name="TextBox 62"/>
          <p:cNvSpPr txBox="1"/>
          <p:nvPr/>
        </p:nvSpPr>
        <p:spPr>
          <a:xfrm>
            <a:off x="1752600" y="1869747"/>
            <a:ext cx="1280293" cy="186689"/>
          </a:xfrm>
          <a:prstGeom prst="rect">
            <a:avLst/>
          </a:prstGeom>
          <a:noFill/>
        </p:spPr>
        <p:txBody>
          <a:bodyPr wrap="none" lIns="0" rIns="0" tIns="0" bIns="0">
            <a:spAutoFit/>
          </a:bodyPr>
          <a:lstStyle/>
          <a:p>
            <a:r>
              <a:rPr sz="1100" b="0">
                <a:solidFill>
                  <a:srgbClr val="2E2E2E"/>
                </a:solidFill>
                <a:latin typeface="Calibri"/>
              </a:rPr>
              <a:t>Duty Trucks demand.</a:t>
            </a:r>
          </a:p>
        </p:txBody>
      </p:sp>
      <p:sp>
        <p:nvSpPr>
          <p:cNvPr id="64" name="TextBox 63"/>
          <p:cNvSpPr txBox="1"/>
          <p:nvPr/>
        </p:nvSpPr>
        <p:spPr>
          <a:xfrm>
            <a:off x="5562600" y="161828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5" name="Picture 64" descr="lock.png"/>
          <p:cNvPicPr>
            <a:picLocks noChangeAspect="1"/>
          </p:cNvPicPr>
          <p:nvPr/>
        </p:nvPicPr>
        <p:blipFill>
          <a:blip r:embed="rId4"/>
          <a:stretch>
            <a:fillRect/>
          </a:stretch>
        </p:blipFill>
        <p:spPr>
          <a:xfrm>
            <a:off x="6797766" y="1608509"/>
            <a:ext cx="128699" cy="187198"/>
          </a:xfrm>
          <a:prstGeom prst="rect">
            <a:avLst/>
          </a:prstGeom>
        </p:spPr>
      </p:pic>
      <p:sp>
        <p:nvSpPr>
          <p:cNvPr id="66" name="TextBox 65"/>
          <p:cNvSpPr txBox="1"/>
          <p:nvPr/>
        </p:nvSpPr>
        <p:spPr>
          <a:xfrm>
            <a:off x="6965262" y="1618288"/>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7" name="TextBox 66"/>
          <p:cNvSpPr txBox="1"/>
          <p:nvPr/>
        </p:nvSpPr>
        <p:spPr>
          <a:xfrm>
            <a:off x="5562600" y="1785927"/>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8" name="Picture 67" descr="lock.png"/>
          <p:cNvPicPr>
            <a:picLocks noChangeAspect="1"/>
          </p:cNvPicPr>
          <p:nvPr/>
        </p:nvPicPr>
        <p:blipFill>
          <a:blip r:embed="rId4"/>
          <a:stretch>
            <a:fillRect/>
          </a:stretch>
        </p:blipFill>
        <p:spPr>
          <a:xfrm>
            <a:off x="6258066" y="1776149"/>
            <a:ext cx="128699" cy="187198"/>
          </a:xfrm>
          <a:prstGeom prst="rect">
            <a:avLst/>
          </a:prstGeom>
        </p:spPr>
      </p:pic>
      <p:sp>
        <p:nvSpPr>
          <p:cNvPr id="69" name="TextBox 68"/>
          <p:cNvSpPr txBox="1"/>
          <p:nvPr/>
        </p:nvSpPr>
        <p:spPr>
          <a:xfrm>
            <a:off x="6425562" y="1785927"/>
            <a:ext cx="1459011"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70" name="TextBox 69"/>
          <p:cNvSpPr txBox="1"/>
          <p:nvPr/>
        </p:nvSpPr>
        <p:spPr>
          <a:xfrm>
            <a:off x="5562600" y="1953567"/>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71" name="TextBox 70"/>
          <p:cNvSpPr txBox="1"/>
          <p:nvPr/>
        </p:nvSpPr>
        <p:spPr>
          <a:xfrm>
            <a:off x="8420100" y="1785927"/>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72" name="Picture 71" descr="lock.png"/>
          <p:cNvPicPr>
            <a:picLocks noChangeAspect="1"/>
          </p:cNvPicPr>
          <p:nvPr/>
        </p:nvPicPr>
        <p:blipFill>
          <a:blip r:embed="rId4"/>
          <a:stretch>
            <a:fillRect/>
          </a:stretch>
        </p:blipFill>
        <p:spPr>
          <a:xfrm>
            <a:off x="9973411" y="1776149"/>
            <a:ext cx="128699" cy="187198"/>
          </a:xfrm>
          <a:prstGeom prst="rect">
            <a:avLst/>
          </a:prstGeom>
        </p:spPr>
      </p:pic>
      <p:sp>
        <p:nvSpPr>
          <p:cNvPr id="73" name="TextBox 72"/>
          <p:cNvSpPr txBox="1"/>
          <p:nvPr/>
        </p:nvSpPr>
        <p:spPr>
          <a:xfrm>
            <a:off x="10140907" y="178592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4" name="Picture 73" descr="lock.png"/>
          <p:cNvPicPr>
            <a:picLocks noChangeAspect="1"/>
          </p:cNvPicPr>
          <p:nvPr/>
        </p:nvPicPr>
        <p:blipFill>
          <a:blip r:embed="rId4"/>
          <a:stretch>
            <a:fillRect/>
          </a:stretch>
        </p:blipFill>
        <p:spPr>
          <a:xfrm>
            <a:off x="10242376" y="1776149"/>
            <a:ext cx="128699" cy="187198"/>
          </a:xfrm>
          <a:prstGeom prst="rect">
            <a:avLst/>
          </a:prstGeom>
        </p:spPr>
      </p:pic>
      <p:sp>
        <p:nvSpPr>
          <p:cNvPr id="75" name="TextBox 74"/>
          <p:cNvSpPr txBox="1"/>
          <p:nvPr/>
        </p:nvSpPr>
        <p:spPr>
          <a:xfrm>
            <a:off x="10409871" y="178592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6" name="TextBox 75"/>
          <p:cNvSpPr txBox="1"/>
          <p:nvPr/>
        </p:nvSpPr>
        <p:spPr>
          <a:xfrm>
            <a:off x="1752600" y="2309044"/>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7" name="Picture 76" descr="lock.png"/>
          <p:cNvPicPr>
            <a:picLocks noChangeAspect="1"/>
          </p:cNvPicPr>
          <p:nvPr/>
        </p:nvPicPr>
        <p:blipFill>
          <a:blip r:embed="rId4"/>
          <a:stretch>
            <a:fillRect/>
          </a:stretch>
        </p:blipFill>
        <p:spPr>
          <a:xfrm>
            <a:off x="2438789" y="2299265"/>
            <a:ext cx="128699" cy="187198"/>
          </a:xfrm>
          <a:prstGeom prst="rect">
            <a:avLst/>
          </a:prstGeom>
        </p:spPr>
      </p:pic>
      <p:sp>
        <p:nvSpPr>
          <p:cNvPr id="78" name="TextBox 77"/>
          <p:cNvSpPr txBox="1"/>
          <p:nvPr/>
        </p:nvSpPr>
        <p:spPr>
          <a:xfrm>
            <a:off x="2606285" y="2309044"/>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9" name="Picture 78" descr="lock.png"/>
          <p:cNvPicPr>
            <a:picLocks noChangeAspect="1"/>
          </p:cNvPicPr>
          <p:nvPr/>
        </p:nvPicPr>
        <p:blipFill>
          <a:blip r:embed="rId4"/>
          <a:stretch>
            <a:fillRect/>
          </a:stretch>
        </p:blipFill>
        <p:spPr>
          <a:xfrm>
            <a:off x="4237905" y="2299265"/>
            <a:ext cx="128699" cy="187198"/>
          </a:xfrm>
          <a:prstGeom prst="rect">
            <a:avLst/>
          </a:prstGeom>
        </p:spPr>
      </p:pic>
      <p:sp>
        <p:nvSpPr>
          <p:cNvPr id="80" name="TextBox 79"/>
          <p:cNvSpPr txBox="1"/>
          <p:nvPr/>
        </p:nvSpPr>
        <p:spPr>
          <a:xfrm>
            <a:off x="4405401" y="2309044"/>
            <a:ext cx="836091" cy="186689"/>
          </a:xfrm>
          <a:prstGeom prst="rect">
            <a:avLst/>
          </a:prstGeom>
          <a:noFill/>
        </p:spPr>
        <p:txBody>
          <a:bodyPr wrap="none" lIns="0" rIns="0" tIns="0" bIns="0">
            <a:spAutoFit/>
          </a:bodyPr>
          <a:lstStyle/>
          <a:p>
            <a:r>
              <a:rPr sz="1100" b="0">
                <a:solidFill>
                  <a:srgbClr val="2E2E2E"/>
                </a:solidFill>
                <a:latin typeface="Calibri"/>
              </a:rPr>
              <a:t>), Heavy Duty</a:t>
            </a:r>
          </a:p>
        </p:txBody>
      </p:sp>
      <p:sp>
        <p:nvSpPr>
          <p:cNvPr id="81" name="TextBox 80"/>
          <p:cNvSpPr txBox="1"/>
          <p:nvPr/>
        </p:nvSpPr>
        <p:spPr>
          <a:xfrm>
            <a:off x="1752600" y="2476684"/>
            <a:ext cx="979065" cy="186689"/>
          </a:xfrm>
          <a:prstGeom prst="rect">
            <a:avLst/>
          </a:prstGeom>
          <a:noFill/>
        </p:spPr>
        <p:txBody>
          <a:bodyPr wrap="none" lIns="0" rIns="0" tIns="0" bIns="0">
            <a:spAutoFit/>
          </a:bodyPr>
          <a:lstStyle/>
          <a:p>
            <a:r>
              <a:rPr sz="1100" b="0">
                <a:solidFill>
                  <a:srgbClr val="2E2E2E"/>
                </a:solidFill>
                <a:latin typeface="Calibri"/>
              </a:rPr>
              <a:t>Trucks demand.</a:t>
            </a:r>
          </a:p>
        </p:txBody>
      </p:sp>
      <p:sp>
        <p:nvSpPr>
          <p:cNvPr id="82" name="TextBox 81"/>
          <p:cNvSpPr txBox="1"/>
          <p:nvPr/>
        </p:nvSpPr>
        <p:spPr>
          <a:xfrm>
            <a:off x="8420100" y="2392864"/>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83" name="Picture 82" descr="lock.png"/>
          <p:cNvPicPr>
            <a:picLocks noChangeAspect="1"/>
          </p:cNvPicPr>
          <p:nvPr/>
        </p:nvPicPr>
        <p:blipFill>
          <a:blip r:embed="rId4"/>
          <a:stretch>
            <a:fillRect/>
          </a:stretch>
        </p:blipFill>
        <p:spPr>
          <a:xfrm>
            <a:off x="9973411" y="2383085"/>
            <a:ext cx="128699" cy="187198"/>
          </a:xfrm>
          <a:prstGeom prst="rect">
            <a:avLst/>
          </a:prstGeom>
        </p:spPr>
      </p:pic>
      <p:sp>
        <p:nvSpPr>
          <p:cNvPr id="84" name="TextBox 83"/>
          <p:cNvSpPr txBox="1"/>
          <p:nvPr/>
        </p:nvSpPr>
        <p:spPr>
          <a:xfrm>
            <a:off x="10140907" y="2392864"/>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5" name="Picture 84" descr="lock.png"/>
          <p:cNvPicPr>
            <a:picLocks noChangeAspect="1"/>
          </p:cNvPicPr>
          <p:nvPr/>
        </p:nvPicPr>
        <p:blipFill>
          <a:blip r:embed="rId4"/>
          <a:stretch>
            <a:fillRect/>
          </a:stretch>
        </p:blipFill>
        <p:spPr>
          <a:xfrm>
            <a:off x="10242376" y="2383085"/>
            <a:ext cx="128699" cy="187198"/>
          </a:xfrm>
          <a:prstGeom prst="rect">
            <a:avLst/>
          </a:prstGeom>
        </p:spPr>
      </p:pic>
      <p:sp>
        <p:nvSpPr>
          <p:cNvPr id="86" name="TextBox 85"/>
          <p:cNvSpPr txBox="1"/>
          <p:nvPr/>
        </p:nvSpPr>
        <p:spPr>
          <a:xfrm>
            <a:off x="10409871" y="239286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7" name="TextBox 86"/>
          <p:cNvSpPr txBox="1"/>
          <p:nvPr/>
        </p:nvSpPr>
        <p:spPr>
          <a:xfrm>
            <a:off x="1752600" y="282014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8" name="Picture 87" descr="lock.png"/>
          <p:cNvPicPr>
            <a:picLocks noChangeAspect="1"/>
          </p:cNvPicPr>
          <p:nvPr/>
        </p:nvPicPr>
        <p:blipFill>
          <a:blip r:embed="rId4"/>
          <a:stretch>
            <a:fillRect/>
          </a:stretch>
        </p:blipFill>
        <p:spPr>
          <a:xfrm>
            <a:off x="2438789" y="2810368"/>
            <a:ext cx="128699" cy="187198"/>
          </a:xfrm>
          <a:prstGeom prst="rect">
            <a:avLst/>
          </a:prstGeom>
        </p:spPr>
      </p:pic>
      <p:sp>
        <p:nvSpPr>
          <p:cNvPr id="89" name="TextBox 88"/>
          <p:cNvSpPr txBox="1"/>
          <p:nvPr/>
        </p:nvSpPr>
        <p:spPr>
          <a:xfrm>
            <a:off x="2606285" y="282014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90" name="Picture 89" descr="lock.png"/>
          <p:cNvPicPr>
            <a:picLocks noChangeAspect="1"/>
          </p:cNvPicPr>
          <p:nvPr/>
        </p:nvPicPr>
        <p:blipFill>
          <a:blip r:embed="rId4"/>
          <a:stretch>
            <a:fillRect/>
          </a:stretch>
        </p:blipFill>
        <p:spPr>
          <a:xfrm>
            <a:off x="4110756" y="2810368"/>
            <a:ext cx="128699" cy="187198"/>
          </a:xfrm>
          <a:prstGeom prst="rect">
            <a:avLst/>
          </a:prstGeom>
        </p:spPr>
      </p:pic>
      <p:sp>
        <p:nvSpPr>
          <p:cNvPr id="91" name="TextBox 90"/>
          <p:cNvSpPr txBox="1"/>
          <p:nvPr/>
        </p:nvSpPr>
        <p:spPr>
          <a:xfrm>
            <a:off x="4278252" y="2820147"/>
            <a:ext cx="854082" cy="186689"/>
          </a:xfrm>
          <a:prstGeom prst="rect">
            <a:avLst/>
          </a:prstGeom>
          <a:noFill/>
        </p:spPr>
        <p:txBody>
          <a:bodyPr wrap="none" lIns="0" rIns="0" tIns="0" bIns="0">
            <a:spAutoFit/>
          </a:bodyPr>
          <a:lstStyle/>
          <a:p>
            <a:r>
              <a:rPr sz="1100" b="0">
                <a:solidFill>
                  <a:srgbClr val="2E2E2E"/>
                </a:solidFill>
                <a:latin typeface="Calibri"/>
              </a:rPr>
              <a:t>CAGR), Heavy</a:t>
            </a:r>
          </a:p>
        </p:txBody>
      </p:sp>
      <p:sp>
        <p:nvSpPr>
          <p:cNvPr id="92" name="TextBox 91"/>
          <p:cNvSpPr txBox="1"/>
          <p:nvPr/>
        </p:nvSpPr>
        <p:spPr>
          <a:xfrm>
            <a:off x="1752600" y="2987787"/>
            <a:ext cx="1280293" cy="186689"/>
          </a:xfrm>
          <a:prstGeom prst="rect">
            <a:avLst/>
          </a:prstGeom>
          <a:noFill/>
        </p:spPr>
        <p:txBody>
          <a:bodyPr wrap="none" lIns="0" rIns="0" tIns="0" bIns="0">
            <a:spAutoFit/>
          </a:bodyPr>
          <a:lstStyle/>
          <a:p>
            <a:r>
              <a:rPr sz="1100" b="0">
                <a:solidFill>
                  <a:srgbClr val="2E2E2E"/>
                </a:solidFill>
                <a:latin typeface="Calibri"/>
              </a:rPr>
              <a:t>Duty Trucks demand.</a:t>
            </a:r>
          </a:p>
        </p:txBody>
      </p:sp>
      <p:sp>
        <p:nvSpPr>
          <p:cNvPr id="93" name="TextBox 92"/>
          <p:cNvSpPr txBox="1"/>
          <p:nvPr/>
        </p:nvSpPr>
        <p:spPr>
          <a:xfrm>
            <a:off x="5562600" y="282014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94" name="Picture 93" descr="lock.png"/>
          <p:cNvPicPr>
            <a:picLocks noChangeAspect="1"/>
          </p:cNvPicPr>
          <p:nvPr/>
        </p:nvPicPr>
        <p:blipFill>
          <a:blip r:embed="rId4"/>
          <a:stretch>
            <a:fillRect/>
          </a:stretch>
        </p:blipFill>
        <p:spPr>
          <a:xfrm>
            <a:off x="6797766" y="2810368"/>
            <a:ext cx="128699" cy="187198"/>
          </a:xfrm>
          <a:prstGeom prst="rect">
            <a:avLst/>
          </a:prstGeom>
        </p:spPr>
      </p:pic>
      <p:sp>
        <p:nvSpPr>
          <p:cNvPr id="95" name="TextBox 94"/>
          <p:cNvSpPr txBox="1"/>
          <p:nvPr/>
        </p:nvSpPr>
        <p:spPr>
          <a:xfrm>
            <a:off x="6965262" y="2820147"/>
            <a:ext cx="786159" cy="186689"/>
          </a:xfrm>
          <a:prstGeom prst="rect">
            <a:avLst/>
          </a:prstGeom>
          <a:noFill/>
        </p:spPr>
        <p:txBody>
          <a:bodyPr wrap="none" lIns="0" rIns="0" tIns="0" bIns="0">
            <a:spAutoFit/>
          </a:bodyPr>
          <a:lstStyle/>
          <a:p>
            <a:r>
              <a:rPr sz="1100" b="0">
                <a:solidFill>
                  <a:srgbClr val="2E2E2E"/>
                </a:solidFill>
                <a:latin typeface="Calibri"/>
              </a:rPr>
              <a:t>BPS, Growth</a:t>
            </a:r>
          </a:p>
        </p:txBody>
      </p:sp>
      <p:sp>
        <p:nvSpPr>
          <p:cNvPr id="96" name="TextBox 95"/>
          <p:cNvSpPr txBox="1"/>
          <p:nvPr/>
        </p:nvSpPr>
        <p:spPr>
          <a:xfrm>
            <a:off x="5562600" y="2987787"/>
            <a:ext cx="1347415" cy="186689"/>
          </a:xfrm>
          <a:prstGeom prst="rect">
            <a:avLst/>
          </a:prstGeom>
          <a:noFill/>
        </p:spPr>
        <p:txBody>
          <a:bodyPr wrap="none" lIns="0" rIns="0" tIns="0" bIns="0">
            <a:spAutoFit/>
          </a:bodyPr>
          <a:lstStyle/>
          <a:p>
            <a:r>
              <a:rPr sz="1100" b="0">
                <a:solidFill>
                  <a:srgbClr val="2E2E2E"/>
                </a:solidFill>
                <a:latin typeface="Calibri"/>
              </a:rPr>
              <a:t>moderating vs history.</a:t>
            </a:r>
          </a:p>
        </p:txBody>
      </p:sp>
      <p:sp>
        <p:nvSpPr>
          <p:cNvPr id="97" name="TextBox 96"/>
          <p:cNvSpPr txBox="1"/>
          <p:nvPr/>
        </p:nvSpPr>
        <p:spPr>
          <a:xfrm>
            <a:off x="8420100" y="2903967"/>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98" name="Picture 97" descr="lock.png"/>
          <p:cNvPicPr>
            <a:picLocks noChangeAspect="1"/>
          </p:cNvPicPr>
          <p:nvPr/>
        </p:nvPicPr>
        <p:blipFill>
          <a:blip r:embed="rId4"/>
          <a:stretch>
            <a:fillRect/>
          </a:stretch>
        </p:blipFill>
        <p:spPr>
          <a:xfrm>
            <a:off x="9973411" y="2894188"/>
            <a:ext cx="128699" cy="187198"/>
          </a:xfrm>
          <a:prstGeom prst="rect">
            <a:avLst/>
          </a:prstGeom>
        </p:spPr>
      </p:pic>
      <p:sp>
        <p:nvSpPr>
          <p:cNvPr id="99" name="TextBox 98"/>
          <p:cNvSpPr txBox="1"/>
          <p:nvPr/>
        </p:nvSpPr>
        <p:spPr>
          <a:xfrm>
            <a:off x="10140907" y="290396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0" name="Picture 99" descr="lock.png"/>
          <p:cNvPicPr>
            <a:picLocks noChangeAspect="1"/>
          </p:cNvPicPr>
          <p:nvPr/>
        </p:nvPicPr>
        <p:blipFill>
          <a:blip r:embed="rId4"/>
          <a:stretch>
            <a:fillRect/>
          </a:stretch>
        </p:blipFill>
        <p:spPr>
          <a:xfrm>
            <a:off x="10242376" y="2894188"/>
            <a:ext cx="128699" cy="187198"/>
          </a:xfrm>
          <a:prstGeom prst="rect">
            <a:avLst/>
          </a:prstGeom>
        </p:spPr>
      </p:pic>
      <p:sp>
        <p:nvSpPr>
          <p:cNvPr id="101" name="TextBox 100"/>
          <p:cNvSpPr txBox="1"/>
          <p:nvPr/>
        </p:nvSpPr>
        <p:spPr>
          <a:xfrm>
            <a:off x="10409871" y="290396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02" name="TextBox 101"/>
          <p:cNvSpPr txBox="1"/>
          <p:nvPr/>
        </p:nvSpPr>
        <p:spPr>
          <a:xfrm>
            <a:off x="1752600" y="3415071"/>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03" name="Picture 102" descr="lock.png"/>
          <p:cNvPicPr>
            <a:picLocks noChangeAspect="1"/>
          </p:cNvPicPr>
          <p:nvPr/>
        </p:nvPicPr>
        <p:blipFill>
          <a:blip r:embed="rId4"/>
          <a:stretch>
            <a:fillRect/>
          </a:stretch>
        </p:blipFill>
        <p:spPr>
          <a:xfrm>
            <a:off x="2962118" y="3405292"/>
            <a:ext cx="128699" cy="187198"/>
          </a:xfrm>
          <a:prstGeom prst="rect">
            <a:avLst/>
          </a:prstGeom>
        </p:spPr>
      </p:pic>
      <p:sp>
        <p:nvSpPr>
          <p:cNvPr id="104" name="TextBox 103"/>
          <p:cNvSpPr txBox="1"/>
          <p:nvPr/>
        </p:nvSpPr>
        <p:spPr>
          <a:xfrm>
            <a:off x="3129614" y="3415071"/>
            <a:ext cx="1770608" cy="186689"/>
          </a:xfrm>
          <a:prstGeom prst="rect">
            <a:avLst/>
          </a:prstGeom>
          <a:noFill/>
        </p:spPr>
        <p:txBody>
          <a:bodyPr wrap="none" lIns="0" rIns="0" tIns="0" bIns="0">
            <a:spAutoFit/>
          </a:bodyPr>
          <a:lstStyle/>
          <a:p>
            <a:r>
              <a:rPr sz="1100" b="0">
                <a:solidFill>
                  <a:srgbClr val="2E2E2E"/>
                </a:solidFill>
                <a:latin typeface="Calibri"/>
              </a:rPr>
              <a:t>), Heavy Duty Trucks demand.</a:t>
            </a:r>
          </a:p>
        </p:txBody>
      </p:sp>
      <p:sp>
        <p:nvSpPr>
          <p:cNvPr id="105" name="TextBox 104"/>
          <p:cNvSpPr txBox="1"/>
          <p:nvPr/>
        </p:nvSpPr>
        <p:spPr>
          <a:xfrm>
            <a:off x="5562600" y="3331251"/>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06" name="Picture 105" descr="lock.png"/>
          <p:cNvPicPr>
            <a:picLocks noChangeAspect="1"/>
          </p:cNvPicPr>
          <p:nvPr/>
        </p:nvPicPr>
        <p:blipFill>
          <a:blip r:embed="rId4"/>
          <a:stretch>
            <a:fillRect/>
          </a:stretch>
        </p:blipFill>
        <p:spPr>
          <a:xfrm>
            <a:off x="6623687" y="3321472"/>
            <a:ext cx="128699" cy="187198"/>
          </a:xfrm>
          <a:prstGeom prst="rect">
            <a:avLst/>
          </a:prstGeom>
        </p:spPr>
      </p:pic>
      <p:sp>
        <p:nvSpPr>
          <p:cNvPr id="107" name="TextBox 106"/>
          <p:cNvSpPr txBox="1"/>
          <p:nvPr/>
        </p:nvSpPr>
        <p:spPr>
          <a:xfrm>
            <a:off x="6791183" y="3331251"/>
            <a:ext cx="1438416"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108" name="TextBox 107"/>
          <p:cNvSpPr txBox="1"/>
          <p:nvPr/>
        </p:nvSpPr>
        <p:spPr>
          <a:xfrm>
            <a:off x="5562600" y="3498891"/>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109" name="TextBox 108"/>
          <p:cNvSpPr txBox="1"/>
          <p:nvPr/>
        </p:nvSpPr>
        <p:spPr>
          <a:xfrm>
            <a:off x="8420100" y="3415071"/>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110" name="Picture 109" descr="lock.png"/>
          <p:cNvPicPr>
            <a:picLocks noChangeAspect="1"/>
          </p:cNvPicPr>
          <p:nvPr/>
        </p:nvPicPr>
        <p:blipFill>
          <a:blip r:embed="rId4"/>
          <a:stretch>
            <a:fillRect/>
          </a:stretch>
        </p:blipFill>
        <p:spPr>
          <a:xfrm>
            <a:off x="9973411" y="3405292"/>
            <a:ext cx="128699" cy="187198"/>
          </a:xfrm>
          <a:prstGeom prst="rect">
            <a:avLst/>
          </a:prstGeom>
        </p:spPr>
      </p:pic>
      <p:sp>
        <p:nvSpPr>
          <p:cNvPr id="111" name="TextBox 110"/>
          <p:cNvSpPr txBox="1"/>
          <p:nvPr/>
        </p:nvSpPr>
        <p:spPr>
          <a:xfrm>
            <a:off x="10140907" y="3415071"/>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12" name="Picture 111" descr="lock.png"/>
          <p:cNvPicPr>
            <a:picLocks noChangeAspect="1"/>
          </p:cNvPicPr>
          <p:nvPr/>
        </p:nvPicPr>
        <p:blipFill>
          <a:blip r:embed="rId4"/>
          <a:stretch>
            <a:fillRect/>
          </a:stretch>
        </p:blipFill>
        <p:spPr>
          <a:xfrm>
            <a:off x="10242376" y="3405292"/>
            <a:ext cx="128699" cy="187198"/>
          </a:xfrm>
          <a:prstGeom prst="rect">
            <a:avLst/>
          </a:prstGeom>
        </p:spPr>
      </p:pic>
      <p:sp>
        <p:nvSpPr>
          <p:cNvPr id="113" name="TextBox 112"/>
          <p:cNvSpPr txBox="1"/>
          <p:nvPr/>
        </p:nvSpPr>
        <p:spPr>
          <a:xfrm>
            <a:off x="10409871" y="3415071"/>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14" name="TextBox 113"/>
          <p:cNvSpPr txBox="1"/>
          <p:nvPr/>
        </p:nvSpPr>
        <p:spPr>
          <a:xfrm>
            <a:off x="1752600" y="3926174"/>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5" name="Picture 114" descr="lock.png"/>
          <p:cNvPicPr>
            <a:picLocks noChangeAspect="1"/>
          </p:cNvPicPr>
          <p:nvPr/>
        </p:nvPicPr>
        <p:blipFill>
          <a:blip r:embed="rId4"/>
          <a:stretch>
            <a:fillRect/>
          </a:stretch>
        </p:blipFill>
        <p:spPr>
          <a:xfrm>
            <a:off x="2962118" y="3916395"/>
            <a:ext cx="128699" cy="187198"/>
          </a:xfrm>
          <a:prstGeom prst="rect">
            <a:avLst/>
          </a:prstGeom>
        </p:spPr>
      </p:pic>
      <p:sp>
        <p:nvSpPr>
          <p:cNvPr id="116" name="TextBox 115"/>
          <p:cNvSpPr txBox="1"/>
          <p:nvPr/>
        </p:nvSpPr>
        <p:spPr>
          <a:xfrm>
            <a:off x="3129614" y="3926174"/>
            <a:ext cx="1770608" cy="186689"/>
          </a:xfrm>
          <a:prstGeom prst="rect">
            <a:avLst/>
          </a:prstGeom>
          <a:noFill/>
        </p:spPr>
        <p:txBody>
          <a:bodyPr wrap="none" lIns="0" rIns="0" tIns="0" bIns="0">
            <a:spAutoFit/>
          </a:bodyPr>
          <a:lstStyle/>
          <a:p>
            <a:r>
              <a:rPr sz="1100" b="0">
                <a:solidFill>
                  <a:srgbClr val="2E2E2E"/>
                </a:solidFill>
                <a:latin typeface="Calibri"/>
              </a:rPr>
              <a:t>), Heavy Duty Trucks demand.</a:t>
            </a:r>
          </a:p>
        </p:txBody>
      </p:sp>
      <p:sp>
        <p:nvSpPr>
          <p:cNvPr id="117" name="TextBox 116"/>
          <p:cNvSpPr txBox="1"/>
          <p:nvPr/>
        </p:nvSpPr>
        <p:spPr>
          <a:xfrm>
            <a:off x="8420100" y="3926174"/>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118" name="Picture 117" descr="lock.png"/>
          <p:cNvPicPr>
            <a:picLocks noChangeAspect="1"/>
          </p:cNvPicPr>
          <p:nvPr/>
        </p:nvPicPr>
        <p:blipFill>
          <a:blip r:embed="rId4"/>
          <a:stretch>
            <a:fillRect/>
          </a:stretch>
        </p:blipFill>
        <p:spPr>
          <a:xfrm>
            <a:off x="9973411" y="3916395"/>
            <a:ext cx="128699" cy="187198"/>
          </a:xfrm>
          <a:prstGeom prst="rect">
            <a:avLst/>
          </a:prstGeom>
        </p:spPr>
      </p:pic>
      <p:sp>
        <p:nvSpPr>
          <p:cNvPr id="119" name="TextBox 118"/>
          <p:cNvSpPr txBox="1"/>
          <p:nvPr/>
        </p:nvSpPr>
        <p:spPr>
          <a:xfrm>
            <a:off x="10140907" y="3926174"/>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20" name="Picture 119" descr="lock.png"/>
          <p:cNvPicPr>
            <a:picLocks noChangeAspect="1"/>
          </p:cNvPicPr>
          <p:nvPr/>
        </p:nvPicPr>
        <p:blipFill>
          <a:blip r:embed="rId4"/>
          <a:stretch>
            <a:fillRect/>
          </a:stretch>
        </p:blipFill>
        <p:spPr>
          <a:xfrm>
            <a:off x="10242376" y="3916395"/>
            <a:ext cx="128699" cy="187198"/>
          </a:xfrm>
          <a:prstGeom prst="rect">
            <a:avLst/>
          </a:prstGeom>
        </p:spPr>
      </p:pic>
      <p:sp>
        <p:nvSpPr>
          <p:cNvPr id="121" name="TextBox 120"/>
          <p:cNvSpPr txBox="1"/>
          <p:nvPr/>
        </p:nvSpPr>
        <p:spPr>
          <a:xfrm>
            <a:off x="10409871" y="392617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22" name="TextBox 121"/>
          <p:cNvSpPr txBox="1"/>
          <p:nvPr/>
        </p:nvSpPr>
        <p:spPr>
          <a:xfrm>
            <a:off x="1752600" y="4437278"/>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23" name="Picture 122" descr="lock.png"/>
          <p:cNvPicPr>
            <a:picLocks noChangeAspect="1"/>
          </p:cNvPicPr>
          <p:nvPr/>
        </p:nvPicPr>
        <p:blipFill>
          <a:blip r:embed="rId4"/>
          <a:stretch>
            <a:fillRect/>
          </a:stretch>
        </p:blipFill>
        <p:spPr>
          <a:xfrm>
            <a:off x="2962118" y="4427499"/>
            <a:ext cx="128699" cy="187198"/>
          </a:xfrm>
          <a:prstGeom prst="rect">
            <a:avLst/>
          </a:prstGeom>
        </p:spPr>
      </p:pic>
      <p:sp>
        <p:nvSpPr>
          <p:cNvPr id="124" name="TextBox 123"/>
          <p:cNvSpPr txBox="1"/>
          <p:nvPr/>
        </p:nvSpPr>
        <p:spPr>
          <a:xfrm>
            <a:off x="3129614" y="4437278"/>
            <a:ext cx="1770608" cy="186689"/>
          </a:xfrm>
          <a:prstGeom prst="rect">
            <a:avLst/>
          </a:prstGeom>
          <a:noFill/>
        </p:spPr>
        <p:txBody>
          <a:bodyPr wrap="none" lIns="0" rIns="0" tIns="0" bIns="0">
            <a:spAutoFit/>
          </a:bodyPr>
          <a:lstStyle/>
          <a:p>
            <a:r>
              <a:rPr sz="1100" b="0">
                <a:solidFill>
                  <a:srgbClr val="2E2E2E"/>
                </a:solidFill>
                <a:latin typeface="Calibri"/>
              </a:rPr>
              <a:t>), Heavy Duty Trucks demand.</a:t>
            </a:r>
          </a:p>
        </p:txBody>
      </p:sp>
      <p:sp>
        <p:nvSpPr>
          <p:cNvPr id="125" name="TextBox 124"/>
          <p:cNvSpPr txBox="1"/>
          <p:nvPr/>
        </p:nvSpPr>
        <p:spPr>
          <a:xfrm>
            <a:off x="5562600" y="4353458"/>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26" name="Picture 125" descr="lock.png"/>
          <p:cNvPicPr>
            <a:picLocks noChangeAspect="1"/>
          </p:cNvPicPr>
          <p:nvPr/>
        </p:nvPicPr>
        <p:blipFill>
          <a:blip r:embed="rId4"/>
          <a:stretch>
            <a:fillRect/>
          </a:stretch>
        </p:blipFill>
        <p:spPr>
          <a:xfrm>
            <a:off x="6623687" y="4343679"/>
            <a:ext cx="128699" cy="187198"/>
          </a:xfrm>
          <a:prstGeom prst="rect">
            <a:avLst/>
          </a:prstGeom>
        </p:spPr>
      </p:pic>
      <p:sp>
        <p:nvSpPr>
          <p:cNvPr id="127" name="TextBox 126"/>
          <p:cNvSpPr txBox="1"/>
          <p:nvPr/>
        </p:nvSpPr>
        <p:spPr>
          <a:xfrm>
            <a:off x="6791183" y="4353458"/>
            <a:ext cx="1438416"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128" name="TextBox 127"/>
          <p:cNvSpPr txBox="1"/>
          <p:nvPr/>
        </p:nvSpPr>
        <p:spPr>
          <a:xfrm>
            <a:off x="5562600" y="4521098"/>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129" name="TextBox 128"/>
          <p:cNvSpPr txBox="1"/>
          <p:nvPr/>
        </p:nvSpPr>
        <p:spPr>
          <a:xfrm>
            <a:off x="8420100" y="4437278"/>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130" name="Picture 129" descr="lock.png"/>
          <p:cNvPicPr>
            <a:picLocks noChangeAspect="1"/>
          </p:cNvPicPr>
          <p:nvPr/>
        </p:nvPicPr>
        <p:blipFill>
          <a:blip r:embed="rId4"/>
          <a:stretch>
            <a:fillRect/>
          </a:stretch>
        </p:blipFill>
        <p:spPr>
          <a:xfrm>
            <a:off x="9973411" y="4427499"/>
            <a:ext cx="128699" cy="187198"/>
          </a:xfrm>
          <a:prstGeom prst="rect">
            <a:avLst/>
          </a:prstGeom>
        </p:spPr>
      </p:pic>
      <p:sp>
        <p:nvSpPr>
          <p:cNvPr id="131" name="TextBox 130"/>
          <p:cNvSpPr txBox="1"/>
          <p:nvPr/>
        </p:nvSpPr>
        <p:spPr>
          <a:xfrm>
            <a:off x="10140907" y="4437278"/>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2" name="Picture 131" descr="lock.png"/>
          <p:cNvPicPr>
            <a:picLocks noChangeAspect="1"/>
          </p:cNvPicPr>
          <p:nvPr/>
        </p:nvPicPr>
        <p:blipFill>
          <a:blip r:embed="rId4"/>
          <a:stretch>
            <a:fillRect/>
          </a:stretch>
        </p:blipFill>
        <p:spPr>
          <a:xfrm>
            <a:off x="10242376" y="4427499"/>
            <a:ext cx="128699" cy="187198"/>
          </a:xfrm>
          <a:prstGeom prst="rect">
            <a:avLst/>
          </a:prstGeom>
        </p:spPr>
      </p:pic>
      <p:sp>
        <p:nvSpPr>
          <p:cNvPr id="133" name="TextBox 132"/>
          <p:cNvSpPr txBox="1"/>
          <p:nvPr/>
        </p:nvSpPr>
        <p:spPr>
          <a:xfrm>
            <a:off x="10409871" y="4437278"/>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4" name="TextBox 133"/>
          <p:cNvSpPr txBox="1"/>
          <p:nvPr/>
        </p:nvSpPr>
        <p:spPr>
          <a:xfrm>
            <a:off x="1752600" y="4864561"/>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35" name="Picture 134" descr="lock.png"/>
          <p:cNvPicPr>
            <a:picLocks noChangeAspect="1"/>
          </p:cNvPicPr>
          <p:nvPr/>
        </p:nvPicPr>
        <p:blipFill>
          <a:blip r:embed="rId4"/>
          <a:stretch>
            <a:fillRect/>
          </a:stretch>
        </p:blipFill>
        <p:spPr>
          <a:xfrm>
            <a:off x="2962118" y="4854782"/>
            <a:ext cx="128699" cy="187198"/>
          </a:xfrm>
          <a:prstGeom prst="rect">
            <a:avLst/>
          </a:prstGeom>
        </p:spPr>
      </p:pic>
      <p:sp>
        <p:nvSpPr>
          <p:cNvPr id="136" name="TextBox 135"/>
          <p:cNvSpPr txBox="1"/>
          <p:nvPr/>
        </p:nvSpPr>
        <p:spPr>
          <a:xfrm>
            <a:off x="3129614" y="4864561"/>
            <a:ext cx="1770335" cy="186689"/>
          </a:xfrm>
          <a:prstGeom prst="rect">
            <a:avLst/>
          </a:prstGeom>
          <a:noFill/>
        </p:spPr>
        <p:txBody>
          <a:bodyPr wrap="none" lIns="0" rIns="0" tIns="0" bIns="0">
            <a:spAutoFit/>
          </a:bodyPr>
          <a:lstStyle/>
          <a:p>
            <a:r>
              <a:rPr sz="1100" b="0">
                <a:solidFill>
                  <a:srgbClr val="2E2E2E"/>
                </a:solidFill>
                <a:latin typeface="Calibri"/>
              </a:rPr>
              <a:t>), Heavy Duty Trucks demand,</a:t>
            </a:r>
          </a:p>
        </p:txBody>
      </p:sp>
      <p:sp>
        <p:nvSpPr>
          <p:cNvPr id="137" name="TextBox 136"/>
          <p:cNvSpPr txBox="1"/>
          <p:nvPr/>
        </p:nvSpPr>
        <p:spPr>
          <a:xfrm>
            <a:off x="1752600" y="5032201"/>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38" name="TextBox 137"/>
          <p:cNvSpPr txBox="1"/>
          <p:nvPr/>
        </p:nvSpPr>
        <p:spPr>
          <a:xfrm>
            <a:off x="5562600" y="4948381"/>
            <a:ext cx="2011808" cy="186689"/>
          </a:xfrm>
          <a:prstGeom prst="rect">
            <a:avLst/>
          </a:prstGeom>
          <a:noFill/>
        </p:spPr>
        <p:txBody>
          <a:bodyPr wrap="none" lIns="0" rIns="0" tIns="0" bIns="0">
            <a:spAutoFit/>
          </a:bodyPr>
          <a:lstStyle/>
          <a:p>
            <a:r>
              <a:rPr sz="1100" b="0">
                <a:solidFill>
                  <a:srgbClr val="2E2E2E"/>
                </a:solidFill>
                <a:latin typeface="Calibri"/>
              </a:rPr>
              <a:t>Sub-scale base, Rising realisation (</a:t>
            </a:r>
          </a:p>
        </p:txBody>
      </p:sp>
      <p:pic>
        <p:nvPicPr>
          <p:cNvPr id="139" name="Picture 138" descr="lock.png"/>
          <p:cNvPicPr>
            <a:picLocks noChangeAspect="1"/>
          </p:cNvPicPr>
          <p:nvPr/>
        </p:nvPicPr>
        <p:blipFill>
          <a:blip r:embed="rId4"/>
          <a:stretch>
            <a:fillRect/>
          </a:stretch>
        </p:blipFill>
        <p:spPr>
          <a:xfrm>
            <a:off x="7522460" y="4938601"/>
            <a:ext cx="128699" cy="187198"/>
          </a:xfrm>
          <a:prstGeom prst="rect">
            <a:avLst/>
          </a:prstGeom>
        </p:spPr>
      </p:pic>
      <p:sp>
        <p:nvSpPr>
          <p:cNvPr id="140" name="TextBox 139"/>
          <p:cNvSpPr txBox="1"/>
          <p:nvPr/>
        </p:nvSpPr>
        <p:spPr>
          <a:xfrm>
            <a:off x="7689956" y="4948381"/>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41" name="TextBox 140"/>
          <p:cNvSpPr txBox="1"/>
          <p:nvPr/>
        </p:nvSpPr>
        <p:spPr>
          <a:xfrm>
            <a:off x="8420100" y="4948381"/>
            <a:ext cx="1605260" cy="186689"/>
          </a:xfrm>
          <a:prstGeom prst="rect">
            <a:avLst/>
          </a:prstGeom>
          <a:noFill/>
        </p:spPr>
        <p:txBody>
          <a:bodyPr wrap="none" lIns="0" rIns="0" tIns="0" bIns="0">
            <a:spAutoFit/>
          </a:bodyPr>
          <a:lstStyle/>
          <a:p>
            <a:r>
              <a:rPr sz="1100" b="0">
                <a:solidFill>
                  <a:srgbClr val="2E2E2E"/>
                </a:solidFill>
                <a:latin typeface="Calibri"/>
              </a:rPr>
              <a:t>Scale Busses and Coaches (</a:t>
            </a:r>
          </a:p>
        </p:txBody>
      </p:sp>
      <p:pic>
        <p:nvPicPr>
          <p:cNvPr id="142" name="Picture 141" descr="lock.png"/>
          <p:cNvPicPr>
            <a:picLocks noChangeAspect="1"/>
          </p:cNvPicPr>
          <p:nvPr/>
        </p:nvPicPr>
        <p:blipFill>
          <a:blip r:embed="rId4"/>
          <a:stretch>
            <a:fillRect/>
          </a:stretch>
        </p:blipFill>
        <p:spPr>
          <a:xfrm>
            <a:off x="9973411" y="4938601"/>
            <a:ext cx="128699" cy="187198"/>
          </a:xfrm>
          <a:prstGeom prst="rect">
            <a:avLst/>
          </a:prstGeom>
        </p:spPr>
      </p:pic>
      <p:sp>
        <p:nvSpPr>
          <p:cNvPr id="143" name="TextBox 142"/>
          <p:cNvSpPr txBox="1"/>
          <p:nvPr/>
        </p:nvSpPr>
        <p:spPr>
          <a:xfrm>
            <a:off x="10140907" y="4948381"/>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44" name="Picture 143" descr="lock.png"/>
          <p:cNvPicPr>
            <a:picLocks noChangeAspect="1"/>
          </p:cNvPicPr>
          <p:nvPr/>
        </p:nvPicPr>
        <p:blipFill>
          <a:blip r:embed="rId4"/>
          <a:stretch>
            <a:fillRect/>
          </a:stretch>
        </p:blipFill>
        <p:spPr>
          <a:xfrm>
            <a:off x="10242376" y="4938601"/>
            <a:ext cx="128699" cy="187198"/>
          </a:xfrm>
          <a:prstGeom prst="rect">
            <a:avLst/>
          </a:prstGeom>
        </p:spPr>
      </p:pic>
      <p:sp>
        <p:nvSpPr>
          <p:cNvPr id="145" name="TextBox 144"/>
          <p:cNvSpPr txBox="1"/>
          <p:nvPr/>
        </p:nvSpPr>
        <p:spPr>
          <a:xfrm>
            <a:off x="10409871" y="4948381"/>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46" name="TextBox 145"/>
          <p:cNvSpPr txBox="1"/>
          <p:nvPr/>
        </p:nvSpPr>
        <p:spPr>
          <a:xfrm>
            <a:off x="304800" y="5935287"/>
            <a:ext cx="4469076" cy="186689"/>
          </a:xfrm>
          <a:prstGeom prst="rect">
            <a:avLst/>
          </a:prstGeom>
          <a:noFill/>
        </p:spPr>
        <p:txBody>
          <a:bodyPr wrap="none" lIns="0" rIns="0" tIns="0" bIns="0">
            <a:spAutoFit/>
          </a:bodyPr>
          <a:lstStyle/>
          <a:p>
            <a:r>
              <a:rPr sz="1100" b="0">
                <a:solidFill>
                  <a:srgbClr val="2E2E2E"/>
                </a:solidFill>
                <a:latin typeface="Calibri"/>
              </a:rPr>
              <a:t>▪ North America, South Asia &amp; Pacific, East Asia anchor scale with a combined</a:t>
            </a:r>
          </a:p>
        </p:txBody>
      </p:sp>
      <p:pic>
        <p:nvPicPr>
          <p:cNvPr id="147" name="Picture 146" descr="lock.png"/>
          <p:cNvPicPr>
            <a:picLocks noChangeAspect="1"/>
          </p:cNvPicPr>
          <p:nvPr/>
        </p:nvPicPr>
        <p:blipFill>
          <a:blip r:embed="rId4"/>
          <a:stretch>
            <a:fillRect/>
          </a:stretch>
        </p:blipFill>
        <p:spPr>
          <a:xfrm>
            <a:off x="4721927" y="5925508"/>
            <a:ext cx="128699" cy="187198"/>
          </a:xfrm>
          <a:prstGeom prst="rect">
            <a:avLst/>
          </a:prstGeom>
        </p:spPr>
      </p:pic>
      <p:sp>
        <p:nvSpPr>
          <p:cNvPr id="148" name="TextBox 147"/>
          <p:cNvSpPr txBox="1"/>
          <p:nvPr/>
        </p:nvSpPr>
        <p:spPr>
          <a:xfrm>
            <a:off x="4889423" y="5935287"/>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49" name="Picture 148" descr="lock.png"/>
          <p:cNvPicPr>
            <a:picLocks noChangeAspect="1"/>
          </p:cNvPicPr>
          <p:nvPr/>
        </p:nvPicPr>
        <p:blipFill>
          <a:blip r:embed="rId4"/>
          <a:stretch>
            <a:fillRect/>
          </a:stretch>
        </p:blipFill>
        <p:spPr>
          <a:xfrm>
            <a:off x="9460473" y="5925508"/>
            <a:ext cx="128699" cy="187198"/>
          </a:xfrm>
          <a:prstGeom prst="rect">
            <a:avLst/>
          </a:prstGeom>
        </p:spPr>
      </p:pic>
      <p:sp>
        <p:nvSpPr>
          <p:cNvPr id="150" name="TextBox 149"/>
          <p:cNvSpPr txBox="1"/>
          <p:nvPr/>
        </p:nvSpPr>
        <p:spPr>
          <a:xfrm>
            <a:off x="9627969" y="5935287"/>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51" name="Picture 150" descr="lock.png"/>
          <p:cNvPicPr>
            <a:picLocks noChangeAspect="1"/>
          </p:cNvPicPr>
          <p:nvPr/>
        </p:nvPicPr>
        <p:blipFill>
          <a:blip r:embed="rId4"/>
          <a:stretch>
            <a:fillRect/>
          </a:stretch>
        </p:blipFill>
        <p:spPr>
          <a:xfrm>
            <a:off x="291332" y="6093148"/>
            <a:ext cx="128699" cy="187198"/>
          </a:xfrm>
          <a:prstGeom prst="rect">
            <a:avLst/>
          </a:prstGeom>
        </p:spPr>
      </p:pic>
      <p:sp>
        <p:nvSpPr>
          <p:cNvPr id="152" name="TextBox 151"/>
          <p:cNvSpPr txBox="1"/>
          <p:nvPr/>
        </p:nvSpPr>
        <p:spPr>
          <a:xfrm>
            <a:off x="458828" y="6102927"/>
            <a:ext cx="11008816" cy="186689"/>
          </a:xfrm>
          <a:prstGeom prst="rect">
            <a:avLst/>
          </a:prstGeom>
          <a:noFill/>
        </p:spPr>
        <p:txBody>
          <a:bodyPr wrap="none" lIns="0" rIns="0" tIns="0" bIns="0">
            <a:spAutoFit/>
          </a:bodyPr>
          <a:lstStyle/>
          <a:p>
            <a:r>
              <a:rPr sz="1100" b="0">
                <a:solidFill>
                  <a:srgbClr val="2E2E2E"/>
                </a:solidFill>
                <a:latin typeface="Calibri"/>
              </a:rPr>
              <a:t>. 5 of 7 regions grow at or above that pace, so entry logic has to differ by region scale defence in the leaders, mix and premiumisation in the mid-tier, and availability-led expansion in the fastest</a:t>
            </a:r>
          </a:p>
        </p:txBody>
      </p:sp>
      <p:sp>
        <p:nvSpPr>
          <p:cNvPr id="153" name="TextBox 152"/>
          <p:cNvSpPr txBox="1"/>
          <p:nvPr/>
        </p:nvSpPr>
        <p:spPr>
          <a:xfrm>
            <a:off x="304800" y="6270567"/>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248513"/>
            <a:ext cx="2324100" cy="2455122"/>
          </a:xfrm>
          <a:custGeom>
            <a:avLst/>
            <a:gdLst/>
            <a:ahLst/>
            <a:cxnLst/>
            <a:rect l="l" t="t" r="r" b="b"/>
            <a:pathLst>
              <a:path w="244" h="269">
                <a:moveTo>
                  <a:pt x="244" y="0"/>
                </a:moveTo>
                <a:lnTo>
                  <a:pt x="182" y="52"/>
                </a:lnTo>
                <a:lnTo>
                  <a:pt x="61" y="34"/>
                </a:lnTo>
                <a:lnTo>
                  <a:pt x="65" y="139"/>
                </a:lnTo>
                <a:lnTo>
                  <a:pt x="0" y="236"/>
                </a:lnTo>
                <a:lnTo>
                  <a:pt x="147" y="257"/>
                </a:lnTo>
                <a:lnTo>
                  <a:pt x="230" y="208"/>
                </a:lnTo>
                <a:lnTo>
                  <a:pt x="244" y="269"/>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2 vehicle type lines and 2 vehicle type routes, giving producers focused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197347" cy="186689"/>
          </a:xfrm>
          <a:prstGeom prst="rect">
            <a:avLst/>
          </a:prstGeom>
          <a:noFill/>
        </p:spPr>
        <p:txBody>
          <a:bodyPr wrap="none" lIns="0" rIns="0" tIns="0" bIns="0">
            <a:spAutoFit/>
          </a:bodyPr>
          <a:lstStyle/>
          <a:p>
            <a:r>
              <a:rPr sz="1100" b="0">
                <a:solidFill>
                  <a:srgbClr val="2E2E2E"/>
                </a:solidFill>
                <a:latin typeface="Calibri"/>
              </a:rPr>
              <a:t>/10), Capacity Add (</a:t>
            </a:r>
          </a:p>
        </p:txBody>
      </p:sp>
      <p:pic>
        <p:nvPicPr>
          <p:cNvPr id="86" name="Picture 85" descr="lock.png"/>
          <p:cNvPicPr>
            <a:picLocks noChangeAspect="1"/>
          </p:cNvPicPr>
          <p:nvPr/>
        </p:nvPicPr>
        <p:blipFill>
          <a:blip r:embed="rId4"/>
          <a:stretch>
            <a:fillRect/>
          </a:stretch>
        </p:blipFill>
        <p:spPr>
          <a:xfrm>
            <a:off x="9472016" y="1486975"/>
            <a:ext cx="128699" cy="187198"/>
          </a:xfrm>
          <a:prstGeom prst="rect">
            <a:avLst/>
          </a:prstGeom>
        </p:spPr>
      </p:pic>
      <p:sp>
        <p:nvSpPr>
          <p:cNvPr id="87" name="TextBox 86"/>
          <p:cNvSpPr txBox="1"/>
          <p:nvPr/>
        </p:nvSpPr>
        <p:spPr>
          <a:xfrm>
            <a:off x="9639512" y="1496754"/>
            <a:ext cx="1678930" cy="186689"/>
          </a:xfrm>
          <a:prstGeom prst="rect">
            <a:avLst/>
          </a:prstGeom>
          <a:noFill/>
        </p:spPr>
        <p:txBody>
          <a:bodyPr wrap="none" lIns="0" rIns="0" tIns="0" bIns="0">
            <a:spAutoFit/>
          </a:bodyPr>
          <a:lstStyle/>
          <a:p>
            <a:r>
              <a:rPr sz="1100" b="0">
                <a:solidFill>
                  <a:srgbClr val="2E2E2E"/>
                </a:solidFill>
                <a:latin typeface="Calibri"/>
              </a:rPr>
              <a:t>/10), Supply Concentration (</a:t>
            </a:r>
          </a:p>
        </p:txBody>
      </p:sp>
      <p:pic>
        <p:nvPicPr>
          <p:cNvPr id="88" name="Picture 87" descr="lock.png"/>
          <p:cNvPicPr>
            <a:picLocks noChangeAspect="1"/>
          </p:cNvPicPr>
          <p:nvPr/>
        </p:nvPicPr>
        <p:blipFill>
          <a:blip r:embed="rId4"/>
          <a:stretch>
            <a:fillRect/>
          </a:stretch>
        </p:blipFill>
        <p:spPr>
          <a:xfrm>
            <a:off x="11266494" y="1486975"/>
            <a:ext cx="128699" cy="187198"/>
          </a:xfrm>
          <a:prstGeom prst="rect">
            <a:avLst/>
          </a:prstGeom>
        </p:spPr>
      </p:pic>
      <p:sp>
        <p:nvSpPr>
          <p:cNvPr id="89" name="TextBox 88"/>
          <p:cNvSpPr txBox="1"/>
          <p:nvPr/>
        </p:nvSpPr>
        <p:spPr>
          <a:xfrm>
            <a:off x="11433990" y="1496754"/>
            <a:ext cx="493117" cy="186689"/>
          </a:xfrm>
          <a:prstGeom prst="rect">
            <a:avLst/>
          </a:prstGeom>
          <a:noFill/>
        </p:spPr>
        <p:txBody>
          <a:bodyPr wrap="none" lIns="0" rIns="0" tIns="0" bIns="0">
            <a:spAutoFit/>
          </a:bodyPr>
          <a:lstStyle/>
          <a:p>
            <a:r>
              <a:rPr sz="1100" b="0">
                <a:solidFill>
                  <a:srgbClr val="2E2E2E"/>
                </a:solidFill>
                <a:latin typeface="Calibri"/>
              </a:rPr>
              <a:t>/10) on</a:t>
            </a:r>
          </a:p>
        </p:txBody>
      </p:sp>
      <p:sp>
        <p:nvSpPr>
          <p:cNvPr id="90" name="TextBox 89"/>
          <p:cNvSpPr txBox="1"/>
          <p:nvPr/>
        </p:nvSpPr>
        <p:spPr>
          <a:xfrm>
            <a:off x="5000625" y="1664394"/>
            <a:ext cx="2862560" cy="186689"/>
          </a:xfrm>
          <a:prstGeom prst="rect">
            <a:avLst/>
          </a:prstGeom>
          <a:noFill/>
        </p:spPr>
        <p:txBody>
          <a:bodyPr wrap="none" lIns="0" rIns="0" tIns="0" bIns="0">
            <a:spAutoFit/>
          </a:bodyPr>
          <a:lstStyle/>
          <a:p>
            <a:r>
              <a:rPr sz="1100" b="0">
                <a:solidFill>
                  <a:srgbClr val="2E2E2E"/>
                </a:solidFill>
                <a:latin typeface="Calibri"/>
              </a:rPr>
              <a:t>a 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751509" cy="186689"/>
          </a:xfrm>
          <a:prstGeom prst="rect">
            <a:avLst/>
          </a:prstGeom>
          <a:noFill/>
        </p:spPr>
        <p:txBody>
          <a:bodyPr wrap="none" lIns="0" rIns="0" tIns="0" bIns="0">
            <a:spAutoFit/>
          </a:bodyPr>
          <a:lstStyle/>
          <a:p>
            <a:r>
              <a:rPr sz="1100" b="0">
                <a:solidFill>
                  <a:srgbClr val="2E2E2E"/>
                </a:solidFill>
                <a:latin typeface="Calibri"/>
              </a:rPr>
              <a:t>▪ Supply is concentrated: 'North America' holds</a:t>
            </a:r>
          </a:p>
        </p:txBody>
      </p:sp>
      <p:pic>
        <p:nvPicPr>
          <p:cNvPr id="98" name="Picture 97" descr="lock.png"/>
          <p:cNvPicPr>
            <a:picLocks noChangeAspect="1"/>
          </p:cNvPicPr>
          <p:nvPr/>
        </p:nvPicPr>
        <p:blipFill>
          <a:blip r:embed="rId4"/>
          <a:stretch>
            <a:fillRect/>
          </a:stretch>
        </p:blipFill>
        <p:spPr>
          <a:xfrm>
            <a:off x="7700186" y="2392211"/>
            <a:ext cx="128699" cy="187198"/>
          </a:xfrm>
          <a:prstGeom prst="rect">
            <a:avLst/>
          </a:prstGeom>
        </p:spPr>
      </p:pic>
      <p:sp>
        <p:nvSpPr>
          <p:cNvPr id="99" name="TextBox 98"/>
          <p:cNvSpPr txBox="1"/>
          <p:nvPr/>
        </p:nvSpPr>
        <p:spPr>
          <a:xfrm>
            <a:off x="7867681"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7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476684"/>
            <a:ext cx="1438275" cy="3112255"/>
          </a:xfrm>
          <a:custGeom>
            <a:avLst/>
            <a:gdLst/>
            <a:ahLst/>
            <a:cxnLst/>
            <a:rect l="l" t="t" r="r" b="b"/>
            <a:pathLst>
              <a:path w="151" h="341">
                <a:moveTo>
                  <a:pt x="0" y="0"/>
                </a:moveTo>
                <a:lnTo>
                  <a:pt x="62" y="26"/>
                </a:lnTo>
                <a:lnTo>
                  <a:pt x="24" y="136"/>
                </a:lnTo>
                <a:lnTo>
                  <a:pt x="102" y="132"/>
                </a:lnTo>
                <a:lnTo>
                  <a:pt x="125" y="184"/>
                </a:lnTo>
                <a:lnTo>
                  <a:pt x="151" y="276"/>
                </a:lnTo>
                <a:lnTo>
                  <a:pt x="89" y="341"/>
                </a:lnTo>
                <a:lnTo>
                  <a:pt x="0" y="279"/>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3140868" cy="186689"/>
          </a:xfrm>
          <a:prstGeom prst="rect">
            <a:avLst/>
          </a:prstGeom>
          <a:noFill/>
        </p:spPr>
        <p:txBody>
          <a:bodyPr wrap="none" lIns="0" rIns="0" tIns="0" bIns="0">
            <a:spAutoFit/>
          </a:bodyPr>
          <a:lstStyle/>
          <a:p>
            <a:r>
              <a:rPr sz="1100" b="0">
                <a:solidFill>
                  <a:srgbClr val="2E2E2E"/>
                </a:solidFill>
                <a:latin typeface="Calibri"/>
              </a:rPr>
              <a:t>▪ Demand-side conditions are led by Adoption Depth (</a:t>
            </a:r>
          </a:p>
        </p:txBody>
      </p:sp>
      <p:pic>
        <p:nvPicPr>
          <p:cNvPr id="84" name="Picture 83" descr="lock.png"/>
          <p:cNvPicPr>
            <a:picLocks noChangeAspect="1"/>
          </p:cNvPicPr>
          <p:nvPr/>
        </p:nvPicPr>
        <p:blipFill>
          <a:blip r:embed="rId4"/>
          <a:stretch>
            <a:fillRect/>
          </a:stretch>
        </p:blipFill>
        <p:spPr>
          <a:xfrm>
            <a:off x="3298470" y="1486975"/>
            <a:ext cx="128699" cy="187198"/>
          </a:xfrm>
          <a:prstGeom prst="rect">
            <a:avLst/>
          </a:prstGeom>
        </p:spPr>
      </p:pic>
      <p:sp>
        <p:nvSpPr>
          <p:cNvPr id="85" name="TextBox 84"/>
          <p:cNvSpPr txBox="1"/>
          <p:nvPr/>
        </p:nvSpPr>
        <p:spPr>
          <a:xfrm>
            <a:off x="3465966" y="1496754"/>
            <a:ext cx="1493936" cy="186689"/>
          </a:xfrm>
          <a:prstGeom prst="rect">
            <a:avLst/>
          </a:prstGeom>
          <a:noFill/>
        </p:spPr>
        <p:txBody>
          <a:bodyPr wrap="none" lIns="0" rIns="0" tIns="0" bIns="0">
            <a:spAutoFit/>
          </a:bodyPr>
          <a:lstStyle/>
          <a:p>
            <a:r>
              <a:rPr sz="1100" b="0">
                <a:solidFill>
                  <a:srgbClr val="2E2E2E"/>
                </a:solidFill>
                <a:latin typeface="Calibri"/>
              </a:rPr>
              <a:t>/10), Category Maturity (</a:t>
            </a:r>
          </a:p>
        </p:txBody>
      </p:sp>
      <p:pic>
        <p:nvPicPr>
          <p:cNvPr id="86" name="Picture 85" descr="lock.png"/>
          <p:cNvPicPr>
            <a:picLocks noChangeAspect="1"/>
          </p:cNvPicPr>
          <p:nvPr/>
        </p:nvPicPr>
        <p:blipFill>
          <a:blip r:embed="rId4"/>
          <a:stretch>
            <a:fillRect/>
          </a:stretch>
        </p:blipFill>
        <p:spPr>
          <a:xfrm>
            <a:off x="4907954" y="1486975"/>
            <a:ext cx="128699" cy="187198"/>
          </a:xfrm>
          <a:prstGeom prst="rect">
            <a:avLst/>
          </a:prstGeom>
        </p:spPr>
      </p:pic>
      <p:sp>
        <p:nvSpPr>
          <p:cNvPr id="87" name="TextBox 86"/>
          <p:cNvSpPr txBox="1"/>
          <p:nvPr/>
        </p:nvSpPr>
        <p:spPr>
          <a:xfrm>
            <a:off x="5075450" y="1496754"/>
            <a:ext cx="1398165" cy="186689"/>
          </a:xfrm>
          <a:prstGeom prst="rect">
            <a:avLst/>
          </a:prstGeom>
          <a:noFill/>
        </p:spPr>
        <p:txBody>
          <a:bodyPr wrap="none" lIns="0" rIns="0" tIns="0" bIns="0">
            <a:spAutoFit/>
          </a:bodyPr>
          <a:lstStyle/>
          <a:p>
            <a:r>
              <a:rPr sz="1100" b="0">
                <a:solidFill>
                  <a:srgbClr val="2E2E2E"/>
                </a:solidFill>
                <a:latin typeface="Calibri"/>
              </a:rPr>
              <a:t>/10), Demand Growth (</a:t>
            </a:r>
          </a:p>
        </p:txBody>
      </p:sp>
      <p:pic>
        <p:nvPicPr>
          <p:cNvPr id="88" name="Picture 87" descr="lock.png"/>
          <p:cNvPicPr>
            <a:picLocks noChangeAspect="1"/>
          </p:cNvPicPr>
          <p:nvPr/>
        </p:nvPicPr>
        <p:blipFill>
          <a:blip r:embed="rId4"/>
          <a:stretch>
            <a:fillRect/>
          </a:stretch>
        </p:blipFill>
        <p:spPr>
          <a:xfrm>
            <a:off x="6421667" y="1486975"/>
            <a:ext cx="128699" cy="187198"/>
          </a:xfrm>
          <a:prstGeom prst="rect">
            <a:avLst/>
          </a:prstGeom>
        </p:spPr>
      </p:pic>
      <p:sp>
        <p:nvSpPr>
          <p:cNvPr id="89" name="TextBox 88"/>
          <p:cNvSpPr txBox="1"/>
          <p:nvPr/>
        </p:nvSpPr>
        <p:spPr>
          <a:xfrm>
            <a:off x="6589163" y="1496754"/>
            <a:ext cx="493117" cy="186689"/>
          </a:xfrm>
          <a:prstGeom prst="rect">
            <a:avLst/>
          </a:prstGeom>
          <a:noFill/>
        </p:spPr>
        <p:txBody>
          <a:bodyPr wrap="none" lIns="0" rIns="0" tIns="0" bIns="0">
            <a:spAutoFit/>
          </a:bodyPr>
          <a:lstStyle/>
          <a:p>
            <a:r>
              <a:rPr sz="1100" b="0">
                <a:solidFill>
                  <a:srgbClr val="2E2E2E"/>
                </a:solidFill>
                <a:latin typeface="Calibri"/>
              </a:rPr>
              <a:t>/10) on</a:t>
            </a:r>
          </a:p>
        </p:txBody>
      </p:sp>
      <p:sp>
        <p:nvSpPr>
          <p:cNvPr id="90" name="TextBox 89"/>
          <p:cNvSpPr txBox="1"/>
          <p:nvPr/>
        </p:nvSpPr>
        <p:spPr>
          <a:xfrm>
            <a:off x="209550" y="1664394"/>
            <a:ext cx="2862560" cy="186689"/>
          </a:xfrm>
          <a:prstGeom prst="rect">
            <a:avLst/>
          </a:prstGeom>
          <a:noFill/>
        </p:spPr>
        <p:txBody>
          <a:bodyPr wrap="none" lIns="0" rIns="0" tIns="0" bIns="0">
            <a:spAutoFit/>
          </a:bodyPr>
          <a:lstStyle/>
          <a:p>
            <a:r>
              <a:rPr sz="1100" b="0">
                <a:solidFill>
                  <a:srgbClr val="2E2E2E"/>
                </a:solidFill>
                <a:latin typeface="Calibri"/>
              </a:rPr>
              <a:t>a 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310722"/>
            <a:ext cx="1681112" cy="186689"/>
          </a:xfrm>
          <a:prstGeom prst="rect">
            <a:avLst/>
          </a:prstGeom>
          <a:noFill/>
        </p:spPr>
        <p:txBody>
          <a:bodyPr wrap="none" lIns="0" rIns="0" tIns="0" bIns="0">
            <a:spAutoFit/>
          </a:bodyPr>
          <a:lstStyle/>
          <a:p>
            <a:r>
              <a:rPr sz="1100" b="0">
                <a:solidFill>
                  <a:srgbClr val="2E2E2E"/>
                </a:solidFill>
                <a:latin typeface="Calibri"/>
              </a:rPr>
              <a:t>▪ 'Heavy Duty Trucks' carries</a:t>
            </a:r>
          </a:p>
        </p:txBody>
      </p:sp>
      <p:pic>
        <p:nvPicPr>
          <p:cNvPr id="97" name="Picture 96" descr="lock.png"/>
          <p:cNvPicPr>
            <a:picLocks noChangeAspect="1"/>
          </p:cNvPicPr>
          <p:nvPr/>
        </p:nvPicPr>
        <p:blipFill>
          <a:blip r:embed="rId4"/>
          <a:stretch>
            <a:fillRect/>
          </a:stretch>
        </p:blipFill>
        <p:spPr>
          <a:xfrm>
            <a:off x="1838714" y="2300943"/>
            <a:ext cx="128699" cy="187198"/>
          </a:xfrm>
          <a:prstGeom prst="rect">
            <a:avLst/>
          </a:prstGeom>
        </p:spPr>
      </p:pic>
      <p:sp>
        <p:nvSpPr>
          <p:cNvPr id="98" name="TextBox 97"/>
          <p:cNvSpPr txBox="1"/>
          <p:nvPr/>
        </p:nvSpPr>
        <p:spPr>
          <a:xfrm>
            <a:off x="2006210" y="2310722"/>
            <a:ext cx="4228727" cy="186689"/>
          </a:xfrm>
          <a:prstGeom prst="rect">
            <a:avLst/>
          </a:prstGeom>
          <a:noFill/>
        </p:spPr>
        <p:txBody>
          <a:bodyPr wrap="none" lIns="0" rIns="0" tIns="0" bIns="0">
            <a:spAutoFit/>
          </a:bodyPr>
          <a:lstStyle/>
          <a:p>
            <a:r>
              <a:rPr sz="1100" b="0">
                <a:solidFill>
                  <a:srgbClr val="2E2E2E"/>
                </a:solidFill>
                <a:latin typeface="Calibri"/>
              </a:rPr>
              <a:t>of vehicle type demand while 'Busses and Coaches' compounds fastest at</a:t>
            </a:r>
          </a:p>
        </p:txBody>
      </p:sp>
      <p:pic>
        <p:nvPicPr>
          <p:cNvPr id="99" name="Picture 98" descr="lock.png"/>
          <p:cNvPicPr>
            <a:picLocks noChangeAspect="1"/>
          </p:cNvPicPr>
          <p:nvPr/>
        </p:nvPicPr>
        <p:blipFill>
          <a:blip r:embed="rId4"/>
          <a:stretch>
            <a:fillRect/>
          </a:stretch>
        </p:blipFill>
        <p:spPr>
          <a:xfrm>
            <a:off x="6182989" y="2300943"/>
            <a:ext cx="128699" cy="187198"/>
          </a:xfrm>
          <a:prstGeom prst="rect">
            <a:avLst/>
          </a:prstGeom>
        </p:spPr>
      </p:pic>
      <p:sp>
        <p:nvSpPr>
          <p:cNvPr id="100" name="TextBox 99"/>
          <p:cNvSpPr txBox="1"/>
          <p:nvPr/>
        </p:nvSpPr>
        <p:spPr>
          <a:xfrm>
            <a:off x="6350485" y="231072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1" name="TextBox 100"/>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2" name="Picture 101" descr="lock.png"/>
          <p:cNvPicPr>
            <a:picLocks noChangeAspect="1"/>
          </p:cNvPicPr>
          <p:nvPr/>
        </p:nvPicPr>
        <p:blipFill>
          <a:blip r:embed="rId4"/>
          <a:stretch>
            <a:fillRect/>
          </a:stretch>
        </p:blipFill>
        <p:spPr>
          <a:xfrm>
            <a:off x="2634349" y="2757285"/>
            <a:ext cx="128699" cy="187198"/>
          </a:xfrm>
          <a:prstGeom prst="rect">
            <a:avLst/>
          </a:prstGeom>
        </p:spPr>
      </p:pic>
      <p:sp>
        <p:nvSpPr>
          <p:cNvPr id="103" name="TextBox 102"/>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4" name="Picture 103" descr="lock.png"/>
          <p:cNvPicPr>
            <a:picLocks noChangeAspect="1"/>
          </p:cNvPicPr>
          <p:nvPr/>
        </p:nvPicPr>
        <p:blipFill>
          <a:blip r:embed="rId4"/>
          <a:stretch>
            <a:fillRect/>
          </a:stretch>
        </p:blipFill>
        <p:spPr>
          <a:xfrm>
            <a:off x="3281469" y="2757285"/>
            <a:ext cx="128699" cy="187198"/>
          </a:xfrm>
          <a:prstGeom prst="rect">
            <a:avLst/>
          </a:prstGeom>
        </p:spPr>
      </p:pic>
      <p:sp>
        <p:nvSpPr>
          <p:cNvPr id="105" name="TextBox 104"/>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5 of 7 regions at or above pace.</a:t>
            </a:r>
          </a:p>
        </p:txBody>
      </p:sp>
      <p:sp>
        <p:nvSpPr>
          <p:cNvPr id="106" name="TextBox 105"/>
          <p:cNvSpPr txBox="1"/>
          <p:nvPr/>
        </p:nvSpPr>
        <p:spPr>
          <a:xfrm>
            <a:off x="209550" y="3139587"/>
            <a:ext cx="4187254" cy="186689"/>
          </a:xfrm>
          <a:prstGeom prst="rect">
            <a:avLst/>
          </a:prstGeom>
          <a:noFill/>
        </p:spPr>
        <p:txBody>
          <a:bodyPr wrap="none" lIns="0" rIns="0" tIns="0" bIns="0">
            <a:spAutoFit/>
          </a:bodyPr>
          <a:lstStyle/>
          <a:p>
            <a:r>
              <a:rPr sz="1100" b="0">
                <a:solidFill>
                  <a:srgbClr val="2E2E2E"/>
                </a:solidFill>
                <a:latin typeface="Calibri"/>
              </a:rPr>
              <a:t>▪ Reach runs through 2 vehicle type routes, led by 'Heavy Duty Trucks' at</a:t>
            </a:r>
          </a:p>
        </p:txBody>
      </p:sp>
      <p:pic>
        <p:nvPicPr>
          <p:cNvPr id="107" name="Picture 106" descr="lock.png"/>
          <p:cNvPicPr>
            <a:picLocks noChangeAspect="1"/>
          </p:cNvPicPr>
          <p:nvPr/>
        </p:nvPicPr>
        <p:blipFill>
          <a:blip r:embed="rId4"/>
          <a:stretch>
            <a:fillRect/>
          </a:stretch>
        </p:blipFill>
        <p:spPr>
          <a:xfrm>
            <a:off x="4344856" y="3129808"/>
            <a:ext cx="128699" cy="187198"/>
          </a:xfrm>
          <a:prstGeom prst="rect">
            <a:avLst/>
          </a:prstGeom>
        </p:spPr>
      </p:pic>
      <p:sp>
        <p:nvSpPr>
          <p:cNvPr id="108" name="TextBox 107"/>
          <p:cNvSpPr txBox="1"/>
          <p:nvPr/>
        </p:nvSpPr>
        <p:spPr>
          <a:xfrm>
            <a:off x="4512351" y="3139587"/>
            <a:ext cx="2289844" cy="186689"/>
          </a:xfrm>
          <a:prstGeom prst="rect">
            <a:avLst/>
          </a:prstGeom>
          <a:noFill/>
        </p:spPr>
        <p:txBody>
          <a:bodyPr wrap="none" lIns="0" rIns="0" tIns="0" bIns="0">
            <a:spAutoFit/>
          </a:bodyPr>
          <a:lstStyle/>
          <a:p>
            <a:r>
              <a:rPr sz="1100" b="0">
                <a:solidFill>
                  <a:srgbClr val="2E2E2E"/>
                </a:solidFill>
                <a:latin typeface="Calibri"/>
              </a:rPr>
              <a:t>and with 'Busses and Coaches' growing</a:t>
            </a:r>
          </a:p>
        </p:txBody>
      </p:sp>
      <p:sp>
        <p:nvSpPr>
          <p:cNvPr id="109" name="TextBox 108"/>
          <p:cNvSpPr txBox="1"/>
          <p:nvPr/>
        </p:nvSpPr>
        <p:spPr>
          <a:xfrm>
            <a:off x="209550" y="3307227"/>
            <a:ext cx="603622" cy="186689"/>
          </a:xfrm>
          <a:prstGeom prst="rect">
            <a:avLst/>
          </a:prstGeom>
          <a:noFill/>
        </p:spPr>
        <p:txBody>
          <a:bodyPr wrap="none" lIns="0" rIns="0" tIns="0" bIns="0">
            <a:spAutoFit/>
          </a:bodyPr>
          <a:lstStyle/>
          <a:p>
            <a:r>
              <a:rPr sz="1100" b="0">
                <a:solidFill>
                  <a:srgbClr val="2E2E2E"/>
                </a:solidFill>
                <a:latin typeface="Calibri"/>
              </a:rPr>
              <a:t>fastest at</a:t>
            </a:r>
          </a:p>
        </p:txBody>
      </p:sp>
      <p:pic>
        <p:nvPicPr>
          <p:cNvPr id="110" name="Picture 109" descr="lock.png"/>
          <p:cNvPicPr>
            <a:picLocks noChangeAspect="1"/>
          </p:cNvPicPr>
          <p:nvPr/>
        </p:nvPicPr>
        <p:blipFill>
          <a:blip r:embed="rId4"/>
          <a:stretch>
            <a:fillRect/>
          </a:stretch>
        </p:blipFill>
        <p:spPr>
          <a:xfrm>
            <a:off x="761223" y="3297448"/>
            <a:ext cx="128699" cy="187198"/>
          </a:xfrm>
          <a:prstGeom prst="rect">
            <a:avLst/>
          </a:prstGeom>
        </p:spPr>
      </p:pic>
      <p:sp>
        <p:nvSpPr>
          <p:cNvPr id="111" name="TextBox 110"/>
          <p:cNvSpPr txBox="1"/>
          <p:nvPr/>
        </p:nvSpPr>
        <p:spPr>
          <a:xfrm>
            <a:off x="928719"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Heavy Duty Trucks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837332"/>
            <a:ext cx="1982341" cy="186689"/>
          </a:xfrm>
          <a:prstGeom prst="rect">
            <a:avLst/>
          </a:prstGeom>
          <a:noFill/>
        </p:spPr>
        <p:txBody>
          <a:bodyPr wrap="none" lIns="0" rIns="0" tIns="0" bIns="0">
            <a:spAutoFit/>
          </a:bodyPr>
          <a:lstStyle/>
          <a:p>
            <a:r>
              <a:rPr sz="1100" b="0">
                <a:solidFill>
                  <a:srgbClr val="2E2E2E"/>
                </a:solidFill>
                <a:latin typeface="Calibri"/>
              </a:rPr>
              <a:t>'Heavy Duty Trucks' grows at only</a:t>
            </a:r>
          </a:p>
        </p:txBody>
      </p:sp>
      <p:pic>
        <p:nvPicPr>
          <p:cNvPr id="64" name="Picture 63" descr="lock.png"/>
          <p:cNvPicPr>
            <a:picLocks noChangeAspect="1"/>
          </p:cNvPicPr>
          <p:nvPr/>
        </p:nvPicPr>
        <p:blipFill>
          <a:blip r:embed="rId4"/>
          <a:stretch>
            <a:fillRect/>
          </a:stretch>
        </p:blipFill>
        <p:spPr>
          <a:xfrm>
            <a:off x="2120892" y="1827554"/>
            <a:ext cx="128699" cy="187198"/>
          </a:xfrm>
          <a:prstGeom prst="rect">
            <a:avLst/>
          </a:prstGeom>
        </p:spPr>
      </p:pic>
      <p:sp>
        <p:nvSpPr>
          <p:cNvPr id="65" name="TextBox 64"/>
          <p:cNvSpPr txBox="1"/>
          <p:nvPr/>
        </p:nvSpPr>
        <p:spPr>
          <a:xfrm>
            <a:off x="2288388"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3816035" y="1827554"/>
            <a:ext cx="128699" cy="187198"/>
          </a:xfrm>
          <a:prstGeom prst="rect">
            <a:avLst/>
          </a:prstGeom>
        </p:spPr>
      </p:pic>
      <p:sp>
        <p:nvSpPr>
          <p:cNvPr id="67" name="TextBox 66"/>
          <p:cNvSpPr txBox="1"/>
          <p:nvPr/>
        </p:nvSpPr>
        <p:spPr>
          <a:xfrm>
            <a:off x="3983530"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4215695" y="1827554"/>
            <a:ext cx="128699" cy="187198"/>
          </a:xfrm>
          <a:prstGeom prst="rect">
            <a:avLst/>
          </a:prstGeom>
        </p:spPr>
      </p:pic>
      <p:sp>
        <p:nvSpPr>
          <p:cNvPr id="69" name="TextBox 68"/>
          <p:cNvSpPr txBox="1"/>
          <p:nvPr/>
        </p:nvSpPr>
        <p:spPr>
          <a:xfrm>
            <a:off x="4383191" y="1837332"/>
            <a:ext cx="2597075" cy="186689"/>
          </a:xfrm>
          <a:prstGeom prst="rect">
            <a:avLst/>
          </a:prstGeom>
          <a:noFill/>
        </p:spPr>
        <p:txBody>
          <a:bodyPr wrap="none" lIns="0" rIns="0" tIns="0" bIns="0">
            <a:spAutoFit/>
          </a:bodyPr>
          <a:lstStyle/>
          <a:p>
            <a:r>
              <a:rPr sz="1100" b="0">
                <a:solidFill>
                  <a:srgbClr val="2E2E2E"/>
                </a:solidFill>
                <a:latin typeface="Calibri"/>
              </a:rPr>
              <a:t>BPS gap, and 'Heavy Duty Trucks' surrenders</a:t>
            </a:r>
          </a:p>
        </p:txBody>
      </p:sp>
      <p:pic>
        <p:nvPicPr>
          <p:cNvPr id="70" name="Picture 69" descr="lock.png"/>
          <p:cNvPicPr>
            <a:picLocks noChangeAspect="1"/>
          </p:cNvPicPr>
          <p:nvPr/>
        </p:nvPicPr>
        <p:blipFill>
          <a:blip r:embed="rId4"/>
          <a:stretch>
            <a:fillRect/>
          </a:stretch>
        </p:blipFill>
        <p:spPr>
          <a:xfrm>
            <a:off x="6928318" y="1827554"/>
            <a:ext cx="128699" cy="187198"/>
          </a:xfrm>
          <a:prstGeom prst="rect">
            <a:avLst/>
          </a:prstGeom>
        </p:spPr>
      </p:pic>
      <p:sp>
        <p:nvSpPr>
          <p:cNvPr id="71" name="TextBox 70"/>
          <p:cNvSpPr txBox="1"/>
          <p:nvPr/>
        </p:nvSpPr>
        <p:spPr>
          <a:xfrm>
            <a:off x="7095814" y="1837332"/>
            <a:ext cx="2031181" cy="186689"/>
          </a:xfrm>
          <a:prstGeom prst="rect">
            <a:avLst/>
          </a:prstGeom>
          <a:noFill/>
        </p:spPr>
        <p:txBody>
          <a:bodyPr wrap="none" lIns="0" rIns="0" tIns="0" bIns="0">
            <a:spAutoFit/>
          </a:bodyPr>
          <a:lstStyle/>
          <a:p>
            <a:r>
              <a:rPr sz="1100" b="0">
                <a:solidFill>
                  <a:srgbClr val="2E2E2E"/>
                </a:solidFill>
                <a:latin typeface="Calibri"/>
              </a:rPr>
              <a:t>BPS of vehicle type share between</a:t>
            </a:r>
          </a:p>
        </p:txBody>
      </p:sp>
      <p:sp>
        <p:nvSpPr>
          <p:cNvPr id="72" name="TextBox 71"/>
          <p:cNvSpPr txBox="1"/>
          <p:nvPr/>
        </p:nvSpPr>
        <p:spPr>
          <a:xfrm>
            <a:off x="190500" y="2004972"/>
            <a:ext cx="9148241" cy="186689"/>
          </a:xfrm>
          <a:prstGeom prst="rect">
            <a:avLst/>
          </a:prstGeom>
          <a:noFill/>
        </p:spPr>
        <p:txBody>
          <a:bodyPr wrap="none" lIns="0" rIns="0" tIns="0" bIns="0">
            <a:spAutoFit/>
          </a:bodyPr>
          <a:lstStyle/>
          <a:p>
            <a:r>
              <a:rPr sz="1100" b="0">
                <a:solidFill>
                  <a:srgbClr val="2E2E2E"/>
                </a:solidFill>
                <a:latin typeface="Calibri"/>
              </a:rPr>
              <a:t>2026 and 2036. Because these lines still carry meaningful volume, the drag is absorbed by the whole category: blended growth sits below what the leading lines</a:t>
            </a:r>
          </a:p>
        </p:txBody>
      </p:sp>
      <p:sp>
        <p:nvSpPr>
          <p:cNvPr id="73" name="TextBox 72"/>
          <p:cNvSpPr txBox="1"/>
          <p:nvPr/>
        </p:nvSpPr>
        <p:spPr>
          <a:xfrm>
            <a:off x="190500" y="2172613"/>
            <a:ext cx="8559427" cy="186689"/>
          </a:xfrm>
          <a:prstGeom prst="rect">
            <a:avLst/>
          </a:prstGeom>
          <a:noFill/>
        </p:spPr>
        <p:txBody>
          <a:bodyPr wrap="none" lIns="0" rIns="0" tIns="0" bIns="0">
            <a:spAutoFit/>
          </a:bodyPr>
          <a:lstStyle/>
          <a:p>
            <a:r>
              <a:rPr sz="1100" b="0">
                <a:solidFill>
                  <a:srgbClr val="2E2E2E"/>
                </a:solidFill>
                <a:latin typeface="Calibri"/>
              </a:rPr>
              <a:t>achieve on their own. Rationalising or repositioning the lagging end of a 2-line portfolio is therefore a precondition for realising the headline forecast.</a:t>
            </a:r>
          </a:p>
        </p:txBody>
      </p:sp>
      <p:sp>
        <p:nvSpPr>
          <p:cNvPr id="74" name="TextBox 73"/>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5" name="Picture 74" descr="lock.png"/>
          <p:cNvPicPr>
            <a:picLocks noChangeAspect="1"/>
          </p:cNvPicPr>
          <p:nvPr/>
        </p:nvPicPr>
        <p:blipFill>
          <a:blip r:embed="rId4"/>
          <a:stretch>
            <a:fillRect/>
          </a:stretch>
        </p:blipFill>
        <p:spPr>
          <a:xfrm>
            <a:off x="1870142" y="3488640"/>
            <a:ext cx="128699" cy="187198"/>
          </a:xfrm>
          <a:prstGeom prst="rect">
            <a:avLst/>
          </a:prstGeom>
        </p:spPr>
      </p:pic>
      <p:sp>
        <p:nvSpPr>
          <p:cNvPr id="76" name="TextBox 75"/>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7" name="Picture 76" descr="lock.png"/>
          <p:cNvPicPr>
            <a:picLocks noChangeAspect="1"/>
          </p:cNvPicPr>
          <p:nvPr/>
        </p:nvPicPr>
        <p:blipFill>
          <a:blip r:embed="rId4"/>
          <a:stretch>
            <a:fillRect/>
          </a:stretch>
        </p:blipFill>
        <p:spPr>
          <a:xfrm>
            <a:off x="2455597" y="3488640"/>
            <a:ext cx="128699" cy="187198"/>
          </a:xfrm>
          <a:prstGeom prst="rect">
            <a:avLst/>
          </a:prstGeom>
        </p:spPr>
      </p:pic>
      <p:sp>
        <p:nvSpPr>
          <p:cNvPr id="78" name="TextBox 77"/>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2 of 7 regions sit below the market pace altogether. Demand is therefore not uniformly</a:t>
            </a:r>
          </a:p>
        </p:txBody>
      </p:sp>
      <p:sp>
        <p:nvSpPr>
          <p:cNvPr id="79" name="TextBox 78"/>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0" name="Picture 79" descr="lock.png"/>
          <p:cNvPicPr>
            <a:picLocks noChangeAspect="1"/>
          </p:cNvPicPr>
          <p:nvPr/>
        </p:nvPicPr>
        <p:blipFill>
          <a:blip r:embed="rId4"/>
          <a:stretch>
            <a:fillRect/>
          </a:stretch>
        </p:blipFill>
        <p:spPr>
          <a:xfrm>
            <a:off x="8756642" y="3656280"/>
            <a:ext cx="128699" cy="187198"/>
          </a:xfrm>
          <a:prstGeom prst="rect">
            <a:avLst/>
          </a:prstGeom>
        </p:spPr>
      </p:pic>
      <p:sp>
        <p:nvSpPr>
          <p:cNvPr id="81" name="TextBox 80"/>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2" name="TextBox 81"/>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3" name="TextBox 82"/>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4" name="Picture 83" descr="lock.png"/>
          <p:cNvPicPr>
            <a:picLocks noChangeAspect="1"/>
          </p:cNvPicPr>
          <p:nvPr/>
        </p:nvPicPr>
        <p:blipFill>
          <a:blip r:embed="rId4"/>
          <a:stretch>
            <a:fillRect/>
          </a:stretch>
        </p:blipFill>
        <p:spPr>
          <a:xfrm>
            <a:off x="3476146" y="5240995"/>
            <a:ext cx="128699" cy="187198"/>
          </a:xfrm>
          <a:prstGeom prst="rect">
            <a:avLst/>
          </a:prstGeom>
        </p:spPr>
      </p:pic>
      <p:sp>
        <p:nvSpPr>
          <p:cNvPr id="85" name="TextBox 84"/>
          <p:cNvSpPr txBox="1"/>
          <p:nvPr/>
        </p:nvSpPr>
        <p:spPr>
          <a:xfrm>
            <a:off x="3643642" y="5250774"/>
            <a:ext cx="2907853" cy="186689"/>
          </a:xfrm>
          <a:prstGeom prst="rect">
            <a:avLst/>
          </a:prstGeom>
          <a:noFill/>
        </p:spPr>
        <p:txBody>
          <a:bodyPr wrap="none" lIns="0" rIns="0" tIns="0" bIns="0">
            <a:spAutoFit/>
          </a:bodyPr>
          <a:lstStyle/>
          <a:p>
            <a:r>
              <a:rPr sz="1100" b="0">
                <a:solidFill>
                  <a:srgbClr val="2E2E2E"/>
                </a:solidFill>
                <a:latin typeface="Calibri"/>
              </a:rPr>
              <a:t>of 2036 value and the leading vehicle type line for</a:t>
            </a:r>
          </a:p>
        </p:txBody>
      </p:sp>
      <p:pic>
        <p:nvPicPr>
          <p:cNvPr id="86" name="Picture 85" descr="lock.png"/>
          <p:cNvPicPr>
            <a:picLocks noChangeAspect="1"/>
          </p:cNvPicPr>
          <p:nvPr/>
        </p:nvPicPr>
        <p:blipFill>
          <a:blip r:embed="rId4"/>
          <a:stretch>
            <a:fillRect/>
          </a:stretch>
        </p:blipFill>
        <p:spPr>
          <a:xfrm>
            <a:off x="6499547" y="5240995"/>
            <a:ext cx="128699" cy="187198"/>
          </a:xfrm>
          <a:prstGeom prst="rect">
            <a:avLst/>
          </a:prstGeom>
        </p:spPr>
      </p:pic>
      <p:sp>
        <p:nvSpPr>
          <p:cNvPr id="87" name="TextBox 86"/>
          <p:cNvSpPr txBox="1"/>
          <p:nvPr/>
        </p:nvSpPr>
        <p:spPr>
          <a:xfrm>
            <a:off x="6667043"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8" name="Picture 87" descr="lock.png"/>
          <p:cNvPicPr>
            <a:picLocks noChangeAspect="1"/>
          </p:cNvPicPr>
          <p:nvPr/>
        </p:nvPicPr>
        <p:blipFill>
          <a:blip r:embed="rId4"/>
          <a:stretch>
            <a:fillRect/>
          </a:stretch>
        </p:blipFill>
        <p:spPr>
          <a:xfrm>
            <a:off x="9060153" y="5240995"/>
            <a:ext cx="128699" cy="187198"/>
          </a:xfrm>
          <a:prstGeom prst="rect">
            <a:avLst/>
          </a:prstGeom>
        </p:spPr>
      </p:pic>
      <p:sp>
        <p:nvSpPr>
          <p:cNvPr id="89" name="TextBox 88"/>
          <p:cNvSpPr txBox="1"/>
          <p:nvPr/>
        </p:nvSpPr>
        <p:spPr>
          <a:xfrm>
            <a:off x="190500" y="5418414"/>
            <a:ext cx="9376345"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7 regions. The practical constraint is the same in either case commercial terms set for the market as a</a:t>
            </a:r>
          </a:p>
        </p:txBody>
      </p:sp>
      <p:sp>
        <p:nvSpPr>
          <p:cNvPr id="90" name="TextBox 89"/>
          <p:cNvSpPr txBox="1"/>
          <p:nvPr/>
        </p:nvSpPr>
        <p:spPr>
          <a:xfrm>
            <a:off x="190500" y="5586054"/>
            <a:ext cx="5940325" cy="186689"/>
          </a:xfrm>
          <a:prstGeom prst="rect">
            <a:avLst/>
          </a:prstGeom>
          <a:noFill/>
        </p:spPr>
        <p:txBody>
          <a:bodyPr wrap="none" lIns="0" rIns="0" tIns="0" bIns="0">
            <a:spAutoFit/>
          </a:bodyPr>
          <a:lstStyle/>
          <a:p>
            <a:r>
              <a:rPr sz="1100" b="0">
                <a:solidFill>
                  <a:srgbClr val="2E2E2E"/>
                </a:solidFill>
                <a:latin typeface="Calibri"/>
              </a:rPr>
              <a:t>whole underserve part of it, and margin is lost in the mismatch rather than in the headline growth rate.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Balkan &amp; Baltics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Busses and Coaches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886842" cy="186689"/>
          </a:xfrm>
          <a:prstGeom prst="rect">
            <a:avLst/>
          </a:prstGeom>
          <a:noFill/>
        </p:spPr>
        <p:txBody>
          <a:bodyPr wrap="none" lIns="0" rIns="0" tIns="0" bIns="0">
            <a:spAutoFit/>
          </a:bodyPr>
          <a:lstStyle/>
          <a:p>
            <a:r>
              <a:rPr sz="1100" b="0">
                <a:solidFill>
                  <a:srgbClr val="2E2E2E"/>
                </a:solidFill>
                <a:latin typeface="Calibri"/>
              </a:rPr>
              <a:t>'Balkan &amp; Baltics' compounds at</a:t>
            </a:r>
          </a:p>
        </p:txBody>
      </p:sp>
      <p:pic>
        <p:nvPicPr>
          <p:cNvPr id="73" name="Picture 72" descr="lock.png"/>
          <p:cNvPicPr>
            <a:picLocks noChangeAspect="1"/>
          </p:cNvPicPr>
          <p:nvPr/>
        </p:nvPicPr>
        <p:blipFill>
          <a:blip r:embed="rId4"/>
          <a:stretch>
            <a:fillRect/>
          </a:stretch>
        </p:blipFill>
        <p:spPr>
          <a:xfrm>
            <a:off x="2025394" y="3488640"/>
            <a:ext cx="128699" cy="187198"/>
          </a:xfrm>
          <a:prstGeom prst="rect">
            <a:avLst/>
          </a:prstGeom>
        </p:spPr>
      </p:pic>
      <p:sp>
        <p:nvSpPr>
          <p:cNvPr id="74" name="TextBox 73"/>
          <p:cNvSpPr txBox="1"/>
          <p:nvPr/>
        </p:nvSpPr>
        <p:spPr>
          <a:xfrm>
            <a:off x="2192890"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7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1789162" cy="186689"/>
          </a:xfrm>
          <a:prstGeom prst="rect">
            <a:avLst/>
          </a:prstGeom>
          <a:noFill/>
        </p:spPr>
        <p:txBody>
          <a:bodyPr wrap="none" lIns="0" rIns="0" tIns="0" bIns="0">
            <a:spAutoFit/>
          </a:bodyPr>
          <a:lstStyle/>
          <a:p>
            <a:r>
              <a:rPr sz="1100" b="0">
                <a:solidFill>
                  <a:srgbClr val="2E2E2E"/>
                </a:solidFill>
                <a:latin typeface="Calibri"/>
              </a:rPr>
              <a:t>'Busses and Coaches' grows at</a:t>
            </a:r>
          </a:p>
        </p:txBody>
      </p:sp>
      <p:pic>
        <p:nvPicPr>
          <p:cNvPr id="82" name="Picture 81" descr="lock.png"/>
          <p:cNvPicPr>
            <a:picLocks noChangeAspect="1"/>
          </p:cNvPicPr>
          <p:nvPr/>
        </p:nvPicPr>
        <p:blipFill>
          <a:blip r:embed="rId4"/>
          <a:stretch>
            <a:fillRect/>
          </a:stretch>
        </p:blipFill>
        <p:spPr>
          <a:xfrm>
            <a:off x="1927713" y="5240995"/>
            <a:ext cx="128699" cy="187198"/>
          </a:xfrm>
          <a:prstGeom prst="rect">
            <a:avLst/>
          </a:prstGeom>
        </p:spPr>
      </p:pic>
      <p:sp>
        <p:nvSpPr>
          <p:cNvPr id="83" name="TextBox 82"/>
          <p:cNvSpPr txBox="1"/>
          <p:nvPr/>
        </p:nvSpPr>
        <p:spPr>
          <a:xfrm>
            <a:off x="2095209" y="5250774"/>
            <a:ext cx="3010428" cy="186689"/>
          </a:xfrm>
          <a:prstGeom prst="rect">
            <a:avLst/>
          </a:prstGeom>
          <a:noFill/>
        </p:spPr>
        <p:txBody>
          <a:bodyPr wrap="none" lIns="0" rIns="0" tIns="0" bIns="0">
            <a:spAutoFit/>
          </a:bodyPr>
          <a:lstStyle/>
          <a:p>
            <a:r>
              <a:rPr sz="1100" b="0">
                <a:solidFill>
                  <a:srgbClr val="2E2E2E"/>
                </a:solidFill>
                <a:latin typeface="Calibri"/>
              </a:rPr>
              <a:t>CAGR, the fastest of 2 vehicle type routes, and adds</a:t>
            </a:r>
          </a:p>
        </p:txBody>
      </p:sp>
      <p:pic>
        <p:nvPicPr>
          <p:cNvPr id="84" name="Picture 83" descr="lock.png"/>
          <p:cNvPicPr>
            <a:picLocks noChangeAspect="1"/>
          </p:cNvPicPr>
          <p:nvPr/>
        </p:nvPicPr>
        <p:blipFill>
          <a:blip r:embed="rId4"/>
          <a:stretch>
            <a:fillRect/>
          </a:stretch>
        </p:blipFill>
        <p:spPr>
          <a:xfrm>
            <a:off x="5053689" y="5240995"/>
            <a:ext cx="128699" cy="187198"/>
          </a:xfrm>
          <a:prstGeom prst="rect">
            <a:avLst/>
          </a:prstGeom>
        </p:spPr>
      </p:pic>
      <p:sp>
        <p:nvSpPr>
          <p:cNvPr id="85" name="TextBox 84"/>
          <p:cNvSpPr txBox="1"/>
          <p:nvPr/>
        </p:nvSpPr>
        <p:spPr>
          <a:xfrm>
            <a:off x="5221185" y="5250774"/>
            <a:ext cx="4054648" cy="186689"/>
          </a:xfrm>
          <a:prstGeom prst="rect">
            <a:avLst/>
          </a:prstGeom>
          <a:noFill/>
        </p:spPr>
        <p:txBody>
          <a:bodyPr wrap="none" lIns="0" rIns="0" tIns="0" bIns="0">
            <a:spAutoFit/>
          </a:bodyPr>
          <a:lstStyle/>
          <a:p>
            <a:r>
              <a:rPr sz="1100" b="0">
                <a:solidFill>
                  <a:srgbClr val="2E2E2E"/>
                </a:solidFill>
                <a:latin typeface="Calibri"/>
              </a:rPr>
              <a:t>US$ Mn over the forecast period while 'Heavy Duty Trucks' still carries</a:t>
            </a:r>
          </a:p>
        </p:txBody>
      </p:sp>
      <p:pic>
        <p:nvPicPr>
          <p:cNvPr id="86" name="Picture 85" descr="lock.png"/>
          <p:cNvPicPr>
            <a:picLocks noChangeAspect="1"/>
          </p:cNvPicPr>
          <p:nvPr/>
        </p:nvPicPr>
        <p:blipFill>
          <a:blip r:embed="rId4"/>
          <a:stretch>
            <a:fillRect/>
          </a:stretch>
        </p:blipFill>
        <p:spPr>
          <a:xfrm>
            <a:off x="177032" y="5408635"/>
            <a:ext cx="128699" cy="187198"/>
          </a:xfrm>
          <a:prstGeom prst="rect">
            <a:avLst/>
          </a:prstGeom>
        </p:spPr>
      </p:pic>
      <p:sp>
        <p:nvSpPr>
          <p:cNvPr id="87" name="TextBox 86"/>
          <p:cNvSpPr txBox="1"/>
          <p:nvPr/>
        </p:nvSpPr>
        <p:spPr>
          <a:xfrm>
            <a:off x="344528" y="5418414"/>
            <a:ext cx="7613451"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'Busses and Coaches' at</a:t>
            </a:r>
          </a:p>
        </p:txBody>
      </p:sp>
      <p:pic>
        <p:nvPicPr>
          <p:cNvPr id="88" name="Picture 87" descr="lock.png"/>
          <p:cNvPicPr>
            <a:picLocks noChangeAspect="1"/>
          </p:cNvPicPr>
          <p:nvPr/>
        </p:nvPicPr>
        <p:blipFill>
          <a:blip r:embed="rId4"/>
          <a:stretch>
            <a:fillRect/>
          </a:stretch>
        </p:blipFill>
        <p:spPr>
          <a:xfrm>
            <a:off x="7906031" y="5408635"/>
            <a:ext cx="128699" cy="187198"/>
          </a:xfrm>
          <a:prstGeom prst="rect">
            <a:avLst/>
          </a:prstGeom>
        </p:spPr>
      </p:pic>
      <p:sp>
        <p:nvSpPr>
          <p:cNvPr id="89" name="TextBox 88"/>
          <p:cNvSpPr txBox="1"/>
          <p:nvPr/>
        </p:nvSpPr>
        <p:spPr>
          <a:xfrm>
            <a:off x="8073527" y="5418414"/>
            <a:ext cx="1145505" cy="186689"/>
          </a:xfrm>
          <a:prstGeom prst="rect">
            <a:avLst/>
          </a:prstGeom>
          <a:noFill/>
        </p:spPr>
        <p:txBody>
          <a:bodyPr wrap="none" lIns="0" rIns="0" tIns="0" bIns="0">
            <a:spAutoFit/>
          </a:bodyPr>
          <a:lstStyle/>
          <a:p>
            <a:r>
              <a:rPr sz="1100" b="0">
                <a:solidFill>
                  <a:srgbClr val="2E2E2E"/>
                </a:solidFill>
                <a:latin typeface="Calibri"/>
              </a:rPr>
              <a:t>is the highest-yield</a:t>
            </a:r>
          </a:p>
        </p:txBody>
      </p:sp>
      <p:sp>
        <p:nvSpPr>
          <p:cNvPr id="90" name="TextBox 89"/>
          <p:cNvSpPr txBox="1"/>
          <p:nvPr/>
        </p:nvSpPr>
        <p:spPr>
          <a:xfrm>
            <a:off x="190500" y="5586054"/>
            <a:ext cx="2036638" cy="186689"/>
          </a:xfrm>
          <a:prstGeom prst="rect">
            <a:avLst/>
          </a:prstGeom>
          <a:noFill/>
        </p:spPr>
        <p:txBody>
          <a:bodyPr wrap="none" lIns="0" rIns="0" tIns="0" bIns="0">
            <a:spAutoFit/>
          </a:bodyPr>
          <a:lstStyle/>
          <a:p>
            <a:r>
              <a:rPr sz="1100" b="0">
                <a:solidFill>
                  <a:srgbClr val="2E2E2E"/>
                </a:solidFill>
                <a:latin typeface="Calibri"/>
              </a:rPr>
              <a:t>combination the dataset supports.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Heavy Commercial Vehicle EPS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2023</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2033</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5197896"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'Heavy Duty</a:t>
            </a:r>
          </a:p>
        </p:txBody>
      </p:sp>
      <p:sp>
        <p:nvSpPr>
          <p:cNvPr id="39" name="TextBox 38"/>
          <p:cNvSpPr txBox="1"/>
          <p:nvPr/>
        </p:nvSpPr>
        <p:spPr>
          <a:xfrm>
            <a:off x="1743075" y="1965579"/>
            <a:ext cx="474836" cy="186689"/>
          </a:xfrm>
          <a:prstGeom prst="rect">
            <a:avLst/>
          </a:prstGeom>
          <a:noFill/>
        </p:spPr>
        <p:txBody>
          <a:bodyPr wrap="none" lIns="0" rIns="0" tIns="0" bIns="0">
            <a:spAutoFit/>
          </a:bodyPr>
          <a:lstStyle/>
          <a:p>
            <a:r>
              <a:rPr sz="1100" b="0">
                <a:solidFill>
                  <a:srgbClr val="2E2E2E"/>
                </a:solidFill>
                <a:latin typeface="Calibri"/>
              </a:rPr>
              <a:t>Trucks'</a:t>
            </a:r>
          </a:p>
        </p:txBody>
      </p:sp>
      <p:pic>
        <p:nvPicPr>
          <p:cNvPr id="40" name="Picture 39" descr="lock.png"/>
          <p:cNvPicPr>
            <a:picLocks noChangeAspect="1"/>
          </p:cNvPicPr>
          <p:nvPr/>
        </p:nvPicPr>
        <p:blipFill>
          <a:blip r:embed="rId4"/>
          <a:stretch>
            <a:fillRect/>
          </a:stretch>
        </p:blipFill>
        <p:spPr>
          <a:xfrm>
            <a:off x="2165962" y="1955800"/>
            <a:ext cx="128699" cy="187198"/>
          </a:xfrm>
          <a:prstGeom prst="rect">
            <a:avLst/>
          </a:prstGeom>
        </p:spPr>
      </p:pic>
      <p:sp>
        <p:nvSpPr>
          <p:cNvPr id="41" name="TextBox 40"/>
          <p:cNvSpPr txBox="1"/>
          <p:nvPr/>
        </p:nvSpPr>
        <p:spPr>
          <a:xfrm>
            <a:off x="2333458" y="1965579"/>
            <a:ext cx="6997898" cy="186689"/>
          </a:xfrm>
          <a:prstGeom prst="rect">
            <a:avLst/>
          </a:prstGeom>
          <a:noFill/>
        </p:spPr>
        <p:txBody>
          <a:bodyPr wrap="none" lIns="0" rIns="0" tIns="0" bIns="0">
            <a:spAutoFit/>
          </a:bodyPr>
          <a:lstStyle/>
          <a:p>
            <a:r>
              <a:rPr sz="1100" b="0">
                <a:solidFill>
                  <a:srgbClr val="2E2E2E"/>
                </a:solidFill>
                <a:latin typeface="Calibri"/>
              </a:rPr>
              <a:t>of vehicle type value by 2036 set the pace, and the 2 vehicle type routes tracked here all carried volume through the year.</a:t>
            </a:r>
          </a:p>
        </p:txBody>
      </p:sp>
      <p:sp>
        <p:nvSpPr>
          <p:cNvPr id="42" name="TextBox 41"/>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3" name="Picture 42" descr="lock.png"/>
          <p:cNvPicPr>
            <a:picLocks noChangeAspect="1"/>
          </p:cNvPicPr>
          <p:nvPr/>
        </p:nvPicPr>
        <p:blipFill>
          <a:blip r:embed="rId4"/>
          <a:stretch>
            <a:fillRect/>
          </a:stretch>
        </p:blipFill>
        <p:spPr>
          <a:xfrm>
            <a:off x="5030621" y="2936114"/>
            <a:ext cx="123551" cy="179710"/>
          </a:xfrm>
          <a:prstGeom prst="rect">
            <a:avLst/>
          </a:prstGeom>
        </p:spPr>
      </p:pic>
      <p:sp>
        <p:nvSpPr>
          <p:cNvPr id="44" name="TextBox 43"/>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5" name="Picture 44" descr="lock.png"/>
          <p:cNvPicPr>
            <a:picLocks noChangeAspect="1"/>
          </p:cNvPicPr>
          <p:nvPr/>
        </p:nvPicPr>
        <p:blipFill>
          <a:blip r:embed="rId4"/>
          <a:stretch>
            <a:fillRect/>
          </a:stretch>
        </p:blipFill>
        <p:spPr>
          <a:xfrm>
            <a:off x="6964179" y="2936114"/>
            <a:ext cx="123551" cy="179710"/>
          </a:xfrm>
          <a:prstGeom prst="rect">
            <a:avLst/>
          </a:prstGeom>
        </p:spPr>
      </p:pic>
      <p:sp>
        <p:nvSpPr>
          <p:cNvPr id="46" name="TextBox 45"/>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7" name="Picture 46" descr="lock.png"/>
          <p:cNvPicPr>
            <a:picLocks noChangeAspect="1"/>
          </p:cNvPicPr>
          <p:nvPr/>
        </p:nvPicPr>
        <p:blipFill>
          <a:blip r:embed="rId4"/>
          <a:stretch>
            <a:fillRect/>
          </a:stretch>
        </p:blipFill>
        <p:spPr>
          <a:xfrm>
            <a:off x="9382846" y="2936114"/>
            <a:ext cx="123551" cy="179710"/>
          </a:xfrm>
          <a:prstGeom prst="rect">
            <a:avLst/>
          </a:prstGeom>
        </p:spPr>
      </p:pic>
      <p:sp>
        <p:nvSpPr>
          <p:cNvPr id="48" name="TextBox 47"/>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7 regions, and the</a:t>
            </a:r>
          </a:p>
        </p:txBody>
      </p:sp>
      <p:sp>
        <p:nvSpPr>
          <p:cNvPr id="49" name="TextBox 48"/>
          <p:cNvSpPr txBox="1"/>
          <p:nvPr/>
        </p:nvSpPr>
        <p:spPr>
          <a:xfrm>
            <a:off x="1743075" y="3106436"/>
            <a:ext cx="4105846" cy="179984"/>
          </a:xfrm>
          <a:prstGeom prst="rect">
            <a:avLst/>
          </a:prstGeom>
          <a:noFill/>
        </p:spPr>
        <p:txBody>
          <a:bodyPr wrap="none" lIns="0" rIns="0" tIns="0" bIns="0">
            <a:spAutoFit/>
          </a:bodyPr>
          <a:lstStyle/>
          <a:p>
            <a:r>
              <a:rPr sz="1055" b="0">
                <a:solidFill>
                  <a:srgbClr val="2E2E2E"/>
                </a:solidFill>
                <a:latin typeface="Calibri"/>
              </a:rPr>
              <a:t>forecast is built from 5 segment breakdowns covering 2 vehicle type lines.</a:t>
            </a:r>
          </a:p>
        </p:txBody>
      </p:sp>
      <p:sp>
        <p:nvSpPr>
          <p:cNvPr id="50" name="TextBox 49"/>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51" name="Picture 50" descr="lock.png"/>
          <p:cNvPicPr>
            <a:picLocks noChangeAspect="1"/>
          </p:cNvPicPr>
          <p:nvPr/>
        </p:nvPicPr>
        <p:blipFill>
          <a:blip r:embed="rId4"/>
          <a:stretch>
            <a:fillRect/>
          </a:stretch>
        </p:blipFill>
        <p:spPr>
          <a:xfrm>
            <a:off x="2779530" y="3921813"/>
            <a:ext cx="123551" cy="179710"/>
          </a:xfrm>
          <a:prstGeom prst="rect">
            <a:avLst/>
          </a:prstGeom>
        </p:spPr>
      </p:pic>
      <p:sp>
        <p:nvSpPr>
          <p:cNvPr id="52" name="TextBox 51"/>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3" name="Picture 52" descr="lock.png"/>
          <p:cNvPicPr>
            <a:picLocks noChangeAspect="1"/>
          </p:cNvPicPr>
          <p:nvPr/>
        </p:nvPicPr>
        <p:blipFill>
          <a:blip r:embed="rId4"/>
          <a:stretch>
            <a:fillRect/>
          </a:stretch>
        </p:blipFill>
        <p:spPr>
          <a:xfrm>
            <a:off x="5832609" y="3921813"/>
            <a:ext cx="123551" cy="179710"/>
          </a:xfrm>
          <a:prstGeom prst="rect">
            <a:avLst/>
          </a:prstGeom>
        </p:spPr>
      </p:pic>
      <p:sp>
        <p:nvSpPr>
          <p:cNvPr id="54" name="TextBox 53"/>
          <p:cNvSpPr txBox="1"/>
          <p:nvPr/>
        </p:nvSpPr>
        <p:spPr>
          <a:xfrm>
            <a:off x="5993405" y="3931201"/>
            <a:ext cx="3483482" cy="179984"/>
          </a:xfrm>
          <a:prstGeom prst="rect">
            <a:avLst/>
          </a:prstGeom>
          <a:noFill/>
        </p:spPr>
        <p:txBody>
          <a:bodyPr wrap="none" lIns="0" rIns="0" tIns="0" bIns="0">
            <a:spAutoFit/>
          </a:bodyPr>
          <a:lstStyle/>
          <a:p>
            <a:r>
              <a:rPr sz="1055" b="0">
                <a:solidFill>
                  <a:srgbClr val="2E2E2E"/>
                </a:solidFill>
                <a:latin typeface="Calibri"/>
              </a:rPr>
              <a:t>US$ Mn. Growth by this point is led by 'Busses and Coaches' at</a:t>
            </a:r>
          </a:p>
        </p:txBody>
      </p:sp>
      <p:pic>
        <p:nvPicPr>
          <p:cNvPr id="55" name="Picture 54" descr="lock.png"/>
          <p:cNvPicPr>
            <a:picLocks noChangeAspect="1"/>
          </p:cNvPicPr>
          <p:nvPr/>
        </p:nvPicPr>
        <p:blipFill>
          <a:blip r:embed="rId4"/>
          <a:stretch>
            <a:fillRect/>
          </a:stretch>
        </p:blipFill>
        <p:spPr>
          <a:xfrm>
            <a:off x="9423970" y="3921813"/>
            <a:ext cx="123551" cy="179710"/>
          </a:xfrm>
          <a:prstGeom prst="rect">
            <a:avLst/>
          </a:prstGeom>
        </p:spPr>
      </p:pic>
      <p:sp>
        <p:nvSpPr>
          <p:cNvPr id="56" name="TextBox 55"/>
          <p:cNvSpPr txBox="1"/>
          <p:nvPr/>
        </p:nvSpPr>
        <p:spPr>
          <a:xfrm>
            <a:off x="9584766" y="3931201"/>
            <a:ext cx="1945107" cy="179984"/>
          </a:xfrm>
          <a:prstGeom prst="rect">
            <a:avLst/>
          </a:prstGeom>
          <a:noFill/>
        </p:spPr>
        <p:txBody>
          <a:bodyPr wrap="none" lIns="0" rIns="0" tIns="0" bIns="0">
            <a:spAutoFit/>
          </a:bodyPr>
          <a:lstStyle/>
          <a:p>
            <a:r>
              <a:rPr sz="1055" b="0">
                <a:solidFill>
                  <a:srgbClr val="2E2E2E"/>
                </a:solidFill>
                <a:latin typeface="Calibri"/>
              </a:rPr>
              <a:t>CAGR and by 'South Asia &amp; Pacific'</a:t>
            </a:r>
          </a:p>
        </p:txBody>
      </p:sp>
      <p:sp>
        <p:nvSpPr>
          <p:cNvPr id="57" name="TextBox 56"/>
          <p:cNvSpPr txBox="1"/>
          <p:nvPr/>
        </p:nvSpPr>
        <p:spPr>
          <a:xfrm>
            <a:off x="1743075" y="4092135"/>
            <a:ext cx="1023104" cy="179984"/>
          </a:xfrm>
          <a:prstGeom prst="rect">
            <a:avLst/>
          </a:prstGeom>
          <a:noFill/>
        </p:spPr>
        <p:txBody>
          <a:bodyPr wrap="none" lIns="0" rIns="0" tIns="0" bIns="0">
            <a:spAutoFit/>
          </a:bodyPr>
          <a:lstStyle/>
          <a:p>
            <a:r>
              <a:rPr sz="1055" b="0">
                <a:solidFill>
                  <a:srgbClr val="2E2E2E"/>
                </a:solidFill>
                <a:latin typeface="Calibri"/>
              </a:rPr>
              <a:t>among regions at</a:t>
            </a:r>
          </a:p>
        </p:txBody>
      </p:sp>
      <p:pic>
        <p:nvPicPr>
          <p:cNvPr id="58" name="Picture 57" descr="lock.png"/>
          <p:cNvPicPr>
            <a:picLocks noChangeAspect="1"/>
          </p:cNvPicPr>
          <p:nvPr/>
        </p:nvPicPr>
        <p:blipFill>
          <a:blip r:embed="rId4"/>
          <a:stretch>
            <a:fillRect/>
          </a:stretch>
        </p:blipFill>
        <p:spPr>
          <a:xfrm>
            <a:off x="2713260" y="4082747"/>
            <a:ext cx="123551" cy="179710"/>
          </a:xfrm>
          <a:prstGeom prst="rect">
            <a:avLst/>
          </a:prstGeom>
        </p:spPr>
      </p:pic>
      <p:sp>
        <p:nvSpPr>
          <p:cNvPr id="59" name="TextBox 58"/>
          <p:cNvSpPr txBox="1"/>
          <p:nvPr/>
        </p:nvSpPr>
        <p:spPr>
          <a:xfrm>
            <a:off x="2874056" y="4092135"/>
            <a:ext cx="3178063" cy="179984"/>
          </a:xfrm>
          <a:prstGeom prst="rect">
            <a:avLst/>
          </a:prstGeom>
          <a:noFill/>
        </p:spPr>
        <p:txBody>
          <a:bodyPr wrap="none" lIns="0" rIns="0" tIns="0" bIns="0">
            <a:spAutoFit/>
          </a:bodyPr>
          <a:lstStyle/>
          <a:p>
            <a:r>
              <a:rPr sz="1055" b="0">
                <a:solidFill>
                  <a:srgbClr val="2E2E2E"/>
                </a:solidFill>
                <a:latin typeface="Calibri"/>
              </a:rPr>
              <a:t>, with 5 of 7 regions running at or above the market rate.</a:t>
            </a:r>
          </a:p>
        </p:txBody>
      </p:sp>
      <p:sp>
        <p:nvSpPr>
          <p:cNvPr id="60" name="TextBox 59"/>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61" name="Picture 60" descr="lock.png"/>
          <p:cNvPicPr>
            <a:picLocks noChangeAspect="1"/>
          </p:cNvPicPr>
          <p:nvPr/>
        </p:nvPicPr>
        <p:blipFill>
          <a:blip r:embed="rId4"/>
          <a:stretch>
            <a:fillRect/>
          </a:stretch>
        </p:blipFill>
        <p:spPr>
          <a:xfrm>
            <a:off x="3880454" y="4907513"/>
            <a:ext cx="123551" cy="179710"/>
          </a:xfrm>
          <a:prstGeom prst="rect">
            <a:avLst/>
          </a:prstGeom>
        </p:spPr>
      </p:pic>
      <p:sp>
        <p:nvSpPr>
          <p:cNvPr id="62" name="TextBox 61"/>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3" name="Picture 62" descr="lock.png"/>
          <p:cNvPicPr>
            <a:picLocks noChangeAspect="1"/>
          </p:cNvPicPr>
          <p:nvPr/>
        </p:nvPicPr>
        <p:blipFill>
          <a:blip r:embed="rId4"/>
          <a:stretch>
            <a:fillRect/>
          </a:stretch>
        </p:blipFill>
        <p:spPr>
          <a:xfrm>
            <a:off x="4529470" y="4907513"/>
            <a:ext cx="123551" cy="179710"/>
          </a:xfrm>
          <a:prstGeom prst="rect">
            <a:avLst/>
          </a:prstGeom>
        </p:spPr>
      </p:pic>
      <p:sp>
        <p:nvSpPr>
          <p:cNvPr id="64" name="TextBox 63"/>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5" name="Picture 64" descr="lock.png"/>
          <p:cNvPicPr>
            <a:picLocks noChangeAspect="1"/>
          </p:cNvPicPr>
          <p:nvPr/>
        </p:nvPicPr>
        <p:blipFill>
          <a:blip r:embed="rId4"/>
          <a:stretch>
            <a:fillRect/>
          </a:stretch>
        </p:blipFill>
        <p:spPr>
          <a:xfrm>
            <a:off x="7218681" y="4907513"/>
            <a:ext cx="123551" cy="179710"/>
          </a:xfrm>
          <a:prstGeom prst="rect">
            <a:avLst/>
          </a:prstGeom>
        </p:spPr>
      </p:pic>
      <p:sp>
        <p:nvSpPr>
          <p:cNvPr id="66" name="TextBox 65"/>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7" name="Picture 66" descr="lock.png"/>
          <p:cNvPicPr>
            <a:picLocks noChangeAspect="1"/>
          </p:cNvPicPr>
          <p:nvPr/>
        </p:nvPicPr>
        <p:blipFill>
          <a:blip r:embed="rId4"/>
          <a:stretch>
            <a:fillRect/>
          </a:stretch>
        </p:blipFill>
        <p:spPr>
          <a:xfrm>
            <a:off x="9171623" y="4907513"/>
            <a:ext cx="123551" cy="179710"/>
          </a:xfrm>
          <a:prstGeom prst="rect">
            <a:avLst/>
          </a:prstGeom>
        </p:spPr>
      </p:pic>
      <p:sp>
        <p:nvSpPr>
          <p:cNvPr id="68" name="TextBox 67"/>
          <p:cNvSpPr txBox="1"/>
          <p:nvPr/>
        </p:nvSpPr>
        <p:spPr>
          <a:xfrm>
            <a:off x="9332419" y="4916901"/>
            <a:ext cx="2204966" cy="179984"/>
          </a:xfrm>
          <a:prstGeom prst="rect">
            <a:avLst/>
          </a:prstGeom>
          <a:noFill/>
        </p:spPr>
        <p:txBody>
          <a:bodyPr wrap="none" lIns="0" rIns="0" tIns="0" bIns="0">
            <a:spAutoFit/>
          </a:bodyPr>
          <a:lstStyle/>
          <a:p>
            <a:r>
              <a:rPr sz="1055" b="0">
                <a:solidFill>
                  <a:srgbClr val="2E2E2E"/>
                </a:solidFill>
                <a:latin typeface="Calibri"/>
              </a:rPr>
              <a:t>BPS toward 'Busses and Coaches' while</a:t>
            </a:r>
          </a:p>
        </p:txBody>
      </p:sp>
      <p:sp>
        <p:nvSpPr>
          <p:cNvPr id="69" name="TextBox 68"/>
          <p:cNvSpPr txBox="1"/>
          <p:nvPr/>
        </p:nvSpPr>
        <p:spPr>
          <a:xfrm>
            <a:off x="1743075" y="5077835"/>
            <a:ext cx="1619273" cy="179984"/>
          </a:xfrm>
          <a:prstGeom prst="rect">
            <a:avLst/>
          </a:prstGeom>
          <a:noFill/>
        </p:spPr>
        <p:txBody>
          <a:bodyPr wrap="none" lIns="0" rIns="0" tIns="0" bIns="0">
            <a:spAutoFit/>
          </a:bodyPr>
          <a:lstStyle/>
          <a:p>
            <a:r>
              <a:rPr sz="1055" b="0">
                <a:solidFill>
                  <a:srgbClr val="2E2E2E"/>
                </a:solidFill>
                <a:latin typeface="Calibri"/>
              </a:rPr>
              <a:t>'Heavy Duty Trucks' gives up</a:t>
            </a:r>
          </a:p>
        </p:txBody>
      </p:sp>
      <p:pic>
        <p:nvPicPr>
          <p:cNvPr id="70" name="Picture 69" descr="lock.png"/>
          <p:cNvPicPr>
            <a:picLocks noChangeAspect="1"/>
          </p:cNvPicPr>
          <p:nvPr/>
        </p:nvPicPr>
        <p:blipFill>
          <a:blip r:embed="rId4"/>
          <a:stretch>
            <a:fillRect/>
          </a:stretch>
        </p:blipFill>
        <p:spPr>
          <a:xfrm>
            <a:off x="3309430" y="5068447"/>
            <a:ext cx="123551" cy="179710"/>
          </a:xfrm>
          <a:prstGeom prst="rect">
            <a:avLst/>
          </a:prstGeom>
        </p:spPr>
      </p:pic>
      <p:sp>
        <p:nvSpPr>
          <p:cNvPr id="71" name="TextBox 70"/>
          <p:cNvSpPr txBox="1"/>
          <p:nvPr/>
        </p:nvSpPr>
        <p:spPr>
          <a:xfrm>
            <a:off x="3470226"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2" name="TextBox 71"/>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3" name="Picture 72" descr="lock.png"/>
          <p:cNvPicPr>
            <a:picLocks noChangeAspect="1"/>
          </p:cNvPicPr>
          <p:nvPr/>
        </p:nvPicPr>
        <p:blipFill>
          <a:blip r:embed="rId4"/>
          <a:stretch>
            <a:fillRect/>
          </a:stretch>
        </p:blipFill>
        <p:spPr>
          <a:xfrm>
            <a:off x="4234303" y="5893213"/>
            <a:ext cx="123551" cy="179710"/>
          </a:xfrm>
          <a:prstGeom prst="rect">
            <a:avLst/>
          </a:prstGeom>
        </p:spPr>
      </p:pic>
      <p:sp>
        <p:nvSpPr>
          <p:cNvPr id="74" name="TextBox 73"/>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5" name="Picture 74" descr="lock.png"/>
          <p:cNvPicPr>
            <a:picLocks noChangeAspect="1"/>
          </p:cNvPicPr>
          <p:nvPr/>
        </p:nvPicPr>
        <p:blipFill>
          <a:blip r:embed="rId4"/>
          <a:stretch>
            <a:fillRect/>
          </a:stretch>
        </p:blipFill>
        <p:spPr>
          <a:xfrm>
            <a:off x="4977879" y="5893213"/>
            <a:ext cx="123551" cy="179710"/>
          </a:xfrm>
          <a:prstGeom prst="rect">
            <a:avLst/>
          </a:prstGeom>
        </p:spPr>
      </p:pic>
      <p:sp>
        <p:nvSpPr>
          <p:cNvPr id="76" name="TextBox 75"/>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7" name="Picture 76" descr="lock.png"/>
          <p:cNvPicPr>
            <a:picLocks noChangeAspect="1"/>
          </p:cNvPicPr>
          <p:nvPr/>
        </p:nvPicPr>
        <p:blipFill>
          <a:blip r:embed="rId4"/>
          <a:stretch>
            <a:fillRect/>
          </a:stretch>
        </p:blipFill>
        <p:spPr>
          <a:xfrm>
            <a:off x="6523507" y="5893213"/>
            <a:ext cx="123551" cy="179710"/>
          </a:xfrm>
          <a:prstGeom prst="rect">
            <a:avLst/>
          </a:prstGeom>
        </p:spPr>
      </p:pic>
      <p:sp>
        <p:nvSpPr>
          <p:cNvPr id="78" name="TextBox 77"/>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9" name="Picture 78" descr="lock.png"/>
          <p:cNvPicPr>
            <a:picLocks noChangeAspect="1"/>
          </p:cNvPicPr>
          <p:nvPr/>
        </p:nvPicPr>
        <p:blipFill>
          <a:blip r:embed="rId4"/>
          <a:stretch>
            <a:fillRect/>
          </a:stretch>
        </p:blipFill>
        <p:spPr>
          <a:xfrm>
            <a:off x="8430610" y="5893213"/>
            <a:ext cx="123551" cy="179710"/>
          </a:xfrm>
          <a:prstGeom prst="rect">
            <a:avLst/>
          </a:prstGeom>
        </p:spPr>
      </p:pic>
      <p:sp>
        <p:nvSpPr>
          <p:cNvPr id="80" name="TextBox 79"/>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81" name="Picture 80" descr="lock.png"/>
          <p:cNvPicPr>
            <a:picLocks noChangeAspect="1"/>
          </p:cNvPicPr>
          <p:nvPr/>
        </p:nvPicPr>
        <p:blipFill>
          <a:blip r:embed="rId4"/>
          <a:stretch>
            <a:fillRect/>
          </a:stretch>
        </p:blipFill>
        <p:spPr>
          <a:xfrm>
            <a:off x="10217204" y="5893213"/>
            <a:ext cx="123551" cy="179710"/>
          </a:xfrm>
          <a:prstGeom prst="rect">
            <a:avLst/>
          </a:prstGeom>
        </p:spPr>
      </p:pic>
      <p:sp>
        <p:nvSpPr>
          <p:cNvPr id="82" name="TextBox 81"/>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3" name="TextBox 82"/>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4" name="Picture 83" descr="lock.png"/>
          <p:cNvPicPr>
            <a:picLocks noChangeAspect="1"/>
          </p:cNvPicPr>
          <p:nvPr/>
        </p:nvPicPr>
        <p:blipFill>
          <a:blip r:embed="rId4"/>
          <a:stretch>
            <a:fillRect/>
          </a:stretch>
        </p:blipFill>
        <p:spPr>
          <a:xfrm>
            <a:off x="3255209" y="6054147"/>
            <a:ext cx="123551" cy="179710"/>
          </a:xfrm>
          <a:prstGeom prst="rect">
            <a:avLst/>
          </a:prstGeom>
        </p:spPr>
      </p:pic>
      <p:sp>
        <p:nvSpPr>
          <p:cNvPr id="85" name="TextBox 84"/>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Heavy Commercial Vehicle EPS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2 vehicle type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2 comparable vehicle type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480637"/>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4037375"/>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171450" y="1069470"/>
            <a:ext cx="9883303"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2 vehicle type lines, 2 vehicle type routes and 7 regions at</a:t>
            </a:r>
          </a:p>
        </p:txBody>
      </p:sp>
      <p:pic>
        <p:nvPicPr>
          <p:cNvPr id="58" name="Picture 57" descr="lock.png"/>
          <p:cNvPicPr>
            <a:picLocks noChangeAspect="1"/>
          </p:cNvPicPr>
          <p:nvPr/>
        </p:nvPicPr>
        <p:blipFill>
          <a:blip r:embed="rId4"/>
          <a:stretch>
            <a:fillRect/>
          </a:stretch>
        </p:blipFill>
        <p:spPr>
          <a:xfrm>
            <a:off x="10002805" y="1059691"/>
            <a:ext cx="128699" cy="187198"/>
          </a:xfrm>
          <a:prstGeom prst="rect">
            <a:avLst/>
          </a:prstGeom>
        </p:spPr>
      </p:pic>
      <p:sp>
        <p:nvSpPr>
          <p:cNvPr id="59" name="TextBox 58"/>
          <p:cNvSpPr txBox="1"/>
          <p:nvPr/>
        </p:nvSpPr>
        <p:spPr>
          <a:xfrm>
            <a:off x="10170301"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60" name="TextBox 59"/>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61" name="TextBox 60"/>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2" name="Picture 61" descr="lock.png"/>
          <p:cNvPicPr>
            <a:picLocks noChangeAspect="1"/>
          </p:cNvPicPr>
          <p:nvPr/>
        </p:nvPicPr>
        <p:blipFill>
          <a:blip r:embed="rId4"/>
          <a:stretch>
            <a:fillRect/>
          </a:stretch>
        </p:blipFill>
        <p:spPr>
          <a:xfrm>
            <a:off x="1295293" y="3006595"/>
            <a:ext cx="128699" cy="187198"/>
          </a:xfrm>
          <a:prstGeom prst="rect">
            <a:avLst/>
          </a:prstGeom>
        </p:spPr>
      </p:pic>
      <p:sp>
        <p:nvSpPr>
          <p:cNvPr id="63" name="TextBox 62"/>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4" name="TextBox 63"/>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7 regions, concentrating</a:t>
            </a:r>
          </a:p>
        </p:txBody>
      </p:sp>
      <p:sp>
        <p:nvSpPr>
          <p:cNvPr id="65" name="TextBox 64"/>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6" name="TextBox 65"/>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7" name="Picture 66" descr="lock.png"/>
          <p:cNvPicPr>
            <a:picLocks noChangeAspect="1"/>
          </p:cNvPicPr>
          <p:nvPr/>
        </p:nvPicPr>
        <p:blipFill>
          <a:blip r:embed="rId4"/>
          <a:stretch>
            <a:fillRect/>
          </a:stretch>
        </p:blipFill>
        <p:spPr>
          <a:xfrm>
            <a:off x="1900439" y="3789826"/>
            <a:ext cx="128699" cy="187198"/>
          </a:xfrm>
          <a:prstGeom prst="rect">
            <a:avLst/>
          </a:prstGeom>
        </p:spPr>
      </p:pic>
      <p:sp>
        <p:nvSpPr>
          <p:cNvPr id="68" name="TextBox 67"/>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9" name="TextBox 68"/>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70" name="TextBox 69"/>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71" name="TextBox 70"/>
          <p:cNvSpPr txBox="1"/>
          <p:nvPr/>
        </p:nvSpPr>
        <p:spPr>
          <a:xfrm>
            <a:off x="2657475" y="2944566"/>
            <a:ext cx="1830089" cy="186689"/>
          </a:xfrm>
          <a:prstGeom prst="rect">
            <a:avLst/>
          </a:prstGeom>
          <a:noFill/>
        </p:spPr>
        <p:txBody>
          <a:bodyPr wrap="none" lIns="0" rIns="0" tIns="0" bIns="0">
            <a:spAutoFit/>
          </a:bodyPr>
          <a:lstStyle/>
          <a:p>
            <a:r>
              <a:rPr sz="1100" b="0">
                <a:solidFill>
                  <a:srgbClr val="2E2E2E"/>
                </a:solidFill>
                <a:latin typeface="Calibri"/>
              </a:rPr>
              <a:t>▸ Assessed moderate. Demand</a:t>
            </a:r>
          </a:p>
        </p:txBody>
      </p:sp>
      <p:sp>
        <p:nvSpPr>
          <p:cNvPr id="72" name="TextBox 71"/>
          <p:cNvSpPr txBox="1"/>
          <p:nvPr/>
        </p:nvSpPr>
        <p:spPr>
          <a:xfrm>
            <a:off x="2657475" y="3112206"/>
            <a:ext cx="1748507" cy="186689"/>
          </a:xfrm>
          <a:prstGeom prst="rect">
            <a:avLst/>
          </a:prstGeom>
          <a:noFill/>
        </p:spPr>
        <p:txBody>
          <a:bodyPr wrap="none" lIns="0" rIns="0" tIns="0" bIns="0">
            <a:spAutoFit/>
          </a:bodyPr>
          <a:lstStyle/>
          <a:p>
            <a:r>
              <a:rPr sz="1100" b="0">
                <a:solidFill>
                  <a:srgbClr val="2E2E2E"/>
                </a:solidFill>
                <a:latin typeface="Calibri"/>
              </a:rPr>
              <a:t>routes through 2 vehicle type</a:t>
            </a:r>
          </a:p>
        </p:txBody>
      </p:sp>
      <p:sp>
        <p:nvSpPr>
          <p:cNvPr id="73" name="TextBox 72"/>
          <p:cNvSpPr txBox="1"/>
          <p:nvPr/>
        </p:nvSpPr>
        <p:spPr>
          <a:xfrm>
            <a:off x="2657475" y="3279846"/>
            <a:ext cx="2097757" cy="186689"/>
          </a:xfrm>
          <a:prstGeom prst="rect">
            <a:avLst/>
          </a:prstGeom>
          <a:noFill/>
        </p:spPr>
        <p:txBody>
          <a:bodyPr wrap="none" lIns="0" rIns="0" tIns="0" bIns="0">
            <a:spAutoFit/>
          </a:bodyPr>
          <a:lstStyle/>
          <a:p>
            <a:r>
              <a:rPr sz="1100" b="0">
                <a:solidFill>
                  <a:srgbClr val="2E2E2E"/>
                </a:solidFill>
                <a:latin typeface="Calibri"/>
              </a:rPr>
              <a:t>channels led by 'Heavy Duty Trucks'</a:t>
            </a:r>
          </a:p>
        </p:txBody>
      </p:sp>
      <p:sp>
        <p:nvSpPr>
          <p:cNvPr id="74" name="TextBox 73"/>
          <p:cNvSpPr txBox="1"/>
          <p:nvPr/>
        </p:nvSpPr>
        <p:spPr>
          <a:xfrm>
            <a:off x="2657475" y="3447486"/>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75" name="Picture 74" descr="lock.png"/>
          <p:cNvPicPr>
            <a:picLocks noChangeAspect="1"/>
          </p:cNvPicPr>
          <p:nvPr/>
        </p:nvPicPr>
        <p:blipFill>
          <a:blip r:embed="rId4"/>
          <a:stretch>
            <a:fillRect/>
          </a:stretch>
        </p:blipFill>
        <p:spPr>
          <a:xfrm>
            <a:off x="2795505" y="3437707"/>
            <a:ext cx="128699" cy="187198"/>
          </a:xfrm>
          <a:prstGeom prst="rect">
            <a:avLst/>
          </a:prstGeom>
        </p:spPr>
      </p:pic>
      <p:sp>
        <p:nvSpPr>
          <p:cNvPr id="76" name="TextBox 75"/>
          <p:cNvSpPr txBox="1"/>
          <p:nvPr/>
        </p:nvSpPr>
        <p:spPr>
          <a:xfrm>
            <a:off x="2963001" y="3447486"/>
            <a:ext cx="1553964" cy="186689"/>
          </a:xfrm>
          <a:prstGeom prst="rect">
            <a:avLst/>
          </a:prstGeom>
          <a:noFill/>
        </p:spPr>
        <p:txBody>
          <a:bodyPr wrap="none" lIns="0" rIns="0" tIns="0" bIns="0">
            <a:spAutoFit/>
          </a:bodyPr>
          <a:lstStyle/>
          <a:p>
            <a:r>
              <a:rPr sz="1100" b="0">
                <a:solidFill>
                  <a:srgbClr val="2E2E2E"/>
                </a:solidFill>
                <a:latin typeface="Calibri"/>
              </a:rPr>
              <a:t>, giving large buyers scale.</a:t>
            </a:r>
          </a:p>
        </p:txBody>
      </p:sp>
      <p:sp>
        <p:nvSpPr>
          <p:cNvPr id="77" name="TextBox 76"/>
          <p:cNvSpPr txBox="1"/>
          <p:nvPr/>
        </p:nvSpPr>
        <p:spPr>
          <a:xfrm>
            <a:off x="2657475" y="3900000"/>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8" name="TextBox 77"/>
          <p:cNvSpPr txBox="1"/>
          <p:nvPr/>
        </p:nvSpPr>
        <p:spPr>
          <a:xfrm>
            <a:off x="2657475" y="4067640"/>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9" name="Picture 78" descr="lock.png"/>
          <p:cNvPicPr>
            <a:picLocks noChangeAspect="1"/>
          </p:cNvPicPr>
          <p:nvPr/>
        </p:nvPicPr>
        <p:blipFill>
          <a:blip r:embed="rId4"/>
          <a:stretch>
            <a:fillRect/>
          </a:stretch>
        </p:blipFill>
        <p:spPr>
          <a:xfrm>
            <a:off x="3101372" y="4057861"/>
            <a:ext cx="128699" cy="187198"/>
          </a:xfrm>
          <a:prstGeom prst="rect">
            <a:avLst/>
          </a:prstGeom>
        </p:spPr>
      </p:pic>
      <p:sp>
        <p:nvSpPr>
          <p:cNvPr id="80" name="TextBox 79"/>
          <p:cNvSpPr txBox="1"/>
          <p:nvPr/>
        </p:nvSpPr>
        <p:spPr>
          <a:xfrm>
            <a:off x="3268868" y="4067640"/>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1" name="TextBox 80"/>
          <p:cNvSpPr txBox="1"/>
          <p:nvPr/>
        </p:nvSpPr>
        <p:spPr>
          <a:xfrm>
            <a:off x="2657475" y="4235280"/>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2" name="Picture 81" descr="lock.png"/>
          <p:cNvPicPr>
            <a:picLocks noChangeAspect="1"/>
          </p:cNvPicPr>
          <p:nvPr/>
        </p:nvPicPr>
        <p:blipFill>
          <a:blip r:embed="rId4"/>
          <a:stretch>
            <a:fillRect/>
          </a:stretch>
        </p:blipFill>
        <p:spPr>
          <a:xfrm>
            <a:off x="3238070" y="4225501"/>
            <a:ext cx="128699" cy="187198"/>
          </a:xfrm>
          <a:prstGeom prst="rect">
            <a:avLst/>
          </a:prstGeom>
        </p:spPr>
      </p:pic>
      <p:sp>
        <p:nvSpPr>
          <p:cNvPr id="83" name="TextBox 82"/>
          <p:cNvSpPr txBox="1"/>
          <p:nvPr/>
        </p:nvSpPr>
        <p:spPr>
          <a:xfrm>
            <a:off x="3405566" y="423528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4" name="TextBox 83"/>
          <p:cNvSpPr txBox="1"/>
          <p:nvPr/>
        </p:nvSpPr>
        <p:spPr>
          <a:xfrm>
            <a:off x="5038725" y="2841285"/>
            <a:ext cx="2074837" cy="186689"/>
          </a:xfrm>
          <a:prstGeom prst="rect">
            <a:avLst/>
          </a:prstGeom>
          <a:noFill/>
        </p:spPr>
        <p:txBody>
          <a:bodyPr wrap="none" lIns="0" rIns="0" tIns="0" bIns="0">
            <a:spAutoFit/>
          </a:bodyPr>
          <a:lstStyle/>
          <a:p>
            <a:r>
              <a:rPr sz="1100" b="0">
                <a:solidFill>
                  <a:srgbClr val="2E2E2E"/>
                </a:solidFill>
                <a:latin typeface="Calibri"/>
              </a:rPr>
              <a:t>▸ Assessed low. 2 vehicle type lines</a:t>
            </a:r>
          </a:p>
        </p:txBody>
      </p:sp>
      <p:sp>
        <p:nvSpPr>
          <p:cNvPr id="85" name="TextBox 84"/>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6" name="TextBox 85"/>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7" name="Picture 86" descr="lock.png"/>
          <p:cNvPicPr>
            <a:picLocks noChangeAspect="1"/>
          </p:cNvPicPr>
          <p:nvPr/>
        </p:nvPicPr>
        <p:blipFill>
          <a:blip r:embed="rId4"/>
          <a:stretch>
            <a:fillRect/>
          </a:stretch>
        </p:blipFill>
        <p:spPr>
          <a:xfrm>
            <a:off x="5762295" y="3166786"/>
            <a:ext cx="128699" cy="187198"/>
          </a:xfrm>
          <a:prstGeom prst="rect">
            <a:avLst/>
          </a:prstGeom>
        </p:spPr>
      </p:pic>
      <p:sp>
        <p:nvSpPr>
          <p:cNvPr id="88" name="TextBox 87"/>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9" name="TextBox 88"/>
          <p:cNvSpPr txBox="1"/>
          <p:nvPr/>
        </p:nvSpPr>
        <p:spPr>
          <a:xfrm>
            <a:off x="5038725" y="3617068"/>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90" name="TextBox 89"/>
          <p:cNvSpPr txBox="1"/>
          <p:nvPr/>
        </p:nvSpPr>
        <p:spPr>
          <a:xfrm>
            <a:off x="5038725" y="3784708"/>
            <a:ext cx="1414809" cy="186689"/>
          </a:xfrm>
          <a:prstGeom prst="rect">
            <a:avLst/>
          </a:prstGeom>
          <a:noFill/>
        </p:spPr>
        <p:txBody>
          <a:bodyPr wrap="none" lIns="0" rIns="0" tIns="0" bIns="0">
            <a:spAutoFit/>
          </a:bodyPr>
          <a:lstStyle/>
          <a:p>
            <a:r>
              <a:rPr sz="1100" b="0">
                <a:solidFill>
                  <a:srgbClr val="2E2E2E"/>
                </a:solidFill>
                <a:latin typeface="Calibri"/>
              </a:rPr>
              <a:t>'Busses and Coaches' at</a:t>
            </a:r>
          </a:p>
        </p:txBody>
      </p:sp>
      <p:pic>
        <p:nvPicPr>
          <p:cNvPr id="91" name="Picture 90" descr="lock.png"/>
          <p:cNvPicPr>
            <a:picLocks noChangeAspect="1"/>
          </p:cNvPicPr>
          <p:nvPr/>
        </p:nvPicPr>
        <p:blipFill>
          <a:blip r:embed="rId4"/>
          <a:stretch>
            <a:fillRect/>
          </a:stretch>
        </p:blipFill>
        <p:spPr>
          <a:xfrm>
            <a:off x="6401586" y="3774929"/>
            <a:ext cx="128699" cy="187198"/>
          </a:xfrm>
          <a:prstGeom prst="rect">
            <a:avLst/>
          </a:prstGeom>
        </p:spPr>
      </p:pic>
      <p:sp>
        <p:nvSpPr>
          <p:cNvPr id="92" name="TextBox 91"/>
          <p:cNvSpPr txBox="1"/>
          <p:nvPr/>
        </p:nvSpPr>
        <p:spPr>
          <a:xfrm>
            <a:off x="6569082" y="3784708"/>
            <a:ext cx="482748" cy="186689"/>
          </a:xfrm>
          <a:prstGeom prst="rect">
            <a:avLst/>
          </a:prstGeom>
          <a:noFill/>
        </p:spPr>
        <p:txBody>
          <a:bodyPr wrap="none" lIns="0" rIns="0" tIns="0" bIns="0">
            <a:spAutoFit/>
          </a:bodyPr>
          <a:lstStyle/>
          <a:p>
            <a:r>
              <a:rPr sz="1100" b="0">
                <a:solidFill>
                  <a:srgbClr val="2E2E2E"/>
                </a:solidFill>
                <a:latin typeface="Calibri"/>
              </a:rPr>
              <a:t>against</a:t>
            </a:r>
          </a:p>
        </p:txBody>
      </p:sp>
      <p:sp>
        <p:nvSpPr>
          <p:cNvPr id="93" name="TextBox 92"/>
          <p:cNvSpPr txBox="1"/>
          <p:nvPr/>
        </p:nvSpPr>
        <p:spPr>
          <a:xfrm>
            <a:off x="5038725" y="3952348"/>
            <a:ext cx="1333772" cy="186689"/>
          </a:xfrm>
          <a:prstGeom prst="rect">
            <a:avLst/>
          </a:prstGeom>
          <a:noFill/>
        </p:spPr>
        <p:txBody>
          <a:bodyPr wrap="none" lIns="0" rIns="0" tIns="0" bIns="0">
            <a:spAutoFit/>
          </a:bodyPr>
          <a:lstStyle/>
          <a:p>
            <a:r>
              <a:rPr sz="1100" b="0">
                <a:solidFill>
                  <a:srgbClr val="2E2E2E"/>
                </a:solidFill>
                <a:latin typeface="Calibri"/>
              </a:rPr>
              <a:t>'Heavy Duty Trucks' at</a:t>
            </a:r>
          </a:p>
        </p:txBody>
      </p:sp>
      <p:pic>
        <p:nvPicPr>
          <p:cNvPr id="94" name="Picture 93" descr="lock.png"/>
          <p:cNvPicPr>
            <a:picLocks noChangeAspect="1"/>
          </p:cNvPicPr>
          <p:nvPr/>
        </p:nvPicPr>
        <p:blipFill>
          <a:blip r:embed="rId4"/>
          <a:stretch>
            <a:fillRect/>
          </a:stretch>
        </p:blipFill>
        <p:spPr>
          <a:xfrm>
            <a:off x="6320549" y="3942569"/>
            <a:ext cx="128699" cy="187198"/>
          </a:xfrm>
          <a:prstGeom prst="rect">
            <a:avLst/>
          </a:prstGeom>
        </p:spPr>
      </p:pic>
      <p:sp>
        <p:nvSpPr>
          <p:cNvPr id="95" name="TextBox 94"/>
          <p:cNvSpPr txBox="1"/>
          <p:nvPr/>
        </p:nvSpPr>
        <p:spPr>
          <a:xfrm>
            <a:off x="6488045" y="3952348"/>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6" name="TextBox 95"/>
          <p:cNvSpPr txBox="1"/>
          <p:nvPr/>
        </p:nvSpPr>
        <p:spPr>
          <a:xfrm>
            <a:off x="5038725" y="4392850"/>
            <a:ext cx="2114550" cy="186689"/>
          </a:xfrm>
          <a:prstGeom prst="rect">
            <a:avLst/>
          </a:prstGeom>
          <a:noFill/>
        </p:spPr>
        <p:txBody>
          <a:bodyPr wrap="none" lIns="0" rIns="0" tIns="0" bIns="0">
            <a:spAutoFit/>
          </a:bodyPr>
          <a:lstStyle/>
          <a:p>
            <a:r>
              <a:rPr sz="1100" b="0">
                <a:solidFill>
                  <a:srgbClr val="2E2E2E"/>
                </a:solidFill>
                <a:latin typeface="Calibri"/>
              </a:rPr>
              <a:t>▸ 5 of 7 regions grow at or above the</a:t>
            </a:r>
          </a:p>
        </p:txBody>
      </p:sp>
      <p:pic>
        <p:nvPicPr>
          <p:cNvPr id="97" name="Picture 96" descr="lock.png"/>
          <p:cNvPicPr>
            <a:picLocks noChangeAspect="1"/>
          </p:cNvPicPr>
          <p:nvPr/>
        </p:nvPicPr>
        <p:blipFill>
          <a:blip r:embed="rId4"/>
          <a:stretch>
            <a:fillRect/>
          </a:stretch>
        </p:blipFill>
        <p:spPr>
          <a:xfrm>
            <a:off x="5025257" y="4550711"/>
            <a:ext cx="128699" cy="187198"/>
          </a:xfrm>
          <a:prstGeom prst="rect">
            <a:avLst/>
          </a:prstGeom>
        </p:spPr>
      </p:pic>
      <p:sp>
        <p:nvSpPr>
          <p:cNvPr id="98" name="TextBox 97"/>
          <p:cNvSpPr txBox="1"/>
          <p:nvPr/>
        </p:nvSpPr>
        <p:spPr>
          <a:xfrm>
            <a:off x="5192753" y="4560490"/>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9" name="TextBox 98"/>
          <p:cNvSpPr txBox="1"/>
          <p:nvPr/>
        </p:nvSpPr>
        <p:spPr>
          <a:xfrm>
            <a:off x="5038725" y="4728130"/>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100" name="TextBox 99"/>
          <p:cNvSpPr txBox="1"/>
          <p:nvPr/>
        </p:nvSpPr>
        <p:spPr>
          <a:xfrm>
            <a:off x="7419975" y="2952014"/>
            <a:ext cx="2114550" cy="186689"/>
          </a:xfrm>
          <a:prstGeom prst="rect">
            <a:avLst/>
          </a:prstGeom>
          <a:noFill/>
        </p:spPr>
        <p:txBody>
          <a:bodyPr wrap="none" lIns="0" rIns="0" tIns="0" bIns="0">
            <a:spAutoFit/>
          </a:bodyPr>
          <a:lstStyle/>
          <a:p>
            <a:r>
              <a:rPr sz="1100" b="0">
                <a:solidFill>
                  <a:srgbClr val="2E2E2E"/>
                </a:solidFill>
                <a:latin typeface="Calibri"/>
              </a:rPr>
              <a:t>▸ Assessed moderate to high. 'Heavy</a:t>
            </a:r>
          </a:p>
        </p:txBody>
      </p:sp>
      <p:sp>
        <p:nvSpPr>
          <p:cNvPr id="101" name="TextBox 100"/>
          <p:cNvSpPr txBox="1"/>
          <p:nvPr/>
        </p:nvSpPr>
        <p:spPr>
          <a:xfrm>
            <a:off x="7419975" y="3119654"/>
            <a:ext cx="1092299" cy="186689"/>
          </a:xfrm>
          <a:prstGeom prst="rect">
            <a:avLst/>
          </a:prstGeom>
          <a:noFill/>
        </p:spPr>
        <p:txBody>
          <a:bodyPr wrap="none" lIns="0" rIns="0" tIns="0" bIns="0">
            <a:spAutoFit/>
          </a:bodyPr>
          <a:lstStyle/>
          <a:p>
            <a:r>
              <a:rPr sz="1100" b="0">
                <a:solidFill>
                  <a:srgbClr val="2E2E2E"/>
                </a:solidFill>
                <a:latin typeface="Calibri"/>
              </a:rPr>
              <a:t>Duty Trucks' loses</a:t>
            </a:r>
          </a:p>
        </p:txBody>
      </p:sp>
      <p:pic>
        <p:nvPicPr>
          <p:cNvPr id="102" name="Picture 101" descr="lock.png"/>
          <p:cNvPicPr>
            <a:picLocks noChangeAspect="1"/>
          </p:cNvPicPr>
          <p:nvPr/>
        </p:nvPicPr>
        <p:blipFill>
          <a:blip r:embed="rId4"/>
          <a:stretch>
            <a:fillRect/>
          </a:stretch>
        </p:blipFill>
        <p:spPr>
          <a:xfrm>
            <a:off x="8460325" y="3109875"/>
            <a:ext cx="128699" cy="187198"/>
          </a:xfrm>
          <a:prstGeom prst="rect">
            <a:avLst/>
          </a:prstGeom>
        </p:spPr>
      </p:pic>
      <p:sp>
        <p:nvSpPr>
          <p:cNvPr id="103" name="TextBox 102"/>
          <p:cNvSpPr txBox="1"/>
          <p:nvPr/>
        </p:nvSpPr>
        <p:spPr>
          <a:xfrm>
            <a:off x="8627821" y="3119654"/>
            <a:ext cx="781521" cy="186689"/>
          </a:xfrm>
          <a:prstGeom prst="rect">
            <a:avLst/>
          </a:prstGeom>
          <a:noFill/>
        </p:spPr>
        <p:txBody>
          <a:bodyPr wrap="none" lIns="0" rIns="0" tIns="0" bIns="0">
            <a:spAutoFit/>
          </a:bodyPr>
          <a:lstStyle/>
          <a:p>
            <a:r>
              <a:rPr sz="1100" b="0">
                <a:solidFill>
                  <a:srgbClr val="2E2E2E"/>
                </a:solidFill>
                <a:latin typeface="Calibri"/>
              </a:rPr>
              <a:t>BPS of share</a:t>
            </a:r>
          </a:p>
        </p:txBody>
      </p:sp>
      <p:sp>
        <p:nvSpPr>
          <p:cNvPr id="104" name="TextBox 103"/>
          <p:cNvSpPr txBox="1"/>
          <p:nvPr/>
        </p:nvSpPr>
        <p:spPr>
          <a:xfrm>
            <a:off x="7419975" y="3287294"/>
            <a:ext cx="1565150" cy="186689"/>
          </a:xfrm>
          <a:prstGeom prst="rect">
            <a:avLst/>
          </a:prstGeom>
          <a:noFill/>
        </p:spPr>
        <p:txBody>
          <a:bodyPr wrap="none" lIns="0" rIns="0" tIns="0" bIns="0">
            <a:spAutoFit/>
          </a:bodyPr>
          <a:lstStyle/>
          <a:p>
            <a:r>
              <a:rPr sz="1100" b="0">
                <a:solidFill>
                  <a:srgbClr val="2E2E2E"/>
                </a:solidFill>
                <a:latin typeface="Calibri"/>
              </a:rPr>
              <a:t>to 'Busses and Coaches' (+</a:t>
            </a:r>
          </a:p>
        </p:txBody>
      </p:sp>
      <p:pic>
        <p:nvPicPr>
          <p:cNvPr id="105" name="Picture 104" descr="lock.png"/>
          <p:cNvPicPr>
            <a:picLocks noChangeAspect="1"/>
          </p:cNvPicPr>
          <p:nvPr/>
        </p:nvPicPr>
        <p:blipFill>
          <a:blip r:embed="rId4"/>
          <a:stretch>
            <a:fillRect/>
          </a:stretch>
        </p:blipFill>
        <p:spPr>
          <a:xfrm>
            <a:off x="8933177" y="3277515"/>
            <a:ext cx="128699" cy="187198"/>
          </a:xfrm>
          <a:prstGeom prst="rect">
            <a:avLst/>
          </a:prstGeom>
        </p:spPr>
      </p:pic>
      <p:sp>
        <p:nvSpPr>
          <p:cNvPr id="106" name="TextBox 105"/>
          <p:cNvSpPr txBox="1"/>
          <p:nvPr/>
        </p:nvSpPr>
        <p:spPr>
          <a:xfrm>
            <a:off x="9100673" y="3287294"/>
            <a:ext cx="331043"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7" name="TextBox 106"/>
          <p:cNvSpPr txBox="1"/>
          <p:nvPr/>
        </p:nvSpPr>
        <p:spPr>
          <a:xfrm>
            <a:off x="7419975" y="3454934"/>
            <a:ext cx="2114550" cy="186689"/>
          </a:xfrm>
          <a:prstGeom prst="rect">
            <a:avLst/>
          </a:prstGeom>
          <a:noFill/>
        </p:spPr>
        <p:txBody>
          <a:bodyPr wrap="none" lIns="0" rIns="0" tIns="0" bIns="0">
            <a:spAutoFit/>
          </a:bodyPr>
          <a:lstStyle/>
          <a:p>
            <a:r>
              <a:rPr sz="1100" b="0">
                <a:solidFill>
                  <a:srgbClr val="2E2E2E"/>
                </a:solidFill>
                <a:latin typeface="Calibri"/>
              </a:rPr>
              <a:t>by 2036 substitution is visible inside</a:t>
            </a:r>
          </a:p>
        </p:txBody>
      </p:sp>
      <p:sp>
        <p:nvSpPr>
          <p:cNvPr id="108" name="TextBox 107"/>
          <p:cNvSpPr txBox="1"/>
          <p:nvPr/>
        </p:nvSpPr>
        <p:spPr>
          <a:xfrm>
            <a:off x="7419975" y="3622574"/>
            <a:ext cx="537319" cy="186689"/>
          </a:xfrm>
          <a:prstGeom prst="rect">
            <a:avLst/>
          </a:prstGeom>
          <a:noFill/>
        </p:spPr>
        <p:txBody>
          <a:bodyPr wrap="none" lIns="0" rIns="0" tIns="0" bIns="0">
            <a:spAutoFit/>
          </a:bodyPr>
          <a:lstStyle/>
          <a:p>
            <a:r>
              <a:rPr sz="1100" b="0">
                <a:solidFill>
                  <a:srgbClr val="2E2E2E"/>
                </a:solidFill>
                <a:latin typeface="Calibri"/>
              </a:rPr>
              <a:t>the mix.</a:t>
            </a:r>
          </a:p>
        </p:txBody>
      </p:sp>
      <p:sp>
        <p:nvSpPr>
          <p:cNvPr id="109" name="TextBox 108"/>
          <p:cNvSpPr txBox="1"/>
          <p:nvPr/>
        </p:nvSpPr>
        <p:spPr>
          <a:xfrm>
            <a:off x="7419975" y="4077231"/>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10" name="Picture 109" descr="lock.png"/>
          <p:cNvPicPr>
            <a:picLocks noChangeAspect="1"/>
          </p:cNvPicPr>
          <p:nvPr/>
        </p:nvPicPr>
        <p:blipFill>
          <a:blip r:embed="rId4"/>
          <a:stretch>
            <a:fillRect/>
          </a:stretch>
        </p:blipFill>
        <p:spPr>
          <a:xfrm>
            <a:off x="8917440" y="4067843"/>
            <a:ext cx="123551" cy="179710"/>
          </a:xfrm>
          <a:prstGeom prst="rect">
            <a:avLst/>
          </a:prstGeom>
        </p:spPr>
      </p:pic>
      <p:sp>
        <p:nvSpPr>
          <p:cNvPr id="111" name="TextBox 110"/>
          <p:cNvSpPr txBox="1"/>
          <p:nvPr/>
        </p:nvSpPr>
        <p:spPr>
          <a:xfrm>
            <a:off x="9078236" y="4077231"/>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2" name="Picture 111" descr="lock.png"/>
          <p:cNvPicPr>
            <a:picLocks noChangeAspect="1"/>
          </p:cNvPicPr>
          <p:nvPr/>
        </p:nvPicPr>
        <p:blipFill>
          <a:blip r:embed="rId4"/>
          <a:stretch>
            <a:fillRect/>
          </a:stretch>
        </p:blipFill>
        <p:spPr>
          <a:xfrm>
            <a:off x="9206555" y="4067843"/>
            <a:ext cx="123551" cy="179710"/>
          </a:xfrm>
          <a:prstGeom prst="rect">
            <a:avLst/>
          </a:prstGeom>
        </p:spPr>
      </p:pic>
      <p:sp>
        <p:nvSpPr>
          <p:cNvPr id="113" name="TextBox 112"/>
          <p:cNvSpPr txBox="1"/>
          <p:nvPr/>
        </p:nvSpPr>
        <p:spPr>
          <a:xfrm>
            <a:off x="7419975" y="4238165"/>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4" name="TextBox 113"/>
          <p:cNvSpPr txBox="1"/>
          <p:nvPr/>
        </p:nvSpPr>
        <p:spPr>
          <a:xfrm>
            <a:off x="7419975" y="4575387"/>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5" name="Picture 114" descr="lock.png"/>
          <p:cNvPicPr>
            <a:picLocks noChangeAspect="1"/>
          </p:cNvPicPr>
          <p:nvPr/>
        </p:nvPicPr>
        <p:blipFill>
          <a:blip r:embed="rId4"/>
          <a:stretch>
            <a:fillRect/>
          </a:stretch>
        </p:blipFill>
        <p:spPr>
          <a:xfrm>
            <a:off x="8622399" y="4565608"/>
            <a:ext cx="128699" cy="187198"/>
          </a:xfrm>
          <a:prstGeom prst="rect">
            <a:avLst/>
          </a:prstGeom>
        </p:spPr>
      </p:pic>
      <p:sp>
        <p:nvSpPr>
          <p:cNvPr id="116" name="TextBox 115"/>
          <p:cNvSpPr txBox="1"/>
          <p:nvPr/>
        </p:nvSpPr>
        <p:spPr>
          <a:xfrm>
            <a:off x="8789895" y="4575387"/>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7" name="TextBox 116"/>
          <p:cNvSpPr txBox="1"/>
          <p:nvPr/>
        </p:nvSpPr>
        <p:spPr>
          <a:xfrm>
            <a:off x="7419975" y="4743027"/>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8" name="TextBox 117"/>
          <p:cNvSpPr txBox="1"/>
          <p:nvPr/>
        </p:nvSpPr>
        <p:spPr>
          <a:xfrm>
            <a:off x="7419975" y="4910667"/>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9" name="TextBox 118"/>
          <p:cNvSpPr txBox="1"/>
          <p:nvPr/>
        </p:nvSpPr>
        <p:spPr>
          <a:xfrm>
            <a:off x="9801225" y="2932554"/>
            <a:ext cx="2058193" cy="186689"/>
          </a:xfrm>
          <a:prstGeom prst="rect">
            <a:avLst/>
          </a:prstGeom>
          <a:noFill/>
        </p:spPr>
        <p:txBody>
          <a:bodyPr wrap="none" lIns="0" rIns="0" tIns="0" bIns="0">
            <a:spAutoFit/>
          </a:bodyPr>
          <a:lstStyle/>
          <a:p>
            <a:r>
              <a:rPr sz="1100" b="0">
                <a:solidFill>
                  <a:srgbClr val="2E2E2E"/>
                </a:solidFill>
                <a:latin typeface="Calibri"/>
              </a:rPr>
              <a:t>▸ Assessed high. The market grows</a:t>
            </a:r>
          </a:p>
        </p:txBody>
      </p:sp>
      <p:sp>
        <p:nvSpPr>
          <p:cNvPr id="120" name="TextBox 119"/>
          <p:cNvSpPr txBox="1"/>
          <p:nvPr/>
        </p:nvSpPr>
        <p:spPr>
          <a:xfrm>
            <a:off x="9801225" y="3100194"/>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121" name="Picture 120" descr="lock.png"/>
          <p:cNvPicPr>
            <a:picLocks noChangeAspect="1"/>
          </p:cNvPicPr>
          <p:nvPr/>
        </p:nvPicPr>
        <p:blipFill>
          <a:blip r:embed="rId4"/>
          <a:stretch>
            <a:fillRect/>
          </a:stretch>
        </p:blipFill>
        <p:spPr>
          <a:xfrm>
            <a:off x="9939255" y="3090415"/>
            <a:ext cx="128699" cy="187198"/>
          </a:xfrm>
          <a:prstGeom prst="rect">
            <a:avLst/>
          </a:prstGeom>
        </p:spPr>
      </p:pic>
      <p:sp>
        <p:nvSpPr>
          <p:cNvPr id="122" name="TextBox 121"/>
          <p:cNvSpPr txBox="1"/>
          <p:nvPr/>
        </p:nvSpPr>
        <p:spPr>
          <a:xfrm>
            <a:off x="10106751" y="310019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3" name="Picture 122" descr="lock.png"/>
          <p:cNvPicPr>
            <a:picLocks noChangeAspect="1"/>
          </p:cNvPicPr>
          <p:nvPr/>
        </p:nvPicPr>
        <p:blipFill>
          <a:blip r:embed="rId4"/>
          <a:stretch>
            <a:fillRect/>
          </a:stretch>
        </p:blipFill>
        <p:spPr>
          <a:xfrm>
            <a:off x="10995379" y="3090415"/>
            <a:ext cx="128699" cy="187198"/>
          </a:xfrm>
          <a:prstGeom prst="rect">
            <a:avLst/>
          </a:prstGeom>
        </p:spPr>
      </p:pic>
      <p:sp>
        <p:nvSpPr>
          <p:cNvPr id="124" name="TextBox 123"/>
          <p:cNvSpPr txBox="1"/>
          <p:nvPr/>
        </p:nvSpPr>
        <p:spPr>
          <a:xfrm>
            <a:off x="11162875" y="3100194"/>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25" name="TextBox 124"/>
          <p:cNvSpPr txBox="1"/>
          <p:nvPr/>
        </p:nvSpPr>
        <p:spPr>
          <a:xfrm>
            <a:off x="9801225" y="3267834"/>
            <a:ext cx="1517674" cy="186689"/>
          </a:xfrm>
          <a:prstGeom prst="rect">
            <a:avLst/>
          </a:prstGeom>
          <a:noFill/>
        </p:spPr>
        <p:txBody>
          <a:bodyPr wrap="none" lIns="0" rIns="0" tIns="0" bIns="0">
            <a:spAutoFit/>
          </a:bodyPr>
          <a:lstStyle/>
          <a:p>
            <a:r>
              <a:rPr sz="1100" b="0">
                <a:solidFill>
                  <a:srgbClr val="2E2E2E"/>
                </a:solidFill>
                <a:latin typeface="Calibri"/>
              </a:rPr>
              <a:t>by 2036, attracting entry.</a:t>
            </a:r>
          </a:p>
        </p:txBody>
      </p:sp>
      <p:sp>
        <p:nvSpPr>
          <p:cNvPr id="126" name="TextBox 125"/>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7 regions</a:t>
            </a:r>
          </a:p>
        </p:txBody>
      </p:sp>
      <p:sp>
        <p:nvSpPr>
          <p:cNvPr id="127" name="TextBox 126"/>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8" name="Picture 127" descr="lock.png"/>
          <p:cNvPicPr>
            <a:picLocks noChangeAspect="1"/>
          </p:cNvPicPr>
          <p:nvPr/>
        </p:nvPicPr>
        <p:blipFill>
          <a:blip r:embed="rId4"/>
          <a:stretch>
            <a:fillRect/>
          </a:stretch>
        </p:blipFill>
        <p:spPr>
          <a:xfrm>
            <a:off x="11242394" y="3866197"/>
            <a:ext cx="128699" cy="187198"/>
          </a:xfrm>
          <a:prstGeom prst="rect">
            <a:avLst/>
          </a:prstGeom>
        </p:spPr>
      </p:pic>
      <p:sp>
        <p:nvSpPr>
          <p:cNvPr id="129" name="TextBox 128"/>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30" name="TextBox 129"/>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1" name="TextBox 130"/>
          <p:cNvSpPr txBox="1"/>
          <p:nvPr/>
        </p:nvSpPr>
        <p:spPr>
          <a:xfrm>
            <a:off x="9801225" y="4400299"/>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2" name="TextBox 131"/>
          <p:cNvSpPr txBox="1"/>
          <p:nvPr/>
        </p:nvSpPr>
        <p:spPr>
          <a:xfrm>
            <a:off x="9801225" y="4567939"/>
            <a:ext cx="1507579" cy="186689"/>
          </a:xfrm>
          <a:prstGeom prst="rect">
            <a:avLst/>
          </a:prstGeom>
          <a:noFill/>
        </p:spPr>
        <p:txBody>
          <a:bodyPr wrap="none" lIns="0" rIns="0" tIns="0" bIns="0">
            <a:spAutoFit/>
          </a:bodyPr>
          <a:lstStyle/>
          <a:p>
            <a:r>
              <a:rPr sz="1100" b="0">
                <a:solidFill>
                  <a:srgbClr val="2E2E2E"/>
                </a:solidFill>
                <a:latin typeface="Calibri"/>
              </a:rPr>
              <a:t>and 'Heavy Duty Trucks' (</a:t>
            </a:r>
          </a:p>
        </p:txBody>
      </p:sp>
      <p:pic>
        <p:nvPicPr>
          <p:cNvPr id="133" name="Picture 132" descr="lock.png"/>
          <p:cNvPicPr>
            <a:picLocks noChangeAspect="1"/>
          </p:cNvPicPr>
          <p:nvPr/>
        </p:nvPicPr>
        <p:blipFill>
          <a:blip r:embed="rId4"/>
          <a:stretch>
            <a:fillRect/>
          </a:stretch>
        </p:blipFill>
        <p:spPr>
          <a:xfrm>
            <a:off x="11256855" y="4558160"/>
            <a:ext cx="128699" cy="187198"/>
          </a:xfrm>
          <a:prstGeom prst="rect">
            <a:avLst/>
          </a:prstGeom>
        </p:spPr>
      </p:pic>
      <p:sp>
        <p:nvSpPr>
          <p:cNvPr id="134" name="TextBox 133"/>
          <p:cNvSpPr txBox="1"/>
          <p:nvPr/>
        </p:nvSpPr>
        <p:spPr>
          <a:xfrm>
            <a:off x="11424351" y="4567939"/>
            <a:ext cx="192434" cy="186689"/>
          </a:xfrm>
          <a:prstGeom prst="rect">
            <a:avLst/>
          </a:prstGeom>
          <a:noFill/>
        </p:spPr>
        <p:txBody>
          <a:bodyPr wrap="none" lIns="0" rIns="0" tIns="0" bIns="0">
            <a:spAutoFit/>
          </a:bodyPr>
          <a:lstStyle/>
          <a:p>
            <a:r>
              <a:rPr sz="1100" b="0">
                <a:solidFill>
                  <a:srgbClr val="2E2E2E"/>
                </a:solidFill>
                <a:latin typeface="Calibri"/>
              </a:rPr>
              <a:t>of</a:t>
            </a:r>
          </a:p>
        </p:txBody>
      </p:sp>
      <p:sp>
        <p:nvSpPr>
          <p:cNvPr id="135" name="TextBox 134"/>
          <p:cNvSpPr txBox="1"/>
          <p:nvPr/>
        </p:nvSpPr>
        <p:spPr>
          <a:xfrm>
            <a:off x="9801225" y="4735579"/>
            <a:ext cx="1843459" cy="186689"/>
          </a:xfrm>
          <a:prstGeom prst="rect">
            <a:avLst/>
          </a:prstGeom>
          <a:noFill/>
        </p:spPr>
        <p:txBody>
          <a:bodyPr wrap="none" lIns="0" rIns="0" tIns="0" bIns="0">
            <a:spAutoFit/>
          </a:bodyPr>
          <a:lstStyle/>
          <a:p>
            <a:r>
              <a:rPr sz="1100" b="0">
                <a:solidFill>
                  <a:srgbClr val="2E2E2E"/>
                </a:solidFill>
                <a:latin typeface="Calibri"/>
              </a:rPr>
              <a:t>segment) remains the principal</a:t>
            </a:r>
          </a:p>
        </p:txBody>
      </p:sp>
      <p:sp>
        <p:nvSpPr>
          <p:cNvPr id="136" name="TextBox 135"/>
          <p:cNvSpPr txBox="1"/>
          <p:nvPr/>
        </p:nvSpPr>
        <p:spPr>
          <a:xfrm>
            <a:off x="9801225" y="4903219"/>
            <a:ext cx="499938" cy="186689"/>
          </a:xfrm>
          <a:prstGeom prst="rect">
            <a:avLst/>
          </a:prstGeom>
          <a:noFill/>
        </p:spPr>
        <p:txBody>
          <a:bodyPr wrap="none" lIns="0" rIns="0" tIns="0" bIns="0">
            <a:spAutoFit/>
          </a:bodyPr>
          <a:lstStyle/>
          <a:p>
            <a:r>
              <a:rPr sz="1100" b="0">
                <a:solidFill>
                  <a:srgbClr val="2E2E2E"/>
                </a:solidFill>
                <a:latin typeface="Calibri"/>
              </a:rPr>
              <a:t>barrier.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Heavy Commercial Vehicle EPS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Bosch</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Bosch, ZF, thyssenkrupp.</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397073" cy="186689"/>
          </a:xfrm>
          <a:prstGeom prst="rect">
            <a:avLst/>
          </a:prstGeom>
          <a:noFill/>
        </p:spPr>
        <p:txBody>
          <a:bodyPr wrap="none" lIns="0" rIns="0" tIns="0" bIns="0">
            <a:spAutoFit/>
          </a:bodyPr>
          <a:lstStyle/>
          <a:p>
            <a:r>
              <a:rPr sz="1100" b="1">
                <a:solidFill>
                  <a:srgbClr val="0F2D52"/>
                </a:solidFill>
                <a:latin typeface="Calibri"/>
              </a:rPr>
              <a:t>OEM,</a:t>
            </a:r>
          </a:p>
        </p:txBody>
      </p:sp>
      <p:pic>
        <p:nvPicPr>
          <p:cNvPr id="68" name="Picture 67" descr="lock.png"/>
          <p:cNvPicPr>
            <a:picLocks noChangeAspect="1"/>
          </p:cNvPicPr>
          <p:nvPr/>
        </p:nvPicPr>
        <p:blipFill>
          <a:blip r:embed="rId4"/>
          <a:stretch>
            <a:fillRect/>
          </a:stretch>
        </p:blipFill>
        <p:spPr>
          <a:xfrm>
            <a:off x="5050475" y="1295146"/>
            <a:ext cx="128699" cy="187198"/>
          </a:xfrm>
          <a:prstGeom prst="rect">
            <a:avLst/>
          </a:prstGeom>
        </p:spPr>
      </p:pic>
      <p:sp>
        <p:nvSpPr>
          <p:cNvPr id="69" name="TextBox 68"/>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0" name="Picture 69" descr="lock.png"/>
          <p:cNvPicPr>
            <a:picLocks noChangeAspect="1"/>
          </p:cNvPicPr>
          <p:nvPr/>
        </p:nvPicPr>
        <p:blipFill>
          <a:blip r:embed="rId4"/>
          <a:stretch>
            <a:fillRect/>
          </a:stretch>
        </p:blipFill>
        <p:spPr>
          <a:xfrm>
            <a:off x="1609246" y="2114296"/>
            <a:ext cx="128699" cy="187198"/>
          </a:xfrm>
          <a:prstGeom prst="rect">
            <a:avLst/>
          </a:prstGeom>
        </p:spPr>
      </p:pic>
      <p:sp>
        <p:nvSpPr>
          <p:cNvPr id="71" name="TextBox 70"/>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6 sub-segments tracked; no</a:t>
            </a:r>
          </a:p>
        </p:txBody>
      </p:sp>
      <p:sp>
        <p:nvSpPr>
          <p:cNvPr id="72" name="TextBox 71"/>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3.</a:t>
            </a:r>
          </a:p>
        </p:txBody>
      </p:sp>
      <p:sp>
        <p:nvSpPr>
          <p:cNvPr id="73" name="TextBox 72"/>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4" name="Picture 73" descr="lock.png"/>
          <p:cNvPicPr>
            <a:picLocks noChangeAspect="1"/>
          </p:cNvPicPr>
          <p:nvPr/>
        </p:nvPicPr>
        <p:blipFill>
          <a:blip r:embed="rId4"/>
          <a:stretch>
            <a:fillRect/>
          </a:stretch>
        </p:blipFill>
        <p:spPr>
          <a:xfrm>
            <a:off x="1835985" y="3219196"/>
            <a:ext cx="128699" cy="187198"/>
          </a:xfrm>
          <a:prstGeom prst="rect">
            <a:avLst/>
          </a:prstGeom>
        </p:spPr>
      </p:pic>
      <p:sp>
        <p:nvSpPr>
          <p:cNvPr id="75" name="TextBox 74"/>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6" name="Picture 75" descr="lock.png"/>
          <p:cNvPicPr>
            <a:picLocks noChangeAspect="1"/>
          </p:cNvPicPr>
          <p:nvPr/>
        </p:nvPicPr>
        <p:blipFill>
          <a:blip r:embed="rId4"/>
          <a:stretch>
            <a:fillRect/>
          </a:stretch>
        </p:blipFill>
        <p:spPr>
          <a:xfrm>
            <a:off x="3827189" y="3219196"/>
            <a:ext cx="128699" cy="187198"/>
          </a:xfrm>
          <a:prstGeom prst="rect">
            <a:avLst/>
          </a:prstGeom>
        </p:spPr>
      </p:pic>
      <p:sp>
        <p:nvSpPr>
          <p:cNvPr id="77" name="TextBox 76"/>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8" name="TextBox 77"/>
          <p:cNvSpPr txBox="1"/>
          <p:nvPr/>
        </p:nvSpPr>
        <p:spPr>
          <a:xfrm>
            <a:off x="523875" y="4333875"/>
            <a:ext cx="3935685" cy="186689"/>
          </a:xfrm>
          <a:prstGeom prst="rect">
            <a:avLst/>
          </a:prstGeom>
          <a:noFill/>
        </p:spPr>
        <p:txBody>
          <a:bodyPr wrap="none" lIns="0" rIns="0" tIns="0" bIns="0">
            <a:spAutoFit/>
          </a:bodyPr>
          <a:lstStyle/>
          <a:p>
            <a:r>
              <a:rPr sz="1100" b="0">
                <a:solidFill>
                  <a:srgbClr val="1F2933"/>
                </a:solidFill>
                <a:latin typeface="Calibri"/>
              </a:rPr>
              <a:t>'Rack Assist' is the largest line; 'Column Assist' compounds fastest at</a:t>
            </a:r>
          </a:p>
        </p:txBody>
      </p:sp>
      <p:pic>
        <p:nvPicPr>
          <p:cNvPr id="79" name="Picture 78" descr="lock.png"/>
          <p:cNvPicPr>
            <a:picLocks noChangeAspect="1"/>
          </p:cNvPicPr>
          <p:nvPr/>
        </p:nvPicPr>
        <p:blipFill>
          <a:blip r:embed="rId4"/>
          <a:stretch>
            <a:fillRect/>
          </a:stretch>
        </p:blipFill>
        <p:spPr>
          <a:xfrm>
            <a:off x="4407611" y="4324096"/>
            <a:ext cx="128699" cy="187198"/>
          </a:xfrm>
          <a:prstGeom prst="rect">
            <a:avLst/>
          </a:prstGeom>
        </p:spPr>
      </p:pic>
      <p:sp>
        <p:nvSpPr>
          <p:cNvPr id="80" name="TextBox 79"/>
          <p:cNvSpPr txBox="1"/>
          <p:nvPr/>
        </p:nvSpPr>
        <p:spPr>
          <a:xfrm>
            <a:off x="4575107" y="433387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Bosch, ZF, Knorr-Bremse</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thyssenkrupp, JTEKT</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Nexteer Automotive, NSK, Hyundai Mobis, HL Mando, China Automotive Systems</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199823" y="2114550"/>
            <a:ext cx="15986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Rack Assist</a:t>
            </a:r>
          </a:p>
        </p:txBody>
      </p:sp>
      <p:sp>
        <p:nvSpPr>
          <p:cNvPr id="30" name="TextBox 29"/>
          <p:cNvSpPr txBox="1"/>
          <p:nvPr/>
        </p:nvSpPr>
        <p:spPr>
          <a:xfrm>
            <a:off x="3836611" y="2114550"/>
            <a:ext cx="15986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Recirculating Ball and Nut Type</a:t>
            </a:r>
          </a:p>
        </p:txBody>
      </p:sp>
      <p:sp>
        <p:nvSpPr>
          <p:cNvPr id="31" name="TextBox 30"/>
          <p:cNvSpPr txBox="1"/>
          <p:nvPr/>
        </p:nvSpPr>
        <p:spPr>
          <a:xfrm>
            <a:off x="5473399" y="2114550"/>
            <a:ext cx="15986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Column Assist</a:t>
            </a:r>
          </a:p>
        </p:txBody>
      </p:sp>
      <p:sp>
        <p:nvSpPr>
          <p:cNvPr id="32" name="TextBox 31"/>
          <p:cNvSpPr txBox="1"/>
          <p:nvPr/>
        </p:nvSpPr>
        <p:spPr>
          <a:xfrm>
            <a:off x="7110186" y="2114550"/>
            <a:ext cx="15986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Steer by Wire</a:t>
            </a:r>
          </a:p>
        </p:txBody>
      </p:sp>
      <p:sp>
        <p:nvSpPr>
          <p:cNvPr id="33" name="TextBox 32"/>
          <p:cNvSpPr txBox="1"/>
          <p:nvPr/>
        </p:nvSpPr>
        <p:spPr>
          <a:xfrm>
            <a:off x="8746974" y="2114550"/>
            <a:ext cx="15986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OEM</a:t>
            </a:r>
          </a:p>
        </p:txBody>
      </p:sp>
      <p:sp>
        <p:nvSpPr>
          <p:cNvPr id="34" name="TextBox 33"/>
          <p:cNvSpPr txBox="1"/>
          <p:nvPr/>
        </p:nvSpPr>
        <p:spPr>
          <a:xfrm>
            <a:off x="10383762" y="2114550"/>
            <a:ext cx="15986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Aftermaket</a:t>
            </a:r>
          </a:p>
        </p:txBody>
      </p:sp>
      <p:cxnSp>
        <p:nvCxnSpPr>
          <p:cNvPr id="35" name="Connector 34"/>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6289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Bosch</a:t>
            </a:r>
          </a:p>
        </p:txBody>
      </p:sp>
      <p:sp>
        <p:nvSpPr>
          <p:cNvPr id="38" name="TextBox 37"/>
          <p:cNvSpPr txBox="1"/>
          <p:nvPr/>
        </p:nvSpPr>
        <p:spPr>
          <a:xfrm>
            <a:off x="285750" y="27908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2922967"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0003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5975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96542"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33330"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470118"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954405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106906"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1182350"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9718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ZF</a:t>
            </a:r>
          </a:p>
        </p:txBody>
      </p:sp>
      <p:sp>
        <p:nvSpPr>
          <p:cNvPr id="51" name="TextBox 50"/>
          <p:cNvSpPr txBox="1"/>
          <p:nvPr/>
        </p:nvSpPr>
        <p:spPr>
          <a:xfrm>
            <a:off x="285750" y="31337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2" name="Oval 51"/>
          <p:cNvSpPr/>
          <p:nvPr/>
        </p:nvSpPr>
        <p:spPr>
          <a:xfrm>
            <a:off x="292296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3000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55975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196542"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627697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3333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7905750"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470118"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954405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106906"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3147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Knorr-Bremse</a:t>
            </a:r>
          </a:p>
        </p:txBody>
      </p:sp>
      <p:sp>
        <p:nvSpPr>
          <p:cNvPr id="65" name="TextBox 64"/>
          <p:cNvSpPr txBox="1"/>
          <p:nvPr/>
        </p:nvSpPr>
        <p:spPr>
          <a:xfrm>
            <a:off x="285750" y="34766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6" name="Oval 65"/>
          <p:cNvSpPr/>
          <p:nvPr/>
        </p:nvSpPr>
        <p:spPr>
          <a:xfrm>
            <a:off x="2922967"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55975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4638675"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19654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833330"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470118"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10690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118235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85750" y="36576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thyssenkrupp</a:t>
            </a:r>
          </a:p>
        </p:txBody>
      </p:sp>
      <p:sp>
        <p:nvSpPr>
          <p:cNvPr id="77" name="TextBox 76"/>
          <p:cNvSpPr txBox="1"/>
          <p:nvPr/>
        </p:nvSpPr>
        <p:spPr>
          <a:xfrm>
            <a:off x="285750" y="38195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8" name="Oval 77"/>
          <p:cNvSpPr/>
          <p:nvPr/>
        </p:nvSpPr>
        <p:spPr>
          <a:xfrm>
            <a:off x="292296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55975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463867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19654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627697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83333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7905750"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470118"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95440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110690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11182350"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5750" y="40005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JTEKT</a:t>
            </a:r>
          </a:p>
        </p:txBody>
      </p:sp>
      <p:sp>
        <p:nvSpPr>
          <p:cNvPr id="92" name="TextBox 91"/>
          <p:cNvSpPr txBox="1"/>
          <p:nvPr/>
        </p:nvSpPr>
        <p:spPr>
          <a:xfrm>
            <a:off x="285750" y="41624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3" name="Oval 92"/>
          <p:cNvSpPr/>
          <p:nvPr/>
        </p:nvSpPr>
        <p:spPr>
          <a:xfrm>
            <a:off x="292296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30003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55975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46386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619654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62769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83333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470118"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954405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10690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3434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Nexteer Automotive</a:t>
            </a:r>
          </a:p>
        </p:txBody>
      </p:sp>
      <p:sp>
        <p:nvSpPr>
          <p:cNvPr id="106" name="TextBox 105"/>
          <p:cNvSpPr txBox="1"/>
          <p:nvPr/>
        </p:nvSpPr>
        <p:spPr>
          <a:xfrm>
            <a:off x="285750" y="45053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7" name="Oval 106"/>
          <p:cNvSpPr/>
          <p:nvPr/>
        </p:nvSpPr>
        <p:spPr>
          <a:xfrm>
            <a:off x="292296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0003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55975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619654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627697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783333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470118"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110690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118235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85750" y="46863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NSK</a:t>
            </a:r>
          </a:p>
        </p:txBody>
      </p:sp>
      <p:sp>
        <p:nvSpPr>
          <p:cNvPr id="119" name="TextBox 118"/>
          <p:cNvSpPr txBox="1"/>
          <p:nvPr/>
        </p:nvSpPr>
        <p:spPr>
          <a:xfrm>
            <a:off x="285750" y="48482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0" name="Oval 119"/>
          <p:cNvSpPr/>
          <p:nvPr/>
        </p:nvSpPr>
        <p:spPr>
          <a:xfrm>
            <a:off x="292296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30003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455975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reeform 122"/>
          <p:cNvSpPr/>
          <p:nvPr/>
        </p:nvSpPr>
        <p:spPr>
          <a:xfrm>
            <a:off x="463867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9654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783333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470118"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95440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110690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182350"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85750" y="50292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Hyundai Mobis</a:t>
            </a:r>
          </a:p>
        </p:txBody>
      </p:sp>
      <p:sp>
        <p:nvSpPr>
          <p:cNvPr id="133" name="TextBox 132"/>
          <p:cNvSpPr txBox="1"/>
          <p:nvPr/>
        </p:nvSpPr>
        <p:spPr>
          <a:xfrm>
            <a:off x="285750" y="51911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4" name="Oval 133"/>
          <p:cNvSpPr/>
          <p:nvPr/>
        </p:nvSpPr>
        <p:spPr>
          <a:xfrm>
            <a:off x="292296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455975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463867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619654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627697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783333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9470118"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954405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1110690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3" name="Connector 142"/>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85750" y="53721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HL Mando</a:t>
            </a:r>
          </a:p>
        </p:txBody>
      </p:sp>
      <p:sp>
        <p:nvSpPr>
          <p:cNvPr id="146" name="TextBox 145"/>
          <p:cNvSpPr txBox="1"/>
          <p:nvPr/>
        </p:nvSpPr>
        <p:spPr>
          <a:xfrm>
            <a:off x="285750" y="55340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7" name="Oval 146"/>
          <p:cNvSpPr/>
          <p:nvPr/>
        </p:nvSpPr>
        <p:spPr>
          <a:xfrm>
            <a:off x="292296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30003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55975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463867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619654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627697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783333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9470118"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110690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11182350"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nnector 156"/>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8" name="Rectangle 157"/>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285750" y="57150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China Automotive Systems</a:t>
            </a:r>
          </a:p>
        </p:txBody>
      </p:sp>
      <p:sp>
        <p:nvSpPr>
          <p:cNvPr id="160" name="TextBox 159"/>
          <p:cNvSpPr txBox="1"/>
          <p:nvPr/>
        </p:nvSpPr>
        <p:spPr>
          <a:xfrm>
            <a:off x="285750" y="58769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1" name="Oval 160"/>
          <p:cNvSpPr/>
          <p:nvPr/>
        </p:nvSpPr>
        <p:spPr>
          <a:xfrm>
            <a:off x="292296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Freeform 161"/>
          <p:cNvSpPr/>
          <p:nvPr/>
        </p:nvSpPr>
        <p:spPr>
          <a:xfrm>
            <a:off x="30003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55975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619654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Freeform 164"/>
          <p:cNvSpPr/>
          <p:nvPr/>
        </p:nvSpPr>
        <p:spPr>
          <a:xfrm>
            <a:off x="627697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783333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9470118"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954405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1110690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11182350"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1" name="Connector 170"/>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2" name="Rectangle 171"/>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74" name="Rectangle 173"/>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76" name="Rectangle 175"/>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78" name="TextBox 177"/>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79" name="TextBox 178"/>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'Rack Assist' is the most contested column (8 players active); 'Steer by Wire' is the most open (3).</a:t>
            </a:r>
          </a:p>
        </p:txBody>
      </p:sp>
      <p:sp>
        <p:nvSpPr>
          <p:cNvPr id="180" name="TextBox 1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81" name="TextBox 180"/>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82" name="Picture 181" descr="lock.png"/>
          <p:cNvPicPr>
            <a:picLocks noChangeAspect="1"/>
          </p:cNvPicPr>
          <p:nvPr/>
        </p:nvPicPr>
        <p:blipFill>
          <a:blip r:embed="rId4"/>
          <a:stretch>
            <a:fillRect/>
          </a:stretch>
        </p:blipFill>
        <p:spPr>
          <a:xfrm>
            <a:off x="622441" y="1297051"/>
            <a:ext cx="128699" cy="187198"/>
          </a:xfrm>
          <a:prstGeom prst="rect">
            <a:avLst/>
          </a:prstGeom>
        </p:spPr>
      </p:pic>
      <p:sp>
        <p:nvSpPr>
          <p:cNvPr id="183" name="TextBox 182"/>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84" name="Picture 183" descr="lock.png"/>
          <p:cNvPicPr>
            <a:picLocks noChangeAspect="1"/>
          </p:cNvPicPr>
          <p:nvPr/>
        </p:nvPicPr>
        <p:blipFill>
          <a:blip r:embed="rId4"/>
          <a:stretch>
            <a:fillRect/>
          </a:stretch>
        </p:blipFill>
        <p:spPr>
          <a:xfrm>
            <a:off x="5547332" y="1297051"/>
            <a:ext cx="128699" cy="187198"/>
          </a:xfrm>
          <a:prstGeom prst="rect">
            <a:avLst/>
          </a:prstGeom>
        </p:spPr>
      </p:pic>
      <p:sp>
        <p:nvSpPr>
          <p:cNvPr id="185" name="TextBox 184"/>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186" name="Picture 185" descr="lock.png"/>
          <p:cNvPicPr>
            <a:picLocks noChangeAspect="1"/>
          </p:cNvPicPr>
          <p:nvPr/>
        </p:nvPicPr>
        <p:blipFill>
          <a:blip r:embed="rId4"/>
          <a:stretch>
            <a:fillRect/>
          </a:stretch>
        </p:blipFill>
        <p:spPr>
          <a:xfrm>
            <a:off x="6890588" y="1297051"/>
            <a:ext cx="128699" cy="187198"/>
          </a:xfrm>
          <a:prstGeom prst="rect">
            <a:avLst/>
          </a:prstGeom>
        </p:spPr>
      </p:pic>
      <p:sp>
        <p:nvSpPr>
          <p:cNvPr id="187" name="TextBox 186"/>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188" name="Picture 187"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Rack Assist,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Recirculating Ball and Nut Type,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Column Assist,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Rack Assist</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30%</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Knorr-Bremse</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Bosch</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ZF</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JTEKT</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Nexteer Automotive</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Recirculating Ball and Nut Type</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29%</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Bosch</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Knorr-Bremse</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thyssenkrupp</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JTEKT</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NSK</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Column Assist</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28%</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Bosch</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ZF</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thyssenkrupp</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JTEKT</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Nexteer Automotive</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Demand Type</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Aftermaket</a:t>
            </a:r>
          </a:p>
        </p:txBody>
      </p:sp>
      <p:sp>
        <p:nvSpPr>
          <p:cNvPr id="95" name="Rectangle 94"/>
          <p:cNvSpPr/>
          <p:nvPr/>
        </p:nvSpPr>
        <p:spPr>
          <a:xfrm>
            <a:off x="10682288" y="2847975"/>
            <a:ext cx="13430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854693"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99" name="TextBox 98"/>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The top two end uses pay for 100% of the market; vendors package for one vertical at a time.</a:t>
            </a:r>
          </a:p>
        </p:txBody>
      </p:sp>
      <p:sp>
        <p:nvSpPr>
          <p:cNvPr id="100" name="Rectangle 99"/>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03" name="TextBox 102"/>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Busses and Coaches Compounds Fastest Across the Vehicle Type Mix  |  South Asia &amp; Pacific Emerges as the Growth Engine Among Regions  |  Premiumisation Lifts Average Realisation</a:t>
            </a:r>
          </a:p>
        </p:txBody>
      </p:sp>
      <p:sp>
        <p:nvSpPr>
          <p:cNvPr id="104" name="Rectangle 103"/>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07" name="TextBox 106"/>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Heavy Duty Trucks Lags the Category and Dilutes Blended Growth  |  Uneven Region Performance Caps the Blended Rate  |  Concentration Risk Limits Pricing and Sourcing Flexibility</a:t>
            </a:r>
          </a:p>
        </p:txBody>
      </p:sp>
      <p:sp>
        <p:nvSpPr>
          <p:cNvPr id="108" name="TextBox 10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09" name="Picture 108" descr="lock.png"/>
          <p:cNvPicPr>
            <a:picLocks noChangeAspect="1"/>
          </p:cNvPicPr>
          <p:nvPr/>
        </p:nvPicPr>
        <p:blipFill>
          <a:blip r:embed="rId4"/>
          <a:stretch>
            <a:fillRect/>
          </a:stretch>
        </p:blipFill>
        <p:spPr>
          <a:xfrm>
            <a:off x="1316775" y="1258951"/>
            <a:ext cx="128699" cy="187198"/>
          </a:xfrm>
          <a:prstGeom prst="rect">
            <a:avLst/>
          </a:prstGeom>
        </p:spPr>
      </p:pic>
      <p:pic>
        <p:nvPicPr>
          <p:cNvPr id="110" name="Picture 109" descr="lock.png"/>
          <p:cNvPicPr>
            <a:picLocks noChangeAspect="1"/>
          </p:cNvPicPr>
          <p:nvPr/>
        </p:nvPicPr>
        <p:blipFill>
          <a:blip r:embed="rId4"/>
          <a:stretch>
            <a:fillRect/>
          </a:stretch>
        </p:blipFill>
        <p:spPr>
          <a:xfrm>
            <a:off x="3678975" y="1258951"/>
            <a:ext cx="128699" cy="187198"/>
          </a:xfrm>
          <a:prstGeom prst="rect">
            <a:avLst/>
          </a:prstGeom>
        </p:spPr>
      </p:pic>
      <p:pic>
        <p:nvPicPr>
          <p:cNvPr id="111" name="Picture 110" descr="lock.png"/>
          <p:cNvPicPr>
            <a:picLocks noChangeAspect="1"/>
          </p:cNvPicPr>
          <p:nvPr/>
        </p:nvPicPr>
        <p:blipFill>
          <a:blip r:embed="rId4"/>
          <a:stretch>
            <a:fillRect/>
          </a:stretch>
        </p:blipFill>
        <p:spPr>
          <a:xfrm>
            <a:off x="6041175" y="1258951"/>
            <a:ext cx="128699" cy="187198"/>
          </a:xfrm>
          <a:prstGeom prst="rect">
            <a:avLst/>
          </a:prstGeom>
        </p:spPr>
      </p:pic>
      <p:pic>
        <p:nvPicPr>
          <p:cNvPr id="112" name="Picture 111" descr="lock.png"/>
          <p:cNvPicPr>
            <a:picLocks noChangeAspect="1"/>
          </p:cNvPicPr>
          <p:nvPr/>
        </p:nvPicPr>
        <p:blipFill>
          <a:blip r:embed="rId4"/>
          <a:stretch>
            <a:fillRect/>
          </a:stretch>
        </p:blipFill>
        <p:spPr>
          <a:xfrm>
            <a:off x="8403375" y="1258951"/>
            <a:ext cx="128699" cy="187198"/>
          </a:xfrm>
          <a:prstGeom prst="rect">
            <a:avLst/>
          </a:prstGeom>
        </p:spPr>
      </p:pic>
      <p:pic>
        <p:nvPicPr>
          <p:cNvPr id="113" name="Picture 112" descr="lock.png"/>
          <p:cNvPicPr>
            <a:picLocks noChangeAspect="1"/>
          </p:cNvPicPr>
          <p:nvPr/>
        </p:nvPicPr>
        <p:blipFill>
          <a:blip r:embed="rId4"/>
          <a:stretch>
            <a:fillRect/>
          </a:stretch>
        </p:blipFill>
        <p:spPr>
          <a:xfrm>
            <a:off x="10765575" y="1258951"/>
            <a:ext cx="128699" cy="187198"/>
          </a:xfrm>
          <a:prstGeom prst="rect">
            <a:avLst/>
          </a:prstGeom>
        </p:spPr>
      </p:pic>
      <p:pic>
        <p:nvPicPr>
          <p:cNvPr id="114" name="Picture 113" descr="lock.png"/>
          <p:cNvPicPr>
            <a:picLocks noChangeAspect="1"/>
          </p:cNvPicPr>
          <p:nvPr/>
        </p:nvPicPr>
        <p:blipFill>
          <a:blip r:embed="rId4"/>
          <a:stretch>
            <a:fillRect/>
          </a:stretch>
        </p:blipFill>
        <p:spPr>
          <a:xfrm>
            <a:off x="554775" y="2135251"/>
            <a:ext cx="128699" cy="187198"/>
          </a:xfrm>
          <a:prstGeom prst="rect">
            <a:avLst/>
          </a:prstGeom>
        </p:spPr>
      </p:pic>
      <p:pic>
        <p:nvPicPr>
          <p:cNvPr id="115" name="Picture 114" descr="lock.png"/>
          <p:cNvPicPr>
            <a:picLocks noChangeAspect="1"/>
          </p:cNvPicPr>
          <p:nvPr/>
        </p:nvPicPr>
        <p:blipFill>
          <a:blip r:embed="rId4"/>
          <a:stretch>
            <a:fillRect/>
          </a:stretch>
        </p:blipFill>
        <p:spPr>
          <a:xfrm>
            <a:off x="3569437" y="2135251"/>
            <a:ext cx="128699" cy="187198"/>
          </a:xfrm>
          <a:prstGeom prst="rect">
            <a:avLst/>
          </a:prstGeom>
        </p:spPr>
      </p:pic>
      <p:pic>
        <p:nvPicPr>
          <p:cNvPr id="116" name="Picture 115" descr="lock.png"/>
          <p:cNvPicPr>
            <a:picLocks noChangeAspect="1"/>
          </p:cNvPicPr>
          <p:nvPr/>
        </p:nvPicPr>
        <p:blipFill>
          <a:blip r:embed="rId4"/>
          <a:stretch>
            <a:fillRect/>
          </a:stretch>
        </p:blipFill>
        <p:spPr>
          <a:xfrm>
            <a:off x="6584100" y="2135251"/>
            <a:ext cx="128699" cy="187198"/>
          </a:xfrm>
          <a:prstGeom prst="rect">
            <a:avLst/>
          </a:prstGeom>
        </p:spPr>
      </p:pic>
      <p:pic>
        <p:nvPicPr>
          <p:cNvPr id="117" name="Picture 116" descr="lock.png"/>
          <p:cNvPicPr>
            <a:picLocks noChangeAspect="1"/>
          </p:cNvPicPr>
          <p:nvPr/>
        </p:nvPicPr>
        <p:blipFill>
          <a:blip r:embed="rId4"/>
          <a:stretch>
            <a:fillRect/>
          </a:stretch>
        </p:blipFill>
        <p:spPr>
          <a:xfrm>
            <a:off x="11660925" y="2487676"/>
            <a:ext cx="128699" cy="187198"/>
          </a:xfrm>
          <a:prstGeom prst="rect">
            <a:avLst/>
          </a:prstGeom>
        </p:spPr>
      </p:pic>
      <p:pic>
        <p:nvPicPr>
          <p:cNvPr id="118" name="Picture 117" descr="lock.png"/>
          <p:cNvPicPr>
            <a:picLocks noChangeAspect="1"/>
          </p:cNvPicPr>
          <p:nvPr/>
        </p:nvPicPr>
        <p:blipFill>
          <a:blip r:embed="rId4"/>
          <a:stretch>
            <a:fillRect/>
          </a:stretch>
        </p:blipFill>
        <p:spPr>
          <a:xfrm>
            <a:off x="11028468" y="2811526"/>
            <a:ext cx="128699" cy="187198"/>
          </a:xfrm>
          <a:prstGeom prst="rect">
            <a:avLst/>
          </a:prstGeom>
        </p:spPr>
      </p:pic>
      <p:sp>
        <p:nvSpPr>
          <p:cNvPr id="119" name="TextBox 118"/>
          <p:cNvSpPr txBox="1"/>
          <p:nvPr/>
        </p:nvSpPr>
        <p:spPr>
          <a:xfrm>
            <a:off x="314325"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'Rack Assist'</a:t>
            </a:r>
          </a:p>
        </p:txBody>
      </p:sp>
      <p:sp>
        <p:nvSpPr>
          <p:cNvPr id="120" name="TextBox 119"/>
          <p:cNvSpPr txBox="1"/>
          <p:nvPr/>
        </p:nvSpPr>
        <p:spPr>
          <a:xfrm>
            <a:off x="314325"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21" name="Picture 120" descr="lock.png"/>
          <p:cNvPicPr>
            <a:picLocks noChangeAspect="1"/>
          </p:cNvPicPr>
          <p:nvPr/>
        </p:nvPicPr>
        <p:blipFill>
          <a:blip r:embed="rId4"/>
          <a:stretch>
            <a:fillRect/>
          </a:stretch>
        </p:blipFill>
        <p:spPr>
          <a:xfrm>
            <a:off x="606789" y="4834636"/>
            <a:ext cx="128699" cy="187198"/>
          </a:xfrm>
          <a:prstGeom prst="rect">
            <a:avLst/>
          </a:prstGeom>
        </p:spPr>
      </p:pic>
      <p:sp>
        <p:nvSpPr>
          <p:cNvPr id="122" name="TextBox 121"/>
          <p:cNvSpPr txBox="1"/>
          <p:nvPr/>
        </p:nvSpPr>
        <p:spPr>
          <a:xfrm>
            <a:off x="774285"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23" name="TextBox 122"/>
          <p:cNvSpPr txBox="1"/>
          <p:nvPr/>
        </p:nvSpPr>
        <p:spPr>
          <a:xfrm>
            <a:off x="3328987" y="4676775"/>
            <a:ext cx="1880021" cy="186689"/>
          </a:xfrm>
          <a:prstGeom prst="rect">
            <a:avLst/>
          </a:prstGeom>
          <a:noFill/>
        </p:spPr>
        <p:txBody>
          <a:bodyPr wrap="none" lIns="0" rIns="0" tIns="0" bIns="0">
            <a:spAutoFit/>
          </a:bodyPr>
          <a:lstStyle/>
          <a:p>
            <a:r>
              <a:rPr sz="1100" b="0">
                <a:solidFill>
                  <a:srgbClr val="1F2933"/>
                </a:solidFill>
                <a:latin typeface="Calibri"/>
              </a:rPr>
              <a:t>5 named players compete here;</a:t>
            </a:r>
          </a:p>
        </p:txBody>
      </p:sp>
      <p:sp>
        <p:nvSpPr>
          <p:cNvPr id="124" name="TextBox 123"/>
          <p:cNvSpPr txBox="1"/>
          <p:nvPr/>
        </p:nvSpPr>
        <p:spPr>
          <a:xfrm>
            <a:off x="3328987" y="4844415"/>
            <a:ext cx="2206079" cy="186689"/>
          </a:xfrm>
          <a:prstGeom prst="rect">
            <a:avLst/>
          </a:prstGeom>
          <a:noFill/>
        </p:spPr>
        <p:txBody>
          <a:bodyPr wrap="none" lIns="0" rIns="0" tIns="0" bIns="0">
            <a:spAutoFit/>
          </a:bodyPr>
          <a:lstStyle/>
          <a:p>
            <a:r>
              <a:rPr sz="1100" b="0">
                <a:solidFill>
                  <a:srgbClr val="1F2933"/>
                </a:solidFill>
                <a:latin typeface="Calibri"/>
              </a:rPr>
              <a:t>'Recirculating Ball and Nut Type' adds</a:t>
            </a:r>
          </a:p>
        </p:txBody>
      </p:sp>
      <p:pic>
        <p:nvPicPr>
          <p:cNvPr id="125" name="Picture 124" descr="lock.png"/>
          <p:cNvPicPr>
            <a:picLocks noChangeAspect="1"/>
          </p:cNvPicPr>
          <p:nvPr/>
        </p:nvPicPr>
        <p:blipFill>
          <a:blip r:embed="rId4"/>
          <a:stretch>
            <a:fillRect/>
          </a:stretch>
        </p:blipFill>
        <p:spPr>
          <a:xfrm>
            <a:off x="5483117" y="4834636"/>
            <a:ext cx="128699" cy="187198"/>
          </a:xfrm>
          <a:prstGeom prst="rect">
            <a:avLst/>
          </a:prstGeom>
        </p:spPr>
      </p:pic>
      <p:sp>
        <p:nvSpPr>
          <p:cNvPr id="126" name="TextBox 125"/>
          <p:cNvSpPr txBox="1"/>
          <p:nvPr/>
        </p:nvSpPr>
        <p:spPr>
          <a:xfrm>
            <a:off x="3328987" y="501205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27" name="TextBox 126"/>
          <p:cNvSpPr txBox="1"/>
          <p:nvPr/>
        </p:nvSpPr>
        <p:spPr>
          <a:xfrm>
            <a:off x="6343650" y="4676775"/>
            <a:ext cx="2381250" cy="186689"/>
          </a:xfrm>
          <a:prstGeom prst="rect">
            <a:avLst/>
          </a:prstGeom>
          <a:noFill/>
        </p:spPr>
        <p:txBody>
          <a:bodyPr wrap="none" lIns="0" rIns="0" tIns="0" bIns="0">
            <a:spAutoFit/>
          </a:bodyPr>
          <a:lstStyle/>
          <a:p>
            <a:r>
              <a:rPr sz="1100" b="0">
                <a:solidFill>
                  <a:srgbClr val="1F2933"/>
                </a:solidFill>
                <a:latin typeface="Calibri"/>
              </a:rPr>
              <a:t>5 named players compete here; 'Column</a:t>
            </a:r>
          </a:p>
        </p:txBody>
      </p:sp>
      <p:sp>
        <p:nvSpPr>
          <p:cNvPr id="128" name="TextBox 127"/>
          <p:cNvSpPr txBox="1"/>
          <p:nvPr/>
        </p:nvSpPr>
        <p:spPr>
          <a:xfrm>
            <a:off x="6343650" y="4844415"/>
            <a:ext cx="730498" cy="186689"/>
          </a:xfrm>
          <a:prstGeom prst="rect">
            <a:avLst/>
          </a:prstGeom>
          <a:noFill/>
        </p:spPr>
        <p:txBody>
          <a:bodyPr wrap="none" lIns="0" rIns="0" tIns="0" bIns="0">
            <a:spAutoFit/>
          </a:bodyPr>
          <a:lstStyle/>
          <a:p>
            <a:r>
              <a:rPr sz="1100" b="0">
                <a:solidFill>
                  <a:srgbClr val="1F2933"/>
                </a:solidFill>
                <a:latin typeface="Calibri"/>
              </a:rPr>
              <a:t>Assist' adds</a:t>
            </a:r>
          </a:p>
        </p:txBody>
      </p:sp>
      <p:pic>
        <p:nvPicPr>
          <p:cNvPr id="129" name="Picture 128" descr="lock.png"/>
          <p:cNvPicPr>
            <a:picLocks noChangeAspect="1"/>
          </p:cNvPicPr>
          <p:nvPr/>
        </p:nvPicPr>
        <p:blipFill>
          <a:blip r:embed="rId4"/>
          <a:stretch>
            <a:fillRect/>
          </a:stretch>
        </p:blipFill>
        <p:spPr>
          <a:xfrm>
            <a:off x="7022199" y="4834636"/>
            <a:ext cx="128699" cy="187198"/>
          </a:xfrm>
          <a:prstGeom prst="rect">
            <a:avLst/>
          </a:prstGeom>
        </p:spPr>
      </p:pic>
      <p:sp>
        <p:nvSpPr>
          <p:cNvPr id="130" name="TextBox 129"/>
          <p:cNvSpPr txBox="1"/>
          <p:nvPr/>
        </p:nvSpPr>
        <p:spPr>
          <a:xfrm>
            <a:off x="7189695"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Bosch</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ZF</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Knorr-Bremse</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thyssenkrupp</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JTEKT</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Nexteer Automotive</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NSK</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Hyundai Mobis</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HL Mando</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China Automotive Systems</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9" name="Picture 98" descr="lock.png"/>
          <p:cNvPicPr>
            <a:picLocks noChangeAspect="1"/>
          </p:cNvPicPr>
          <p:nvPr/>
        </p:nvPicPr>
        <p:blipFill>
          <a:blip r:embed="rId4"/>
          <a:stretch>
            <a:fillRect/>
          </a:stretch>
        </p:blipFill>
        <p:spPr>
          <a:xfrm>
            <a:off x="1343736" y="5867145"/>
            <a:ext cx="128699" cy="187198"/>
          </a:xfrm>
          <a:prstGeom prst="rect">
            <a:avLst/>
          </a:prstGeom>
        </p:spPr>
      </p:pic>
      <p:sp>
        <p:nvSpPr>
          <p:cNvPr id="100" name="TextBox 99"/>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2" name="Picture 101" descr="lock.png"/>
          <p:cNvPicPr>
            <a:picLocks noChangeAspect="1"/>
          </p:cNvPicPr>
          <p:nvPr/>
        </p:nvPicPr>
        <p:blipFill>
          <a:blip r:embed="rId4"/>
          <a:stretch>
            <a:fillRect/>
          </a:stretch>
        </p:blipFill>
        <p:spPr>
          <a:xfrm>
            <a:off x="4344111" y="5867145"/>
            <a:ext cx="128699" cy="187198"/>
          </a:xfrm>
          <a:prstGeom prst="rect">
            <a:avLst/>
          </a:prstGeom>
        </p:spPr>
      </p:pic>
      <p:sp>
        <p:nvSpPr>
          <p:cNvPr id="103" name="TextBox 102"/>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5" name="Picture 104" descr="lock.png"/>
          <p:cNvPicPr>
            <a:picLocks noChangeAspect="1"/>
          </p:cNvPicPr>
          <p:nvPr/>
        </p:nvPicPr>
        <p:blipFill>
          <a:blip r:embed="rId4"/>
          <a:stretch>
            <a:fillRect/>
          </a:stretch>
        </p:blipFill>
        <p:spPr>
          <a:xfrm>
            <a:off x="7344486" y="5867145"/>
            <a:ext cx="128699" cy="187198"/>
          </a:xfrm>
          <a:prstGeom prst="rect">
            <a:avLst/>
          </a:prstGeom>
        </p:spPr>
      </p:pic>
      <p:sp>
        <p:nvSpPr>
          <p:cNvPr id="106" name="TextBox 105"/>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218873" y="1295400"/>
            <a:ext cx="2262068"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218873" y="1657350"/>
            <a:ext cx="2262068"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557141" y="1295400"/>
            <a:ext cx="117087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557141" y="1657350"/>
            <a:ext cx="117087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5804218" y="1295400"/>
            <a:ext cx="96303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5804218" y="1657350"/>
            <a:ext cx="96303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6843448" y="1295400"/>
            <a:ext cx="96303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6843448" y="1657350"/>
            <a:ext cx="96303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7882678" y="1295400"/>
            <a:ext cx="96303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7882678" y="1657350"/>
            <a:ext cx="96303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8921909" y="1295400"/>
            <a:ext cx="96303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8921909" y="1657350"/>
            <a:ext cx="96303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9961139" y="1295400"/>
            <a:ext cx="96303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9961139" y="1657350"/>
            <a:ext cx="96303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00370" y="1295400"/>
            <a:ext cx="96303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00370" y="1657350"/>
            <a:ext cx="96303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Bosch</a:t>
            </a:r>
          </a:p>
        </p:txBody>
      </p:sp>
      <p:sp>
        <p:nvSpPr>
          <p:cNvPr id="31" name="TextBox 30"/>
          <p:cNvSpPr txBox="1"/>
          <p:nvPr/>
        </p:nvSpPr>
        <p:spPr>
          <a:xfrm>
            <a:off x="285750" y="24098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180773" y="22288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557141" y="22288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20953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24876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8799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32722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23039" y="22288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0962270" y="22288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ZF</a:t>
            </a:r>
          </a:p>
        </p:txBody>
      </p:sp>
      <p:sp>
        <p:nvSpPr>
          <p:cNvPr id="43" name="TextBox 42"/>
          <p:cNvSpPr txBox="1"/>
          <p:nvPr/>
        </p:nvSpPr>
        <p:spPr>
          <a:xfrm>
            <a:off x="285750" y="27527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180773" y="25717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557141" y="25717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209533"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286500"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24876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28799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32722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23039" y="25717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10962270" y="25717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3" name="Connector 5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5750" y="29337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Knorr-Bremse</a:t>
            </a:r>
          </a:p>
        </p:txBody>
      </p:sp>
      <p:sp>
        <p:nvSpPr>
          <p:cNvPr id="56" name="TextBox 55"/>
          <p:cNvSpPr txBox="1"/>
          <p:nvPr/>
        </p:nvSpPr>
        <p:spPr>
          <a:xfrm>
            <a:off x="285750" y="30956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7" name="TextBox 56"/>
          <p:cNvSpPr txBox="1"/>
          <p:nvPr/>
        </p:nvSpPr>
        <p:spPr>
          <a:xfrm>
            <a:off x="2180773" y="29146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8" name="TextBox 57"/>
          <p:cNvSpPr txBox="1"/>
          <p:nvPr/>
        </p:nvSpPr>
        <p:spPr>
          <a:xfrm>
            <a:off x="4557141" y="29146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9" name="Oval 58"/>
          <p:cNvSpPr/>
          <p:nvPr/>
        </p:nvSpPr>
        <p:spPr>
          <a:xfrm>
            <a:off x="6209533"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628650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24876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28799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327224"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94011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923039" y="29146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6" name="TextBox 65"/>
          <p:cNvSpPr txBox="1"/>
          <p:nvPr/>
        </p:nvSpPr>
        <p:spPr>
          <a:xfrm>
            <a:off x="10962270" y="29146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7" name="Connector 66"/>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2766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thyssenkrupp</a:t>
            </a:r>
          </a:p>
        </p:txBody>
      </p:sp>
      <p:sp>
        <p:nvSpPr>
          <p:cNvPr id="70" name="TextBox 69"/>
          <p:cNvSpPr txBox="1"/>
          <p:nvPr/>
        </p:nvSpPr>
        <p:spPr>
          <a:xfrm>
            <a:off x="285750" y="34385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1" name="TextBox 70"/>
          <p:cNvSpPr txBox="1"/>
          <p:nvPr/>
        </p:nvSpPr>
        <p:spPr>
          <a:xfrm>
            <a:off x="2180773" y="32575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4557141" y="32575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3" name="Oval 72"/>
          <p:cNvSpPr/>
          <p:nvPr/>
        </p:nvSpPr>
        <p:spPr>
          <a:xfrm>
            <a:off x="6209533"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6286500"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24876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28799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327224"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4011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923039" y="32575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0" name="TextBox 79"/>
          <p:cNvSpPr txBox="1"/>
          <p:nvPr/>
        </p:nvSpPr>
        <p:spPr>
          <a:xfrm>
            <a:off x="10962270" y="32575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1" name="Connector 8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5750" y="36195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JTEKT</a:t>
            </a:r>
          </a:p>
        </p:txBody>
      </p:sp>
      <p:sp>
        <p:nvSpPr>
          <p:cNvPr id="84" name="TextBox 83"/>
          <p:cNvSpPr txBox="1"/>
          <p:nvPr/>
        </p:nvSpPr>
        <p:spPr>
          <a:xfrm>
            <a:off x="285750" y="37814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5" name="TextBox 84"/>
          <p:cNvSpPr txBox="1"/>
          <p:nvPr/>
        </p:nvSpPr>
        <p:spPr>
          <a:xfrm>
            <a:off x="2180773" y="36004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6" name="TextBox 85"/>
          <p:cNvSpPr txBox="1"/>
          <p:nvPr/>
        </p:nvSpPr>
        <p:spPr>
          <a:xfrm>
            <a:off x="4557141" y="36004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7" name="Oval 86"/>
          <p:cNvSpPr/>
          <p:nvPr/>
        </p:nvSpPr>
        <p:spPr>
          <a:xfrm>
            <a:off x="620953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2865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24876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3247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28799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83629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32722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94011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923039" y="36004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6" name="TextBox 95"/>
          <p:cNvSpPr txBox="1"/>
          <p:nvPr/>
        </p:nvSpPr>
        <p:spPr>
          <a:xfrm>
            <a:off x="10962270" y="36004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7" name="Connector 9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9624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Nexteer Automotive</a:t>
            </a:r>
          </a:p>
        </p:txBody>
      </p:sp>
      <p:sp>
        <p:nvSpPr>
          <p:cNvPr id="100" name="TextBox 99"/>
          <p:cNvSpPr txBox="1"/>
          <p:nvPr/>
        </p:nvSpPr>
        <p:spPr>
          <a:xfrm>
            <a:off x="285750" y="41243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1" name="TextBox 100"/>
          <p:cNvSpPr txBox="1"/>
          <p:nvPr/>
        </p:nvSpPr>
        <p:spPr>
          <a:xfrm>
            <a:off x="2180773" y="39433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4557141" y="39433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3" name="Oval 102"/>
          <p:cNvSpPr/>
          <p:nvPr/>
        </p:nvSpPr>
        <p:spPr>
          <a:xfrm>
            <a:off x="620953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6286500" y="40386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24876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73247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28799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83629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32722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94011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923039" y="39433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2" name="TextBox 111"/>
          <p:cNvSpPr txBox="1"/>
          <p:nvPr/>
        </p:nvSpPr>
        <p:spPr>
          <a:xfrm>
            <a:off x="10962270" y="39433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3" name="Connector 11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4" name="Rectangle 11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5750" y="43053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NSK</a:t>
            </a:r>
          </a:p>
        </p:txBody>
      </p:sp>
      <p:sp>
        <p:nvSpPr>
          <p:cNvPr id="116" name="TextBox 115"/>
          <p:cNvSpPr txBox="1"/>
          <p:nvPr/>
        </p:nvSpPr>
        <p:spPr>
          <a:xfrm>
            <a:off x="285750" y="44672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7" name="TextBox 116"/>
          <p:cNvSpPr txBox="1"/>
          <p:nvPr/>
        </p:nvSpPr>
        <p:spPr>
          <a:xfrm>
            <a:off x="2180773" y="42862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8" name="TextBox 117"/>
          <p:cNvSpPr txBox="1"/>
          <p:nvPr/>
        </p:nvSpPr>
        <p:spPr>
          <a:xfrm>
            <a:off x="4557141" y="42862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9" name="Oval 118"/>
          <p:cNvSpPr/>
          <p:nvPr/>
        </p:nvSpPr>
        <p:spPr>
          <a:xfrm>
            <a:off x="620953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28650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24876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7324725"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828799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8362950"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32722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94011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923039" y="42862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TextBox 127"/>
          <p:cNvSpPr txBox="1"/>
          <p:nvPr/>
        </p:nvSpPr>
        <p:spPr>
          <a:xfrm>
            <a:off x="10962270" y="42862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9" name="Connector 128"/>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85750" y="46482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Hyundai Mobis</a:t>
            </a:r>
          </a:p>
        </p:txBody>
      </p:sp>
      <p:sp>
        <p:nvSpPr>
          <p:cNvPr id="132" name="TextBox 131"/>
          <p:cNvSpPr txBox="1"/>
          <p:nvPr/>
        </p:nvSpPr>
        <p:spPr>
          <a:xfrm>
            <a:off x="285750" y="48101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3" name="TextBox 132"/>
          <p:cNvSpPr txBox="1"/>
          <p:nvPr/>
        </p:nvSpPr>
        <p:spPr>
          <a:xfrm>
            <a:off x="2180773" y="46291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4" name="TextBox 133"/>
          <p:cNvSpPr txBox="1"/>
          <p:nvPr/>
        </p:nvSpPr>
        <p:spPr>
          <a:xfrm>
            <a:off x="4557141" y="46291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5" name="Oval 134"/>
          <p:cNvSpPr/>
          <p:nvPr/>
        </p:nvSpPr>
        <p:spPr>
          <a:xfrm>
            <a:off x="620953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62865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724876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7324725"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828799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83629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932722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94011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923039" y="46291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4" name="TextBox 143"/>
          <p:cNvSpPr txBox="1"/>
          <p:nvPr/>
        </p:nvSpPr>
        <p:spPr>
          <a:xfrm>
            <a:off x="10962270" y="46291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5" name="Connector 14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6" name="Rectangle 14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285750" y="49911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HL Mando</a:t>
            </a:r>
          </a:p>
        </p:txBody>
      </p:sp>
      <p:sp>
        <p:nvSpPr>
          <p:cNvPr id="148" name="TextBox 147"/>
          <p:cNvSpPr txBox="1"/>
          <p:nvPr/>
        </p:nvSpPr>
        <p:spPr>
          <a:xfrm>
            <a:off x="285750" y="51530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9" name="TextBox 148"/>
          <p:cNvSpPr txBox="1"/>
          <p:nvPr/>
        </p:nvSpPr>
        <p:spPr>
          <a:xfrm>
            <a:off x="2180773" y="49720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0" name="TextBox 149"/>
          <p:cNvSpPr txBox="1"/>
          <p:nvPr/>
        </p:nvSpPr>
        <p:spPr>
          <a:xfrm>
            <a:off x="4557141" y="49720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51" name="Oval 150"/>
          <p:cNvSpPr/>
          <p:nvPr/>
        </p:nvSpPr>
        <p:spPr>
          <a:xfrm>
            <a:off x="620953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6286500"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724876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7324725"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828799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836295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32722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94011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923039" y="49720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0" name="TextBox 159"/>
          <p:cNvSpPr txBox="1"/>
          <p:nvPr/>
        </p:nvSpPr>
        <p:spPr>
          <a:xfrm>
            <a:off x="10962270" y="49720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61" name="Connector 160"/>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2" name="Rectangle 161"/>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285750" y="53340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China Automotive Systems</a:t>
            </a:r>
          </a:p>
        </p:txBody>
      </p:sp>
      <p:sp>
        <p:nvSpPr>
          <p:cNvPr id="164" name="TextBox 163"/>
          <p:cNvSpPr txBox="1"/>
          <p:nvPr/>
        </p:nvSpPr>
        <p:spPr>
          <a:xfrm>
            <a:off x="285750" y="54959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5" name="TextBox 164"/>
          <p:cNvSpPr txBox="1"/>
          <p:nvPr/>
        </p:nvSpPr>
        <p:spPr>
          <a:xfrm>
            <a:off x="2180773" y="5314950"/>
            <a:ext cx="2338268"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6" name="TextBox 165"/>
          <p:cNvSpPr txBox="1"/>
          <p:nvPr/>
        </p:nvSpPr>
        <p:spPr>
          <a:xfrm>
            <a:off x="4557141" y="5314950"/>
            <a:ext cx="117087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7" name="Oval 166"/>
          <p:cNvSpPr/>
          <p:nvPr/>
        </p:nvSpPr>
        <p:spPr>
          <a:xfrm>
            <a:off x="620953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6286500"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724876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7324725"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828799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836295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932722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Freeform 173"/>
          <p:cNvSpPr/>
          <p:nvPr/>
        </p:nvSpPr>
        <p:spPr>
          <a:xfrm>
            <a:off x="94011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9923039" y="53149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6" name="TextBox 175"/>
          <p:cNvSpPr txBox="1"/>
          <p:nvPr/>
        </p:nvSpPr>
        <p:spPr>
          <a:xfrm>
            <a:off x="10962270" y="5314950"/>
            <a:ext cx="103923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7" name="Connector 17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8" name="Oval 17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80" name="Oval 17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3" name="Oval 18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Freeform 18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6" name="Oval 18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8" name="TextBox 18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9" name="TextBox 18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90" name="TextBox 18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91" name="TextBox 190"/>
          <p:cNvSpPr txBox="1"/>
          <p:nvPr/>
        </p:nvSpPr>
        <p:spPr>
          <a:xfrm>
            <a:off x="8950484" y="1666875"/>
            <a:ext cx="398983" cy="186689"/>
          </a:xfrm>
          <a:prstGeom prst="rect">
            <a:avLst/>
          </a:prstGeom>
          <a:noFill/>
        </p:spPr>
        <p:txBody>
          <a:bodyPr wrap="none" lIns="0" rIns="0" tIns="0" bIns="0">
            <a:spAutoFit/>
          </a:bodyPr>
          <a:lstStyle/>
          <a:p>
            <a:r>
              <a:rPr sz="1100" b="0">
                <a:solidFill>
                  <a:srgbClr val="5F6B7A"/>
                </a:solidFill>
                <a:latin typeface="Calibri"/>
              </a:rPr>
              <a:t>Share</a:t>
            </a:r>
          </a:p>
        </p:txBody>
      </p:sp>
      <p:pic>
        <p:nvPicPr>
          <p:cNvPr id="192" name="Picture 191" descr="lock.png"/>
          <p:cNvPicPr>
            <a:picLocks noChangeAspect="1"/>
          </p:cNvPicPr>
          <p:nvPr/>
        </p:nvPicPr>
        <p:blipFill>
          <a:blip r:embed="rId4"/>
          <a:stretch>
            <a:fillRect/>
          </a:stretch>
        </p:blipFill>
        <p:spPr>
          <a:xfrm>
            <a:off x="9297518" y="1657096"/>
            <a:ext cx="128699" cy="187198"/>
          </a:xfrm>
          <a:prstGeom prst="rect">
            <a:avLst/>
          </a:prstGeom>
        </p:spPr>
      </p:pic>
      <p:sp>
        <p:nvSpPr>
          <p:cNvPr id="193" name="TextBox 192"/>
          <p:cNvSpPr txBox="1"/>
          <p:nvPr/>
        </p:nvSpPr>
        <p:spPr>
          <a:xfrm>
            <a:off x="9465014" y="1666875"/>
            <a:ext cx="384522" cy="186689"/>
          </a:xfrm>
          <a:prstGeom prst="rect">
            <a:avLst/>
          </a:prstGeom>
          <a:noFill/>
        </p:spPr>
        <p:txBody>
          <a:bodyPr wrap="none" lIns="0" rIns="0" tIns="0" bIns="0">
            <a:spAutoFit/>
          </a:bodyPr>
          <a:lstStyle/>
          <a:p>
            <a:r>
              <a:rPr sz="1100" b="0">
                <a:solidFill>
                  <a:srgbClr val="5F6B7A"/>
                </a:solidFill>
                <a:latin typeface="Calibri"/>
              </a:rPr>
              <a:t>+ = 3,</a:t>
            </a:r>
          </a:p>
        </p:txBody>
      </p:sp>
      <p:pic>
        <p:nvPicPr>
          <p:cNvPr id="194" name="Picture 193" descr="lock.png"/>
          <p:cNvPicPr>
            <a:picLocks noChangeAspect="1"/>
          </p:cNvPicPr>
          <p:nvPr/>
        </p:nvPicPr>
        <p:blipFill>
          <a:blip r:embed="rId4"/>
          <a:stretch>
            <a:fillRect/>
          </a:stretch>
        </p:blipFill>
        <p:spPr>
          <a:xfrm>
            <a:off x="8937016" y="1824736"/>
            <a:ext cx="128699" cy="187198"/>
          </a:xfrm>
          <a:prstGeom prst="rect">
            <a:avLst/>
          </a:prstGeom>
        </p:spPr>
      </p:pic>
      <p:sp>
        <p:nvSpPr>
          <p:cNvPr id="195" name="TextBox 194"/>
          <p:cNvSpPr txBox="1"/>
          <p:nvPr/>
        </p:nvSpPr>
        <p:spPr>
          <a:xfrm>
            <a:off x="9104512" y="1834515"/>
            <a:ext cx="643458" cy="186689"/>
          </a:xfrm>
          <a:prstGeom prst="rect">
            <a:avLst/>
          </a:prstGeom>
          <a:noFill/>
        </p:spPr>
        <p:txBody>
          <a:bodyPr wrap="none" lIns="0" rIns="0" tIns="0" bIns="0">
            <a:spAutoFit/>
          </a:bodyPr>
          <a:lstStyle/>
          <a:p>
            <a:r>
              <a:rPr sz="1100" b="0">
                <a:solidFill>
                  <a:srgbClr val="5F6B7A"/>
                </a:solidFill>
                <a:latin typeface="Calibri"/>
              </a:rPr>
              <a:t>= 2, else 1</a:t>
            </a:r>
          </a:p>
        </p:txBody>
      </p:sp>
      <p:pic>
        <p:nvPicPr>
          <p:cNvPr id="196" name="Picture 195" descr="lock.png"/>
          <p:cNvPicPr>
            <a:picLocks noChangeAspect="1"/>
          </p:cNvPicPr>
          <p:nvPr/>
        </p:nvPicPr>
        <p:blipFill>
          <a:blip r:embed="rId4"/>
          <a:stretch>
            <a:fillRect/>
          </a:stretch>
        </p:blipFill>
        <p:spPr>
          <a:xfrm>
            <a:off x="3285557"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0378304" y="23067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1417535" y="2306701"/>
            <a:ext cx="128699" cy="187198"/>
          </a:xfrm>
          <a:prstGeom prst="rect">
            <a:avLst/>
          </a:prstGeom>
        </p:spPr>
      </p:pic>
      <p:pic>
        <p:nvPicPr>
          <p:cNvPr id="199" name="Picture 198" descr="lock.png"/>
          <p:cNvPicPr>
            <a:picLocks noChangeAspect="1"/>
          </p:cNvPicPr>
          <p:nvPr/>
        </p:nvPicPr>
        <p:blipFill>
          <a:blip r:embed="rId4"/>
          <a:stretch>
            <a:fillRect/>
          </a:stretch>
        </p:blipFill>
        <p:spPr>
          <a:xfrm>
            <a:off x="3285557"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0378304" y="26496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1417535" y="2649601"/>
            <a:ext cx="128699" cy="187198"/>
          </a:xfrm>
          <a:prstGeom prst="rect">
            <a:avLst/>
          </a:prstGeom>
        </p:spPr>
      </p:pic>
      <p:pic>
        <p:nvPicPr>
          <p:cNvPr id="202" name="Picture 201" descr="lock.png"/>
          <p:cNvPicPr>
            <a:picLocks noChangeAspect="1"/>
          </p:cNvPicPr>
          <p:nvPr/>
        </p:nvPicPr>
        <p:blipFill>
          <a:blip r:embed="rId4"/>
          <a:stretch>
            <a:fillRect/>
          </a:stretch>
        </p:blipFill>
        <p:spPr>
          <a:xfrm>
            <a:off x="3285557"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0378304" y="29925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1417535" y="2992501"/>
            <a:ext cx="128699" cy="187198"/>
          </a:xfrm>
          <a:prstGeom prst="rect">
            <a:avLst/>
          </a:prstGeom>
        </p:spPr>
      </p:pic>
      <p:pic>
        <p:nvPicPr>
          <p:cNvPr id="205" name="Picture 204" descr="lock.png"/>
          <p:cNvPicPr>
            <a:picLocks noChangeAspect="1"/>
          </p:cNvPicPr>
          <p:nvPr/>
        </p:nvPicPr>
        <p:blipFill>
          <a:blip r:embed="rId4"/>
          <a:stretch>
            <a:fillRect/>
          </a:stretch>
        </p:blipFill>
        <p:spPr>
          <a:xfrm>
            <a:off x="3285557"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0378304" y="33354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1417535" y="3335401"/>
            <a:ext cx="128699" cy="187198"/>
          </a:xfrm>
          <a:prstGeom prst="rect">
            <a:avLst/>
          </a:prstGeom>
        </p:spPr>
      </p:pic>
      <p:pic>
        <p:nvPicPr>
          <p:cNvPr id="208" name="Picture 207" descr="lock.png"/>
          <p:cNvPicPr>
            <a:picLocks noChangeAspect="1"/>
          </p:cNvPicPr>
          <p:nvPr/>
        </p:nvPicPr>
        <p:blipFill>
          <a:blip r:embed="rId4"/>
          <a:stretch>
            <a:fillRect/>
          </a:stretch>
        </p:blipFill>
        <p:spPr>
          <a:xfrm>
            <a:off x="3285557"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0378304" y="36783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1417535" y="3678301"/>
            <a:ext cx="128699" cy="187198"/>
          </a:xfrm>
          <a:prstGeom prst="rect">
            <a:avLst/>
          </a:prstGeom>
        </p:spPr>
      </p:pic>
      <p:pic>
        <p:nvPicPr>
          <p:cNvPr id="211" name="Picture 210" descr="lock.png"/>
          <p:cNvPicPr>
            <a:picLocks noChangeAspect="1"/>
          </p:cNvPicPr>
          <p:nvPr/>
        </p:nvPicPr>
        <p:blipFill>
          <a:blip r:embed="rId4"/>
          <a:stretch>
            <a:fillRect/>
          </a:stretch>
        </p:blipFill>
        <p:spPr>
          <a:xfrm>
            <a:off x="3285557"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0378304" y="40212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1417535" y="4021201"/>
            <a:ext cx="128699" cy="187198"/>
          </a:xfrm>
          <a:prstGeom prst="rect">
            <a:avLst/>
          </a:prstGeom>
        </p:spPr>
      </p:pic>
      <p:pic>
        <p:nvPicPr>
          <p:cNvPr id="214" name="Picture 213" descr="lock.png"/>
          <p:cNvPicPr>
            <a:picLocks noChangeAspect="1"/>
          </p:cNvPicPr>
          <p:nvPr/>
        </p:nvPicPr>
        <p:blipFill>
          <a:blip r:embed="rId4"/>
          <a:stretch>
            <a:fillRect/>
          </a:stretch>
        </p:blipFill>
        <p:spPr>
          <a:xfrm>
            <a:off x="3285557"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0378304" y="43641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1417535" y="4364101"/>
            <a:ext cx="128699" cy="187198"/>
          </a:xfrm>
          <a:prstGeom prst="rect">
            <a:avLst/>
          </a:prstGeom>
        </p:spPr>
      </p:pic>
      <p:pic>
        <p:nvPicPr>
          <p:cNvPr id="217" name="Picture 216" descr="lock.png"/>
          <p:cNvPicPr>
            <a:picLocks noChangeAspect="1"/>
          </p:cNvPicPr>
          <p:nvPr/>
        </p:nvPicPr>
        <p:blipFill>
          <a:blip r:embed="rId4"/>
          <a:stretch>
            <a:fillRect/>
          </a:stretch>
        </p:blipFill>
        <p:spPr>
          <a:xfrm>
            <a:off x="3285557"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0378304" y="47070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1417535" y="4707001"/>
            <a:ext cx="128699" cy="187198"/>
          </a:xfrm>
          <a:prstGeom prst="rect">
            <a:avLst/>
          </a:prstGeom>
        </p:spPr>
      </p:pic>
      <p:pic>
        <p:nvPicPr>
          <p:cNvPr id="220" name="Picture 219" descr="lock.png"/>
          <p:cNvPicPr>
            <a:picLocks noChangeAspect="1"/>
          </p:cNvPicPr>
          <p:nvPr/>
        </p:nvPicPr>
        <p:blipFill>
          <a:blip r:embed="rId4"/>
          <a:stretch>
            <a:fillRect/>
          </a:stretch>
        </p:blipFill>
        <p:spPr>
          <a:xfrm>
            <a:off x="3285557"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0378304" y="50499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1417535" y="5049901"/>
            <a:ext cx="128699" cy="187198"/>
          </a:xfrm>
          <a:prstGeom prst="rect">
            <a:avLst/>
          </a:prstGeom>
        </p:spPr>
      </p:pic>
      <p:pic>
        <p:nvPicPr>
          <p:cNvPr id="223" name="Picture 222" descr="lock.png"/>
          <p:cNvPicPr>
            <a:picLocks noChangeAspect="1"/>
          </p:cNvPicPr>
          <p:nvPr/>
        </p:nvPicPr>
        <p:blipFill>
          <a:blip r:embed="rId4"/>
          <a:stretch>
            <a:fillRect/>
          </a:stretch>
        </p:blipFill>
        <p:spPr>
          <a:xfrm>
            <a:off x="3285557" y="5392801"/>
            <a:ext cx="128699" cy="187198"/>
          </a:xfrm>
          <a:prstGeom prst="rect">
            <a:avLst/>
          </a:prstGeom>
        </p:spPr>
      </p:pic>
      <p:pic>
        <p:nvPicPr>
          <p:cNvPr id="224" name="Picture 223" descr="lock.png"/>
          <p:cNvPicPr>
            <a:picLocks noChangeAspect="1"/>
          </p:cNvPicPr>
          <p:nvPr/>
        </p:nvPicPr>
        <p:blipFill>
          <a:blip r:embed="rId4"/>
          <a:stretch>
            <a:fillRect/>
          </a:stretch>
        </p:blipFill>
        <p:spPr>
          <a:xfrm>
            <a:off x="10378304" y="5392801"/>
            <a:ext cx="128699" cy="187198"/>
          </a:xfrm>
          <a:prstGeom prst="rect">
            <a:avLst/>
          </a:prstGeom>
        </p:spPr>
      </p:pic>
      <p:pic>
        <p:nvPicPr>
          <p:cNvPr id="225" name="Picture 224" descr="lock.png"/>
          <p:cNvPicPr>
            <a:picLocks noChangeAspect="1"/>
          </p:cNvPicPr>
          <p:nvPr/>
        </p:nvPicPr>
        <p:blipFill>
          <a:blip r:embed="rId4"/>
          <a:stretch>
            <a:fillRect/>
          </a:stretch>
        </p:blipFill>
        <p:spPr>
          <a:xfrm>
            <a:off x="11417535" y="5392801"/>
            <a:ext cx="128699" cy="187198"/>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218873" y="1295400"/>
            <a:ext cx="136802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218873" y="1657350"/>
            <a:ext cx="136802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663097" y="1295400"/>
            <a:ext cx="136802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663097" y="1657350"/>
            <a:ext cx="136802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107322"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107322"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6840391"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6840391"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573461"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573461"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306530"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306530"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Bosch</a:t>
            </a:r>
          </a:p>
        </p:txBody>
      </p:sp>
      <p:sp>
        <p:nvSpPr>
          <p:cNvPr id="27" name="TextBox 26"/>
          <p:cNvSpPr txBox="1"/>
          <p:nvPr/>
        </p:nvSpPr>
        <p:spPr>
          <a:xfrm>
            <a:off x="285750" y="24098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2826685"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70910"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343400" y="2324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7322" y="22288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6840391" y="22288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 Aftermaket</a:t>
            </a:r>
          </a:p>
        </p:txBody>
      </p:sp>
      <p:sp>
        <p:nvSpPr>
          <p:cNvPr id="33" name="TextBox 32"/>
          <p:cNvSpPr txBox="1"/>
          <p:nvPr/>
        </p:nvSpPr>
        <p:spPr>
          <a:xfrm>
            <a:off x="8535361" y="22288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268430" y="22288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ZF</a:t>
            </a:r>
          </a:p>
        </p:txBody>
      </p:sp>
      <p:sp>
        <p:nvSpPr>
          <p:cNvPr id="38" name="TextBox 37"/>
          <p:cNvSpPr txBox="1"/>
          <p:nvPr/>
        </p:nvSpPr>
        <p:spPr>
          <a:xfrm>
            <a:off x="285750" y="27527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2826685"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905125"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27091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07322" y="25717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6840391" y="25717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a:t>
            </a:r>
          </a:p>
        </p:txBody>
      </p:sp>
      <p:sp>
        <p:nvSpPr>
          <p:cNvPr id="44" name="TextBox 43"/>
          <p:cNvSpPr txBox="1"/>
          <p:nvPr/>
        </p:nvSpPr>
        <p:spPr>
          <a:xfrm>
            <a:off x="8535361" y="25717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268430" y="25717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Knorr-Bremse</a:t>
            </a:r>
          </a:p>
        </p:txBody>
      </p:sp>
      <p:sp>
        <p:nvSpPr>
          <p:cNvPr id="49" name="TextBox 48"/>
          <p:cNvSpPr txBox="1"/>
          <p:nvPr/>
        </p:nvSpPr>
        <p:spPr>
          <a:xfrm>
            <a:off x="285750" y="30956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2826685"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90512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270910"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343400" y="3009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07322" y="29146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6840391" y="29146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Aftermaket</a:t>
            </a:r>
          </a:p>
        </p:txBody>
      </p:sp>
      <p:sp>
        <p:nvSpPr>
          <p:cNvPr id="56" name="TextBox 55"/>
          <p:cNvSpPr txBox="1"/>
          <p:nvPr/>
        </p:nvSpPr>
        <p:spPr>
          <a:xfrm>
            <a:off x="8535361" y="29146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268430" y="29146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thyssenkrupp</a:t>
            </a:r>
          </a:p>
        </p:txBody>
      </p:sp>
      <p:sp>
        <p:nvSpPr>
          <p:cNvPr id="61" name="TextBox 60"/>
          <p:cNvSpPr txBox="1"/>
          <p:nvPr/>
        </p:nvSpPr>
        <p:spPr>
          <a:xfrm>
            <a:off x="285750" y="34385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2826685"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051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27091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107322" y="32575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6840391" y="32575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 Aftermaket</a:t>
            </a:r>
          </a:p>
        </p:txBody>
      </p:sp>
      <p:sp>
        <p:nvSpPr>
          <p:cNvPr id="67" name="TextBox 66"/>
          <p:cNvSpPr txBox="1"/>
          <p:nvPr/>
        </p:nvSpPr>
        <p:spPr>
          <a:xfrm>
            <a:off x="8535361" y="32575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268430" y="32575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JTEKT</a:t>
            </a:r>
          </a:p>
        </p:txBody>
      </p:sp>
      <p:sp>
        <p:nvSpPr>
          <p:cNvPr id="72" name="TextBox 71"/>
          <p:cNvSpPr txBox="1"/>
          <p:nvPr/>
        </p:nvSpPr>
        <p:spPr>
          <a:xfrm>
            <a:off x="285750" y="37814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2826685"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27091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34340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07322" y="36004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6840391" y="36004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a:t>
            </a:r>
          </a:p>
        </p:txBody>
      </p:sp>
      <p:sp>
        <p:nvSpPr>
          <p:cNvPr id="78" name="TextBox 77"/>
          <p:cNvSpPr txBox="1"/>
          <p:nvPr/>
        </p:nvSpPr>
        <p:spPr>
          <a:xfrm>
            <a:off x="8535361" y="36004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268430" y="36004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Nexteer Automotive</a:t>
            </a:r>
          </a:p>
        </p:txBody>
      </p:sp>
      <p:sp>
        <p:nvSpPr>
          <p:cNvPr id="83" name="TextBox 82"/>
          <p:cNvSpPr txBox="1"/>
          <p:nvPr/>
        </p:nvSpPr>
        <p:spPr>
          <a:xfrm>
            <a:off x="285750" y="41243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2826685"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9051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270910"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107322" y="39433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6840391" y="39433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Aftermaket</a:t>
            </a:r>
          </a:p>
        </p:txBody>
      </p:sp>
      <p:sp>
        <p:nvSpPr>
          <p:cNvPr id="89" name="TextBox 88"/>
          <p:cNvSpPr txBox="1"/>
          <p:nvPr/>
        </p:nvSpPr>
        <p:spPr>
          <a:xfrm>
            <a:off x="8535361" y="39433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268430" y="39433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NSK</a:t>
            </a:r>
          </a:p>
        </p:txBody>
      </p:sp>
      <p:sp>
        <p:nvSpPr>
          <p:cNvPr id="94" name="TextBox 93"/>
          <p:cNvSpPr txBox="1"/>
          <p:nvPr/>
        </p:nvSpPr>
        <p:spPr>
          <a:xfrm>
            <a:off x="285750" y="44672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2826685"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29051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27091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343400"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107322" y="42862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6840391" y="42862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 Aftermaket</a:t>
            </a:r>
          </a:p>
        </p:txBody>
      </p:sp>
      <p:sp>
        <p:nvSpPr>
          <p:cNvPr id="101" name="TextBox 100"/>
          <p:cNvSpPr txBox="1"/>
          <p:nvPr/>
        </p:nvSpPr>
        <p:spPr>
          <a:xfrm>
            <a:off x="8535361" y="42862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268430" y="42862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Hyundai Mobis</a:t>
            </a:r>
          </a:p>
        </p:txBody>
      </p:sp>
      <p:sp>
        <p:nvSpPr>
          <p:cNvPr id="106" name="TextBox 105"/>
          <p:cNvSpPr txBox="1"/>
          <p:nvPr/>
        </p:nvSpPr>
        <p:spPr>
          <a:xfrm>
            <a:off x="285750" y="48101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2826685"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9051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70910"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107322" y="46291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6840391" y="46291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a:t>
            </a:r>
          </a:p>
        </p:txBody>
      </p:sp>
      <p:sp>
        <p:nvSpPr>
          <p:cNvPr id="112" name="TextBox 111"/>
          <p:cNvSpPr txBox="1"/>
          <p:nvPr/>
        </p:nvSpPr>
        <p:spPr>
          <a:xfrm>
            <a:off x="8535361" y="46291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268430" y="46291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HL Mando</a:t>
            </a:r>
          </a:p>
        </p:txBody>
      </p:sp>
      <p:sp>
        <p:nvSpPr>
          <p:cNvPr id="117" name="TextBox 116"/>
          <p:cNvSpPr txBox="1"/>
          <p:nvPr/>
        </p:nvSpPr>
        <p:spPr>
          <a:xfrm>
            <a:off x="285750" y="51530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2826685"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27091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343400" y="5067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107322" y="49720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6840391" y="49720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Aftermaket</a:t>
            </a:r>
          </a:p>
        </p:txBody>
      </p:sp>
      <p:sp>
        <p:nvSpPr>
          <p:cNvPr id="123" name="TextBox 122"/>
          <p:cNvSpPr txBox="1"/>
          <p:nvPr/>
        </p:nvSpPr>
        <p:spPr>
          <a:xfrm>
            <a:off x="8535361" y="49720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268430" y="49720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China Automotive Systems</a:t>
            </a:r>
          </a:p>
        </p:txBody>
      </p:sp>
      <p:sp>
        <p:nvSpPr>
          <p:cNvPr id="128" name="TextBox 127"/>
          <p:cNvSpPr txBox="1"/>
          <p:nvPr/>
        </p:nvSpPr>
        <p:spPr>
          <a:xfrm>
            <a:off x="285750" y="54959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2826685"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29051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270910"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107322" y="53149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6840391" y="53149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OEM, Aftermaket</a:t>
            </a:r>
          </a:p>
        </p:txBody>
      </p:sp>
      <p:sp>
        <p:nvSpPr>
          <p:cNvPr id="134" name="TextBox 133"/>
          <p:cNvSpPr txBox="1"/>
          <p:nvPr/>
        </p:nvSpPr>
        <p:spPr>
          <a:xfrm>
            <a:off x="8535361" y="53149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268430" y="53149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337546"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70615"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337546"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70615"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337546"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70615"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337546"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70615"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337546"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70615"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337546"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70615"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337546"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70615"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337546"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70615"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337546"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70615"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337546"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070615" y="5392801"/>
            <a:ext cx="128699" cy="187198"/>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218873"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218873"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3951942"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3951942"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685012" y="1295400"/>
            <a:ext cx="136802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685012" y="1657350"/>
            <a:ext cx="136802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129236"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129236"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862306" y="1295400"/>
            <a:ext cx="165687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862306" y="1657350"/>
            <a:ext cx="165687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595375" y="1295400"/>
            <a:ext cx="136802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595375" y="1657350"/>
            <a:ext cx="136802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Bosch</a:t>
            </a:r>
          </a:p>
        </p:txBody>
      </p:sp>
      <p:sp>
        <p:nvSpPr>
          <p:cNvPr id="27" name="TextBox 26"/>
          <p:cNvSpPr txBox="1"/>
          <p:nvPr/>
        </p:nvSpPr>
        <p:spPr>
          <a:xfrm>
            <a:off x="285750" y="24098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218873" y="22288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3913842" y="22288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29282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91136" y="22288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824206" y="22288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0318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ZF</a:t>
            </a:r>
          </a:p>
        </p:txBody>
      </p:sp>
      <p:sp>
        <p:nvSpPr>
          <p:cNvPr id="37" name="TextBox 36"/>
          <p:cNvSpPr txBox="1"/>
          <p:nvPr/>
        </p:nvSpPr>
        <p:spPr>
          <a:xfrm>
            <a:off x="285750" y="27527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218873" y="25717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3913842" y="25717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29282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29236" y="25717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824206" y="25717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0318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Knorr-Bremse</a:t>
            </a:r>
          </a:p>
        </p:txBody>
      </p:sp>
      <p:sp>
        <p:nvSpPr>
          <p:cNvPr id="47" name="TextBox 46"/>
          <p:cNvSpPr txBox="1"/>
          <p:nvPr/>
        </p:nvSpPr>
        <p:spPr>
          <a:xfrm>
            <a:off x="285750" y="30956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218873" y="29146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3913842" y="29146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29282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91136" y="29146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824206" y="29146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0318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thyssenkrupp</a:t>
            </a:r>
          </a:p>
        </p:txBody>
      </p:sp>
      <p:sp>
        <p:nvSpPr>
          <p:cNvPr id="57" name="TextBox 56"/>
          <p:cNvSpPr txBox="1"/>
          <p:nvPr/>
        </p:nvSpPr>
        <p:spPr>
          <a:xfrm>
            <a:off x="285750" y="34385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218873" y="32575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3913842" y="32575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29282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29236" y="32575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824206" y="32575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0318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JTEKT</a:t>
            </a:r>
          </a:p>
        </p:txBody>
      </p:sp>
      <p:sp>
        <p:nvSpPr>
          <p:cNvPr id="67" name="TextBox 66"/>
          <p:cNvSpPr txBox="1"/>
          <p:nvPr/>
        </p:nvSpPr>
        <p:spPr>
          <a:xfrm>
            <a:off x="285750" y="37814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218873" y="36004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3913842" y="36004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292824"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91136" y="36004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824206" y="36004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0318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27760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Nexteer Automotive</a:t>
            </a:r>
          </a:p>
        </p:txBody>
      </p:sp>
      <p:sp>
        <p:nvSpPr>
          <p:cNvPr id="78" name="TextBox 77"/>
          <p:cNvSpPr txBox="1"/>
          <p:nvPr/>
        </p:nvSpPr>
        <p:spPr>
          <a:xfrm>
            <a:off x="285750" y="41243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218873" y="39433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3913842" y="39433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292824"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29236" y="39433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824206" y="39433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0318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27760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NSK</a:t>
            </a:r>
          </a:p>
        </p:txBody>
      </p:sp>
      <p:sp>
        <p:nvSpPr>
          <p:cNvPr id="89" name="TextBox 88"/>
          <p:cNvSpPr txBox="1"/>
          <p:nvPr/>
        </p:nvSpPr>
        <p:spPr>
          <a:xfrm>
            <a:off x="285750" y="44672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218873" y="42862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3913842" y="42862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292824"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91136" y="42862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824206" y="42862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0318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27760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Hyundai Mobis</a:t>
            </a:r>
          </a:p>
        </p:txBody>
      </p:sp>
      <p:sp>
        <p:nvSpPr>
          <p:cNvPr id="100" name="TextBox 99"/>
          <p:cNvSpPr txBox="1"/>
          <p:nvPr/>
        </p:nvSpPr>
        <p:spPr>
          <a:xfrm>
            <a:off x="285750" y="48101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218873" y="46291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3913842" y="46291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292824"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129236" y="46291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824206" y="46291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0318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27760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HL Mando</a:t>
            </a:r>
          </a:p>
        </p:txBody>
      </p:sp>
      <p:sp>
        <p:nvSpPr>
          <p:cNvPr id="111" name="TextBox 110"/>
          <p:cNvSpPr txBox="1"/>
          <p:nvPr/>
        </p:nvSpPr>
        <p:spPr>
          <a:xfrm>
            <a:off x="285750" y="51530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218873" y="49720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3913842" y="49720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292824"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91136" y="49720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8824206" y="49720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20318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277600" y="5067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1875973" cy="171450"/>
          </a:xfrm>
          <a:prstGeom prst="rect">
            <a:avLst/>
          </a:prstGeom>
          <a:noFill/>
        </p:spPr>
        <p:txBody>
          <a:bodyPr wrap="square" lIns="28575" rIns="28575" tIns="9525" bIns="9525" anchor="t">
            <a:spAutoFit/>
          </a:bodyPr>
          <a:lstStyle/>
          <a:p>
            <a:pPr algn="l"/>
            <a:r>
              <a:rPr sz="1100" b="1">
                <a:solidFill>
                  <a:srgbClr val="1F2933"/>
                </a:solidFill>
                <a:latin typeface="Calibri"/>
              </a:rPr>
              <a:t>China Automotive Systems</a:t>
            </a:r>
          </a:p>
        </p:txBody>
      </p:sp>
      <p:sp>
        <p:nvSpPr>
          <p:cNvPr id="122" name="TextBox 121"/>
          <p:cNvSpPr txBox="1"/>
          <p:nvPr/>
        </p:nvSpPr>
        <p:spPr>
          <a:xfrm>
            <a:off x="285750" y="5495925"/>
            <a:ext cx="187597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218873" y="53149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3913842" y="53149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292824"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129236" y="5314950"/>
            <a:ext cx="165687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8824206" y="5314950"/>
            <a:ext cx="173307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20318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277600"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4716027"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7893321"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626391"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716027"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626391"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716027"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7893321"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626391"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716027"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626391"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716027"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7893321"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626391"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716027"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626391"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4716027"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7893321"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626391"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716027"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626391"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4716027"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7893321"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626391"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4716027"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626391" y="5392801"/>
            <a:ext cx="128699" cy="187198"/>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Bosch</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89622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20350" y="18954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4430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8" name="Connector 37"/>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ZF</a:t>
            </a:r>
          </a:p>
        </p:txBody>
      </p:sp>
      <p:sp>
        <p:nvSpPr>
          <p:cNvPr id="41" name="Oval 40"/>
          <p:cNvSpPr/>
          <p:nvPr/>
        </p:nvSpPr>
        <p:spPr>
          <a:xfrm>
            <a:off x="284797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92417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200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420350" y="22002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48715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9" name="Connector 48"/>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thyssenkrupp</a:t>
            </a:r>
          </a:p>
        </p:txBody>
      </p:sp>
      <p:sp>
        <p:nvSpPr>
          <p:cNvPr id="52" name="Oval 51"/>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292417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8200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420350" y="25050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48715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0" name="Connector 59"/>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Knorr-Bremse</a:t>
            </a:r>
          </a:p>
        </p:txBody>
      </p:sp>
      <p:sp>
        <p:nvSpPr>
          <p:cNvPr id="63" name="Oval 62"/>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82002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789622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20350" y="28098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3000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2" name="Connector 71"/>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JTEKT</a:t>
            </a:r>
          </a:p>
        </p:txBody>
      </p:sp>
      <p:sp>
        <p:nvSpPr>
          <p:cNvPr id="75" name="Oval 74"/>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8200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78962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420350" y="31146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27760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6" name="Connector 85"/>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Nexteer Automotive</a:t>
            </a:r>
          </a:p>
        </p:txBody>
      </p:sp>
      <p:sp>
        <p:nvSpPr>
          <p:cNvPr id="89" name="Oval 88"/>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2924175" y="34099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2002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420350" y="3419475"/>
            <a:ext cx="762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22045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9" name="Connector 98"/>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China Automotive Systems</a:t>
            </a:r>
          </a:p>
        </p:txBody>
      </p:sp>
      <p:sp>
        <p:nvSpPr>
          <p:cNvPr id="102" name="Oval 101"/>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2" name="Connector 11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NSK</a:t>
            </a:r>
          </a:p>
        </p:txBody>
      </p:sp>
      <p:sp>
        <p:nvSpPr>
          <p:cNvPr id="115" name="Oval 114"/>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8200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789622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420350" y="40290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112520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6" name="Connector 125"/>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HL Mando</a:t>
            </a:r>
          </a:p>
        </p:txBody>
      </p:sp>
      <p:sp>
        <p:nvSpPr>
          <p:cNvPr id="129" name="Oval 128"/>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40" name="Connector 139"/>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Hyundai Mobis</a:t>
            </a:r>
          </a:p>
        </p:txBody>
      </p:sp>
      <p:sp>
        <p:nvSpPr>
          <p:cNvPr id="143" name="Oval 142"/>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29241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Freeform 145"/>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782002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20350" y="4638675"/>
            <a:ext cx="6096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06805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3" name="Connector 152"/>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4" name="Oval 153"/>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6" name="Oval 155"/>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9" name="Oval 158"/>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2" name="Oval 161"/>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4" name="TextBox 163"/>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5" name="Rectangle 164"/>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7" name="TextBox 166"/>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Bosch, ZF, thyssenkrupp, Knorr-Bremse</a:t>
            </a:r>
          </a:p>
        </p:txBody>
      </p:sp>
      <p:sp>
        <p:nvSpPr>
          <p:cNvPr id="168" name="TextBox 167"/>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segment breadth.</a:t>
            </a:r>
          </a:p>
        </p:txBody>
      </p:sp>
      <p:sp>
        <p:nvSpPr>
          <p:cNvPr id="169" name="Rectangle 168"/>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71" name="TextBox 170"/>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JTEKT, Nexteer Automotive</a:t>
            </a:r>
          </a:p>
        </p:txBody>
      </p:sp>
      <p:sp>
        <p:nvSpPr>
          <p:cNvPr id="172" name="TextBox 171"/>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3" name="Rectangle 172"/>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5" name="TextBox 174"/>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China Automotive Systems, NSK, HL Mando, Hyundai Mobis</a:t>
            </a:r>
          </a:p>
        </p:txBody>
      </p:sp>
      <p:sp>
        <p:nvSpPr>
          <p:cNvPr id="176" name="TextBox 175"/>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7" name="TextBox 1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8" name="Picture 177" descr="lock.png"/>
          <p:cNvPicPr>
            <a:picLocks noChangeAspect="1"/>
          </p:cNvPicPr>
          <p:nvPr/>
        </p:nvPicPr>
        <p:blipFill>
          <a:blip r:embed="rId4"/>
          <a:stretch>
            <a:fillRect/>
          </a:stretch>
        </p:blipFill>
        <p:spPr>
          <a:xfrm>
            <a:off x="11689500" y="18685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1733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632350" y="24781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575200" y="27829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22800" y="30877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65650" y="33925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327550" y="36973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002151"/>
            <a:ext cx="128699" cy="187198"/>
          </a:xfrm>
          <a:prstGeom prst="rect">
            <a:avLst/>
          </a:prstGeom>
        </p:spPr>
      </p:pic>
      <p:pic>
        <p:nvPicPr>
          <p:cNvPr id="186" name="Picture 185" descr="lock.png"/>
          <p:cNvPicPr>
            <a:picLocks noChangeAspect="1"/>
          </p:cNvPicPr>
          <p:nvPr/>
        </p:nvPicPr>
        <p:blipFill>
          <a:blip r:embed="rId4"/>
          <a:stretch>
            <a:fillRect/>
          </a:stretch>
        </p:blipFill>
        <p:spPr>
          <a:xfrm>
            <a:off x="11270400" y="4306951"/>
            <a:ext cx="128699" cy="187198"/>
          </a:xfrm>
          <a:prstGeom prst="rect">
            <a:avLst/>
          </a:prstGeom>
        </p:spPr>
      </p:pic>
      <p:pic>
        <p:nvPicPr>
          <p:cNvPr id="187" name="Picture 186" descr="lock.png"/>
          <p:cNvPicPr>
            <a:picLocks noChangeAspect="1"/>
          </p:cNvPicPr>
          <p:nvPr/>
        </p:nvPicPr>
        <p:blipFill>
          <a:blip r:embed="rId4"/>
          <a:stretch>
            <a:fillRect/>
          </a:stretch>
        </p:blipFill>
        <p:spPr>
          <a:xfrm>
            <a:off x="11213250" y="4611751"/>
            <a:ext cx="128699" cy="187198"/>
          </a:xfrm>
          <a:prstGeom prst="rect">
            <a:avLst/>
          </a:prstGeom>
        </p:spPr>
      </p:pic>
      <p:sp>
        <p:nvSpPr>
          <p:cNvPr id="188" name="TextBox 187"/>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2482959" y="1212159"/>
            <a:ext cx="92663" cy="134782"/>
          </a:xfrm>
          <a:prstGeom prst="rect">
            <a:avLst/>
          </a:prstGeom>
        </p:spPr>
      </p:pic>
      <p:sp>
        <p:nvSpPr>
          <p:cNvPr id="190" name="TextBox 189"/>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4140309" y="1212159"/>
            <a:ext cx="92663" cy="134782"/>
          </a:xfrm>
          <a:prstGeom prst="rect">
            <a:avLst/>
          </a:prstGeom>
        </p:spPr>
      </p:pic>
      <p:sp>
        <p:nvSpPr>
          <p:cNvPr id="192" name="TextBox 191"/>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5797659" y="1212159"/>
            <a:ext cx="92663" cy="134782"/>
          </a:xfrm>
          <a:prstGeom prst="rect">
            <a:avLst/>
          </a:prstGeom>
        </p:spPr>
      </p:pic>
      <p:sp>
        <p:nvSpPr>
          <p:cNvPr id="194" name="TextBox 193"/>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7455009" y="1212159"/>
            <a:ext cx="92663" cy="134782"/>
          </a:xfrm>
          <a:prstGeom prst="rect">
            <a:avLst/>
          </a:prstGeom>
        </p:spPr>
      </p:pic>
      <p:sp>
        <p:nvSpPr>
          <p:cNvPr id="196" name="TextBox 195"/>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7" name="Picture 196"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Bosch</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ZF</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Rack Assist</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Knorr-Bremse</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East Asia</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thyssenkrupp</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Column Assist</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JTEKT</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Middle East &amp; Africa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Nexteer Automotive</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Rack Assist</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NSK</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Western Europe</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Hyundai Mobis</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Column Assist</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HL Mando</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China Automotive Systems</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Rack Assist</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Bosch</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ZF</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Knorr-Bremse</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thyssenkrupp</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JTEKT</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Nexteer Automotive</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NSK</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Hyundai Mobis</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HL Mando</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China Automotive Systems</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2" name="TextBox 221"/>
          <p:cNvSpPr txBox="1"/>
          <p:nvPr/>
        </p:nvSpPr>
        <p:spPr>
          <a:xfrm>
            <a:off x="10900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3" name="TextBox 222"/>
          <p:cNvSpPr txBox="1"/>
          <p:nvPr/>
        </p:nvSpPr>
        <p:spPr>
          <a:xfrm>
            <a:off x="11451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Europe</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6" name="Rectangle 265"/>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8" name="Rectangle 267"/>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0" name="Rectangle 269"/>
          <p:cNvSpPr/>
          <p:nvPr/>
        </p:nvSpPr>
        <p:spPr>
          <a:xfrm>
            <a:off x="9259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6" name="Rectangle 275"/>
          <p:cNvSpPr/>
          <p:nvPr/>
        </p:nvSpPr>
        <p:spPr>
          <a:xfrm>
            <a:off x="8709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8" name="Rectangle 277"/>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0" name="Rectangle 279"/>
          <p:cNvSpPr/>
          <p:nvPr/>
        </p:nvSpPr>
        <p:spPr>
          <a:xfrm>
            <a:off x="9809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8709025"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699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6" name="Rectangle 285"/>
          <p:cNvSpPr/>
          <p:nvPr/>
        </p:nvSpPr>
        <p:spPr>
          <a:xfrm>
            <a:off x="9259358"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8" name="Rectangle 287"/>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0" name="Rectangle 289"/>
          <p:cNvSpPr/>
          <p:nvPr/>
        </p:nvSpPr>
        <p:spPr>
          <a:xfrm>
            <a:off x="10360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9259358"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9249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6" name="Rectangle 295"/>
          <p:cNvSpPr/>
          <p:nvPr/>
        </p:nvSpPr>
        <p:spPr>
          <a:xfrm>
            <a:off x="9809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8" name="Rectangle 297"/>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0" name="Rectangle 299"/>
          <p:cNvSpPr/>
          <p:nvPr/>
        </p:nvSpPr>
        <p:spPr>
          <a:xfrm>
            <a:off x="10910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809692"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9800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6" name="Rectangle 305"/>
          <p:cNvSpPr/>
          <p:nvPr/>
        </p:nvSpPr>
        <p:spPr>
          <a:xfrm>
            <a:off x="10360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8" name="Rectangle 307"/>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0" name="Rectangle 309"/>
          <p:cNvSpPr/>
          <p:nvPr/>
        </p:nvSpPr>
        <p:spPr>
          <a:xfrm>
            <a:off x="11460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3" name="Rectangle 312"/>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5" name="Rectangle 314"/>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17" name="TextBox 316"/>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18" name="Connector 317"/>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9" name="TextBox 318"/>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0" name="Rectangle 319"/>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2" name="TextBox 321"/>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3" name="Rectangle 322"/>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5" name="TextBox 324"/>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6" name="Rectangle 325"/>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28" name="TextBox 327"/>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29" name="Rectangle 328"/>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1" name="TextBox 330"/>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2" name="Rectangle 331"/>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4" name="TextBox 333"/>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5" name="Rectangle 334"/>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37" name="TextBox 336"/>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38" name="TextBox 3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Heavy Commercial Vehicle EPS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Bosch · ZF · Knorr-Bremse · thyssenkrupp</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JTEKT · Nexteer Automotive</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NSK · Hyundai Mobis · HL Mando · China Automotive Systems</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682883"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Heavy Commercial Vehicle EPS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Switching costs (4 / 5) and technology substitution (4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Bosch</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ZF</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Knorr-Bremse</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thyssenkrupp</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JTEKT</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Nexteer Automotive</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NSK</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Western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Hyundai Mobis</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HL Mando</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China Automotive Systems</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700088" cy="164283"/>
          </a:xfrm>
          <a:prstGeom prst="rect">
            <a:avLst/>
          </a:prstGeom>
          <a:noFill/>
        </p:spPr>
        <p:txBody>
          <a:bodyPr wrap="square" lIns="0" rIns="0" tIns="0" bIns="0" anchor="ctr">
            <a:spAutoFit/>
          </a:bodyPr>
          <a:lstStyle/>
          <a:p>
            <a:pPr algn="l"/>
            <a:r>
              <a:rPr sz="1100" b="0">
                <a:solidFill>
                  <a:srgbClr val="2E2E2E"/>
                </a:solidFill>
                <a:latin typeface="Calibri"/>
              </a:rPr>
              <a:t>Rack Assist</a:t>
            </a:r>
          </a:p>
        </p:txBody>
      </p:sp>
      <p:sp>
        <p:nvSpPr>
          <p:cNvPr id="335" name="Rectangle 334"/>
          <p:cNvSpPr/>
          <p:nvPr/>
        </p:nvSpPr>
        <p:spPr>
          <a:xfrm>
            <a:off x="2293144"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2445544" y="5716715"/>
            <a:ext cx="873919" cy="164283"/>
          </a:xfrm>
          <a:prstGeom prst="rect">
            <a:avLst/>
          </a:prstGeom>
          <a:noFill/>
        </p:spPr>
        <p:txBody>
          <a:bodyPr wrap="square" lIns="0" rIns="0" tIns="0" bIns="0" anchor="ctr">
            <a:spAutoFit/>
          </a:bodyPr>
          <a:lstStyle/>
          <a:p>
            <a:pPr algn="l"/>
            <a:r>
              <a:rPr sz="1100" b="0">
                <a:solidFill>
                  <a:srgbClr val="2E2E2E"/>
                </a:solidFill>
                <a:latin typeface="Calibri"/>
              </a:rPr>
              <a:t>Column Assist</a:t>
            </a:r>
          </a:p>
        </p:txBody>
      </p:sp>
      <p:sp>
        <p:nvSpPr>
          <p:cNvPr id="337" name="Rectangle 336"/>
          <p:cNvSpPr/>
          <p:nvPr/>
        </p:nvSpPr>
        <p:spPr>
          <a:xfrm>
            <a:off x="3376612"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3529012" y="5716715"/>
            <a:ext cx="1854994" cy="164283"/>
          </a:xfrm>
          <a:prstGeom prst="rect">
            <a:avLst/>
          </a:prstGeom>
          <a:noFill/>
        </p:spPr>
        <p:txBody>
          <a:bodyPr wrap="square" lIns="0" rIns="0" tIns="0" bIns="0" anchor="ctr">
            <a:spAutoFit/>
          </a:bodyPr>
          <a:lstStyle/>
          <a:p>
            <a:pPr algn="l"/>
            <a:r>
              <a:rPr sz="1100" b="0">
                <a:solidFill>
                  <a:srgbClr val="2E2E2E"/>
                </a:solidFill>
                <a:latin typeface="Calibri"/>
              </a:rPr>
              <a:t>Recirculating Ball and Nut Type</a:t>
            </a:r>
          </a:p>
        </p:txBody>
      </p:sp>
      <p:sp>
        <p:nvSpPr>
          <p:cNvPr id="339" name="Rectangle 338"/>
          <p:cNvSpPr/>
          <p:nvPr/>
        </p:nvSpPr>
        <p:spPr>
          <a:xfrm>
            <a:off x="5441156"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5593556"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Heavy Commercial Vehicle EPS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373365"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'Rack Assist') to lift blended ASP and</a:t>
            </a:r>
          </a:p>
        </p:txBody>
      </p:sp>
      <p:sp>
        <p:nvSpPr>
          <p:cNvPr id="33" name="TextBox 32"/>
          <p:cNvSpPr txBox="1"/>
          <p:nvPr/>
        </p:nvSpPr>
        <p:spPr>
          <a:xfrm>
            <a:off x="276225" y="2351539"/>
            <a:ext cx="2189646" cy="194310"/>
          </a:xfrm>
          <a:prstGeom prst="rect">
            <a:avLst/>
          </a:prstGeom>
          <a:noFill/>
        </p:spPr>
        <p:txBody>
          <a:bodyPr wrap="none" lIns="0" rIns="0" tIns="0" bIns="0">
            <a:spAutoFit/>
          </a:bodyPr>
          <a:lstStyle/>
          <a:p>
            <a:r>
              <a:rPr sz="1150" b="0">
                <a:solidFill>
                  <a:srgbClr val="2E2E2E"/>
                </a:solidFill>
                <a:latin typeface="Calibri"/>
              </a:rPr>
              <a:t>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2600126" cy="194310"/>
          </a:xfrm>
          <a:prstGeom prst="rect">
            <a:avLst/>
          </a:prstGeom>
          <a:noFill/>
        </p:spPr>
        <p:txBody>
          <a:bodyPr wrap="none" lIns="0" rIns="0" tIns="0" bIns="0">
            <a:spAutoFit/>
          </a:bodyPr>
          <a:lstStyle/>
          <a:p>
            <a:r>
              <a:rPr sz="1150" b="0">
                <a:solidFill>
                  <a:srgbClr val="2E2E2E"/>
                </a:solidFill>
                <a:latin typeface="Calibri"/>
              </a:rPr>
              <a:t>▪ Benchmark relentlessly against 'Bosch' (~</a:t>
            </a:r>
          </a:p>
        </p:txBody>
      </p:sp>
      <p:pic>
        <p:nvPicPr>
          <p:cNvPr id="43" name="Picture 42" descr="lock.png"/>
          <p:cNvPicPr>
            <a:picLocks noChangeAspect="1"/>
          </p:cNvPicPr>
          <p:nvPr/>
        </p:nvPicPr>
        <p:blipFill>
          <a:blip r:embed="rId4"/>
          <a:stretch>
            <a:fillRect/>
          </a:stretch>
        </p:blipFill>
        <p:spPr>
          <a:xfrm>
            <a:off x="8873880" y="4455378"/>
            <a:ext cx="134549" cy="195707"/>
          </a:xfrm>
          <a:prstGeom prst="rect">
            <a:avLst/>
          </a:prstGeom>
        </p:spPr>
      </p:pic>
      <p:sp>
        <p:nvSpPr>
          <p:cNvPr id="44" name="TextBox 43"/>
          <p:cNvSpPr txBox="1"/>
          <p:nvPr/>
        </p:nvSpPr>
        <p:spPr>
          <a:xfrm>
            <a:off x="9048989"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5" name="TextBox 44"/>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4" name="TextBox 23"/>
          <p:cNvSpPr txBox="1"/>
          <p:nvPr/>
        </p:nvSpPr>
        <p:spPr>
          <a:xfrm>
            <a:off x="7934325" y="1773181"/>
            <a:ext cx="3480990" cy="194310"/>
          </a:xfrm>
          <a:prstGeom prst="rect">
            <a:avLst/>
          </a:prstGeom>
          <a:noFill/>
        </p:spPr>
        <p:txBody>
          <a:bodyPr wrap="none" lIns="0" rIns="0" tIns="0" bIns="0">
            <a:spAutoFit/>
          </a:bodyPr>
          <a:lstStyle/>
          <a:p>
            <a:r>
              <a:rPr sz="1150" b="0">
                <a:solidFill>
                  <a:srgbClr val="2E2E2E"/>
                </a:solidFill>
                <a:latin typeface="Calibri"/>
              </a:rPr>
              <a:t>Bosch accounted for the largest share of the global heavy</a:t>
            </a:r>
          </a:p>
        </p:txBody>
      </p:sp>
      <p:sp>
        <p:nvSpPr>
          <p:cNvPr id="25" name="TextBox 24"/>
          <p:cNvSpPr txBox="1"/>
          <p:nvPr/>
        </p:nvSpPr>
        <p:spPr>
          <a:xfrm>
            <a:off x="7934325" y="1948441"/>
            <a:ext cx="3469009" cy="194310"/>
          </a:xfrm>
          <a:prstGeom prst="rect">
            <a:avLst/>
          </a:prstGeom>
          <a:noFill/>
        </p:spPr>
        <p:txBody>
          <a:bodyPr wrap="none" lIns="0" rIns="0" tIns="0" bIns="0">
            <a:spAutoFit/>
          </a:bodyPr>
          <a:lstStyle/>
          <a:p>
            <a:r>
              <a:rPr sz="1150" b="0">
                <a:solidFill>
                  <a:srgbClr val="2E2E2E"/>
                </a:solidFill>
                <a:latin typeface="Calibri"/>
              </a:rPr>
              <a:t>commercial vehicle EPS market in 2026. The global heavy</a:t>
            </a:r>
          </a:p>
        </p:txBody>
      </p:sp>
      <p:sp>
        <p:nvSpPr>
          <p:cNvPr id="26" name="TextBox 25"/>
          <p:cNvSpPr txBox="1"/>
          <p:nvPr/>
        </p:nvSpPr>
        <p:spPr>
          <a:xfrm>
            <a:off x="7934325" y="2123701"/>
            <a:ext cx="3939964" cy="194310"/>
          </a:xfrm>
          <a:prstGeom prst="rect">
            <a:avLst/>
          </a:prstGeom>
          <a:noFill/>
        </p:spPr>
        <p:txBody>
          <a:bodyPr wrap="none" lIns="0" rIns="0" tIns="0" bIns="0">
            <a:spAutoFit/>
          </a:bodyPr>
          <a:lstStyle/>
          <a:p>
            <a:r>
              <a:rPr sz="1150" b="0">
                <a:solidFill>
                  <a:srgbClr val="2E2E2E"/>
                </a:solidFill>
                <a:latin typeface="Calibri"/>
              </a:rPr>
              <a:t>commercial vehicle EPS market is fragmented, with the top three</a:t>
            </a:r>
          </a:p>
        </p:txBody>
      </p:sp>
      <p:sp>
        <p:nvSpPr>
          <p:cNvPr id="27" name="TextBox 26"/>
          <p:cNvSpPr txBox="1"/>
          <p:nvPr/>
        </p:nvSpPr>
        <p:spPr>
          <a:xfrm>
            <a:off x="7934325" y="2298961"/>
            <a:ext cx="2205049" cy="194310"/>
          </a:xfrm>
          <a:prstGeom prst="rect">
            <a:avLst/>
          </a:prstGeom>
          <a:noFill/>
        </p:spPr>
        <p:txBody>
          <a:bodyPr wrap="none" lIns="0" rIns="0" tIns="0" bIns="0">
            <a:spAutoFit/>
          </a:bodyPr>
          <a:lstStyle/>
          <a:p>
            <a:r>
              <a:rPr sz="1150" b="0">
                <a:solidFill>
                  <a:srgbClr val="2E2E2E"/>
                </a:solidFill>
                <a:latin typeface="Calibri"/>
              </a:rPr>
              <a:t>players accounting for an estimated</a:t>
            </a:r>
          </a:p>
        </p:txBody>
      </p:sp>
      <p:pic>
        <p:nvPicPr>
          <p:cNvPr id="28" name="Picture 27" descr="lock.png"/>
          <p:cNvPicPr>
            <a:picLocks noChangeAspect="1"/>
          </p:cNvPicPr>
          <p:nvPr/>
        </p:nvPicPr>
        <p:blipFill>
          <a:blip r:embed="rId5"/>
          <a:stretch>
            <a:fillRect/>
          </a:stretch>
        </p:blipFill>
        <p:spPr>
          <a:xfrm>
            <a:off x="10088528" y="2288737"/>
            <a:ext cx="134549" cy="195707"/>
          </a:xfrm>
          <a:prstGeom prst="rect">
            <a:avLst/>
          </a:prstGeom>
        </p:spPr>
      </p:pic>
      <p:sp>
        <p:nvSpPr>
          <p:cNvPr id="29" name="TextBox 28"/>
          <p:cNvSpPr txBox="1"/>
          <p:nvPr/>
        </p:nvSpPr>
        <p:spPr>
          <a:xfrm>
            <a:off x="10263638" y="2298961"/>
            <a:ext cx="1392361" cy="194310"/>
          </a:xfrm>
          <a:prstGeom prst="rect">
            <a:avLst/>
          </a:prstGeom>
          <a:noFill/>
        </p:spPr>
        <p:txBody>
          <a:bodyPr wrap="none" lIns="0" rIns="0" tIns="0" bIns="0">
            <a:spAutoFit/>
          </a:bodyPr>
          <a:lstStyle/>
          <a:p>
            <a:r>
              <a:rPr sz="1150" b="0">
                <a:solidFill>
                  <a:srgbClr val="2E2E2E"/>
                </a:solidFill>
                <a:latin typeface="Calibri"/>
              </a:rPr>
              <a:t>share of the market in</a:t>
            </a:r>
          </a:p>
        </p:txBody>
      </p:sp>
      <p:sp>
        <p:nvSpPr>
          <p:cNvPr id="30" name="TextBox 29"/>
          <p:cNvSpPr txBox="1"/>
          <p:nvPr/>
        </p:nvSpPr>
        <p:spPr>
          <a:xfrm>
            <a:off x="7934325" y="2474221"/>
            <a:ext cx="409661" cy="194310"/>
          </a:xfrm>
          <a:prstGeom prst="rect">
            <a:avLst/>
          </a:prstGeom>
          <a:noFill/>
        </p:spPr>
        <p:txBody>
          <a:bodyPr wrap="none" lIns="0" rIns="0" tIns="0" bIns="0">
            <a:spAutoFit/>
          </a:bodyPr>
          <a:lstStyle/>
          <a:p>
            <a:r>
              <a:rPr sz="1150" b="0">
                <a:solidFill>
                  <a:srgbClr val="2E2E2E"/>
                </a:solidFill>
                <a:latin typeface="Calibri"/>
              </a:rPr>
              <a:t>2026.</a:t>
            </a:r>
          </a:p>
        </p:txBody>
      </p:sp>
      <p:sp>
        <p:nvSpPr>
          <p:cNvPr id="31" name="TextBox 30"/>
          <p:cNvSpPr txBox="1"/>
          <p:nvPr/>
        </p:nvSpPr>
        <p:spPr>
          <a:xfrm>
            <a:off x="7934325" y="2702058"/>
            <a:ext cx="2100361" cy="194310"/>
          </a:xfrm>
          <a:prstGeom prst="rect">
            <a:avLst/>
          </a:prstGeom>
          <a:noFill/>
        </p:spPr>
        <p:txBody>
          <a:bodyPr wrap="none" lIns="0" rIns="0" tIns="0" bIns="0">
            <a:spAutoFit/>
          </a:bodyPr>
          <a:lstStyle/>
          <a:p>
            <a:r>
              <a:rPr sz="1150" b="0">
                <a:solidFill>
                  <a:srgbClr val="2E2E2E"/>
                </a:solidFill>
                <a:latin typeface="Calibri"/>
              </a:rPr>
              <a:t>Bosch accounted for an estimated</a:t>
            </a:r>
          </a:p>
        </p:txBody>
      </p:sp>
      <p:pic>
        <p:nvPicPr>
          <p:cNvPr id="32" name="Picture 31" descr="lock.png"/>
          <p:cNvPicPr>
            <a:picLocks noChangeAspect="1"/>
          </p:cNvPicPr>
          <p:nvPr/>
        </p:nvPicPr>
        <p:blipFill>
          <a:blip r:embed="rId5"/>
          <a:stretch>
            <a:fillRect/>
          </a:stretch>
        </p:blipFill>
        <p:spPr>
          <a:xfrm>
            <a:off x="9983840" y="2691835"/>
            <a:ext cx="134549" cy="195707"/>
          </a:xfrm>
          <a:prstGeom prst="rect">
            <a:avLst/>
          </a:prstGeom>
        </p:spPr>
      </p:pic>
      <p:sp>
        <p:nvSpPr>
          <p:cNvPr id="33" name="TextBox 32"/>
          <p:cNvSpPr txBox="1"/>
          <p:nvPr/>
        </p:nvSpPr>
        <p:spPr>
          <a:xfrm>
            <a:off x="10158949" y="2702058"/>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34" name="TextBox 33"/>
          <p:cNvSpPr txBox="1"/>
          <p:nvPr/>
        </p:nvSpPr>
        <p:spPr>
          <a:xfrm>
            <a:off x="7934325" y="2877318"/>
            <a:ext cx="1237468" cy="194310"/>
          </a:xfrm>
          <a:prstGeom prst="rect">
            <a:avLst/>
          </a:prstGeom>
          <a:noFill/>
        </p:spPr>
        <p:txBody>
          <a:bodyPr wrap="none" lIns="0" rIns="0" tIns="0" bIns="0">
            <a:spAutoFit/>
          </a:bodyPr>
          <a:lstStyle/>
          <a:p>
            <a:r>
              <a:rPr sz="1150" b="0">
                <a:solidFill>
                  <a:srgbClr val="2E2E2E"/>
                </a:solidFill>
                <a:latin typeface="Calibri"/>
              </a:rPr>
              <a:t>followed by ZF with</a:t>
            </a:r>
          </a:p>
        </p:txBody>
      </p:sp>
      <p:pic>
        <p:nvPicPr>
          <p:cNvPr id="35" name="Picture 34" descr="lock.png"/>
          <p:cNvPicPr>
            <a:picLocks noChangeAspect="1"/>
          </p:cNvPicPr>
          <p:nvPr/>
        </p:nvPicPr>
        <p:blipFill>
          <a:blip r:embed="rId5"/>
          <a:stretch>
            <a:fillRect/>
          </a:stretch>
        </p:blipFill>
        <p:spPr>
          <a:xfrm>
            <a:off x="9120947" y="2867095"/>
            <a:ext cx="134549" cy="195707"/>
          </a:xfrm>
          <a:prstGeom prst="rect">
            <a:avLst/>
          </a:prstGeom>
        </p:spPr>
      </p:pic>
      <p:sp>
        <p:nvSpPr>
          <p:cNvPr id="36" name="TextBox 35"/>
          <p:cNvSpPr txBox="1"/>
          <p:nvPr/>
        </p:nvSpPr>
        <p:spPr>
          <a:xfrm>
            <a:off x="9296056" y="2877318"/>
            <a:ext cx="2266624" cy="194310"/>
          </a:xfrm>
          <a:prstGeom prst="rect">
            <a:avLst/>
          </a:prstGeom>
          <a:noFill/>
        </p:spPr>
        <p:txBody>
          <a:bodyPr wrap="none" lIns="0" rIns="0" tIns="0" bIns="0">
            <a:spAutoFit/>
          </a:bodyPr>
          <a:lstStyle/>
          <a:p>
            <a:r>
              <a:rPr sz="1150" b="0">
                <a:solidFill>
                  <a:srgbClr val="2E2E2E"/>
                </a:solidFill>
                <a:latin typeface="Calibri"/>
              </a:rPr>
              <a:t>. Key players are focusing on product</a:t>
            </a:r>
          </a:p>
        </p:txBody>
      </p:sp>
      <p:sp>
        <p:nvSpPr>
          <p:cNvPr id="37" name="TextBox 36"/>
          <p:cNvSpPr txBox="1"/>
          <p:nvPr/>
        </p:nvSpPr>
        <p:spPr>
          <a:xfrm>
            <a:off x="7934325" y="3052578"/>
            <a:ext cx="3819872" cy="194310"/>
          </a:xfrm>
          <a:prstGeom prst="rect">
            <a:avLst/>
          </a:prstGeom>
          <a:noFill/>
        </p:spPr>
        <p:txBody>
          <a:bodyPr wrap="none" lIns="0" rIns="0" tIns="0" bIns="0">
            <a:spAutoFit/>
          </a:bodyPr>
          <a:lstStyle/>
          <a:p>
            <a:r>
              <a:rPr sz="1150" b="0">
                <a:solidFill>
                  <a:srgbClr val="2E2E2E"/>
                </a:solidFill>
                <a:latin typeface="Calibri"/>
              </a:rPr>
              <a:t>innovation, geographic expansion and strategic partnerships to</a:t>
            </a:r>
          </a:p>
        </p:txBody>
      </p:sp>
      <p:sp>
        <p:nvSpPr>
          <p:cNvPr id="38" name="TextBox 37"/>
          <p:cNvSpPr txBox="1"/>
          <p:nvPr/>
        </p:nvSpPr>
        <p:spPr>
          <a:xfrm>
            <a:off x="7934325" y="3227838"/>
            <a:ext cx="2053009" cy="194310"/>
          </a:xfrm>
          <a:prstGeom prst="rect">
            <a:avLst/>
          </a:prstGeom>
          <a:noFill/>
        </p:spPr>
        <p:txBody>
          <a:bodyPr wrap="none" lIns="0" rIns="0" tIns="0" bIns="0">
            <a:spAutoFit/>
          </a:bodyPr>
          <a:lstStyle/>
          <a:p>
            <a:r>
              <a:rPr sz="1150" b="0">
                <a:solidFill>
                  <a:srgbClr val="2E2E2E"/>
                </a:solidFill>
                <a:latin typeface="Calibri"/>
              </a:rPr>
              <a:t>strengthen their market position.</a:t>
            </a:r>
          </a:p>
        </p:txBody>
      </p:sp>
      <p:sp>
        <p:nvSpPr>
          <p:cNvPr id="39" name="TextBox 38"/>
          <p:cNvSpPr txBox="1"/>
          <p:nvPr/>
        </p:nvSpPr>
        <p:spPr>
          <a:xfrm>
            <a:off x="7934325" y="345567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40" name="TextBox 39"/>
          <p:cNvSpPr txBox="1"/>
          <p:nvPr/>
        </p:nvSpPr>
        <p:spPr>
          <a:xfrm>
            <a:off x="7934325" y="363093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1"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system architecture,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Rack Assist</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Column Assist</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Recirculating Ball and Nut Type</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1899828" cy="194310"/>
          </a:xfrm>
          <a:prstGeom prst="rect">
            <a:avLst/>
          </a:prstGeom>
          <a:noFill/>
        </p:spPr>
        <p:txBody>
          <a:bodyPr wrap="none" lIns="0" rIns="0" tIns="0" bIns="0">
            <a:spAutoFit/>
          </a:bodyPr>
          <a:lstStyle/>
          <a:p>
            <a:r>
              <a:rPr sz="1150" b="0">
                <a:solidFill>
                  <a:srgbClr val="2E2E2E"/>
                </a:solidFill>
                <a:latin typeface="Calibri"/>
              </a:rPr>
              <a:t>▪ Rack Assist: 'Bosch' leads at ~</a:t>
            </a:r>
          </a:p>
        </p:txBody>
      </p:sp>
      <p:pic>
        <p:nvPicPr>
          <p:cNvPr id="29" name="Picture 28" descr="lock.png"/>
          <p:cNvPicPr>
            <a:picLocks noChangeAspect="1"/>
          </p:cNvPicPr>
          <p:nvPr/>
        </p:nvPicPr>
        <p:blipFill>
          <a:blip r:embed="rId7"/>
          <a:stretch>
            <a:fillRect/>
          </a:stretch>
        </p:blipFill>
        <p:spPr>
          <a:xfrm>
            <a:off x="2125207" y="5012116"/>
            <a:ext cx="134549" cy="195707"/>
          </a:xfrm>
          <a:prstGeom prst="rect">
            <a:avLst/>
          </a:prstGeom>
        </p:spPr>
      </p:pic>
      <p:sp>
        <p:nvSpPr>
          <p:cNvPr id="30" name="TextBox 29"/>
          <p:cNvSpPr txBox="1"/>
          <p:nvPr/>
        </p:nvSpPr>
        <p:spPr>
          <a:xfrm>
            <a:off x="2300316" y="5022340"/>
            <a:ext cx="1717265" cy="194310"/>
          </a:xfrm>
          <a:prstGeom prst="rect">
            <a:avLst/>
          </a:prstGeom>
          <a:noFill/>
        </p:spPr>
        <p:txBody>
          <a:bodyPr wrap="none" lIns="0" rIns="0" tIns="0" bIns="0">
            <a:spAutoFit/>
          </a:bodyPr>
          <a:lstStyle/>
          <a:p>
            <a:r>
              <a:rPr sz="1150" b="0">
                <a:solidFill>
                  <a:srgbClr val="2E2E2E"/>
                </a:solidFill>
                <a:latin typeface="Calibri"/>
              </a:rPr>
              <a:t>, ahead of 'thyssenkrupp' (~</a:t>
            </a:r>
          </a:p>
        </p:txBody>
      </p:sp>
      <p:pic>
        <p:nvPicPr>
          <p:cNvPr id="31" name="Picture 30" descr="lock.png"/>
          <p:cNvPicPr>
            <a:picLocks noChangeAspect="1"/>
          </p:cNvPicPr>
          <p:nvPr/>
        </p:nvPicPr>
        <p:blipFill>
          <a:blip r:embed="rId7"/>
          <a:stretch>
            <a:fillRect/>
          </a:stretch>
        </p:blipFill>
        <p:spPr>
          <a:xfrm>
            <a:off x="3966736" y="5012116"/>
            <a:ext cx="134549" cy="195707"/>
          </a:xfrm>
          <a:prstGeom prst="rect">
            <a:avLst/>
          </a:prstGeom>
        </p:spPr>
      </p:pic>
      <p:sp>
        <p:nvSpPr>
          <p:cNvPr id="32" name="TextBox 31"/>
          <p:cNvSpPr txBox="1"/>
          <p:nvPr/>
        </p:nvSpPr>
        <p:spPr>
          <a:xfrm>
            <a:off x="4141845"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5476514" y="5012116"/>
            <a:ext cx="134549" cy="195707"/>
          </a:xfrm>
          <a:prstGeom prst="rect">
            <a:avLst/>
          </a:prstGeom>
        </p:spPr>
      </p:pic>
      <p:sp>
        <p:nvSpPr>
          <p:cNvPr id="34" name="TextBox 33"/>
          <p:cNvSpPr txBox="1"/>
          <p:nvPr/>
        </p:nvSpPr>
        <p:spPr>
          <a:xfrm>
            <a:off x="5651623"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7207079" y="5012116"/>
            <a:ext cx="134549" cy="195707"/>
          </a:xfrm>
          <a:prstGeom prst="rect">
            <a:avLst/>
          </a:prstGeom>
        </p:spPr>
      </p:pic>
      <p:sp>
        <p:nvSpPr>
          <p:cNvPr id="36" name="TextBox 35"/>
          <p:cNvSpPr txBox="1"/>
          <p:nvPr/>
        </p:nvSpPr>
        <p:spPr>
          <a:xfrm>
            <a:off x="7382189"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555020" cy="194310"/>
          </a:xfrm>
          <a:prstGeom prst="rect">
            <a:avLst/>
          </a:prstGeom>
          <a:noFill/>
        </p:spPr>
        <p:txBody>
          <a:bodyPr wrap="none" lIns="0" rIns="0" tIns="0" bIns="0">
            <a:spAutoFit/>
          </a:bodyPr>
          <a:lstStyle/>
          <a:p>
            <a:r>
              <a:rPr sz="1150" b="0">
                <a:solidFill>
                  <a:srgbClr val="2E2E2E"/>
                </a:solidFill>
                <a:latin typeface="Calibri"/>
              </a:rPr>
              <a:t>▪ Column Assist: 'Knorr-Bremse' leads at ~</a:t>
            </a:r>
          </a:p>
        </p:txBody>
      </p:sp>
      <p:pic>
        <p:nvPicPr>
          <p:cNvPr id="38" name="Picture 37" descr="lock.png"/>
          <p:cNvPicPr>
            <a:picLocks noChangeAspect="1"/>
          </p:cNvPicPr>
          <p:nvPr/>
        </p:nvPicPr>
        <p:blipFill>
          <a:blip r:embed="rId7"/>
          <a:stretch>
            <a:fillRect/>
          </a:stretch>
        </p:blipFill>
        <p:spPr>
          <a:xfrm>
            <a:off x="2780399" y="5239954"/>
            <a:ext cx="134549" cy="195707"/>
          </a:xfrm>
          <a:prstGeom prst="rect">
            <a:avLst/>
          </a:prstGeom>
        </p:spPr>
      </p:pic>
      <p:sp>
        <p:nvSpPr>
          <p:cNvPr id="39" name="TextBox 38"/>
          <p:cNvSpPr txBox="1"/>
          <p:nvPr/>
        </p:nvSpPr>
        <p:spPr>
          <a:xfrm>
            <a:off x="2955508" y="5250177"/>
            <a:ext cx="1049486" cy="194310"/>
          </a:xfrm>
          <a:prstGeom prst="rect">
            <a:avLst/>
          </a:prstGeom>
          <a:noFill/>
        </p:spPr>
        <p:txBody>
          <a:bodyPr wrap="none" lIns="0" rIns="0" tIns="0" bIns="0">
            <a:spAutoFit/>
          </a:bodyPr>
          <a:lstStyle/>
          <a:p>
            <a:r>
              <a:rPr sz="1150" b="0">
                <a:solidFill>
                  <a:srgbClr val="2E2E2E"/>
                </a:solidFill>
                <a:latin typeface="Calibri"/>
              </a:rPr>
              <a:t>, ahead of 'ZF' (~</a:t>
            </a:r>
          </a:p>
        </p:txBody>
      </p:sp>
      <p:pic>
        <p:nvPicPr>
          <p:cNvPr id="40" name="Picture 39" descr="lock.png"/>
          <p:cNvPicPr>
            <a:picLocks noChangeAspect="1"/>
          </p:cNvPicPr>
          <p:nvPr/>
        </p:nvPicPr>
        <p:blipFill>
          <a:blip r:embed="rId7"/>
          <a:stretch>
            <a:fillRect/>
          </a:stretch>
        </p:blipFill>
        <p:spPr>
          <a:xfrm>
            <a:off x="3954149" y="5239954"/>
            <a:ext cx="134549" cy="195707"/>
          </a:xfrm>
          <a:prstGeom prst="rect">
            <a:avLst/>
          </a:prstGeom>
        </p:spPr>
      </p:pic>
      <p:sp>
        <p:nvSpPr>
          <p:cNvPr id="41" name="TextBox 40"/>
          <p:cNvSpPr txBox="1"/>
          <p:nvPr/>
        </p:nvSpPr>
        <p:spPr>
          <a:xfrm>
            <a:off x="4129258"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463927" y="5239954"/>
            <a:ext cx="134549" cy="195707"/>
          </a:xfrm>
          <a:prstGeom prst="rect">
            <a:avLst/>
          </a:prstGeom>
        </p:spPr>
      </p:pic>
      <p:sp>
        <p:nvSpPr>
          <p:cNvPr id="43" name="TextBox 42"/>
          <p:cNvSpPr txBox="1"/>
          <p:nvPr/>
        </p:nvSpPr>
        <p:spPr>
          <a:xfrm>
            <a:off x="5639037"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194493" y="5239954"/>
            <a:ext cx="134549" cy="195707"/>
          </a:xfrm>
          <a:prstGeom prst="rect">
            <a:avLst/>
          </a:prstGeom>
        </p:spPr>
      </p:pic>
      <p:sp>
        <p:nvSpPr>
          <p:cNvPr id="45" name="TextBox 44"/>
          <p:cNvSpPr txBox="1"/>
          <p:nvPr/>
        </p:nvSpPr>
        <p:spPr>
          <a:xfrm>
            <a:off x="7369602"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3099606" cy="194310"/>
          </a:xfrm>
          <a:prstGeom prst="rect">
            <a:avLst/>
          </a:prstGeom>
          <a:noFill/>
        </p:spPr>
        <p:txBody>
          <a:bodyPr wrap="none" lIns="0" rIns="0" tIns="0" bIns="0">
            <a:spAutoFit/>
          </a:bodyPr>
          <a:lstStyle/>
          <a:p>
            <a:r>
              <a:rPr sz="1150" b="0">
                <a:solidFill>
                  <a:srgbClr val="2E2E2E"/>
                </a:solidFill>
                <a:latin typeface="Calibri"/>
              </a:rPr>
              <a:t>▪ Recirculating Ball and Nut Type: 'Bosch' leads at ~</a:t>
            </a:r>
          </a:p>
        </p:txBody>
      </p:sp>
      <p:pic>
        <p:nvPicPr>
          <p:cNvPr id="47" name="Picture 46" descr="lock.png"/>
          <p:cNvPicPr>
            <a:picLocks noChangeAspect="1"/>
          </p:cNvPicPr>
          <p:nvPr/>
        </p:nvPicPr>
        <p:blipFill>
          <a:blip r:embed="rId7"/>
          <a:stretch>
            <a:fillRect/>
          </a:stretch>
        </p:blipFill>
        <p:spPr>
          <a:xfrm>
            <a:off x="3324985" y="5467792"/>
            <a:ext cx="134549" cy="195707"/>
          </a:xfrm>
          <a:prstGeom prst="rect">
            <a:avLst/>
          </a:prstGeom>
        </p:spPr>
      </p:pic>
      <p:sp>
        <p:nvSpPr>
          <p:cNvPr id="48" name="TextBox 47"/>
          <p:cNvSpPr txBox="1"/>
          <p:nvPr/>
        </p:nvSpPr>
        <p:spPr>
          <a:xfrm>
            <a:off x="3500094" y="5478015"/>
            <a:ext cx="1049486" cy="194310"/>
          </a:xfrm>
          <a:prstGeom prst="rect">
            <a:avLst/>
          </a:prstGeom>
          <a:noFill/>
        </p:spPr>
        <p:txBody>
          <a:bodyPr wrap="none" lIns="0" rIns="0" tIns="0" bIns="0">
            <a:spAutoFit/>
          </a:bodyPr>
          <a:lstStyle/>
          <a:p>
            <a:r>
              <a:rPr sz="1150" b="0">
                <a:solidFill>
                  <a:srgbClr val="2E2E2E"/>
                </a:solidFill>
                <a:latin typeface="Calibri"/>
              </a:rPr>
              <a:t>, ahead of 'ZF' (~</a:t>
            </a:r>
          </a:p>
        </p:txBody>
      </p:sp>
      <p:pic>
        <p:nvPicPr>
          <p:cNvPr id="49" name="Picture 48" descr="lock.png"/>
          <p:cNvPicPr>
            <a:picLocks noChangeAspect="1"/>
          </p:cNvPicPr>
          <p:nvPr/>
        </p:nvPicPr>
        <p:blipFill>
          <a:blip r:embed="rId7"/>
          <a:stretch>
            <a:fillRect/>
          </a:stretch>
        </p:blipFill>
        <p:spPr>
          <a:xfrm>
            <a:off x="4498734" y="5467792"/>
            <a:ext cx="134549" cy="195707"/>
          </a:xfrm>
          <a:prstGeom prst="rect">
            <a:avLst/>
          </a:prstGeom>
        </p:spPr>
      </p:pic>
      <p:sp>
        <p:nvSpPr>
          <p:cNvPr id="50" name="TextBox 49"/>
          <p:cNvSpPr txBox="1"/>
          <p:nvPr/>
        </p:nvSpPr>
        <p:spPr>
          <a:xfrm>
            <a:off x="4673843"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008513" y="5467792"/>
            <a:ext cx="134549" cy="195707"/>
          </a:xfrm>
          <a:prstGeom prst="rect">
            <a:avLst/>
          </a:prstGeom>
        </p:spPr>
      </p:pic>
      <p:sp>
        <p:nvSpPr>
          <p:cNvPr id="52" name="TextBox 51"/>
          <p:cNvSpPr txBox="1"/>
          <p:nvPr/>
        </p:nvSpPr>
        <p:spPr>
          <a:xfrm>
            <a:off x="6183622"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7739078" y="5467792"/>
            <a:ext cx="134549" cy="195707"/>
          </a:xfrm>
          <a:prstGeom prst="rect">
            <a:avLst/>
          </a:prstGeom>
        </p:spPr>
      </p:pic>
      <p:sp>
        <p:nvSpPr>
          <p:cNvPr id="54" name="TextBox 53"/>
          <p:cNvSpPr txBox="1"/>
          <p:nvPr/>
        </p:nvSpPr>
        <p:spPr>
          <a:xfrm>
            <a:off x="7914187"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122611" cy="194310"/>
          </a:xfrm>
          <a:prstGeom prst="rect">
            <a:avLst/>
          </a:prstGeom>
          <a:noFill/>
        </p:spPr>
        <p:txBody>
          <a:bodyPr wrap="none" lIns="0" rIns="0" tIns="0" bIns="0">
            <a:spAutoFit/>
          </a:bodyPr>
          <a:lstStyle/>
          <a:p>
            <a:r>
              <a:rPr sz="1150" b="0">
                <a:solidFill>
                  <a:srgbClr val="2E2E2E"/>
                </a:solidFill>
                <a:latin typeface="Calibri"/>
              </a:rPr>
              <a:t>▪ North America: 'Bosch' leads at ~</a:t>
            </a:r>
          </a:p>
        </p:txBody>
      </p:sp>
      <p:pic>
        <p:nvPicPr>
          <p:cNvPr id="29" name="Picture 28" descr="lock.png"/>
          <p:cNvPicPr>
            <a:picLocks noChangeAspect="1"/>
          </p:cNvPicPr>
          <p:nvPr/>
        </p:nvPicPr>
        <p:blipFill>
          <a:blip r:embed="rId7"/>
          <a:stretch>
            <a:fillRect/>
          </a:stretch>
        </p:blipFill>
        <p:spPr>
          <a:xfrm>
            <a:off x="2347990" y="5012116"/>
            <a:ext cx="134549" cy="195707"/>
          </a:xfrm>
          <a:prstGeom prst="rect">
            <a:avLst/>
          </a:prstGeom>
        </p:spPr>
      </p:pic>
      <p:sp>
        <p:nvSpPr>
          <p:cNvPr id="30" name="TextBox 29"/>
          <p:cNvSpPr txBox="1"/>
          <p:nvPr/>
        </p:nvSpPr>
        <p:spPr>
          <a:xfrm>
            <a:off x="2523099" y="5022340"/>
            <a:ext cx="1049486" cy="194310"/>
          </a:xfrm>
          <a:prstGeom prst="rect">
            <a:avLst/>
          </a:prstGeom>
          <a:noFill/>
        </p:spPr>
        <p:txBody>
          <a:bodyPr wrap="none" lIns="0" rIns="0" tIns="0" bIns="0">
            <a:spAutoFit/>
          </a:bodyPr>
          <a:lstStyle/>
          <a:p>
            <a:r>
              <a:rPr sz="1150" b="0">
                <a:solidFill>
                  <a:srgbClr val="2E2E2E"/>
                </a:solidFill>
                <a:latin typeface="Calibri"/>
              </a:rPr>
              <a:t>, ahead of 'ZF' (~</a:t>
            </a:r>
          </a:p>
        </p:txBody>
      </p:sp>
      <p:pic>
        <p:nvPicPr>
          <p:cNvPr id="31" name="Picture 30" descr="lock.png"/>
          <p:cNvPicPr>
            <a:picLocks noChangeAspect="1"/>
          </p:cNvPicPr>
          <p:nvPr/>
        </p:nvPicPr>
        <p:blipFill>
          <a:blip r:embed="rId7"/>
          <a:stretch>
            <a:fillRect/>
          </a:stretch>
        </p:blipFill>
        <p:spPr>
          <a:xfrm>
            <a:off x="3521739" y="5012116"/>
            <a:ext cx="134549" cy="195707"/>
          </a:xfrm>
          <a:prstGeom prst="rect">
            <a:avLst/>
          </a:prstGeom>
        </p:spPr>
      </p:pic>
      <p:sp>
        <p:nvSpPr>
          <p:cNvPr id="32" name="TextBox 31"/>
          <p:cNvSpPr txBox="1"/>
          <p:nvPr/>
        </p:nvSpPr>
        <p:spPr>
          <a:xfrm>
            <a:off x="3696849"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5031518" y="5012116"/>
            <a:ext cx="134549" cy="195707"/>
          </a:xfrm>
          <a:prstGeom prst="rect">
            <a:avLst/>
          </a:prstGeom>
        </p:spPr>
      </p:pic>
      <p:sp>
        <p:nvSpPr>
          <p:cNvPr id="34" name="TextBox 33"/>
          <p:cNvSpPr txBox="1"/>
          <p:nvPr/>
        </p:nvSpPr>
        <p:spPr>
          <a:xfrm>
            <a:off x="5206627"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6762083" y="5012116"/>
            <a:ext cx="134549" cy="195707"/>
          </a:xfrm>
          <a:prstGeom prst="rect">
            <a:avLst/>
          </a:prstGeom>
        </p:spPr>
      </p:pic>
      <p:sp>
        <p:nvSpPr>
          <p:cNvPr id="36" name="TextBox 35"/>
          <p:cNvSpPr txBox="1"/>
          <p:nvPr/>
        </p:nvSpPr>
        <p:spPr>
          <a:xfrm>
            <a:off x="6937193"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422413" cy="194310"/>
          </a:xfrm>
          <a:prstGeom prst="rect">
            <a:avLst/>
          </a:prstGeom>
          <a:noFill/>
        </p:spPr>
        <p:txBody>
          <a:bodyPr wrap="none" lIns="0" rIns="0" tIns="0" bIns="0">
            <a:spAutoFit/>
          </a:bodyPr>
          <a:lstStyle/>
          <a:p>
            <a:r>
              <a:rPr sz="1150" b="0">
                <a:solidFill>
                  <a:srgbClr val="2E2E2E"/>
                </a:solidFill>
                <a:latin typeface="Calibri"/>
              </a:rPr>
              <a:t>▪ South Asia &amp; Pacific: 'Bosch' leads at ~</a:t>
            </a:r>
          </a:p>
        </p:txBody>
      </p:sp>
      <p:pic>
        <p:nvPicPr>
          <p:cNvPr id="38" name="Picture 37" descr="lock.png"/>
          <p:cNvPicPr>
            <a:picLocks noChangeAspect="1"/>
          </p:cNvPicPr>
          <p:nvPr/>
        </p:nvPicPr>
        <p:blipFill>
          <a:blip r:embed="rId7"/>
          <a:stretch>
            <a:fillRect/>
          </a:stretch>
        </p:blipFill>
        <p:spPr>
          <a:xfrm>
            <a:off x="2647792" y="5239954"/>
            <a:ext cx="134549" cy="195707"/>
          </a:xfrm>
          <a:prstGeom prst="rect">
            <a:avLst/>
          </a:prstGeom>
        </p:spPr>
      </p:pic>
      <p:sp>
        <p:nvSpPr>
          <p:cNvPr id="39" name="TextBox 38"/>
          <p:cNvSpPr txBox="1"/>
          <p:nvPr/>
        </p:nvSpPr>
        <p:spPr>
          <a:xfrm>
            <a:off x="2822901" y="5250177"/>
            <a:ext cx="1740335" cy="194310"/>
          </a:xfrm>
          <a:prstGeom prst="rect">
            <a:avLst/>
          </a:prstGeom>
          <a:noFill/>
        </p:spPr>
        <p:txBody>
          <a:bodyPr wrap="none" lIns="0" rIns="0" tIns="0" bIns="0">
            <a:spAutoFit/>
          </a:bodyPr>
          <a:lstStyle/>
          <a:p>
            <a:r>
              <a:rPr sz="1150" b="0">
                <a:solidFill>
                  <a:srgbClr val="2E2E2E"/>
                </a:solidFill>
                <a:latin typeface="Calibri"/>
              </a:rPr>
              <a:t>, ahead of 'Knorr-Bremse' (~</a:t>
            </a:r>
          </a:p>
        </p:txBody>
      </p:sp>
      <p:pic>
        <p:nvPicPr>
          <p:cNvPr id="40" name="Picture 39" descr="lock.png"/>
          <p:cNvPicPr>
            <a:picLocks noChangeAspect="1"/>
          </p:cNvPicPr>
          <p:nvPr/>
        </p:nvPicPr>
        <p:blipFill>
          <a:blip r:embed="rId7"/>
          <a:stretch>
            <a:fillRect/>
          </a:stretch>
        </p:blipFill>
        <p:spPr>
          <a:xfrm>
            <a:off x="4512391" y="5239954"/>
            <a:ext cx="134549" cy="195707"/>
          </a:xfrm>
          <a:prstGeom prst="rect">
            <a:avLst/>
          </a:prstGeom>
        </p:spPr>
      </p:pic>
      <p:sp>
        <p:nvSpPr>
          <p:cNvPr id="41" name="TextBox 40"/>
          <p:cNvSpPr txBox="1"/>
          <p:nvPr/>
        </p:nvSpPr>
        <p:spPr>
          <a:xfrm>
            <a:off x="4687500"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022169" y="5239954"/>
            <a:ext cx="134549" cy="195707"/>
          </a:xfrm>
          <a:prstGeom prst="rect">
            <a:avLst/>
          </a:prstGeom>
        </p:spPr>
      </p:pic>
      <p:sp>
        <p:nvSpPr>
          <p:cNvPr id="43" name="TextBox 42"/>
          <p:cNvSpPr txBox="1"/>
          <p:nvPr/>
        </p:nvSpPr>
        <p:spPr>
          <a:xfrm>
            <a:off x="6197279"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752734" y="5239954"/>
            <a:ext cx="134549" cy="195707"/>
          </a:xfrm>
          <a:prstGeom prst="rect">
            <a:avLst/>
          </a:prstGeom>
        </p:spPr>
      </p:pic>
      <p:sp>
        <p:nvSpPr>
          <p:cNvPr id="45" name="TextBox 44"/>
          <p:cNvSpPr txBox="1"/>
          <p:nvPr/>
        </p:nvSpPr>
        <p:spPr>
          <a:xfrm>
            <a:off x="7927844"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1776277" cy="194310"/>
          </a:xfrm>
          <a:prstGeom prst="rect">
            <a:avLst/>
          </a:prstGeom>
          <a:noFill/>
        </p:spPr>
        <p:txBody>
          <a:bodyPr wrap="none" lIns="0" rIns="0" tIns="0" bIns="0">
            <a:spAutoFit/>
          </a:bodyPr>
          <a:lstStyle/>
          <a:p>
            <a:r>
              <a:rPr sz="1150" b="0">
                <a:solidFill>
                  <a:srgbClr val="2E2E2E"/>
                </a:solidFill>
                <a:latin typeface="Calibri"/>
              </a:rPr>
              <a:t>▪ East Asia: 'Bosch' leads at ~</a:t>
            </a:r>
          </a:p>
        </p:txBody>
      </p:sp>
      <p:pic>
        <p:nvPicPr>
          <p:cNvPr id="47" name="Picture 46" descr="lock.png"/>
          <p:cNvPicPr>
            <a:picLocks noChangeAspect="1"/>
          </p:cNvPicPr>
          <p:nvPr/>
        </p:nvPicPr>
        <p:blipFill>
          <a:blip r:embed="rId7"/>
          <a:stretch>
            <a:fillRect/>
          </a:stretch>
        </p:blipFill>
        <p:spPr>
          <a:xfrm>
            <a:off x="2001656" y="5467792"/>
            <a:ext cx="134549" cy="195707"/>
          </a:xfrm>
          <a:prstGeom prst="rect">
            <a:avLst/>
          </a:prstGeom>
        </p:spPr>
      </p:pic>
      <p:sp>
        <p:nvSpPr>
          <p:cNvPr id="48" name="TextBox 47"/>
          <p:cNvSpPr txBox="1"/>
          <p:nvPr/>
        </p:nvSpPr>
        <p:spPr>
          <a:xfrm>
            <a:off x="2176765" y="5478015"/>
            <a:ext cx="1717265" cy="194310"/>
          </a:xfrm>
          <a:prstGeom prst="rect">
            <a:avLst/>
          </a:prstGeom>
          <a:noFill/>
        </p:spPr>
        <p:txBody>
          <a:bodyPr wrap="none" lIns="0" rIns="0" tIns="0" bIns="0">
            <a:spAutoFit/>
          </a:bodyPr>
          <a:lstStyle/>
          <a:p>
            <a:r>
              <a:rPr sz="1150" b="0">
                <a:solidFill>
                  <a:srgbClr val="2E2E2E"/>
                </a:solidFill>
                <a:latin typeface="Calibri"/>
              </a:rPr>
              <a:t>, ahead of 'thyssenkrupp' (~</a:t>
            </a:r>
          </a:p>
        </p:txBody>
      </p:sp>
      <p:pic>
        <p:nvPicPr>
          <p:cNvPr id="49" name="Picture 48" descr="lock.png"/>
          <p:cNvPicPr>
            <a:picLocks noChangeAspect="1"/>
          </p:cNvPicPr>
          <p:nvPr/>
        </p:nvPicPr>
        <p:blipFill>
          <a:blip r:embed="rId7"/>
          <a:stretch>
            <a:fillRect/>
          </a:stretch>
        </p:blipFill>
        <p:spPr>
          <a:xfrm>
            <a:off x="3843185" y="5467792"/>
            <a:ext cx="134549" cy="195707"/>
          </a:xfrm>
          <a:prstGeom prst="rect">
            <a:avLst/>
          </a:prstGeom>
        </p:spPr>
      </p:pic>
      <p:sp>
        <p:nvSpPr>
          <p:cNvPr id="50" name="TextBox 49"/>
          <p:cNvSpPr txBox="1"/>
          <p:nvPr/>
        </p:nvSpPr>
        <p:spPr>
          <a:xfrm>
            <a:off x="4018294"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5352964" y="5467792"/>
            <a:ext cx="134549" cy="195707"/>
          </a:xfrm>
          <a:prstGeom prst="rect">
            <a:avLst/>
          </a:prstGeom>
        </p:spPr>
      </p:pic>
      <p:sp>
        <p:nvSpPr>
          <p:cNvPr id="52" name="TextBox 51"/>
          <p:cNvSpPr txBox="1"/>
          <p:nvPr/>
        </p:nvSpPr>
        <p:spPr>
          <a:xfrm>
            <a:off x="5528073"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7083529" y="5467792"/>
            <a:ext cx="134549" cy="195707"/>
          </a:xfrm>
          <a:prstGeom prst="rect">
            <a:avLst/>
          </a:prstGeom>
        </p:spPr>
      </p:pic>
      <p:sp>
        <p:nvSpPr>
          <p:cNvPr id="54" name="TextBox 53"/>
          <p:cNvSpPr txBox="1"/>
          <p:nvPr/>
        </p:nvSpPr>
        <p:spPr>
          <a:xfrm>
            <a:off x="7258638"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Heavy Commercial Vehicle EPS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Heavy Commercial Vehicle EPS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Bosch</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ZF</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Knorr-Bremse</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thyssenkrupp</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JTEKT</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Heavy Commercial Vehicle EPS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Bosch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Bosch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Bosch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Bosch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Bosch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Bosch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Bosch: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608607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9278088" y="3145920"/>
            <a:ext cx="444576" cy="646656"/>
          </a:xfrm>
          <a:prstGeom prst="rect">
            <a:avLst/>
          </a:prstGeom>
        </p:spPr>
      </p:pic>
      <p:sp>
        <p:nvSpPr>
          <p:cNvPr id="36" name="TextBox 35"/>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7" name="Picture 36" descr="lock.png"/>
          <p:cNvPicPr>
            <a:picLocks noChangeAspect="1"/>
          </p:cNvPicPr>
          <p:nvPr/>
        </p:nvPicPr>
        <p:blipFill>
          <a:blip r:embed="rId7"/>
          <a:stretch>
            <a:fillRect/>
          </a:stretch>
        </p:blipFill>
        <p:spPr>
          <a:xfrm>
            <a:off x="6017010" y="1533061"/>
            <a:ext cx="133378" cy="194005"/>
          </a:xfrm>
          <a:prstGeom prst="rect">
            <a:avLst/>
          </a:prstGeom>
        </p:spPr>
      </p:pic>
      <p:pic>
        <p:nvPicPr>
          <p:cNvPr id="38" name="Picture 37" descr="lock.png"/>
          <p:cNvPicPr>
            <a:picLocks noChangeAspect="1"/>
          </p:cNvPicPr>
          <p:nvPr/>
        </p:nvPicPr>
        <p:blipFill>
          <a:blip r:embed="rId7"/>
          <a:stretch>
            <a:fillRect/>
          </a:stretch>
        </p:blipFill>
        <p:spPr>
          <a:xfrm>
            <a:off x="5865805" y="1761621"/>
            <a:ext cx="97811" cy="142270"/>
          </a:xfrm>
          <a:prstGeom prst="rect">
            <a:avLst/>
          </a:prstGeom>
        </p:spPr>
      </p:pic>
      <p:sp>
        <p:nvSpPr>
          <p:cNvPr id="39" name="TextBox 38"/>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0" name="TextBox 39"/>
          <p:cNvSpPr txBox="1"/>
          <p:nvPr/>
        </p:nvSpPr>
        <p:spPr>
          <a:xfrm>
            <a:off x="276225" y="5204877"/>
            <a:ext cx="2186508" cy="194310"/>
          </a:xfrm>
          <a:prstGeom prst="rect">
            <a:avLst/>
          </a:prstGeom>
          <a:noFill/>
        </p:spPr>
        <p:txBody>
          <a:bodyPr wrap="none" lIns="0" rIns="0" tIns="0" bIns="0">
            <a:spAutoFit/>
          </a:bodyPr>
          <a:lstStyle/>
          <a:p>
            <a:r>
              <a:rPr sz="1150" b="0">
                <a:solidFill>
                  <a:srgbClr val="2E2E2E"/>
                </a:solidFill>
                <a:latin typeface="Calibri"/>
              </a:rPr>
              <a:t>▪ Market Position: Bosch captures ~</a:t>
            </a:r>
          </a:p>
        </p:txBody>
      </p:sp>
      <p:pic>
        <p:nvPicPr>
          <p:cNvPr id="41" name="Picture 40" descr="lock.png"/>
          <p:cNvPicPr>
            <a:picLocks noChangeAspect="1"/>
          </p:cNvPicPr>
          <p:nvPr/>
        </p:nvPicPr>
        <p:blipFill>
          <a:blip r:embed="rId7"/>
          <a:stretch>
            <a:fillRect/>
          </a:stretch>
        </p:blipFill>
        <p:spPr>
          <a:xfrm>
            <a:off x="2411887" y="5194653"/>
            <a:ext cx="134549" cy="195707"/>
          </a:xfrm>
          <a:prstGeom prst="rect">
            <a:avLst/>
          </a:prstGeom>
        </p:spPr>
      </p:pic>
      <p:sp>
        <p:nvSpPr>
          <p:cNvPr id="42" name="TextBox 41"/>
          <p:cNvSpPr txBox="1"/>
          <p:nvPr/>
        </p:nvSpPr>
        <p:spPr>
          <a:xfrm>
            <a:off x="2586996" y="5204877"/>
            <a:ext cx="3511798"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'OEM'.</a:t>
            </a:r>
          </a:p>
        </p:txBody>
      </p:sp>
      <p:sp>
        <p:nvSpPr>
          <p:cNvPr id="43" name="TextBox 42"/>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4" name="Picture 43" descr="lock.png"/>
          <p:cNvPicPr>
            <a:picLocks noChangeAspect="1"/>
          </p:cNvPicPr>
          <p:nvPr/>
        </p:nvPicPr>
        <p:blipFill>
          <a:blip r:embed="rId7"/>
          <a:stretch>
            <a:fillRect/>
          </a:stretch>
        </p:blipFill>
        <p:spPr>
          <a:xfrm>
            <a:off x="7583825" y="5422491"/>
            <a:ext cx="134549" cy="195707"/>
          </a:xfrm>
          <a:prstGeom prst="rect">
            <a:avLst/>
          </a:prstGeom>
        </p:spPr>
      </p:pic>
      <p:sp>
        <p:nvSpPr>
          <p:cNvPr id="45" name="TextBox 44"/>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7" name="Picture 46" descr="lock.png"/>
          <p:cNvPicPr>
            <a:picLocks noChangeAspect="1"/>
          </p:cNvPicPr>
          <p:nvPr/>
        </p:nvPicPr>
        <p:blipFill>
          <a:blip r:embed="rId7"/>
          <a:stretch>
            <a:fillRect/>
          </a:stretch>
        </p:blipFill>
        <p:spPr>
          <a:xfrm>
            <a:off x="1617169" y="5650329"/>
            <a:ext cx="134549" cy="195707"/>
          </a:xfrm>
          <a:prstGeom prst="rect">
            <a:avLst/>
          </a:prstGeom>
        </p:spPr>
      </p:pic>
      <p:sp>
        <p:nvSpPr>
          <p:cNvPr id="48" name="TextBox 47"/>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9" name="Picture 48" descr="lock.png"/>
          <p:cNvPicPr>
            <a:picLocks noChangeAspect="1"/>
          </p:cNvPicPr>
          <p:nvPr/>
        </p:nvPicPr>
        <p:blipFill>
          <a:blip r:embed="rId7"/>
          <a:stretch>
            <a:fillRect/>
          </a:stretch>
        </p:blipFill>
        <p:spPr>
          <a:xfrm>
            <a:off x="2870505" y="5650329"/>
            <a:ext cx="134549" cy="195707"/>
          </a:xfrm>
          <a:prstGeom prst="rect">
            <a:avLst/>
          </a:prstGeom>
        </p:spPr>
      </p:pic>
      <p:sp>
        <p:nvSpPr>
          <p:cNvPr id="50" name="TextBox 49"/>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1" name="TextBox 50"/>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2" name="Picture 51" descr="lock.png"/>
          <p:cNvPicPr>
            <a:picLocks noChangeAspect="1"/>
          </p:cNvPicPr>
          <p:nvPr/>
        </p:nvPicPr>
        <p:blipFill>
          <a:blip r:embed="rId7"/>
          <a:stretch>
            <a:fillRect/>
          </a:stretch>
        </p:blipFill>
        <p:spPr>
          <a:xfrm>
            <a:off x="1578914" y="5878167"/>
            <a:ext cx="134549" cy="195707"/>
          </a:xfrm>
          <a:prstGeom prst="rect">
            <a:avLst/>
          </a:prstGeom>
        </p:spPr>
      </p:pic>
      <p:sp>
        <p:nvSpPr>
          <p:cNvPr id="53" name="TextBox 52"/>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4" name="Picture 53" descr="lock.png"/>
          <p:cNvPicPr>
            <a:picLocks noChangeAspect="1"/>
          </p:cNvPicPr>
          <p:nvPr/>
        </p:nvPicPr>
        <p:blipFill>
          <a:blip r:embed="rId7"/>
          <a:stretch>
            <a:fillRect/>
          </a:stretch>
        </p:blipFill>
        <p:spPr>
          <a:xfrm>
            <a:off x="2775769" y="5878167"/>
            <a:ext cx="134549" cy="195707"/>
          </a:xfrm>
          <a:prstGeom prst="rect">
            <a:avLst/>
          </a:prstGeom>
        </p:spPr>
      </p:pic>
      <p:sp>
        <p:nvSpPr>
          <p:cNvPr id="55" name="TextBox 54"/>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6" name="Picture 55" descr="lock.png"/>
          <p:cNvPicPr>
            <a:picLocks noChangeAspect="1"/>
          </p:cNvPicPr>
          <p:nvPr/>
        </p:nvPicPr>
        <p:blipFill>
          <a:blip r:embed="rId7"/>
          <a:stretch>
            <a:fillRect/>
          </a:stretch>
        </p:blipFill>
        <p:spPr>
          <a:xfrm>
            <a:off x="4037092" y="5878167"/>
            <a:ext cx="134549" cy="195707"/>
          </a:xfrm>
          <a:prstGeom prst="rect">
            <a:avLst/>
          </a:prstGeom>
        </p:spPr>
      </p:pic>
      <p:sp>
        <p:nvSpPr>
          <p:cNvPr id="57" name="TextBox 56"/>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8"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Bosch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Bosch: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Bosch</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Bosch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Bosch: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Bosch: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'Rack Assist'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Bosch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Bosch's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Bosch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Bosch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Bosch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Bosch Pricing Analysis (US$/Units)</a:t>
            </a:r>
          </a:p>
        </p:txBody>
      </p:sp>
      <p:graphicFrame>
        <p:nvGraphicFramePr>
          <p:cNvPr id="21" name="Table 20"/>
          <p:cNvGraphicFramePr>
            <a:graphicFrameLocks noGrp="1"/>
          </p:cNvGraphicFramePr>
          <p:nvPr/>
        </p:nvGraphicFramePr>
        <p:xfrm>
          <a:off x="6210300" y="1611256"/>
          <a:ext cx="5829300" cy="4772086"/>
        </p:xfrm>
        <a:graphic>
          <a:graphicData uri="http://schemas.openxmlformats.org/drawingml/2006/table">
            <a:tbl>
              <a:tblPr>
                <a:tableStyleId>{5C22544A-7EE6-4342-B048-85BDC9FD1C3A}</a:tableStyleId>
              </a:tblPr>
              <a:tblGrid>
                <a:gridCol w="3902112"/>
                <a:gridCol w="963594"/>
                <a:gridCol w="96359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Rack Assist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Column Assist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Recirculating Ball and Nut Type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Steer by Wire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889316" y="3853662"/>
            <a:ext cx="366712" cy="533400"/>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Bosch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Bosch's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Bosch: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300054" cy="194310"/>
          </a:xfrm>
          <a:prstGeom prst="rect">
            <a:avLst/>
          </a:prstGeom>
          <a:noFill/>
        </p:spPr>
        <p:txBody>
          <a:bodyPr wrap="none" lIns="0" rIns="0" tIns="0" bIns="0">
            <a:spAutoFit/>
          </a:bodyPr>
          <a:lstStyle/>
          <a:p>
            <a:r>
              <a:rPr sz="1150" b="0">
                <a:solidFill>
                  <a:srgbClr val="2E2E2E"/>
                </a:solidFill>
                <a:latin typeface="Calibri"/>
              </a:rPr>
              <a:t>▪ Defend and extend leadership in 'OEM' Bosch's strongest end-market while scaling the</a:t>
            </a:r>
          </a:p>
        </p:txBody>
      </p:sp>
      <p:sp>
        <p:nvSpPr>
          <p:cNvPr id="31" name="TextBox 30"/>
          <p:cNvSpPr txBox="1"/>
          <p:nvPr/>
        </p:nvSpPr>
        <p:spPr>
          <a:xfrm>
            <a:off x="276225" y="2678589"/>
            <a:ext cx="1424309" cy="194310"/>
          </a:xfrm>
          <a:prstGeom prst="rect">
            <a:avLst/>
          </a:prstGeom>
          <a:noFill/>
        </p:spPr>
        <p:txBody>
          <a:bodyPr wrap="none" lIns="0" rIns="0" tIns="0" bIns="0">
            <a:spAutoFit/>
          </a:bodyPr>
          <a:lstStyle/>
          <a:p>
            <a:r>
              <a:rPr sz="1150" b="0">
                <a:solidFill>
                  <a:srgbClr val="2E2E2E"/>
                </a:solidFill>
                <a:latin typeface="Calibri"/>
              </a:rPr>
              <a:t>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493171" cy="194310"/>
          </a:xfrm>
          <a:prstGeom prst="rect">
            <a:avLst/>
          </a:prstGeom>
          <a:noFill/>
        </p:spPr>
        <p:txBody>
          <a:bodyPr wrap="none" lIns="0" rIns="0" tIns="0" bIns="0">
            <a:spAutoFit/>
          </a:bodyPr>
          <a:lstStyle/>
          <a:p>
            <a:r>
              <a:rPr sz="1150" b="0">
                <a:solidFill>
                  <a:srgbClr val="2E2E2E"/>
                </a:solidFill>
                <a:latin typeface="Calibri"/>
              </a:rPr>
              <a:t>▪ Premiumise the portfolio around 'Rack Assist' and adjacent high-value lines to lift blended</a:t>
            </a:r>
          </a:p>
        </p:txBody>
      </p:sp>
      <p:sp>
        <p:nvSpPr>
          <p:cNvPr id="46" name="TextBox 45"/>
          <p:cNvSpPr txBox="1"/>
          <p:nvPr/>
        </p:nvSpPr>
        <p:spPr>
          <a:xfrm>
            <a:off x="6334125" y="2678589"/>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