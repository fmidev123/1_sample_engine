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xml" ContentType="application/vnd.openxmlformats-officedocument.drawingml.chart+xml"/>
  <Override PartName="/ppt/charts/chart160.xml" ContentType="application/vnd.openxmlformats-officedocument.drawingml.chart+xml"/>
  <Override PartName="/ppt/charts/chart161.xml" ContentType="application/vnd.openxmlformats-officedocument.drawingml.chart+xml"/>
  <Override PartName="/ppt/charts/chart162.xml" ContentType="application/vnd.openxmlformats-officedocument.drawingml.chart+xml"/>
  <Override PartName="/ppt/charts/chart163.xml" ContentType="application/vnd.openxmlformats-officedocument.drawingml.chart+xml"/>
  <Override PartName="/ppt/charts/chart164.xml" ContentType="application/vnd.openxmlformats-officedocument.drawingml.chart+xml"/>
  <Override PartName="/ppt/charts/chart165.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69.xml" ContentType="application/vnd.openxmlformats-officedocument.drawingml.chart+xml"/>
  <Override PartName="/ppt/charts/chart17.xml" ContentType="application/vnd.openxmlformats-officedocument.drawingml.chart+xml"/>
  <Override PartName="/ppt/charts/chart170.xml" ContentType="application/vnd.openxmlformats-officedocument.drawingml.chart+xml"/>
  <Override PartName="/ppt/charts/chart171.xml" ContentType="application/vnd.openxmlformats-officedocument.drawingml.chart+xml"/>
  <Override PartName="/ppt/charts/chart172.xml" ContentType="application/vnd.openxmlformats-officedocument.drawingml.chart+xml"/>
  <Override PartName="/ppt/charts/chart173.xml" ContentType="application/vnd.openxmlformats-officedocument.drawingml.chart+xml"/>
  <Override PartName="/ppt/charts/chart174.xml" ContentType="application/vnd.openxmlformats-officedocument.drawingml.chart+xml"/>
  <Override PartName="/ppt/charts/chart175.xml" ContentType="application/vnd.openxmlformats-officedocument.drawingml.chart+xml"/>
  <Override PartName="/ppt/charts/chart176.xml" ContentType="application/vnd.openxmlformats-officedocument.drawingml.chart+xml"/>
  <Override PartName="/ppt/charts/chart177.xml" ContentType="application/vnd.openxmlformats-officedocument.drawingml.chart+xml"/>
  <Override PartName="/ppt/charts/chart178.xml" ContentType="application/vnd.openxmlformats-officedocument.drawingml.chart+xml"/>
  <Override PartName="/ppt/charts/chart179.xml" ContentType="application/vnd.openxmlformats-officedocument.drawingml.chart+xml"/>
  <Override PartName="/ppt/charts/chart18.xml" ContentType="application/vnd.openxmlformats-officedocument.drawingml.chart+xml"/>
  <Override PartName="/ppt/charts/chart180.xml" ContentType="application/vnd.openxmlformats-officedocument.drawingml.chart+xml"/>
  <Override PartName="/ppt/charts/chart181.xml" ContentType="application/vnd.openxmlformats-officedocument.drawingml.chart+xml"/>
  <Override PartName="/ppt/charts/chart182.xml" ContentType="application/vnd.openxmlformats-officedocument.drawingml.chart+xml"/>
  <Override PartName="/ppt/charts/chart183.xml" ContentType="application/vnd.openxmlformats-officedocument.drawingml.chart+xml"/>
  <Override PartName="/ppt/charts/chart184.xml" ContentType="application/vnd.openxmlformats-officedocument.drawingml.chart+xml"/>
  <Override PartName="/ppt/charts/chart185.xml" ContentType="application/vnd.openxmlformats-officedocument.drawingml.chart+xml"/>
  <Override PartName="/ppt/charts/chart186.xml" ContentType="application/vnd.openxmlformats-officedocument.drawingml.chart+xml"/>
  <Override PartName="/ppt/charts/chart187.xml" ContentType="application/vnd.openxmlformats-officedocument.drawingml.chart+xml"/>
  <Override PartName="/ppt/charts/chart188.xml" ContentType="application/vnd.openxmlformats-officedocument.drawingml.chart+xml"/>
  <Override PartName="/ppt/charts/chart189.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7.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6.xml" ContentType="application/vnd.openxmlformats-officedocument.presentationml.notesSlide+xml"/>
  <Override PartName="/ppt/notesSlides/notesSlide178.xml" ContentType="application/vnd.openxmlformats-officedocument.presentationml.notesSlide+xml"/>
  <Override PartName="/ppt/notesSlides/notesSlide18.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8.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7.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11.xml" ContentType="application/vnd.openxmlformats-officedocument.presentationml.slide+xml"/>
  <Override PartName="/ppt/slides/slide113.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5.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1.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6.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2.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73" r:id="rId325"/>
    <p:sldId id="565" r:id="rId317"/>
    <p:sldId id="566" r:id="rId318"/>
    <p:sldId id="567" r:id="rId319"/>
    <p:sldId id="568" r:id="rId320"/>
    <p:sldId id="569" r:id="rId321"/>
    <p:sldId id="570" r:id="rId322"/>
    <p:sldId id="571" r:id="rId323"/>
    <p:sldId id="572" r:id="rId324"/>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4" r:id="rId46"/>
    <p:sldId id="295" r:id="rId47"/>
    <p:sldId id="296" r:id="rId48"/>
    <p:sldId id="301" r:id="rId53"/>
    <p:sldId id="302" r:id="rId54"/>
    <p:sldId id="303" r:id="rId55"/>
    <p:sldId id="304" r:id="rId56"/>
    <p:sldId id="305" r:id="rId57"/>
    <p:sldId id="307" r:id="rId59"/>
    <p:sldId id="308" r:id="rId60"/>
    <p:sldId id="311" r:id="rId63"/>
    <p:sldId id="312" r:id="rId64"/>
    <p:sldId id="313" r:id="rId65"/>
    <p:sldId id="314" r:id="rId66"/>
    <p:sldId id="316" r:id="rId68"/>
    <p:sldId id="317" r:id="rId69"/>
    <p:sldId id="320" r:id="rId72"/>
    <p:sldId id="321" r:id="rId73"/>
    <p:sldId id="322" r:id="rId74"/>
    <p:sldId id="323" r:id="rId75"/>
    <p:sldId id="324" r:id="rId76"/>
    <p:sldId id="325" r:id="rId77"/>
    <p:sldId id="327" r:id="rId79"/>
    <p:sldId id="328" r:id="rId80"/>
    <p:sldId id="331" r:id="rId83"/>
    <p:sldId id="332" r:id="rId84"/>
    <p:sldId id="333" r:id="rId85"/>
    <p:sldId id="334" r:id="rId86"/>
    <p:sldId id="335" r:id="rId87"/>
    <p:sldId id="337" r:id="rId89"/>
    <p:sldId id="338" r:id="rId90"/>
    <p:sldId id="341" r:id="rId93"/>
    <p:sldId id="342" r:id="rId94"/>
    <p:sldId id="343" r:id="rId95"/>
    <p:sldId id="344" r:id="rId96"/>
    <p:sldId id="345" r:id="rId97"/>
    <p:sldId id="347" r:id="rId99"/>
    <p:sldId id="348" r:id="rId100"/>
    <p:sldId id="351" r:id="rId103"/>
    <p:sldId id="352" r:id="rId104"/>
    <p:sldId id="353" r:id="rId105"/>
    <p:sldId id="354" r:id="rId106"/>
    <p:sldId id="357" r:id="rId109"/>
    <p:sldId id="359" r:id="rId111"/>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2" r:id="rId144"/>
    <p:sldId id="393" r:id="rId145"/>
    <p:sldId id="394" r:id="rId146"/>
    <p:sldId id="399" r:id="rId151"/>
    <p:sldId id="400" r:id="rId152"/>
    <p:sldId id="401" r:id="rId153"/>
    <p:sldId id="402" r:id="rId154"/>
    <p:sldId id="403" r:id="rId155"/>
    <p:sldId id="405" r:id="rId157"/>
    <p:sldId id="406" r:id="rId158"/>
    <p:sldId id="409" r:id="rId161"/>
    <p:sldId id="410" r:id="rId162"/>
    <p:sldId id="411" r:id="rId163"/>
    <p:sldId id="412" r:id="rId164"/>
    <p:sldId id="414" r:id="rId166"/>
    <p:sldId id="415" r:id="rId167"/>
    <p:sldId id="418" r:id="rId170"/>
    <p:sldId id="419" r:id="rId171"/>
    <p:sldId id="420" r:id="rId172"/>
    <p:sldId id="421" r:id="rId173"/>
    <p:sldId id="422" r:id="rId174"/>
    <p:sldId id="423" r:id="rId175"/>
    <p:sldId id="425" r:id="rId177"/>
    <p:sldId id="426" r:id="rId178"/>
    <p:sldId id="429" r:id="rId181"/>
    <p:sldId id="430" r:id="rId182"/>
    <p:sldId id="431" r:id="rId183"/>
    <p:sldId id="432" r:id="rId184"/>
    <p:sldId id="433" r:id="rId185"/>
    <p:sldId id="435" r:id="rId187"/>
    <p:sldId id="436" r:id="rId188"/>
    <p:sldId id="439" r:id="rId191"/>
    <p:sldId id="440" r:id="rId192"/>
    <p:sldId id="441" r:id="rId193"/>
    <p:sldId id="442" r:id="rId194"/>
    <p:sldId id="443" r:id="rId195"/>
    <p:sldId id="445" r:id="rId197"/>
    <p:sldId id="446" r:id="rId198"/>
    <p:sldId id="449" r:id="rId201"/>
    <p:sldId id="450" r:id="rId202"/>
    <p:sldId id="451" r:id="rId203"/>
    <p:sldId id="452" r:id="rId204"/>
    <p:sldId id="455" r:id="rId207"/>
    <p:sldId id="457" r:id="rId209"/>
    <p:sldId id="462" r:id="rId214"/>
    <p:sldId id="463" r:id="rId215"/>
    <p:sldId id="464" r:id="rId216"/>
    <p:sldId id="465" r:id="rId217"/>
    <p:sldId id="466" r:id="rId218"/>
    <p:sldId id="467" r:id="rId219"/>
    <p:sldId id="468" r:id="rId220"/>
    <p:sldId id="469" r:id="rId221"/>
    <p:sldId id="470" r:id="rId222"/>
    <p:sldId id="472" r:id="rId224"/>
    <p:sldId id="475" r:id="rId227"/>
    <p:sldId id="476" r:id="rId228"/>
    <p:sldId id="477" r:id="rId229"/>
    <p:sldId id="479" r:id="rId231"/>
    <p:sldId id="480" r:id="rId232"/>
    <p:sldId id="481" r:id="rId233"/>
    <p:sldId id="483" r:id="rId235"/>
    <p:sldId id="484" r:id="rId236"/>
    <p:sldId id="485" r:id="rId237"/>
    <p:sldId id="487" r:id="rId239"/>
    <p:sldId id="488" r:id="rId240"/>
    <p:sldId id="489" r:id="rId241"/>
    <p:sldId id="491" r:id="rId243"/>
    <p:sldId id="492" r:id="rId244"/>
    <p:sldId id="493" r:id="rId245"/>
    <p:sldId id="495" r:id="rId247"/>
    <p:sldId id="496" r:id="rId248"/>
    <p:sldId id="498" r:id="rId250"/>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slide" Target="slides/slide31.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slide" Target="slides/slide39.xml"/><Relationship Id="rId38" Type="http://schemas.openxmlformats.org/officeDocument/2006/relationships/slide" Target="slides/slide40.xml"/><Relationship Id="rId39" Type="http://schemas.openxmlformats.org/officeDocument/2006/relationships/slide" Target="slides/slide41.xml"/><Relationship Id="rId40" Type="http://schemas.openxmlformats.org/officeDocument/2006/relationships/slide" Target="slides/slide42.xml"/><Relationship Id="rId41" Type="http://schemas.openxmlformats.org/officeDocument/2006/relationships/slide" Target="slides/slide43.xml"/><Relationship Id="rId42" Type="http://schemas.openxmlformats.org/officeDocument/2006/relationships/slide" Target="slides/slide44.xml"/><Relationship Id="rId43" Type="http://schemas.openxmlformats.org/officeDocument/2006/relationships/slide" Target="slides/slide45.xml"/><Relationship Id="rId46" Type="http://schemas.openxmlformats.org/officeDocument/2006/relationships/slide" Target="slides/slide48.xml"/><Relationship Id="rId47" Type="http://schemas.openxmlformats.org/officeDocument/2006/relationships/slide" Target="slides/slide49.xml"/><Relationship Id="rId48" Type="http://schemas.openxmlformats.org/officeDocument/2006/relationships/slide" Target="slides/slide50.xml"/><Relationship Id="rId53" Type="http://schemas.openxmlformats.org/officeDocument/2006/relationships/slide" Target="slides/slide55.xml"/><Relationship Id="rId54" Type="http://schemas.openxmlformats.org/officeDocument/2006/relationships/slide" Target="slides/slide56.xml"/><Relationship Id="rId55" Type="http://schemas.openxmlformats.org/officeDocument/2006/relationships/slide" Target="slides/slide57.xml"/><Relationship Id="rId56" Type="http://schemas.openxmlformats.org/officeDocument/2006/relationships/slide" Target="slides/slide58.xml"/><Relationship Id="rId57" Type="http://schemas.openxmlformats.org/officeDocument/2006/relationships/slide" Target="slides/slide59.xml"/><Relationship Id="rId59" Type="http://schemas.openxmlformats.org/officeDocument/2006/relationships/slide" Target="slides/slide61.xml"/><Relationship Id="rId60" Type="http://schemas.openxmlformats.org/officeDocument/2006/relationships/slide" Target="slides/slide62.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slide" Target="slides/slide68.xml"/><Relationship Id="rId68" Type="http://schemas.openxmlformats.org/officeDocument/2006/relationships/slide" Target="slides/slide70.xml"/><Relationship Id="rId69" Type="http://schemas.openxmlformats.org/officeDocument/2006/relationships/slide" Target="slides/slide71.xml"/><Relationship Id="rId72" Type="http://schemas.openxmlformats.org/officeDocument/2006/relationships/slide" Target="slides/slide74.xml"/><Relationship Id="rId73" Type="http://schemas.openxmlformats.org/officeDocument/2006/relationships/slide" Target="slides/slide75.xml"/><Relationship Id="rId74" Type="http://schemas.openxmlformats.org/officeDocument/2006/relationships/slide" Target="slides/slide76.xml"/><Relationship Id="rId75" Type="http://schemas.openxmlformats.org/officeDocument/2006/relationships/slide" Target="slides/slide77.xml"/><Relationship Id="rId76" Type="http://schemas.openxmlformats.org/officeDocument/2006/relationships/slide" Target="slides/slide78.xml"/><Relationship Id="rId77" Type="http://schemas.openxmlformats.org/officeDocument/2006/relationships/slide" Target="slides/slide79.xml"/><Relationship Id="rId79" Type="http://schemas.openxmlformats.org/officeDocument/2006/relationships/slide" Target="slides/slide81.xml"/><Relationship Id="rId80" Type="http://schemas.openxmlformats.org/officeDocument/2006/relationships/slide" Target="slides/slide82.xml"/><Relationship Id="rId83" Type="http://schemas.openxmlformats.org/officeDocument/2006/relationships/slide" Target="slides/slide85.xml"/><Relationship Id="rId84" Type="http://schemas.openxmlformats.org/officeDocument/2006/relationships/slide" Target="slides/slide86.xml"/><Relationship Id="rId85" Type="http://schemas.openxmlformats.org/officeDocument/2006/relationships/slide" Target="slides/slide87.xml"/><Relationship Id="rId86" Type="http://schemas.openxmlformats.org/officeDocument/2006/relationships/slide" Target="slides/slide88.xml"/><Relationship Id="rId87" Type="http://schemas.openxmlformats.org/officeDocument/2006/relationships/slide" Target="slides/slide89.xml"/><Relationship Id="rId89" Type="http://schemas.openxmlformats.org/officeDocument/2006/relationships/slide" Target="slides/slide91.xml"/><Relationship Id="rId90" Type="http://schemas.openxmlformats.org/officeDocument/2006/relationships/slide" Target="slides/slide92.xml"/><Relationship Id="rId93" Type="http://schemas.openxmlformats.org/officeDocument/2006/relationships/slide" Target="slides/slide95.xml"/><Relationship Id="rId94" Type="http://schemas.openxmlformats.org/officeDocument/2006/relationships/slide" Target="slides/slide96.xml"/><Relationship Id="rId95" Type="http://schemas.openxmlformats.org/officeDocument/2006/relationships/slide" Target="slides/slide97.xml"/><Relationship Id="rId96" Type="http://schemas.openxmlformats.org/officeDocument/2006/relationships/slide" Target="slides/slide98.xml"/><Relationship Id="rId97" Type="http://schemas.openxmlformats.org/officeDocument/2006/relationships/slide" Target="slides/slide99.xml"/><Relationship Id="rId99" Type="http://schemas.openxmlformats.org/officeDocument/2006/relationships/slide" Target="slides/slide101.xml"/><Relationship Id="rId100" Type="http://schemas.openxmlformats.org/officeDocument/2006/relationships/slide" Target="slides/slide102.xml"/><Relationship Id="rId103" Type="http://schemas.openxmlformats.org/officeDocument/2006/relationships/slide" Target="slides/slide105.xml"/><Relationship Id="rId104" Type="http://schemas.openxmlformats.org/officeDocument/2006/relationships/slide" Target="slides/slide106.xml"/><Relationship Id="rId105" Type="http://schemas.openxmlformats.org/officeDocument/2006/relationships/slide" Target="slides/slide107.xml"/><Relationship Id="rId106" Type="http://schemas.openxmlformats.org/officeDocument/2006/relationships/slide" Target="slides/slide108.xml"/><Relationship Id="rId109" Type="http://schemas.openxmlformats.org/officeDocument/2006/relationships/slide" Target="slides/slide111.xml"/><Relationship Id="rId111" Type="http://schemas.openxmlformats.org/officeDocument/2006/relationships/slide" Target="slides/slide113.xml"/><Relationship Id="rId116" Type="http://schemas.openxmlformats.org/officeDocument/2006/relationships/slide" Target="slides/slide118.xml"/><Relationship Id="rId117" Type="http://schemas.openxmlformats.org/officeDocument/2006/relationships/slide" Target="slides/slide119.xml"/><Relationship Id="rId118" Type="http://schemas.openxmlformats.org/officeDocument/2006/relationships/slide" Target="slides/slide120.xml"/><Relationship Id="rId119" Type="http://schemas.openxmlformats.org/officeDocument/2006/relationships/slide" Target="slides/slide121.xml"/><Relationship Id="rId120" Type="http://schemas.openxmlformats.org/officeDocument/2006/relationships/slide" Target="slides/slide122.xml"/><Relationship Id="rId121" Type="http://schemas.openxmlformats.org/officeDocument/2006/relationships/slide" Target="slides/slide123.xml"/><Relationship Id="rId122" Type="http://schemas.openxmlformats.org/officeDocument/2006/relationships/slide" Target="slides/slide124.xml"/><Relationship Id="rId123" Type="http://schemas.openxmlformats.org/officeDocument/2006/relationships/slide" Target="slides/slide125.xml"/><Relationship Id="rId124" Type="http://schemas.openxmlformats.org/officeDocument/2006/relationships/slide" Target="slides/slide126.xml"/><Relationship Id="rId125" Type="http://schemas.openxmlformats.org/officeDocument/2006/relationships/slide" Target="slides/slide127.xml"/><Relationship Id="rId126" Type="http://schemas.openxmlformats.org/officeDocument/2006/relationships/slide" Target="slides/slide128.xml"/><Relationship Id="rId127" Type="http://schemas.openxmlformats.org/officeDocument/2006/relationships/slide" Target="slides/slide129.xml"/><Relationship Id="rId128" Type="http://schemas.openxmlformats.org/officeDocument/2006/relationships/slide" Target="slides/slide130.xml"/><Relationship Id="rId129" Type="http://schemas.openxmlformats.org/officeDocument/2006/relationships/slide" Target="slides/slide131.xml"/><Relationship Id="rId130" Type="http://schemas.openxmlformats.org/officeDocument/2006/relationships/slide" Target="slides/slide132.xml"/><Relationship Id="rId131" Type="http://schemas.openxmlformats.org/officeDocument/2006/relationships/slide" Target="slides/slide133.xml"/><Relationship Id="rId132" Type="http://schemas.openxmlformats.org/officeDocument/2006/relationships/slide" Target="slides/slide134.xml"/><Relationship Id="rId133" Type="http://schemas.openxmlformats.org/officeDocument/2006/relationships/slide" Target="slides/slide135.xml"/><Relationship Id="rId134" Type="http://schemas.openxmlformats.org/officeDocument/2006/relationships/slide" Target="slides/slide136.xml"/><Relationship Id="rId135" Type="http://schemas.openxmlformats.org/officeDocument/2006/relationships/slide" Target="slides/slide137.xml"/><Relationship Id="rId136" Type="http://schemas.openxmlformats.org/officeDocument/2006/relationships/slide" Target="slides/slide138.xml"/><Relationship Id="rId137" Type="http://schemas.openxmlformats.org/officeDocument/2006/relationships/slide" Target="slides/slide139.xml"/><Relationship Id="rId138" Type="http://schemas.openxmlformats.org/officeDocument/2006/relationships/slide" Target="slides/slide140.xml"/><Relationship Id="rId139" Type="http://schemas.openxmlformats.org/officeDocument/2006/relationships/slide" Target="slides/slide141.xml"/><Relationship Id="rId140" Type="http://schemas.openxmlformats.org/officeDocument/2006/relationships/slide" Target="slides/slide142.xml"/><Relationship Id="rId141" Type="http://schemas.openxmlformats.org/officeDocument/2006/relationships/slide" Target="slides/slide143.xml"/><Relationship Id="rId144" Type="http://schemas.openxmlformats.org/officeDocument/2006/relationships/slide" Target="slides/slide146.xml"/><Relationship Id="rId145" Type="http://schemas.openxmlformats.org/officeDocument/2006/relationships/slide" Target="slides/slide147.xml"/><Relationship Id="rId146" Type="http://schemas.openxmlformats.org/officeDocument/2006/relationships/slide" Target="slides/slide148.xml"/><Relationship Id="rId151" Type="http://schemas.openxmlformats.org/officeDocument/2006/relationships/slide" Target="slides/slide153.xml"/><Relationship Id="rId152" Type="http://schemas.openxmlformats.org/officeDocument/2006/relationships/slide" Target="slides/slide154.xml"/><Relationship Id="rId153" Type="http://schemas.openxmlformats.org/officeDocument/2006/relationships/slide" Target="slides/slide155.xml"/><Relationship Id="rId154" Type="http://schemas.openxmlformats.org/officeDocument/2006/relationships/slide" Target="slides/slide156.xml"/><Relationship Id="rId155" Type="http://schemas.openxmlformats.org/officeDocument/2006/relationships/slide" Target="slides/slide157.xml"/><Relationship Id="rId157" Type="http://schemas.openxmlformats.org/officeDocument/2006/relationships/slide" Target="slides/slide159.xml"/><Relationship Id="rId158" Type="http://schemas.openxmlformats.org/officeDocument/2006/relationships/slide" Target="slides/slide160.xml"/><Relationship Id="rId161" Type="http://schemas.openxmlformats.org/officeDocument/2006/relationships/slide" Target="slides/slide163.xml"/><Relationship Id="rId162" Type="http://schemas.openxmlformats.org/officeDocument/2006/relationships/slide" Target="slides/slide164.xml"/><Relationship Id="rId163" Type="http://schemas.openxmlformats.org/officeDocument/2006/relationships/slide" Target="slides/slide165.xml"/><Relationship Id="rId164" Type="http://schemas.openxmlformats.org/officeDocument/2006/relationships/slide" Target="slides/slide166.xml"/><Relationship Id="rId166" Type="http://schemas.openxmlformats.org/officeDocument/2006/relationships/slide" Target="slides/slide168.xml"/><Relationship Id="rId167" Type="http://schemas.openxmlformats.org/officeDocument/2006/relationships/slide" Target="slides/slide169.xml"/><Relationship Id="rId170" Type="http://schemas.openxmlformats.org/officeDocument/2006/relationships/slide" Target="slides/slide172.xml"/><Relationship Id="rId171" Type="http://schemas.openxmlformats.org/officeDocument/2006/relationships/slide" Target="slides/slide173.xml"/><Relationship Id="rId172" Type="http://schemas.openxmlformats.org/officeDocument/2006/relationships/slide" Target="slides/slide174.xml"/><Relationship Id="rId173" Type="http://schemas.openxmlformats.org/officeDocument/2006/relationships/slide" Target="slides/slide175.xml"/><Relationship Id="rId174" Type="http://schemas.openxmlformats.org/officeDocument/2006/relationships/slide" Target="slides/slide176.xml"/><Relationship Id="rId175" Type="http://schemas.openxmlformats.org/officeDocument/2006/relationships/slide" Target="slides/slide177.xml"/><Relationship Id="rId177" Type="http://schemas.openxmlformats.org/officeDocument/2006/relationships/slide" Target="slides/slide179.xml"/><Relationship Id="rId178" Type="http://schemas.openxmlformats.org/officeDocument/2006/relationships/slide" Target="slides/slide180.xml"/><Relationship Id="rId181" Type="http://schemas.openxmlformats.org/officeDocument/2006/relationships/slide" Target="slides/slide183.xml"/><Relationship Id="rId182" Type="http://schemas.openxmlformats.org/officeDocument/2006/relationships/slide" Target="slides/slide184.xml"/><Relationship Id="rId183" Type="http://schemas.openxmlformats.org/officeDocument/2006/relationships/slide" Target="slides/slide185.xml"/><Relationship Id="rId184" Type="http://schemas.openxmlformats.org/officeDocument/2006/relationships/slide" Target="slides/slide186.xml"/><Relationship Id="rId185" Type="http://schemas.openxmlformats.org/officeDocument/2006/relationships/slide" Target="slides/slide187.xml"/><Relationship Id="rId187" Type="http://schemas.openxmlformats.org/officeDocument/2006/relationships/slide" Target="slides/slide189.xml"/><Relationship Id="rId188" Type="http://schemas.openxmlformats.org/officeDocument/2006/relationships/slide" Target="slides/slide190.xml"/><Relationship Id="rId191" Type="http://schemas.openxmlformats.org/officeDocument/2006/relationships/slide" Target="slides/slide193.xml"/><Relationship Id="rId192" Type="http://schemas.openxmlformats.org/officeDocument/2006/relationships/slide" Target="slides/slide194.xml"/><Relationship Id="rId193" Type="http://schemas.openxmlformats.org/officeDocument/2006/relationships/slide" Target="slides/slide195.xml"/><Relationship Id="rId194" Type="http://schemas.openxmlformats.org/officeDocument/2006/relationships/slide" Target="slides/slide196.xml"/><Relationship Id="rId195" Type="http://schemas.openxmlformats.org/officeDocument/2006/relationships/slide" Target="slides/slide197.xml"/><Relationship Id="rId197" Type="http://schemas.openxmlformats.org/officeDocument/2006/relationships/slide" Target="slides/slide199.xml"/><Relationship Id="rId198" Type="http://schemas.openxmlformats.org/officeDocument/2006/relationships/slide" Target="slides/slide200.xml"/><Relationship Id="rId201" Type="http://schemas.openxmlformats.org/officeDocument/2006/relationships/slide" Target="slides/slide203.xml"/><Relationship Id="rId202" Type="http://schemas.openxmlformats.org/officeDocument/2006/relationships/slide" Target="slides/slide204.xml"/><Relationship Id="rId203" Type="http://schemas.openxmlformats.org/officeDocument/2006/relationships/slide" Target="slides/slide205.xml"/><Relationship Id="rId204" Type="http://schemas.openxmlformats.org/officeDocument/2006/relationships/slide" Target="slides/slide206.xml"/><Relationship Id="rId207" Type="http://schemas.openxmlformats.org/officeDocument/2006/relationships/slide" Target="slides/slide209.xml"/><Relationship Id="rId209" Type="http://schemas.openxmlformats.org/officeDocument/2006/relationships/slide" Target="slides/slide211.xml"/><Relationship Id="rId214" Type="http://schemas.openxmlformats.org/officeDocument/2006/relationships/slide" Target="slides/slide216.xml"/><Relationship Id="rId215" Type="http://schemas.openxmlformats.org/officeDocument/2006/relationships/slide" Target="slides/slide217.xml"/><Relationship Id="rId216" Type="http://schemas.openxmlformats.org/officeDocument/2006/relationships/slide" Target="slides/slide218.xml"/><Relationship Id="rId217" Type="http://schemas.openxmlformats.org/officeDocument/2006/relationships/slide" Target="slides/slide219.xml"/><Relationship Id="rId218" Type="http://schemas.openxmlformats.org/officeDocument/2006/relationships/slide" Target="slides/slide220.xml"/><Relationship Id="rId219" Type="http://schemas.openxmlformats.org/officeDocument/2006/relationships/slide" Target="slides/slide221.xml"/><Relationship Id="rId220" Type="http://schemas.openxmlformats.org/officeDocument/2006/relationships/slide" Target="slides/slide222.xml"/><Relationship Id="rId221" Type="http://schemas.openxmlformats.org/officeDocument/2006/relationships/slide" Target="slides/slide223.xml"/><Relationship Id="rId222" Type="http://schemas.openxmlformats.org/officeDocument/2006/relationships/slide" Target="slides/slide224.xml"/><Relationship Id="rId224" Type="http://schemas.openxmlformats.org/officeDocument/2006/relationships/slide" Target="slides/slide226.xml"/><Relationship Id="rId227" Type="http://schemas.openxmlformats.org/officeDocument/2006/relationships/slide" Target="slides/slide229.xml"/><Relationship Id="rId228" Type="http://schemas.openxmlformats.org/officeDocument/2006/relationships/slide" Target="slides/slide230.xml"/><Relationship Id="rId229" Type="http://schemas.openxmlformats.org/officeDocument/2006/relationships/slide" Target="slides/slide231.xml"/><Relationship Id="rId231" Type="http://schemas.openxmlformats.org/officeDocument/2006/relationships/slide" Target="slides/slide233.xml"/><Relationship Id="rId232" Type="http://schemas.openxmlformats.org/officeDocument/2006/relationships/slide" Target="slides/slide234.xml"/><Relationship Id="rId233" Type="http://schemas.openxmlformats.org/officeDocument/2006/relationships/slide" Target="slides/slide235.xml"/><Relationship Id="rId235" Type="http://schemas.openxmlformats.org/officeDocument/2006/relationships/slide" Target="slides/slide237.xml"/><Relationship Id="rId236" Type="http://schemas.openxmlformats.org/officeDocument/2006/relationships/slide" Target="slides/slide238.xml"/><Relationship Id="rId237" Type="http://schemas.openxmlformats.org/officeDocument/2006/relationships/slide" Target="slides/slide239.xml"/><Relationship Id="rId239" Type="http://schemas.openxmlformats.org/officeDocument/2006/relationships/slide" Target="slides/slide241.xml"/><Relationship Id="rId240" Type="http://schemas.openxmlformats.org/officeDocument/2006/relationships/slide" Target="slides/slide242.xml"/><Relationship Id="rId241" Type="http://schemas.openxmlformats.org/officeDocument/2006/relationships/slide" Target="slides/slide243.xml"/><Relationship Id="rId243" Type="http://schemas.openxmlformats.org/officeDocument/2006/relationships/slide" Target="slides/slide245.xml"/><Relationship Id="rId244" Type="http://schemas.openxmlformats.org/officeDocument/2006/relationships/slide" Target="slides/slide246.xml"/><Relationship Id="rId245" Type="http://schemas.openxmlformats.org/officeDocument/2006/relationships/slide" Target="slides/slide247.xml"/><Relationship Id="rId247" Type="http://schemas.openxmlformats.org/officeDocument/2006/relationships/slide" Target="slides/slide249.xml"/><Relationship Id="rId248" Type="http://schemas.openxmlformats.org/officeDocument/2006/relationships/slide" Target="slides/slide250.xml"/><Relationship Id="rId250" Type="http://schemas.openxmlformats.org/officeDocument/2006/relationships/slide" Target="slides/slide252.xml"/><Relationship Id="rId253" Type="http://schemas.openxmlformats.org/officeDocument/2006/relationships/slide" Target="slides/slide255.xml"/><Relationship Id="rId254" Type="http://schemas.openxmlformats.org/officeDocument/2006/relationships/slide" Target="slides/slide256.xml"/><Relationship Id="rId255" Type="http://schemas.openxmlformats.org/officeDocument/2006/relationships/slide" Target="slides/slide257.xml"/><Relationship Id="rId256" Type="http://schemas.openxmlformats.org/officeDocument/2006/relationships/slide" Target="slides/slide258.xml"/><Relationship Id="rId257" Type="http://schemas.openxmlformats.org/officeDocument/2006/relationships/slide" Target="slides/slide259.xml"/><Relationship Id="rId258" Type="http://schemas.openxmlformats.org/officeDocument/2006/relationships/slide" Target="slides/slide260.xml"/><Relationship Id="rId259" Type="http://schemas.openxmlformats.org/officeDocument/2006/relationships/slide" Target="slides/slide261.xml"/><Relationship Id="rId260" Type="http://schemas.openxmlformats.org/officeDocument/2006/relationships/slide" Target="slides/slide262.xml"/><Relationship Id="rId261" Type="http://schemas.openxmlformats.org/officeDocument/2006/relationships/slide" Target="slides/slide263.xml"/><Relationship Id="rId262" Type="http://schemas.openxmlformats.org/officeDocument/2006/relationships/slide" Target="slides/slide264.xml"/><Relationship Id="rId263" Type="http://schemas.openxmlformats.org/officeDocument/2006/relationships/slide" Target="slides/slide265.xml"/><Relationship Id="rId264" Type="http://schemas.openxmlformats.org/officeDocument/2006/relationships/slide" Target="slides/slide266.xml"/><Relationship Id="rId265" Type="http://schemas.openxmlformats.org/officeDocument/2006/relationships/slide" Target="slides/slide267.xml"/><Relationship Id="rId266" Type="http://schemas.openxmlformats.org/officeDocument/2006/relationships/slide" Target="slides/slide268.xml"/><Relationship Id="rId267" Type="http://schemas.openxmlformats.org/officeDocument/2006/relationships/slide" Target="slides/slide269.xml"/><Relationship Id="rId268" Type="http://schemas.openxmlformats.org/officeDocument/2006/relationships/slide" Target="slides/slide270.xml"/><Relationship Id="rId269" Type="http://schemas.openxmlformats.org/officeDocument/2006/relationships/slide" Target="slides/slide271.xml"/><Relationship Id="rId270" Type="http://schemas.openxmlformats.org/officeDocument/2006/relationships/slide" Target="slides/slide272.xml"/><Relationship Id="rId271" Type="http://schemas.openxmlformats.org/officeDocument/2006/relationships/slide" Target="slides/slide273.xml"/><Relationship Id="rId272" Type="http://schemas.openxmlformats.org/officeDocument/2006/relationships/slide" Target="slides/slide274.xml"/><Relationship Id="rId273" Type="http://schemas.openxmlformats.org/officeDocument/2006/relationships/slide" Target="slides/slide275.xml"/><Relationship Id="rId274" Type="http://schemas.openxmlformats.org/officeDocument/2006/relationships/slide" Target="slides/slide276.xml"/><Relationship Id="rId275" Type="http://schemas.openxmlformats.org/officeDocument/2006/relationships/slide" Target="slides/slide277.xml"/><Relationship Id="rId276" Type="http://schemas.openxmlformats.org/officeDocument/2006/relationships/slide" Target="slides/slide278.xml"/><Relationship Id="rId277" Type="http://schemas.openxmlformats.org/officeDocument/2006/relationships/slide" Target="slides/slide279.xml"/><Relationship Id="rId278" Type="http://schemas.openxmlformats.org/officeDocument/2006/relationships/slide" Target="slides/slide280.xml"/><Relationship Id="rId279" Type="http://schemas.openxmlformats.org/officeDocument/2006/relationships/slide" Target="slides/slide281.xml"/><Relationship Id="rId280" Type="http://schemas.openxmlformats.org/officeDocument/2006/relationships/slide" Target="slides/slide282.xml"/><Relationship Id="rId281" Type="http://schemas.openxmlformats.org/officeDocument/2006/relationships/slide" Target="slides/slide283.xml"/><Relationship Id="rId282" Type="http://schemas.openxmlformats.org/officeDocument/2006/relationships/slide" Target="slides/slide284.xml"/><Relationship Id="rId283" Type="http://schemas.openxmlformats.org/officeDocument/2006/relationships/slide" Target="slides/slide285.xml"/><Relationship Id="rId284" Type="http://schemas.openxmlformats.org/officeDocument/2006/relationships/slide" Target="slides/slide286.xml"/><Relationship Id="rId285" Type="http://schemas.openxmlformats.org/officeDocument/2006/relationships/slide" Target="slides/slide287.xml"/><Relationship Id="rId286" Type="http://schemas.openxmlformats.org/officeDocument/2006/relationships/slide" Target="slides/slide288.xml"/><Relationship Id="rId287" Type="http://schemas.openxmlformats.org/officeDocument/2006/relationships/slide" Target="slides/slide289.xml"/><Relationship Id="rId288" Type="http://schemas.openxmlformats.org/officeDocument/2006/relationships/slide" Target="slides/slide290.xml"/><Relationship Id="rId289" Type="http://schemas.openxmlformats.org/officeDocument/2006/relationships/slide" Target="slides/slide291.xml"/><Relationship Id="rId290" Type="http://schemas.openxmlformats.org/officeDocument/2006/relationships/slide" Target="slides/slide292.xml"/><Relationship Id="rId291" Type="http://schemas.openxmlformats.org/officeDocument/2006/relationships/slide" Target="slides/slide293.xml"/><Relationship Id="rId292" Type="http://schemas.openxmlformats.org/officeDocument/2006/relationships/slide" Target="slides/slide294.xml"/><Relationship Id="rId293" Type="http://schemas.openxmlformats.org/officeDocument/2006/relationships/slide" Target="slides/slide295.xml"/><Relationship Id="rId294" Type="http://schemas.openxmlformats.org/officeDocument/2006/relationships/slide" Target="slides/slide296.xml"/><Relationship Id="rId295" Type="http://schemas.openxmlformats.org/officeDocument/2006/relationships/slide" Target="slides/slide297.xml"/><Relationship Id="rId296" Type="http://schemas.openxmlformats.org/officeDocument/2006/relationships/slide" Target="slides/slide298.xml"/><Relationship Id="rId297" Type="http://schemas.openxmlformats.org/officeDocument/2006/relationships/slide" Target="slides/slide299.xml"/><Relationship Id="rId298" Type="http://schemas.openxmlformats.org/officeDocument/2006/relationships/slide" Target="slides/slide300.xml"/><Relationship Id="rId299" Type="http://schemas.openxmlformats.org/officeDocument/2006/relationships/slide" Target="slides/slide301.xml"/><Relationship Id="rId300" Type="http://schemas.openxmlformats.org/officeDocument/2006/relationships/slide" Target="slides/slide302.xml"/><Relationship Id="rId301" Type="http://schemas.openxmlformats.org/officeDocument/2006/relationships/slide" Target="slides/slide303.xml"/><Relationship Id="rId302" Type="http://schemas.openxmlformats.org/officeDocument/2006/relationships/slide" Target="slides/slide304.xml"/><Relationship Id="rId303" Type="http://schemas.openxmlformats.org/officeDocument/2006/relationships/slide" Target="slides/slide305.xml"/><Relationship Id="rId304" Type="http://schemas.openxmlformats.org/officeDocument/2006/relationships/slide" Target="slides/slide306.xml"/><Relationship Id="rId305" Type="http://schemas.openxmlformats.org/officeDocument/2006/relationships/slide" Target="slides/slide307.xml"/><Relationship Id="rId306" Type="http://schemas.openxmlformats.org/officeDocument/2006/relationships/slide" Target="slides/slide308.xml"/><Relationship Id="rId317" Type="http://schemas.openxmlformats.org/officeDocument/2006/relationships/slide" Target="slides/slide11.xml"/><Relationship Id="rId318" Type="http://schemas.openxmlformats.org/officeDocument/2006/relationships/slide" Target="slides/slide12.xml"/><Relationship Id="rId319" Type="http://schemas.openxmlformats.org/officeDocument/2006/relationships/slide" Target="slides/slide13.xml"/><Relationship Id="rId320" Type="http://schemas.openxmlformats.org/officeDocument/2006/relationships/slide" Target="slides/slide14.xml"/><Relationship Id="rId321" Type="http://schemas.openxmlformats.org/officeDocument/2006/relationships/slide" Target="slides/slide15.xml"/><Relationship Id="rId322" Type="http://schemas.openxmlformats.org/officeDocument/2006/relationships/slide" Target="slides/slide16.xml"/><Relationship Id="rId323" Type="http://schemas.openxmlformats.org/officeDocument/2006/relationships/slide" Target="slides/slide17.xml"/><Relationship Id="rId324" Type="http://schemas.openxmlformats.org/officeDocument/2006/relationships/slide" Target="slides/slide18.xml"/><Relationship Id="rId325" Type="http://schemas.openxmlformats.org/officeDocument/2006/relationships/slide" Target="slides/slide10.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s>
</file>

<file path=ppt/charts/_rels/chart11.xml.rels><?xml version='1.0' encoding='UTF-8' standalone='yes'?>
<Relationships xmlns="http://schemas.openxmlformats.org/package/2006/relationships"><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s>
</file>

<file path=ppt/charts/_rels/chart12.xml.rels><?xml version='1.0' encoding='UTF-8' standalone='yes'?>
<Relationships xmlns="http://schemas.openxmlformats.org/package/2006/relationships"><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image" Target="../media/image106.png"/><Relationship Id="rId11" Type="http://schemas.openxmlformats.org/officeDocument/2006/relationships/image" Target="../media/image107.png"/><Relationship Id="rId12" Type="http://schemas.openxmlformats.org/officeDocument/2006/relationships/image" Target="../media/image108.png"/><Relationship Id="rId13" Type="http://schemas.openxmlformats.org/officeDocument/2006/relationships/image" Target="../media/image109.png"/></Relationships>
</file>

<file path=ppt/charts/_rels/chart13.xml.rels><?xml version='1.0' encoding='UTF-8' standalone='yes'?>
<Relationships xmlns="http://schemas.openxmlformats.org/package/2006/relationships"><Relationship Id="rId2" Type="http://schemas.openxmlformats.org/officeDocument/2006/relationships/image" Target="../media/image113.png"/></Relationships>
</file>

<file path=ppt/charts/_rels/chart14.xml.rels><?xml version='1.0' encoding='UTF-8' standalone='yes'?>
<Relationships xmlns="http://schemas.openxmlformats.org/package/2006/relationships"><Relationship Id="rId2" Type="http://schemas.openxmlformats.org/officeDocument/2006/relationships/image" Target="../media/image114.png"/></Relationships>
</file>

<file path=ppt/charts/_rels/chart15.xml.rels><?xml version='1.0' encoding='UTF-8' standalone='yes'?>
<Relationships xmlns="http://schemas.openxmlformats.org/package/2006/relationships"><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image" Target="../media/image141.png"/><Relationship Id="rId8" Type="http://schemas.openxmlformats.org/officeDocument/2006/relationships/image" Target="../media/image142.png"/><Relationship Id="rId9" Type="http://schemas.openxmlformats.org/officeDocument/2006/relationships/image" Target="../media/image143.pn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146.png"/><Relationship Id="rId13" Type="http://schemas.openxmlformats.org/officeDocument/2006/relationships/image" Target="../media/image147.png"/><Relationship Id="rId14" Type="http://schemas.openxmlformats.org/officeDocument/2006/relationships/image" Target="../media/image148.png"/><Relationship Id="rId15" Type="http://schemas.openxmlformats.org/officeDocument/2006/relationships/image" Target="../media/image149.png"/><Relationship Id="rId16" Type="http://schemas.openxmlformats.org/officeDocument/2006/relationships/image" Target="../media/image150.png"/><Relationship Id="rId17" Type="http://schemas.openxmlformats.org/officeDocument/2006/relationships/image" Target="../media/image151.png"/><Relationship Id="rId18" Type="http://schemas.openxmlformats.org/officeDocument/2006/relationships/image" Target="../media/image152.png"/><Relationship Id="rId19" Type="http://schemas.openxmlformats.org/officeDocument/2006/relationships/image" Target="../media/image153.png"/><Relationship Id="rId20" Type="http://schemas.openxmlformats.org/officeDocument/2006/relationships/image" Target="../media/image154.png"/><Relationship Id="rId21" Type="http://schemas.openxmlformats.org/officeDocument/2006/relationships/image" Target="../media/image155.png"/><Relationship Id="rId22" Type="http://schemas.openxmlformats.org/officeDocument/2006/relationships/image" Target="../media/image156.png"/><Relationship Id="rId23" Type="http://schemas.openxmlformats.org/officeDocument/2006/relationships/image" Target="../media/image157.png"/><Relationship Id="rId24" Type="http://schemas.openxmlformats.org/officeDocument/2006/relationships/image" Target="../media/image158.png"/><Relationship Id="rId25" Type="http://schemas.openxmlformats.org/officeDocument/2006/relationships/image" Target="../media/image159.png"/><Relationship Id="rId26" Type="http://schemas.openxmlformats.org/officeDocument/2006/relationships/image" Target="../media/image160.png"/><Relationship Id="rId27" Type="http://schemas.openxmlformats.org/officeDocument/2006/relationships/image" Target="../media/image161.png"/><Relationship Id="rId28" Type="http://schemas.openxmlformats.org/officeDocument/2006/relationships/image" Target="../media/image162.png"/><Relationship Id="rId29" Type="http://schemas.openxmlformats.org/officeDocument/2006/relationships/image" Target="../media/image163.png"/><Relationship Id="rId30" Type="http://schemas.openxmlformats.org/officeDocument/2006/relationships/image" Target="../media/image164.png"/><Relationship Id="rId31" Type="http://schemas.openxmlformats.org/officeDocument/2006/relationships/image" Target="../media/image165.png"/><Relationship Id="rId32" Type="http://schemas.openxmlformats.org/officeDocument/2006/relationships/image" Target="../media/image166.png"/><Relationship Id="rId33" Type="http://schemas.openxmlformats.org/officeDocument/2006/relationships/image" Target="../media/image167.png"/><Relationship Id="rId34" Type="http://schemas.openxmlformats.org/officeDocument/2006/relationships/image" Target="../media/image168.png"/><Relationship Id="rId35" Type="http://schemas.openxmlformats.org/officeDocument/2006/relationships/image" Target="../media/image169.png"/><Relationship Id="rId36" Type="http://schemas.openxmlformats.org/officeDocument/2006/relationships/image" Target="../media/image170.png"/><Relationship Id="rId37" Type="http://schemas.openxmlformats.org/officeDocument/2006/relationships/image" Target="../media/image171.png"/><Relationship Id="rId38" Type="http://schemas.openxmlformats.org/officeDocument/2006/relationships/image" Target="../media/image172.png"/></Relationships>
</file>

<file path=ppt/charts/_rels/chart25.xml.rels><?xml version='1.0' encoding='UTF-8' standalone='yes'?>
<Relationships xmlns="http://schemas.openxmlformats.org/package/2006/relationships"><Relationship Id="rId2" Type="http://schemas.openxmlformats.org/officeDocument/2006/relationships/image" Target="../media/image173.png"/><Relationship Id="rId3" Type="http://schemas.openxmlformats.org/officeDocument/2006/relationships/image" Target="../media/image174.png"/><Relationship Id="rId4" Type="http://schemas.openxmlformats.org/officeDocument/2006/relationships/image" Target="../media/image175.png"/><Relationship Id="rId5" Type="http://schemas.openxmlformats.org/officeDocument/2006/relationships/image" Target="../media/image176.png"/><Relationship Id="rId6" Type="http://schemas.openxmlformats.org/officeDocument/2006/relationships/image" Target="../media/image177.png"/><Relationship Id="rId7" Type="http://schemas.openxmlformats.org/officeDocument/2006/relationships/image" Target="../media/image178.png"/><Relationship Id="rId8" Type="http://schemas.openxmlformats.org/officeDocument/2006/relationships/image" Target="../media/image179.png"/><Relationship Id="rId9" Type="http://schemas.openxmlformats.org/officeDocument/2006/relationships/image" Target="../media/image180.png"/><Relationship Id="rId10" Type="http://schemas.openxmlformats.org/officeDocument/2006/relationships/image" Target="../media/image181.png"/><Relationship Id="rId11" Type="http://schemas.openxmlformats.org/officeDocument/2006/relationships/image" Target="../media/image182.png"/><Relationship Id="rId12" Type="http://schemas.openxmlformats.org/officeDocument/2006/relationships/image" Target="../media/image183.png"/><Relationship Id="rId13" Type="http://schemas.openxmlformats.org/officeDocument/2006/relationships/image" Target="../media/image184.png"/><Relationship Id="rId14" Type="http://schemas.openxmlformats.org/officeDocument/2006/relationships/image" Target="../media/image185.png"/><Relationship Id="rId15" Type="http://schemas.openxmlformats.org/officeDocument/2006/relationships/image" Target="../media/image186.png"/><Relationship Id="rId16" Type="http://schemas.openxmlformats.org/officeDocument/2006/relationships/image" Target="../media/image187.png"/><Relationship Id="rId17" Type="http://schemas.openxmlformats.org/officeDocument/2006/relationships/image" Target="../media/image188.png"/><Relationship Id="rId18" Type="http://schemas.openxmlformats.org/officeDocument/2006/relationships/image" Target="../media/image189.png"/><Relationship Id="rId19" Type="http://schemas.openxmlformats.org/officeDocument/2006/relationships/image" Target="../media/image190.png"/><Relationship Id="rId20" Type="http://schemas.openxmlformats.org/officeDocument/2006/relationships/image" Target="../media/image191.png"/><Relationship Id="rId21" Type="http://schemas.openxmlformats.org/officeDocument/2006/relationships/image" Target="../media/image192.png"/><Relationship Id="rId22" Type="http://schemas.openxmlformats.org/officeDocument/2006/relationships/image" Target="../media/image193.png"/><Relationship Id="rId23" Type="http://schemas.openxmlformats.org/officeDocument/2006/relationships/image" Target="../media/image194.png"/><Relationship Id="rId24" Type="http://schemas.openxmlformats.org/officeDocument/2006/relationships/image" Target="../media/image195.png"/></Relationships>
</file>

<file path=ppt/charts/_rels/chart26.xml.rels><?xml version='1.0' encoding='UTF-8' standalone='yes'?>
<Relationships xmlns="http://schemas.openxmlformats.org/package/2006/relationships"><Relationship Id="rId2" Type="http://schemas.openxmlformats.org/officeDocument/2006/relationships/image" Target="../media/image210.png"/><Relationship Id="rId3" Type="http://schemas.openxmlformats.org/officeDocument/2006/relationships/image" Target="../media/image211.png"/><Relationship Id="rId4" Type="http://schemas.openxmlformats.org/officeDocument/2006/relationships/image" Target="../media/image212.png"/><Relationship Id="rId5" Type="http://schemas.openxmlformats.org/officeDocument/2006/relationships/image" Target="../media/image213.png"/><Relationship Id="rId6" Type="http://schemas.openxmlformats.org/officeDocument/2006/relationships/image" Target="../media/image214.png"/><Relationship Id="rId7" Type="http://schemas.openxmlformats.org/officeDocument/2006/relationships/image" Target="../media/image215.png"/><Relationship Id="rId8" Type="http://schemas.openxmlformats.org/officeDocument/2006/relationships/image" Target="../media/image216.png"/><Relationship Id="rId9" Type="http://schemas.openxmlformats.org/officeDocument/2006/relationships/image" Target="../media/image217.png"/><Relationship Id="rId10" Type="http://schemas.openxmlformats.org/officeDocument/2006/relationships/image" Target="../media/image218.png"/><Relationship Id="rId11" Type="http://schemas.openxmlformats.org/officeDocument/2006/relationships/image" Target="../media/image219.png"/><Relationship Id="rId12" Type="http://schemas.openxmlformats.org/officeDocument/2006/relationships/image" Target="../media/image220.png"/><Relationship Id="rId13" Type="http://schemas.openxmlformats.org/officeDocument/2006/relationships/image" Target="../media/image221.png"/><Relationship Id="rId14" Type="http://schemas.openxmlformats.org/officeDocument/2006/relationships/image" Target="../media/image222.png"/><Relationship Id="rId15" Type="http://schemas.openxmlformats.org/officeDocument/2006/relationships/image" Target="../media/image223.png"/><Relationship Id="rId16" Type="http://schemas.openxmlformats.org/officeDocument/2006/relationships/image" Target="../media/image224.png"/><Relationship Id="rId17" Type="http://schemas.openxmlformats.org/officeDocument/2006/relationships/image" Target="../media/image225.png"/><Relationship Id="rId18" Type="http://schemas.openxmlformats.org/officeDocument/2006/relationships/image" Target="../media/image226.png"/><Relationship Id="rId19" Type="http://schemas.openxmlformats.org/officeDocument/2006/relationships/image" Target="../media/image227.png"/><Relationship Id="rId20" Type="http://schemas.openxmlformats.org/officeDocument/2006/relationships/image" Target="../media/image228.png"/><Relationship Id="rId21" Type="http://schemas.openxmlformats.org/officeDocument/2006/relationships/image" Target="../media/image229.png"/><Relationship Id="rId22" Type="http://schemas.openxmlformats.org/officeDocument/2006/relationships/image" Target="../media/image230.png"/><Relationship Id="rId23" Type="http://schemas.openxmlformats.org/officeDocument/2006/relationships/image" Target="../media/image231.png"/></Relationships>
</file>

<file path=ppt/charts/_rels/chart33.xml.rels><?xml version='1.0' encoding='UTF-8' standalone='yes'?>
<Relationships xmlns="http://schemas.openxmlformats.org/package/2006/relationships"><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40.png"/><Relationship Id="rId11" Type="http://schemas.openxmlformats.org/officeDocument/2006/relationships/image" Target="../media/image241.png"/><Relationship Id="rId12" Type="http://schemas.openxmlformats.org/officeDocument/2006/relationships/image" Target="../media/image242.png"/><Relationship Id="rId13" Type="http://schemas.openxmlformats.org/officeDocument/2006/relationships/image" Target="../media/image243.png"/><Relationship Id="rId14" Type="http://schemas.openxmlformats.org/officeDocument/2006/relationships/image" Target="../media/image244.png"/><Relationship Id="rId15" Type="http://schemas.openxmlformats.org/officeDocument/2006/relationships/image" Target="../media/image245.png"/></Relationships>
</file>

<file path=ppt/charts/_rels/chart34.xml.rels><?xml version='1.0' encoding='UTF-8' standalone='yes'?>
<Relationships xmlns="http://schemas.openxmlformats.org/package/2006/relationships"><Relationship Id="rId2" Type="http://schemas.openxmlformats.org/officeDocument/2006/relationships/image" Target="../media/image253.png"/><Relationship Id="rId3" Type="http://schemas.openxmlformats.org/officeDocument/2006/relationships/image" Target="../media/image254.png"/><Relationship Id="rId4" Type="http://schemas.openxmlformats.org/officeDocument/2006/relationships/image" Target="../media/image255.png"/><Relationship Id="rId5" Type="http://schemas.openxmlformats.org/officeDocument/2006/relationships/image" Target="../media/image256.png"/><Relationship Id="rId6" Type="http://schemas.openxmlformats.org/officeDocument/2006/relationships/image" Target="../media/image257.png"/><Relationship Id="rId7" Type="http://schemas.openxmlformats.org/officeDocument/2006/relationships/image" Target="../media/image258.png"/><Relationship Id="rId8" Type="http://schemas.openxmlformats.org/officeDocument/2006/relationships/image" Target="../media/image259.png"/><Relationship Id="rId9" Type="http://schemas.openxmlformats.org/officeDocument/2006/relationships/image" Target="../media/image260.png"/><Relationship Id="rId10" Type="http://schemas.openxmlformats.org/officeDocument/2006/relationships/image" Target="../media/image261.png"/><Relationship Id="rId11" Type="http://schemas.openxmlformats.org/officeDocument/2006/relationships/image" Target="../media/image262.png"/><Relationship Id="rId12" Type="http://schemas.openxmlformats.org/officeDocument/2006/relationships/image" Target="../media/image263.png"/><Relationship Id="rId13" Type="http://schemas.openxmlformats.org/officeDocument/2006/relationships/image" Target="../media/image264.png"/><Relationship Id="rId14" Type="http://schemas.openxmlformats.org/officeDocument/2006/relationships/image" Target="../media/image265.png"/><Relationship Id="rId15" Type="http://schemas.openxmlformats.org/officeDocument/2006/relationships/image" Target="../media/image266.png"/><Relationship Id="rId16" Type="http://schemas.openxmlformats.org/officeDocument/2006/relationships/image" Target="../media/image267.png"/><Relationship Id="rId17" Type="http://schemas.openxmlformats.org/officeDocument/2006/relationships/image" Target="../media/image268.png"/><Relationship Id="rId18" Type="http://schemas.openxmlformats.org/officeDocument/2006/relationships/image" Target="../media/image269.png"/></Relationships>
</file>

<file path=ppt/charts/_rels/chart39.xml.rels><?xml version='1.0' encoding='UTF-8' standalone='yes'?>
<Relationships xmlns="http://schemas.openxmlformats.org/package/2006/relationships"><Relationship Id="rId2" Type="http://schemas.openxmlformats.org/officeDocument/2006/relationships/image" Target="../media/image270.png"/><Relationship Id="rId3" Type="http://schemas.openxmlformats.org/officeDocument/2006/relationships/image" Target="../media/image271.png"/><Relationship Id="rId4" Type="http://schemas.openxmlformats.org/officeDocument/2006/relationships/image" Target="../media/image272.png"/><Relationship Id="rId5" Type="http://schemas.openxmlformats.org/officeDocument/2006/relationships/image" Target="../media/image273.png"/><Relationship Id="rId6" Type="http://schemas.openxmlformats.org/officeDocument/2006/relationships/image" Target="../media/image274.png"/><Relationship Id="rId7" Type="http://schemas.openxmlformats.org/officeDocument/2006/relationships/image" Target="../media/image275.png"/><Relationship Id="rId8" Type="http://schemas.openxmlformats.org/officeDocument/2006/relationships/image" Target="../media/image276.png"/><Relationship Id="rId9" Type="http://schemas.openxmlformats.org/officeDocument/2006/relationships/image" Target="../media/image277.png"/></Relationships>
</file>

<file path=ppt/charts/_rels/chart40.xml.rels><?xml version='1.0' encoding='UTF-8' standalone='yes'?>
<Relationships xmlns="http://schemas.openxmlformats.org/package/2006/relationships"><Relationship Id="rId2" Type="http://schemas.openxmlformats.org/officeDocument/2006/relationships/image" Target="../media/image294.png"/><Relationship Id="rId3" Type="http://schemas.openxmlformats.org/officeDocument/2006/relationships/image" Target="../media/image295.png"/><Relationship Id="rId4" Type="http://schemas.openxmlformats.org/officeDocument/2006/relationships/image" Target="../media/image296.png"/><Relationship Id="rId5" Type="http://schemas.openxmlformats.org/officeDocument/2006/relationships/image" Target="../media/image297.png"/><Relationship Id="rId6" Type="http://schemas.openxmlformats.org/officeDocument/2006/relationships/image" Target="../media/image298.png"/><Relationship Id="rId7" Type="http://schemas.openxmlformats.org/officeDocument/2006/relationships/image" Target="../media/image299.png"/><Relationship Id="rId8" Type="http://schemas.openxmlformats.org/officeDocument/2006/relationships/image" Target="../media/image300.png"/><Relationship Id="rId9" Type="http://schemas.openxmlformats.org/officeDocument/2006/relationships/image" Target="../media/image301.png"/><Relationship Id="rId10" Type="http://schemas.openxmlformats.org/officeDocument/2006/relationships/image" Target="../media/image302.png"/><Relationship Id="rId11" Type="http://schemas.openxmlformats.org/officeDocument/2006/relationships/image" Target="../media/image303.png"/><Relationship Id="rId12" Type="http://schemas.openxmlformats.org/officeDocument/2006/relationships/image" Target="../media/image304.png"/><Relationship Id="rId13" Type="http://schemas.openxmlformats.org/officeDocument/2006/relationships/image" Target="../media/image305.png"/><Relationship Id="rId14" Type="http://schemas.openxmlformats.org/officeDocument/2006/relationships/image" Target="../media/image306.png"/><Relationship Id="rId15" Type="http://schemas.openxmlformats.org/officeDocument/2006/relationships/image" Target="../media/image307.png"/><Relationship Id="rId16" Type="http://schemas.openxmlformats.org/officeDocument/2006/relationships/image" Target="../media/image308.png"/><Relationship Id="rId17" Type="http://schemas.openxmlformats.org/officeDocument/2006/relationships/image" Target="../media/image309.png"/><Relationship Id="rId18" Type="http://schemas.openxmlformats.org/officeDocument/2006/relationships/image" Target="../media/image310.png"/><Relationship Id="rId19" Type="http://schemas.openxmlformats.org/officeDocument/2006/relationships/image" Target="../media/image311.png"/><Relationship Id="rId20" Type="http://schemas.openxmlformats.org/officeDocument/2006/relationships/image" Target="../media/image312.png"/><Relationship Id="rId21" Type="http://schemas.openxmlformats.org/officeDocument/2006/relationships/image" Target="../media/image313.png"/><Relationship Id="rId22" Type="http://schemas.openxmlformats.org/officeDocument/2006/relationships/image" Target="../media/image314.png"/><Relationship Id="rId23" Type="http://schemas.openxmlformats.org/officeDocument/2006/relationships/image" Target="../media/image315.png"/><Relationship Id="rId24" Type="http://schemas.openxmlformats.org/officeDocument/2006/relationships/image" Target="../media/image316.png"/><Relationship Id="rId25" Type="http://schemas.openxmlformats.org/officeDocument/2006/relationships/image" Target="../media/image317.png"/><Relationship Id="rId26" Type="http://schemas.openxmlformats.org/officeDocument/2006/relationships/image" Target="../media/image318.png"/><Relationship Id="rId27" Type="http://schemas.openxmlformats.org/officeDocument/2006/relationships/image" Target="../media/image319.png"/><Relationship Id="rId28" Type="http://schemas.openxmlformats.org/officeDocument/2006/relationships/image" Target="../media/image320.png"/><Relationship Id="rId29" Type="http://schemas.openxmlformats.org/officeDocument/2006/relationships/image" Target="../media/image321.png"/><Relationship Id="rId30" Type="http://schemas.openxmlformats.org/officeDocument/2006/relationships/image" Target="../media/image322.png"/></Relationships>
</file>

<file path=ppt/charts/_rels/chart48.xml.rels><?xml version='1.0' encoding='UTF-8' standalone='yes'?>
<Relationships xmlns="http://schemas.openxmlformats.org/package/2006/relationships"><Relationship Id="rId2" Type="http://schemas.openxmlformats.org/officeDocument/2006/relationships/image" Target="../media/image323.png"/><Relationship Id="rId3" Type="http://schemas.openxmlformats.org/officeDocument/2006/relationships/image" Target="../media/image324.png"/><Relationship Id="rId4" Type="http://schemas.openxmlformats.org/officeDocument/2006/relationships/image" Target="../media/image325.png"/><Relationship Id="rId5" Type="http://schemas.openxmlformats.org/officeDocument/2006/relationships/image" Target="../media/image326.png"/><Relationship Id="rId6" Type="http://schemas.openxmlformats.org/officeDocument/2006/relationships/image" Target="../media/image327.png"/><Relationship Id="rId7" Type="http://schemas.openxmlformats.org/officeDocument/2006/relationships/image" Target="../media/image328.png"/><Relationship Id="rId8" Type="http://schemas.openxmlformats.org/officeDocument/2006/relationships/image" Target="../media/image329.png"/><Relationship Id="rId9" Type="http://schemas.openxmlformats.org/officeDocument/2006/relationships/image" Target="../media/image330.png"/><Relationship Id="rId10" Type="http://schemas.openxmlformats.org/officeDocument/2006/relationships/image" Target="../media/image331.png"/><Relationship Id="rId11" Type="http://schemas.openxmlformats.org/officeDocument/2006/relationships/image" Target="../media/image332.png"/><Relationship Id="rId12" Type="http://schemas.openxmlformats.org/officeDocument/2006/relationships/image" Target="../media/image333.png"/><Relationship Id="rId13" Type="http://schemas.openxmlformats.org/officeDocument/2006/relationships/image" Target="../media/image334.png"/><Relationship Id="rId14" Type="http://schemas.openxmlformats.org/officeDocument/2006/relationships/image" Target="../media/image335.png"/><Relationship Id="rId15" Type="http://schemas.openxmlformats.org/officeDocument/2006/relationships/image" Target="../media/image336.png"/><Relationship Id="rId16" Type="http://schemas.openxmlformats.org/officeDocument/2006/relationships/image" Target="../media/image337.png"/><Relationship Id="rId17" Type="http://schemas.openxmlformats.org/officeDocument/2006/relationships/image" Target="../media/image338.png"/></Relationships>
</file>

<file path=ppt/charts/_rels/chart49.xml.rels><?xml version='1.0' encoding='UTF-8' standalone='yes'?>
<Relationships xmlns="http://schemas.openxmlformats.org/package/2006/relationships"><Relationship Id="rId2" Type="http://schemas.openxmlformats.org/officeDocument/2006/relationships/image" Target="../media/image357.png"/><Relationship Id="rId3" Type="http://schemas.openxmlformats.org/officeDocument/2006/relationships/image" Target="../media/image358.png"/><Relationship Id="rId4" Type="http://schemas.openxmlformats.org/officeDocument/2006/relationships/image" Target="../media/image359.png"/><Relationship Id="rId5" Type="http://schemas.openxmlformats.org/officeDocument/2006/relationships/image" Target="../media/image360.png"/><Relationship Id="rId6" Type="http://schemas.openxmlformats.org/officeDocument/2006/relationships/image" Target="../media/image361.png"/><Relationship Id="rId7" Type="http://schemas.openxmlformats.org/officeDocument/2006/relationships/image" Target="../media/image362.png"/><Relationship Id="rId8" Type="http://schemas.openxmlformats.org/officeDocument/2006/relationships/image" Target="../media/image363.png"/><Relationship Id="rId9" Type="http://schemas.openxmlformats.org/officeDocument/2006/relationships/image" Target="../media/image364.png"/><Relationship Id="rId10" Type="http://schemas.openxmlformats.org/officeDocument/2006/relationships/image" Target="../media/image365.png"/><Relationship Id="rId11" Type="http://schemas.openxmlformats.org/officeDocument/2006/relationships/image" Target="../media/image366.png"/><Relationship Id="rId12" Type="http://schemas.openxmlformats.org/officeDocument/2006/relationships/image" Target="../media/image367.png"/><Relationship Id="rId13" Type="http://schemas.openxmlformats.org/officeDocument/2006/relationships/image" Target="../media/image368.png"/><Relationship Id="rId14" Type="http://schemas.openxmlformats.org/officeDocument/2006/relationships/image" Target="../media/image369.png"/><Relationship Id="rId15" Type="http://schemas.openxmlformats.org/officeDocument/2006/relationships/image" Target="../media/image370.png"/><Relationship Id="rId16" Type="http://schemas.openxmlformats.org/officeDocument/2006/relationships/image" Target="../media/image371.png"/><Relationship Id="rId17" Type="http://schemas.openxmlformats.org/officeDocument/2006/relationships/image" Target="../media/image372.png"/><Relationship Id="rId18" Type="http://schemas.openxmlformats.org/officeDocument/2006/relationships/image" Target="../media/image373.png"/><Relationship Id="rId19" Type="http://schemas.openxmlformats.org/officeDocument/2006/relationships/image" Target="../media/image374.png"/><Relationship Id="rId20" Type="http://schemas.openxmlformats.org/officeDocument/2006/relationships/image" Target="../media/image375.png"/><Relationship Id="rId21" Type="http://schemas.openxmlformats.org/officeDocument/2006/relationships/image" Target="../media/image376.png"/><Relationship Id="rId22" Type="http://schemas.openxmlformats.org/officeDocument/2006/relationships/image" Target="../media/image377.png"/><Relationship Id="rId23" Type="http://schemas.openxmlformats.org/officeDocument/2006/relationships/image" Target="../media/image378.png"/><Relationship Id="rId24" Type="http://schemas.openxmlformats.org/officeDocument/2006/relationships/image" Target="../media/image379.png"/><Relationship Id="rId25" Type="http://schemas.openxmlformats.org/officeDocument/2006/relationships/image" Target="../media/image380.png"/><Relationship Id="rId26" Type="http://schemas.openxmlformats.org/officeDocument/2006/relationships/image" Target="../media/image381.png"/><Relationship Id="rId27" Type="http://schemas.openxmlformats.org/officeDocument/2006/relationships/image" Target="../media/image382.png"/><Relationship Id="rId28" Type="http://schemas.openxmlformats.org/officeDocument/2006/relationships/image" Target="../media/image383.png"/><Relationship Id="rId29" Type="http://schemas.openxmlformats.org/officeDocument/2006/relationships/image" Target="../media/image384.png"/><Relationship Id="rId30" Type="http://schemas.openxmlformats.org/officeDocument/2006/relationships/image" Target="../media/image385.png"/><Relationship Id="rId31" Type="http://schemas.openxmlformats.org/officeDocument/2006/relationships/image" Target="../media/image386.png"/><Relationship Id="rId32" Type="http://schemas.openxmlformats.org/officeDocument/2006/relationships/image" Target="../media/image387.png"/><Relationship Id="rId33" Type="http://schemas.openxmlformats.org/officeDocument/2006/relationships/image" Target="../media/image388.png"/><Relationship Id="rId34" Type="http://schemas.openxmlformats.org/officeDocument/2006/relationships/image" Target="../media/image389.png"/><Relationship Id="rId35" Type="http://schemas.openxmlformats.org/officeDocument/2006/relationships/image" Target="../media/image390.png"/></Relationships>
</file>

<file path=ppt/charts/_rels/chart58.xml.rels><?xml version='1.0' encoding='UTF-8' standalone='yes'?>
<Relationships xmlns="http://schemas.openxmlformats.org/package/2006/relationships"><Relationship Id="rId2" Type="http://schemas.openxmlformats.org/officeDocument/2006/relationships/image" Target="../media/image391.png"/><Relationship Id="rId3" Type="http://schemas.openxmlformats.org/officeDocument/2006/relationships/image" Target="../media/image392.png"/><Relationship Id="rId4" Type="http://schemas.openxmlformats.org/officeDocument/2006/relationships/image" Target="../media/image393.png"/><Relationship Id="rId5" Type="http://schemas.openxmlformats.org/officeDocument/2006/relationships/image" Target="../media/image394.png"/><Relationship Id="rId6" Type="http://schemas.openxmlformats.org/officeDocument/2006/relationships/image" Target="../media/image395.png"/><Relationship Id="rId7" Type="http://schemas.openxmlformats.org/officeDocument/2006/relationships/image" Target="../media/image396.png"/><Relationship Id="rId8" Type="http://schemas.openxmlformats.org/officeDocument/2006/relationships/image" Target="../media/image397.png"/><Relationship Id="rId9" Type="http://schemas.openxmlformats.org/officeDocument/2006/relationships/image" Target="../media/image398.png"/><Relationship Id="rId10" Type="http://schemas.openxmlformats.org/officeDocument/2006/relationships/image" Target="../media/image399.png"/><Relationship Id="rId11" Type="http://schemas.openxmlformats.org/officeDocument/2006/relationships/image" Target="../media/image400.png"/><Relationship Id="rId12" Type="http://schemas.openxmlformats.org/officeDocument/2006/relationships/image" Target="../media/image401.png"/><Relationship Id="rId13" Type="http://schemas.openxmlformats.org/officeDocument/2006/relationships/image" Target="../media/image402.png"/><Relationship Id="rId14" Type="http://schemas.openxmlformats.org/officeDocument/2006/relationships/image" Target="../media/image403.png"/><Relationship Id="rId15" Type="http://schemas.openxmlformats.org/officeDocument/2006/relationships/image" Target="../media/image404.png"/><Relationship Id="rId16" Type="http://schemas.openxmlformats.org/officeDocument/2006/relationships/image" Target="../media/image405.png"/><Relationship Id="rId17" Type="http://schemas.openxmlformats.org/officeDocument/2006/relationships/image" Target="../media/image406.png"/><Relationship Id="rId18" Type="http://schemas.openxmlformats.org/officeDocument/2006/relationships/image" Target="../media/image407.png"/><Relationship Id="rId19" Type="http://schemas.openxmlformats.org/officeDocument/2006/relationships/image" Target="../media/image408.png"/><Relationship Id="rId20" Type="http://schemas.openxmlformats.org/officeDocument/2006/relationships/image" Target="../media/image409.png"/><Relationship Id="rId21" Type="http://schemas.openxmlformats.org/officeDocument/2006/relationships/image" Target="../media/image410.png"/></Relationships>
</file>

<file path=ppt/charts/_rels/chart59.xml.rels><?xml version='1.0' encoding='UTF-8' standalone='yes'?>
<Relationships xmlns="http://schemas.openxmlformats.org/package/2006/relationships"><Relationship Id="rId2" Type="http://schemas.openxmlformats.org/officeDocument/2006/relationships/image" Target="../media/image421.png"/><Relationship Id="rId3" Type="http://schemas.openxmlformats.org/officeDocument/2006/relationships/image" Target="../media/image422.png"/><Relationship Id="rId4" Type="http://schemas.openxmlformats.org/officeDocument/2006/relationships/image" Target="../media/image423.png"/><Relationship Id="rId5" Type="http://schemas.openxmlformats.org/officeDocument/2006/relationships/image" Target="../media/image424.png"/><Relationship Id="rId6" Type="http://schemas.openxmlformats.org/officeDocument/2006/relationships/image" Target="../media/image425.png"/><Relationship Id="rId7" Type="http://schemas.openxmlformats.org/officeDocument/2006/relationships/image" Target="../media/image426.png"/><Relationship Id="rId8" Type="http://schemas.openxmlformats.org/officeDocument/2006/relationships/image" Target="../media/image427.png"/><Relationship Id="rId9" Type="http://schemas.openxmlformats.org/officeDocument/2006/relationships/image" Target="../media/image428.png"/><Relationship Id="rId10" Type="http://schemas.openxmlformats.org/officeDocument/2006/relationships/image" Target="../media/image429.png"/><Relationship Id="rId11" Type="http://schemas.openxmlformats.org/officeDocument/2006/relationships/image" Target="../media/image430.png"/><Relationship Id="rId12" Type="http://schemas.openxmlformats.org/officeDocument/2006/relationships/image" Target="../media/image431.png"/><Relationship Id="rId13" Type="http://schemas.openxmlformats.org/officeDocument/2006/relationships/image" Target="../media/image432.png"/><Relationship Id="rId14" Type="http://schemas.openxmlformats.org/officeDocument/2006/relationships/image" Target="../media/image433.png"/><Relationship Id="rId15" Type="http://schemas.openxmlformats.org/officeDocument/2006/relationships/image" Target="../media/image434.png"/><Relationship Id="rId16" Type="http://schemas.openxmlformats.org/officeDocument/2006/relationships/image" Target="../media/image435.png"/><Relationship Id="rId17" Type="http://schemas.openxmlformats.org/officeDocument/2006/relationships/image" Target="../media/image436.png"/><Relationship Id="rId18" Type="http://schemas.openxmlformats.org/officeDocument/2006/relationships/image" Target="../media/image437.png"/></Relationships>
</file>

<file path=ppt/charts/_rels/chart66.xml.rels><?xml version='1.0' encoding='UTF-8' standalone='yes'?>
<Relationships xmlns="http://schemas.openxmlformats.org/package/2006/relationships"><Relationship Id="rId2" Type="http://schemas.openxmlformats.org/officeDocument/2006/relationships/image" Target="../media/image438.png"/><Relationship Id="rId3" Type="http://schemas.openxmlformats.org/officeDocument/2006/relationships/image" Target="../media/image439.png"/><Relationship Id="rId4" Type="http://schemas.openxmlformats.org/officeDocument/2006/relationships/image" Target="../media/image440.png"/><Relationship Id="rId5" Type="http://schemas.openxmlformats.org/officeDocument/2006/relationships/image" Target="../media/image441.png"/><Relationship Id="rId6" Type="http://schemas.openxmlformats.org/officeDocument/2006/relationships/image" Target="../media/image442.png"/><Relationship Id="rId7" Type="http://schemas.openxmlformats.org/officeDocument/2006/relationships/image" Target="../media/image443.png"/><Relationship Id="rId8" Type="http://schemas.openxmlformats.org/officeDocument/2006/relationships/image" Target="../media/image444.png"/><Relationship Id="rId9" Type="http://schemas.openxmlformats.org/officeDocument/2006/relationships/image" Target="../media/image445.png"/><Relationship Id="rId10" Type="http://schemas.openxmlformats.org/officeDocument/2006/relationships/image" Target="../media/image446.png"/><Relationship Id="rId11" Type="http://schemas.openxmlformats.org/officeDocument/2006/relationships/image" Target="../media/image447.png"/><Relationship Id="rId12" Type="http://schemas.openxmlformats.org/officeDocument/2006/relationships/image" Target="../media/image448.png"/><Relationship Id="rId13" Type="http://schemas.openxmlformats.org/officeDocument/2006/relationships/image" Target="../media/image449.png"/><Relationship Id="rId14" Type="http://schemas.openxmlformats.org/officeDocument/2006/relationships/image" Target="../media/image450.png"/></Relationships>
</file>

<file path=ppt/charts/_rels/chart67.xml.rels><?xml version='1.0' encoding='UTF-8' standalone='yes'?>
<Relationships xmlns="http://schemas.openxmlformats.org/package/2006/relationships"><Relationship Id="rId2" Type="http://schemas.openxmlformats.org/officeDocument/2006/relationships/image" Target="../media/image461.png"/><Relationship Id="rId3" Type="http://schemas.openxmlformats.org/officeDocument/2006/relationships/image" Target="../media/image462.png"/><Relationship Id="rId4" Type="http://schemas.openxmlformats.org/officeDocument/2006/relationships/image" Target="../media/image463.png"/><Relationship Id="rId5" Type="http://schemas.openxmlformats.org/officeDocument/2006/relationships/image" Target="../media/image464.png"/><Relationship Id="rId6" Type="http://schemas.openxmlformats.org/officeDocument/2006/relationships/image" Target="../media/image465.png"/><Relationship Id="rId7" Type="http://schemas.openxmlformats.org/officeDocument/2006/relationships/image" Target="../media/image466.png"/><Relationship Id="rId8" Type="http://schemas.openxmlformats.org/officeDocument/2006/relationships/image" Target="../media/image467.png"/><Relationship Id="rId9" Type="http://schemas.openxmlformats.org/officeDocument/2006/relationships/image" Target="../media/image468.png"/><Relationship Id="rId10" Type="http://schemas.openxmlformats.org/officeDocument/2006/relationships/image" Target="../media/image469.png"/><Relationship Id="rId11" Type="http://schemas.openxmlformats.org/officeDocument/2006/relationships/image" Target="../media/image470.png"/><Relationship Id="rId12" Type="http://schemas.openxmlformats.org/officeDocument/2006/relationships/image" Target="../media/image471.png"/><Relationship Id="rId13" Type="http://schemas.openxmlformats.org/officeDocument/2006/relationships/image" Target="../media/image472.png"/><Relationship Id="rId14" Type="http://schemas.openxmlformats.org/officeDocument/2006/relationships/image" Target="../media/image473.png"/><Relationship Id="rId15" Type="http://schemas.openxmlformats.org/officeDocument/2006/relationships/image" Target="../media/image474.png"/></Relationships>
</file>

<file path=ppt/charts/_rels/chart73.xml.rels><?xml version='1.0' encoding='UTF-8' standalone='yes'?>
<Relationships xmlns="http://schemas.openxmlformats.org/package/2006/relationships"><Relationship Id="rId2" Type="http://schemas.openxmlformats.org/officeDocument/2006/relationships/image" Target="../media/image475.png"/><Relationship Id="rId3" Type="http://schemas.openxmlformats.org/officeDocument/2006/relationships/image" Target="../media/image476.png"/><Relationship Id="rId4" Type="http://schemas.openxmlformats.org/officeDocument/2006/relationships/image" Target="../media/image477.png"/><Relationship Id="rId5" Type="http://schemas.openxmlformats.org/officeDocument/2006/relationships/image" Target="../media/image478.png"/><Relationship Id="rId6" Type="http://schemas.openxmlformats.org/officeDocument/2006/relationships/image" Target="../media/image479.png"/><Relationship Id="rId7" Type="http://schemas.openxmlformats.org/officeDocument/2006/relationships/image" Target="../media/image480.png"/><Relationship Id="rId8" Type="http://schemas.openxmlformats.org/officeDocument/2006/relationships/image" Target="../media/image481.png"/><Relationship Id="rId9" Type="http://schemas.openxmlformats.org/officeDocument/2006/relationships/image" Target="../media/image482.png"/><Relationship Id="rId10" Type="http://schemas.openxmlformats.org/officeDocument/2006/relationships/image" Target="../media/image483.png"/></Relationships>
</file>

<file path=ppt/charts/_rels/chart74.xml.rels><?xml version='1.0' encoding='UTF-8' standalone='yes'?>
<Relationships xmlns="http://schemas.openxmlformats.org/package/2006/relationships"><Relationship Id="rId2" Type="http://schemas.openxmlformats.org/officeDocument/2006/relationships/image" Target="../media/image484.png"/></Relationships>
</file>

<file path=ppt/charts/_rels/chart76.xml.rels><?xml version='1.0' encoding='UTF-8' standalone='yes'?>
<Relationships xmlns="http://schemas.openxmlformats.org/package/2006/relationships"><Relationship Id="rId2" Type="http://schemas.openxmlformats.org/officeDocument/2006/relationships/image" Target="../media/image485.png"/></Relationships>
</file>

<file path=ppt/charts/_rels/chart78.xml.rels><?xml version='1.0' encoding='UTF-8' standalone='yes'?>
<Relationships xmlns="http://schemas.openxmlformats.org/package/2006/relationships"><Relationship Id="rId2" Type="http://schemas.openxmlformats.org/officeDocument/2006/relationships/image" Target="../media/image486.png"/><Relationship Id="rId3" Type="http://schemas.openxmlformats.org/officeDocument/2006/relationships/image" Target="../media/image487.png"/><Relationship Id="rId4" Type="http://schemas.openxmlformats.org/officeDocument/2006/relationships/image" Target="../media/image488.png"/><Relationship Id="rId5" Type="http://schemas.openxmlformats.org/officeDocument/2006/relationships/image" Target="../media/image489.png"/><Relationship Id="rId6" Type="http://schemas.openxmlformats.org/officeDocument/2006/relationships/image" Target="../media/image490.png"/><Relationship Id="rId7" Type="http://schemas.openxmlformats.org/officeDocument/2006/relationships/image" Target="../media/image491.png"/><Relationship Id="rId8" Type="http://schemas.openxmlformats.org/officeDocument/2006/relationships/image" Target="../media/image492.png"/><Relationship Id="rId9" Type="http://schemas.openxmlformats.org/officeDocument/2006/relationships/image" Target="../media/image493.png"/><Relationship Id="rId10" Type="http://schemas.openxmlformats.org/officeDocument/2006/relationships/image" Target="../media/image494.png"/><Relationship Id="rId11" Type="http://schemas.openxmlformats.org/officeDocument/2006/relationships/image" Target="../media/image495.png"/></Relationships>
</file>

<file path=ppt/charts/_rels/chart79.xml.rels><?xml version='1.0' encoding='UTF-8' standalone='yes'?>
<Relationships xmlns="http://schemas.openxmlformats.org/package/2006/relationships"><Relationship Id="rId2" Type="http://schemas.openxmlformats.org/officeDocument/2006/relationships/image" Target="../media/image496.png"/><Relationship Id="rId3" Type="http://schemas.openxmlformats.org/officeDocument/2006/relationships/image" Target="../media/image497.png"/><Relationship Id="rId4" Type="http://schemas.openxmlformats.org/officeDocument/2006/relationships/image" Target="../media/image498.png"/><Relationship Id="rId5" Type="http://schemas.openxmlformats.org/officeDocument/2006/relationships/image" Target="../media/image499.png"/><Relationship Id="rId6" Type="http://schemas.openxmlformats.org/officeDocument/2006/relationships/image" Target="../media/image500.png"/><Relationship Id="rId7" Type="http://schemas.openxmlformats.org/officeDocument/2006/relationships/image" Target="../media/image501.png"/><Relationship Id="rId8" Type="http://schemas.openxmlformats.org/officeDocument/2006/relationships/image" Target="../media/image502.png"/><Relationship Id="rId9" Type="http://schemas.openxmlformats.org/officeDocument/2006/relationships/image" Target="../media/image503.png"/><Relationship Id="rId10" Type="http://schemas.openxmlformats.org/officeDocument/2006/relationships/image" Target="../media/image504.png"/><Relationship Id="rId11" Type="http://schemas.openxmlformats.org/officeDocument/2006/relationships/image" Target="../media/image505.png"/><Relationship Id="rId12" Type="http://schemas.openxmlformats.org/officeDocument/2006/relationships/image" Target="../media/image506.png"/><Relationship Id="rId13" Type="http://schemas.openxmlformats.org/officeDocument/2006/relationships/image" Target="../media/image507.png"/><Relationship Id="rId14" Type="http://schemas.openxmlformats.org/officeDocument/2006/relationships/image" Target="../media/image508.png"/><Relationship Id="rId15" Type="http://schemas.openxmlformats.org/officeDocument/2006/relationships/image" Target="../media/image509.png"/><Relationship Id="rId16" Type="http://schemas.openxmlformats.org/officeDocument/2006/relationships/image" Target="../media/image510.png"/><Relationship Id="rId17" Type="http://schemas.openxmlformats.org/officeDocument/2006/relationships/image" Target="../media/image511.png"/><Relationship Id="rId18" Type="http://schemas.openxmlformats.org/officeDocument/2006/relationships/image" Target="../media/image512.png"/><Relationship Id="rId19" Type="http://schemas.openxmlformats.org/officeDocument/2006/relationships/image" Target="../media/image513.png"/><Relationship Id="rId20" Type="http://schemas.openxmlformats.org/officeDocument/2006/relationships/image" Target="../media/image514.png"/><Relationship Id="rId21" Type="http://schemas.openxmlformats.org/officeDocument/2006/relationships/image" Target="../media/image515.png"/><Relationship Id="rId22" Type="http://schemas.openxmlformats.org/officeDocument/2006/relationships/image" Target="../media/image516.png"/><Relationship Id="rId23" Type="http://schemas.openxmlformats.org/officeDocument/2006/relationships/image" Target="../media/image517.png"/></Relationships>
</file>

<file path=ppt/charts/_rels/chart80.xml.rels><?xml version='1.0' encoding='UTF-8' standalone='yes'?>
<Relationships xmlns="http://schemas.openxmlformats.org/package/2006/relationships"><Relationship Id="rId2" Type="http://schemas.openxmlformats.org/officeDocument/2006/relationships/image" Target="../media/image518.png"/><Relationship Id="rId3" Type="http://schemas.openxmlformats.org/officeDocument/2006/relationships/image" Target="../media/image519.png"/></Relationships>
</file>

<file path=ppt/charts/_rels/chart81.xml.rels><?xml version='1.0' encoding='UTF-8' standalone='yes'?>
<Relationships xmlns="http://schemas.openxmlformats.org/package/2006/relationships"><Relationship Id="rId2" Type="http://schemas.openxmlformats.org/officeDocument/2006/relationships/image" Target="../media/image520.png"/><Relationship Id="rId3" Type="http://schemas.openxmlformats.org/officeDocument/2006/relationships/image" Target="../media/image521.png"/></Relationships>
</file>

<file path=ppt/charts/_rels/chart82.xml.rels><?xml version='1.0' encoding='UTF-8' standalone='yes'?>
<Relationships xmlns="http://schemas.openxmlformats.org/package/2006/relationships"><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image" Target="../media/image528.png"/><Relationship Id="rId9" Type="http://schemas.openxmlformats.org/officeDocument/2006/relationships/image" Target="../media/image529.png"/></Relationships>
</file>

<file path=ppt/charts/_rels/chart84.xml.rels><?xml version='1.0' encoding='UTF-8' standalone='yes'?>
<Relationships xmlns="http://schemas.openxmlformats.org/package/2006/relationships"><Relationship Id="rId2" Type="http://schemas.openxmlformats.org/officeDocument/2006/relationships/image" Target="../media/image530.png"/><Relationship Id="rId3" Type="http://schemas.openxmlformats.org/officeDocument/2006/relationships/image" Target="../media/image531.png"/><Relationship Id="rId4" Type="http://schemas.openxmlformats.org/officeDocument/2006/relationships/image" Target="../media/image532.png"/><Relationship Id="rId5" Type="http://schemas.openxmlformats.org/officeDocument/2006/relationships/image" Target="../media/image533.png"/></Relationships>
</file>

<file path=ppt/charts/_rels/chart85.xml.rels><?xml version='1.0' encoding='UTF-8' standalone='yes'?>
<Relationships xmlns="http://schemas.openxmlformats.org/package/2006/relationships"><Relationship Id="rId2" Type="http://schemas.openxmlformats.org/officeDocument/2006/relationships/image" Target="../media/image534.png"/><Relationship Id="rId3" Type="http://schemas.openxmlformats.org/officeDocument/2006/relationships/image" Target="../media/image535.png"/><Relationship Id="rId4" Type="http://schemas.openxmlformats.org/officeDocument/2006/relationships/image" Target="../media/image536.png"/><Relationship Id="rId5" Type="http://schemas.openxmlformats.org/officeDocument/2006/relationships/image" Target="../media/image537.png"/></Relationships>
</file>

<file path=ppt/charts/_rels/chart86.xml.rels><?xml version='1.0' encoding='UTF-8' standalone='yes'?>
<Relationships xmlns="http://schemas.openxmlformats.org/package/2006/relationships"><Relationship Id="rId2" Type="http://schemas.openxmlformats.org/officeDocument/2006/relationships/image" Target="../media/image538.png"/><Relationship Id="rId3" Type="http://schemas.openxmlformats.org/officeDocument/2006/relationships/image" Target="../media/image539.png"/><Relationship Id="rId4" Type="http://schemas.openxmlformats.org/officeDocument/2006/relationships/image" Target="../media/image540.png"/><Relationship Id="rId5" Type="http://schemas.openxmlformats.org/officeDocument/2006/relationships/image" Target="../media/image541.png"/><Relationship Id="rId6" Type="http://schemas.openxmlformats.org/officeDocument/2006/relationships/image" Target="../media/image542.png"/><Relationship Id="rId7" Type="http://schemas.openxmlformats.org/officeDocument/2006/relationships/image" Target="../media/image543.png"/><Relationship Id="rId8" Type="http://schemas.openxmlformats.org/officeDocument/2006/relationships/image" Target="../media/image544.png"/><Relationship Id="rId9" Type="http://schemas.openxmlformats.org/officeDocument/2006/relationships/image" Target="../media/image545.png"/><Relationship Id="rId10" Type="http://schemas.openxmlformats.org/officeDocument/2006/relationships/image" Target="../media/image546.png"/><Relationship Id="rId11" Type="http://schemas.openxmlformats.org/officeDocument/2006/relationships/image" Target="../media/image547.png"/><Relationship Id="rId12" Type="http://schemas.openxmlformats.org/officeDocument/2006/relationships/image" Target="../media/image548.png"/><Relationship Id="rId13" Type="http://schemas.openxmlformats.org/officeDocument/2006/relationships/image" Target="../media/image549.png"/><Relationship Id="rId14" Type="http://schemas.openxmlformats.org/officeDocument/2006/relationships/image" Target="../media/image550.png"/><Relationship Id="rId15" Type="http://schemas.openxmlformats.org/officeDocument/2006/relationships/image" Target="../media/image551.png"/><Relationship Id="rId16" Type="http://schemas.openxmlformats.org/officeDocument/2006/relationships/image" Target="../media/image552.png"/><Relationship Id="rId17" Type="http://schemas.openxmlformats.org/officeDocument/2006/relationships/image" Target="../media/image553.png"/><Relationship Id="rId18" Type="http://schemas.openxmlformats.org/officeDocument/2006/relationships/image" Target="../media/image554.png"/><Relationship Id="rId19" Type="http://schemas.openxmlformats.org/officeDocument/2006/relationships/image" Target="../media/image555.png"/><Relationship Id="rId20" Type="http://schemas.openxmlformats.org/officeDocument/2006/relationships/image" Target="../media/image556.png"/><Relationship Id="rId21" Type="http://schemas.openxmlformats.org/officeDocument/2006/relationships/image" Target="../media/image557.png"/><Relationship Id="rId22" Type="http://schemas.openxmlformats.org/officeDocument/2006/relationships/image" Target="../media/image558.png"/><Relationship Id="rId23" Type="http://schemas.openxmlformats.org/officeDocument/2006/relationships/image" Target="../media/image559.png"/><Relationship Id="rId24" Type="http://schemas.openxmlformats.org/officeDocument/2006/relationships/image" Target="../media/image560.png"/><Relationship Id="rId25" Type="http://schemas.openxmlformats.org/officeDocument/2006/relationships/image" Target="../media/image561.png"/><Relationship Id="rId26" Type="http://schemas.openxmlformats.org/officeDocument/2006/relationships/image" Target="../media/image562.png"/><Relationship Id="rId27" Type="http://schemas.openxmlformats.org/officeDocument/2006/relationships/image" Target="../media/image563.png"/><Relationship Id="rId28" Type="http://schemas.openxmlformats.org/officeDocument/2006/relationships/image" Target="../media/image564.png"/><Relationship Id="rId29" Type="http://schemas.openxmlformats.org/officeDocument/2006/relationships/image" Target="../media/image565.png"/><Relationship Id="rId30" Type="http://schemas.openxmlformats.org/officeDocument/2006/relationships/image" Target="../media/image566.png"/><Relationship Id="rId31" Type="http://schemas.openxmlformats.org/officeDocument/2006/relationships/image" Target="../media/image567.png"/><Relationship Id="rId32" Type="http://schemas.openxmlformats.org/officeDocument/2006/relationships/image" Target="../media/image568.png"/><Relationship Id="rId33" Type="http://schemas.openxmlformats.org/officeDocument/2006/relationships/image" Target="../media/image569.png"/></Relationships>
</file>

<file path=ppt/charts/_rels/chart87.xml.rels><?xml version='1.0' encoding='UTF-8' standalone='yes'?>
<Relationships xmlns="http://schemas.openxmlformats.org/package/2006/relationships"><Relationship Id="rId2" Type="http://schemas.openxmlformats.org/officeDocument/2006/relationships/image" Target="../media/image570.png"/><Relationship Id="rId3" Type="http://schemas.openxmlformats.org/officeDocument/2006/relationships/image" Target="../media/image571.png"/><Relationship Id="rId4" Type="http://schemas.openxmlformats.org/officeDocument/2006/relationships/image" Target="../media/image572.png"/><Relationship Id="rId5" Type="http://schemas.openxmlformats.org/officeDocument/2006/relationships/image" Target="../media/image573.png"/><Relationship Id="rId6" Type="http://schemas.openxmlformats.org/officeDocument/2006/relationships/image" Target="../media/image574.png"/><Relationship Id="rId7" Type="http://schemas.openxmlformats.org/officeDocument/2006/relationships/image" Target="../media/image575.png"/><Relationship Id="rId8" Type="http://schemas.openxmlformats.org/officeDocument/2006/relationships/image" Target="../media/image576.png"/><Relationship Id="rId9" Type="http://schemas.openxmlformats.org/officeDocument/2006/relationships/image" Target="../media/image577.png"/><Relationship Id="rId10" Type="http://schemas.openxmlformats.org/officeDocument/2006/relationships/image" Target="../media/image578.png"/><Relationship Id="rId11" Type="http://schemas.openxmlformats.org/officeDocument/2006/relationships/image" Target="../media/image579.png"/><Relationship Id="rId12" Type="http://schemas.openxmlformats.org/officeDocument/2006/relationships/image" Target="../media/image580.png"/><Relationship Id="rId13" Type="http://schemas.openxmlformats.org/officeDocument/2006/relationships/image" Target="../media/image581.png"/><Relationship Id="rId14" Type="http://schemas.openxmlformats.org/officeDocument/2006/relationships/image" Target="../media/image582.png"/><Relationship Id="rId15" Type="http://schemas.openxmlformats.org/officeDocument/2006/relationships/image" Target="../media/image583.png"/><Relationship Id="rId16" Type="http://schemas.openxmlformats.org/officeDocument/2006/relationships/image" Target="../media/image584.png"/><Relationship Id="rId17" Type="http://schemas.openxmlformats.org/officeDocument/2006/relationships/image" Target="../media/image585.png"/><Relationship Id="rId18" Type="http://schemas.openxmlformats.org/officeDocument/2006/relationships/image" Target="../media/image586.png"/><Relationship Id="rId19" Type="http://schemas.openxmlformats.org/officeDocument/2006/relationships/image" Target="../media/image587.png"/><Relationship Id="rId20" Type="http://schemas.openxmlformats.org/officeDocument/2006/relationships/image" Target="../media/image588.png"/><Relationship Id="rId21" Type="http://schemas.openxmlformats.org/officeDocument/2006/relationships/image" Target="../media/image589.png"/><Relationship Id="rId22" Type="http://schemas.openxmlformats.org/officeDocument/2006/relationships/image" Target="../media/image590.png"/><Relationship Id="rId23" Type="http://schemas.openxmlformats.org/officeDocument/2006/relationships/image" Target="../media/image591.png"/><Relationship Id="rId24" Type="http://schemas.openxmlformats.org/officeDocument/2006/relationships/image" Target="../media/image592.png"/><Relationship Id="rId25" Type="http://schemas.openxmlformats.org/officeDocument/2006/relationships/image" Target="../media/image593.png"/><Relationship Id="rId26" Type="http://schemas.openxmlformats.org/officeDocument/2006/relationships/image" Target="../media/image594.png"/><Relationship Id="rId27" Type="http://schemas.openxmlformats.org/officeDocument/2006/relationships/image" Target="../media/image595.png"/><Relationship Id="rId28" Type="http://schemas.openxmlformats.org/officeDocument/2006/relationships/image" Target="../media/image596.png"/><Relationship Id="rId29" Type="http://schemas.openxmlformats.org/officeDocument/2006/relationships/image" Target="../media/image597.png"/><Relationship Id="rId30" Type="http://schemas.openxmlformats.org/officeDocument/2006/relationships/image" Target="../media/image598.png"/><Relationship Id="rId31" Type="http://schemas.openxmlformats.org/officeDocument/2006/relationships/image" Target="../media/image599.png"/><Relationship Id="rId32" Type="http://schemas.openxmlformats.org/officeDocument/2006/relationships/image" Target="../media/image600.png"/><Relationship Id="rId33" Type="http://schemas.openxmlformats.org/officeDocument/2006/relationships/image" Target="../media/image601.png"/></Relationships>
</file>

<file path=ppt/charts/_rels/chart88.xml.rels><?xml version='1.0' encoding='UTF-8' standalone='yes'?>
<Relationships xmlns="http://schemas.openxmlformats.org/package/2006/relationships"><Relationship Id="rId2" Type="http://schemas.openxmlformats.org/officeDocument/2006/relationships/image" Target="../media/image617.png"/><Relationship Id="rId3" Type="http://schemas.openxmlformats.org/officeDocument/2006/relationships/image" Target="../media/image618.png"/><Relationship Id="rId4" Type="http://schemas.openxmlformats.org/officeDocument/2006/relationships/image" Target="../media/image619.png"/><Relationship Id="rId5" Type="http://schemas.openxmlformats.org/officeDocument/2006/relationships/image" Target="../media/image620.png"/><Relationship Id="rId6" Type="http://schemas.openxmlformats.org/officeDocument/2006/relationships/image" Target="../media/image621.png"/><Relationship Id="rId7" Type="http://schemas.openxmlformats.org/officeDocument/2006/relationships/image" Target="../media/image622.png"/><Relationship Id="rId8" Type="http://schemas.openxmlformats.org/officeDocument/2006/relationships/image" Target="../media/image623.png"/><Relationship Id="rId9" Type="http://schemas.openxmlformats.org/officeDocument/2006/relationships/image" Target="../media/image624.png"/><Relationship Id="rId10" Type="http://schemas.openxmlformats.org/officeDocument/2006/relationships/image" Target="../media/image625.png"/><Relationship Id="rId11" Type="http://schemas.openxmlformats.org/officeDocument/2006/relationships/image" Target="../media/image626.png"/><Relationship Id="rId12" Type="http://schemas.openxmlformats.org/officeDocument/2006/relationships/image" Target="../media/image627.png"/><Relationship Id="rId13" Type="http://schemas.openxmlformats.org/officeDocument/2006/relationships/image" Target="../media/image628.png"/><Relationship Id="rId14" Type="http://schemas.openxmlformats.org/officeDocument/2006/relationships/image" Target="../media/image629.png"/><Relationship Id="rId15" Type="http://schemas.openxmlformats.org/officeDocument/2006/relationships/image" Target="../media/image630.png"/><Relationship Id="rId16" Type="http://schemas.openxmlformats.org/officeDocument/2006/relationships/image" Target="../media/image631.png"/><Relationship Id="rId17" Type="http://schemas.openxmlformats.org/officeDocument/2006/relationships/image" Target="../media/image632.png"/></Relationships>
</file>

<file path=ppt/charts/_rels/chart98.xml.rels><?xml version='1.0' encoding='UTF-8' standalone='yes'?>
<Relationships xmlns="http://schemas.openxmlformats.org/package/2006/relationships"><Relationship Id="rId2" Type="http://schemas.openxmlformats.org/officeDocument/2006/relationships/image" Target="../media/image633.png"/><Relationship Id="rId3" Type="http://schemas.openxmlformats.org/officeDocument/2006/relationships/image" Target="../media/image634.png"/><Relationship Id="rId4" Type="http://schemas.openxmlformats.org/officeDocument/2006/relationships/image" Target="../media/image635.png"/><Relationship Id="rId5" Type="http://schemas.openxmlformats.org/officeDocument/2006/relationships/image" Target="../media/image636.png"/><Relationship Id="rId6" Type="http://schemas.openxmlformats.org/officeDocument/2006/relationships/image" Target="../media/image637.png"/><Relationship Id="rId7" Type="http://schemas.openxmlformats.org/officeDocument/2006/relationships/image" Target="../media/image638.png"/><Relationship Id="rId8" Type="http://schemas.openxmlformats.org/officeDocument/2006/relationships/image" Target="../media/image639.png"/><Relationship Id="rId9" Type="http://schemas.openxmlformats.org/officeDocument/2006/relationships/image" Target="../media/image640.png"/><Relationship Id="rId10" Type="http://schemas.openxmlformats.org/officeDocument/2006/relationships/image" Target="../media/image641.png"/><Relationship Id="rId11" Type="http://schemas.openxmlformats.org/officeDocument/2006/relationships/image" Target="../media/image642.png"/><Relationship Id="rId12" Type="http://schemas.openxmlformats.org/officeDocument/2006/relationships/image" Target="../media/image643.png"/><Relationship Id="rId13" Type="http://schemas.openxmlformats.org/officeDocument/2006/relationships/image" Target="../media/image644.png"/><Relationship Id="rId14" Type="http://schemas.openxmlformats.org/officeDocument/2006/relationships/image" Target="../media/image645.png"/><Relationship Id="rId15" Type="http://schemas.openxmlformats.org/officeDocument/2006/relationships/image" Target="../media/image646.png"/><Relationship Id="rId16" Type="http://schemas.openxmlformats.org/officeDocument/2006/relationships/image" Target="../media/image647.png"/><Relationship Id="rId17" Type="http://schemas.openxmlformats.org/officeDocument/2006/relationships/image" Target="../media/image648.png"/><Relationship Id="rId18" Type="http://schemas.openxmlformats.org/officeDocument/2006/relationships/image" Target="../media/image649.png"/><Relationship Id="rId19" Type="http://schemas.openxmlformats.org/officeDocument/2006/relationships/image" Target="../media/image650.png"/><Relationship Id="rId20" Type="http://schemas.openxmlformats.org/officeDocument/2006/relationships/image" Target="../media/image651.png"/><Relationship Id="rId21" Type="http://schemas.openxmlformats.org/officeDocument/2006/relationships/image" Target="../media/image652.png"/><Relationship Id="rId22" Type="http://schemas.openxmlformats.org/officeDocument/2006/relationships/image" Target="../media/image653.png"/><Relationship Id="rId23" Type="http://schemas.openxmlformats.org/officeDocument/2006/relationships/image" Target="../media/image654.png"/><Relationship Id="rId24" Type="http://schemas.openxmlformats.org/officeDocument/2006/relationships/image" Target="../media/image655.png"/><Relationship Id="rId25" Type="http://schemas.openxmlformats.org/officeDocument/2006/relationships/image" Target="../media/image656.png"/></Relationships>
</file>

<file path=ppt/charts/_rels/chart99.xml.rels><?xml version='1.0' encoding='UTF-8' standalone='yes'?>
<Relationships xmlns="http://schemas.openxmlformats.org/package/2006/relationships"><Relationship Id="rId2" Type="http://schemas.openxmlformats.org/officeDocument/2006/relationships/image" Target="../media/image667.png"/><Relationship Id="rId3" Type="http://schemas.openxmlformats.org/officeDocument/2006/relationships/image" Target="../media/image668.png"/><Relationship Id="rId4" Type="http://schemas.openxmlformats.org/officeDocument/2006/relationships/image" Target="../media/image669.png"/><Relationship Id="rId5" Type="http://schemas.openxmlformats.org/officeDocument/2006/relationships/image" Target="../media/image670.png"/><Relationship Id="rId6" Type="http://schemas.openxmlformats.org/officeDocument/2006/relationships/image" Target="../media/image671.png"/><Relationship Id="rId7" Type="http://schemas.openxmlformats.org/officeDocument/2006/relationships/image" Target="../media/image672.png"/><Relationship Id="rId8" Type="http://schemas.openxmlformats.org/officeDocument/2006/relationships/image" Target="../media/image673.png"/><Relationship Id="rId9" Type="http://schemas.openxmlformats.org/officeDocument/2006/relationships/image" Target="../media/image674.png"/></Relationships>
</file>

<file path=ppt/charts/_rels/chart106.xml.rels><?xml version='1.0' encoding='UTF-8' standalone='yes'?>
<Relationships xmlns="http://schemas.openxmlformats.org/package/2006/relationships"><Relationship Id="rId2" Type="http://schemas.openxmlformats.org/officeDocument/2006/relationships/image" Target="../media/image675.png"/><Relationship Id="rId3" Type="http://schemas.openxmlformats.org/officeDocument/2006/relationships/image" Target="../media/image676.png"/><Relationship Id="rId4" Type="http://schemas.openxmlformats.org/officeDocument/2006/relationships/image" Target="../media/image677.png"/><Relationship Id="rId5" Type="http://schemas.openxmlformats.org/officeDocument/2006/relationships/image" Target="../media/image678.png"/><Relationship Id="rId6" Type="http://schemas.openxmlformats.org/officeDocument/2006/relationships/image" Target="../media/image679.png"/><Relationship Id="rId7" Type="http://schemas.openxmlformats.org/officeDocument/2006/relationships/image" Target="../media/image680.png"/><Relationship Id="rId8" Type="http://schemas.openxmlformats.org/officeDocument/2006/relationships/image" Target="../media/image681.png"/><Relationship Id="rId9" Type="http://schemas.openxmlformats.org/officeDocument/2006/relationships/image" Target="../media/image682.png"/><Relationship Id="rId10" Type="http://schemas.openxmlformats.org/officeDocument/2006/relationships/image" Target="../media/image683.png"/><Relationship Id="rId11" Type="http://schemas.openxmlformats.org/officeDocument/2006/relationships/image" Target="../media/image684.png"/><Relationship Id="rId12" Type="http://schemas.openxmlformats.org/officeDocument/2006/relationships/image" Target="../media/image685.png"/><Relationship Id="rId13" Type="http://schemas.openxmlformats.org/officeDocument/2006/relationships/image" Target="../media/image686.png"/></Relationships>
</file>

<file path=ppt/charts/_rels/chart107.xml.rels><?xml version='1.0' encoding='UTF-8' standalone='yes'?>
<Relationships xmlns="http://schemas.openxmlformats.org/package/2006/relationships"><Relationship Id="rId2" Type="http://schemas.openxmlformats.org/officeDocument/2006/relationships/image" Target="../media/image693.png"/><Relationship Id="rId3" Type="http://schemas.openxmlformats.org/officeDocument/2006/relationships/image" Target="../media/image694.png"/><Relationship Id="rId4" Type="http://schemas.openxmlformats.org/officeDocument/2006/relationships/image" Target="../media/image695.png"/></Relationships>
</file>

<file path=ppt/charts/_rels/chart112.xml.rels><?xml version='1.0' encoding='UTF-8' standalone='yes'?>
<Relationships xmlns="http://schemas.openxmlformats.org/package/2006/relationships"><Relationship Id="rId2" Type="http://schemas.openxmlformats.org/officeDocument/2006/relationships/image" Target="../media/image696.png"/><Relationship Id="rId3" Type="http://schemas.openxmlformats.org/officeDocument/2006/relationships/image" Target="../media/image697.png"/><Relationship Id="rId4" Type="http://schemas.openxmlformats.org/officeDocument/2006/relationships/image" Target="../media/image698.png"/><Relationship Id="rId5" Type="http://schemas.openxmlformats.org/officeDocument/2006/relationships/image" Target="../media/image699.png"/><Relationship Id="rId6" Type="http://schemas.openxmlformats.org/officeDocument/2006/relationships/image" Target="../media/image700.png"/><Relationship Id="rId7" Type="http://schemas.openxmlformats.org/officeDocument/2006/relationships/image" Target="../media/image701.png"/><Relationship Id="rId8" Type="http://schemas.openxmlformats.org/officeDocument/2006/relationships/image" Target="../media/image702.png"/><Relationship Id="rId9" Type="http://schemas.openxmlformats.org/officeDocument/2006/relationships/image" Target="../media/image703.png"/><Relationship Id="rId10" Type="http://schemas.openxmlformats.org/officeDocument/2006/relationships/image" Target="../media/image704.png"/></Relationships>
</file>

<file path=ppt/charts/_rels/chart113.xml.rels><?xml version='1.0' encoding='UTF-8' standalone='yes'?>
<Relationships xmlns="http://schemas.openxmlformats.org/package/2006/relationships"><Relationship Id="rId2" Type="http://schemas.openxmlformats.org/officeDocument/2006/relationships/image" Target="../media/image718.png"/><Relationship Id="rId3" Type="http://schemas.openxmlformats.org/officeDocument/2006/relationships/image" Target="../media/image719.png"/><Relationship Id="rId4" Type="http://schemas.openxmlformats.org/officeDocument/2006/relationships/image" Target="../media/image720.png"/><Relationship Id="rId5" Type="http://schemas.openxmlformats.org/officeDocument/2006/relationships/image" Target="../media/image721.png"/><Relationship Id="rId6" Type="http://schemas.openxmlformats.org/officeDocument/2006/relationships/image" Target="../media/image722.png"/><Relationship Id="rId7" Type="http://schemas.openxmlformats.org/officeDocument/2006/relationships/image" Target="../media/image723.png"/><Relationship Id="rId8" Type="http://schemas.openxmlformats.org/officeDocument/2006/relationships/image" Target="../media/image724.png"/><Relationship Id="rId9" Type="http://schemas.openxmlformats.org/officeDocument/2006/relationships/image" Target="../media/image725.png"/><Relationship Id="rId10" Type="http://schemas.openxmlformats.org/officeDocument/2006/relationships/image" Target="../media/image726.png"/><Relationship Id="rId11" Type="http://schemas.openxmlformats.org/officeDocument/2006/relationships/image" Target="../media/image727.png"/><Relationship Id="rId12" Type="http://schemas.openxmlformats.org/officeDocument/2006/relationships/image" Target="../media/image728.png"/><Relationship Id="rId13" Type="http://schemas.openxmlformats.org/officeDocument/2006/relationships/image" Target="../media/image729.png"/></Relationships>
</file>

<file path=ppt/charts/_rels/chart121.xml.rels><?xml version='1.0' encoding='UTF-8' standalone='yes'?>
<Relationships xmlns="http://schemas.openxmlformats.org/package/2006/relationships"><Relationship Id="rId2" Type="http://schemas.openxmlformats.org/officeDocument/2006/relationships/image" Target="../media/image730.png"/><Relationship Id="rId3" Type="http://schemas.openxmlformats.org/officeDocument/2006/relationships/image" Target="../media/image731.png"/><Relationship Id="rId4" Type="http://schemas.openxmlformats.org/officeDocument/2006/relationships/image" Target="../media/image732.png"/><Relationship Id="rId5" Type="http://schemas.openxmlformats.org/officeDocument/2006/relationships/image" Target="../media/image733.png"/><Relationship Id="rId6" Type="http://schemas.openxmlformats.org/officeDocument/2006/relationships/image" Target="../media/image734.png"/><Relationship Id="rId7" Type="http://schemas.openxmlformats.org/officeDocument/2006/relationships/image" Target="../media/image735.png"/><Relationship Id="rId8" Type="http://schemas.openxmlformats.org/officeDocument/2006/relationships/image" Target="../media/image736.png"/><Relationship Id="rId9" Type="http://schemas.openxmlformats.org/officeDocument/2006/relationships/image" Target="../media/image737.png"/><Relationship Id="rId10" Type="http://schemas.openxmlformats.org/officeDocument/2006/relationships/image" Target="../media/image738.png"/><Relationship Id="rId11" Type="http://schemas.openxmlformats.org/officeDocument/2006/relationships/image" Target="../media/image739.png"/><Relationship Id="rId12" Type="http://schemas.openxmlformats.org/officeDocument/2006/relationships/image" Target="../media/image740.png"/><Relationship Id="rId13" Type="http://schemas.openxmlformats.org/officeDocument/2006/relationships/image" Target="../media/image741.png"/><Relationship Id="rId14" Type="http://schemas.openxmlformats.org/officeDocument/2006/relationships/image" Target="../media/image742.png"/><Relationship Id="rId15" Type="http://schemas.openxmlformats.org/officeDocument/2006/relationships/image" Target="../media/image743.png"/><Relationship Id="rId16" Type="http://schemas.openxmlformats.org/officeDocument/2006/relationships/image" Target="../media/image744.png"/><Relationship Id="rId17" Type="http://schemas.openxmlformats.org/officeDocument/2006/relationships/image" Target="../media/image745.png"/><Relationship Id="rId18" Type="http://schemas.openxmlformats.org/officeDocument/2006/relationships/image" Target="../media/image746.png"/><Relationship Id="rId19" Type="http://schemas.openxmlformats.org/officeDocument/2006/relationships/image" Target="../media/image747.png"/></Relationships>
</file>

<file path=ppt/charts/_rels/chart122.xml.rels><?xml version='1.0' encoding='UTF-8' standalone='yes'?>
<Relationships xmlns="http://schemas.openxmlformats.org/package/2006/relationships"><Relationship Id="rId2" Type="http://schemas.openxmlformats.org/officeDocument/2006/relationships/image" Target="../media/image765.png"/><Relationship Id="rId3" Type="http://schemas.openxmlformats.org/officeDocument/2006/relationships/image" Target="../media/image766.png"/><Relationship Id="rId4" Type="http://schemas.openxmlformats.org/officeDocument/2006/relationships/image" Target="../media/image767.png"/><Relationship Id="rId5" Type="http://schemas.openxmlformats.org/officeDocument/2006/relationships/image" Target="../media/image768.png"/><Relationship Id="rId6" Type="http://schemas.openxmlformats.org/officeDocument/2006/relationships/image" Target="../media/image769.png"/><Relationship Id="rId7" Type="http://schemas.openxmlformats.org/officeDocument/2006/relationships/image" Target="../media/image770.png"/><Relationship Id="rId8" Type="http://schemas.openxmlformats.org/officeDocument/2006/relationships/image" Target="../media/image771.png"/><Relationship Id="rId9" Type="http://schemas.openxmlformats.org/officeDocument/2006/relationships/image" Target="../media/image772.png"/><Relationship Id="rId10" Type="http://schemas.openxmlformats.org/officeDocument/2006/relationships/image" Target="../media/image773.png"/><Relationship Id="rId11" Type="http://schemas.openxmlformats.org/officeDocument/2006/relationships/image" Target="../media/image774.png"/><Relationship Id="rId12" Type="http://schemas.openxmlformats.org/officeDocument/2006/relationships/image" Target="../media/image775.png"/><Relationship Id="rId13" Type="http://schemas.openxmlformats.org/officeDocument/2006/relationships/image" Target="../media/image776.png"/><Relationship Id="rId14" Type="http://schemas.openxmlformats.org/officeDocument/2006/relationships/image" Target="../media/image777.png"/></Relationships>
</file>

<file path=ppt/charts/_rels/chart131.xml.rels><?xml version='1.0' encoding='UTF-8' standalone='yes'?>
<Relationships xmlns="http://schemas.openxmlformats.org/package/2006/relationships"><Relationship Id="rId2" Type="http://schemas.openxmlformats.org/officeDocument/2006/relationships/image" Target="../media/image778.png"/><Relationship Id="rId3" Type="http://schemas.openxmlformats.org/officeDocument/2006/relationships/image" Target="../media/image779.png"/><Relationship Id="rId4" Type="http://schemas.openxmlformats.org/officeDocument/2006/relationships/image" Target="../media/image780.png"/><Relationship Id="rId5" Type="http://schemas.openxmlformats.org/officeDocument/2006/relationships/image" Target="../media/image781.png"/><Relationship Id="rId6" Type="http://schemas.openxmlformats.org/officeDocument/2006/relationships/image" Target="../media/image782.png"/><Relationship Id="rId7" Type="http://schemas.openxmlformats.org/officeDocument/2006/relationships/image" Target="../media/image783.png"/><Relationship Id="rId8" Type="http://schemas.openxmlformats.org/officeDocument/2006/relationships/image" Target="../media/image784.png"/><Relationship Id="rId9" Type="http://schemas.openxmlformats.org/officeDocument/2006/relationships/image" Target="../media/image785.png"/><Relationship Id="rId10" Type="http://schemas.openxmlformats.org/officeDocument/2006/relationships/image" Target="../media/image786.png"/><Relationship Id="rId11" Type="http://schemas.openxmlformats.org/officeDocument/2006/relationships/image" Target="../media/image787.png"/><Relationship Id="rId12" Type="http://schemas.openxmlformats.org/officeDocument/2006/relationships/image" Target="../media/image788.png"/><Relationship Id="rId13" Type="http://schemas.openxmlformats.org/officeDocument/2006/relationships/image" Target="../media/image789.png"/><Relationship Id="rId14" Type="http://schemas.openxmlformats.org/officeDocument/2006/relationships/image" Target="../media/image790.png"/><Relationship Id="rId15" Type="http://schemas.openxmlformats.org/officeDocument/2006/relationships/image" Target="../media/image791.png"/><Relationship Id="rId16" Type="http://schemas.openxmlformats.org/officeDocument/2006/relationships/image" Target="../media/image792.png"/><Relationship Id="rId17" Type="http://schemas.openxmlformats.org/officeDocument/2006/relationships/image" Target="../media/image793.png"/><Relationship Id="rId18" Type="http://schemas.openxmlformats.org/officeDocument/2006/relationships/image" Target="../media/image794.png"/><Relationship Id="rId19" Type="http://schemas.openxmlformats.org/officeDocument/2006/relationships/image" Target="../media/image795.png"/></Relationships>
</file>

<file path=ppt/charts/_rels/chart132.xml.rels><?xml version='1.0' encoding='UTF-8' standalone='yes'?>
<Relationships xmlns="http://schemas.openxmlformats.org/package/2006/relationships"><Relationship Id="rId2" Type="http://schemas.openxmlformats.org/officeDocument/2006/relationships/image" Target="../media/image806.png"/><Relationship Id="rId3" Type="http://schemas.openxmlformats.org/officeDocument/2006/relationships/image" Target="../media/image807.png"/><Relationship Id="rId4" Type="http://schemas.openxmlformats.org/officeDocument/2006/relationships/image" Target="../media/image808.png"/><Relationship Id="rId5" Type="http://schemas.openxmlformats.org/officeDocument/2006/relationships/image" Target="../media/image809.png"/><Relationship Id="rId6" Type="http://schemas.openxmlformats.org/officeDocument/2006/relationships/image" Target="../media/image810.png"/><Relationship Id="rId7" Type="http://schemas.openxmlformats.org/officeDocument/2006/relationships/image" Target="../media/image811.png"/><Relationship Id="rId8" Type="http://schemas.openxmlformats.org/officeDocument/2006/relationships/image" Target="../media/image812.png"/><Relationship Id="rId9" Type="http://schemas.openxmlformats.org/officeDocument/2006/relationships/image" Target="../media/image813.png"/></Relationships>
</file>

<file path=ppt/charts/_rels/chart139.xml.rels><?xml version='1.0' encoding='UTF-8' standalone='yes'?>
<Relationships xmlns="http://schemas.openxmlformats.org/package/2006/relationships"><Relationship Id="rId2" Type="http://schemas.openxmlformats.org/officeDocument/2006/relationships/image" Target="../media/image814.png"/><Relationship Id="rId3" Type="http://schemas.openxmlformats.org/officeDocument/2006/relationships/image" Target="../media/image815.png"/><Relationship Id="rId4" Type="http://schemas.openxmlformats.org/officeDocument/2006/relationships/image" Target="../media/image816.png"/><Relationship Id="rId5" Type="http://schemas.openxmlformats.org/officeDocument/2006/relationships/image" Target="../media/image817.png"/><Relationship Id="rId6" Type="http://schemas.openxmlformats.org/officeDocument/2006/relationships/image" Target="../media/image818.png"/><Relationship Id="rId7" Type="http://schemas.openxmlformats.org/officeDocument/2006/relationships/image" Target="../media/image819.png"/><Relationship Id="rId8" Type="http://schemas.openxmlformats.org/officeDocument/2006/relationships/image" Target="../media/image820.png"/><Relationship Id="rId9" Type="http://schemas.openxmlformats.org/officeDocument/2006/relationships/image" Target="../media/image821.png"/><Relationship Id="rId10" Type="http://schemas.openxmlformats.org/officeDocument/2006/relationships/image" Target="../media/image822.png"/><Relationship Id="rId11" Type="http://schemas.openxmlformats.org/officeDocument/2006/relationships/image" Target="../media/image823.png"/><Relationship Id="rId12" Type="http://schemas.openxmlformats.org/officeDocument/2006/relationships/image" Target="../media/image824.png"/><Relationship Id="rId13" Type="http://schemas.openxmlformats.org/officeDocument/2006/relationships/image" Target="../media/image825.png"/><Relationship Id="rId14" Type="http://schemas.openxmlformats.org/officeDocument/2006/relationships/image" Target="../media/image826.png"/></Relationships>
</file>

<file path=ppt/charts/_rels/chart140.xml.rels><?xml version='1.0' encoding='UTF-8' standalone='yes'?>
<Relationships xmlns="http://schemas.openxmlformats.org/package/2006/relationships"><Relationship Id="rId2" Type="http://schemas.openxmlformats.org/officeDocument/2006/relationships/image" Target="../media/image835.png"/><Relationship Id="rId3" Type="http://schemas.openxmlformats.org/officeDocument/2006/relationships/image" Target="../media/image836.png"/><Relationship Id="rId4" Type="http://schemas.openxmlformats.org/officeDocument/2006/relationships/image" Target="../media/image837.png"/><Relationship Id="rId5" Type="http://schemas.openxmlformats.org/officeDocument/2006/relationships/image" Target="../media/image838.png"/><Relationship Id="rId6" Type="http://schemas.openxmlformats.org/officeDocument/2006/relationships/image" Target="../media/image839.png"/><Relationship Id="rId7" Type="http://schemas.openxmlformats.org/officeDocument/2006/relationships/image" Target="../media/image840.png"/></Relationships>
</file>

<file path=ppt/charts/_rels/chart146.xml.rels><?xml version='1.0' encoding='UTF-8' standalone='yes'?>
<Relationships xmlns="http://schemas.openxmlformats.org/package/2006/relationships"><Relationship Id="rId2" Type="http://schemas.openxmlformats.org/officeDocument/2006/relationships/image" Target="../media/image841.png"/><Relationship Id="rId3" Type="http://schemas.openxmlformats.org/officeDocument/2006/relationships/image" Target="../media/image842.png"/><Relationship Id="rId4" Type="http://schemas.openxmlformats.org/officeDocument/2006/relationships/image" Target="../media/image843.png"/><Relationship Id="rId5" Type="http://schemas.openxmlformats.org/officeDocument/2006/relationships/image" Target="../media/image844.png"/><Relationship Id="rId6" Type="http://schemas.openxmlformats.org/officeDocument/2006/relationships/image" Target="../media/image845.png"/><Relationship Id="rId7" Type="http://schemas.openxmlformats.org/officeDocument/2006/relationships/image" Target="../media/image846.png"/><Relationship Id="rId8" Type="http://schemas.openxmlformats.org/officeDocument/2006/relationships/image" Target="../media/image847.png"/><Relationship Id="rId9" Type="http://schemas.openxmlformats.org/officeDocument/2006/relationships/image" Target="../media/image848.png"/><Relationship Id="rId10" Type="http://schemas.openxmlformats.org/officeDocument/2006/relationships/image" Target="../media/image849.png"/><Relationship Id="rId11" Type="http://schemas.openxmlformats.org/officeDocument/2006/relationships/image" Target="../media/image850.png"/><Relationship Id="rId12" Type="http://schemas.openxmlformats.org/officeDocument/2006/relationships/image" Target="../media/image851.png"/></Relationships>
</file>

<file path=ppt/charts/_rels/chart179.xml.rels><?xml version='1.0' encoding='UTF-8' standalone='yes'?>
<Relationships xmlns="http://schemas.openxmlformats.org/package/2006/relationships"><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image" Target="../media/image854.png"/><Relationship Id="rId5" Type="http://schemas.openxmlformats.org/officeDocument/2006/relationships/image" Target="../media/image855.png"/><Relationship Id="rId6" Type="http://schemas.openxmlformats.org/officeDocument/2006/relationships/image" Target="../media/image856.png"/><Relationship Id="rId7" Type="http://schemas.openxmlformats.org/officeDocument/2006/relationships/image" Target="../media/image857.png"/><Relationship Id="rId8" Type="http://schemas.openxmlformats.org/officeDocument/2006/relationships/image" Target="../media/image858.png"/><Relationship Id="rId9" Type="http://schemas.openxmlformats.org/officeDocument/2006/relationships/image" Target="../media/image859.png"/></Relationships>
</file>

<file path=ppt/charts/_rels/chart180.xml.rels><?xml version='1.0' encoding='UTF-8' standalone='yes'?>
<Relationships xmlns="http://schemas.openxmlformats.org/package/2006/relationships"><Relationship Id="rId2" Type="http://schemas.openxmlformats.org/officeDocument/2006/relationships/image" Target="../media/image860.png"/><Relationship Id="rId3" Type="http://schemas.openxmlformats.org/officeDocument/2006/relationships/image" Target="../media/image861.png"/><Relationship Id="rId4" Type="http://schemas.openxmlformats.org/officeDocument/2006/relationships/image" Target="../media/image862.png"/><Relationship Id="rId5" Type="http://schemas.openxmlformats.org/officeDocument/2006/relationships/image" Target="../media/image863.png"/><Relationship Id="rId6" Type="http://schemas.openxmlformats.org/officeDocument/2006/relationships/image" Target="../media/image864.png"/><Relationship Id="rId7" Type="http://schemas.openxmlformats.org/officeDocument/2006/relationships/image" Target="../media/image865.png"/><Relationship Id="rId8" Type="http://schemas.openxmlformats.org/officeDocument/2006/relationships/image" Target="../media/image866.png"/><Relationship Id="rId9" Type="http://schemas.openxmlformats.org/officeDocument/2006/relationships/image" Target="../media/image867.png"/><Relationship Id="rId10" Type="http://schemas.openxmlformats.org/officeDocument/2006/relationships/image" Target="../media/image868.png"/></Relationships>
</file>

<file path=ppt/charts/_rels/chart181.xml.rels><?xml version='1.0' encoding='UTF-8' standalone='yes'?>
<Relationships xmlns="http://schemas.openxmlformats.org/package/2006/relationships"><Relationship Id="rId2" Type="http://schemas.openxmlformats.org/officeDocument/2006/relationships/image" Target="../media/image869.png"/><Relationship Id="rId3" Type="http://schemas.openxmlformats.org/officeDocument/2006/relationships/image" Target="../media/image870.png"/><Relationship Id="rId4" Type="http://schemas.openxmlformats.org/officeDocument/2006/relationships/image" Target="../media/image871.png"/><Relationship Id="rId5" Type="http://schemas.openxmlformats.org/officeDocument/2006/relationships/image" Target="../media/image872.png"/><Relationship Id="rId6" Type="http://schemas.openxmlformats.org/officeDocument/2006/relationships/image" Target="../media/image873.png"/><Relationship Id="rId7" Type="http://schemas.openxmlformats.org/officeDocument/2006/relationships/image" Target="../media/image874.png"/><Relationship Id="rId8" Type="http://schemas.openxmlformats.org/officeDocument/2006/relationships/image" Target="../media/image875.png"/><Relationship Id="rId9" Type="http://schemas.openxmlformats.org/officeDocument/2006/relationships/image" Target="../media/image876.png"/></Relationships>
</file>

<file path=ppt/charts/_rels/chart182.xml.rels><?xml version='1.0' encoding='UTF-8' standalone='yes'?>
<Relationships xmlns="http://schemas.openxmlformats.org/package/2006/relationships"><Relationship Id="rId2" Type="http://schemas.openxmlformats.org/officeDocument/2006/relationships/image" Target="../media/image877.png"/><Relationship Id="rId3" Type="http://schemas.openxmlformats.org/officeDocument/2006/relationships/image" Target="../media/image878.png"/><Relationship Id="rId4" Type="http://schemas.openxmlformats.org/officeDocument/2006/relationships/image" Target="../media/image879.png"/><Relationship Id="rId5" Type="http://schemas.openxmlformats.org/officeDocument/2006/relationships/image" Target="../media/image880.png"/><Relationship Id="rId6" Type="http://schemas.openxmlformats.org/officeDocument/2006/relationships/image" Target="../media/image881.png"/><Relationship Id="rId7" Type="http://schemas.openxmlformats.org/officeDocument/2006/relationships/image" Target="../media/image882.png"/><Relationship Id="rId8" Type="http://schemas.openxmlformats.org/officeDocument/2006/relationships/image" Target="../media/image883.png"/><Relationship Id="rId9" Type="http://schemas.openxmlformats.org/officeDocument/2006/relationships/image" Target="../media/image884.png"/><Relationship Id="rId10" Type="http://schemas.openxmlformats.org/officeDocument/2006/relationships/image" Target="../media/image885.png"/></Relationships>
</file>

<file path=ppt/charts/_rels/chart183.xml.rels><?xml version='1.0' encoding='UTF-8' standalone='yes'?>
<Relationships xmlns="http://schemas.openxmlformats.org/package/2006/relationships"><Relationship Id="rId2" Type="http://schemas.openxmlformats.org/officeDocument/2006/relationships/image" Target="../media/image886.png"/><Relationship Id="rId3" Type="http://schemas.openxmlformats.org/officeDocument/2006/relationships/image" Target="../media/image887.png"/><Relationship Id="rId4" Type="http://schemas.openxmlformats.org/officeDocument/2006/relationships/image" Target="../media/image888.png"/><Relationship Id="rId5" Type="http://schemas.openxmlformats.org/officeDocument/2006/relationships/image" Target="../media/image889.png"/><Relationship Id="rId6" Type="http://schemas.openxmlformats.org/officeDocument/2006/relationships/image" Target="../media/image890.png"/><Relationship Id="rId7" Type="http://schemas.openxmlformats.org/officeDocument/2006/relationships/image" Target="../media/image891.png"/><Relationship Id="rId8" Type="http://schemas.openxmlformats.org/officeDocument/2006/relationships/image" Target="../media/image892.png"/><Relationship Id="rId9" Type="http://schemas.openxmlformats.org/officeDocument/2006/relationships/image" Target="../media/image893.png"/><Relationship Id="rId10" Type="http://schemas.openxmlformats.org/officeDocument/2006/relationships/image" Target="../media/image894.png"/></Relationships>
</file>

<file path=ppt/charts/_rels/chart184.xml.rels><?xml version='1.0' encoding='UTF-8' standalone='yes'?>
<Relationships xmlns="http://schemas.openxmlformats.org/package/2006/relationships"><Relationship Id="rId2" Type="http://schemas.openxmlformats.org/officeDocument/2006/relationships/image" Target="../media/image895.png"/><Relationship Id="rId3" Type="http://schemas.openxmlformats.org/officeDocument/2006/relationships/image" Target="../media/image896.png"/><Relationship Id="rId4" Type="http://schemas.openxmlformats.org/officeDocument/2006/relationships/image" Target="../media/image897.png"/><Relationship Id="rId5" Type="http://schemas.openxmlformats.org/officeDocument/2006/relationships/image" Target="../media/image898.png"/><Relationship Id="rId6" Type="http://schemas.openxmlformats.org/officeDocument/2006/relationships/image" Target="../media/image899.png"/><Relationship Id="rId7" Type="http://schemas.openxmlformats.org/officeDocument/2006/relationships/image" Target="../media/image900.png"/><Relationship Id="rId8" Type="http://schemas.openxmlformats.org/officeDocument/2006/relationships/image" Target="../media/image901.png"/><Relationship Id="rId9" Type="http://schemas.openxmlformats.org/officeDocument/2006/relationships/image" Target="../media/image902.png"/><Relationship Id="rId10" Type="http://schemas.openxmlformats.org/officeDocument/2006/relationships/image" Target="../media/image903.png"/></Relationships>
</file>

<file path=ppt/charts/_rels/chart185.xml.rels><?xml version='1.0' encoding='UTF-8' standalone='yes'?>
<Relationships xmlns="http://schemas.openxmlformats.org/package/2006/relationships"><Relationship Id="rId2" Type="http://schemas.openxmlformats.org/officeDocument/2006/relationships/image" Target="../media/image904.png"/><Relationship Id="rId3" Type="http://schemas.openxmlformats.org/officeDocument/2006/relationships/image" Target="../media/image905.png"/><Relationship Id="rId4" Type="http://schemas.openxmlformats.org/officeDocument/2006/relationships/image" Target="../media/image906.png"/><Relationship Id="rId5" Type="http://schemas.openxmlformats.org/officeDocument/2006/relationships/image" Target="../media/image907.png"/><Relationship Id="rId6" Type="http://schemas.openxmlformats.org/officeDocument/2006/relationships/image" Target="../media/image908.png"/><Relationship Id="rId7" Type="http://schemas.openxmlformats.org/officeDocument/2006/relationships/image" Target="../media/image909.png"/><Relationship Id="rId8" Type="http://schemas.openxmlformats.org/officeDocument/2006/relationships/image" Target="../media/image910.png"/><Relationship Id="rId9" Type="http://schemas.openxmlformats.org/officeDocument/2006/relationships/image" Target="../media/image911.png"/><Relationship Id="rId10" Type="http://schemas.openxmlformats.org/officeDocument/2006/relationships/image" Target="../media/image912.png"/></Relationships>
</file>

<file path=ppt/charts/_rels/chart186.xml.rels><?xml version='1.0' encoding='UTF-8' standalone='yes'?>
<Relationships xmlns="http://schemas.openxmlformats.org/package/2006/relationships"><Relationship Id="rId2" Type="http://schemas.openxmlformats.org/officeDocument/2006/relationships/image" Target="../media/image913.png"/><Relationship Id="rId3" Type="http://schemas.openxmlformats.org/officeDocument/2006/relationships/image" Target="../media/image914.png"/><Relationship Id="rId4" Type="http://schemas.openxmlformats.org/officeDocument/2006/relationships/image" Target="../media/image915.png"/><Relationship Id="rId5" Type="http://schemas.openxmlformats.org/officeDocument/2006/relationships/image" Target="../media/image916.png"/></Relationships>
</file>

<file path=ppt/charts/_rels/chart187.xml.rels><?xml version='1.0' encoding='UTF-8' standalone='yes'?>
<Relationships xmlns="http://schemas.openxmlformats.org/package/2006/relationships"><Relationship Id="rId2" Type="http://schemas.openxmlformats.org/officeDocument/2006/relationships/image" Target="../media/image917.png"/><Relationship Id="rId3" Type="http://schemas.openxmlformats.org/officeDocument/2006/relationships/image" Target="../media/image918.png"/><Relationship Id="rId4" Type="http://schemas.openxmlformats.org/officeDocument/2006/relationships/image" Target="../media/image919.png"/><Relationship Id="rId5" Type="http://schemas.openxmlformats.org/officeDocument/2006/relationships/image" Target="../media/image920.png"/><Relationship Id="rId6" Type="http://schemas.openxmlformats.org/officeDocument/2006/relationships/image" Target="../media/image921.png"/></Relationships>
</file>

<file path=ppt/charts/_rels/chart188.xml.rels><?xml version='1.0' encoding='UTF-8' standalone='yes'?>
<Relationships xmlns="http://schemas.openxmlformats.org/package/2006/relationships"><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image" Target="../media/image925.png"/></Relationships>
</file>

<file path=ppt/charts/_rels/chart189.xml.rels><?xml version='1.0' encoding='UTF-8' standalone='yes'?>
<Relationships xmlns="http://schemas.openxmlformats.org/package/2006/relationships"><Relationship Id="rId2" Type="http://schemas.openxmlformats.org/officeDocument/2006/relationships/image" Target="../media/image926.png"/><Relationship Id="rId3" Type="http://schemas.openxmlformats.org/officeDocument/2006/relationships/image" Target="../media/image927.png"/><Relationship Id="rId4" Type="http://schemas.openxmlformats.org/officeDocument/2006/relationships/image" Target="../media/image928.png"/><Relationship Id="rId5" Type="http://schemas.openxmlformats.org/officeDocument/2006/relationships/image" Target="../media/image929.png"/><Relationship Id="rId6" Type="http://schemas.openxmlformats.org/officeDocument/2006/relationships/image" Target="../media/image930.png"/><Relationship Id="rId7" Type="http://schemas.openxmlformats.org/officeDocument/2006/relationships/image" Target="../media/image931.png"/><Relationship Id="rId8" Type="http://schemas.openxmlformats.org/officeDocument/2006/relationships/image" Target="../media/image932.png"/><Relationship Id="rId9" Type="http://schemas.openxmlformats.org/officeDocument/2006/relationships/image" Target="../media/image933.png"/><Relationship Id="rId10" Type="http://schemas.openxmlformats.org/officeDocument/2006/relationships/image" Target="../media/image934.png"/><Relationship Id="rId11" Type="http://schemas.openxmlformats.org/officeDocument/2006/relationships/image" Target="../media/image935.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3.9561657063404976</c:v>
                </c:pt>
                <c:pt idx="1">
                  <c:v>5.245930274733035</c:v>
                </c:pt>
                <c:pt idx="2">
                  <c:v>4.81424050049839</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92462796264760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6516.170999999999</c:v>
                </c:pt>
                <c:pt idx="2">
                  <c:v>0.0</c:v>
                </c:pt>
                <c:pt idx="3">
                  <c:v>7911.224999999999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6516.170999999999</c:v>
                </c:pt>
                <c:pt idx="1">
                  <c:v>1395.054</c:v>
                </c:pt>
                <c:pt idx="2">
                  <c:v>7911.224999999999</c:v>
                </c:pt>
                <c:pt idx="3">
                  <c:v>5280.3560000000025</c:v>
                </c:pt>
                <c:pt idx="4">
                  <c:v>13191.581000000002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4.424178427375014</c:v>
                </c:pt>
                <c:pt idx="1">
                  <c:v>6.658666629421717</c:v>
                </c:pt>
                <c:pt idx="2">
                  <c:v>5.908574465499128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789439950836666"/>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12971.563000000002</c:v>
                </c:pt>
                <c:pt idx="2">
                  <c:v>0.0</c:v>
                </c:pt>
                <c:pt idx="3">
                  <c:v>16106.368999999999</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12971.563000000002</c:v>
                </c:pt>
                <c:pt idx="1">
                  <c:v>3134.805999999997</c:v>
                </c:pt>
                <c:pt idx="2">
                  <c:v>16106.368999999999</c:v>
                </c:pt>
                <c:pt idx="3">
                  <c:v>14580.964000000004</c:v>
                </c:pt>
                <c:pt idx="4">
                  <c:v>30687.333000000002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12971.563000000002</c:v>
                </c:pt>
                <c:pt idx="1">
                  <c:v>13518.921999999999</c:v>
                </c:pt>
                <c:pt idx="2">
                  <c:v>14090.616</c:v>
                </c:pt>
                <c:pt idx="3">
                  <c:v>14693.197999999999</c:v>
                </c:pt>
                <c:pt idx="4">
                  <c:v>15333.337</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6516.170999999999</c:v>
                </c:pt>
                <c:pt idx="1">
                  <c:v>6771.067</c:v>
                </c:pt>
                <c:pt idx="2">
                  <c:v>7034.789</c:v>
                </c:pt>
                <c:pt idx="3">
                  <c:v>7306.778</c:v>
                </c:pt>
                <c:pt idx="4">
                  <c:v>7593.799000000001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809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0328"/>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16106.368999999999</c:v>
                </c:pt>
                <c:pt idx="1">
                  <c:v>16980.106</c:v>
                </c:pt>
                <c:pt idx="2">
                  <c:v>17972.093</c:v>
                </c:pt>
                <c:pt idx="3">
                  <c:v>19096.247</c:v>
                </c:pt>
                <c:pt idx="4">
                  <c:v>20358.802</c:v>
                </c:pt>
                <c:pt idx="5">
                  <c:v>21755.294</c:v>
                </c:pt>
                <c:pt idx="6">
                  <c:v>23288.227</c:v>
                </c:pt>
                <c:pt idx="7">
                  <c:v>24948.037</c:v>
                </c:pt>
                <c:pt idx="8">
                  <c:v>26734.994000000002</c:v>
                </c:pt>
                <c:pt idx="9">
                  <c:v>28646.541000000005</c:v>
                </c:pt>
                <c:pt idx="10">
                  <c:v>30687.333000000002</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7911.224999999999</c:v>
                </c:pt>
                <c:pt idx="1">
                  <c:v>8265.333999999999</c:v>
                </c:pt>
                <c:pt idx="2">
                  <c:v>8662.288</c:v>
                </c:pt>
                <c:pt idx="3">
                  <c:v>9104.867</c:v>
                </c:pt>
                <c:pt idx="4">
                  <c:v>9591.561000000002</c:v>
                </c:pt>
                <c:pt idx="5">
                  <c:v>10117.371</c:v>
                </c:pt>
                <c:pt idx="6">
                  <c:v>10679.509</c:v>
                </c:pt>
                <c:pt idx="7">
                  <c:v>11272.147</c:v>
                </c:pt>
                <c:pt idx="8">
                  <c:v>11892.191</c:v>
                </c:pt>
                <c:pt idx="9">
                  <c:v>12531.947</c:v>
                </c:pt>
                <c:pt idx="10">
                  <c:v>13191.581000000002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3621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0212"/>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Canada</c:v>
                </c:pt>
                <c:pt idx="1">
                  <c:v>Spain</c:v>
                </c:pt>
                <c:pt idx="2">
                  <c:v>Brazil</c:v>
                </c:pt>
                <c:pt idx="3">
                  <c:v>China</c:v>
                </c:pt>
                <c:pt idx="4">
                  <c:v>Saudi Arabia</c:v>
                </c:pt>
                <c:pt idx="5">
                  <c:v>Mexico</c:v>
                </c:pt>
                <c:pt idx="6">
                  <c:v>Thailand</c:v>
                </c:pt>
                <c:pt idx="7">
                  <c:v>Turkey</c:v>
                </c:pt>
                <c:pt idx="8">
                  <c:v>Indonesia</c:v>
                </c:pt>
                <c:pt idx="9">
                  <c:v>India</c:v>
                </c:pt>
              </c:strCache>
            </c:strRef>
          </c:cat>
          <c:val>
            <c:numRef>
              <c:numCache>
                <c:formatCode>General</c:formatCode>
                <c:ptCount val="10"/>
                <c:pt idx="0">
                  <c:v>102.43524986335622</c:v>
                </c:pt>
                <c:pt idx="1">
                  <c:v>105.86419858281344</c:v>
                </c:pt>
                <c:pt idx="2">
                  <c:v>109.14989616660715</c:v>
                </c:pt>
                <c:pt idx="3">
                  <c:v>112.22957387113284</c:v>
                </c:pt>
                <c:pt idx="4">
                  <c:v>112.88262516858877</c:v>
                </c:pt>
                <c:pt idx="5">
                  <c:v>113.40313433635284</c:v>
                </c:pt>
                <c:pt idx="6">
                  <c:v>117.72116200326109</c:v>
                </c:pt>
                <c:pt idx="7">
                  <c:v>118.10480613000063</c:v>
                </c:pt>
                <c:pt idx="8">
                  <c:v>138.81878160043848</c:v>
                </c:pt>
                <c:pt idx="9">
                  <c:v>139.16774018980396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Australia</c:v>
                </c:pt>
                <c:pt idx="1">
                  <c:v>France</c:v>
                </c:pt>
                <c:pt idx="2">
                  <c:v>U.K.</c:v>
                </c:pt>
                <c:pt idx="3">
                  <c:v>Canada</c:v>
                </c:pt>
                <c:pt idx="4">
                  <c:v>South Korea</c:v>
                </c:pt>
                <c:pt idx="5">
                  <c:v>India</c:v>
                </c:pt>
                <c:pt idx="6">
                  <c:v>Brazil</c:v>
                </c:pt>
                <c:pt idx="7">
                  <c:v>Japan</c:v>
                </c:pt>
                <c:pt idx="8">
                  <c:v>China</c:v>
                </c:pt>
                <c:pt idx="9">
                  <c:v>U.S.</c:v>
                </c:pt>
              </c:strCache>
            </c:strRef>
          </c:cat>
          <c:val>
            <c:numRef>
              <c:numCache>
                <c:formatCode>General</c:formatCode>
                <c:ptCount val="10"/>
                <c:pt idx="0">
                  <c:v>2.0712690875582713</c:v>
                </c:pt>
                <c:pt idx="1">
                  <c:v>2.234221276453326</c:v>
                </c:pt>
                <c:pt idx="2">
                  <c:v>2.3964876396375434</c:v>
                </c:pt>
                <c:pt idx="3">
                  <c:v>2.8775600845047005</c:v>
                </c:pt>
                <c:pt idx="4">
                  <c:v>3.13531396140886</c:v>
                </c:pt>
                <c:pt idx="5">
                  <c:v>4.797254831710713</c:v>
                </c:pt>
                <c:pt idx="6">
                  <c:v>5.107796713578058</c:v>
                </c:pt>
                <c:pt idx="7">
                  <c:v>7.9023307375287395</c:v>
                </c:pt>
                <c:pt idx="8">
                  <c:v>14.01665898084653</c:v>
                </c:pt>
                <c:pt idx="9">
                  <c:v>24.691639043893115</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Sprays and Mists</c:v>
                </c:pt>
                <c:pt idx="1">
                  <c:v>Mousses and Foams</c:v>
                </c:pt>
                <c:pt idx="2">
                  <c:v>Gels and Jellies</c:v>
                </c:pt>
                <c:pt idx="3">
                  <c:v>Creams and Lotions</c:v>
                </c:pt>
                <c:pt idx="4">
                  <c:v>Waxes, Clays, Pastes and Pomades</c:v>
                </c:pt>
                <c:pt idx="5">
                  <c:v>Styling Powders</c:v>
                </c:pt>
                <c:pt idx="6">
                  <c:v>Styling Serums and Oils</c:v>
                </c:pt>
                <c:pt idx="7">
                  <c:v>Sticks and Balms</c:v>
                </c:pt>
              </c:strCache>
            </c:strRef>
          </c:cat>
          <c:val>
            <c:numRef>
              <c:numCache>
                <c:formatCode>General</c:formatCode>
                <c:ptCount val="8"/>
                <c:pt idx="0">
                  <c:v>3330.276</c:v>
                </c:pt>
                <c:pt idx="1">
                  <c:v>1897.929</c:v>
                </c:pt>
                <c:pt idx="2">
                  <c:v>2611.637</c:v>
                </c:pt>
                <c:pt idx="3">
                  <c:v>3752.96</c:v>
                </c:pt>
                <c:pt idx="4">
                  <c:v>5168.202</c:v>
                </c:pt>
                <c:pt idx="5">
                  <c:v>3308.806</c:v>
                </c:pt>
                <c:pt idx="6">
                  <c:v>6019.166</c:v>
                </c:pt>
                <c:pt idx="7">
                  <c:v>4598.357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0.07389196904613027</c:v>
                </c:pt>
                <c:pt idx="1">
                  <c:v>0.07561134305842226</c:v>
                </c:pt>
                <c:pt idx="2">
                  <c:v>0.07733071707071425</c:v>
                </c:pt>
                <c:pt idx="3">
                  <c:v>0.0796174845070626</c:v>
                </c:pt>
                <c:pt idx="4">
                  <c:v>0.08277253581961841</c:v>
                </c:pt>
                <c:pt idx="5">
                  <c:v>0.08535159683805639</c:v>
                </c:pt>
                <c:pt idx="6">
                  <c:v>0.08621128384420239</c:v>
                </c:pt>
                <c:pt idx="7">
                  <c:v>0.08506790012602822</c:v>
                </c:pt>
                <c:pt idx="8">
                  <c:v>0.08433716617080413</c:v>
                </c:pt>
                <c:pt idx="9">
                  <c:v>0.08310781375201536</c:v>
                </c:pt>
                <c:pt idx="10">
                  <c:v>0.08191284881347241</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0.06615629649613378</c:v>
                </c:pt>
                <c:pt idx="1">
                  <c:v>0.06499629649613377</c:v>
                </c:pt>
                <c:pt idx="2">
                  <c:v>0.06362629649613377</c:v>
                </c:pt>
                <c:pt idx="3">
                  <c:v>0.06331629649613377</c:v>
                </c:pt>
                <c:pt idx="4">
                  <c:v>0.06597629649613378</c:v>
                </c:pt>
                <c:pt idx="5">
                  <c:v>0.06679629649613376</c:v>
                </c:pt>
                <c:pt idx="6">
                  <c:v>0.06691629649613377</c:v>
                </c:pt>
                <c:pt idx="7">
                  <c:v>0.06627629649613377</c:v>
                </c:pt>
                <c:pt idx="8">
                  <c:v>0.06532629649613376</c:v>
                </c:pt>
                <c:pt idx="9">
                  <c:v>0.06397629649613377</c:v>
                </c:pt>
                <c:pt idx="10">
                  <c:v>0.06281629649613377</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0.053251361749754186</c:v>
                </c:pt>
                <c:pt idx="1">
                  <c:v>0.051371361749754194</c:v>
                </c:pt>
                <c:pt idx="2">
                  <c:v>0.049401361749754194</c:v>
                </c:pt>
                <c:pt idx="3">
                  <c:v>0.04765136174975419</c:v>
                </c:pt>
                <c:pt idx="4">
                  <c:v>0.046641361749754195</c:v>
                </c:pt>
                <c:pt idx="5">
                  <c:v>0.046711361749754196</c:v>
                </c:pt>
                <c:pt idx="6">
                  <c:v>0.048291361749754194</c:v>
                </c:pt>
                <c:pt idx="7">
                  <c:v>0.04896136174975419</c:v>
                </c:pt>
                <c:pt idx="8">
                  <c:v>0.04896136174975419</c:v>
                </c:pt>
                <c:pt idx="9">
                  <c:v>0.04826136174975419</c:v>
                </c:pt>
                <c:pt idx="10">
                  <c:v>0.04769136174975419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East Asia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26.752819348101042</c:v>
                </c:pt>
                <c:pt idx="1">
                  <c:v>26.04968274841355</c:v>
                </c:pt>
              </c:numCache>
            </c:numRef>
          </c:val>
        </c:ser>
        <c:ser>
          <c:idx val="1"/>
          <c:order val="1"/>
          <c:tx>
            <c:strRef>
              <c:strCache>
                <c:ptCount val="1"/>
                <c:pt idx="0">
                  <c:v>North America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22.241900307234303</c:v>
                </c:pt>
                <c:pt idx="1">
                  <c:v>20.3620551623039</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15.270085824877205</c:v>
                </c:pt>
                <c:pt idx="1">
                  <c:v>17.44151819255023</c:v>
                </c:pt>
              </c:numCache>
            </c:numRef>
          </c:val>
        </c:ser>
        <c:ser>
          <c:idx val="3"/>
          <c:order val="3"/>
          <c:tx>
            <c:strRef>
              <c:strCache>
                <c:ptCount val="1"/>
                <c:pt idx="0">
                  <c:v>Europe</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17.121278042113826</c:v>
                </c:pt>
                <c:pt idx="1">
                  <c:v>16.171124598332828</c:v>
                </c:pt>
              </c:numCache>
            </c:numRef>
          </c:val>
        </c:ser>
        <c:ser>
          <c:idx val="4"/>
          <c:order val="4"/>
          <c:tx>
            <c:strRef>
              <c:strCache>
                <c:ptCount val="1"/>
                <c:pt idx="0">
                  <c:v>Latin America</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11.265915042750645</c:v>
                </c:pt>
                <c:pt idx="1">
                  <c:v>12.053437719102812</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7.348001434922982</c:v>
                </c:pt>
                <c:pt idx="1">
                  <c:v>7.922181579296674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31.16689622390349</c:v>
                </c:pt>
                <c:pt idx="1">
                  <c:v>29.45745533132806</c:v>
                </c:pt>
              </c:numCache>
            </c:numRef>
          </c:val>
        </c:ser>
        <c:ser>
          <c:idx val="1"/>
          <c:order val="1"/>
          <c:tx>
            <c:strRef>
              <c:strCache>
                <c:ptCount val="1"/>
                <c:pt idx="0">
                  <c:v>East Asia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25.633383019685134</c:v>
                </c:pt>
                <c:pt idx="1">
                  <c:v>25.358220256011155</c:v>
                </c:pt>
              </c:numCache>
            </c:numRef>
          </c:val>
        </c:ser>
        <c:ser>
          <c:idx val="2"/>
          <c:order val="2"/>
          <c:tx>
            <c:strRef>
              <c:strCache>
                <c:ptCount val="1"/>
                <c:pt idx="0">
                  <c:v>Europe</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17.45258769699041</c:v>
                </c:pt>
                <c:pt idx="1">
                  <c:v>16.80390623688893</c:v>
                </c:pt>
              </c:numCache>
            </c:numRef>
          </c:val>
        </c:ser>
        <c:ser>
          <c:idx val="3"/>
          <c:order val="3"/>
          <c:tx>
            <c:strRef>
              <c:strCache>
                <c:ptCount val="1"/>
                <c:pt idx="0">
                  <c:v>South Asia &amp; Pacific</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10.99506108391414</c:v>
                </c:pt>
                <c:pt idx="1">
                  <c:v>12.291034721653087</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8.384044124659267</c:v>
                </c:pt>
                <c:pt idx="1">
                  <c:v>9.174680694820845</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6.368027850847565</c:v>
                </c:pt>
                <c:pt idx="1">
                  <c:v>6.914702759297932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East Asia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1756.667</c:v>
                </c:pt>
                <c:pt idx="1">
                  <c:v>1822.857</c:v>
                </c:pt>
                <c:pt idx="2">
                  <c:v>1891.146</c:v>
                </c:pt>
                <c:pt idx="3">
                  <c:v>1961.326</c:v>
                </c:pt>
                <c:pt idx="4">
                  <c:v>2035.138</c:v>
                </c:pt>
                <c:pt idx="5">
                  <c:v>2116.476</c:v>
                </c:pt>
                <c:pt idx="6">
                  <c:v>2206.877</c:v>
                </c:pt>
                <c:pt idx="7">
                  <c:v>2307.834</c:v>
                </c:pt>
                <c:pt idx="8">
                  <c:v>2419.917</c:v>
                </c:pt>
                <c:pt idx="9">
                  <c:v>2542.598</c:v>
                </c:pt>
                <c:pt idx="10">
                  <c:v>2674.564</c:v>
                </c:pt>
                <c:pt idx="11">
                  <c:v>2815.062</c:v>
                </c:pt>
                <c:pt idx="12">
                  <c:v>2962.585</c:v>
                </c:pt>
                <c:pt idx="13">
                  <c:v>3116.305</c:v>
                </c:pt>
                <c:pt idx="14">
                  <c:v>3274.227</c:v>
                </c:pt>
                <c:pt idx="15">
                  <c:v>3436.365</c:v>
                </c:pt>
              </c:numCache>
            </c:numRef>
          </c:val>
        </c:ser>
        <c:ser>
          <c:idx val="1"/>
          <c:order val="1"/>
          <c:tx>
            <c:strRef>
              <c:strCache>
                <c:ptCount val="1"/>
                <c:pt idx="0">
                  <c:v>North America</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1498.678</c:v>
                </c:pt>
                <c:pt idx="1">
                  <c:v>1547.08</c:v>
                </c:pt>
                <c:pt idx="2">
                  <c:v>1596.778</c:v>
                </c:pt>
                <c:pt idx="3">
                  <c:v>1647.67</c:v>
                </c:pt>
                <c:pt idx="4">
                  <c:v>1701.011</c:v>
                </c:pt>
                <c:pt idx="5">
                  <c:v>1759.607</c:v>
                </c:pt>
                <c:pt idx="6">
                  <c:v>1824.48</c:v>
                </c:pt>
                <c:pt idx="7">
                  <c:v>1896.605</c:v>
                </c:pt>
                <c:pt idx="8">
                  <c:v>1976.421</c:v>
                </c:pt>
                <c:pt idx="9">
                  <c:v>2063.572</c:v>
                </c:pt>
                <c:pt idx="10">
                  <c:v>2156.978</c:v>
                </c:pt>
                <c:pt idx="11">
                  <c:v>2255.923</c:v>
                </c:pt>
                <c:pt idx="12">
                  <c:v>2359.096</c:v>
                </c:pt>
                <c:pt idx="13">
                  <c:v>2465.879</c:v>
                </c:pt>
                <c:pt idx="14">
                  <c:v>2574.872</c:v>
                </c:pt>
                <c:pt idx="15">
                  <c:v>2686.077</c:v>
                </c:pt>
              </c:numCache>
            </c:numRef>
          </c:val>
        </c:ser>
        <c:ser>
          <c:idx val="2"/>
          <c:order val="2"/>
          <c:tx>
            <c:strRef>
              <c:strCache>
                <c:ptCount val="1"/>
                <c:pt idx="0">
                  <c:v>Europe</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1140.112</c:v>
                </c:pt>
                <c:pt idx="1">
                  <c:v>1179.652</c:v>
                </c:pt>
                <c:pt idx="2">
                  <c:v>1220.383</c:v>
                </c:pt>
                <c:pt idx="3">
                  <c:v>1262.2</c:v>
                </c:pt>
                <c:pt idx="4">
                  <c:v>1306.134</c:v>
                </c:pt>
                <c:pt idx="5">
                  <c:v>1354.503</c:v>
                </c:pt>
                <c:pt idx="6">
                  <c:v>1408.19</c:v>
                </c:pt>
                <c:pt idx="7">
                  <c:v>1468.061</c:v>
                </c:pt>
                <c:pt idx="8">
                  <c:v>1534.506</c:v>
                </c:pt>
                <c:pt idx="9">
                  <c:v>1607.25</c:v>
                </c:pt>
                <c:pt idx="10">
                  <c:v>1685.428</c:v>
                </c:pt>
                <c:pt idx="11">
                  <c:v>1768.498</c:v>
                </c:pt>
                <c:pt idx="12">
                  <c:v>1855.452</c:v>
                </c:pt>
                <c:pt idx="13">
                  <c:v>1945.798</c:v>
                </c:pt>
                <c:pt idx="14">
                  <c:v>2038.388</c:v>
                </c:pt>
                <c:pt idx="15">
                  <c:v>2133.227</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943.408</c:v>
                </c:pt>
                <c:pt idx="1">
                  <c:v>990.676</c:v>
                </c:pt>
                <c:pt idx="2">
                  <c:v>1040.12</c:v>
                </c:pt>
                <c:pt idx="3">
                  <c:v>1091.684</c:v>
                </c:pt>
                <c:pt idx="4">
                  <c:v>1146.664</c:v>
                </c:pt>
                <c:pt idx="5">
                  <c:v>1208.051</c:v>
                </c:pt>
                <c:pt idx="6">
                  <c:v>1277.231</c:v>
                </c:pt>
                <c:pt idx="7">
                  <c:v>1355.604</c:v>
                </c:pt>
                <c:pt idx="8">
                  <c:v>1443.861</c:v>
                </c:pt>
                <c:pt idx="9">
                  <c:v>1541.897</c:v>
                </c:pt>
                <c:pt idx="10">
                  <c:v>1649.015</c:v>
                </c:pt>
                <c:pt idx="11">
                  <c:v>1764.949</c:v>
                </c:pt>
                <c:pt idx="12">
                  <c:v>1888.856</c:v>
                </c:pt>
                <c:pt idx="13">
                  <c:v>2020.211</c:v>
                </c:pt>
                <c:pt idx="14">
                  <c:v>2157.497</c:v>
                </c:pt>
                <c:pt idx="15">
                  <c:v>2300.812</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713.407</c:v>
                </c:pt>
                <c:pt idx="1">
                  <c:v>745.683</c:v>
                </c:pt>
                <c:pt idx="2">
                  <c:v>779.169</c:v>
                </c:pt>
                <c:pt idx="3">
                  <c:v>813.82</c:v>
                </c:pt>
                <c:pt idx="4">
                  <c:v>850.506</c:v>
                </c:pt>
                <c:pt idx="5">
                  <c:v>891.272</c:v>
                </c:pt>
                <c:pt idx="6">
                  <c:v>936.994</c:v>
                </c:pt>
                <c:pt idx="7">
                  <c:v>988.529</c:v>
                </c:pt>
                <c:pt idx="8">
                  <c:v>1046.293</c:v>
                </c:pt>
                <c:pt idx="9">
                  <c:v>1110.139</c:v>
                </c:pt>
                <c:pt idx="10">
                  <c:v>1179.419</c:v>
                </c:pt>
                <c:pt idx="11">
                  <c:v>1253.806</c:v>
                </c:pt>
                <c:pt idx="12">
                  <c:v>1332.581</c:v>
                </c:pt>
                <c:pt idx="13">
                  <c:v>1415.363</c:v>
                </c:pt>
                <c:pt idx="14">
                  <c:v>1501.175</c:v>
                </c:pt>
                <c:pt idx="15">
                  <c:v>1590.039</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463.896</c:v>
                </c:pt>
                <c:pt idx="1">
                  <c:v>485.118</c:v>
                </c:pt>
                <c:pt idx="2">
                  <c:v>507.193</c:v>
                </c:pt>
                <c:pt idx="3">
                  <c:v>530.079</c:v>
                </c:pt>
                <c:pt idx="4">
                  <c:v>554.347</c:v>
                </c:pt>
                <c:pt idx="5">
                  <c:v>581.317</c:v>
                </c:pt>
                <c:pt idx="6">
                  <c:v>611.562</c:v>
                </c:pt>
                <c:pt idx="7">
                  <c:v>645.657</c:v>
                </c:pt>
                <c:pt idx="8">
                  <c:v>683.87</c:v>
                </c:pt>
                <c:pt idx="9">
                  <c:v>726.104</c:v>
                </c:pt>
                <c:pt idx="10">
                  <c:v>771.968</c:v>
                </c:pt>
                <c:pt idx="11">
                  <c:v>821.271</c:v>
                </c:pt>
                <c:pt idx="12">
                  <c:v>873.578</c:v>
                </c:pt>
                <c:pt idx="13">
                  <c:v>928.635</c:v>
                </c:pt>
                <c:pt idx="14">
                  <c:v>985.79</c:v>
                </c:pt>
                <c:pt idx="15">
                  <c:v>1045.061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4129.8</c:v>
                </c:pt>
                <c:pt idx="1">
                  <c:v>4285.47</c:v>
                </c:pt>
                <c:pt idx="2">
                  <c:v>4447.553</c:v>
                </c:pt>
                <c:pt idx="3">
                  <c:v>4618.317</c:v>
                </c:pt>
                <c:pt idx="4">
                  <c:v>4799.312</c:v>
                </c:pt>
                <c:pt idx="5">
                  <c:v>5019.855</c:v>
                </c:pt>
                <c:pt idx="6">
                  <c:v>5267.856</c:v>
                </c:pt>
                <c:pt idx="7">
                  <c:v>5547.914</c:v>
                </c:pt>
                <c:pt idx="8">
                  <c:v>5863.305</c:v>
                </c:pt>
                <c:pt idx="9">
                  <c:v>6215.41</c:v>
                </c:pt>
                <c:pt idx="10">
                  <c:v>6602.238</c:v>
                </c:pt>
                <c:pt idx="11">
                  <c:v>7025.003</c:v>
                </c:pt>
                <c:pt idx="12">
                  <c:v>7480.577</c:v>
                </c:pt>
                <c:pt idx="13">
                  <c:v>7968.06</c:v>
                </c:pt>
                <c:pt idx="14">
                  <c:v>8487.694</c:v>
                </c:pt>
                <c:pt idx="15">
                  <c:v>9039.708</c:v>
                </c:pt>
              </c:numCache>
            </c:numRef>
          </c:val>
        </c:ser>
        <c:ser>
          <c:idx val="1"/>
          <c:order val="1"/>
          <c:tx>
            <c:strRef>
              <c:strCache>
                <c:ptCount val="1"/>
                <c:pt idx="0">
                  <c:v>East Asia</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3338.585</c:v>
                </c:pt>
                <c:pt idx="1">
                  <c:v>3477.228</c:v>
                </c:pt>
                <c:pt idx="2">
                  <c:v>3621.82</c:v>
                </c:pt>
                <c:pt idx="3">
                  <c:v>3773.846</c:v>
                </c:pt>
                <c:pt idx="4">
                  <c:v>3934.791</c:v>
                </c:pt>
                <c:pt idx="5">
                  <c:v>4128.607</c:v>
                </c:pt>
                <c:pt idx="6">
                  <c:v>4347.318</c:v>
                </c:pt>
                <c:pt idx="7">
                  <c:v>4595.446</c:v>
                </c:pt>
                <c:pt idx="8">
                  <c:v>4876.824</c:v>
                </c:pt>
                <c:pt idx="9">
                  <c:v>5192.455</c:v>
                </c:pt>
                <c:pt idx="10">
                  <c:v>5541.865</c:v>
                </c:pt>
                <c:pt idx="11">
                  <c:v>5925.438</c:v>
                </c:pt>
                <c:pt idx="12">
                  <c:v>6341.059</c:v>
                </c:pt>
                <c:pt idx="13">
                  <c:v>6788.849</c:v>
                </c:pt>
                <c:pt idx="14">
                  <c:v>7268.561</c:v>
                </c:pt>
                <c:pt idx="15">
                  <c:v>7781.762</c:v>
                </c:pt>
              </c:numCache>
            </c:numRef>
          </c:val>
        </c:ser>
        <c:ser>
          <c:idx val="2"/>
          <c:order val="2"/>
          <c:tx>
            <c:strRef>
              <c:strCache>
                <c:ptCount val="1"/>
                <c:pt idx="0">
                  <c:v>Europe</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2291.316</c:v>
                </c:pt>
                <c:pt idx="1">
                  <c:v>2382.435</c:v>
                </c:pt>
                <c:pt idx="2">
                  <c:v>2477.4</c:v>
                </c:pt>
                <c:pt idx="3">
                  <c:v>2577.32</c:v>
                </c:pt>
                <c:pt idx="4">
                  <c:v>2683.234</c:v>
                </c:pt>
                <c:pt idx="5">
                  <c:v>2810.978</c:v>
                </c:pt>
                <c:pt idx="6">
                  <c:v>2954.881</c:v>
                </c:pt>
                <c:pt idx="7">
                  <c:v>3117.55</c:v>
                </c:pt>
                <c:pt idx="8">
                  <c:v>3301.163</c:v>
                </c:pt>
                <c:pt idx="9">
                  <c:v>3506.653</c:v>
                </c:pt>
                <c:pt idx="10">
                  <c:v>3733.05</c:v>
                </c:pt>
                <c:pt idx="11">
                  <c:v>3980.396</c:v>
                </c:pt>
                <c:pt idx="12">
                  <c:v>4246.712</c:v>
                </c:pt>
                <c:pt idx="13">
                  <c:v>4532.057</c:v>
                </c:pt>
                <c:pt idx="14">
                  <c:v>4835.113</c:v>
                </c:pt>
                <c:pt idx="15">
                  <c:v>5156.671</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1368.642</c:v>
                </c:pt>
                <c:pt idx="1">
                  <c:v>1437.859</c:v>
                </c:pt>
                <c:pt idx="2">
                  <c:v>1510.732</c:v>
                </c:pt>
                <c:pt idx="3">
                  <c:v>1588.06</c:v>
                </c:pt>
                <c:pt idx="4">
                  <c:v>1670.966</c:v>
                </c:pt>
                <c:pt idx="5">
                  <c:v>1770.905</c:v>
                </c:pt>
                <c:pt idx="6">
                  <c:v>1884.875</c:v>
                </c:pt>
                <c:pt idx="7">
                  <c:v>2015.524</c:v>
                </c:pt>
                <c:pt idx="8">
                  <c:v>2164.894</c:v>
                </c:pt>
                <c:pt idx="9">
                  <c:v>2334.332</c:v>
                </c:pt>
                <c:pt idx="10">
                  <c:v>2523.634</c:v>
                </c:pt>
                <c:pt idx="11">
                  <c:v>2733.41</c:v>
                </c:pt>
                <c:pt idx="12">
                  <c:v>2962.877</c:v>
                </c:pt>
                <c:pt idx="13">
                  <c:v>3212.551</c:v>
                </c:pt>
                <c:pt idx="14">
                  <c:v>3481.781</c:v>
                </c:pt>
                <c:pt idx="15">
                  <c:v>3771.791</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1046.527</c:v>
                </c:pt>
                <c:pt idx="1">
                  <c:v>1099.435</c:v>
                </c:pt>
                <c:pt idx="2">
                  <c:v>1154.879</c:v>
                </c:pt>
                <c:pt idx="3">
                  <c:v>1213.381</c:v>
                </c:pt>
                <c:pt idx="4">
                  <c:v>1275.725</c:v>
                </c:pt>
                <c:pt idx="5">
                  <c:v>1350.365</c:v>
                </c:pt>
                <c:pt idx="6">
                  <c:v>1435.456</c:v>
                </c:pt>
                <c:pt idx="7">
                  <c:v>1532.781</c:v>
                </c:pt>
                <c:pt idx="8">
                  <c:v>1643.804</c:v>
                </c:pt>
                <c:pt idx="9">
                  <c:v>1769.488</c:v>
                </c:pt>
                <c:pt idx="10">
                  <c:v>1909.42</c:v>
                </c:pt>
                <c:pt idx="11">
                  <c:v>2063.638</c:v>
                </c:pt>
                <c:pt idx="12">
                  <c:v>2231.181</c:v>
                </c:pt>
                <c:pt idx="13">
                  <c:v>2412.408</c:v>
                </c:pt>
                <c:pt idx="14">
                  <c:v>2607.012</c:v>
                </c:pt>
                <c:pt idx="15">
                  <c:v>2815.465</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796.692</c:v>
                </c:pt>
                <c:pt idx="1">
                  <c:v>836.494</c:v>
                </c:pt>
                <c:pt idx="2">
                  <c:v>878.232</c:v>
                </c:pt>
                <c:pt idx="3">
                  <c:v>922.276</c:v>
                </c:pt>
                <c:pt idx="4">
                  <c:v>969.31</c:v>
                </c:pt>
                <c:pt idx="5">
                  <c:v>1025.658</c:v>
                </c:pt>
                <c:pt idx="6">
                  <c:v>1089.719</c:v>
                </c:pt>
                <c:pt idx="7">
                  <c:v>1162.879</c:v>
                </c:pt>
                <c:pt idx="8">
                  <c:v>1246.256</c:v>
                </c:pt>
                <c:pt idx="9">
                  <c:v>1340.463</c:v>
                </c:pt>
                <c:pt idx="10">
                  <c:v>1445.087</c:v>
                </c:pt>
                <c:pt idx="11">
                  <c:v>1560.342</c:v>
                </c:pt>
                <c:pt idx="12">
                  <c:v>1685.631</c:v>
                </c:pt>
                <c:pt idx="13">
                  <c:v>1821.067</c:v>
                </c:pt>
                <c:pt idx="14">
                  <c:v>1966.379</c:v>
                </c:pt>
                <c:pt idx="15">
                  <c:v>2121.938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Sprays and Mists</c:v>
                </c:pt>
              </c:strCache>
            </c:strRef>
          </c:tx>
          <c:spPr>
            <a:solidFill>
              <a:srgbClr val="3D85C6"/>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9.853548834649112</c:v>
                </c:pt>
                <c:pt idx="1">
                  <c:v>9.158454876354305</c:v>
                </c:pt>
                <c:pt idx="2">
                  <c:v>8.946070698527755</c:v>
                </c:pt>
                <c:pt idx="3">
                  <c:v>12.170696105803101</c:v>
                </c:pt>
                <c:pt idx="4">
                  <c:v>11.140084836816541</c:v>
                </c:pt>
                <c:pt idx="5">
                  <c:v>11.409771200574177</c:v>
                </c:pt>
              </c:numCache>
            </c:numRef>
          </c:val>
        </c:ser>
        <c:ser>
          <c:idx val="1"/>
          <c:order val="1"/>
          <c:tx>
            <c:strRef>
              <c:strCache>
                <c:ptCount val="1"/>
                <c:pt idx="0">
                  <c:v>Mousses and Foams</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6.066205578302078</c:v>
                </c:pt>
                <c:pt idx="1">
                  <c:v>6.096082208829523</c:v>
                </c:pt>
                <c:pt idx="2">
                  <c:v>6.0572301215072955</c:v>
                </c:pt>
                <c:pt idx="3">
                  <c:v>6.403624972923434</c:v>
                </c:pt>
                <c:pt idx="4">
                  <c:v>6.11491252046612</c:v>
                </c:pt>
                <c:pt idx="5">
                  <c:v>6.228608269205157</c:v>
                </c:pt>
              </c:numCache>
            </c:numRef>
          </c:val>
        </c:ser>
        <c:ser>
          <c:idx val="2"/>
          <c:order val="2"/>
          <c:tx>
            <c:strRef>
              <c:strCache>
                <c:ptCount val="1"/>
                <c:pt idx="0">
                  <c:v>Gels and Jellies</c:v>
                </c:pt>
              </c:strCache>
            </c:strRef>
          </c:tx>
          <c:spPr>
            <a:solidFill>
              <a:srgbClr val="008189"/>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8.920627200820382</c:v>
                </c:pt>
                <c:pt idx="1">
                  <c:v>9.153411302719553</c:v>
                </c:pt>
                <c:pt idx="2">
                  <c:v>9.863380516942884</c:v>
                </c:pt>
                <c:pt idx="3">
                  <c:v>8.379569540283049</c:v>
                </c:pt>
                <c:pt idx="4">
                  <c:v>8.410459172298102</c:v>
                </c:pt>
                <c:pt idx="5">
                  <c:v>7.810219091147635</c:v>
                </c:pt>
              </c:numCache>
            </c:numRef>
          </c:val>
        </c:ser>
        <c:ser>
          <c:idx val="3"/>
          <c:order val="3"/>
          <c:tx>
            <c:strRef>
              <c:strCache>
                <c:ptCount val="1"/>
                <c:pt idx="0">
                  <c:v>Creams and Lotions</c:v>
                </c:pt>
              </c:strCache>
            </c:strRef>
          </c:tx>
          <c:spPr>
            <a:solidFill>
              <a:srgbClr val="40315E"/>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12.915988041109628</c:v>
                </c:pt>
                <c:pt idx="1">
                  <c:v>13.663396157791396</c:v>
                </c:pt>
                <c:pt idx="2">
                  <c:v>13.211578587355074</c:v>
                </c:pt>
                <c:pt idx="3">
                  <c:v>11.365700326547756</c:v>
                </c:pt>
                <c:pt idx="4">
                  <c:v>11.180474141913601</c:v>
                </c:pt>
                <c:pt idx="5">
                  <c:v>12.608371863338949</c:v>
                </c:pt>
              </c:numCache>
            </c:numRef>
          </c:val>
        </c:ser>
        <c:ser>
          <c:idx val="4"/>
          <c:order val="4"/>
          <c:tx>
            <c:strRef>
              <c:strCache>
                <c:ptCount val="1"/>
                <c:pt idx="0">
                  <c:v>Waxes, Clays, Pastes and Pomades</c:v>
                </c:pt>
              </c:strCache>
            </c:strRef>
          </c:tx>
          <c:spPr>
            <a:solidFill>
              <a:srgbClr val="A35313"/>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16.74353043635623</c:v>
                </c:pt>
                <c:pt idx="1">
                  <c:v>15.322270148011127</c:v>
                </c:pt>
                <c:pt idx="2">
                  <c:v>17.307220179278275</c:v>
                </c:pt>
                <c:pt idx="3">
                  <c:v>16.158131415352493</c:v>
                </c:pt>
                <c:pt idx="4">
                  <c:v>18.987432539387285</c:v>
                </c:pt>
                <c:pt idx="5">
                  <c:v>15.685805337960035</c:v>
                </c:pt>
              </c:numCache>
            </c:numRef>
          </c:val>
        </c:ser>
        <c:ser>
          <c:idx val="5"/>
          <c:order val="5"/>
          <c:tx>
            <c:strRef>
              <c:strCache>
                <c:ptCount val="1"/>
                <c:pt idx="0">
                  <c:v>Styling Powders</c:v>
                </c:pt>
              </c:strCache>
            </c:strRef>
          </c:tx>
          <c:spPr>
            <a:solidFill>
              <a:srgbClr val="808080"/>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10.663658093363795</c:v>
                </c:pt>
                <c:pt idx="1">
                  <c:v>10.344902296743982</c:v>
                </c:pt>
                <c:pt idx="2">
                  <c:v>10.970600165968944</c:v>
                </c:pt>
                <c:pt idx="3">
                  <c:v>11.329688735353201</c:v>
                </c:pt>
                <c:pt idx="4">
                  <c:v>11.15553120803088</c:v>
                </c:pt>
                <c:pt idx="5">
                  <c:v>10.23433500285629</c:v>
                </c:pt>
              </c:numCache>
            </c:numRef>
          </c:val>
        </c:ser>
        <c:ser>
          <c:idx val="6"/>
          <c:order val="6"/>
          <c:tx>
            <c:strRef>
              <c:strCache>
                <c:ptCount val="1"/>
                <c:pt idx="0">
                  <c:v>Styling Serums and Oils</c:v>
                </c:pt>
              </c:strCache>
            </c:strRef>
          </c:tx>
          <c:spPr>
            <a:solidFill>
              <a:srgbClr val="0E72AE"/>
            </a:solidFill>
            <a:ln>
              <a:noFill/>
            </a:ln>
          </c:spPr>
          <c:dLbls>
            <c:dLbl>
              <c:idx val="0"/>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20.397599173584876</c:v>
                </c:pt>
                <c:pt idx="1">
                  <c:v>21.460760997121614</c:v>
                </c:pt>
                <c:pt idx="2">
                  <c:v>18.621450292831785</c:v>
                </c:pt>
                <c:pt idx="3">
                  <c:v>19.35592968567136</c:v>
                </c:pt>
                <c:pt idx="4">
                  <c:v>17.99588345211747</c:v>
                </c:pt>
                <c:pt idx="5">
                  <c:v>20.81086026230051</c:v>
                </c:pt>
              </c:numCache>
            </c:numRef>
          </c:val>
        </c:ser>
        <c:ser>
          <c:idx val="7"/>
          <c:order val="7"/>
          <c:tx>
            <c:strRef>
              <c:strCache>
                <c:ptCount val="1"/>
                <c:pt idx="0">
                  <c:v>Sticks and Balms</c:v>
                </c:pt>
              </c:strCache>
            </c:strRef>
          </c:tx>
          <c:spPr>
            <a:solidFill>
              <a:srgbClr val="A86F00"/>
            </a:solidFill>
            <a:ln>
              <a:noFill/>
            </a:ln>
          </c:spPr>
          <c:dLbls>
            <c:dLbl>
              <c:idx val="0"/>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14.43884264181389</c:v>
                </c:pt>
                <c:pt idx="1">
                  <c:v>14.800722012428501</c:v>
                </c:pt>
                <c:pt idx="2">
                  <c:v>15.022469437587988</c:v>
                </c:pt>
                <c:pt idx="3">
                  <c:v>14.8366592180656</c:v>
                </c:pt>
                <c:pt idx="4">
                  <c:v>15.015222128970004</c:v>
                </c:pt>
                <c:pt idx="5">
                  <c:v>15.212028972617258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Sprays and Mists</c:v>
                </c:pt>
              </c:strCache>
            </c:strRef>
          </c:tx>
          <c:spPr>
            <a:solidFill>
              <a:srgbClr val="3D85C6"/>
            </a:solidFill>
          </c:spPr>
          <c:invertIfNegative val="0"/>
          <c:xVal>
            <c:numRef>
              <c:numCache>
                <c:formatCode>General</c:formatCode>
                <c:ptCount val="1"/>
                <c:pt idx="0">
                  <c:v>68.73575100387235</c:v>
                </c:pt>
              </c:numCache>
            </c:numRef>
          </c:xVal>
          <c:yVal>
            <c:numRef>
              <c:numCache>
                <c:formatCode>General</c:formatCode>
                <c:ptCount val="1"/>
                <c:pt idx="0">
                  <c:v>105.73422228188116</c:v>
                </c:pt>
              </c:numCache>
            </c:numRef>
          </c:yVal>
          <c:bubbleSize>
            <c:numRef>
              <c:numCache>
                <c:formatCode>General</c:formatCode>
                <c:ptCount val="1"/>
                <c:pt idx="0">
                  <c:v>3330.276</c:v>
                </c:pt>
              </c:numCache>
            </c:numRef>
          </c:bubbleSize>
          <c:bubble3D val="0"/>
        </c:ser>
        <c:ser>
          <c:idx val="1"/>
          <c:order val="1"/>
          <c:tx>
            <c:strRef>
              <c:strCache>
                <c:ptCount val="1"/>
                <c:pt idx="0">
                  <c:v>Mousses and Foams</c:v>
                </c:pt>
              </c:strCache>
            </c:strRef>
          </c:tx>
          <c:spPr>
            <a:solidFill>
              <a:srgbClr val="9E7E0A"/>
            </a:solidFill>
          </c:spPr>
          <c:invertIfNegative val="0"/>
          <c:xVal>
            <c:numRef>
              <c:numCache>
                <c:formatCode>General</c:formatCode>
                <c:ptCount val="1"/>
                <c:pt idx="0">
                  <c:v>78.15742524172319</c:v>
                </c:pt>
              </c:numCache>
            </c:numRef>
          </c:xVal>
          <c:yVal>
            <c:numRef>
              <c:numCache>
                <c:formatCode>General</c:formatCode>
                <c:ptCount val="1"/>
                <c:pt idx="0">
                  <c:v>56.75965824451185</c:v>
                </c:pt>
              </c:numCache>
            </c:numRef>
          </c:yVal>
          <c:bubbleSize>
            <c:numRef>
              <c:numCache>
                <c:formatCode>General</c:formatCode>
                <c:ptCount val="1"/>
                <c:pt idx="0">
                  <c:v>1897.929</c:v>
                </c:pt>
              </c:numCache>
            </c:numRef>
          </c:bubbleSize>
          <c:bubble3D val="0"/>
        </c:ser>
        <c:ser>
          <c:idx val="2"/>
          <c:order val="2"/>
          <c:tx>
            <c:strRef>
              <c:strCache>
                <c:ptCount val="1"/>
                <c:pt idx="0">
                  <c:v>Gels and Jellies</c:v>
                </c:pt>
              </c:strCache>
            </c:strRef>
          </c:tx>
          <c:spPr>
            <a:solidFill>
              <a:srgbClr val="008189"/>
            </a:solidFill>
          </c:spPr>
          <c:invertIfNegative val="0"/>
          <c:xVal>
            <c:numRef>
              <c:numCache>
                <c:formatCode>General</c:formatCode>
                <c:ptCount val="1"/>
                <c:pt idx="0">
                  <c:v>85.6470220571237</c:v>
                </c:pt>
              </c:numCache>
            </c:numRef>
          </c:xVal>
          <c:yVal>
            <c:numRef>
              <c:numCache>
                <c:formatCode>General</c:formatCode>
                <c:ptCount val="1"/>
                <c:pt idx="0">
                  <c:v>74.49619464200778</c:v>
                </c:pt>
              </c:numCache>
            </c:numRef>
          </c:yVal>
          <c:bubbleSize>
            <c:numRef>
              <c:numCache>
                <c:formatCode>General</c:formatCode>
                <c:ptCount val="1"/>
                <c:pt idx="0">
                  <c:v>2611.637</c:v>
                </c:pt>
              </c:numCache>
            </c:numRef>
          </c:bubbleSize>
          <c:bubble3D val="0"/>
        </c:ser>
        <c:ser>
          <c:idx val="3"/>
          <c:order val="3"/>
          <c:tx>
            <c:strRef>
              <c:strCache>
                <c:ptCount val="1"/>
                <c:pt idx="0">
                  <c:v>Creams and Lotions</c:v>
                </c:pt>
              </c:strCache>
            </c:strRef>
          </c:tx>
          <c:spPr>
            <a:solidFill>
              <a:srgbClr val="40315E"/>
            </a:solidFill>
          </c:spPr>
          <c:invertIfNegative val="0"/>
          <c:xVal>
            <c:numRef>
              <c:numCache>
                <c:formatCode>General</c:formatCode>
                <c:ptCount val="1"/>
                <c:pt idx="0">
                  <c:v>106.28946829636976</c:v>
                </c:pt>
              </c:numCache>
            </c:numRef>
          </c:xVal>
          <c:yVal>
            <c:numRef>
              <c:numCache>
                <c:formatCode>General</c:formatCode>
                <c:ptCount val="1"/>
                <c:pt idx="0">
                  <c:v>94.07746711875285</c:v>
                </c:pt>
              </c:numCache>
            </c:numRef>
          </c:yVal>
          <c:bubbleSize>
            <c:numRef>
              <c:numCache>
                <c:formatCode>General</c:formatCode>
                <c:ptCount val="1"/>
                <c:pt idx="0">
                  <c:v>3752.96</c:v>
                </c:pt>
              </c:numCache>
            </c:numRef>
          </c:bubbleSize>
          <c:bubble3D val="0"/>
        </c:ser>
        <c:ser>
          <c:idx val="4"/>
          <c:order val="4"/>
          <c:tx>
            <c:strRef>
              <c:strCache>
                <c:ptCount val="1"/>
                <c:pt idx="0">
                  <c:v>Waxes, Clays, Pastes and Pomades</c:v>
                </c:pt>
              </c:strCache>
            </c:strRef>
          </c:tx>
          <c:spPr>
            <a:solidFill>
              <a:srgbClr val="A35313"/>
            </a:solidFill>
          </c:spPr>
          <c:invertIfNegative val="0"/>
          <c:xVal>
            <c:numRef>
              <c:numCache>
                <c:formatCode>General</c:formatCode>
                <c:ptCount val="1"/>
                <c:pt idx="0">
                  <c:v>94.1176053381727</c:v>
                </c:pt>
              </c:numCache>
            </c:numRef>
          </c:xVal>
          <c:yVal>
            <c:numRef>
              <c:numCache>
                <c:formatCode>General</c:formatCode>
                <c:ptCount val="1"/>
                <c:pt idx="0">
                  <c:v>139.78112633579923</c:v>
                </c:pt>
              </c:numCache>
            </c:numRef>
          </c:yVal>
          <c:bubbleSize>
            <c:numRef>
              <c:numCache>
                <c:formatCode>General</c:formatCode>
                <c:ptCount val="1"/>
                <c:pt idx="0">
                  <c:v>5168.202</c:v>
                </c:pt>
              </c:numCache>
            </c:numRef>
          </c:bubbleSize>
          <c:bubble3D val="0"/>
        </c:ser>
        <c:ser>
          <c:idx val="5"/>
          <c:order val="5"/>
          <c:tx>
            <c:strRef>
              <c:strCache>
                <c:ptCount val="1"/>
                <c:pt idx="0">
                  <c:v>Styling Powders</c:v>
                </c:pt>
              </c:strCache>
            </c:strRef>
          </c:tx>
          <c:spPr>
            <a:solidFill>
              <a:srgbClr val="808080"/>
            </a:solidFill>
          </c:spPr>
          <c:invertIfNegative val="0"/>
          <c:xVal>
            <c:numRef>
              <c:numCache>
                <c:formatCode>General</c:formatCode>
                <c:ptCount val="1"/>
                <c:pt idx="0">
                  <c:v>113.61352486069593</c:v>
                </c:pt>
              </c:numCache>
            </c:numRef>
          </c:xVal>
          <c:yVal>
            <c:numRef>
              <c:numCache>
                <c:formatCode>General</c:formatCode>
                <c:ptCount val="1"/>
                <c:pt idx="0">
                  <c:v>79.2588819987919</c:v>
                </c:pt>
              </c:numCache>
            </c:numRef>
          </c:yVal>
          <c:bubbleSize>
            <c:numRef>
              <c:numCache>
                <c:formatCode>General</c:formatCode>
                <c:ptCount val="1"/>
                <c:pt idx="0">
                  <c:v>3308.806</c:v>
                </c:pt>
              </c:numCache>
            </c:numRef>
          </c:bubbleSize>
          <c:bubble3D val="0"/>
        </c:ser>
        <c:ser>
          <c:idx val="6"/>
          <c:order val="6"/>
          <c:tx>
            <c:strRef>
              <c:strCache>
                <c:ptCount val="1"/>
                <c:pt idx="0">
                  <c:v>Styling Serums and Oils</c:v>
                </c:pt>
              </c:strCache>
            </c:strRef>
          </c:tx>
          <c:spPr>
            <a:solidFill>
              <a:srgbClr val="0E72AE"/>
            </a:solidFill>
          </c:spPr>
          <c:invertIfNegative val="0"/>
          <c:xVal>
            <c:numRef>
              <c:numCache>
                <c:formatCode>General</c:formatCode>
                <c:ptCount val="1"/>
                <c:pt idx="0">
                  <c:v>110.46920058086991</c:v>
                </c:pt>
              </c:numCache>
            </c:numRef>
          </c:xVal>
          <c:yVal>
            <c:numRef>
              <c:numCache>
                <c:formatCode>General</c:formatCode>
                <c:ptCount val="1"/>
                <c:pt idx="0">
                  <c:v>147.01935613172654</c:v>
                </c:pt>
              </c:numCache>
            </c:numRef>
          </c:yVal>
          <c:bubbleSize>
            <c:numRef>
              <c:numCache>
                <c:formatCode>General</c:formatCode>
                <c:ptCount val="1"/>
                <c:pt idx="0">
                  <c:v>6019.166</c:v>
                </c:pt>
              </c:numCache>
            </c:numRef>
          </c:bubbleSize>
          <c:bubble3D val="0"/>
        </c:ser>
        <c:ser>
          <c:idx val="7"/>
          <c:order val="7"/>
          <c:tx>
            <c:strRef>
              <c:strCache>
                <c:ptCount val="1"/>
                <c:pt idx="0">
                  <c:v>Sticks and Balms</c:v>
                </c:pt>
              </c:strCache>
            </c:strRef>
          </c:tx>
          <c:spPr>
            <a:solidFill>
              <a:srgbClr val="A86F00"/>
            </a:solidFill>
          </c:spPr>
          <c:invertIfNegative val="0"/>
          <c:xVal>
            <c:numRef>
              <c:numCache>
                <c:formatCode>General</c:formatCode>
                <c:ptCount val="1"/>
                <c:pt idx="0">
                  <c:v>124.69027538165618</c:v>
                </c:pt>
              </c:numCache>
            </c:numRef>
          </c:xVal>
          <c:yVal>
            <c:numRef>
              <c:numCache>
                <c:formatCode>General</c:formatCode>
                <c:ptCount val="1"/>
                <c:pt idx="0">
                  <c:v>102.87309324652875</c:v>
                </c:pt>
              </c:numCache>
            </c:numRef>
          </c:yVal>
          <c:bubbleSize>
            <c:numRef>
              <c:numCache>
                <c:formatCode>General</c:formatCode>
                <c:ptCount val="1"/>
                <c:pt idx="0">
                  <c:v>4598.357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2128.743</c:v>
                </c:pt>
                <c:pt idx="2">
                  <c:v>2294.924</c:v>
                </c:pt>
                <c:pt idx="3">
                  <c:v>2502.511</c:v>
                </c:pt>
                <c:pt idx="4">
                  <c:v>2745.283</c:v>
                </c:pt>
                <c:pt idx="5">
                  <c:v>3021.6530000000002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2128.743</c:v>
                </c:pt>
                <c:pt idx="1">
                  <c:v>166.18100000000004</c:v>
                </c:pt>
                <c:pt idx="2">
                  <c:v>207.587</c:v>
                </c:pt>
                <c:pt idx="3">
                  <c:v>242.77199999999993</c:v>
                </c:pt>
                <c:pt idx="4">
                  <c:v>276.37000000000035</c:v>
                </c:pt>
                <c:pt idx="5">
                  <c:v>308.6229999999996</c:v>
                </c:pt>
                <c:pt idx="6">
                  <c:v>3330.276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1142.74</c:v>
                </c:pt>
                <c:pt idx="2">
                  <c:v>1252.56</c:v>
                </c:pt>
                <c:pt idx="3">
                  <c:v>1383.625</c:v>
                </c:pt>
                <c:pt idx="4">
                  <c:v>1532.949</c:v>
                </c:pt>
                <c:pt idx="5">
                  <c:v>1704.663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1142.74</c:v>
                </c:pt>
                <c:pt idx="1">
                  <c:v>109.81999999999994</c:v>
                </c:pt>
                <c:pt idx="2">
                  <c:v>131.06500000000005</c:v>
                </c:pt>
                <c:pt idx="3">
                  <c:v>149.32400000000007</c:v>
                </c:pt>
                <c:pt idx="4">
                  <c:v>171.71399999999994</c:v>
                </c:pt>
                <c:pt idx="5">
                  <c:v>193.26600000000008</c:v>
                </c:pt>
                <c:pt idx="6">
                  <c:v>1897.929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1499.829</c:v>
                </c:pt>
                <c:pt idx="2">
                  <c:v>1663.725</c:v>
                </c:pt>
                <c:pt idx="3">
                  <c:v>1857.175</c:v>
                </c:pt>
                <c:pt idx="4">
                  <c:v>2079.082</c:v>
                </c:pt>
                <c:pt idx="5">
                  <c:v>2330.813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1499.829</c:v>
                </c:pt>
                <c:pt idx="1">
                  <c:v>163.89599999999996</c:v>
                </c:pt>
                <c:pt idx="2">
                  <c:v>193.45000000000005</c:v>
                </c:pt>
                <c:pt idx="3">
                  <c:v>221.90699999999993</c:v>
                </c:pt>
                <c:pt idx="4">
                  <c:v>251.73100000000022</c:v>
                </c:pt>
                <c:pt idx="5">
                  <c:v>280.82400000000007</c:v>
                </c:pt>
                <c:pt idx="6">
                  <c:v>2611.637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1894.058</c:v>
                </c:pt>
                <c:pt idx="2">
                  <c:v>2106.336</c:v>
                </c:pt>
                <c:pt idx="3">
                  <c:v>2398.912</c:v>
                </c:pt>
                <c:pt idx="4">
                  <c:v>2772.223</c:v>
                </c:pt>
                <c:pt idx="5">
                  <c:v>3225.005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1894.058</c:v>
                </c:pt>
                <c:pt idx="1">
                  <c:v>212.2779999999998</c:v>
                </c:pt>
                <c:pt idx="2">
                  <c:v>292.576</c:v>
                </c:pt>
                <c:pt idx="3">
                  <c:v>373.31100000000015</c:v>
                </c:pt>
                <c:pt idx="4">
                  <c:v>452.78200000000015</c:v>
                </c:pt>
                <c:pt idx="5">
                  <c:v>527.9549999999999</c:v>
                </c:pt>
                <c:pt idx="6">
                  <c:v>3752.96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2814.208</c:v>
                </c:pt>
                <c:pt idx="2">
                  <c:v>3146.926</c:v>
                </c:pt>
                <c:pt idx="3">
                  <c:v>3549.126</c:v>
                </c:pt>
                <c:pt idx="4">
                  <c:v>4011.47</c:v>
                </c:pt>
                <c:pt idx="5">
                  <c:v>4552.977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2814.208</c:v>
                </c:pt>
                <c:pt idx="1">
                  <c:v>332.71799999999985</c:v>
                </c:pt>
                <c:pt idx="2">
                  <c:v>402.2000000000003</c:v>
                </c:pt>
                <c:pt idx="3">
                  <c:v>462.3439999999996</c:v>
                </c:pt>
                <c:pt idx="4">
                  <c:v>541.5070000000001</c:v>
                </c:pt>
                <c:pt idx="5">
                  <c:v>615.2250000000004</c:v>
                </c:pt>
                <c:pt idx="6">
                  <c:v>5168.202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1595.716</c:v>
                </c:pt>
                <c:pt idx="2">
                  <c:v>1797.771</c:v>
                </c:pt>
                <c:pt idx="3">
                  <c:v>2065.972</c:v>
                </c:pt>
                <c:pt idx="4">
                  <c:v>2420.839</c:v>
                </c:pt>
                <c:pt idx="5">
                  <c:v>2835.973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1595.716</c:v>
                </c:pt>
                <c:pt idx="1">
                  <c:v>202.05500000000006</c:v>
                </c:pt>
                <c:pt idx="2">
                  <c:v>268.20100000000025</c:v>
                </c:pt>
                <c:pt idx="3">
                  <c:v>354.86699999999973</c:v>
                </c:pt>
                <c:pt idx="4">
                  <c:v>415.134</c:v>
                </c:pt>
                <c:pt idx="5">
                  <c:v>472.8330000000001</c:v>
                </c:pt>
                <c:pt idx="6">
                  <c:v>3308.806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2959.935</c:v>
                </c:pt>
                <c:pt idx="2">
                  <c:v>3335.334</c:v>
                </c:pt>
                <c:pt idx="3">
                  <c:v>3825.71</c:v>
                </c:pt>
                <c:pt idx="4">
                  <c:v>4441.681</c:v>
                </c:pt>
                <c:pt idx="5">
                  <c:v>5172.045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2959.935</c:v>
                </c:pt>
                <c:pt idx="1">
                  <c:v>375.3989999999999</c:v>
                </c:pt>
                <c:pt idx="2">
                  <c:v>490.3760000000002</c:v>
                </c:pt>
                <c:pt idx="3">
                  <c:v>615.9709999999995</c:v>
                </c:pt>
                <c:pt idx="4">
                  <c:v>730.3640000000005</c:v>
                </c:pt>
                <c:pt idx="5">
                  <c:v>847.1210000000001</c:v>
                </c:pt>
                <c:pt idx="6">
                  <c:v>6019.166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2071.14</c:v>
                </c:pt>
                <c:pt idx="2">
                  <c:v>2374.517</c:v>
                </c:pt>
                <c:pt idx="3">
                  <c:v>2775.771</c:v>
                </c:pt>
                <c:pt idx="4">
                  <c:v>3284.7</c:v>
                </c:pt>
                <c:pt idx="5">
                  <c:v>3891.865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2071.14</c:v>
                </c:pt>
                <c:pt idx="1">
                  <c:v>303.37699999999995</c:v>
                </c:pt>
                <c:pt idx="2">
                  <c:v>401.25400000000036</c:v>
                </c:pt>
                <c:pt idx="3">
                  <c:v>508.92899999999963</c:v>
                </c:pt>
                <c:pt idx="4">
                  <c:v>607.165</c:v>
                </c:pt>
                <c:pt idx="5">
                  <c:v>706.4920000000002</c:v>
                </c:pt>
                <c:pt idx="6">
                  <c:v>4598.357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Serums and Oils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17.84982272375349</c:v>
                </c:pt>
                <c:pt idx="1">
                  <c:v>18.377419516465817</c:v>
                </c:pt>
                <c:pt idx="2">
                  <c:v>19.614496965246214</c:v>
                </c:pt>
              </c:numCache>
            </c:numRef>
          </c:val>
        </c:ser>
        <c:ser>
          <c:idx val="1"/>
          <c:order val="1"/>
          <c:tx>
            <c:strRef>
              <c:strCache>
                <c:ptCount val="1"/>
                <c:pt idx="0">
                  <c:v>Waxes, Clays, Pastes and Pomades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17.130125336476414</c:v>
                </c:pt>
                <c:pt idx="1">
                  <c:v>17.472640791974904</c:v>
                </c:pt>
                <c:pt idx="2">
                  <c:v>16.841483096624916</c:v>
                </c:pt>
              </c:numCache>
            </c:numRef>
          </c:val>
        </c:ser>
        <c:ser>
          <c:idx val="2"/>
          <c:order val="2"/>
          <c:tx>
            <c:strRef>
              <c:strCache>
                <c:ptCount val="1"/>
                <c:pt idx="0">
                  <c:v>Sticks and Balms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11.99410587606135</c:v>
                </c:pt>
                <c:pt idx="1">
                  <c:v>12.859136655816094</c:v>
                </c:pt>
                <c:pt idx="2">
                  <c:v>14.984544274342774</c:v>
                </c:pt>
              </c:numCache>
            </c:numRef>
          </c:val>
        </c:ser>
        <c:ser>
          <c:idx val="3"/>
          <c:order val="3"/>
          <c:tx>
            <c:strRef>
              <c:strCache>
                <c:ptCount val="1"/>
                <c:pt idx="0">
                  <c:v>Creams and Lotions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12.200295369185655</c:v>
                </c:pt>
                <c:pt idx="1">
                  <c:v>11.759683389844106</c:v>
                </c:pt>
                <c:pt idx="2">
                  <c:v>12.229671441307723</c:v>
                </c:pt>
              </c:numCache>
            </c:numRef>
          </c:val>
        </c:ser>
        <c:ser>
          <c:idx val="4"/>
          <c:order val="4"/>
          <c:tx>
            <c:strRef>
              <c:strCache>
                <c:ptCount val="1"/>
                <c:pt idx="0">
                  <c:v>Sprays and Mists</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14.20492657669704</c:v>
                </c:pt>
                <c:pt idx="1">
                  <c:v>13.216777785235145</c:v>
                </c:pt>
                <c:pt idx="2">
                  <c:v>10.852282275556497</c:v>
                </c:pt>
              </c:numCache>
            </c:numRef>
          </c:val>
        </c:ser>
        <c:ser>
          <c:idx val="5"/>
          <c:order val="5"/>
          <c:tx>
            <c:strRef>
              <c:strCache>
                <c:ptCount val="1"/>
                <c:pt idx="0">
                  <c:v>Powders</c:v>
                </c:pt>
              </c:strCache>
            </c:strRef>
          </c:tx>
          <c:spPr>
            <a:solidFill>
              <a:srgbClr val="80808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9.95702676693626</c:v>
                </c:pt>
                <c:pt idx="1">
                  <c:v>9.907360249848988</c:v>
                </c:pt>
                <c:pt idx="2">
                  <c:v>10.782318554694864</c:v>
                </c:pt>
              </c:numCache>
            </c:numRef>
          </c:val>
        </c:ser>
        <c:ser>
          <c:idx val="6"/>
          <c:order val="6"/>
          <c:tx>
            <c:strRef>
              <c:strCache>
                <c:ptCount val="1"/>
                <c:pt idx="0">
                  <c:v>Gels and Jellies</c:v>
                </c:pt>
              </c:strCache>
            </c:strRef>
          </c:tx>
          <c:spPr>
            <a:solidFill>
              <a:srgbClr val="0E72AE"/>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9.355449300905374</c:v>
                </c:pt>
                <c:pt idx="1">
                  <c:v>9.312024330250972</c:v>
                </c:pt>
                <c:pt idx="2">
                  <c:v>8.51047238285582</c:v>
                </c:pt>
              </c:numCache>
            </c:numRef>
          </c:val>
        </c:ser>
        <c:ser>
          <c:idx val="7"/>
          <c:order val="7"/>
          <c:tx>
            <c:strRef>
              <c:strCache>
                <c:ptCount val="1"/>
                <c:pt idx="0">
                  <c:v>Mousses and Foams</c:v>
                </c:pt>
              </c:strCache>
            </c:strRef>
          </c:tx>
          <c:spPr>
            <a:solidFill>
              <a:srgbClr val="A86F00"/>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7.308248049984416</c:v>
                </c:pt>
                <c:pt idx="1">
                  <c:v>7.094957280563981</c:v>
                </c:pt>
                <c:pt idx="2">
                  <c:v>6.1847310093711965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No Hold</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19.45462120005391</c:v>
                </c:pt>
                <c:pt idx="1">
                  <c:v>20.04095238264372</c:v>
                </c:pt>
                <c:pt idx="2">
                  <c:v>18.30973667416885</c:v>
                </c:pt>
                <c:pt idx="3">
                  <c:v>19.24363605900008</c:v>
                </c:pt>
                <c:pt idx="4">
                  <c:v>20.050654344177367</c:v>
                </c:pt>
                <c:pt idx="5">
                  <c:v>20.054672113892163</c:v>
                </c:pt>
              </c:numCache>
            </c:numRef>
          </c:val>
        </c:ser>
        <c:ser>
          <c:idx val="1"/>
          <c:order val="1"/>
          <c:tx>
            <c:strRef>
              <c:strCache>
                <c:ptCount val="1"/>
                <c:pt idx="0">
                  <c:v>Light or Flexible Hold</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22.062378825394518</c:v>
                </c:pt>
                <c:pt idx="1">
                  <c:v>22.208303068942435</c:v>
                </c:pt>
                <c:pt idx="2">
                  <c:v>21.50975491484019</c:v>
                </c:pt>
                <c:pt idx="3">
                  <c:v>22.037124338550974</c:v>
                </c:pt>
                <c:pt idx="4">
                  <c:v>22.23113765637367</c:v>
                </c:pt>
                <c:pt idx="5">
                  <c:v>22.240616373823542</c:v>
                </c:pt>
              </c:numCache>
            </c:numRef>
          </c:val>
        </c:ser>
        <c:ser>
          <c:idx val="2"/>
          <c:order val="2"/>
          <c:tx>
            <c:strRef>
              <c:strCache>
                <c:ptCount val="1"/>
                <c:pt idx="0">
                  <c:v>Medium Hold</c:v>
                </c:pt>
              </c:strCache>
            </c:strRef>
          </c:tx>
          <c:spPr>
            <a:solidFill>
              <a:srgbClr val="008189"/>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21.8863604874412</c:v>
                </c:pt>
                <c:pt idx="1">
                  <c:v>22.01593697666283</c:v>
                </c:pt>
                <c:pt idx="2">
                  <c:v>23.05883332347948</c:v>
                </c:pt>
                <c:pt idx="3">
                  <c:v>21.825321025909933</c:v>
                </c:pt>
                <c:pt idx="4">
                  <c:v>22.014502886942942</c:v>
                </c:pt>
                <c:pt idx="5">
                  <c:v>22.01390553611848</c:v>
                </c:pt>
              </c:numCache>
            </c:numRef>
          </c:val>
        </c:ser>
        <c:ser>
          <c:idx val="3"/>
          <c:order val="3"/>
          <c:tx>
            <c:strRef>
              <c:strCache>
                <c:ptCount val="1"/>
                <c:pt idx="0">
                  <c:v>Strong Hold</c:v>
                </c:pt>
              </c:strCache>
            </c:strRef>
          </c:tx>
          <c:spPr>
            <a:solidFill>
              <a:srgbClr val="40315E"/>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20.24206173790186</c:v>
                </c:pt>
                <c:pt idx="1">
                  <c:v>19.76263246035735</c:v>
                </c:pt>
                <c:pt idx="2">
                  <c:v>20.484671605611233</c:v>
                </c:pt>
                <c:pt idx="3">
                  <c:v>20.387106332748395</c:v>
                </c:pt>
                <c:pt idx="4">
                  <c:v>19.75037526852855</c:v>
                </c:pt>
                <c:pt idx="5">
                  <c:v>19.745292685859688</c:v>
                </c:pt>
              </c:numCache>
            </c:numRef>
          </c:val>
        </c:ser>
        <c:ser>
          <c:idx val="4"/>
          <c:order val="4"/>
          <c:tx>
            <c:strRef>
              <c:strCache>
                <c:ptCount val="1"/>
                <c:pt idx="0">
                  <c:v>Extra-strong Hold</c:v>
                </c:pt>
              </c:strCache>
            </c:strRef>
          </c:tx>
          <c:spPr>
            <a:solidFill>
              <a:srgbClr val="A35313"/>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16.354577749208506</c:v>
                </c:pt>
                <c:pt idx="1">
                  <c:v>15.972175111393677</c:v>
                </c:pt>
                <c:pt idx="2">
                  <c:v>16.63700348190024</c:v>
                </c:pt>
                <c:pt idx="3">
                  <c:v>16.506812243790613</c:v>
                </c:pt>
                <c:pt idx="4">
                  <c:v>15.953329843977476</c:v>
                </c:pt>
                <c:pt idx="5">
                  <c:v>15.94551329030614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No Hold</c:v>
                </c:pt>
              </c:strCache>
            </c:strRef>
          </c:tx>
          <c:spPr>
            <a:solidFill>
              <a:srgbClr val="3D85C6"/>
            </a:solidFill>
          </c:spPr>
          <c:invertIfNegative val="0"/>
          <c:xVal>
            <c:numRef>
              <c:numCache>
                <c:formatCode>General</c:formatCode>
                <c:ptCount val="1"/>
                <c:pt idx="0">
                  <c:v>108.53240125339154</c:v>
                </c:pt>
              </c:numCache>
            </c:numRef>
          </c:xVal>
          <c:yVal>
            <c:numRef>
              <c:numCache>
                <c:formatCode>General</c:formatCode>
                <c:ptCount val="1"/>
                <c:pt idx="0">
                  <c:v>93.21470903839344</c:v>
                </c:pt>
              </c:numCache>
            </c:numRef>
          </c:yVal>
          <c:bubbleSize>
            <c:numRef>
              <c:numCache>
                <c:formatCode>General</c:formatCode>
                <c:ptCount val="1"/>
                <c:pt idx="0">
                  <c:v>6033.176</c:v>
                </c:pt>
              </c:numCache>
            </c:numRef>
          </c:bubbleSize>
          <c:bubble3D val="0"/>
        </c:ser>
        <c:ser>
          <c:idx val="1"/>
          <c:order val="1"/>
          <c:tx>
            <c:strRef>
              <c:strCache>
                <c:ptCount val="1"/>
                <c:pt idx="0">
                  <c:v>Light or Flexible Hold</c:v>
                </c:pt>
              </c:strCache>
            </c:strRef>
          </c:tx>
          <c:spPr>
            <a:solidFill>
              <a:srgbClr val="9E7E0A"/>
            </a:solidFill>
          </c:spPr>
          <c:invertIfNegative val="0"/>
          <c:xVal>
            <c:numRef>
              <c:numCache>
                <c:formatCode>General</c:formatCode>
                <c:ptCount val="1"/>
                <c:pt idx="0">
                  <c:v>115.42794128382067</c:v>
                </c:pt>
              </c:numCache>
            </c:numRef>
          </c:xVal>
          <c:yVal>
            <c:numRef>
              <c:numCache>
                <c:formatCode>General</c:formatCode>
                <c:ptCount val="1"/>
                <c:pt idx="0">
                  <c:v>100.39478792519903</c:v>
                </c:pt>
              </c:numCache>
            </c:numRef>
          </c:yVal>
          <c:bubbleSize>
            <c:numRef>
              <c:numCache>
                <c:formatCode>General</c:formatCode>
                <c:ptCount val="1"/>
                <c:pt idx="0">
                  <c:v>6781.562</c:v>
                </c:pt>
              </c:numCache>
            </c:numRef>
          </c:bubbleSize>
          <c:bubble3D val="0"/>
        </c:ser>
        <c:ser>
          <c:idx val="2"/>
          <c:order val="2"/>
          <c:tx>
            <c:strRef>
              <c:strCache>
                <c:ptCount val="1"/>
                <c:pt idx="0">
                  <c:v>Medium Hold</c:v>
                </c:pt>
              </c:strCache>
            </c:strRef>
          </c:tx>
          <c:spPr>
            <a:solidFill>
              <a:srgbClr val="008189"/>
            </a:solidFill>
          </c:spPr>
          <c:invertIfNegative val="0"/>
          <c:xVal>
            <c:numRef>
              <c:numCache>
                <c:formatCode>General</c:formatCode>
                <c:ptCount val="1"/>
                <c:pt idx="0">
                  <c:v>98.98073064692865</c:v>
                </c:pt>
              </c:numCache>
            </c:numRef>
          </c:xVal>
          <c:yVal>
            <c:numRef>
              <c:numCache>
                <c:formatCode>General</c:formatCode>
                <c:ptCount val="1"/>
                <c:pt idx="0">
                  <c:v>111.21653179558967</c:v>
                </c:pt>
              </c:numCache>
            </c:numRef>
          </c:yVal>
          <c:bubbleSize>
            <c:numRef>
              <c:numCache>
                <c:formatCode>General</c:formatCode>
                <c:ptCount val="1"/>
                <c:pt idx="0">
                  <c:v>6782.567</c:v>
                </c:pt>
              </c:numCache>
            </c:numRef>
          </c:bubbleSize>
          <c:bubble3D val="0"/>
        </c:ser>
        <c:ser>
          <c:idx val="3"/>
          <c:order val="3"/>
          <c:tx>
            <c:strRef>
              <c:strCache>
                <c:ptCount val="1"/>
                <c:pt idx="0">
                  <c:v>Strong Hold</c:v>
                </c:pt>
              </c:strCache>
            </c:strRef>
          </c:tx>
          <c:spPr>
            <a:solidFill>
              <a:srgbClr val="40315E"/>
            </a:solidFill>
          </c:spPr>
          <c:invertIfNegative val="0"/>
          <c:xVal>
            <c:numRef>
              <c:numCache>
                <c:formatCode>General</c:formatCode>
                <c:ptCount val="1"/>
                <c:pt idx="0">
                  <c:v>90.99809589091281</c:v>
                </c:pt>
              </c:numCache>
            </c:numRef>
          </c:xVal>
          <c:yVal>
            <c:numRef>
              <c:numCache>
                <c:formatCode>General</c:formatCode>
                <c:ptCount val="1"/>
                <c:pt idx="0">
                  <c:v>105.69834206580018</c:v>
                </c:pt>
              </c:numCache>
            </c:numRef>
          </c:yVal>
          <c:bubbleSize>
            <c:numRef>
              <c:numCache>
                <c:formatCode>General</c:formatCode>
                <c:ptCount val="1"/>
                <c:pt idx="0">
                  <c:v>6131.712</c:v>
                </c:pt>
              </c:numCache>
            </c:numRef>
          </c:bubbleSize>
          <c:bubble3D val="0"/>
        </c:ser>
        <c:ser>
          <c:idx val="4"/>
          <c:order val="4"/>
          <c:tx>
            <c:strRef>
              <c:strCache>
                <c:ptCount val="1"/>
                <c:pt idx="0">
                  <c:v>Extra-strong Hold</c:v>
                </c:pt>
              </c:strCache>
            </c:strRef>
          </c:tx>
          <c:spPr>
            <a:solidFill>
              <a:srgbClr val="A35313"/>
            </a:solidFill>
          </c:spPr>
          <c:invertIfNegative val="0"/>
          <c:xVal>
            <c:numRef>
              <c:numCache>
                <c:formatCode>General</c:formatCode>
                <c:ptCount val="1"/>
                <c:pt idx="0">
                  <c:v>83.7221761313948</c:v>
                </c:pt>
              </c:numCache>
            </c:numRef>
          </c:xVal>
          <c:yVal>
            <c:numRef>
              <c:numCache>
                <c:formatCode>General</c:formatCode>
                <c:ptCount val="1"/>
                <c:pt idx="0">
                  <c:v>89.47562917501767</c:v>
                </c:pt>
              </c:numCache>
            </c:numRef>
          </c:yVal>
          <c:bubbleSize>
            <c:numRef>
              <c:numCache>
                <c:formatCode>General</c:formatCode>
                <c:ptCount val="1"/>
                <c:pt idx="0">
                  <c:v>4958.317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3002.701</c:v>
                </c:pt>
                <c:pt idx="2">
                  <c:v>3340.838</c:v>
                </c:pt>
                <c:pt idx="3">
                  <c:v>3811.589</c:v>
                </c:pt>
                <c:pt idx="4">
                  <c:v>4422.671</c:v>
                </c:pt>
                <c:pt idx="5">
                  <c:v>5164.253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3002.701</c:v>
                </c:pt>
                <c:pt idx="1">
                  <c:v>338.13700000000017</c:v>
                </c:pt>
                <c:pt idx="2">
                  <c:v>470.75099999999975</c:v>
                </c:pt>
                <c:pt idx="3">
                  <c:v>611.0820000000003</c:v>
                </c:pt>
                <c:pt idx="4">
                  <c:v>741.5819999999994</c:v>
                </c:pt>
                <c:pt idx="5">
                  <c:v>868.9230000000007</c:v>
                </c:pt>
                <c:pt idx="6">
                  <c:v>6033.176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3233.991</c:v>
                </c:pt>
                <c:pt idx="2">
                  <c:v>3643.367</c:v>
                </c:pt>
                <c:pt idx="3">
                  <c:v>4190.975</c:v>
                </c:pt>
                <c:pt idx="4">
                  <c:v>4924.673</c:v>
                </c:pt>
                <c:pt idx="5">
                  <c:v>5787.337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3233.991</c:v>
                </c:pt>
                <c:pt idx="1">
                  <c:v>409.3760000000002</c:v>
                </c:pt>
                <c:pt idx="2">
                  <c:v>547.6080000000002</c:v>
                </c:pt>
                <c:pt idx="3">
                  <c:v>733.6979999999994</c:v>
                </c:pt>
                <c:pt idx="4">
                  <c:v>862.6640000000007</c:v>
                </c:pt>
                <c:pt idx="5">
                  <c:v>994.2249999999995</c:v>
                </c:pt>
                <c:pt idx="6">
                  <c:v>6781.562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3582.589</c:v>
                </c:pt>
                <c:pt idx="2">
                  <c:v>4021.476</c:v>
                </c:pt>
                <c:pt idx="3">
                  <c:v>4570.388</c:v>
                </c:pt>
                <c:pt idx="4">
                  <c:v>5197.022</c:v>
                </c:pt>
                <c:pt idx="5">
                  <c:v>5939.009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3582.589</c:v>
                </c:pt>
                <c:pt idx="1">
                  <c:v>438.88700000000017</c:v>
                </c:pt>
                <c:pt idx="2">
                  <c:v>548.9119999999998</c:v>
                </c:pt>
                <c:pt idx="3">
                  <c:v>626.634</c:v>
                </c:pt>
                <c:pt idx="4">
                  <c:v>741.9870000000001</c:v>
                </c:pt>
                <c:pt idx="5">
                  <c:v>843.558</c:v>
                </c:pt>
                <c:pt idx="6">
                  <c:v>6782.567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3404.833</c:v>
                </c:pt>
                <c:pt idx="2">
                  <c:v>3793.538</c:v>
                </c:pt>
                <c:pt idx="3">
                  <c:v>4259.599</c:v>
                </c:pt>
                <c:pt idx="4">
                  <c:v>4805.984</c:v>
                </c:pt>
                <c:pt idx="5">
                  <c:v>5428.746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3404.833</c:v>
                </c:pt>
                <c:pt idx="1">
                  <c:v>388.7049999999999</c:v>
                </c:pt>
                <c:pt idx="2">
                  <c:v>466.06100000000015</c:v>
                </c:pt>
                <c:pt idx="3">
                  <c:v>546.3850000000002</c:v>
                </c:pt>
                <c:pt idx="4">
                  <c:v>622.7619999999997</c:v>
                </c:pt>
                <c:pt idx="5">
                  <c:v>702.9660000000003</c:v>
                </c:pt>
                <c:pt idx="6">
                  <c:v>6131.712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2882.255</c:v>
                </c:pt>
                <c:pt idx="2">
                  <c:v>3172.875</c:v>
                </c:pt>
                <c:pt idx="3">
                  <c:v>3526.249</c:v>
                </c:pt>
                <c:pt idx="4">
                  <c:v>3937.877</c:v>
                </c:pt>
                <c:pt idx="5">
                  <c:v>4415.648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2882.255</c:v>
                </c:pt>
                <c:pt idx="1">
                  <c:v>290.6199999999999</c:v>
                </c:pt>
                <c:pt idx="2">
                  <c:v>353.3739999999998</c:v>
                </c:pt>
                <c:pt idx="3">
                  <c:v>411.62800000000016</c:v>
                </c:pt>
                <c:pt idx="4">
                  <c:v>477.7710000000002</c:v>
                </c:pt>
                <c:pt idx="5">
                  <c:v>542.6689999999999</c:v>
                </c:pt>
                <c:pt idx="6">
                  <c:v>4958.317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Medium Hold</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21.383598877020447</c:v>
                </c:pt>
                <c:pt idx="1">
                  <c:v>22.243306359117934</c:v>
                </c:pt>
                <c:pt idx="2">
                  <c:v>22.102170882618864</c:v>
                </c:pt>
              </c:numCache>
            </c:numRef>
          </c:val>
        </c:ser>
        <c:ser>
          <c:idx val="1"/>
          <c:order val="1"/>
          <c:tx>
            <c:strRef>
              <c:strCache>
                <c:ptCount val="1"/>
                <c:pt idx="0">
                  <c:v>Light or Flexible Hold</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20.174477046443826</c:v>
                </c:pt>
                <c:pt idx="1">
                  <c:v>20.078957585039806</c:v>
                </c:pt>
                <c:pt idx="2">
                  <c:v>22.09889591581986</c:v>
                </c:pt>
              </c:numCache>
            </c:numRef>
          </c:val>
        </c:ser>
        <c:ser>
          <c:idx val="2"/>
          <c:order val="2"/>
          <c:tx>
            <c:strRef>
              <c:strCache>
                <c:ptCount val="1"/>
                <c:pt idx="0">
                  <c:v>Strong Hold</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21.037449380618202</c:v>
                </c:pt>
                <c:pt idx="1">
                  <c:v>21.139668413160038</c:v>
                </c:pt>
                <c:pt idx="2">
                  <c:v>19.98124698613441</c:v>
                </c:pt>
              </c:numCache>
            </c:numRef>
          </c:val>
        </c:ser>
        <c:ser>
          <c:idx val="3"/>
          <c:order val="3"/>
          <c:tx>
            <c:strRef>
              <c:strCache>
                <c:ptCount val="1"/>
                <c:pt idx="0">
                  <c:v>No Hold</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19.257810334806994</c:v>
                </c:pt>
                <c:pt idx="1">
                  <c:v>18.64294180767869</c:v>
                </c:pt>
                <c:pt idx="2">
                  <c:v>19.66015034085398</c:v>
                </c:pt>
              </c:numCache>
            </c:numRef>
          </c:val>
        </c:ser>
        <c:ser>
          <c:idx val="4"/>
          <c:order val="4"/>
          <c:tx>
            <c:strRef>
              <c:strCache>
                <c:ptCount val="1"/>
                <c:pt idx="0">
                  <c:v>Extra-strong Hold</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18.14666436111053</c:v>
                </c:pt>
                <c:pt idx="1">
                  <c:v>17.89512583500353</c:v>
                </c:pt>
                <c:pt idx="2">
                  <c:v>16.157535874572876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Matte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32.556841905842674</c:v>
                </c:pt>
                <c:pt idx="1">
                  <c:v>31.165153891097912</c:v>
                </c:pt>
                <c:pt idx="2">
                  <c:v>32.57643384800483</c:v>
                </c:pt>
                <c:pt idx="3">
                  <c:v>33.52661048183993</c:v>
                </c:pt>
                <c:pt idx="4">
                  <c:v>34.911938967036</c:v>
                </c:pt>
                <c:pt idx="5">
                  <c:v>33.09466411968175</c:v>
                </c:pt>
              </c:numCache>
            </c:numRef>
          </c:val>
        </c:ser>
        <c:ser>
          <c:idx val="1"/>
          <c:order val="1"/>
          <c:tx>
            <c:strRef>
              <c:strCache>
                <c:ptCount val="1"/>
                <c:pt idx="0">
                  <c:v>Natural</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31.088043100222528</c:v>
                </c:pt>
                <c:pt idx="1">
                  <c:v>30.37903152765174</c:v>
                </c:pt>
                <c:pt idx="2">
                  <c:v>32.21549126131327</c:v>
                </c:pt>
                <c:pt idx="3">
                  <c:v>31.94520263169785</c:v>
                </c:pt>
                <c:pt idx="4">
                  <c:v>31.43064514180722</c:v>
                </c:pt>
                <c:pt idx="5">
                  <c:v>32.33702902792878</c:v>
                </c:pt>
              </c:numCache>
            </c:numRef>
          </c:val>
        </c:ser>
        <c:ser>
          <c:idx val="2"/>
          <c:order val="2"/>
          <c:tx>
            <c:strRef>
              <c:strCache>
                <c:ptCount val="1"/>
                <c:pt idx="0">
                  <c:v>Glossy or Wet-look</c:v>
                </c:pt>
              </c:strCache>
            </c:strRef>
          </c:tx>
          <c:spPr>
            <a:solidFill>
              <a:srgbClr val="008189"/>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36.35511499393479</c:v>
                </c:pt>
                <c:pt idx="1">
                  <c:v>38.455814581250344</c:v>
                </c:pt>
                <c:pt idx="2">
                  <c:v>35.20807489068191</c:v>
                </c:pt>
                <c:pt idx="3">
                  <c:v>34.528186886462215</c:v>
                </c:pt>
                <c:pt idx="4">
                  <c:v>33.65741589115678</c:v>
                </c:pt>
                <c:pt idx="5">
                  <c:v>34.56830685238948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Matte</c:v>
                </c:pt>
              </c:strCache>
            </c:strRef>
          </c:tx>
          <c:spPr>
            <a:solidFill>
              <a:srgbClr val="3D85C6"/>
            </a:solidFill>
          </c:spPr>
          <c:invertIfNegative val="0"/>
          <c:xVal>
            <c:numRef>
              <c:numCache>
                <c:formatCode>General</c:formatCode>
                <c:ptCount val="1"/>
                <c:pt idx="0">
                  <c:v>98.78122855017124</c:v>
                </c:pt>
              </c:numCache>
            </c:numRef>
          </c:xVal>
          <c:yVal>
            <c:numRef>
              <c:numCache>
                <c:formatCode>General</c:formatCode>
                <c:ptCount val="1"/>
                <c:pt idx="0">
                  <c:v>100.81494474731983</c:v>
                </c:pt>
              </c:numCache>
            </c:numRef>
          </c:yVal>
          <c:bubbleSize>
            <c:numRef>
              <c:numCache>
                <c:formatCode>General</c:formatCode>
                <c:ptCount val="1"/>
                <c:pt idx="0">
                  <c:v>10234.276</c:v>
                </c:pt>
              </c:numCache>
            </c:numRef>
          </c:bubbleSize>
          <c:bubble3D val="0"/>
        </c:ser>
        <c:ser>
          <c:idx val="1"/>
          <c:order val="1"/>
          <c:tx>
            <c:strRef>
              <c:strCache>
                <c:ptCount val="1"/>
                <c:pt idx="0">
                  <c:v>Natural</c:v>
                </c:pt>
              </c:strCache>
            </c:strRef>
          </c:tx>
          <c:spPr>
            <a:solidFill>
              <a:srgbClr val="9E7E0A"/>
            </a:solidFill>
          </c:spPr>
          <c:invertIfNegative val="0"/>
          <c:xVal>
            <c:numRef>
              <c:numCache>
                <c:formatCode>General</c:formatCode>
                <c:ptCount val="1"/>
                <c:pt idx="0">
                  <c:v>91.22831785693627</c:v>
                </c:pt>
              </c:numCache>
            </c:numRef>
          </c:xVal>
          <c:yVal>
            <c:numRef>
              <c:numCache>
                <c:formatCode>General</c:formatCode>
                <c:ptCount val="1"/>
                <c:pt idx="0">
                  <c:v>100.65960246282712</c:v>
                </c:pt>
              </c:numCache>
            </c:numRef>
          </c:yVal>
          <c:bubbleSize>
            <c:numRef>
              <c:numCache>
                <c:formatCode>General</c:formatCode>
                <c:ptCount val="1"/>
                <c:pt idx="0">
                  <c:v>9746.422</c:v>
                </c:pt>
              </c:numCache>
            </c:numRef>
          </c:bubbleSize>
          <c:bubble3D val="0"/>
        </c:ser>
        <c:ser>
          <c:idx val="2"/>
          <c:order val="2"/>
          <c:tx>
            <c:strRef>
              <c:strCache>
                <c:ptCount val="1"/>
                <c:pt idx="0">
                  <c:v>Glossy or Wet-look</c:v>
                </c:pt>
              </c:strCache>
            </c:strRef>
          </c:tx>
          <c:spPr>
            <a:solidFill>
              <a:srgbClr val="008189"/>
            </a:solidFill>
          </c:spPr>
          <c:invertIfNegative val="0"/>
          <c:xVal>
            <c:numRef>
              <c:numCache>
                <c:formatCode>General</c:formatCode>
                <c:ptCount val="1"/>
                <c:pt idx="0">
                  <c:v>109.71726173431513</c:v>
                </c:pt>
              </c:numCache>
            </c:numRef>
          </c:xVal>
          <c:yVal>
            <c:numRef>
              <c:numCache>
                <c:formatCode>General</c:formatCode>
                <c:ptCount val="1"/>
                <c:pt idx="0">
                  <c:v>98.52545278985305</c:v>
                </c:pt>
              </c:numCache>
            </c:numRef>
          </c:yVal>
          <c:bubbleSize>
            <c:numRef>
              <c:numCache>
                <c:formatCode>General</c:formatCode>
                <c:ptCount val="1"/>
                <c:pt idx="0">
                  <c:v>10706.636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5412.542</c:v>
                </c:pt>
                <c:pt idx="2">
                  <c:v>6068.459</c:v>
                </c:pt>
                <c:pt idx="3">
                  <c:v>6888.206</c:v>
                </c:pt>
                <c:pt idx="4">
                  <c:v>7840.489</c:v>
                </c:pt>
                <c:pt idx="5">
                  <c:v>8961.869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5412.542</c:v>
                </c:pt>
                <c:pt idx="1">
                  <c:v>655.9169999999995</c:v>
                </c:pt>
                <c:pt idx="2">
                  <c:v>819.7470000000003</c:v>
                </c:pt>
                <c:pt idx="3">
                  <c:v>952.2829999999994</c:v>
                </c:pt>
                <c:pt idx="4">
                  <c:v>1121.380000000001</c:v>
                </c:pt>
                <c:pt idx="5">
                  <c:v>1272.4069999999992</c:v>
                </c:pt>
                <c:pt idx="6">
                  <c:v>10234.276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5404.202</c:v>
                </c:pt>
                <c:pt idx="2">
                  <c:v>6017.007</c:v>
                </c:pt>
                <c:pt idx="3">
                  <c:v>6751.524</c:v>
                </c:pt>
                <c:pt idx="4">
                  <c:v>7629.318</c:v>
                </c:pt>
                <c:pt idx="5">
                  <c:v>8624.673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5404.202</c:v>
                </c:pt>
                <c:pt idx="1">
                  <c:v>612.8049999999994</c:v>
                </c:pt>
                <c:pt idx="2">
                  <c:v>734.5170000000007</c:v>
                </c:pt>
                <c:pt idx="3">
                  <c:v>877.7939999999999</c:v>
                </c:pt>
                <c:pt idx="4">
                  <c:v>995.3550000000005</c:v>
                </c:pt>
                <c:pt idx="5">
                  <c:v>1121.7489999999998</c:v>
                </c:pt>
                <c:pt idx="6">
                  <c:v>9746.422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5289.624</c:v>
                </c:pt>
                <c:pt idx="2">
                  <c:v>5886.628</c:v>
                </c:pt>
                <c:pt idx="3">
                  <c:v>6719.071</c:v>
                </c:pt>
                <c:pt idx="4">
                  <c:v>7818.419</c:v>
                </c:pt>
                <c:pt idx="5">
                  <c:v>9148.451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5289.624</c:v>
                </c:pt>
                <c:pt idx="1">
                  <c:v>597.0039999999999</c:v>
                </c:pt>
                <c:pt idx="2">
                  <c:v>832.4430000000002</c:v>
                </c:pt>
                <c:pt idx="3">
                  <c:v>1099.348</c:v>
                </c:pt>
                <c:pt idx="4">
                  <c:v>1330.0319999999992</c:v>
                </c:pt>
                <c:pt idx="5">
                  <c:v>1558.1850000000013</c:v>
                </c:pt>
                <c:pt idx="6">
                  <c:v>10706.636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Glossy or Wet-look</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34.00500001426197</c:v>
                </c:pt>
                <c:pt idx="1">
                  <c:v>32.84181759661769</c:v>
                </c:pt>
                <c:pt idx="2">
                  <c:v>34.88943027765136</c:v>
                </c:pt>
              </c:numCache>
            </c:numRef>
          </c:val>
        </c:ser>
        <c:ser>
          <c:idx val="1"/>
          <c:order val="1"/>
          <c:tx>
            <c:strRef>
              <c:strCache>
                <c:ptCount val="1"/>
                <c:pt idx="0">
                  <c:v>Matte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32.47085952556373</c:v>
                </c:pt>
                <c:pt idx="1">
                  <c:v>33.60498158243994</c:v>
                </c:pt>
                <c:pt idx="2">
                  <c:v>33.35016329538434</c:v>
                </c:pt>
              </c:numCache>
            </c:numRef>
          </c:val>
        </c:ser>
        <c:ser>
          <c:idx val="2"/>
          <c:order val="2"/>
          <c:tx>
            <c:strRef>
              <c:strCache>
                <c:ptCount val="1"/>
                <c:pt idx="0">
                  <c:v>Natural</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33.52414046017431</c:v>
                </c:pt>
                <c:pt idx="1">
                  <c:v>33.55320082094237</c:v>
                </c:pt>
                <c:pt idx="2">
                  <c:v>31.760406426964295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Mass Retail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18.69951841171533</c:v>
                </c:pt>
                <c:pt idx="1">
                  <c:v>19.505168597431897</c:v>
                </c:pt>
                <c:pt idx="2">
                  <c:v>19.983482643519388</c:v>
                </c:pt>
                <c:pt idx="3">
                  <c:v>17.313243369608028</c:v>
                </c:pt>
                <c:pt idx="4">
                  <c:v>15.929941821651939</c:v>
                </c:pt>
                <c:pt idx="5">
                  <c:v>16.767643379631288</c:v>
                </c:pt>
              </c:numCache>
            </c:numRef>
          </c:val>
        </c:ser>
        <c:ser>
          <c:idx val="1"/>
          <c:order val="1"/>
          <c:tx>
            <c:strRef>
              <c:strCache>
                <c:ptCount val="1"/>
                <c:pt idx="0">
                  <c:v>Beauty Specialty Retail</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16.21942593017606</c:v>
                </c:pt>
                <c:pt idx="1">
                  <c:v>15.858735895752888</c:v>
                </c:pt>
                <c:pt idx="2">
                  <c:v>15.368114343587527</c:v>
                </c:pt>
                <c:pt idx="3">
                  <c:v>16.29562948654277</c:v>
                </c:pt>
                <c:pt idx="4">
                  <c:v>16.209557194059286</c:v>
                </c:pt>
                <c:pt idx="5">
                  <c:v>15.738362345332394</c:v>
                </c:pt>
              </c:numCache>
            </c:numRef>
          </c:val>
        </c:ser>
        <c:ser>
          <c:idx val="2"/>
          <c:order val="2"/>
          <c:tx>
            <c:strRef>
              <c:strCache>
                <c:ptCount val="1"/>
                <c:pt idx="0">
                  <c:v>Salon and Professional Distribution</c:v>
                </c:pt>
              </c:strCache>
            </c:strRef>
          </c:tx>
          <c:spPr>
            <a:solidFill>
              <a:srgbClr val="008189"/>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18.88581046468392</c:v>
                </c:pt>
                <c:pt idx="1">
                  <c:v>18.31321586779302</c:v>
                </c:pt>
                <c:pt idx="2">
                  <c:v>16.98193695831422</c:v>
                </c:pt>
                <c:pt idx="3">
                  <c:v>18.401833275770358</c:v>
                </c:pt>
                <c:pt idx="4">
                  <c:v>16.74948639517456</c:v>
                </c:pt>
                <c:pt idx="5">
                  <c:v>18.61910805083527</c:v>
                </c:pt>
              </c:numCache>
            </c:numRef>
          </c:val>
        </c:ser>
        <c:ser>
          <c:idx val="3"/>
          <c:order val="3"/>
          <c:tx>
            <c:strRef>
              <c:strCache>
                <c:ptCount val="1"/>
                <c:pt idx="0">
                  <c:v>Pharmacies and Drugstores</c:v>
                </c:pt>
              </c:strCache>
            </c:strRef>
          </c:tx>
          <c:spPr>
            <a:solidFill>
              <a:srgbClr val="40315E"/>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13.379143678629479</c:v>
                </c:pt>
                <c:pt idx="1">
                  <c:v>14.252783910573891</c:v>
                </c:pt>
                <c:pt idx="2">
                  <c:v>13.537418573144313</c:v>
                </c:pt>
                <c:pt idx="3">
                  <c:v>14.424693760761546</c:v>
                </c:pt>
                <c:pt idx="4">
                  <c:v>13.498422786307623</c:v>
                </c:pt>
                <c:pt idx="5">
                  <c:v>14.158001563767325</c:v>
                </c:pt>
              </c:numCache>
            </c:numRef>
          </c:val>
        </c:ser>
        <c:ser>
          <c:idx val="4"/>
          <c:order val="4"/>
          <c:tx>
            <c:strRef>
              <c:strCache>
                <c:ptCount val="1"/>
                <c:pt idx="0">
                  <c:v>Online Marketplaces</c:v>
                </c:pt>
              </c:strCache>
            </c:strRef>
          </c:tx>
          <c:spPr>
            <a:solidFill>
              <a:srgbClr val="A35313"/>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18.375899001714004</c:v>
                </c:pt>
                <c:pt idx="1">
                  <c:v>18.62307598321272</c:v>
                </c:pt>
                <c:pt idx="2">
                  <c:v>21.08932363678784</c:v>
                </c:pt>
                <c:pt idx="3">
                  <c:v>19.837313646730614</c:v>
                </c:pt>
                <c:pt idx="4">
                  <c:v>22.77807041362489</c:v>
                </c:pt>
                <c:pt idx="5">
                  <c:v>21.37595594901959</c:v>
                </c:pt>
              </c:numCache>
            </c:numRef>
          </c:val>
        </c:ser>
        <c:ser>
          <c:idx val="5"/>
          <c:order val="5"/>
          <c:tx>
            <c:strRef>
              <c:strCache>
                <c:ptCount val="1"/>
                <c:pt idx="0">
                  <c:v>Brand-owned Online Stores</c:v>
                </c:pt>
              </c:strCache>
            </c:strRef>
          </c:tx>
          <c:spPr>
            <a:solidFill>
              <a:srgbClr val="808080"/>
            </a:solidFill>
            <a:ln>
              <a:noFill/>
            </a:ln>
          </c:spPr>
          <c:dLbls>
            <c:dLbl>
              <c:idx val="0"/>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14.440202513081207</c:v>
                </c:pt>
                <c:pt idx="1">
                  <c:v>13.447019745235602</c:v>
                </c:pt>
                <c:pt idx="2">
                  <c:v>13.039723844646705</c:v>
                </c:pt>
                <c:pt idx="3">
                  <c:v>13.727286460586683</c:v>
                </c:pt>
                <c:pt idx="4">
                  <c:v>14.834521389181704</c:v>
                </c:pt>
                <c:pt idx="5">
                  <c:v>13.34092871141413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Mass Retail</c:v>
                </c:pt>
              </c:strCache>
            </c:strRef>
          </c:tx>
          <c:spPr>
            <a:solidFill>
              <a:srgbClr val="3D85C6"/>
            </a:solidFill>
          </c:spPr>
          <c:invertIfNegative val="0"/>
          <c:xVal>
            <c:numRef>
              <c:numCache>
                <c:formatCode>General</c:formatCode>
                <c:ptCount val="1"/>
                <c:pt idx="0">
                  <c:v>80.45828490382216</c:v>
                </c:pt>
              </c:numCache>
            </c:numRef>
          </c:xVal>
          <c:yVal>
            <c:numRef>
              <c:numCache>
                <c:formatCode>General</c:formatCode>
                <c:ptCount val="1"/>
                <c:pt idx="0">
                  <c:v>118.21715485452712</c:v>
                </c:pt>
              </c:numCache>
            </c:numRef>
          </c:yVal>
          <c:bubbleSize>
            <c:numRef>
              <c:numCache>
                <c:formatCode>General</c:formatCode>
                <c:ptCount val="1"/>
                <c:pt idx="0">
                  <c:v>5347.852</c:v>
                </c:pt>
              </c:numCache>
            </c:numRef>
          </c:bubbleSize>
          <c:bubble3D val="0"/>
        </c:ser>
        <c:ser>
          <c:idx val="1"/>
          <c:order val="1"/>
          <c:tx>
            <c:strRef>
              <c:strCache>
                <c:ptCount val="1"/>
                <c:pt idx="0">
                  <c:v>Beauty Specialty Retail</c:v>
                </c:pt>
              </c:strCache>
            </c:strRef>
          </c:tx>
          <c:spPr>
            <a:solidFill>
              <a:srgbClr val="9E7E0A"/>
            </a:solidFill>
          </c:spPr>
          <c:invertIfNegative val="0"/>
          <c:xVal>
            <c:numRef>
              <c:numCache>
                <c:formatCode>General</c:formatCode>
                <c:ptCount val="1"/>
                <c:pt idx="0">
                  <c:v>103.7141246432963</c:v>
                </c:pt>
              </c:numCache>
            </c:numRef>
          </c:xVal>
          <c:yVal>
            <c:numRef>
              <c:numCache>
                <c:formatCode>General</c:formatCode>
                <c:ptCount val="1"/>
                <c:pt idx="0">
                  <c:v>93.5107281790656</c:v>
                </c:pt>
              </c:numCache>
            </c:numRef>
          </c:yVal>
          <c:bubbleSize>
            <c:numRef>
              <c:numCache>
                <c:formatCode>General</c:formatCode>
                <c:ptCount val="1"/>
                <c:pt idx="0">
                  <c:v>4894.719</c:v>
                </c:pt>
              </c:numCache>
            </c:numRef>
          </c:bubbleSize>
          <c:bubble3D val="0"/>
        </c:ser>
        <c:ser>
          <c:idx val="2"/>
          <c:order val="2"/>
          <c:tx>
            <c:strRef>
              <c:strCache>
                <c:ptCount val="1"/>
                <c:pt idx="0">
                  <c:v>Salon and Professional Distribution</c:v>
                </c:pt>
              </c:strCache>
            </c:strRef>
          </c:tx>
          <c:spPr>
            <a:solidFill>
              <a:srgbClr val="008189"/>
            </a:solidFill>
          </c:spPr>
          <c:invertIfNegative val="0"/>
          <c:xVal>
            <c:numRef>
              <c:numCache>
                <c:formatCode>General</c:formatCode>
                <c:ptCount val="1"/>
                <c:pt idx="0">
                  <c:v>95.1909131393473</c:v>
                </c:pt>
              </c:numCache>
            </c:numRef>
          </c:xVal>
          <c:yVal>
            <c:numRef>
              <c:numCache>
                <c:formatCode>General</c:formatCode>
                <c:ptCount val="1"/>
                <c:pt idx="0">
                  <c:v>110.66383184588855</c:v>
                </c:pt>
              </c:numCache>
            </c:numRef>
          </c:yVal>
          <c:bubbleSize>
            <c:numRef>
              <c:numCache>
                <c:formatCode>General</c:formatCode>
                <c:ptCount val="1"/>
                <c:pt idx="0">
                  <c:v>5492.312</c:v>
                </c:pt>
              </c:numCache>
            </c:numRef>
          </c:bubbleSize>
          <c:bubble3D val="0"/>
        </c:ser>
        <c:ser>
          <c:idx val="3"/>
          <c:order val="3"/>
          <c:tx>
            <c:strRef>
              <c:strCache>
                <c:ptCount val="1"/>
                <c:pt idx="0">
                  <c:v>Pharmacies and Drugstores</c:v>
                </c:pt>
              </c:strCache>
            </c:strRef>
          </c:tx>
          <c:spPr>
            <a:solidFill>
              <a:srgbClr val="40315E"/>
            </a:solidFill>
          </c:spPr>
          <c:invertIfNegative val="0"/>
          <c:xVal>
            <c:numRef>
              <c:numCache>
                <c:formatCode>General</c:formatCode>
                <c:ptCount val="1"/>
                <c:pt idx="0">
                  <c:v>87.55033778553329</c:v>
                </c:pt>
              </c:numCache>
            </c:numRef>
          </c:xVal>
          <c:yVal>
            <c:numRef>
              <c:numCache>
                <c:formatCode>General</c:formatCode>
                <c:ptCount val="1"/>
                <c:pt idx="0">
                  <c:v>90.25964140394659</c:v>
                </c:pt>
              </c:numCache>
            </c:numRef>
          </c:yVal>
          <c:bubbleSize>
            <c:numRef>
              <c:numCache>
                <c:formatCode>General</c:formatCode>
                <c:ptCount val="1"/>
                <c:pt idx="0">
                  <c:v>4269.874</c:v>
                </c:pt>
              </c:numCache>
            </c:numRef>
          </c:bubbleSize>
          <c:bubble3D val="0"/>
        </c:ser>
        <c:ser>
          <c:idx val="4"/>
          <c:order val="4"/>
          <c:tx>
            <c:strRef>
              <c:strCache>
                <c:ptCount val="1"/>
                <c:pt idx="0">
                  <c:v>Online Marketplaces</c:v>
                </c:pt>
              </c:strCache>
            </c:strRef>
          </c:tx>
          <c:spPr>
            <a:solidFill>
              <a:srgbClr val="A35313"/>
            </a:solidFill>
          </c:spPr>
          <c:invertIfNegative val="0"/>
          <c:xVal>
            <c:numRef>
              <c:numCache>
                <c:formatCode>General</c:formatCode>
                <c:ptCount val="1"/>
                <c:pt idx="0">
                  <c:v>120.36227439123348</c:v>
                </c:pt>
              </c:numCache>
            </c:numRef>
          </c:xVal>
          <c:yVal>
            <c:numRef>
              <c:numCache>
                <c:formatCode>General</c:formatCode>
                <c:ptCount val="1"/>
                <c:pt idx="0">
                  <c:v>110.93007436561739</c:v>
                </c:pt>
              </c:numCache>
            </c:numRef>
          </c:yVal>
          <c:bubbleSize>
            <c:numRef>
              <c:numCache>
                <c:formatCode>General</c:formatCode>
                <c:ptCount val="1"/>
                <c:pt idx="0">
                  <c:v>6437.5</c:v>
                </c:pt>
              </c:numCache>
            </c:numRef>
          </c:bubbleSize>
          <c:bubble3D val="0"/>
        </c:ser>
        <c:ser>
          <c:idx val="5"/>
          <c:order val="5"/>
          <c:tx>
            <c:strRef>
              <c:strCache>
                <c:ptCount val="1"/>
                <c:pt idx="0">
                  <c:v>Brand-owned Online Stores</c:v>
                </c:pt>
              </c:strCache>
            </c:strRef>
          </c:tx>
          <c:spPr>
            <a:solidFill>
              <a:srgbClr val="808080"/>
            </a:solidFill>
          </c:spPr>
          <c:invertIfNegative val="0"/>
          <c:xVal>
            <c:numRef>
              <c:numCache>
                <c:formatCode>General</c:formatCode>
                <c:ptCount val="1"/>
                <c:pt idx="0">
                  <c:v>113.28795493207518</c:v>
                </c:pt>
              </c:numCache>
            </c:numRef>
          </c:xVal>
          <c:yVal>
            <c:numRef>
              <c:numCache>
                <c:formatCode>General</c:formatCode>
                <c:ptCount val="1"/>
                <c:pt idx="0">
                  <c:v>76.41856935095487</c:v>
                </c:pt>
              </c:numCache>
            </c:numRef>
          </c:yVal>
          <c:bubbleSize>
            <c:numRef>
              <c:numCache>
                <c:formatCode>General</c:formatCode>
                <c:ptCount val="1"/>
                <c:pt idx="0">
                  <c:v>4245.078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6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3173.415</c:v>
                </c:pt>
                <c:pt idx="2">
                  <c:v>3481.777</c:v>
                </c:pt>
                <c:pt idx="3">
                  <c:v>3859.542</c:v>
                </c:pt>
                <c:pt idx="4">
                  <c:v>4285.791</c:v>
                </c:pt>
                <c:pt idx="5">
                  <c:v>4786.138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3173.415</c:v>
                </c:pt>
                <c:pt idx="1">
                  <c:v>308.3620000000001</c:v>
                </c:pt>
                <c:pt idx="2">
                  <c:v>377.7649999999999</c:v>
                </c:pt>
                <c:pt idx="3">
                  <c:v>426.24900000000025</c:v>
                </c:pt>
                <c:pt idx="4">
                  <c:v>500.34699999999975</c:v>
                </c:pt>
                <c:pt idx="5">
                  <c:v>561.7139999999999</c:v>
                </c:pt>
                <c:pt idx="6">
                  <c:v>5347.852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2510.197</c:v>
                </c:pt>
                <c:pt idx="2">
                  <c:v>2825.605</c:v>
                </c:pt>
                <c:pt idx="3">
                  <c:v>3218.46</c:v>
                </c:pt>
                <c:pt idx="4">
                  <c:v>3693.135</c:v>
                </c:pt>
                <c:pt idx="5">
                  <c:v>4252.179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2510.197</c:v>
                </c:pt>
                <c:pt idx="1">
                  <c:v>315.4079999999999</c:v>
                </c:pt>
                <c:pt idx="2">
                  <c:v>392.855</c:v>
                </c:pt>
                <c:pt idx="3">
                  <c:v>474.6750000000002</c:v>
                </c:pt>
                <c:pt idx="4">
                  <c:v>559.0439999999999</c:v>
                </c:pt>
                <c:pt idx="5">
                  <c:v>642.54</c:v>
                </c:pt>
                <c:pt idx="6">
                  <c:v>4894.719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2970.654</c:v>
                </c:pt>
                <c:pt idx="2">
                  <c:v>3319.459</c:v>
                </c:pt>
                <c:pt idx="3">
                  <c:v>3744.001</c:v>
                </c:pt>
                <c:pt idx="4">
                  <c:v>4241.039</c:v>
                </c:pt>
                <c:pt idx="5">
                  <c:v>4825.174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2970.654</c:v>
                </c:pt>
                <c:pt idx="1">
                  <c:v>348.80499999999984</c:v>
                </c:pt>
                <c:pt idx="2">
                  <c:v>424.54200000000037</c:v>
                </c:pt>
                <c:pt idx="3">
                  <c:v>497.03799999999956</c:v>
                </c:pt>
                <c:pt idx="4">
                  <c:v>584.1350000000002</c:v>
                </c:pt>
                <c:pt idx="5">
                  <c:v>667.1379999999999</c:v>
                </c:pt>
                <c:pt idx="6">
                  <c:v>5492.312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2422.925</c:v>
                </c:pt>
                <c:pt idx="2">
                  <c:v>2671.029</c:v>
                </c:pt>
                <c:pt idx="3">
                  <c:v>2988.238</c:v>
                </c:pt>
                <c:pt idx="4">
                  <c:v>3365.903</c:v>
                </c:pt>
                <c:pt idx="5">
                  <c:v>3791.101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2422.925</c:v>
                </c:pt>
                <c:pt idx="1">
                  <c:v>248.10399999999981</c:v>
                </c:pt>
                <c:pt idx="2">
                  <c:v>317.20899999999983</c:v>
                </c:pt>
                <c:pt idx="3">
                  <c:v>377.66499999999996</c:v>
                </c:pt>
                <c:pt idx="4">
                  <c:v>425.1980000000003</c:v>
                </c:pt>
                <c:pt idx="5">
                  <c:v>478.7729999999997</c:v>
                </c:pt>
                <c:pt idx="6">
                  <c:v>4269.874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2977.801</c:v>
                </c:pt>
                <c:pt idx="2">
                  <c:v>3372.069</c:v>
                </c:pt>
                <c:pt idx="3">
                  <c:v>3900.499</c:v>
                </c:pt>
                <c:pt idx="4">
                  <c:v>4611.141</c:v>
                </c:pt>
                <c:pt idx="5">
                  <c:v>5456.943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2977.801</c:v>
                </c:pt>
                <c:pt idx="1">
                  <c:v>394.26800000000003</c:v>
                </c:pt>
                <c:pt idx="2">
                  <c:v>528.4299999999998</c:v>
                </c:pt>
                <c:pt idx="3">
                  <c:v>710.6419999999998</c:v>
                </c:pt>
                <c:pt idx="4">
                  <c:v>845.8020000000006</c:v>
                </c:pt>
                <c:pt idx="5">
                  <c:v>980.5569999999998</c:v>
                </c:pt>
                <c:pt idx="6">
                  <c:v>6437.5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2051.376</c:v>
                </c:pt>
                <c:pt idx="2">
                  <c:v>2302.155</c:v>
                </c:pt>
                <c:pt idx="3">
                  <c:v>2648.059</c:v>
                </c:pt>
                <c:pt idx="4">
                  <c:v>3091.218</c:v>
                </c:pt>
                <c:pt idx="5">
                  <c:v>3623.458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2051.376</c:v>
                </c:pt>
                <c:pt idx="1">
                  <c:v>250.779</c:v>
                </c:pt>
                <c:pt idx="2">
                  <c:v>345.904</c:v>
                </c:pt>
                <c:pt idx="3">
                  <c:v>443.15899999999965</c:v>
                </c:pt>
                <c:pt idx="4">
                  <c:v>532.2400000000002</c:v>
                </c:pt>
                <c:pt idx="5">
                  <c:v>621.6200000000003</c:v>
                </c:pt>
                <c:pt idx="6">
                  <c:v>4245.078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Online Marketplaces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18.424024922825414</c:v>
                </c:pt>
                <c:pt idx="1">
                  <c:v>18.488345727602894</c:v>
                </c:pt>
                <c:pt idx="2">
                  <c:v>20.977709533916844</c:v>
                </c:pt>
              </c:numCache>
            </c:numRef>
          </c:val>
        </c:ser>
        <c:ser>
          <c:idx val="1"/>
          <c:order val="1"/>
          <c:tx>
            <c:strRef>
              <c:strCache>
                <c:ptCount val="1"/>
                <c:pt idx="0">
                  <c:v>Salon and Professional Distribution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18.126605097627788</c:v>
                </c:pt>
                <c:pt idx="1">
                  <c:v>18.443971974314756</c:v>
                </c:pt>
                <c:pt idx="2">
                  <c:v>17.89765061058577</c:v>
                </c:pt>
              </c:numCache>
            </c:numRef>
          </c:val>
        </c:ser>
        <c:ser>
          <c:idx val="2"/>
          <c:order val="2"/>
          <c:tx>
            <c:strRef>
              <c:strCache>
                <c:ptCount val="1"/>
                <c:pt idx="0">
                  <c:v>Mass Retail</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20.06099804626474</c:v>
                </c:pt>
                <c:pt idx="1">
                  <c:v>19.702859142421183</c:v>
                </c:pt>
                <c:pt idx="2">
                  <c:v>17.42690266196136</c:v>
                </c:pt>
              </c:numCache>
            </c:numRef>
          </c:val>
        </c:ser>
        <c:ser>
          <c:idx val="3"/>
          <c:order val="3"/>
          <c:tx>
            <c:strRef>
              <c:strCache>
                <c:ptCount val="1"/>
                <c:pt idx="0">
                  <c:v>Beauty Specialty Retail</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15.301779746974209</c:v>
                </c:pt>
                <c:pt idx="1">
                  <c:v>15.585121363177596</c:v>
                </c:pt>
                <c:pt idx="2">
                  <c:v>15.950290241886433</c:v>
                </c:pt>
              </c:numCache>
            </c:numRef>
          </c:val>
        </c:ser>
        <c:ser>
          <c:idx val="4"/>
          <c:order val="4"/>
          <c:tx>
            <c:strRef>
              <c:strCache>
                <c:ptCount val="1"/>
                <c:pt idx="0">
                  <c:v>Pharmacies and Drugstores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15.268476127356434</c:v>
                </c:pt>
                <c:pt idx="1">
                  <c:v>15.043273567324428</c:v>
                </c:pt>
                <c:pt idx="2">
                  <c:v>13.914124507716293</c:v>
                </c:pt>
              </c:numCache>
            </c:numRef>
          </c:val>
        </c:ser>
        <c:ser>
          <c:idx val="5"/>
          <c:order val="5"/>
          <c:tx>
            <c:strRef>
              <c:strCache>
                <c:ptCount val="1"/>
                <c:pt idx="0">
                  <c:v>Brand-owned Online Stores</c:v>
                </c:pt>
              </c:strCache>
            </c:strRef>
          </c:tx>
          <c:spPr>
            <a:solidFill>
              <a:srgbClr val="808080"/>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12.818116058951414</c:v>
                </c:pt>
                <c:pt idx="1">
                  <c:v>12.736428225159143</c:v>
                </c:pt>
                <c:pt idx="2">
                  <c:v>13.833322443933305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Hold and Shape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13.040013421692814</c:v>
                </c:pt>
                <c:pt idx="1">
                  <c:v>12.222075019277465</c:v>
                </c:pt>
                <c:pt idx="2">
                  <c:v>14.373353567747108</c:v>
                </c:pt>
                <c:pt idx="3">
                  <c:v>13.480438546411328</c:v>
                </c:pt>
                <c:pt idx="4">
                  <c:v>12.682399266695546</c:v>
                </c:pt>
                <c:pt idx="5">
                  <c:v>12.805467521133702</c:v>
                </c:pt>
              </c:numCache>
            </c:numRef>
          </c:val>
        </c:ser>
        <c:ser>
          <c:idx val="1"/>
          <c:order val="1"/>
          <c:tx>
            <c:strRef>
              <c:strCache>
                <c:ptCount val="1"/>
                <c:pt idx="0">
                  <c:v>Curl Definition</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17.05063955685793</c:v>
                </c:pt>
                <c:pt idx="1">
                  <c:v>19.433393370823907</c:v>
                </c:pt>
                <c:pt idx="2">
                  <c:v>16.735970594348785</c:v>
                </c:pt>
                <c:pt idx="3">
                  <c:v>16.185477765504572</c:v>
                </c:pt>
                <c:pt idx="4">
                  <c:v>15.279215077409859</c:v>
                </c:pt>
                <c:pt idx="5">
                  <c:v>18.022737236342454</c:v>
                </c:pt>
              </c:numCache>
            </c:numRef>
          </c:val>
        </c:ser>
        <c:ser>
          <c:idx val="2"/>
          <c:order val="2"/>
          <c:tx>
            <c:strRef>
              <c:strCache>
                <c:ptCount val="1"/>
                <c:pt idx="0">
                  <c:v>Volume and Root Lift</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12.627136136871108</c:v>
                </c:pt>
                <c:pt idx="1">
                  <c:v>11.897794430258893</c:v>
                </c:pt>
                <c:pt idx="2">
                  <c:v>12.896548908317317</c:v>
                </c:pt>
                <c:pt idx="3">
                  <c:v>13.126411763245752</c:v>
                </c:pt>
                <c:pt idx="4">
                  <c:v>14.174375183200821</c:v>
                </c:pt>
                <c:pt idx="5">
                  <c:v>13.470699112106377</c:v>
                </c:pt>
              </c:numCache>
            </c:numRef>
          </c:val>
        </c:ser>
        <c:ser>
          <c:idx val="3"/>
          <c:order val="3"/>
          <c:tx>
            <c:strRef>
              <c:strCache>
                <c:ptCount val="1"/>
                <c:pt idx="0">
                  <c:v>Texture and Separation</c:v>
                </c:pt>
              </c:strCache>
            </c:strRef>
          </c:tx>
          <c:spPr>
            <a:solidFill>
              <a:srgbClr val="40315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13.303027703919721</c:v>
                </c:pt>
                <c:pt idx="1">
                  <c:v>12.52302019241595</c:v>
                </c:pt>
                <c:pt idx="2">
                  <c:v>13.585187094092143</c:v>
                </c:pt>
                <c:pt idx="3">
                  <c:v>14.30870530450647</c:v>
                </c:pt>
                <c:pt idx="4">
                  <c:v>14.341650945075285</c:v>
                </c:pt>
                <c:pt idx="5">
                  <c:v>13.039357793486495</c:v>
                </c:pt>
              </c:numCache>
            </c:numRef>
          </c:val>
        </c:ser>
        <c:ser>
          <c:idx val="4"/>
          <c:order val="4"/>
          <c:tx>
            <c:strRef>
              <c:strCache>
                <c:ptCount val="1"/>
                <c:pt idx="0">
                  <c:v>Smoothing and Frizz Control</c:v>
                </c:pt>
              </c:strCache>
            </c:strRef>
          </c:tx>
          <c:spPr>
            <a:solidFill>
              <a:srgbClr val="A35313"/>
            </a:solidFill>
            <a:ln>
              <a:noFill/>
            </a:ln>
          </c:spPr>
          <c:dLbls>
            <c:dLbl>
              <c:idx val="0"/>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17.36511622865513</c:v>
                </c:pt>
                <c:pt idx="1">
                  <c:v>18.658920397817337</c:v>
                </c:pt>
                <c:pt idx="2">
                  <c:v>16.825079431739606</c:v>
                </c:pt>
                <c:pt idx="3">
                  <c:v>17.122031418713462</c:v>
                </c:pt>
                <c:pt idx="4">
                  <c:v>17.10936637606835</c:v>
                </c:pt>
                <c:pt idx="5">
                  <c:v>16.869624896111148</c:v>
                </c:pt>
              </c:numCache>
            </c:numRef>
          </c:val>
        </c:ser>
        <c:ser>
          <c:idx val="5"/>
          <c:order val="5"/>
          <c:tx>
            <c:strRef>
              <c:strCache>
                <c:ptCount val="1"/>
                <c:pt idx="0">
                  <c:v>Sleek Styling and Edge Control</c:v>
                </c:pt>
              </c:strCache>
            </c:strRef>
          </c:tx>
          <c:spPr>
            <a:solidFill>
              <a:srgbClr val="808080"/>
            </a:solidFill>
            <a:ln>
              <a:noFill/>
            </a:ln>
          </c:spPr>
          <c:dLbls>
            <c:dLbl>
              <c:idx val="0"/>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10.853474512450413</c:v>
                </c:pt>
                <c:pt idx="1">
                  <c:v>10.904174553172956</c:v>
                </c:pt>
                <c:pt idx="2">
                  <c:v>10.416984817826643</c:v>
                </c:pt>
                <c:pt idx="3">
                  <c:v>10.568114473831182</c:v>
                </c:pt>
                <c:pt idx="4">
                  <c:v>10.018015202471524</c:v>
                </c:pt>
                <c:pt idx="5">
                  <c:v>10.115336677320034</c:v>
                </c:pt>
              </c:numCache>
            </c:numRef>
          </c:val>
        </c:ser>
        <c:ser>
          <c:idx val="6"/>
          <c:order val="6"/>
          <c:tx>
            <c:strRef>
              <c:strCache>
                <c:ptCount val="1"/>
                <c:pt idx="0">
                  <c:v>Heat Styling Support</c:v>
                </c:pt>
              </c:strCache>
            </c:strRef>
          </c:tx>
          <c:spPr>
            <a:solidFill>
              <a:srgbClr val="0E72AE"/>
            </a:solidFill>
            <a:ln>
              <a:noFill/>
            </a:ln>
          </c:spPr>
          <c:dLbls>
            <c:dLbl>
              <c:idx val="0"/>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15.760592439552903</c:v>
                </c:pt>
                <c:pt idx="1">
                  <c:v>14.360622036233467</c:v>
                </c:pt>
                <c:pt idx="2">
                  <c:v>15.166875585928386</c:v>
                </c:pt>
                <c:pt idx="3">
                  <c:v>15.208820727787224</c:v>
                </c:pt>
                <c:pt idx="4">
                  <c:v>16.39497794907862</c:v>
                </c:pt>
                <c:pt idx="5">
                  <c:v>15.6767767634998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Hold and Shape</c:v>
                </c:pt>
              </c:strCache>
            </c:strRef>
          </c:tx>
          <c:spPr>
            <a:solidFill>
              <a:srgbClr val="3D85C6"/>
            </a:solidFill>
          </c:spPr>
          <c:invertIfNegative val="0"/>
          <c:xVal>
            <c:numRef>
              <c:numCache>
                <c:formatCode>General</c:formatCode>
                <c:ptCount val="1"/>
                <c:pt idx="0">
                  <c:v>75.19371174482498</c:v>
                </c:pt>
              </c:numCache>
            </c:numRef>
          </c:xVal>
          <c:yVal>
            <c:numRef>
              <c:numCache>
                <c:formatCode>General</c:formatCode>
                <c:ptCount val="1"/>
                <c:pt idx="0">
                  <c:v>106.72386805492908</c:v>
                </c:pt>
              </c:numCache>
            </c:numRef>
          </c:yVal>
          <c:bubbleSize>
            <c:numRef>
              <c:numCache>
                <c:formatCode>General</c:formatCode>
                <c:ptCount val="1"/>
                <c:pt idx="0">
                  <c:v>4002.575</c:v>
                </c:pt>
              </c:numCache>
            </c:numRef>
          </c:bubbleSize>
          <c:bubble3D val="0"/>
        </c:ser>
        <c:ser>
          <c:idx val="1"/>
          <c:order val="1"/>
          <c:tx>
            <c:strRef>
              <c:strCache>
                <c:ptCount val="1"/>
                <c:pt idx="0">
                  <c:v>Curl Definition</c:v>
                </c:pt>
              </c:strCache>
            </c:strRef>
          </c:tx>
          <c:spPr>
            <a:solidFill>
              <a:srgbClr val="9E7E0A"/>
            </a:solidFill>
          </c:spPr>
          <c:invertIfNegative val="0"/>
          <c:xVal>
            <c:numRef>
              <c:numCache>
                <c:formatCode>General</c:formatCode>
                <c:ptCount val="1"/>
                <c:pt idx="0">
                  <c:v>122.58682575713549</c:v>
                </c:pt>
              </c:numCache>
            </c:numRef>
          </c:xVal>
          <c:yVal>
            <c:numRef>
              <c:numCache>
                <c:formatCode>General</c:formatCode>
                <c:ptCount val="1"/>
                <c:pt idx="0">
                  <c:v>102.97861051115869</c:v>
                </c:pt>
              </c:numCache>
            </c:numRef>
          </c:yVal>
          <c:bubbleSize>
            <c:numRef>
              <c:numCache>
                <c:formatCode>General</c:formatCode>
                <c:ptCount val="1"/>
                <c:pt idx="0">
                  <c:v>5193.017</c:v>
                </c:pt>
              </c:numCache>
            </c:numRef>
          </c:bubbleSize>
          <c:bubble3D val="0"/>
        </c:ser>
        <c:ser>
          <c:idx val="2"/>
          <c:order val="2"/>
          <c:tx>
            <c:strRef>
              <c:strCache>
                <c:ptCount val="1"/>
                <c:pt idx="0">
                  <c:v>Volume and Root Lift</c:v>
                </c:pt>
              </c:strCache>
            </c:strRef>
          </c:tx>
          <c:spPr>
            <a:solidFill>
              <a:srgbClr val="008189"/>
            </a:solidFill>
          </c:spPr>
          <c:invertIfNegative val="0"/>
          <c:xVal>
            <c:numRef>
              <c:numCache>
                <c:formatCode>General</c:formatCode>
                <c:ptCount val="1"/>
                <c:pt idx="0">
                  <c:v>89.88983800926806</c:v>
                </c:pt>
              </c:numCache>
            </c:numRef>
          </c:xVal>
          <c:yVal>
            <c:numRef>
              <c:numCache>
                <c:formatCode>General</c:formatCode>
                <c:ptCount val="1"/>
                <c:pt idx="0">
                  <c:v>99.32027510359413</c:v>
                </c:pt>
              </c:numCache>
            </c:numRef>
          </c:yVal>
          <c:bubbleSize>
            <c:numRef>
              <c:numCache>
                <c:formatCode>General</c:formatCode>
                <c:ptCount val="1"/>
                <c:pt idx="0">
                  <c:v>4086.962</c:v>
                </c:pt>
              </c:numCache>
            </c:numRef>
          </c:bubbleSize>
          <c:bubble3D val="0"/>
        </c:ser>
        <c:ser>
          <c:idx val="3"/>
          <c:order val="3"/>
          <c:tx>
            <c:strRef>
              <c:strCache>
                <c:ptCount val="1"/>
                <c:pt idx="0">
                  <c:v>Texture and Separation</c:v>
                </c:pt>
              </c:strCache>
            </c:strRef>
          </c:tx>
          <c:spPr>
            <a:solidFill>
              <a:srgbClr val="40315E"/>
            </a:solidFill>
          </c:spPr>
          <c:invertIfNegative val="0"/>
          <c:xVal>
            <c:numRef>
              <c:numCache>
                <c:formatCode>General</c:formatCode>
                <c:ptCount val="1"/>
                <c:pt idx="0">
                  <c:v>97.64046597365572</c:v>
                </c:pt>
              </c:numCache>
            </c:numRef>
          </c:xVal>
          <c:yVal>
            <c:numRef>
              <c:numCache>
                <c:formatCode>General</c:formatCode>
                <c:ptCount val="1"/>
                <c:pt idx="0">
                  <c:v>96.76185240757866</c:v>
                </c:pt>
              </c:numCache>
            </c:numRef>
          </c:yVal>
          <c:bubbleSize>
            <c:numRef>
              <c:numCache>
                <c:formatCode>General</c:formatCode>
                <c:ptCount val="1"/>
                <c:pt idx="0">
                  <c:v>4179.874</c:v>
                </c:pt>
              </c:numCache>
            </c:numRef>
          </c:bubbleSize>
          <c:bubble3D val="0"/>
        </c:ser>
        <c:ser>
          <c:idx val="4"/>
          <c:order val="4"/>
          <c:tx>
            <c:strRef>
              <c:strCache>
                <c:ptCount val="1"/>
                <c:pt idx="0">
                  <c:v>Smoothing and Frizz Control</c:v>
                </c:pt>
              </c:strCache>
            </c:strRef>
          </c:tx>
          <c:spPr>
            <a:solidFill>
              <a:srgbClr val="A35313"/>
            </a:solidFill>
          </c:spPr>
          <c:invertIfNegative val="0"/>
          <c:xVal>
            <c:numRef>
              <c:numCache>
                <c:formatCode>General</c:formatCode>
                <c:ptCount val="1"/>
                <c:pt idx="0">
                  <c:v>108.3617767208525</c:v>
                </c:pt>
              </c:numCache>
            </c:numRef>
          </c:xVal>
          <c:yVal>
            <c:numRef>
              <c:numCache>
                <c:formatCode>General</c:formatCode>
                <c:ptCount val="1"/>
                <c:pt idx="0">
                  <c:v>114.06422515217427</c:v>
                </c:pt>
              </c:numCache>
            </c:numRef>
          </c:yVal>
          <c:bubbleSize>
            <c:numRef>
              <c:numCache>
                <c:formatCode>General</c:formatCode>
                <c:ptCount val="1"/>
                <c:pt idx="0">
                  <c:v>5267.721</c:v>
                </c:pt>
              </c:numCache>
            </c:numRef>
          </c:bubbleSize>
          <c:bubble3D val="0"/>
        </c:ser>
        <c:ser>
          <c:idx val="5"/>
          <c:order val="5"/>
          <c:tx>
            <c:strRef>
              <c:strCache>
                <c:ptCount val="1"/>
                <c:pt idx="0">
                  <c:v>Sleek Styling and Edge Control</c:v>
                </c:pt>
              </c:strCache>
            </c:strRef>
          </c:tx>
          <c:spPr>
            <a:solidFill>
              <a:srgbClr val="808080"/>
            </a:solidFill>
          </c:spPr>
          <c:invertIfNegative val="0"/>
          <c:xVal>
            <c:numRef>
              <c:numCache>
                <c:formatCode>General</c:formatCode>
                <c:ptCount val="1"/>
                <c:pt idx="0">
                  <c:v>83.18442002177446</c:v>
                </c:pt>
              </c:numCache>
            </c:numRef>
          </c:xVal>
          <c:yVal>
            <c:numRef>
              <c:numCache>
                <c:formatCode>General</c:formatCode>
                <c:ptCount val="1"/>
                <c:pt idx="0">
                  <c:v>80.33682824477697</c:v>
                </c:pt>
              </c:numCache>
            </c:numRef>
          </c:yVal>
          <c:bubbleSize>
            <c:numRef>
              <c:numCache>
                <c:formatCode>General</c:formatCode>
                <c:ptCount val="1"/>
                <c:pt idx="0">
                  <c:v>3169.151</c:v>
                </c:pt>
              </c:numCache>
            </c:numRef>
          </c:bubbleSize>
          <c:bubble3D val="0"/>
        </c:ser>
        <c:ser>
          <c:idx val="6"/>
          <c:order val="6"/>
          <c:tx>
            <c:strRef>
              <c:strCache>
                <c:ptCount val="1"/>
                <c:pt idx="0">
                  <c:v>Heat Styling Support</c:v>
                </c:pt>
              </c:strCache>
            </c:strRef>
          </c:tx>
          <c:spPr>
            <a:solidFill>
              <a:srgbClr val="0E72AE"/>
            </a:solidFill>
          </c:spPr>
          <c:invertIfNegative val="0"/>
          <c:xVal>
            <c:numRef>
              <c:numCache>
                <c:formatCode>General</c:formatCode>
                <c:ptCount val="1"/>
                <c:pt idx="0">
                  <c:v>114.4874594916266</c:v>
                </c:pt>
              </c:numCache>
            </c:numRef>
          </c:xVal>
          <c:yVal>
            <c:numRef>
              <c:numCache>
                <c:formatCode>General</c:formatCode>
                <c:ptCount val="1"/>
                <c:pt idx="0">
                  <c:v>99.8143405257883</c:v>
                </c:pt>
              </c:numCache>
            </c:numRef>
          </c:yVal>
          <c:bubbleSize>
            <c:numRef>
              <c:numCache>
                <c:formatCode>General</c:formatCode>
                <c:ptCount val="1"/>
                <c:pt idx="0">
                  <c:v>4788.033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2455.62</c:v>
                </c:pt>
                <c:pt idx="2">
                  <c:v>2682.411</c:v>
                </c:pt>
                <c:pt idx="3">
                  <c:v>2957.936</c:v>
                </c:pt>
                <c:pt idx="4">
                  <c:v>3262.065</c:v>
                </c:pt>
                <c:pt idx="5">
                  <c:v>3612.414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2455.62</c:v>
                </c:pt>
                <c:pt idx="1">
                  <c:v>226.79100000000017</c:v>
                </c:pt>
                <c:pt idx="2">
                  <c:v>275.5250000000001</c:v>
                </c:pt>
                <c:pt idx="3">
                  <c:v>304.1289999999999</c:v>
                </c:pt>
                <c:pt idx="4">
                  <c:v>350.34900000000016</c:v>
                </c:pt>
                <c:pt idx="5">
                  <c:v>390.1609999999996</c:v>
                </c:pt>
                <c:pt idx="6">
                  <c:v>4002.575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2369.445</c:v>
                </c:pt>
                <c:pt idx="2">
                  <c:v>2694.65</c:v>
                </c:pt>
                <c:pt idx="3">
                  <c:v>3130.611</c:v>
                </c:pt>
                <c:pt idx="4">
                  <c:v>3712.133</c:v>
                </c:pt>
                <c:pt idx="5">
                  <c:v>4398.916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2369.445</c:v>
                </c:pt>
                <c:pt idx="1">
                  <c:v>325.2049999999999</c:v>
                </c:pt>
                <c:pt idx="2">
                  <c:v>435.9609999999998</c:v>
                </c:pt>
                <c:pt idx="3">
                  <c:v>581.5219999999999</c:v>
                </c:pt>
                <c:pt idx="4">
                  <c:v>686.7830000000004</c:v>
                </c:pt>
                <c:pt idx="5">
                  <c:v>794.1009999999997</c:v>
                </c:pt>
                <c:pt idx="6">
                  <c:v>5193.017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2285.27</c:v>
                </c:pt>
                <c:pt idx="2">
                  <c:v>2548.217</c:v>
                </c:pt>
                <c:pt idx="3">
                  <c:v>2861.189</c:v>
                </c:pt>
                <c:pt idx="4">
                  <c:v>3221.055</c:v>
                </c:pt>
                <c:pt idx="5">
                  <c:v>3628.921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2285.27</c:v>
                </c:pt>
                <c:pt idx="1">
                  <c:v>262.9470000000001</c:v>
                </c:pt>
                <c:pt idx="2">
                  <c:v>312.97199999999975</c:v>
                </c:pt>
                <c:pt idx="3">
                  <c:v>359.866</c:v>
                </c:pt>
                <c:pt idx="4">
                  <c:v>407.866</c:v>
                </c:pt>
                <c:pt idx="5">
                  <c:v>458.04100000000017</c:v>
                </c:pt>
                <c:pt idx="6">
                  <c:v>4086.962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2226.403</c:v>
                </c:pt>
                <c:pt idx="2">
                  <c:v>2498.444</c:v>
                </c:pt>
                <c:pt idx="3">
                  <c:v>2831.067</c:v>
                </c:pt>
                <c:pt idx="4">
                  <c:v>3215.163</c:v>
                </c:pt>
                <c:pt idx="5">
                  <c:v>3665.272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2226.403</c:v>
                </c:pt>
                <c:pt idx="1">
                  <c:v>272.04100000000017</c:v>
                </c:pt>
                <c:pt idx="2">
                  <c:v>332.62300000000005</c:v>
                </c:pt>
                <c:pt idx="3">
                  <c:v>384.096</c:v>
                </c:pt>
                <c:pt idx="4">
                  <c:v>450.1089999999999</c:v>
                </c:pt>
                <c:pt idx="5">
                  <c:v>514.6019999999999</c:v>
                </c:pt>
                <c:pt idx="6">
                  <c:v>4179.874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2624.515</c:v>
                </c:pt>
                <c:pt idx="2">
                  <c:v>2925.097</c:v>
                </c:pt>
                <c:pt idx="3">
                  <c:v>3340.973</c:v>
                </c:pt>
                <c:pt idx="4">
                  <c:v>3872.997</c:v>
                </c:pt>
                <c:pt idx="5">
                  <c:v>4516.447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2624.515</c:v>
                </c:pt>
                <c:pt idx="1">
                  <c:v>300.58200000000033</c:v>
                </c:pt>
                <c:pt idx="2">
                  <c:v>415.87599999999975</c:v>
                </c:pt>
                <c:pt idx="3">
                  <c:v>532.0239999999999</c:v>
                </c:pt>
                <c:pt idx="4">
                  <c:v>643.4500000000003</c:v>
                </c:pt>
                <c:pt idx="5">
                  <c:v>751.2739999999994</c:v>
                </c:pt>
                <c:pt idx="6">
                  <c:v>5267.721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1848.478</c:v>
                </c:pt>
                <c:pt idx="2">
                  <c:v>2029.235</c:v>
                </c:pt>
                <c:pt idx="3">
                  <c:v>2262.479</c:v>
                </c:pt>
                <c:pt idx="4">
                  <c:v>2536.876</c:v>
                </c:pt>
                <c:pt idx="5">
                  <c:v>2836.169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1848.478</c:v>
                </c:pt>
                <c:pt idx="1">
                  <c:v>180.75699999999983</c:v>
                </c:pt>
                <c:pt idx="2">
                  <c:v>233.24399999999991</c:v>
                </c:pt>
                <c:pt idx="3">
                  <c:v>274.3970000000004</c:v>
                </c:pt>
                <c:pt idx="4">
                  <c:v>299.29299999999967</c:v>
                </c:pt>
                <c:pt idx="5">
                  <c:v>332.98199999999997</c:v>
                </c:pt>
                <c:pt idx="6">
                  <c:v>3169.151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2296.638</c:v>
                </c:pt>
                <c:pt idx="2">
                  <c:v>2594.04</c:v>
                </c:pt>
                <c:pt idx="3">
                  <c:v>2974.545</c:v>
                </c:pt>
                <c:pt idx="4">
                  <c:v>3467.937</c:v>
                </c:pt>
                <c:pt idx="5">
                  <c:v>4076.855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2296.638</c:v>
                </c:pt>
                <c:pt idx="1">
                  <c:v>297.40200000000004</c:v>
                </c:pt>
                <c:pt idx="2">
                  <c:v>380.5050000000001</c:v>
                </c:pt>
                <c:pt idx="3">
                  <c:v>493.3919999999998</c:v>
                </c:pt>
                <c:pt idx="4">
                  <c:v>608.9180000000001</c:v>
                </c:pt>
                <c:pt idx="5">
                  <c:v>711.1780000000003</c:v>
                </c:pt>
                <c:pt idx="6">
                  <c:v>4788.033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Smoothing and Frizz Control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16.766986119327804</c:v>
                </c:pt>
                <c:pt idx="1">
                  <c:v>16.294889307453467</c:v>
                </c:pt>
                <c:pt idx="2">
                  <c:v>17.165783028456723</c:v>
                </c:pt>
              </c:numCache>
            </c:numRef>
          </c:val>
        </c:ser>
        <c:ser>
          <c:idx val="1"/>
          <c:order val="1"/>
          <c:tx>
            <c:strRef>
              <c:strCache>
                <c:ptCount val="1"/>
                <c:pt idx="0">
                  <c:v>Curl Definition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14.51103575652647</c:v>
                </c:pt>
                <c:pt idx="1">
                  <c:v>14.71123007302267</c:v>
                </c:pt>
                <c:pt idx="2">
                  <c:v>16.92234708047128</c:v>
                </c:pt>
              </c:numCache>
            </c:numRef>
          </c:val>
        </c:ser>
        <c:ser>
          <c:idx val="2"/>
          <c:order val="2"/>
          <c:tx>
            <c:strRef>
              <c:strCache>
                <c:ptCount val="1"/>
                <c:pt idx="0">
                  <c:v>Heat Styling Support</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13.838117568262017</c:v>
                </c:pt>
                <c:pt idx="1">
                  <c:v>14.25919150368404</c:v>
                </c:pt>
                <c:pt idx="2">
                  <c:v>15.602636436343298</c:v>
                </c:pt>
              </c:numCache>
            </c:numRef>
          </c:val>
        </c:ser>
        <c:ser>
          <c:idx val="3"/>
          <c:order val="3"/>
          <c:tx>
            <c:strRef>
              <c:strCache>
                <c:ptCount val="1"/>
                <c:pt idx="0">
                  <c:v>Texture and Separation</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13.389281876770124</c:v>
                </c:pt>
                <c:pt idx="1">
                  <c:v>13.823121772511234</c:v>
                </c:pt>
                <c:pt idx="2">
                  <c:v>13.620844796124837</c:v>
                </c:pt>
              </c:numCache>
            </c:numRef>
          </c:val>
        </c:ser>
        <c:ser>
          <c:idx val="4"/>
          <c:order val="4"/>
          <c:tx>
            <c:strRef>
              <c:strCache>
                <c:ptCount val="1"/>
                <c:pt idx="0">
                  <c:v>Volume and Root Lift</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14.087193200017085</c:v>
                </c:pt>
                <c:pt idx="1">
                  <c:v>14.188610729084875</c:v>
                </c:pt>
                <c:pt idx="2">
                  <c:v>13.318074920358832</c:v>
                </c:pt>
              </c:numCache>
            </c:numRef>
          </c:val>
        </c:ser>
        <c:ser>
          <c:idx val="5"/>
          <c:order val="5"/>
          <c:tx>
            <c:strRef>
              <c:strCache>
                <c:ptCount val="1"/>
                <c:pt idx="0">
                  <c:v>Hold and Shape</c:v>
                </c:pt>
              </c:strCache>
            </c:strRef>
          </c:tx>
          <c:spPr>
            <a:solidFill>
              <a:srgbClr val="80808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15.6595019165772</c:v>
                </c:pt>
                <c:pt idx="1">
                  <c:v>15.246266864989868</c:v>
                </c:pt>
                <c:pt idx="2">
                  <c:v>13.043085236504586</c:v>
                </c:pt>
              </c:numCache>
            </c:numRef>
          </c:val>
        </c:ser>
        <c:ser>
          <c:idx val="6"/>
          <c:order val="6"/>
          <c:tx>
            <c:strRef>
              <c:strCache>
                <c:ptCount val="1"/>
                <c:pt idx="0">
                  <c:v>Sleek Styling and Edge Control</c:v>
                </c:pt>
              </c:strCache>
            </c:strRef>
          </c:tx>
          <c:spPr>
            <a:solidFill>
              <a:srgbClr val="0E72AE"/>
            </a:solidFill>
            <a:ln>
              <a:noFill/>
            </a:ln>
          </c:spPr>
          <c:dLbls>
            <c:dLbl>
              <c:idx val="0"/>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11.747883562519302</c:v>
                </c:pt>
                <c:pt idx="1">
                  <c:v>11.476689749253852</c:v>
                </c:pt>
                <c:pt idx="2">
                  <c:v>10.327228501740441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Straight Hair</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18.521400228093157</c:v>
                </c:pt>
                <c:pt idx="1">
                  <c:v>16.961005361816024</c:v>
                </c:pt>
                <c:pt idx="2">
                  <c:v>19.303874656926997</c:v>
                </c:pt>
                <c:pt idx="3">
                  <c:v>19.026945872637597</c:v>
                </c:pt>
                <c:pt idx="4">
                  <c:v>22.782915075392317</c:v>
                </c:pt>
                <c:pt idx="5">
                  <c:v>18.305049233891182</c:v>
                </c:pt>
              </c:numCache>
            </c:numRef>
          </c:val>
        </c:ser>
        <c:ser>
          <c:idx val="1"/>
          <c:order val="1"/>
          <c:tx>
            <c:strRef>
              <c:strCache>
                <c:ptCount val="1"/>
                <c:pt idx="0">
                  <c:v>Wavy Hair</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19.562098834085788</c:v>
                </c:pt>
                <c:pt idx="1">
                  <c:v>17.950895482947036</c:v>
                </c:pt>
                <c:pt idx="2">
                  <c:v>20.180460640459494</c:v>
                </c:pt>
                <c:pt idx="3">
                  <c:v>20.14662172552796</c:v>
                </c:pt>
                <c:pt idx="4">
                  <c:v>19.282524868085773</c:v>
                </c:pt>
                <c:pt idx="5">
                  <c:v>19.35466278335539</c:v>
                </c:pt>
              </c:numCache>
            </c:numRef>
          </c:val>
        </c:ser>
        <c:ser>
          <c:idx val="2"/>
          <c:order val="2"/>
          <c:tx>
            <c:strRef>
              <c:strCache>
                <c:ptCount val="1"/>
                <c:pt idx="0">
                  <c:v>Curly Hair</c:v>
                </c:pt>
              </c:strCache>
            </c:strRef>
          </c:tx>
          <c:spPr>
            <a:solidFill>
              <a:srgbClr val="008189"/>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20.12964551306823</c:v>
                </c:pt>
                <c:pt idx="1">
                  <c:v>22.895515623712466</c:v>
                </c:pt>
                <c:pt idx="2">
                  <c:v>20.240060957762253</c:v>
                </c:pt>
                <c:pt idx="3">
                  <c:v>20.1760011449247</c:v>
                </c:pt>
                <c:pt idx="4">
                  <c:v>19.297315864622416</c:v>
                </c:pt>
                <c:pt idx="5">
                  <c:v>19.34827983381764</c:v>
                </c:pt>
              </c:numCache>
            </c:numRef>
          </c:val>
        </c:ser>
        <c:ser>
          <c:idx val="3"/>
          <c:order val="3"/>
          <c:tx>
            <c:strRef>
              <c:strCache>
                <c:ptCount val="1"/>
                <c:pt idx="0">
                  <c:v>Coily Hair</c:v>
                </c:pt>
              </c:strCache>
            </c:strRef>
          </c:tx>
          <c:spPr>
            <a:solidFill>
              <a:srgbClr val="40315E"/>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21.564417467034882</c:v>
                </c:pt>
                <c:pt idx="1">
                  <c:v>23.53310147101863</c:v>
                </c:pt>
                <c:pt idx="2">
                  <c:v>20.119243054760176</c:v>
                </c:pt>
                <c:pt idx="3">
                  <c:v>19.92240730502295</c:v>
                </c:pt>
                <c:pt idx="4">
                  <c:v>19.270226880522287</c:v>
                </c:pt>
                <c:pt idx="5">
                  <c:v>22.76746107285766</c:v>
                </c:pt>
              </c:numCache>
            </c:numRef>
          </c:val>
        </c:ser>
        <c:ser>
          <c:idx val="4"/>
          <c:order val="4"/>
          <c:tx>
            <c:strRef>
              <c:strCache>
                <c:ptCount val="1"/>
                <c:pt idx="0">
                  <c:v>All Hair Types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20.222437957717936</c:v>
                </c:pt>
                <c:pt idx="1">
                  <c:v>18.659482060505834</c:v>
                </c:pt>
                <c:pt idx="2">
                  <c:v>20.156360690091077</c:v>
                </c:pt>
                <c:pt idx="3">
                  <c:v>20.728023951886787</c:v>
                </c:pt>
                <c:pt idx="4">
                  <c:v>19.367017311377204</c:v>
                </c:pt>
                <c:pt idx="5">
                  <c:v>20.22454707607812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Straight Hair</c:v>
                </c:pt>
              </c:strCache>
            </c:strRef>
          </c:tx>
          <c:spPr>
            <a:solidFill>
              <a:srgbClr val="3D85C6"/>
            </a:solidFill>
          </c:spPr>
          <c:invertIfNegative val="0"/>
          <c:xVal>
            <c:numRef>
              <c:numCache>
                <c:formatCode>General</c:formatCode>
                <c:ptCount val="1"/>
                <c:pt idx="0">
                  <c:v>83.93948076818609</c:v>
                </c:pt>
              </c:numCache>
            </c:numRef>
          </c:xVal>
          <c:yVal>
            <c:numRef>
              <c:numCache>
                <c:formatCode>General</c:formatCode>
                <c:ptCount val="1"/>
                <c:pt idx="0">
                  <c:v>108.25916132928532</c:v>
                </c:pt>
              </c:numCache>
            </c:numRef>
          </c:yVal>
          <c:bubbleSize>
            <c:numRef>
              <c:numCache>
                <c:formatCode>General</c:formatCode>
                <c:ptCount val="1"/>
                <c:pt idx="0">
                  <c:v>6007.439</c:v>
                </c:pt>
              </c:numCache>
            </c:numRef>
          </c:bubbleSize>
          <c:bubble3D val="0"/>
        </c:ser>
        <c:ser>
          <c:idx val="1"/>
          <c:order val="1"/>
          <c:tx>
            <c:strRef>
              <c:strCache>
                <c:ptCount val="1"/>
                <c:pt idx="0">
                  <c:v>Wavy Hair</c:v>
                </c:pt>
              </c:strCache>
            </c:strRef>
          </c:tx>
          <c:spPr>
            <a:solidFill>
              <a:srgbClr val="9E7E0A"/>
            </a:solidFill>
          </c:spPr>
          <c:invertIfNegative val="0"/>
          <c:xVal>
            <c:numRef>
              <c:numCache>
                <c:formatCode>General</c:formatCode>
                <c:ptCount val="1"/>
                <c:pt idx="0">
                  <c:v>99.25917032482698</c:v>
                </c:pt>
              </c:numCache>
            </c:numRef>
          </c:xVal>
          <c:yVal>
            <c:numRef>
              <c:numCache>
                <c:formatCode>General</c:formatCode>
                <c:ptCount val="1"/>
                <c:pt idx="0">
                  <c:v>97.7335735943961</c:v>
                </c:pt>
              </c:numCache>
            </c:numRef>
          </c:yVal>
          <c:bubbleSize>
            <c:numRef>
              <c:numCache>
                <c:formatCode>General</c:formatCode>
                <c:ptCount val="1"/>
                <c:pt idx="0">
                  <c:v>5970.681</c:v>
                </c:pt>
              </c:numCache>
            </c:numRef>
          </c:bubbleSize>
          <c:bubble3D val="0"/>
        </c:ser>
        <c:ser>
          <c:idx val="2"/>
          <c:order val="2"/>
          <c:tx>
            <c:strRef>
              <c:strCache>
                <c:ptCount val="1"/>
                <c:pt idx="0">
                  <c:v>Curly Hair</c:v>
                </c:pt>
              </c:strCache>
            </c:strRef>
          </c:tx>
          <c:spPr>
            <a:solidFill>
              <a:srgbClr val="008189"/>
            </a:solidFill>
          </c:spPr>
          <c:invertIfNegative val="0"/>
          <c:xVal>
            <c:numRef>
              <c:numCache>
                <c:formatCode>General</c:formatCode>
                <c:ptCount val="1"/>
                <c:pt idx="0">
                  <c:v>109.83387790661115</c:v>
                </c:pt>
              </c:numCache>
            </c:numRef>
          </c:xVal>
          <c:yVal>
            <c:numRef>
              <c:numCache>
                <c:formatCode>General</c:formatCode>
                <c:ptCount val="1"/>
                <c:pt idx="0">
                  <c:v>93.89152204323644</c:v>
                </c:pt>
              </c:numCache>
            </c:numRef>
          </c:yVal>
          <c:bubbleSize>
            <c:numRef>
              <c:numCache>
                <c:formatCode>General</c:formatCode>
                <c:ptCount val="1"/>
                <c:pt idx="0">
                  <c:v>6126.275</c:v>
                </c:pt>
              </c:numCache>
            </c:numRef>
          </c:bubbleSize>
          <c:bubble3D val="0"/>
        </c:ser>
        <c:ser>
          <c:idx val="3"/>
          <c:order val="3"/>
          <c:tx>
            <c:strRef>
              <c:strCache>
                <c:ptCount val="1"/>
                <c:pt idx="0">
                  <c:v>Coily Hair</c:v>
                </c:pt>
              </c:strCache>
            </c:strRef>
          </c:tx>
          <c:spPr>
            <a:solidFill>
              <a:srgbClr val="40315E"/>
            </a:solidFill>
          </c:spPr>
          <c:invertIfNegative val="0"/>
          <c:xVal>
            <c:numRef>
              <c:numCache>
                <c:formatCode>General</c:formatCode>
                <c:ptCount val="1"/>
                <c:pt idx="0">
                  <c:v>116.09059508936883</c:v>
                </c:pt>
              </c:numCache>
            </c:numRef>
          </c:xVal>
          <c:yVal>
            <c:numRef>
              <c:numCache>
                <c:formatCode>General</c:formatCode>
                <c:ptCount val="1"/>
                <c:pt idx="0">
                  <c:v>95.30254770643836</c:v>
                </c:pt>
              </c:numCache>
            </c:numRef>
          </c:yVal>
          <c:bubbleSize>
            <c:numRef>
              <c:numCache>
                <c:formatCode>General</c:formatCode>
                <c:ptCount val="1"/>
                <c:pt idx="0">
                  <c:v>6464.013</c:v>
                </c:pt>
              </c:numCache>
            </c:numRef>
          </c:bubbleSize>
          <c:bubble3D val="0"/>
        </c:ser>
        <c:ser>
          <c:idx val="4"/>
          <c:order val="4"/>
          <c:tx>
            <c:strRef>
              <c:strCache>
                <c:ptCount val="1"/>
                <c:pt idx="0">
                  <c:v>All Hair Types</c:v>
                </c:pt>
              </c:strCache>
            </c:strRef>
          </c:tx>
          <c:spPr>
            <a:solidFill>
              <a:srgbClr val="A35313"/>
            </a:solidFill>
          </c:spPr>
          <c:invertIfNegative val="0"/>
          <c:xVal>
            <c:numRef>
              <c:numCache>
                <c:formatCode>General</c:formatCode>
                <c:ptCount val="1"/>
                <c:pt idx="0">
                  <c:v>92.00540352376241</c:v>
                </c:pt>
              </c:numCache>
            </c:numRef>
          </c:xVal>
          <c:yVal>
            <c:numRef>
              <c:numCache>
                <c:formatCode>General</c:formatCode>
                <c:ptCount val="1"/>
                <c:pt idx="0">
                  <c:v>104.81319532664375</c:v>
                </c:pt>
              </c:numCache>
            </c:numRef>
          </c:yVal>
          <c:bubbleSize>
            <c:numRef>
              <c:numCache>
                <c:formatCode>General</c:formatCode>
                <c:ptCount val="1"/>
                <c:pt idx="0">
                  <c:v>6118.926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5.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3487.324</c:v>
                </c:pt>
                <c:pt idx="2">
                  <c:v>3842.461</c:v>
                </c:pt>
                <c:pt idx="3">
                  <c:v>4281.193</c:v>
                </c:pt>
                <c:pt idx="4">
                  <c:v>4777.569</c:v>
                </c:pt>
                <c:pt idx="5">
                  <c:v>5356.685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3487.324</c:v>
                </c:pt>
                <c:pt idx="1">
                  <c:v>355.1369999999997</c:v>
                </c:pt>
                <c:pt idx="2">
                  <c:v>438.7320000000004</c:v>
                </c:pt>
                <c:pt idx="3">
                  <c:v>496.3760000000002</c:v>
                </c:pt>
                <c:pt idx="4">
                  <c:v>579.116</c:v>
                </c:pt>
                <c:pt idx="5">
                  <c:v>650.7539999999999</c:v>
                </c:pt>
                <c:pt idx="6">
                  <c:v>6007.439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3148.266</c:v>
                </c:pt>
                <c:pt idx="2">
                  <c:v>3544.446</c:v>
                </c:pt>
                <c:pt idx="3">
                  <c:v>4023.372</c:v>
                </c:pt>
                <c:pt idx="4">
                  <c:v>4587.569</c:v>
                </c:pt>
                <c:pt idx="5">
                  <c:v>5235.511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3148.266</c:v>
                </c:pt>
                <c:pt idx="1">
                  <c:v>396.17999999999984</c:v>
                </c:pt>
                <c:pt idx="2">
                  <c:v>478.92599999999993</c:v>
                </c:pt>
                <c:pt idx="3">
                  <c:v>564.1970000000006</c:v>
                </c:pt>
                <c:pt idx="4">
                  <c:v>647.942</c:v>
                </c:pt>
                <c:pt idx="5">
                  <c:v>735.1699999999992</c:v>
                </c:pt>
                <c:pt idx="6">
                  <c:v>5970.681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3024.503</c:v>
                </c:pt>
                <c:pt idx="2">
                  <c:v>3369.434</c:v>
                </c:pt>
                <c:pt idx="3">
                  <c:v>3850.796</c:v>
                </c:pt>
                <c:pt idx="4">
                  <c:v>4475.873</c:v>
                </c:pt>
                <c:pt idx="5">
                  <c:v>5235.596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3024.503</c:v>
                </c:pt>
                <c:pt idx="1">
                  <c:v>344.93100000000004</c:v>
                </c:pt>
                <c:pt idx="2">
                  <c:v>481.3619999999996</c:v>
                </c:pt>
                <c:pt idx="3">
                  <c:v>625.0769999999998</c:v>
                </c:pt>
                <c:pt idx="4">
                  <c:v>759.723</c:v>
                </c:pt>
                <c:pt idx="5">
                  <c:v>890.6790000000001</c:v>
                </c:pt>
                <c:pt idx="6">
                  <c:v>6126.275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3069.956</c:v>
                </c:pt>
                <c:pt idx="2">
                  <c:v>3461.137</c:v>
                </c:pt>
                <c:pt idx="3">
                  <c:v>3985.157</c:v>
                </c:pt>
                <c:pt idx="4">
                  <c:v>4686.827</c:v>
                </c:pt>
                <c:pt idx="5">
                  <c:v>5512.514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3069.956</c:v>
                </c:pt>
                <c:pt idx="1">
                  <c:v>391.18100000000004</c:v>
                </c:pt>
                <c:pt idx="2">
                  <c:v>524.02</c:v>
                </c:pt>
                <c:pt idx="3">
                  <c:v>701.6700000000001</c:v>
                </c:pt>
                <c:pt idx="4">
                  <c:v>825.6869999999999</c:v>
                </c:pt>
                <c:pt idx="5">
                  <c:v>951.4989999999998</c:v>
                </c:pt>
                <c:pt idx="6">
                  <c:v>6464.013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3376.32</c:v>
                </c:pt>
                <c:pt idx="2">
                  <c:v>3754.616</c:v>
                </c:pt>
                <c:pt idx="3">
                  <c:v>4218.283</c:v>
                </c:pt>
                <c:pt idx="4">
                  <c:v>4760.388</c:v>
                </c:pt>
                <c:pt idx="5">
                  <c:v>5394.687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3376.32</c:v>
                </c:pt>
                <c:pt idx="1">
                  <c:v>378.2959999999998</c:v>
                </c:pt>
                <c:pt idx="2">
                  <c:v>463.66700000000037</c:v>
                </c:pt>
                <c:pt idx="3">
                  <c:v>542.1049999999996</c:v>
                </c:pt>
                <c:pt idx="4">
                  <c:v>634.299</c:v>
                </c:pt>
                <c:pt idx="5">
                  <c:v>724.2390000000005</c:v>
                </c:pt>
                <c:pt idx="6">
                  <c:v>6118.926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Coily Hair</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19.120711908095572</c:v>
                </c:pt>
                <c:pt idx="1">
                  <c:v>19.060509541287672</c:v>
                </c:pt>
                <c:pt idx="2">
                  <c:v>21.064107426210434</c:v>
                </c:pt>
              </c:numCache>
            </c:numRef>
          </c:val>
        </c:ser>
        <c:ser>
          <c:idx val="1"/>
          <c:order val="1"/>
          <c:tx>
            <c:strRef>
              <c:strCache>
                <c:ptCount val="1"/>
                <c:pt idx="0">
                  <c:v>Curly Hair</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19.348618154081983</c:v>
                </c:pt>
                <c:pt idx="1">
                  <c:v>18.778304408647287</c:v>
                </c:pt>
                <c:pt idx="2">
                  <c:v>19.96352957868546</c:v>
                </c:pt>
              </c:numCache>
            </c:numRef>
          </c:val>
        </c:ser>
        <c:ser>
          <c:idx val="2"/>
          <c:order val="2"/>
          <c:tx>
            <c:strRef>
              <c:strCache>
                <c:ptCount val="1"/>
                <c:pt idx="0">
                  <c:v>All Hair Types</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20.753252383945746</c:v>
                </c:pt>
                <c:pt idx="1">
                  <c:v>20.96263906532875</c:v>
                </c:pt>
                <c:pt idx="2">
                  <c:v>19.939581587634823</c:v>
                </c:pt>
              </c:numCache>
            </c:numRef>
          </c:val>
        </c:ser>
        <c:ser>
          <c:idx val="3"/>
          <c:order val="3"/>
          <c:tx>
            <c:strRef>
              <c:strCache>
                <c:ptCount val="1"/>
                <c:pt idx="0">
                  <c:v>Straight Hair</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21.777739643074597</c:v>
                </c:pt>
                <c:pt idx="1">
                  <c:v>21.651832265857067</c:v>
                </c:pt>
                <c:pt idx="2">
                  <c:v>19.57628186273855</c:v>
                </c:pt>
              </c:numCache>
            </c:numRef>
          </c:val>
        </c:ser>
        <c:ser>
          <c:idx val="4"/>
          <c:order val="4"/>
          <c:tx>
            <c:strRef>
              <c:strCache>
                <c:ptCount val="1"/>
                <c:pt idx="0">
                  <c:v>Wavy Hair</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18.999677910802106</c:v>
                </c:pt>
                <c:pt idx="1">
                  <c:v>19.546714718879223</c:v>
                </c:pt>
                <c:pt idx="2">
                  <c:v>19.456499544730736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Film-forming and Fixative Polymers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23.97229512469032</c:v>
                </c:pt>
                <c:pt idx="1">
                  <c:v>24.154323243710547</c:v>
                </c:pt>
                <c:pt idx="2">
                  <c:v>23.999825016769226</c:v>
                </c:pt>
                <c:pt idx="3">
                  <c:v>23.93453063032332</c:v>
                </c:pt>
                <c:pt idx="4">
                  <c:v>24.16674730392072</c:v>
                </c:pt>
                <c:pt idx="5">
                  <c:v>23.799419184778976</c:v>
                </c:pt>
              </c:numCache>
            </c:numRef>
          </c:val>
        </c:ser>
        <c:ser>
          <c:idx val="1"/>
          <c:order val="1"/>
          <c:tx>
            <c:strRef>
              <c:strCache>
                <c:ptCount val="1"/>
                <c:pt idx="0">
                  <c:v>Texture and Volume Additives</c:v>
                </c:pt>
              </c:strCache>
            </c:strRef>
          </c:tx>
          <c:spPr>
            <a:solidFill>
              <a:srgbClr val="9E7E0A"/>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26.02391117172659</c:v>
                </c:pt>
                <c:pt idx="1">
                  <c:v>26.275108179211475</c:v>
                </c:pt>
                <c:pt idx="2">
                  <c:v>26.019370113394437</c:v>
                </c:pt>
                <c:pt idx="3">
                  <c:v>25.853714537925725</c:v>
                </c:pt>
                <c:pt idx="4">
                  <c:v>25.66999277670111</c:v>
                </c:pt>
                <c:pt idx="5">
                  <c:v>25.954721103823257</c:v>
                </c:pt>
              </c:numCache>
            </c:numRef>
          </c:val>
        </c:ser>
        <c:ser>
          <c:idx val="2"/>
          <c:order val="2"/>
          <c:tx>
            <c:strRef>
              <c:strCache>
                <c:ptCount val="1"/>
                <c:pt idx="0">
                  <c:v>Conditioning and Smoothing Agents</c:v>
                </c:pt>
              </c:strCache>
            </c:strRef>
          </c:tx>
          <c:spPr>
            <a:solidFill>
              <a:srgbClr val="008189"/>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23.920738457362305</c:v>
                </c:pt>
                <c:pt idx="1">
                  <c:v>24.081511166708758</c:v>
                </c:pt>
                <c:pt idx="2">
                  <c:v>24.033734645884312</c:v>
                </c:pt>
                <c:pt idx="3">
                  <c:v>24.25116901970282</c:v>
                </c:pt>
                <c:pt idx="4">
                  <c:v>24.164035836095234</c:v>
                </c:pt>
                <c:pt idx="5">
                  <c:v>24.671272567653734</c:v>
                </c:pt>
              </c:numCache>
            </c:numRef>
          </c:val>
        </c:ser>
        <c:ser>
          <c:idx val="3"/>
          <c:order val="3"/>
          <c:tx>
            <c:strRef>
              <c:strCache>
                <c:ptCount val="1"/>
                <c:pt idx="0">
                  <c:v>Waxes and Structuring Agents</c:v>
                </c:pt>
              </c:strCache>
            </c:strRef>
          </c:tx>
          <c:spPr>
            <a:solidFill>
              <a:srgbClr val="40315E"/>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South Asia &amp; Pacific</c:v>
                </c:pt>
                <c:pt idx="3">
                  <c:v>Europe</c:v>
                </c:pt>
                <c:pt idx="4">
                  <c:v>East Asia</c:v>
                </c:pt>
                <c:pt idx="5">
                  <c:v>North America</c:v>
                </c:pt>
              </c:strCache>
            </c:strRef>
          </c:cat>
          <c:val>
            <c:numRef>
              <c:numCache>
                <c:formatCode>General</c:formatCode>
                <c:ptCount val="6"/>
                <c:pt idx="0">
                  <c:v>26.08305524622078</c:v>
                </c:pt>
                <c:pt idx="1">
                  <c:v>25.48905741036922</c:v>
                </c:pt>
                <c:pt idx="2">
                  <c:v>25.947070223952025</c:v>
                </c:pt>
                <c:pt idx="3">
                  <c:v>25.96058581204812</c:v>
                </c:pt>
                <c:pt idx="4">
                  <c:v>25.999224083282925</c:v>
                </c:pt>
                <c:pt idx="5">
                  <c:v>25.574587143744022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Film-forming and Fixative Polymers</c:v>
                </c:pt>
              </c:strCache>
            </c:strRef>
          </c:tx>
          <c:spPr>
            <a:solidFill>
              <a:srgbClr val="3D85C6"/>
            </a:solidFill>
          </c:spPr>
          <c:invertIfNegative val="0"/>
          <c:xVal>
            <c:numRef>
              <c:numCache>
                <c:formatCode>General</c:formatCode>
                <c:ptCount val="1"/>
                <c:pt idx="0">
                  <c:v>87.37199124944904</c:v>
                </c:pt>
              </c:numCache>
            </c:numRef>
          </c:xVal>
          <c:yVal>
            <c:numRef>
              <c:numCache>
                <c:formatCode>General</c:formatCode>
                <c:ptCount val="1"/>
                <c:pt idx="0">
                  <c:v>103.83959934356399</c:v>
                </c:pt>
              </c:numCache>
            </c:numRef>
          </c:yVal>
          <c:bubbleSize>
            <c:numRef>
              <c:numCache>
                <c:formatCode>General</c:formatCode>
                <c:ptCount val="1"/>
                <c:pt idx="0">
                  <c:v>7360.178</c:v>
                </c:pt>
              </c:numCache>
            </c:numRef>
          </c:bubbleSize>
          <c:bubble3D val="0"/>
        </c:ser>
        <c:ser>
          <c:idx val="1"/>
          <c:order val="1"/>
          <c:tx>
            <c:strRef>
              <c:strCache>
                <c:ptCount val="1"/>
                <c:pt idx="0">
                  <c:v>Texture and Volume Additives</c:v>
                </c:pt>
              </c:strCache>
            </c:strRef>
          </c:tx>
          <c:spPr>
            <a:solidFill>
              <a:srgbClr val="9E7E0A"/>
            </a:solidFill>
          </c:spPr>
          <c:invertIfNegative val="0"/>
          <c:xVal>
            <c:numRef>
              <c:numCache>
                <c:formatCode>General</c:formatCode>
                <c:ptCount val="1"/>
                <c:pt idx="0">
                  <c:v>104.87164564237365</c:v>
                </c:pt>
              </c:numCache>
            </c:numRef>
          </c:xVal>
          <c:yVal>
            <c:numRef>
              <c:numCache>
                <c:formatCode>General</c:formatCode>
                <c:ptCount val="1"/>
                <c:pt idx="0">
                  <c:v>100.53099494560162</c:v>
                </c:pt>
              </c:numCache>
            </c:numRef>
          </c:yVal>
          <c:bubbleSize>
            <c:numRef>
              <c:numCache>
                <c:formatCode>General</c:formatCode>
                <c:ptCount val="1"/>
                <c:pt idx="0">
                  <c:v>7950.373</c:v>
                </c:pt>
              </c:numCache>
            </c:numRef>
          </c:bubbleSize>
          <c:bubble3D val="0"/>
        </c:ser>
        <c:ser>
          <c:idx val="2"/>
          <c:order val="2"/>
          <c:tx>
            <c:strRef>
              <c:strCache>
                <c:ptCount val="1"/>
                <c:pt idx="0">
                  <c:v>Conditioning and Smoothing Agents</c:v>
                </c:pt>
              </c:strCache>
            </c:strRef>
          </c:tx>
          <c:spPr>
            <a:solidFill>
              <a:srgbClr val="008189"/>
            </a:solidFill>
          </c:spPr>
          <c:invertIfNegative val="0"/>
          <c:xVal>
            <c:numRef>
              <c:numCache>
                <c:formatCode>General</c:formatCode>
                <c:ptCount val="1"/>
                <c:pt idx="0">
                  <c:v>95.67813590407744</c:v>
                </c:pt>
              </c:numCache>
            </c:numRef>
          </c:xVal>
          <c:yVal>
            <c:numRef>
              <c:numCache>
                <c:formatCode>General</c:formatCode>
                <c:ptCount val="1"/>
                <c:pt idx="0">
                  <c:v>99.81130444802949</c:v>
                </c:pt>
              </c:numCache>
            </c:numRef>
          </c:yVal>
          <c:bubbleSize>
            <c:numRef>
              <c:numCache>
                <c:formatCode>General</c:formatCode>
                <c:ptCount val="1"/>
                <c:pt idx="0">
                  <c:v>7453.242</c:v>
                </c:pt>
              </c:numCache>
            </c:numRef>
          </c:bubbleSize>
          <c:bubble3D val="0"/>
        </c:ser>
        <c:ser>
          <c:idx val="3"/>
          <c:order val="3"/>
          <c:tx>
            <c:strRef>
              <c:strCache>
                <c:ptCount val="1"/>
                <c:pt idx="0">
                  <c:v>Waxes and Structuring Agents</c:v>
                </c:pt>
              </c:strCache>
            </c:strRef>
          </c:tx>
          <c:spPr>
            <a:solidFill>
              <a:srgbClr val="40315E"/>
            </a:solidFill>
          </c:spPr>
          <c:invertIfNegative val="0"/>
          <c:xVal>
            <c:numRef>
              <c:numCache>
                <c:formatCode>General</c:formatCode>
                <c:ptCount val="1"/>
                <c:pt idx="0">
                  <c:v>112.05883258507703</c:v>
                </c:pt>
              </c:numCache>
            </c:numRef>
          </c:xVal>
          <c:yVal>
            <c:numRef>
              <c:numCache>
                <c:formatCode>General</c:formatCode>
                <c:ptCount val="1"/>
                <c:pt idx="0">
                  <c:v>95.81810126280487</c:v>
                </c:pt>
              </c:numCache>
            </c:numRef>
          </c:yVal>
          <c:bubbleSize>
            <c:numRef>
              <c:numCache>
                <c:formatCode>General</c:formatCode>
                <c:ptCount val="1"/>
                <c:pt idx="0">
                  <c:v>7923.539000000001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4181.197</c:v>
                </c:pt>
                <c:pt idx="2">
                  <c:v>4608.647</c:v>
                </c:pt>
                <c:pt idx="3">
                  <c:v>5147.04</c:v>
                </c:pt>
                <c:pt idx="4">
                  <c:v>5785.919</c:v>
                </c:pt>
                <c:pt idx="5">
                  <c:v>6524.0509999999995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4181.197</c:v>
                </c:pt>
                <c:pt idx="1">
                  <c:v>427.4499999999998</c:v>
                </c:pt>
                <c:pt idx="2">
                  <c:v>538.393</c:v>
                </c:pt>
                <c:pt idx="3">
                  <c:v>638.8789999999999</c:v>
                </c:pt>
                <c:pt idx="4">
                  <c:v>738.1319999999996</c:v>
                </c:pt>
                <c:pt idx="5">
                  <c:v>836.1270000000004</c:v>
                </c:pt>
                <c:pt idx="6">
                  <c:v>7360.178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4047.973</c:v>
                </c:pt>
                <c:pt idx="2">
                  <c:v>4536.552</c:v>
                </c:pt>
                <c:pt idx="3">
                  <c:v>5166.015</c:v>
                </c:pt>
                <c:pt idx="4">
                  <c:v>5942.2029999999995</c:v>
                </c:pt>
                <c:pt idx="5">
                  <c:v>6873.057000000001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4047.973</c:v>
                </c:pt>
                <c:pt idx="1">
                  <c:v>488.5789999999997</c:v>
                </c:pt>
                <c:pt idx="2">
                  <c:v>629.4630000000006</c:v>
                </c:pt>
                <c:pt idx="3">
                  <c:v>776.1879999999992</c:v>
                </c:pt>
                <c:pt idx="4">
                  <c:v>930.8540000000012</c:v>
                </c:pt>
                <c:pt idx="5">
                  <c:v>1077.315999999999</c:v>
                </c:pt>
                <c:pt idx="6">
                  <c:v>7950.373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4018.9939999999997</c:v>
                </c:pt>
                <c:pt idx="2">
                  <c:v>4492.444</c:v>
                </c:pt>
                <c:pt idx="3">
                  <c:v>5071.54</c:v>
                </c:pt>
                <c:pt idx="4">
                  <c:v>5750.5</c:v>
                </c:pt>
                <c:pt idx="5">
                  <c:v>6547.312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4018.9939999999997</c:v>
                </c:pt>
                <c:pt idx="1">
                  <c:v>473.4500000000007</c:v>
                </c:pt>
                <c:pt idx="2">
                  <c:v>579.0959999999995</c:v>
                </c:pt>
                <c:pt idx="3">
                  <c:v>678.96</c:v>
                </c:pt>
                <c:pt idx="4">
                  <c:v>796.8119999999999</c:v>
                </c:pt>
                <c:pt idx="5">
                  <c:v>905.9300000000003</c:v>
                </c:pt>
                <c:pt idx="6">
                  <c:v>7453.242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3858.2039999999997</c:v>
                </c:pt>
                <c:pt idx="2">
                  <c:v>4334.452</c:v>
                </c:pt>
                <c:pt idx="3">
                  <c:v>4974.206</c:v>
                </c:pt>
                <c:pt idx="4">
                  <c:v>5809.607</c:v>
                </c:pt>
                <c:pt idx="5">
                  <c:v>6790.572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3858.2039999999997</c:v>
                </c:pt>
                <c:pt idx="1">
                  <c:v>476.2480000000005</c:v>
                </c:pt>
                <c:pt idx="2">
                  <c:v>639.7539999999999</c:v>
                </c:pt>
                <c:pt idx="3">
                  <c:v>835.4009999999998</c:v>
                </c:pt>
                <c:pt idx="4">
                  <c:v>980.9650000000001</c:v>
                </c:pt>
                <c:pt idx="5">
                  <c:v>1132.9670000000006</c:v>
                </c:pt>
                <c:pt idx="6">
                  <c:v>7923.539000000001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Texture and Volume Additives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24.961319230482808</c:v>
                </c:pt>
                <c:pt idx="1">
                  <c:v>25.132748736400412</c:v>
                </c:pt>
                <c:pt idx="2">
                  <c:v>25.90767095686259</c:v>
                </c:pt>
              </c:numCache>
            </c:numRef>
          </c:val>
        </c:ser>
        <c:ser>
          <c:idx val="1"/>
          <c:order val="1"/>
          <c:tx>
            <c:strRef>
              <c:strCache>
                <c:ptCount val="1"/>
                <c:pt idx="0">
                  <c:v>Waxes and Structuring Agents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24.01266709437152</c:v>
                </c:pt>
                <c:pt idx="1">
                  <c:v>23.95452531570122</c:v>
                </c:pt>
                <c:pt idx="2">
                  <c:v>25.82022770829344</c:v>
                </c:pt>
              </c:numCache>
            </c:numRef>
          </c:val>
        </c:ser>
        <c:ser>
          <c:idx val="2"/>
          <c:order val="2"/>
          <c:tx>
            <c:strRef>
              <c:strCache>
                <c:ptCount val="1"/>
                <c:pt idx="0">
                  <c:v>Conditioning and Smoothing Agents</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24.62557708932818</c:v>
                </c:pt>
                <c:pt idx="1">
                  <c:v>24.952826112007376</c:v>
                </c:pt>
                <c:pt idx="2">
                  <c:v>24.287683269435085</c:v>
                </c:pt>
              </c:numCache>
            </c:numRef>
          </c:val>
        </c:ser>
        <c:ser>
          <c:idx val="3"/>
          <c:order val="3"/>
          <c:tx>
            <c:strRef>
              <c:strCache>
                <c:ptCount val="1"/>
                <c:pt idx="0">
                  <c:v>Film-forming and Fixative Polymers</c:v>
                </c:pt>
              </c:strCache>
            </c:strRef>
          </c:tx>
          <c:spPr>
            <a:solidFill>
              <a:srgbClr val="40315E"/>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26.4004365858175</c:v>
                </c:pt>
                <c:pt idx="1">
                  <c:v>25.959899835890997</c:v>
                </c:pt>
                <c:pt idx="2">
                  <c:v>23.984418065408878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3.262197388097876</c:v>
                </c:pt>
                <c:pt idx="1">
                  <c:v>4.320658207951111</c:v>
                </c:pt>
                <c:pt idx="2">
                  <c:v>3.9666378980762307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703268834495467"/>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1498.679</c:v>
                </c:pt>
                <c:pt idx="2">
                  <c:v>0.0</c:v>
                </c:pt>
                <c:pt idx="3">
                  <c:v>1759.606</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1498.679</c:v>
                </c:pt>
                <c:pt idx="1">
                  <c:v>260.9269999999999</c:v>
                </c:pt>
                <c:pt idx="2">
                  <c:v>1759.606</c:v>
                </c:pt>
                <c:pt idx="3">
                  <c:v>926.472</c:v>
                </c:pt>
                <c:pt idx="4">
                  <c:v>2686.078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3.9806308183281125</c:v>
                </c:pt>
                <c:pt idx="1">
                  <c:v>6.058703612735483</c:v>
                </c:pt>
                <c:pt idx="2">
                  <c:v>5.361438677044195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997488768810838"/>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4129.799999999999</c:v>
                </c:pt>
                <c:pt idx="2">
                  <c:v>0.0</c:v>
                </c:pt>
                <c:pt idx="3">
                  <c:v>5019.856</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4129.799999999999</c:v>
                </c:pt>
                <c:pt idx="1">
                  <c:v>890.0560000000005</c:v>
                </c:pt>
                <c:pt idx="2">
                  <c:v>5019.856</c:v>
                </c:pt>
                <c:pt idx="3">
                  <c:v>4019.851999999999</c:v>
                </c:pt>
                <c:pt idx="4">
                  <c:v>9039.707999999999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4129.799999999999</c:v>
                </c:pt>
                <c:pt idx="1">
                  <c:v>4285.469999999999</c:v>
                </c:pt>
                <c:pt idx="2">
                  <c:v>4447.554</c:v>
                </c:pt>
                <c:pt idx="3">
                  <c:v>4618.317</c:v>
                </c:pt>
                <c:pt idx="4">
                  <c:v>4799.311</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1498.679</c:v>
                </c:pt>
                <c:pt idx="1">
                  <c:v>1547.079</c:v>
                </c:pt>
                <c:pt idx="2">
                  <c:v>1596.777</c:v>
                </c:pt>
                <c:pt idx="3">
                  <c:v>1647.671</c:v>
                </c:pt>
                <c:pt idx="4">
                  <c:v>1701.011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566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335"/>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5019.856</c:v>
                </c:pt>
                <c:pt idx="1">
                  <c:v>5267.856</c:v>
                </c:pt>
                <c:pt idx="2">
                  <c:v>5547.914000000001</c:v>
                </c:pt>
                <c:pt idx="3">
                  <c:v>5863.305</c:v>
                </c:pt>
                <c:pt idx="4">
                  <c:v>6215.409</c:v>
                </c:pt>
                <c:pt idx="5">
                  <c:v>6602.238</c:v>
                </c:pt>
                <c:pt idx="6">
                  <c:v>7025.003000000001</c:v>
                </c:pt>
                <c:pt idx="7">
                  <c:v>7480.576</c:v>
                </c:pt>
                <c:pt idx="8">
                  <c:v>7968.0599999999995</c:v>
                </c:pt>
                <c:pt idx="9">
                  <c:v>8487.695</c:v>
                </c:pt>
                <c:pt idx="10">
                  <c:v>9039.707999999999</c:v>
                </c:pt>
              </c:numCache>
            </c:numRef>
          </c:val>
        </c:ser>
        <c:gapWidth val="50"/>
        <c:axId val="-2068027336"/>
        <c:axId val="-2113994440"/>
      </c:barChart>
      <c:barChart>
        <c:barDir val="col"/>
        <c:grouping val="clustered"/>
        <c:varyColors val="0"/>
        <c:ser>
          <c:idx val="1"/>
          <c:order val="1"/>
          <c:tx>
            <c:strRef>
              <c:strCache>
                <c:ptCount val="1"/>
                <c:pt idx="0">
                  <c:v>Volume (Mn Units)</c:v>
                </c:pt>
              </c:strCache>
            </c:strRef>
          </c:tx>
          <c:spPr>
            <a:solidFill>
              <a:srgbClr val="C55A11"/>
            </a:solidFill>
            <a:ln>
              <a:noFill/>
            </a:ln>
          </c:spPr>
          <c:dLbls>
            <c:dLbl>
              <c:idx val="0"/>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1759.606</c:v>
                </c:pt>
                <c:pt idx="1">
                  <c:v>1824.48</c:v>
                </c:pt>
                <c:pt idx="2">
                  <c:v>1896.605</c:v>
                </c:pt>
                <c:pt idx="3">
                  <c:v>1976.422</c:v>
                </c:pt>
                <c:pt idx="4">
                  <c:v>2063.571</c:v>
                </c:pt>
                <c:pt idx="5">
                  <c:v>2156.979</c:v>
                </c:pt>
                <c:pt idx="6">
                  <c:v>2255.922</c:v>
                </c:pt>
                <c:pt idx="7">
                  <c:v>2359.096</c:v>
                </c:pt>
                <c:pt idx="8">
                  <c:v>2465.8779999999997</c:v>
                </c:pt>
                <c:pt idx="9">
                  <c:v>2574.872</c:v>
                </c:pt>
                <c:pt idx="10">
                  <c:v>2686.078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0667"/>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249"/>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98.71950523981292</c:v>
                </c:pt>
                <c:pt idx="1">
                  <c:v>112.57889864555493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10.437598200132745</c:v>
                </c:pt>
                <c:pt idx="1">
                  <c:v>89.56247642948053</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8"/>
                <c:pt idx="0">
                  <c:v>Sprays and Mists</c:v>
                </c:pt>
                <c:pt idx="1">
                  <c:v>Mousses and Foams</c:v>
                </c:pt>
                <c:pt idx="2">
                  <c:v>Gels and Jellies</c:v>
                </c:pt>
                <c:pt idx="3">
                  <c:v>Creams and Lotions</c:v>
                </c:pt>
                <c:pt idx="4">
                  <c:v>Waxes, Clays, Pastes and Pomades</c:v>
                </c:pt>
                <c:pt idx="5">
                  <c:v>Styling Powders</c:v>
                </c:pt>
                <c:pt idx="6">
                  <c:v>Styling Serums and Oils</c:v>
                </c:pt>
                <c:pt idx="7">
                  <c:v>Sticks and Balms</c:v>
                </c:pt>
              </c:strCache>
            </c:strRef>
          </c:cat>
          <c:val>
            <c:numRef>
              <c:numCache>
                <c:formatCode>General</c:formatCode>
                <c:ptCount val="8"/>
                <c:pt idx="0">
                  <c:v>1031.4099999999999</c:v>
                </c:pt>
                <c:pt idx="1">
                  <c:v>563.048</c:v>
                </c:pt>
                <c:pt idx="2">
                  <c:v>706.021</c:v>
                </c:pt>
                <c:pt idx="3">
                  <c:v>1139.76</c:v>
                </c:pt>
                <c:pt idx="4">
                  <c:v>1417.951</c:v>
                </c:pt>
                <c:pt idx="5">
                  <c:v>925.154</c:v>
                </c:pt>
                <c:pt idx="6">
                  <c:v>1881.241</c:v>
                </c:pt>
                <c:pt idx="7">
                  <c:v>1375.123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0.0808787207422052</c:v>
                </c:pt>
                <c:pt idx="1">
                  <c:v>0.07993018927828728</c:v>
                </c:pt>
                <c:pt idx="2">
                  <c:v>0.07808975509456595</c:v>
                </c:pt>
                <c:pt idx="3">
                  <c:v>0.07689347287514708</c:v>
                </c:pt>
                <c:pt idx="4">
                  <c:v>0.07516629617965474</c:v>
                </c:pt>
                <c:pt idx="5">
                  <c:v>0.07380012772789236</c:v>
                </c:pt>
                <c:pt idx="6">
                  <c:v>0.07209418681144297</c:v>
                </c:pt>
                <c:pt idx="7">
                  <c:v>0.07004847343030657</c:v>
                </c:pt>
                <c:pt idx="8">
                  <c:v>0.07062891805748021</c:v>
                </c:pt>
                <c:pt idx="9">
                  <c:v>0.06812309613041348</c:v>
                </c:pt>
                <c:pt idx="10">
                  <c:v>0.06903623462925983</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0.05243943713817616</c:v>
                </c:pt>
                <c:pt idx="1">
                  <c:v>0.05381447914589597</c:v>
                </c:pt>
                <c:pt idx="2">
                  <c:v>0.05503826653276658</c:v>
                </c:pt>
                <c:pt idx="3">
                  <c:v>0.056871655876392986</c:v>
                </c:pt>
                <c:pt idx="4">
                  <c:v>0.05885629984086856</c:v>
                </c:pt>
                <c:pt idx="5">
                  <c:v>0.06099678189955239</c:v>
                </c:pt>
                <c:pt idx="6">
                  <c:v>0.06283017124317879</c:v>
                </c:pt>
                <c:pt idx="7">
                  <c:v>0.06355894350727029</c:v>
                </c:pt>
                <c:pt idx="8">
                  <c:v>0.06355894350727029</c:v>
                </c:pt>
                <c:pt idx="9">
                  <c:v>0.062394741274067515</c:v>
                </c:pt>
                <c:pt idx="10">
                  <c:v>0.06145054576209992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0.042818711680594645</c:v>
                </c:pt>
                <c:pt idx="1">
                  <c:v>0.04015871168059465</c:v>
                </c:pt>
                <c:pt idx="2">
                  <c:v>0.04048871168059465</c:v>
                </c:pt>
                <c:pt idx="3">
                  <c:v>0.04248871168059465</c:v>
                </c:pt>
                <c:pt idx="4">
                  <c:v>0.04581871168059465</c:v>
                </c:pt>
                <c:pt idx="5">
                  <c:v>0.04848871168059465</c:v>
                </c:pt>
                <c:pt idx="6">
                  <c:v>0.04881871168059465</c:v>
                </c:pt>
                <c:pt idx="7">
                  <c:v>0.047488711680594646</c:v>
                </c:pt>
                <c:pt idx="8">
                  <c:v>0.04617871168059465</c:v>
                </c:pt>
                <c:pt idx="9">
                  <c:v>0.044158711680594646</c:v>
                </c:pt>
                <c:pt idx="10">
                  <c:v>0.041978711680594645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90.85284384524499</c:v>
                </c:pt>
                <c:pt idx="1">
                  <c:v>90.27537185270563</c:v>
                </c:pt>
              </c:numCache>
            </c:numRef>
          </c:val>
        </c:ser>
        <c:ser>
          <c:idx val="1"/>
          <c:order val="1"/>
          <c:tx>
            <c:strRef>
              <c:strCache>
                <c:ptCount val="1"/>
                <c:pt idx="0">
                  <c:v>Canada</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9.147156154755011</c:v>
                </c:pt>
                <c:pt idx="1">
                  <c:v>9.724628147294363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91.05540079237332</c:v>
                </c:pt>
                <c:pt idx="1">
                  <c:v>90.39148167175311</c:v>
                </c:pt>
              </c:numCache>
            </c:numRef>
          </c:val>
        </c:ser>
        <c:ser>
          <c:idx val="1"/>
          <c:order val="1"/>
          <c:tx>
            <c:strRef>
              <c:strCache>
                <c:ptCount val="1"/>
                <c:pt idx="0">
                  <c:v>Canada</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8.944599207626672</c:v>
                </c:pt>
                <c:pt idx="1">
                  <c:v>9.608518328246886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1364.994</c:v>
                </c:pt>
                <c:pt idx="1">
                  <c:v>1408.369</c:v>
                </c:pt>
                <c:pt idx="2">
                  <c:v>1452.89</c:v>
                </c:pt>
                <c:pt idx="3">
                  <c:v>1498.466</c:v>
                </c:pt>
                <c:pt idx="4">
                  <c:v>1546.219</c:v>
                </c:pt>
                <c:pt idx="5">
                  <c:v>1598.653</c:v>
                </c:pt>
                <c:pt idx="6">
                  <c:v>1656.673</c:v>
                </c:pt>
                <c:pt idx="7">
                  <c:v>1721.14</c:v>
                </c:pt>
                <c:pt idx="8">
                  <c:v>1792.437</c:v>
                </c:pt>
                <c:pt idx="9">
                  <c:v>1870.245</c:v>
                </c:pt>
                <c:pt idx="10">
                  <c:v>1953.598</c:v>
                </c:pt>
                <c:pt idx="11">
                  <c:v>2041.848</c:v>
                </c:pt>
                <c:pt idx="12">
                  <c:v>2133.81</c:v>
                </c:pt>
                <c:pt idx="13">
                  <c:v>2228.928</c:v>
                </c:pt>
                <c:pt idx="14">
                  <c:v>2325.946</c:v>
                </c:pt>
                <c:pt idx="15">
                  <c:v>2424.866</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133.684</c:v>
                </c:pt>
                <c:pt idx="1">
                  <c:v>138.71</c:v>
                </c:pt>
                <c:pt idx="2">
                  <c:v>143.888</c:v>
                </c:pt>
                <c:pt idx="3">
                  <c:v>149.205</c:v>
                </c:pt>
                <c:pt idx="4">
                  <c:v>154.792</c:v>
                </c:pt>
                <c:pt idx="5">
                  <c:v>160.954</c:v>
                </c:pt>
                <c:pt idx="6">
                  <c:v>167.807</c:v>
                </c:pt>
                <c:pt idx="7">
                  <c:v>175.465</c:v>
                </c:pt>
                <c:pt idx="8">
                  <c:v>183.983</c:v>
                </c:pt>
                <c:pt idx="9">
                  <c:v>193.327</c:v>
                </c:pt>
                <c:pt idx="10">
                  <c:v>203.38</c:v>
                </c:pt>
                <c:pt idx="11">
                  <c:v>214.075</c:v>
                </c:pt>
                <c:pt idx="12">
                  <c:v>225.286</c:v>
                </c:pt>
                <c:pt idx="13">
                  <c:v>236.951</c:v>
                </c:pt>
                <c:pt idx="14">
                  <c:v>248.926</c:v>
                </c:pt>
                <c:pt idx="15">
                  <c:v>261.211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3770.585</c:v>
                </c:pt>
                <c:pt idx="1">
                  <c:v>3910.556</c:v>
                </c:pt>
                <c:pt idx="2">
                  <c:v>4056.264</c:v>
                </c:pt>
                <c:pt idx="3">
                  <c:v>4209.79</c:v>
                </c:pt>
                <c:pt idx="4">
                  <c:v>4372.512</c:v>
                </c:pt>
                <c:pt idx="5">
                  <c:v>4570.85</c:v>
                </c:pt>
                <c:pt idx="6">
                  <c:v>4793.601</c:v>
                </c:pt>
                <c:pt idx="7">
                  <c:v>5045.027</c:v>
                </c:pt>
                <c:pt idx="8">
                  <c:v>5327.968</c:v>
                </c:pt>
                <c:pt idx="9">
                  <c:v>5643.621</c:v>
                </c:pt>
                <c:pt idx="10">
                  <c:v>5990.185</c:v>
                </c:pt>
                <c:pt idx="11">
                  <c:v>6368.833</c:v>
                </c:pt>
                <c:pt idx="12">
                  <c:v>6776.796</c:v>
                </c:pt>
                <c:pt idx="13">
                  <c:v>7213.034</c:v>
                </c:pt>
                <c:pt idx="14">
                  <c:v>7677.732</c:v>
                </c:pt>
                <c:pt idx="15">
                  <c:v>8171.126</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quot;;&quot;MMMMM&quot;;&quot;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quot;;&quot;MMMMM&quot;;&quot;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quot;;&quot;MMMMM&quot;;&quot;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quot;;&quot;MMMMM&quot;;&quot;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quot;;&quot;MMMMM&quot;;&quot;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quot;;&quot;MMMMM&quot;;&quot;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359.215</c:v>
                </c:pt>
                <c:pt idx="1">
                  <c:v>374.914</c:v>
                </c:pt>
                <c:pt idx="2">
                  <c:v>391.289</c:v>
                </c:pt>
                <c:pt idx="3">
                  <c:v>408.527</c:v>
                </c:pt>
                <c:pt idx="4">
                  <c:v>426.799</c:v>
                </c:pt>
                <c:pt idx="5">
                  <c:v>449.006</c:v>
                </c:pt>
                <c:pt idx="6">
                  <c:v>474.255</c:v>
                </c:pt>
                <c:pt idx="7">
                  <c:v>502.887</c:v>
                </c:pt>
                <c:pt idx="8">
                  <c:v>535.337</c:v>
                </c:pt>
                <c:pt idx="9">
                  <c:v>571.789</c:v>
                </c:pt>
                <c:pt idx="10">
                  <c:v>612.054</c:v>
                </c:pt>
                <c:pt idx="11">
                  <c:v>656.17</c:v>
                </c:pt>
                <c:pt idx="12">
                  <c:v>703.781</c:v>
                </c:pt>
                <c:pt idx="13">
                  <c:v>755.027</c:v>
                </c:pt>
                <c:pt idx="14">
                  <c:v>809.962</c:v>
                </c:pt>
                <c:pt idx="15">
                  <c:v>868.582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Sprays and Mists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11.809031051795975</c:v>
                </c:pt>
                <c:pt idx="1">
                  <c:v>11.367328966086443</c:v>
                </c:pt>
              </c:numCache>
            </c:numRef>
          </c:val>
        </c:ser>
        <c:ser>
          <c:idx val="1"/>
          <c:order val="1"/>
          <c:tx>
            <c:strRef>
              <c:strCache>
                <c:ptCount val="1"/>
                <c:pt idx="0">
                  <c:v>Mousses and Foams</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6.089472369301194</c:v>
                </c:pt>
                <c:pt idx="1">
                  <c:v>6.243385246198566</c:v>
                </c:pt>
              </c:numCache>
            </c:numRef>
          </c:val>
        </c:ser>
        <c:ser>
          <c:idx val="2"/>
          <c:order val="2"/>
          <c:tx>
            <c:strRef>
              <c:strCache>
                <c:ptCount val="1"/>
                <c:pt idx="0">
                  <c:v>Gels and Jellies</c:v>
                </c:pt>
              </c:strCache>
            </c:strRef>
          </c:tx>
          <c:spPr>
            <a:solidFill>
              <a:srgbClr val="008189"/>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7.9497479221857255</c:v>
                </c:pt>
                <c:pt idx="1">
                  <c:v>7.79539862794953</c:v>
                </c:pt>
              </c:numCache>
            </c:numRef>
          </c:val>
        </c:ser>
        <c:ser>
          <c:idx val="3"/>
          <c:order val="3"/>
          <c:tx>
            <c:strRef>
              <c:strCache>
                <c:ptCount val="1"/>
                <c:pt idx="0">
                  <c:v>Creams and Lotions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11.69263430814167</c:v>
                </c:pt>
                <c:pt idx="1">
                  <c:v>12.70572435042016</c:v>
                </c:pt>
              </c:numCache>
            </c:numRef>
          </c:val>
        </c:ser>
        <c:ser>
          <c:idx val="4"/>
          <c:order val="4"/>
          <c:tx>
            <c:strRef>
              <c:strCache>
                <c:ptCount val="1"/>
                <c:pt idx="0">
                  <c:v>Waxes, Clays, Pastes and Pomades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14.907878482260145</c:v>
                </c:pt>
                <c:pt idx="1">
                  <c:v>15.768496099926471</c:v>
                </c:pt>
              </c:numCache>
            </c:numRef>
          </c:val>
        </c:ser>
        <c:ser>
          <c:idx val="5"/>
          <c:order val="5"/>
          <c:tx>
            <c:strRef>
              <c:strCache>
                <c:ptCount val="1"/>
                <c:pt idx="0">
                  <c:v>Styling Powders</c:v>
                </c:pt>
              </c:strCache>
            </c:strRef>
          </c:tx>
          <c:spPr>
            <a:solidFill>
              <a:srgbClr val="80808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11.55988906043305</c:v>
                </c:pt>
                <c:pt idx="1">
                  <c:v>10.093416722880855</c:v>
                </c:pt>
              </c:numCache>
            </c:numRef>
          </c:val>
        </c:ser>
        <c:ser>
          <c:idx val="6"/>
          <c:order val="6"/>
          <c:tx>
            <c:strRef>
              <c:strCache>
                <c:ptCount val="1"/>
                <c:pt idx="0">
                  <c:v>Styling Serums and Oils</c:v>
                </c:pt>
              </c:strCache>
            </c:strRef>
          </c:tx>
          <c:spPr>
            <a:solidFill>
              <a:srgbClr val="0E72AE"/>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21.415964659599968</c:v>
                </c:pt>
                <c:pt idx="1">
                  <c:v>20.746548089810858</c:v>
                </c:pt>
              </c:numCache>
            </c:numRef>
          </c:val>
        </c:ser>
        <c:ser>
          <c:idx val="7"/>
          <c:order val="7"/>
          <c:tx>
            <c:strRef>
              <c:strCache>
                <c:ptCount val="1"/>
                <c:pt idx="0">
                  <c:v>Sticks and Balms</c:v>
                </c:pt>
              </c:strCache>
            </c:strRef>
          </c:tx>
          <c:spPr>
            <a:solidFill>
              <a:srgbClr val="A86F00"/>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14.575382146282271</c:v>
                </c:pt>
                <c:pt idx="1">
                  <c:v>15.279701896727108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Sprays and Mists</c:v>
                </c:pt>
              </c:strCache>
            </c:strRef>
          </c:tx>
          <c:spPr>
            <a:solidFill>
              <a:srgbClr val="3D85C6"/>
            </a:solidFill>
          </c:spPr>
          <c:invertIfNegative val="0"/>
          <c:xVal>
            <c:numRef>
              <c:numCache>
                <c:formatCode>General</c:formatCode>
                <c:ptCount val="1"/>
                <c:pt idx="0">
                  <c:v>62.03744606988306</c:v>
                </c:pt>
              </c:numCache>
            </c:numRef>
          </c:xVal>
          <c:yVal>
            <c:numRef>
              <c:numCache>
                <c:formatCode>General</c:formatCode>
                <c:ptCount val="1"/>
                <c:pt idx="0">
                  <c:v>113.65441558482954</c:v>
                </c:pt>
              </c:numCache>
            </c:numRef>
          </c:yVal>
          <c:bubbleSize>
            <c:numRef>
              <c:numCache>
                <c:formatCode>General</c:formatCode>
                <c:ptCount val="1"/>
                <c:pt idx="0">
                  <c:v>1031.4099999999999</c:v>
                </c:pt>
              </c:numCache>
            </c:numRef>
          </c:bubbleSize>
          <c:bubble3D val="0"/>
        </c:ser>
        <c:ser>
          <c:idx val="1"/>
          <c:order val="1"/>
          <c:tx>
            <c:strRef>
              <c:strCache>
                <c:ptCount val="1"/>
                <c:pt idx="0">
                  <c:v>Mousses and Foams</c:v>
                </c:pt>
              </c:strCache>
            </c:strRef>
          </c:tx>
          <c:spPr>
            <a:solidFill>
              <a:srgbClr val="9E7E0A"/>
            </a:solidFill>
          </c:spPr>
          <c:invertIfNegative val="0"/>
          <c:xVal>
            <c:numRef>
              <c:numCache>
                <c:formatCode>General</c:formatCode>
                <c:ptCount val="1"/>
                <c:pt idx="0">
                  <c:v>76.30114444375697</c:v>
                </c:pt>
              </c:numCache>
            </c:numRef>
          </c:xVal>
          <c:yVal>
            <c:numRef>
              <c:numCache>
                <c:formatCode>General</c:formatCode>
                <c:ptCount val="1"/>
                <c:pt idx="0">
                  <c:v>57.10554246974415</c:v>
                </c:pt>
              </c:numCache>
            </c:numRef>
          </c:yVal>
          <c:bubbleSize>
            <c:numRef>
              <c:numCache>
                <c:formatCode>General</c:formatCode>
                <c:ptCount val="1"/>
                <c:pt idx="0">
                  <c:v>563.048</c:v>
                </c:pt>
              </c:numCache>
            </c:numRef>
          </c:bubbleSize>
          <c:bubble3D val="0"/>
        </c:ser>
        <c:ser>
          <c:idx val="2"/>
          <c:order val="2"/>
          <c:tx>
            <c:strRef>
              <c:strCache>
                <c:ptCount val="1"/>
                <c:pt idx="0">
                  <c:v>Gels and Jellies</c:v>
                </c:pt>
              </c:strCache>
            </c:strRef>
          </c:tx>
          <c:spPr>
            <a:solidFill>
              <a:srgbClr val="008189"/>
            </a:solidFill>
          </c:spPr>
          <c:invertIfNegative val="0"/>
          <c:xVal>
            <c:numRef>
              <c:numCache>
                <c:formatCode>General</c:formatCode>
                <c:ptCount val="1"/>
                <c:pt idx="0">
                  <c:v>82.83273988610289</c:v>
                </c:pt>
              </c:numCache>
            </c:numRef>
          </c:xVal>
          <c:yVal>
            <c:numRef>
              <c:numCache>
                <c:formatCode>General</c:formatCode>
                <c:ptCount val="1"/>
                <c:pt idx="0">
                  <c:v>68.95321300053229</c:v>
                </c:pt>
              </c:numCache>
            </c:numRef>
          </c:yVal>
          <c:bubbleSize>
            <c:numRef>
              <c:numCache>
                <c:formatCode>General</c:formatCode>
                <c:ptCount val="1"/>
                <c:pt idx="0">
                  <c:v>706.021</c:v>
                </c:pt>
              </c:numCache>
            </c:numRef>
          </c:bubbleSize>
          <c:bubble3D val="0"/>
        </c:ser>
        <c:ser>
          <c:idx val="3"/>
          <c:order val="3"/>
          <c:tx>
            <c:strRef>
              <c:strCache>
                <c:ptCount val="1"/>
                <c:pt idx="0">
                  <c:v>Creams and Lotions</c:v>
                </c:pt>
              </c:strCache>
            </c:strRef>
          </c:tx>
          <c:spPr>
            <a:solidFill>
              <a:srgbClr val="40315E"/>
            </a:solidFill>
          </c:spPr>
          <c:invertIfNegative val="0"/>
          <c:xVal>
            <c:numRef>
              <c:numCache>
                <c:formatCode>General</c:formatCode>
                <c:ptCount val="1"/>
                <c:pt idx="0">
                  <c:v>112.03445746318326</c:v>
                </c:pt>
              </c:numCache>
            </c:numRef>
          </c:xVal>
          <c:yVal>
            <c:numRef>
              <c:numCache>
                <c:formatCode>General</c:formatCode>
                <c:ptCount val="1"/>
                <c:pt idx="0">
                  <c:v>94.1877217195075</c:v>
                </c:pt>
              </c:numCache>
            </c:numRef>
          </c:yVal>
          <c:bubbleSize>
            <c:numRef>
              <c:numCache>
                <c:formatCode>General</c:formatCode>
                <c:ptCount val="1"/>
                <c:pt idx="0">
                  <c:v>1139.76</c:v>
                </c:pt>
              </c:numCache>
            </c:numRef>
          </c:bubbleSize>
          <c:bubble3D val="0"/>
        </c:ser>
        <c:ser>
          <c:idx val="4"/>
          <c:order val="4"/>
          <c:tx>
            <c:strRef>
              <c:strCache>
                <c:ptCount val="1"/>
                <c:pt idx="0">
                  <c:v>Waxes, Clays, Pastes and Pomades</c:v>
                </c:pt>
              </c:strCache>
            </c:strRef>
          </c:tx>
          <c:spPr>
            <a:solidFill>
              <a:srgbClr val="A35313"/>
            </a:solidFill>
          </c:spPr>
          <c:invertIfNegative val="0"/>
          <c:xVal>
            <c:numRef>
              <c:numCache>
                <c:formatCode>General</c:formatCode>
                <c:ptCount val="1"/>
                <c:pt idx="0">
                  <c:v>91.38080466201389</c:v>
                </c:pt>
              </c:numCache>
            </c:numRef>
          </c:xVal>
          <c:yVal>
            <c:numRef>
              <c:numCache>
                <c:formatCode>General</c:formatCode>
                <c:ptCount val="1"/>
                <c:pt idx="0">
                  <c:v>131.83581361696432</c:v>
                </c:pt>
              </c:numCache>
            </c:numRef>
          </c:yVal>
          <c:bubbleSize>
            <c:numRef>
              <c:numCache>
                <c:formatCode>General</c:formatCode>
                <c:ptCount val="1"/>
                <c:pt idx="0">
                  <c:v>1417.951</c:v>
                </c:pt>
              </c:numCache>
            </c:numRef>
          </c:bubbleSize>
          <c:bubble3D val="0"/>
        </c:ser>
        <c:ser>
          <c:idx val="5"/>
          <c:order val="5"/>
          <c:tx>
            <c:strRef>
              <c:strCache>
                <c:ptCount val="1"/>
                <c:pt idx="0">
                  <c:v>Styling Powders</c:v>
                </c:pt>
              </c:strCache>
            </c:strRef>
          </c:tx>
          <c:spPr>
            <a:solidFill>
              <a:srgbClr val="808080"/>
            </a:solidFill>
          </c:spPr>
          <c:invertIfNegative val="0"/>
          <c:xVal>
            <c:numRef>
              <c:numCache>
                <c:formatCode>General</c:formatCode>
                <c:ptCount val="1"/>
                <c:pt idx="0">
                  <c:v>106.20119403868094</c:v>
                </c:pt>
              </c:numCache>
            </c:numRef>
          </c:xVal>
          <c:yVal>
            <c:numRef>
              <c:numCache>
                <c:formatCode>General</c:formatCode>
                <c:ptCount val="1"/>
                <c:pt idx="0">
                  <c:v>79.02999607956882</c:v>
                </c:pt>
              </c:numCache>
            </c:numRef>
          </c:yVal>
          <c:bubbleSize>
            <c:numRef>
              <c:numCache>
                <c:formatCode>General</c:formatCode>
                <c:ptCount val="1"/>
                <c:pt idx="0">
                  <c:v>925.154</c:v>
                </c:pt>
              </c:numCache>
            </c:numRef>
          </c:bubbleSize>
          <c:bubble3D val="0"/>
        </c:ser>
        <c:ser>
          <c:idx val="6"/>
          <c:order val="6"/>
          <c:tx>
            <c:strRef>
              <c:strCache>
                <c:ptCount val="1"/>
                <c:pt idx="0">
                  <c:v>Styling Serums and Oils</c:v>
                </c:pt>
              </c:strCache>
            </c:strRef>
          </c:tx>
          <c:spPr>
            <a:solidFill>
              <a:srgbClr val="0E72AE"/>
            </a:solidFill>
          </c:spPr>
          <c:invertIfNegative val="0"/>
          <c:xVal>
            <c:numRef>
              <c:numCache>
                <c:formatCode>General</c:formatCode>
                <c:ptCount val="1"/>
                <c:pt idx="0">
                  <c:v>115.20872492535186</c:v>
                </c:pt>
              </c:numCache>
            </c:numRef>
          </c:xVal>
          <c:yVal>
            <c:numRef>
              <c:numCache>
                <c:formatCode>General</c:formatCode>
                <c:ptCount val="1"/>
                <c:pt idx="0">
                  <c:v>152.69011700734046</c:v>
                </c:pt>
              </c:numCache>
            </c:numRef>
          </c:yVal>
          <c:bubbleSize>
            <c:numRef>
              <c:numCache>
                <c:formatCode>General</c:formatCode>
                <c:ptCount val="1"/>
                <c:pt idx="0">
                  <c:v>1881.241</c:v>
                </c:pt>
              </c:numCache>
            </c:numRef>
          </c:bubbleSize>
          <c:bubble3D val="0"/>
        </c:ser>
        <c:ser>
          <c:idx val="7"/>
          <c:order val="7"/>
          <c:tx>
            <c:strRef>
              <c:strCache>
                <c:ptCount val="1"/>
                <c:pt idx="0">
                  <c:v>Sticks and Balms</c:v>
                </c:pt>
              </c:strCache>
            </c:strRef>
          </c:tx>
          <c:spPr>
            <a:solidFill>
              <a:srgbClr val="A86F00"/>
            </a:solidFill>
          </c:spPr>
          <c:invertIfNegative val="0"/>
          <c:xVal>
            <c:numRef>
              <c:numCache>
                <c:formatCode>General</c:formatCode>
                <c:ptCount val="1"/>
                <c:pt idx="0">
                  <c:v>130.23471845520945</c:v>
                </c:pt>
              </c:numCache>
            </c:numRef>
          </c:xVal>
          <c:yVal>
            <c:numRef>
              <c:numCache>
                <c:formatCode>General</c:formatCode>
                <c:ptCount val="1"/>
                <c:pt idx="0">
                  <c:v>102.543180521513</c:v>
                </c:pt>
              </c:numCache>
            </c:numRef>
          </c:yVal>
          <c:bubbleSize>
            <c:numRef>
              <c:numCache>
                <c:formatCode>General</c:formatCode>
                <c:ptCount val="1"/>
                <c:pt idx="0">
                  <c:v>1375.123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713.1610000000001</c:v>
                </c:pt>
                <c:pt idx="2">
                  <c:v>758.62</c:v>
                </c:pt>
                <c:pt idx="3">
                  <c:v>814.578</c:v>
                </c:pt>
                <c:pt idx="4">
                  <c:v>879.212</c:v>
                </c:pt>
                <c:pt idx="5">
                  <c:v>951.635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713.1610000000001</c:v>
                </c:pt>
                <c:pt idx="1">
                  <c:v>45.458999999999946</c:v>
                </c:pt>
                <c:pt idx="2">
                  <c:v>55.95799999999997</c:v>
                </c:pt>
                <c:pt idx="3">
                  <c:v>64.63400000000001</c:v>
                </c:pt>
                <c:pt idx="4">
                  <c:v>72.423</c:v>
                </c:pt>
                <c:pt idx="5">
                  <c:v>79.77499999999986</c:v>
                </c:pt>
                <c:pt idx="6">
                  <c:v>1031.4099999999999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358.327</c:v>
                </c:pt>
                <c:pt idx="2">
                  <c:v>388.296</c:v>
                </c:pt>
                <c:pt idx="3">
                  <c:v>424.139</c:v>
                </c:pt>
                <c:pt idx="4">
                  <c:v>464.674</c:v>
                </c:pt>
                <c:pt idx="5">
                  <c:v>510.97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358.327</c:v>
                </c:pt>
                <c:pt idx="1">
                  <c:v>29.968999999999994</c:v>
                </c:pt>
                <c:pt idx="2">
                  <c:v>35.84300000000002</c:v>
                </c:pt>
                <c:pt idx="3">
                  <c:v>40.53499999999997</c:v>
                </c:pt>
                <c:pt idx="4">
                  <c:v>46.29600000000005</c:v>
                </c:pt>
                <c:pt idx="5">
                  <c:v>52.077999999999975</c:v>
                </c:pt>
                <c:pt idx="6">
                  <c:v>563.048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432.669</c:v>
                </c:pt>
                <c:pt idx="2">
                  <c:v>474.28</c:v>
                </c:pt>
                <c:pt idx="3">
                  <c:v>522.264</c:v>
                </c:pt>
                <c:pt idx="4">
                  <c:v>577.046</c:v>
                </c:pt>
                <c:pt idx="5">
                  <c:v>638.527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432.669</c:v>
                </c:pt>
                <c:pt idx="1">
                  <c:v>41.61099999999999</c:v>
                </c:pt>
                <c:pt idx="2">
                  <c:v>47.98400000000004</c:v>
                </c:pt>
                <c:pt idx="3">
                  <c:v>54.78200000000004</c:v>
                </c:pt>
                <c:pt idx="4">
                  <c:v>61.480999999999995</c:v>
                </c:pt>
                <c:pt idx="5">
                  <c:v>67.49399999999991</c:v>
                </c:pt>
                <c:pt idx="6">
                  <c:v>706.021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591.011</c:v>
                </c:pt>
                <c:pt idx="2">
                  <c:v>655.546</c:v>
                </c:pt>
                <c:pt idx="3">
                  <c:v>742.679</c:v>
                </c:pt>
                <c:pt idx="4">
                  <c:v>852.729</c:v>
                </c:pt>
                <c:pt idx="5">
                  <c:v>985.442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591.011</c:v>
                </c:pt>
                <c:pt idx="1">
                  <c:v>64.53500000000008</c:v>
                </c:pt>
                <c:pt idx="2">
                  <c:v>87.13299999999992</c:v>
                </c:pt>
                <c:pt idx="3">
                  <c:v>110.05000000000007</c:v>
                </c:pt>
                <c:pt idx="4">
                  <c:v>132.71299999999997</c:v>
                </c:pt>
                <c:pt idx="5">
                  <c:v>154.31799999999998</c:v>
                </c:pt>
                <c:pt idx="6">
                  <c:v>1139.76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827.246</c:v>
                </c:pt>
                <c:pt idx="2">
                  <c:v>915.388</c:v>
                </c:pt>
                <c:pt idx="3">
                  <c:v>1019.791</c:v>
                </c:pt>
                <c:pt idx="4">
                  <c:v>1136.948</c:v>
                </c:pt>
                <c:pt idx="5">
                  <c:v>1270.494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827.246</c:v>
                </c:pt>
                <c:pt idx="1">
                  <c:v>88.14200000000005</c:v>
                </c:pt>
                <c:pt idx="2">
                  <c:v>104.40300000000002</c:v>
                </c:pt>
                <c:pt idx="3">
                  <c:v>117.15700000000004</c:v>
                </c:pt>
                <c:pt idx="4">
                  <c:v>133.54599999999982</c:v>
                </c:pt>
                <c:pt idx="5">
                  <c:v>147.4570000000001</c:v>
                </c:pt>
                <c:pt idx="6">
                  <c:v>1417.951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495.899</c:v>
                </c:pt>
                <c:pt idx="2">
                  <c:v>550.0</c:v>
                </c:pt>
                <c:pt idx="3">
                  <c:v>620.526</c:v>
                </c:pt>
                <c:pt idx="4">
                  <c:v>711.244</c:v>
                </c:pt>
                <c:pt idx="5">
                  <c:v>813.447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495.899</c:v>
                </c:pt>
                <c:pt idx="1">
                  <c:v>54.101</c:v>
                </c:pt>
                <c:pt idx="2">
                  <c:v>70.52599999999995</c:v>
                </c:pt>
                <c:pt idx="3">
                  <c:v>90.71800000000007</c:v>
                </c:pt>
                <c:pt idx="4">
                  <c:v>102.20299999999997</c:v>
                </c:pt>
                <c:pt idx="5">
                  <c:v>111.707</c:v>
                </c:pt>
                <c:pt idx="6">
                  <c:v>925.154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958.103</c:v>
                </c:pt>
                <c:pt idx="2">
                  <c:v>1069.383</c:v>
                </c:pt>
                <c:pt idx="3">
                  <c:v>1211.089</c:v>
                </c:pt>
                <c:pt idx="4">
                  <c:v>1392.04</c:v>
                </c:pt>
                <c:pt idx="5">
                  <c:v>1616.064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958.103</c:v>
                </c:pt>
                <c:pt idx="1">
                  <c:v>111.28000000000009</c:v>
                </c:pt>
                <c:pt idx="2">
                  <c:v>141.7059999999999</c:v>
                </c:pt>
                <c:pt idx="3">
                  <c:v>180.95100000000002</c:v>
                </c:pt>
                <c:pt idx="4">
                  <c:v>224.02400000000011</c:v>
                </c:pt>
                <c:pt idx="5">
                  <c:v>265.1769999999999</c:v>
                </c:pt>
                <c:pt idx="6">
                  <c:v>1881.241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643.44</c:v>
                </c:pt>
                <c:pt idx="2">
                  <c:v>736.401</c:v>
                </c:pt>
                <c:pt idx="3">
                  <c:v>860.343</c:v>
                </c:pt>
                <c:pt idx="4">
                  <c:v>1011.11</c:v>
                </c:pt>
                <c:pt idx="5">
                  <c:v>1181.481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643.44</c:v>
                </c:pt>
                <c:pt idx="1">
                  <c:v>92.9609999999999</c:v>
                </c:pt>
                <c:pt idx="2">
                  <c:v>123.94200000000001</c:v>
                </c:pt>
                <c:pt idx="3">
                  <c:v>150.76700000000005</c:v>
                </c:pt>
                <c:pt idx="4">
                  <c:v>170.37099999999998</c:v>
                </c:pt>
                <c:pt idx="5">
                  <c:v>193.64200000000005</c:v>
                </c:pt>
                <c:pt idx="6">
                  <c:v>1375.123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Serums and Oils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18.672478086105862</c:v>
                </c:pt>
                <c:pt idx="1">
                  <c:v>19.086264625917558</c:v>
                </c:pt>
                <c:pt idx="2">
                  <c:v>20.81086026230051</c:v>
                </c:pt>
              </c:numCache>
            </c:numRef>
          </c:val>
        </c:ser>
        <c:ser>
          <c:idx val="1"/>
          <c:order val="1"/>
          <c:tx>
            <c:strRef>
              <c:strCache>
                <c:ptCount val="1"/>
                <c:pt idx="0">
                  <c:v>Waxes, Clays, Pastes and Pomades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16.226911714853017</c:v>
                </c:pt>
                <c:pt idx="1">
                  <c:v>16.47947670212054</c:v>
                </c:pt>
                <c:pt idx="2">
                  <c:v>15.685805337960032</c:v>
                </c:pt>
              </c:numCache>
            </c:numRef>
          </c:val>
        </c:ser>
        <c:ser>
          <c:idx val="2"/>
          <c:order val="2"/>
          <c:tx>
            <c:strRef>
              <c:strCache>
                <c:ptCount val="1"/>
                <c:pt idx="0">
                  <c:v>Sticks and Balms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11.685553779844058</c:v>
                </c:pt>
                <c:pt idx="1">
                  <c:v>12.817897565189124</c:v>
                </c:pt>
                <c:pt idx="2">
                  <c:v>15.212028972617256</c:v>
                </c:pt>
              </c:numCache>
            </c:numRef>
          </c:val>
        </c:ser>
        <c:ser>
          <c:idx val="3"/>
          <c:order val="3"/>
          <c:tx>
            <c:strRef>
              <c:strCache>
                <c:ptCount val="1"/>
                <c:pt idx="0">
                  <c:v>Creams and Lotions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12.031962806915589</c:v>
                </c:pt>
                <c:pt idx="1">
                  <c:v>11.773465214938437</c:v>
                </c:pt>
                <c:pt idx="2">
                  <c:v>12.608371863338947</c:v>
                </c:pt>
              </c:numCache>
            </c:numRef>
          </c:val>
        </c:ser>
        <c:ser>
          <c:idx val="4"/>
          <c:order val="4"/>
          <c:tx>
            <c:strRef>
              <c:strCache>
                <c:ptCount val="1"/>
                <c:pt idx="0">
                  <c:v>Sprays and Mists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15.339168967020195</c:v>
                </c:pt>
                <c:pt idx="1">
                  <c:v>14.206801948103692</c:v>
                </c:pt>
                <c:pt idx="2">
                  <c:v>11.409771200574175</c:v>
                </c:pt>
              </c:numCache>
            </c:numRef>
          </c:val>
        </c:ser>
        <c:ser>
          <c:idx val="5"/>
          <c:order val="5"/>
          <c:tx>
            <c:strRef>
              <c:strCache>
                <c:ptCount val="1"/>
                <c:pt idx="0">
                  <c:v>Powders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9.958859993220011</c:v>
                </c:pt>
                <c:pt idx="1">
                  <c:v>9.878749509946102</c:v>
                </c:pt>
                <c:pt idx="2">
                  <c:v>10.234335002856286</c:v>
                </c:pt>
              </c:numCache>
            </c:numRef>
          </c:val>
        </c:ser>
        <c:ser>
          <c:idx val="6"/>
          <c:order val="6"/>
          <c:tx>
            <c:strRef>
              <c:strCache>
                <c:ptCount val="1"/>
                <c:pt idx="0">
                  <c:v>Gels and Jellies</c:v>
                </c:pt>
              </c:strCache>
            </c:strRef>
          </c:tx>
          <c:spPr>
            <a:solidFill>
              <a:srgbClr val="0E72AE"/>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8.692769625647731</c:v>
                </c:pt>
                <c:pt idx="1">
                  <c:v>8.619151625066536</c:v>
                </c:pt>
                <c:pt idx="2">
                  <c:v>7.810219091147634</c:v>
                </c:pt>
              </c:numCache>
            </c:numRef>
          </c:val>
        </c:ser>
        <c:ser>
          <c:idx val="7"/>
          <c:order val="7"/>
          <c:tx>
            <c:strRef>
              <c:strCache>
                <c:ptCount val="1"/>
                <c:pt idx="0">
                  <c:v>Mousses and Foams</c:v>
                </c:pt>
              </c:strCache>
            </c:strRef>
          </c:tx>
          <c:spPr>
            <a:solidFill>
              <a:srgbClr val="A86F00"/>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7.392295026393529</c:v>
                </c:pt>
                <c:pt idx="1">
                  <c:v>7.138192808718019</c:v>
                </c:pt>
                <c:pt idx="2">
                  <c:v>6.228608269205155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No Hold</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20.049022486100892</c:v>
                </c:pt>
                <c:pt idx="1">
                  <c:v>20.055280025700256</c:v>
                </c:pt>
              </c:numCache>
            </c:numRef>
          </c:val>
        </c:ser>
        <c:ser>
          <c:idx val="1"/>
          <c:order val="1"/>
          <c:tx>
            <c:strRef>
              <c:strCache>
                <c:ptCount val="1"/>
                <c:pt idx="0">
                  <c:v>Light or Flexible Hold</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22.22717282556261</c:v>
                </c:pt>
                <c:pt idx="1">
                  <c:v>22.24204133457755</c:v>
                </c:pt>
              </c:numCache>
            </c:numRef>
          </c:val>
        </c:ser>
        <c:ser>
          <c:idx val="2"/>
          <c:order val="2"/>
          <c:tx>
            <c:strRef>
              <c:strCache>
                <c:ptCount val="1"/>
                <c:pt idx="0">
                  <c:v>Medium Hold</c:v>
                </c:pt>
              </c:strCache>
            </c:strRef>
          </c:tx>
          <c:spPr>
            <a:solidFill>
              <a:srgbClr val="008189"/>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22.014757403166772</c:v>
                </c:pt>
                <c:pt idx="1">
                  <c:v>22.013810827762395</c:v>
                </c:pt>
              </c:numCache>
            </c:numRef>
          </c:val>
        </c:ser>
        <c:ser>
          <c:idx val="3"/>
          <c:order val="3"/>
          <c:tx>
            <c:strRef>
              <c:strCache>
                <c:ptCount val="1"/>
                <c:pt idx="0">
                  <c:v>Strong Hold</c:v>
                </c:pt>
              </c:strCache>
            </c:strRef>
          </c:tx>
          <c:spPr>
            <a:solidFill>
              <a:srgbClr val="40315E"/>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19.75244680691841</c:v>
                </c:pt>
                <c:pt idx="1">
                  <c:v>19.7445272223837</c:v>
                </c:pt>
              </c:numCache>
            </c:numRef>
          </c:val>
        </c:ser>
        <c:ser>
          <c:idx val="4"/>
          <c:order val="4"/>
          <c:tx>
            <c:strRef>
              <c:strCache>
                <c:ptCount val="1"/>
                <c:pt idx="0">
                  <c:v>Extra-strong Hold</c:v>
                </c:pt>
              </c:strCache>
            </c:strRef>
          </c:tx>
          <c:spPr>
            <a:solidFill>
              <a:srgbClr val="A35313"/>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15.956600478251309</c:v>
                </c:pt>
                <c:pt idx="1">
                  <c:v>15.9443405895761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No Hold</c:v>
                </c:pt>
              </c:strCache>
            </c:strRef>
          </c:tx>
          <c:spPr>
            <a:solidFill>
              <a:srgbClr val="3D85C6"/>
            </a:solidFill>
          </c:spPr>
          <c:invertIfNegative val="0"/>
          <c:xVal>
            <c:numRef>
              <c:numCache>
                <c:formatCode>General</c:formatCode>
                <c:ptCount val="1"/>
                <c:pt idx="0">
                  <c:v>109.42237690688425</c:v>
                </c:pt>
              </c:numCache>
            </c:numRef>
          </c:xVal>
          <c:yVal>
            <c:numRef>
              <c:numCache>
                <c:formatCode>General</c:formatCode>
                <c:ptCount val="1"/>
                <c:pt idx="0">
                  <c:v>95.03242623541915</c:v>
                </c:pt>
              </c:numCache>
            </c:numRef>
          </c:yVal>
          <c:bubbleSize>
            <c:numRef>
              <c:numCache>
                <c:formatCode>General</c:formatCode>
                <c:ptCount val="1"/>
                <c:pt idx="0">
                  <c:v>1812.884</c:v>
                </c:pt>
              </c:numCache>
            </c:numRef>
          </c:bubbleSize>
          <c:bubble3D val="0"/>
        </c:ser>
        <c:ser>
          <c:idx val="1"/>
          <c:order val="1"/>
          <c:tx>
            <c:strRef>
              <c:strCache>
                <c:ptCount val="1"/>
                <c:pt idx="0">
                  <c:v>Light or Flexible Hold</c:v>
                </c:pt>
              </c:strCache>
            </c:strRef>
          </c:tx>
          <c:spPr>
            <a:solidFill>
              <a:srgbClr val="9E7E0A"/>
            </a:solidFill>
          </c:spPr>
          <c:invertIfNegative val="0"/>
          <c:xVal>
            <c:numRef>
              <c:numCache>
                <c:formatCode>General</c:formatCode>
                <c:ptCount val="1"/>
                <c:pt idx="0">
                  <c:v>116.91405826712382</c:v>
                </c:pt>
              </c:numCache>
            </c:numRef>
          </c:xVal>
          <c:yVal>
            <c:numRef>
              <c:numCache>
                <c:formatCode>General</c:formatCode>
                <c:ptCount val="1"/>
                <c:pt idx="0">
                  <c:v>101.00789763847762</c:v>
                </c:pt>
              </c:numCache>
            </c:numRef>
          </c:yVal>
          <c:bubbleSize>
            <c:numRef>
              <c:numCache>
                <c:formatCode>General</c:formatCode>
                <c:ptCount val="1"/>
                <c:pt idx="0">
                  <c:v>2010.487</c:v>
                </c:pt>
              </c:numCache>
            </c:numRef>
          </c:bubbleSize>
          <c:bubble3D val="0"/>
        </c:ser>
        <c:ser>
          <c:idx val="2"/>
          <c:order val="2"/>
          <c:tx>
            <c:strRef>
              <c:strCache>
                <c:ptCount val="1"/>
                <c:pt idx="0">
                  <c:v>Medium Hold</c:v>
                </c:pt>
              </c:strCache>
            </c:strRef>
          </c:tx>
          <c:spPr>
            <a:solidFill>
              <a:srgbClr val="008189"/>
            </a:solidFill>
          </c:spPr>
          <c:invertIfNegative val="0"/>
          <c:xVal>
            <c:numRef>
              <c:numCache>
                <c:formatCode>General</c:formatCode>
                <c:ptCount val="1"/>
                <c:pt idx="0">
                  <c:v>98.63392862741316</c:v>
                </c:pt>
              </c:numCache>
            </c:numRef>
          </c:xVal>
          <c:yVal>
            <c:numRef>
              <c:numCache>
                <c:formatCode>General</c:formatCode>
                <c:ptCount val="1"/>
                <c:pt idx="0">
                  <c:v>110.93218828033879</c:v>
                </c:pt>
              </c:numCache>
            </c:numRef>
          </c:yVal>
          <c:bubbleSize>
            <c:numRef>
              <c:numCache>
                <c:formatCode>General</c:formatCode>
                <c:ptCount val="1"/>
                <c:pt idx="0">
                  <c:v>1989.993</c:v>
                </c:pt>
              </c:numCache>
            </c:numRef>
          </c:bubbleSize>
          <c:bubble3D val="0"/>
        </c:ser>
        <c:ser>
          <c:idx val="3"/>
          <c:order val="3"/>
          <c:tx>
            <c:strRef>
              <c:strCache>
                <c:ptCount val="1"/>
                <c:pt idx="0">
                  <c:v>Strong Hold</c:v>
                </c:pt>
              </c:strCache>
            </c:strRef>
          </c:tx>
          <c:spPr>
            <a:solidFill>
              <a:srgbClr val="40315E"/>
            </a:solidFill>
          </c:spPr>
          <c:invertIfNegative val="0"/>
          <c:xVal>
            <c:numRef>
              <c:numCache>
                <c:formatCode>General</c:formatCode>
                <c:ptCount val="1"/>
                <c:pt idx="0">
                  <c:v>89.97312717829385</c:v>
                </c:pt>
              </c:numCache>
            </c:numRef>
          </c:xVal>
          <c:yVal>
            <c:numRef>
              <c:numCache>
                <c:formatCode>General</c:formatCode>
                <c:ptCount val="1"/>
                <c:pt idx="0">
                  <c:v>104.56377724057766</c:v>
                </c:pt>
              </c:numCache>
            </c:numRef>
          </c:yVal>
          <c:bubbleSize>
            <c:numRef>
              <c:numCache>
                <c:formatCode>General</c:formatCode>
                <c:ptCount val="1"/>
                <c:pt idx="0">
                  <c:v>1784.917</c:v>
                </c:pt>
              </c:numCache>
            </c:numRef>
          </c:bubbleSize>
          <c:bubble3D val="0"/>
        </c:ser>
        <c:ser>
          <c:idx val="4"/>
          <c:order val="4"/>
          <c:tx>
            <c:strRef>
              <c:strCache>
                <c:ptCount val="1"/>
                <c:pt idx="0">
                  <c:v>Extra-strong Hold</c:v>
                </c:pt>
              </c:strCache>
            </c:strRef>
          </c:tx>
          <c:spPr>
            <a:solidFill>
              <a:srgbClr val="A35313"/>
            </a:solidFill>
          </c:spPr>
          <c:invertIfNegative val="0"/>
          <c:xVal>
            <c:numRef>
              <c:numCache>
                <c:formatCode>General</c:formatCode>
                <c:ptCount val="1"/>
                <c:pt idx="0">
                  <c:v>81.8929436800737</c:v>
                </c:pt>
              </c:numCache>
            </c:numRef>
          </c:xVal>
          <c:yVal>
            <c:numRef>
              <c:numCache>
                <c:formatCode>General</c:formatCode>
                <c:ptCount val="1"/>
                <c:pt idx="0">
                  <c:v>88.46371060518679</c:v>
                </c:pt>
              </c:numCache>
            </c:numRef>
          </c:yVal>
          <c:bubbleSize>
            <c:numRef>
              <c:numCache>
                <c:formatCode>General</c:formatCode>
                <c:ptCount val="1"/>
                <c:pt idx="0">
                  <c:v>1441.428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7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954.098</c:v>
                </c:pt>
                <c:pt idx="2">
                  <c:v>1053.115</c:v>
                </c:pt>
                <c:pt idx="3">
                  <c:v>1189.005</c:v>
                </c:pt>
                <c:pt idx="4">
                  <c:v>1362.835</c:v>
                </c:pt>
                <c:pt idx="5">
                  <c:v>1571.312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954.098</c:v>
                </c:pt>
                <c:pt idx="1">
                  <c:v>99.01700000000005</c:v>
                </c:pt>
                <c:pt idx="2">
                  <c:v>135.8900000000001</c:v>
                </c:pt>
                <c:pt idx="3">
                  <c:v>173.82999999999993</c:v>
                </c:pt>
                <c:pt idx="4">
                  <c:v>208.47699999999986</c:v>
                </c:pt>
                <c:pt idx="5">
                  <c:v>241.57200000000012</c:v>
                </c:pt>
                <c:pt idx="6">
                  <c:v>1812.884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1014.09</c:v>
                </c:pt>
                <c:pt idx="2">
                  <c:v>1132.726</c:v>
                </c:pt>
                <c:pt idx="3">
                  <c:v>1289.353</c:v>
                </c:pt>
                <c:pt idx="4">
                  <c:v>1496.018</c:v>
                </c:pt>
                <c:pt idx="5">
                  <c:v>1736.333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1014.09</c:v>
                </c:pt>
                <c:pt idx="1">
                  <c:v>118.63600000000008</c:v>
                </c:pt>
                <c:pt idx="2">
                  <c:v>156.62699999999995</c:v>
                </c:pt>
                <c:pt idx="3">
                  <c:v>206.66499999999996</c:v>
                </c:pt>
                <c:pt idx="4">
                  <c:v>240.31500000000005</c:v>
                </c:pt>
                <c:pt idx="5">
                  <c:v>274.154</c:v>
                </c:pt>
                <c:pt idx="6">
                  <c:v>2010.487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1113.727</c:v>
                </c:pt>
                <c:pt idx="2">
                  <c:v>1237.219</c:v>
                </c:pt>
                <c:pt idx="3">
                  <c:v>1389.568</c:v>
                </c:pt>
                <c:pt idx="4">
                  <c:v>1561.47</c:v>
                </c:pt>
                <c:pt idx="5">
                  <c:v>1762.93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1113.727</c:v>
                </c:pt>
                <c:pt idx="1">
                  <c:v>123.49199999999996</c:v>
                </c:pt>
                <c:pt idx="2">
                  <c:v>152.34899999999993</c:v>
                </c:pt>
                <c:pt idx="3">
                  <c:v>171.90200000000004</c:v>
                </c:pt>
                <c:pt idx="4">
                  <c:v>201.46000000000004</c:v>
                </c:pt>
                <c:pt idx="5">
                  <c:v>227.06299999999987</c:v>
                </c:pt>
                <c:pt idx="6">
                  <c:v>1989.993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1049.79</c:v>
                </c:pt>
                <c:pt idx="2">
                  <c:v>1157.239</c:v>
                </c:pt>
                <c:pt idx="3">
                  <c:v>1284.48</c:v>
                </c:pt>
                <c:pt idx="4">
                  <c:v>1431.836</c:v>
                </c:pt>
                <c:pt idx="5">
                  <c:v>1598.357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1049.79</c:v>
                </c:pt>
                <c:pt idx="1">
                  <c:v>107.44900000000007</c:v>
                </c:pt>
                <c:pt idx="2">
                  <c:v>127.24099999999999</c:v>
                </c:pt>
                <c:pt idx="3">
                  <c:v>147.356</c:v>
                </c:pt>
                <c:pt idx="4">
                  <c:v>166.52099999999996</c:v>
                </c:pt>
                <c:pt idx="5">
                  <c:v>186.55999999999995</c:v>
                </c:pt>
                <c:pt idx="6">
                  <c:v>1784.917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888.15</c:v>
                </c:pt>
                <c:pt idx="2">
                  <c:v>967.615</c:v>
                </c:pt>
                <c:pt idx="3">
                  <c:v>1063.004</c:v>
                </c:pt>
                <c:pt idx="4">
                  <c:v>1172.843</c:v>
                </c:pt>
                <c:pt idx="5">
                  <c:v>1299.129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888.15</c:v>
                </c:pt>
                <c:pt idx="1">
                  <c:v>79.46500000000003</c:v>
                </c:pt>
                <c:pt idx="2">
                  <c:v>95.3889999999999</c:v>
                </c:pt>
                <c:pt idx="3">
                  <c:v>109.83900000000017</c:v>
                </c:pt>
                <c:pt idx="4">
                  <c:v>126.28599999999983</c:v>
                </c:pt>
                <c:pt idx="5">
                  <c:v>142.2990000000002</c:v>
                </c:pt>
                <c:pt idx="6">
                  <c:v>1441.428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Light or Flexible Hold</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20.202334253474742</c:v>
                </c:pt>
                <c:pt idx="1">
                  <c:v>20.20157952769552</c:v>
                </c:pt>
                <c:pt idx="2">
                  <c:v>22.24061637382354</c:v>
                </c:pt>
              </c:numCache>
            </c:numRef>
          </c:val>
        </c:ser>
        <c:ser>
          <c:idx val="1"/>
          <c:order val="1"/>
          <c:tx>
            <c:strRef>
              <c:strCache>
                <c:ptCount val="1"/>
                <c:pt idx="0">
                  <c:v>Medium Hold</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21.417477843963386</c:v>
                </c:pt>
                <c:pt idx="1">
                  <c:v>22.18643765606776</c:v>
                </c:pt>
                <c:pt idx="2">
                  <c:v>22.01390553611847</c:v>
                </c:pt>
              </c:numCache>
            </c:numRef>
          </c:val>
        </c:ser>
        <c:ser>
          <c:idx val="2"/>
          <c:order val="2"/>
          <c:tx>
            <c:strRef>
              <c:strCache>
                <c:ptCount val="1"/>
                <c:pt idx="0">
                  <c:v>No Hold</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19.512785122766235</c:v>
                </c:pt>
                <c:pt idx="1">
                  <c:v>19.00648524708383</c:v>
                </c:pt>
                <c:pt idx="2">
                  <c:v>20.05467211389216</c:v>
                </c:pt>
              </c:numCache>
            </c:numRef>
          </c:val>
        </c:ser>
        <c:ser>
          <c:idx val="3"/>
          <c:order val="3"/>
          <c:tx>
            <c:strRef>
              <c:strCache>
                <c:ptCount val="1"/>
                <c:pt idx="0">
                  <c:v>Strong Hold</c:v>
                </c:pt>
              </c:strCache>
            </c:strRef>
          </c:tx>
          <c:spPr>
            <a:solidFill>
              <a:srgbClr val="40315E"/>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20.867862850501233</c:v>
                </c:pt>
                <c:pt idx="1">
                  <c:v>20.912755448115533</c:v>
                </c:pt>
                <c:pt idx="2">
                  <c:v>19.745292685859685</c:v>
                </c:pt>
              </c:numCache>
            </c:numRef>
          </c:val>
        </c:ser>
        <c:ser>
          <c:idx val="4"/>
          <c:order val="4"/>
          <c:tx>
            <c:strRef>
              <c:strCache>
                <c:ptCount val="1"/>
                <c:pt idx="0">
                  <c:v>Extra-strong Hold</c:v>
                </c:pt>
              </c:strCache>
            </c:strRef>
          </c:tx>
          <c:spPr>
            <a:solidFill>
              <a:srgbClr val="A35313"/>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17.999539929294397</c:v>
                </c:pt>
                <c:pt idx="1">
                  <c:v>17.692742121037362</c:v>
                </c:pt>
                <c:pt idx="2">
                  <c:v>15.945513290306138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Matte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33.09489846082288</c:v>
                </c:pt>
                <c:pt idx="1">
                  <c:v>33.094643259692724</c:v>
                </c:pt>
              </c:numCache>
            </c:numRef>
          </c:val>
        </c:ser>
        <c:ser>
          <c:idx val="1"/>
          <c:order val="1"/>
          <c:tx>
            <c:strRef>
              <c:strCache>
                <c:ptCount val="1"/>
                <c:pt idx="0">
                  <c:v>Natural</c:v>
                </c:pt>
              </c:strCache>
            </c:strRef>
          </c:tx>
          <c:spPr>
            <a:solidFill>
              <a:srgbClr val="9E7E0A"/>
            </a:solidFill>
            <a:ln>
              <a:noFill/>
            </a:ln>
          </c:spPr>
          <c:dLbls>
            <c:dLbl>
              <c:idx val="0"/>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32.34758761704434</c:v>
                </c:pt>
                <c:pt idx="1">
                  <c:v>32.335910619907224</c:v>
                </c:pt>
              </c:numCache>
            </c:numRef>
          </c:val>
        </c:ser>
        <c:ser>
          <c:idx val="2"/>
          <c:order val="2"/>
          <c:tx>
            <c:strRef>
              <c:strCache>
                <c:ptCount val="1"/>
                <c:pt idx="0">
                  <c:v>Glossy or Wet-look</c:v>
                </c:pt>
              </c:strCache>
            </c:strRef>
          </c:tx>
          <c:spPr>
            <a:solidFill>
              <a:srgbClr val="008189"/>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34.55751392213276</c:v>
                </c:pt>
                <c:pt idx="1">
                  <c:v>34.56944612040005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Matte</c:v>
                </c:pt>
              </c:strCache>
            </c:strRef>
          </c:tx>
          <c:spPr>
            <a:solidFill>
              <a:srgbClr val="3D85C6"/>
            </a:solidFill>
          </c:spPr>
          <c:invertIfNegative val="0"/>
          <c:xVal>
            <c:numRef>
              <c:numCache>
                <c:formatCode>General</c:formatCode>
                <c:ptCount val="1"/>
                <c:pt idx="0">
                  <c:v>99.26842993351983</c:v>
                </c:pt>
              </c:numCache>
            </c:numRef>
          </c:xVal>
          <c:yVal>
            <c:numRef>
              <c:numCache>
                <c:formatCode>General</c:formatCode>
                <c:ptCount val="1"/>
                <c:pt idx="0">
                  <c:v>99.69987180904629</c:v>
                </c:pt>
              </c:numCache>
            </c:numRef>
          </c:yVal>
          <c:bubbleSize>
            <c:numRef>
              <c:numCache>
                <c:formatCode>General</c:formatCode>
                <c:ptCount val="1"/>
                <c:pt idx="0">
                  <c:v>2991.661</c:v>
                </c:pt>
              </c:numCache>
            </c:numRef>
          </c:bubbleSize>
          <c:bubble3D val="0"/>
        </c:ser>
        <c:ser>
          <c:idx val="1"/>
          <c:order val="1"/>
          <c:tx>
            <c:strRef>
              <c:strCache>
                <c:ptCount val="1"/>
                <c:pt idx="0">
                  <c:v>Natural</c:v>
                </c:pt>
              </c:strCache>
            </c:strRef>
          </c:tx>
          <c:spPr>
            <a:solidFill>
              <a:srgbClr val="9E7E0A"/>
            </a:solidFill>
          </c:spPr>
          <c:invertIfNegative val="0"/>
          <c:xVal>
            <c:numRef>
              <c:numCache>
                <c:formatCode>General</c:formatCode>
                <c:ptCount val="1"/>
                <c:pt idx="0">
                  <c:v>90.60495646810394</c:v>
                </c:pt>
              </c:numCache>
            </c:numRef>
          </c:xVal>
          <c:yVal>
            <c:numRef>
              <c:numCache>
                <c:formatCode>General</c:formatCode>
                <c:ptCount val="1"/>
                <c:pt idx="0">
                  <c:v>102.37472994737897</c:v>
                </c:pt>
              </c:numCache>
            </c:numRef>
          </c:yVal>
          <c:bubbleSize>
            <c:numRef>
              <c:numCache>
                <c:formatCode>General</c:formatCode>
                <c:ptCount val="1"/>
                <c:pt idx="0">
                  <c:v>2923.173</c:v>
                </c:pt>
              </c:numCache>
            </c:numRef>
          </c:bubbleSize>
          <c:bubble3D val="0"/>
        </c:ser>
        <c:ser>
          <c:idx val="2"/>
          <c:order val="2"/>
          <c:tx>
            <c:strRef>
              <c:strCache>
                <c:ptCount val="1"/>
                <c:pt idx="0">
                  <c:v>Glossy or Wet-look</c:v>
                </c:pt>
              </c:strCache>
            </c:strRef>
          </c:tx>
          <c:spPr>
            <a:solidFill>
              <a:srgbClr val="008189"/>
            </a:solidFill>
          </c:spPr>
          <c:invertIfNegative val="0"/>
          <c:xVal>
            <c:numRef>
              <c:numCache>
                <c:formatCode>General</c:formatCode>
                <c:ptCount val="1"/>
                <c:pt idx="0">
                  <c:v>110.06693693089866</c:v>
                </c:pt>
              </c:numCache>
            </c:numRef>
          </c:xVal>
          <c:yVal>
            <c:numRef>
              <c:numCache>
                <c:formatCode>General</c:formatCode>
                <c:ptCount val="1"/>
                <c:pt idx="0">
                  <c:v>97.92539824357478</c:v>
                </c:pt>
              </c:numCache>
            </c:numRef>
          </c:yVal>
          <c:bubbleSize>
            <c:numRef>
              <c:numCache>
                <c:formatCode>General</c:formatCode>
                <c:ptCount val="1"/>
                <c:pt idx="0">
                  <c:v>3124.874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8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1668.263</c:v>
                </c:pt>
                <c:pt idx="2">
                  <c:v>1852.497</c:v>
                </c:pt>
                <c:pt idx="3">
                  <c:v>2080.144</c:v>
                </c:pt>
                <c:pt idx="4">
                  <c:v>2341.991</c:v>
                </c:pt>
                <c:pt idx="5">
                  <c:v>2647.557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1668.263</c:v>
                </c:pt>
                <c:pt idx="1">
                  <c:v>184.23400000000015</c:v>
                </c:pt>
                <c:pt idx="2">
                  <c:v>227.6469999999997</c:v>
                </c:pt>
                <c:pt idx="3">
                  <c:v>261.8470000000002</c:v>
                </c:pt>
                <c:pt idx="4">
                  <c:v>305.5659999999998</c:v>
                </c:pt>
                <c:pt idx="5">
                  <c:v>344.10400000000027</c:v>
                </c:pt>
                <c:pt idx="6">
                  <c:v>2991.661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1713.021</c:v>
                </c:pt>
                <c:pt idx="2">
                  <c:v>1887.612</c:v>
                </c:pt>
                <c:pt idx="3">
                  <c:v>2094.679</c:v>
                </c:pt>
                <c:pt idx="4">
                  <c:v>2339.508</c:v>
                </c:pt>
                <c:pt idx="5">
                  <c:v>2614.939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1713.021</c:v>
                </c:pt>
                <c:pt idx="1">
                  <c:v>174.59100000000012</c:v>
                </c:pt>
                <c:pt idx="2">
                  <c:v>207.067</c:v>
                </c:pt>
                <c:pt idx="3">
                  <c:v>244.82899999999972</c:v>
                </c:pt>
                <c:pt idx="4">
                  <c:v>275.43100000000004</c:v>
                </c:pt>
                <c:pt idx="5">
                  <c:v>308.2339999999999</c:v>
                </c:pt>
                <c:pt idx="6">
                  <c:v>2923.173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1638.571</c:v>
                </c:pt>
                <c:pt idx="2">
                  <c:v>1807.805</c:v>
                </c:pt>
                <c:pt idx="3">
                  <c:v>2040.587</c:v>
                </c:pt>
                <c:pt idx="4">
                  <c:v>2343.503</c:v>
                </c:pt>
                <c:pt idx="5">
                  <c:v>2705.564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1638.571</c:v>
                </c:pt>
                <c:pt idx="1">
                  <c:v>169.23400000000015</c:v>
                </c:pt>
                <c:pt idx="2">
                  <c:v>232.78199999999993</c:v>
                </c:pt>
                <c:pt idx="3">
                  <c:v>302.91600000000017</c:v>
                </c:pt>
                <c:pt idx="4">
                  <c:v>362.0609999999997</c:v>
                </c:pt>
                <c:pt idx="5">
                  <c:v>419.30999999999995</c:v>
                </c:pt>
                <c:pt idx="6">
                  <c:v>3124.874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Glossy or Wet-look</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33.63647149983049</c:v>
                </c:pt>
                <c:pt idx="1">
                  <c:v>32.641799414524925</c:v>
                </c:pt>
                <c:pt idx="2">
                  <c:v>34.56830685238948</c:v>
                </c:pt>
              </c:numCache>
            </c:numRef>
          </c:val>
        </c:ser>
        <c:ser>
          <c:idx val="1"/>
          <c:order val="1"/>
          <c:tx>
            <c:strRef>
              <c:strCache>
                <c:ptCount val="1"/>
                <c:pt idx="0">
                  <c:v>Matte</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32.19262434016175</c:v>
                </c:pt>
                <c:pt idx="1">
                  <c:v>33.233290603015426</c:v>
                </c:pt>
                <c:pt idx="2">
                  <c:v>33.09466411968175</c:v>
                </c:pt>
              </c:numCache>
            </c:numRef>
          </c:val>
        </c:ser>
        <c:ser>
          <c:idx val="2"/>
          <c:order val="2"/>
          <c:tx>
            <c:strRef>
              <c:strCache>
                <c:ptCount val="1"/>
                <c:pt idx="0">
                  <c:v>Natural</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34.17090416000775</c:v>
                </c:pt>
                <c:pt idx="1">
                  <c:v>34.124909982459656</c:v>
                </c:pt>
                <c:pt idx="2">
                  <c:v>32.33702902792878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Mass Retail</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17.166945665463942</c:v>
                </c:pt>
                <c:pt idx="1">
                  <c:v>16.72519797149132</c:v>
                </c:pt>
              </c:numCache>
            </c:numRef>
          </c:val>
        </c:ser>
        <c:ser>
          <c:idx val="1"/>
          <c:order val="1"/>
          <c:tx>
            <c:strRef>
              <c:strCache>
                <c:ptCount val="1"/>
                <c:pt idx="0">
                  <c:v>Beauty Specialty Retail</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16.00505191219712</c:v>
                </c:pt>
                <c:pt idx="1">
                  <c:v>15.710013528123296</c:v>
                </c:pt>
              </c:numCache>
            </c:numRef>
          </c:val>
        </c:ser>
        <c:ser>
          <c:idx val="2"/>
          <c:order val="2"/>
          <c:tx>
            <c:strRef>
              <c:strCache>
                <c:ptCount val="1"/>
                <c:pt idx="0">
                  <c:v>Salon and Professional Distribution</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16.939218173989328</c:v>
                </c:pt>
                <c:pt idx="1">
                  <c:v>18.797690795613725</c:v>
                </c:pt>
              </c:numCache>
            </c:numRef>
          </c:val>
        </c:ser>
        <c:ser>
          <c:idx val="3"/>
          <c:order val="3"/>
          <c:tx>
            <c:strRef>
              <c:strCache>
                <c:ptCount val="1"/>
                <c:pt idx="0">
                  <c:v>Pharmacies and Drugstores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14.40681478547794</c:v>
                </c:pt>
                <c:pt idx="1">
                  <c:v>14.131552983028289</c:v>
                </c:pt>
              </c:numCache>
            </c:numRef>
          </c:val>
        </c:ser>
        <c:ser>
          <c:idx val="4"/>
          <c:order val="4"/>
          <c:tx>
            <c:strRef>
              <c:strCache>
                <c:ptCount val="1"/>
                <c:pt idx="0">
                  <c:v>Online Marketplaces</c:v>
                </c:pt>
              </c:strCache>
            </c:strRef>
          </c:tx>
          <c:spPr>
            <a:solidFill>
              <a:srgbClr val="A35313"/>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21.861839181562594</c:v>
                </c:pt>
                <c:pt idx="1">
                  <c:v>21.324307078363493</c:v>
                </c:pt>
              </c:numCache>
            </c:numRef>
          </c:val>
        </c:ser>
        <c:ser>
          <c:idx val="5"/>
          <c:order val="5"/>
          <c:tx>
            <c:strRef>
              <c:strCache>
                <c:ptCount val="1"/>
                <c:pt idx="0">
                  <c:v>Brand-owned Online Stores</c:v>
                </c:pt>
              </c:strCache>
            </c:strRef>
          </c:tx>
          <c:spPr>
            <a:solidFill>
              <a:srgbClr val="80808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13.620130281309075</c:v>
                </c:pt>
                <c:pt idx="1">
                  <c:v>13.311237643379872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Mass Retail</c:v>
                </c:pt>
              </c:strCache>
            </c:strRef>
          </c:tx>
          <c:spPr>
            <a:solidFill>
              <a:srgbClr val="3D85C6"/>
            </a:solidFill>
          </c:spPr>
          <c:invertIfNegative val="0"/>
          <c:xVal>
            <c:numRef>
              <c:numCache>
                <c:formatCode>General</c:formatCode>
                <c:ptCount val="1"/>
                <c:pt idx="0">
                  <c:v>78.19273690106593</c:v>
                </c:pt>
              </c:numCache>
            </c:numRef>
          </c:xVal>
          <c:yVal>
            <c:numRef>
              <c:numCache>
                <c:formatCode>General</c:formatCode>
                <c:ptCount val="1"/>
                <c:pt idx="0">
                  <c:v>114.04225819271672</c:v>
                </c:pt>
              </c:numCache>
            </c:numRef>
          </c:yVal>
          <c:bubbleSize>
            <c:numRef>
              <c:numCache>
                <c:formatCode>General</c:formatCode>
                <c:ptCount val="1"/>
                <c:pt idx="0">
                  <c:v>1515.746</c:v>
                </c:pt>
              </c:numCache>
            </c:numRef>
          </c:bubbleSize>
          <c:bubble3D val="0"/>
        </c:ser>
        <c:ser>
          <c:idx val="1"/>
          <c:order val="1"/>
          <c:tx>
            <c:strRef>
              <c:strCache>
                <c:ptCount val="1"/>
                <c:pt idx="0">
                  <c:v>Beauty Specialty Retail</c:v>
                </c:pt>
              </c:strCache>
            </c:strRef>
          </c:tx>
          <c:spPr>
            <a:solidFill>
              <a:srgbClr val="9E7E0A"/>
            </a:solidFill>
          </c:spPr>
          <c:invertIfNegative val="0"/>
          <c:xVal>
            <c:numRef>
              <c:numCache>
                <c:formatCode>General</c:formatCode>
                <c:ptCount val="1"/>
                <c:pt idx="0">
                  <c:v>103.28861857598682</c:v>
                </c:pt>
              </c:numCache>
            </c:numRef>
          </c:xVal>
          <c:yVal>
            <c:numRef>
              <c:numCache>
                <c:formatCode>General</c:formatCode>
                <c:ptCount val="1"/>
                <c:pt idx="0">
                  <c:v>92.67435015553237</c:v>
                </c:pt>
              </c:numCache>
            </c:numRef>
          </c:yVal>
          <c:bubbleSize>
            <c:numRef>
              <c:numCache>
                <c:formatCode>General</c:formatCode>
                <c:ptCount val="1"/>
                <c:pt idx="0">
                  <c:v>1422.702</c:v>
                </c:pt>
              </c:numCache>
            </c:numRef>
          </c:bubbleSize>
          <c:bubble3D val="0"/>
        </c:ser>
        <c:ser>
          <c:idx val="2"/>
          <c:order val="2"/>
          <c:tx>
            <c:strRef>
              <c:strCache>
                <c:ptCount val="1"/>
                <c:pt idx="0">
                  <c:v>Salon and Professional Distribution</c:v>
                </c:pt>
              </c:strCache>
            </c:strRef>
          </c:tx>
          <c:spPr>
            <a:solidFill>
              <a:srgbClr val="008189"/>
            </a:solidFill>
          </c:spPr>
          <c:invertIfNegative val="0"/>
          <c:xVal>
            <c:numRef>
              <c:numCache>
                <c:formatCode>General</c:formatCode>
                <c:ptCount val="1"/>
                <c:pt idx="0">
                  <c:v>95.1585030071053</c:v>
                </c:pt>
              </c:numCache>
            </c:numRef>
          </c:xVal>
          <c:yVal>
            <c:numRef>
              <c:numCache>
                <c:formatCode>General</c:formatCode>
                <c:ptCount val="1"/>
                <c:pt idx="0">
                  <c:v>114.85192301371254</c:v>
                </c:pt>
              </c:numCache>
            </c:numRef>
          </c:yVal>
          <c:bubbleSize>
            <c:numRef>
              <c:numCache>
                <c:formatCode>General</c:formatCode>
                <c:ptCount val="1"/>
                <c:pt idx="0">
                  <c:v>1683.113</c:v>
                </c:pt>
              </c:numCache>
            </c:numRef>
          </c:bubbleSize>
          <c:bubble3D val="0"/>
        </c:ser>
        <c:ser>
          <c:idx val="3"/>
          <c:order val="3"/>
          <c:tx>
            <c:strRef>
              <c:strCache>
                <c:ptCount val="1"/>
                <c:pt idx="0">
                  <c:v>Pharmacies and Drugstores</c:v>
                </c:pt>
              </c:strCache>
            </c:strRef>
          </c:tx>
          <c:spPr>
            <a:solidFill>
              <a:srgbClr val="40315E"/>
            </a:solidFill>
          </c:spPr>
          <c:invertIfNegative val="0"/>
          <c:xVal>
            <c:numRef>
              <c:numCache>
                <c:formatCode>General</c:formatCode>
                <c:ptCount val="1"/>
                <c:pt idx="0">
                  <c:v>87.11478116207579</c:v>
                </c:pt>
              </c:numCache>
            </c:numRef>
          </c:xVal>
          <c:yVal>
            <c:numRef>
              <c:numCache>
                <c:formatCode>General</c:formatCode>
                <c:ptCount val="1"/>
                <c:pt idx="0">
                  <c:v>91.46164580451028</c:v>
                </c:pt>
              </c:numCache>
            </c:numRef>
          </c:yVal>
          <c:bubbleSize>
            <c:numRef>
              <c:numCache>
                <c:formatCode>General</c:formatCode>
                <c:ptCount val="1"/>
                <c:pt idx="0">
                  <c:v>1279.842</c:v>
                </c:pt>
              </c:numCache>
            </c:numRef>
          </c:bubbleSize>
          <c:bubble3D val="0"/>
        </c:ser>
        <c:ser>
          <c:idx val="4"/>
          <c:order val="4"/>
          <c:tx>
            <c:strRef>
              <c:strCache>
                <c:ptCount val="1"/>
                <c:pt idx="0">
                  <c:v>Online Marketplaces</c:v>
                </c:pt>
              </c:strCache>
            </c:strRef>
          </c:tx>
          <c:spPr>
            <a:solidFill>
              <a:srgbClr val="A35313"/>
            </a:solidFill>
          </c:spPr>
          <c:invertIfNegative val="0"/>
          <c:xVal>
            <c:numRef>
              <c:numCache>
                <c:formatCode>General</c:formatCode>
                <c:ptCount val="1"/>
                <c:pt idx="0">
                  <c:v>121.90881823911637</c:v>
                </c:pt>
              </c:numCache>
            </c:numRef>
          </c:xVal>
          <c:yVal>
            <c:numRef>
              <c:numCache>
                <c:formatCode>General</c:formatCode>
                <c:ptCount val="1"/>
                <c:pt idx="0">
                  <c:v>113.25554224175798</c:v>
                </c:pt>
              </c:numCache>
            </c:numRef>
          </c:yVal>
          <c:bubbleSize>
            <c:numRef>
              <c:numCache>
                <c:formatCode>General</c:formatCode>
                <c:ptCount val="1"/>
                <c:pt idx="0">
                  <c:v>1932.324</c:v>
                </c:pt>
              </c:numCache>
            </c:numRef>
          </c:bubbleSize>
          <c:bubble3D val="0"/>
        </c:ser>
        <c:ser>
          <c:idx val="5"/>
          <c:order val="5"/>
          <c:tx>
            <c:strRef>
              <c:strCache>
                <c:ptCount val="1"/>
                <c:pt idx="0">
                  <c:v>Brand-owned Online Stores</c:v>
                </c:pt>
              </c:strCache>
            </c:strRef>
          </c:tx>
          <c:spPr>
            <a:solidFill>
              <a:srgbClr val="808080"/>
            </a:solidFill>
          </c:spPr>
          <c:invertIfNegative val="0"/>
          <c:xVal>
            <c:numRef>
              <c:numCache>
                <c:formatCode>General</c:formatCode>
                <c:ptCount val="1"/>
                <c:pt idx="0">
                  <c:v>114.4837816465029</c:v>
                </c:pt>
              </c:numCache>
            </c:numRef>
          </c:xVal>
          <c:yVal>
            <c:numRef>
              <c:numCache>
                <c:formatCode>General</c:formatCode>
                <c:ptCount val="1"/>
                <c:pt idx="0">
                  <c:v>73.71428059177009</c:v>
                </c:pt>
              </c:numCache>
            </c:numRef>
          </c:yVal>
          <c:bubbleSize>
            <c:numRef>
              <c:numCache>
                <c:formatCode>General</c:formatCode>
                <c:ptCount val="1"/>
                <c:pt idx="0">
                  <c:v>1205.981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6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954.126</c:v>
                </c:pt>
                <c:pt idx="2">
                  <c:v>1035.595</c:v>
                </c:pt>
                <c:pt idx="3">
                  <c:v>1134.261</c:v>
                </c:pt>
                <c:pt idx="4">
                  <c:v>1244.557</c:v>
                </c:pt>
                <c:pt idx="5">
                  <c:v>1372.783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954.126</c:v>
                </c:pt>
                <c:pt idx="1">
                  <c:v>81.46900000000005</c:v>
                </c:pt>
                <c:pt idx="2">
                  <c:v>98.66599999999994</c:v>
                </c:pt>
                <c:pt idx="3">
                  <c:v>110.29600000000005</c:v>
                </c:pt>
                <c:pt idx="4">
                  <c:v>128.22599999999989</c:v>
                </c:pt>
                <c:pt idx="5">
                  <c:v>142.9630000000002</c:v>
                </c:pt>
                <c:pt idx="6">
                  <c:v>1515.746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775.353</c:v>
                </c:pt>
                <c:pt idx="2">
                  <c:v>867.835</c:v>
                </c:pt>
                <c:pt idx="3">
                  <c:v>978.316</c:v>
                </c:pt>
                <c:pt idx="4">
                  <c:v>1107.151</c:v>
                </c:pt>
                <c:pt idx="5">
                  <c:v>1255.311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775.353</c:v>
                </c:pt>
                <c:pt idx="1">
                  <c:v>92.48200000000008</c:v>
                </c:pt>
                <c:pt idx="2">
                  <c:v>110.481</c:v>
                </c:pt>
                <c:pt idx="3">
                  <c:v>128.83500000000004</c:v>
                </c:pt>
                <c:pt idx="4">
                  <c:v>148.15999999999985</c:v>
                </c:pt>
                <c:pt idx="5">
                  <c:v>167.39100000000008</c:v>
                </c:pt>
                <c:pt idx="6">
                  <c:v>1422.702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960.9</c:v>
                </c:pt>
                <c:pt idx="2">
                  <c:v>1062.365</c:v>
                </c:pt>
                <c:pt idx="3">
                  <c:v>1185.183</c:v>
                </c:pt>
                <c:pt idx="4">
                  <c:v>1327.326</c:v>
                </c:pt>
                <c:pt idx="5">
                  <c:v>1493.872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960.9</c:v>
                </c:pt>
                <c:pt idx="1">
                  <c:v>101.46500000000003</c:v>
                </c:pt>
                <c:pt idx="2">
                  <c:v>122.81799999999998</c:v>
                </c:pt>
                <c:pt idx="3">
                  <c:v>142.14300000000003</c:v>
                </c:pt>
                <c:pt idx="4">
                  <c:v>166.54600000000005</c:v>
                </c:pt>
                <c:pt idx="5">
                  <c:v>189.24099999999999</c:v>
                </c:pt>
                <c:pt idx="6">
                  <c:v>1683.113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765.207</c:v>
                </c:pt>
                <c:pt idx="2">
                  <c:v>835.131</c:v>
                </c:pt>
                <c:pt idx="3">
                  <c:v>925.003</c:v>
                </c:pt>
                <c:pt idx="4">
                  <c:v>1031.568</c:v>
                </c:pt>
                <c:pt idx="5">
                  <c:v>1149.016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765.207</c:v>
                </c:pt>
                <c:pt idx="1">
                  <c:v>69.92399999999998</c:v>
                </c:pt>
                <c:pt idx="2">
                  <c:v>89.87200000000007</c:v>
                </c:pt>
                <c:pt idx="3">
                  <c:v>106.56499999999994</c:v>
                </c:pt>
                <c:pt idx="4">
                  <c:v>117.44800000000009</c:v>
                </c:pt>
                <c:pt idx="5">
                  <c:v>130.82600000000002</c:v>
                </c:pt>
                <c:pt idx="6">
                  <c:v>1279.842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947.544</c:v>
                </c:pt>
                <c:pt idx="2">
                  <c:v>1063.267</c:v>
                </c:pt>
                <c:pt idx="3">
                  <c:v>1216.596</c:v>
                </c:pt>
                <c:pt idx="4">
                  <c:v>1419.785</c:v>
                </c:pt>
                <c:pt idx="5">
                  <c:v>1658.611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947.544</c:v>
                </c:pt>
                <c:pt idx="1">
                  <c:v>115.72300000000007</c:v>
                </c:pt>
                <c:pt idx="2">
                  <c:v>153.32899999999995</c:v>
                </c:pt>
                <c:pt idx="3">
                  <c:v>203.18900000000008</c:v>
                </c:pt>
                <c:pt idx="4">
                  <c:v>238.82600000000002</c:v>
                </c:pt>
                <c:pt idx="5">
                  <c:v>273.71299999999997</c:v>
                </c:pt>
                <c:pt idx="6">
                  <c:v>1932.324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616.725</c:v>
                </c:pt>
                <c:pt idx="2">
                  <c:v>683.721</c:v>
                </c:pt>
                <c:pt idx="3">
                  <c:v>776.05</c:v>
                </c:pt>
                <c:pt idx="4">
                  <c:v>894.616</c:v>
                </c:pt>
                <c:pt idx="5">
                  <c:v>1038.467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616.725</c:v>
                </c:pt>
                <c:pt idx="1">
                  <c:v>66.99599999999998</c:v>
                </c:pt>
                <c:pt idx="2">
                  <c:v>92.32899999999995</c:v>
                </c:pt>
                <c:pt idx="3">
                  <c:v>118.56600000000003</c:v>
                </c:pt>
                <c:pt idx="4">
                  <c:v>143.8510000000001</c:v>
                </c:pt>
                <c:pt idx="5">
                  <c:v>167.5139999999999</c:v>
                </c:pt>
                <c:pt idx="6">
                  <c:v>1205.981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Online Marketplaces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18.744922576172556</c:v>
                </c:pt>
                <c:pt idx="1">
                  <c:v>18.875923706959664</c:v>
                </c:pt>
                <c:pt idx="2">
                  <c:v>21.37595594901959</c:v>
                </c:pt>
              </c:numCache>
            </c:numRef>
          </c:val>
        </c:ser>
        <c:ser>
          <c:idx val="1"/>
          <c:order val="1"/>
          <c:tx>
            <c:strRef>
              <c:strCache>
                <c:ptCount val="1"/>
                <c:pt idx="0">
                  <c:v>Salon and Professional Distribution</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18.84003611796307</c:v>
                </c:pt>
                <c:pt idx="1">
                  <c:v>19.14198716895209</c:v>
                </c:pt>
                <c:pt idx="2">
                  <c:v>18.61910805083527</c:v>
                </c:pt>
              </c:numCache>
            </c:numRef>
          </c:val>
        </c:ser>
        <c:ser>
          <c:idx val="2"/>
          <c:order val="2"/>
          <c:tx>
            <c:strRef>
              <c:strCache>
                <c:ptCount val="1"/>
                <c:pt idx="0">
                  <c:v>Mass Retail</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19.446845017471784</c:v>
                </c:pt>
                <c:pt idx="1">
                  <c:v>19.007043032119455</c:v>
                </c:pt>
                <c:pt idx="2">
                  <c:v>16.767643379631288</c:v>
                </c:pt>
              </c:numCache>
            </c:numRef>
          </c:val>
        </c:ser>
        <c:ser>
          <c:idx val="3"/>
          <c:order val="3"/>
          <c:tx>
            <c:strRef>
              <c:strCache>
                <c:ptCount val="1"/>
                <c:pt idx="0">
                  <c:v>Beauty Specialty Retail</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14.91774058846903</c:v>
                </c:pt>
                <c:pt idx="1">
                  <c:v>15.445725025922064</c:v>
                </c:pt>
                <c:pt idx="2">
                  <c:v>15.738362345332394</c:v>
                </c:pt>
              </c:numCache>
            </c:numRef>
          </c:val>
        </c:ser>
        <c:ser>
          <c:idx val="4"/>
          <c:order val="4"/>
          <c:tx>
            <c:strRef>
              <c:strCache>
                <c:ptCount val="1"/>
                <c:pt idx="0">
                  <c:v>Pharmacies and Drugstores</c:v>
                </c:pt>
              </c:strCache>
            </c:strRef>
          </c:tx>
          <c:spPr>
            <a:solidFill>
              <a:srgbClr val="A35313"/>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15.51750314361394</c:v>
                </c:pt>
                <c:pt idx="1">
                  <c:v>15.243607634085048</c:v>
                </c:pt>
                <c:pt idx="2">
                  <c:v>14.158001563767325</c:v>
                </c:pt>
              </c:numCache>
            </c:numRef>
          </c:val>
        </c:ser>
        <c:ser>
          <c:idx val="5"/>
          <c:order val="5"/>
          <c:tx>
            <c:strRef>
              <c:strCache>
                <c:ptCount val="1"/>
                <c:pt idx="0">
                  <c:v>Brand-owned Online Stores</c:v>
                </c:pt>
              </c:strCache>
            </c:strRef>
          </c:tx>
          <c:spPr>
            <a:solidFill>
              <a:srgbClr val="808080"/>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12.532952556309612</c:v>
                </c:pt>
                <c:pt idx="1">
                  <c:v>12.285713431961682</c:v>
                </c:pt>
                <c:pt idx="2">
                  <c:v>13.34092871141413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Hold and Shape</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13.38838864769089</c:v>
                </c:pt>
                <c:pt idx="1">
                  <c:v>12.743506831249451</c:v>
                </c:pt>
              </c:numCache>
            </c:numRef>
          </c:val>
        </c:ser>
        <c:ser>
          <c:idx val="1"/>
          <c:order val="1"/>
          <c:tx>
            <c:strRef>
              <c:strCache>
                <c:ptCount val="1"/>
                <c:pt idx="0">
                  <c:v>Curl Definition</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17.530546949564865</c:v>
                </c:pt>
                <c:pt idx="1">
                  <c:v>18.075060891240692</c:v>
                </c:pt>
              </c:numCache>
            </c:numRef>
          </c:val>
        </c:ser>
        <c:ser>
          <c:idx val="2"/>
          <c:order val="2"/>
          <c:tx>
            <c:strRef>
              <c:strCache>
                <c:ptCount val="1"/>
                <c:pt idx="0">
                  <c:v>Volume and Root Lift</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13.000744893107264</c:v>
                </c:pt>
                <c:pt idx="1">
                  <c:v>13.520645746987626</c:v>
                </c:pt>
              </c:numCache>
            </c:numRef>
          </c:val>
        </c:ser>
        <c:ser>
          <c:idx val="3"/>
          <c:order val="3"/>
          <c:tx>
            <c:strRef>
              <c:strCache>
                <c:ptCount val="1"/>
                <c:pt idx="0">
                  <c:v>Texture and Separation</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13.70292465527107</c:v>
                </c:pt>
                <c:pt idx="1">
                  <c:v>12.968824614869481</c:v>
                </c:pt>
              </c:numCache>
            </c:numRef>
          </c:val>
        </c:ser>
        <c:ser>
          <c:idx val="4"/>
          <c:order val="4"/>
          <c:tx>
            <c:strRef>
              <c:strCache>
                <c:ptCount val="1"/>
                <c:pt idx="0">
                  <c:v>Smoothing and Frizz Control</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16.532021768839062</c:v>
                </c:pt>
                <c:pt idx="1">
                  <c:v>16.905515837107398</c:v>
                </c:pt>
              </c:numCache>
            </c:numRef>
          </c:val>
        </c:ser>
        <c:ser>
          <c:idx val="5"/>
          <c:order val="5"/>
          <c:tx>
            <c:strRef>
              <c:strCache>
                <c:ptCount val="1"/>
                <c:pt idx="0">
                  <c:v>Sleek Styling and Edge Control</c:v>
                </c:pt>
              </c:strCache>
            </c:strRef>
          </c:tx>
          <c:spPr>
            <a:solidFill>
              <a:srgbClr val="808080"/>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10.633665714539003</c:v>
                </c:pt>
                <c:pt idx="1">
                  <c:v>10.060229153240325</c:v>
                </c:pt>
              </c:numCache>
            </c:numRef>
          </c:val>
        </c:ser>
        <c:ser>
          <c:idx val="6"/>
          <c:order val="6"/>
          <c:tx>
            <c:strRef>
              <c:strCache>
                <c:ptCount val="1"/>
                <c:pt idx="0">
                  <c:v>Heat Styling Support</c:v>
                </c:pt>
              </c:strCache>
            </c:strRef>
          </c:tx>
          <c:spPr>
            <a:solidFill>
              <a:srgbClr val="0E72AE"/>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15.211707370987854</c:v>
                </c:pt>
                <c:pt idx="1">
                  <c:v>15.726216925305033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Hold and Shape</c:v>
                </c:pt>
              </c:strCache>
            </c:strRef>
          </c:tx>
          <c:spPr>
            <a:solidFill>
              <a:srgbClr val="3D85C6"/>
            </a:solidFill>
          </c:spPr>
          <c:invertIfNegative val="0"/>
          <c:xVal>
            <c:numRef>
              <c:numCache>
                <c:formatCode>General</c:formatCode>
                <c:ptCount val="1"/>
                <c:pt idx="0">
                  <c:v>72.26469947011256</c:v>
                </c:pt>
              </c:numCache>
            </c:numRef>
          </c:xVal>
          <c:yVal>
            <c:numRef>
              <c:numCache>
                <c:formatCode>General</c:formatCode>
                <c:ptCount val="1"/>
                <c:pt idx="0">
                  <c:v>105.16090707020564</c:v>
                </c:pt>
              </c:numCache>
            </c:numRef>
          </c:yVal>
          <c:bubbleSize>
            <c:numRef>
              <c:numCache>
                <c:formatCode>General</c:formatCode>
                <c:ptCount val="1"/>
                <c:pt idx="0">
                  <c:v>1157.577</c:v>
                </c:pt>
              </c:numCache>
            </c:numRef>
          </c:bubbleSize>
          <c:bubble3D val="0"/>
        </c:ser>
        <c:ser>
          <c:idx val="1"/>
          <c:order val="1"/>
          <c:tx>
            <c:strRef>
              <c:strCache>
                <c:ptCount val="1"/>
                <c:pt idx="0">
                  <c:v>Curl Definition</c:v>
                </c:pt>
              </c:strCache>
            </c:strRef>
          </c:tx>
          <c:spPr>
            <a:solidFill>
              <a:srgbClr val="9E7E0A"/>
            </a:solidFill>
          </c:spPr>
          <c:invertIfNegative val="0"/>
          <c:xVal>
            <c:numRef>
              <c:numCache>
                <c:formatCode>General</c:formatCode>
                <c:ptCount val="1"/>
                <c:pt idx="0">
                  <c:v>124.3534428659095</c:v>
                </c:pt>
              </c:numCache>
            </c:numRef>
          </c:xVal>
          <c:yVal>
            <c:numRef>
              <c:numCache>
                <c:formatCode>General</c:formatCode>
                <c:ptCount val="1"/>
                <c:pt idx="0">
                  <c:v>109.87921162647363</c:v>
                </c:pt>
              </c:numCache>
            </c:numRef>
          </c:yVal>
          <c:bubbleSize>
            <c:numRef>
              <c:numCache>
                <c:formatCode>General</c:formatCode>
                <c:ptCount val="1"/>
                <c:pt idx="0">
                  <c:v>1629.203</c:v>
                </c:pt>
              </c:numCache>
            </c:numRef>
          </c:bubbleSize>
          <c:bubble3D val="0"/>
        </c:ser>
        <c:ser>
          <c:idx val="2"/>
          <c:order val="2"/>
          <c:tx>
            <c:strRef>
              <c:strCache>
                <c:ptCount val="1"/>
                <c:pt idx="0">
                  <c:v>Volume and Root Lift</c:v>
                </c:pt>
              </c:strCache>
            </c:strRef>
          </c:tx>
          <c:spPr>
            <a:solidFill>
              <a:srgbClr val="008189"/>
            </a:solidFill>
          </c:spPr>
          <c:invertIfNegative val="0"/>
          <c:xVal>
            <c:numRef>
              <c:numCache>
                <c:formatCode>General</c:formatCode>
                <c:ptCount val="1"/>
                <c:pt idx="0">
                  <c:v>88.83795235714477</c:v>
                </c:pt>
              </c:numCache>
            </c:numRef>
          </c:xVal>
          <c:yVal>
            <c:numRef>
              <c:numCache>
                <c:formatCode>General</c:formatCode>
                <c:ptCount val="1"/>
                <c:pt idx="0">
                  <c:v>100.52389969907493</c:v>
                </c:pt>
              </c:numCache>
            </c:numRef>
          </c:yVal>
          <c:bubbleSize>
            <c:numRef>
              <c:numCache>
                <c:formatCode>General</c:formatCode>
                <c:ptCount val="1"/>
                <c:pt idx="0">
                  <c:v>1217.712</c:v>
                </c:pt>
              </c:numCache>
            </c:numRef>
          </c:bubbleSize>
          <c:bubble3D val="0"/>
        </c:ser>
        <c:ser>
          <c:idx val="3"/>
          <c:order val="3"/>
          <c:tx>
            <c:strRef>
              <c:strCache>
                <c:ptCount val="1"/>
                <c:pt idx="0">
                  <c:v>Texture and Separation</c:v>
                </c:pt>
              </c:strCache>
            </c:strRef>
          </c:tx>
          <c:spPr>
            <a:solidFill>
              <a:srgbClr val="40315E"/>
            </a:solidFill>
          </c:spPr>
          <c:invertIfNegative val="0"/>
          <c:xVal>
            <c:numRef>
              <c:numCache>
                <c:formatCode>General</c:formatCode>
                <c:ptCount val="1"/>
                <c:pt idx="0">
                  <c:v>97.823518030781</c:v>
                </c:pt>
              </c:numCache>
            </c:numRef>
          </c:xVal>
          <c:yVal>
            <c:numRef>
              <c:numCache>
                <c:formatCode>General</c:formatCode>
                <c:ptCount val="1"/>
                <c:pt idx="0">
                  <c:v>92.41816594665903</c:v>
                </c:pt>
              </c:numCache>
            </c:numRef>
          </c:yVal>
          <c:bubbleSize>
            <c:numRef>
              <c:numCache>
                <c:formatCode>General</c:formatCode>
                <c:ptCount val="1"/>
                <c:pt idx="0">
                  <c:v>1178.72</c:v>
                </c:pt>
              </c:numCache>
            </c:numRef>
          </c:bubbleSize>
          <c:bubble3D val="0"/>
        </c:ser>
        <c:ser>
          <c:idx val="4"/>
          <c:order val="4"/>
          <c:tx>
            <c:strRef>
              <c:strCache>
                <c:ptCount val="1"/>
                <c:pt idx="0">
                  <c:v>Smoothing and Frizz Control</c:v>
                </c:pt>
              </c:strCache>
            </c:strRef>
          </c:tx>
          <c:spPr>
            <a:solidFill>
              <a:srgbClr val="A35313"/>
            </a:solidFill>
          </c:spPr>
          <c:invertIfNegative val="0"/>
          <c:xVal>
            <c:numRef>
              <c:numCache>
                <c:formatCode>General</c:formatCode>
                <c:ptCount val="1"/>
                <c:pt idx="0">
                  <c:v>108.30783097048047</c:v>
                </c:pt>
              </c:numCache>
            </c:numRef>
          </c:xVal>
          <c:yVal>
            <c:numRef>
              <c:numCache>
                <c:formatCode>General</c:formatCode>
                <c:ptCount val="1"/>
                <c:pt idx="0">
                  <c:v>112.62658236673818</c:v>
                </c:pt>
              </c:numCache>
            </c:numRef>
          </c:yVal>
          <c:bubbleSize>
            <c:numRef>
              <c:numCache>
                <c:formatCode>General</c:formatCode>
                <c:ptCount val="1"/>
                <c:pt idx="0">
                  <c:v>1524.965</c:v>
                </c:pt>
              </c:numCache>
            </c:numRef>
          </c:bubbleSize>
          <c:bubble3D val="0"/>
        </c:ser>
        <c:ser>
          <c:idx val="5"/>
          <c:order val="5"/>
          <c:tx>
            <c:strRef>
              <c:strCache>
                <c:ptCount val="1"/>
                <c:pt idx="0">
                  <c:v>Sleek Styling and Edge Control</c:v>
                </c:pt>
              </c:strCache>
            </c:strRef>
          </c:tx>
          <c:spPr>
            <a:solidFill>
              <a:srgbClr val="808080"/>
            </a:solidFill>
          </c:spPr>
          <c:invertIfNegative val="0"/>
          <c:xVal>
            <c:numRef>
              <c:numCache>
                <c:formatCode>General</c:formatCode>
                <c:ptCount val="1"/>
                <c:pt idx="0">
                  <c:v>81.15872197632618</c:v>
                </c:pt>
              </c:numCache>
            </c:numRef>
          </c:xVal>
          <c:yVal>
            <c:numRef>
              <c:numCache>
                <c:formatCode>General</c:formatCode>
                <c:ptCount val="1"/>
                <c:pt idx="0">
                  <c:v>78.89982457657136</c:v>
                </c:pt>
              </c:numCache>
            </c:numRef>
          </c:yVal>
          <c:bubbleSize>
            <c:numRef>
              <c:numCache>
                <c:formatCode>General</c:formatCode>
                <c:ptCount val="1"/>
                <c:pt idx="0">
                  <c:v>914.397</c:v>
                </c:pt>
              </c:numCache>
            </c:numRef>
          </c:bubbleSize>
          <c:bubble3D val="0"/>
        </c:ser>
        <c:ser>
          <c:idx val="6"/>
          <c:order val="6"/>
          <c:tx>
            <c:strRef>
              <c:strCache>
                <c:ptCount val="1"/>
                <c:pt idx="0">
                  <c:v>Heat Styling Support</c:v>
                </c:pt>
              </c:strCache>
            </c:strRef>
          </c:tx>
          <c:spPr>
            <a:solidFill>
              <a:srgbClr val="0E72AE"/>
            </a:solidFill>
          </c:spPr>
          <c:invertIfNegative val="0"/>
          <c:xVal>
            <c:numRef>
              <c:numCache>
                <c:formatCode>General</c:formatCode>
                <c:ptCount val="1"/>
                <c:pt idx="0">
                  <c:v>115.47576461910631</c:v>
                </c:pt>
              </c:numCache>
            </c:numRef>
          </c:xVal>
          <c:yVal>
            <c:numRef>
              <c:numCache>
                <c:formatCode>General</c:formatCode>
                <c:ptCount val="1"/>
                <c:pt idx="0">
                  <c:v>100.49140871427737</c:v>
                </c:pt>
              </c:numCache>
            </c:numRef>
          </c:yVal>
          <c:bubbleSize>
            <c:numRef>
              <c:numCache>
                <c:formatCode>General</c:formatCode>
                <c:ptCount val="1"/>
                <c:pt idx="0">
                  <c:v>1417.135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5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30.0"/>
          <c:min val="6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754.132</c:v>
                </c:pt>
                <c:pt idx="2">
                  <c:v>814.793</c:v>
                </c:pt>
                <c:pt idx="3">
                  <c:v>887.478</c:v>
                </c:pt>
                <c:pt idx="4">
                  <c:v>966.788</c:v>
                </c:pt>
                <c:pt idx="5">
                  <c:v>1057.326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754.132</c:v>
                </c:pt>
                <c:pt idx="1">
                  <c:v>60.66100000000006</c:v>
                </c:pt>
                <c:pt idx="2">
                  <c:v>72.68499999999995</c:v>
                </c:pt>
                <c:pt idx="3">
                  <c:v>79.31000000000006</c:v>
                </c:pt>
                <c:pt idx="4">
                  <c:v>90.53800000000001</c:v>
                </c:pt>
                <c:pt idx="5">
                  <c:v>100.25099999999998</c:v>
                </c:pt>
                <c:pt idx="6">
                  <c:v>1157.577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787.968</c:v>
                </c:pt>
                <c:pt idx="2">
                  <c:v>887.94</c:v>
                </c:pt>
                <c:pt idx="3">
                  <c:v>1020.29</c:v>
                </c:pt>
                <c:pt idx="4">
                  <c:v>1194.124</c:v>
                </c:pt>
                <c:pt idx="5">
                  <c:v>1397.049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787.968</c:v>
                </c:pt>
                <c:pt idx="1">
                  <c:v>99.9720000000001</c:v>
                </c:pt>
                <c:pt idx="2">
                  <c:v>132.3499999999999</c:v>
                </c:pt>
                <c:pt idx="3">
                  <c:v>173.83400000000006</c:v>
                </c:pt>
                <c:pt idx="4">
                  <c:v>202.92499999999995</c:v>
                </c:pt>
                <c:pt idx="5">
                  <c:v>232.154</c:v>
                </c:pt>
                <c:pt idx="6">
                  <c:v>1629.203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720.879</c:v>
                </c:pt>
                <c:pt idx="2">
                  <c:v>795.273</c:v>
                </c:pt>
                <c:pt idx="3">
                  <c:v>882.725</c:v>
                </c:pt>
                <c:pt idx="4">
                  <c:v>981.934</c:v>
                </c:pt>
                <c:pt idx="5">
                  <c:v>1093.419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720.879</c:v>
                </c:pt>
                <c:pt idx="1">
                  <c:v>74.394</c:v>
                </c:pt>
                <c:pt idx="2">
                  <c:v>87.452</c:v>
                </c:pt>
                <c:pt idx="3">
                  <c:v>99.20899999999995</c:v>
                </c:pt>
                <c:pt idx="4">
                  <c:v>111.48500000000013</c:v>
                </c:pt>
                <c:pt idx="5">
                  <c:v>124.29299999999989</c:v>
                </c:pt>
                <c:pt idx="6">
                  <c:v>1217.712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662.751</c:v>
                </c:pt>
                <c:pt idx="2">
                  <c:v>736.494</c:v>
                </c:pt>
                <c:pt idx="3">
                  <c:v>825.575</c:v>
                </c:pt>
                <c:pt idx="4">
                  <c:v>927.125</c:v>
                </c:pt>
                <c:pt idx="5">
                  <c:v>1045.023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662.751</c:v>
                </c:pt>
                <c:pt idx="1">
                  <c:v>73.74300000000005</c:v>
                </c:pt>
                <c:pt idx="2">
                  <c:v>89.08100000000002</c:v>
                </c:pt>
                <c:pt idx="3">
                  <c:v>101.54999999999995</c:v>
                </c:pt>
                <c:pt idx="4">
                  <c:v>117.89799999999991</c:v>
                </c:pt>
                <c:pt idx="5">
                  <c:v>133.69700000000012</c:v>
                </c:pt>
                <c:pt idx="6">
                  <c:v>1178.72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807.67</c:v>
                </c:pt>
                <c:pt idx="2">
                  <c:v>892.076</c:v>
                </c:pt>
                <c:pt idx="3">
                  <c:v>1007.195</c:v>
                </c:pt>
                <c:pt idx="4">
                  <c:v>1152.118</c:v>
                </c:pt>
                <c:pt idx="5">
                  <c:v>1325.218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807.67</c:v>
                </c:pt>
                <c:pt idx="1">
                  <c:v>84.40600000000006</c:v>
                </c:pt>
                <c:pt idx="2">
                  <c:v>115.11900000000003</c:v>
                </c:pt>
                <c:pt idx="3">
                  <c:v>144.9229999999999</c:v>
                </c:pt>
                <c:pt idx="4">
                  <c:v>173.10000000000014</c:v>
                </c:pt>
                <c:pt idx="5">
                  <c:v>199.74699999999984</c:v>
                </c:pt>
                <c:pt idx="6">
                  <c:v>1524.965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565.808</c:v>
                </c:pt>
                <c:pt idx="2">
                  <c:v>614.898</c:v>
                </c:pt>
                <c:pt idx="3">
                  <c:v>677.283</c:v>
                </c:pt>
                <c:pt idx="4">
                  <c:v>749.573</c:v>
                </c:pt>
                <c:pt idx="5">
                  <c:v>827.853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565.808</c:v>
                </c:pt>
                <c:pt idx="1">
                  <c:v>49.09000000000003</c:v>
                </c:pt>
                <c:pt idx="2">
                  <c:v>62.38499999999999</c:v>
                </c:pt>
                <c:pt idx="3">
                  <c:v>72.28999999999996</c:v>
                </c:pt>
                <c:pt idx="4">
                  <c:v>78.27999999999997</c:v>
                </c:pt>
                <c:pt idx="5">
                  <c:v>86.5440000000001</c:v>
                </c:pt>
                <c:pt idx="6">
                  <c:v>914.397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720.646</c:v>
                </c:pt>
                <c:pt idx="2">
                  <c:v>806.439</c:v>
                </c:pt>
                <c:pt idx="3">
                  <c:v>914.864</c:v>
                </c:pt>
                <c:pt idx="4">
                  <c:v>1053.34</c:v>
                </c:pt>
                <c:pt idx="5">
                  <c:v>1222.173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720.646</c:v>
                </c:pt>
                <c:pt idx="1">
                  <c:v>85.793</c:v>
                </c:pt>
                <c:pt idx="2">
                  <c:v>108.42500000000007</c:v>
                </c:pt>
                <c:pt idx="3">
                  <c:v>138.47599999999989</c:v>
                </c:pt>
                <c:pt idx="4">
                  <c:v>168.83300000000008</c:v>
                </c:pt>
                <c:pt idx="5">
                  <c:v>194.962</c:v>
                </c:pt>
                <c:pt idx="6">
                  <c:v>1417.135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Curl Definition</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15.426744429878239</c:v>
                </c:pt>
                <c:pt idx="1">
                  <c:v>15.697030232353374</c:v>
                </c:pt>
                <c:pt idx="2">
                  <c:v>18.02273723634245</c:v>
                </c:pt>
              </c:numCache>
            </c:numRef>
          </c:val>
        </c:ser>
        <c:ser>
          <c:idx val="1"/>
          <c:order val="1"/>
          <c:tx>
            <c:strRef>
              <c:strCache>
                <c:ptCount val="1"/>
                <c:pt idx="0">
                  <c:v>Smoothing and Frizz Control</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16.484398041358887</c:v>
                </c:pt>
                <c:pt idx="1">
                  <c:v>16.089511766676882</c:v>
                </c:pt>
                <c:pt idx="2">
                  <c:v>16.869624896111144</c:v>
                </c:pt>
              </c:numCache>
            </c:numRef>
          </c:val>
        </c:ser>
        <c:ser>
          <c:idx val="2"/>
          <c:order val="2"/>
          <c:tx>
            <c:strRef>
              <c:strCache>
                <c:ptCount val="1"/>
                <c:pt idx="0">
                  <c:v>Heat Styling Support</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13.919214528928991</c:v>
                </c:pt>
                <c:pt idx="1">
                  <c:v>14.355915530611052</c:v>
                </c:pt>
                <c:pt idx="2">
                  <c:v>15.676776763499797</c:v>
                </c:pt>
              </c:numCache>
            </c:numRef>
          </c:val>
        </c:ser>
        <c:ser>
          <c:idx val="3"/>
          <c:order val="3"/>
          <c:tx>
            <c:strRef>
              <c:strCache>
                <c:ptCount val="1"/>
                <c:pt idx="0">
                  <c:v>Volume and Root Lift</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14.293663473454659</c:v>
                </c:pt>
                <c:pt idx="1">
                  <c:v>14.360557099867846</c:v>
                </c:pt>
                <c:pt idx="2">
                  <c:v>13.470699112106374</c:v>
                </c:pt>
              </c:numCache>
            </c:numRef>
          </c:val>
        </c:ser>
        <c:ser>
          <c:idx val="4"/>
          <c:order val="4"/>
          <c:tx>
            <c:strRef>
              <c:strCache>
                <c:ptCount val="1"/>
                <c:pt idx="0">
                  <c:v>Texture and Separation</c:v>
                </c:pt>
              </c:strCache>
            </c:strRef>
          </c:tx>
          <c:spPr>
            <a:solidFill>
              <a:srgbClr val="A35313"/>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12.809088668173437</c:v>
                </c:pt>
                <c:pt idx="1">
                  <c:v>13.202595135237003</c:v>
                </c:pt>
                <c:pt idx="2">
                  <c:v>13.039357793486491</c:v>
                </c:pt>
              </c:numCache>
            </c:numRef>
          </c:val>
        </c:ser>
        <c:ser>
          <c:idx val="5"/>
          <c:order val="5"/>
          <c:tx>
            <c:strRef>
              <c:strCache>
                <c:ptCount val="1"/>
                <c:pt idx="0">
                  <c:v>Hold and Shape</c:v>
                </c:pt>
              </c:strCache>
            </c:strRef>
          </c:tx>
          <c:spPr>
            <a:solidFill>
              <a:srgbClr val="808080"/>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15.507159907424134</c:v>
                </c:pt>
                <c:pt idx="1">
                  <c:v>15.022986724315091</c:v>
                </c:pt>
                <c:pt idx="2">
                  <c:v>12.805467521133698</c:v>
                </c:pt>
              </c:numCache>
            </c:numRef>
          </c:val>
        </c:ser>
        <c:ser>
          <c:idx val="6"/>
          <c:order val="6"/>
          <c:tx>
            <c:strRef>
              <c:strCache>
                <c:ptCount val="1"/>
                <c:pt idx="0">
                  <c:v>Sleek Styling and Edge Control</c:v>
                </c:pt>
              </c:strCache>
            </c:strRef>
          </c:tx>
          <c:spPr>
            <a:solidFill>
              <a:srgbClr val="0E72AE"/>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11.55973095078166</c:v>
                </c:pt>
                <c:pt idx="1">
                  <c:v>11.271403510938766</c:v>
                </c:pt>
                <c:pt idx="2">
                  <c:v>10.115336677320034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Straight Hair</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19.032630194961445</c:v>
                </c:pt>
                <c:pt idx="1">
                  <c:v>18.2277081518508</c:v>
                </c:pt>
              </c:numCache>
            </c:numRef>
          </c:val>
        </c:ser>
        <c:ser>
          <c:idx val="1"/>
          <c:order val="1"/>
          <c:tx>
            <c:strRef>
              <c:strCache>
                <c:ptCount val="1"/>
                <c:pt idx="0">
                  <c:v>Wavy Hair</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20.146629794308428</c:v>
                </c:pt>
                <c:pt idx="1">
                  <c:v>19.270477532717035</c:v>
                </c:pt>
              </c:numCache>
            </c:numRef>
          </c:val>
        </c:ser>
        <c:ser>
          <c:idx val="2"/>
          <c:order val="2"/>
          <c:tx>
            <c:strRef>
              <c:strCache>
                <c:ptCount val="1"/>
                <c:pt idx="0">
                  <c:v>Curly Hair</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20.172994604999875</c:v>
                </c:pt>
                <c:pt idx="1">
                  <c:v>19.26061353110942</c:v>
                </c:pt>
              </c:numCache>
            </c:numRef>
          </c:val>
        </c:ser>
        <c:ser>
          <c:idx val="3"/>
          <c:order val="3"/>
          <c:tx>
            <c:strRef>
              <c:strCache>
                <c:ptCount val="1"/>
                <c:pt idx="0">
                  <c:v>Coily Hair</c:v>
                </c:pt>
              </c:strCache>
            </c:strRef>
          </c:tx>
          <c:spPr>
            <a:solidFill>
              <a:srgbClr val="40315E"/>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19.916599699279978</c:v>
                </c:pt>
                <c:pt idx="1">
                  <c:v>23.070504603649482</c:v>
                </c:pt>
              </c:numCache>
            </c:numRef>
          </c:val>
        </c:ser>
        <c:ser>
          <c:idx val="4"/>
          <c:order val="4"/>
          <c:tx>
            <c:strRef>
              <c:strCache>
                <c:ptCount val="1"/>
                <c:pt idx="0">
                  <c:v>All Hair Types</c:v>
                </c:pt>
              </c:strCache>
            </c:strRef>
          </c:tx>
          <c:spPr>
            <a:solidFill>
              <a:srgbClr val="A35313"/>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20.731145706450288</c:v>
                </c:pt>
                <c:pt idx="1">
                  <c:v>20.17069618067326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3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Straight Hair</c:v>
                </c:pt>
              </c:strCache>
            </c:strRef>
          </c:tx>
          <c:spPr>
            <a:solidFill>
              <a:srgbClr val="3D85C6"/>
            </a:solidFill>
          </c:spPr>
          <c:invertIfNegative val="0"/>
          <c:xVal>
            <c:numRef>
              <c:numCache>
                <c:formatCode>General</c:formatCode>
                <c:ptCount val="1"/>
                <c:pt idx="0">
                  <c:v>82.21252118086974</c:v>
                </c:pt>
              </c:numCache>
            </c:numRef>
          </c:xVal>
          <c:yVal>
            <c:numRef>
              <c:numCache>
                <c:formatCode>General</c:formatCode>
                <c:ptCount val="1"/>
                <c:pt idx="0">
                  <c:v>101.36697175516025</c:v>
                </c:pt>
              </c:numCache>
            </c:numRef>
          </c:yVal>
          <c:bubbleSize>
            <c:numRef>
              <c:numCache>
                <c:formatCode>General</c:formatCode>
                <c:ptCount val="1"/>
                <c:pt idx="0">
                  <c:v>1654.723</c:v>
                </c:pt>
              </c:numCache>
            </c:numRef>
          </c:bubbleSize>
          <c:bubble3D val="0"/>
        </c:ser>
        <c:ser>
          <c:idx val="1"/>
          <c:order val="1"/>
          <c:tx>
            <c:strRef>
              <c:strCache>
                <c:ptCount val="1"/>
                <c:pt idx="0">
                  <c:v>Wavy Hair</c:v>
                </c:pt>
              </c:strCache>
            </c:strRef>
          </c:tx>
          <c:spPr>
            <a:solidFill>
              <a:srgbClr val="9E7E0A"/>
            </a:solidFill>
          </c:spPr>
          <c:invertIfNegative val="0"/>
          <c:xVal>
            <c:numRef>
              <c:numCache>
                <c:formatCode>General</c:formatCode>
                <c:ptCount val="1"/>
                <c:pt idx="0">
                  <c:v>98.87842317554828</c:v>
                </c:pt>
              </c:numCache>
            </c:numRef>
          </c:xVal>
          <c:yVal>
            <c:numRef>
              <c:numCache>
                <c:formatCode>General</c:formatCode>
                <c:ptCount val="1"/>
                <c:pt idx="0">
                  <c:v>97.39554230152065</c:v>
                </c:pt>
              </c:numCache>
            </c:numRef>
          </c:yVal>
          <c:bubbleSize>
            <c:numRef>
              <c:numCache>
                <c:formatCode>General</c:formatCode>
                <c:ptCount val="1"/>
                <c:pt idx="0">
                  <c:v>1749.605</c:v>
                </c:pt>
              </c:numCache>
            </c:numRef>
          </c:bubbleSize>
          <c:bubble3D val="0"/>
        </c:ser>
        <c:ser>
          <c:idx val="2"/>
          <c:order val="2"/>
          <c:tx>
            <c:strRef>
              <c:strCache>
                <c:ptCount val="1"/>
                <c:pt idx="0">
                  <c:v>Curly Hair</c:v>
                </c:pt>
              </c:strCache>
            </c:strRef>
          </c:tx>
          <c:spPr>
            <a:solidFill>
              <a:srgbClr val="008189"/>
            </a:solidFill>
          </c:spPr>
          <c:invertIfNegative val="0"/>
          <c:xVal>
            <c:numRef>
              <c:numCache>
                <c:formatCode>General</c:formatCode>
                <c:ptCount val="1"/>
                <c:pt idx="0">
                  <c:v>109.92802774012095</c:v>
                </c:pt>
              </c:numCache>
            </c:numRef>
          </c:xVal>
          <c:yVal>
            <c:numRef>
              <c:numCache>
                <c:formatCode>General</c:formatCode>
                <c:ptCount val="1"/>
                <c:pt idx="0">
                  <c:v>91.42206298787514</c:v>
                </c:pt>
              </c:numCache>
            </c:numRef>
          </c:yVal>
          <c:bubbleSize>
            <c:numRef>
              <c:numCache>
                <c:formatCode>General</c:formatCode>
                <c:ptCount val="1"/>
                <c:pt idx="0">
                  <c:v>1749.028</c:v>
                </c:pt>
              </c:numCache>
            </c:numRef>
          </c:bubbleSize>
          <c:bubble3D val="0"/>
        </c:ser>
        <c:ser>
          <c:idx val="3"/>
          <c:order val="3"/>
          <c:tx>
            <c:strRef>
              <c:strCache>
                <c:ptCount val="1"/>
                <c:pt idx="0">
                  <c:v>Coily Hair</c:v>
                </c:pt>
              </c:strCache>
            </c:strRef>
          </c:tx>
          <c:spPr>
            <a:solidFill>
              <a:srgbClr val="40315E"/>
            </a:solidFill>
          </c:spPr>
          <c:invertIfNegative val="0"/>
          <c:xVal>
            <c:numRef>
              <c:numCache>
                <c:formatCode>General</c:formatCode>
                <c:ptCount val="1"/>
                <c:pt idx="0">
                  <c:v>117.18263611511246</c:v>
                </c:pt>
              </c:numCache>
            </c:numRef>
          </c:xVal>
          <c:yVal>
            <c:numRef>
              <c:numCache>
                <c:formatCode>General</c:formatCode>
                <c:ptCount val="1"/>
                <c:pt idx="0">
                  <c:v>103.24361958662152</c:v>
                </c:pt>
              </c:numCache>
            </c:numRef>
          </c:yVal>
          <c:bubbleSize>
            <c:numRef>
              <c:numCache>
                <c:formatCode>General</c:formatCode>
                <c:ptCount val="1"/>
                <c:pt idx="0">
                  <c:v>2058.112</c:v>
                </c:pt>
              </c:numCache>
            </c:numRef>
          </c:bubbleSize>
          <c:bubble3D val="0"/>
        </c:ser>
        <c:ser>
          <c:idx val="4"/>
          <c:order val="4"/>
          <c:tx>
            <c:strRef>
              <c:strCache>
                <c:ptCount val="1"/>
                <c:pt idx="0">
                  <c:v>All Hair Types</c:v>
                </c:pt>
              </c:strCache>
            </c:strRef>
          </c:tx>
          <c:spPr>
            <a:solidFill>
              <a:srgbClr val="A35313"/>
            </a:solidFill>
          </c:spPr>
          <c:invertIfNegative val="0"/>
          <c:xVal>
            <c:numRef>
              <c:numCache>
                <c:formatCode>General</c:formatCode>
                <c:ptCount val="1"/>
                <c:pt idx="0">
                  <c:v>90.83665353657865</c:v>
                </c:pt>
              </c:numCache>
            </c:numRef>
          </c:xVal>
          <c:yVal>
            <c:numRef>
              <c:numCache>
                <c:formatCode>General</c:formatCode>
                <c:ptCount val="1"/>
                <c:pt idx="0">
                  <c:v>106.57180336882239</c:v>
                </c:pt>
              </c:numCache>
            </c:numRef>
          </c:yVal>
          <c:bubbleSize>
            <c:numRef>
              <c:numCache>
                <c:formatCode>General</c:formatCode>
                <c:ptCount val="1"/>
                <c:pt idx="0">
                  <c:v>1828.24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1017.695</c:v>
                </c:pt>
                <c:pt idx="2">
                  <c:v>1109.81</c:v>
                </c:pt>
                <c:pt idx="3">
                  <c:v>1222.103</c:v>
                </c:pt>
                <c:pt idx="4">
                  <c:v>1347.588</c:v>
                </c:pt>
                <c:pt idx="5">
                  <c:v>1492.739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1017.695</c:v>
                </c:pt>
                <c:pt idx="1">
                  <c:v>92.1149999999999</c:v>
                </c:pt>
                <c:pt idx="2">
                  <c:v>112.29300000000012</c:v>
                </c:pt>
                <c:pt idx="3">
                  <c:v>125.4849999999999</c:v>
                </c:pt>
                <c:pt idx="4">
                  <c:v>145.15100000000007</c:v>
                </c:pt>
                <c:pt idx="5">
                  <c:v>161.98399999999992</c:v>
                </c:pt>
                <c:pt idx="6">
                  <c:v>1654.723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977.823</c:v>
                </c:pt>
                <c:pt idx="2">
                  <c:v>1089.083</c:v>
                </c:pt>
                <c:pt idx="3">
                  <c:v>1221.906</c:v>
                </c:pt>
                <c:pt idx="4">
                  <c:v>1376.187</c:v>
                </c:pt>
                <c:pt idx="5">
                  <c:v>1551.86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977.823</c:v>
                </c:pt>
                <c:pt idx="1">
                  <c:v>111.2600000000001</c:v>
                </c:pt>
                <c:pt idx="2">
                  <c:v>132.82299999999987</c:v>
                </c:pt>
                <c:pt idx="3">
                  <c:v>154.28099999999995</c:v>
                </c:pt>
                <c:pt idx="4">
                  <c:v>175.673</c:v>
                </c:pt>
                <c:pt idx="5">
                  <c:v>197.74500000000012</c:v>
                </c:pt>
                <c:pt idx="6">
                  <c:v>1749.605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917.851</c:v>
                </c:pt>
                <c:pt idx="2">
                  <c:v>1013.529</c:v>
                </c:pt>
                <c:pt idx="3">
                  <c:v>1145.13</c:v>
                </c:pt>
                <c:pt idx="4">
                  <c:v>1313.224</c:v>
                </c:pt>
                <c:pt idx="5">
                  <c:v>1515.095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917.851</c:v>
                </c:pt>
                <c:pt idx="1">
                  <c:v>95.678</c:v>
                </c:pt>
                <c:pt idx="2">
                  <c:v>131.6010000000001</c:v>
                </c:pt>
                <c:pt idx="3">
                  <c:v>168.09399999999982</c:v>
                </c:pt>
                <c:pt idx="4">
                  <c:v>201.8710000000001</c:v>
                </c:pt>
                <c:pt idx="5">
                  <c:v>233.933</c:v>
                </c:pt>
                <c:pt idx="6">
                  <c:v>1749.028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1036.536</c:v>
                </c:pt>
                <c:pt idx="2">
                  <c:v>1158.072</c:v>
                </c:pt>
                <c:pt idx="3">
                  <c:v>1318.798</c:v>
                </c:pt>
                <c:pt idx="4">
                  <c:v>1530.543</c:v>
                </c:pt>
                <c:pt idx="5">
                  <c:v>1777.01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1036.536</c:v>
                </c:pt>
                <c:pt idx="1">
                  <c:v>121.53599999999983</c:v>
                </c:pt>
                <c:pt idx="2">
                  <c:v>160.7260000000001</c:v>
                </c:pt>
                <c:pt idx="3">
                  <c:v>211.7449999999999</c:v>
                </c:pt>
                <c:pt idx="4">
                  <c:v>246.4670000000001</c:v>
                </c:pt>
                <c:pt idx="5">
                  <c:v>281.1020000000001</c:v>
                </c:pt>
                <c:pt idx="6">
                  <c:v>2058.112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1069.95</c:v>
                </c:pt>
                <c:pt idx="2">
                  <c:v>1177.42</c:v>
                </c:pt>
                <c:pt idx="3">
                  <c:v>1307.473</c:v>
                </c:pt>
                <c:pt idx="4">
                  <c:v>1457.46</c:v>
                </c:pt>
                <c:pt idx="5">
                  <c:v>1631.356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1069.95</c:v>
                </c:pt>
                <c:pt idx="1">
                  <c:v>107.47000000000003</c:v>
                </c:pt>
                <c:pt idx="2">
                  <c:v>130.05299999999988</c:v>
                </c:pt>
                <c:pt idx="3">
                  <c:v>149.98700000000008</c:v>
                </c:pt>
                <c:pt idx="4">
                  <c:v>173.89599999999996</c:v>
                </c:pt>
                <c:pt idx="5">
                  <c:v>196.88400000000001</c:v>
                </c:pt>
                <c:pt idx="6">
                  <c:v>1828.24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Coily Hair</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20.63251958145199</c:v>
                </c:pt>
                <c:pt idx="1">
                  <c:v>20.648723917324304</c:v>
                </c:pt>
                <c:pt idx="2">
                  <c:v>22.76746107285766</c:v>
                </c:pt>
              </c:numCache>
            </c:numRef>
          </c:val>
        </c:ser>
        <c:ser>
          <c:idx val="1"/>
          <c:order val="1"/>
          <c:tx>
            <c:strRef>
              <c:strCache>
                <c:ptCount val="1"/>
                <c:pt idx="0">
                  <c:v>All Hair Types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21.168187038552222</c:v>
                </c:pt>
                <c:pt idx="1">
                  <c:v>21.31436067376448</c:v>
                </c:pt>
                <c:pt idx="2">
                  <c:v>20.22454707607812</c:v>
                </c:pt>
              </c:numCache>
            </c:numRef>
          </c:val>
        </c:ser>
        <c:ser>
          <c:idx val="2"/>
          <c:order val="2"/>
          <c:tx>
            <c:strRef>
              <c:strCache>
                <c:ptCount val="1"/>
                <c:pt idx="0">
                  <c:v>Wavy Hair</c:v>
                </c:pt>
              </c:strCache>
            </c:strRef>
          </c:tx>
          <c:spPr>
            <a:solidFill>
              <a:srgbClr val="008189"/>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18.98425614212404</c:v>
                </c:pt>
                <c:pt idx="1">
                  <c:v>19.47910846030413</c:v>
                </c:pt>
                <c:pt idx="2">
                  <c:v>19.35466278335539</c:v>
                </c:pt>
              </c:numCache>
            </c:numRef>
          </c:val>
        </c:ser>
        <c:ser>
          <c:idx val="3"/>
          <c:order val="3"/>
          <c:tx>
            <c:strRef>
              <c:strCache>
                <c:ptCount val="1"/>
                <c:pt idx="0">
                  <c:v>Curly Hair</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18.750758208446367</c:v>
                </c:pt>
                <c:pt idx="1">
                  <c:v>18.284412597575027</c:v>
                </c:pt>
                <c:pt idx="2">
                  <c:v>19.34827983381764</c:v>
                </c:pt>
              </c:numCache>
            </c:numRef>
          </c:val>
        </c:ser>
        <c:ser>
          <c:idx val="4"/>
          <c:order val="4"/>
          <c:tx>
            <c:strRef>
              <c:strCache>
                <c:ptCount val="1"/>
                <c:pt idx="0">
                  <c:v>Straight Hair</c:v>
                </c:pt>
              </c:strCache>
            </c:strRef>
          </c:tx>
          <c:spPr>
            <a:solidFill>
              <a:srgbClr val="A35313"/>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20.46427902942539</c:v>
                </c:pt>
                <c:pt idx="1">
                  <c:v>20.27339435103205</c:v>
                </c:pt>
                <c:pt idx="2">
                  <c:v>18.305049233891182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Film-forming and Fixative Polymers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24.16078638607107</c:v>
                </c:pt>
                <c:pt idx="1">
                  <c:v>23.76100919261311</c:v>
                </c:pt>
              </c:numCache>
            </c:numRef>
          </c:val>
        </c:ser>
        <c:ser>
          <c:idx val="1"/>
          <c:order val="1"/>
          <c:tx>
            <c:strRef>
              <c:strCache>
                <c:ptCount val="1"/>
                <c:pt idx="0">
                  <c:v>Texture and Volume Additives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25.506544582485684</c:v>
                </c:pt>
                <c:pt idx="1">
                  <c:v>26.00236491274275</c:v>
                </c:pt>
              </c:numCache>
            </c:numRef>
          </c:val>
        </c:ser>
        <c:ser>
          <c:idx val="2"/>
          <c:order val="2"/>
          <c:tx>
            <c:strRef>
              <c:strCache>
                <c:ptCount val="1"/>
                <c:pt idx="0">
                  <c:v>Conditioning and Smoothing Agents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24.29917301898153</c:v>
                </c:pt>
                <c:pt idx="1">
                  <c:v>24.710817089346072</c:v>
                </c:pt>
              </c:numCache>
            </c:numRef>
          </c:val>
        </c:ser>
        <c:ser>
          <c:idx val="3"/>
          <c:order val="3"/>
          <c:tx>
            <c:strRef>
              <c:strCache>
                <c:ptCount val="1"/>
                <c:pt idx="0">
                  <c:v>Waxes and Structuring Agents</c:v>
                </c:pt>
              </c:strCache>
            </c:strRef>
          </c:tx>
          <c:spPr>
            <a:solidFill>
              <a:srgbClr val="40315E"/>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26.033496012461704</c:v>
                </c:pt>
                <c:pt idx="1">
                  <c:v>25.525808805298073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Film-forming and Fixative Polymers</c:v>
                </c:pt>
              </c:strCache>
            </c:strRef>
          </c:tx>
          <c:spPr>
            <a:solidFill>
              <a:srgbClr val="3D85C6"/>
            </a:solidFill>
          </c:spPr>
          <c:invertIfNegative val="0"/>
          <c:xVal>
            <c:numRef>
              <c:numCache>
                <c:formatCode>General</c:formatCode>
                <c:ptCount val="1"/>
                <c:pt idx="0">
                  <c:v>85.02057916293506</c:v>
                </c:pt>
              </c:numCache>
            </c:numRef>
          </c:xVal>
          <c:yVal>
            <c:numRef>
              <c:numCache>
                <c:formatCode>General</c:formatCode>
                <c:ptCount val="1"/>
                <c:pt idx="0">
                  <c:v>103.74076542051516</c:v>
                </c:pt>
              </c:numCache>
            </c:numRef>
          </c:yVal>
          <c:bubbleSize>
            <c:numRef>
              <c:numCache>
                <c:formatCode>General</c:formatCode>
                <c:ptCount val="1"/>
                <c:pt idx="0">
                  <c:v>2151.398</c:v>
                </c:pt>
              </c:numCache>
            </c:numRef>
          </c:bubbleSize>
          <c:bubble3D val="0"/>
        </c:ser>
        <c:ser>
          <c:idx val="1"/>
          <c:order val="1"/>
          <c:tx>
            <c:strRef>
              <c:strCache>
                <c:ptCount val="1"/>
                <c:pt idx="0">
                  <c:v>Texture and Volume Additives</c:v>
                </c:pt>
              </c:strCache>
            </c:strRef>
          </c:tx>
          <c:spPr>
            <a:solidFill>
              <a:srgbClr val="9E7E0A"/>
            </a:solidFill>
          </c:spPr>
          <c:invertIfNegative val="0"/>
          <c:xVal>
            <c:numRef>
              <c:numCache>
                <c:formatCode>General</c:formatCode>
                <c:ptCount val="1"/>
                <c:pt idx="0">
                  <c:v>105.67102924947432</c:v>
                </c:pt>
              </c:numCache>
            </c:numRef>
          </c:xVal>
          <c:yVal>
            <c:numRef>
              <c:numCache>
                <c:formatCode>General</c:formatCode>
                <c:ptCount val="1"/>
                <c:pt idx="0">
                  <c:v>100.51469614162163</c:v>
                </c:pt>
              </c:numCache>
            </c:numRef>
          </c:yVal>
          <c:bubbleSize>
            <c:numRef>
              <c:numCache>
                <c:formatCode>General</c:formatCode>
                <c:ptCount val="1"/>
                <c:pt idx="0">
                  <c:v>2346.2309999999998</c:v>
                </c:pt>
              </c:numCache>
            </c:numRef>
          </c:bubbleSize>
          <c:bubble3D val="0"/>
        </c:ser>
        <c:ser>
          <c:idx val="2"/>
          <c:order val="2"/>
          <c:tx>
            <c:strRef>
              <c:strCache>
                <c:ptCount val="1"/>
                <c:pt idx="0">
                  <c:v>Conditioning and Smoothing Agents</c:v>
                </c:pt>
              </c:strCache>
            </c:strRef>
          </c:tx>
          <c:spPr>
            <a:solidFill>
              <a:srgbClr val="008189"/>
            </a:solidFill>
          </c:spPr>
          <c:invertIfNegative val="0"/>
          <c:xVal>
            <c:numRef>
              <c:numCache>
                <c:formatCode>General</c:formatCode>
                <c:ptCount val="1"/>
                <c:pt idx="0">
                  <c:v>97.90763898860446</c:v>
                </c:pt>
              </c:numCache>
            </c:numRef>
          </c:xVal>
          <c:yVal>
            <c:numRef>
              <c:numCache>
                <c:formatCode>General</c:formatCode>
                <c:ptCount val="1"/>
                <c:pt idx="0">
                  <c:v>99.87244651488936</c:v>
                </c:pt>
              </c:numCache>
            </c:numRef>
          </c:yVal>
          <c:bubbleSize>
            <c:numRef>
              <c:numCache>
                <c:formatCode>General</c:formatCode>
                <c:ptCount val="1"/>
                <c:pt idx="0">
                  <c:v>2230.2110000000002</c:v>
                </c:pt>
              </c:numCache>
            </c:numRef>
          </c:bubbleSize>
          <c:bubble3D val="0"/>
        </c:ser>
        <c:ser>
          <c:idx val="3"/>
          <c:order val="3"/>
          <c:tx>
            <c:strRef>
              <c:strCache>
                <c:ptCount val="1"/>
                <c:pt idx="0">
                  <c:v>Waxes and Structuring Agents</c:v>
                </c:pt>
              </c:strCache>
            </c:strRef>
          </c:tx>
          <c:spPr>
            <a:solidFill>
              <a:srgbClr val="40315E"/>
            </a:solidFill>
          </c:spPr>
          <c:invertIfNegative val="0"/>
          <c:xVal>
            <c:numRef>
              <c:numCache>
                <c:formatCode>General</c:formatCode>
                <c:ptCount val="1"/>
                <c:pt idx="0">
                  <c:v>111.39403459322415</c:v>
                </c:pt>
              </c:numCache>
            </c:numRef>
          </c:xVal>
          <c:yVal>
            <c:numRef>
              <c:numCache>
                <c:formatCode>General</c:formatCode>
                <c:ptCount val="1"/>
                <c:pt idx="0">
                  <c:v>95.87209192297387</c:v>
                </c:pt>
              </c:numCache>
            </c:numRef>
          </c:yVal>
          <c:bubbleSize>
            <c:numRef>
              <c:numCache>
                <c:formatCode>General</c:formatCode>
                <c:ptCount val="1"/>
                <c:pt idx="0">
                  <c:v>2311.868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20.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20.0"/>
          <c:min val="8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1301.909</c:v>
                </c:pt>
                <c:pt idx="2">
                  <c:v>1418.522</c:v>
                </c:pt>
                <c:pt idx="3">
                  <c:v>1563.875</c:v>
                </c:pt>
                <c:pt idx="4">
                  <c:v>1734.877</c:v>
                </c:pt>
                <c:pt idx="5">
                  <c:v>1931.005</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1301.909</c:v>
                </c:pt>
                <c:pt idx="1">
                  <c:v>116.61299999999983</c:v>
                </c:pt>
                <c:pt idx="2">
                  <c:v>145.35300000000007</c:v>
                </c:pt>
                <c:pt idx="3">
                  <c:v>171.00199999999995</c:v>
                </c:pt>
                <c:pt idx="4">
                  <c:v>196.12800000000016</c:v>
                </c:pt>
                <c:pt idx="5">
                  <c:v>220.39300000000003</c:v>
                </c:pt>
                <c:pt idx="6">
                  <c:v>2151.398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1261.423</c:v>
                </c:pt>
                <c:pt idx="2">
                  <c:v>1400.72</c:v>
                </c:pt>
                <c:pt idx="3">
                  <c:v>1578.193</c:v>
                </c:pt>
                <c:pt idx="4">
                  <c:v>1794.183</c:v>
                </c:pt>
                <c:pt idx="5">
                  <c:v>2051.218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1261.423</c:v>
                </c:pt>
                <c:pt idx="1">
                  <c:v>139.29700000000003</c:v>
                </c:pt>
                <c:pt idx="2">
                  <c:v>177.47299999999996</c:v>
                </c:pt>
                <c:pt idx="3">
                  <c:v>215.99</c:v>
                </c:pt>
                <c:pt idx="4">
                  <c:v>257.03499999999985</c:v>
                </c:pt>
                <c:pt idx="5">
                  <c:v>295.0129999999999</c:v>
                </c:pt>
                <c:pt idx="6">
                  <c:v>2346.2309999999998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1253.3629999999998</c:v>
                </c:pt>
                <c:pt idx="2">
                  <c:v>1389.999</c:v>
                </c:pt>
                <c:pt idx="3">
                  <c:v>1555.791</c:v>
                </c:pt>
                <c:pt idx="4">
                  <c:v>1749.1860000000001</c:v>
                </c:pt>
                <c:pt idx="5">
                  <c:v>1974.9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1253.3629999999998</c:v>
                </c:pt>
                <c:pt idx="1">
                  <c:v>136.6360000000002</c:v>
                </c:pt>
                <c:pt idx="2">
                  <c:v>165.79199999999992</c:v>
                </c:pt>
                <c:pt idx="3">
                  <c:v>193.3950000000002</c:v>
                </c:pt>
                <c:pt idx="4">
                  <c:v>225.71399999999994</c:v>
                </c:pt>
                <c:pt idx="5">
                  <c:v>255.31100000000015</c:v>
                </c:pt>
                <c:pt idx="6">
                  <c:v>2230.2110000000002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1203.1599999999999</c:v>
                </c:pt>
                <c:pt idx="2">
                  <c:v>1338.673</c:v>
                </c:pt>
                <c:pt idx="3">
                  <c:v>1517.5529999999999</c:v>
                </c:pt>
                <c:pt idx="4">
                  <c:v>1746.757</c:v>
                </c:pt>
                <c:pt idx="5">
                  <c:v>2010.938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1203.1599999999999</c:v>
                </c:pt>
                <c:pt idx="1">
                  <c:v>135.51300000000015</c:v>
                </c:pt>
                <c:pt idx="2">
                  <c:v>178.87999999999988</c:v>
                </c:pt>
                <c:pt idx="3">
                  <c:v>229.20400000000018</c:v>
                </c:pt>
                <c:pt idx="4">
                  <c:v>264.18100000000004</c:v>
                </c:pt>
                <c:pt idx="5">
                  <c:v>300.92999999999984</c:v>
                </c:pt>
                <c:pt idx="6">
                  <c:v>2311.868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Texture and Volume Additives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24.998565306173354</c:v>
                </c:pt>
                <c:pt idx="1">
                  <c:v>25.128674035405407</c:v>
                </c:pt>
                <c:pt idx="2">
                  <c:v>25.954721103823257</c:v>
                </c:pt>
              </c:numCache>
            </c:numRef>
          </c:val>
        </c:ser>
        <c:ser>
          <c:idx val="1"/>
          <c:order val="1"/>
          <c:tx>
            <c:strRef>
              <c:strCache>
                <c:ptCount val="1"/>
                <c:pt idx="0">
                  <c:v>Waxes and Structuring Agents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23.895848734600047</c:v>
                </c:pt>
                <c:pt idx="1">
                  <c:v>23.968022980743466</c:v>
                </c:pt>
                <c:pt idx="2">
                  <c:v>25.574587143744022</c:v>
                </c:pt>
              </c:numCache>
            </c:numRef>
          </c:val>
        </c:ser>
        <c:ser>
          <c:idx val="2"/>
          <c:order val="2"/>
          <c:tx>
            <c:strRef>
              <c:strCache>
                <c:ptCount val="1"/>
                <c:pt idx="0">
                  <c:v>Conditioning and Smoothing Agents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24.578738781844457</c:v>
                </c:pt>
                <c:pt idx="1">
                  <c:v>24.96811162872234</c:v>
                </c:pt>
                <c:pt idx="2">
                  <c:v>24.671272567653734</c:v>
                </c:pt>
              </c:numCache>
            </c:numRef>
          </c:val>
        </c:ser>
        <c:ser>
          <c:idx val="3"/>
          <c:order val="3"/>
          <c:tx>
            <c:strRef>
              <c:strCache>
                <c:ptCount val="1"/>
                <c:pt idx="0">
                  <c:v>Film-forming and Fixative Polymers</c:v>
                </c:pt>
              </c:strCache>
            </c:strRef>
          </c:tx>
          <c:spPr>
            <a:solidFill>
              <a:srgbClr val="40315E"/>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26.526847177382155</c:v>
                </c:pt>
                <c:pt idx="1">
                  <c:v>25.93519135512879</c:v>
                </c:pt>
                <c:pt idx="2">
                  <c:v>23.799419184778976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(Mn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1364.9940000000001</c:v>
                </c:pt>
                <c:pt idx="1">
                  <c:v>1408.3690000000001</c:v>
                </c:pt>
                <c:pt idx="2">
                  <c:v>1452.8899999999999</c:v>
                </c:pt>
                <c:pt idx="3">
                  <c:v>1498.466</c:v>
                </c:pt>
                <c:pt idx="4">
                  <c:v>1546.218</c:v>
                </c:pt>
                <c:pt idx="5">
                  <c:v>1598.6529999999998</c:v>
                </c:pt>
                <c:pt idx="6">
                  <c:v>1656.673</c:v>
                </c:pt>
                <c:pt idx="7">
                  <c:v>1721.141</c:v>
                </c:pt>
                <c:pt idx="8">
                  <c:v>1792.4379999999999</c:v>
                </c:pt>
                <c:pt idx="9">
                  <c:v>1870.245</c:v>
                </c:pt>
                <c:pt idx="10">
                  <c:v>1953.596</c:v>
                </c:pt>
                <c:pt idx="11">
                  <c:v>2041.849</c:v>
                </c:pt>
                <c:pt idx="12">
                  <c:v>2133.8100000000004</c:v>
                </c:pt>
                <c:pt idx="13">
                  <c:v>2228.9269999999997</c:v>
                </c:pt>
                <c:pt idx="14">
                  <c:v>2325.947</c:v>
                </c:pt>
                <c:pt idx="15">
                  <c:v>2424.865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0.05245930274733035</c:v>
                </c:pt>
                <c:pt idx="1">
                  <c:v>0.04320658207951111</c:v>
                </c:pt>
                <c:pt idx="2">
                  <c:v>0.04254146169150319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082005870889597"/>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1598.6529999999998</c:v>
                </c:pt>
                <c:pt idx="2">
                  <c:v>1656.673</c:v>
                </c:pt>
                <c:pt idx="3">
                  <c:v>1721.141</c:v>
                </c:pt>
                <c:pt idx="4">
                  <c:v>1792.4379999999999</c:v>
                </c:pt>
                <c:pt idx="5">
                  <c:v>1870.245</c:v>
                </c:pt>
                <c:pt idx="6">
                  <c:v>1953.596</c:v>
                </c:pt>
                <c:pt idx="7">
                  <c:v>2041.849</c:v>
                </c:pt>
                <c:pt idx="8">
                  <c:v>2133.8100000000004</c:v>
                </c:pt>
                <c:pt idx="9">
                  <c:v>2228.9269999999997</c:v>
                </c:pt>
                <c:pt idx="10">
                  <c:v>2325.947</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1598.6529999999998</c:v>
                </c:pt>
                <c:pt idx="1">
                  <c:v>58.02000000000021</c:v>
                </c:pt>
                <c:pt idx="2">
                  <c:v>64.46800000000007</c:v>
                </c:pt>
                <c:pt idx="3">
                  <c:v>71.2969999999998</c:v>
                </c:pt>
                <c:pt idx="4">
                  <c:v>77.80700000000002</c:v>
                </c:pt>
                <c:pt idx="5">
                  <c:v>83.35100000000011</c:v>
                </c:pt>
                <c:pt idx="6">
                  <c:v>88.25299999999993</c:v>
                </c:pt>
                <c:pt idx="7">
                  <c:v>91.96100000000047</c:v>
                </c:pt>
                <c:pt idx="8">
                  <c:v>95.11699999999928</c:v>
                </c:pt>
                <c:pt idx="9">
                  <c:v>97.02000000000044</c:v>
                </c:pt>
                <c:pt idx="10">
                  <c:v>98.91799999999967</c:v>
                </c:pt>
                <c:pt idx="11">
                  <c:v>2424.865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90.85284384524498</c:v>
                </c:pt>
                <c:pt idx="1">
                  <c:v>20.207398954346644</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9.147156154755024</c:v>
                </c:pt>
                <c:pt idx="1">
                  <c:v>79.79260104565336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3770.584</c:v>
                </c:pt>
                <c:pt idx="1">
                  <c:v>3910.5550000000003</c:v>
                </c:pt>
                <c:pt idx="2">
                  <c:v>4056.263</c:v>
                </c:pt>
                <c:pt idx="3">
                  <c:v>4209.790999999999</c:v>
                </c:pt>
                <c:pt idx="4">
                  <c:v>4372.511</c:v>
                </c:pt>
                <c:pt idx="5">
                  <c:v>4570.849</c:v>
                </c:pt>
                <c:pt idx="6">
                  <c:v>4793.6</c:v>
                </c:pt>
                <c:pt idx="7">
                  <c:v>5045.027</c:v>
                </c:pt>
                <c:pt idx="8">
                  <c:v>5327.967</c:v>
                </c:pt>
                <c:pt idx="9">
                  <c:v>5643.62</c:v>
                </c:pt>
                <c:pt idx="10">
                  <c:v>5990.1849999999995</c:v>
                </c:pt>
                <c:pt idx="11">
                  <c:v>6368.832</c:v>
                </c:pt>
                <c:pt idx="12">
                  <c:v>6776.795999999999</c:v>
                </c:pt>
                <c:pt idx="13">
                  <c:v>7213.032999999999</c:v>
                </c:pt>
                <c:pt idx="14">
                  <c:v>7677.732</c:v>
                </c:pt>
                <c:pt idx="15">
                  <c:v>8171.128000000001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0.06658666629421717</c:v>
                </c:pt>
                <c:pt idx="1">
                  <c:v>0.06058703612735483</c:v>
                </c:pt>
                <c:pt idx="2">
                  <c:v>0.0598112223043914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8989199949719318"/>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4570.849</c:v>
                </c:pt>
                <c:pt idx="2">
                  <c:v>4793.6</c:v>
                </c:pt>
                <c:pt idx="3">
                  <c:v>5045.027</c:v>
                </c:pt>
                <c:pt idx="4">
                  <c:v>5327.967</c:v>
                </c:pt>
                <c:pt idx="5">
                  <c:v>5643.62</c:v>
                </c:pt>
                <c:pt idx="6">
                  <c:v>5990.1849999999995</c:v>
                </c:pt>
                <c:pt idx="7">
                  <c:v>6368.832</c:v>
                </c:pt>
                <c:pt idx="8">
                  <c:v>6776.795999999999</c:v>
                </c:pt>
                <c:pt idx="9">
                  <c:v>7213.032999999999</c:v>
                </c:pt>
                <c:pt idx="10">
                  <c:v>7677.732</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4570.849</c:v>
                </c:pt>
                <c:pt idx="1">
                  <c:v>222.7510000000002</c:v>
                </c:pt>
                <c:pt idx="2">
                  <c:v>251.42699999999968</c:v>
                </c:pt>
                <c:pt idx="3">
                  <c:v>282.9399999999996</c:v>
                </c:pt>
                <c:pt idx="4">
                  <c:v>315.65300000000025</c:v>
                </c:pt>
                <c:pt idx="5">
                  <c:v>346.5649999999996</c:v>
                </c:pt>
                <c:pt idx="6">
                  <c:v>378.64700000000084</c:v>
                </c:pt>
                <c:pt idx="7">
                  <c:v>407.96399999999903</c:v>
                </c:pt>
                <c:pt idx="8">
                  <c:v>436.2370000000001</c:v>
                </c:pt>
                <c:pt idx="9">
                  <c:v>464.6990000000005</c:v>
                </c:pt>
                <c:pt idx="10">
                  <c:v>493.39600000000064</c:v>
                </c:pt>
                <c:pt idx="11">
                  <c:v>8171.128000000001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91.05538087148317</c:v>
                </c:pt>
                <c:pt idx="1">
                  <c:v>28.37914171587288</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8.944619128516834</c:v>
                </c:pt>
                <c:pt idx="1">
                  <c:v>71.62085828412712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9EC6DE"/>
              </a:solidFill>
            </c:spPr>
          </c:dPt>
          <c:dPt>
            <c:idx val="1"/>
            <c:spPr>
              <a:solidFill>
                <a:srgbClr val="89BAD7"/>
              </a:solidFill>
            </c:spPr>
          </c:dPt>
          <c:dPt>
            <c:idx val="2"/>
            <c:spPr>
              <a:solidFill>
                <a:srgbClr val="75AED0"/>
              </a:solidFill>
            </c:spPr>
          </c:dPt>
          <c:dPt>
            <c:idx val="3"/>
            <c:spPr>
              <a:solidFill>
                <a:srgbClr val="60A2C9"/>
              </a:solidFill>
            </c:spPr>
          </c:dPt>
          <c:dPt>
            <c:idx val="4"/>
            <c:spPr>
              <a:solidFill>
                <a:srgbClr val="4B96C2"/>
              </a:solidFill>
            </c:spPr>
          </c:dPt>
          <c:dPt>
            <c:idx val="5"/>
            <c:spPr>
              <a:solidFill>
                <a:srgbClr val="378ABB"/>
              </a:solidFill>
            </c:spPr>
          </c:dPt>
          <c:dPt>
            <c:idx val="6"/>
            <c:spPr>
              <a:solidFill>
                <a:srgbClr val="227EB4"/>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Mousses and Foams</c:v>
                </c:pt>
                <c:pt idx="1">
                  <c:v>Gels and Jellies</c:v>
                </c:pt>
                <c:pt idx="2">
                  <c:v>Powders</c:v>
                </c:pt>
                <c:pt idx="3">
                  <c:v>Creams and Lotions</c:v>
                </c:pt>
                <c:pt idx="4">
                  <c:v>Sticks and Balms</c:v>
                </c:pt>
                <c:pt idx="5">
                  <c:v>Sprays and Mists</c:v>
                </c:pt>
                <c:pt idx="6">
                  <c:v>Waxes, Clays, Pastes…</c:v>
                </c:pt>
                <c:pt idx="7">
                  <c:v>Serums and Oils</c:v>
                </c:pt>
              </c:strCache>
            </c:strRef>
          </c:cat>
          <c:val>
            <c:numRef>
              <c:numCache>
                <c:formatCode>General</c:formatCode>
                <c:ptCount val="8"/>
                <c:pt idx="0">
                  <c:v>326.22299999999996</c:v>
                </c:pt>
                <c:pt idx="1">
                  <c:v>393.334</c:v>
                </c:pt>
                <c:pt idx="2">
                  <c:v>450.62</c:v>
                </c:pt>
                <c:pt idx="3">
                  <c:v>536.381</c:v>
                </c:pt>
                <c:pt idx="4">
                  <c:v>586.104</c:v>
                </c:pt>
                <c:pt idx="5">
                  <c:v>652.38</c:v>
                </c:pt>
                <c:pt idx="6">
                  <c:v>755.71</c:v>
                </c:pt>
                <c:pt idx="7">
                  <c:v>870.097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165.92998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9DABB6"/>
              </a:solidFill>
            </c:spPr>
          </c:dPt>
          <c:dPt>
            <c:idx val="4"/>
            <c:spPr>
              <a:solidFill>
                <a:srgbClr val="788C9B"/>
              </a:solidFill>
            </c:spPr>
          </c:dPt>
          <c:dPt>
            <c:idx val="5"/>
            <c:spPr>
              <a:solidFill>
                <a:srgbClr val="546C80"/>
              </a:solidFill>
            </c:spPr>
          </c:dPt>
          <c:dPt>
            <c:idx val="6"/>
            <c:spPr>
              <a:solidFill>
                <a:srgbClr val="2F4D65"/>
              </a:solidFill>
            </c:spPr>
          </c:dPt>
          <c:dPt>
            <c:idx val="7"/>
            <c:spPr>
              <a:solidFill>
                <a:srgbClr val="0B2E4A"/>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   </c:v>
                </c:pt>
                <c:pt idx="3">
                  <c:v>Extra-strong Hold</c:v>
                </c:pt>
                <c:pt idx="4">
                  <c:v>No Hold</c:v>
                </c:pt>
                <c:pt idx="5">
                  <c:v>Light or Flexible Hold</c:v>
                </c:pt>
                <c:pt idx="6">
                  <c:v>Strong Hold</c:v>
                </c:pt>
                <c:pt idx="7">
                  <c:v>Medium Hold</c:v>
                </c:pt>
              </c:strCache>
            </c:strRef>
          </c:cat>
          <c:val>
            <c:numRef>
              <c:numCache>
                <c:formatCode>General</c:formatCode>
                <c:ptCount val="8"/>
                <c:pt idx="3">
                  <c:v>808.678</c:v>
                </c:pt>
                <c:pt idx="4">
                  <c:v>868.868</c:v>
                </c:pt>
                <c:pt idx="5">
                  <c:v>923.426</c:v>
                </c:pt>
                <c:pt idx="6">
                  <c:v>955.821</c:v>
                </c:pt>
                <c:pt idx="7">
                  <c:v>1014.058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358.8377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FFFFFF"/>
              </a:solidFill>
            </c:spPr>
          </c:dPt>
          <c:dPt>
            <c:idx val="5"/>
            <c:spPr>
              <a:solidFill>
                <a:srgbClr val="C5B1E6"/>
              </a:solidFill>
            </c:spPr>
          </c:dPt>
          <c:dPt>
            <c:idx val="6"/>
            <c:spPr>
              <a:solidFill>
                <a:srgbClr val="9A76D4"/>
              </a:solidFill>
            </c:spPr>
          </c:dPt>
          <c:dPt>
            <c:idx val="7"/>
            <c:spPr>
              <a:solidFill>
                <a:srgbClr val="6F3CC2"/>
              </a:solidFill>
            </c:spPr>
          </c:dPt>
          <c:dLbls>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   </c:v>
                </c:pt>
                <c:pt idx="3">
                  <c:v>    </c:v>
                </c:pt>
                <c:pt idx="4">
                  <c:v>     </c:v>
                </c:pt>
                <c:pt idx="5">
                  <c:v>Glossy or Wet-look</c:v>
                </c:pt>
                <c:pt idx="6">
                  <c:v>Matte</c:v>
                </c:pt>
                <c:pt idx="7">
                  <c:v>Natural</c:v>
                </c:pt>
              </c:strCache>
            </c:strRef>
          </c:cat>
          <c:val>
            <c:numRef>
              <c:numCache>
                <c:formatCode>General</c:formatCode>
                <c:ptCount val="8"/>
                <c:pt idx="5">
                  <c:v>1492.194</c:v>
                </c:pt>
                <c:pt idx="6">
                  <c:v>1518.969</c:v>
                </c:pt>
                <c:pt idx="7">
                  <c:v>1559.687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089.98058"/>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ABAA0"/>
              </a:solidFill>
            </c:spPr>
          </c:dPt>
          <c:dPt>
            <c:idx val="3"/>
            <c:spPr>
              <a:solidFill>
                <a:srgbClr val="CFA584"/>
              </a:solidFill>
            </c:spPr>
          </c:dPt>
          <c:dPt>
            <c:idx val="4"/>
            <c:spPr>
              <a:solidFill>
                <a:srgbClr val="C49067"/>
              </a:solidFill>
            </c:spPr>
          </c:dPt>
          <c:dPt>
            <c:idx val="5"/>
            <c:spPr>
              <a:solidFill>
                <a:srgbClr val="B97C4B"/>
              </a:solidFill>
            </c:spPr>
          </c:dPt>
          <c:dPt>
            <c:idx val="6"/>
            <c:spPr>
              <a:solidFill>
                <a:srgbClr val="AE672F"/>
              </a:solidFill>
            </c:spPr>
          </c:dPt>
          <c:dPt>
            <c:idx val="7"/>
            <c:spPr>
              <a:solidFill>
                <a:srgbClr val="A35313"/>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Brand-owned Online St…</c:v>
                </c:pt>
                <c:pt idx="3">
                  <c:v>Pharmacies and Drugst…</c:v>
                </c:pt>
                <c:pt idx="4">
                  <c:v>Beauty Specialty Reta…</c:v>
                </c:pt>
                <c:pt idx="5">
                  <c:v>Online Marketplaces</c:v>
                </c:pt>
                <c:pt idx="6">
                  <c:v>Mass Retail</c:v>
                </c:pt>
                <c:pt idx="7">
                  <c:v>Salon and Professiona…</c:v>
                </c:pt>
              </c:strCache>
            </c:strRef>
          </c:cat>
          <c:val>
            <c:numRef>
              <c:numCache>
                <c:formatCode>General</c:formatCode>
                <c:ptCount val="8"/>
                <c:pt idx="2">
                  <c:v>560.41</c:v>
                </c:pt>
                <c:pt idx="3">
                  <c:v>695.54</c:v>
                </c:pt>
                <c:pt idx="4">
                  <c:v>704.719</c:v>
                </c:pt>
                <c:pt idx="5">
                  <c:v>860.773</c:v>
                </c:pt>
                <c:pt idx="6">
                  <c:v>866.707</c:v>
                </c:pt>
                <c:pt idx="7">
                  <c:v>882.7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182.81800000000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DCC599"/>
              </a:solidFill>
            </c:spPr>
          </c:dPt>
          <c:dPt>
            <c:idx val="2"/>
            <c:spPr>
              <a:solidFill>
                <a:srgbClr val="D3B77F"/>
              </a:solidFill>
            </c:spPr>
          </c:dPt>
          <c:dPt>
            <c:idx val="3"/>
            <c:spPr>
              <a:solidFill>
                <a:srgbClr val="CAA865"/>
              </a:solidFill>
            </c:spPr>
          </c:dPt>
          <c:dPt>
            <c:idx val="4"/>
            <c:spPr>
              <a:solidFill>
                <a:srgbClr val="C29A4C"/>
              </a:solidFill>
            </c:spPr>
          </c:dPt>
          <c:dPt>
            <c:idx val="5"/>
            <c:spPr>
              <a:solidFill>
                <a:srgbClr val="B98B32"/>
              </a:solidFill>
            </c:spPr>
          </c:dPt>
          <c:dPt>
            <c:idx val="6"/>
            <c:spPr>
              <a:solidFill>
                <a:srgbClr val="B07D19"/>
              </a:solidFill>
            </c:spPr>
          </c:dPt>
          <c:dPt>
            <c:idx val="7"/>
            <c:spPr>
              <a:solidFill>
                <a:srgbClr val="A86F00"/>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Sleek Styling and Edg…</c:v>
                </c:pt>
                <c:pt idx="2">
                  <c:v>Texture and Separation</c:v>
                </c:pt>
                <c:pt idx="3">
                  <c:v>Heat Styling Support</c:v>
                </c:pt>
                <c:pt idx="4">
                  <c:v>Volume and Root Lift</c:v>
                </c:pt>
                <c:pt idx="5">
                  <c:v>Hold and Shape</c:v>
                </c:pt>
                <c:pt idx="6">
                  <c:v>Curl Definition</c:v>
                </c:pt>
                <c:pt idx="7">
                  <c:v>Smoothing and Frizz C…</c:v>
                </c:pt>
              </c:strCache>
            </c:strRef>
          </c:cat>
          <c:val>
            <c:numRef>
              <c:numCache>
                <c:formatCode>General</c:formatCode>
                <c:ptCount val="8"/>
                <c:pt idx="1">
                  <c:v>512.75</c:v>
                </c:pt>
                <c:pt idx="2">
                  <c:v>600.568</c:v>
                </c:pt>
                <c:pt idx="3">
                  <c:v>658.249</c:v>
                </c:pt>
                <c:pt idx="4">
                  <c:v>658.798</c:v>
                </c:pt>
                <c:pt idx="5">
                  <c:v>683.789</c:v>
                </c:pt>
                <c:pt idx="6">
                  <c:v>719.568</c:v>
                </c:pt>
                <c:pt idx="7">
                  <c:v>737.128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987.7515200000001"/>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E59999"/>
              </a:solidFill>
            </c:spPr>
          </c:dPt>
          <c:dPt>
            <c:idx val="4"/>
            <c:spPr>
              <a:solidFill>
                <a:srgbClr val="DC7272"/>
              </a:solidFill>
            </c:spPr>
          </c:dPt>
          <c:dPt>
            <c:idx val="5"/>
            <c:spPr>
              <a:solidFill>
                <a:srgbClr val="D24C4C"/>
              </a:solidFill>
            </c:spPr>
          </c:dPt>
          <c:dPt>
            <c:idx val="6"/>
            <c:spPr>
              <a:solidFill>
                <a:srgbClr val="C92626"/>
              </a:solidFill>
            </c:spPr>
          </c:dPt>
          <c:dPt>
            <c:idx val="7"/>
            <c:spPr>
              <a:solidFill>
                <a:srgbClr val="C00000"/>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   </c:v>
                </c:pt>
                <c:pt idx="3">
                  <c:v>Curly Hair</c:v>
                </c:pt>
                <c:pt idx="4">
                  <c:v>Wavy Hair</c:v>
                </c:pt>
                <c:pt idx="5">
                  <c:v>Straight Hair</c:v>
                </c:pt>
                <c:pt idx="6">
                  <c:v>Coily Hair</c:v>
                </c:pt>
                <c:pt idx="7">
                  <c:v>All Hair Types</c:v>
                </c:pt>
              </c:strCache>
            </c:strRef>
          </c:cat>
          <c:val>
            <c:numRef>
              <c:numCache>
                <c:formatCode>General</c:formatCode>
                <c:ptCount val="8"/>
                <c:pt idx="3">
                  <c:v>832.591</c:v>
                </c:pt>
                <c:pt idx="4">
                  <c:v>886.994</c:v>
                </c:pt>
                <c:pt idx="5">
                  <c:v>923.344</c:v>
                </c:pt>
                <c:pt idx="6">
                  <c:v>955.765</c:v>
                </c:pt>
                <c:pt idx="7">
                  <c:v>972.156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302.68904"/>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C4C9CF"/>
              </a:solidFill>
            </c:spPr>
          </c:dPt>
          <c:dPt>
            <c:idx val="5"/>
            <c:spPr>
              <a:solidFill>
                <a:srgbClr val="A6AFB8"/>
              </a:solidFill>
            </c:spPr>
          </c:dPt>
          <c:dPt>
            <c:idx val="6"/>
            <c:spPr>
              <a:solidFill>
                <a:srgbClr val="8994A0"/>
              </a:solidFill>
            </c:spPr>
          </c:dPt>
          <c:dPt>
            <c:idx val="7"/>
            <c:spPr>
              <a:solidFill>
                <a:srgbClr val="6C7A89"/>
              </a:solidFill>
            </c:spPr>
          </c:dPt>
          <c:dLbls>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   </c:v>
                </c:pt>
                <c:pt idx="3">
                  <c:v>    </c:v>
                </c:pt>
                <c:pt idx="4">
                  <c:v>Waxes and Structuring…</c:v>
                </c:pt>
                <c:pt idx="5">
                  <c:v>Conditioning and Smoo…</c:v>
                </c:pt>
                <c:pt idx="6">
                  <c:v>Texture and Volume Ad…</c:v>
                </c:pt>
                <c:pt idx="7">
                  <c:v>Film-forming and Fixa…</c:v>
                </c:pt>
              </c:strCache>
            </c:strRef>
          </c:cat>
          <c:val>
            <c:numRef>
              <c:numCache>
                <c:formatCode>General</c:formatCode>
                <c:ptCount val="8"/>
                <c:pt idx="4">
                  <c:v>1095.37</c:v>
                </c:pt>
                <c:pt idx="5">
                  <c:v>1141.3000000000002</c:v>
                </c:pt>
                <c:pt idx="6">
                  <c:v>1148.852</c:v>
                </c:pt>
                <c:pt idx="7">
                  <c:v>1185.328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88.3395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0"/>
                <c:pt idx="0">
                  <c:v>2026</c:v>
                </c:pt>
                <c:pt idx="1">
                  <c:v>Sprays and Mists</c:v>
                </c:pt>
                <c:pt idx="2">
                  <c:v>Mousses and Foams</c:v>
                </c:pt>
                <c:pt idx="3">
                  <c:v>Gels and Jellies</c:v>
                </c:pt>
                <c:pt idx="4">
                  <c:v>Creams and Lotions</c:v>
                </c:pt>
                <c:pt idx="5">
                  <c:v>Waxes, Clays, Pastes and Pomades</c:v>
                </c:pt>
                <c:pt idx="6">
                  <c:v>Styling Powders</c:v>
                </c:pt>
                <c:pt idx="7">
                  <c:v>Styling Serums and Oils</c:v>
                </c:pt>
                <c:pt idx="8">
                  <c:v>Sticks and Balms</c:v>
                </c:pt>
                <c:pt idx="9">
                  <c:v>2036 Total</c:v>
                </c:pt>
              </c:strCache>
            </c:strRef>
          </c:cat>
          <c:val>
            <c:numRef>
              <c:numCache>
                <c:formatCode>General</c:formatCode>
                <c:ptCount val="10"/>
                <c:pt idx="0">
                  <c:v>0.0</c:v>
                </c:pt>
                <c:pt idx="1">
                  <c:v>4570.849</c:v>
                </c:pt>
                <c:pt idx="2">
                  <c:v>4847.308</c:v>
                </c:pt>
                <c:pt idx="3">
                  <c:v>5031.24</c:v>
                </c:pt>
                <c:pt idx="4">
                  <c:v>5274.878</c:v>
                </c:pt>
                <c:pt idx="5">
                  <c:v>5776.697999999999</c:v>
                </c:pt>
                <c:pt idx="6">
                  <c:v>6309.451999999999</c:v>
                </c:pt>
                <c:pt idx="7">
                  <c:v>6683.5779999999995</c:v>
                </c:pt>
                <c:pt idx="8">
                  <c:v>7508.708</c:v>
                </c:pt>
                <c:pt idx="9">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0"/>
                <c:pt idx="0">
                  <c:v>2026</c:v>
                </c:pt>
                <c:pt idx="1">
                  <c:v>Sprays and Mists</c:v>
                </c:pt>
                <c:pt idx="2">
                  <c:v>Mousses and Foams</c:v>
                </c:pt>
                <c:pt idx="3">
                  <c:v>Gels and Jellies</c:v>
                </c:pt>
                <c:pt idx="4">
                  <c:v>Creams and Lotions</c:v>
                </c:pt>
                <c:pt idx="5">
                  <c:v>Waxes, Clays, Pastes and Pomades</c:v>
                </c:pt>
                <c:pt idx="6">
                  <c:v>Styling Powders</c:v>
                </c:pt>
                <c:pt idx="7">
                  <c:v>Styling Serums and Oils</c:v>
                </c:pt>
                <c:pt idx="8">
                  <c:v>Sticks and Balms</c:v>
                </c:pt>
                <c:pt idx="9">
                  <c:v>2036 Total</c:v>
                </c:pt>
              </c:strCache>
            </c:strRef>
          </c:cat>
          <c:val>
            <c:numRef>
              <c:numCache>
                <c:formatCode>General</c:formatCode>
                <c:ptCount val="10"/>
                <c:pt idx="0">
                  <c:v>4570.849</c:v>
                </c:pt>
                <c:pt idx="1">
                  <c:v>276.45899999999995</c:v>
                </c:pt>
                <c:pt idx="2">
                  <c:v>183.93200000000007</c:v>
                </c:pt>
                <c:pt idx="3">
                  <c:v>243.63799999999998</c:v>
                </c:pt>
                <c:pt idx="4">
                  <c:v>501.82000000000005</c:v>
                </c:pt>
                <c:pt idx="5">
                  <c:v>532.7539999999999</c:v>
                </c:pt>
                <c:pt idx="6">
                  <c:v>374.126</c:v>
                </c:pt>
                <c:pt idx="7">
                  <c:v>825.1300000000001</c:v>
                </c:pt>
                <c:pt idx="8">
                  <c:v>662.4199999999998</c:v>
                </c:pt>
                <c:pt idx="9">
                  <c:v>8171.128000000001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Sprays and Mists</c:v>
                </c:pt>
                <c:pt idx="1">
                  <c:v>Mousses and Foams</c:v>
                </c:pt>
                <c:pt idx="2">
                  <c:v>Gels and Jellies</c:v>
                </c:pt>
                <c:pt idx="3">
                  <c:v>Creams and Lotions</c:v>
                </c:pt>
                <c:pt idx="4">
                  <c:v>Waxes, Clays, Pastes and Pomades</c:v>
                </c:pt>
                <c:pt idx="5">
                  <c:v>Styling Powders</c:v>
                </c:pt>
                <c:pt idx="6">
                  <c:v>Styling Serums and Oils</c:v>
                </c:pt>
                <c:pt idx="7">
                  <c:v>Sticks and Balms</c:v>
                </c:pt>
                <c:pt idx="8">
                  <c:v>Total Absolute $ Opportunity</c:v>
                </c:pt>
              </c:strCache>
            </c:strRef>
          </c:cat>
          <c:val>
            <c:numRef>
              <c:numCache>
                <c:formatCode>General</c:formatCode>
                <c:ptCount val="9"/>
                <c:pt idx="0">
                  <c:v>0.0</c:v>
                </c:pt>
                <c:pt idx="1">
                  <c:v>276.45899999999995</c:v>
                </c:pt>
                <c:pt idx="2">
                  <c:v>460.391</c:v>
                </c:pt>
                <c:pt idx="3">
                  <c:v>704.029</c:v>
                </c:pt>
                <c:pt idx="4">
                  <c:v>1205.8490000000002</c:v>
                </c:pt>
                <c:pt idx="5">
                  <c:v>1738.603</c:v>
                </c:pt>
                <c:pt idx="6">
                  <c:v>2112.7290000000003</c:v>
                </c:pt>
                <c:pt idx="7">
                  <c:v>2937.8590000000004</c:v>
                </c:pt>
                <c:pt idx="8">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Sprays and Mists</c:v>
                </c:pt>
                <c:pt idx="1">
                  <c:v>Mousses and Foams</c:v>
                </c:pt>
                <c:pt idx="2">
                  <c:v>Gels and Jellies</c:v>
                </c:pt>
                <c:pt idx="3">
                  <c:v>Creams and Lotions</c:v>
                </c:pt>
                <c:pt idx="4">
                  <c:v>Waxes, Clays, Pastes and Pomades</c:v>
                </c:pt>
                <c:pt idx="5">
                  <c:v>Styling Powders</c:v>
                </c:pt>
                <c:pt idx="6">
                  <c:v>Styling Serums and Oils</c:v>
                </c:pt>
                <c:pt idx="7">
                  <c:v>Sticks and Balms</c:v>
                </c:pt>
                <c:pt idx="8">
                  <c:v>Total Absolute $ Opportunity</c:v>
                </c:pt>
              </c:strCache>
            </c:strRef>
          </c:cat>
          <c:val>
            <c:numRef>
              <c:numCache>
                <c:formatCode>General</c:formatCode>
                <c:ptCount val="9"/>
                <c:pt idx="0">
                  <c:v>276.45899999999995</c:v>
                </c:pt>
                <c:pt idx="1">
                  <c:v>183.93200000000007</c:v>
                </c:pt>
                <c:pt idx="2">
                  <c:v>243.63799999999998</c:v>
                </c:pt>
                <c:pt idx="3">
                  <c:v>501.82000000000005</c:v>
                </c:pt>
                <c:pt idx="4">
                  <c:v>532.7539999999999</c:v>
                </c:pt>
                <c:pt idx="5">
                  <c:v>374.126</c:v>
                </c:pt>
                <c:pt idx="6">
                  <c:v>825.1300000000001</c:v>
                </c:pt>
                <c:pt idx="7">
                  <c:v>662.4199999999998</c:v>
                </c:pt>
                <c:pt idx="8">
                  <c:v>3600.279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No Hold</c:v>
                </c:pt>
                <c:pt idx="2">
                  <c:v>Light or Flexible Hold</c:v>
                </c:pt>
                <c:pt idx="3">
                  <c:v>Medium Hold</c:v>
                </c:pt>
                <c:pt idx="4">
                  <c:v>Strong Hold</c:v>
                </c:pt>
                <c:pt idx="5">
                  <c:v>Extra-strong Hold</c:v>
                </c:pt>
                <c:pt idx="6">
                  <c:v>2036 Total</c:v>
                </c:pt>
              </c:strCache>
            </c:strRef>
          </c:cat>
          <c:val>
            <c:numRef>
              <c:numCache>
                <c:formatCode>General</c:formatCode>
                <c:ptCount val="7"/>
                <c:pt idx="0">
                  <c:v>0.0</c:v>
                </c:pt>
                <c:pt idx="1">
                  <c:v>4570.851</c:v>
                </c:pt>
                <c:pt idx="2">
                  <c:v>5340.724999999999</c:v>
                </c:pt>
                <c:pt idx="3">
                  <c:v>6234.723999999999</c:v>
                </c:pt>
                <c:pt idx="4">
                  <c:v>7019.441999999999</c:v>
                </c:pt>
                <c:pt idx="5">
                  <c:v>7676.970999999999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No Hold</c:v>
                </c:pt>
                <c:pt idx="2">
                  <c:v>Light or Flexible Hold</c:v>
                </c:pt>
                <c:pt idx="3">
                  <c:v>Medium Hold</c:v>
                </c:pt>
                <c:pt idx="4">
                  <c:v>Strong Hold</c:v>
                </c:pt>
                <c:pt idx="5">
                  <c:v>Extra-strong Hold</c:v>
                </c:pt>
                <c:pt idx="6">
                  <c:v>2036 Total</c:v>
                </c:pt>
              </c:strCache>
            </c:strRef>
          </c:cat>
          <c:val>
            <c:numRef>
              <c:numCache>
                <c:formatCode>General</c:formatCode>
                <c:ptCount val="7"/>
                <c:pt idx="0">
                  <c:v>4570.851</c:v>
                </c:pt>
                <c:pt idx="1">
                  <c:v>769.8739999999999</c:v>
                </c:pt>
                <c:pt idx="2">
                  <c:v>893.9989999999999</c:v>
                </c:pt>
                <c:pt idx="3">
                  <c:v>784.7180000000001</c:v>
                </c:pt>
                <c:pt idx="4">
                  <c:v>657.5289999999999</c:v>
                </c:pt>
                <c:pt idx="5">
                  <c:v>494.1540000000001</c:v>
                </c:pt>
                <c:pt idx="6">
                  <c:v>8171.125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No Hold</c:v>
                </c:pt>
                <c:pt idx="1">
                  <c:v>Light or Flexible Hold</c:v>
                </c:pt>
                <c:pt idx="2">
                  <c:v>Medium Hold</c:v>
                </c:pt>
                <c:pt idx="3">
                  <c:v>Strong Hold</c:v>
                </c:pt>
                <c:pt idx="4">
                  <c:v>Extra-strong Hold</c:v>
                </c:pt>
                <c:pt idx="5">
                  <c:v>Total Absolute $ Opportunity</c:v>
                </c:pt>
              </c:strCache>
            </c:strRef>
          </c:cat>
          <c:val>
            <c:numRef>
              <c:numCache>
                <c:formatCode>General</c:formatCode>
                <c:ptCount val="6"/>
                <c:pt idx="0">
                  <c:v>0.0</c:v>
                </c:pt>
                <c:pt idx="1">
                  <c:v>769.8739999999999</c:v>
                </c:pt>
                <c:pt idx="2">
                  <c:v>1663.8729999999998</c:v>
                </c:pt>
                <c:pt idx="3">
                  <c:v>2448.591</c:v>
                </c:pt>
                <c:pt idx="4">
                  <c:v>3106.12</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No Hold</c:v>
                </c:pt>
                <c:pt idx="1">
                  <c:v>Light or Flexible Hold</c:v>
                </c:pt>
                <c:pt idx="2">
                  <c:v>Medium Hold</c:v>
                </c:pt>
                <c:pt idx="3">
                  <c:v>Strong Hold</c:v>
                </c:pt>
                <c:pt idx="4">
                  <c:v>Extra-strong Hold</c:v>
                </c:pt>
                <c:pt idx="5">
                  <c:v>Total Absolute $ Opportunity</c:v>
                </c:pt>
              </c:strCache>
            </c:strRef>
          </c:cat>
          <c:val>
            <c:numRef>
              <c:numCache>
                <c:formatCode>General</c:formatCode>
                <c:ptCount val="6"/>
                <c:pt idx="0">
                  <c:v>769.8739999999999</c:v>
                </c:pt>
                <c:pt idx="1">
                  <c:v>893.9989999999999</c:v>
                </c:pt>
                <c:pt idx="2">
                  <c:v>784.7180000000001</c:v>
                </c:pt>
                <c:pt idx="3">
                  <c:v>657.5289999999999</c:v>
                </c:pt>
                <c:pt idx="4">
                  <c:v>494.1540000000001</c:v>
                </c:pt>
                <c:pt idx="5">
                  <c:v>3600.274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2026</c:v>
                </c:pt>
                <c:pt idx="1">
                  <c:v>Matte</c:v>
                </c:pt>
                <c:pt idx="2">
                  <c:v>Natural</c:v>
                </c:pt>
                <c:pt idx="3">
                  <c:v>Glossy or Wet-look</c:v>
                </c:pt>
                <c:pt idx="4">
                  <c:v>2036 Total</c:v>
                </c:pt>
              </c:strCache>
            </c:strRef>
          </c:cat>
          <c:val>
            <c:numRef>
              <c:numCache>
                <c:formatCode>General</c:formatCode>
                <c:ptCount val="5"/>
                <c:pt idx="0">
                  <c:v>0.0</c:v>
                </c:pt>
                <c:pt idx="1">
                  <c:v>4570.85</c:v>
                </c:pt>
                <c:pt idx="2">
                  <c:v>5756.086</c:v>
                </c:pt>
                <c:pt idx="3">
                  <c:v>6838.607</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2026</c:v>
                </c:pt>
                <c:pt idx="1">
                  <c:v>Matte</c:v>
                </c:pt>
                <c:pt idx="2">
                  <c:v>Natural</c:v>
                </c:pt>
                <c:pt idx="3">
                  <c:v>Glossy or Wet-look</c:v>
                </c:pt>
                <c:pt idx="4">
                  <c:v>2036 Total</c:v>
                </c:pt>
              </c:strCache>
            </c:strRef>
          </c:cat>
          <c:val>
            <c:numRef>
              <c:numCache>
                <c:formatCode>General</c:formatCode>
                <c:ptCount val="5"/>
                <c:pt idx="0">
                  <c:v>4570.85</c:v>
                </c:pt>
                <c:pt idx="1">
                  <c:v>1185.2359999999999</c:v>
                </c:pt>
                <c:pt idx="2">
                  <c:v>1082.5210000000002</c:v>
                </c:pt>
                <c:pt idx="3">
                  <c:v>1332.5190000000002</c:v>
                </c:pt>
                <c:pt idx="4">
                  <c:v>8171.126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Matte</c:v>
                </c:pt>
                <c:pt idx="1">
                  <c:v>Natural</c:v>
                </c:pt>
                <c:pt idx="2">
                  <c:v>Glossy or Wet-look</c:v>
                </c:pt>
                <c:pt idx="3">
                  <c:v>Total Absolute $ Opportunity</c:v>
                </c:pt>
              </c:strCache>
            </c:strRef>
          </c:cat>
          <c:val>
            <c:numRef>
              <c:numCache>
                <c:formatCode>General</c:formatCode>
                <c:ptCount val="4"/>
                <c:pt idx="0">
                  <c:v>0.0</c:v>
                </c:pt>
                <c:pt idx="1">
                  <c:v>1185.2359999999999</c:v>
                </c:pt>
                <c:pt idx="2">
                  <c:v>2267.757</c:v>
                </c:pt>
                <c:pt idx="3">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Matte</c:v>
                </c:pt>
                <c:pt idx="1">
                  <c:v>Natural</c:v>
                </c:pt>
                <c:pt idx="2">
                  <c:v>Glossy or Wet-look</c:v>
                </c:pt>
                <c:pt idx="3">
                  <c:v>Total Absolute $ Opportunity</c:v>
                </c:pt>
              </c:strCache>
            </c:strRef>
          </c:cat>
          <c:val>
            <c:numRef>
              <c:numCache>
                <c:formatCode>General</c:formatCode>
                <c:ptCount val="4"/>
                <c:pt idx="0">
                  <c:v>1185.2359999999999</c:v>
                </c:pt>
                <c:pt idx="1">
                  <c:v>1082.5210000000002</c:v>
                </c:pt>
                <c:pt idx="2">
                  <c:v>1332.5190000000002</c:v>
                </c:pt>
                <c:pt idx="3">
                  <c:v>3600.2760000000003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Mass Retail</c:v>
                </c:pt>
                <c:pt idx="2">
                  <c:v>Beauty Specialty Retail</c:v>
                </c:pt>
                <c:pt idx="3">
                  <c:v>Salon and Professional Distribution</c:v>
                </c:pt>
                <c:pt idx="4">
                  <c:v>Pharmacies and Drugstores</c:v>
                </c:pt>
                <c:pt idx="5">
                  <c:v>Online Marketplaces</c:v>
                </c:pt>
                <c:pt idx="6">
                  <c:v>Brand-owned Online Stores</c:v>
                </c:pt>
                <c:pt idx="7">
                  <c:v>2036 Total</c:v>
                </c:pt>
              </c:strCache>
            </c:strRef>
          </c:cat>
          <c:val>
            <c:numRef>
              <c:numCache>
                <c:formatCode>General</c:formatCode>
                <c:ptCount val="8"/>
                <c:pt idx="0">
                  <c:v>0.0</c:v>
                </c:pt>
                <c:pt idx="1">
                  <c:v>4570.849</c:v>
                </c:pt>
                <c:pt idx="2">
                  <c:v>5070.779</c:v>
                </c:pt>
                <c:pt idx="3">
                  <c:v>5649.745000000001</c:v>
                </c:pt>
                <c:pt idx="4">
                  <c:v>6303.028</c:v>
                </c:pt>
                <c:pt idx="5">
                  <c:v>6762.195000000001</c:v>
                </c:pt>
                <c:pt idx="6">
                  <c:v>7643.858</c:v>
                </c:pt>
                <c:pt idx="7">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Mass Retail</c:v>
                </c:pt>
                <c:pt idx="2">
                  <c:v>Beauty Specialty Retail</c:v>
                </c:pt>
                <c:pt idx="3">
                  <c:v>Salon and Professional Distribution</c:v>
                </c:pt>
                <c:pt idx="4">
                  <c:v>Pharmacies and Drugstores</c:v>
                </c:pt>
                <c:pt idx="5">
                  <c:v>Online Marketplaces</c:v>
                </c:pt>
                <c:pt idx="6">
                  <c:v>Brand-owned Online Stores</c:v>
                </c:pt>
                <c:pt idx="7">
                  <c:v>2036 Total</c:v>
                </c:pt>
              </c:strCache>
            </c:strRef>
          </c:cat>
          <c:val>
            <c:numRef>
              <c:numCache>
                <c:formatCode>General</c:formatCode>
                <c:ptCount val="8"/>
                <c:pt idx="0">
                  <c:v>4570.849</c:v>
                </c:pt>
                <c:pt idx="1">
                  <c:v>499.92999999999995</c:v>
                </c:pt>
                <c:pt idx="2">
                  <c:v>578.9659999999999</c:v>
                </c:pt>
                <c:pt idx="3">
                  <c:v>653.2829999999999</c:v>
                </c:pt>
                <c:pt idx="4">
                  <c:v>459.16700000000014</c:v>
                </c:pt>
                <c:pt idx="5">
                  <c:v>881.6629999999999</c:v>
                </c:pt>
                <c:pt idx="6">
                  <c:v>527.2680000000001</c:v>
                </c:pt>
                <c:pt idx="7">
                  <c:v>8171.126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Mass Retail</c:v>
                </c:pt>
                <c:pt idx="1">
                  <c:v>Beauty Specialty Retail</c:v>
                </c:pt>
                <c:pt idx="2">
                  <c:v>Salon and Professional Distribution</c:v>
                </c:pt>
                <c:pt idx="3">
                  <c:v>Pharmacies and Drugstores</c:v>
                </c:pt>
                <c:pt idx="4">
                  <c:v>Online Marketplaces</c:v>
                </c:pt>
                <c:pt idx="5">
                  <c:v>Brand-owned Online Stores</c:v>
                </c:pt>
                <c:pt idx="6">
                  <c:v>Total Absolute $ Opportunity</c:v>
                </c:pt>
              </c:strCache>
            </c:strRef>
          </c:cat>
          <c:val>
            <c:numRef>
              <c:numCache>
                <c:formatCode>General</c:formatCode>
                <c:ptCount val="7"/>
                <c:pt idx="0">
                  <c:v>0.0</c:v>
                </c:pt>
                <c:pt idx="1">
                  <c:v>499.92999999999995</c:v>
                </c:pt>
                <c:pt idx="2">
                  <c:v>1078.8959999999997</c:v>
                </c:pt>
                <c:pt idx="3">
                  <c:v>1732.1789999999996</c:v>
                </c:pt>
                <c:pt idx="4">
                  <c:v>2191.3459999999995</c:v>
                </c:pt>
                <c:pt idx="5">
                  <c:v>3073.0089999999996</c:v>
                </c:pt>
                <c:pt idx="6">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Mass Retail</c:v>
                </c:pt>
                <c:pt idx="1">
                  <c:v>Beauty Specialty Retail</c:v>
                </c:pt>
                <c:pt idx="2">
                  <c:v>Salon and Professional Distribution</c:v>
                </c:pt>
                <c:pt idx="3">
                  <c:v>Pharmacies and Drugstores</c:v>
                </c:pt>
                <c:pt idx="4">
                  <c:v>Online Marketplaces</c:v>
                </c:pt>
                <c:pt idx="5">
                  <c:v>Brand-owned Online Stores</c:v>
                </c:pt>
                <c:pt idx="6">
                  <c:v>Total Absolute $ Opportunity</c:v>
                </c:pt>
              </c:strCache>
            </c:strRef>
          </c:cat>
          <c:val>
            <c:numRef>
              <c:numCache>
                <c:formatCode>General</c:formatCode>
                <c:ptCount val="7"/>
                <c:pt idx="0">
                  <c:v>499.92999999999995</c:v>
                </c:pt>
                <c:pt idx="1">
                  <c:v>578.9659999999999</c:v>
                </c:pt>
                <c:pt idx="2">
                  <c:v>653.2829999999999</c:v>
                </c:pt>
                <c:pt idx="3">
                  <c:v>459.16700000000014</c:v>
                </c:pt>
                <c:pt idx="4">
                  <c:v>881.6629999999999</c:v>
                </c:pt>
                <c:pt idx="5">
                  <c:v>527.2680000000001</c:v>
                </c:pt>
                <c:pt idx="6">
                  <c:v>3600.2769999999996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2026</c:v>
                </c:pt>
                <c:pt idx="1">
                  <c:v>Hold and Shape</c:v>
                </c:pt>
                <c:pt idx="2">
                  <c:v>Curl Definition</c:v>
                </c:pt>
                <c:pt idx="3">
                  <c:v>Volume and Root Lift</c:v>
                </c:pt>
                <c:pt idx="4">
                  <c:v>Texture and Separation</c:v>
                </c:pt>
                <c:pt idx="5">
                  <c:v>Smoothing and Frizz Control</c:v>
                </c:pt>
                <c:pt idx="6">
                  <c:v>Sleek Styling and Edge Control</c:v>
                </c:pt>
                <c:pt idx="7">
                  <c:v>Heat Styling Support</c:v>
                </c:pt>
                <c:pt idx="8">
                  <c:v>2036 Total</c:v>
                </c:pt>
              </c:strCache>
            </c:strRef>
          </c:cat>
          <c:val>
            <c:numRef>
              <c:numCache>
                <c:formatCode>General</c:formatCode>
                <c:ptCount val="9"/>
                <c:pt idx="0">
                  <c:v>0.0</c:v>
                </c:pt>
                <c:pt idx="1">
                  <c:v>4570.85</c:v>
                </c:pt>
                <c:pt idx="2">
                  <c:v>4928.349</c:v>
                </c:pt>
                <c:pt idx="3">
                  <c:v>5685.717000000001</c:v>
                </c:pt>
                <c:pt idx="4">
                  <c:v>6131.7080000000005</c:v>
                </c:pt>
                <c:pt idx="5">
                  <c:v>6590.839000000001</c:v>
                </c:pt>
                <c:pt idx="6">
                  <c:v>7235.082000000001</c:v>
                </c:pt>
                <c:pt idx="7">
                  <c:v>7544.366000000001</c:v>
                </c:pt>
                <c:pt idx="8">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2026</c:v>
                </c:pt>
                <c:pt idx="1">
                  <c:v>Hold and Shape</c:v>
                </c:pt>
                <c:pt idx="2">
                  <c:v>Curl Definition</c:v>
                </c:pt>
                <c:pt idx="3">
                  <c:v>Volume and Root Lift</c:v>
                </c:pt>
                <c:pt idx="4">
                  <c:v>Texture and Separation</c:v>
                </c:pt>
                <c:pt idx="5">
                  <c:v>Smoothing and Frizz Control</c:v>
                </c:pt>
                <c:pt idx="6">
                  <c:v>Sleek Styling and Edge Control</c:v>
                </c:pt>
                <c:pt idx="7">
                  <c:v>Heat Styling Support</c:v>
                </c:pt>
                <c:pt idx="8">
                  <c:v>2036 Total</c:v>
                </c:pt>
              </c:strCache>
            </c:strRef>
          </c:cat>
          <c:val>
            <c:numRef>
              <c:numCache>
                <c:formatCode>General</c:formatCode>
                <c:ptCount val="9"/>
                <c:pt idx="0">
                  <c:v>4570.85</c:v>
                </c:pt>
                <c:pt idx="1">
                  <c:v>357.499</c:v>
                </c:pt>
                <c:pt idx="2">
                  <c:v>757.3679999999999</c:v>
                </c:pt>
                <c:pt idx="3">
                  <c:v>445.991</c:v>
                </c:pt>
                <c:pt idx="4">
                  <c:v>459.1310000000001</c:v>
                </c:pt>
                <c:pt idx="5">
                  <c:v>644.243</c:v>
                </c:pt>
                <c:pt idx="6">
                  <c:v>309.284</c:v>
                </c:pt>
                <c:pt idx="7">
                  <c:v>626.76</c:v>
                </c:pt>
                <c:pt idx="8">
                  <c:v>8171.125999999999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Hold and Shape</c:v>
                </c:pt>
                <c:pt idx="1">
                  <c:v>Curl Definition</c:v>
                </c:pt>
                <c:pt idx="2">
                  <c:v>Volume and Root Lift</c:v>
                </c:pt>
                <c:pt idx="3">
                  <c:v>Texture and Separation</c:v>
                </c:pt>
                <c:pt idx="4">
                  <c:v>Smoothing and Frizz Control</c:v>
                </c:pt>
                <c:pt idx="5">
                  <c:v>Sleek Styling and Edge Control</c:v>
                </c:pt>
                <c:pt idx="6">
                  <c:v>Heat Styling Support</c:v>
                </c:pt>
                <c:pt idx="7">
                  <c:v>Total Absolute $ Opportunity</c:v>
                </c:pt>
              </c:strCache>
            </c:strRef>
          </c:cat>
          <c:val>
            <c:numRef>
              <c:numCache>
                <c:formatCode>General</c:formatCode>
                <c:ptCount val="8"/>
                <c:pt idx="0">
                  <c:v>0.0</c:v>
                </c:pt>
                <c:pt idx="1">
                  <c:v>357.499</c:v>
                </c:pt>
                <c:pt idx="2">
                  <c:v>1114.867</c:v>
                </c:pt>
                <c:pt idx="3">
                  <c:v>1560.858</c:v>
                </c:pt>
                <c:pt idx="4">
                  <c:v>2019.989</c:v>
                </c:pt>
                <c:pt idx="5">
                  <c:v>2664.232</c:v>
                </c:pt>
                <c:pt idx="6">
                  <c:v>2973.516</c:v>
                </c:pt>
                <c:pt idx="7">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Hold and Shape</c:v>
                </c:pt>
                <c:pt idx="1">
                  <c:v>Curl Definition</c:v>
                </c:pt>
                <c:pt idx="2">
                  <c:v>Volume and Root Lift</c:v>
                </c:pt>
                <c:pt idx="3">
                  <c:v>Texture and Separation</c:v>
                </c:pt>
                <c:pt idx="4">
                  <c:v>Smoothing and Frizz Control</c:v>
                </c:pt>
                <c:pt idx="5">
                  <c:v>Sleek Styling and Edge Control</c:v>
                </c:pt>
                <c:pt idx="6">
                  <c:v>Heat Styling Support</c:v>
                </c:pt>
                <c:pt idx="7">
                  <c:v>Total Absolute $ Opportunity</c:v>
                </c:pt>
              </c:strCache>
            </c:strRef>
          </c:cat>
          <c:val>
            <c:numRef>
              <c:numCache>
                <c:formatCode>General</c:formatCode>
                <c:ptCount val="8"/>
                <c:pt idx="0">
                  <c:v>357.499</c:v>
                </c:pt>
                <c:pt idx="1">
                  <c:v>757.3679999999999</c:v>
                </c:pt>
                <c:pt idx="2">
                  <c:v>445.991</c:v>
                </c:pt>
                <c:pt idx="3">
                  <c:v>459.1310000000001</c:v>
                </c:pt>
                <c:pt idx="4">
                  <c:v>644.243</c:v>
                </c:pt>
                <c:pt idx="5">
                  <c:v>309.284</c:v>
                </c:pt>
                <c:pt idx="6">
                  <c:v>626.76</c:v>
                </c:pt>
                <c:pt idx="7">
                  <c:v>3600.276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Straight Hair</c:v>
                </c:pt>
                <c:pt idx="2">
                  <c:v>Wavy Hair</c:v>
                </c:pt>
                <c:pt idx="3">
                  <c:v>Curly Hair</c:v>
                </c:pt>
                <c:pt idx="4">
                  <c:v>Coily Hair</c:v>
                </c:pt>
                <c:pt idx="5">
                  <c:v>All Hair Types</c:v>
                </c:pt>
                <c:pt idx="6">
                  <c:v>2036 Total</c:v>
                </c:pt>
              </c:strCache>
            </c:strRef>
          </c:cat>
          <c:val>
            <c:numRef>
              <c:numCache>
                <c:formatCode>General</c:formatCode>
                <c:ptCount val="7"/>
                <c:pt idx="0">
                  <c:v>0.0</c:v>
                </c:pt>
                <c:pt idx="1">
                  <c:v>4570.85</c:v>
                </c:pt>
                <c:pt idx="2">
                  <c:v>5136.915000000001</c:v>
                </c:pt>
                <c:pt idx="3">
                  <c:v>5824.536000000001</c:v>
                </c:pt>
                <c:pt idx="4">
                  <c:v>6565.754000000001</c:v>
                </c:pt>
                <c:pt idx="5">
                  <c:v>7495.109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Straight Hair</c:v>
                </c:pt>
                <c:pt idx="2">
                  <c:v>Wavy Hair</c:v>
                </c:pt>
                <c:pt idx="3">
                  <c:v>Curly Hair</c:v>
                </c:pt>
                <c:pt idx="4">
                  <c:v>Coily Hair</c:v>
                </c:pt>
                <c:pt idx="5">
                  <c:v>All Hair Types</c:v>
                </c:pt>
                <c:pt idx="6">
                  <c:v>2036 Total</c:v>
                </c:pt>
              </c:strCache>
            </c:strRef>
          </c:cat>
          <c:val>
            <c:numRef>
              <c:numCache>
                <c:formatCode>General</c:formatCode>
                <c:ptCount val="7"/>
                <c:pt idx="0">
                  <c:v>4570.85</c:v>
                </c:pt>
                <c:pt idx="1">
                  <c:v>566.065</c:v>
                </c:pt>
                <c:pt idx="2">
                  <c:v>687.621</c:v>
                </c:pt>
                <c:pt idx="3">
                  <c:v>741.218</c:v>
                </c:pt>
                <c:pt idx="4">
                  <c:v>929.3549999999999</c:v>
                </c:pt>
                <c:pt idx="5">
                  <c:v>676.017</c:v>
                </c:pt>
                <c:pt idx="6">
                  <c:v>8171.126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Straight Hair</c:v>
                </c:pt>
                <c:pt idx="1">
                  <c:v>Wavy Hair</c:v>
                </c:pt>
                <c:pt idx="2">
                  <c:v>Curly Hair</c:v>
                </c:pt>
                <c:pt idx="3">
                  <c:v>Coily Hair</c:v>
                </c:pt>
                <c:pt idx="4">
                  <c:v>All Hair Types</c:v>
                </c:pt>
                <c:pt idx="5">
                  <c:v>Total Absolute $ Opportunity</c:v>
                </c:pt>
              </c:strCache>
            </c:strRef>
          </c:cat>
          <c:val>
            <c:numRef>
              <c:numCache>
                <c:formatCode>General</c:formatCode>
                <c:ptCount val="6"/>
                <c:pt idx="0">
                  <c:v>0.0</c:v>
                </c:pt>
                <c:pt idx="1">
                  <c:v>566.065</c:v>
                </c:pt>
                <c:pt idx="2">
                  <c:v>1253.6860000000001</c:v>
                </c:pt>
                <c:pt idx="3">
                  <c:v>1994.904</c:v>
                </c:pt>
                <c:pt idx="4">
                  <c:v>2924.259</c:v>
                </c:pt>
                <c:pt idx="5">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Straight Hair</c:v>
                </c:pt>
                <c:pt idx="1">
                  <c:v>Wavy Hair</c:v>
                </c:pt>
                <c:pt idx="2">
                  <c:v>Curly Hair</c:v>
                </c:pt>
                <c:pt idx="3">
                  <c:v>Coily Hair</c:v>
                </c:pt>
                <c:pt idx="4">
                  <c:v>All Hair Types</c:v>
                </c:pt>
                <c:pt idx="5">
                  <c:v>Total Absolute $ Opportunity</c:v>
                </c:pt>
              </c:strCache>
            </c:strRef>
          </c:cat>
          <c:val>
            <c:numRef>
              <c:numCache>
                <c:formatCode>General</c:formatCode>
                <c:ptCount val="6"/>
                <c:pt idx="0">
                  <c:v>566.065</c:v>
                </c:pt>
                <c:pt idx="1">
                  <c:v>687.621</c:v>
                </c:pt>
                <c:pt idx="2">
                  <c:v>741.218</c:v>
                </c:pt>
                <c:pt idx="3">
                  <c:v>929.3549999999999</c:v>
                </c:pt>
                <c:pt idx="4">
                  <c:v>676.017</c:v>
                </c:pt>
                <c:pt idx="5">
                  <c:v>3600.276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Film-forming and Fixative Polymers</c:v>
                </c:pt>
                <c:pt idx="2">
                  <c:v>Texture and Volume Additives</c:v>
                </c:pt>
                <c:pt idx="3">
                  <c:v>Conditioning and Smoothing Agents</c:v>
                </c:pt>
                <c:pt idx="4">
                  <c:v>Waxes and Structuring Agents</c:v>
                </c:pt>
                <c:pt idx="5">
                  <c:v>2036 Total</c:v>
                </c:pt>
              </c:strCache>
            </c:strRef>
          </c:cat>
          <c:val>
            <c:numRef>
              <c:numCache>
                <c:formatCode>General</c:formatCode>
                <c:ptCount val="6"/>
                <c:pt idx="0">
                  <c:v>0.0</c:v>
                </c:pt>
                <c:pt idx="1">
                  <c:v>4570.85</c:v>
                </c:pt>
                <c:pt idx="2">
                  <c:v>5327.064</c:v>
                </c:pt>
                <c:pt idx="3">
                  <c:v>6302.898</c:v>
                </c:pt>
                <c:pt idx="4">
                  <c:v>7180.75</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Film-forming and Fixative Polymers</c:v>
                </c:pt>
                <c:pt idx="2">
                  <c:v>Texture and Volume Additives</c:v>
                </c:pt>
                <c:pt idx="3">
                  <c:v>Conditioning and Smoothing Agents</c:v>
                </c:pt>
                <c:pt idx="4">
                  <c:v>Waxes and Structuring Agents</c:v>
                </c:pt>
                <c:pt idx="5">
                  <c:v>2036 Total</c:v>
                </c:pt>
              </c:strCache>
            </c:strRef>
          </c:cat>
          <c:val>
            <c:numRef>
              <c:numCache>
                <c:formatCode>General</c:formatCode>
                <c:ptCount val="6"/>
                <c:pt idx="0">
                  <c:v>4570.85</c:v>
                </c:pt>
                <c:pt idx="1">
                  <c:v>756.2139999999999</c:v>
                </c:pt>
                <c:pt idx="2">
                  <c:v>975.8340000000001</c:v>
                </c:pt>
                <c:pt idx="3">
                  <c:v>877.8519999999999</c:v>
                </c:pt>
                <c:pt idx="4">
                  <c:v>990.3760000000002</c:v>
                </c:pt>
                <c:pt idx="5">
                  <c:v>8171.126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Film-forming and Fixative Polymers</c:v>
                </c:pt>
                <c:pt idx="1">
                  <c:v>Texture and Volume Additives</c:v>
                </c:pt>
                <c:pt idx="2">
                  <c:v>Conditioning and Smoothing Agents</c:v>
                </c:pt>
                <c:pt idx="3">
                  <c:v>Waxes and Structuring Agents</c:v>
                </c:pt>
                <c:pt idx="4">
                  <c:v>Total Absolute $ Opportunity</c:v>
                </c:pt>
              </c:strCache>
            </c:strRef>
          </c:cat>
          <c:val>
            <c:numRef>
              <c:numCache>
                <c:formatCode>General</c:formatCode>
                <c:ptCount val="5"/>
                <c:pt idx="0">
                  <c:v>0.0</c:v>
                </c:pt>
                <c:pt idx="1">
                  <c:v>756.2139999999999</c:v>
                </c:pt>
                <c:pt idx="2">
                  <c:v>1732.048</c:v>
                </c:pt>
                <c:pt idx="3">
                  <c:v>2609.8999999999996</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Film-forming and Fixative Polymers</c:v>
                </c:pt>
                <c:pt idx="1">
                  <c:v>Texture and Volume Additives</c:v>
                </c:pt>
                <c:pt idx="2">
                  <c:v>Conditioning and Smoothing Agents</c:v>
                </c:pt>
                <c:pt idx="3">
                  <c:v>Waxes and Structuring Agents</c:v>
                </c:pt>
                <c:pt idx="4">
                  <c:v>Total Absolute $ Opportunity</c:v>
                </c:pt>
              </c:strCache>
            </c:strRef>
          </c:cat>
          <c:val>
            <c:numRef>
              <c:numCache>
                <c:formatCode>General</c:formatCode>
                <c:ptCount val="5"/>
                <c:pt idx="0">
                  <c:v>756.2139999999999</c:v>
                </c:pt>
                <c:pt idx="1">
                  <c:v>975.8340000000001</c:v>
                </c:pt>
                <c:pt idx="2">
                  <c:v>877.8519999999999</c:v>
                </c:pt>
                <c:pt idx="3">
                  <c:v>990.3760000000002</c:v>
                </c:pt>
                <c:pt idx="4">
                  <c:v>3600.276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7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Styling Serums and Oils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c:v>
                </c:pt>
                <c:pt idx="1">
                  <c:v>3.0</c:v>
                </c:pt>
                <c:pt idx="2">
                  <c:v>3.0</c:v>
                </c:pt>
                <c:pt idx="3">
                  <c:v>3.0</c:v>
                </c:pt>
                <c:pt idx="4">
                  <c:v>3.0</c:v>
                </c:pt>
                <c:pt idx="5">
                  <c:v>3.0</c:v>
                </c:pt>
                <c:pt idx="6">
                  <c:v>3.0</c:v>
                </c:pt>
                <c:pt idx="7">
                  <c:v>3.0</c:v>
                </c:pt>
                <c:pt idx="8">
                  <c:v>3.0</c:v>
                </c:pt>
                <c:pt idx="9">
                  <c:v>3.0</c:v>
                </c:pt>
                <c:pt idx="10">
                  <c:v>3.0</c:v>
                </c:pt>
                <c:pt idx="11">
                  <c:v>3.0</c:v>
                </c:pt>
                <c:pt idx="12">
                  <c:v>3.0</c:v>
                </c:pt>
                <c:pt idx="13">
                  <c:v>3.0</c:v>
                </c:pt>
                <c:pt idx="14">
                  <c:v>3.0</c:v>
                </c:pt>
                <c:pt idx="15">
                  <c:v>3.0</c:v>
                </c:pt>
              </c:numCache>
            </c:numRef>
          </c:val>
          <c:smooth val="0"/>
        </c:ser>
        <c:ser>
          <c:idx val="1"/>
          <c:order val="1"/>
          <c:tx>
            <c:strRef>
              <c:strCache>
                <c:ptCount val="1"/>
                <c:pt idx="0">
                  <c:v>Sticks and Balms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c:v>
                </c:pt>
                <c:pt idx="1">
                  <c:v>3.0</c:v>
                </c:pt>
                <c:pt idx="2">
                  <c:v>3.0</c:v>
                </c:pt>
                <c:pt idx="3">
                  <c:v>3.0</c:v>
                </c:pt>
                <c:pt idx="4">
                  <c:v>3.0</c:v>
                </c:pt>
                <c:pt idx="5">
                  <c:v>3.0</c:v>
                </c:pt>
                <c:pt idx="6">
                  <c:v>3.0</c:v>
                </c:pt>
                <c:pt idx="7">
                  <c:v>3.0</c:v>
                </c:pt>
                <c:pt idx="8">
                  <c:v>3.0</c:v>
                </c:pt>
                <c:pt idx="9">
                  <c:v>3.0</c:v>
                </c:pt>
                <c:pt idx="10">
                  <c:v>3.0</c:v>
                </c:pt>
                <c:pt idx="11">
                  <c:v>3.0</c:v>
                </c:pt>
                <c:pt idx="12">
                  <c:v>3.0</c:v>
                </c:pt>
                <c:pt idx="13">
                  <c:v>3.0</c:v>
                </c:pt>
                <c:pt idx="14">
                  <c:v>3.0</c:v>
                </c:pt>
                <c:pt idx="15">
                  <c:v>3.0</c:v>
                </c:pt>
              </c:numCache>
            </c:numRef>
          </c:val>
          <c:smooth val="0"/>
        </c:ser>
        <c:ser>
          <c:idx val="2"/>
          <c:order val="2"/>
          <c:tx>
            <c:strRef>
              <c:strCache>
                <c:ptCount val="1"/>
                <c:pt idx="0">
                  <c:v>Waxes, Clays, Pastes and Pomades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c:v>
                </c:pt>
                <c:pt idx="1">
                  <c:v>2.0</c:v>
                </c:pt>
                <c:pt idx="2">
                  <c:v>2.0</c:v>
                </c:pt>
                <c:pt idx="3">
                  <c:v>2.0</c:v>
                </c:pt>
                <c:pt idx="4">
                  <c:v>2.0</c:v>
                </c:pt>
                <c:pt idx="5">
                  <c:v>2.0</c:v>
                </c:pt>
                <c:pt idx="6">
                  <c:v>2.0</c:v>
                </c:pt>
                <c:pt idx="7">
                  <c:v>2.0</c:v>
                </c:pt>
                <c:pt idx="8">
                  <c:v>2.0</c:v>
                </c:pt>
                <c:pt idx="9">
                  <c:v>3.0</c:v>
                </c:pt>
                <c:pt idx="10">
                  <c:v>3.0</c:v>
                </c:pt>
                <c:pt idx="11">
                  <c:v>3.0</c:v>
                </c:pt>
                <c:pt idx="12">
                  <c:v>3.0</c:v>
                </c:pt>
                <c:pt idx="13">
                  <c:v>3.0</c:v>
                </c:pt>
                <c:pt idx="14">
                  <c:v>3.0</c:v>
                </c:pt>
                <c:pt idx="15">
                  <c:v>3.0</c:v>
                </c:pt>
              </c:numCache>
            </c:numRef>
          </c:val>
          <c:smooth val="0"/>
        </c:ser>
        <c:ser>
          <c:idx val="3"/>
          <c:order val="3"/>
          <c:tx>
            <c:strRef>
              <c:strCache>
                <c:ptCount val="1"/>
                <c:pt idx="0">
                  <c:v>Styling Powders</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numCache>
            </c:numRef>
          </c:val>
          <c:smooth val="0"/>
        </c:ser>
        <c:ser>
          <c:idx val="4"/>
          <c:order val="4"/>
          <c:tx>
            <c:strRef>
              <c:strCache>
                <c:ptCount val="1"/>
                <c:pt idx="0">
                  <c:v>Sprays and Mists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numCache>
            </c:numRef>
          </c:val>
          <c:smooth val="0"/>
        </c:ser>
        <c:ser>
          <c:idx val="5"/>
          <c:order val="5"/>
          <c:tx>
            <c:strRef>
              <c:strCache>
                <c:ptCount val="1"/>
                <c:pt idx="0">
                  <c:v>Creams and Lotions</c:v>
                </c:pt>
              </c:strCache>
            </c:strRef>
          </c:tx>
          <c:spPr>
            <a:ln w="25400">
              <a:solidFill>
                <a:srgbClr val="5B7DB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numCache>
            </c:numRef>
          </c:val>
          <c:smooth val="0"/>
        </c:ser>
        <c:ser>
          <c:idx val="6"/>
          <c:order val="6"/>
          <c:tx>
            <c:strRef>
              <c:strCache>
                <c:ptCount val="1"/>
                <c:pt idx="0">
                  <c:v>Gels and Jellies</c:v>
                </c:pt>
              </c:strCache>
            </c:strRef>
          </c:tx>
          <c:spPr>
            <a:ln w="25400">
              <a:solidFill>
                <a:srgbClr val="A23B5C"/>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ser>
          <c:idx val="7"/>
          <c:order val="7"/>
          <c:tx>
            <c:strRef>
              <c:strCache>
                <c:ptCount val="1"/>
                <c:pt idx="0">
                  <c:v>Mousses and Foams</c:v>
                </c:pt>
              </c:strCache>
            </c:strRef>
          </c:tx>
          <c:spPr>
            <a:ln w="25400">
              <a:solidFill>
                <a:srgbClr val="6E8B3D"/>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00.0"/>
          <c:min val="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5B7DB1"/>
              </a:solidFill>
            </c:spPr>
          </c:dPt>
          <c:dPt>
            <c:idx val="4"/>
            <c:spPr>
              <a:solidFill>
                <a:srgbClr val="C55A11"/>
              </a:solidFill>
            </c:spPr>
          </c:dPt>
          <c:dPt>
            <c:idx val="5"/>
            <c:spPr>
              <a:solidFill>
                <a:srgbClr val="C55A11"/>
              </a:solidFill>
            </c:spPr>
          </c:dPt>
          <c:dPt>
            <c:idx val="6"/>
            <c:spPr>
              <a:solidFill>
                <a:srgbClr val="C55A11"/>
              </a:solidFill>
            </c:spPr>
          </c:dPt>
          <c:dPt>
            <c:idx val="7"/>
            <c:spPr>
              <a:solidFill>
                <a:srgbClr val="C55A11"/>
              </a:solidFill>
            </c:spPr>
          </c:dPt>
          <c:cat>
            <c:strRef>
              <c:strCache>
                <c:ptCount val="8"/>
                <c:pt idx="0">
                  <c:v>Mousses and Foams</c:v>
                </c:pt>
                <c:pt idx="1">
                  <c:v>Gels and Jellies</c:v>
                </c:pt>
                <c:pt idx="2">
                  <c:v>Creams and Lotions</c:v>
                </c:pt>
                <c:pt idx="3">
                  <c:v>Sprays and Mists</c:v>
                </c:pt>
                <c:pt idx="4">
                  <c:v>Styling Powders</c:v>
                </c:pt>
                <c:pt idx="5">
                  <c:v>Waxes, Clays, Pastes and Pomades</c:v>
                </c:pt>
                <c:pt idx="6">
                  <c:v>Sticks and Balms</c:v>
                </c:pt>
                <c:pt idx="7">
                  <c:v>Styling Serums and Oils</c:v>
                </c:pt>
              </c:strCache>
            </c:strRef>
          </c:cat>
          <c:val>
            <c:numRef>
              <c:numCache>
                <c:formatCode>General</c:formatCode>
                <c:ptCount val="8"/>
                <c:pt idx="0">
                  <c:v>62.4</c:v>
                </c:pt>
                <c:pt idx="1">
                  <c:v>62.7</c:v>
                </c:pt>
                <c:pt idx="2">
                  <c:v>87.7</c:v>
                </c:pt>
                <c:pt idx="3">
                  <c:v>93.6</c:v>
                </c:pt>
                <c:pt idx="4">
                  <c:v>103.3</c:v>
                </c:pt>
                <c:pt idx="5">
                  <c:v>117.7</c:v>
                </c:pt>
                <c:pt idx="6">
                  <c:v>132.5</c:v>
                </c:pt>
                <c:pt idx="7">
                  <c:v>152.0</c:v>
                </c:pt>
              </c:numCache>
            </c:numRef>
          </c:val>
        </c:ser>
        <c:dLbls>
          <c:numFmt formatCode="0.0" sourceLinked="0"/>
          <c:txPr>
            <a:bodyPr/>
            <a:lstStyle/>
            <a:p>
              <a:pPr>
                <a:defRPr sz="900" b="1">
                  <a:solidFill>
                    <a:srgbClr val="1F1F1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54.0"/>
          <c:min val="59.0"/>
        </c:scaling>
        <c:delete/>
        <c:axPos val="b"/>
        <c:majorTickMark val="out"/>
        <c:minorTickMark val="none"/>
        <c:tickLblPos val="nextTo"/>
        <c:crossAx val="-2068027336"/>
        <c:crosses val="autoZero"/>
      </c:valAx>
    </c:plotArea>
    <c:dispBlanksAs val="gap"/>
  </c:chart>
  <c:txPr>
    <a:bodyPr/>
    <a:lstStyle/>
    <a:p>
      <a:pPr>
        <a:defRPr sz="1800"/>
      </a:pPr>
      <a:endParaRPr lang="en-US"/>
    </a:p>
  </c:txPr>
</c:chartSpace>
</file>

<file path=ppt/charts/chart17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East Asia</c:v>
                </c:pt>
                <c:pt idx="3">
                  <c:v>Middle East &amp; Africa</c:v>
                </c:pt>
                <c:pt idx="4">
                  <c:v>Latin America</c:v>
                </c:pt>
                <c:pt idx="5">
                  <c:v>South Asia &amp; Pacific</c:v>
                </c:pt>
              </c:strCache>
            </c:strRef>
          </c:cat>
          <c:val>
            <c:numRef>
              <c:numCache>
                <c:formatCode>General</c:formatCode>
                <c:ptCount val="6"/>
                <c:pt idx="0">
                  <c:v>86.8</c:v>
                </c:pt>
                <c:pt idx="1">
                  <c:v>63.3</c:v>
                </c:pt>
                <c:pt idx="2">
                  <c:v>59.0</c:v>
                </c:pt>
                <c:pt idx="3">
                  <c:v>53.9</c:v>
                </c:pt>
                <c:pt idx="4">
                  <c:v>46.6</c:v>
                </c:pt>
                <c:pt idx="5">
                  <c:v>44.2</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East Asia</c:v>
                </c:pt>
                <c:pt idx="3">
                  <c:v>Middle East &amp; Africa</c:v>
                </c:pt>
                <c:pt idx="4">
                  <c:v>Latin America</c:v>
                </c:pt>
                <c:pt idx="5">
                  <c:v>South Asia &amp; Pacific</c:v>
                </c:pt>
              </c:strCache>
            </c:strRef>
          </c:cat>
          <c:val>
            <c:numRef>
              <c:numCache>
                <c:formatCode>General</c:formatCode>
                <c:ptCount val="6"/>
                <c:pt idx="0">
                  <c:v>123.5</c:v>
                </c:pt>
                <c:pt idx="1">
                  <c:v>91.9</c:v>
                </c:pt>
                <c:pt idx="2">
                  <c:v>83.9</c:v>
                </c:pt>
                <c:pt idx="3">
                  <c:v>81.9</c:v>
                </c:pt>
                <c:pt idx="4">
                  <c:v>66.9</c:v>
                </c:pt>
                <c:pt idx="5">
                  <c:v>67.0</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215.0"/>
          <c:min val="40.0"/>
        </c:scaling>
        <c:delete val="0"/>
        <c:axPos val="l"/>
        <c:majorGridlines>
          <c:spPr>
            <a:ln>
              <a:solidFill>
                <a:srgbClr val="D9DEE4"/>
              </a:solidFill>
            </a:ln>
          </c:spPr>
        </c:majorGridlines>
        <c:numFmt formatCode="0" sourceLinked="0"/>
        <c:majorTickMark val="out"/>
        <c:minorTickMark val="none"/>
        <c:tickLblPos val="nextTo"/>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7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16.40671985632649</c:v>
                </c:pt>
                <c:pt idx="1">
                  <c:v>14.36342749497713</c:v>
                </c:pt>
                <c:pt idx="2">
                  <c:v>9.906466607900706</c:v>
                </c:pt>
                <c:pt idx="3">
                  <c:v>6.95937915947461</c:v>
                </c:pt>
                <c:pt idx="4">
                  <c:v>6.895934323353047</c:v>
                </c:pt>
                <c:pt idx="5">
                  <c:v>6.853242844843239</c:v>
                </c:pt>
                <c:pt idx="6">
                  <c:v>5.486614965564599</c:v>
                </c:pt>
                <c:pt idx="7">
                  <c:v>3.3040038111377297</c:v>
                </c:pt>
                <c:pt idx="8">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12.825191395384453</c:v>
                </c:pt>
                <c:pt idx="1">
                  <c:v>10.95571182148254</c:v>
                </c:pt>
                <c:pt idx="2">
                  <c:v>12.354580159020578</c:v>
                </c:pt>
                <c:pt idx="3">
                  <c:v>12.659425329755038</c:v>
                </c:pt>
                <c:pt idx="4">
                  <c:v>10.058161896840053</c:v>
                </c:pt>
                <c:pt idx="5">
                  <c:v>6.24469615282758</c:v>
                </c:pt>
                <c:pt idx="6">
                  <c:v>4.114628946933352</c:v>
                </c:pt>
                <c:pt idx="7">
                  <c:v>3.5536186824780462</c:v>
                </c:pt>
                <c:pt idx="8">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13.241300171729673</c:v>
                </c:pt>
                <c:pt idx="1">
                  <c:v>14.757821817091273</c:v>
                </c:pt>
                <c:pt idx="2">
                  <c:v>14.928751533095168</c:v>
                </c:pt>
                <c:pt idx="3">
                  <c:v>11.734746524584317</c:v>
                </c:pt>
                <c:pt idx="4">
                  <c:v>7.483554686717547</c:v>
                </c:pt>
                <c:pt idx="5">
                  <c:v>4.943534691833558</c:v>
                </c:pt>
                <c:pt idx="6">
                  <c:v>4.751324429490797</c:v>
                </c:pt>
                <c:pt idx="7">
                  <c:v>4.789948922030665</c:v>
                </c:pt>
                <c:pt idx="8">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17.755466218387074</c:v>
                </c:pt>
                <c:pt idx="1">
                  <c:v>16.923512057220726</c:v>
                </c:pt>
                <c:pt idx="2">
                  <c:v>13.06398834839756</c:v>
                </c:pt>
                <c:pt idx="3">
                  <c:v>8.501111419992805</c:v>
                </c:pt>
                <c:pt idx="4">
                  <c:v>6.212483469935218</c:v>
                </c:pt>
                <c:pt idx="5">
                  <c:v>6.00372205577132</c:v>
                </c:pt>
                <c:pt idx="6">
                  <c:v>6.25214775447386</c:v>
                </c:pt>
                <c:pt idx="7">
                  <c:v>5.093976971379507</c:v>
                </c:pt>
                <c:pt idx="8">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18.375494481479823</c:v>
                </c:pt>
                <c:pt idx="1">
                  <c:v>13.506860544917371</c:v>
                </c:pt>
                <c:pt idx="2">
                  <c:v>9.018334357772936</c:v>
                </c:pt>
                <c:pt idx="3">
                  <c:v>8.01201879742635</c:v>
                </c:pt>
                <c:pt idx="4">
                  <c:v>8.65950070279257</c:v>
                </c:pt>
                <c:pt idx="5">
                  <c:v>7.44623663894267</c:v>
                </c:pt>
                <c:pt idx="6">
                  <c:v>5.048380480706811</c:v>
                </c:pt>
                <c:pt idx="7">
                  <c:v>3.0833382814602577</c:v>
                </c:pt>
                <c:pt idx="8">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14.470398026970201</c:v>
                </c:pt>
                <c:pt idx="1">
                  <c:v>12.081105054104468</c:v>
                </c:pt>
                <c:pt idx="2">
                  <c:v>13.741360229691407</c:v>
                </c:pt>
                <c:pt idx="3">
                  <c:v>13.333223083894268</c:v>
                </c:pt>
                <c:pt idx="4">
                  <c:v>9.443383956307104</c:v>
                </c:pt>
                <c:pt idx="5">
                  <c:v>5.704118782848436</c:v>
                </c:pt>
                <c:pt idx="6">
                  <c:v>4.9040267030818985</c:v>
                </c:pt>
                <c:pt idx="7">
                  <c:v>5.0046675995562016</c:v>
                </c:pt>
                <c:pt idx="8">
                  <c:v>21.317716563546018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numCache>
                <c:formatCode>General</c:formatCode>
                <c:ptCount val="9"/>
                <c:pt idx="0">
                  <c:v>17.059182852443715</c:v>
                </c:pt>
                <c:pt idx="1">
                  <c:v>11.555110199289217</c:v>
                </c:pt>
                <c:pt idx="2">
                  <c:v>11.49241996011639</c:v>
                </c:pt>
                <c:pt idx="3">
                  <c:v>12.62567293240893</c:v>
                </c:pt>
                <c:pt idx="4">
                  <c:v>10.645270539100778</c:v>
                </c:pt>
                <c:pt idx="5">
                  <c:v>6.6195232003608835</c:v>
                </c:pt>
                <c:pt idx="6">
                  <c:v>4.493101603948456</c:v>
                </c:pt>
                <c:pt idx="7">
                  <c:v>4.22083041567492</c:v>
                </c:pt>
                <c:pt idx="8">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Mass Retail</c:v>
                </c:pt>
                <c:pt idx="1">
                  <c:v>Beauty Specialty Retail</c:v>
                </c:pt>
                <c:pt idx="2">
                  <c:v>Salon and Professional Distribution</c:v>
                </c:pt>
                <c:pt idx="3">
                  <c:v>Pharmacies and Drugstores</c:v>
                </c:pt>
              </c:strCache>
            </c:strRef>
          </c:cat>
          <c:val>
            <c:numRef>
              <c:numCache>
                <c:formatCode>General</c:formatCode>
                <c:ptCount val="4"/>
                <c:pt idx="0">
                  <c:v>1406.570470139203</c:v>
                </c:pt>
                <c:pt idx="1">
                  <c:v>782.5250031942185</c:v>
                </c:pt>
                <c:pt idx="2">
                  <c:v>984.9762161456905</c:v>
                </c:pt>
                <c:pt idx="3">
                  <c:v>1860.71306720892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456.1412487157745"/>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East Asia</c:v>
                </c:pt>
                <c:pt idx="2">
                  <c:v>Europe</c:v>
                </c:pt>
                <c:pt idx="3">
                  <c:v>South Asia &amp; Pacific</c:v>
                </c:pt>
                <c:pt idx="4">
                  <c:v>Rest of the World</c:v>
                </c:pt>
              </c:strCache>
            </c:strRef>
          </c:cat>
          <c:val>
            <c:numRef>
              <c:numCache>
                <c:formatCode>General</c:formatCode>
                <c:ptCount val="5"/>
                <c:pt idx="0">
                  <c:v>1671.4544328853872</c:v>
                </c:pt>
                <c:pt idx="1">
                  <c:v>1017.4105918325503</c:v>
                </c:pt>
                <c:pt idx="2">
                  <c:v>548.660037878689</c:v>
                </c:pt>
                <c:pt idx="3">
                  <c:v>619.9438449912939</c:v>
                </c:pt>
                <c:pt idx="4">
                  <c:v>1177.3158491001118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206.319851408711"/>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Styling Serums and Oils</c:v>
                </c:pt>
                <c:pt idx="1">
                  <c:v>Waxes, Clays, Pastes and Pomades</c:v>
                </c:pt>
                <c:pt idx="2">
                  <c:v>Sticks and Balms</c:v>
                </c:pt>
                <c:pt idx="3">
                  <c:v>Creams and Lotions</c:v>
                </c:pt>
              </c:strCache>
            </c:strRef>
          </c:cat>
          <c:val>
            <c:numRef>
              <c:numCache>
                <c:formatCode>General</c:formatCode>
                <c:ptCount val="4"/>
                <c:pt idx="0">
                  <c:v>580.1014291831889</c:v>
                </c:pt>
                <c:pt idx="1">
                  <c:v>806.4758081354903</c:v>
                </c:pt>
                <c:pt idx="2">
                  <c:v>1503.8168230228575</c:v>
                </c:pt>
                <c:pt idx="3">
                  <c:v>2144.390696346495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East Asia</c:v>
                </c:pt>
                <c:pt idx="2">
                  <c:v>Europe</c:v>
                </c:pt>
                <c:pt idx="3">
                  <c:v>South Asia &amp; Pacific</c:v>
                </c:pt>
                <c:pt idx="4">
                  <c:v>Rest of the World</c:v>
                </c:pt>
              </c:strCache>
            </c:strRef>
          </c:cat>
          <c:val>
            <c:numRef>
              <c:numCache>
                <c:formatCode>General</c:formatCode>
                <c:ptCount val="5"/>
                <c:pt idx="0">
                  <c:v>4787.223948000001</c:v>
                </c:pt>
                <c:pt idx="1">
                  <c:v>4303.246313239675</c:v>
                </c:pt>
                <c:pt idx="2">
                  <c:v>3144.8877478563704</c:v>
                </c:pt>
                <c:pt idx="3">
                  <c:v>2014.7930139520831</c:v>
                </c:pt>
                <c:pt idx="4">
                  <c:v>1598.462412717356</c:v>
                </c:pt>
              </c:numCache>
            </c:numRef>
          </c:val>
        </c:ser>
        <c:ser>
          <c:idx val="1"/>
          <c:order val="1"/>
          <c:tx>
            <c:strRef>
              <c:strCache>
                <c:ptCount val="1"/>
                <c:pt idx="0">
                  <c:v>SOM</c:v>
                </c:pt>
              </c:strCache>
            </c:strRef>
          </c:tx>
          <c:spPr>
            <a:solidFill>
              <a:srgbClr val="0E72AE"/>
            </a:solidFill>
            <a:ln>
              <a:noFill/>
            </a:ln>
          </c:spPr>
          <c:dLbls>
            <c:dLbl>
              <c:idx val="0"/>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East Asia</c:v>
                </c:pt>
                <c:pt idx="2">
                  <c:v>Europe</c:v>
                </c:pt>
                <c:pt idx="3">
                  <c:v>South Asia &amp; Pacific</c:v>
                </c:pt>
                <c:pt idx="4">
                  <c:v>Rest of the World</c:v>
                </c:pt>
              </c:strCache>
            </c:strRef>
          </c:cat>
          <c:val>
            <c:numRef>
              <c:numCache>
                <c:formatCode>General</c:formatCode>
                <c:ptCount val="5"/>
                <c:pt idx="0">
                  <c:v>1671.4544328853872</c:v>
                </c:pt>
                <c:pt idx="1">
                  <c:v>1017.4105918325503</c:v>
                </c:pt>
                <c:pt idx="2">
                  <c:v>548.660037878689</c:v>
                </c:pt>
                <c:pt idx="3">
                  <c:v>619.9438449912939</c:v>
                </c:pt>
                <c:pt idx="4">
                  <c:v>1177.3158491001118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127.6466534400015"/>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Global Hair Styling Products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By Product Format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By Product Format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By Hold Level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By Finish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By Distribution Channel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By Distribution Channel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By Primary Styling Benefit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By Hair Type Targeted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By Ingredient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North America Hair Styling Products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By Product Format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By Product Format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Product Format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By Hold Level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Hold Level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By Finish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Finish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By Distribution Channel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By Distribution Channel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By Primary Styling Benefit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Primary Styling Benefit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By Hair Type Targeted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Hair Type Targeted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By Ingredient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Ingredient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Overview Key Segments (Value)  (1/2)</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Overview Key Segments (Value)  (2/2)</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Product Format Segmental</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Product Format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Hold Level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Hold Level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Finish Segmental</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Finish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Distribution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Primary Styling Benefit Segmental</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Primary Styling Benefit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Hair Type Targeted Segmental</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Hair Type Targeted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Ingredient Technology Segmental</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Country Ingredient Technology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Price Forecast &amp; Dynamics  (1/2)</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Price Forecast &amp; Dynamics  (2/2)</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Company Profiles &amp; Strategic Benchmarking Company A Snapshot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Company Profiles &amp; Strategic Benchmarking Company A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Company Profiles &amp; Strategic Benchmarking Company A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Company Profiles &amp; Strategic Benchmarking Company A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Competitor Company Profiles &amp; Strategic Benchmarking Company A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Hair Styling Products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9.xml"/><Relationship Id="rId8" Type="http://schemas.openxmlformats.org/officeDocument/2006/relationships/slide" Target="slide20.xml"/><Relationship Id="rId9" Type="http://schemas.openxmlformats.org/officeDocument/2006/relationships/slide" Target="slide31.xml"/><Relationship Id="rId10" Type="http://schemas.openxmlformats.org/officeDocument/2006/relationships/slide" Target="slide39.xml"/><Relationship Id="rId11" Type="http://schemas.openxmlformats.org/officeDocument/2006/relationships/slide" Target="slide118.xml"/><Relationship Id="rId12" Type="http://schemas.openxmlformats.org/officeDocument/2006/relationships/slide" Target="slide119.xml"/><Relationship Id="rId13" Type="http://schemas.openxmlformats.org/officeDocument/2006/relationships/slide" Target="slide129.xml"/><Relationship Id="rId14" Type="http://schemas.openxmlformats.org/officeDocument/2006/relationships/slide" Target="slide137.xml"/><Relationship Id="rId15" Type="http://schemas.openxmlformats.org/officeDocument/2006/relationships/slide" Target="slide216.xml"/><Relationship Id="rId16" Type="http://schemas.openxmlformats.org/officeDocument/2006/relationships/slide" Target="slide217.xml"/><Relationship Id="rId17" Type="http://schemas.openxmlformats.org/officeDocument/2006/relationships/slide" Target="slide222.xml"/><Relationship Id="rId18" Type="http://schemas.openxmlformats.org/officeDocument/2006/relationships/slide" Target="slide255.xml"/><Relationship Id="rId19" Type="http://schemas.openxmlformats.org/officeDocument/2006/relationships/slide" Target="slide256.xml"/><Relationship Id="rId20" Type="http://schemas.openxmlformats.org/officeDocument/2006/relationships/slide" Target="slide269.xml"/><Relationship Id="rId21" Type="http://schemas.openxmlformats.org/officeDocument/2006/relationships/slide" Target="slide273.xml"/><Relationship Id="rId22" Type="http://schemas.openxmlformats.org/officeDocument/2006/relationships/slide" Target="slide274.xml"/><Relationship Id="rId23" Type="http://schemas.openxmlformats.org/officeDocument/2006/relationships/slide" Target="slide282.xml"/><Relationship Id="rId24" Type="http://schemas.openxmlformats.org/officeDocument/2006/relationships/slide" Target="slide283.xml"/><Relationship Id="rId25" Type="http://schemas.openxmlformats.org/officeDocument/2006/relationships/slide" Target="slide297.xml"/><Relationship Id="rId26" Type="http://schemas.openxmlformats.org/officeDocument/2006/relationships/slide" Target="slide30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74.png"/><Relationship Id="rId14" Type="http://schemas.openxmlformats.org/officeDocument/2006/relationships/image" Target="../media/image75.png"/><Relationship Id="rId15" Type="http://schemas.openxmlformats.org/officeDocument/2006/relationships/image" Target="../media/image76.png"/><Relationship Id="rId16" Type="http://schemas.openxmlformats.org/officeDocument/2006/relationships/image" Target="../media/image77.png"/><Relationship Id="rId17" Type="http://schemas.openxmlformats.org/officeDocument/2006/relationships/image" Target="../media/image78.png"/><Relationship Id="rId18" Type="http://schemas.openxmlformats.org/officeDocument/2006/relationships/image" Target="../media/image79.png"/><Relationship Id="rId19" Type="http://schemas.openxmlformats.org/officeDocument/2006/relationships/image" Target="../media/image80.png"/><Relationship Id="rId20" Type="http://schemas.openxmlformats.org/officeDocument/2006/relationships/image" Target="../media/image81.png"/><Relationship Id="rId21" Type="http://schemas.openxmlformats.org/officeDocument/2006/relationships/image" Target="../media/image82.png"/><Relationship Id="rId2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10.png"/><Relationship Id="rId7" Type="http://schemas.openxmlformats.org/officeDocument/2006/relationships/image" Target="../media/image111.png"/><Relationship Id="rId8" Type="http://schemas.openxmlformats.org/officeDocument/2006/relationships/image" Target="../media/image1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png"/><Relationship Id="rId8" Type="http://schemas.openxmlformats.org/officeDocument/2006/relationships/image" Target="../media/image119.png"/><Relationship Id="rId9" Type="http://schemas.openxmlformats.org/officeDocument/2006/relationships/image" Target="../media/image73.png"/><Relationship Id="rId10" Type="http://schemas.openxmlformats.org/officeDocument/2006/relationships/image" Target="../media/image120.png"/><Relationship Id="rId11" Type="http://schemas.openxmlformats.org/officeDocument/2006/relationships/image" Target="../media/image121.png"/><Relationship Id="rId12" Type="http://schemas.openxmlformats.org/officeDocument/2006/relationships/image" Target="../media/image122.png"/><Relationship Id="rId13" Type="http://schemas.openxmlformats.org/officeDocument/2006/relationships/image" Target="../media/image123.png"/><Relationship Id="rId14" Type="http://schemas.openxmlformats.org/officeDocument/2006/relationships/image" Target="../media/image124.png"/><Relationship Id="rId15" Type="http://schemas.openxmlformats.org/officeDocument/2006/relationships/image" Target="../media/image125.png"/><Relationship Id="rId16"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79.png"/><Relationship Id="rId10" Type="http://schemas.openxmlformats.org/officeDocument/2006/relationships/image" Target="../media/image131.png"/><Relationship Id="rId11" Type="http://schemas.openxmlformats.org/officeDocument/2006/relationships/image" Target="../media/image132.png"/><Relationship Id="rId12" Type="http://schemas.openxmlformats.org/officeDocument/2006/relationships/image" Target="../media/image133.png"/><Relationship Id="rId13" Type="http://schemas.openxmlformats.org/officeDocument/2006/relationships/image" Target="../media/image134.png"/><Relationship Id="rId14" Type="http://schemas.openxmlformats.org/officeDocument/2006/relationships/image" Target="../media/image135.png"/><Relationship Id="rId15" Type="http://schemas.openxmlformats.org/officeDocument/2006/relationships/image" Target="../media/image97.png"/><Relationship Id="rId16"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7.xml"/><Relationship Id="rId8"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7" Type="http://schemas.openxmlformats.org/officeDocument/2006/relationships/notesSlide" Target="../notesSlides/notesSlide28.xml"/><Relationship Id="rId8"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notesSlide" Target="../notesSlides/notesSlide33.xml"/><Relationship Id="rId5"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image" Target="../media/image196.png"/><Relationship Id="rId5" Type="http://schemas.openxmlformats.org/officeDocument/2006/relationships/image" Target="../media/image197.png"/><Relationship Id="rId6" Type="http://schemas.openxmlformats.org/officeDocument/2006/relationships/image" Target="../media/image198.png"/><Relationship Id="rId7" Type="http://schemas.openxmlformats.org/officeDocument/2006/relationships/image" Target="../media/image199.png"/><Relationship Id="rId8" Type="http://schemas.openxmlformats.org/officeDocument/2006/relationships/image" Target="../media/image200.png"/><Relationship Id="rId9" Type="http://schemas.openxmlformats.org/officeDocument/2006/relationships/image" Target="../media/image67.png"/><Relationship Id="rId10" Type="http://schemas.openxmlformats.org/officeDocument/2006/relationships/image" Target="../media/image201.png"/><Relationship Id="rId11" Type="http://schemas.openxmlformats.org/officeDocument/2006/relationships/image" Target="../media/image202.png"/><Relationship Id="rId12" Type="http://schemas.openxmlformats.org/officeDocument/2006/relationships/image" Target="../media/image203.png"/><Relationship Id="rId13" Type="http://schemas.openxmlformats.org/officeDocument/2006/relationships/image" Target="../media/image204.png"/><Relationship Id="rId14" Type="http://schemas.openxmlformats.org/officeDocument/2006/relationships/image" Target="../media/image205.png"/><Relationship Id="rId15" Type="http://schemas.openxmlformats.org/officeDocument/2006/relationships/image" Target="../media/image206.png"/><Relationship Id="rId16" Type="http://schemas.openxmlformats.org/officeDocument/2006/relationships/image" Target="../media/image207.png"/><Relationship Id="rId17" Type="http://schemas.openxmlformats.org/officeDocument/2006/relationships/image" Target="../media/image208.png"/><Relationship Id="rId18" Type="http://schemas.openxmlformats.org/officeDocument/2006/relationships/image" Target="../media/image209.png"/><Relationship Id="rId19"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notesSlide" Target="../notesSlides/notesSlide39.xml"/><Relationship Id="rId6"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chart" Target="../charts/chart30.xml"/><Relationship Id="rId6" Type="http://schemas.openxmlformats.org/officeDocument/2006/relationships/chart" Target="../charts/chart31.xml"/><Relationship Id="rId7" Type="http://schemas.openxmlformats.org/officeDocument/2006/relationships/notesSlide" Target="../notesSlides/notesSlide40.xml"/><Relationship Id="rId8"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notesSlide" Target="../notesSlides/notesSlide41.xml"/><Relationship Id="rId5"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notesSlide" Target="../notesSlides/notesSlide44.xml"/><Relationship Id="rId5"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 Id="rId4" Type="http://schemas.openxmlformats.org/officeDocument/2006/relationships/image" Target="../media/image246.png"/><Relationship Id="rId5" Type="http://schemas.openxmlformats.org/officeDocument/2006/relationships/image" Target="../media/image247.png"/><Relationship Id="rId6" Type="http://schemas.openxmlformats.org/officeDocument/2006/relationships/image" Target="../media/image198.png"/><Relationship Id="rId7" Type="http://schemas.openxmlformats.org/officeDocument/2006/relationships/image" Target="../media/image248.png"/><Relationship Id="rId8" Type="http://schemas.openxmlformats.org/officeDocument/2006/relationships/image" Target="../media/image249.png"/><Relationship Id="rId9" Type="http://schemas.openxmlformats.org/officeDocument/2006/relationships/image" Target="../media/image67.png"/><Relationship Id="rId10" Type="http://schemas.openxmlformats.org/officeDocument/2006/relationships/image" Target="../media/image250.png"/><Relationship Id="rId11" Type="http://schemas.openxmlformats.org/officeDocument/2006/relationships/image" Target="../media/image251.png"/><Relationship Id="rId12" Type="http://schemas.openxmlformats.org/officeDocument/2006/relationships/image" Target="../media/image252.png"/><Relationship Id="rId13"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notesSlide" Target="../notesSlides/notesSlide48.xml"/><Relationship Id="rId6"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chart" Target="../charts/chart38.xml"/><Relationship Id="rId6" Type="http://schemas.openxmlformats.org/officeDocument/2006/relationships/notesSlide" Target="../notesSlides/notesSlide49.xml"/><Relationship Id="rId7"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notesSlide" Target="../notesSlides/notesSlide52.xml"/><Relationship Id="rId5"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 Id="rId4" Type="http://schemas.openxmlformats.org/officeDocument/2006/relationships/image" Target="../media/image278.png"/><Relationship Id="rId5" Type="http://schemas.openxmlformats.org/officeDocument/2006/relationships/image" Target="../media/image279.png"/><Relationship Id="rId6" Type="http://schemas.openxmlformats.org/officeDocument/2006/relationships/image" Target="../media/image280.png"/><Relationship Id="rId7" Type="http://schemas.openxmlformats.org/officeDocument/2006/relationships/image" Target="../media/image281.png"/><Relationship Id="rId8" Type="http://schemas.openxmlformats.org/officeDocument/2006/relationships/image" Target="../media/image282.png"/><Relationship Id="rId9" Type="http://schemas.openxmlformats.org/officeDocument/2006/relationships/image" Target="../media/image283.png"/><Relationship Id="rId10" Type="http://schemas.openxmlformats.org/officeDocument/2006/relationships/image" Target="../media/image284.png"/><Relationship Id="rId11" Type="http://schemas.openxmlformats.org/officeDocument/2006/relationships/image" Target="../media/image285.png"/><Relationship Id="rId12" Type="http://schemas.openxmlformats.org/officeDocument/2006/relationships/image" Target="../media/image73.png"/><Relationship Id="rId13"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image" Target="../media/image286.png"/><Relationship Id="rId5" Type="http://schemas.openxmlformats.org/officeDocument/2006/relationships/image" Target="../media/image287.png"/><Relationship Id="rId6" Type="http://schemas.openxmlformats.org/officeDocument/2006/relationships/image" Target="../media/image288.png"/><Relationship Id="rId7" Type="http://schemas.openxmlformats.org/officeDocument/2006/relationships/image" Target="../media/image289.png"/><Relationship Id="rId8" Type="http://schemas.openxmlformats.org/officeDocument/2006/relationships/image" Target="../media/image290.png"/><Relationship Id="rId9" Type="http://schemas.openxmlformats.org/officeDocument/2006/relationships/image" Target="../media/image291.png"/><Relationship Id="rId10" Type="http://schemas.openxmlformats.org/officeDocument/2006/relationships/image" Target="../media/image292.png"/><Relationship Id="rId11" Type="http://schemas.openxmlformats.org/officeDocument/2006/relationships/image" Target="../media/image293.png"/><Relationship Id="rId12" Type="http://schemas.openxmlformats.org/officeDocument/2006/relationships/image" Target="../media/image82.png"/><Relationship Id="rId13"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notesSlide" Target="../notesSlides/notesSlide57.xml"/><Relationship Id="rId6"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 Id="rId6" Type="http://schemas.openxmlformats.org/officeDocument/2006/relationships/chart" Target="../charts/chart45.xml"/><Relationship Id="rId7" Type="http://schemas.openxmlformats.org/officeDocument/2006/relationships/notesSlide" Target="../notesSlides/notesSlide58.xml"/><Relationship Id="rId8"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59.xml"/><Relationship Id="rId6"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notesSlide" Target="../notesSlides/notesSlide62.xml"/><Relationship Id="rId5"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 Id="rId4" Type="http://schemas.openxmlformats.org/officeDocument/2006/relationships/image" Target="../media/image339.png"/><Relationship Id="rId5" Type="http://schemas.openxmlformats.org/officeDocument/2006/relationships/image" Target="../media/image340.png"/><Relationship Id="rId6" Type="http://schemas.openxmlformats.org/officeDocument/2006/relationships/image" Target="../media/image206.png"/><Relationship Id="rId7" Type="http://schemas.openxmlformats.org/officeDocument/2006/relationships/image" Target="../media/image341.png"/><Relationship Id="rId8" Type="http://schemas.openxmlformats.org/officeDocument/2006/relationships/image" Target="../media/image342.png"/><Relationship Id="rId9" Type="http://schemas.openxmlformats.org/officeDocument/2006/relationships/image" Target="../media/image343.png"/><Relationship Id="rId10" Type="http://schemas.openxmlformats.org/officeDocument/2006/relationships/image" Target="../media/image344.png"/><Relationship Id="rId11" Type="http://schemas.openxmlformats.org/officeDocument/2006/relationships/image" Target="../media/image345.png"/><Relationship Id="rId12" Type="http://schemas.openxmlformats.org/officeDocument/2006/relationships/image" Target="../media/image346.png"/><Relationship Id="rId13" Type="http://schemas.openxmlformats.org/officeDocument/2006/relationships/image" Target="../media/image347.png"/><Relationship Id="rId14" Type="http://schemas.openxmlformats.org/officeDocument/2006/relationships/image" Target="../media/image348.png"/><Relationship Id="rId15" Type="http://schemas.openxmlformats.org/officeDocument/2006/relationships/image" Target="../media/image79.png"/><Relationship Id="rId16" Type="http://schemas.openxmlformats.org/officeDocument/2006/relationships/image" Target="../media/image349.png"/><Relationship Id="rId17" Type="http://schemas.openxmlformats.org/officeDocument/2006/relationships/image" Target="../media/image350.png"/><Relationship Id="rId18" Type="http://schemas.openxmlformats.org/officeDocument/2006/relationships/image" Target="../media/image351.png"/><Relationship Id="rId19" Type="http://schemas.openxmlformats.org/officeDocument/2006/relationships/image" Target="../media/image352.png"/><Relationship Id="rId20" Type="http://schemas.openxmlformats.org/officeDocument/2006/relationships/image" Target="../media/image353.png"/><Relationship Id="rId21" Type="http://schemas.openxmlformats.org/officeDocument/2006/relationships/image" Target="../media/image70.png"/><Relationship Id="rId22" Type="http://schemas.openxmlformats.org/officeDocument/2006/relationships/image" Target="../media/image354.png"/><Relationship Id="rId23" Type="http://schemas.openxmlformats.org/officeDocument/2006/relationships/image" Target="../media/image355.png"/><Relationship Id="rId24" Type="http://schemas.openxmlformats.org/officeDocument/2006/relationships/image" Target="../media/image356.png"/><Relationship Id="rId25"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66.xml"/><Relationship Id="rId6"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chart" Target="../charts/chart53.xml"/><Relationship Id="rId6" Type="http://schemas.openxmlformats.org/officeDocument/2006/relationships/chart" Target="../charts/chart54.xml"/><Relationship Id="rId7" Type="http://schemas.openxmlformats.org/officeDocument/2006/relationships/notesSlide" Target="../notesSlides/notesSlide67.xml"/><Relationship Id="rId8"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chart" Target="../charts/chart56.xml"/><Relationship Id="rId5" Type="http://schemas.openxmlformats.org/officeDocument/2006/relationships/chart" Target="../charts/chart57.xml"/><Relationship Id="rId6" Type="http://schemas.openxmlformats.org/officeDocument/2006/relationships/notesSlide" Target="../notesSlides/notesSlide68.xml"/><Relationship Id="rId7"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notesSlide" Target="../notesSlides/notesSlide71.xml"/><Relationship Id="rId5"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411.png"/><Relationship Id="rId5" Type="http://schemas.openxmlformats.org/officeDocument/2006/relationships/image" Target="../media/image412.png"/><Relationship Id="rId6" Type="http://schemas.openxmlformats.org/officeDocument/2006/relationships/image" Target="../media/image209.png"/><Relationship Id="rId7" Type="http://schemas.openxmlformats.org/officeDocument/2006/relationships/image" Target="../media/image413.png"/><Relationship Id="rId8" Type="http://schemas.openxmlformats.org/officeDocument/2006/relationships/image" Target="../media/image414.png"/><Relationship Id="rId9" Type="http://schemas.openxmlformats.org/officeDocument/2006/relationships/image" Target="../media/image67.png"/><Relationship Id="rId10" Type="http://schemas.openxmlformats.org/officeDocument/2006/relationships/image" Target="../media/image415.png"/><Relationship Id="rId11" Type="http://schemas.openxmlformats.org/officeDocument/2006/relationships/image" Target="../media/image416.png"/><Relationship Id="rId12" Type="http://schemas.openxmlformats.org/officeDocument/2006/relationships/image" Target="../media/image198.png"/><Relationship Id="rId13" Type="http://schemas.openxmlformats.org/officeDocument/2006/relationships/image" Target="../media/image417.png"/><Relationship Id="rId14" Type="http://schemas.openxmlformats.org/officeDocument/2006/relationships/image" Target="../media/image418.png"/><Relationship Id="rId15" Type="http://schemas.openxmlformats.org/officeDocument/2006/relationships/image" Target="../media/image203.png"/><Relationship Id="rId16" Type="http://schemas.openxmlformats.org/officeDocument/2006/relationships/image" Target="../media/image419.png"/><Relationship Id="rId17" Type="http://schemas.openxmlformats.org/officeDocument/2006/relationships/image" Target="../media/image420.png"/><Relationship Id="rId18" Type="http://schemas.openxmlformats.org/officeDocument/2006/relationships/image" Target="../media/image252.png"/><Relationship Id="rId19"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notesSlide" Target="../notesSlides/notesSlide75.xml"/><Relationship Id="rId6"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chart" Target="../charts/chart63.xml"/><Relationship Id="rId6" Type="http://schemas.openxmlformats.org/officeDocument/2006/relationships/chart" Target="../charts/chart64.xml"/><Relationship Id="rId7" Type="http://schemas.openxmlformats.org/officeDocument/2006/relationships/notesSlide" Target="../notesSlides/notesSlide76.xml"/><Relationship Id="rId8"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notesSlide" Target="../notesSlides/notesSlide80.xml"/><Relationship Id="rId5"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 Id="rId4" Type="http://schemas.openxmlformats.org/officeDocument/2006/relationships/image" Target="../media/image451.png"/><Relationship Id="rId5" Type="http://schemas.openxmlformats.org/officeDocument/2006/relationships/image" Target="../media/image452.png"/><Relationship Id="rId6" Type="http://schemas.openxmlformats.org/officeDocument/2006/relationships/image" Target="../media/image291.png"/><Relationship Id="rId7" Type="http://schemas.openxmlformats.org/officeDocument/2006/relationships/image" Target="../media/image453.png"/><Relationship Id="rId8" Type="http://schemas.openxmlformats.org/officeDocument/2006/relationships/image" Target="../media/image454.png"/><Relationship Id="rId9" Type="http://schemas.openxmlformats.org/officeDocument/2006/relationships/image" Target="../media/image455.png"/><Relationship Id="rId10" Type="http://schemas.openxmlformats.org/officeDocument/2006/relationships/image" Target="../media/image456.png"/><Relationship Id="rId11" Type="http://schemas.openxmlformats.org/officeDocument/2006/relationships/image" Target="../media/image457.png"/><Relationship Id="rId12" Type="http://schemas.openxmlformats.org/officeDocument/2006/relationships/image" Target="../media/image458.png"/><Relationship Id="rId13" Type="http://schemas.openxmlformats.org/officeDocument/2006/relationships/image" Target="../media/image459.png"/><Relationship Id="rId14" Type="http://schemas.openxmlformats.org/officeDocument/2006/relationships/image" Target="../media/image460.png"/><Relationship Id="rId15" Type="http://schemas.openxmlformats.org/officeDocument/2006/relationships/image" Target="../media/image82.png"/><Relationship Id="rId16"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notesSlide" Target="../notesSlides/notesSlide84.xml"/><Relationship Id="rId6"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chart" Target="../charts/chart70.xml"/><Relationship Id="rId5" Type="http://schemas.openxmlformats.org/officeDocument/2006/relationships/chart" Target="../charts/chart71.xml"/><Relationship Id="rId6" Type="http://schemas.openxmlformats.org/officeDocument/2006/relationships/chart" Target="../charts/chart72.xml"/><Relationship Id="rId7" Type="http://schemas.openxmlformats.org/officeDocument/2006/relationships/notesSlide" Target="../notesSlides/notesSlide85.xml"/><Relationship Id="rId8"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notesSlide" Target="../notesSlides/notesSlide90.xml"/><Relationship Id="rId5"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notesSlide" Target="../notesSlides/notesSlide96.xml"/><Relationship Id="rId6"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 Id="rId4"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notesSlide" Target="../notesSlides/notesSlide98.xml"/><Relationship Id="rId6"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notesSlide" Target="../notesSlides/notesSlide99.xml"/><Relationship Id="rId6"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chart" Target="../charts/chart81.xml"/><Relationship Id="rId5" Type="http://schemas.openxmlformats.org/officeDocument/2006/relationships/notesSlide" Target="../notesSlides/notesSlide100.xml"/><Relationship Id="rId6"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 Id="rId4"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notesSlide" Target="../notesSlides/notesSlide102.xml"/><Relationship Id="rId5"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 Id="rId4"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notesSlide" Target="../notesSlides/notesSlide104.xml"/><Relationship Id="rId5"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 Id="rId4"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notesSlide" Target="../notesSlides/notesSlide106.xml"/><Relationship Id="rId5"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notesSlide" Target="../notesSlides/notesSlide107.xml"/><Relationship Id="rId5"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 Id="rId4"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notesSlide" Target="../notesSlides/notesSlide110.xml"/><Relationship Id="rId6"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image" Target="../media/image602.png"/><Relationship Id="rId5" Type="http://schemas.openxmlformats.org/officeDocument/2006/relationships/image" Target="../media/image603.png"/><Relationship Id="rId6" Type="http://schemas.openxmlformats.org/officeDocument/2006/relationships/image" Target="../media/image455.png"/><Relationship Id="rId7" Type="http://schemas.openxmlformats.org/officeDocument/2006/relationships/image" Target="../media/image604.png"/><Relationship Id="rId8" Type="http://schemas.openxmlformats.org/officeDocument/2006/relationships/image" Target="../media/image605.png"/><Relationship Id="rId9" Type="http://schemas.openxmlformats.org/officeDocument/2006/relationships/image" Target="../media/image356.png"/><Relationship Id="rId10" Type="http://schemas.openxmlformats.org/officeDocument/2006/relationships/image" Target="../media/image606.png"/><Relationship Id="rId11" Type="http://schemas.openxmlformats.org/officeDocument/2006/relationships/image" Target="../media/image607.png"/><Relationship Id="rId12" Type="http://schemas.openxmlformats.org/officeDocument/2006/relationships/image" Target="../media/image608.png"/><Relationship Id="rId13" Type="http://schemas.openxmlformats.org/officeDocument/2006/relationships/image" Target="../media/image609.png"/><Relationship Id="rId14" Type="http://schemas.openxmlformats.org/officeDocument/2006/relationships/image" Target="../media/image610.png"/><Relationship Id="rId15" Type="http://schemas.openxmlformats.org/officeDocument/2006/relationships/image" Target="../media/image76.png"/><Relationship Id="rId16"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 Id="rId4" Type="http://schemas.openxmlformats.org/officeDocument/2006/relationships/image" Target="../media/image611.png"/><Relationship Id="rId5" Type="http://schemas.openxmlformats.org/officeDocument/2006/relationships/image" Target="../media/image612.png"/><Relationship Id="rId6" Type="http://schemas.openxmlformats.org/officeDocument/2006/relationships/image" Target="../media/image613.png"/><Relationship Id="rId7" Type="http://schemas.openxmlformats.org/officeDocument/2006/relationships/image" Target="../media/image614.png"/><Relationship Id="rId8" Type="http://schemas.openxmlformats.org/officeDocument/2006/relationships/image" Target="../media/image527.png"/><Relationship Id="rId9" Type="http://schemas.openxmlformats.org/officeDocument/2006/relationships/image" Target="../media/image458.png"/><Relationship Id="rId10" Type="http://schemas.openxmlformats.org/officeDocument/2006/relationships/image" Target="../media/image615.png"/><Relationship Id="rId11" Type="http://schemas.openxmlformats.org/officeDocument/2006/relationships/image" Target="../media/image524.png"/><Relationship Id="rId12" Type="http://schemas.openxmlformats.org/officeDocument/2006/relationships/image" Target="../media/image343.png"/><Relationship Id="rId13" Type="http://schemas.openxmlformats.org/officeDocument/2006/relationships/image" Target="../media/image616.png"/><Relationship Id="rId14" Type="http://schemas.openxmlformats.org/officeDocument/2006/relationships/image" Target="../media/image523.png"/><Relationship Id="rId15" Type="http://schemas.openxmlformats.org/officeDocument/2006/relationships/image" Target="../media/image122.png"/><Relationship Id="rId16"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notesSlide" Target="../notesSlides/notesSlide114.xml"/><Relationship Id="rId6"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chart" Target="../charts/chart91.xml"/><Relationship Id="rId5" Type="http://schemas.openxmlformats.org/officeDocument/2006/relationships/chart" Target="../charts/chart92.xml"/><Relationship Id="rId6" Type="http://schemas.openxmlformats.org/officeDocument/2006/relationships/chart" Target="../charts/chart93.xml"/><Relationship Id="rId7" Type="http://schemas.openxmlformats.org/officeDocument/2006/relationships/notesSlide" Target="../notesSlides/notesSlide115.xml"/><Relationship Id="rId8"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4.xml"/><Relationship Id="rId4" Type="http://schemas.openxmlformats.org/officeDocument/2006/relationships/chart" Target="../charts/chart95.xml"/><Relationship Id="rId5" Type="http://schemas.openxmlformats.org/officeDocument/2006/relationships/chart" Target="../charts/chart96.xml"/><Relationship Id="rId6" Type="http://schemas.openxmlformats.org/officeDocument/2006/relationships/chart" Target="../charts/chart97.xml"/><Relationship Id="rId7" Type="http://schemas.openxmlformats.org/officeDocument/2006/relationships/notesSlide" Target="../notesSlides/notesSlide116.xml"/><Relationship Id="rId8"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xml"/><Relationship Id="rId4" Type="http://schemas.openxmlformats.org/officeDocument/2006/relationships/notesSlide" Target="../notesSlides/notesSlide121.xml"/><Relationship Id="rId5"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 Id="rId4" Type="http://schemas.openxmlformats.org/officeDocument/2006/relationships/image" Target="../media/image657.png"/><Relationship Id="rId5" Type="http://schemas.openxmlformats.org/officeDocument/2006/relationships/image" Target="../media/image658.png"/><Relationship Id="rId6" Type="http://schemas.openxmlformats.org/officeDocument/2006/relationships/image" Target="../media/image351.png"/><Relationship Id="rId7" Type="http://schemas.openxmlformats.org/officeDocument/2006/relationships/image" Target="../media/image659.png"/><Relationship Id="rId8" Type="http://schemas.openxmlformats.org/officeDocument/2006/relationships/image" Target="../media/image660.png"/><Relationship Id="rId9" Type="http://schemas.openxmlformats.org/officeDocument/2006/relationships/image" Target="../media/image356.png"/><Relationship Id="rId10" Type="http://schemas.openxmlformats.org/officeDocument/2006/relationships/image" Target="../media/image661.png"/><Relationship Id="rId11" Type="http://schemas.openxmlformats.org/officeDocument/2006/relationships/image" Target="../media/image662.png"/><Relationship Id="rId12" Type="http://schemas.openxmlformats.org/officeDocument/2006/relationships/image" Target="../media/image128.png"/><Relationship Id="rId13" Type="http://schemas.openxmlformats.org/officeDocument/2006/relationships/image" Target="../media/image663.png"/><Relationship Id="rId14" Type="http://schemas.openxmlformats.org/officeDocument/2006/relationships/image" Target="../media/image664.png"/><Relationship Id="rId15" Type="http://schemas.openxmlformats.org/officeDocument/2006/relationships/image" Target="../media/image198.png"/><Relationship Id="rId16" Type="http://schemas.openxmlformats.org/officeDocument/2006/relationships/image" Target="../media/image665.png"/><Relationship Id="rId17" Type="http://schemas.openxmlformats.org/officeDocument/2006/relationships/image" Target="../media/image666.png"/><Relationship Id="rId18" Type="http://schemas.openxmlformats.org/officeDocument/2006/relationships/image" Target="../media/image343.png"/><Relationship Id="rId19"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chart" Target="../charts/chart100.xml"/><Relationship Id="rId5" Type="http://schemas.openxmlformats.org/officeDocument/2006/relationships/notesSlide" Target="../notesSlides/notesSlide127.xml"/><Relationship Id="rId6"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chart" Target="../charts/chart102.xml"/><Relationship Id="rId5" Type="http://schemas.openxmlformats.org/officeDocument/2006/relationships/chart" Target="../charts/chart103.xml"/><Relationship Id="rId6" Type="http://schemas.openxmlformats.org/officeDocument/2006/relationships/chart" Target="../charts/chart104.xml"/><Relationship Id="rId7" Type="http://schemas.openxmlformats.org/officeDocument/2006/relationships/notesSlide" Target="../notesSlides/notesSlide128.xml"/><Relationship Id="rId8"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notesSlide" Target="../notesSlides/notesSlide129.xml"/><Relationship Id="rId5"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notesSlide" Target="../notesSlides/notesSlide132.xml"/><Relationship Id="rId5"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687.png"/><Relationship Id="rId5" Type="http://schemas.openxmlformats.org/officeDocument/2006/relationships/image" Target="../media/image688.png"/><Relationship Id="rId6" Type="http://schemas.openxmlformats.org/officeDocument/2006/relationships/image" Target="../media/image356.png"/><Relationship Id="rId7" Type="http://schemas.openxmlformats.org/officeDocument/2006/relationships/image" Target="../media/image689.png"/><Relationship Id="rId8" Type="http://schemas.openxmlformats.org/officeDocument/2006/relationships/image" Target="../media/image690.png"/><Relationship Id="rId9" Type="http://schemas.openxmlformats.org/officeDocument/2006/relationships/image" Target="../media/image351.png"/><Relationship Id="rId10" Type="http://schemas.openxmlformats.org/officeDocument/2006/relationships/image" Target="../media/image691.png"/><Relationship Id="rId11" Type="http://schemas.openxmlformats.org/officeDocument/2006/relationships/image" Target="../media/image692.png"/><Relationship Id="rId12" Type="http://schemas.openxmlformats.org/officeDocument/2006/relationships/image" Target="../media/image112.png"/><Relationship Id="rId13"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notesSlide" Target="../notesSlides/notesSlide136.xml"/><Relationship Id="rId6"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chart" Target="../charts/chart110.xml"/><Relationship Id="rId5" Type="http://schemas.openxmlformats.org/officeDocument/2006/relationships/chart" Target="../charts/chart111.xml"/><Relationship Id="rId6" Type="http://schemas.openxmlformats.org/officeDocument/2006/relationships/notesSlide" Target="../notesSlides/notesSlide137.xml"/><Relationship Id="rId7"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2.xml"/><Relationship Id="rId4" Type="http://schemas.openxmlformats.org/officeDocument/2006/relationships/notesSlide" Target="../notesSlides/notesSlide140.xml"/><Relationship Id="rId5"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705.png"/><Relationship Id="rId5" Type="http://schemas.openxmlformats.org/officeDocument/2006/relationships/image" Target="../media/image706.png"/><Relationship Id="rId6" Type="http://schemas.openxmlformats.org/officeDocument/2006/relationships/image" Target="../media/image291.png"/><Relationship Id="rId7" Type="http://schemas.openxmlformats.org/officeDocument/2006/relationships/image" Target="../media/image663.png"/><Relationship Id="rId8" Type="http://schemas.openxmlformats.org/officeDocument/2006/relationships/image" Target="../media/image707.png"/><Relationship Id="rId9" Type="http://schemas.openxmlformats.org/officeDocument/2006/relationships/image" Target="../media/image708.png"/><Relationship Id="rId10" Type="http://schemas.openxmlformats.org/officeDocument/2006/relationships/image" Target="../media/image709.png"/><Relationship Id="rId11" Type="http://schemas.openxmlformats.org/officeDocument/2006/relationships/image" Target="../media/image710.png"/><Relationship Id="rId12" Type="http://schemas.openxmlformats.org/officeDocument/2006/relationships/image" Target="../media/image117.png"/><Relationship Id="rId13"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 Id="rId4" Type="http://schemas.openxmlformats.org/officeDocument/2006/relationships/image" Target="../media/image711.png"/><Relationship Id="rId5" Type="http://schemas.openxmlformats.org/officeDocument/2006/relationships/image" Target="../media/image712.png"/><Relationship Id="rId6" Type="http://schemas.openxmlformats.org/officeDocument/2006/relationships/image" Target="../media/image73.png"/><Relationship Id="rId7" Type="http://schemas.openxmlformats.org/officeDocument/2006/relationships/image" Target="../media/image713.png"/><Relationship Id="rId8" Type="http://schemas.openxmlformats.org/officeDocument/2006/relationships/image" Target="../media/image714.png"/><Relationship Id="rId9" Type="http://schemas.openxmlformats.org/officeDocument/2006/relationships/image" Target="../media/image715.png"/><Relationship Id="rId10" Type="http://schemas.openxmlformats.org/officeDocument/2006/relationships/image" Target="../media/image716.png"/><Relationship Id="rId11" Type="http://schemas.openxmlformats.org/officeDocument/2006/relationships/image" Target="../media/image717.png"/><Relationship Id="rId12" Type="http://schemas.openxmlformats.org/officeDocument/2006/relationships/image" Target="../media/image288.png"/><Relationship Id="rId13"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chart" Target="../charts/chart114.xml"/><Relationship Id="rId5" Type="http://schemas.openxmlformats.org/officeDocument/2006/relationships/notesSlide" Target="../notesSlides/notesSlide145.xml"/><Relationship Id="rId6"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chart" Target="../charts/chart116.xml"/><Relationship Id="rId5" Type="http://schemas.openxmlformats.org/officeDocument/2006/relationships/chart" Target="../charts/chart117.xml"/><Relationship Id="rId6" Type="http://schemas.openxmlformats.org/officeDocument/2006/relationships/chart" Target="../charts/chart118.xml"/><Relationship Id="rId7" Type="http://schemas.openxmlformats.org/officeDocument/2006/relationships/notesSlide" Target="../notesSlides/notesSlide146.xml"/><Relationship Id="rId8"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chart" Target="../charts/chart120.xml"/><Relationship Id="rId5" Type="http://schemas.openxmlformats.org/officeDocument/2006/relationships/notesSlide" Target="../notesSlides/notesSlide147.xml"/><Relationship Id="rId6"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notesSlide" Target="../notesSlides/notesSlide150.xml"/><Relationship Id="rId5"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 Id="rId4" Type="http://schemas.openxmlformats.org/officeDocument/2006/relationships/image" Target="../media/image748.png"/><Relationship Id="rId5" Type="http://schemas.openxmlformats.org/officeDocument/2006/relationships/image" Target="../media/image749.png"/><Relationship Id="rId6" Type="http://schemas.openxmlformats.org/officeDocument/2006/relationships/image" Target="../media/image198.png"/><Relationship Id="rId7" Type="http://schemas.openxmlformats.org/officeDocument/2006/relationships/image" Target="../media/image750.png"/><Relationship Id="rId8" Type="http://schemas.openxmlformats.org/officeDocument/2006/relationships/image" Target="../media/image751.png"/><Relationship Id="rId9" Type="http://schemas.openxmlformats.org/officeDocument/2006/relationships/image" Target="../media/image82.png"/><Relationship Id="rId10" Type="http://schemas.openxmlformats.org/officeDocument/2006/relationships/image" Target="../media/image752.png"/><Relationship Id="rId11" Type="http://schemas.openxmlformats.org/officeDocument/2006/relationships/image" Target="../media/image753.png"/><Relationship Id="rId12" Type="http://schemas.openxmlformats.org/officeDocument/2006/relationships/image" Target="../media/image754.png"/><Relationship Id="rId13" Type="http://schemas.openxmlformats.org/officeDocument/2006/relationships/image" Target="../media/image755.png"/><Relationship Id="rId14" Type="http://schemas.openxmlformats.org/officeDocument/2006/relationships/image" Target="../media/image756.png"/><Relationship Id="rId15" Type="http://schemas.openxmlformats.org/officeDocument/2006/relationships/image" Target="../media/image280.png"/><Relationship Id="rId16" Type="http://schemas.openxmlformats.org/officeDocument/2006/relationships/image" Target="../media/image757.png"/><Relationship Id="rId17" Type="http://schemas.openxmlformats.org/officeDocument/2006/relationships/image" Target="../media/image758.png"/><Relationship Id="rId18" Type="http://schemas.openxmlformats.org/officeDocument/2006/relationships/image" Target="../media/image455.png"/><Relationship Id="rId19" Type="http://schemas.openxmlformats.org/officeDocument/2006/relationships/image" Target="../media/image759.png"/><Relationship Id="rId20" Type="http://schemas.openxmlformats.org/officeDocument/2006/relationships/image" Target="../media/image760.png"/><Relationship Id="rId21" Type="http://schemas.openxmlformats.org/officeDocument/2006/relationships/image" Target="../media/image761.png"/><Relationship Id="rId22" Type="http://schemas.openxmlformats.org/officeDocument/2006/relationships/image" Target="../media/image762.png"/><Relationship Id="rId23" Type="http://schemas.openxmlformats.org/officeDocument/2006/relationships/image" Target="../media/image763.png"/><Relationship Id="rId24" Type="http://schemas.openxmlformats.org/officeDocument/2006/relationships/image" Target="../media/image764.png"/><Relationship Id="rId25"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2.xml"/><Relationship Id="rId4" Type="http://schemas.openxmlformats.org/officeDocument/2006/relationships/chart" Target="../charts/chart123.xml"/><Relationship Id="rId5" Type="http://schemas.openxmlformats.org/officeDocument/2006/relationships/notesSlide" Target="../notesSlides/notesSlide154.xml"/><Relationship Id="rId6"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4.xml"/><Relationship Id="rId4" Type="http://schemas.openxmlformats.org/officeDocument/2006/relationships/chart" Target="../charts/chart125.xml"/><Relationship Id="rId5" Type="http://schemas.openxmlformats.org/officeDocument/2006/relationships/chart" Target="../charts/chart126.xml"/><Relationship Id="rId6" Type="http://schemas.openxmlformats.org/officeDocument/2006/relationships/chart" Target="../charts/chart127.xml"/><Relationship Id="rId7" Type="http://schemas.openxmlformats.org/officeDocument/2006/relationships/notesSlide" Target="../notesSlides/notesSlide155.xml"/><Relationship Id="rId8"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8.xml"/><Relationship Id="rId4" Type="http://schemas.openxmlformats.org/officeDocument/2006/relationships/chart" Target="../charts/chart129.xml"/><Relationship Id="rId5" Type="http://schemas.openxmlformats.org/officeDocument/2006/relationships/chart" Target="../charts/chart130.xml"/><Relationship Id="rId6" Type="http://schemas.openxmlformats.org/officeDocument/2006/relationships/notesSlide" Target="../notesSlides/notesSlide156.xml"/><Relationship Id="rId7"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notesSlide" Target="../notesSlides/notesSlide159.xml"/><Relationship Id="rId5"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796.png"/><Relationship Id="rId5" Type="http://schemas.openxmlformats.org/officeDocument/2006/relationships/image" Target="../media/image797.png"/><Relationship Id="rId6" Type="http://schemas.openxmlformats.org/officeDocument/2006/relationships/image" Target="../media/image356.png"/><Relationship Id="rId7" Type="http://schemas.openxmlformats.org/officeDocument/2006/relationships/image" Target="../media/image798.png"/><Relationship Id="rId8" Type="http://schemas.openxmlformats.org/officeDocument/2006/relationships/image" Target="../media/image799.png"/><Relationship Id="rId9" Type="http://schemas.openxmlformats.org/officeDocument/2006/relationships/image" Target="../media/image128.png"/><Relationship Id="rId10" Type="http://schemas.openxmlformats.org/officeDocument/2006/relationships/image" Target="../media/image800.png"/><Relationship Id="rId11" Type="http://schemas.openxmlformats.org/officeDocument/2006/relationships/image" Target="../media/image801.png"/><Relationship Id="rId12" Type="http://schemas.openxmlformats.org/officeDocument/2006/relationships/image" Target="../media/image343.png"/><Relationship Id="rId13" Type="http://schemas.openxmlformats.org/officeDocument/2006/relationships/image" Target="../media/image802.png"/><Relationship Id="rId14" Type="http://schemas.openxmlformats.org/officeDocument/2006/relationships/image" Target="../media/image803.png"/><Relationship Id="rId15" Type="http://schemas.openxmlformats.org/officeDocument/2006/relationships/image" Target="../media/image351.png"/><Relationship Id="rId16" Type="http://schemas.openxmlformats.org/officeDocument/2006/relationships/image" Target="../media/image804.png"/><Relationship Id="rId17" Type="http://schemas.openxmlformats.org/officeDocument/2006/relationships/image" Target="../media/image805.png"/><Relationship Id="rId18" Type="http://schemas.openxmlformats.org/officeDocument/2006/relationships/image" Target="../media/image112.png"/><Relationship Id="rId19"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2.xml"/><Relationship Id="rId4" Type="http://schemas.openxmlformats.org/officeDocument/2006/relationships/chart" Target="../charts/chart133.xml"/><Relationship Id="rId5" Type="http://schemas.openxmlformats.org/officeDocument/2006/relationships/notesSlide" Target="../notesSlides/notesSlide163.xml"/><Relationship Id="rId6"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4.xml"/><Relationship Id="rId4" Type="http://schemas.openxmlformats.org/officeDocument/2006/relationships/chart" Target="../charts/chart135.xml"/><Relationship Id="rId5" Type="http://schemas.openxmlformats.org/officeDocument/2006/relationships/chart" Target="../charts/chart136.xml"/><Relationship Id="rId6" Type="http://schemas.openxmlformats.org/officeDocument/2006/relationships/chart" Target="../charts/chart137.xml"/><Relationship Id="rId7" Type="http://schemas.openxmlformats.org/officeDocument/2006/relationships/notesSlide" Target="../notesSlides/notesSlide164.xml"/><Relationship Id="rId8"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notesSlide" Target="../notesSlides/notesSlide165.xml"/><Relationship Id="rId5"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9.xml"/><Relationship Id="rId4" Type="http://schemas.openxmlformats.org/officeDocument/2006/relationships/notesSlide" Target="../notesSlides/notesSlide168.xml"/><Relationship Id="rId5"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827.png"/><Relationship Id="rId5" Type="http://schemas.openxmlformats.org/officeDocument/2006/relationships/image" Target="../media/image828.png"/><Relationship Id="rId6" Type="http://schemas.openxmlformats.org/officeDocument/2006/relationships/image" Target="../media/image97.png"/><Relationship Id="rId7" Type="http://schemas.openxmlformats.org/officeDocument/2006/relationships/image" Target="../media/image829.png"/><Relationship Id="rId8" Type="http://schemas.openxmlformats.org/officeDocument/2006/relationships/image" Target="../media/image830.png"/><Relationship Id="rId9" Type="http://schemas.openxmlformats.org/officeDocument/2006/relationships/image" Target="../media/image458.png"/><Relationship Id="rId10" Type="http://schemas.openxmlformats.org/officeDocument/2006/relationships/image" Target="../media/image831.png"/><Relationship Id="rId11" Type="http://schemas.openxmlformats.org/officeDocument/2006/relationships/image" Target="../media/image832.png"/><Relationship Id="rId12" Type="http://schemas.openxmlformats.org/officeDocument/2006/relationships/image" Target="../media/image761.png"/><Relationship Id="rId13" Type="http://schemas.openxmlformats.org/officeDocument/2006/relationships/image" Target="../media/image833.png"/><Relationship Id="rId14" Type="http://schemas.openxmlformats.org/officeDocument/2006/relationships/image" Target="../media/image834.png"/><Relationship Id="rId15" Type="http://schemas.openxmlformats.org/officeDocument/2006/relationships/image" Target="../media/image112.png"/><Relationship Id="rId16"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0.xml"/><Relationship Id="rId4" Type="http://schemas.openxmlformats.org/officeDocument/2006/relationships/chart" Target="../charts/chart141.xml"/><Relationship Id="rId5" Type="http://schemas.openxmlformats.org/officeDocument/2006/relationships/notesSlide" Target="../notesSlides/notesSlide172.xml"/><Relationship Id="rId6"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2.xml"/><Relationship Id="rId4" Type="http://schemas.openxmlformats.org/officeDocument/2006/relationships/chart" Target="../charts/chart143.xml"/><Relationship Id="rId5" Type="http://schemas.openxmlformats.org/officeDocument/2006/relationships/chart" Target="../charts/chart144.xml"/><Relationship Id="rId6" Type="http://schemas.openxmlformats.org/officeDocument/2006/relationships/chart" Target="../charts/chart145.xml"/><Relationship Id="rId7" Type="http://schemas.openxmlformats.org/officeDocument/2006/relationships/notesSlide" Target="../notesSlides/notesSlide173.xml"/><Relationship Id="rId8"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6.xml"/><Relationship Id="rId4" Type="http://schemas.openxmlformats.org/officeDocument/2006/relationships/notesSlide" Target="../notesSlides/notesSlide178.xml"/><Relationship Id="rId5"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chart" Target="../charts/chart148.xml"/><Relationship Id="rId5" Type="http://schemas.openxmlformats.org/officeDocument/2006/relationships/chart" Target="../charts/chart149.xml"/><Relationship Id="rId6" Type="http://schemas.openxmlformats.org/officeDocument/2006/relationships/chart" Target="../charts/chart150.xml"/><Relationship Id="rId7" Type="http://schemas.openxmlformats.org/officeDocument/2006/relationships/notesSlide" Target="../notesSlides/notesSlide184.xml"/><Relationship Id="rId8"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1.xml"/><Relationship Id="rId4" Type="http://schemas.openxmlformats.org/officeDocument/2006/relationships/chart" Target="../charts/chart152.xml"/><Relationship Id="rId5" Type="http://schemas.openxmlformats.org/officeDocument/2006/relationships/chart" Target="../charts/chart153.xml"/><Relationship Id="rId6" Type="http://schemas.openxmlformats.org/officeDocument/2006/relationships/chart" Target="../charts/chart154.xml"/><Relationship Id="rId7" Type="http://schemas.openxmlformats.org/officeDocument/2006/relationships/notesSlide" Target="../notesSlides/notesSlide185.xml"/><Relationship Id="rId8"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5.xml"/><Relationship Id="rId4" Type="http://schemas.openxmlformats.org/officeDocument/2006/relationships/chart" Target="../charts/chart156.xml"/><Relationship Id="rId5" Type="http://schemas.openxmlformats.org/officeDocument/2006/relationships/chart" Target="../charts/chart157.xml"/><Relationship Id="rId6" Type="http://schemas.openxmlformats.org/officeDocument/2006/relationships/chart" Target="../charts/chart158.xml"/><Relationship Id="rId7" Type="http://schemas.openxmlformats.org/officeDocument/2006/relationships/chart" Target="../charts/chart159.xml"/><Relationship Id="rId8" Type="http://schemas.openxmlformats.org/officeDocument/2006/relationships/chart" Target="../charts/chart160.xml"/><Relationship Id="rId9" Type="http://schemas.openxmlformats.org/officeDocument/2006/relationships/chart" Target="../charts/chart161.xml"/><Relationship Id="rId10" Type="http://schemas.openxmlformats.org/officeDocument/2006/relationships/notesSlide" Target="../notesSlides/notesSlide186.xml"/><Relationship Id="rId11"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2.xml"/><Relationship Id="rId4" Type="http://schemas.openxmlformats.org/officeDocument/2006/relationships/chart" Target="../charts/chart163.xml"/><Relationship Id="rId5" Type="http://schemas.openxmlformats.org/officeDocument/2006/relationships/notesSlide" Target="../notesSlides/notesSlide188.xml"/><Relationship Id="rId6"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4.xml"/><Relationship Id="rId4" Type="http://schemas.openxmlformats.org/officeDocument/2006/relationships/chart" Target="../charts/chart165.xml"/><Relationship Id="rId5" Type="http://schemas.openxmlformats.org/officeDocument/2006/relationships/notesSlide" Target="../notesSlides/notesSlide193.xml"/><Relationship Id="rId6"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6.xml"/><Relationship Id="rId4" Type="http://schemas.openxmlformats.org/officeDocument/2006/relationships/chart" Target="../charts/chart167.xml"/><Relationship Id="rId5" Type="http://schemas.openxmlformats.org/officeDocument/2006/relationships/notesSlide" Target="../notesSlides/notesSlide196.xml"/><Relationship Id="rId6"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8.xml"/><Relationship Id="rId4" Type="http://schemas.openxmlformats.org/officeDocument/2006/relationships/chart" Target="../charts/chart169.xml"/><Relationship Id="rId5" Type="http://schemas.openxmlformats.org/officeDocument/2006/relationships/notesSlide" Target="../notesSlides/notesSlide199.xml"/><Relationship Id="rId6" Type="http://schemas.openxmlformats.org/officeDocument/2006/relationships/image" Target="../media/image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 Id="rId4" Type="http://schemas.openxmlformats.org/officeDocument/2006/relationships/image" Target="../media/image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0.xml"/><Relationship Id="rId4" Type="http://schemas.openxmlformats.org/officeDocument/2006/relationships/chart" Target="../charts/chart171.xml"/><Relationship Id="rId5" Type="http://schemas.openxmlformats.org/officeDocument/2006/relationships/notesSlide" Target="../notesSlides/notesSlide202.xml"/><Relationship Id="rId6" Type="http://schemas.openxmlformats.org/officeDocument/2006/relationships/image" Target="../media/image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2.xml"/><Relationship Id="rId4" Type="http://schemas.openxmlformats.org/officeDocument/2006/relationships/chart" Target="../charts/chart173.xml"/><Relationship Id="rId5" Type="http://schemas.openxmlformats.org/officeDocument/2006/relationships/notesSlide" Target="../notesSlides/notesSlide205.xml"/><Relationship Id="rId6" Type="http://schemas.openxmlformats.org/officeDocument/2006/relationships/image" Target="../media/image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4.xml"/><Relationship Id="rId4" Type="http://schemas.openxmlformats.org/officeDocument/2006/relationships/chart" Target="../charts/chart175.xml"/><Relationship Id="rId5" Type="http://schemas.openxmlformats.org/officeDocument/2006/relationships/notesSlide" Target="../notesSlides/notesSlide208.xml"/><Relationship Id="rId6" Type="http://schemas.openxmlformats.org/officeDocument/2006/relationships/image" Target="../media/image2.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6.xml"/><Relationship Id="rId4" Type="http://schemas.openxmlformats.org/officeDocument/2006/relationships/chart" Target="../charts/chart177.xml"/><Relationship Id="rId5" Type="http://schemas.openxmlformats.org/officeDocument/2006/relationships/notesSlide" Target="../notesSlides/notesSlide215.xml"/><Relationship Id="rId6" Type="http://schemas.openxmlformats.org/officeDocument/2006/relationships/image" Target="../media/image2.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8.xml"/><Relationship Id="rId4" Type="http://schemas.openxmlformats.org/officeDocument/2006/relationships/notesSlide" Target="../notesSlides/notesSlide216.xml"/><Relationship Id="rId5" Type="http://schemas.openxmlformats.org/officeDocument/2006/relationships/image" Target="../media/image2.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 Id="rId4" Type="http://schemas.openxmlformats.org/officeDocument/2006/relationships/image" Target="../media/image2.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 Id="rId4" Type="http://schemas.openxmlformats.org/officeDocument/2006/relationships/image" Target="../media/image2.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 Id="rId4" Type="http://schemas.openxmlformats.org/officeDocument/2006/relationships/image" Target="../media/image2.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 Id="rId4" Type="http://schemas.openxmlformats.org/officeDocument/2006/relationships/image" Target="../media/image2.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 Id="rId4" Type="http://schemas.openxmlformats.org/officeDocument/2006/relationships/image" Target="../media/image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 Id="rId4" Type="http://schemas.openxmlformats.org/officeDocument/2006/relationships/image" Target="../media/image2.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 Id="rId4" Type="http://schemas.openxmlformats.org/officeDocument/2006/relationships/image" Target="../media/image2.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0.xml"/><Relationship Id="rId4" Type="http://schemas.openxmlformats.org/officeDocument/2006/relationships/image" Target="../media/image2.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 Id="rId4" Type="http://schemas.openxmlformats.org/officeDocument/2006/relationships/image" Target="../media/image2.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 Id="rId4" Type="http://schemas.openxmlformats.org/officeDocument/2006/relationships/image" Target="../media/image2.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 Id="rId4" Type="http://schemas.openxmlformats.org/officeDocument/2006/relationships/image" Target="../media/image2.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 Id="rId4" Type="http://schemas.openxmlformats.org/officeDocument/2006/relationships/image" Target="../media/image2.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 Id="rId4" Type="http://schemas.openxmlformats.org/officeDocument/2006/relationships/image" Target="../media/image2.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 Id="rId4" Type="http://schemas.openxmlformats.org/officeDocument/2006/relationships/image" Target="../media/image2.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 Id="rId4" Type="http://schemas.openxmlformats.org/officeDocument/2006/relationships/image" Target="../media/image2.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 Id="rId4" Type="http://schemas.openxmlformats.org/officeDocument/2006/relationships/image" Target="../media/image2.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 Id="rId4" Type="http://schemas.openxmlformats.org/officeDocument/2006/relationships/image" Target="../media/image2.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 Id="rId4" Type="http://schemas.openxmlformats.org/officeDocument/2006/relationships/image" Target="../media/image2.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9.xml"/><Relationship Id="rId4" Type="http://schemas.openxmlformats.org/officeDocument/2006/relationships/notesSlide" Target="../notesSlides/notesSlide252.xml"/><Relationship Id="rId5" Type="http://schemas.openxmlformats.org/officeDocument/2006/relationships/image" Target="../media/image2.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0.xml"/><Relationship Id="rId4" Type="http://schemas.openxmlformats.org/officeDocument/2006/relationships/chart" Target="../charts/chart181.xml"/><Relationship Id="rId5" Type="http://schemas.openxmlformats.org/officeDocument/2006/relationships/chart" Target="../charts/chart182.xml"/><Relationship Id="rId6" Type="http://schemas.openxmlformats.org/officeDocument/2006/relationships/notesSlide" Target="../notesSlides/notesSlide253.xml"/><Relationship Id="rId7" Type="http://schemas.openxmlformats.org/officeDocument/2006/relationships/image" Target="../media/image2.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3.xml"/><Relationship Id="rId4" Type="http://schemas.openxmlformats.org/officeDocument/2006/relationships/chart" Target="../charts/chart184.xml"/><Relationship Id="rId5" Type="http://schemas.openxmlformats.org/officeDocument/2006/relationships/chart" Target="../charts/chart185.xml"/><Relationship Id="rId6" Type="http://schemas.openxmlformats.org/officeDocument/2006/relationships/notesSlide" Target="../notesSlides/notesSlide254.xml"/><Relationship Id="rId7" Type="http://schemas.openxmlformats.org/officeDocument/2006/relationships/image" Target="../media/image2.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 Id="rId4" Type="http://schemas.openxmlformats.org/officeDocument/2006/relationships/image" Target="../media/image2.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6.xml"/><Relationship Id="rId4" Type="http://schemas.openxmlformats.org/officeDocument/2006/relationships/chart" Target="../charts/chart187.xml"/><Relationship Id="rId5" Type="http://schemas.openxmlformats.org/officeDocument/2006/relationships/chart" Target="../charts/chart188.xml"/><Relationship Id="rId6" Type="http://schemas.openxmlformats.org/officeDocument/2006/relationships/notesSlide" Target="../notesSlides/notesSlide256.xml"/><Relationship Id="rId7" Type="http://schemas.openxmlformats.org/officeDocument/2006/relationships/image" Target="../media/image2.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9.xml"/><Relationship Id="rId4" Type="http://schemas.openxmlformats.org/officeDocument/2006/relationships/notesSlide" Target="../notesSlides/notesSlide257.xml"/><Relationship Id="rId5" Type="http://schemas.openxmlformats.org/officeDocument/2006/relationships/image" Target="../media/image2.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 Id="rId4" Type="http://schemas.openxmlformats.org/officeDocument/2006/relationships/image" Target="../media/image2.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 Id="rId4" Type="http://schemas.openxmlformats.org/officeDocument/2006/relationships/image" Target="../media/image2.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05000" y="4476750"/>
            <a:ext cx="5334000" cy="5334000"/>
          </a:xfrm>
          <a:prstGeom prst="ellipse">
            <a:avLst/>
          </a:prstGeom>
          <a:solidFill>
            <a:srgbClr val="EA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2000250"/>
            <a:ext cx="5334000" cy="533400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5375" y="-1285875"/>
            <a:ext cx="3905250" cy="39052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2125" y="-619125"/>
            <a:ext cx="2571750" cy="25717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96500" y="95250"/>
            <a:ext cx="1143000" cy="1143000"/>
          </a:xfrm>
          <a:prstGeom prst="ellipse">
            <a:avLst/>
          </a:prstGeom>
          <a:solidFill>
            <a:srgbClr val="EAF6F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10650" y="5848350"/>
            <a:ext cx="228600" cy="2476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91650" y="5676900"/>
            <a:ext cx="228600" cy="4191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2650" y="5772150"/>
            <a:ext cx="228600" cy="3238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53650" y="5524500"/>
            <a:ext cx="228600" cy="5715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34650" y="5314950"/>
            <a:ext cx="228600" cy="7810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15650" y="5600700"/>
            <a:ext cx="228600" cy="4953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296650" y="5181600"/>
            <a:ext cx="228600" cy="9144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mi_logo_template.png"/>
          <p:cNvPicPr>
            <a:picLocks noChangeAspect="1"/>
          </p:cNvPicPr>
          <p:nvPr/>
        </p:nvPicPr>
        <p:blipFill>
          <a:blip r:embed="rId2"/>
          <a:stretch>
            <a:fillRect/>
          </a:stretch>
        </p:blipFill>
        <p:spPr>
          <a:xfrm>
            <a:off x="914400" y="381000"/>
            <a:ext cx="1307592" cy="1325880"/>
          </a:xfrm>
          <a:prstGeom prst="rect">
            <a:avLst/>
          </a:prstGeom>
        </p:spPr>
      </p:pic>
      <p:sp>
        <p:nvSpPr>
          <p:cNvPr id="16" name="TextBox 15"/>
          <p:cNvSpPr txBox="1"/>
          <p:nvPr/>
        </p:nvSpPr>
        <p:spPr>
          <a:xfrm>
            <a:off x="1143000" y="2667000"/>
            <a:ext cx="9334500" cy="1809750"/>
          </a:xfrm>
          <a:prstGeom prst="rect">
            <a:avLst/>
          </a:prstGeom>
          <a:noFill/>
        </p:spPr>
        <p:txBody>
          <a:bodyPr wrap="square" lIns="28575" rIns="28575" tIns="9525" bIns="9525" anchor="ctr">
            <a:spAutoFit/>
          </a:bodyPr>
          <a:lstStyle/>
          <a:p>
            <a:pPr algn="l"/>
            <a:r>
              <a:rPr sz="3400" b="1">
                <a:solidFill>
                  <a:srgbClr val="0B2E4A"/>
                </a:solidFill>
                <a:latin typeface="Calibri"/>
              </a:rPr>
              <a:t>Global Hair Styling Products Market</a:t>
            </a:r>
          </a:p>
        </p:txBody>
      </p:sp>
      <p:sp>
        <p:nvSpPr>
          <p:cNvPr id="17" name="TextBox 16"/>
          <p:cNvSpPr txBox="1"/>
          <p:nvPr/>
        </p:nvSpPr>
        <p:spPr>
          <a:xfrm>
            <a:off x="1162050" y="4686300"/>
            <a:ext cx="9334500" cy="857250"/>
          </a:xfrm>
          <a:prstGeom prst="rect">
            <a:avLst/>
          </a:prstGeom>
          <a:noFill/>
        </p:spPr>
        <p:txBody>
          <a:bodyPr wrap="square" lIns="28575" rIns="28575" tIns="9525" bIns="9525">
            <a:spAutoFit/>
          </a:bodyPr>
          <a:lstStyle/>
          <a:p>
            <a:pPr algn="l"/>
            <a:r>
              <a:rPr sz="1600" b="0">
                <a:solidFill>
                  <a:srgbClr val="6C7A89"/>
                </a:solidFill>
                <a:latin typeface="Calibri"/>
              </a:rPr>
              <a:t>Value (US$ Mn) and Volume (Mn Units) Analysis and Forecast, 2021–2036</a:t>
            </a:r>
          </a:p>
          <a:p>
            <a:pPr algn="l"/>
            <a:r>
              <a:rPr sz="1100" b="0">
                <a:solidFill>
                  <a:srgbClr val="8FCBE6"/>
                </a:solidFill>
                <a:latin typeface="Calibri"/>
              </a:rPr>
              <a:t>Region focus: Global   ·   Country focus: U.S.   ·   Generated 13 Oct 2026   ·   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59801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2042744"/>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505724"/>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List of Figures, List of Tables</a:t>
            </a:r>
          </a:p>
        </p:txBody>
      </p:sp>
      <p:sp>
        <p:nvSpPr>
          <p:cNvPr id="14" name="Rounded Rectangle 13">
            <a:hlinkClick action="ppaction://hlinksldjump" r:id="rId7"/>
          </p:cNvPr>
          <p:cNvSpPr/>
          <p:nvPr/>
        </p:nvSpPr>
        <p:spPr>
          <a:xfrm>
            <a:off x="142875" y="296870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5" name="Rounded Rectangle 14">
            <a:hlinkClick action="ppaction://hlinksldjump" r:id="rId8"/>
          </p:cNvPr>
          <p:cNvSpPr/>
          <p:nvPr/>
        </p:nvSpPr>
        <p:spPr>
          <a:xfrm>
            <a:off x="314325" y="3413430"/>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Hair Styling Products Market Global Overview</a:t>
            </a:r>
          </a:p>
        </p:txBody>
      </p:sp>
      <p:sp>
        <p:nvSpPr>
          <p:cNvPr id="16" name="Rounded Rectangle 15">
            <a:hlinkClick action="ppaction://hlinksldjump" r:id="rId9"/>
          </p:cNvPr>
          <p:cNvSpPr/>
          <p:nvPr/>
        </p:nvSpPr>
        <p:spPr>
          <a:xfrm>
            <a:off x="314325" y="387641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Global Market Analysis By Region</a:t>
            </a:r>
          </a:p>
        </p:txBody>
      </p:sp>
      <p:sp>
        <p:nvSpPr>
          <p:cNvPr id="17" name="Rounded Rectangle 16">
            <a:hlinkClick action="ppaction://hlinksldjump" r:id="rId10"/>
          </p:cNvPr>
          <p:cNvSpPr/>
          <p:nvPr/>
        </p:nvSpPr>
        <p:spPr>
          <a:xfrm>
            <a:off x="314325" y="4339391"/>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Segments</a:t>
            </a:r>
          </a:p>
        </p:txBody>
      </p:sp>
      <p:sp>
        <p:nvSpPr>
          <p:cNvPr id="18" name="Rounded Rectangle 17">
            <a:hlinkClick action="ppaction://hlinksldjump" r:id="rId11"/>
          </p:cNvPr>
          <p:cNvSpPr/>
          <p:nvPr/>
        </p:nvSpPr>
        <p:spPr>
          <a:xfrm>
            <a:off x="142875" y="480237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19" name="Rounded Rectangle 18">
            <a:hlinkClick action="ppaction://hlinksldjump" r:id="rId12"/>
          </p:cNvPr>
          <p:cNvSpPr/>
          <p:nvPr/>
        </p:nvSpPr>
        <p:spPr>
          <a:xfrm>
            <a:off x="314325" y="524709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North America Overview</a:t>
            </a:r>
          </a:p>
        </p:txBody>
      </p:sp>
      <p:sp>
        <p:nvSpPr>
          <p:cNvPr id="20" name="Rounded Rectangle 19">
            <a:hlinkClick action="ppaction://hlinksldjump" r:id="rId13"/>
          </p:cNvPr>
          <p:cNvSpPr/>
          <p:nvPr/>
        </p:nvSpPr>
        <p:spPr>
          <a:xfrm>
            <a:off x="314325" y="571007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North America Market Analysis By Country</a:t>
            </a:r>
          </a:p>
        </p:txBody>
      </p:sp>
      <p:sp>
        <p:nvSpPr>
          <p:cNvPr id="21" name="Rounded Rectangle 20">
            <a:hlinkClick action="ppaction://hlinksldjump" r:id="rId14"/>
          </p:cNvPr>
          <p:cNvSpPr/>
          <p:nvPr/>
        </p:nvSpPr>
        <p:spPr>
          <a:xfrm>
            <a:off x="314325" y="617305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Market Analysis By Segments</a:t>
            </a:r>
          </a:p>
        </p:txBody>
      </p:sp>
      <p:sp>
        <p:nvSpPr>
          <p:cNvPr id="22" name="Rounded Rectangle 21">
            <a:hlinkClick action="ppaction://hlinksldjump" r:id="rId15"/>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3" name="Rounded Rectangle 22">
            <a:hlinkClick action="ppaction://hlinksldjump" r:id="rId16"/>
          </p:cNvPr>
          <p:cNvSpPr/>
          <p:nvPr/>
        </p:nvSpPr>
        <p:spPr>
          <a:xfrm>
            <a:off x="6391275" y="158142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Hair Styling Products Market Overview (Volume &amp; Value)</a:t>
            </a:r>
          </a:p>
        </p:txBody>
      </p:sp>
      <p:sp>
        <p:nvSpPr>
          <p:cNvPr id="24" name="Rounded Rectangle 23">
            <a:hlinkClick action="ppaction://hlinksldjump" r:id="rId17"/>
          </p:cNvPr>
          <p:cNvSpPr/>
          <p:nvPr/>
        </p:nvSpPr>
        <p:spPr>
          <a:xfrm>
            <a:off x="6391275" y="2046062"/>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Segment Overview (Volume &amp; Value)</a:t>
            </a:r>
          </a:p>
        </p:txBody>
      </p:sp>
      <p:sp>
        <p:nvSpPr>
          <p:cNvPr id="25" name="Rounded Rectangle 24">
            <a:hlinkClick action="ppaction://hlinksldjump" r:id="rId18"/>
          </p:cNvPr>
          <p:cNvSpPr/>
          <p:nvPr/>
        </p:nvSpPr>
        <p:spPr>
          <a:xfrm>
            <a:off x="6219825" y="2510702"/>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26" name="Rounded Rectangle 25">
            <a:hlinkClick action="ppaction://hlinksldjump" r:id="rId19"/>
          </p:cNvPr>
          <p:cNvSpPr/>
          <p:nvPr/>
        </p:nvSpPr>
        <p:spPr>
          <a:xfrm>
            <a:off x="6391275" y="295708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Hair Styling Products Market Pricing Analysis</a:t>
            </a:r>
          </a:p>
        </p:txBody>
      </p:sp>
      <p:sp>
        <p:nvSpPr>
          <p:cNvPr id="27" name="Rounded Rectangle 26">
            <a:hlinkClick action="ppaction://hlinksldjump" r:id="rId20"/>
          </p:cNvPr>
          <p:cNvSpPr/>
          <p:nvPr/>
        </p:nvSpPr>
        <p:spPr>
          <a:xfrm>
            <a:off x="6391275" y="3421727"/>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Supply Chain Analysis</a:t>
            </a:r>
          </a:p>
        </p:txBody>
      </p:sp>
      <p:sp>
        <p:nvSpPr>
          <p:cNvPr id="28" name="Rounded Rectangle 27">
            <a:hlinkClick action="ppaction://hlinksldjump" r:id="rId21"/>
          </p:cNvPr>
          <p:cNvSpPr/>
          <p:nvPr/>
        </p:nvSpPr>
        <p:spPr>
          <a:xfrm>
            <a:off x="6219825" y="388636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29" name="Rounded Rectangle 28">
            <a:hlinkClick action="ppaction://hlinksldjump" r:id="rId22"/>
          </p:cNvPr>
          <p:cNvSpPr/>
          <p:nvPr/>
        </p:nvSpPr>
        <p:spPr>
          <a:xfrm>
            <a:off x="6391275" y="4332753"/>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Market Dynamics &amp; Forces</a:t>
            </a:r>
          </a:p>
        </p:txBody>
      </p:sp>
      <p:sp>
        <p:nvSpPr>
          <p:cNvPr id="30" name="Rounded Rectangle 29">
            <a:hlinkClick action="ppaction://hlinksldjump" r:id="rId23"/>
          </p:cNvPr>
          <p:cNvSpPr/>
          <p:nvPr/>
        </p:nvSpPr>
        <p:spPr>
          <a:xfrm>
            <a:off x="6219825" y="4797393"/>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1" name="Rounded Rectangle 30">
            <a:hlinkClick action="ppaction://hlinksldjump" r:id="rId24"/>
          </p:cNvPr>
          <p:cNvSpPr/>
          <p:nvPr/>
        </p:nvSpPr>
        <p:spPr>
          <a:xfrm>
            <a:off x="6391275" y="5243779"/>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Competitive Landscape</a:t>
            </a:r>
          </a:p>
        </p:txBody>
      </p:sp>
      <p:sp>
        <p:nvSpPr>
          <p:cNvPr id="32" name="Rounded Rectangle 31">
            <a:hlinkClick action="ppaction://hlinksldjump" r:id="rId25"/>
          </p:cNvPr>
          <p:cNvSpPr/>
          <p:nvPr/>
        </p:nvSpPr>
        <p:spPr>
          <a:xfrm>
            <a:off x="6391275" y="570841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Market Share by Leading Players</a:t>
            </a:r>
          </a:p>
        </p:txBody>
      </p:sp>
      <p:sp>
        <p:nvSpPr>
          <p:cNvPr id="33" name="Rounded Rectangle 32">
            <a:hlinkClick action="ppaction://hlinksldjump" r:id="rId26"/>
          </p:cNvPr>
          <p:cNvSpPr/>
          <p:nvPr/>
        </p:nvSpPr>
        <p:spPr>
          <a:xfrm>
            <a:off x="6391275" y="6173058"/>
            <a:ext cx="5657850" cy="328567"/>
          </a:xfrm>
          <a:prstGeom prst="roundRect">
            <a:avLst>
              <a:gd name="adj" fmla="val 2222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Company Profiles &amp; Strategic Benchmarking</a:t>
            </a:r>
          </a:p>
        </p:txBody>
      </p:sp>
      <p:sp>
        <p:nvSpPr>
          <p:cNvPr id="34" name="TextBox 3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Hair Styling Products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Hair Styling Products demand, the evidence behind each and what it implies for the global market</a:t>
            </a:r>
          </a:p>
        </p:txBody>
      </p:sp>
      <p:graphicFrame>
        <p:nvGraphicFramePr>
          <p:cNvPr id="10" name="Table 9"/>
          <p:cNvGraphicFramePr>
            <a:graphicFrameLocks noGrp="1"/>
          </p:cNvGraphicFramePr>
          <p:nvPr/>
        </p:nvGraphicFramePr>
        <p:xfrm>
          <a:off x="142875" y="1062022"/>
          <a:ext cx="12242437" cy="5549125"/>
        </p:xfrm>
        <a:graphic>
          <a:graphicData uri="http://schemas.openxmlformats.org/drawingml/2006/table">
            <a:tbl>
              <a:tblPr>
                <a:tableStyleId>{5C22544A-7EE6-4342-B048-85BDC9FD1C3A}</a:tableStyleId>
              </a:tblPr>
              <a:tblGrid>
                <a:gridCol w="4412343"/>
                <a:gridCol w="4496344"/>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Hair Styling Products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product format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Hair Styling Products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2827878" cy="186689"/>
          </a:xfrm>
          <a:prstGeom prst="rect">
            <a:avLst/>
          </a:prstGeom>
          <a:noFill/>
        </p:spPr>
        <p:txBody>
          <a:bodyPr wrap="none" lIns="0" rIns="0" tIns="0" bIns="0">
            <a:spAutoFit/>
          </a:bodyPr>
          <a:lstStyle/>
          <a:p>
            <a:r>
              <a:rPr sz="1100" b="0">
                <a:solidFill>
                  <a:srgbClr val="2E2E2E"/>
                </a:solidFill>
                <a:latin typeface="Calibri"/>
              </a:rPr>
              <a:t>Styling Serums and Oils leads Product Format, at</a:t>
            </a:r>
          </a:p>
        </p:txBody>
      </p:sp>
      <p:pic>
        <p:nvPicPr>
          <p:cNvPr id="19" name="Picture 18" descr="lock.png"/>
          <p:cNvPicPr>
            <a:picLocks noChangeAspect="1"/>
          </p:cNvPicPr>
          <p:nvPr/>
        </p:nvPicPr>
        <p:blipFill>
          <a:blip r:embed="rId4"/>
          <a:stretch>
            <a:fillRect/>
          </a:stretch>
        </p:blipFill>
        <p:spPr>
          <a:xfrm>
            <a:off x="6560679" y="2792114"/>
            <a:ext cx="128699" cy="187198"/>
          </a:xfrm>
          <a:prstGeom prst="rect">
            <a:avLst/>
          </a:prstGeom>
        </p:spPr>
      </p:pic>
      <p:sp>
        <p:nvSpPr>
          <p:cNvPr id="20" name="TextBox 19"/>
          <p:cNvSpPr txBox="1"/>
          <p:nvPr/>
        </p:nvSpPr>
        <p:spPr>
          <a:xfrm>
            <a:off x="6728175" y="2801893"/>
            <a:ext cx="1854100" cy="186689"/>
          </a:xfrm>
          <a:prstGeom prst="rect">
            <a:avLst/>
          </a:prstGeom>
          <a:noFill/>
        </p:spPr>
        <p:txBody>
          <a:bodyPr wrap="none" lIns="0" rIns="0" tIns="0" bIns="0">
            <a:spAutoFit/>
          </a:bodyPr>
          <a:lstStyle/>
          <a:p>
            <a:r>
              <a:rPr sz="1100" b="0">
                <a:solidFill>
                  <a:srgbClr val="2E2E2E"/>
                </a:solidFill>
                <a:latin typeface="Calibri"/>
              </a:rPr>
              <a:t>of 2036 value, within a mix of 8</a:t>
            </a:r>
          </a:p>
        </p:txBody>
      </p:sp>
      <p:sp>
        <p:nvSpPr>
          <p:cNvPr id="21" name="TextBox 20"/>
          <p:cNvSpPr txBox="1"/>
          <p:nvPr/>
        </p:nvSpPr>
        <p:spPr>
          <a:xfrm>
            <a:off x="3784750" y="2969533"/>
            <a:ext cx="1158602" cy="186689"/>
          </a:xfrm>
          <a:prstGeom prst="rect">
            <a:avLst/>
          </a:prstGeom>
          <a:noFill/>
        </p:spPr>
        <p:txBody>
          <a:bodyPr wrap="none" lIns="0" rIns="0" tIns="0" bIns="0">
            <a:spAutoFit/>
          </a:bodyPr>
          <a:lstStyle/>
          <a:p>
            <a:r>
              <a:rPr sz="1100" b="0">
                <a:solidFill>
                  <a:srgbClr val="2E2E2E"/>
                </a:solidFill>
                <a:latin typeface="Calibri"/>
              </a:rPr>
              <a:t>tracked categories.</a:t>
            </a:r>
          </a:p>
        </p:txBody>
      </p:sp>
      <p:sp>
        <p:nvSpPr>
          <p:cNvPr id="22" name="TextBox 21"/>
          <p:cNvSpPr txBox="1"/>
          <p:nvPr/>
        </p:nvSpPr>
        <p:spPr>
          <a:xfrm>
            <a:off x="8785375" y="2885713"/>
            <a:ext cx="1800621" cy="186689"/>
          </a:xfrm>
          <a:prstGeom prst="rect">
            <a:avLst/>
          </a:prstGeom>
          <a:noFill/>
        </p:spPr>
        <p:txBody>
          <a:bodyPr wrap="none" lIns="0" rIns="0" tIns="0" bIns="0">
            <a:spAutoFit/>
          </a:bodyPr>
          <a:lstStyle/>
          <a:p>
            <a:r>
              <a:rPr sz="1100" b="0">
                <a:solidFill>
                  <a:srgbClr val="2E2E2E"/>
                </a:solidFill>
                <a:latin typeface="Calibri"/>
              </a:rPr>
              <a:t>Lead: Styling Serums and Oils ·</a:t>
            </a:r>
          </a:p>
        </p:txBody>
      </p:sp>
      <p:pic>
        <p:nvPicPr>
          <p:cNvPr id="23" name="Picture 22" descr="lock.png"/>
          <p:cNvPicPr>
            <a:picLocks noChangeAspect="1"/>
          </p:cNvPicPr>
          <p:nvPr/>
        </p:nvPicPr>
        <p:blipFill>
          <a:blip r:embed="rId4"/>
          <a:stretch>
            <a:fillRect/>
          </a:stretch>
        </p:blipFill>
        <p:spPr>
          <a:xfrm>
            <a:off x="10534048" y="2875934"/>
            <a:ext cx="128699" cy="187198"/>
          </a:xfrm>
          <a:prstGeom prst="rect">
            <a:avLst/>
          </a:prstGeom>
        </p:spPr>
      </p:pic>
      <p:sp>
        <p:nvSpPr>
          <p:cNvPr id="24" name="TextBox 23"/>
          <p:cNvSpPr txBox="1"/>
          <p:nvPr/>
        </p:nvSpPr>
        <p:spPr>
          <a:xfrm>
            <a:off x="10701544"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5" name="TextBox 24"/>
          <p:cNvSpPr txBox="1"/>
          <p:nvPr/>
        </p:nvSpPr>
        <p:spPr>
          <a:xfrm>
            <a:off x="3784750" y="3842354"/>
            <a:ext cx="4402807" cy="186689"/>
          </a:xfrm>
          <a:prstGeom prst="rect">
            <a:avLst/>
          </a:prstGeom>
          <a:noFill/>
        </p:spPr>
        <p:txBody>
          <a:bodyPr wrap="none" lIns="0" rIns="0" tIns="0" bIns="0">
            <a:spAutoFit/>
          </a:bodyPr>
          <a:lstStyle/>
          <a:p>
            <a:r>
              <a:rPr sz="1100" b="0">
                <a:solidFill>
                  <a:srgbClr val="2E2E2E"/>
                </a:solidFill>
                <a:latin typeface="Calibri"/>
              </a:rPr>
              <a:t>Online Marketplaces is the fastest-growing part of Distribution Channel, at a</a:t>
            </a:r>
          </a:p>
        </p:txBody>
      </p:sp>
      <p:pic>
        <p:nvPicPr>
          <p:cNvPr id="26" name="Picture 25" descr="lock.png"/>
          <p:cNvPicPr>
            <a:picLocks noChangeAspect="1"/>
          </p:cNvPicPr>
          <p:nvPr/>
        </p:nvPicPr>
        <p:blipFill>
          <a:blip r:embed="rId4"/>
          <a:stretch>
            <a:fillRect/>
          </a:stretch>
        </p:blipFill>
        <p:spPr>
          <a:xfrm>
            <a:off x="8135608" y="3832575"/>
            <a:ext cx="128699" cy="187198"/>
          </a:xfrm>
          <a:prstGeom prst="rect">
            <a:avLst/>
          </a:prstGeom>
        </p:spPr>
      </p:pic>
      <p:sp>
        <p:nvSpPr>
          <p:cNvPr id="27" name="TextBox 26"/>
          <p:cNvSpPr txBox="1"/>
          <p:nvPr/>
        </p:nvSpPr>
        <p:spPr>
          <a:xfrm>
            <a:off x="3784750"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8" name="TextBox 27"/>
          <p:cNvSpPr txBox="1"/>
          <p:nvPr/>
        </p:nvSpPr>
        <p:spPr>
          <a:xfrm>
            <a:off x="8785375" y="3926174"/>
            <a:ext cx="1791558" cy="186689"/>
          </a:xfrm>
          <a:prstGeom prst="rect">
            <a:avLst/>
          </a:prstGeom>
          <a:noFill/>
        </p:spPr>
        <p:txBody>
          <a:bodyPr wrap="none" lIns="0" rIns="0" tIns="0" bIns="0">
            <a:spAutoFit/>
          </a:bodyPr>
          <a:lstStyle/>
          <a:p>
            <a:r>
              <a:rPr sz="1100" b="0">
                <a:solidFill>
                  <a:srgbClr val="2E2E2E"/>
                </a:solidFill>
                <a:latin typeface="Calibri"/>
              </a:rPr>
              <a:t>Fastest: Online Marketplaces ·</a:t>
            </a:r>
          </a:p>
        </p:txBody>
      </p:sp>
      <p:pic>
        <p:nvPicPr>
          <p:cNvPr id="29" name="Picture 28" descr="lock.png"/>
          <p:cNvPicPr>
            <a:picLocks noChangeAspect="1"/>
          </p:cNvPicPr>
          <p:nvPr/>
        </p:nvPicPr>
        <p:blipFill>
          <a:blip r:embed="rId4"/>
          <a:stretch>
            <a:fillRect/>
          </a:stretch>
        </p:blipFill>
        <p:spPr>
          <a:xfrm>
            <a:off x="10524984" y="3916395"/>
            <a:ext cx="128699" cy="187198"/>
          </a:xfrm>
          <a:prstGeom prst="rect">
            <a:avLst/>
          </a:prstGeom>
        </p:spPr>
      </p:pic>
      <p:sp>
        <p:nvSpPr>
          <p:cNvPr id="30" name="TextBox 29"/>
          <p:cNvSpPr txBox="1"/>
          <p:nvPr/>
        </p:nvSpPr>
        <p:spPr>
          <a:xfrm>
            <a:off x="10692480"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1" name="TextBox 30"/>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2" name="Picture 31" descr="lock.png"/>
          <p:cNvPicPr>
            <a:picLocks noChangeAspect="1"/>
          </p:cNvPicPr>
          <p:nvPr/>
        </p:nvPicPr>
        <p:blipFill>
          <a:blip r:embed="rId4"/>
          <a:stretch>
            <a:fillRect/>
          </a:stretch>
        </p:blipFill>
        <p:spPr>
          <a:xfrm>
            <a:off x="6406275" y="4873036"/>
            <a:ext cx="128699" cy="187198"/>
          </a:xfrm>
          <a:prstGeom prst="rect">
            <a:avLst/>
          </a:prstGeom>
        </p:spPr>
      </p:pic>
      <p:sp>
        <p:nvSpPr>
          <p:cNvPr id="33" name="TextBox 32"/>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4" name="TextBox 33"/>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5" name="Picture 34" descr="lock.png"/>
          <p:cNvPicPr>
            <a:picLocks noChangeAspect="1"/>
          </p:cNvPicPr>
          <p:nvPr/>
        </p:nvPicPr>
        <p:blipFill>
          <a:blip r:embed="rId4"/>
          <a:stretch>
            <a:fillRect/>
          </a:stretch>
        </p:blipFill>
        <p:spPr>
          <a:xfrm>
            <a:off x="5106956" y="5040676"/>
            <a:ext cx="128699" cy="187198"/>
          </a:xfrm>
          <a:prstGeom prst="rect">
            <a:avLst/>
          </a:prstGeom>
        </p:spPr>
      </p:pic>
      <p:sp>
        <p:nvSpPr>
          <p:cNvPr id="36" name="TextBox 35"/>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8" name="Picture 37" descr="lock.png"/>
          <p:cNvPicPr>
            <a:picLocks noChangeAspect="1"/>
          </p:cNvPicPr>
          <p:nvPr/>
        </p:nvPicPr>
        <p:blipFill>
          <a:blip r:embed="rId4"/>
          <a:stretch>
            <a:fillRect/>
          </a:stretch>
        </p:blipFill>
        <p:spPr>
          <a:xfrm>
            <a:off x="10197622" y="4873036"/>
            <a:ext cx="128699" cy="187198"/>
          </a:xfrm>
          <a:prstGeom prst="rect">
            <a:avLst/>
          </a:prstGeom>
        </p:spPr>
      </p:pic>
      <p:sp>
        <p:nvSpPr>
          <p:cNvPr id="39" name="TextBox 38"/>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0" name="TextBox 39"/>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1" name="Picture 40" descr="lock.png"/>
          <p:cNvPicPr>
            <a:picLocks noChangeAspect="1"/>
          </p:cNvPicPr>
          <p:nvPr/>
        </p:nvPicPr>
        <p:blipFill>
          <a:blip r:embed="rId4"/>
          <a:stretch>
            <a:fillRect/>
          </a:stretch>
        </p:blipFill>
        <p:spPr>
          <a:xfrm>
            <a:off x="9248099" y="5040676"/>
            <a:ext cx="128699" cy="187198"/>
          </a:xfrm>
          <a:prstGeom prst="rect">
            <a:avLst/>
          </a:prstGeom>
        </p:spPr>
      </p:pic>
      <p:sp>
        <p:nvSpPr>
          <p:cNvPr id="42" name="TextBox 41"/>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4" name="Picture 43" descr="lock.png"/>
          <p:cNvPicPr>
            <a:picLocks noChangeAspect="1"/>
          </p:cNvPicPr>
          <p:nvPr/>
        </p:nvPicPr>
        <p:blipFill>
          <a:blip r:embed="rId4"/>
          <a:stretch>
            <a:fillRect/>
          </a:stretch>
        </p:blipFill>
        <p:spPr>
          <a:xfrm>
            <a:off x="4678579" y="5913497"/>
            <a:ext cx="128699" cy="187198"/>
          </a:xfrm>
          <a:prstGeom prst="rect">
            <a:avLst/>
          </a:prstGeom>
        </p:spPr>
      </p:pic>
      <p:sp>
        <p:nvSpPr>
          <p:cNvPr id="45" name="TextBox 44"/>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6" name="TextBox 45"/>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7" name="TextBox 46"/>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8" name="Picture 47" descr="lock.png"/>
          <p:cNvPicPr>
            <a:picLocks noChangeAspect="1"/>
          </p:cNvPicPr>
          <p:nvPr/>
        </p:nvPicPr>
        <p:blipFill>
          <a:blip r:embed="rId4"/>
          <a:stretch>
            <a:fillRect/>
          </a:stretch>
        </p:blipFill>
        <p:spPr>
          <a:xfrm>
            <a:off x="9591346" y="5997317"/>
            <a:ext cx="128699" cy="187198"/>
          </a:xfrm>
          <a:prstGeom prst="rect">
            <a:avLst/>
          </a:prstGeom>
        </p:spPr>
      </p:pic>
      <p:sp>
        <p:nvSpPr>
          <p:cNvPr id="49" name="TextBox 48"/>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0" name="Picture 49" descr="lock.png"/>
          <p:cNvPicPr>
            <a:picLocks noChangeAspect="1"/>
          </p:cNvPicPr>
          <p:nvPr/>
        </p:nvPicPr>
        <p:blipFill>
          <a:blip r:embed="rId4"/>
          <a:stretch>
            <a:fillRect/>
          </a:stretch>
        </p:blipFill>
        <p:spPr>
          <a:xfrm>
            <a:off x="11052672" y="5997317"/>
            <a:ext cx="128699" cy="187198"/>
          </a:xfrm>
          <a:prstGeom prst="rect">
            <a:avLst/>
          </a:prstGeom>
        </p:spPr>
      </p:pic>
      <p:sp>
        <p:nvSpPr>
          <p:cNvPr id="51" name="TextBox 50"/>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197225"/>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350202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206875"/>
            <a:ext cx="71247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445350"/>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627887"/>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627887"/>
            <a:ext cx="0" cy="182537"/>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56795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2933026"/>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298100"/>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66317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028248"/>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39332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767523"/>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325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497671"/>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86274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22781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1315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18735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11161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56795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294215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316354"/>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6905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06475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43895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667250" y="1080276"/>
            <a:ext cx="2857500" cy="365074"/>
          </a:xfrm>
          <a:prstGeom prst="roundRect">
            <a:avLst>
              <a:gd name="adj" fmla="val 17500"/>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Hair Styling Products Market</a:t>
            </a:r>
          </a:p>
        </p:txBody>
      </p:sp>
      <p:sp>
        <p:nvSpPr>
          <p:cNvPr id="56" name="Rounded Rectangle 55"/>
          <p:cNvSpPr/>
          <p:nvPr/>
        </p:nvSpPr>
        <p:spPr>
          <a:xfrm>
            <a:off x="1428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7" name="Rounded Rectangle 56"/>
          <p:cNvSpPr/>
          <p:nvPr/>
        </p:nvSpPr>
        <p:spPr>
          <a:xfrm>
            <a:off x="2762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8" name="Rounded Rectangle 57"/>
          <p:cNvSpPr/>
          <p:nvPr/>
        </p:nvSpPr>
        <p:spPr>
          <a:xfrm>
            <a:off x="27622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9" name="Rounded Rectangle 58"/>
          <p:cNvSpPr/>
          <p:nvPr/>
        </p:nvSpPr>
        <p:spPr>
          <a:xfrm>
            <a:off x="214312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0" name="Rounded Rectangle 59"/>
          <p:cNvSpPr/>
          <p:nvPr/>
        </p:nvSpPr>
        <p:spPr>
          <a:xfrm>
            <a:off x="227647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1" name="Rounded Rectangle 60"/>
          <p:cNvSpPr/>
          <p:nvPr/>
        </p:nvSpPr>
        <p:spPr>
          <a:xfrm>
            <a:off x="2276475"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2" name="Rounded Rectangle 61"/>
          <p:cNvSpPr/>
          <p:nvPr/>
        </p:nvSpPr>
        <p:spPr>
          <a:xfrm>
            <a:off x="2276475"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3" name="Rounded Rectangle 62"/>
          <p:cNvSpPr/>
          <p:nvPr/>
        </p:nvSpPr>
        <p:spPr>
          <a:xfrm>
            <a:off x="2276475"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4" name="Rounded Rectangle 63"/>
          <p:cNvSpPr/>
          <p:nvPr/>
        </p:nvSpPr>
        <p:spPr>
          <a:xfrm>
            <a:off x="4143375"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5" name="Rounded Rectangle 64"/>
          <p:cNvSpPr/>
          <p:nvPr/>
        </p:nvSpPr>
        <p:spPr>
          <a:xfrm>
            <a:off x="4276725"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6" name="Rounded Rectangle 65"/>
          <p:cNvSpPr/>
          <p:nvPr/>
        </p:nvSpPr>
        <p:spPr>
          <a:xfrm>
            <a:off x="4276725" y="263184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7" name="Rounded Rectangle 66"/>
          <p:cNvSpPr/>
          <p:nvPr/>
        </p:nvSpPr>
        <p:spPr>
          <a:xfrm>
            <a:off x="4276725" y="2996914"/>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8" name="Rounded Rectangle 67"/>
          <p:cNvSpPr/>
          <p:nvPr/>
        </p:nvSpPr>
        <p:spPr>
          <a:xfrm>
            <a:off x="4276725" y="336198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9" name="Rounded Rectangle 68"/>
          <p:cNvSpPr/>
          <p:nvPr/>
        </p:nvSpPr>
        <p:spPr>
          <a:xfrm>
            <a:off x="4276725" y="372706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0" name="Rounded Rectangle 69"/>
          <p:cNvSpPr/>
          <p:nvPr/>
        </p:nvSpPr>
        <p:spPr>
          <a:xfrm>
            <a:off x="4276725" y="409213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1" name="Rounded Rectangle 70"/>
          <p:cNvSpPr/>
          <p:nvPr/>
        </p:nvSpPr>
        <p:spPr>
          <a:xfrm>
            <a:off x="4276725" y="446633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2" name="Rounded Rectangle 71"/>
          <p:cNvSpPr/>
          <p:nvPr/>
        </p:nvSpPr>
        <p:spPr>
          <a:xfrm>
            <a:off x="4276725" y="483141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a:t>
            </a:r>
          </a:p>
        </p:txBody>
      </p:sp>
      <p:sp>
        <p:nvSpPr>
          <p:cNvPr id="73" name="Rounded Rectangle 72"/>
          <p:cNvSpPr/>
          <p:nvPr/>
        </p:nvSpPr>
        <p:spPr>
          <a:xfrm>
            <a:off x="4276725" y="5196485"/>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4" name="Rounded Rectangle 73"/>
          <p:cNvSpPr/>
          <p:nvPr/>
        </p:nvSpPr>
        <p:spPr>
          <a:xfrm>
            <a:off x="4276725" y="556155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5" name="Rounded Rectangle 74"/>
          <p:cNvSpPr/>
          <p:nvPr/>
        </p:nvSpPr>
        <p:spPr>
          <a:xfrm>
            <a:off x="4276725" y="592663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6" name="Rounded Rectangle 75"/>
          <p:cNvSpPr/>
          <p:nvPr/>
        </p:nvSpPr>
        <p:spPr>
          <a:xfrm>
            <a:off x="4276725" y="629170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7" name="Rounded Rectangle 76"/>
          <p:cNvSpPr/>
          <p:nvPr/>
        </p:nvSpPr>
        <p:spPr>
          <a:xfrm>
            <a:off x="61531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8" name="Rounded Rectangle 77"/>
          <p:cNvSpPr/>
          <p:nvPr/>
        </p:nvSpPr>
        <p:spPr>
          <a:xfrm>
            <a:off x="62865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9" name="Rounded Rectangle 78"/>
          <p:cNvSpPr/>
          <p:nvPr/>
        </p:nvSpPr>
        <p:spPr>
          <a:xfrm>
            <a:off x="62865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0" name="Rounded Rectangle 79"/>
          <p:cNvSpPr/>
          <p:nvPr/>
        </p:nvSpPr>
        <p:spPr>
          <a:xfrm>
            <a:off x="62865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1" name="Rounded Rectangle 80"/>
          <p:cNvSpPr/>
          <p:nvPr/>
        </p:nvSpPr>
        <p:spPr>
          <a:xfrm>
            <a:off x="815340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2" name="Rounded Rectangle 81"/>
          <p:cNvSpPr/>
          <p:nvPr/>
        </p:nvSpPr>
        <p:spPr>
          <a:xfrm>
            <a:off x="828675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3" name="Rounded Rectangle 82"/>
          <p:cNvSpPr/>
          <p:nvPr/>
        </p:nvSpPr>
        <p:spPr>
          <a:xfrm>
            <a:off x="828675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4" name="Rounded Rectangle 83"/>
          <p:cNvSpPr/>
          <p:nvPr/>
        </p:nvSpPr>
        <p:spPr>
          <a:xfrm>
            <a:off x="828675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5" name="Rounded Rectangle 84"/>
          <p:cNvSpPr/>
          <p:nvPr/>
        </p:nvSpPr>
        <p:spPr>
          <a:xfrm>
            <a:off x="828675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6" name="Rounded Rectangle 85"/>
          <p:cNvSpPr/>
          <p:nvPr/>
        </p:nvSpPr>
        <p:spPr>
          <a:xfrm>
            <a:off x="828675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7" name="Rounded Rectangle 86"/>
          <p:cNvSpPr/>
          <p:nvPr/>
        </p:nvSpPr>
        <p:spPr>
          <a:xfrm>
            <a:off x="828675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8" name="Rounded Rectangle 87"/>
          <p:cNvSpPr/>
          <p:nvPr/>
        </p:nvSpPr>
        <p:spPr>
          <a:xfrm>
            <a:off x="828675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89" name="Rounded Rectangle 88"/>
          <p:cNvSpPr/>
          <p:nvPr/>
        </p:nvSpPr>
        <p:spPr>
          <a:xfrm>
            <a:off x="8286750" y="4886172"/>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0" name="Rounded Rectangle 89"/>
          <p:cNvSpPr/>
          <p:nvPr/>
        </p:nvSpPr>
        <p:spPr>
          <a:xfrm>
            <a:off x="8286750" y="5260373"/>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a:t>
            </a:r>
          </a:p>
        </p:txBody>
      </p:sp>
      <p:sp>
        <p:nvSpPr>
          <p:cNvPr id="91" name="Rounded Rectangle 90"/>
          <p:cNvSpPr/>
          <p:nvPr/>
        </p:nvSpPr>
        <p:spPr>
          <a:xfrm>
            <a:off x="10153650" y="181042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2" name="Rounded Rectangle 91"/>
          <p:cNvSpPr/>
          <p:nvPr/>
        </p:nvSpPr>
        <p:spPr>
          <a:xfrm>
            <a:off x="10287000" y="2266766"/>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3" name="Rounded Rectangle 92"/>
          <p:cNvSpPr/>
          <p:nvPr/>
        </p:nvSpPr>
        <p:spPr>
          <a:xfrm>
            <a:off x="10287000" y="2640967"/>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4" name="Rounded Rectangle 93"/>
          <p:cNvSpPr/>
          <p:nvPr/>
        </p:nvSpPr>
        <p:spPr>
          <a:xfrm>
            <a:off x="10287000" y="3015168"/>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5" name="Rounded Rectangle 94"/>
          <p:cNvSpPr/>
          <p:nvPr/>
        </p:nvSpPr>
        <p:spPr>
          <a:xfrm>
            <a:off x="10287000" y="33893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6" name="Rounded Rectangle 95"/>
          <p:cNvSpPr/>
          <p:nvPr/>
        </p:nvSpPr>
        <p:spPr>
          <a:xfrm>
            <a:off x="10287000" y="3763569"/>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GCC</a:t>
            </a:r>
          </a:p>
        </p:txBody>
      </p:sp>
      <p:sp>
        <p:nvSpPr>
          <p:cNvPr id="97" name="Rounded Rectangle 96"/>
          <p:cNvSpPr/>
          <p:nvPr/>
        </p:nvSpPr>
        <p:spPr>
          <a:xfrm>
            <a:off x="10287000" y="4137770"/>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8" name="Rounded Rectangle 97"/>
          <p:cNvSpPr/>
          <p:nvPr/>
        </p:nvSpPr>
        <p:spPr>
          <a:xfrm>
            <a:off x="10287000" y="4511971"/>
            <a:ext cx="1752600" cy="301186"/>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9" name="TextBox 9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7 axes and the sub-segments sized under each</a:t>
            </a:r>
          </a:p>
        </p:txBody>
      </p:sp>
      <p:sp>
        <p:nvSpPr>
          <p:cNvPr id="10" name="Rectangle 9"/>
          <p:cNvSpPr/>
          <p:nvPr/>
        </p:nvSpPr>
        <p:spPr>
          <a:xfrm>
            <a:off x="142875" y="1028700"/>
            <a:ext cx="2876550" cy="28860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Format</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Sprays and Mists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Aerosol Hairsprays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Non-aerosol Hairsprays</a:t>
            </a:r>
          </a:p>
        </p:txBody>
      </p:sp>
      <p:cxnSp>
        <p:nvCxnSpPr>
          <p:cNvPr id="21" name="Connector 20"/>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Texturizing Sprays</a:t>
            </a:r>
          </a:p>
        </p:txBody>
      </p:sp>
      <p:cxnSp>
        <p:nvCxnSpPr>
          <p:cNvPr id="24" name="Connector 23"/>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Sea-salt Sprays</a:t>
            </a:r>
          </a:p>
        </p:txBody>
      </p:sp>
      <p:cxnSp>
        <p:nvCxnSpPr>
          <p:cNvPr id="27" name="Connector 26"/>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Volumizing Sprays</a:t>
            </a:r>
          </a:p>
        </p:txBody>
      </p:sp>
      <p:cxnSp>
        <p:nvCxnSpPr>
          <p:cNvPr id="30" name="Connector 29"/>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0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390525" y="23202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Mousses and Foams</a:t>
            </a:r>
          </a:p>
        </p:txBody>
      </p:sp>
      <p:cxnSp>
        <p:nvCxnSpPr>
          <p:cNvPr id="33" name="Connector 32"/>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714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5619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Aerosol Mousses</a:t>
            </a:r>
          </a:p>
        </p:txBody>
      </p:sp>
      <p:cxnSp>
        <p:nvCxnSpPr>
          <p:cNvPr id="36" name="Connector 35"/>
          <p:cNvCxnSpPr/>
          <p:nvPr/>
        </p:nvCxnSpPr>
        <p:spPr>
          <a:xfrm>
            <a:off x="1524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26746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Non-aerosol Foams</a:t>
            </a:r>
          </a:p>
        </p:txBody>
      </p:sp>
      <p:cxnSp>
        <p:nvCxnSpPr>
          <p:cNvPr id="39" name="Connector 38"/>
          <p:cNvCxnSpPr/>
          <p:nvPr/>
        </p:nvCxnSpPr>
        <p:spPr>
          <a:xfrm>
            <a:off x="1524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0002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1" name="TextBox 40"/>
          <p:cNvSpPr txBox="1"/>
          <p:nvPr/>
        </p:nvSpPr>
        <p:spPr>
          <a:xfrm>
            <a:off x="390525" y="285178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Gels and Jellies</a:t>
            </a:r>
          </a:p>
        </p:txBody>
      </p:sp>
      <p:cxnSp>
        <p:nvCxnSpPr>
          <p:cNvPr id="42" name="Connector 41"/>
          <p:cNvCxnSpPr/>
          <p:nvPr/>
        </p:nvCxnSpPr>
        <p:spPr>
          <a:xfrm>
            <a:off x="1524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0002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390525" y="30289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Creams and Lotions</a:t>
            </a:r>
          </a:p>
        </p:txBody>
      </p:sp>
      <p:cxnSp>
        <p:nvCxnSpPr>
          <p:cNvPr id="45" name="Connector 44"/>
          <p:cNvCxnSpPr/>
          <p:nvPr/>
        </p:nvCxnSpPr>
        <p:spPr>
          <a:xfrm>
            <a:off x="1524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0002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390525" y="320611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Waxes, Clays, Pastes and Pomades</a:t>
            </a:r>
          </a:p>
        </p:txBody>
      </p:sp>
      <p:cxnSp>
        <p:nvCxnSpPr>
          <p:cNvPr id="48" name="Connector 47"/>
          <p:cNvCxnSpPr/>
          <p:nvPr/>
        </p:nvCxnSpPr>
        <p:spPr>
          <a:xfrm>
            <a:off x="1524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0002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390525" y="338328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Styling Powders</a:t>
            </a:r>
          </a:p>
        </p:txBody>
      </p:sp>
      <p:cxnSp>
        <p:nvCxnSpPr>
          <p:cNvPr id="51" name="Connector 50"/>
          <p:cNvCxnSpPr/>
          <p:nvPr/>
        </p:nvCxnSpPr>
        <p:spPr>
          <a:xfrm>
            <a:off x="1524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0002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390525" y="35604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Styling Serums and Oils</a:t>
            </a:r>
          </a:p>
        </p:txBody>
      </p:sp>
      <p:cxnSp>
        <p:nvCxnSpPr>
          <p:cNvPr id="54" name="Connector 53"/>
          <p:cNvCxnSpPr/>
          <p:nvPr/>
        </p:nvCxnSpPr>
        <p:spPr>
          <a:xfrm>
            <a:off x="1524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0002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390525" y="373761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Sticks and Balms</a:t>
            </a:r>
          </a:p>
        </p:txBody>
      </p:sp>
      <p:sp>
        <p:nvSpPr>
          <p:cNvPr id="57" name="Rectangle 56"/>
          <p:cNvSpPr/>
          <p:nvPr/>
        </p:nvSpPr>
        <p:spPr>
          <a:xfrm>
            <a:off x="3152775" y="1028700"/>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Hold Level</a:t>
            </a:r>
          </a:p>
        </p:txBody>
      </p:sp>
      <p:sp>
        <p:nvSpPr>
          <p:cNvPr id="60" name="TextBox 59"/>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1" name="TextBox 60"/>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No Hold</a:t>
            </a:r>
          </a:p>
        </p:txBody>
      </p:sp>
      <p:cxnSp>
        <p:nvCxnSpPr>
          <p:cNvPr id="62" name="Connector 61"/>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099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4" name="TextBox 63"/>
          <p:cNvSpPr txBox="1"/>
          <p:nvPr/>
        </p:nvSpPr>
        <p:spPr>
          <a:xfrm>
            <a:off x="34004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Light or Flexible Hold</a:t>
            </a:r>
          </a:p>
        </p:txBody>
      </p:sp>
      <p:cxnSp>
        <p:nvCxnSpPr>
          <p:cNvPr id="65" name="Connector 64"/>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32099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7" name="TextBox 66"/>
          <p:cNvSpPr txBox="1"/>
          <p:nvPr/>
        </p:nvSpPr>
        <p:spPr>
          <a:xfrm>
            <a:off x="34004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Medium Hold</a:t>
            </a:r>
          </a:p>
        </p:txBody>
      </p:sp>
      <p:cxnSp>
        <p:nvCxnSpPr>
          <p:cNvPr id="68" name="Connector 67"/>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0" name="TextBox 69"/>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Strong Hold</a:t>
            </a:r>
          </a:p>
        </p:txBody>
      </p:sp>
      <p:cxnSp>
        <p:nvCxnSpPr>
          <p:cNvPr id="71" name="Connector 70"/>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099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3" name="TextBox 72"/>
          <p:cNvSpPr txBox="1"/>
          <p:nvPr/>
        </p:nvSpPr>
        <p:spPr>
          <a:xfrm>
            <a:off x="34004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Extra-strong Hold</a:t>
            </a:r>
          </a:p>
        </p:txBody>
      </p:sp>
      <p:sp>
        <p:nvSpPr>
          <p:cNvPr id="74" name="Rectangle 73"/>
          <p:cNvSpPr/>
          <p:nvPr/>
        </p:nvSpPr>
        <p:spPr>
          <a:xfrm>
            <a:off x="3152775" y="2257425"/>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152775" y="225742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228975" y="225742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Hair Type Targeted</a:t>
            </a:r>
          </a:p>
        </p:txBody>
      </p:sp>
      <p:sp>
        <p:nvSpPr>
          <p:cNvPr id="77" name="TextBox 76"/>
          <p:cNvSpPr txBox="1"/>
          <p:nvPr/>
        </p:nvSpPr>
        <p:spPr>
          <a:xfrm>
            <a:off x="32099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8" name="TextBox 77"/>
          <p:cNvSpPr txBox="1"/>
          <p:nvPr/>
        </p:nvSpPr>
        <p:spPr>
          <a:xfrm>
            <a:off x="34004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Straight Hair</a:t>
            </a:r>
          </a:p>
        </p:txBody>
      </p:sp>
      <p:cxnSp>
        <p:nvCxnSpPr>
          <p:cNvPr id="79" name="Connector 78"/>
          <p:cNvCxnSpPr/>
          <p:nvPr/>
        </p:nvCxnSpPr>
        <p:spPr>
          <a:xfrm>
            <a:off x="31623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32099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1" name="TextBox 80"/>
          <p:cNvSpPr txBox="1"/>
          <p:nvPr/>
        </p:nvSpPr>
        <p:spPr>
          <a:xfrm>
            <a:off x="34004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Wavy Hair</a:t>
            </a:r>
          </a:p>
        </p:txBody>
      </p:sp>
      <p:cxnSp>
        <p:nvCxnSpPr>
          <p:cNvPr id="82" name="Connector 81"/>
          <p:cNvCxnSpPr/>
          <p:nvPr/>
        </p:nvCxnSpPr>
        <p:spPr>
          <a:xfrm>
            <a:off x="31623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32099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4" name="TextBox 83"/>
          <p:cNvSpPr txBox="1"/>
          <p:nvPr/>
        </p:nvSpPr>
        <p:spPr>
          <a:xfrm>
            <a:off x="34004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Curly Hair</a:t>
            </a:r>
          </a:p>
        </p:txBody>
      </p:sp>
      <p:cxnSp>
        <p:nvCxnSpPr>
          <p:cNvPr id="85" name="Connector 84"/>
          <p:cNvCxnSpPr/>
          <p:nvPr/>
        </p:nvCxnSpPr>
        <p:spPr>
          <a:xfrm>
            <a:off x="31623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32099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7" name="TextBox 86"/>
          <p:cNvSpPr txBox="1"/>
          <p:nvPr/>
        </p:nvSpPr>
        <p:spPr>
          <a:xfrm>
            <a:off x="34004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Coily Hair</a:t>
            </a:r>
          </a:p>
        </p:txBody>
      </p:sp>
      <p:cxnSp>
        <p:nvCxnSpPr>
          <p:cNvPr id="88" name="Connector 87"/>
          <p:cNvCxnSpPr/>
          <p:nvPr/>
        </p:nvCxnSpPr>
        <p:spPr>
          <a:xfrm>
            <a:off x="31623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320992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0" name="TextBox 89"/>
          <p:cNvSpPr txBox="1"/>
          <p:nvPr/>
        </p:nvSpPr>
        <p:spPr>
          <a:xfrm>
            <a:off x="3400425" y="319468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All Hair Types</a:t>
            </a:r>
          </a:p>
        </p:txBody>
      </p:sp>
      <p:sp>
        <p:nvSpPr>
          <p:cNvPr id="91" name="Rectangle 90"/>
          <p:cNvSpPr/>
          <p:nvPr/>
        </p:nvSpPr>
        <p:spPr>
          <a:xfrm>
            <a:off x="61626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Finish</a:t>
            </a:r>
          </a:p>
        </p:txBody>
      </p:sp>
      <p:sp>
        <p:nvSpPr>
          <p:cNvPr id="94" name="TextBox 93"/>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5" name="TextBox 94"/>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Matte</a:t>
            </a:r>
          </a:p>
        </p:txBody>
      </p:sp>
      <p:cxnSp>
        <p:nvCxnSpPr>
          <p:cNvPr id="96" name="Connector 95"/>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8" name="TextBox 97"/>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Natural</a:t>
            </a:r>
          </a:p>
        </p:txBody>
      </p:sp>
      <p:cxnSp>
        <p:nvCxnSpPr>
          <p:cNvPr id="99" name="Connector 98"/>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1" name="TextBox 100"/>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Glossy or Wet-look</a:t>
            </a:r>
          </a:p>
        </p:txBody>
      </p:sp>
      <p:sp>
        <p:nvSpPr>
          <p:cNvPr id="102" name="Rectangle 101"/>
          <p:cNvSpPr/>
          <p:nvPr/>
        </p:nvSpPr>
        <p:spPr>
          <a:xfrm>
            <a:off x="6162675" y="1903095"/>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162675" y="1903095"/>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2388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Primary Styling Benefit</a:t>
            </a:r>
          </a:p>
        </p:txBody>
      </p:sp>
      <p:sp>
        <p:nvSpPr>
          <p:cNvPr id="105" name="TextBox 104"/>
          <p:cNvSpPr txBox="1"/>
          <p:nvPr/>
        </p:nvSpPr>
        <p:spPr>
          <a:xfrm>
            <a:off x="62198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64103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Hold and Shape</a:t>
            </a:r>
          </a:p>
        </p:txBody>
      </p:sp>
      <p:cxnSp>
        <p:nvCxnSpPr>
          <p:cNvPr id="107" name="Connector 106"/>
          <p:cNvCxnSpPr/>
          <p:nvPr/>
        </p:nvCxnSpPr>
        <p:spPr>
          <a:xfrm>
            <a:off x="61722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62198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9" name="TextBox 108"/>
          <p:cNvSpPr txBox="1"/>
          <p:nvPr/>
        </p:nvSpPr>
        <p:spPr>
          <a:xfrm>
            <a:off x="64103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Curl Definition</a:t>
            </a:r>
          </a:p>
        </p:txBody>
      </p:sp>
      <p:cxnSp>
        <p:nvCxnSpPr>
          <p:cNvPr id="110" name="Connector 109"/>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198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2" name="TextBox 111"/>
          <p:cNvSpPr txBox="1"/>
          <p:nvPr/>
        </p:nvSpPr>
        <p:spPr>
          <a:xfrm>
            <a:off x="64103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Volume and Root Lift</a:t>
            </a:r>
          </a:p>
        </p:txBody>
      </p:sp>
      <p:cxnSp>
        <p:nvCxnSpPr>
          <p:cNvPr id="113" name="Connector 112"/>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5" name="TextBox 114"/>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Texture and Separation</a:t>
            </a:r>
          </a:p>
        </p:txBody>
      </p:sp>
      <p:cxnSp>
        <p:nvCxnSpPr>
          <p:cNvPr id="116" name="Connector 115"/>
          <p:cNvCxnSpPr/>
          <p:nvPr/>
        </p:nvCxnSpPr>
        <p:spPr>
          <a:xfrm>
            <a:off x="61722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62198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64103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Smoothing and Frizz Control</a:t>
            </a:r>
          </a:p>
        </p:txBody>
      </p:sp>
      <p:cxnSp>
        <p:nvCxnSpPr>
          <p:cNvPr id="119" name="Connector 118"/>
          <p:cNvCxnSpPr/>
          <p:nvPr/>
        </p:nvCxnSpPr>
        <p:spPr>
          <a:xfrm>
            <a:off x="61722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1982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6410325" y="301752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Sleek Styling and Edge Control</a:t>
            </a:r>
          </a:p>
        </p:txBody>
      </p:sp>
      <p:cxnSp>
        <p:nvCxnSpPr>
          <p:cNvPr id="122" name="Connector 121"/>
          <p:cNvCxnSpPr/>
          <p:nvPr/>
        </p:nvCxnSpPr>
        <p:spPr>
          <a:xfrm>
            <a:off x="61722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621982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4" name="TextBox 123"/>
          <p:cNvSpPr txBox="1"/>
          <p:nvPr/>
        </p:nvSpPr>
        <p:spPr>
          <a:xfrm>
            <a:off x="6410325" y="319468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Heat Styling Support</a:t>
            </a:r>
          </a:p>
        </p:txBody>
      </p:sp>
      <p:sp>
        <p:nvSpPr>
          <p:cNvPr id="125" name="Rectangle 124"/>
          <p:cNvSpPr/>
          <p:nvPr/>
        </p:nvSpPr>
        <p:spPr>
          <a:xfrm>
            <a:off x="91725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Distribution Channel</a:t>
            </a:r>
          </a:p>
        </p:txBody>
      </p:sp>
      <p:sp>
        <p:nvSpPr>
          <p:cNvPr id="128" name="TextBox 127"/>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9" name="TextBox 128"/>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Mass Retail</a:t>
            </a:r>
          </a:p>
        </p:txBody>
      </p:sp>
      <p:cxnSp>
        <p:nvCxnSpPr>
          <p:cNvPr id="130" name="Connector 129"/>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2" name="TextBox 131"/>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Beauty Specialty Retail</a:t>
            </a:r>
          </a:p>
        </p:txBody>
      </p:sp>
      <p:cxnSp>
        <p:nvCxnSpPr>
          <p:cNvPr id="133" name="Connector 132"/>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5" name="TextBox 134"/>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Salon and Professional Distribution</a:t>
            </a:r>
          </a:p>
        </p:txBody>
      </p:sp>
      <p:cxnSp>
        <p:nvCxnSpPr>
          <p:cNvPr id="136" name="Connector 135"/>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8" name="TextBox 137"/>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Pharmacies and Drugstores</a:t>
            </a:r>
          </a:p>
        </p:txBody>
      </p:sp>
      <p:cxnSp>
        <p:nvCxnSpPr>
          <p:cNvPr id="139" name="Connector 138"/>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2297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1" name="TextBox 140"/>
          <p:cNvSpPr txBox="1"/>
          <p:nvPr/>
        </p:nvSpPr>
        <p:spPr>
          <a:xfrm>
            <a:off x="9420225" y="19659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Online Marketplaces</a:t>
            </a:r>
          </a:p>
        </p:txBody>
      </p:sp>
      <p:cxnSp>
        <p:nvCxnSpPr>
          <p:cNvPr id="142" name="Connector 141"/>
          <p:cNvCxnSpPr/>
          <p:nvPr/>
        </p:nvCxnSpPr>
        <p:spPr>
          <a:xfrm>
            <a:off x="91821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92297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4" name="TextBox 143"/>
          <p:cNvSpPr txBox="1"/>
          <p:nvPr/>
        </p:nvSpPr>
        <p:spPr>
          <a:xfrm>
            <a:off x="9420225" y="21431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Brand-owned Online Stores</a:t>
            </a:r>
          </a:p>
        </p:txBody>
      </p:sp>
      <p:sp>
        <p:nvSpPr>
          <p:cNvPr id="145" name="Rectangle 144"/>
          <p:cNvSpPr/>
          <p:nvPr/>
        </p:nvSpPr>
        <p:spPr>
          <a:xfrm>
            <a:off x="9172575" y="2434590"/>
            <a:ext cx="2876550" cy="288607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172575" y="243459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248775" y="243459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Ingredient Technology</a:t>
            </a:r>
          </a:p>
        </p:txBody>
      </p:sp>
      <p:sp>
        <p:nvSpPr>
          <p:cNvPr id="148" name="TextBox 147"/>
          <p:cNvSpPr txBox="1"/>
          <p:nvPr/>
        </p:nvSpPr>
        <p:spPr>
          <a:xfrm>
            <a:off x="92297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9" name="TextBox 148"/>
          <p:cNvSpPr txBox="1"/>
          <p:nvPr/>
        </p:nvSpPr>
        <p:spPr>
          <a:xfrm>
            <a:off x="9420225" y="26631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Film-forming and Fixative Polymers</a:t>
            </a:r>
          </a:p>
        </p:txBody>
      </p:sp>
      <p:cxnSp>
        <p:nvCxnSpPr>
          <p:cNvPr id="150" name="Connector 149"/>
          <p:cNvCxnSpPr/>
          <p:nvPr/>
        </p:nvCxnSpPr>
        <p:spPr>
          <a:xfrm>
            <a:off x="91821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940117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2" name="TextBox 151"/>
          <p:cNvSpPr txBox="1"/>
          <p:nvPr/>
        </p:nvSpPr>
        <p:spPr>
          <a:xfrm>
            <a:off x="9591675" y="28403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Synthetic Polymers</a:t>
            </a:r>
          </a:p>
        </p:txBody>
      </p:sp>
      <p:cxnSp>
        <p:nvCxnSpPr>
          <p:cNvPr id="153" name="Connector 152"/>
          <p:cNvCxnSpPr/>
          <p:nvPr/>
        </p:nvCxnSpPr>
        <p:spPr>
          <a:xfrm>
            <a:off x="9182100" y="30175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9401175" y="30175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5" name="TextBox 154"/>
          <p:cNvSpPr txBox="1"/>
          <p:nvPr/>
        </p:nvSpPr>
        <p:spPr>
          <a:xfrm>
            <a:off x="9591675" y="30175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Bio-based Polymers</a:t>
            </a:r>
          </a:p>
        </p:txBody>
      </p:sp>
      <p:cxnSp>
        <p:nvCxnSpPr>
          <p:cNvPr id="156" name="Connector 155"/>
          <p:cNvCxnSpPr/>
          <p:nvPr/>
        </p:nvCxnSpPr>
        <p:spPr>
          <a:xfrm>
            <a:off x="9182100" y="31946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9401175" y="31946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8" name="TextBox 157"/>
          <p:cNvSpPr txBox="1"/>
          <p:nvPr/>
        </p:nvSpPr>
        <p:spPr>
          <a:xfrm>
            <a:off x="9591675" y="31946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Biodegradable Polymers</a:t>
            </a:r>
          </a:p>
        </p:txBody>
      </p:sp>
      <p:cxnSp>
        <p:nvCxnSpPr>
          <p:cNvPr id="159" name="Connector 158"/>
          <p:cNvCxnSpPr/>
          <p:nvPr/>
        </p:nvCxnSpPr>
        <p:spPr>
          <a:xfrm>
            <a:off x="9182100" y="33718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9229725" y="33718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1" name="TextBox 160"/>
          <p:cNvSpPr txBox="1"/>
          <p:nvPr/>
        </p:nvSpPr>
        <p:spPr>
          <a:xfrm>
            <a:off x="9420225" y="337185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Texture and Volume Additives</a:t>
            </a:r>
          </a:p>
        </p:txBody>
      </p:sp>
      <p:cxnSp>
        <p:nvCxnSpPr>
          <p:cNvPr id="162" name="Connector 161"/>
          <p:cNvCxnSpPr/>
          <p:nvPr/>
        </p:nvCxnSpPr>
        <p:spPr>
          <a:xfrm>
            <a:off x="9182100" y="35490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9401175" y="35490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4" name="TextBox 163"/>
          <p:cNvSpPr txBox="1"/>
          <p:nvPr/>
        </p:nvSpPr>
        <p:spPr>
          <a:xfrm>
            <a:off x="9591675" y="35490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Silica-based Additives</a:t>
            </a:r>
          </a:p>
        </p:txBody>
      </p:sp>
      <p:cxnSp>
        <p:nvCxnSpPr>
          <p:cNvPr id="165" name="Connector 164"/>
          <p:cNvCxnSpPr/>
          <p:nvPr/>
        </p:nvCxnSpPr>
        <p:spPr>
          <a:xfrm>
            <a:off x="9182100" y="37261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9401175" y="37261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7" name="TextBox 166"/>
          <p:cNvSpPr txBox="1"/>
          <p:nvPr/>
        </p:nvSpPr>
        <p:spPr>
          <a:xfrm>
            <a:off x="9591675" y="37261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Starch-based Additives</a:t>
            </a:r>
          </a:p>
        </p:txBody>
      </p:sp>
      <p:cxnSp>
        <p:nvCxnSpPr>
          <p:cNvPr id="168" name="Connector 167"/>
          <p:cNvCxnSpPr/>
          <p:nvPr/>
        </p:nvCxnSpPr>
        <p:spPr>
          <a:xfrm>
            <a:off x="9182100" y="39033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9401175" y="39033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0" name="TextBox 169"/>
          <p:cNvSpPr txBox="1"/>
          <p:nvPr/>
        </p:nvSpPr>
        <p:spPr>
          <a:xfrm>
            <a:off x="9591675" y="390334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Other Mineral and Plant-based Additives</a:t>
            </a:r>
          </a:p>
        </p:txBody>
      </p:sp>
      <p:cxnSp>
        <p:nvCxnSpPr>
          <p:cNvPr id="171" name="Connector 170"/>
          <p:cNvCxnSpPr/>
          <p:nvPr/>
        </p:nvCxnSpPr>
        <p:spPr>
          <a:xfrm>
            <a:off x="9182100" y="42576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9229725" y="42576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3" name="TextBox 172"/>
          <p:cNvSpPr txBox="1"/>
          <p:nvPr/>
        </p:nvSpPr>
        <p:spPr>
          <a:xfrm>
            <a:off x="9420225" y="425767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Conditioning and Smoothing Agents</a:t>
            </a:r>
          </a:p>
        </p:txBody>
      </p:sp>
      <p:cxnSp>
        <p:nvCxnSpPr>
          <p:cNvPr id="174" name="Connector 173"/>
          <p:cNvCxnSpPr/>
          <p:nvPr/>
        </p:nvCxnSpPr>
        <p:spPr>
          <a:xfrm>
            <a:off x="9182100" y="44348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5" name="TextBox 174"/>
          <p:cNvSpPr txBox="1"/>
          <p:nvPr/>
        </p:nvSpPr>
        <p:spPr>
          <a:xfrm>
            <a:off x="9401175" y="44348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6" name="TextBox 175"/>
          <p:cNvSpPr txBox="1"/>
          <p:nvPr/>
        </p:nvSpPr>
        <p:spPr>
          <a:xfrm>
            <a:off x="9591675" y="44348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Silicone-based</a:t>
            </a:r>
          </a:p>
        </p:txBody>
      </p:sp>
      <p:cxnSp>
        <p:nvCxnSpPr>
          <p:cNvPr id="177" name="Connector 176"/>
          <p:cNvCxnSpPr/>
          <p:nvPr/>
        </p:nvCxnSpPr>
        <p:spPr>
          <a:xfrm>
            <a:off x="9182100" y="46120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9401175" y="46120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9" name="TextBox 178"/>
          <p:cNvSpPr txBox="1"/>
          <p:nvPr/>
        </p:nvSpPr>
        <p:spPr>
          <a:xfrm>
            <a:off x="9591675" y="46120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Silicone-free</a:t>
            </a:r>
          </a:p>
        </p:txBody>
      </p:sp>
      <p:cxnSp>
        <p:nvCxnSpPr>
          <p:cNvPr id="180" name="Connector 179"/>
          <p:cNvCxnSpPr/>
          <p:nvPr/>
        </p:nvCxnSpPr>
        <p:spPr>
          <a:xfrm>
            <a:off x="9182100" y="47891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9229725" y="47891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2" name="TextBox 181"/>
          <p:cNvSpPr txBox="1"/>
          <p:nvPr/>
        </p:nvSpPr>
        <p:spPr>
          <a:xfrm>
            <a:off x="9420225" y="478917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Waxes and Structuring Agents</a:t>
            </a:r>
          </a:p>
        </p:txBody>
      </p:sp>
      <p:cxnSp>
        <p:nvCxnSpPr>
          <p:cNvPr id="183" name="Connector 182"/>
          <p:cNvCxnSpPr/>
          <p:nvPr/>
        </p:nvCxnSpPr>
        <p:spPr>
          <a:xfrm>
            <a:off x="9182100" y="49663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4" name="TextBox 183"/>
          <p:cNvSpPr txBox="1"/>
          <p:nvPr/>
        </p:nvSpPr>
        <p:spPr>
          <a:xfrm>
            <a:off x="9401175" y="49663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5" name="TextBox 184"/>
          <p:cNvSpPr txBox="1"/>
          <p:nvPr/>
        </p:nvSpPr>
        <p:spPr>
          <a:xfrm>
            <a:off x="9591675" y="49663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Synthetic Waxes</a:t>
            </a:r>
          </a:p>
        </p:txBody>
      </p:sp>
      <p:cxnSp>
        <p:nvCxnSpPr>
          <p:cNvPr id="186" name="Connector 185"/>
          <p:cNvCxnSpPr/>
          <p:nvPr/>
        </p:nvCxnSpPr>
        <p:spPr>
          <a:xfrm>
            <a:off x="9182100" y="51435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9401175" y="51435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88" name="TextBox 187"/>
          <p:cNvSpPr txBox="1"/>
          <p:nvPr/>
        </p:nvSpPr>
        <p:spPr>
          <a:xfrm>
            <a:off x="9591675" y="51435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Plant-derived Waxes</a:t>
            </a:r>
          </a:p>
        </p:txBody>
      </p:sp>
      <p:sp>
        <p:nvSpPr>
          <p:cNvPr id="189" name="TextBox 18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Hair Styling Products Market profiled and benchmarked in the Competition Assessment section.</a:t>
            </a:r>
          </a:p>
        </p:txBody>
      </p:sp>
      <p:sp>
        <p:nvSpPr>
          <p:cNvPr id="11" name="Rectangle 10"/>
          <p:cNvSpPr/>
          <p:nvPr/>
        </p:nvSpPr>
        <p:spPr>
          <a:xfrm>
            <a:off x="142875"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286001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A</a:t>
            </a:r>
          </a:p>
        </p:txBody>
      </p:sp>
      <p:sp>
        <p:nvSpPr>
          <p:cNvPr id="16" name="Rectangle 15"/>
          <p:cNvSpPr/>
          <p:nvPr/>
        </p:nvSpPr>
        <p:spPr>
          <a:xfrm>
            <a:off x="152400"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B</a:t>
            </a:r>
          </a:p>
        </p:txBody>
      </p:sp>
      <p:cxnSp>
        <p:nvCxnSpPr>
          <p:cNvPr id="20" name="Connector 19"/>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C</a:t>
            </a:r>
          </a:p>
        </p:txBody>
      </p:sp>
      <p:sp>
        <p:nvSpPr>
          <p:cNvPr id="23" name="Rectangle 22"/>
          <p:cNvSpPr/>
          <p:nvPr/>
        </p:nvSpPr>
        <p:spPr>
          <a:xfrm>
            <a:off x="152400"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D</a:t>
            </a:r>
          </a:p>
        </p:txBody>
      </p:sp>
      <p:sp>
        <p:nvSpPr>
          <p:cNvPr id="27" name="Rectangle 26"/>
          <p:cNvSpPr/>
          <p:nvPr/>
        </p:nvSpPr>
        <p:spPr>
          <a:xfrm>
            <a:off x="6191250" y="2796123"/>
            <a:ext cx="5857875" cy="21721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1250" y="279612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1250" y="286001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30" name="TextBox 29"/>
          <p:cNvSpPr txBox="1"/>
          <p:nvPr/>
        </p:nvSpPr>
        <p:spPr>
          <a:xfrm>
            <a:off x="6381750" y="306992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1" name="TextBox 30"/>
          <p:cNvSpPr txBox="1"/>
          <p:nvPr/>
        </p:nvSpPr>
        <p:spPr>
          <a:xfrm>
            <a:off x="6629400" y="306992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E</a:t>
            </a:r>
          </a:p>
        </p:txBody>
      </p:sp>
      <p:sp>
        <p:nvSpPr>
          <p:cNvPr id="32" name="Rectangle 31"/>
          <p:cNvSpPr/>
          <p:nvPr/>
        </p:nvSpPr>
        <p:spPr>
          <a:xfrm>
            <a:off x="6200775" y="354452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200775" y="35445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81750" y="354452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5" name="TextBox 34"/>
          <p:cNvSpPr txBox="1"/>
          <p:nvPr/>
        </p:nvSpPr>
        <p:spPr>
          <a:xfrm>
            <a:off x="6629400" y="354452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F</a:t>
            </a:r>
          </a:p>
        </p:txBody>
      </p:sp>
      <p:cxnSp>
        <p:nvCxnSpPr>
          <p:cNvPr id="36" name="Connector 35"/>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81750" y="401912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8" name="TextBox 37"/>
          <p:cNvSpPr txBox="1"/>
          <p:nvPr/>
        </p:nvSpPr>
        <p:spPr>
          <a:xfrm>
            <a:off x="6629400" y="401912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G</a:t>
            </a:r>
          </a:p>
        </p:txBody>
      </p:sp>
      <p:sp>
        <p:nvSpPr>
          <p:cNvPr id="39" name="Rectangle 38"/>
          <p:cNvSpPr/>
          <p:nvPr/>
        </p:nvSpPr>
        <p:spPr>
          <a:xfrm>
            <a:off x="6200775" y="4493717"/>
            <a:ext cx="5838825" cy="465469"/>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6200775" y="44937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81750" y="449371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2" name="TextBox 41"/>
          <p:cNvSpPr txBox="1"/>
          <p:nvPr/>
        </p:nvSpPr>
        <p:spPr>
          <a:xfrm>
            <a:off x="6629400" y="449371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Company H</a:t>
            </a:r>
          </a:p>
        </p:txBody>
      </p:sp>
      <p:sp>
        <p:nvSpPr>
          <p:cNvPr id="43" name="TextBox 42"/>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Product Format,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Hold Level,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Finish,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Distribution Channel,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Primary Styling Benefit,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Hair Type Targeted,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Mn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Hold Level,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Finish,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Primary Styling Benefit,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Hair Type Targeted,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Value by Ingredient Technology, US$ Mn, 2021–2036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Product Format,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Hold Level,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Finish,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Distribution Channel,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Share by Primary Styling Benefit, %, 2026 and 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Share by Hair Type Targeted, %, 2026 and 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Share by Ingredient Technology, %, 2026 and 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Product Format,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Hold Level,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Absolute $ Opportunity by Finish, US$ Mn,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Absolute $ Opportunity by Distribution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Absolute $ Opportunity by Primary Styling Benefit, US$ Mn,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Absolute $ Opportunity by Hair Type Targeted, US$ Mn,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Absolute $ Opportunity by Ingredient Technology, US$ Mn,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BPS Share Change by Product Format,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BPS Share Change by Hold Level,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BPS Share Change by Finish,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BPS Share Change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BPS Share Change by Primary Styling Benefit,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BPS Share Change by Hair Type Targeted,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BPS Share Change by Ingredient Technology,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YoY Growth by Product Format, %,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YoY Growth by Hold Level, %,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YoY Growth by Finish, %,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YoY Growth by Distribution Channel, %, 2026–2036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YoY Growth by Primary Styling Benefit, %, 2026–2036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YoY Growth by Hair Type Targeted, %, 2026–2036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YoY Growth by Ingredient Technology, %, 2026–2036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Attractiveness by Product Format, 2026–2036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Attractiveness by Hold Level, 2026–2036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Attractiveness by Finish, 2026–2036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Attractiveness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Attractiveness by Primary Styling Benefit, 2026–2036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Attractiveness by Hair Type Targeted, 2026–2036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Attractiveness by Ingredient Technology,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Global Market Volume by Product Format, Mn Units, 2021–2036</a:t>
                      </a:r>
                      <a:endParaRPr sz="1050"/>
                    </a:p>
                  </a:txBody>
                  <a:tcPr marL="9525" marR="9525" marT="9525" marB="0" anchor="ctr"/>
                </a:tc>
              </a:tr>
              <a:tr h="169606">
                <a:tc>
                  <a:txBody>
                    <a:bodyPr wrap="square"/>
                    <a:lstStyle/>
                    <a:p>
                      <a:pPr algn="l"/>
                      <a:r>
                        <a:rPr sz="1050" b="0" i="0">
                          <a:solidFill>
                            <a:srgbClr val="000000"/>
                          </a:solidFill>
                          <a:latin typeface="Calibri"/>
                        </a:rPr>
                        <a:t>Figure 64: Global Market Volume by Hold Level, Mn Units, 2021–2036</a:t>
                      </a:r>
                      <a:endParaRPr sz="1050"/>
                    </a:p>
                  </a:txBody>
                  <a:tcPr marL="9525" marR="9525" marT="9525" marB="0" anchor="ctr"/>
                </a:tc>
              </a:tr>
              <a:tr h="169606">
                <a:tc>
                  <a:txBody>
                    <a:bodyPr wrap="square"/>
                    <a:lstStyle/>
                    <a:p>
                      <a:pPr algn="l"/>
                      <a:r>
                        <a:rPr sz="1050" b="0" i="0">
                          <a:solidFill>
                            <a:srgbClr val="000000"/>
                          </a:solidFill>
                          <a:latin typeface="Calibri"/>
                        </a:rPr>
                        <a:t>Figure 65: Global Market Volume by Finish, Mn Units, 2021–2036</a:t>
                      </a:r>
                      <a:endParaRPr sz="1050"/>
                    </a:p>
                  </a:txBody>
                  <a:tcPr marL="9525" marR="9525" marT="9525" marB="0" anchor="ctr"/>
                </a:tc>
              </a:tr>
              <a:tr h="169606">
                <a:tc>
                  <a:txBody>
                    <a:bodyPr wrap="square"/>
                    <a:lstStyle/>
                    <a:p>
                      <a:pPr algn="l"/>
                      <a:r>
                        <a:rPr sz="1050" b="0" i="0">
                          <a:solidFill>
                            <a:srgbClr val="000000"/>
                          </a:solidFill>
                          <a:latin typeface="Calibri"/>
                        </a:rPr>
                        <a:t>Figure 66: Global Market Volume by Distribution Channel, Mn Units, 2021–2036</a:t>
                      </a:r>
                      <a:endParaRPr sz="1050"/>
                    </a:p>
                  </a:txBody>
                  <a:tcPr marL="9525" marR="9525" marT="9525" marB="0" anchor="ctr"/>
                </a:tc>
              </a:tr>
              <a:tr h="169606">
                <a:tc>
                  <a:txBody>
                    <a:bodyPr wrap="square"/>
                    <a:lstStyle/>
                    <a:p>
                      <a:pPr algn="l"/>
                      <a:r>
                        <a:rPr sz="1050" b="0" i="0">
                          <a:solidFill>
                            <a:srgbClr val="000000"/>
                          </a:solidFill>
                          <a:latin typeface="Calibri"/>
                        </a:rPr>
                        <a:t>Figure 67: Global Market Volume by Primary Styling Benefit, Mn Units, 2021–2036</a:t>
                      </a:r>
                      <a:endParaRPr sz="1050"/>
                    </a:p>
                  </a:txBody>
                  <a:tcPr marL="9525" marR="9525" marT="9525" marB="0" anchor="ctr"/>
                </a:tc>
              </a:tr>
              <a:tr h="169606">
                <a:tc>
                  <a:txBody>
                    <a:bodyPr wrap="square"/>
                    <a:lstStyle/>
                    <a:p>
                      <a:pPr algn="l"/>
                      <a:r>
                        <a:rPr sz="1050" b="0" i="0">
                          <a:solidFill>
                            <a:srgbClr val="000000"/>
                          </a:solidFill>
                          <a:latin typeface="Calibri"/>
                        </a:rPr>
                        <a:t>Figure 68: Global Market Volume by Hair Type Targeted, Mn Units, 2021–2036</a:t>
                      </a:r>
                      <a:endParaRPr sz="1050"/>
                    </a:p>
                  </a:txBody>
                  <a:tcPr marL="9525" marR="9525" marT="9525" marB="0" anchor="ctr"/>
                </a:tc>
              </a:tr>
              <a:tr h="169606">
                <a:tc>
                  <a:txBody>
                    <a:bodyPr wrap="square"/>
                    <a:lstStyle/>
                    <a:p>
                      <a:pPr algn="l"/>
                      <a:r>
                        <a:rPr sz="1050" b="0" i="0">
                          <a:solidFill>
                            <a:srgbClr val="000000"/>
                          </a:solidFill>
                          <a:latin typeface="Calibri"/>
                        </a:rPr>
                        <a:t>Figure 69: Product Format × Hold Level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Product Format × Finish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Product Format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Product Format × Primary Styling Benefit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Product Format × Hair Type Targeted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Product Format × Ingredient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Hold Level × Finish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Hold Level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Hold Level × Primary Styling Benefit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Hold Level × Hair Type Targeted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Hold Level × Ingredient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Finish × Distribution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Finish × Primary Styling Benefit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Finish × Hair Type Targeted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Finish × Ingredient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Distribution Channel × Primary Styling Benefit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Distribution Channel × Hair Type Targeted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86: Distribution Channel × Ingredient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87: Primary Styling Benefit × Hair Type Targeted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88: Primary Styling Benefit × Ingredient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89: Hair Type Targeted × Ingredient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90: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91: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92: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93: Global Market Absolute $ Opportunity by Region,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95: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96: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98: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99: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100: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101: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102: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104: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105: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106: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107: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108: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109: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110: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111: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112: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113: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115: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117: U.S.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120: U.S. Market Value by Hold Level,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U.S. Market Value by Finish,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U.S. Market Value by Primary Styling Benefit,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U.S. Market Value by Hair Type Targeted,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124: China Market Value and YoY Growth, US$ Mn and %,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China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China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127: China Market Share within East Asia, %, 2026 and 2036</a:t>
                      </a:r>
                      <a:endParaRPr sz="1050"/>
                    </a:p>
                  </a:txBody>
                  <a:tcPr marL="9525" marR="9525" marT="9525" marB="0" anchor="ctr"/>
                </a:tc>
              </a:tr>
              <a:tr h="169606">
                <a:tc>
                  <a:txBody>
                    <a:bodyPr wrap="square"/>
                    <a:lstStyle/>
                    <a:p>
                      <a:pPr algn="l"/>
                      <a:r>
                        <a:rPr sz="1050" b="0" i="0">
                          <a:solidFill>
                            <a:srgbClr val="000000"/>
                          </a:solidFill>
                          <a:latin typeface="Calibri"/>
                        </a:rPr>
                        <a:t>Figure 128: China Market Value by Hold Level,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China Market Value by Finish,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China Market Value by Primary Styling Benefit,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China Market Value by Hair Type Targeted,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132: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133: Japan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Japan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135: Japan Market Share within East Asia, %, 2026 and 2036</a:t>
                      </a:r>
                      <a:endParaRPr sz="1050"/>
                    </a:p>
                  </a:txBody>
                  <a:tcPr marL="9525" marR="9525" marT="9525" marB="0" anchor="ctr"/>
                </a:tc>
              </a:tr>
              <a:tr h="169606">
                <a:tc>
                  <a:txBody>
                    <a:bodyPr wrap="square"/>
                    <a:lstStyle/>
                    <a:p>
                      <a:pPr algn="l"/>
                      <a:r>
                        <a:rPr sz="1050" b="0" i="0">
                          <a:solidFill>
                            <a:srgbClr val="000000"/>
                          </a:solidFill>
                          <a:latin typeface="Calibri"/>
                        </a:rPr>
                        <a:t>Figure 136: Japan Market Value by Hold Level,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137: Japan Market Value by Finish,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138: Japan Market Value by Primary Styling Benefit,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139: Japan Market Value by Hair Type Targeted,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141: Brazil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Brazil Market Value by Distribution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143: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144: India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145: South Korea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146: South Korea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147: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148: Canada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149: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150: U.K. Market Value by Product Format,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Trend, US$/Units, 2021–2036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Region,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Product Format,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Average Selling Price by Hold Level,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Finish, US$/Units,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156: Global Market Average Selling Price by Distribution Channel,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157: Global Market Average Selling Price by Primary Styling Benefit,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158: Global Market Average Selling Price by Hair Type Targeted,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159: Global Market Average Selling Price by Ingredient Technology,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160: Global Market Value Chain Structure, 2026</a:t>
                      </a:r>
                      <a:endParaRPr sz="1050"/>
                    </a:p>
                  </a:txBody>
                  <a:tcPr marL="9525" marR="9525" marT="9525" marB="0" anchor="ctr"/>
                </a:tc>
              </a:tr>
              <a:tr h="169606">
                <a:tc>
                  <a:txBody>
                    <a:bodyPr wrap="square"/>
                    <a:lstStyle/>
                    <a:p>
                      <a:pPr algn="l"/>
                      <a:r>
                        <a:rPr sz="1050" b="0" i="0">
                          <a:solidFill>
                            <a:srgbClr val="000000"/>
                          </a:solidFill>
                          <a:latin typeface="Calibri"/>
                        </a:rPr>
                        <a:t>Figure 161: Global Market Margin Distribution across the Value Chain, %, 2026</a:t>
                      </a:r>
                      <a:endParaRPr sz="1050"/>
                    </a:p>
                  </a:txBody>
                  <a:tcPr marL="9525" marR="9525" marT="9525" marB="0" anchor="ctr"/>
                </a:tc>
              </a:tr>
              <a:tr h="169606">
                <a:tc>
                  <a:txBody>
                    <a:bodyPr wrap="square"/>
                    <a:lstStyle/>
                    <a:p>
                      <a:pPr algn="l"/>
                      <a:r>
                        <a:rPr sz="1050" b="0" i="0">
                          <a:solidFill>
                            <a:srgbClr val="000000"/>
                          </a:solidFill>
                          <a:latin typeface="Calibri"/>
                        </a:rPr>
                        <a:t>Figure 162: Global Market Cost Structure Breakdown, %, 2026</a:t>
                      </a:r>
                      <a:endParaRPr sz="1050"/>
                    </a:p>
                  </a:txBody>
                  <a:tcPr marL="9525" marR="9525" marT="9525" marB="0" anchor="ctr"/>
                </a:tc>
              </a:tr>
              <a:tr h="169606">
                <a:tc>
                  <a:txBody>
                    <a:bodyPr wrap="square"/>
                    <a:lstStyle/>
                    <a:p>
                      <a:pPr algn="l"/>
                      <a:r>
                        <a:rPr sz="1050" b="0" i="0">
                          <a:solidFill>
                            <a:srgbClr val="000000"/>
                          </a:solidFill>
                          <a:latin typeface="Calibri"/>
                        </a:rPr>
                        <a:t>Figure 163: Global Market Pricing Pressure Assessment by Product Format, 2026–2036</a:t>
                      </a:r>
                      <a:endParaRPr sz="1050"/>
                    </a:p>
                  </a:txBody>
                  <a:tcPr marL="9525" marR="9525" marT="9525" marB="0" anchor="ctr"/>
                </a:tc>
              </a:tr>
              <a:tr h="169606">
                <a:tc>
                  <a:txBody>
                    <a:bodyPr wrap="square"/>
                    <a:lstStyle/>
                    <a:p>
                      <a:pPr algn="l"/>
                      <a:r>
                        <a:rPr sz="1050" b="0" i="0">
                          <a:solidFill>
                            <a:srgbClr val="000000"/>
                          </a:solidFill>
                          <a:latin typeface="Calibri"/>
                        </a:rPr>
                        <a:t>Figure 164: Company Market Share in the Global Market, %, 2026</a:t>
                      </a:r>
                      <a:endParaRPr sz="1050"/>
                    </a:p>
                  </a:txBody>
                  <a:tcPr marL="9525" marR="9525" marT="9525" marB="0" anchor="ctr"/>
                </a:tc>
              </a:tr>
              <a:tr h="169606">
                <a:tc>
                  <a:txBody>
                    <a:bodyPr wrap="square"/>
                    <a:lstStyle/>
                    <a:p>
                      <a:pPr algn="l"/>
                      <a:r>
                        <a:rPr sz="1050" b="0" i="0">
                          <a:solidFill>
                            <a:srgbClr val="000000"/>
                          </a:solidFill>
                          <a:latin typeface="Calibri"/>
                        </a:rPr>
                        <a:t>Figure 165: Competitive Positioning of Leading Hair Styling Products Manufacturers, 2026</a:t>
                      </a:r>
                      <a:endParaRPr sz="1050"/>
                    </a:p>
                  </a:txBody>
                  <a:tcPr marL="9525" marR="9525" marT="9525" marB="0" anchor="ctr"/>
                </a:tc>
              </a:tr>
              <a:tr h="169606">
                <a:tc>
                  <a:txBody>
                    <a:bodyPr wrap="square"/>
                    <a:lstStyle/>
                    <a:p>
                      <a:pPr algn="l"/>
                      <a:r>
                        <a:rPr sz="1050" b="0" i="0">
                          <a:solidFill>
                            <a:srgbClr val="000000"/>
                          </a:solidFill>
                          <a:latin typeface="Calibri"/>
                        </a:rPr>
                        <a:t>Figure 166: Company Revenue from the Global Market, US$ Mn, 2026</a:t>
                      </a:r>
                      <a:endParaRPr sz="1050"/>
                    </a:p>
                  </a:txBody>
                  <a:tcPr marL="9525" marR="9525" marT="9525" marB="0" anchor="ctr"/>
                </a:tc>
              </a:tr>
              <a:tr h="169606">
                <a:tc>
                  <a:txBody>
                    <a:bodyPr wrap="square"/>
                    <a:lstStyle/>
                    <a:p>
                      <a:pPr algn="l"/>
                      <a:r>
                        <a:rPr sz="1050" b="0" i="0">
                          <a:solidFill>
                            <a:srgbClr val="000000"/>
                          </a:solidFill>
                          <a:latin typeface="Calibri"/>
                        </a:rPr>
                        <a:t>Figure 167: Global Market Concentration by Company Tier, %, 2026</a:t>
                      </a:r>
                      <a:endParaRPr sz="1050"/>
                    </a:p>
                  </a:txBody>
                  <a:tcPr marL="9525" marR="9525" marT="9525" marB="0" anchor="ctr"/>
                </a:tc>
              </a:tr>
              <a:tr h="169606">
                <a:tc>
                  <a:txBody>
                    <a:bodyPr wrap="square"/>
                    <a:lstStyle/>
                    <a:p>
                      <a:pPr algn="l"/>
                      <a:r>
                        <a:rPr sz="1050" b="0" i="0">
                          <a:solidFill>
                            <a:srgbClr val="000000"/>
                          </a:solidFill>
                          <a:latin typeface="Calibri"/>
                        </a:rPr>
                        <a:t>Figure 168: Global Market Competitive Intensity Assessment, 2026</a:t>
                      </a:r>
                      <a:endParaRPr sz="1050"/>
                    </a:p>
                  </a:txBody>
                  <a:tcPr marL="9525" marR="9525" marT="9525" marB="0" anchor="ctr"/>
                </a:tc>
              </a:tr>
              <a:tr h="169606">
                <a:tc>
                  <a:txBody>
                    <a:bodyPr wrap="square"/>
                    <a:lstStyle/>
                    <a:p>
                      <a:pPr algn="l"/>
                      <a:r>
                        <a:rPr sz="1050" b="0" i="0">
                          <a:solidFill>
                            <a:srgbClr val="000000"/>
                          </a:solidFill>
                          <a:latin typeface="Calibri"/>
                        </a:rPr>
                        <a:t>Figure 169: Company Market Share in the North America Market, %, 2026</a:t>
                      </a:r>
                      <a:endParaRPr sz="1050"/>
                    </a:p>
                  </a:txBody>
                  <a:tcPr marL="9525" marR="9525" marT="9525" marB="0" anchor="ctr"/>
                </a:tc>
              </a:tr>
              <a:tr h="169606">
                <a:tc>
                  <a:txBody>
                    <a:bodyPr wrap="square"/>
                    <a:lstStyle/>
                    <a:p>
                      <a:pPr algn="l"/>
                      <a:r>
                        <a:rPr sz="1050" b="0" i="0">
                          <a:solidFill>
                            <a:srgbClr val="000000"/>
                          </a:solidFill>
                          <a:latin typeface="Calibri"/>
                        </a:rPr>
                        <a:t>Figure 170: Company Market Share in the Latin America Market, %, 2026</a:t>
                      </a:r>
                      <a:endParaRPr sz="1050"/>
                    </a:p>
                  </a:txBody>
                  <a:tcPr marL="9525" marR="9525" marT="9525" marB="0" anchor="ctr"/>
                </a:tc>
              </a:tr>
              <a:tr h="169606">
                <a:tc>
                  <a:txBody>
                    <a:bodyPr wrap="square"/>
                    <a:lstStyle/>
                    <a:p>
                      <a:pPr algn="l"/>
                      <a:r>
                        <a:rPr sz="1050" b="0" i="0">
                          <a:solidFill>
                            <a:srgbClr val="000000"/>
                          </a:solidFill>
                          <a:latin typeface="Calibri"/>
                        </a:rPr>
                        <a:t>Figure 171: Company Market Share in the Europe Market, %, 2026</a:t>
                      </a:r>
                      <a:endParaRPr sz="1050"/>
                    </a:p>
                  </a:txBody>
                  <a:tcPr marL="9525" marR="9525" marT="9525" marB="0" anchor="ctr"/>
                </a:tc>
              </a:tr>
              <a:tr h="169606">
                <a:tc>
                  <a:txBody>
                    <a:bodyPr wrap="square"/>
                    <a:lstStyle/>
                    <a:p>
                      <a:pPr algn="l"/>
                      <a:r>
                        <a:rPr sz="1050" b="0" i="0">
                          <a:solidFill>
                            <a:srgbClr val="000000"/>
                          </a:solidFill>
                          <a:latin typeface="Calibri"/>
                        </a:rPr>
                        <a:t>Figure 172: Company Market Share in the East Asia Market, %, 2026</a:t>
                      </a:r>
                      <a:endParaRPr sz="1050"/>
                    </a:p>
                  </a:txBody>
                  <a:tcPr marL="9525" marR="9525" marT="9525" marB="0" anchor="ctr"/>
                </a:tc>
              </a:tr>
              <a:tr h="169606">
                <a:tc>
                  <a:txBody>
                    <a:bodyPr wrap="square"/>
                    <a:lstStyle/>
                    <a:p>
                      <a:pPr algn="l"/>
                      <a:r>
                        <a:rPr sz="1050" b="0" i="0">
                          <a:solidFill>
                            <a:srgbClr val="000000"/>
                          </a:solidFill>
                          <a:latin typeface="Calibri"/>
                        </a:rPr>
                        <a:t>Figure 173: Company Market Share in the South Asia &amp; Pacific Market, %, 2026</a:t>
                      </a:r>
                      <a:endParaRPr sz="1050"/>
                    </a:p>
                  </a:txBody>
                  <a:tcPr marL="9525" marR="9525" marT="9525" marB="0" anchor="ctr"/>
                </a:tc>
              </a:tr>
              <a:tr h="169606">
                <a:tc>
                  <a:txBody>
                    <a:bodyPr wrap="square"/>
                    <a:lstStyle/>
                    <a:p>
                      <a:pPr algn="l"/>
                      <a:r>
                        <a:rPr sz="1050" b="0" i="0">
                          <a:solidFill>
                            <a:srgbClr val="000000"/>
                          </a:solidFill>
                          <a:latin typeface="Calibri"/>
                        </a:rPr>
                        <a:t>Figure 174: Company Market Share in the Middle East &amp; Africa Market, %, 2026</a:t>
                      </a:r>
                      <a:endParaRPr sz="1050"/>
                    </a:p>
                  </a:txBody>
                  <a:tcPr marL="9525" marR="9525" marT="9525" marB="0" anchor="ctr"/>
                </a:tc>
              </a:tr>
              <a:tr h="169606">
                <a:tc>
                  <a:txBody>
                    <a:bodyPr wrap="square"/>
                    <a:lstStyle/>
                    <a:p>
                      <a:pPr algn="l"/>
                      <a:r>
                        <a:rPr sz="1050" b="0" i="0">
                          <a:solidFill>
                            <a:srgbClr val="000000"/>
                          </a:solidFill>
                          <a:latin typeface="Calibri"/>
                        </a:rPr>
                        <a:t>Figure 175: Company A: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176: Company B: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177: Company C: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178: Company D: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179: Company E: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180: Company F: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181: Company G: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182: Company H: Revenue from the Global Market and Share, US$ Mn and %, 2026</a:t>
                      </a:r>
                      <a:endParaRPr sz="1050"/>
                    </a:p>
                  </a:txBody>
                  <a:tcPr marL="9525" marR="9525" marT="9525" marB="0" anchor="ctr"/>
                </a:tc>
              </a:tr>
              <a:tr h="169606">
                <a:tc>
                  <a:txBody>
                    <a:bodyPr wrap="square"/>
                    <a:lstStyle/>
                    <a:p>
                      <a:pPr algn="l"/>
                      <a:r>
                        <a:rPr sz="1050" b="0" i="0">
                          <a:solidFill>
                            <a:srgbClr val="000000"/>
                          </a:solidFill>
                          <a:latin typeface="Calibri"/>
                        </a:rPr>
                        <a:t>Figure 183: Global Market Strategic Developments by Type, %, 2025–2026</a:t>
                      </a:r>
                      <a:endParaRPr sz="1050"/>
                    </a:p>
                  </a:txBody>
                  <a:tcPr marL="9525" marR="9525" marT="9525" marB="0" anchor="ctr"/>
                </a:tc>
              </a:tr>
              <a:tr h="169606">
                <a:tc>
                  <a:txBody>
                    <a:bodyPr wrap="square"/>
                    <a:lstStyle/>
                    <a:p>
                      <a:pPr algn="l"/>
                      <a:r>
                        <a:rPr sz="1050" b="0" i="0">
                          <a:solidFill>
                            <a:srgbClr val="000000"/>
                          </a:solidFill>
                          <a:latin typeface="Calibri"/>
                        </a:rPr>
                        <a:t>Figure 184: Global Market Company Footprint by Region, 2026</a:t>
                      </a:r>
                      <a:endParaRPr sz="1050"/>
                    </a:p>
                  </a:txBody>
                  <a:tcPr marL="9525" marR="9525" marT="9525" marB="0" anchor="ctr"/>
                </a:tc>
              </a:tr>
              <a:tr h="169606">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r h="169606">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33363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Product Format,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Emerging Opportunity Pockets by Product Format,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Product Format,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75260">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75260">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75260">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75260">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75260">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75260">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75260">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75260">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75260">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75260">
                <a:tc>
                  <a:txBody>
                    <a:bodyPr wrap="square"/>
                    <a:lstStyle/>
                    <a:p>
                      <a:pPr algn="l"/>
                      <a:r>
                        <a:rPr sz="1050" b="0" i="0">
                          <a:solidFill>
                            <a:srgbClr val="000000"/>
                          </a:solidFill>
                          <a:latin typeface="Calibri"/>
                        </a:rPr>
                        <a:t>Table 11: Global Market Volume and YoY Growth, Mn Units and %, 2021–2036</a:t>
                      </a:r>
                      <a:endParaRPr sz="1050"/>
                    </a:p>
                  </a:txBody>
                  <a:tcPr marL="9525" marR="9525" marT="9525" marB="0" anchor="ctr"/>
                </a:tc>
              </a:tr>
              <a:tr h="175260">
                <a:tc>
                  <a:txBody>
                    <a:bodyPr wrap="square"/>
                    <a:lstStyle/>
                    <a:p>
                      <a:pPr algn="l"/>
                      <a:r>
                        <a:rPr sz="1050" b="0" i="0">
                          <a:solidFill>
                            <a:srgbClr val="000000"/>
                          </a:solidFill>
                          <a:latin typeface="Calibri"/>
                        </a:rPr>
                        <a:t>Table 12: Global Market Volume Forecast, Mn Units, 2026–2036</a:t>
                      </a:r>
                      <a:endParaRPr sz="1050"/>
                    </a:p>
                  </a:txBody>
                  <a:tcPr marL="9525" marR="9525" marT="9525" marB="0" anchor="ctr"/>
                </a:tc>
              </a:tr>
              <a:tr h="175260">
                <a:tc>
                  <a:txBody>
                    <a:bodyPr wrap="square"/>
                    <a:lstStyle/>
                    <a:p>
                      <a:pPr algn="l"/>
                      <a:r>
                        <a:rPr sz="1050" b="0" i="0">
                          <a:solidFill>
                            <a:srgbClr val="000000"/>
                          </a:solidFill>
                          <a:latin typeface="Calibri"/>
                        </a:rPr>
                        <a:t>Table 13: Global Market Average Selling Price, US$/Units, 2021–2036</a:t>
                      </a:r>
                      <a:endParaRPr sz="1050"/>
                    </a:p>
                  </a:txBody>
                  <a:tcPr marL="9525" marR="9525" marT="9525" marB="0" anchor="ctr"/>
                </a:tc>
              </a:tr>
              <a:tr h="175260">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75260">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75260">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75260">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75260">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75260">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75260">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75260">
                <a:tc>
                  <a:txBody>
                    <a:bodyPr wrap="square"/>
                    <a:lstStyle/>
                    <a:p>
                      <a:pPr algn="l"/>
                      <a:r>
                        <a:rPr sz="1050" b="0" i="0">
                          <a:solidFill>
                            <a:srgbClr val="000000"/>
                          </a:solidFill>
                          <a:latin typeface="Calibri"/>
                        </a:rPr>
                        <a:t>Table 21: Global Market Value by Product Format, US$ Mn, 2021–2036</a:t>
                      </a:r>
                      <a:endParaRPr sz="1050"/>
                    </a:p>
                  </a:txBody>
                  <a:tcPr marL="9525" marR="9525" marT="9525" marB="0" anchor="ctr"/>
                </a:tc>
              </a:tr>
              <a:tr h="175260">
                <a:tc>
                  <a:txBody>
                    <a:bodyPr wrap="square"/>
                    <a:lstStyle/>
                    <a:p>
                      <a:pPr algn="l"/>
                      <a:r>
                        <a:rPr sz="1050" b="0" i="0">
                          <a:solidFill>
                            <a:srgbClr val="000000"/>
                          </a:solidFill>
                          <a:latin typeface="Calibri"/>
                        </a:rPr>
                        <a:t>Table 22: Global Market Value by Hold Level, US$ Mn, 2021–2036</a:t>
                      </a:r>
                      <a:endParaRPr sz="1050"/>
                    </a:p>
                  </a:txBody>
                  <a:tcPr marL="9525" marR="9525" marT="9525" marB="0" anchor="ctr"/>
                </a:tc>
              </a:tr>
              <a:tr h="175260">
                <a:tc>
                  <a:txBody>
                    <a:bodyPr wrap="square"/>
                    <a:lstStyle/>
                    <a:p>
                      <a:pPr algn="l"/>
                      <a:r>
                        <a:rPr sz="1050" b="0" i="0">
                          <a:solidFill>
                            <a:srgbClr val="000000"/>
                          </a:solidFill>
                          <a:latin typeface="Calibri"/>
                        </a:rPr>
                        <a:t>Table 23: Global Market Value by Finish, US$ Mn, 2021–2036</a:t>
                      </a:r>
                      <a:endParaRPr sz="1050"/>
                    </a:p>
                  </a:txBody>
                  <a:tcPr marL="9525" marR="9525" marT="9525" marB="0" anchor="ctr"/>
                </a:tc>
              </a:tr>
              <a:tr h="175260">
                <a:tc>
                  <a:txBody>
                    <a:bodyPr wrap="square"/>
                    <a:lstStyle/>
                    <a:p>
                      <a:pPr algn="l"/>
                      <a:r>
                        <a:rPr sz="1050" b="0" i="0">
                          <a:solidFill>
                            <a:srgbClr val="000000"/>
                          </a:solidFill>
                          <a:latin typeface="Calibri"/>
                        </a:rPr>
                        <a:t>Table 24: Global Market Value by Distribution Channel, US$ Mn, 2021–2036</a:t>
                      </a:r>
                      <a:endParaRPr sz="1050"/>
                    </a:p>
                  </a:txBody>
                  <a:tcPr marL="9525" marR="9525" marT="9525" marB="0" anchor="ctr"/>
                </a:tc>
              </a:tr>
              <a:tr h="175260">
                <a:tc>
                  <a:txBody>
                    <a:bodyPr wrap="square"/>
                    <a:lstStyle/>
                    <a:p>
                      <a:pPr algn="l"/>
                      <a:r>
                        <a:rPr sz="1050" b="0" i="0">
                          <a:solidFill>
                            <a:srgbClr val="000000"/>
                          </a:solidFill>
                          <a:latin typeface="Calibri"/>
                        </a:rPr>
                        <a:t>Table 25: Global Market Value by Primary Styling Benefit, US$ Mn, 2021–2036</a:t>
                      </a:r>
                      <a:endParaRPr sz="1050"/>
                    </a:p>
                  </a:txBody>
                  <a:tcPr marL="9525" marR="9525" marT="9525" marB="0" anchor="ctr"/>
                </a:tc>
              </a:tr>
              <a:tr h="175260">
                <a:tc>
                  <a:txBody>
                    <a:bodyPr wrap="square"/>
                    <a:lstStyle/>
                    <a:p>
                      <a:pPr algn="l"/>
                      <a:r>
                        <a:rPr sz="1050" b="0" i="0">
                          <a:solidFill>
                            <a:srgbClr val="000000"/>
                          </a:solidFill>
                          <a:latin typeface="Calibri"/>
                        </a:rPr>
                        <a:t>Table 26: Global Market Value by Hair Type Targeted, US$ Mn, 2021–2036</a:t>
                      </a:r>
                      <a:endParaRPr sz="1050"/>
                    </a:p>
                  </a:txBody>
                  <a:tcPr marL="9525" marR="9525" marT="9525" marB="0" anchor="ctr"/>
                </a:tc>
              </a:tr>
              <a:tr h="175260">
                <a:tc>
                  <a:txBody>
                    <a:bodyPr wrap="square"/>
                    <a:lstStyle/>
                    <a:p>
                      <a:pPr algn="l"/>
                      <a:r>
                        <a:rPr sz="1050" b="0" i="0">
                          <a:solidFill>
                            <a:srgbClr val="000000"/>
                          </a:solidFill>
                          <a:latin typeface="Calibri"/>
                        </a:rPr>
                        <a:t>Table 27: Global Market Value by Ingredient Technology, US$ Mn, 2021–2036</a:t>
                      </a:r>
                      <a:endParaRPr sz="1050"/>
                    </a:p>
                  </a:txBody>
                  <a:tcPr marL="9525" marR="9525" marT="9525" marB="0" anchor="ctr"/>
                </a:tc>
              </a:tr>
              <a:tr h="175260">
                <a:tc>
                  <a:txBody>
                    <a:bodyPr wrap="square"/>
                    <a:lstStyle/>
                    <a:p>
                      <a:pPr algn="l"/>
                      <a:r>
                        <a:rPr sz="1050" b="0" i="0">
                          <a:solidFill>
                            <a:srgbClr val="000000"/>
                          </a:solidFill>
                          <a:latin typeface="Calibri"/>
                        </a:rPr>
                        <a:t>Table 28: Global Market CAGR and Absolute $ Opportunity by Product Format, %, US$ Mn, 2026–2036</a:t>
                      </a:r>
                      <a:endParaRPr sz="1050"/>
                    </a:p>
                  </a:txBody>
                  <a:tcPr marL="9525" marR="9525" marT="9525" marB="0" anchor="ctr"/>
                </a:tc>
              </a:tr>
              <a:tr h="175260">
                <a:tc>
                  <a:txBody>
                    <a:bodyPr wrap="square"/>
                    <a:lstStyle/>
                    <a:p>
                      <a:pPr algn="l"/>
                      <a:r>
                        <a:rPr sz="1050" b="0" i="0">
                          <a:solidFill>
                            <a:srgbClr val="000000"/>
                          </a:solidFill>
                          <a:latin typeface="Calibri"/>
                        </a:rPr>
                        <a:t>Table 29: Global Market CAGR and Absolute $ Opportunity by Hold Level, %, US$ Mn, 2026–2036</a:t>
                      </a:r>
                      <a:endParaRPr sz="1050"/>
                    </a:p>
                  </a:txBody>
                  <a:tcPr marL="9525" marR="9525" marT="9525" marB="0" anchor="ctr"/>
                </a:tc>
              </a:tr>
              <a:tr h="175260">
                <a:tc>
                  <a:txBody>
                    <a:bodyPr wrap="square"/>
                    <a:lstStyle/>
                    <a:p>
                      <a:pPr algn="l"/>
                      <a:r>
                        <a:rPr sz="1050" b="0" i="0">
                          <a:solidFill>
                            <a:srgbClr val="000000"/>
                          </a:solidFill>
                          <a:latin typeface="Calibri"/>
                        </a:rPr>
                        <a:t>Table 30: Global Market CAGR and Absolute $ Opportunity by Finish,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0"/>
        </p:xfrm>
        <a:graphic>
          <a:graphicData uri="http://schemas.openxmlformats.org/drawingml/2006/table">
            <a:tbl>
              <a:tblPr>
                <a:tableStyleId>{3B4B98B0-60AC-42C2-AFA5-B58CD77FA1E5}</a:tableStyleId>
              </a:tblPr>
              <a:tblGrid>
                <a:gridCol w="5876925"/>
              </a:tblGrid>
              <a:tr h="334153">
                <a:tc>
                  <a:txBody>
                    <a:bodyPr wrap="square"/>
                    <a:lstStyle/>
                    <a:p>
                      <a:pPr algn="l"/>
                      <a:r>
                        <a:rPr sz="1050" b="0" i="0">
                          <a:solidFill>
                            <a:srgbClr val="000000"/>
                          </a:solidFill>
                          <a:latin typeface="Calibri"/>
                        </a:rPr>
                        <a:t>Table 31: Global Market CAGR and Absolute $ Opportunity by Distribution Channel, %, US$ Mn, 2026–2036</a:t>
                      </a:r>
                      <a:endParaRPr sz="1050"/>
                    </a:p>
                  </a:txBody>
                  <a:tcPr marL="9525" marR="9525" marT="9525" marB="0" anchor="ctr"/>
                </a:tc>
              </a:tr>
              <a:tr h="334153">
                <a:tc>
                  <a:txBody>
                    <a:bodyPr wrap="square"/>
                    <a:lstStyle/>
                    <a:p>
                      <a:pPr algn="l"/>
                      <a:r>
                        <a:rPr sz="1050" b="0" i="0">
                          <a:solidFill>
                            <a:srgbClr val="000000"/>
                          </a:solidFill>
                          <a:latin typeface="Calibri"/>
                        </a:rPr>
                        <a:t>Table 32: Global Market CAGR and Absolute $ Opportunity by Primary Styling Benefit, %, US$ Mn, 2026–2036</a:t>
                      </a:r>
                      <a:endParaRPr sz="1050"/>
                    </a:p>
                  </a:txBody>
                  <a:tcPr marL="9525" marR="9525" marT="9525" marB="0" anchor="ctr"/>
                </a:tc>
              </a:tr>
              <a:tr h="334153">
                <a:tc>
                  <a:txBody>
                    <a:bodyPr wrap="square"/>
                    <a:lstStyle/>
                    <a:p>
                      <a:pPr algn="l"/>
                      <a:r>
                        <a:rPr sz="1050" b="0" i="0">
                          <a:solidFill>
                            <a:srgbClr val="000000"/>
                          </a:solidFill>
                          <a:latin typeface="Calibri"/>
                        </a:rPr>
                        <a:t>Table 33: Global Market CAGR and Absolute $ Opportunity by Hair Type Targeted, %, US$ Mn, 2026–2036</a:t>
                      </a:r>
                      <a:endParaRPr sz="1050"/>
                    </a:p>
                  </a:txBody>
                  <a:tcPr marL="9525" marR="9525" marT="9525" marB="0" anchor="ctr"/>
                </a:tc>
              </a:tr>
              <a:tr h="334153">
                <a:tc>
                  <a:txBody>
                    <a:bodyPr wrap="square"/>
                    <a:lstStyle/>
                    <a:p>
                      <a:pPr algn="l"/>
                      <a:r>
                        <a:rPr sz="1050" b="0" i="0">
                          <a:solidFill>
                            <a:srgbClr val="000000"/>
                          </a:solidFill>
                          <a:latin typeface="Calibri"/>
                        </a:rPr>
                        <a:t>Table 34: Global Market CAGR and Absolute $ Opportunity by Ingredient Technology, %, US$ Mn, 2026–2036</a:t>
                      </a:r>
                      <a:endParaRPr sz="1050"/>
                    </a:p>
                  </a:txBody>
                  <a:tcPr marL="9525" marR="9525" marT="9525" marB="0" anchor="ctr"/>
                </a:tc>
              </a:tr>
              <a:tr h="170486">
                <a:tc>
                  <a:txBody>
                    <a:bodyPr wrap="square"/>
                    <a:lstStyle/>
                    <a:p>
                      <a:pPr algn="l"/>
                      <a:r>
                        <a:rPr sz="1050" b="0" i="0">
                          <a:solidFill>
                            <a:srgbClr val="000000"/>
                          </a:solidFill>
                          <a:latin typeface="Calibri"/>
                        </a:rPr>
                        <a:t>Table 35: Global Market Share and BPS Change by Product Format, %, 2025, 2026 and 2036</a:t>
                      </a:r>
                      <a:endParaRPr sz="1050"/>
                    </a:p>
                  </a:txBody>
                  <a:tcPr marL="9525" marR="9525" marT="9525" marB="0" anchor="ctr"/>
                </a:tc>
              </a:tr>
              <a:tr h="170486">
                <a:tc>
                  <a:txBody>
                    <a:bodyPr wrap="square"/>
                    <a:lstStyle/>
                    <a:p>
                      <a:pPr algn="l"/>
                      <a:r>
                        <a:rPr sz="1050" b="0" i="0">
                          <a:solidFill>
                            <a:srgbClr val="000000"/>
                          </a:solidFill>
                          <a:latin typeface="Calibri"/>
                        </a:rPr>
                        <a:t>Table 36: Global Market Share and BPS Change by Hold Level, %, 2025, 2026 and 2036</a:t>
                      </a:r>
                      <a:endParaRPr sz="1050"/>
                    </a:p>
                  </a:txBody>
                  <a:tcPr marL="9525" marR="9525" marT="9525" marB="0" anchor="ctr"/>
                </a:tc>
              </a:tr>
              <a:tr h="170486">
                <a:tc>
                  <a:txBody>
                    <a:bodyPr wrap="square"/>
                    <a:lstStyle/>
                    <a:p>
                      <a:pPr algn="l"/>
                      <a:r>
                        <a:rPr sz="1050" b="0" i="0">
                          <a:solidFill>
                            <a:srgbClr val="000000"/>
                          </a:solidFill>
                          <a:latin typeface="Calibri"/>
                        </a:rPr>
                        <a:t>Table 37: Global Market Share and BPS Change by Finish, %, 2025, 2026 and 2036</a:t>
                      </a:r>
                      <a:endParaRPr sz="1050"/>
                    </a:p>
                  </a:txBody>
                  <a:tcPr marL="9525" marR="9525" marT="9525" marB="0" anchor="ctr"/>
                </a:tc>
              </a:tr>
              <a:tr h="170486">
                <a:tc>
                  <a:txBody>
                    <a:bodyPr wrap="square"/>
                    <a:lstStyle/>
                    <a:p>
                      <a:pPr algn="l"/>
                      <a:r>
                        <a:rPr sz="1050" b="0" i="0">
                          <a:solidFill>
                            <a:srgbClr val="000000"/>
                          </a:solidFill>
                          <a:latin typeface="Calibri"/>
                        </a:rPr>
                        <a:t>Table 38: Global Market Share and BPS Change by Distribution Channel, %, 2025, 2026 and 2036</a:t>
                      </a:r>
                      <a:endParaRPr sz="1050"/>
                    </a:p>
                  </a:txBody>
                  <a:tcPr marL="9525" marR="9525" marT="9525" marB="0" anchor="ctr"/>
                </a:tc>
              </a:tr>
              <a:tr h="170486">
                <a:tc>
                  <a:txBody>
                    <a:bodyPr wrap="square"/>
                    <a:lstStyle/>
                    <a:p>
                      <a:pPr algn="l"/>
                      <a:r>
                        <a:rPr sz="1050" b="0" i="0">
                          <a:solidFill>
                            <a:srgbClr val="000000"/>
                          </a:solidFill>
                          <a:latin typeface="Calibri"/>
                        </a:rPr>
                        <a:t>Table 39: Global Market Share and BPS Change by Primary Styling Benefit, %, 2025, 2026 and 2036</a:t>
                      </a:r>
                      <a:endParaRPr sz="1050"/>
                    </a:p>
                  </a:txBody>
                  <a:tcPr marL="9525" marR="9525" marT="9525" marB="0" anchor="ctr"/>
                </a:tc>
              </a:tr>
              <a:tr h="170486">
                <a:tc>
                  <a:txBody>
                    <a:bodyPr wrap="square"/>
                    <a:lstStyle/>
                    <a:p>
                      <a:pPr algn="l"/>
                      <a:r>
                        <a:rPr sz="1050" b="0" i="0">
                          <a:solidFill>
                            <a:srgbClr val="000000"/>
                          </a:solidFill>
                          <a:latin typeface="Calibri"/>
                        </a:rPr>
                        <a:t>Table 40: Global Market Share and BPS Change by Hair Type Targeted, %, 2025, 2026 and 2036</a:t>
                      </a:r>
                      <a:endParaRPr sz="1050"/>
                    </a:p>
                  </a:txBody>
                  <a:tcPr marL="9525" marR="9525" marT="9525" marB="0" anchor="ctr"/>
                </a:tc>
              </a:tr>
              <a:tr h="170486">
                <a:tc>
                  <a:txBody>
                    <a:bodyPr wrap="square"/>
                    <a:lstStyle/>
                    <a:p>
                      <a:pPr algn="l"/>
                      <a:r>
                        <a:rPr sz="1050" b="0" i="0">
                          <a:solidFill>
                            <a:srgbClr val="000000"/>
                          </a:solidFill>
                          <a:latin typeface="Calibri"/>
                        </a:rPr>
                        <a:t>Table 41: Global Market Share and BPS Change by Ingredient Technology, %, 2025, 2026 and 2036</a:t>
                      </a:r>
                      <a:endParaRPr sz="1050"/>
                    </a:p>
                  </a:txBody>
                  <a:tcPr marL="9525" marR="9525" marT="9525" marB="0" anchor="ctr"/>
                </a:tc>
              </a:tr>
              <a:tr h="170486">
                <a:tc>
                  <a:txBody>
                    <a:bodyPr wrap="square"/>
                    <a:lstStyle/>
                    <a:p>
                      <a:pPr algn="l"/>
                      <a:r>
                        <a:rPr sz="1050" b="0" i="0">
                          <a:solidFill>
                            <a:srgbClr val="000000"/>
                          </a:solidFill>
                          <a:latin typeface="Calibri"/>
                        </a:rPr>
                        <a:t>Table 42: Global Market YoY Growth by Product Format, %, 2026–2036</a:t>
                      </a:r>
                      <a:endParaRPr sz="1050"/>
                    </a:p>
                  </a:txBody>
                  <a:tcPr marL="9525" marR="9525" marT="9525" marB="0" anchor="ctr"/>
                </a:tc>
              </a:tr>
              <a:tr h="170486">
                <a:tc>
                  <a:txBody>
                    <a:bodyPr wrap="square"/>
                    <a:lstStyle/>
                    <a:p>
                      <a:pPr algn="l"/>
                      <a:r>
                        <a:rPr sz="1050" b="0" i="0">
                          <a:solidFill>
                            <a:srgbClr val="000000"/>
                          </a:solidFill>
                          <a:latin typeface="Calibri"/>
                        </a:rPr>
                        <a:t>Table 43: Global Market YoY Growth by Hold Level, %, 2026–2036</a:t>
                      </a:r>
                      <a:endParaRPr sz="1050"/>
                    </a:p>
                  </a:txBody>
                  <a:tcPr marL="9525" marR="9525" marT="9525" marB="0" anchor="ctr"/>
                </a:tc>
              </a:tr>
              <a:tr h="170486">
                <a:tc>
                  <a:txBody>
                    <a:bodyPr wrap="square"/>
                    <a:lstStyle/>
                    <a:p>
                      <a:pPr algn="l"/>
                      <a:r>
                        <a:rPr sz="1050" b="0" i="0">
                          <a:solidFill>
                            <a:srgbClr val="000000"/>
                          </a:solidFill>
                          <a:latin typeface="Calibri"/>
                        </a:rPr>
                        <a:t>Table 44: Global Market YoY Growth by Finish, %, 2026–2036</a:t>
                      </a:r>
                      <a:endParaRPr sz="1050"/>
                    </a:p>
                  </a:txBody>
                  <a:tcPr marL="9525" marR="9525" marT="9525" marB="0" anchor="ctr"/>
                </a:tc>
              </a:tr>
              <a:tr h="170486">
                <a:tc>
                  <a:txBody>
                    <a:bodyPr wrap="square"/>
                    <a:lstStyle/>
                    <a:p>
                      <a:pPr algn="l"/>
                      <a:r>
                        <a:rPr sz="1050" b="0" i="0">
                          <a:solidFill>
                            <a:srgbClr val="000000"/>
                          </a:solidFill>
                          <a:latin typeface="Calibri"/>
                        </a:rPr>
                        <a:t>Table 45: Global Market YoY Growth by Distribution Channel, %, 2026–2036</a:t>
                      </a:r>
                      <a:endParaRPr sz="1050"/>
                    </a:p>
                  </a:txBody>
                  <a:tcPr marL="9525" marR="9525" marT="9525" marB="0" anchor="ctr"/>
                </a:tc>
              </a:tr>
              <a:tr h="170486">
                <a:tc>
                  <a:txBody>
                    <a:bodyPr wrap="square"/>
                    <a:lstStyle/>
                    <a:p>
                      <a:pPr algn="l"/>
                      <a:r>
                        <a:rPr sz="1050" b="0" i="0">
                          <a:solidFill>
                            <a:srgbClr val="000000"/>
                          </a:solidFill>
                          <a:latin typeface="Calibri"/>
                        </a:rPr>
                        <a:t>Table 46: Global Market YoY Growth by Primary Styling Benefit, %, 2026–2036</a:t>
                      </a:r>
                      <a:endParaRPr sz="1050"/>
                    </a:p>
                  </a:txBody>
                  <a:tcPr marL="9525" marR="9525" marT="9525" marB="0" anchor="ctr"/>
                </a:tc>
              </a:tr>
              <a:tr h="170486">
                <a:tc>
                  <a:txBody>
                    <a:bodyPr wrap="square"/>
                    <a:lstStyle/>
                    <a:p>
                      <a:pPr algn="l"/>
                      <a:r>
                        <a:rPr sz="1050" b="0" i="0">
                          <a:solidFill>
                            <a:srgbClr val="000000"/>
                          </a:solidFill>
                          <a:latin typeface="Calibri"/>
                        </a:rPr>
                        <a:t>Table 47: Global Market YoY Growth by Hair Type Targeted, %, 2026–2036</a:t>
                      </a:r>
                      <a:endParaRPr sz="1050"/>
                    </a:p>
                  </a:txBody>
                  <a:tcPr marL="9525" marR="9525" marT="9525" marB="0" anchor="ctr"/>
                </a:tc>
              </a:tr>
              <a:tr h="170486">
                <a:tc>
                  <a:txBody>
                    <a:bodyPr wrap="square"/>
                    <a:lstStyle/>
                    <a:p>
                      <a:pPr algn="l"/>
                      <a:r>
                        <a:rPr sz="1050" b="0" i="0">
                          <a:solidFill>
                            <a:srgbClr val="000000"/>
                          </a:solidFill>
                          <a:latin typeface="Calibri"/>
                        </a:rPr>
                        <a:t>Table 48: Global Market YoY Growth by Ingredient Technology, %, 2026–2036</a:t>
                      </a:r>
                      <a:endParaRPr sz="1050"/>
                    </a:p>
                  </a:txBody>
                  <a:tcPr marL="9525" marR="9525" marT="9525" marB="0" anchor="ctr"/>
                </a:tc>
              </a:tr>
              <a:tr h="170486">
                <a:tc>
                  <a:txBody>
                    <a:bodyPr wrap="square"/>
                    <a:lstStyle/>
                    <a:p>
                      <a:pPr algn="l"/>
                      <a:r>
                        <a:rPr sz="1050" b="0" i="0">
                          <a:solidFill>
                            <a:srgbClr val="000000"/>
                          </a:solidFill>
                          <a:latin typeface="Calibri"/>
                        </a:rPr>
                        <a:t>Table 49: Global Market Volume by Product Format, Mn Units, 2021–2036</a:t>
                      </a:r>
                      <a:endParaRPr sz="1050"/>
                    </a:p>
                  </a:txBody>
                  <a:tcPr marL="9525" marR="9525" marT="9525" marB="0" anchor="ctr"/>
                </a:tc>
              </a:tr>
              <a:tr h="170486">
                <a:tc>
                  <a:txBody>
                    <a:bodyPr wrap="square"/>
                    <a:lstStyle/>
                    <a:p>
                      <a:pPr algn="l"/>
                      <a:r>
                        <a:rPr sz="1050" b="0" i="0">
                          <a:solidFill>
                            <a:srgbClr val="000000"/>
                          </a:solidFill>
                          <a:latin typeface="Calibri"/>
                        </a:rPr>
                        <a:t>Table 50: Global Market Volume by Hold Level, Mn Units, 2021–2036</a:t>
                      </a:r>
                      <a:endParaRPr sz="1050"/>
                    </a:p>
                  </a:txBody>
                  <a:tcPr marL="9525" marR="9525" marT="9525" marB="0" anchor="ctr"/>
                </a:tc>
              </a:tr>
              <a:tr h="170486">
                <a:tc>
                  <a:txBody>
                    <a:bodyPr wrap="square"/>
                    <a:lstStyle/>
                    <a:p>
                      <a:pPr algn="l"/>
                      <a:r>
                        <a:rPr sz="1050" b="0" i="0">
                          <a:solidFill>
                            <a:srgbClr val="000000"/>
                          </a:solidFill>
                          <a:latin typeface="Calibri"/>
                        </a:rPr>
                        <a:t>Table 51: Global Market Volume by Finish, Mn Units, 2021–2036</a:t>
                      </a:r>
                      <a:endParaRPr sz="1050"/>
                    </a:p>
                  </a:txBody>
                  <a:tcPr marL="9525" marR="9525" marT="9525" marB="0" anchor="ctr"/>
                </a:tc>
              </a:tr>
              <a:tr h="170486">
                <a:tc>
                  <a:txBody>
                    <a:bodyPr wrap="square"/>
                    <a:lstStyle/>
                    <a:p>
                      <a:pPr algn="l"/>
                      <a:r>
                        <a:rPr sz="1050" b="0" i="0">
                          <a:solidFill>
                            <a:srgbClr val="000000"/>
                          </a:solidFill>
                          <a:latin typeface="Calibri"/>
                        </a:rPr>
                        <a:t>Table 52: Global Market Volume by Distribution Channel, Mn Units, 2021–2036</a:t>
                      </a:r>
                      <a:endParaRPr sz="1050"/>
                    </a:p>
                  </a:txBody>
                  <a:tcPr marL="9525" marR="9525" marT="9525" marB="0" anchor="ctr"/>
                </a:tc>
              </a:tr>
              <a:tr h="170486">
                <a:tc>
                  <a:txBody>
                    <a:bodyPr wrap="square"/>
                    <a:lstStyle/>
                    <a:p>
                      <a:pPr algn="l"/>
                      <a:r>
                        <a:rPr sz="1050" b="0" i="0">
                          <a:solidFill>
                            <a:srgbClr val="000000"/>
                          </a:solidFill>
                          <a:latin typeface="Calibri"/>
                        </a:rPr>
                        <a:t>Table 53: Global Market Volume by Primary Styling Benefit, Mn Units, 2021–2036</a:t>
                      </a:r>
                      <a:endParaRPr sz="1050"/>
                    </a:p>
                  </a:txBody>
                  <a:tcPr marL="9525" marR="9525" marT="9525" marB="0" anchor="ctr"/>
                </a:tc>
              </a:tr>
              <a:tr h="170486">
                <a:tc>
                  <a:txBody>
                    <a:bodyPr wrap="square"/>
                    <a:lstStyle/>
                    <a:p>
                      <a:pPr algn="l"/>
                      <a:r>
                        <a:rPr sz="1050" b="0" i="0">
                          <a:solidFill>
                            <a:srgbClr val="000000"/>
                          </a:solidFill>
                          <a:latin typeface="Calibri"/>
                        </a:rPr>
                        <a:t>Table 54: Global Market Volume by Hair Type Targeted, Mn Units, 2021–2036</a:t>
                      </a:r>
                      <a:endParaRPr sz="1050"/>
                    </a:p>
                  </a:txBody>
                  <a:tcPr marL="9525" marR="9525" marT="9525" marB="0" anchor="ctr"/>
                </a:tc>
              </a:tr>
              <a:tr h="170486">
                <a:tc>
                  <a:txBody>
                    <a:bodyPr wrap="square"/>
                    <a:lstStyle/>
                    <a:p>
                      <a:pPr algn="l"/>
                      <a:r>
                        <a:rPr sz="1050" b="0" i="0">
                          <a:solidFill>
                            <a:srgbClr val="000000"/>
                          </a:solidFill>
                          <a:latin typeface="Calibri"/>
                        </a:rPr>
                        <a:t>Table 55: Global Market Volume by Ingredient Technology, Mn Units, 2021–2036</a:t>
                      </a:r>
                      <a:endParaRPr sz="1050"/>
                    </a:p>
                  </a:txBody>
                  <a:tcPr marL="9525" marR="9525" marT="9525" marB="0" anchor="ctr"/>
                </a:tc>
              </a:tr>
              <a:tr h="170486">
                <a:tc>
                  <a:txBody>
                    <a:bodyPr wrap="square"/>
                    <a:lstStyle/>
                    <a:p>
                      <a:pPr algn="l"/>
                      <a:r>
                        <a:rPr sz="1050" b="0" i="0">
                          <a:solidFill>
                            <a:srgbClr val="000000"/>
                          </a:solidFill>
                          <a:latin typeface="Calibri"/>
                        </a:rPr>
                        <a:t>Table 56: Global Market Average Selling Price by Product Format, US$/Units, 2021–2036</a:t>
                      </a:r>
                      <a:endParaRPr sz="1050"/>
                    </a:p>
                  </a:txBody>
                  <a:tcPr marL="9525" marR="9525" marT="9525" marB="0" anchor="ctr"/>
                </a:tc>
              </a:tr>
              <a:tr h="170486">
                <a:tc>
                  <a:txBody>
                    <a:bodyPr wrap="square"/>
                    <a:lstStyle/>
                    <a:p>
                      <a:pPr algn="l"/>
                      <a:r>
                        <a:rPr sz="1050" b="0" i="0">
                          <a:solidFill>
                            <a:srgbClr val="000000"/>
                          </a:solidFill>
                          <a:latin typeface="Calibri"/>
                        </a:rPr>
                        <a:t>Table 57: Global Market Average Selling Price by Hold Level, US$/Units,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58: Global Market Average Selling Price by Finish, US$/Units, 2021–2036</a:t>
                      </a:r>
                      <a:endParaRPr sz="1050"/>
                    </a:p>
                  </a:txBody>
                  <a:tcPr marL="9525" marR="9525" marT="9525" marB="0" anchor="ctr"/>
                </a:tc>
              </a:tr>
              <a:tr h="169606">
                <a:tc>
                  <a:txBody>
                    <a:bodyPr wrap="square"/>
                    <a:lstStyle/>
                    <a:p>
                      <a:pPr algn="l"/>
                      <a:r>
                        <a:rPr sz="1050" b="0" i="0">
                          <a:solidFill>
                            <a:srgbClr val="000000"/>
                          </a:solidFill>
                          <a:latin typeface="Calibri"/>
                        </a:rPr>
                        <a:t>Table 59: Global Market Average Selling Price by Distribution Channel, US$/Units, 2021–2036</a:t>
                      </a:r>
                      <a:endParaRPr sz="1050"/>
                    </a:p>
                  </a:txBody>
                  <a:tcPr marL="9525" marR="9525" marT="9525" marB="0" anchor="ctr"/>
                </a:tc>
              </a:tr>
              <a:tr h="169606">
                <a:tc>
                  <a:txBody>
                    <a:bodyPr wrap="square"/>
                    <a:lstStyle/>
                    <a:p>
                      <a:pPr algn="l"/>
                      <a:r>
                        <a:rPr sz="1050" b="0" i="0">
                          <a:solidFill>
                            <a:srgbClr val="000000"/>
                          </a:solidFill>
                          <a:latin typeface="Calibri"/>
                        </a:rPr>
                        <a:t>Table 60: Global Market Average Selling Price by Primary Styling Benefit, US$/Units, 2021–2036</a:t>
                      </a:r>
                      <a:endParaRPr sz="1050"/>
                    </a:p>
                  </a:txBody>
                  <a:tcPr marL="9525" marR="9525" marT="9525" marB="0" anchor="ctr"/>
                </a:tc>
              </a:tr>
              <a:tr h="169606">
                <a:tc>
                  <a:txBody>
                    <a:bodyPr wrap="square"/>
                    <a:lstStyle/>
                    <a:p>
                      <a:pPr algn="l"/>
                      <a:r>
                        <a:rPr sz="1050" b="0" i="0">
                          <a:solidFill>
                            <a:srgbClr val="000000"/>
                          </a:solidFill>
                          <a:latin typeface="Calibri"/>
                        </a:rPr>
                        <a:t>Table 61: Global Market Average Selling Price by Hair Type Targeted, US$/Units, 2021–2036</a:t>
                      </a:r>
                      <a:endParaRPr sz="1050"/>
                    </a:p>
                  </a:txBody>
                  <a:tcPr marL="9525" marR="9525" marT="9525" marB="0" anchor="ctr"/>
                </a:tc>
              </a:tr>
              <a:tr h="169606">
                <a:tc>
                  <a:txBody>
                    <a:bodyPr wrap="square"/>
                    <a:lstStyle/>
                    <a:p>
                      <a:pPr algn="l"/>
                      <a:r>
                        <a:rPr sz="1050" b="0" i="0">
                          <a:solidFill>
                            <a:srgbClr val="000000"/>
                          </a:solidFill>
                          <a:latin typeface="Calibri"/>
                        </a:rPr>
                        <a:t>Table 62: Global Market Average Selling Price by Ingredient Technology, US$/Units, 2021–2036</a:t>
                      </a:r>
                      <a:endParaRPr sz="1050"/>
                    </a:p>
                  </a:txBody>
                  <a:tcPr marL="9525" marR="9525" marT="9525" marB="0" anchor="ctr"/>
                </a:tc>
              </a:tr>
              <a:tr h="169606">
                <a:tc>
                  <a:txBody>
                    <a:bodyPr wrap="square"/>
                    <a:lstStyle/>
                    <a:p>
                      <a:pPr algn="l"/>
                      <a:r>
                        <a:rPr sz="1050" b="0" i="0">
                          <a:solidFill>
                            <a:srgbClr val="000000"/>
                          </a:solidFill>
                          <a:latin typeface="Calibri"/>
                        </a:rPr>
                        <a:t>Table 63: Global Market Attractiveness Index by Product Format, 2026–2036</a:t>
                      </a:r>
                      <a:endParaRPr sz="1050"/>
                    </a:p>
                  </a:txBody>
                  <a:tcPr marL="9525" marR="9525" marT="9525" marB="0" anchor="ctr"/>
                </a:tc>
              </a:tr>
              <a:tr h="169606">
                <a:tc>
                  <a:txBody>
                    <a:bodyPr wrap="square"/>
                    <a:lstStyle/>
                    <a:p>
                      <a:pPr algn="l"/>
                      <a:r>
                        <a:rPr sz="1050" b="0" i="0">
                          <a:solidFill>
                            <a:srgbClr val="000000"/>
                          </a:solidFill>
                          <a:latin typeface="Calibri"/>
                        </a:rPr>
                        <a:t>Table 64: Global Market Attractiveness Index by Hold Level, 2026–2036</a:t>
                      </a:r>
                      <a:endParaRPr sz="1050"/>
                    </a:p>
                  </a:txBody>
                  <a:tcPr marL="9525" marR="9525" marT="9525" marB="0" anchor="ctr"/>
                </a:tc>
              </a:tr>
              <a:tr h="169606">
                <a:tc>
                  <a:txBody>
                    <a:bodyPr wrap="square"/>
                    <a:lstStyle/>
                    <a:p>
                      <a:pPr algn="l"/>
                      <a:r>
                        <a:rPr sz="1050" b="0" i="0">
                          <a:solidFill>
                            <a:srgbClr val="000000"/>
                          </a:solidFill>
                          <a:latin typeface="Calibri"/>
                        </a:rPr>
                        <a:t>Table 65: Global Market Attractiveness Index by Finish, 2026–2036</a:t>
                      </a:r>
                      <a:endParaRPr sz="1050"/>
                    </a:p>
                  </a:txBody>
                  <a:tcPr marL="9525" marR="9525" marT="9525" marB="0" anchor="ctr"/>
                </a:tc>
              </a:tr>
              <a:tr h="169606">
                <a:tc>
                  <a:txBody>
                    <a:bodyPr wrap="square"/>
                    <a:lstStyle/>
                    <a:p>
                      <a:pPr algn="l"/>
                      <a:r>
                        <a:rPr sz="1050" b="0" i="0">
                          <a:solidFill>
                            <a:srgbClr val="000000"/>
                          </a:solidFill>
                          <a:latin typeface="Calibri"/>
                        </a:rPr>
                        <a:t>Table 66: Global Market Attractiveness Index by Distribution Channel, 2026–2036</a:t>
                      </a:r>
                      <a:endParaRPr sz="1050"/>
                    </a:p>
                  </a:txBody>
                  <a:tcPr marL="9525" marR="9525" marT="9525" marB="0" anchor="ctr"/>
                </a:tc>
              </a:tr>
              <a:tr h="169606">
                <a:tc>
                  <a:txBody>
                    <a:bodyPr wrap="square"/>
                    <a:lstStyle/>
                    <a:p>
                      <a:pPr algn="l"/>
                      <a:r>
                        <a:rPr sz="1050" b="0" i="0">
                          <a:solidFill>
                            <a:srgbClr val="000000"/>
                          </a:solidFill>
                          <a:latin typeface="Calibri"/>
                        </a:rPr>
                        <a:t>Table 67: Global Market Attractiveness Index by Primary Styling Benefit, 2026–2036</a:t>
                      </a:r>
                      <a:endParaRPr sz="1050"/>
                    </a:p>
                  </a:txBody>
                  <a:tcPr marL="9525" marR="9525" marT="9525" marB="0" anchor="ctr"/>
                </a:tc>
              </a:tr>
              <a:tr h="169606">
                <a:tc>
                  <a:txBody>
                    <a:bodyPr wrap="square"/>
                    <a:lstStyle/>
                    <a:p>
                      <a:pPr algn="l"/>
                      <a:r>
                        <a:rPr sz="1050" b="0" i="0">
                          <a:solidFill>
                            <a:srgbClr val="000000"/>
                          </a:solidFill>
                          <a:latin typeface="Calibri"/>
                        </a:rPr>
                        <a:t>Table 68: Global Market Attractiveness Index by Hair Type Targeted, 2026–2036</a:t>
                      </a:r>
                      <a:endParaRPr sz="1050"/>
                    </a:p>
                  </a:txBody>
                  <a:tcPr marL="9525" marR="9525" marT="9525" marB="0" anchor="ctr"/>
                </a:tc>
              </a:tr>
              <a:tr h="169606">
                <a:tc>
                  <a:txBody>
                    <a:bodyPr wrap="square"/>
                    <a:lstStyle/>
                    <a:p>
                      <a:pPr algn="l"/>
                      <a:r>
                        <a:rPr sz="1050" b="0" i="0">
                          <a:solidFill>
                            <a:srgbClr val="000000"/>
                          </a:solidFill>
                          <a:latin typeface="Calibri"/>
                        </a:rPr>
                        <a:t>Table 69: Global Market Attractiveness Index by Ingredient Technology, 2026–2036</a:t>
                      </a:r>
                      <a:endParaRPr sz="1050"/>
                    </a:p>
                  </a:txBody>
                  <a:tcPr marL="9525" marR="9525" marT="9525" marB="0" anchor="ctr"/>
                </a:tc>
              </a:tr>
              <a:tr h="169606">
                <a:tc>
                  <a:txBody>
                    <a:bodyPr wrap="square"/>
                    <a:lstStyle/>
                    <a:p>
                      <a:pPr algn="l"/>
                      <a:r>
                        <a:rPr sz="1050" b="0" i="0">
                          <a:solidFill>
                            <a:srgbClr val="000000"/>
                          </a:solidFill>
                          <a:latin typeface="Calibri"/>
                        </a:rPr>
                        <a:t>Table 70: Global Market Value of Sprays and Mists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71: Global Market Value of No Hold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72: Global Market Value of Matte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73: Global Market Value of Mass Retail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74: Global Market Value of Hold and Shape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75: Global Market Value of Straight Hair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76: Global Market Value of Film-forming and Fixative Polymers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77: Global Market Value of Mousses and Foams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78: Global Market Value of Light or Flexible Hold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79: Global Market Value of Natural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80: Global Market Value of Beauty Specialty Retail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81: Global Market Value by Product Format and Hold Level, US$ Mn, 2026–2036</a:t>
                      </a:r>
                      <a:endParaRPr sz="1050"/>
                    </a:p>
                  </a:txBody>
                  <a:tcPr marL="9525" marR="9525" marT="9525" marB="0" anchor="ctr"/>
                </a:tc>
              </a:tr>
              <a:tr h="169606">
                <a:tc>
                  <a:txBody>
                    <a:bodyPr wrap="square"/>
                    <a:lstStyle/>
                    <a:p>
                      <a:pPr algn="l"/>
                      <a:r>
                        <a:rPr sz="1050" b="0" i="0">
                          <a:solidFill>
                            <a:srgbClr val="000000"/>
                          </a:solidFill>
                          <a:latin typeface="Calibri"/>
                        </a:rPr>
                        <a:t>Table 82: Global Market Value by Product Format and Finish, US$ Mn, 2026–2036</a:t>
                      </a:r>
                      <a:endParaRPr sz="1050"/>
                    </a:p>
                  </a:txBody>
                  <a:tcPr marL="9525" marR="9525" marT="9525" marB="0" anchor="ctr"/>
                </a:tc>
              </a:tr>
              <a:tr h="169606">
                <a:tc>
                  <a:txBody>
                    <a:bodyPr wrap="square"/>
                    <a:lstStyle/>
                    <a:p>
                      <a:pPr algn="l"/>
                      <a:r>
                        <a:rPr sz="1050" b="0" i="0">
                          <a:solidFill>
                            <a:srgbClr val="000000"/>
                          </a:solidFill>
                          <a:latin typeface="Calibri"/>
                        </a:rPr>
                        <a:t>Table 83: Global Market Value by Product Format and Distribution Channel, US$ Mn, 2026–2036</a:t>
                      </a:r>
                      <a:endParaRPr sz="1050"/>
                    </a:p>
                  </a:txBody>
                  <a:tcPr marL="9525" marR="9525" marT="9525" marB="0" anchor="ctr"/>
                </a:tc>
              </a:tr>
              <a:tr h="169606">
                <a:tc>
                  <a:txBody>
                    <a:bodyPr wrap="square"/>
                    <a:lstStyle/>
                    <a:p>
                      <a:pPr algn="l"/>
                      <a:r>
                        <a:rPr sz="1050" b="0" i="0">
                          <a:solidFill>
                            <a:srgbClr val="000000"/>
                          </a:solidFill>
                          <a:latin typeface="Calibri"/>
                        </a:rPr>
                        <a:t>Table 84: Global Market Value by Product Format and Primary Styling Benefit, US$ Mn, 2026–2036</a:t>
                      </a:r>
                      <a:endParaRPr sz="1050"/>
                    </a:p>
                  </a:txBody>
                  <a:tcPr marL="9525" marR="9525" marT="9525" marB="0" anchor="ctr"/>
                </a:tc>
              </a:tr>
              <a:tr h="169606">
                <a:tc>
                  <a:txBody>
                    <a:bodyPr wrap="square"/>
                    <a:lstStyle/>
                    <a:p>
                      <a:pPr algn="l"/>
                      <a:r>
                        <a:rPr sz="1050" b="0" i="0">
                          <a:solidFill>
                            <a:srgbClr val="000000"/>
                          </a:solidFill>
                          <a:latin typeface="Calibri"/>
                        </a:rPr>
                        <a:t>Table 85: Global Market Value by Product Format and Hair Type Targeted, US$ Mn, 2026–2036</a:t>
                      </a:r>
                      <a:endParaRPr sz="1050"/>
                    </a:p>
                  </a:txBody>
                  <a:tcPr marL="9525" marR="9525" marT="9525" marB="0" anchor="ctr"/>
                </a:tc>
              </a:tr>
              <a:tr h="169606">
                <a:tc>
                  <a:txBody>
                    <a:bodyPr wrap="square"/>
                    <a:lstStyle/>
                    <a:p>
                      <a:pPr algn="l"/>
                      <a:r>
                        <a:rPr sz="1050" b="0" i="0">
                          <a:solidFill>
                            <a:srgbClr val="000000"/>
                          </a:solidFill>
                          <a:latin typeface="Calibri"/>
                        </a:rPr>
                        <a:t>Table 86: Global Market Value by Product Format and Ingredient Technology, US$ Mn, 2026–2036</a:t>
                      </a:r>
                      <a:endParaRPr sz="1050"/>
                    </a:p>
                  </a:txBody>
                  <a:tcPr marL="9525" marR="9525" marT="9525" marB="0" anchor="ctr"/>
                </a:tc>
              </a:tr>
              <a:tr h="169606">
                <a:tc>
                  <a:txBody>
                    <a:bodyPr wrap="square"/>
                    <a:lstStyle/>
                    <a:p>
                      <a:pPr algn="l"/>
                      <a:r>
                        <a:rPr sz="1050" b="0" i="0">
                          <a:solidFill>
                            <a:srgbClr val="000000"/>
                          </a:solidFill>
                          <a:latin typeface="Calibri"/>
                        </a:rPr>
                        <a:t>Table 87: Global Market Value by Hold Level and Finish, US$ Mn, 2026–2036</a:t>
                      </a:r>
                      <a:endParaRPr sz="1050"/>
                    </a:p>
                  </a:txBody>
                  <a:tcPr marL="9525" marR="9525" marT="9525" marB="0" anchor="ctr"/>
                </a:tc>
              </a:tr>
              <a:tr h="169606">
                <a:tc>
                  <a:txBody>
                    <a:bodyPr wrap="square"/>
                    <a:lstStyle/>
                    <a:p>
                      <a:pPr algn="l"/>
                      <a:r>
                        <a:rPr sz="1050" b="0" i="0">
                          <a:solidFill>
                            <a:srgbClr val="000000"/>
                          </a:solidFill>
                          <a:latin typeface="Calibri"/>
                        </a:rPr>
                        <a:t>Table 88: Global Market Value by Hold Level and Distribution Channel,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89: Global Market Value by Hold Level and Primary Styling Benefit, US$ Mn, 2026–2036</a:t>
                      </a:r>
                      <a:endParaRPr sz="1050"/>
                    </a:p>
                  </a:txBody>
                  <a:tcPr marL="9525" marR="9525" marT="9525" marB="0" anchor="ctr"/>
                </a:tc>
              </a:tr>
              <a:tr h="170045">
                <a:tc>
                  <a:txBody>
                    <a:bodyPr wrap="square"/>
                    <a:lstStyle/>
                    <a:p>
                      <a:pPr algn="l"/>
                      <a:r>
                        <a:rPr sz="1050" b="0" i="0">
                          <a:solidFill>
                            <a:srgbClr val="000000"/>
                          </a:solidFill>
                          <a:latin typeface="Calibri"/>
                        </a:rPr>
                        <a:t>Table 90: Global Market Value by Hold Level and Hair Type Targeted, US$ Mn, 2026–2036</a:t>
                      </a:r>
                      <a:endParaRPr sz="1050"/>
                    </a:p>
                  </a:txBody>
                  <a:tcPr marL="9525" marR="9525" marT="9525" marB="0" anchor="ctr"/>
                </a:tc>
              </a:tr>
              <a:tr h="170045">
                <a:tc>
                  <a:txBody>
                    <a:bodyPr wrap="square"/>
                    <a:lstStyle/>
                    <a:p>
                      <a:pPr algn="l"/>
                      <a:r>
                        <a:rPr sz="1050" b="0" i="0">
                          <a:solidFill>
                            <a:srgbClr val="000000"/>
                          </a:solidFill>
                          <a:latin typeface="Calibri"/>
                        </a:rPr>
                        <a:t>Table 91: Global Market Value by Hold Level and Ingredient Technology, US$ Mn, 2026–2036</a:t>
                      </a:r>
                      <a:endParaRPr sz="1050"/>
                    </a:p>
                  </a:txBody>
                  <a:tcPr marL="9525" marR="9525" marT="9525" marB="0" anchor="ctr"/>
                </a:tc>
              </a:tr>
              <a:tr h="170045">
                <a:tc>
                  <a:txBody>
                    <a:bodyPr wrap="square"/>
                    <a:lstStyle/>
                    <a:p>
                      <a:pPr algn="l"/>
                      <a:r>
                        <a:rPr sz="1050" b="0" i="0">
                          <a:solidFill>
                            <a:srgbClr val="000000"/>
                          </a:solidFill>
                          <a:latin typeface="Calibri"/>
                        </a:rPr>
                        <a:t>Table 92: Global Market Value by Finish and Distribution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93: Global Market Value by Finish and Primary Styling Benefit, US$ Mn, 2026–2036</a:t>
                      </a:r>
                      <a:endParaRPr sz="1050"/>
                    </a:p>
                  </a:txBody>
                  <a:tcPr marL="9525" marR="9525" marT="9525" marB="0" anchor="ctr"/>
                </a:tc>
              </a:tr>
              <a:tr h="170045">
                <a:tc>
                  <a:txBody>
                    <a:bodyPr wrap="square"/>
                    <a:lstStyle/>
                    <a:p>
                      <a:pPr algn="l"/>
                      <a:r>
                        <a:rPr sz="1050" b="0" i="0">
                          <a:solidFill>
                            <a:srgbClr val="000000"/>
                          </a:solidFill>
                          <a:latin typeface="Calibri"/>
                        </a:rPr>
                        <a:t>Table 94: Global Market Value by Finish and Hair Type Targeted, US$ Mn, 2026–2036</a:t>
                      </a:r>
                      <a:endParaRPr sz="1050"/>
                    </a:p>
                  </a:txBody>
                  <a:tcPr marL="9525" marR="9525" marT="9525" marB="0" anchor="ctr"/>
                </a:tc>
              </a:tr>
              <a:tr h="170045">
                <a:tc>
                  <a:txBody>
                    <a:bodyPr wrap="square"/>
                    <a:lstStyle/>
                    <a:p>
                      <a:pPr algn="l"/>
                      <a:r>
                        <a:rPr sz="1050" b="0" i="0">
                          <a:solidFill>
                            <a:srgbClr val="000000"/>
                          </a:solidFill>
                          <a:latin typeface="Calibri"/>
                        </a:rPr>
                        <a:t>Table 95: Global Market Value by Finish and Ingredient Technology, US$ Mn, 2026–2036</a:t>
                      </a:r>
                      <a:endParaRPr sz="1050"/>
                    </a:p>
                  </a:txBody>
                  <a:tcPr marL="9525" marR="9525" marT="9525" marB="0" anchor="ctr"/>
                </a:tc>
              </a:tr>
              <a:tr h="333289">
                <a:tc>
                  <a:txBody>
                    <a:bodyPr wrap="square"/>
                    <a:lstStyle/>
                    <a:p>
                      <a:pPr algn="l"/>
                      <a:r>
                        <a:rPr sz="1050" b="0" i="0">
                          <a:solidFill>
                            <a:srgbClr val="000000"/>
                          </a:solidFill>
                          <a:latin typeface="Calibri"/>
                        </a:rPr>
                        <a:t>Table 96: Global Market Value by Distribution Channel and Primary Styling Benefit, US$ Mn, 2026–2036</a:t>
                      </a:r>
                      <a:endParaRPr sz="1050"/>
                    </a:p>
                  </a:txBody>
                  <a:tcPr marL="9525" marR="9525" marT="9525" marB="0" anchor="ctr"/>
                </a:tc>
              </a:tr>
              <a:tr h="170045">
                <a:tc>
                  <a:txBody>
                    <a:bodyPr wrap="square"/>
                    <a:lstStyle/>
                    <a:p>
                      <a:pPr algn="l"/>
                      <a:r>
                        <a:rPr sz="1050" b="0" i="0">
                          <a:solidFill>
                            <a:srgbClr val="000000"/>
                          </a:solidFill>
                          <a:latin typeface="Calibri"/>
                        </a:rPr>
                        <a:t>Table 97: Global Market Value by Distribution Channel and Hair Type Targeted, US$ Mn, 2026–2036</a:t>
                      </a:r>
                      <a:endParaRPr sz="1050"/>
                    </a:p>
                  </a:txBody>
                  <a:tcPr marL="9525" marR="9525" marT="9525" marB="0" anchor="ctr"/>
                </a:tc>
              </a:tr>
              <a:tr h="170045">
                <a:tc>
                  <a:txBody>
                    <a:bodyPr wrap="square"/>
                    <a:lstStyle/>
                    <a:p>
                      <a:pPr algn="l"/>
                      <a:r>
                        <a:rPr sz="1050" b="0" i="0">
                          <a:solidFill>
                            <a:srgbClr val="000000"/>
                          </a:solidFill>
                          <a:latin typeface="Calibri"/>
                        </a:rPr>
                        <a:t>Table 98: Global Market Value by Distribution Channel and Ingredient Technology, US$ Mn, 2026–2036</a:t>
                      </a:r>
                      <a:endParaRPr sz="1050"/>
                    </a:p>
                  </a:txBody>
                  <a:tcPr marL="9525" marR="9525" marT="9525" marB="0" anchor="ctr"/>
                </a:tc>
              </a:tr>
              <a:tr h="170045">
                <a:tc>
                  <a:txBody>
                    <a:bodyPr wrap="square"/>
                    <a:lstStyle/>
                    <a:p>
                      <a:pPr algn="l"/>
                      <a:r>
                        <a:rPr sz="1050" b="0" i="0">
                          <a:solidFill>
                            <a:srgbClr val="000000"/>
                          </a:solidFill>
                          <a:latin typeface="Calibri"/>
                        </a:rPr>
                        <a:t>Table 99: Global Market Value by Primary Styling Benefit and Hair Type Targeted, US$ Mn, 2026–2036</a:t>
                      </a:r>
                      <a:endParaRPr sz="1050"/>
                    </a:p>
                  </a:txBody>
                  <a:tcPr marL="9525" marR="9525" marT="9525" marB="0" anchor="ctr"/>
                </a:tc>
              </a:tr>
              <a:tr h="333289">
                <a:tc>
                  <a:txBody>
                    <a:bodyPr wrap="square"/>
                    <a:lstStyle/>
                    <a:p>
                      <a:pPr algn="l"/>
                      <a:r>
                        <a:rPr sz="1050" b="0" i="0">
                          <a:solidFill>
                            <a:srgbClr val="000000"/>
                          </a:solidFill>
                          <a:latin typeface="Calibri"/>
                        </a:rPr>
                        <a:t>Table 100: Global Market Value by Primary Styling Benefit and Ingredient Technology, US$ Mn, 2026–2036</a:t>
                      </a:r>
                      <a:endParaRPr sz="1050"/>
                    </a:p>
                  </a:txBody>
                  <a:tcPr marL="9525" marR="9525" marT="9525" marB="0" anchor="ctr"/>
                </a:tc>
              </a:tr>
              <a:tr h="170045">
                <a:tc>
                  <a:txBody>
                    <a:bodyPr wrap="square"/>
                    <a:lstStyle/>
                    <a:p>
                      <a:pPr algn="l"/>
                      <a:r>
                        <a:rPr sz="1050" b="0" i="0">
                          <a:solidFill>
                            <a:srgbClr val="000000"/>
                          </a:solidFill>
                          <a:latin typeface="Calibri"/>
                        </a:rPr>
                        <a:t>Table 101: Global Market Value by Hair Type Targeted and Ingredient Technology, US$ Mn, 2026–2036</a:t>
                      </a:r>
                      <a:endParaRPr sz="1050"/>
                    </a:p>
                  </a:txBody>
                  <a:tcPr marL="9525" marR="9525" marT="9525" marB="0" anchor="ctr"/>
                </a:tc>
              </a:tr>
              <a:tr h="170045">
                <a:tc>
                  <a:txBody>
                    <a:bodyPr wrap="square"/>
                    <a:lstStyle/>
                    <a:p>
                      <a:pPr algn="l"/>
                      <a:r>
                        <a:rPr sz="1050" b="0" i="0">
                          <a:solidFill>
                            <a:srgbClr val="000000"/>
                          </a:solidFill>
                          <a:latin typeface="Calibri"/>
                        </a:rPr>
                        <a:t>Table 102: Global Market Value by Region and Product Format, US$ Mn, 2026–2036</a:t>
                      </a:r>
                      <a:endParaRPr sz="1050"/>
                    </a:p>
                  </a:txBody>
                  <a:tcPr marL="9525" marR="9525" marT="9525" marB="0" anchor="ctr"/>
                </a:tc>
              </a:tr>
              <a:tr h="170045">
                <a:tc>
                  <a:txBody>
                    <a:bodyPr wrap="square"/>
                    <a:lstStyle/>
                    <a:p>
                      <a:pPr algn="l"/>
                      <a:r>
                        <a:rPr sz="1050" b="0" i="0">
                          <a:solidFill>
                            <a:srgbClr val="000000"/>
                          </a:solidFill>
                          <a:latin typeface="Calibri"/>
                        </a:rPr>
                        <a:t>Table 103: Global Market Value by Region and Hold Level, US$ Mn, 2026–2036</a:t>
                      </a:r>
                      <a:endParaRPr sz="1050"/>
                    </a:p>
                  </a:txBody>
                  <a:tcPr marL="9525" marR="9525" marT="9525" marB="0" anchor="ctr"/>
                </a:tc>
              </a:tr>
              <a:tr h="170045">
                <a:tc>
                  <a:txBody>
                    <a:bodyPr wrap="square"/>
                    <a:lstStyle/>
                    <a:p>
                      <a:pPr algn="l"/>
                      <a:r>
                        <a:rPr sz="1050" b="0" i="0">
                          <a:solidFill>
                            <a:srgbClr val="000000"/>
                          </a:solidFill>
                          <a:latin typeface="Calibri"/>
                        </a:rPr>
                        <a:t>Table 104: Global Market Value by Region and Finish, US$ Mn, 2026–2036</a:t>
                      </a:r>
                      <a:endParaRPr sz="1050"/>
                    </a:p>
                  </a:txBody>
                  <a:tcPr marL="9525" marR="9525" marT="9525" marB="0" anchor="ctr"/>
                </a:tc>
              </a:tr>
              <a:tr h="170045">
                <a:tc>
                  <a:txBody>
                    <a:bodyPr wrap="square"/>
                    <a:lstStyle/>
                    <a:p>
                      <a:pPr algn="l"/>
                      <a:r>
                        <a:rPr sz="1050" b="0" i="0">
                          <a:solidFill>
                            <a:srgbClr val="000000"/>
                          </a:solidFill>
                          <a:latin typeface="Calibri"/>
                        </a:rPr>
                        <a:t>Table 105: Global Market Value by Region and Distribution Channel, US$ Mn, 2026–2036</a:t>
                      </a:r>
                      <a:endParaRPr sz="1050"/>
                    </a:p>
                  </a:txBody>
                  <a:tcPr marL="9525" marR="9525" marT="9525" marB="0" anchor="ctr"/>
                </a:tc>
              </a:tr>
              <a:tr h="170045">
                <a:tc>
                  <a:txBody>
                    <a:bodyPr wrap="square"/>
                    <a:lstStyle/>
                    <a:p>
                      <a:pPr algn="l"/>
                      <a:r>
                        <a:rPr sz="1050" b="0" i="0">
                          <a:solidFill>
                            <a:srgbClr val="000000"/>
                          </a:solidFill>
                          <a:latin typeface="Calibri"/>
                        </a:rPr>
                        <a:t>Table 106: Global Market Value by Region and Primary Styling Benefit, US$ Mn, 2026–2036</a:t>
                      </a:r>
                      <a:endParaRPr sz="1050"/>
                    </a:p>
                  </a:txBody>
                  <a:tcPr marL="9525" marR="9525" marT="9525" marB="0" anchor="ctr"/>
                </a:tc>
              </a:tr>
              <a:tr h="170045">
                <a:tc>
                  <a:txBody>
                    <a:bodyPr wrap="square"/>
                    <a:lstStyle/>
                    <a:p>
                      <a:pPr algn="l"/>
                      <a:r>
                        <a:rPr sz="1050" b="0" i="0">
                          <a:solidFill>
                            <a:srgbClr val="000000"/>
                          </a:solidFill>
                          <a:latin typeface="Calibri"/>
                        </a:rPr>
                        <a:t>Table 107: Global Market Value by Region and Hair Type Targeted, US$ Mn, 2026–2036</a:t>
                      </a:r>
                      <a:endParaRPr sz="1050"/>
                    </a:p>
                  </a:txBody>
                  <a:tcPr marL="9525" marR="9525" marT="9525" marB="0" anchor="ctr"/>
                </a:tc>
              </a:tr>
              <a:tr h="170045">
                <a:tc>
                  <a:txBody>
                    <a:bodyPr wrap="square"/>
                    <a:lstStyle/>
                    <a:p>
                      <a:pPr algn="l"/>
                      <a:r>
                        <a:rPr sz="1050" b="0" i="0">
                          <a:solidFill>
                            <a:srgbClr val="000000"/>
                          </a:solidFill>
                          <a:latin typeface="Calibri"/>
                        </a:rPr>
                        <a:t>Table 108: Global Market Value by Region and Ingredient Technology, US$ Mn, 2026–2036</a:t>
                      </a:r>
                      <a:endParaRPr sz="1050"/>
                    </a:p>
                  </a:txBody>
                  <a:tcPr marL="9525" marR="9525" marT="9525" marB="0" anchor="ctr"/>
                </a:tc>
              </a:tr>
              <a:tr h="170045">
                <a:tc>
                  <a:txBody>
                    <a:bodyPr wrap="square"/>
                    <a:lstStyle/>
                    <a:p>
                      <a:pPr algn="l"/>
                      <a:r>
                        <a:rPr sz="1050" b="0" i="0">
                          <a:solidFill>
                            <a:srgbClr val="000000"/>
                          </a:solidFill>
                          <a:latin typeface="Calibri"/>
                        </a:rPr>
                        <a:t>Table 109: Global Market Value by Region, US$ Mn, 2021–2036</a:t>
                      </a:r>
                      <a:endParaRPr sz="1050"/>
                    </a:p>
                  </a:txBody>
                  <a:tcPr marL="9525" marR="9525" marT="9525" marB="0" anchor="ctr"/>
                </a:tc>
              </a:tr>
              <a:tr h="170045">
                <a:tc>
                  <a:txBody>
                    <a:bodyPr wrap="square"/>
                    <a:lstStyle/>
                    <a:p>
                      <a:pPr algn="l"/>
                      <a:r>
                        <a:rPr sz="1050" b="0" i="0">
                          <a:solidFill>
                            <a:srgbClr val="000000"/>
                          </a:solidFill>
                          <a:latin typeface="Calibri"/>
                        </a:rPr>
                        <a:t>Table 110: Global Market CAGR and Absolute $ Opportunity by Region, %, US$ Mn, 2026–2036</a:t>
                      </a:r>
                      <a:endParaRPr sz="1050"/>
                    </a:p>
                  </a:txBody>
                  <a:tcPr marL="9525" marR="9525" marT="9525" marB="0" anchor="ctr"/>
                </a:tc>
              </a:tr>
              <a:tr h="170045">
                <a:tc>
                  <a:txBody>
                    <a:bodyPr wrap="square"/>
                    <a:lstStyle/>
                    <a:p>
                      <a:pPr algn="l"/>
                      <a:r>
                        <a:rPr sz="1050" b="0" i="0">
                          <a:solidFill>
                            <a:srgbClr val="000000"/>
                          </a:solidFill>
                          <a:latin typeface="Calibri"/>
                        </a:rPr>
                        <a:t>Table 111: Global Market Share and BPS Change by Region, %, 2026 and 2036</a:t>
                      </a:r>
                      <a:endParaRPr sz="1050"/>
                    </a:p>
                  </a:txBody>
                  <a:tcPr marL="9525" marR="9525" marT="9525" marB="0" anchor="ctr"/>
                </a:tc>
              </a:tr>
              <a:tr h="170045">
                <a:tc>
                  <a:txBody>
                    <a:bodyPr wrap="square"/>
                    <a:lstStyle/>
                    <a:p>
                      <a:pPr algn="l"/>
                      <a:r>
                        <a:rPr sz="1050" b="0" i="0">
                          <a:solidFill>
                            <a:srgbClr val="000000"/>
                          </a:solidFill>
                          <a:latin typeface="Calibri"/>
                        </a:rPr>
                        <a:t>Table 112: Global Market Volume by Region, Mn Units, 2021–2036</a:t>
                      </a:r>
                      <a:endParaRPr sz="1050"/>
                    </a:p>
                  </a:txBody>
                  <a:tcPr marL="9525" marR="9525" marT="9525" marB="0" anchor="ctr"/>
                </a:tc>
              </a:tr>
              <a:tr h="170045">
                <a:tc>
                  <a:txBody>
                    <a:bodyPr wrap="square"/>
                    <a:lstStyle/>
                    <a:p>
                      <a:pPr algn="l"/>
                      <a:r>
                        <a:rPr sz="1050" b="0" i="0">
                          <a:solidFill>
                            <a:srgbClr val="000000"/>
                          </a:solidFill>
                          <a:latin typeface="Calibri"/>
                        </a:rPr>
                        <a:t>Table 113: North America Market Value by Country, US$ Mn, 2021–2036</a:t>
                      </a:r>
                      <a:endParaRPr sz="1050"/>
                    </a:p>
                  </a:txBody>
                  <a:tcPr marL="9525" marR="9525" marT="9525" marB="0" anchor="ctr"/>
                </a:tc>
              </a:tr>
              <a:tr h="170045">
                <a:tc>
                  <a:txBody>
                    <a:bodyPr wrap="square"/>
                    <a:lstStyle/>
                    <a:p>
                      <a:pPr algn="l"/>
                      <a:r>
                        <a:rPr sz="1050" b="0" i="0">
                          <a:solidFill>
                            <a:srgbClr val="000000"/>
                          </a:solidFill>
                          <a:latin typeface="Calibri"/>
                        </a:rPr>
                        <a:t>Table 114: Latin America Market Value by Country, US$ Mn, 2021–2036</a:t>
                      </a:r>
                      <a:endParaRPr sz="1050"/>
                    </a:p>
                  </a:txBody>
                  <a:tcPr marL="9525" marR="9525" marT="9525" marB="0" anchor="ctr"/>
                </a:tc>
              </a:tr>
              <a:tr h="170045">
                <a:tc>
                  <a:txBody>
                    <a:bodyPr wrap="square"/>
                    <a:lstStyle/>
                    <a:p>
                      <a:pPr algn="l"/>
                      <a:r>
                        <a:rPr sz="1050" b="0" i="0">
                          <a:solidFill>
                            <a:srgbClr val="000000"/>
                          </a:solidFill>
                          <a:latin typeface="Calibri"/>
                        </a:rPr>
                        <a:t>Table 115: Europe Market Value by Country, US$ Mn, 2021–2036</a:t>
                      </a:r>
                      <a:endParaRPr sz="1050"/>
                    </a:p>
                  </a:txBody>
                  <a:tcPr marL="9525" marR="9525" marT="9525" marB="0" anchor="ctr"/>
                </a:tc>
              </a:tr>
              <a:tr h="170045">
                <a:tc>
                  <a:txBody>
                    <a:bodyPr wrap="square"/>
                    <a:lstStyle/>
                    <a:p>
                      <a:pPr algn="l"/>
                      <a:r>
                        <a:rPr sz="1050" b="0" i="0">
                          <a:solidFill>
                            <a:srgbClr val="000000"/>
                          </a:solidFill>
                          <a:latin typeface="Calibri"/>
                        </a:rPr>
                        <a:t>Table 116: East Asia Market Value by Country, US$ Mn, 2021–2036</a:t>
                      </a:r>
                      <a:endParaRPr sz="1050"/>
                    </a:p>
                  </a:txBody>
                  <a:tcPr marL="9525" marR="9525" marT="9525" marB="0" anchor="ctr"/>
                </a:tc>
              </a:tr>
              <a:tr h="170045">
                <a:tc>
                  <a:txBody>
                    <a:bodyPr wrap="square"/>
                    <a:lstStyle/>
                    <a:p>
                      <a:pPr algn="l"/>
                      <a:r>
                        <a:rPr sz="1050" b="0" i="0">
                          <a:solidFill>
                            <a:srgbClr val="000000"/>
                          </a:solidFill>
                          <a:latin typeface="Calibri"/>
                        </a:rPr>
                        <a:t>Table 117: South Asia &amp; Pacific Market Value by Country,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118: Middle East &amp; Africa Market Value by Country, US$ Mn, 2021–2036</a:t>
                      </a:r>
                      <a:endParaRPr sz="1050"/>
                    </a:p>
                  </a:txBody>
                  <a:tcPr marL="9525" marR="9525" marT="9525" marB="0" anchor="ctr"/>
                </a:tc>
              </a:tr>
              <a:tr h="333720">
                <a:tc>
                  <a:txBody>
                    <a:bodyPr wrap="square"/>
                    <a:lstStyle/>
                    <a:p>
                      <a:pPr algn="l"/>
                      <a:r>
                        <a:rPr sz="1050" b="0" i="0">
                          <a:solidFill>
                            <a:srgbClr val="000000"/>
                          </a:solidFill>
                          <a:latin typeface="Calibri"/>
                        </a:rPr>
                        <a:t>Table 119: North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120: Latin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121: Europe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122: East Asia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123: South Asia &amp; Pacific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124: Middle East &amp; Africa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125: North America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126: Latin America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127: Europe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128: East Asia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129: South Asia &amp; Pacific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130: Middle East &amp; Africa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131: North America Market Value by Hold Level, US$ Mn, 2021–2036</a:t>
                      </a:r>
                      <a:endParaRPr sz="1050"/>
                    </a:p>
                  </a:txBody>
                  <a:tcPr marL="9525" marR="9525" marT="9525" marB="0" anchor="ctr"/>
                </a:tc>
              </a:tr>
              <a:tr h="170266">
                <a:tc>
                  <a:txBody>
                    <a:bodyPr wrap="square"/>
                    <a:lstStyle/>
                    <a:p>
                      <a:pPr algn="l"/>
                      <a:r>
                        <a:rPr sz="1050" b="0" i="0">
                          <a:solidFill>
                            <a:srgbClr val="000000"/>
                          </a:solidFill>
                          <a:latin typeface="Calibri"/>
                        </a:rPr>
                        <a:t>Table 132: Latin America Market Value by Hold Level, US$ Mn, 2021–2036</a:t>
                      </a:r>
                      <a:endParaRPr sz="1050"/>
                    </a:p>
                  </a:txBody>
                  <a:tcPr marL="9525" marR="9525" marT="9525" marB="0" anchor="ctr"/>
                </a:tc>
              </a:tr>
              <a:tr h="170266">
                <a:tc>
                  <a:txBody>
                    <a:bodyPr wrap="square"/>
                    <a:lstStyle/>
                    <a:p>
                      <a:pPr algn="l"/>
                      <a:r>
                        <a:rPr sz="1050" b="0" i="0">
                          <a:solidFill>
                            <a:srgbClr val="000000"/>
                          </a:solidFill>
                          <a:latin typeface="Calibri"/>
                        </a:rPr>
                        <a:t>Table 133: Europe Market Value by Hold Level, US$ Mn, 2021–2036</a:t>
                      </a:r>
                      <a:endParaRPr sz="1050"/>
                    </a:p>
                  </a:txBody>
                  <a:tcPr marL="9525" marR="9525" marT="9525" marB="0" anchor="ctr"/>
                </a:tc>
              </a:tr>
              <a:tr h="170266">
                <a:tc>
                  <a:txBody>
                    <a:bodyPr wrap="square"/>
                    <a:lstStyle/>
                    <a:p>
                      <a:pPr algn="l"/>
                      <a:r>
                        <a:rPr sz="1050" b="0" i="0">
                          <a:solidFill>
                            <a:srgbClr val="000000"/>
                          </a:solidFill>
                          <a:latin typeface="Calibri"/>
                        </a:rPr>
                        <a:t>Table 134: U.S.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135: U.S. Market Historical and Forecast Growth, %, 2021–2036</a:t>
                      </a:r>
                      <a:endParaRPr sz="1050"/>
                    </a:p>
                  </a:txBody>
                  <a:tcPr marL="9525" marR="9525" marT="9525" marB="0" anchor="ctr"/>
                </a:tc>
              </a:tr>
              <a:tr h="170266">
                <a:tc>
                  <a:txBody>
                    <a:bodyPr wrap="square"/>
                    <a:lstStyle/>
                    <a:p>
                      <a:pPr algn="l"/>
                      <a:r>
                        <a:rPr sz="1050" b="0" i="0">
                          <a:solidFill>
                            <a:srgbClr val="000000"/>
                          </a:solidFill>
                          <a:latin typeface="Calibri"/>
                        </a:rPr>
                        <a:t>Table 136: U.S. Market Value by Distribution Channel, US$ Mn, 2021–2036</a:t>
                      </a:r>
                      <a:endParaRPr sz="1050"/>
                    </a:p>
                  </a:txBody>
                  <a:tcPr marL="9525" marR="9525" marT="9525" marB="0" anchor="ctr"/>
                </a:tc>
              </a:tr>
              <a:tr h="170266">
                <a:tc>
                  <a:txBody>
                    <a:bodyPr wrap="square"/>
                    <a:lstStyle/>
                    <a:p>
                      <a:pPr algn="l"/>
                      <a:r>
                        <a:rPr sz="1050" b="0" i="0">
                          <a:solidFill>
                            <a:srgbClr val="000000"/>
                          </a:solidFill>
                          <a:latin typeface="Calibri"/>
                        </a:rPr>
                        <a:t>Table 137: U.S. Market Share within North America, %, 2025, 2026 and 2036</a:t>
                      </a:r>
                      <a:endParaRPr sz="1050"/>
                    </a:p>
                  </a:txBody>
                  <a:tcPr marL="9525" marR="9525" marT="9525" marB="0" anchor="ctr"/>
                </a:tc>
              </a:tr>
              <a:tr h="170266">
                <a:tc>
                  <a:txBody>
                    <a:bodyPr wrap="square"/>
                    <a:lstStyle/>
                    <a:p>
                      <a:pPr algn="l"/>
                      <a:r>
                        <a:rPr sz="1050" b="0" i="0">
                          <a:solidFill>
                            <a:srgbClr val="000000"/>
                          </a:solidFill>
                          <a:latin typeface="Calibri"/>
                        </a:rPr>
                        <a:t>Table 138: U.S. Market Value by Hold Level, US$ Mn, 2021–2036</a:t>
                      </a:r>
                      <a:endParaRPr sz="1050"/>
                    </a:p>
                  </a:txBody>
                  <a:tcPr marL="9525" marR="9525" marT="9525" marB="0" anchor="ctr"/>
                </a:tc>
              </a:tr>
              <a:tr h="170266">
                <a:tc>
                  <a:txBody>
                    <a:bodyPr wrap="square"/>
                    <a:lstStyle/>
                    <a:p>
                      <a:pPr algn="l"/>
                      <a:r>
                        <a:rPr sz="1050" b="0" i="0">
                          <a:solidFill>
                            <a:srgbClr val="000000"/>
                          </a:solidFill>
                          <a:latin typeface="Calibri"/>
                        </a:rPr>
                        <a:t>Table 139: U.S. Market Value by Finish, US$ Mn, 2021–2036</a:t>
                      </a:r>
                      <a:endParaRPr sz="1050"/>
                    </a:p>
                  </a:txBody>
                  <a:tcPr marL="9525" marR="9525" marT="9525" marB="0" anchor="ctr"/>
                </a:tc>
              </a:tr>
              <a:tr h="170266">
                <a:tc>
                  <a:txBody>
                    <a:bodyPr wrap="square"/>
                    <a:lstStyle/>
                    <a:p>
                      <a:pPr algn="l"/>
                      <a:r>
                        <a:rPr sz="1050" b="0" i="0">
                          <a:solidFill>
                            <a:srgbClr val="000000"/>
                          </a:solidFill>
                          <a:latin typeface="Calibri"/>
                        </a:rPr>
                        <a:t>Table 140: U.S. Market Value by Primary Styling Benefit, US$ Mn, 2021–2036</a:t>
                      </a:r>
                      <a:endParaRPr sz="1050"/>
                    </a:p>
                  </a:txBody>
                  <a:tcPr marL="9525" marR="9525" marT="9525" marB="0" anchor="ctr"/>
                </a:tc>
              </a:tr>
              <a:tr h="170266">
                <a:tc>
                  <a:txBody>
                    <a:bodyPr wrap="square"/>
                    <a:lstStyle/>
                    <a:p>
                      <a:pPr algn="l"/>
                      <a:r>
                        <a:rPr sz="1050" b="0" i="0">
                          <a:solidFill>
                            <a:srgbClr val="000000"/>
                          </a:solidFill>
                          <a:latin typeface="Calibri"/>
                        </a:rPr>
                        <a:t>Table 141: U.S. Market Value by Hair Type Targeted, US$ Mn, 2021–2036</a:t>
                      </a:r>
                      <a:endParaRPr sz="1050"/>
                    </a:p>
                  </a:txBody>
                  <a:tcPr marL="9525" marR="9525" marT="9525" marB="0" anchor="ctr"/>
                </a:tc>
              </a:tr>
              <a:tr h="170266">
                <a:tc>
                  <a:txBody>
                    <a:bodyPr wrap="square"/>
                    <a:lstStyle/>
                    <a:p>
                      <a:pPr algn="l"/>
                      <a:r>
                        <a:rPr sz="1050" b="0" i="0">
                          <a:solidFill>
                            <a:srgbClr val="000000"/>
                          </a:solidFill>
                          <a:latin typeface="Calibri"/>
                        </a:rPr>
                        <a:t>Table 142: China Market Value by Product Format, US$ Mn, 2021–2036</a:t>
                      </a:r>
                      <a:endParaRPr sz="1050"/>
                    </a:p>
                  </a:txBody>
                  <a:tcPr marL="9525" marR="9525" marT="9525" marB="0" anchor="ctr"/>
                </a:tc>
              </a:tr>
              <a:tr h="170266">
                <a:tc>
                  <a:txBody>
                    <a:bodyPr wrap="square"/>
                    <a:lstStyle/>
                    <a:p>
                      <a:pPr algn="l"/>
                      <a:r>
                        <a:rPr sz="1050" b="0" i="0">
                          <a:solidFill>
                            <a:srgbClr val="000000"/>
                          </a:solidFill>
                          <a:latin typeface="Calibri"/>
                        </a:rPr>
                        <a:t>Table 143: China Market Historical and Forecast Growth, %, 2021–2036</a:t>
                      </a:r>
                      <a:endParaRPr sz="1050"/>
                    </a:p>
                  </a:txBody>
                  <a:tcPr marL="9525" marR="9525" marT="9525" marB="0" anchor="ctr"/>
                </a:tc>
              </a:tr>
              <a:tr h="170266">
                <a:tc>
                  <a:txBody>
                    <a:bodyPr wrap="square"/>
                    <a:lstStyle/>
                    <a:p>
                      <a:pPr algn="l"/>
                      <a:r>
                        <a:rPr sz="1050" b="0" i="0">
                          <a:solidFill>
                            <a:srgbClr val="000000"/>
                          </a:solidFill>
                          <a:latin typeface="Calibri"/>
                        </a:rPr>
                        <a:t>Table 144: China Market Value by Distribution Channel, US$ Mn, 2021–2036</a:t>
                      </a:r>
                      <a:endParaRPr sz="1050"/>
                    </a:p>
                  </a:txBody>
                  <a:tcPr marL="9525" marR="9525" marT="9525" marB="0" anchor="ctr"/>
                </a:tc>
              </a:tr>
              <a:tr h="170266">
                <a:tc>
                  <a:txBody>
                    <a:bodyPr wrap="square"/>
                    <a:lstStyle/>
                    <a:p>
                      <a:pPr algn="l"/>
                      <a:r>
                        <a:rPr sz="1050" b="0" i="0">
                          <a:solidFill>
                            <a:srgbClr val="000000"/>
                          </a:solidFill>
                          <a:latin typeface="Calibri"/>
                        </a:rPr>
                        <a:t>Table 145: China Market Share within East Asia, %, 2025,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146: China Market Value by Hold Level, US$ Mn, 2021–2036</a:t>
                      </a:r>
                      <a:endParaRPr sz="1050"/>
                    </a:p>
                  </a:txBody>
                  <a:tcPr marL="9525" marR="9525" marT="9525" marB="0" anchor="ctr"/>
                </a:tc>
              </a:tr>
              <a:tr h="169606">
                <a:tc>
                  <a:txBody>
                    <a:bodyPr wrap="square"/>
                    <a:lstStyle/>
                    <a:p>
                      <a:pPr algn="l"/>
                      <a:r>
                        <a:rPr sz="1050" b="0" i="0">
                          <a:solidFill>
                            <a:srgbClr val="000000"/>
                          </a:solidFill>
                          <a:latin typeface="Calibri"/>
                        </a:rPr>
                        <a:t>Table 147: China Market Value by Finish, US$ Mn, 2021–2036</a:t>
                      </a:r>
                      <a:endParaRPr sz="1050"/>
                    </a:p>
                  </a:txBody>
                  <a:tcPr marL="9525" marR="9525" marT="9525" marB="0" anchor="ctr"/>
                </a:tc>
              </a:tr>
              <a:tr h="169606">
                <a:tc>
                  <a:txBody>
                    <a:bodyPr wrap="square"/>
                    <a:lstStyle/>
                    <a:p>
                      <a:pPr algn="l"/>
                      <a:r>
                        <a:rPr sz="1050" b="0" i="0">
                          <a:solidFill>
                            <a:srgbClr val="000000"/>
                          </a:solidFill>
                          <a:latin typeface="Calibri"/>
                        </a:rPr>
                        <a:t>Table 148: China Market Value by Primary Styling Benefit, US$ Mn, 2021–2036</a:t>
                      </a:r>
                      <a:endParaRPr sz="1050"/>
                    </a:p>
                  </a:txBody>
                  <a:tcPr marL="9525" marR="9525" marT="9525" marB="0" anchor="ctr"/>
                </a:tc>
              </a:tr>
              <a:tr h="169606">
                <a:tc>
                  <a:txBody>
                    <a:bodyPr wrap="square"/>
                    <a:lstStyle/>
                    <a:p>
                      <a:pPr algn="l"/>
                      <a:r>
                        <a:rPr sz="1050" b="0" i="0">
                          <a:solidFill>
                            <a:srgbClr val="000000"/>
                          </a:solidFill>
                          <a:latin typeface="Calibri"/>
                        </a:rPr>
                        <a:t>Table 149: China Market Value by Hair Type Targeted, US$ Mn, 2021–2036</a:t>
                      </a:r>
                      <a:endParaRPr sz="1050"/>
                    </a:p>
                  </a:txBody>
                  <a:tcPr marL="9525" marR="9525" marT="9525" marB="0" anchor="ctr"/>
                </a:tc>
              </a:tr>
              <a:tr h="169606">
                <a:tc>
                  <a:txBody>
                    <a:bodyPr wrap="square"/>
                    <a:lstStyle/>
                    <a:p>
                      <a:pPr algn="l"/>
                      <a:r>
                        <a:rPr sz="1050" b="0" i="0">
                          <a:solidFill>
                            <a:srgbClr val="000000"/>
                          </a:solidFill>
                          <a:latin typeface="Calibri"/>
                        </a:rPr>
                        <a:t>Table 150: Japan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151: Japan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152: Japan Market Value by Distribution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153: Japan Market Share within East Asia,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154: Japan Market Value by Hold Level, US$ Mn, 2021–2036</a:t>
                      </a:r>
                      <a:endParaRPr sz="1050"/>
                    </a:p>
                  </a:txBody>
                  <a:tcPr marL="9525" marR="9525" marT="9525" marB="0" anchor="ctr"/>
                </a:tc>
              </a:tr>
              <a:tr h="169606">
                <a:tc>
                  <a:txBody>
                    <a:bodyPr wrap="square"/>
                    <a:lstStyle/>
                    <a:p>
                      <a:pPr algn="l"/>
                      <a:r>
                        <a:rPr sz="1050" b="0" i="0">
                          <a:solidFill>
                            <a:srgbClr val="000000"/>
                          </a:solidFill>
                          <a:latin typeface="Calibri"/>
                        </a:rPr>
                        <a:t>Table 155: Japan Market Value by Finish, US$ Mn, 2021–2036</a:t>
                      </a:r>
                      <a:endParaRPr sz="1050"/>
                    </a:p>
                  </a:txBody>
                  <a:tcPr marL="9525" marR="9525" marT="9525" marB="0" anchor="ctr"/>
                </a:tc>
              </a:tr>
              <a:tr h="169606">
                <a:tc>
                  <a:txBody>
                    <a:bodyPr wrap="square"/>
                    <a:lstStyle/>
                    <a:p>
                      <a:pPr algn="l"/>
                      <a:r>
                        <a:rPr sz="1050" b="0" i="0">
                          <a:solidFill>
                            <a:srgbClr val="000000"/>
                          </a:solidFill>
                          <a:latin typeface="Calibri"/>
                        </a:rPr>
                        <a:t>Table 156: Japan Market Value by Primary Styling Benefit, US$ Mn, 2021–2036</a:t>
                      </a:r>
                      <a:endParaRPr sz="1050"/>
                    </a:p>
                  </a:txBody>
                  <a:tcPr marL="9525" marR="9525" marT="9525" marB="0" anchor="ctr"/>
                </a:tc>
              </a:tr>
              <a:tr h="169606">
                <a:tc>
                  <a:txBody>
                    <a:bodyPr wrap="square"/>
                    <a:lstStyle/>
                    <a:p>
                      <a:pPr algn="l"/>
                      <a:r>
                        <a:rPr sz="1050" b="0" i="0">
                          <a:solidFill>
                            <a:srgbClr val="000000"/>
                          </a:solidFill>
                          <a:latin typeface="Calibri"/>
                        </a:rPr>
                        <a:t>Table 157: Japan Market Value by Hair Type Targeted, US$ Mn, 2021–2036</a:t>
                      </a:r>
                      <a:endParaRPr sz="1050"/>
                    </a:p>
                  </a:txBody>
                  <a:tcPr marL="9525" marR="9525" marT="9525" marB="0" anchor="ctr"/>
                </a:tc>
              </a:tr>
              <a:tr h="169606">
                <a:tc>
                  <a:txBody>
                    <a:bodyPr wrap="square"/>
                    <a:lstStyle/>
                    <a:p>
                      <a:pPr algn="l"/>
                      <a:r>
                        <a:rPr sz="1050" b="0" i="0">
                          <a:solidFill>
                            <a:srgbClr val="000000"/>
                          </a:solidFill>
                          <a:latin typeface="Calibri"/>
                        </a:rPr>
                        <a:t>Table 158: Brazil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159: Brazil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160: India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161: India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162: South Korea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163: South Korea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164: Canada Market Value by Product Format, US$ Mn, 2021–2036</a:t>
                      </a:r>
                      <a:endParaRPr sz="1050"/>
                    </a:p>
                  </a:txBody>
                  <a:tcPr marL="9525" marR="9525" marT="9525" marB="0" anchor="ctr"/>
                </a:tc>
              </a:tr>
              <a:tr h="169606">
                <a:tc>
                  <a:txBody>
                    <a:bodyPr wrap="square"/>
                    <a:lstStyle/>
                    <a:p>
                      <a:pPr algn="l"/>
                      <a:r>
                        <a:rPr sz="1050" b="0" i="0">
                          <a:solidFill>
                            <a:srgbClr val="000000"/>
                          </a:solidFill>
                          <a:latin typeface="Calibri"/>
                        </a:rPr>
                        <a:t>Table 165: Canada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166: Market Product Price Comparison by Company and Product Format, US$/Units, 2026</a:t>
                      </a:r>
                      <a:endParaRPr sz="1050"/>
                    </a:p>
                  </a:txBody>
                  <a:tcPr marL="9525" marR="9525" marT="9525" marB="0" anchor="ctr"/>
                </a:tc>
              </a:tr>
              <a:tr h="169606">
                <a:tc>
                  <a:txBody>
                    <a:bodyPr wrap="square"/>
                    <a:lstStyle/>
                    <a:p>
                      <a:pPr algn="l"/>
                      <a:r>
                        <a:rPr sz="1050" b="0" i="0">
                          <a:solidFill>
                            <a:srgbClr val="000000"/>
                          </a:solidFill>
                          <a:latin typeface="Calibri"/>
                        </a:rPr>
                        <a:t>Table 167: Global Market Average Selling Price by Region, US$/Units, 2021–2036</a:t>
                      </a:r>
                      <a:endParaRPr sz="1050"/>
                    </a:p>
                  </a:txBody>
                  <a:tcPr marL="9525" marR="9525" marT="9525" marB="0" anchor="ctr"/>
                </a:tc>
              </a:tr>
              <a:tr h="169606">
                <a:tc>
                  <a:txBody>
                    <a:bodyPr wrap="square"/>
                    <a:lstStyle/>
                    <a:p>
                      <a:pPr algn="l"/>
                      <a:r>
                        <a:rPr sz="1050" b="0" i="0">
                          <a:solidFill>
                            <a:srgbClr val="000000"/>
                          </a:solidFill>
                          <a:latin typeface="Calibri"/>
                        </a:rPr>
                        <a:t>Table 168: Global Market Average Selling Price by Product Format, US$/Units, 2021–2036</a:t>
                      </a:r>
                      <a:endParaRPr sz="1050"/>
                    </a:p>
                  </a:txBody>
                  <a:tcPr marL="9525" marR="9525" marT="9525" marB="0" anchor="ctr"/>
                </a:tc>
              </a:tr>
              <a:tr h="169606">
                <a:tc>
                  <a:txBody>
                    <a:bodyPr wrap="square"/>
                    <a:lstStyle/>
                    <a:p>
                      <a:pPr algn="l"/>
                      <a:r>
                        <a:rPr sz="1050" b="0" i="0">
                          <a:solidFill>
                            <a:srgbClr val="000000"/>
                          </a:solidFill>
                          <a:latin typeface="Calibri"/>
                        </a:rPr>
                        <a:t>Table 169: Global Market Average Selling Price by Hold Level, US$/Units, 2021–2036</a:t>
                      </a:r>
                      <a:endParaRPr sz="1050"/>
                    </a:p>
                  </a:txBody>
                  <a:tcPr marL="9525" marR="9525" marT="9525" marB="0" anchor="ctr"/>
                </a:tc>
              </a:tr>
              <a:tr h="169606">
                <a:tc>
                  <a:txBody>
                    <a:bodyPr wrap="square"/>
                    <a:lstStyle/>
                    <a:p>
                      <a:pPr algn="l"/>
                      <a:r>
                        <a:rPr sz="1050" b="0" i="0">
                          <a:solidFill>
                            <a:srgbClr val="000000"/>
                          </a:solidFill>
                          <a:latin typeface="Calibri"/>
                        </a:rPr>
                        <a:t>Table 170: Global Market Average Selling Price by Finish, US$/Units, 2021–2036</a:t>
                      </a:r>
                      <a:endParaRPr sz="1050"/>
                    </a:p>
                  </a:txBody>
                  <a:tcPr marL="9525" marR="9525" marT="9525" marB="0" anchor="ctr"/>
                </a:tc>
              </a:tr>
              <a:tr h="169606">
                <a:tc>
                  <a:txBody>
                    <a:bodyPr wrap="square"/>
                    <a:lstStyle/>
                    <a:p>
                      <a:pPr algn="l"/>
                      <a:r>
                        <a:rPr sz="1050" b="0" i="0">
                          <a:solidFill>
                            <a:srgbClr val="000000"/>
                          </a:solidFill>
                          <a:latin typeface="Calibri"/>
                        </a:rPr>
                        <a:t>Table 171: Global Market Average Selling Price by Distribution Channel, US$/Units, 2021–2036</a:t>
                      </a:r>
                      <a:endParaRPr sz="1050"/>
                    </a:p>
                  </a:txBody>
                  <a:tcPr marL="9525" marR="9525" marT="9525" marB="0" anchor="ctr"/>
                </a:tc>
              </a:tr>
              <a:tr h="169606">
                <a:tc>
                  <a:txBody>
                    <a:bodyPr wrap="square"/>
                    <a:lstStyle/>
                    <a:p>
                      <a:pPr algn="l"/>
                      <a:r>
                        <a:rPr sz="1050" b="0" i="0">
                          <a:solidFill>
                            <a:srgbClr val="000000"/>
                          </a:solidFill>
                          <a:latin typeface="Calibri"/>
                        </a:rPr>
                        <a:t>Table 172: Global Market Average Selling Price by Primary Styling Benefit, US$/Units, 2021–2036</a:t>
                      </a:r>
                      <a:endParaRPr sz="1050"/>
                    </a:p>
                  </a:txBody>
                  <a:tcPr marL="9525" marR="9525" marT="9525" marB="0" anchor="ctr"/>
                </a:tc>
              </a:tr>
              <a:tr h="169606">
                <a:tc>
                  <a:txBody>
                    <a:bodyPr wrap="square"/>
                    <a:lstStyle/>
                    <a:p>
                      <a:pPr algn="l"/>
                      <a:r>
                        <a:rPr sz="1050" b="0" i="0">
                          <a:solidFill>
                            <a:srgbClr val="000000"/>
                          </a:solidFill>
                          <a:latin typeface="Calibri"/>
                        </a:rPr>
                        <a:t>Table 173: Global Market Average Selling Price by Hair Type Targeted, US$/Units, 2021–2036</a:t>
                      </a:r>
                      <a:endParaRPr sz="1050"/>
                    </a:p>
                  </a:txBody>
                  <a:tcPr marL="9525" marR="9525" marT="9525" marB="0" anchor="ctr"/>
                </a:tc>
              </a:tr>
              <a:tr h="169606">
                <a:tc>
                  <a:txBody>
                    <a:bodyPr wrap="square"/>
                    <a:lstStyle/>
                    <a:p>
                      <a:pPr algn="l"/>
                      <a:r>
                        <a:rPr sz="1050" b="0" i="0">
                          <a:solidFill>
                            <a:srgbClr val="000000"/>
                          </a:solidFill>
                          <a:latin typeface="Calibri"/>
                        </a:rPr>
                        <a:t>Table 174: Global Market Average Selling Price by Ingredient Technology, US$/Units, 2021–2036</a:t>
                      </a:r>
                      <a:endParaRPr sz="1050"/>
                    </a:p>
                  </a:txBody>
                  <a:tcPr marL="9525" marR="9525" marT="9525" marB="0" anchor="ctr"/>
                </a:tc>
              </a:tr>
              <a:tr h="169606">
                <a:tc>
                  <a:txBody>
                    <a:bodyPr wrap="square"/>
                    <a:lstStyle/>
                    <a:p>
                      <a:pPr algn="l"/>
                      <a:r>
                        <a:rPr sz="1050" b="0" i="0">
                          <a:solidFill>
                            <a:srgbClr val="000000"/>
                          </a:solidFill>
                          <a:latin typeface="Calibri"/>
                        </a:rPr>
                        <a:t>Table 175: Supplier-to-Customer Relationship Mapping in U.S., 2026</a:t>
                      </a:r>
                      <a:endParaRPr sz="1050"/>
                    </a:p>
                  </a:txBody>
                  <a:tcPr marL="9525" marR="9525" marT="9525" marB="0" anchor="ctr"/>
                </a:tc>
              </a:tr>
              <a:tr h="169606">
                <a:tc>
                  <a:txBody>
                    <a:bodyPr wrap="square"/>
                    <a:lstStyle/>
                    <a:p>
                      <a:pPr algn="l"/>
                      <a:r>
                        <a:rPr sz="1050" b="0" i="0">
                          <a:solidFill>
                            <a:srgbClr val="000000"/>
                          </a:solidFill>
                          <a:latin typeface="Calibri"/>
                        </a:rPr>
                        <a:t>Table 176: Global Market Value Chain Participants by Stage,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4160532"/>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177: Global Market Margin Analysis by Value Chain Stage, %, 2026</a:t>
                      </a:r>
                      <a:endParaRPr sz="1050"/>
                    </a:p>
                  </a:txBody>
                  <a:tcPr marL="9525" marR="9525" marT="9525" marB="0" anchor="ctr"/>
                </a:tc>
              </a:tr>
              <a:tr h="166688">
                <a:tc>
                  <a:txBody>
                    <a:bodyPr wrap="square"/>
                    <a:lstStyle/>
                    <a:p>
                      <a:pPr algn="l"/>
                      <a:r>
                        <a:rPr sz="1050" b="0" i="0">
                          <a:solidFill>
                            <a:srgbClr val="000000"/>
                          </a:solidFill>
                          <a:latin typeface="Calibri"/>
                        </a:rPr>
                        <a:t>Table 178: Global Market Cost Structure by Component, %, 2026</a:t>
                      </a:r>
                      <a:endParaRPr sz="1050"/>
                    </a:p>
                  </a:txBody>
                  <a:tcPr marL="9525" marR="9525" marT="9525" marB="0" anchor="ctr"/>
                </a:tc>
              </a:tr>
              <a:tr h="166688">
                <a:tc>
                  <a:txBody>
                    <a:bodyPr wrap="square"/>
                    <a:lstStyle/>
                    <a:p>
                      <a:pPr algn="l"/>
                      <a:r>
                        <a:rPr sz="1050" b="0" i="0">
                          <a:solidFill>
                            <a:srgbClr val="000000"/>
                          </a:solidFill>
                          <a:latin typeface="Calibri"/>
                        </a:rPr>
                        <a:t>Table 179: Global Market Import Value by Leading Country, US$ Mn, 2021–2025</a:t>
                      </a:r>
                      <a:endParaRPr sz="1050"/>
                    </a:p>
                  </a:txBody>
                  <a:tcPr marL="9525" marR="9525" marT="9525" marB="0" anchor="ctr"/>
                </a:tc>
              </a:tr>
              <a:tr h="166688">
                <a:tc>
                  <a:txBody>
                    <a:bodyPr wrap="square"/>
                    <a:lstStyle/>
                    <a:p>
                      <a:pPr algn="l"/>
                      <a:r>
                        <a:rPr sz="1050" b="0" i="0">
                          <a:solidFill>
                            <a:srgbClr val="000000"/>
                          </a:solidFill>
                          <a:latin typeface="Calibri"/>
                        </a:rPr>
                        <a:t>Table 180: Global Market Export Value by Leading Country, US$ Mn, 2021–2025</a:t>
                      </a:r>
                      <a:endParaRPr sz="1050"/>
                    </a:p>
                  </a:txBody>
                  <a:tcPr marL="9525" marR="9525" marT="9525" marB="0" anchor="ctr"/>
                </a:tc>
              </a:tr>
              <a:tr h="326708">
                <a:tc>
                  <a:txBody>
                    <a:bodyPr wrap="square"/>
                    <a:lstStyle/>
                    <a:p>
                      <a:pPr algn="l"/>
                      <a:r>
                        <a:rPr sz="1050" b="0" i="0">
                          <a:solidFill>
                            <a:srgbClr val="000000"/>
                          </a:solidFill>
                          <a:latin typeface="Calibri"/>
                        </a:rPr>
                        <a:t>Table 181: Leading Hair Styling Products Manufacturers: Product Portfolio and Geographic Presence, 2026</a:t>
                      </a:r>
                      <a:endParaRPr sz="1050"/>
                    </a:p>
                  </a:txBody>
                  <a:tcPr marL="9525" marR="9525" marT="9525" marB="0" anchor="ctr"/>
                </a:tc>
              </a:tr>
              <a:tr h="166688">
                <a:tc>
                  <a:txBody>
                    <a:bodyPr wrap="square"/>
                    <a:lstStyle/>
                    <a:p>
                      <a:pPr algn="l"/>
                      <a:r>
                        <a:rPr sz="1050" b="0" i="0">
                          <a:solidFill>
                            <a:srgbClr val="000000"/>
                          </a:solidFill>
                          <a:latin typeface="Calibri"/>
                        </a:rPr>
                        <a:t>Table 182: Company Revenue from the Global Market, US$ Mn, 2025–2026</a:t>
                      </a:r>
                      <a:endParaRPr sz="1050"/>
                    </a:p>
                  </a:txBody>
                  <a:tcPr marL="9525" marR="9525" marT="9525" marB="0" anchor="ctr"/>
                </a:tc>
              </a:tr>
              <a:tr h="166688">
                <a:tc>
                  <a:txBody>
                    <a:bodyPr wrap="square"/>
                    <a:lstStyle/>
                    <a:p>
                      <a:pPr algn="l"/>
                      <a:r>
                        <a:rPr sz="1050" b="0" i="0">
                          <a:solidFill>
                            <a:srgbClr val="000000"/>
                          </a:solidFill>
                          <a:latin typeface="Calibri"/>
                        </a:rPr>
                        <a:t>Table 183: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184: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185: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186: Company 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Company B: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Company C: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Company D: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Company 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Company F: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Company G: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Company H: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Product Format,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Product Format,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Product Format,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035810"/>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2340610"/>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045460"/>
            <a:ext cx="7124700" cy="32054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Hold Level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Finish</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Primary Styling Benefit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Hair Type Targeted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Ingredient Technology</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Summary, By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Units)</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388072" cy="186689"/>
          </a:xfrm>
          <a:prstGeom prst="rect">
            <a:avLst/>
          </a:prstGeom>
          <a:noFill/>
        </p:spPr>
        <p:txBody>
          <a:bodyPr wrap="none" lIns="0" rIns="0" tIns="0" bIns="0">
            <a:spAutoFit/>
          </a:bodyPr>
          <a:lstStyle/>
          <a:p>
            <a:r>
              <a:rPr sz="1100" b="0">
                <a:solidFill>
                  <a:srgbClr val="2E2E2E"/>
                </a:solidFill>
                <a:latin typeface="Calibri"/>
              </a:rPr>
              <a:t>Global hair styling products market is projected to register</a:t>
            </a:r>
          </a:p>
        </p:txBody>
      </p:sp>
      <p:pic>
        <p:nvPicPr>
          <p:cNvPr id="36" name="Picture 35" descr="lock.png"/>
          <p:cNvPicPr>
            <a:picLocks noChangeAspect="1"/>
          </p:cNvPicPr>
          <p:nvPr/>
        </p:nvPicPr>
        <p:blipFill>
          <a:blip r:embed="rId6"/>
          <a:stretch>
            <a:fillRect/>
          </a:stretch>
        </p:blipFill>
        <p:spPr>
          <a:xfrm>
            <a:off x="11384748" y="2037208"/>
            <a:ext cx="128699" cy="187198"/>
          </a:xfrm>
          <a:prstGeom prst="rect">
            <a:avLst/>
          </a:prstGeom>
        </p:spPr>
      </p:pic>
      <p:sp>
        <p:nvSpPr>
          <p:cNvPr id="37" name="TextBox 36"/>
          <p:cNvSpPr txBox="1"/>
          <p:nvPr/>
        </p:nvSpPr>
        <p:spPr>
          <a:xfrm>
            <a:off x="11552244"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8" name="TextBox 37"/>
          <p:cNvSpPr txBox="1"/>
          <p:nvPr/>
        </p:nvSpPr>
        <p:spPr>
          <a:xfrm>
            <a:off x="8048625" y="2214627"/>
            <a:ext cx="3848100" cy="186689"/>
          </a:xfrm>
          <a:prstGeom prst="rect">
            <a:avLst/>
          </a:prstGeom>
          <a:noFill/>
        </p:spPr>
        <p:txBody>
          <a:bodyPr wrap="none" lIns="0" rIns="0" tIns="0" bIns="0">
            <a:spAutoFit/>
          </a:bodyPr>
          <a:lstStyle/>
          <a:p>
            <a:r>
              <a:rPr sz="1100" b="0">
                <a:solidFill>
                  <a:srgbClr val="2E2E2E"/>
                </a:solidFill>
                <a:latin typeface="Calibri"/>
              </a:rPr>
              <a:t>increase in volume by the end of forecast period, 2036. Global hair</a:t>
            </a:r>
          </a:p>
        </p:txBody>
      </p:sp>
      <p:sp>
        <p:nvSpPr>
          <p:cNvPr id="39" name="TextBox 38"/>
          <p:cNvSpPr txBox="1"/>
          <p:nvPr/>
        </p:nvSpPr>
        <p:spPr>
          <a:xfrm>
            <a:off x="8048625" y="2382267"/>
            <a:ext cx="2373064" cy="186689"/>
          </a:xfrm>
          <a:prstGeom prst="rect">
            <a:avLst/>
          </a:prstGeom>
          <a:noFill/>
        </p:spPr>
        <p:txBody>
          <a:bodyPr wrap="none" lIns="0" rIns="0" tIns="0" bIns="0">
            <a:spAutoFit/>
          </a:bodyPr>
          <a:lstStyle/>
          <a:p>
            <a:r>
              <a:rPr sz="1100" b="0">
                <a:solidFill>
                  <a:srgbClr val="2E2E2E"/>
                </a:solidFill>
                <a:latin typeface="Calibri"/>
              </a:rPr>
              <a:t>styling products market volume stood at</a:t>
            </a:r>
          </a:p>
        </p:txBody>
      </p:sp>
      <p:pic>
        <p:nvPicPr>
          <p:cNvPr id="40" name="Picture 39" descr="lock.png"/>
          <p:cNvPicPr>
            <a:picLocks noChangeAspect="1"/>
          </p:cNvPicPr>
          <p:nvPr/>
        </p:nvPicPr>
        <p:blipFill>
          <a:blip r:embed="rId6"/>
          <a:stretch>
            <a:fillRect/>
          </a:stretch>
        </p:blipFill>
        <p:spPr>
          <a:xfrm>
            <a:off x="10369741" y="2372488"/>
            <a:ext cx="128699" cy="187198"/>
          </a:xfrm>
          <a:prstGeom prst="rect">
            <a:avLst/>
          </a:prstGeom>
        </p:spPr>
      </p:pic>
      <p:sp>
        <p:nvSpPr>
          <p:cNvPr id="41" name="TextBox 40"/>
          <p:cNvSpPr txBox="1"/>
          <p:nvPr/>
        </p:nvSpPr>
        <p:spPr>
          <a:xfrm>
            <a:off x="10537236" y="2382267"/>
            <a:ext cx="1295573" cy="186689"/>
          </a:xfrm>
          <a:prstGeom prst="rect">
            <a:avLst/>
          </a:prstGeom>
          <a:noFill/>
        </p:spPr>
        <p:txBody>
          <a:bodyPr wrap="none" lIns="0" rIns="0" tIns="0" bIns="0">
            <a:spAutoFit/>
          </a:bodyPr>
          <a:lstStyle/>
          <a:p>
            <a:r>
              <a:rPr sz="1100" b="0">
                <a:solidFill>
                  <a:srgbClr val="2E2E2E"/>
                </a:solidFill>
                <a:latin typeface="Calibri"/>
              </a:rPr>
              <a:t>Mn Units in 2025 and</a:t>
            </a:r>
          </a:p>
        </p:txBody>
      </p:sp>
      <p:sp>
        <p:nvSpPr>
          <p:cNvPr id="42" name="TextBox 41"/>
          <p:cNvSpPr txBox="1"/>
          <p:nvPr/>
        </p:nvSpPr>
        <p:spPr>
          <a:xfrm>
            <a:off x="8048625" y="2549907"/>
            <a:ext cx="1218629" cy="186689"/>
          </a:xfrm>
          <a:prstGeom prst="rect">
            <a:avLst/>
          </a:prstGeom>
          <a:noFill/>
        </p:spPr>
        <p:txBody>
          <a:bodyPr wrap="none" lIns="0" rIns="0" tIns="0" bIns="0">
            <a:spAutoFit/>
          </a:bodyPr>
          <a:lstStyle/>
          <a:p>
            <a:r>
              <a:rPr sz="1100" b="0">
                <a:solidFill>
                  <a:srgbClr val="2E2E2E"/>
                </a:solidFill>
                <a:latin typeface="Calibri"/>
              </a:rPr>
              <a:t>is expected to reach</a:t>
            </a:r>
          </a:p>
        </p:txBody>
      </p:sp>
      <p:pic>
        <p:nvPicPr>
          <p:cNvPr id="43" name="Picture 42" descr="lock.png"/>
          <p:cNvPicPr>
            <a:picLocks noChangeAspect="1"/>
          </p:cNvPicPr>
          <p:nvPr/>
        </p:nvPicPr>
        <p:blipFill>
          <a:blip r:embed="rId6"/>
          <a:stretch>
            <a:fillRect/>
          </a:stretch>
        </p:blipFill>
        <p:spPr>
          <a:xfrm>
            <a:off x="9215306" y="2540128"/>
            <a:ext cx="128699" cy="187198"/>
          </a:xfrm>
          <a:prstGeom prst="rect">
            <a:avLst/>
          </a:prstGeom>
        </p:spPr>
      </p:pic>
      <p:sp>
        <p:nvSpPr>
          <p:cNvPr id="44" name="TextBox 43"/>
          <p:cNvSpPr txBox="1"/>
          <p:nvPr/>
        </p:nvSpPr>
        <p:spPr>
          <a:xfrm>
            <a:off x="9382801" y="2549907"/>
            <a:ext cx="2107017" cy="186689"/>
          </a:xfrm>
          <a:prstGeom prst="rect">
            <a:avLst/>
          </a:prstGeom>
          <a:noFill/>
        </p:spPr>
        <p:txBody>
          <a:bodyPr wrap="none" lIns="0" rIns="0" tIns="0" bIns="0">
            <a:spAutoFit/>
          </a:bodyPr>
          <a:lstStyle/>
          <a:p>
            <a:r>
              <a:rPr sz="1100" b="0">
                <a:solidFill>
                  <a:srgbClr val="2E2E2E"/>
                </a:solidFill>
                <a:latin typeface="Calibri"/>
              </a:rPr>
              <a:t>Mn Units by 2036 end, at a CAGR of</a:t>
            </a:r>
          </a:p>
        </p:txBody>
      </p:sp>
      <p:pic>
        <p:nvPicPr>
          <p:cNvPr id="45" name="Picture 44" descr="lock.png"/>
          <p:cNvPicPr>
            <a:picLocks noChangeAspect="1"/>
          </p:cNvPicPr>
          <p:nvPr/>
        </p:nvPicPr>
        <p:blipFill>
          <a:blip r:embed="rId6"/>
          <a:stretch>
            <a:fillRect/>
          </a:stretch>
        </p:blipFill>
        <p:spPr>
          <a:xfrm>
            <a:off x="11437870" y="2540128"/>
            <a:ext cx="128699" cy="187198"/>
          </a:xfrm>
          <a:prstGeom prst="rect">
            <a:avLst/>
          </a:prstGeom>
        </p:spPr>
      </p:pic>
      <p:sp>
        <p:nvSpPr>
          <p:cNvPr id="46" name="TextBox 45"/>
          <p:cNvSpPr txBox="1"/>
          <p:nvPr/>
        </p:nvSpPr>
        <p:spPr>
          <a:xfrm>
            <a:off x="11605366" y="254990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767838"/>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293547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50" name="Picture 49" descr="lock.png"/>
          <p:cNvPicPr>
            <a:picLocks noChangeAspect="1"/>
          </p:cNvPicPr>
          <p:nvPr/>
        </p:nvPicPr>
        <p:blipFill>
          <a:blip r:embed="rId6"/>
          <a:stretch>
            <a:fillRect/>
          </a:stretch>
        </p:blipFill>
        <p:spPr>
          <a:xfrm>
            <a:off x="10866614" y="4446251"/>
            <a:ext cx="134549" cy="195707"/>
          </a:xfrm>
          <a:prstGeom prst="rect">
            <a:avLst/>
          </a:prstGeom>
        </p:spPr>
      </p:pic>
      <p:sp>
        <p:nvSpPr>
          <p:cNvPr id="51" name="TextBox 50"/>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767100" cy="194310"/>
          </a:xfrm>
          <a:prstGeom prst="rect">
            <a:avLst/>
          </a:prstGeom>
          <a:noFill/>
        </p:spPr>
        <p:txBody>
          <a:bodyPr wrap="none" lIns="0" rIns="0" tIns="0" bIns="0">
            <a:spAutoFit/>
          </a:bodyPr>
          <a:lstStyle/>
          <a:p>
            <a:r>
              <a:rPr sz="1150" b="0">
                <a:solidFill>
                  <a:srgbClr val="2E2E2E"/>
                </a:solidFill>
                <a:latin typeface="Calibri"/>
              </a:rPr>
              <a:t>▪ Demand concentrates in 'Waxes, Clays, Pastes and Pomades'</a:t>
            </a:r>
          </a:p>
        </p:txBody>
      </p:sp>
      <p:sp>
        <p:nvSpPr>
          <p:cNvPr id="53" name="TextBox 52"/>
          <p:cNvSpPr txBox="1"/>
          <p:nvPr/>
        </p:nvSpPr>
        <p:spPr>
          <a:xfrm>
            <a:off x="8048625" y="4859572"/>
            <a:ext cx="1452233" cy="194310"/>
          </a:xfrm>
          <a:prstGeom prst="rect">
            <a:avLst/>
          </a:prstGeom>
          <a:noFill/>
        </p:spPr>
        <p:txBody>
          <a:bodyPr wrap="none" lIns="0" rIns="0" tIns="0" bIns="0">
            <a:spAutoFit/>
          </a:bodyPr>
          <a:lstStyle/>
          <a:p>
            <a:r>
              <a:rPr sz="1150" b="0">
                <a:solidFill>
                  <a:srgbClr val="2E2E2E"/>
                </a:solidFill>
                <a:latin typeface="Calibri"/>
              </a:rPr>
              <a:t>within Product Format.</a:t>
            </a:r>
          </a:p>
        </p:txBody>
      </p:sp>
      <p:sp>
        <p:nvSpPr>
          <p:cNvPr id="54" name="TextBox 53"/>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5" name="TextBox 54"/>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6"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Format  ·  range across 2021–2036 (US$/Units)</a:t>
            </a:r>
          </a:p>
        </p:txBody>
      </p:sp>
      <p:cxnSp>
        <p:nvCxnSpPr>
          <p:cNvPr id="13" name="Connector 12"/>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4" name="FMI Scale tick"/>
          <p:cNvSpPr txBox="1"/>
          <p:nvPr/>
        </p:nvSpPr>
        <p:spPr>
          <a:xfrm>
            <a:off x="219075" y="303404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221015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6"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7" name="Connector 26"/>
          <p:cNvCxnSpPr/>
          <p:nvPr/>
        </p:nvCxnSpPr>
        <p:spPr>
          <a:xfrm flipV="1">
            <a:off x="1095375" y="2407788"/>
            <a:ext cx="0" cy="14844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3930" y="255623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3930" y="24077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76300" y="2471789"/>
            <a:ext cx="438150" cy="7623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76300" y="251833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7225" y="2255388"/>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3" name="Connector 32"/>
          <p:cNvCxnSpPr/>
          <p:nvPr/>
        </p:nvCxnSpPr>
        <p:spPr>
          <a:xfrm flipV="1">
            <a:off x="1971675" y="2809339"/>
            <a:ext cx="0" cy="10124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840230"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840230" y="280933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752600" y="2853539"/>
            <a:ext cx="438150" cy="5202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752600" y="288526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533525" y="2656939"/>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9" name="Connector 38"/>
          <p:cNvCxnSpPr/>
          <p:nvPr/>
        </p:nvCxnSpPr>
        <p:spPr>
          <a:xfrm flipV="1">
            <a:off x="2847975" y="2817467"/>
            <a:ext cx="0" cy="8694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716530" y="290441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716530" y="281746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628900" y="2856112"/>
            <a:ext cx="438150" cy="4457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628900" y="288348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409825" y="266506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5" name="Connector 44"/>
          <p:cNvCxnSpPr/>
          <p:nvPr/>
        </p:nvCxnSpPr>
        <p:spPr>
          <a:xfrm flipV="1">
            <a:off x="3724275" y="2472684"/>
            <a:ext cx="0" cy="15729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592830" y="262998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592830" y="24726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3505200" y="2535638"/>
            <a:ext cx="438150" cy="8204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3505200" y="258283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286125" y="232028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1" name="Connector 50"/>
          <p:cNvCxnSpPr/>
          <p:nvPr/>
        </p:nvCxnSpPr>
        <p:spPr>
          <a:xfrm flipV="1">
            <a:off x="4600575" y="2095182"/>
            <a:ext cx="0" cy="18750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69130" y="228268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469130" y="209518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4381500" y="2174096"/>
            <a:ext cx="438150" cy="99793"/>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4381500" y="223298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162425" y="1942782"/>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7" name="Connector 56"/>
          <p:cNvCxnSpPr/>
          <p:nvPr/>
        </p:nvCxnSpPr>
        <p:spPr>
          <a:xfrm flipV="1">
            <a:off x="5476875" y="2318275"/>
            <a:ext cx="0" cy="12554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5430" y="244381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345430" y="231827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5257800" y="2371454"/>
            <a:ext cx="438150" cy="6443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5257800" y="240923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38725" y="2165875"/>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3" name="Connector 62"/>
          <p:cNvCxnSpPr/>
          <p:nvPr/>
        </p:nvCxnSpPr>
        <p:spPr>
          <a:xfrm flipV="1">
            <a:off x="6353175" y="1643073"/>
            <a:ext cx="0" cy="24623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221730" y="188930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221730"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6134100" y="1758229"/>
            <a:ext cx="438150" cy="12132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6134100" y="183207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915025" y="1490673"/>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9" name="Connector 68"/>
          <p:cNvCxnSpPr/>
          <p:nvPr/>
        </p:nvCxnSpPr>
        <p:spPr>
          <a:xfrm flipV="1">
            <a:off x="7229475" y="1911276"/>
            <a:ext cx="0" cy="20999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098030" y="212127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098030" y="191127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7010400" y="1993047"/>
            <a:ext cx="438150" cy="11129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7010400" y="2058041"/>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791325" y="1758876"/>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75" name="TextBox 74"/>
          <p:cNvSpPr txBox="1"/>
          <p:nvPr/>
        </p:nvSpPr>
        <p:spPr>
          <a:xfrm>
            <a:off x="6572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Sprays and Mists</a:t>
            </a:r>
          </a:p>
        </p:txBody>
      </p:sp>
      <p:sp>
        <p:nvSpPr>
          <p:cNvPr id="76" name="TextBox 75"/>
          <p:cNvSpPr txBox="1"/>
          <p:nvPr/>
        </p:nvSpPr>
        <p:spPr>
          <a:xfrm>
            <a:off x="15335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Mousses and Foams</a:t>
            </a:r>
          </a:p>
        </p:txBody>
      </p:sp>
      <p:sp>
        <p:nvSpPr>
          <p:cNvPr id="77" name="TextBox 76"/>
          <p:cNvSpPr txBox="1"/>
          <p:nvPr/>
        </p:nvSpPr>
        <p:spPr>
          <a:xfrm>
            <a:off x="24098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Gels and Jellies</a:t>
            </a:r>
          </a:p>
        </p:txBody>
      </p:sp>
      <p:sp>
        <p:nvSpPr>
          <p:cNvPr id="78" name="TextBox 77"/>
          <p:cNvSpPr txBox="1"/>
          <p:nvPr/>
        </p:nvSpPr>
        <p:spPr>
          <a:xfrm>
            <a:off x="32861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Creams and Lotions</a:t>
            </a:r>
          </a:p>
        </p:txBody>
      </p:sp>
      <p:sp>
        <p:nvSpPr>
          <p:cNvPr id="79" name="TextBox 78"/>
          <p:cNvSpPr txBox="1"/>
          <p:nvPr/>
        </p:nvSpPr>
        <p:spPr>
          <a:xfrm>
            <a:off x="41624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Waxes, Clays, Pastes…</a:t>
            </a:r>
          </a:p>
        </p:txBody>
      </p:sp>
      <p:sp>
        <p:nvSpPr>
          <p:cNvPr id="80" name="TextBox 79"/>
          <p:cNvSpPr txBox="1"/>
          <p:nvPr/>
        </p:nvSpPr>
        <p:spPr>
          <a:xfrm>
            <a:off x="50387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Powders</a:t>
            </a:r>
          </a:p>
        </p:txBody>
      </p:sp>
      <p:sp>
        <p:nvSpPr>
          <p:cNvPr id="81" name="TextBox 80"/>
          <p:cNvSpPr txBox="1"/>
          <p:nvPr/>
        </p:nvSpPr>
        <p:spPr>
          <a:xfrm>
            <a:off x="59150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Serums and Oils</a:t>
            </a:r>
          </a:p>
        </p:txBody>
      </p:sp>
      <p:sp>
        <p:nvSpPr>
          <p:cNvPr id="82" name="TextBox 81"/>
          <p:cNvSpPr txBox="1"/>
          <p:nvPr/>
        </p:nvSpPr>
        <p:spPr>
          <a:xfrm>
            <a:off x="67913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Sticks and Balms</a:t>
            </a:r>
          </a:p>
        </p:txBody>
      </p:sp>
      <p:sp>
        <p:nvSpPr>
          <p:cNvPr id="83" name="Rounded Rectangle 82"/>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85" name="Connector 84"/>
          <p:cNvCxnSpPr/>
          <p:nvPr/>
        </p:nvCxnSpPr>
        <p:spPr>
          <a:xfrm>
            <a:off x="619125" y="43180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19125" y="472891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19125" y="555064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19125" y="596150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19125" y="4318045"/>
            <a:ext cx="0" cy="1643461"/>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90550" y="43180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90550" y="472891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90550" y="555064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90550" y="596150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96" name="FMI Scale tick"/>
          <p:cNvSpPr txBox="1"/>
          <p:nvPr/>
        </p:nvSpPr>
        <p:spPr>
          <a:xfrm>
            <a:off x="219075" y="4251370"/>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97" name="FMI Scale tick"/>
          <p:cNvSpPr txBox="1"/>
          <p:nvPr/>
        </p:nvSpPr>
        <p:spPr>
          <a:xfrm>
            <a:off x="219075" y="4662235"/>
            <a:ext cx="361950" cy="133350"/>
          </a:xfrm>
          <a:prstGeom prst="rect">
            <a:avLst/>
          </a:prstGeom>
          <a:noFill/>
        </p:spPr>
        <p:txBody>
          <a:bodyPr wrap="none" lIns="0" rIns="0" tIns="0" bIns="0" anchor="ctr">
            <a:spAutoFit/>
          </a:bodyPr>
          <a:lstStyle/>
          <a:p>
            <a:pPr algn="r"/>
            <a:r>
              <a:rPr sz="1100" b="0">
                <a:solidFill>
                  <a:srgbClr val="6C7A89"/>
                </a:solidFill>
                <a:latin typeface="Calibri"/>
              </a:rPr>
              <a:t>+24%</a:t>
            </a:r>
          </a:p>
        </p:txBody>
      </p:sp>
      <p:sp>
        <p:nvSpPr>
          <p:cNvPr id="98"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99" name="FMI Scale tick"/>
          <p:cNvSpPr txBox="1"/>
          <p:nvPr/>
        </p:nvSpPr>
        <p:spPr>
          <a:xfrm>
            <a:off x="219075" y="5483966"/>
            <a:ext cx="361950" cy="133350"/>
          </a:xfrm>
          <a:prstGeom prst="rect">
            <a:avLst/>
          </a:prstGeom>
          <a:noFill/>
        </p:spPr>
        <p:txBody>
          <a:bodyPr wrap="none" lIns="0" rIns="0" tIns="0" bIns="0" anchor="ctr">
            <a:spAutoFit/>
          </a:bodyPr>
          <a:lstStyle/>
          <a:p>
            <a:pPr algn="r"/>
            <a:r>
              <a:rPr sz="1100" b="0">
                <a:solidFill>
                  <a:srgbClr val="6C7A89"/>
                </a:solidFill>
                <a:latin typeface="Calibri"/>
              </a:rPr>
              <a:t>-24%</a:t>
            </a:r>
          </a:p>
        </p:txBody>
      </p:sp>
      <p:sp>
        <p:nvSpPr>
          <p:cNvPr id="100" name="FMI Scale tick"/>
          <p:cNvSpPr txBox="1"/>
          <p:nvPr/>
        </p:nvSpPr>
        <p:spPr>
          <a:xfrm>
            <a:off x="219075" y="5894831"/>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101" name="Connector 100"/>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4" name="Rectangle 103"/>
          <p:cNvSpPr/>
          <p:nvPr/>
        </p:nvSpPr>
        <p:spPr>
          <a:xfrm>
            <a:off x="2152650" y="5139776"/>
            <a:ext cx="457200" cy="41387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MI Data Label"/>
          <p:cNvSpPr txBox="1"/>
          <p:nvPr/>
        </p:nvSpPr>
        <p:spPr>
          <a:xfrm>
            <a:off x="1793875" y="556317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6" name="Rectangle 105"/>
          <p:cNvSpPr/>
          <p:nvPr/>
        </p:nvSpPr>
        <p:spPr>
          <a:xfrm>
            <a:off x="3327400" y="5088938"/>
            <a:ext cx="457200" cy="5083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MI Data Label"/>
          <p:cNvSpPr txBox="1"/>
          <p:nvPr/>
        </p:nvSpPr>
        <p:spPr>
          <a:xfrm>
            <a:off x="2968625" y="494606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8" name="Rectangle 107"/>
          <p:cNvSpPr/>
          <p:nvPr/>
        </p:nvSpPr>
        <p:spPr>
          <a:xfrm>
            <a:off x="4502150" y="5139776"/>
            <a:ext cx="457200" cy="5886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MI Data Label"/>
          <p:cNvSpPr txBox="1"/>
          <p:nvPr/>
        </p:nvSpPr>
        <p:spPr>
          <a:xfrm>
            <a:off x="4143375" y="520816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0" name="Rectangle 109"/>
          <p:cNvSpPr/>
          <p:nvPr/>
        </p:nvSpPr>
        <p:spPr>
          <a:xfrm>
            <a:off x="5676900" y="5139776"/>
            <a:ext cx="457200" cy="48583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MI Data Label"/>
          <p:cNvSpPr txBox="1"/>
          <p:nvPr/>
        </p:nvSpPr>
        <p:spPr>
          <a:xfrm>
            <a:off x="5318125" y="563513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2" name="Rectangle 111"/>
          <p:cNvSpPr/>
          <p:nvPr/>
        </p:nvSpPr>
        <p:spPr>
          <a:xfrm>
            <a:off x="6851650" y="5139776"/>
            <a:ext cx="457200" cy="21675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MI Data Label"/>
          <p:cNvSpPr txBox="1"/>
          <p:nvPr/>
        </p:nvSpPr>
        <p:spPr>
          <a:xfrm>
            <a:off x="6492875" y="536605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14" name="TextBox 113"/>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115" name="TextBox 114"/>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116" name="TextBox 115"/>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117" name="TextBox 116"/>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118" name="TextBox 117"/>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119" name="TextBox 118"/>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120" name="Rounded Rectangle 119"/>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22" name="Rectangle 121"/>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24" name="TextBox 1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5" name="Picture 124" descr="lock.png"/>
          <p:cNvPicPr>
            <a:picLocks noChangeAspect="1"/>
          </p:cNvPicPr>
          <p:nvPr/>
        </p:nvPicPr>
        <p:blipFill>
          <a:blip r:embed="rId4"/>
          <a:stretch>
            <a:fillRect/>
          </a:stretch>
        </p:blipFill>
        <p:spPr>
          <a:xfrm>
            <a:off x="1031025" y="2228464"/>
            <a:ext cx="128699" cy="187198"/>
          </a:xfrm>
          <a:prstGeom prst="rect">
            <a:avLst/>
          </a:prstGeom>
        </p:spPr>
      </p:pic>
      <p:pic>
        <p:nvPicPr>
          <p:cNvPr id="126" name="Picture 125" descr="lock.png"/>
          <p:cNvPicPr>
            <a:picLocks noChangeAspect="1"/>
          </p:cNvPicPr>
          <p:nvPr/>
        </p:nvPicPr>
        <p:blipFill>
          <a:blip r:embed="rId4"/>
          <a:stretch>
            <a:fillRect/>
          </a:stretch>
        </p:blipFill>
        <p:spPr>
          <a:xfrm>
            <a:off x="1907325" y="2630015"/>
            <a:ext cx="128699" cy="187198"/>
          </a:xfrm>
          <a:prstGeom prst="rect">
            <a:avLst/>
          </a:prstGeom>
        </p:spPr>
      </p:pic>
      <p:pic>
        <p:nvPicPr>
          <p:cNvPr id="127" name="Picture 126" descr="lock.png"/>
          <p:cNvPicPr>
            <a:picLocks noChangeAspect="1"/>
          </p:cNvPicPr>
          <p:nvPr/>
        </p:nvPicPr>
        <p:blipFill>
          <a:blip r:embed="rId4"/>
          <a:stretch>
            <a:fillRect/>
          </a:stretch>
        </p:blipFill>
        <p:spPr>
          <a:xfrm>
            <a:off x="2783625" y="2638143"/>
            <a:ext cx="128699" cy="187198"/>
          </a:xfrm>
          <a:prstGeom prst="rect">
            <a:avLst/>
          </a:prstGeom>
        </p:spPr>
      </p:pic>
      <p:pic>
        <p:nvPicPr>
          <p:cNvPr id="128" name="Picture 127" descr="lock.png"/>
          <p:cNvPicPr>
            <a:picLocks noChangeAspect="1"/>
          </p:cNvPicPr>
          <p:nvPr/>
        </p:nvPicPr>
        <p:blipFill>
          <a:blip r:embed="rId4"/>
          <a:stretch>
            <a:fillRect/>
          </a:stretch>
        </p:blipFill>
        <p:spPr>
          <a:xfrm>
            <a:off x="3659925" y="2293360"/>
            <a:ext cx="128699" cy="187198"/>
          </a:xfrm>
          <a:prstGeom prst="rect">
            <a:avLst/>
          </a:prstGeom>
        </p:spPr>
      </p:pic>
      <p:pic>
        <p:nvPicPr>
          <p:cNvPr id="129" name="Picture 128" descr="lock.png"/>
          <p:cNvPicPr>
            <a:picLocks noChangeAspect="1"/>
          </p:cNvPicPr>
          <p:nvPr/>
        </p:nvPicPr>
        <p:blipFill>
          <a:blip r:embed="rId4"/>
          <a:stretch>
            <a:fillRect/>
          </a:stretch>
        </p:blipFill>
        <p:spPr>
          <a:xfrm>
            <a:off x="4536225" y="1915858"/>
            <a:ext cx="128699" cy="187198"/>
          </a:xfrm>
          <a:prstGeom prst="rect">
            <a:avLst/>
          </a:prstGeom>
        </p:spPr>
      </p:pic>
      <p:pic>
        <p:nvPicPr>
          <p:cNvPr id="130" name="Picture 129" descr="lock.png"/>
          <p:cNvPicPr>
            <a:picLocks noChangeAspect="1"/>
          </p:cNvPicPr>
          <p:nvPr/>
        </p:nvPicPr>
        <p:blipFill>
          <a:blip r:embed="rId4"/>
          <a:stretch>
            <a:fillRect/>
          </a:stretch>
        </p:blipFill>
        <p:spPr>
          <a:xfrm>
            <a:off x="5412525" y="2138951"/>
            <a:ext cx="128699" cy="187198"/>
          </a:xfrm>
          <a:prstGeom prst="rect">
            <a:avLst/>
          </a:prstGeom>
        </p:spPr>
      </p:pic>
      <p:pic>
        <p:nvPicPr>
          <p:cNvPr id="131" name="Picture 130" descr="lock.png"/>
          <p:cNvPicPr>
            <a:picLocks noChangeAspect="1"/>
          </p:cNvPicPr>
          <p:nvPr/>
        </p:nvPicPr>
        <p:blipFill>
          <a:blip r:embed="rId4"/>
          <a:stretch>
            <a:fillRect/>
          </a:stretch>
        </p:blipFill>
        <p:spPr>
          <a:xfrm>
            <a:off x="6288825" y="1463749"/>
            <a:ext cx="128699" cy="187198"/>
          </a:xfrm>
          <a:prstGeom prst="rect">
            <a:avLst/>
          </a:prstGeom>
        </p:spPr>
      </p:pic>
      <p:pic>
        <p:nvPicPr>
          <p:cNvPr id="132" name="Picture 131" descr="lock.png"/>
          <p:cNvPicPr>
            <a:picLocks noChangeAspect="1"/>
          </p:cNvPicPr>
          <p:nvPr/>
        </p:nvPicPr>
        <p:blipFill>
          <a:blip r:embed="rId4"/>
          <a:stretch>
            <a:fillRect/>
          </a:stretch>
        </p:blipFill>
        <p:spPr>
          <a:xfrm>
            <a:off x="7165125" y="1731952"/>
            <a:ext cx="128699" cy="187198"/>
          </a:xfrm>
          <a:prstGeom prst="rect">
            <a:avLst/>
          </a:prstGeom>
        </p:spPr>
      </p:pic>
      <p:pic>
        <p:nvPicPr>
          <p:cNvPr id="133" name="Picture 132" descr="lock.png"/>
          <p:cNvPicPr>
            <a:picLocks noChangeAspect="1"/>
          </p:cNvPicPr>
          <p:nvPr/>
        </p:nvPicPr>
        <p:blipFill>
          <a:blip r:embed="rId4"/>
          <a:stretch>
            <a:fillRect/>
          </a:stretch>
        </p:blipFill>
        <p:spPr>
          <a:xfrm>
            <a:off x="1142150" y="4253659"/>
            <a:ext cx="128699" cy="187198"/>
          </a:xfrm>
          <a:prstGeom prst="rect">
            <a:avLst/>
          </a:prstGeom>
        </p:spPr>
      </p:pic>
      <p:pic>
        <p:nvPicPr>
          <p:cNvPr id="134" name="Picture 133" descr="lock.png"/>
          <p:cNvPicPr>
            <a:picLocks noChangeAspect="1"/>
          </p:cNvPicPr>
          <p:nvPr/>
        </p:nvPicPr>
        <p:blipFill>
          <a:blip r:embed="rId4"/>
          <a:stretch>
            <a:fillRect/>
          </a:stretch>
        </p:blipFill>
        <p:spPr>
          <a:xfrm>
            <a:off x="2316900" y="5536254"/>
            <a:ext cx="128699" cy="187198"/>
          </a:xfrm>
          <a:prstGeom prst="rect">
            <a:avLst/>
          </a:prstGeom>
        </p:spPr>
      </p:pic>
      <p:pic>
        <p:nvPicPr>
          <p:cNvPr id="135" name="Picture 134" descr="lock.png"/>
          <p:cNvPicPr>
            <a:picLocks noChangeAspect="1"/>
          </p:cNvPicPr>
          <p:nvPr/>
        </p:nvPicPr>
        <p:blipFill>
          <a:blip r:embed="rId4"/>
          <a:stretch>
            <a:fillRect/>
          </a:stretch>
        </p:blipFill>
        <p:spPr>
          <a:xfrm>
            <a:off x="3491650" y="4919138"/>
            <a:ext cx="128699" cy="187198"/>
          </a:xfrm>
          <a:prstGeom prst="rect">
            <a:avLst/>
          </a:prstGeom>
        </p:spPr>
      </p:pic>
      <p:pic>
        <p:nvPicPr>
          <p:cNvPr id="136" name="Picture 135" descr="lock.png"/>
          <p:cNvPicPr>
            <a:picLocks noChangeAspect="1"/>
          </p:cNvPicPr>
          <p:nvPr/>
        </p:nvPicPr>
        <p:blipFill>
          <a:blip r:embed="rId4"/>
          <a:stretch>
            <a:fillRect/>
          </a:stretch>
        </p:blipFill>
        <p:spPr>
          <a:xfrm>
            <a:off x="4666400" y="5181243"/>
            <a:ext cx="128699" cy="187198"/>
          </a:xfrm>
          <a:prstGeom prst="rect">
            <a:avLst/>
          </a:prstGeom>
        </p:spPr>
      </p:pic>
      <p:pic>
        <p:nvPicPr>
          <p:cNvPr id="137" name="Picture 136" descr="lock.png"/>
          <p:cNvPicPr>
            <a:picLocks noChangeAspect="1"/>
          </p:cNvPicPr>
          <p:nvPr/>
        </p:nvPicPr>
        <p:blipFill>
          <a:blip r:embed="rId4"/>
          <a:stretch>
            <a:fillRect/>
          </a:stretch>
        </p:blipFill>
        <p:spPr>
          <a:xfrm>
            <a:off x="5841150" y="5608214"/>
            <a:ext cx="128699" cy="187198"/>
          </a:xfrm>
          <a:prstGeom prst="rect">
            <a:avLst/>
          </a:prstGeom>
        </p:spPr>
      </p:pic>
      <p:pic>
        <p:nvPicPr>
          <p:cNvPr id="138" name="Picture 137" descr="lock.png"/>
          <p:cNvPicPr>
            <a:picLocks noChangeAspect="1"/>
          </p:cNvPicPr>
          <p:nvPr/>
        </p:nvPicPr>
        <p:blipFill>
          <a:blip r:embed="rId4"/>
          <a:stretch>
            <a:fillRect/>
          </a:stretch>
        </p:blipFill>
        <p:spPr>
          <a:xfrm>
            <a:off x="7015900" y="5339127"/>
            <a:ext cx="128699" cy="187198"/>
          </a:xfrm>
          <a:prstGeom prst="rect">
            <a:avLst/>
          </a:prstGeom>
        </p:spPr>
      </p:pic>
      <p:sp>
        <p:nvSpPr>
          <p:cNvPr id="139" name="TextBox 138"/>
          <p:cNvSpPr txBox="1"/>
          <p:nvPr/>
        </p:nvSpPr>
        <p:spPr>
          <a:xfrm>
            <a:off x="8048625" y="1471995"/>
            <a:ext cx="3695786" cy="194310"/>
          </a:xfrm>
          <a:prstGeom prst="rect">
            <a:avLst/>
          </a:prstGeom>
          <a:noFill/>
        </p:spPr>
        <p:txBody>
          <a:bodyPr wrap="none" lIns="0" rIns="0" tIns="0" bIns="0">
            <a:spAutoFit/>
          </a:bodyPr>
          <a:lstStyle/>
          <a:p>
            <a:r>
              <a:rPr sz="1150" b="0">
                <a:solidFill>
                  <a:srgbClr val="2E2E2E"/>
                </a:solidFill>
                <a:latin typeface="Calibri"/>
              </a:rPr>
              <a:t>Styling serums and oils segment is expected to command the</a:t>
            </a:r>
          </a:p>
        </p:txBody>
      </p:sp>
      <p:sp>
        <p:nvSpPr>
          <p:cNvPr id="140" name="TextBox 139"/>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41" name="Picture 140" descr="lock.png"/>
          <p:cNvPicPr>
            <a:picLocks noChangeAspect="1"/>
          </p:cNvPicPr>
          <p:nvPr/>
        </p:nvPicPr>
        <p:blipFill>
          <a:blip r:embed="rId4"/>
          <a:stretch>
            <a:fillRect/>
          </a:stretch>
        </p:blipFill>
        <p:spPr>
          <a:xfrm>
            <a:off x="9764678" y="1637031"/>
            <a:ext cx="134549" cy="195707"/>
          </a:xfrm>
          <a:prstGeom prst="rect">
            <a:avLst/>
          </a:prstGeom>
        </p:spPr>
      </p:pic>
      <p:sp>
        <p:nvSpPr>
          <p:cNvPr id="142" name="TextBox 141"/>
          <p:cNvSpPr txBox="1"/>
          <p:nvPr/>
        </p:nvSpPr>
        <p:spPr>
          <a:xfrm>
            <a:off x="9939788"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43" name="TextBox 142"/>
          <p:cNvSpPr txBox="1"/>
          <p:nvPr/>
        </p:nvSpPr>
        <p:spPr>
          <a:xfrm>
            <a:off x="8048625" y="1822515"/>
            <a:ext cx="3352911" cy="194310"/>
          </a:xfrm>
          <a:prstGeom prst="rect">
            <a:avLst/>
          </a:prstGeom>
          <a:noFill/>
        </p:spPr>
        <p:txBody>
          <a:bodyPr wrap="none" lIns="0" rIns="0" tIns="0" bIns="0">
            <a:spAutoFit/>
          </a:bodyPr>
          <a:lstStyle/>
          <a:p>
            <a:r>
              <a:rPr sz="1150" b="0">
                <a:solidFill>
                  <a:srgbClr val="2E2E2E"/>
                </a:solidFill>
                <a:latin typeface="Calibri"/>
              </a:rPr>
              <a:t>selling price of hair styling products is estimated at US$</a:t>
            </a:r>
          </a:p>
        </p:txBody>
      </p:sp>
      <p:pic>
        <p:nvPicPr>
          <p:cNvPr id="144" name="Picture 143" descr="lock.png"/>
          <p:cNvPicPr>
            <a:picLocks noChangeAspect="1"/>
          </p:cNvPicPr>
          <p:nvPr/>
        </p:nvPicPr>
        <p:blipFill>
          <a:blip r:embed="rId4"/>
          <a:stretch>
            <a:fillRect/>
          </a:stretch>
        </p:blipFill>
        <p:spPr>
          <a:xfrm>
            <a:off x="11350690" y="1812291"/>
            <a:ext cx="134549" cy="195707"/>
          </a:xfrm>
          <a:prstGeom prst="rect">
            <a:avLst/>
          </a:prstGeom>
        </p:spPr>
      </p:pic>
      <p:sp>
        <p:nvSpPr>
          <p:cNvPr id="145" name="TextBox 144"/>
          <p:cNvSpPr txBox="1"/>
          <p:nvPr/>
        </p:nvSpPr>
        <p:spPr>
          <a:xfrm>
            <a:off x="11525799"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46" name="TextBox 145"/>
          <p:cNvSpPr txBox="1"/>
          <p:nvPr/>
        </p:nvSpPr>
        <p:spPr>
          <a:xfrm>
            <a:off x="8048625" y="1997775"/>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147" name="Picture 146" descr="lock.png"/>
          <p:cNvPicPr>
            <a:picLocks noChangeAspect="1"/>
          </p:cNvPicPr>
          <p:nvPr/>
        </p:nvPicPr>
        <p:blipFill>
          <a:blip r:embed="rId4"/>
          <a:stretch>
            <a:fillRect/>
          </a:stretch>
        </p:blipFill>
        <p:spPr>
          <a:xfrm>
            <a:off x="10902271" y="1987551"/>
            <a:ext cx="134549" cy="195707"/>
          </a:xfrm>
          <a:prstGeom prst="rect">
            <a:avLst/>
          </a:prstGeom>
        </p:spPr>
      </p:pic>
      <p:sp>
        <p:nvSpPr>
          <p:cNvPr id="148" name="TextBox 147"/>
          <p:cNvSpPr txBox="1"/>
          <p:nvPr/>
        </p:nvSpPr>
        <p:spPr>
          <a:xfrm>
            <a:off x="11077380" y="1997775"/>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149" name="TextBox 148"/>
          <p:cNvSpPr txBox="1"/>
          <p:nvPr/>
        </p:nvSpPr>
        <p:spPr>
          <a:xfrm>
            <a:off x="8048625" y="217303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150" name="TextBox 149"/>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51" name="TextBox 150"/>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52" name="TextBox 151"/>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53" name="Picture 152" descr="lock.png"/>
          <p:cNvPicPr>
            <a:picLocks noChangeAspect="1"/>
          </p:cNvPicPr>
          <p:nvPr/>
        </p:nvPicPr>
        <p:blipFill>
          <a:blip r:embed="rId4"/>
          <a:stretch>
            <a:fillRect/>
          </a:stretch>
        </p:blipFill>
        <p:spPr>
          <a:xfrm>
            <a:off x="8524680" y="2741169"/>
            <a:ext cx="134549" cy="195707"/>
          </a:xfrm>
          <a:prstGeom prst="rect">
            <a:avLst/>
          </a:prstGeom>
        </p:spPr>
      </p:pic>
      <p:sp>
        <p:nvSpPr>
          <p:cNvPr id="154" name="TextBox 153"/>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2 of 6 regions price above and 4 below.</a:t>
            </a:r>
          </a:p>
        </p:txBody>
      </p:sp>
      <p:sp>
        <p:nvSpPr>
          <p:cNvPr id="155" name="TextBox 154"/>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56" name="Picture 155" descr="lock.png"/>
          <p:cNvPicPr>
            <a:picLocks noChangeAspect="1"/>
          </p:cNvPicPr>
          <p:nvPr/>
        </p:nvPicPr>
        <p:blipFill>
          <a:blip r:embed="rId4"/>
          <a:stretch>
            <a:fillRect/>
          </a:stretch>
        </p:blipFill>
        <p:spPr>
          <a:xfrm>
            <a:off x="10105842" y="2969007"/>
            <a:ext cx="134549" cy="195707"/>
          </a:xfrm>
          <a:prstGeom prst="rect">
            <a:avLst/>
          </a:prstGeom>
        </p:spPr>
      </p:pic>
      <p:sp>
        <p:nvSpPr>
          <p:cNvPr id="157" name="TextBox 156"/>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58" name="TextBox 157"/>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59" name="Picture 158" descr="lock.png"/>
          <p:cNvPicPr>
            <a:picLocks noChangeAspect="1"/>
          </p:cNvPicPr>
          <p:nvPr/>
        </p:nvPicPr>
        <p:blipFill>
          <a:blip r:embed="rId4"/>
          <a:stretch>
            <a:fillRect/>
          </a:stretch>
        </p:blipFill>
        <p:spPr>
          <a:xfrm>
            <a:off x="9651433" y="3144267"/>
            <a:ext cx="134549" cy="195707"/>
          </a:xfrm>
          <a:prstGeom prst="rect">
            <a:avLst/>
          </a:prstGeom>
        </p:spPr>
      </p:pic>
      <p:sp>
        <p:nvSpPr>
          <p:cNvPr id="160" name="TextBox 159"/>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61" name="TextBox 160"/>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136689" cy="194310"/>
          </a:xfrm>
          <a:prstGeom prst="rect">
            <a:avLst/>
          </a:prstGeom>
          <a:noFill/>
        </p:spPr>
        <p:txBody>
          <a:bodyPr wrap="none" lIns="0" rIns="0" tIns="0" bIns="0">
            <a:spAutoFit/>
          </a:bodyPr>
          <a:lstStyle/>
          <a:p>
            <a:r>
              <a:rPr sz="1150" b="0">
                <a:solidFill>
                  <a:srgbClr val="2E2E2E"/>
                </a:solidFill>
                <a:latin typeface="Calibri"/>
              </a:rPr>
              <a:t>Hair styling products market is projected to register</a:t>
            </a:r>
          </a:p>
        </p:txBody>
      </p:sp>
      <p:pic>
        <p:nvPicPr>
          <p:cNvPr id="36" name="Picture 35" descr="lock.png"/>
          <p:cNvPicPr>
            <a:picLocks noChangeAspect="1"/>
          </p:cNvPicPr>
          <p:nvPr/>
        </p:nvPicPr>
        <p:blipFill>
          <a:blip r:embed="rId6"/>
          <a:stretch>
            <a:fillRect/>
          </a:stretch>
        </p:blipFill>
        <p:spPr>
          <a:xfrm>
            <a:off x="11134468" y="2036763"/>
            <a:ext cx="134549" cy="195707"/>
          </a:xfrm>
          <a:prstGeom prst="rect">
            <a:avLst/>
          </a:prstGeom>
        </p:spPr>
      </p:pic>
      <p:sp>
        <p:nvSpPr>
          <p:cNvPr id="37" name="TextBox 36"/>
          <p:cNvSpPr txBox="1"/>
          <p:nvPr/>
        </p:nvSpPr>
        <p:spPr>
          <a:xfrm>
            <a:off x="11309577"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8" name="TextBox 37"/>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9" name="TextBox 38"/>
          <p:cNvSpPr txBox="1"/>
          <p:nvPr/>
        </p:nvSpPr>
        <p:spPr>
          <a:xfrm>
            <a:off x="8048625" y="2397507"/>
            <a:ext cx="3785641" cy="194310"/>
          </a:xfrm>
          <a:prstGeom prst="rect">
            <a:avLst/>
          </a:prstGeom>
          <a:noFill/>
        </p:spPr>
        <p:txBody>
          <a:bodyPr wrap="none" lIns="0" rIns="0" tIns="0" bIns="0">
            <a:spAutoFit/>
          </a:bodyPr>
          <a:lstStyle/>
          <a:p>
            <a:r>
              <a:rPr sz="1150" b="0">
                <a:solidFill>
                  <a:srgbClr val="2E2E2E"/>
                </a:solidFill>
                <a:latin typeface="Calibri"/>
              </a:rPr>
              <a:t>Global hair styling products market is expected to be valued at</a:t>
            </a:r>
          </a:p>
        </p:txBody>
      </p:sp>
      <p:sp>
        <p:nvSpPr>
          <p:cNvPr id="40" name="TextBox 39"/>
          <p:cNvSpPr txBox="1"/>
          <p:nvPr/>
        </p:nvSpPr>
        <p:spPr>
          <a:xfrm>
            <a:off x="8048625" y="2572767"/>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41" name="Picture 40" descr="lock.png"/>
          <p:cNvPicPr>
            <a:picLocks noChangeAspect="1"/>
          </p:cNvPicPr>
          <p:nvPr/>
        </p:nvPicPr>
        <p:blipFill>
          <a:blip r:embed="rId6"/>
          <a:stretch>
            <a:fillRect/>
          </a:stretch>
        </p:blipFill>
        <p:spPr>
          <a:xfrm>
            <a:off x="8309028" y="2562543"/>
            <a:ext cx="134549" cy="195707"/>
          </a:xfrm>
          <a:prstGeom prst="rect">
            <a:avLst/>
          </a:prstGeom>
        </p:spPr>
      </p:pic>
      <p:sp>
        <p:nvSpPr>
          <p:cNvPr id="42" name="TextBox 41"/>
          <p:cNvSpPr txBox="1"/>
          <p:nvPr/>
        </p:nvSpPr>
        <p:spPr>
          <a:xfrm>
            <a:off x="8484137"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3" name="TextBox 42"/>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4" name="Picture 43" descr="lock.png"/>
          <p:cNvPicPr>
            <a:picLocks noChangeAspect="1"/>
          </p:cNvPicPr>
          <p:nvPr/>
        </p:nvPicPr>
        <p:blipFill>
          <a:blip r:embed="rId6"/>
          <a:stretch>
            <a:fillRect/>
          </a:stretch>
        </p:blipFill>
        <p:spPr>
          <a:xfrm>
            <a:off x="8034545" y="2965641"/>
            <a:ext cx="134549" cy="195707"/>
          </a:xfrm>
          <a:prstGeom prst="rect">
            <a:avLst/>
          </a:prstGeom>
        </p:spPr>
      </p:pic>
      <p:sp>
        <p:nvSpPr>
          <p:cNvPr id="45" name="TextBox 44"/>
          <p:cNvSpPr txBox="1"/>
          <p:nvPr/>
        </p:nvSpPr>
        <p:spPr>
          <a:xfrm>
            <a:off x="8209654" y="2975864"/>
            <a:ext cx="3630178" cy="194310"/>
          </a:xfrm>
          <a:prstGeom prst="rect">
            <a:avLst/>
          </a:prstGeom>
          <a:noFill/>
        </p:spPr>
        <p:txBody>
          <a:bodyPr wrap="none" lIns="0" rIns="0" tIns="0" bIns="0">
            <a:spAutoFit/>
          </a:bodyPr>
          <a:lstStyle/>
          <a:p>
            <a:r>
              <a:rPr sz="1150" b="0">
                <a:solidFill>
                  <a:srgbClr val="2E2E2E"/>
                </a:solidFill>
                <a:latin typeface="Calibri"/>
              </a:rPr>
              <a:t>Mn from 2025 to 2036. Rising disposable income along with</a:t>
            </a:r>
          </a:p>
        </p:txBody>
      </p:sp>
      <p:sp>
        <p:nvSpPr>
          <p:cNvPr id="46" name="TextBox 45"/>
          <p:cNvSpPr txBox="1"/>
          <p:nvPr/>
        </p:nvSpPr>
        <p:spPr>
          <a:xfrm>
            <a:off x="8048625" y="3151124"/>
            <a:ext cx="3819301" cy="194310"/>
          </a:xfrm>
          <a:prstGeom prst="rect">
            <a:avLst/>
          </a:prstGeom>
          <a:noFill/>
        </p:spPr>
        <p:txBody>
          <a:bodyPr wrap="none" lIns="0" rIns="0" tIns="0" bIns="0">
            <a:spAutoFit/>
          </a:bodyPr>
          <a:lstStyle/>
          <a:p>
            <a:r>
              <a:rPr sz="1150" b="0">
                <a:solidFill>
                  <a:srgbClr val="2E2E2E"/>
                </a:solidFill>
                <a:latin typeface="Calibri"/>
              </a:rPr>
              <a:t>product innovation is fuelling demand for hair styling products.</a:t>
            </a:r>
          </a:p>
        </p:txBody>
      </p:sp>
      <p:sp>
        <p:nvSpPr>
          <p:cNvPr id="47" name="TextBox 46"/>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8" name="Picture 47" descr="lock.png"/>
          <p:cNvPicPr>
            <a:picLocks noChangeAspect="1"/>
          </p:cNvPicPr>
          <p:nvPr/>
        </p:nvPicPr>
        <p:blipFill>
          <a:blip r:embed="rId6"/>
          <a:stretch>
            <a:fillRect/>
          </a:stretch>
        </p:blipFill>
        <p:spPr>
          <a:xfrm>
            <a:off x="10866614" y="4446251"/>
            <a:ext cx="134549" cy="195707"/>
          </a:xfrm>
          <a:prstGeom prst="rect">
            <a:avLst/>
          </a:prstGeom>
        </p:spPr>
      </p:pic>
      <p:sp>
        <p:nvSpPr>
          <p:cNvPr id="49" name="TextBox 48"/>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500958" cy="194310"/>
          </a:xfrm>
          <a:prstGeom prst="rect">
            <a:avLst/>
          </a:prstGeom>
          <a:noFill/>
        </p:spPr>
        <p:txBody>
          <a:bodyPr wrap="none" lIns="0" rIns="0" tIns="0" bIns="0">
            <a:spAutoFit/>
          </a:bodyPr>
          <a:lstStyle/>
          <a:p>
            <a:r>
              <a:rPr sz="1150" b="0">
                <a:solidFill>
                  <a:srgbClr val="2E2E2E"/>
                </a:solidFill>
                <a:latin typeface="Calibri"/>
              </a:rPr>
              <a:t>▪ Demand concentrates in 'Styling Serums and Oils' within</a:t>
            </a:r>
          </a:p>
        </p:txBody>
      </p:sp>
      <p:sp>
        <p:nvSpPr>
          <p:cNvPr id="51" name="TextBox 50"/>
          <p:cNvSpPr txBox="1"/>
          <p:nvPr/>
        </p:nvSpPr>
        <p:spPr>
          <a:xfrm>
            <a:off x="8048625" y="4859572"/>
            <a:ext cx="1044891" cy="194310"/>
          </a:xfrm>
          <a:prstGeom prst="rect">
            <a:avLst/>
          </a:prstGeom>
          <a:noFill/>
        </p:spPr>
        <p:txBody>
          <a:bodyPr wrap="none" lIns="0" rIns="0" tIns="0" bIns="0">
            <a:spAutoFit/>
          </a:bodyPr>
          <a:lstStyle/>
          <a:p>
            <a:r>
              <a:rPr sz="1150" b="0">
                <a:solidFill>
                  <a:srgbClr val="2E2E2E"/>
                </a:solidFill>
                <a:latin typeface="Calibri"/>
              </a:rPr>
              <a:t>Product Format.</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3" name="Chart 12"/>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6" name="Chart 15"/>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8" name="Rounded Rectangle 17"/>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9" name="Rounded Rectangle 18"/>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20" name="Rounded Rectangle 19"/>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1" name="Rounded Rectangle 20"/>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3" name="Rectangle 22"/>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2533894" y="2050946"/>
            <a:ext cx="205327" cy="298657"/>
          </a:xfrm>
          <a:prstGeom prst="rect">
            <a:avLst/>
          </a:prstGeom>
        </p:spPr>
      </p:pic>
      <p:pic>
        <p:nvPicPr>
          <p:cNvPr id="27" name="Picture 26" descr="lock.png"/>
          <p:cNvPicPr>
            <a:picLocks noChangeAspect="1"/>
          </p:cNvPicPr>
          <p:nvPr/>
        </p:nvPicPr>
        <p:blipFill>
          <a:blip r:embed="rId6"/>
          <a:stretch>
            <a:fillRect/>
          </a:stretch>
        </p:blipFill>
        <p:spPr>
          <a:xfrm>
            <a:off x="8530846" y="2011501"/>
            <a:ext cx="259564" cy="377547"/>
          </a:xfrm>
          <a:prstGeom prst="rect">
            <a:avLst/>
          </a:prstGeom>
        </p:spPr>
      </p:pic>
      <p:pic>
        <p:nvPicPr>
          <p:cNvPr id="28" name="Picture 27" descr="lock.png"/>
          <p:cNvPicPr>
            <a:picLocks noChangeAspect="1"/>
          </p:cNvPicPr>
          <p:nvPr/>
        </p:nvPicPr>
        <p:blipFill>
          <a:blip r:embed="rId6"/>
          <a:stretch>
            <a:fillRect/>
          </a:stretch>
        </p:blipFill>
        <p:spPr>
          <a:xfrm>
            <a:off x="1321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39885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6998494" y="4022407"/>
            <a:ext cx="157162" cy="228600"/>
          </a:xfrm>
          <a:prstGeom prst="rect">
            <a:avLst/>
          </a:prstGeom>
        </p:spPr>
      </p:pic>
      <p:pic>
        <p:nvPicPr>
          <p:cNvPr id="31" name="Picture 30" descr="lock.png"/>
          <p:cNvPicPr>
            <a:picLocks noChangeAspect="1"/>
          </p:cNvPicPr>
          <p:nvPr/>
        </p:nvPicPr>
        <p:blipFill>
          <a:blip r:embed="rId6"/>
          <a:stretch>
            <a:fillRect/>
          </a:stretch>
        </p:blipFill>
        <p:spPr>
          <a:xfrm>
            <a:off x="10351294" y="4022407"/>
            <a:ext cx="157162" cy="228600"/>
          </a:xfrm>
          <a:prstGeom prst="rect">
            <a:avLst/>
          </a:prstGeom>
        </p:spPr>
      </p:pic>
      <p:sp>
        <p:nvSpPr>
          <p:cNvPr id="32" name="TextBox 31"/>
          <p:cNvSpPr txBox="1"/>
          <p:nvPr/>
        </p:nvSpPr>
        <p:spPr>
          <a:xfrm>
            <a:off x="276225" y="4972050"/>
            <a:ext cx="3136689" cy="194310"/>
          </a:xfrm>
          <a:prstGeom prst="rect">
            <a:avLst/>
          </a:prstGeom>
          <a:noFill/>
        </p:spPr>
        <p:txBody>
          <a:bodyPr wrap="none" lIns="0" rIns="0" tIns="0" bIns="0">
            <a:spAutoFit/>
          </a:bodyPr>
          <a:lstStyle/>
          <a:p>
            <a:r>
              <a:rPr sz="1150" b="0">
                <a:solidFill>
                  <a:srgbClr val="2E2E2E"/>
                </a:solidFill>
                <a:latin typeface="Calibri"/>
              </a:rPr>
              <a:t>Hair styling products market is projected to register</a:t>
            </a:r>
          </a:p>
        </p:txBody>
      </p:sp>
      <p:pic>
        <p:nvPicPr>
          <p:cNvPr id="33" name="Picture 32" descr="lock.png"/>
          <p:cNvPicPr>
            <a:picLocks noChangeAspect="1"/>
          </p:cNvPicPr>
          <p:nvPr/>
        </p:nvPicPr>
        <p:blipFill>
          <a:blip r:embed="rId6"/>
          <a:stretch>
            <a:fillRect/>
          </a:stretch>
        </p:blipFill>
        <p:spPr>
          <a:xfrm>
            <a:off x="3362068" y="4961826"/>
            <a:ext cx="134549" cy="195707"/>
          </a:xfrm>
          <a:prstGeom prst="rect">
            <a:avLst/>
          </a:prstGeom>
        </p:spPr>
      </p:pic>
      <p:sp>
        <p:nvSpPr>
          <p:cNvPr id="34" name="TextBox 33"/>
          <p:cNvSpPr txBox="1"/>
          <p:nvPr/>
        </p:nvSpPr>
        <p:spPr>
          <a:xfrm>
            <a:off x="3537177" y="4972050"/>
            <a:ext cx="7691623"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hair styling products market is expected to be valued at US$</a:t>
            </a:r>
          </a:p>
        </p:txBody>
      </p:sp>
      <p:pic>
        <p:nvPicPr>
          <p:cNvPr id="35" name="Picture 34" descr="lock.png"/>
          <p:cNvPicPr>
            <a:picLocks noChangeAspect="1"/>
          </p:cNvPicPr>
          <p:nvPr/>
        </p:nvPicPr>
        <p:blipFill>
          <a:blip r:embed="rId6"/>
          <a:stretch>
            <a:fillRect/>
          </a:stretch>
        </p:blipFill>
        <p:spPr>
          <a:xfrm>
            <a:off x="11177954" y="4961826"/>
            <a:ext cx="134549" cy="195707"/>
          </a:xfrm>
          <a:prstGeom prst="rect">
            <a:avLst/>
          </a:prstGeom>
        </p:spPr>
      </p:pic>
      <p:sp>
        <p:nvSpPr>
          <p:cNvPr id="36" name="TextBox 35"/>
          <p:cNvSpPr txBox="1"/>
          <p:nvPr/>
        </p:nvSpPr>
        <p:spPr>
          <a:xfrm>
            <a:off x="11353064" y="4972050"/>
            <a:ext cx="453876" cy="194310"/>
          </a:xfrm>
          <a:prstGeom prst="rect">
            <a:avLst/>
          </a:prstGeom>
          <a:noFill/>
        </p:spPr>
        <p:txBody>
          <a:bodyPr wrap="none" lIns="0" rIns="0" tIns="0" bIns="0">
            <a:spAutoFit/>
          </a:bodyPr>
          <a:lstStyle/>
          <a:p>
            <a:r>
              <a:rPr sz="1150" b="0">
                <a:solidFill>
                  <a:srgbClr val="2E2E2E"/>
                </a:solidFill>
                <a:latin typeface="Calibri"/>
              </a:rPr>
              <a:t>Mn by</a:t>
            </a:r>
          </a:p>
        </p:txBody>
      </p:sp>
      <p:sp>
        <p:nvSpPr>
          <p:cNvPr id="37" name="TextBox 36"/>
          <p:cNvSpPr txBox="1"/>
          <p:nvPr/>
        </p:nvSpPr>
        <p:spPr>
          <a:xfrm>
            <a:off x="276225" y="5147310"/>
            <a:ext cx="4438302" cy="194310"/>
          </a:xfrm>
          <a:prstGeom prst="rect">
            <a:avLst/>
          </a:prstGeom>
          <a:noFill/>
        </p:spPr>
        <p:txBody>
          <a:bodyPr wrap="none" lIns="0" rIns="0" tIns="0" bIns="0">
            <a:spAutoFit/>
          </a:bodyPr>
          <a:lstStyle/>
          <a:p>
            <a:r>
              <a:rPr sz="1150" b="0">
                <a:solidFill>
                  <a:srgbClr val="2E2E2E"/>
                </a:solidFill>
                <a:latin typeface="Calibri"/>
              </a:rPr>
              <a:t>2036 end. It is projected to create overall incremental opportunity of US$</a:t>
            </a:r>
          </a:p>
        </p:txBody>
      </p:sp>
      <p:pic>
        <p:nvPicPr>
          <p:cNvPr id="38" name="Picture 37" descr="lock.png"/>
          <p:cNvPicPr>
            <a:picLocks noChangeAspect="1"/>
          </p:cNvPicPr>
          <p:nvPr/>
        </p:nvPicPr>
        <p:blipFill>
          <a:blip r:embed="rId6"/>
          <a:stretch>
            <a:fillRect/>
          </a:stretch>
        </p:blipFill>
        <p:spPr>
          <a:xfrm>
            <a:off x="4663681" y="5137086"/>
            <a:ext cx="134549" cy="195707"/>
          </a:xfrm>
          <a:prstGeom prst="rect">
            <a:avLst/>
          </a:prstGeom>
        </p:spPr>
      </p:pic>
      <p:sp>
        <p:nvSpPr>
          <p:cNvPr id="39" name="TextBox 38"/>
          <p:cNvSpPr txBox="1"/>
          <p:nvPr/>
        </p:nvSpPr>
        <p:spPr>
          <a:xfrm>
            <a:off x="4838790" y="5147310"/>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0" name="TextBox 39"/>
          <p:cNvSpPr txBox="1"/>
          <p:nvPr/>
        </p:nvSpPr>
        <p:spPr>
          <a:xfrm>
            <a:off x="276225" y="5375147"/>
            <a:ext cx="9489293" cy="194310"/>
          </a:xfrm>
          <a:prstGeom prst="rect">
            <a:avLst/>
          </a:prstGeom>
          <a:noFill/>
        </p:spPr>
        <p:txBody>
          <a:bodyPr wrap="none" lIns="0" rIns="0" tIns="0" bIns="0">
            <a:spAutoFit/>
          </a:bodyPr>
          <a:lstStyle/>
          <a:p>
            <a:r>
              <a:rPr sz="1150" b="0">
                <a:solidFill>
                  <a:srgbClr val="2E2E2E"/>
                </a:solidFill>
                <a:latin typeface="Calibri"/>
              </a:rPr>
              <a:t>Rising disposable income along with product innovation is fuelling demand for hair styling products. Global hair styling products market is projected to register</a:t>
            </a:r>
          </a:p>
        </p:txBody>
      </p:sp>
      <p:pic>
        <p:nvPicPr>
          <p:cNvPr id="41" name="Picture 40" descr="lock.png"/>
          <p:cNvPicPr>
            <a:picLocks noChangeAspect="1"/>
          </p:cNvPicPr>
          <p:nvPr/>
        </p:nvPicPr>
        <p:blipFill>
          <a:blip r:embed="rId6"/>
          <a:stretch>
            <a:fillRect/>
          </a:stretch>
        </p:blipFill>
        <p:spPr>
          <a:xfrm>
            <a:off x="9714672" y="5364924"/>
            <a:ext cx="134549" cy="195707"/>
          </a:xfrm>
          <a:prstGeom prst="rect">
            <a:avLst/>
          </a:prstGeom>
        </p:spPr>
      </p:pic>
      <p:sp>
        <p:nvSpPr>
          <p:cNvPr id="42" name="TextBox 41"/>
          <p:cNvSpPr txBox="1"/>
          <p:nvPr/>
        </p:nvSpPr>
        <p:spPr>
          <a:xfrm>
            <a:off x="9889781" y="5375147"/>
            <a:ext cx="1967148" cy="194310"/>
          </a:xfrm>
          <a:prstGeom prst="rect">
            <a:avLst/>
          </a:prstGeom>
          <a:noFill/>
        </p:spPr>
        <p:txBody>
          <a:bodyPr wrap="none" lIns="0" rIns="0" tIns="0" bIns="0">
            <a:spAutoFit/>
          </a:bodyPr>
          <a:lstStyle/>
          <a:p>
            <a:r>
              <a:rPr sz="1150" b="0">
                <a:solidFill>
                  <a:srgbClr val="2E2E2E"/>
                </a:solidFill>
                <a:latin typeface="Calibri"/>
              </a:rPr>
              <a:t>X increase in volume by the end</a:t>
            </a:r>
          </a:p>
        </p:txBody>
      </p:sp>
      <p:sp>
        <p:nvSpPr>
          <p:cNvPr id="43" name="TextBox 42"/>
          <p:cNvSpPr txBox="1"/>
          <p:nvPr/>
        </p:nvSpPr>
        <p:spPr>
          <a:xfrm>
            <a:off x="276225" y="5550407"/>
            <a:ext cx="1538126" cy="194310"/>
          </a:xfrm>
          <a:prstGeom prst="rect">
            <a:avLst/>
          </a:prstGeom>
          <a:noFill/>
        </p:spPr>
        <p:txBody>
          <a:bodyPr wrap="none" lIns="0" rIns="0" tIns="0" bIns="0">
            <a:spAutoFit/>
          </a:bodyPr>
          <a:lstStyle/>
          <a:p>
            <a:r>
              <a:rPr sz="1150" b="0">
                <a:solidFill>
                  <a:srgbClr val="2E2E2E"/>
                </a:solidFill>
                <a:latin typeface="Calibri"/>
              </a:rPr>
              <a:t>of forecast period, 2036.</a:t>
            </a:r>
          </a:p>
        </p:txBody>
      </p:sp>
      <p:sp>
        <p:nvSpPr>
          <p:cNvPr id="44" name="TextBox 43"/>
          <p:cNvSpPr txBox="1"/>
          <p:nvPr/>
        </p:nvSpPr>
        <p:spPr>
          <a:xfrm>
            <a:off x="276225" y="5778245"/>
            <a:ext cx="3158083" cy="194310"/>
          </a:xfrm>
          <a:prstGeom prst="rect">
            <a:avLst/>
          </a:prstGeom>
          <a:noFill/>
        </p:spPr>
        <p:txBody>
          <a:bodyPr wrap="none" lIns="0" rIns="0" tIns="0" bIns="0">
            <a:spAutoFit/>
          </a:bodyPr>
          <a:lstStyle/>
          <a:p>
            <a:r>
              <a:rPr sz="1150" b="0">
                <a:solidFill>
                  <a:srgbClr val="2E2E2E"/>
                </a:solidFill>
                <a:latin typeface="Calibri"/>
              </a:rPr>
              <a:t>Global hair styling products market volume stood at</a:t>
            </a:r>
          </a:p>
        </p:txBody>
      </p:sp>
      <p:pic>
        <p:nvPicPr>
          <p:cNvPr id="45" name="Picture 44" descr="lock.png"/>
          <p:cNvPicPr>
            <a:picLocks noChangeAspect="1"/>
          </p:cNvPicPr>
          <p:nvPr/>
        </p:nvPicPr>
        <p:blipFill>
          <a:blip r:embed="rId6"/>
          <a:stretch>
            <a:fillRect/>
          </a:stretch>
        </p:blipFill>
        <p:spPr>
          <a:xfrm>
            <a:off x="3383462" y="5768022"/>
            <a:ext cx="134549" cy="195707"/>
          </a:xfrm>
          <a:prstGeom prst="rect">
            <a:avLst/>
          </a:prstGeom>
        </p:spPr>
      </p:pic>
      <p:sp>
        <p:nvSpPr>
          <p:cNvPr id="46" name="TextBox 45"/>
          <p:cNvSpPr txBox="1"/>
          <p:nvPr/>
        </p:nvSpPr>
        <p:spPr>
          <a:xfrm>
            <a:off x="3558571" y="5778245"/>
            <a:ext cx="2578447" cy="194310"/>
          </a:xfrm>
          <a:prstGeom prst="rect">
            <a:avLst/>
          </a:prstGeom>
          <a:noFill/>
        </p:spPr>
        <p:txBody>
          <a:bodyPr wrap="none" lIns="0" rIns="0" tIns="0" bIns="0">
            <a:spAutoFit/>
          </a:bodyPr>
          <a:lstStyle/>
          <a:p>
            <a:r>
              <a:rPr sz="1150" b="0">
                <a:solidFill>
                  <a:srgbClr val="2E2E2E"/>
                </a:solidFill>
                <a:latin typeface="Calibri"/>
              </a:rPr>
              <a:t>Mn Units in 2025 and is expected to reach</a:t>
            </a:r>
          </a:p>
        </p:txBody>
      </p:sp>
      <p:pic>
        <p:nvPicPr>
          <p:cNvPr id="47" name="Picture 46" descr="lock.png"/>
          <p:cNvPicPr>
            <a:picLocks noChangeAspect="1"/>
          </p:cNvPicPr>
          <p:nvPr/>
        </p:nvPicPr>
        <p:blipFill>
          <a:blip r:embed="rId6"/>
          <a:stretch>
            <a:fillRect/>
          </a:stretch>
        </p:blipFill>
        <p:spPr>
          <a:xfrm>
            <a:off x="6086172" y="5768022"/>
            <a:ext cx="134549" cy="195707"/>
          </a:xfrm>
          <a:prstGeom prst="rect">
            <a:avLst/>
          </a:prstGeom>
        </p:spPr>
      </p:pic>
      <p:sp>
        <p:nvSpPr>
          <p:cNvPr id="48" name="TextBox 47"/>
          <p:cNvSpPr txBox="1"/>
          <p:nvPr/>
        </p:nvSpPr>
        <p:spPr>
          <a:xfrm>
            <a:off x="6261281" y="5778245"/>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49" name="Picture 48" descr="lock.png"/>
          <p:cNvPicPr>
            <a:picLocks noChangeAspect="1"/>
          </p:cNvPicPr>
          <p:nvPr/>
        </p:nvPicPr>
        <p:blipFill>
          <a:blip r:embed="rId6"/>
          <a:stretch>
            <a:fillRect/>
          </a:stretch>
        </p:blipFill>
        <p:spPr>
          <a:xfrm>
            <a:off x="8409762" y="5768022"/>
            <a:ext cx="134549" cy="195707"/>
          </a:xfrm>
          <a:prstGeom prst="rect">
            <a:avLst/>
          </a:prstGeom>
        </p:spPr>
      </p:pic>
      <p:sp>
        <p:nvSpPr>
          <p:cNvPr id="50" name="TextBox 49"/>
          <p:cNvSpPr txBox="1"/>
          <p:nvPr/>
        </p:nvSpPr>
        <p:spPr>
          <a:xfrm>
            <a:off x="8584872" y="577824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1" name="TextBox 50"/>
          <p:cNvSpPr txBox="1"/>
          <p:nvPr/>
        </p:nvSpPr>
        <p:spPr>
          <a:xfrm>
            <a:off x="276225" y="595350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52" name="lockshield_13"/>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ockshield_16"/>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34125" cy="2132071"/>
        </p:xfrm>
        <a:graphic>
          <a:graphicData uri="http://schemas.openxmlformats.org/drawingml/2006/table">
            <a:tbl>
              <a:tblPr>
                <a:tableStyleId>{5C22544A-7EE6-4342-B048-85BDC9FD1C3A}</a:tableStyleId>
              </a:tblPr>
              <a:tblGrid>
                <a:gridCol w="760186"/>
                <a:gridCol w="1051530"/>
                <a:gridCol w="1051530"/>
                <a:gridCol w="1070879"/>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Indonesia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Turkey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Thailand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517354" cy="2562564"/>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727404" y="1293011"/>
            <a:ext cx="1225971" cy="2562564"/>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0" name="Rectangle 19"/>
          <p:cNvSpPr/>
          <p:nvPr/>
        </p:nvSpPr>
        <p:spPr>
          <a:xfrm>
            <a:off x="4210050" y="3855575"/>
            <a:ext cx="1082939" cy="2023034"/>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1" name="Rectangle 20"/>
          <p:cNvSpPr/>
          <p:nvPr/>
        </p:nvSpPr>
        <p:spPr>
          <a:xfrm>
            <a:off x="5292989" y="3855575"/>
            <a:ext cx="1040829" cy="1120391"/>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2" name="Rectangle 21"/>
          <p:cNvSpPr/>
          <p:nvPr/>
        </p:nvSpPr>
        <p:spPr>
          <a:xfrm>
            <a:off x="5292989" y="4975966"/>
            <a:ext cx="1040829" cy="90264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333818" y="3855575"/>
            <a:ext cx="877576" cy="924176"/>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South Korea</a:t>
            </a:r>
          </a:p>
          <a:p>
            <a:pPr algn="ctr"/>
            <a:r>
              <a:rPr sz="1100" b="0">
                <a:solidFill>
                  <a:srgbClr val="FFFFFF"/>
                </a:solidFill>
                <a:latin typeface="Calibri"/>
              </a:rPr>
              <a:t> </a:t>
            </a:r>
          </a:p>
        </p:txBody>
      </p:sp>
      <p:sp>
        <p:nvSpPr>
          <p:cNvPr id="24" name="Rectangle 23"/>
          <p:cNvSpPr/>
          <p:nvPr/>
        </p:nvSpPr>
        <p:spPr>
          <a:xfrm>
            <a:off x="7211394" y="3855575"/>
            <a:ext cx="741981" cy="924176"/>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5" name="Rectangle 24"/>
          <p:cNvSpPr/>
          <p:nvPr/>
        </p:nvSpPr>
        <p:spPr>
          <a:xfrm>
            <a:off x="6333818" y="4779751"/>
            <a:ext cx="584898" cy="1098859"/>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6" name="Rectangle 25"/>
          <p:cNvSpPr/>
          <p:nvPr/>
        </p:nvSpPr>
        <p:spPr>
          <a:xfrm>
            <a:off x="6918716" y="4779751"/>
            <a:ext cx="1034659" cy="552979"/>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Australia</a:t>
            </a:r>
          </a:p>
          <a:p>
            <a:pPr algn="ctr"/>
            <a:r>
              <a:rPr sz="1100" b="0">
                <a:solidFill>
                  <a:srgbClr val="FFFFFF"/>
                </a:solidFill>
                <a:latin typeface="Calibri"/>
              </a:rPr>
              <a:t> </a:t>
            </a:r>
          </a:p>
        </p:txBody>
      </p:sp>
      <p:sp>
        <p:nvSpPr>
          <p:cNvPr id="27" name="Rectangle 26"/>
          <p:cNvSpPr/>
          <p:nvPr/>
        </p:nvSpPr>
        <p:spPr>
          <a:xfrm>
            <a:off x="6918716" y="5332729"/>
            <a:ext cx="1034659" cy="545880"/>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8892" cy="2159451"/>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Japan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Brazil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282522" y="4500299"/>
            <a:ext cx="350298" cy="509525"/>
          </a:xfrm>
          <a:prstGeom prst="rect">
            <a:avLst/>
          </a:prstGeom>
        </p:spPr>
      </p:pic>
      <p:pic>
        <p:nvPicPr>
          <p:cNvPr id="38" name="Picture 37" descr="lock.png"/>
          <p:cNvPicPr>
            <a:picLocks noChangeAspect="1"/>
          </p:cNvPicPr>
          <p:nvPr/>
        </p:nvPicPr>
        <p:blipFill>
          <a:blip r:embed="rId6"/>
          <a:stretch>
            <a:fillRect/>
          </a:stretch>
        </p:blipFill>
        <p:spPr>
          <a:xfrm>
            <a:off x="5411101" y="2574292"/>
            <a:ext cx="115252" cy="167639"/>
          </a:xfrm>
          <a:prstGeom prst="rect">
            <a:avLst/>
          </a:prstGeom>
        </p:spPr>
      </p:pic>
      <p:pic>
        <p:nvPicPr>
          <p:cNvPr id="39" name="Picture 38" descr="lock.png"/>
          <p:cNvPicPr>
            <a:picLocks noChangeAspect="1"/>
          </p:cNvPicPr>
          <p:nvPr/>
        </p:nvPicPr>
        <p:blipFill>
          <a:blip r:embed="rId6"/>
          <a:stretch>
            <a:fillRect/>
          </a:stretch>
        </p:blipFill>
        <p:spPr>
          <a:xfrm>
            <a:off x="7282763" y="2574292"/>
            <a:ext cx="115252" cy="167639"/>
          </a:xfrm>
          <a:prstGeom prst="rect">
            <a:avLst/>
          </a:prstGeom>
        </p:spPr>
      </p:pic>
      <p:pic>
        <p:nvPicPr>
          <p:cNvPr id="40" name="Picture 39" descr="lock.png"/>
          <p:cNvPicPr>
            <a:picLocks noChangeAspect="1"/>
          </p:cNvPicPr>
          <p:nvPr/>
        </p:nvPicPr>
        <p:blipFill>
          <a:blip r:embed="rId6"/>
          <a:stretch>
            <a:fillRect/>
          </a:stretch>
        </p:blipFill>
        <p:spPr>
          <a:xfrm>
            <a:off x="4693893" y="4867092"/>
            <a:ext cx="115252" cy="167639"/>
          </a:xfrm>
          <a:prstGeom prst="rect">
            <a:avLst/>
          </a:prstGeom>
        </p:spPr>
      </p:pic>
      <p:pic>
        <p:nvPicPr>
          <p:cNvPr id="41" name="Picture 40" descr="lock.png"/>
          <p:cNvPicPr>
            <a:picLocks noChangeAspect="1"/>
          </p:cNvPicPr>
          <p:nvPr/>
        </p:nvPicPr>
        <p:blipFill>
          <a:blip r:embed="rId6"/>
          <a:stretch>
            <a:fillRect/>
          </a:stretch>
        </p:blipFill>
        <p:spPr>
          <a:xfrm>
            <a:off x="5755777" y="4415770"/>
            <a:ext cx="115252" cy="167639"/>
          </a:xfrm>
          <a:prstGeom prst="rect">
            <a:avLst/>
          </a:prstGeom>
        </p:spPr>
      </p:pic>
      <p:pic>
        <p:nvPicPr>
          <p:cNvPr id="42" name="Picture 41" descr="lock.png"/>
          <p:cNvPicPr>
            <a:picLocks noChangeAspect="1"/>
          </p:cNvPicPr>
          <p:nvPr/>
        </p:nvPicPr>
        <p:blipFill>
          <a:blip r:embed="rId6"/>
          <a:stretch>
            <a:fillRect/>
          </a:stretch>
        </p:blipFill>
        <p:spPr>
          <a:xfrm>
            <a:off x="5755777" y="5427288"/>
            <a:ext cx="115252" cy="167639"/>
          </a:xfrm>
          <a:prstGeom prst="rect">
            <a:avLst/>
          </a:prstGeom>
        </p:spPr>
      </p:pic>
      <p:pic>
        <p:nvPicPr>
          <p:cNvPr id="43" name="Picture 42" descr="lock.png"/>
          <p:cNvPicPr>
            <a:picLocks noChangeAspect="1"/>
          </p:cNvPicPr>
          <p:nvPr/>
        </p:nvPicPr>
        <p:blipFill>
          <a:blip r:embed="rId6"/>
          <a:stretch>
            <a:fillRect/>
          </a:stretch>
        </p:blipFill>
        <p:spPr>
          <a:xfrm>
            <a:off x="6714980" y="4317663"/>
            <a:ext cx="115252" cy="167639"/>
          </a:xfrm>
          <a:prstGeom prst="rect">
            <a:avLst/>
          </a:prstGeom>
        </p:spPr>
      </p:pic>
      <p:pic>
        <p:nvPicPr>
          <p:cNvPr id="44" name="Picture 43" descr="lock.png"/>
          <p:cNvPicPr>
            <a:picLocks noChangeAspect="1"/>
          </p:cNvPicPr>
          <p:nvPr/>
        </p:nvPicPr>
        <p:blipFill>
          <a:blip r:embed="rId6"/>
          <a:stretch>
            <a:fillRect/>
          </a:stretch>
        </p:blipFill>
        <p:spPr>
          <a:xfrm>
            <a:off x="7524758" y="4317663"/>
            <a:ext cx="115252" cy="167639"/>
          </a:xfrm>
          <a:prstGeom prst="rect">
            <a:avLst/>
          </a:prstGeom>
        </p:spPr>
      </p:pic>
      <p:pic>
        <p:nvPicPr>
          <p:cNvPr id="45" name="Picture 44" descr="lock.png"/>
          <p:cNvPicPr>
            <a:picLocks noChangeAspect="1"/>
          </p:cNvPicPr>
          <p:nvPr/>
        </p:nvPicPr>
        <p:blipFill>
          <a:blip r:embed="rId6"/>
          <a:stretch>
            <a:fillRect/>
          </a:stretch>
        </p:blipFill>
        <p:spPr>
          <a:xfrm>
            <a:off x="6568641" y="5329180"/>
            <a:ext cx="115252" cy="167639"/>
          </a:xfrm>
          <a:prstGeom prst="rect">
            <a:avLst/>
          </a:prstGeom>
        </p:spPr>
      </p:pic>
      <p:pic>
        <p:nvPicPr>
          <p:cNvPr id="46" name="Picture 45" descr="lock.png"/>
          <p:cNvPicPr>
            <a:picLocks noChangeAspect="1"/>
          </p:cNvPicPr>
          <p:nvPr/>
        </p:nvPicPr>
        <p:blipFill>
          <a:blip r:embed="rId6"/>
          <a:stretch>
            <a:fillRect/>
          </a:stretch>
        </p:blipFill>
        <p:spPr>
          <a:xfrm>
            <a:off x="7378419" y="5056240"/>
            <a:ext cx="115252" cy="167639"/>
          </a:xfrm>
          <a:prstGeom prst="rect">
            <a:avLst/>
          </a:prstGeom>
        </p:spPr>
      </p:pic>
      <p:pic>
        <p:nvPicPr>
          <p:cNvPr id="47" name="Picture 46" descr="lock.png"/>
          <p:cNvPicPr>
            <a:picLocks noChangeAspect="1"/>
          </p:cNvPicPr>
          <p:nvPr/>
        </p:nvPicPr>
        <p:blipFill>
          <a:blip r:embed="rId6"/>
          <a:stretch>
            <a:fillRect/>
          </a:stretch>
        </p:blipFill>
        <p:spPr>
          <a:xfrm>
            <a:off x="7378419" y="5605669"/>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175439" y="4490163"/>
            <a:ext cx="357960" cy="520669"/>
          </a:xfrm>
          <a:prstGeom prst="rect">
            <a:avLst/>
          </a:prstGeom>
        </p:spPr>
      </p:pic>
      <p:sp>
        <p:nvSpPr>
          <p:cNvPr id="50" name="TextBox 49"/>
          <p:cNvSpPr txBox="1"/>
          <p:nvPr/>
        </p:nvSpPr>
        <p:spPr>
          <a:xfrm>
            <a:off x="257175" y="6160574"/>
            <a:ext cx="3488754" cy="186689"/>
          </a:xfrm>
          <a:prstGeom prst="rect">
            <a:avLst/>
          </a:prstGeom>
          <a:noFill/>
        </p:spPr>
        <p:txBody>
          <a:bodyPr wrap="none" lIns="0" rIns="0" tIns="0" bIns="0">
            <a:spAutoFit/>
          </a:bodyPr>
          <a:lstStyle/>
          <a:p>
            <a:r>
              <a:rPr sz="1100" b="0">
                <a:solidFill>
                  <a:srgbClr val="2E2E2E"/>
                </a:solidFill>
                <a:latin typeface="Calibri"/>
              </a:rPr>
              <a:t>The U.S. hair styling products market is projected to register</a:t>
            </a:r>
          </a:p>
        </p:txBody>
      </p:sp>
      <p:pic>
        <p:nvPicPr>
          <p:cNvPr id="51" name="Picture 50" descr="lock.png"/>
          <p:cNvPicPr>
            <a:picLocks noChangeAspect="1"/>
          </p:cNvPicPr>
          <p:nvPr/>
        </p:nvPicPr>
        <p:blipFill>
          <a:blip r:embed="rId6"/>
          <a:stretch>
            <a:fillRect/>
          </a:stretch>
        </p:blipFill>
        <p:spPr>
          <a:xfrm>
            <a:off x="3693981" y="6150795"/>
            <a:ext cx="128699" cy="187198"/>
          </a:xfrm>
          <a:prstGeom prst="rect">
            <a:avLst/>
          </a:prstGeom>
        </p:spPr>
      </p:pic>
      <p:sp>
        <p:nvSpPr>
          <p:cNvPr id="52" name="TextBox 51"/>
          <p:cNvSpPr txBox="1"/>
          <p:nvPr/>
        </p:nvSpPr>
        <p:spPr>
          <a:xfrm>
            <a:off x="3861476" y="6160574"/>
            <a:ext cx="4435259" cy="186689"/>
          </a:xfrm>
          <a:prstGeom prst="rect">
            <a:avLst/>
          </a:prstGeom>
          <a:noFill/>
        </p:spPr>
        <p:txBody>
          <a:bodyPr wrap="none" lIns="0" rIns="0" tIns="0" bIns="0">
            <a:spAutoFit/>
          </a:bodyPr>
          <a:lstStyle/>
          <a:p>
            <a:r>
              <a:rPr sz="1100" b="0">
                <a:solidFill>
                  <a:srgbClr val="2E2E2E"/>
                </a:solidFill>
                <a:latin typeface="Calibri"/>
              </a:rPr>
              <a:t>X higher value than China in 2036. Philippines posts the highest CAGR Index (</a:t>
            </a:r>
          </a:p>
        </p:txBody>
      </p:sp>
      <p:pic>
        <p:nvPicPr>
          <p:cNvPr id="53" name="Picture 52" descr="lock.png"/>
          <p:cNvPicPr>
            <a:picLocks noChangeAspect="1"/>
          </p:cNvPicPr>
          <p:nvPr/>
        </p:nvPicPr>
        <p:blipFill>
          <a:blip r:embed="rId6"/>
          <a:stretch>
            <a:fillRect/>
          </a:stretch>
        </p:blipFill>
        <p:spPr>
          <a:xfrm>
            <a:off x="8244788" y="6150795"/>
            <a:ext cx="128699" cy="187198"/>
          </a:xfrm>
          <a:prstGeom prst="rect">
            <a:avLst/>
          </a:prstGeom>
        </p:spPr>
      </p:pic>
      <p:sp>
        <p:nvSpPr>
          <p:cNvPr id="54" name="TextBox 53"/>
          <p:cNvSpPr txBox="1"/>
          <p:nvPr/>
        </p:nvSpPr>
        <p:spPr>
          <a:xfrm>
            <a:off x="8412283"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150315" y="6150795"/>
            <a:ext cx="128699" cy="187198"/>
          </a:xfrm>
          <a:prstGeom prst="rect">
            <a:avLst/>
          </a:prstGeom>
        </p:spPr>
      </p:pic>
      <p:sp>
        <p:nvSpPr>
          <p:cNvPr id="56" name="TextBox 55"/>
          <p:cNvSpPr txBox="1"/>
          <p:nvPr/>
        </p:nvSpPr>
        <p:spPr>
          <a:xfrm>
            <a:off x="9317810"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201" cy="1485896"/>
        </p:xfrm>
        <a:graphic>
          <a:graphicData uri="http://schemas.openxmlformats.org/drawingml/2006/table">
            <a:tbl>
              <a:tblPr>
                <a:tableStyleId>{5C22544A-7EE6-4342-B048-85BDC9FD1C3A}</a:tableStyleId>
              </a:tblPr>
              <a:tblGrid>
                <a:gridCol w="2534101"/>
                <a:gridCol w="3117700"/>
                <a:gridCol w="3117700"/>
                <a:gridCol w="311770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Saudi Arabia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199" cy="1485896"/>
        </p:xfrm>
        <a:graphic>
          <a:graphicData uri="http://schemas.openxmlformats.org/drawingml/2006/table">
            <a:tbl>
              <a:tblPr>
                <a:tableStyleId>{5C22544A-7EE6-4342-B048-85BDC9FD1C3A}</a:tableStyleId>
              </a:tblPr>
              <a:tblGrid>
                <a:gridCol w="2488439"/>
                <a:gridCol w="3132920"/>
                <a:gridCol w="3132920"/>
                <a:gridCol w="313292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South Korea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Australia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7176361"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7153529" y="3580638"/>
            <a:ext cx="366712" cy="5334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'Sticks and Balms'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8 product format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506092" cy="194310"/>
          </a:xfrm>
          <a:prstGeom prst="rect">
            <a:avLst/>
          </a:prstGeom>
          <a:noFill/>
        </p:spPr>
        <p:txBody>
          <a:bodyPr wrap="none" lIns="0" rIns="0" tIns="0" bIns="0">
            <a:spAutoFit/>
          </a:bodyPr>
          <a:lstStyle/>
          <a:p>
            <a:r>
              <a:rPr sz="1150" b="0">
                <a:solidFill>
                  <a:srgbClr val="2E2E2E"/>
                </a:solidFill>
                <a:latin typeface="Calibri"/>
              </a:rPr>
              <a:t>Global hair styling products market is expected to witness</a:t>
            </a:r>
          </a:p>
        </p:txBody>
      </p:sp>
      <p:pic>
        <p:nvPicPr>
          <p:cNvPr id="32" name="Picture 31" descr="lock.png"/>
          <p:cNvPicPr>
            <a:picLocks noChangeAspect="1"/>
          </p:cNvPicPr>
          <p:nvPr/>
        </p:nvPicPr>
        <p:blipFill>
          <a:blip r:embed="rId4"/>
          <a:stretch>
            <a:fillRect/>
          </a:stretch>
        </p:blipFill>
        <p:spPr>
          <a:xfrm>
            <a:off x="3731471" y="1389951"/>
            <a:ext cx="134549" cy="195707"/>
          </a:xfrm>
          <a:prstGeom prst="rect">
            <a:avLst/>
          </a:prstGeom>
        </p:spPr>
      </p:pic>
      <p:sp>
        <p:nvSpPr>
          <p:cNvPr id="33" name="TextBox 32"/>
          <p:cNvSpPr txBox="1"/>
          <p:nvPr/>
        </p:nvSpPr>
        <p:spPr>
          <a:xfrm>
            <a:off x="3906581" y="1400175"/>
            <a:ext cx="5394759" cy="194310"/>
          </a:xfrm>
          <a:prstGeom prst="rect">
            <a:avLst/>
          </a:prstGeom>
          <a:noFill/>
        </p:spPr>
        <p:txBody>
          <a:bodyPr wrap="none" lIns="0" rIns="0" tIns="0" bIns="0">
            <a:spAutoFit/>
          </a:bodyPr>
          <a:lstStyle/>
          <a:p>
            <a:r>
              <a:rPr sz="1150" b="0">
                <a:solidFill>
                  <a:srgbClr val="2E2E2E"/>
                </a:solidFill>
                <a:latin typeface="Calibri"/>
              </a:rPr>
              <a:t>X increase in revenue by 2036 end. Global hair styling products market accounted for US$</a:t>
            </a:r>
          </a:p>
        </p:txBody>
      </p:sp>
      <p:pic>
        <p:nvPicPr>
          <p:cNvPr id="34" name="Picture 33" descr="lock.png"/>
          <p:cNvPicPr>
            <a:picLocks noChangeAspect="1"/>
          </p:cNvPicPr>
          <p:nvPr/>
        </p:nvPicPr>
        <p:blipFill>
          <a:blip r:embed="rId4"/>
          <a:stretch>
            <a:fillRect/>
          </a:stretch>
        </p:blipFill>
        <p:spPr>
          <a:xfrm>
            <a:off x="9250494" y="1389951"/>
            <a:ext cx="134549" cy="195707"/>
          </a:xfrm>
          <a:prstGeom prst="rect">
            <a:avLst/>
          </a:prstGeom>
        </p:spPr>
      </p:pic>
      <p:sp>
        <p:nvSpPr>
          <p:cNvPr id="35" name="TextBox 34"/>
          <p:cNvSpPr txBox="1"/>
          <p:nvPr/>
        </p:nvSpPr>
        <p:spPr>
          <a:xfrm>
            <a:off x="9425603"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6" name="TextBox 35"/>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7" name="Picture 36" descr="lock.png"/>
          <p:cNvPicPr>
            <a:picLocks noChangeAspect="1"/>
          </p:cNvPicPr>
          <p:nvPr/>
        </p:nvPicPr>
        <p:blipFill>
          <a:blip r:embed="rId4"/>
          <a:stretch>
            <a:fillRect/>
          </a:stretch>
        </p:blipFill>
        <p:spPr>
          <a:xfrm>
            <a:off x="1224660" y="1565211"/>
            <a:ext cx="134549" cy="195707"/>
          </a:xfrm>
          <a:prstGeom prst="rect">
            <a:avLst/>
          </a:prstGeom>
        </p:spPr>
      </p:pic>
      <p:sp>
        <p:nvSpPr>
          <p:cNvPr id="38" name="TextBox 37"/>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2876477" y="1565211"/>
            <a:ext cx="134549" cy="195707"/>
          </a:xfrm>
          <a:prstGeom prst="rect">
            <a:avLst/>
          </a:prstGeom>
        </p:spPr>
      </p:pic>
      <p:sp>
        <p:nvSpPr>
          <p:cNvPr id="40" name="TextBox 39"/>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369116" cy="194310"/>
          </a:xfrm>
          <a:prstGeom prst="rect">
            <a:avLst/>
          </a:prstGeom>
          <a:noFill/>
        </p:spPr>
        <p:txBody>
          <a:bodyPr wrap="none" lIns="0" rIns="0" tIns="0" bIns="0">
            <a:spAutoFit/>
          </a:bodyPr>
          <a:lstStyle/>
          <a:p>
            <a:r>
              <a:rPr sz="1150" b="0">
                <a:solidFill>
                  <a:srgbClr val="2E2E2E"/>
                </a:solidFill>
                <a:latin typeface="Calibri"/>
              </a:rPr>
              <a:t>The global hair styling products market has been analysed on the basis of product format, hold level, finish and distribution channel across the globe. North America is expected to remain the</a:t>
            </a:r>
          </a:p>
        </p:txBody>
      </p:sp>
      <p:sp>
        <p:nvSpPr>
          <p:cNvPr id="42" name="TextBox 41"/>
          <p:cNvSpPr txBox="1"/>
          <p:nvPr/>
        </p:nvSpPr>
        <p:spPr>
          <a:xfrm>
            <a:off x="276225" y="1978533"/>
            <a:ext cx="7437444" cy="194310"/>
          </a:xfrm>
          <a:prstGeom prst="rect">
            <a:avLst/>
          </a:prstGeom>
          <a:noFill/>
        </p:spPr>
        <p:txBody>
          <a:bodyPr wrap="none" lIns="0" rIns="0" tIns="0" bIns="0">
            <a:spAutoFit/>
          </a:bodyPr>
          <a:lstStyle/>
          <a:p>
            <a:r>
              <a:rPr sz="1150" b="0">
                <a:solidFill>
                  <a:srgbClr val="2E2E2E"/>
                </a:solidFill>
                <a:latin typeface="Calibri"/>
              </a:rPr>
              <a:t>largest market for hair styling products,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7662823" y="1968309"/>
            <a:ext cx="134549" cy="195707"/>
          </a:xfrm>
          <a:prstGeom prst="rect">
            <a:avLst/>
          </a:prstGeom>
        </p:spPr>
      </p:pic>
      <p:sp>
        <p:nvSpPr>
          <p:cNvPr id="44" name="TextBox 43"/>
          <p:cNvSpPr txBox="1"/>
          <p:nvPr/>
        </p:nvSpPr>
        <p:spPr>
          <a:xfrm>
            <a:off x="7837932"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5757602" cy="194310"/>
          </a:xfrm>
          <a:prstGeom prst="rect">
            <a:avLst/>
          </a:prstGeom>
          <a:noFill/>
        </p:spPr>
        <p:txBody>
          <a:bodyPr wrap="none" lIns="0" rIns="0" tIns="0" bIns="0">
            <a:spAutoFit/>
          </a:bodyPr>
          <a:lstStyle/>
          <a:p>
            <a:r>
              <a:rPr sz="1150" b="0">
                <a:solidFill>
                  <a:srgbClr val="2E2E2E"/>
                </a:solidFill>
                <a:latin typeface="Calibri"/>
              </a:rPr>
              <a:t>▪ The market is fragmented: the leading product format category 'Styling Serums and Oils' holds</a:t>
            </a:r>
          </a:p>
        </p:txBody>
      </p:sp>
      <p:pic>
        <p:nvPicPr>
          <p:cNvPr id="46" name="Picture 45" descr="lock.png"/>
          <p:cNvPicPr>
            <a:picLocks noChangeAspect="1"/>
          </p:cNvPicPr>
          <p:nvPr/>
        </p:nvPicPr>
        <p:blipFill>
          <a:blip r:embed="rId4"/>
          <a:stretch>
            <a:fillRect/>
          </a:stretch>
        </p:blipFill>
        <p:spPr>
          <a:xfrm>
            <a:off x="5982980" y="3266376"/>
            <a:ext cx="134549" cy="195707"/>
          </a:xfrm>
          <a:prstGeom prst="rect">
            <a:avLst/>
          </a:prstGeom>
        </p:spPr>
      </p:pic>
      <p:sp>
        <p:nvSpPr>
          <p:cNvPr id="47" name="TextBox 46"/>
          <p:cNvSpPr txBox="1"/>
          <p:nvPr/>
        </p:nvSpPr>
        <p:spPr>
          <a:xfrm>
            <a:off x="6158090"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5054451" cy="194310"/>
          </a:xfrm>
          <a:prstGeom prst="rect">
            <a:avLst/>
          </a:prstGeom>
          <a:noFill/>
        </p:spPr>
        <p:txBody>
          <a:bodyPr wrap="none" lIns="0" rIns="0" tIns="0" bIns="0">
            <a:spAutoFit/>
          </a:bodyPr>
          <a:lstStyle/>
          <a:p>
            <a:r>
              <a:rPr sz="1150" b="0">
                <a:solidFill>
                  <a:srgbClr val="2E2E2E"/>
                </a:solidFill>
                <a:latin typeface="Calibri"/>
              </a:rPr>
              <a:t>▪ Demand spans 6 regions and 7 segmentation lenses (8 product format categories).</a:t>
            </a:r>
          </a:p>
        </p:txBody>
      </p:sp>
      <p:sp>
        <p:nvSpPr>
          <p:cNvPr id="49" name="TextBox 48"/>
          <p:cNvSpPr txBox="1"/>
          <p:nvPr/>
        </p:nvSpPr>
        <p:spPr>
          <a:xfrm>
            <a:off x="276225" y="373227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50" name="Picture 49" descr="lock.png"/>
          <p:cNvPicPr>
            <a:picLocks noChangeAspect="1"/>
          </p:cNvPicPr>
          <p:nvPr/>
        </p:nvPicPr>
        <p:blipFill>
          <a:blip r:embed="rId4"/>
          <a:stretch>
            <a:fillRect/>
          </a:stretch>
        </p:blipFill>
        <p:spPr>
          <a:xfrm>
            <a:off x="3176367" y="3722052"/>
            <a:ext cx="134549" cy="195707"/>
          </a:xfrm>
          <a:prstGeom prst="rect">
            <a:avLst/>
          </a:prstGeom>
        </p:spPr>
      </p:pic>
      <p:sp>
        <p:nvSpPr>
          <p:cNvPr id="51" name="TextBox 50"/>
          <p:cNvSpPr txBox="1"/>
          <p:nvPr/>
        </p:nvSpPr>
        <p:spPr>
          <a:xfrm>
            <a:off x="3351477"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653183" cy="194310"/>
          </a:xfrm>
          <a:prstGeom prst="rect">
            <a:avLst/>
          </a:prstGeom>
          <a:noFill/>
        </p:spPr>
        <p:txBody>
          <a:bodyPr wrap="none" lIns="0" rIns="0" tIns="0" bIns="0">
            <a:spAutoFit/>
          </a:bodyPr>
          <a:lstStyle/>
          <a:p>
            <a:r>
              <a:rPr sz="1150" b="0">
                <a:solidFill>
                  <a:srgbClr val="2E2E2E"/>
                </a:solidFill>
                <a:latin typeface="Calibri"/>
              </a:rPr>
              <a:t>▪ Accelerating uptake of 'Sticks and Balms' (</a:t>
            </a:r>
          </a:p>
        </p:txBody>
      </p:sp>
      <p:pic>
        <p:nvPicPr>
          <p:cNvPr id="53" name="Picture 52" descr="lock.png"/>
          <p:cNvPicPr>
            <a:picLocks noChangeAspect="1"/>
          </p:cNvPicPr>
          <p:nvPr/>
        </p:nvPicPr>
        <p:blipFill>
          <a:blip r:embed="rId4"/>
          <a:stretch>
            <a:fillRect/>
          </a:stretch>
        </p:blipFill>
        <p:spPr>
          <a:xfrm>
            <a:off x="2878562" y="5028501"/>
            <a:ext cx="134549" cy="195707"/>
          </a:xfrm>
          <a:prstGeom prst="rect">
            <a:avLst/>
          </a:prstGeom>
        </p:spPr>
      </p:pic>
      <p:sp>
        <p:nvSpPr>
          <p:cNvPr id="54" name="TextBox 53"/>
          <p:cNvSpPr txBox="1"/>
          <p:nvPr/>
        </p:nvSpPr>
        <p:spPr>
          <a:xfrm>
            <a:off x="3053671"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6" name="Picture 55" descr="lock.png"/>
          <p:cNvPicPr>
            <a:picLocks noChangeAspect="1"/>
          </p:cNvPicPr>
          <p:nvPr/>
        </p:nvPicPr>
        <p:blipFill>
          <a:blip r:embed="rId4"/>
          <a:stretch>
            <a:fillRect/>
          </a:stretch>
        </p:blipFill>
        <p:spPr>
          <a:xfrm>
            <a:off x="3102424" y="5256339"/>
            <a:ext cx="134549" cy="195707"/>
          </a:xfrm>
          <a:prstGeom prst="rect">
            <a:avLst/>
          </a:prstGeom>
        </p:spPr>
      </p:pic>
      <p:sp>
        <p:nvSpPr>
          <p:cNvPr id="57" name="TextBox 56"/>
          <p:cNvSpPr txBox="1"/>
          <p:nvPr/>
        </p:nvSpPr>
        <p:spPr>
          <a:xfrm>
            <a:off x="3277533"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409106" cy="194310"/>
          </a:xfrm>
          <a:prstGeom prst="rect">
            <a:avLst/>
          </a:prstGeom>
          <a:noFill/>
        </p:spPr>
        <p:txBody>
          <a:bodyPr wrap="none" lIns="0" rIns="0" tIns="0" bIns="0">
            <a:spAutoFit/>
          </a:bodyPr>
          <a:lstStyle/>
          <a:p>
            <a:r>
              <a:rPr sz="1150" b="0">
                <a:solidFill>
                  <a:srgbClr val="2E2E2E"/>
                </a:solidFill>
                <a:latin typeface="Calibri"/>
              </a:rPr>
              <a:t>▪ Momentum in Online Marketplaces within distribution</a:t>
            </a:r>
          </a:p>
        </p:txBody>
      </p:sp>
      <p:sp>
        <p:nvSpPr>
          <p:cNvPr id="59" name="TextBox 58"/>
          <p:cNvSpPr txBox="1"/>
          <p:nvPr/>
        </p:nvSpPr>
        <p:spPr>
          <a:xfrm>
            <a:off x="276225" y="5669660"/>
            <a:ext cx="621890" cy="194310"/>
          </a:xfrm>
          <a:prstGeom prst="rect">
            <a:avLst/>
          </a:prstGeom>
          <a:noFill/>
        </p:spPr>
        <p:txBody>
          <a:bodyPr wrap="none" lIns="0" rIns="0" tIns="0" bIns="0">
            <a:spAutoFit/>
          </a:bodyPr>
          <a:lstStyle/>
          <a:p>
            <a:r>
              <a:rPr sz="1150" b="0">
                <a:solidFill>
                  <a:srgbClr val="2E2E2E"/>
                </a:solidFill>
                <a:latin typeface="Calibri"/>
              </a:rPr>
              <a:t>channel (</a:t>
            </a:r>
          </a:p>
        </p:txBody>
      </p:sp>
      <p:pic>
        <p:nvPicPr>
          <p:cNvPr id="60" name="Picture 59" descr="lock.png"/>
          <p:cNvPicPr>
            <a:picLocks noChangeAspect="1"/>
          </p:cNvPicPr>
          <p:nvPr/>
        </p:nvPicPr>
        <p:blipFill>
          <a:blip r:embed="rId4"/>
          <a:stretch>
            <a:fillRect/>
          </a:stretch>
        </p:blipFill>
        <p:spPr>
          <a:xfrm>
            <a:off x="847269" y="5659437"/>
            <a:ext cx="134549" cy="195707"/>
          </a:xfrm>
          <a:prstGeom prst="rect">
            <a:avLst/>
          </a:prstGeom>
        </p:spPr>
      </p:pic>
      <p:sp>
        <p:nvSpPr>
          <p:cNvPr id="61" name="TextBox 60"/>
          <p:cNvSpPr txBox="1"/>
          <p:nvPr/>
        </p:nvSpPr>
        <p:spPr>
          <a:xfrm>
            <a:off x="1022378"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5038725"/>
            <a:ext cx="2619809" cy="194310"/>
          </a:xfrm>
          <a:prstGeom prst="rect">
            <a:avLst/>
          </a:prstGeom>
          <a:noFill/>
        </p:spPr>
        <p:txBody>
          <a:bodyPr wrap="none" lIns="0" rIns="0" tIns="0" bIns="0">
            <a:spAutoFit/>
          </a:bodyPr>
          <a:lstStyle/>
          <a:p>
            <a:r>
              <a:rPr sz="1150" b="0">
                <a:solidFill>
                  <a:srgbClr val="2E2E2E"/>
                </a:solidFill>
                <a:latin typeface="Calibri"/>
              </a:rPr>
              <a:t>▪ Slower momentum in 'Sprays and Mists' (</a:t>
            </a:r>
          </a:p>
        </p:txBody>
      </p:sp>
      <p:pic>
        <p:nvPicPr>
          <p:cNvPr id="63" name="Picture 62" descr="lock.png"/>
          <p:cNvPicPr>
            <a:picLocks noChangeAspect="1"/>
          </p:cNvPicPr>
          <p:nvPr/>
        </p:nvPicPr>
        <p:blipFill>
          <a:blip r:embed="rId4"/>
          <a:stretch>
            <a:fillRect/>
          </a:stretch>
        </p:blipFill>
        <p:spPr>
          <a:xfrm>
            <a:off x="6940938" y="5028501"/>
            <a:ext cx="134549" cy="195707"/>
          </a:xfrm>
          <a:prstGeom prst="rect">
            <a:avLst/>
          </a:prstGeom>
        </p:spPr>
      </p:pic>
      <p:sp>
        <p:nvSpPr>
          <p:cNvPr id="64" name="TextBox 63"/>
          <p:cNvSpPr txBox="1"/>
          <p:nvPr/>
        </p:nvSpPr>
        <p:spPr>
          <a:xfrm>
            <a:off x="7116047"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31599"/>
            <a:ext cx="134549" cy="195707"/>
          </a:xfrm>
          <a:prstGeom prst="rect">
            <a:avLst/>
          </a:prstGeom>
        </p:spPr>
      </p:pic>
      <p:sp>
        <p:nvSpPr>
          <p:cNvPr id="68" name="TextBox 67"/>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669660"/>
            <a:ext cx="3359187" cy="194310"/>
          </a:xfrm>
          <a:prstGeom prst="rect">
            <a:avLst/>
          </a:prstGeom>
          <a:noFill/>
        </p:spPr>
        <p:txBody>
          <a:bodyPr wrap="none" lIns="0" rIns="0" tIns="0" bIns="0">
            <a:spAutoFit/>
          </a:bodyPr>
          <a:lstStyle/>
          <a:p>
            <a:r>
              <a:rPr sz="1150" b="0">
                <a:solidFill>
                  <a:srgbClr val="2E2E2E"/>
                </a:solidFill>
                <a:latin typeface="Calibri"/>
              </a:rPr>
              <a:t>▪ Value concentration in 'Styling Serums and Oils' raises</a:t>
            </a:r>
          </a:p>
        </p:txBody>
      </p:sp>
      <p:sp>
        <p:nvSpPr>
          <p:cNvPr id="70" name="TextBox 69"/>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1430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4" name="Rounded Rectangle 13"/>
          <p:cNvSpPr/>
          <p:nvPr/>
        </p:nvSpPr>
        <p:spPr>
          <a:xfrm>
            <a:off x="6172200" y="981075"/>
            <a:ext cx="5876925"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1430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743200"/>
            <a:ext cx="5876925" cy="1714500"/>
          </a:xfrm>
          <a:prstGeom prst="roundRect">
            <a:avLst>
              <a:gd name="adj" fmla="val 44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289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0670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152775"/>
            <a:ext cx="5610225" cy="12287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743200"/>
            <a:ext cx="5876925" cy="1714500"/>
          </a:xfrm>
          <a:prstGeom prst="roundRect">
            <a:avLst>
              <a:gd name="adj" fmla="val 44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289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0670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152775"/>
            <a:ext cx="5610225" cy="12287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591050"/>
            <a:ext cx="11906250" cy="2028825"/>
          </a:xfrm>
          <a:prstGeom prst="roundRect">
            <a:avLst>
              <a:gd name="adj" fmla="val 3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6482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Format Share (2036)</a:t>
            </a:r>
          </a:p>
        </p:txBody>
      </p:sp>
      <p:graphicFrame>
        <p:nvGraphicFramePr>
          <p:cNvPr id="28" name="Chart 27"/>
          <p:cNvGraphicFramePr>
            <a:graphicFrameLocks noGrp="1"/>
          </p:cNvGraphicFramePr>
          <p:nvPr/>
        </p:nvGraphicFramePr>
        <p:xfrm>
          <a:off x="238125" y="4876800"/>
          <a:ext cx="11715750" cy="1685925"/>
        </p:xfrm>
        <a:graphic>
          <a:graphicData uri="http://schemas.openxmlformats.org/drawingml/2006/chart">
            <c:chart xmlns:c="http://schemas.openxmlformats.org/drawingml/2006/chart" r:id="rId3"/>
          </a:graphicData>
        </a:graphic>
      </p:graphicFrame>
      <p:sp>
        <p:nvSpPr>
          <p:cNvPr id="29" name="TextBox 28"/>
          <p:cNvSpPr txBox="1"/>
          <p:nvPr/>
        </p:nvSpPr>
        <p:spPr>
          <a:xfrm>
            <a:off x="3935364" y="5605462"/>
            <a:ext cx="806547"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62835" y="5467328"/>
            <a:ext cx="330567" cy="480825"/>
          </a:xfrm>
          <a:prstGeom prst="rect">
            <a:avLst/>
          </a:prstGeom>
        </p:spPr>
      </p:pic>
      <p:sp>
        <p:nvSpPr>
          <p:cNvPr id="32" name="TextBox 31"/>
          <p:cNvSpPr txBox="1"/>
          <p:nvPr/>
        </p:nvSpPr>
        <p:spPr>
          <a:xfrm>
            <a:off x="276225" y="1400175"/>
            <a:ext cx="5500216" cy="186689"/>
          </a:xfrm>
          <a:prstGeom prst="rect">
            <a:avLst/>
          </a:prstGeom>
          <a:noFill/>
        </p:spPr>
        <p:txBody>
          <a:bodyPr wrap="none" lIns="0" rIns="0" tIns="0" bIns="0">
            <a:spAutoFit/>
          </a:bodyPr>
          <a:lstStyle/>
          <a:p>
            <a:r>
              <a:rPr sz="1100" b="0">
                <a:solidFill>
                  <a:srgbClr val="2E2E2E"/>
                </a:solidFill>
                <a:latin typeface="Calibri"/>
              </a:rPr>
              <a:t>▪ Capacity and product development are concentrating in 'Sticks and Balms' and in South Asia &amp;</a:t>
            </a:r>
          </a:p>
        </p:txBody>
      </p:sp>
      <p:sp>
        <p:nvSpPr>
          <p:cNvPr id="33" name="TextBox 32"/>
          <p:cNvSpPr txBox="1"/>
          <p:nvPr/>
        </p:nvSpPr>
        <p:spPr>
          <a:xfrm>
            <a:off x="276225" y="1567815"/>
            <a:ext cx="2043459" cy="186689"/>
          </a:xfrm>
          <a:prstGeom prst="rect">
            <a:avLst/>
          </a:prstGeom>
          <a:noFill/>
        </p:spPr>
        <p:txBody>
          <a:bodyPr wrap="none" lIns="0" rIns="0" tIns="0" bIns="0">
            <a:spAutoFit/>
          </a:bodyPr>
          <a:lstStyle/>
          <a:p>
            <a:r>
              <a:rPr sz="1100" b="0">
                <a:solidFill>
                  <a:srgbClr val="2E2E2E"/>
                </a:solidFill>
                <a:latin typeface="Calibri"/>
              </a:rPr>
              <a:t>Pacific, the fastest-growing region.</a:t>
            </a:r>
          </a:p>
        </p:txBody>
      </p:sp>
      <p:sp>
        <p:nvSpPr>
          <p:cNvPr id="34" name="TextBox 33"/>
          <p:cNvSpPr txBox="1"/>
          <p:nvPr/>
        </p:nvSpPr>
        <p:spPr>
          <a:xfrm>
            <a:off x="276225" y="1785747"/>
            <a:ext cx="5216177" cy="186689"/>
          </a:xfrm>
          <a:prstGeom prst="rect">
            <a:avLst/>
          </a:prstGeom>
          <a:noFill/>
        </p:spPr>
        <p:txBody>
          <a:bodyPr wrap="none" lIns="0" rIns="0" tIns="0" bIns="0">
            <a:spAutoFit/>
          </a:bodyPr>
          <a:lstStyle/>
          <a:p>
            <a:r>
              <a:rPr sz="1100" b="0">
                <a:solidFill>
                  <a:srgbClr val="2E2E2E"/>
                </a:solidFill>
                <a:latin typeface="Calibri"/>
              </a:rPr>
              <a:t>▪ Portfolio expansion is tracking the shift toward higher-growth product format categories.</a:t>
            </a:r>
          </a:p>
        </p:txBody>
      </p:sp>
      <p:sp>
        <p:nvSpPr>
          <p:cNvPr id="35" name="TextBox 34"/>
          <p:cNvSpPr txBox="1"/>
          <p:nvPr/>
        </p:nvSpPr>
        <p:spPr>
          <a:xfrm>
            <a:off x="276225" y="2003678"/>
            <a:ext cx="5313312" cy="186689"/>
          </a:xfrm>
          <a:prstGeom prst="rect">
            <a:avLst/>
          </a:prstGeom>
          <a:noFill/>
        </p:spPr>
        <p:txBody>
          <a:bodyPr wrap="none" lIns="0" rIns="0" tIns="0" bIns="0">
            <a:spAutoFit/>
          </a:bodyPr>
          <a:lstStyle/>
          <a:p>
            <a:r>
              <a:rPr sz="1100" b="0">
                <a:solidFill>
                  <a:srgbClr val="2E2E2E"/>
                </a:solidFill>
                <a:latin typeface="Calibri"/>
              </a:rPr>
              <a:t>▪ Commercial focus is intensifying in North America and South Asia &amp; Pacific, which together</a:t>
            </a:r>
          </a:p>
        </p:txBody>
      </p:sp>
      <p:sp>
        <p:nvSpPr>
          <p:cNvPr id="36" name="TextBox 35"/>
          <p:cNvSpPr txBox="1"/>
          <p:nvPr/>
        </p:nvSpPr>
        <p:spPr>
          <a:xfrm>
            <a:off x="276225" y="2171319"/>
            <a:ext cx="725586" cy="186689"/>
          </a:xfrm>
          <a:prstGeom prst="rect">
            <a:avLst/>
          </a:prstGeom>
          <a:noFill/>
        </p:spPr>
        <p:txBody>
          <a:bodyPr wrap="none" lIns="0" rIns="0" tIns="0" bIns="0">
            <a:spAutoFit/>
          </a:bodyPr>
          <a:lstStyle/>
          <a:p>
            <a:r>
              <a:rPr sz="1100" b="0">
                <a:solidFill>
                  <a:srgbClr val="2E2E2E"/>
                </a:solidFill>
                <a:latin typeface="Calibri"/>
              </a:rPr>
              <a:t>account for</a:t>
            </a:r>
          </a:p>
        </p:txBody>
      </p:sp>
      <p:pic>
        <p:nvPicPr>
          <p:cNvPr id="37" name="Picture 36" descr="lock.png"/>
          <p:cNvPicPr>
            <a:picLocks noChangeAspect="1"/>
          </p:cNvPicPr>
          <p:nvPr/>
        </p:nvPicPr>
        <p:blipFill>
          <a:blip r:embed="rId5"/>
          <a:stretch>
            <a:fillRect/>
          </a:stretch>
        </p:blipFill>
        <p:spPr>
          <a:xfrm>
            <a:off x="949863" y="2161540"/>
            <a:ext cx="128699" cy="187198"/>
          </a:xfrm>
          <a:prstGeom prst="rect">
            <a:avLst/>
          </a:prstGeom>
        </p:spPr>
      </p:pic>
      <p:sp>
        <p:nvSpPr>
          <p:cNvPr id="38" name="TextBox 37"/>
          <p:cNvSpPr txBox="1"/>
          <p:nvPr/>
        </p:nvSpPr>
        <p:spPr>
          <a:xfrm>
            <a:off x="1117359" y="2171319"/>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39" name="TextBox 38"/>
          <p:cNvSpPr txBox="1"/>
          <p:nvPr/>
        </p:nvSpPr>
        <p:spPr>
          <a:xfrm>
            <a:off x="6305550" y="1400175"/>
            <a:ext cx="1508943" cy="186689"/>
          </a:xfrm>
          <a:prstGeom prst="rect">
            <a:avLst/>
          </a:prstGeom>
          <a:noFill/>
        </p:spPr>
        <p:txBody>
          <a:bodyPr wrap="none" lIns="0" rIns="0" tIns="0" bIns="0">
            <a:spAutoFit/>
          </a:bodyPr>
          <a:lstStyle/>
          <a:p>
            <a:r>
              <a:rPr sz="1100" b="0">
                <a:solidFill>
                  <a:srgbClr val="2E2E2E"/>
                </a:solidFill>
                <a:latin typeface="Calibri"/>
              </a:rPr>
              <a:t>▪ Market value rises from</a:t>
            </a:r>
          </a:p>
        </p:txBody>
      </p:sp>
      <p:pic>
        <p:nvPicPr>
          <p:cNvPr id="40" name="Picture 39" descr="lock.png"/>
          <p:cNvPicPr>
            <a:picLocks noChangeAspect="1"/>
          </p:cNvPicPr>
          <p:nvPr/>
        </p:nvPicPr>
        <p:blipFill>
          <a:blip r:embed="rId5"/>
          <a:stretch>
            <a:fillRect/>
          </a:stretch>
        </p:blipFill>
        <p:spPr>
          <a:xfrm>
            <a:off x="7762545" y="1390396"/>
            <a:ext cx="128699" cy="187198"/>
          </a:xfrm>
          <a:prstGeom prst="rect">
            <a:avLst/>
          </a:prstGeom>
        </p:spPr>
      </p:pic>
      <p:sp>
        <p:nvSpPr>
          <p:cNvPr id="41" name="TextBox 40"/>
          <p:cNvSpPr txBox="1"/>
          <p:nvPr/>
        </p:nvSpPr>
        <p:spPr>
          <a:xfrm>
            <a:off x="7930040" y="1400175"/>
            <a:ext cx="1130498" cy="186689"/>
          </a:xfrm>
          <a:prstGeom prst="rect">
            <a:avLst/>
          </a:prstGeom>
          <a:noFill/>
        </p:spPr>
        <p:txBody>
          <a:bodyPr wrap="none" lIns="0" rIns="0" tIns="0" bIns="0">
            <a:spAutoFit/>
          </a:bodyPr>
          <a:lstStyle/>
          <a:p>
            <a:r>
              <a:rPr sz="1100" b="0">
                <a:solidFill>
                  <a:srgbClr val="2E2E2E"/>
                </a:solidFill>
                <a:latin typeface="Calibri"/>
              </a:rPr>
              <a:t>US$ Mn in 2026 to</a:t>
            </a:r>
          </a:p>
        </p:txBody>
      </p:sp>
      <p:pic>
        <p:nvPicPr>
          <p:cNvPr id="42" name="Picture 41" descr="lock.png"/>
          <p:cNvPicPr>
            <a:picLocks noChangeAspect="1"/>
          </p:cNvPicPr>
          <p:nvPr/>
        </p:nvPicPr>
        <p:blipFill>
          <a:blip r:embed="rId5"/>
          <a:stretch>
            <a:fillRect/>
          </a:stretch>
        </p:blipFill>
        <p:spPr>
          <a:xfrm>
            <a:off x="9008591" y="1390396"/>
            <a:ext cx="128699" cy="187198"/>
          </a:xfrm>
          <a:prstGeom prst="rect">
            <a:avLst/>
          </a:prstGeom>
        </p:spPr>
      </p:pic>
      <p:sp>
        <p:nvSpPr>
          <p:cNvPr id="43" name="TextBox 42"/>
          <p:cNvSpPr txBox="1"/>
          <p:nvPr/>
        </p:nvSpPr>
        <p:spPr>
          <a:xfrm>
            <a:off x="9176086" y="1400175"/>
            <a:ext cx="1013445" cy="186689"/>
          </a:xfrm>
          <a:prstGeom prst="rect">
            <a:avLst/>
          </a:prstGeom>
          <a:noFill/>
        </p:spPr>
        <p:txBody>
          <a:bodyPr wrap="none" lIns="0" rIns="0" tIns="0" bIns="0">
            <a:spAutoFit/>
          </a:bodyPr>
          <a:lstStyle/>
          <a:p>
            <a:r>
              <a:rPr sz="1100" b="0">
                <a:solidFill>
                  <a:srgbClr val="2E2E2E"/>
                </a:solidFill>
                <a:latin typeface="Calibri"/>
              </a:rPr>
              <a:t>US$ Mn in 2036.</a:t>
            </a:r>
          </a:p>
        </p:txBody>
      </p:sp>
      <p:sp>
        <p:nvSpPr>
          <p:cNvPr id="44" name="TextBox 43"/>
          <p:cNvSpPr txBox="1"/>
          <p:nvPr/>
        </p:nvSpPr>
        <p:spPr>
          <a:xfrm>
            <a:off x="6305550" y="1618107"/>
            <a:ext cx="1331572" cy="186689"/>
          </a:xfrm>
          <a:prstGeom prst="rect">
            <a:avLst/>
          </a:prstGeom>
          <a:noFill/>
        </p:spPr>
        <p:txBody>
          <a:bodyPr wrap="none" lIns="0" rIns="0" tIns="0" bIns="0">
            <a:spAutoFit/>
          </a:bodyPr>
          <a:lstStyle/>
          <a:p>
            <a:r>
              <a:rPr sz="1100" b="0">
                <a:solidFill>
                  <a:srgbClr val="2E2E2E"/>
                </a:solidFill>
                <a:latin typeface="Calibri"/>
              </a:rPr>
              <a:t>▪ The forecast CAGR is</a:t>
            </a:r>
          </a:p>
        </p:txBody>
      </p:sp>
      <p:pic>
        <p:nvPicPr>
          <p:cNvPr id="45" name="Picture 44" descr="lock.png"/>
          <p:cNvPicPr>
            <a:picLocks noChangeAspect="1"/>
          </p:cNvPicPr>
          <p:nvPr/>
        </p:nvPicPr>
        <p:blipFill>
          <a:blip r:embed="rId5"/>
          <a:stretch>
            <a:fillRect/>
          </a:stretch>
        </p:blipFill>
        <p:spPr>
          <a:xfrm>
            <a:off x="7585174" y="1608328"/>
            <a:ext cx="128699" cy="187198"/>
          </a:xfrm>
          <a:prstGeom prst="rect">
            <a:avLst/>
          </a:prstGeom>
        </p:spPr>
      </p:pic>
      <p:sp>
        <p:nvSpPr>
          <p:cNvPr id="46" name="TextBox 45"/>
          <p:cNvSpPr txBox="1"/>
          <p:nvPr/>
        </p:nvSpPr>
        <p:spPr>
          <a:xfrm>
            <a:off x="7752670" y="1618107"/>
            <a:ext cx="1008533" cy="186689"/>
          </a:xfrm>
          <a:prstGeom prst="rect">
            <a:avLst/>
          </a:prstGeom>
          <a:noFill/>
        </p:spPr>
        <p:txBody>
          <a:bodyPr wrap="none" lIns="0" rIns="0" tIns="0" bIns="0">
            <a:spAutoFit/>
          </a:bodyPr>
          <a:lstStyle/>
          <a:p>
            <a:r>
              <a:rPr sz="1100" b="0">
                <a:solidFill>
                  <a:srgbClr val="2E2E2E"/>
                </a:solidFill>
                <a:latin typeface="Calibri"/>
              </a:rPr>
              <a:t>over 2026-2036.</a:t>
            </a:r>
          </a:p>
        </p:txBody>
      </p:sp>
      <p:sp>
        <p:nvSpPr>
          <p:cNvPr id="47" name="TextBox 46"/>
          <p:cNvSpPr txBox="1"/>
          <p:nvPr/>
        </p:nvSpPr>
        <p:spPr>
          <a:xfrm>
            <a:off x="6305550" y="1836039"/>
            <a:ext cx="3865016" cy="186689"/>
          </a:xfrm>
          <a:prstGeom prst="rect">
            <a:avLst/>
          </a:prstGeom>
          <a:noFill/>
        </p:spPr>
        <p:txBody>
          <a:bodyPr wrap="none" lIns="0" rIns="0" tIns="0" bIns="0">
            <a:spAutoFit/>
          </a:bodyPr>
          <a:lstStyle/>
          <a:p>
            <a:r>
              <a:rPr sz="1100" b="0">
                <a:solidFill>
                  <a:srgbClr val="2E2E2E"/>
                </a:solidFill>
                <a:latin typeface="Calibri"/>
              </a:rPr>
              <a:t>▪ 'Styling Serums and Oils' is the lead product format category with</a:t>
            </a:r>
          </a:p>
        </p:txBody>
      </p:sp>
      <p:pic>
        <p:nvPicPr>
          <p:cNvPr id="48" name="Picture 47" descr="lock.png"/>
          <p:cNvPicPr>
            <a:picLocks noChangeAspect="1"/>
          </p:cNvPicPr>
          <p:nvPr/>
        </p:nvPicPr>
        <p:blipFill>
          <a:blip r:embed="rId5"/>
          <a:stretch>
            <a:fillRect/>
          </a:stretch>
        </p:blipFill>
        <p:spPr>
          <a:xfrm>
            <a:off x="10118618" y="1826260"/>
            <a:ext cx="128699" cy="187198"/>
          </a:xfrm>
          <a:prstGeom prst="rect">
            <a:avLst/>
          </a:prstGeom>
        </p:spPr>
      </p:pic>
      <p:sp>
        <p:nvSpPr>
          <p:cNvPr id="49" name="TextBox 48"/>
          <p:cNvSpPr txBox="1"/>
          <p:nvPr/>
        </p:nvSpPr>
        <p:spPr>
          <a:xfrm>
            <a:off x="10286114" y="1836039"/>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50" name="TextBox 49"/>
          <p:cNvSpPr txBox="1"/>
          <p:nvPr/>
        </p:nvSpPr>
        <p:spPr>
          <a:xfrm>
            <a:off x="6305550" y="2053970"/>
            <a:ext cx="2283841" cy="186689"/>
          </a:xfrm>
          <a:prstGeom prst="rect">
            <a:avLst/>
          </a:prstGeom>
          <a:noFill/>
        </p:spPr>
        <p:txBody>
          <a:bodyPr wrap="none" lIns="0" rIns="0" tIns="0" bIns="0">
            <a:spAutoFit/>
          </a:bodyPr>
          <a:lstStyle/>
          <a:p>
            <a:r>
              <a:rPr sz="1100" b="0">
                <a:solidFill>
                  <a:srgbClr val="2E2E2E"/>
                </a:solidFill>
                <a:latin typeface="Calibri"/>
              </a:rPr>
              <a:t>▪ North America is the lead region with</a:t>
            </a:r>
          </a:p>
        </p:txBody>
      </p:sp>
      <p:pic>
        <p:nvPicPr>
          <p:cNvPr id="51" name="Picture 50" descr="lock.png"/>
          <p:cNvPicPr>
            <a:picLocks noChangeAspect="1"/>
          </p:cNvPicPr>
          <p:nvPr/>
        </p:nvPicPr>
        <p:blipFill>
          <a:blip r:embed="rId5"/>
          <a:stretch>
            <a:fillRect/>
          </a:stretch>
        </p:blipFill>
        <p:spPr>
          <a:xfrm>
            <a:off x="8537443" y="2044192"/>
            <a:ext cx="128699" cy="187198"/>
          </a:xfrm>
          <a:prstGeom prst="rect">
            <a:avLst/>
          </a:prstGeom>
        </p:spPr>
      </p:pic>
      <p:sp>
        <p:nvSpPr>
          <p:cNvPr id="52" name="TextBox 51"/>
          <p:cNvSpPr txBox="1"/>
          <p:nvPr/>
        </p:nvSpPr>
        <p:spPr>
          <a:xfrm>
            <a:off x="8704939" y="2053970"/>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53" name="TextBox 52"/>
          <p:cNvSpPr txBox="1"/>
          <p:nvPr/>
        </p:nvSpPr>
        <p:spPr>
          <a:xfrm>
            <a:off x="6305550" y="2271903"/>
            <a:ext cx="2841823" cy="186689"/>
          </a:xfrm>
          <a:prstGeom prst="rect">
            <a:avLst/>
          </a:prstGeom>
          <a:noFill/>
        </p:spPr>
        <p:txBody>
          <a:bodyPr wrap="none" lIns="0" rIns="0" tIns="0" bIns="0">
            <a:spAutoFit/>
          </a:bodyPr>
          <a:lstStyle/>
          <a:p>
            <a:r>
              <a:rPr sz="1100" b="0">
                <a:solidFill>
                  <a:srgbClr val="2E2E2E"/>
                </a:solidFill>
                <a:latin typeface="Calibri"/>
              </a:rPr>
              <a:t>▪ The incremental opportunity over 2026-2036 is</a:t>
            </a:r>
          </a:p>
        </p:txBody>
      </p:sp>
      <p:pic>
        <p:nvPicPr>
          <p:cNvPr id="54" name="Picture 53" descr="lock.png"/>
          <p:cNvPicPr>
            <a:picLocks noChangeAspect="1"/>
          </p:cNvPicPr>
          <p:nvPr/>
        </p:nvPicPr>
        <p:blipFill>
          <a:blip r:embed="rId5"/>
          <a:stretch>
            <a:fillRect/>
          </a:stretch>
        </p:blipFill>
        <p:spPr>
          <a:xfrm>
            <a:off x="9095425" y="2262124"/>
            <a:ext cx="128699" cy="187198"/>
          </a:xfrm>
          <a:prstGeom prst="rect">
            <a:avLst/>
          </a:prstGeom>
        </p:spPr>
      </p:pic>
      <p:sp>
        <p:nvSpPr>
          <p:cNvPr id="55" name="TextBox 54"/>
          <p:cNvSpPr txBox="1"/>
          <p:nvPr/>
        </p:nvSpPr>
        <p:spPr>
          <a:xfrm>
            <a:off x="926292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6" name="TextBox 55"/>
          <p:cNvSpPr txBox="1"/>
          <p:nvPr/>
        </p:nvSpPr>
        <p:spPr>
          <a:xfrm>
            <a:off x="276225" y="3162300"/>
            <a:ext cx="5590802" cy="186689"/>
          </a:xfrm>
          <a:prstGeom prst="rect">
            <a:avLst/>
          </a:prstGeom>
          <a:noFill/>
        </p:spPr>
        <p:txBody>
          <a:bodyPr wrap="none" lIns="0" rIns="0" tIns="0" bIns="0">
            <a:spAutoFit/>
          </a:bodyPr>
          <a:lstStyle/>
          <a:p>
            <a:r>
              <a:rPr sz="1100" b="0">
                <a:solidFill>
                  <a:srgbClr val="2E2E2E"/>
                </a:solidFill>
                <a:latin typeface="Calibri"/>
              </a:rPr>
              <a:t>▪ Investment is flowing toward 'Sticks and Balms', the fastest-growing product format category at</a:t>
            </a:r>
          </a:p>
        </p:txBody>
      </p:sp>
      <p:pic>
        <p:nvPicPr>
          <p:cNvPr id="57" name="Picture 56" descr="lock.png"/>
          <p:cNvPicPr>
            <a:picLocks noChangeAspect="1"/>
          </p:cNvPicPr>
          <p:nvPr/>
        </p:nvPicPr>
        <p:blipFill>
          <a:blip r:embed="rId5"/>
          <a:stretch>
            <a:fillRect/>
          </a:stretch>
        </p:blipFill>
        <p:spPr>
          <a:xfrm>
            <a:off x="262757" y="3320161"/>
            <a:ext cx="128699" cy="187198"/>
          </a:xfrm>
          <a:prstGeom prst="rect">
            <a:avLst/>
          </a:prstGeom>
        </p:spPr>
      </p:pic>
      <p:sp>
        <p:nvSpPr>
          <p:cNvPr id="58" name="TextBox 57"/>
          <p:cNvSpPr txBox="1"/>
          <p:nvPr/>
        </p:nvSpPr>
        <p:spPr>
          <a:xfrm>
            <a:off x="430253" y="3329940"/>
            <a:ext cx="430617"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59" name="TextBox 58"/>
          <p:cNvSpPr txBox="1"/>
          <p:nvPr/>
        </p:nvSpPr>
        <p:spPr>
          <a:xfrm>
            <a:off x="276225" y="3547872"/>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60" name="Picture 59" descr="lock.png"/>
          <p:cNvPicPr>
            <a:picLocks noChangeAspect="1"/>
          </p:cNvPicPr>
          <p:nvPr/>
        </p:nvPicPr>
        <p:blipFill>
          <a:blip r:embed="rId5"/>
          <a:stretch>
            <a:fillRect/>
          </a:stretch>
        </p:blipFill>
        <p:spPr>
          <a:xfrm>
            <a:off x="1576057" y="3538093"/>
            <a:ext cx="128699" cy="187198"/>
          </a:xfrm>
          <a:prstGeom prst="rect">
            <a:avLst/>
          </a:prstGeom>
        </p:spPr>
      </p:pic>
      <p:sp>
        <p:nvSpPr>
          <p:cNvPr id="61" name="TextBox 60"/>
          <p:cNvSpPr txBox="1"/>
          <p:nvPr/>
        </p:nvSpPr>
        <p:spPr>
          <a:xfrm>
            <a:off x="1743553" y="3547872"/>
            <a:ext cx="3444808" cy="186689"/>
          </a:xfrm>
          <a:prstGeom prst="rect">
            <a:avLst/>
          </a:prstGeom>
          <a:noFill/>
        </p:spPr>
        <p:txBody>
          <a:bodyPr wrap="none" lIns="0" rIns="0" tIns="0" bIns="0">
            <a:spAutoFit/>
          </a:bodyPr>
          <a:lstStyle/>
          <a:p>
            <a:r>
              <a:rPr sz="1100" b="0">
                <a:solidFill>
                  <a:srgbClr val="2E2E2E"/>
                </a:solidFill>
                <a:latin typeface="Calibri"/>
              </a:rPr>
              <a:t>CAGR) is a priority region for new capacity and distribution.</a:t>
            </a:r>
          </a:p>
        </p:txBody>
      </p:sp>
      <p:sp>
        <p:nvSpPr>
          <p:cNvPr id="62" name="TextBox 61"/>
          <p:cNvSpPr txBox="1"/>
          <p:nvPr/>
        </p:nvSpPr>
        <p:spPr>
          <a:xfrm>
            <a:off x="276225" y="3765804"/>
            <a:ext cx="5188892" cy="186689"/>
          </a:xfrm>
          <a:prstGeom prst="rect">
            <a:avLst/>
          </a:prstGeom>
          <a:noFill/>
        </p:spPr>
        <p:txBody>
          <a:bodyPr wrap="none" lIns="0" rIns="0" tIns="0" bIns="0">
            <a:spAutoFit/>
          </a:bodyPr>
          <a:lstStyle/>
          <a:p>
            <a:r>
              <a:rPr sz="1100" b="0">
                <a:solidFill>
                  <a:srgbClr val="2E2E2E"/>
                </a:solidFill>
                <a:latin typeface="Calibri"/>
              </a:rPr>
              <a:t>▪ Scale players are anchoring their portfolios around 'Styling Serums and Oils', which holds</a:t>
            </a:r>
          </a:p>
        </p:txBody>
      </p:sp>
      <p:pic>
        <p:nvPicPr>
          <p:cNvPr id="63" name="Picture 62" descr="lock.png"/>
          <p:cNvPicPr>
            <a:picLocks noChangeAspect="1"/>
          </p:cNvPicPr>
          <p:nvPr/>
        </p:nvPicPr>
        <p:blipFill>
          <a:blip r:embed="rId5"/>
          <a:stretch>
            <a:fillRect/>
          </a:stretch>
        </p:blipFill>
        <p:spPr>
          <a:xfrm>
            <a:off x="5413169" y="3756025"/>
            <a:ext cx="128699" cy="187198"/>
          </a:xfrm>
          <a:prstGeom prst="rect">
            <a:avLst/>
          </a:prstGeom>
        </p:spPr>
      </p:pic>
      <p:sp>
        <p:nvSpPr>
          <p:cNvPr id="64" name="TextBox 63"/>
          <p:cNvSpPr txBox="1"/>
          <p:nvPr/>
        </p:nvSpPr>
        <p:spPr>
          <a:xfrm>
            <a:off x="276225" y="3933444"/>
            <a:ext cx="424631"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65" name="TextBox 64"/>
          <p:cNvSpPr txBox="1"/>
          <p:nvPr/>
        </p:nvSpPr>
        <p:spPr>
          <a:xfrm>
            <a:off x="6305550" y="3162300"/>
            <a:ext cx="5591175" cy="186689"/>
          </a:xfrm>
          <a:prstGeom prst="rect">
            <a:avLst/>
          </a:prstGeom>
          <a:noFill/>
        </p:spPr>
        <p:txBody>
          <a:bodyPr wrap="none" lIns="0" rIns="0" tIns="0" bIns="0">
            <a:spAutoFit/>
          </a:bodyPr>
          <a:lstStyle/>
          <a:p>
            <a:r>
              <a:rPr sz="1100" b="0">
                <a:solidFill>
                  <a:srgbClr val="2E2E2E"/>
                </a:solidFill>
                <a:latin typeface="Calibri"/>
              </a:rPr>
              <a:t>▪ R&amp;D programmes are focused on product design, premium formats and sustainable materials, in</a:t>
            </a:r>
          </a:p>
        </p:txBody>
      </p:sp>
      <p:sp>
        <p:nvSpPr>
          <p:cNvPr id="66" name="TextBox 65"/>
          <p:cNvSpPr txBox="1"/>
          <p:nvPr/>
        </p:nvSpPr>
        <p:spPr>
          <a:xfrm>
            <a:off x="6305550" y="3329940"/>
            <a:ext cx="2880841" cy="186689"/>
          </a:xfrm>
          <a:prstGeom prst="rect">
            <a:avLst/>
          </a:prstGeom>
          <a:noFill/>
        </p:spPr>
        <p:txBody>
          <a:bodyPr wrap="none" lIns="0" rIns="0" tIns="0" bIns="0">
            <a:spAutoFit/>
          </a:bodyPr>
          <a:lstStyle/>
          <a:p>
            <a:r>
              <a:rPr sz="1100" b="0">
                <a:solidFill>
                  <a:srgbClr val="2E2E2E"/>
                </a:solidFill>
                <a:latin typeface="Calibri"/>
              </a:rPr>
              <a:t>line with the migration toward 'Sticks and Balms'.</a:t>
            </a:r>
          </a:p>
        </p:txBody>
      </p:sp>
      <p:sp>
        <p:nvSpPr>
          <p:cNvPr id="67" name="TextBox 66"/>
          <p:cNvSpPr txBox="1"/>
          <p:nvPr/>
        </p:nvSpPr>
        <p:spPr>
          <a:xfrm>
            <a:off x="6305550" y="3547872"/>
            <a:ext cx="5429547" cy="186689"/>
          </a:xfrm>
          <a:prstGeom prst="rect">
            <a:avLst/>
          </a:prstGeom>
          <a:noFill/>
        </p:spPr>
        <p:txBody>
          <a:bodyPr wrap="none" lIns="0" rIns="0" tIns="0" bIns="0">
            <a:spAutoFit/>
          </a:bodyPr>
          <a:lstStyle/>
          <a:p>
            <a:r>
              <a:rPr sz="1100" b="0">
                <a:solidFill>
                  <a:srgbClr val="2E2E2E"/>
                </a:solidFill>
                <a:latin typeface="Calibri"/>
              </a:rPr>
              <a:t>▪ Development spend is targeting the product format categories that gain share through 2036.</a:t>
            </a:r>
          </a:p>
        </p:txBody>
      </p:sp>
      <p:sp>
        <p:nvSpPr>
          <p:cNvPr id="68" name="TextBox 67"/>
          <p:cNvSpPr txBox="1"/>
          <p:nvPr/>
        </p:nvSpPr>
        <p:spPr>
          <a:xfrm>
            <a:off x="6305550" y="376580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9" name="Picture 68" descr="lock.png"/>
          <p:cNvPicPr>
            <a:picLocks noChangeAspect="1"/>
          </p:cNvPicPr>
          <p:nvPr/>
        </p:nvPicPr>
        <p:blipFill>
          <a:blip r:embed="rId5"/>
          <a:stretch>
            <a:fillRect/>
          </a:stretch>
        </p:blipFill>
        <p:spPr>
          <a:xfrm>
            <a:off x="7847947" y="3756025"/>
            <a:ext cx="128699" cy="187198"/>
          </a:xfrm>
          <a:prstGeom prst="rect">
            <a:avLst/>
          </a:prstGeom>
        </p:spPr>
      </p:pic>
      <p:sp>
        <p:nvSpPr>
          <p:cNvPr id="70" name="TextBox 69"/>
          <p:cNvSpPr txBox="1"/>
          <p:nvPr/>
        </p:nvSpPr>
        <p:spPr>
          <a:xfrm>
            <a:off x="8015443" y="3765804"/>
            <a:ext cx="3416977" cy="186689"/>
          </a:xfrm>
          <a:prstGeom prst="rect">
            <a:avLst/>
          </a:prstGeom>
          <a:noFill/>
        </p:spPr>
        <p:txBody>
          <a:bodyPr wrap="none" lIns="0" rIns="0" tIns="0" bIns="0">
            <a:spAutoFit/>
          </a:bodyPr>
          <a:lstStyle/>
          <a:p>
            <a:r>
              <a:rPr sz="1100" b="0">
                <a:solidFill>
                  <a:srgbClr val="2E2E2E"/>
                </a:solidFill>
                <a:latin typeface="Calibri"/>
              </a:rPr>
              <a:t>forecast CAGR by sustaining both volume growth and price</a:t>
            </a:r>
          </a:p>
        </p:txBody>
      </p:sp>
      <p:sp>
        <p:nvSpPr>
          <p:cNvPr id="71" name="TextBox 70"/>
          <p:cNvSpPr txBox="1"/>
          <p:nvPr/>
        </p:nvSpPr>
        <p:spPr>
          <a:xfrm>
            <a:off x="6305550" y="3933444"/>
            <a:ext cx="708669" cy="186689"/>
          </a:xfrm>
          <a:prstGeom prst="rect">
            <a:avLst/>
          </a:prstGeom>
          <a:noFill/>
        </p:spPr>
        <p:txBody>
          <a:bodyPr wrap="none" lIns="0" rIns="0" tIns="0" bIns="0">
            <a:spAutoFit/>
          </a:bodyPr>
          <a:lstStyle/>
          <a:p>
            <a:r>
              <a:rPr sz="1100" b="0">
                <a:solidFill>
                  <a:srgbClr val="2E2E2E"/>
                </a:solidFill>
                <a:latin typeface="Calibri"/>
              </a:rPr>
              <a:t>realisation.</a:t>
            </a:r>
          </a:p>
        </p:txBody>
      </p:sp>
      <p:sp>
        <p:nvSpPr>
          <p:cNvPr id="72" name="lockshield_28"/>
          <p:cNvSpPr/>
          <p:nvPr/>
        </p:nvSpPr>
        <p:spPr>
          <a:xfrm>
            <a:off x="238125" y="4876800"/>
            <a:ext cx="11715750" cy="16859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'Sticks and Balms' category and the 'Online Marketplaces' distribution channel route, where growth outpaces the market.</a:t>
            </a:r>
          </a:p>
        </p:txBody>
      </p:sp>
      <p:sp>
        <p:nvSpPr>
          <p:cNvPr id="18" name="Rounded Rectangle 17"/>
          <p:cNvSpPr/>
          <p:nvPr/>
        </p:nvSpPr>
        <p:spPr>
          <a:xfrm>
            <a:off x="142875"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95825"/>
            <a:ext cx="11906250" cy="1914525"/>
          </a:xfrm>
          <a:prstGeom prst="roundRect">
            <a:avLst>
              <a:gd name="adj" fmla="val 3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81550"/>
            <a:ext cx="11639550" cy="209550"/>
          </a:xfrm>
          <a:prstGeom prst="rect">
            <a:avLst/>
          </a:prstGeom>
          <a:noFill/>
        </p:spPr>
        <p:txBody>
          <a:bodyPr wrap="square" lIns="0" rIns="19050" tIns="9525" bIns="9525">
            <a:spAutoFit/>
          </a:bodyPr>
          <a:lstStyle/>
          <a:p>
            <a:pPr algn="l"/>
            <a:r>
              <a:rPr sz="1300" b="1">
                <a:solidFill>
                  <a:srgbClr val="0B2E4A"/>
                </a:solidFill>
                <a:latin typeface="Calibri"/>
              </a:rPr>
              <a:t>FMI Analysis and Recommendation</a:t>
            </a:r>
          </a:p>
        </p:txBody>
      </p:sp>
      <p:sp>
        <p:nvSpPr>
          <p:cNvPr id="28" name="Rectangle 27"/>
          <p:cNvSpPr/>
          <p:nvPr/>
        </p:nvSpPr>
        <p:spPr>
          <a:xfrm>
            <a:off x="276225" y="5019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105400"/>
            <a:ext cx="11639550" cy="1428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 and region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'Styling Serums and Oils' as the value anchor of the portfolio.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quality certification and brand trust into the offer to protect pricing as competition intensifies.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256696" cy="194310"/>
          </a:xfrm>
          <a:prstGeom prst="rect">
            <a:avLst/>
          </a:prstGeom>
          <a:noFill/>
        </p:spPr>
        <p:txBody>
          <a:bodyPr wrap="none" lIns="0" rIns="0" tIns="0" bIns="0">
            <a:spAutoFit/>
          </a:bodyPr>
          <a:lstStyle/>
          <a:p>
            <a:r>
              <a:rPr sz="1150" b="0">
                <a:solidFill>
                  <a:srgbClr val="2E2E2E"/>
                </a:solidFill>
                <a:latin typeface="Calibri"/>
              </a:rPr>
              <a:t>▪ Balance scale in 'Styling Serums and Oils' with targeted growth in 'Sticks and Balms' to</a:t>
            </a:r>
          </a:p>
        </p:txBody>
      </p:sp>
      <p:sp>
        <p:nvSpPr>
          <p:cNvPr id="32" name="TextBox 31"/>
          <p:cNvSpPr txBox="1"/>
          <p:nvPr/>
        </p:nvSpPr>
        <p:spPr>
          <a:xfrm>
            <a:off x="276225" y="1575435"/>
            <a:ext cx="765943" cy="194310"/>
          </a:xfrm>
          <a:prstGeom prst="rect">
            <a:avLst/>
          </a:prstGeom>
          <a:noFill/>
        </p:spPr>
        <p:txBody>
          <a:bodyPr wrap="none" lIns="0" rIns="0" tIns="0" bIns="0">
            <a:spAutoFit/>
          </a:bodyPr>
          <a:lstStyle/>
          <a:p>
            <a:r>
              <a:rPr sz="1150" b="0">
                <a:solidFill>
                  <a:srgbClr val="2E2E2E"/>
                </a:solidFill>
                <a:latin typeface="Calibri"/>
              </a:rPr>
              <a:t>capture the</a:t>
            </a:r>
          </a:p>
        </p:txBody>
      </p:sp>
      <p:pic>
        <p:nvPicPr>
          <p:cNvPr id="33" name="Picture 32" descr="lock.png"/>
          <p:cNvPicPr>
            <a:picLocks noChangeAspect="1"/>
          </p:cNvPicPr>
          <p:nvPr/>
        </p:nvPicPr>
        <p:blipFill>
          <a:blip r:embed="rId4"/>
          <a:stretch>
            <a:fillRect/>
          </a:stretch>
        </p:blipFill>
        <p:spPr>
          <a:xfrm>
            <a:off x="991322" y="1565211"/>
            <a:ext cx="134549" cy="195707"/>
          </a:xfrm>
          <a:prstGeom prst="rect">
            <a:avLst/>
          </a:prstGeom>
        </p:spPr>
      </p:pic>
      <p:sp>
        <p:nvSpPr>
          <p:cNvPr id="34" name="TextBox 33"/>
          <p:cNvSpPr txBox="1"/>
          <p:nvPr/>
        </p:nvSpPr>
        <p:spPr>
          <a:xfrm>
            <a:off x="1166432"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1803273"/>
            <a:ext cx="1154174" cy="194310"/>
          </a:xfrm>
          <a:prstGeom prst="rect">
            <a:avLst/>
          </a:prstGeom>
          <a:noFill/>
        </p:spPr>
        <p:txBody>
          <a:bodyPr wrap="none" lIns="0" rIns="0" tIns="0" bIns="0">
            <a:spAutoFit/>
          </a:bodyPr>
          <a:lstStyle/>
          <a:p>
            <a:r>
              <a:rPr sz="1150" b="0">
                <a:solidFill>
                  <a:srgbClr val="2E2E2E"/>
                </a:solidFill>
                <a:latin typeface="Calibri"/>
              </a:rPr>
              <a:t>▪ The market adds</a:t>
            </a:r>
          </a:p>
        </p:txBody>
      </p:sp>
      <p:pic>
        <p:nvPicPr>
          <p:cNvPr id="36" name="Picture 35" descr="lock.png"/>
          <p:cNvPicPr>
            <a:picLocks noChangeAspect="1"/>
          </p:cNvPicPr>
          <p:nvPr/>
        </p:nvPicPr>
        <p:blipFill>
          <a:blip r:embed="rId4"/>
          <a:stretch>
            <a:fillRect/>
          </a:stretch>
        </p:blipFill>
        <p:spPr>
          <a:xfrm>
            <a:off x="1379553" y="1793049"/>
            <a:ext cx="134549" cy="195707"/>
          </a:xfrm>
          <a:prstGeom prst="rect">
            <a:avLst/>
          </a:prstGeom>
        </p:spPr>
      </p:pic>
      <p:sp>
        <p:nvSpPr>
          <p:cNvPr id="37" name="TextBox 36"/>
          <p:cNvSpPr txBox="1"/>
          <p:nvPr/>
        </p:nvSpPr>
        <p:spPr>
          <a:xfrm>
            <a:off x="1554662" y="1803273"/>
            <a:ext cx="1851620"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38" name="Picture 37" descr="lock.png"/>
          <p:cNvPicPr>
            <a:picLocks noChangeAspect="1"/>
          </p:cNvPicPr>
          <p:nvPr/>
        </p:nvPicPr>
        <p:blipFill>
          <a:blip r:embed="rId4"/>
          <a:stretch>
            <a:fillRect/>
          </a:stretch>
        </p:blipFill>
        <p:spPr>
          <a:xfrm>
            <a:off x="3355436" y="1793049"/>
            <a:ext cx="134549" cy="195707"/>
          </a:xfrm>
          <a:prstGeom prst="rect">
            <a:avLst/>
          </a:prstGeom>
        </p:spPr>
      </p:pic>
      <p:sp>
        <p:nvSpPr>
          <p:cNvPr id="39" name="TextBox 38"/>
          <p:cNvSpPr txBox="1"/>
          <p:nvPr/>
        </p:nvSpPr>
        <p:spPr>
          <a:xfrm>
            <a:off x="3530546" y="1803273"/>
            <a:ext cx="1871017" cy="194310"/>
          </a:xfrm>
          <a:prstGeom prst="rect">
            <a:avLst/>
          </a:prstGeom>
          <a:noFill/>
        </p:spPr>
        <p:txBody>
          <a:bodyPr wrap="none" lIns="0" rIns="0" tIns="0" bIns="0">
            <a:spAutoFit/>
          </a:bodyPr>
          <a:lstStyle/>
          <a:p>
            <a:r>
              <a:rPr sz="1150" b="0">
                <a:solidFill>
                  <a:srgbClr val="2E2E2E"/>
                </a:solidFill>
                <a:latin typeface="Calibri"/>
              </a:rPr>
              <a:t>x expansion on the 2026 base.</a:t>
            </a:r>
          </a:p>
        </p:txBody>
      </p:sp>
      <p:sp>
        <p:nvSpPr>
          <p:cNvPr id="40" name="TextBox 39"/>
          <p:cNvSpPr txBox="1"/>
          <p:nvPr/>
        </p:nvSpPr>
        <p:spPr>
          <a:xfrm>
            <a:off x="276225" y="3381375"/>
            <a:ext cx="1851905" cy="194310"/>
          </a:xfrm>
          <a:prstGeom prst="rect">
            <a:avLst/>
          </a:prstGeom>
          <a:noFill/>
        </p:spPr>
        <p:txBody>
          <a:bodyPr wrap="none" lIns="0" rIns="0" tIns="0" bIns="0">
            <a:spAutoFit/>
          </a:bodyPr>
          <a:lstStyle/>
          <a:p>
            <a:r>
              <a:rPr sz="1150" b="0">
                <a:solidFill>
                  <a:srgbClr val="2E2E2E"/>
                </a:solidFill>
                <a:latin typeface="Calibri"/>
              </a:rPr>
              <a:t>▪ Prioritise 'Sticks and Balms' (</a:t>
            </a:r>
          </a:p>
        </p:txBody>
      </p:sp>
      <p:pic>
        <p:nvPicPr>
          <p:cNvPr id="41" name="Picture 40" descr="lock.png"/>
          <p:cNvPicPr>
            <a:picLocks noChangeAspect="1"/>
          </p:cNvPicPr>
          <p:nvPr/>
        </p:nvPicPr>
        <p:blipFill>
          <a:blip r:embed="rId4"/>
          <a:stretch>
            <a:fillRect/>
          </a:stretch>
        </p:blipFill>
        <p:spPr>
          <a:xfrm>
            <a:off x="2077284" y="3371151"/>
            <a:ext cx="134549" cy="195707"/>
          </a:xfrm>
          <a:prstGeom prst="rect">
            <a:avLst/>
          </a:prstGeom>
        </p:spPr>
      </p:pic>
      <p:sp>
        <p:nvSpPr>
          <p:cNvPr id="42" name="TextBox 41"/>
          <p:cNvSpPr txBox="1"/>
          <p:nvPr/>
        </p:nvSpPr>
        <p:spPr>
          <a:xfrm>
            <a:off x="2252393" y="3381375"/>
            <a:ext cx="3491812" cy="194310"/>
          </a:xfrm>
          <a:prstGeom prst="rect">
            <a:avLst/>
          </a:prstGeom>
          <a:noFill/>
        </p:spPr>
        <p:txBody>
          <a:bodyPr wrap="none" lIns="0" rIns="0" tIns="0" bIns="0">
            <a:spAutoFit/>
          </a:bodyPr>
          <a:lstStyle/>
          <a:p>
            <a:r>
              <a:rPr sz="1150" b="0">
                <a:solidFill>
                  <a:srgbClr val="2E2E2E"/>
                </a:solidFill>
                <a:latin typeface="Calibri"/>
              </a:rPr>
              <a:t>CAGR) for growth, while 'Styling Serums and Oils' anchors</a:t>
            </a:r>
          </a:p>
        </p:txBody>
      </p:sp>
      <p:pic>
        <p:nvPicPr>
          <p:cNvPr id="43" name="Picture 42" descr="lock.png"/>
          <p:cNvPicPr>
            <a:picLocks noChangeAspect="1"/>
          </p:cNvPicPr>
          <p:nvPr/>
        </p:nvPicPr>
        <p:blipFill>
          <a:blip r:embed="rId4"/>
          <a:stretch>
            <a:fillRect/>
          </a:stretch>
        </p:blipFill>
        <p:spPr>
          <a:xfrm>
            <a:off x="262145" y="3546411"/>
            <a:ext cx="134549" cy="195707"/>
          </a:xfrm>
          <a:prstGeom prst="rect">
            <a:avLst/>
          </a:prstGeom>
        </p:spPr>
      </p:pic>
      <p:sp>
        <p:nvSpPr>
          <p:cNvPr id="44" name="TextBox 43"/>
          <p:cNvSpPr txBox="1"/>
          <p:nvPr/>
        </p:nvSpPr>
        <p:spPr>
          <a:xfrm>
            <a:off x="437254" y="3556635"/>
            <a:ext cx="1992250" cy="194310"/>
          </a:xfrm>
          <a:prstGeom prst="rect">
            <a:avLst/>
          </a:prstGeom>
          <a:noFill/>
        </p:spPr>
        <p:txBody>
          <a:bodyPr wrap="none" lIns="0" rIns="0" tIns="0" bIns="0">
            <a:spAutoFit/>
          </a:bodyPr>
          <a:lstStyle/>
          <a:p>
            <a:r>
              <a:rPr sz="1150" b="0">
                <a:solidFill>
                  <a:srgbClr val="2E2E2E"/>
                </a:solidFill>
                <a:latin typeface="Calibri"/>
              </a:rPr>
              <a:t>of value and funds the portfolio.</a:t>
            </a:r>
          </a:p>
        </p:txBody>
      </p:sp>
      <p:sp>
        <p:nvSpPr>
          <p:cNvPr id="45" name="TextBox 44"/>
          <p:cNvSpPr txBox="1"/>
          <p:nvPr/>
        </p:nvSpPr>
        <p:spPr>
          <a:xfrm>
            <a:off x="6305550" y="3381375"/>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6" name="Picture 45" descr="lock.png"/>
          <p:cNvPicPr>
            <a:picLocks noChangeAspect="1"/>
          </p:cNvPicPr>
          <p:nvPr/>
        </p:nvPicPr>
        <p:blipFill>
          <a:blip r:embed="rId4"/>
          <a:stretch>
            <a:fillRect/>
          </a:stretch>
        </p:blipFill>
        <p:spPr>
          <a:xfrm>
            <a:off x="7975392" y="3371151"/>
            <a:ext cx="134549" cy="195707"/>
          </a:xfrm>
          <a:prstGeom prst="rect">
            <a:avLst/>
          </a:prstGeom>
        </p:spPr>
      </p:pic>
      <p:sp>
        <p:nvSpPr>
          <p:cNvPr id="47" name="TextBox 46"/>
          <p:cNvSpPr txBox="1"/>
          <p:nvPr/>
        </p:nvSpPr>
        <p:spPr>
          <a:xfrm>
            <a:off x="8150501" y="3381375"/>
            <a:ext cx="3193739" cy="194310"/>
          </a:xfrm>
          <a:prstGeom prst="rect">
            <a:avLst/>
          </a:prstGeom>
          <a:noFill/>
        </p:spPr>
        <p:txBody>
          <a:bodyPr wrap="none" lIns="0" rIns="0" tIns="0" bIns="0">
            <a:spAutoFit/>
          </a:bodyPr>
          <a:lstStyle/>
          <a:p>
            <a:r>
              <a:rPr sz="1150" b="0">
                <a:solidFill>
                  <a:srgbClr val="2E2E2E"/>
                </a:solidFill>
                <a:latin typeface="Calibri"/>
              </a:rPr>
              <a:t>of value) and capture upside in South Asia &amp; Pacific (</a:t>
            </a:r>
          </a:p>
        </p:txBody>
      </p:sp>
      <p:pic>
        <p:nvPicPr>
          <p:cNvPr id="48" name="Picture 47" descr="lock.png"/>
          <p:cNvPicPr>
            <a:picLocks noChangeAspect="1"/>
          </p:cNvPicPr>
          <p:nvPr/>
        </p:nvPicPr>
        <p:blipFill>
          <a:blip r:embed="rId4"/>
          <a:stretch>
            <a:fillRect/>
          </a:stretch>
        </p:blipFill>
        <p:spPr>
          <a:xfrm>
            <a:off x="11293395" y="3371151"/>
            <a:ext cx="134549" cy="195707"/>
          </a:xfrm>
          <a:prstGeom prst="rect">
            <a:avLst/>
          </a:prstGeom>
        </p:spPr>
      </p:pic>
      <p:sp>
        <p:nvSpPr>
          <p:cNvPr id="49" name="TextBox 48"/>
          <p:cNvSpPr txBox="1"/>
          <p:nvPr/>
        </p:nvSpPr>
        <p:spPr>
          <a:xfrm>
            <a:off x="6305550" y="3556635"/>
            <a:ext cx="490941" cy="194310"/>
          </a:xfrm>
          <a:prstGeom prst="rect">
            <a:avLst/>
          </a:prstGeom>
          <a:noFill/>
        </p:spPr>
        <p:txBody>
          <a:bodyPr wrap="none" lIns="0" rIns="0" tIns="0" bIns="0">
            <a:spAutoFit/>
          </a:bodyPr>
          <a:lstStyle/>
          <a:p>
            <a:r>
              <a:rPr sz="1150" b="0">
                <a:solidFill>
                  <a:srgbClr val="2E2E2E"/>
                </a:solidFill>
                <a:latin typeface="Calibri"/>
              </a:rPr>
              <a:t>CAGR).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OPTIMISTIC (2036)</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CAGR 8.2%</a:t>
            </a:r>
          </a:p>
        </p:txBody>
      </p:sp>
      <p:sp>
        <p:nvSpPr>
          <p:cNvPr id="11" name="Rounded Rectangle 10"/>
          <p:cNvSpPr/>
          <p:nvPr/>
        </p:nvSpPr>
        <p:spPr>
          <a:xfrm>
            <a:off x="4238625"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LIKELY (2036)</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CAGR 6.7%</a:t>
            </a:r>
          </a:p>
        </p:txBody>
      </p:sp>
      <p:sp>
        <p:nvSpPr>
          <p:cNvPr id="12" name="Rounded Rectangle 11"/>
          <p:cNvSpPr/>
          <p:nvPr/>
        </p:nvSpPr>
        <p:spPr>
          <a:xfrm>
            <a:off x="8210550"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CONSERVATIVE (2036)</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CAGR 4.8%</a:t>
            </a:r>
          </a:p>
        </p:txBody>
      </p:sp>
      <p:sp>
        <p:nvSpPr>
          <p:cNvPr id="13" name="Rounded Rectangle 12"/>
          <p:cNvSpPr/>
          <p:nvPr/>
        </p:nvSpPr>
        <p:spPr>
          <a:xfrm>
            <a:off x="142875"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Hair Styling Products Market Value (US$ Mn): Scenario Forecast, 2025 and 2036</a:t>
            </a:r>
          </a:p>
        </p:txBody>
      </p:sp>
      <p:cxnSp>
        <p:nvCxnSpPr>
          <p:cNvPr id="15" name="Connector 14"/>
          <p:cNvCxnSpPr/>
          <p:nvPr/>
        </p:nvCxnSpPr>
        <p:spPr>
          <a:xfrm>
            <a:off x="238125" y="413385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86098"/>
            <a:ext cx="635826" cy="647752"/>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39429"/>
            <a:ext cx="635826" cy="1094421"/>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37473"/>
            <a:ext cx="635826" cy="1296377"/>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602230"/>
            <a:ext cx="635826" cy="153162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06079"/>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01304"/>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4.8%</a:t>
            </a:r>
          </a:p>
        </p:txBody>
      </p:sp>
      <p:cxnSp>
        <p:nvCxnSpPr>
          <p:cNvPr id="22" name="Connector 21"/>
          <p:cNvCxnSpPr/>
          <p:nvPr/>
        </p:nvCxnSpPr>
        <p:spPr>
          <a:xfrm>
            <a:off x="1456468" y="2648904"/>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44129"/>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6.7%</a:t>
            </a:r>
          </a:p>
        </p:txBody>
      </p:sp>
      <p:cxnSp>
        <p:nvCxnSpPr>
          <p:cNvPr id="24" name="Connector 23"/>
          <p:cNvCxnSpPr/>
          <p:nvPr/>
        </p:nvCxnSpPr>
        <p:spPr>
          <a:xfrm>
            <a:off x="1456468" y="2391729"/>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86954"/>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8.2%</a:t>
            </a:r>
          </a:p>
        </p:txBody>
      </p:sp>
      <p:sp>
        <p:nvSpPr>
          <p:cNvPr id="26" name="TextBox 25"/>
          <p:cNvSpPr txBox="1"/>
          <p:nvPr/>
        </p:nvSpPr>
        <p:spPr>
          <a:xfrm>
            <a:off x="643255"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40055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40055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40055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Hair Styling Products Market Attractiveness Analysis By Region, 2026–2036</a:t>
            </a:r>
          </a:p>
        </p:txBody>
      </p:sp>
      <p:graphicFrame>
        <p:nvGraphicFramePr>
          <p:cNvPr id="36" name="Chart 35"/>
          <p:cNvGraphicFramePr>
            <a:graphicFrameLocks noGrp="1"/>
          </p:cNvGraphicFramePr>
          <p:nvPr/>
        </p:nvGraphicFramePr>
        <p:xfrm>
          <a:off x="6267450" y="2181225"/>
          <a:ext cx="5686425" cy="2409825"/>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781550"/>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191125"/>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171575"/>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171575"/>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171575"/>
            <a:ext cx="157162" cy="228600"/>
          </a:xfrm>
          <a:prstGeom prst="rect">
            <a:avLst/>
          </a:prstGeom>
        </p:spPr>
      </p:pic>
      <p:sp>
        <p:nvSpPr>
          <p:cNvPr id="45" name="TextBox 44"/>
          <p:cNvSpPr txBox="1"/>
          <p:nvPr/>
        </p:nvSpPr>
        <p:spPr>
          <a:xfrm>
            <a:off x="276225" y="5200650"/>
            <a:ext cx="1993962" cy="194310"/>
          </a:xfrm>
          <a:prstGeom prst="rect">
            <a:avLst/>
          </a:prstGeom>
          <a:noFill/>
        </p:spPr>
        <p:txBody>
          <a:bodyPr wrap="none" lIns="0" rIns="0" tIns="0" bIns="0">
            <a:spAutoFit/>
          </a:bodyPr>
          <a:lstStyle/>
          <a:p>
            <a:r>
              <a:rPr sz="1150" b="0">
                <a:solidFill>
                  <a:srgbClr val="2E2E2E"/>
                </a:solidFill>
                <a:latin typeface="Calibri"/>
              </a:rPr>
              <a:t>▪ Optimistic: the market reaches</a:t>
            </a:r>
          </a:p>
        </p:txBody>
      </p:sp>
      <p:pic>
        <p:nvPicPr>
          <p:cNvPr id="46" name="Picture 45" descr="lock.png"/>
          <p:cNvPicPr>
            <a:picLocks noChangeAspect="1"/>
          </p:cNvPicPr>
          <p:nvPr/>
        </p:nvPicPr>
        <p:blipFill>
          <a:blip r:embed="rId5"/>
          <a:stretch>
            <a:fillRect/>
          </a:stretch>
        </p:blipFill>
        <p:spPr>
          <a:xfrm>
            <a:off x="2219340" y="5190426"/>
            <a:ext cx="134549" cy="195707"/>
          </a:xfrm>
          <a:prstGeom prst="rect">
            <a:avLst/>
          </a:prstGeom>
        </p:spPr>
      </p:pic>
      <p:sp>
        <p:nvSpPr>
          <p:cNvPr id="47" name="TextBox 46"/>
          <p:cNvSpPr txBox="1"/>
          <p:nvPr/>
        </p:nvSpPr>
        <p:spPr>
          <a:xfrm>
            <a:off x="2394450" y="5200650"/>
            <a:ext cx="5283206" cy="194310"/>
          </a:xfrm>
          <a:prstGeom prst="rect">
            <a:avLst/>
          </a:prstGeom>
          <a:noFill/>
        </p:spPr>
        <p:txBody>
          <a:bodyPr wrap="none" lIns="0" rIns="0" tIns="0" bIns="0">
            <a:spAutoFit/>
          </a:bodyPr>
          <a:lstStyle/>
          <a:p>
            <a:r>
              <a:rPr sz="1150" b="0">
                <a:solidFill>
                  <a:srgbClr val="2E2E2E"/>
                </a:solidFill>
                <a:latin typeface="Calibri"/>
              </a:rPr>
              <a:t>US$ Mn by 2036 at 8.2% CAGR, assuming faster adoption and stronger price realisation.</a:t>
            </a:r>
          </a:p>
        </p:txBody>
      </p:sp>
      <p:sp>
        <p:nvSpPr>
          <p:cNvPr id="48" name="TextBox 47"/>
          <p:cNvSpPr txBox="1"/>
          <p:nvPr/>
        </p:nvSpPr>
        <p:spPr>
          <a:xfrm>
            <a:off x="276225" y="5428488"/>
            <a:ext cx="2634071" cy="194310"/>
          </a:xfrm>
          <a:prstGeom prst="rect">
            <a:avLst/>
          </a:prstGeom>
          <a:noFill/>
        </p:spPr>
        <p:txBody>
          <a:bodyPr wrap="none" lIns="0" rIns="0" tIns="0" bIns="0">
            <a:spAutoFit/>
          </a:bodyPr>
          <a:lstStyle/>
          <a:p>
            <a:r>
              <a:rPr sz="1150" b="0">
                <a:solidFill>
                  <a:srgbClr val="2E2E2E"/>
                </a:solidFill>
                <a:latin typeface="Calibri"/>
              </a:rPr>
              <a:t>▪ Likely (base forecast): the market reaches</a:t>
            </a:r>
          </a:p>
        </p:txBody>
      </p:sp>
      <p:pic>
        <p:nvPicPr>
          <p:cNvPr id="49" name="Picture 48" descr="lock.png"/>
          <p:cNvPicPr>
            <a:picLocks noChangeAspect="1"/>
          </p:cNvPicPr>
          <p:nvPr/>
        </p:nvPicPr>
        <p:blipFill>
          <a:blip r:embed="rId5"/>
          <a:stretch>
            <a:fillRect/>
          </a:stretch>
        </p:blipFill>
        <p:spPr>
          <a:xfrm>
            <a:off x="2859450" y="5418264"/>
            <a:ext cx="134549" cy="195707"/>
          </a:xfrm>
          <a:prstGeom prst="rect">
            <a:avLst/>
          </a:prstGeom>
        </p:spPr>
      </p:pic>
      <p:sp>
        <p:nvSpPr>
          <p:cNvPr id="50" name="TextBox 49"/>
          <p:cNvSpPr txBox="1"/>
          <p:nvPr/>
        </p:nvSpPr>
        <p:spPr>
          <a:xfrm>
            <a:off x="3034559" y="5428488"/>
            <a:ext cx="1930047" cy="194310"/>
          </a:xfrm>
          <a:prstGeom prst="rect">
            <a:avLst/>
          </a:prstGeom>
          <a:noFill/>
        </p:spPr>
        <p:txBody>
          <a:bodyPr wrap="none" lIns="0" rIns="0" tIns="0" bIns="0">
            <a:spAutoFit/>
          </a:bodyPr>
          <a:lstStyle/>
          <a:p>
            <a:r>
              <a:rPr sz="1150" b="0">
                <a:solidFill>
                  <a:srgbClr val="2E2E2E"/>
                </a:solidFill>
                <a:latin typeface="Calibri"/>
              </a:rPr>
              <a:t>US$ Mn by 2036 at 6.7% CAGR.</a:t>
            </a:r>
          </a:p>
        </p:txBody>
      </p:sp>
      <p:sp>
        <p:nvSpPr>
          <p:cNvPr id="51" name="TextBox 50"/>
          <p:cNvSpPr txBox="1"/>
          <p:nvPr/>
        </p:nvSpPr>
        <p:spPr>
          <a:xfrm>
            <a:off x="276225" y="5656325"/>
            <a:ext cx="2155415" cy="194310"/>
          </a:xfrm>
          <a:prstGeom prst="rect">
            <a:avLst/>
          </a:prstGeom>
          <a:noFill/>
        </p:spPr>
        <p:txBody>
          <a:bodyPr wrap="none" lIns="0" rIns="0" tIns="0" bIns="0">
            <a:spAutoFit/>
          </a:bodyPr>
          <a:lstStyle/>
          <a:p>
            <a:r>
              <a:rPr sz="1150" b="0">
                <a:solidFill>
                  <a:srgbClr val="2E2E2E"/>
                </a:solidFill>
                <a:latin typeface="Calibri"/>
              </a:rPr>
              <a:t>▪ Conservative: the market reaches</a:t>
            </a:r>
          </a:p>
        </p:txBody>
      </p:sp>
      <p:pic>
        <p:nvPicPr>
          <p:cNvPr id="52" name="Picture 51" descr="lock.png"/>
          <p:cNvPicPr>
            <a:picLocks noChangeAspect="1"/>
          </p:cNvPicPr>
          <p:nvPr/>
        </p:nvPicPr>
        <p:blipFill>
          <a:blip r:embed="rId5"/>
          <a:stretch>
            <a:fillRect/>
          </a:stretch>
        </p:blipFill>
        <p:spPr>
          <a:xfrm>
            <a:off x="2380794" y="5646102"/>
            <a:ext cx="134549" cy="195707"/>
          </a:xfrm>
          <a:prstGeom prst="rect">
            <a:avLst/>
          </a:prstGeom>
        </p:spPr>
      </p:pic>
      <p:sp>
        <p:nvSpPr>
          <p:cNvPr id="53" name="TextBox 52"/>
          <p:cNvSpPr txBox="1"/>
          <p:nvPr/>
        </p:nvSpPr>
        <p:spPr>
          <a:xfrm>
            <a:off x="2555903" y="5656325"/>
            <a:ext cx="4681321" cy="194310"/>
          </a:xfrm>
          <a:prstGeom prst="rect">
            <a:avLst/>
          </a:prstGeom>
          <a:noFill/>
        </p:spPr>
        <p:txBody>
          <a:bodyPr wrap="none" lIns="0" rIns="0" tIns="0" bIns="0">
            <a:spAutoFit/>
          </a:bodyPr>
          <a:lstStyle/>
          <a:p>
            <a:r>
              <a:rPr sz="1150" b="0">
                <a:solidFill>
                  <a:srgbClr val="2E2E2E"/>
                </a:solidFill>
                <a:latin typeface="Calibri"/>
              </a:rPr>
              <a:t>US$ Mn by 2036 at 4.8% CAGR, assuming slower adoption and tighter pricing.</a:t>
            </a:r>
          </a:p>
        </p:txBody>
      </p:sp>
      <p:sp>
        <p:nvSpPr>
          <p:cNvPr id="54" name="TextBox 53"/>
          <p:cNvSpPr txBox="1"/>
          <p:nvPr/>
        </p:nvSpPr>
        <p:spPr>
          <a:xfrm>
            <a:off x="276225" y="5884163"/>
            <a:ext cx="4386671"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plus or minus</a:t>
            </a:r>
          </a:p>
        </p:txBody>
      </p:sp>
      <p:pic>
        <p:nvPicPr>
          <p:cNvPr id="55" name="Picture 54" descr="lock.png"/>
          <p:cNvPicPr>
            <a:picLocks noChangeAspect="1"/>
          </p:cNvPicPr>
          <p:nvPr/>
        </p:nvPicPr>
        <p:blipFill>
          <a:blip r:embed="rId5"/>
          <a:stretch>
            <a:fillRect/>
          </a:stretch>
        </p:blipFill>
        <p:spPr>
          <a:xfrm>
            <a:off x="4612050" y="5873940"/>
            <a:ext cx="134549" cy="195707"/>
          </a:xfrm>
          <a:prstGeom prst="rect">
            <a:avLst/>
          </a:prstGeom>
        </p:spPr>
      </p:pic>
      <p:sp>
        <p:nvSpPr>
          <p:cNvPr id="56" name="TextBox 55"/>
          <p:cNvSpPr txBox="1"/>
          <p:nvPr/>
        </p:nvSpPr>
        <p:spPr>
          <a:xfrm>
            <a:off x="4787159" y="5884163"/>
            <a:ext cx="1158168" cy="194310"/>
          </a:xfrm>
          <a:prstGeom prst="rect">
            <a:avLst/>
          </a:prstGeom>
          <a:noFill/>
        </p:spPr>
        <p:txBody>
          <a:bodyPr wrap="none" lIns="0" rIns="0" tIns="0" bIns="0">
            <a:spAutoFit/>
          </a:bodyPr>
          <a:lstStyle/>
          <a:p>
            <a:r>
              <a:rPr sz="1150" b="0">
                <a:solidFill>
                  <a:srgbClr val="2E2E2E"/>
                </a:solidFill>
                <a:latin typeface="Calibri"/>
              </a:rPr>
              <a:t>across 2026-2036.</a:t>
            </a:r>
          </a:p>
        </p:txBody>
      </p:sp>
      <p:sp>
        <p:nvSpPr>
          <p:cNvPr id="57" name="TextBox 56"/>
          <p:cNvSpPr txBox="1"/>
          <p:nvPr/>
        </p:nvSpPr>
        <p:spPr>
          <a:xfrm>
            <a:off x="276225" y="6112001"/>
            <a:ext cx="3829856" cy="194310"/>
          </a:xfrm>
          <a:prstGeom prst="rect">
            <a:avLst/>
          </a:prstGeom>
          <a:noFill/>
        </p:spPr>
        <p:txBody>
          <a:bodyPr wrap="none" lIns="0" rIns="0" tIns="0" bIns="0">
            <a:spAutoFit/>
          </a:bodyPr>
          <a:lstStyle/>
          <a:p>
            <a:r>
              <a:rPr sz="1150" b="0">
                <a:solidFill>
                  <a:srgbClr val="2E2E2E"/>
                </a:solidFill>
                <a:latin typeface="Calibri"/>
              </a:rPr>
              <a:t>▪ The gap between the optimistic and conservative outcomes is</a:t>
            </a:r>
          </a:p>
        </p:txBody>
      </p:sp>
      <p:pic>
        <p:nvPicPr>
          <p:cNvPr id="58" name="Picture 57" descr="lock.png"/>
          <p:cNvPicPr>
            <a:picLocks noChangeAspect="1"/>
          </p:cNvPicPr>
          <p:nvPr/>
        </p:nvPicPr>
        <p:blipFill>
          <a:blip r:embed="rId5"/>
          <a:stretch>
            <a:fillRect/>
          </a:stretch>
        </p:blipFill>
        <p:spPr>
          <a:xfrm>
            <a:off x="4055235" y="6101778"/>
            <a:ext cx="134549" cy="195707"/>
          </a:xfrm>
          <a:prstGeom prst="rect">
            <a:avLst/>
          </a:prstGeom>
        </p:spPr>
      </p:pic>
      <p:sp>
        <p:nvSpPr>
          <p:cNvPr id="59" name="TextBox 58"/>
          <p:cNvSpPr txBox="1"/>
          <p:nvPr/>
        </p:nvSpPr>
        <p:spPr>
          <a:xfrm>
            <a:off x="4230344" y="6112001"/>
            <a:ext cx="5341416" cy="194310"/>
          </a:xfrm>
          <a:prstGeom prst="rect">
            <a:avLst/>
          </a:prstGeom>
          <a:noFill/>
        </p:spPr>
        <p:txBody>
          <a:bodyPr wrap="none" lIns="0" rIns="0" tIns="0" bIns="0">
            <a:spAutoFit/>
          </a:bodyPr>
          <a:lstStyle/>
          <a:p>
            <a:r>
              <a:rPr sz="1150" b="0">
                <a:solidFill>
                  <a:srgbClr val="2E2E2E"/>
                </a:solidFill>
                <a:latin typeface="Calibri"/>
              </a:rPr>
              <a:t>US$ Mn in 2036, which frames the planning range for capacity and investment decisions.</a:t>
            </a:r>
          </a:p>
        </p:txBody>
      </p:sp>
      <p:sp>
        <p:nvSpPr>
          <p:cNvPr id="60" name="lockshield_36"/>
          <p:cNvSpPr/>
          <p:nvPr/>
        </p:nvSpPr>
        <p:spPr>
          <a:xfrm>
            <a:off x="6267450" y="21812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Hair Styling Products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3" name="Rectangle 22"/>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0" name="Rectangle 29"/>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37" name="Rectangle 36"/>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4" name="Rectangle 43"/>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1" name="Rectangle 50"/>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8" name="Rectangle 57"/>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Rectangle 59"/>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1" name="Oval 60"/>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4" name="Rectangle 63"/>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6" name="Rounded Rectangle 6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8" name="Rectangle 67"/>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70" name="Rounded Rectangle 6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2" name="Rectangle 71"/>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4" name="Rectangle 7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6" name="TextBox 75"/>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7" name="TextBox 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8" name="Picture 77" descr="5_020_605E5C.png"/>
          <p:cNvPicPr>
            <a:picLocks noChangeAspect="1"/>
          </p:cNvPicPr>
          <p:nvPr/>
        </p:nvPicPr>
        <p:blipFill>
          <a:blip r:embed="rId4"/>
          <a:stretch>
            <a:fillRect/>
          </a:stretch>
        </p:blipFill>
        <p:spPr>
          <a:xfrm>
            <a:off x="2054848" y="2286582"/>
            <a:ext cx="1195728" cy="361950"/>
          </a:xfrm>
          <a:prstGeom prst="rect">
            <a:avLst/>
          </a:prstGeom>
        </p:spPr>
      </p:pic>
      <p:pic>
        <p:nvPicPr>
          <p:cNvPr id="79" name="Picture 78" descr="9_040_605E5C.png"/>
          <p:cNvPicPr>
            <a:picLocks noChangeAspect="1"/>
          </p:cNvPicPr>
          <p:nvPr/>
        </p:nvPicPr>
        <p:blipFill>
          <a:blip r:embed="rId5"/>
          <a:stretch>
            <a:fillRect/>
          </a:stretch>
        </p:blipFill>
        <p:spPr>
          <a:xfrm>
            <a:off x="2054848" y="2779432"/>
            <a:ext cx="1195728" cy="361950"/>
          </a:xfrm>
          <a:prstGeom prst="rect">
            <a:avLst/>
          </a:prstGeom>
        </p:spPr>
      </p:pic>
      <p:pic>
        <p:nvPicPr>
          <p:cNvPr id="80" name="Picture 79" descr="6_1__605E5C.png"/>
          <p:cNvPicPr>
            <a:picLocks noChangeAspect="1"/>
          </p:cNvPicPr>
          <p:nvPr/>
        </p:nvPicPr>
        <p:blipFill>
          <a:blip r:embed="rId6"/>
          <a:stretch>
            <a:fillRect/>
          </a:stretch>
        </p:blipFill>
        <p:spPr>
          <a:xfrm>
            <a:off x="2161494" y="3272281"/>
            <a:ext cx="982436" cy="361950"/>
          </a:xfrm>
          <a:prstGeom prst="rect">
            <a:avLst/>
          </a:prstGeom>
        </p:spPr>
      </p:pic>
      <p:pic>
        <p:nvPicPr>
          <p:cNvPr id="81" name="Picture 80" descr="4_129_605E5C.png"/>
          <p:cNvPicPr>
            <a:picLocks noChangeAspect="1"/>
          </p:cNvPicPr>
          <p:nvPr/>
        </p:nvPicPr>
        <p:blipFill>
          <a:blip r:embed="rId7"/>
          <a:stretch>
            <a:fillRect/>
          </a:stretch>
        </p:blipFill>
        <p:spPr>
          <a:xfrm>
            <a:off x="3740773" y="2286582"/>
            <a:ext cx="1195728" cy="361950"/>
          </a:xfrm>
          <a:prstGeom prst="rect">
            <a:avLst/>
          </a:prstGeom>
        </p:spPr>
      </p:pic>
      <p:pic>
        <p:nvPicPr>
          <p:cNvPr id="82" name="Picture 81" descr="7_782_605E5C.png"/>
          <p:cNvPicPr>
            <a:picLocks noChangeAspect="1"/>
          </p:cNvPicPr>
          <p:nvPr/>
        </p:nvPicPr>
        <p:blipFill>
          <a:blip r:embed="rId8"/>
          <a:stretch>
            <a:fillRect/>
          </a:stretch>
        </p:blipFill>
        <p:spPr>
          <a:xfrm>
            <a:off x="3740773" y="2779432"/>
            <a:ext cx="1195728" cy="361950"/>
          </a:xfrm>
          <a:prstGeom prst="rect">
            <a:avLst/>
          </a:prstGeom>
        </p:spPr>
      </p:pic>
      <p:pic>
        <p:nvPicPr>
          <p:cNvPr id="83" name="Picture 82" descr="6_5__605E5C.png"/>
          <p:cNvPicPr>
            <a:picLocks noChangeAspect="1"/>
          </p:cNvPicPr>
          <p:nvPr/>
        </p:nvPicPr>
        <p:blipFill>
          <a:blip r:embed="rId9"/>
          <a:stretch>
            <a:fillRect/>
          </a:stretch>
        </p:blipFill>
        <p:spPr>
          <a:xfrm>
            <a:off x="3847419" y="3272281"/>
            <a:ext cx="982436" cy="361950"/>
          </a:xfrm>
          <a:prstGeom prst="rect">
            <a:avLst/>
          </a:prstGeom>
        </p:spPr>
      </p:pic>
      <p:pic>
        <p:nvPicPr>
          <p:cNvPr id="84" name="Picture 83" descr="2_811_605E5C.png"/>
          <p:cNvPicPr>
            <a:picLocks noChangeAspect="1"/>
          </p:cNvPicPr>
          <p:nvPr/>
        </p:nvPicPr>
        <p:blipFill>
          <a:blip r:embed="rId10"/>
          <a:stretch>
            <a:fillRect/>
          </a:stretch>
        </p:blipFill>
        <p:spPr>
          <a:xfrm>
            <a:off x="5426698" y="2286582"/>
            <a:ext cx="1195728" cy="361950"/>
          </a:xfrm>
          <a:prstGeom prst="rect">
            <a:avLst/>
          </a:prstGeom>
        </p:spPr>
      </p:pic>
      <p:pic>
        <p:nvPicPr>
          <p:cNvPr id="85" name="Picture 84" descr="5_157_605E5C.png"/>
          <p:cNvPicPr>
            <a:picLocks noChangeAspect="1"/>
          </p:cNvPicPr>
          <p:nvPr/>
        </p:nvPicPr>
        <p:blipFill>
          <a:blip r:embed="rId11"/>
          <a:stretch>
            <a:fillRect/>
          </a:stretch>
        </p:blipFill>
        <p:spPr>
          <a:xfrm>
            <a:off x="5426698" y="2779432"/>
            <a:ext cx="1195728" cy="361950"/>
          </a:xfrm>
          <a:prstGeom prst="rect">
            <a:avLst/>
          </a:prstGeom>
        </p:spPr>
      </p:pic>
      <p:pic>
        <p:nvPicPr>
          <p:cNvPr id="86" name="Picture 85" descr="6_3__605E5C.png"/>
          <p:cNvPicPr>
            <a:picLocks noChangeAspect="1"/>
          </p:cNvPicPr>
          <p:nvPr/>
        </p:nvPicPr>
        <p:blipFill>
          <a:blip r:embed="rId12"/>
          <a:stretch>
            <a:fillRect/>
          </a:stretch>
        </p:blipFill>
        <p:spPr>
          <a:xfrm>
            <a:off x="5533344" y="3272281"/>
            <a:ext cx="982436" cy="361950"/>
          </a:xfrm>
          <a:prstGeom prst="rect">
            <a:avLst/>
          </a:prstGeom>
        </p:spPr>
      </p:pic>
      <p:pic>
        <p:nvPicPr>
          <p:cNvPr id="87" name="Picture 86" descr="1_771_605E5C.png"/>
          <p:cNvPicPr>
            <a:picLocks noChangeAspect="1"/>
          </p:cNvPicPr>
          <p:nvPr/>
        </p:nvPicPr>
        <p:blipFill>
          <a:blip r:embed="rId13"/>
          <a:stretch>
            <a:fillRect/>
          </a:stretch>
        </p:blipFill>
        <p:spPr>
          <a:xfrm>
            <a:off x="7112623" y="2286582"/>
            <a:ext cx="1195728" cy="361950"/>
          </a:xfrm>
          <a:prstGeom prst="rect">
            <a:avLst/>
          </a:prstGeom>
        </p:spPr>
      </p:pic>
      <p:pic>
        <p:nvPicPr>
          <p:cNvPr id="88" name="Picture 87" descr="3_772_605E5C.png"/>
          <p:cNvPicPr>
            <a:picLocks noChangeAspect="1"/>
          </p:cNvPicPr>
          <p:nvPr/>
        </p:nvPicPr>
        <p:blipFill>
          <a:blip r:embed="rId14"/>
          <a:stretch>
            <a:fillRect/>
          </a:stretch>
        </p:blipFill>
        <p:spPr>
          <a:xfrm>
            <a:off x="7112623" y="2779432"/>
            <a:ext cx="1195728" cy="361950"/>
          </a:xfrm>
          <a:prstGeom prst="rect">
            <a:avLst/>
          </a:prstGeom>
        </p:spPr>
      </p:pic>
      <p:pic>
        <p:nvPicPr>
          <p:cNvPr id="89" name="Picture 88" descr="7_9__605E5C.png"/>
          <p:cNvPicPr>
            <a:picLocks noChangeAspect="1"/>
          </p:cNvPicPr>
          <p:nvPr/>
        </p:nvPicPr>
        <p:blipFill>
          <a:blip r:embed="rId15"/>
          <a:stretch>
            <a:fillRect/>
          </a:stretch>
        </p:blipFill>
        <p:spPr>
          <a:xfrm>
            <a:off x="7219269" y="3272281"/>
            <a:ext cx="982436" cy="361950"/>
          </a:xfrm>
          <a:prstGeom prst="rect">
            <a:avLst/>
          </a:prstGeom>
        </p:spPr>
      </p:pic>
      <p:pic>
        <p:nvPicPr>
          <p:cNvPr id="90" name="Picture 89" descr="1_350_605E5C.png"/>
          <p:cNvPicPr>
            <a:picLocks noChangeAspect="1"/>
          </p:cNvPicPr>
          <p:nvPr/>
        </p:nvPicPr>
        <p:blipFill>
          <a:blip r:embed="rId16"/>
          <a:stretch>
            <a:fillRect/>
          </a:stretch>
        </p:blipFill>
        <p:spPr>
          <a:xfrm>
            <a:off x="8798548" y="2286582"/>
            <a:ext cx="1195728" cy="361950"/>
          </a:xfrm>
          <a:prstGeom prst="rect">
            <a:avLst/>
          </a:prstGeom>
        </p:spPr>
      </p:pic>
      <p:pic>
        <p:nvPicPr>
          <p:cNvPr id="91" name="Picture 90" descr="2_815_605E5C.png"/>
          <p:cNvPicPr>
            <a:picLocks noChangeAspect="1"/>
          </p:cNvPicPr>
          <p:nvPr/>
        </p:nvPicPr>
        <p:blipFill>
          <a:blip r:embed="rId17"/>
          <a:stretch>
            <a:fillRect/>
          </a:stretch>
        </p:blipFill>
        <p:spPr>
          <a:xfrm>
            <a:off x="8798548" y="2779432"/>
            <a:ext cx="1195728" cy="361950"/>
          </a:xfrm>
          <a:prstGeom prst="rect">
            <a:avLst/>
          </a:prstGeom>
        </p:spPr>
      </p:pic>
      <p:pic>
        <p:nvPicPr>
          <p:cNvPr id="92" name="Picture 91" descr="7_6__605E5C.png"/>
          <p:cNvPicPr>
            <a:picLocks noChangeAspect="1"/>
          </p:cNvPicPr>
          <p:nvPr/>
        </p:nvPicPr>
        <p:blipFill>
          <a:blip r:embed="rId18"/>
          <a:stretch>
            <a:fillRect/>
          </a:stretch>
        </p:blipFill>
        <p:spPr>
          <a:xfrm>
            <a:off x="8905194" y="3272281"/>
            <a:ext cx="982436" cy="361950"/>
          </a:xfrm>
          <a:prstGeom prst="rect">
            <a:avLst/>
          </a:prstGeom>
        </p:spPr>
      </p:pic>
      <p:pic>
        <p:nvPicPr>
          <p:cNvPr id="93" name="Picture 92" descr="1_026_605E5C.png"/>
          <p:cNvPicPr>
            <a:picLocks noChangeAspect="1"/>
          </p:cNvPicPr>
          <p:nvPr/>
        </p:nvPicPr>
        <p:blipFill>
          <a:blip r:embed="rId19"/>
          <a:stretch>
            <a:fillRect/>
          </a:stretch>
        </p:blipFill>
        <p:spPr>
          <a:xfrm>
            <a:off x="10484473" y="2286582"/>
            <a:ext cx="1195728" cy="361950"/>
          </a:xfrm>
          <a:prstGeom prst="rect">
            <a:avLst/>
          </a:prstGeom>
        </p:spPr>
      </p:pic>
      <p:pic>
        <p:nvPicPr>
          <p:cNvPr id="94" name="Picture 93" descr="2_122_605E5C.png"/>
          <p:cNvPicPr>
            <a:picLocks noChangeAspect="1"/>
          </p:cNvPicPr>
          <p:nvPr/>
        </p:nvPicPr>
        <p:blipFill>
          <a:blip r:embed="rId20"/>
          <a:stretch>
            <a:fillRect/>
          </a:stretch>
        </p:blipFill>
        <p:spPr>
          <a:xfrm>
            <a:off x="10484473" y="2779432"/>
            <a:ext cx="1195728" cy="361950"/>
          </a:xfrm>
          <a:prstGeom prst="rect">
            <a:avLst/>
          </a:prstGeom>
        </p:spPr>
      </p:pic>
      <p:pic>
        <p:nvPicPr>
          <p:cNvPr id="95" name="Picture 94" descr="7_5__605E5C.png"/>
          <p:cNvPicPr>
            <a:picLocks noChangeAspect="1"/>
          </p:cNvPicPr>
          <p:nvPr/>
        </p:nvPicPr>
        <p:blipFill>
          <a:blip r:embed="rId21"/>
          <a:stretch>
            <a:fillRect/>
          </a:stretch>
        </p:blipFill>
        <p:spPr>
          <a:xfrm>
            <a:off x="10591119" y="3272281"/>
            <a:ext cx="982436" cy="361950"/>
          </a:xfrm>
          <a:prstGeom prst="rect">
            <a:avLst/>
          </a:prstGeom>
        </p:spPr>
      </p:pic>
      <p:pic>
        <p:nvPicPr>
          <p:cNvPr id="96" name="Picture 95" descr="lock.png"/>
          <p:cNvPicPr>
            <a:picLocks noChangeAspect="1"/>
          </p:cNvPicPr>
          <p:nvPr/>
        </p:nvPicPr>
        <p:blipFill>
          <a:blip r:embed="rId22"/>
          <a:stretch>
            <a:fillRect/>
          </a:stretch>
        </p:blipFill>
        <p:spPr>
          <a:xfrm>
            <a:off x="2559367"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4245292"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5931217"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7617142"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9303067" y="2827057"/>
            <a:ext cx="183356" cy="266700"/>
          </a:xfrm>
          <a:prstGeom prst="rect">
            <a:avLst/>
          </a:prstGeom>
        </p:spPr>
      </p:pic>
      <p:pic>
        <p:nvPicPr>
          <p:cNvPr id="101" name="Picture 100" descr="lock.png"/>
          <p:cNvPicPr>
            <a:picLocks noChangeAspect="1"/>
          </p:cNvPicPr>
          <p:nvPr/>
        </p:nvPicPr>
        <p:blipFill>
          <a:blip r:embed="rId22"/>
          <a:stretch>
            <a:fillRect/>
          </a:stretch>
        </p:blipFill>
        <p:spPr>
          <a:xfrm>
            <a:off x="10988992" y="2827057"/>
            <a:ext cx="183356" cy="266700"/>
          </a:xfrm>
          <a:prstGeom prst="rect">
            <a:avLst/>
          </a:prstGeom>
        </p:spPr>
      </p:pic>
      <p:sp>
        <p:nvSpPr>
          <p:cNvPr id="102" name="TextBox 101"/>
          <p:cNvSpPr txBox="1"/>
          <p:nvPr/>
        </p:nvSpPr>
        <p:spPr>
          <a:xfrm>
            <a:off x="485775" y="4229437"/>
            <a:ext cx="2655465" cy="186689"/>
          </a:xfrm>
          <a:prstGeom prst="rect">
            <a:avLst/>
          </a:prstGeom>
          <a:noFill/>
        </p:spPr>
        <p:txBody>
          <a:bodyPr wrap="none" lIns="0" rIns="0" tIns="0" bIns="0">
            <a:spAutoFit/>
          </a:bodyPr>
          <a:lstStyle/>
          <a:p>
            <a:r>
              <a:rPr sz="1100" b="0">
                <a:solidFill>
                  <a:srgbClr val="2E2E2E"/>
                </a:solidFill>
                <a:latin typeface="Calibri"/>
              </a:rPr>
              <a:t>North America hair styling products market is</a:t>
            </a:r>
          </a:p>
        </p:txBody>
      </p:sp>
      <p:sp>
        <p:nvSpPr>
          <p:cNvPr id="103" name="TextBox 102"/>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4" name="Picture 103" descr="lock.png"/>
          <p:cNvPicPr>
            <a:picLocks noChangeAspect="1"/>
          </p:cNvPicPr>
          <p:nvPr/>
        </p:nvPicPr>
        <p:blipFill>
          <a:blip r:embed="rId22"/>
          <a:stretch>
            <a:fillRect/>
          </a:stretch>
        </p:blipFill>
        <p:spPr>
          <a:xfrm>
            <a:off x="1678376" y="4387298"/>
            <a:ext cx="128699" cy="187198"/>
          </a:xfrm>
          <a:prstGeom prst="rect">
            <a:avLst/>
          </a:prstGeom>
        </p:spPr>
      </p:pic>
      <p:sp>
        <p:nvSpPr>
          <p:cNvPr id="105" name="TextBox 104"/>
          <p:cNvSpPr txBox="1"/>
          <p:nvPr/>
        </p:nvSpPr>
        <p:spPr>
          <a:xfrm>
            <a:off x="1845872" y="4397077"/>
            <a:ext cx="1440696" cy="186689"/>
          </a:xfrm>
          <a:prstGeom prst="rect">
            <a:avLst/>
          </a:prstGeom>
          <a:noFill/>
        </p:spPr>
        <p:txBody>
          <a:bodyPr wrap="none" lIns="0" rIns="0" tIns="0" bIns="0">
            <a:spAutoFit/>
          </a:bodyPr>
          <a:lstStyle/>
          <a:p>
            <a:r>
              <a:rPr sz="1100" b="0">
                <a:solidFill>
                  <a:srgbClr val="2E2E2E"/>
                </a:solidFill>
                <a:latin typeface="Calibri"/>
              </a:rPr>
              <a:t>X higher value than East</a:t>
            </a:r>
          </a:p>
        </p:txBody>
      </p:sp>
      <p:sp>
        <p:nvSpPr>
          <p:cNvPr id="106" name="TextBox 105"/>
          <p:cNvSpPr txBox="1"/>
          <p:nvPr/>
        </p:nvSpPr>
        <p:spPr>
          <a:xfrm>
            <a:off x="485775" y="4564717"/>
            <a:ext cx="2591618" cy="186689"/>
          </a:xfrm>
          <a:prstGeom prst="rect">
            <a:avLst/>
          </a:prstGeom>
          <a:noFill/>
        </p:spPr>
        <p:txBody>
          <a:bodyPr wrap="none" lIns="0" rIns="0" tIns="0" bIns="0">
            <a:spAutoFit/>
          </a:bodyPr>
          <a:lstStyle/>
          <a:p>
            <a:r>
              <a:rPr sz="1100" b="0">
                <a:solidFill>
                  <a:srgbClr val="2E2E2E"/>
                </a:solidFill>
                <a:latin typeface="Calibri"/>
              </a:rPr>
              <a:t>Asia in 2036. Among hair styling products by</a:t>
            </a:r>
          </a:p>
        </p:txBody>
      </p:sp>
      <p:sp>
        <p:nvSpPr>
          <p:cNvPr id="107" name="TextBox 106"/>
          <p:cNvSpPr txBox="1"/>
          <p:nvPr/>
        </p:nvSpPr>
        <p:spPr>
          <a:xfrm>
            <a:off x="485775" y="4732357"/>
            <a:ext cx="2914129" cy="186689"/>
          </a:xfrm>
          <a:prstGeom prst="rect">
            <a:avLst/>
          </a:prstGeom>
          <a:noFill/>
        </p:spPr>
        <p:txBody>
          <a:bodyPr wrap="none" lIns="0" rIns="0" tIns="0" bIns="0">
            <a:spAutoFit/>
          </a:bodyPr>
          <a:lstStyle/>
          <a:p>
            <a:r>
              <a:rPr sz="1100" b="0">
                <a:solidFill>
                  <a:srgbClr val="2E2E2E"/>
                </a:solidFill>
                <a:latin typeface="Calibri"/>
              </a:rPr>
              <a:t>region, South Asia &amp; Pacific is expected to witness</a:t>
            </a:r>
          </a:p>
        </p:txBody>
      </p:sp>
      <p:sp>
        <p:nvSpPr>
          <p:cNvPr id="108" name="TextBox 107"/>
          <p:cNvSpPr txBox="1"/>
          <p:nvPr/>
        </p:nvSpPr>
        <p:spPr>
          <a:xfrm>
            <a:off x="485775" y="489999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9" name="Picture 108" descr="lock.png"/>
          <p:cNvPicPr>
            <a:picLocks noChangeAspect="1"/>
          </p:cNvPicPr>
          <p:nvPr/>
        </p:nvPicPr>
        <p:blipFill>
          <a:blip r:embed="rId22"/>
          <a:stretch>
            <a:fillRect/>
          </a:stretch>
        </p:blipFill>
        <p:spPr>
          <a:xfrm>
            <a:off x="1646163" y="4890217"/>
            <a:ext cx="128699" cy="187198"/>
          </a:xfrm>
          <a:prstGeom prst="rect">
            <a:avLst/>
          </a:prstGeom>
        </p:spPr>
      </p:pic>
      <p:sp>
        <p:nvSpPr>
          <p:cNvPr id="110" name="TextBox 109"/>
          <p:cNvSpPr txBox="1"/>
          <p:nvPr/>
        </p:nvSpPr>
        <p:spPr>
          <a:xfrm>
            <a:off x="1813659"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11" name="TextBox 110"/>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2" name="TextBox 111"/>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3" name="Picture 112" descr="lock.png"/>
          <p:cNvPicPr>
            <a:picLocks noChangeAspect="1"/>
          </p:cNvPicPr>
          <p:nvPr/>
        </p:nvPicPr>
        <p:blipFill>
          <a:blip r:embed="rId22"/>
          <a:stretch>
            <a:fillRect/>
          </a:stretch>
        </p:blipFill>
        <p:spPr>
          <a:xfrm>
            <a:off x="2822716" y="5275790"/>
            <a:ext cx="128699" cy="187198"/>
          </a:xfrm>
          <a:prstGeom prst="rect">
            <a:avLst/>
          </a:prstGeom>
        </p:spPr>
      </p:pic>
      <p:sp>
        <p:nvSpPr>
          <p:cNvPr id="114" name="TextBox 113"/>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5" name="TextBox 114"/>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6" name="Picture 115" descr="lock.png"/>
          <p:cNvPicPr>
            <a:picLocks noChangeAspect="1"/>
          </p:cNvPicPr>
          <p:nvPr/>
        </p:nvPicPr>
        <p:blipFill>
          <a:blip r:embed="rId22"/>
          <a:stretch>
            <a:fillRect/>
          </a:stretch>
        </p:blipFill>
        <p:spPr>
          <a:xfrm>
            <a:off x="1576057" y="5443430"/>
            <a:ext cx="128699" cy="187198"/>
          </a:xfrm>
          <a:prstGeom prst="rect">
            <a:avLst/>
          </a:prstGeom>
        </p:spPr>
      </p:pic>
      <p:sp>
        <p:nvSpPr>
          <p:cNvPr id="117" name="TextBox 116"/>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8" name="TextBox 117"/>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9" name="Picture 118" descr="lock.png"/>
          <p:cNvPicPr>
            <a:picLocks noChangeAspect="1"/>
          </p:cNvPicPr>
          <p:nvPr/>
        </p:nvPicPr>
        <p:blipFill>
          <a:blip r:embed="rId22"/>
          <a:stretch>
            <a:fillRect/>
          </a:stretch>
        </p:blipFill>
        <p:spPr>
          <a:xfrm>
            <a:off x="4850003" y="4219658"/>
            <a:ext cx="128699" cy="187198"/>
          </a:xfrm>
          <a:prstGeom prst="rect">
            <a:avLst/>
          </a:prstGeom>
        </p:spPr>
      </p:pic>
      <p:sp>
        <p:nvSpPr>
          <p:cNvPr id="120" name="TextBox 119"/>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5876949" y="4219658"/>
            <a:ext cx="128699" cy="187198"/>
          </a:xfrm>
          <a:prstGeom prst="rect">
            <a:avLst/>
          </a:prstGeom>
        </p:spPr>
      </p:pic>
      <p:sp>
        <p:nvSpPr>
          <p:cNvPr id="122" name="TextBox 121"/>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3" name="TextBox 122"/>
          <p:cNvSpPr txBox="1"/>
          <p:nvPr/>
        </p:nvSpPr>
        <p:spPr>
          <a:xfrm>
            <a:off x="3838575" y="4447369"/>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4" name="Picture 123" descr="lock.png"/>
          <p:cNvPicPr>
            <a:picLocks noChangeAspect="1"/>
          </p:cNvPicPr>
          <p:nvPr/>
        </p:nvPicPr>
        <p:blipFill>
          <a:blip r:embed="rId22"/>
          <a:stretch>
            <a:fillRect/>
          </a:stretch>
        </p:blipFill>
        <p:spPr>
          <a:xfrm>
            <a:off x="4518727" y="4437590"/>
            <a:ext cx="128699" cy="187198"/>
          </a:xfrm>
          <a:prstGeom prst="rect">
            <a:avLst/>
          </a:prstGeom>
        </p:spPr>
      </p:pic>
      <p:sp>
        <p:nvSpPr>
          <p:cNvPr id="125" name="TextBox 124"/>
          <p:cNvSpPr txBox="1"/>
          <p:nvPr/>
        </p:nvSpPr>
        <p:spPr>
          <a:xfrm>
            <a:off x="468622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22"/>
          <a:stretch>
            <a:fillRect/>
          </a:stretch>
        </p:blipFill>
        <p:spPr>
          <a:xfrm>
            <a:off x="5545673" y="4437590"/>
            <a:ext cx="128699" cy="187198"/>
          </a:xfrm>
          <a:prstGeom prst="rect">
            <a:avLst/>
          </a:prstGeom>
        </p:spPr>
      </p:pic>
      <p:sp>
        <p:nvSpPr>
          <p:cNvPr id="127" name="TextBox 126"/>
          <p:cNvSpPr txBox="1"/>
          <p:nvPr/>
        </p:nvSpPr>
        <p:spPr>
          <a:xfrm>
            <a:off x="571316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8" name="TextBox 127"/>
          <p:cNvSpPr txBox="1"/>
          <p:nvPr/>
        </p:nvSpPr>
        <p:spPr>
          <a:xfrm>
            <a:off x="3838575" y="4665301"/>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9" name="Picture 128" descr="lock.png"/>
          <p:cNvPicPr>
            <a:picLocks noChangeAspect="1"/>
          </p:cNvPicPr>
          <p:nvPr/>
        </p:nvPicPr>
        <p:blipFill>
          <a:blip r:embed="rId22"/>
          <a:stretch>
            <a:fillRect/>
          </a:stretch>
        </p:blipFill>
        <p:spPr>
          <a:xfrm>
            <a:off x="4423263" y="4655522"/>
            <a:ext cx="128699" cy="187198"/>
          </a:xfrm>
          <a:prstGeom prst="rect">
            <a:avLst/>
          </a:prstGeom>
        </p:spPr>
      </p:pic>
      <p:sp>
        <p:nvSpPr>
          <p:cNvPr id="130" name="TextBox 129"/>
          <p:cNvSpPr txBox="1"/>
          <p:nvPr/>
        </p:nvSpPr>
        <p:spPr>
          <a:xfrm>
            <a:off x="459075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22"/>
          <a:stretch>
            <a:fillRect/>
          </a:stretch>
        </p:blipFill>
        <p:spPr>
          <a:xfrm>
            <a:off x="5450209" y="4655522"/>
            <a:ext cx="128699" cy="187198"/>
          </a:xfrm>
          <a:prstGeom prst="rect">
            <a:avLst/>
          </a:prstGeom>
        </p:spPr>
      </p:pic>
      <p:sp>
        <p:nvSpPr>
          <p:cNvPr id="132" name="TextBox 131"/>
          <p:cNvSpPr txBox="1"/>
          <p:nvPr/>
        </p:nvSpPr>
        <p:spPr>
          <a:xfrm>
            <a:off x="5617705"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3" name="TextBox 132"/>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4" name="Picture 133" descr="lock.png"/>
          <p:cNvPicPr>
            <a:picLocks noChangeAspect="1"/>
          </p:cNvPicPr>
          <p:nvPr/>
        </p:nvPicPr>
        <p:blipFill>
          <a:blip r:embed="rId22"/>
          <a:stretch>
            <a:fillRect/>
          </a:stretch>
        </p:blipFill>
        <p:spPr>
          <a:xfrm>
            <a:off x="5136770" y="4873454"/>
            <a:ext cx="128699" cy="187198"/>
          </a:xfrm>
          <a:prstGeom prst="rect">
            <a:avLst/>
          </a:prstGeom>
        </p:spPr>
      </p:pic>
      <p:sp>
        <p:nvSpPr>
          <p:cNvPr id="135" name="TextBox 134"/>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6" name="Picture 135" descr="lock.png"/>
          <p:cNvPicPr>
            <a:picLocks noChangeAspect="1"/>
          </p:cNvPicPr>
          <p:nvPr/>
        </p:nvPicPr>
        <p:blipFill>
          <a:blip r:embed="rId22"/>
          <a:stretch>
            <a:fillRect/>
          </a:stretch>
        </p:blipFill>
        <p:spPr>
          <a:xfrm>
            <a:off x="6163716" y="4873454"/>
            <a:ext cx="128699" cy="187198"/>
          </a:xfrm>
          <a:prstGeom prst="rect">
            <a:avLst/>
          </a:prstGeom>
        </p:spPr>
      </p:pic>
      <p:sp>
        <p:nvSpPr>
          <p:cNvPr id="137" name="TextBox 136"/>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8" name="TextBox 137"/>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9" name="Picture 138" descr="lock.png"/>
          <p:cNvPicPr>
            <a:picLocks noChangeAspect="1"/>
          </p:cNvPicPr>
          <p:nvPr/>
        </p:nvPicPr>
        <p:blipFill>
          <a:blip r:embed="rId22"/>
          <a:stretch>
            <a:fillRect/>
          </a:stretch>
        </p:blipFill>
        <p:spPr>
          <a:xfrm>
            <a:off x="4794887" y="5091385"/>
            <a:ext cx="128699" cy="187198"/>
          </a:xfrm>
          <a:prstGeom prst="rect">
            <a:avLst/>
          </a:prstGeom>
        </p:spPr>
      </p:pic>
      <p:sp>
        <p:nvSpPr>
          <p:cNvPr id="140" name="TextBox 139"/>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1" name="Picture 140" descr="lock.png"/>
          <p:cNvPicPr>
            <a:picLocks noChangeAspect="1"/>
          </p:cNvPicPr>
          <p:nvPr/>
        </p:nvPicPr>
        <p:blipFill>
          <a:blip r:embed="rId22"/>
          <a:stretch>
            <a:fillRect/>
          </a:stretch>
        </p:blipFill>
        <p:spPr>
          <a:xfrm>
            <a:off x="5821833" y="5091385"/>
            <a:ext cx="128699" cy="187198"/>
          </a:xfrm>
          <a:prstGeom prst="rect">
            <a:avLst/>
          </a:prstGeom>
        </p:spPr>
      </p:pic>
      <p:sp>
        <p:nvSpPr>
          <p:cNvPr id="142" name="TextBox 141"/>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3" name="TextBox 142"/>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4" name="Picture 143" descr="lock.png"/>
          <p:cNvPicPr>
            <a:picLocks noChangeAspect="1"/>
          </p:cNvPicPr>
          <p:nvPr/>
        </p:nvPicPr>
        <p:blipFill>
          <a:blip r:embed="rId22"/>
          <a:stretch>
            <a:fillRect/>
          </a:stretch>
        </p:blipFill>
        <p:spPr>
          <a:xfrm>
            <a:off x="5173571" y="5309317"/>
            <a:ext cx="128699" cy="187198"/>
          </a:xfrm>
          <a:prstGeom prst="rect">
            <a:avLst/>
          </a:prstGeom>
        </p:spPr>
      </p:pic>
      <p:sp>
        <p:nvSpPr>
          <p:cNvPr id="145" name="TextBox 144"/>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6" name="Picture 145" descr="lock.png"/>
          <p:cNvPicPr>
            <a:picLocks noChangeAspect="1"/>
          </p:cNvPicPr>
          <p:nvPr/>
        </p:nvPicPr>
        <p:blipFill>
          <a:blip r:embed="rId22"/>
          <a:stretch>
            <a:fillRect/>
          </a:stretch>
        </p:blipFill>
        <p:spPr>
          <a:xfrm>
            <a:off x="6200517" y="5309317"/>
            <a:ext cx="128699" cy="187198"/>
          </a:xfrm>
          <a:prstGeom prst="rect">
            <a:avLst/>
          </a:prstGeom>
        </p:spPr>
      </p:pic>
      <p:sp>
        <p:nvSpPr>
          <p:cNvPr id="147" name="TextBox 146"/>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8" name="TextBox 147"/>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9" name="TextBox 148"/>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50" name="Picture 149" descr="lock.png"/>
          <p:cNvPicPr>
            <a:picLocks noChangeAspect="1"/>
          </p:cNvPicPr>
          <p:nvPr/>
        </p:nvPicPr>
        <p:blipFill>
          <a:blip r:embed="rId22"/>
          <a:stretch>
            <a:fillRect/>
          </a:stretch>
        </p:blipFill>
        <p:spPr>
          <a:xfrm>
            <a:off x="8674884" y="6007677"/>
            <a:ext cx="134549" cy="195707"/>
          </a:xfrm>
          <a:prstGeom prst="rect">
            <a:avLst/>
          </a:prstGeom>
        </p:spPr>
      </p:pic>
      <p:sp>
        <p:nvSpPr>
          <p:cNvPr id="151" name="TextBox 150"/>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Analysis, By Region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607346"/>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60258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263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9" name="BPS Value 1"/>
          <p:cNvSpPr txBox="1"/>
          <p:nvPr/>
        </p:nvSpPr>
        <p:spPr>
          <a:xfrm>
            <a:off x="6305550" y="15882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197361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19688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189264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3" name="BPS Value 2"/>
          <p:cNvSpPr txBox="1"/>
          <p:nvPr/>
        </p:nvSpPr>
        <p:spPr>
          <a:xfrm>
            <a:off x="6305550" y="195456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551045" y="249112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4712970" y="24863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4855845" y="24101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27" name="BPS Value 3"/>
          <p:cNvSpPr txBox="1"/>
          <p:nvPr/>
        </p:nvSpPr>
        <p:spPr>
          <a:xfrm>
            <a:off x="6305550" y="24720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551045" y="310743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310267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4855845" y="302647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1" name="BPS Value 4"/>
          <p:cNvSpPr txBox="1"/>
          <p:nvPr/>
        </p:nvSpPr>
        <p:spPr>
          <a:xfrm>
            <a:off x="6305550" y="308838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551045" y="3800587"/>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7958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4855845" y="37196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5"/>
          <p:cNvSpPr txBox="1"/>
          <p:nvPr/>
        </p:nvSpPr>
        <p:spPr>
          <a:xfrm>
            <a:off x="6305550" y="378153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FMI Legend Chip"/>
          <p:cNvSpPr/>
          <p:nvPr/>
        </p:nvSpPr>
        <p:spPr>
          <a:xfrm>
            <a:off x="4551045" y="465157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64681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4855845" y="457061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9" name="BPS Value 6"/>
          <p:cNvSpPr txBox="1"/>
          <p:nvPr/>
        </p:nvSpPr>
        <p:spPr>
          <a:xfrm>
            <a:off x="6305550" y="463252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2" name="Rectangle 4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
            </a:r>
          </a:p>
        </p:txBody>
      </p:sp>
      <p:sp>
        <p:nvSpPr>
          <p:cNvPr id="45" name="Rounded Rectangle 4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
            </a:r>
          </a:p>
        </p:txBody>
      </p:sp>
      <p:sp>
        <p:nvSpPr>
          <p:cNvPr id="46" name="Rounded Rectangle 4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333863" y="3121818"/>
            <a:ext cx="343793" cy="500062"/>
          </a:xfrm>
          <a:prstGeom prst="rect">
            <a:avLst/>
          </a:prstGeom>
        </p:spPr>
      </p:pic>
      <p:pic>
        <p:nvPicPr>
          <p:cNvPr id="49" name="Picture 48" descr="7_911_605E5C.png"/>
          <p:cNvPicPr>
            <a:picLocks noChangeAspect="1"/>
          </p:cNvPicPr>
          <p:nvPr/>
        </p:nvPicPr>
        <p:blipFill>
          <a:blip r:embed="rId6"/>
          <a:stretch>
            <a:fillRect/>
          </a:stretch>
        </p:blipFill>
        <p:spPr>
          <a:xfrm>
            <a:off x="1317398" y="5897562"/>
            <a:ext cx="1594300" cy="482599"/>
          </a:xfrm>
          <a:prstGeom prst="rect">
            <a:avLst/>
          </a:prstGeom>
        </p:spPr>
      </p:pic>
      <p:pic>
        <p:nvPicPr>
          <p:cNvPr id="50" name="Picture 49" descr="13_192_605E5C.png"/>
          <p:cNvPicPr>
            <a:picLocks noChangeAspect="1"/>
          </p:cNvPicPr>
          <p:nvPr/>
        </p:nvPicPr>
        <p:blipFill>
          <a:blip r:embed="rId7"/>
          <a:stretch>
            <a:fillRect/>
          </a:stretch>
        </p:blipFill>
        <p:spPr>
          <a:xfrm>
            <a:off x="5209041" y="5897562"/>
            <a:ext cx="1878689" cy="482599"/>
          </a:xfrm>
          <a:prstGeom prst="rect">
            <a:avLst/>
          </a:prstGeom>
        </p:spPr>
      </p:pic>
      <p:pic>
        <p:nvPicPr>
          <p:cNvPr id="51" name="Picture 50" descr="5_2__605E5C.png"/>
          <p:cNvPicPr>
            <a:picLocks noChangeAspect="1"/>
          </p:cNvPicPr>
          <p:nvPr/>
        </p:nvPicPr>
        <p:blipFill>
          <a:blip r:embed="rId8"/>
          <a:stretch>
            <a:fillRect/>
          </a:stretch>
        </p:blipFill>
        <p:spPr>
          <a:xfrm>
            <a:off x="9465355" y="5897562"/>
            <a:ext cx="1309912" cy="482599"/>
          </a:xfrm>
          <a:prstGeom prst="rect">
            <a:avLst/>
          </a:prstGeom>
        </p:spPr>
      </p:pic>
      <p:pic>
        <p:nvPicPr>
          <p:cNvPr id="52" name="Picture 51" descr="lock.png"/>
          <p:cNvPicPr>
            <a:picLocks noChangeAspect="1"/>
          </p:cNvPicPr>
          <p:nvPr/>
        </p:nvPicPr>
        <p:blipFill>
          <a:blip r:embed="rId5"/>
          <a:stretch>
            <a:fillRect/>
          </a:stretch>
        </p:blipFill>
        <p:spPr>
          <a:xfrm>
            <a:off x="5914657" y="5893409"/>
            <a:ext cx="337498" cy="490906"/>
          </a:xfrm>
          <a:prstGeom prst="rect">
            <a:avLst/>
          </a:prstGeom>
        </p:spPr>
      </p:pic>
      <p:sp>
        <p:nvSpPr>
          <p:cNvPr id="53" name="TextBox 52"/>
          <p:cNvSpPr txBox="1"/>
          <p:nvPr/>
        </p:nvSpPr>
        <p:spPr>
          <a:xfrm>
            <a:off x="7239000" y="1400175"/>
            <a:ext cx="3680917" cy="194310"/>
          </a:xfrm>
          <a:prstGeom prst="rect">
            <a:avLst/>
          </a:prstGeom>
          <a:noFill/>
        </p:spPr>
        <p:txBody>
          <a:bodyPr wrap="none" lIns="0" rIns="0" tIns="0" bIns="0">
            <a:spAutoFit/>
          </a:bodyPr>
          <a:lstStyle/>
          <a:p>
            <a:r>
              <a:rPr sz="1150" b="0">
                <a:solidFill>
                  <a:srgbClr val="2E2E2E"/>
                </a:solidFill>
                <a:latin typeface="Calibri"/>
              </a:rPr>
              <a:t>East Asia hair styling products market is projected to register</a:t>
            </a:r>
          </a:p>
        </p:txBody>
      </p:sp>
      <p:pic>
        <p:nvPicPr>
          <p:cNvPr id="54" name="Picture 53" descr="lock.png"/>
          <p:cNvPicPr>
            <a:picLocks noChangeAspect="1"/>
          </p:cNvPicPr>
          <p:nvPr/>
        </p:nvPicPr>
        <p:blipFill>
          <a:blip r:embed="rId5"/>
          <a:stretch>
            <a:fillRect/>
          </a:stretch>
        </p:blipFill>
        <p:spPr>
          <a:xfrm>
            <a:off x="10869071" y="1389951"/>
            <a:ext cx="134549" cy="195707"/>
          </a:xfrm>
          <a:prstGeom prst="rect">
            <a:avLst/>
          </a:prstGeom>
        </p:spPr>
      </p:pic>
      <p:sp>
        <p:nvSpPr>
          <p:cNvPr id="55" name="TextBox 54"/>
          <p:cNvSpPr txBox="1"/>
          <p:nvPr/>
        </p:nvSpPr>
        <p:spPr>
          <a:xfrm>
            <a:off x="11044181"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56" name="TextBox 55"/>
          <p:cNvSpPr txBox="1"/>
          <p:nvPr/>
        </p:nvSpPr>
        <p:spPr>
          <a:xfrm>
            <a:off x="7239000" y="1575435"/>
            <a:ext cx="4563529" cy="194310"/>
          </a:xfrm>
          <a:prstGeom prst="rect">
            <a:avLst/>
          </a:prstGeom>
          <a:noFill/>
        </p:spPr>
        <p:txBody>
          <a:bodyPr wrap="none" lIns="0" rIns="0" tIns="0" bIns="0">
            <a:spAutoFit/>
          </a:bodyPr>
          <a:lstStyle/>
          <a:p>
            <a:r>
              <a:rPr sz="1150" b="0">
                <a:solidFill>
                  <a:srgbClr val="2E2E2E"/>
                </a:solidFill>
                <a:latin typeface="Calibri"/>
              </a:rPr>
              <a:t>volume than North America in 2036. Among hair styling products by region,</a:t>
            </a:r>
          </a:p>
        </p:txBody>
      </p:sp>
      <p:sp>
        <p:nvSpPr>
          <p:cNvPr id="57" name="TextBox 56"/>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8" name="Picture 57" descr="lock.png"/>
          <p:cNvPicPr>
            <a:picLocks noChangeAspect="1"/>
          </p:cNvPicPr>
          <p:nvPr/>
        </p:nvPicPr>
        <p:blipFill>
          <a:blip r:embed="rId5"/>
          <a:stretch>
            <a:fillRect/>
          </a:stretch>
        </p:blipFill>
        <p:spPr>
          <a:xfrm>
            <a:off x="11002588" y="1740471"/>
            <a:ext cx="134549" cy="195707"/>
          </a:xfrm>
          <a:prstGeom prst="rect">
            <a:avLst/>
          </a:prstGeom>
        </p:spPr>
      </p:pic>
      <p:sp>
        <p:nvSpPr>
          <p:cNvPr id="59" name="TextBox 58"/>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60" name="TextBox 59"/>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61" name="TextBox 60"/>
          <p:cNvSpPr txBox="1"/>
          <p:nvPr/>
        </p:nvSpPr>
        <p:spPr>
          <a:xfrm>
            <a:off x="7239000" y="2153793"/>
            <a:ext cx="4443686" cy="194310"/>
          </a:xfrm>
          <a:prstGeom prst="rect">
            <a:avLst/>
          </a:prstGeom>
          <a:noFill/>
        </p:spPr>
        <p:txBody>
          <a:bodyPr wrap="none" lIns="0" rIns="0" tIns="0" bIns="0">
            <a:spAutoFit/>
          </a:bodyPr>
          <a:lstStyle/>
          <a:p>
            <a:r>
              <a:rPr sz="1150" b="0">
                <a:solidFill>
                  <a:srgbClr val="2E2E2E"/>
                </a:solidFill>
                <a:latin typeface="Calibri"/>
              </a:rPr>
              <a:t>In terms of volume share by region, East Asia is expected to dominate the</a:t>
            </a:r>
          </a:p>
        </p:txBody>
      </p:sp>
      <p:sp>
        <p:nvSpPr>
          <p:cNvPr id="62" name="TextBox 61"/>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3" name="Picture 62" descr="lock.png"/>
          <p:cNvPicPr>
            <a:picLocks noChangeAspect="1"/>
          </p:cNvPicPr>
          <p:nvPr/>
        </p:nvPicPr>
        <p:blipFill>
          <a:blip r:embed="rId5"/>
          <a:stretch>
            <a:fillRect/>
          </a:stretch>
        </p:blipFill>
        <p:spPr>
          <a:xfrm>
            <a:off x="8106708" y="2318829"/>
            <a:ext cx="134549" cy="195707"/>
          </a:xfrm>
          <a:prstGeom prst="rect">
            <a:avLst/>
          </a:prstGeom>
        </p:spPr>
      </p:pic>
      <p:sp>
        <p:nvSpPr>
          <p:cNvPr id="64" name="TextBox 63"/>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9676961" y="2318829"/>
            <a:ext cx="134549" cy="195707"/>
          </a:xfrm>
          <a:prstGeom prst="rect">
            <a:avLst/>
          </a:prstGeom>
        </p:spPr>
      </p:pic>
      <p:sp>
        <p:nvSpPr>
          <p:cNvPr id="66" name="TextBox 65"/>
          <p:cNvSpPr txBox="1"/>
          <p:nvPr/>
        </p:nvSpPr>
        <p:spPr>
          <a:xfrm>
            <a:off x="9852070" y="2329053"/>
            <a:ext cx="1851049" cy="194310"/>
          </a:xfrm>
          <a:prstGeom prst="rect">
            <a:avLst/>
          </a:prstGeom>
          <a:noFill/>
        </p:spPr>
        <p:txBody>
          <a:bodyPr wrap="none" lIns="0" rIns="0" tIns="0" bIns="0">
            <a:spAutoFit/>
          </a:bodyPr>
          <a:lstStyle/>
          <a:p>
            <a:r>
              <a:rPr sz="1150" b="0">
                <a:solidFill>
                  <a:srgbClr val="2E2E2E"/>
                </a:solidFill>
                <a:latin typeface="Calibri"/>
              </a:rPr>
              <a:t>share by 2036. North America</a:t>
            </a:r>
          </a:p>
        </p:txBody>
      </p:sp>
      <p:sp>
        <p:nvSpPr>
          <p:cNvPr id="67" name="TextBox 66"/>
          <p:cNvSpPr txBox="1"/>
          <p:nvPr/>
        </p:nvSpPr>
        <p:spPr>
          <a:xfrm>
            <a:off x="7239000" y="2504313"/>
            <a:ext cx="1178706" cy="194310"/>
          </a:xfrm>
          <a:prstGeom prst="rect">
            <a:avLst/>
          </a:prstGeom>
          <a:noFill/>
        </p:spPr>
        <p:txBody>
          <a:bodyPr wrap="none" lIns="0" rIns="0" tIns="0" bIns="0">
            <a:spAutoFit/>
          </a:bodyPr>
          <a:lstStyle/>
          <a:p>
            <a:r>
              <a:rPr sz="1150" b="0">
                <a:solidFill>
                  <a:srgbClr val="2E2E2E"/>
                </a:solidFill>
                <a:latin typeface="Calibri"/>
              </a:rPr>
              <a:t>is expected to lose</a:t>
            </a:r>
          </a:p>
        </p:txBody>
      </p:sp>
      <p:pic>
        <p:nvPicPr>
          <p:cNvPr id="68" name="Picture 67" descr="lock.png"/>
          <p:cNvPicPr>
            <a:picLocks noChangeAspect="1"/>
          </p:cNvPicPr>
          <p:nvPr/>
        </p:nvPicPr>
        <p:blipFill>
          <a:blip r:embed="rId5"/>
          <a:stretch>
            <a:fillRect/>
          </a:stretch>
        </p:blipFill>
        <p:spPr>
          <a:xfrm>
            <a:off x="8366860" y="2494089"/>
            <a:ext cx="134549" cy="195707"/>
          </a:xfrm>
          <a:prstGeom prst="rect">
            <a:avLst/>
          </a:prstGeom>
        </p:spPr>
      </p:pic>
      <p:sp>
        <p:nvSpPr>
          <p:cNvPr id="69" name="TextBox 68"/>
          <p:cNvSpPr txBox="1"/>
          <p:nvPr/>
        </p:nvSpPr>
        <p:spPr>
          <a:xfrm>
            <a:off x="8541969" y="250431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70" name="Picture 69" descr="lock.png"/>
          <p:cNvPicPr>
            <a:picLocks noChangeAspect="1"/>
          </p:cNvPicPr>
          <p:nvPr/>
        </p:nvPicPr>
        <p:blipFill>
          <a:blip r:embed="rId5"/>
          <a:stretch>
            <a:fillRect/>
          </a:stretch>
        </p:blipFill>
        <p:spPr>
          <a:xfrm>
            <a:off x="11129474" y="2494089"/>
            <a:ext cx="134549" cy="195707"/>
          </a:xfrm>
          <a:prstGeom prst="rect">
            <a:avLst/>
          </a:prstGeom>
        </p:spPr>
      </p:pic>
      <p:sp>
        <p:nvSpPr>
          <p:cNvPr id="71" name="TextBox 70"/>
          <p:cNvSpPr txBox="1"/>
          <p:nvPr/>
        </p:nvSpPr>
        <p:spPr>
          <a:xfrm>
            <a:off x="11304583" y="2504313"/>
            <a:ext cx="403671"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72" name="TextBox 71"/>
          <p:cNvSpPr txBox="1"/>
          <p:nvPr/>
        </p:nvSpPr>
        <p:spPr>
          <a:xfrm>
            <a:off x="7239000" y="2679573"/>
            <a:ext cx="585663" cy="194310"/>
          </a:xfrm>
          <a:prstGeom prst="rect">
            <a:avLst/>
          </a:prstGeom>
          <a:noFill/>
        </p:spPr>
        <p:txBody>
          <a:bodyPr wrap="none" lIns="0" rIns="0" tIns="0" bIns="0">
            <a:spAutoFit/>
          </a:bodyPr>
          <a:lstStyle/>
          <a:p>
            <a:r>
              <a:rPr sz="1150" b="0">
                <a:solidFill>
                  <a:srgbClr val="2E2E2E"/>
                </a:solidFill>
                <a:latin typeface="Calibri"/>
              </a:rPr>
              <a:t>by 2036.</a:t>
            </a:r>
          </a:p>
        </p:txBody>
      </p:sp>
      <p:sp>
        <p:nvSpPr>
          <p:cNvPr id="73"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58887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5841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0791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9" name="BPS Value 1"/>
          <p:cNvSpPr txBox="1"/>
          <p:nvPr/>
        </p:nvSpPr>
        <p:spPr>
          <a:xfrm>
            <a:off x="6305550" y="156982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188388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18791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180291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3" name="BPS Value 2"/>
          <p:cNvSpPr txBox="1"/>
          <p:nvPr/>
        </p:nvSpPr>
        <p:spPr>
          <a:xfrm>
            <a:off x="6305550" y="186483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551045" y="2277469"/>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27270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4855845" y="219650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27" name="BPS Value 3"/>
          <p:cNvSpPr txBox="1"/>
          <p:nvPr/>
        </p:nvSpPr>
        <p:spPr>
          <a:xfrm>
            <a:off x="6305550" y="225841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551045" y="281094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280618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4855845" y="272998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4"/>
          <p:cNvSpPr txBox="1"/>
          <p:nvPr/>
        </p:nvSpPr>
        <p:spPr>
          <a:xfrm>
            <a:off x="6305550" y="27918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551045" y="358401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57924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4855845" y="350304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5" name="BPS Value 5"/>
          <p:cNvSpPr txBox="1"/>
          <p:nvPr/>
        </p:nvSpPr>
        <p:spPr>
          <a:xfrm>
            <a:off x="6305550" y="356496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FMI Legend Chip"/>
          <p:cNvSpPr/>
          <p:nvPr/>
        </p:nvSpPr>
        <p:spPr>
          <a:xfrm>
            <a:off x="4551045" y="458909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5843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4855845" y="450812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9" name="BPS Value 6"/>
          <p:cNvSpPr txBox="1"/>
          <p:nvPr/>
        </p:nvSpPr>
        <p:spPr>
          <a:xfrm>
            <a:off x="6305550" y="457004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2" name="Rectangle 41"/>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5" name="Rounded Rectangle 44"/>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6" name="Rounded Rectangle 45"/>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7" name="TextBox 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8" name="Picture 47" descr="lock.png"/>
          <p:cNvPicPr>
            <a:picLocks noChangeAspect="1"/>
          </p:cNvPicPr>
          <p:nvPr/>
        </p:nvPicPr>
        <p:blipFill>
          <a:blip r:embed="rId5"/>
          <a:stretch>
            <a:fillRect/>
          </a:stretch>
        </p:blipFill>
        <p:spPr>
          <a:xfrm>
            <a:off x="2333863" y="3121818"/>
            <a:ext cx="343793" cy="500062"/>
          </a:xfrm>
          <a:prstGeom prst="rect">
            <a:avLst/>
          </a:prstGeom>
        </p:spPr>
      </p:pic>
      <p:pic>
        <p:nvPicPr>
          <p:cNvPr id="49" name="Picture 48" descr="16_106_605E5C.png"/>
          <p:cNvPicPr>
            <a:picLocks noChangeAspect="1"/>
          </p:cNvPicPr>
          <p:nvPr/>
        </p:nvPicPr>
        <p:blipFill>
          <a:blip r:embed="rId6"/>
          <a:stretch>
            <a:fillRect/>
          </a:stretch>
        </p:blipFill>
        <p:spPr>
          <a:xfrm>
            <a:off x="1175203" y="5897562"/>
            <a:ext cx="1878689" cy="482599"/>
          </a:xfrm>
          <a:prstGeom prst="rect">
            <a:avLst/>
          </a:prstGeom>
        </p:spPr>
      </p:pic>
      <p:pic>
        <p:nvPicPr>
          <p:cNvPr id="50" name="Picture 49" descr="30_687_605E5C.png"/>
          <p:cNvPicPr>
            <a:picLocks noChangeAspect="1"/>
          </p:cNvPicPr>
          <p:nvPr/>
        </p:nvPicPr>
        <p:blipFill>
          <a:blip r:embed="rId7"/>
          <a:stretch>
            <a:fillRect/>
          </a:stretch>
        </p:blipFill>
        <p:spPr>
          <a:xfrm>
            <a:off x="5209041" y="5897562"/>
            <a:ext cx="1878689" cy="482599"/>
          </a:xfrm>
          <a:prstGeom prst="rect">
            <a:avLst/>
          </a:prstGeom>
        </p:spPr>
      </p:pic>
      <p:pic>
        <p:nvPicPr>
          <p:cNvPr id="51" name="Picture 50" descr="6_7__605E5C.png"/>
          <p:cNvPicPr>
            <a:picLocks noChangeAspect="1"/>
          </p:cNvPicPr>
          <p:nvPr/>
        </p:nvPicPr>
        <p:blipFill>
          <a:blip r:embed="rId8"/>
          <a:stretch>
            <a:fillRect/>
          </a:stretch>
        </p:blipFill>
        <p:spPr>
          <a:xfrm>
            <a:off x="9465355" y="5897562"/>
            <a:ext cx="1309912" cy="482599"/>
          </a:xfrm>
          <a:prstGeom prst="rect">
            <a:avLst/>
          </a:prstGeom>
        </p:spPr>
      </p:pic>
      <p:pic>
        <p:nvPicPr>
          <p:cNvPr id="52" name="Picture 51" descr="lock.png"/>
          <p:cNvPicPr>
            <a:picLocks noChangeAspect="1"/>
          </p:cNvPicPr>
          <p:nvPr/>
        </p:nvPicPr>
        <p:blipFill>
          <a:blip r:embed="rId5"/>
          <a:stretch>
            <a:fillRect/>
          </a:stretch>
        </p:blipFill>
        <p:spPr>
          <a:xfrm>
            <a:off x="5914657" y="5893409"/>
            <a:ext cx="337498" cy="490906"/>
          </a:xfrm>
          <a:prstGeom prst="rect">
            <a:avLst/>
          </a:prstGeom>
        </p:spPr>
      </p:pic>
      <p:sp>
        <p:nvSpPr>
          <p:cNvPr id="53" name="TextBox 52"/>
          <p:cNvSpPr txBox="1"/>
          <p:nvPr/>
        </p:nvSpPr>
        <p:spPr>
          <a:xfrm>
            <a:off x="7239000" y="1400175"/>
            <a:ext cx="4027251" cy="194310"/>
          </a:xfrm>
          <a:prstGeom prst="rect">
            <a:avLst/>
          </a:prstGeom>
          <a:noFill/>
        </p:spPr>
        <p:txBody>
          <a:bodyPr wrap="none" lIns="0" rIns="0" tIns="0" bIns="0">
            <a:spAutoFit/>
          </a:bodyPr>
          <a:lstStyle/>
          <a:p>
            <a:r>
              <a:rPr sz="1150" b="0">
                <a:solidFill>
                  <a:srgbClr val="2E2E2E"/>
                </a:solidFill>
                <a:latin typeface="Calibri"/>
              </a:rPr>
              <a:t>North America hair styling products market is projected to register</a:t>
            </a:r>
          </a:p>
        </p:txBody>
      </p:sp>
      <p:pic>
        <p:nvPicPr>
          <p:cNvPr id="54" name="Picture 53" descr="lock.png"/>
          <p:cNvPicPr>
            <a:picLocks noChangeAspect="1"/>
          </p:cNvPicPr>
          <p:nvPr/>
        </p:nvPicPr>
        <p:blipFill>
          <a:blip r:embed="rId5"/>
          <a:stretch>
            <a:fillRect/>
          </a:stretch>
        </p:blipFill>
        <p:spPr>
          <a:xfrm>
            <a:off x="11215405" y="1389951"/>
            <a:ext cx="134549" cy="195707"/>
          </a:xfrm>
          <a:prstGeom prst="rect">
            <a:avLst/>
          </a:prstGeom>
        </p:spPr>
      </p:pic>
      <p:sp>
        <p:nvSpPr>
          <p:cNvPr id="55" name="TextBox 54"/>
          <p:cNvSpPr txBox="1"/>
          <p:nvPr/>
        </p:nvSpPr>
        <p:spPr>
          <a:xfrm>
            <a:off x="11390515"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6" name="TextBox 55"/>
          <p:cNvSpPr txBox="1"/>
          <p:nvPr/>
        </p:nvSpPr>
        <p:spPr>
          <a:xfrm>
            <a:off x="7239000" y="1575435"/>
            <a:ext cx="4506157" cy="194310"/>
          </a:xfrm>
          <a:prstGeom prst="rect">
            <a:avLst/>
          </a:prstGeom>
          <a:noFill/>
        </p:spPr>
        <p:txBody>
          <a:bodyPr wrap="none" lIns="0" rIns="0" tIns="0" bIns="0">
            <a:spAutoFit/>
          </a:bodyPr>
          <a:lstStyle/>
          <a:p>
            <a:r>
              <a:rPr sz="1150" b="0">
                <a:solidFill>
                  <a:srgbClr val="2E2E2E"/>
                </a:solidFill>
                <a:latin typeface="Calibri"/>
              </a:rPr>
              <a:t>higher value than East Asia in 2036. Among hair styling products by region,</a:t>
            </a:r>
          </a:p>
        </p:txBody>
      </p:sp>
      <p:sp>
        <p:nvSpPr>
          <p:cNvPr id="57" name="TextBox 56"/>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8" name="Picture 57" descr="lock.png"/>
          <p:cNvPicPr>
            <a:picLocks noChangeAspect="1"/>
          </p:cNvPicPr>
          <p:nvPr/>
        </p:nvPicPr>
        <p:blipFill>
          <a:blip r:embed="rId5"/>
          <a:stretch>
            <a:fillRect/>
          </a:stretch>
        </p:blipFill>
        <p:spPr>
          <a:xfrm>
            <a:off x="11002588" y="1740471"/>
            <a:ext cx="134549" cy="195707"/>
          </a:xfrm>
          <a:prstGeom prst="rect">
            <a:avLst/>
          </a:prstGeom>
        </p:spPr>
      </p:pic>
      <p:sp>
        <p:nvSpPr>
          <p:cNvPr id="59" name="TextBox 58"/>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60" name="TextBox 59"/>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61" name="TextBox 60"/>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2" name="TextBox 61"/>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3" name="Picture 62" descr="lock.png"/>
          <p:cNvPicPr>
            <a:picLocks noChangeAspect="1"/>
          </p:cNvPicPr>
          <p:nvPr/>
        </p:nvPicPr>
        <p:blipFill>
          <a:blip r:embed="rId5"/>
          <a:stretch>
            <a:fillRect/>
          </a:stretch>
        </p:blipFill>
        <p:spPr>
          <a:xfrm>
            <a:off x="8106708" y="2318829"/>
            <a:ext cx="134549" cy="195707"/>
          </a:xfrm>
          <a:prstGeom prst="rect">
            <a:avLst/>
          </a:prstGeom>
        </p:spPr>
      </p:pic>
      <p:sp>
        <p:nvSpPr>
          <p:cNvPr id="64" name="TextBox 63"/>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9676961" y="2318829"/>
            <a:ext cx="134549" cy="195707"/>
          </a:xfrm>
          <a:prstGeom prst="rect">
            <a:avLst/>
          </a:prstGeom>
        </p:spPr>
      </p:pic>
      <p:sp>
        <p:nvSpPr>
          <p:cNvPr id="66" name="TextBox 65"/>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Share Analysis, By Region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(Mn Units)</a:t>
            </a:r>
          </a:p>
        </p:txBody>
      </p:sp>
      <p:graphicFrame>
        <p:nvGraphicFramePr>
          <p:cNvPr id="13" name="Table 12"/>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46995" y="2080450"/>
            <a:ext cx="366712" cy="533400"/>
          </a:xfrm>
          <a:prstGeom prst="rect">
            <a:avLst/>
          </a:prstGeom>
        </p:spPr>
      </p:pic>
      <p:sp>
        <p:nvSpPr>
          <p:cNvPr id="21" name="TextBox 20"/>
          <p:cNvSpPr txBox="1"/>
          <p:nvPr/>
        </p:nvSpPr>
        <p:spPr>
          <a:xfrm>
            <a:off x="276225" y="3971925"/>
            <a:ext cx="3680917" cy="194310"/>
          </a:xfrm>
          <a:prstGeom prst="rect">
            <a:avLst/>
          </a:prstGeom>
          <a:noFill/>
        </p:spPr>
        <p:txBody>
          <a:bodyPr wrap="none" lIns="0" rIns="0" tIns="0" bIns="0">
            <a:spAutoFit/>
          </a:bodyPr>
          <a:lstStyle/>
          <a:p>
            <a:r>
              <a:rPr sz="1150" b="0">
                <a:solidFill>
                  <a:srgbClr val="2E2E2E"/>
                </a:solidFill>
                <a:latin typeface="Calibri"/>
              </a:rPr>
              <a:t>East Asia hair styling products market is projected to register</a:t>
            </a:r>
          </a:p>
        </p:txBody>
      </p:sp>
      <p:pic>
        <p:nvPicPr>
          <p:cNvPr id="22" name="Picture 21" descr="lock.png"/>
          <p:cNvPicPr>
            <a:picLocks noChangeAspect="1"/>
          </p:cNvPicPr>
          <p:nvPr/>
        </p:nvPicPr>
        <p:blipFill>
          <a:blip r:embed="rId4"/>
          <a:stretch>
            <a:fillRect/>
          </a:stretch>
        </p:blipFill>
        <p:spPr>
          <a:xfrm>
            <a:off x="3906296" y="3961701"/>
            <a:ext cx="134549" cy="195707"/>
          </a:xfrm>
          <a:prstGeom prst="rect">
            <a:avLst/>
          </a:prstGeom>
        </p:spPr>
      </p:pic>
      <p:sp>
        <p:nvSpPr>
          <p:cNvPr id="23" name="TextBox 22"/>
          <p:cNvSpPr txBox="1"/>
          <p:nvPr/>
        </p:nvSpPr>
        <p:spPr>
          <a:xfrm>
            <a:off x="4081406" y="3971925"/>
            <a:ext cx="7635713"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hair styling products by region, South Asia &amp; Pacific is expected to witness</a:t>
            </a:r>
          </a:p>
        </p:txBody>
      </p:sp>
      <p:sp>
        <p:nvSpPr>
          <p:cNvPr id="24" name="TextBox 23"/>
          <p:cNvSpPr txBox="1"/>
          <p:nvPr/>
        </p:nvSpPr>
        <p:spPr>
          <a:xfrm>
            <a:off x="276225" y="4147185"/>
            <a:ext cx="1263979" cy="194310"/>
          </a:xfrm>
          <a:prstGeom prst="rect">
            <a:avLst/>
          </a:prstGeom>
          <a:noFill/>
        </p:spPr>
        <p:txBody>
          <a:bodyPr wrap="none" lIns="0" rIns="0" tIns="0" bIns="0">
            <a:spAutoFit/>
          </a:bodyPr>
          <a:lstStyle/>
          <a:p>
            <a:r>
              <a:rPr sz="1150" b="0">
                <a:solidFill>
                  <a:srgbClr val="2E2E2E"/>
                </a:solidFill>
                <a:latin typeface="Calibri"/>
              </a:rPr>
              <a:t>the highest CAGR of</a:t>
            </a:r>
          </a:p>
        </p:txBody>
      </p:sp>
      <p:pic>
        <p:nvPicPr>
          <p:cNvPr id="25" name="Picture 24" descr="lock.png"/>
          <p:cNvPicPr>
            <a:picLocks noChangeAspect="1"/>
          </p:cNvPicPr>
          <p:nvPr/>
        </p:nvPicPr>
        <p:blipFill>
          <a:blip r:embed="rId4"/>
          <a:stretch>
            <a:fillRect/>
          </a:stretch>
        </p:blipFill>
        <p:spPr>
          <a:xfrm>
            <a:off x="1489358" y="4136961"/>
            <a:ext cx="134549" cy="195707"/>
          </a:xfrm>
          <a:prstGeom prst="rect">
            <a:avLst/>
          </a:prstGeom>
        </p:spPr>
      </p:pic>
      <p:sp>
        <p:nvSpPr>
          <p:cNvPr id="26" name="TextBox 25"/>
          <p:cNvSpPr txBox="1"/>
          <p:nvPr/>
        </p:nvSpPr>
        <p:spPr>
          <a:xfrm>
            <a:off x="1664467"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5319131" cy="194310"/>
          </a:xfrm>
          <a:prstGeom prst="rect">
            <a:avLst/>
          </a:prstGeom>
          <a:noFill/>
        </p:spPr>
        <p:txBody>
          <a:bodyPr wrap="none" lIns="0" rIns="0" tIns="0" bIns="0">
            <a:spAutoFit/>
          </a:bodyPr>
          <a:lstStyle/>
          <a:p>
            <a:r>
              <a:rPr sz="1150" b="0">
                <a:solidFill>
                  <a:srgbClr val="2E2E2E"/>
                </a:solidFill>
                <a:latin typeface="Calibri"/>
              </a:rPr>
              <a:t>In terms of volume share by region, East Asia is expected to dominate the market, losing</a:t>
            </a:r>
          </a:p>
        </p:txBody>
      </p:sp>
      <p:pic>
        <p:nvPicPr>
          <p:cNvPr id="28" name="Picture 27" descr="lock.png"/>
          <p:cNvPicPr>
            <a:picLocks noChangeAspect="1"/>
          </p:cNvPicPr>
          <p:nvPr/>
        </p:nvPicPr>
        <p:blipFill>
          <a:blip r:embed="rId4"/>
          <a:stretch>
            <a:fillRect/>
          </a:stretch>
        </p:blipFill>
        <p:spPr>
          <a:xfrm>
            <a:off x="5544510" y="4364799"/>
            <a:ext cx="134549" cy="195707"/>
          </a:xfrm>
          <a:prstGeom prst="rect">
            <a:avLst/>
          </a:prstGeom>
        </p:spPr>
      </p:pic>
      <p:sp>
        <p:nvSpPr>
          <p:cNvPr id="29" name="TextBox 28"/>
          <p:cNvSpPr txBox="1"/>
          <p:nvPr/>
        </p:nvSpPr>
        <p:spPr>
          <a:xfrm>
            <a:off x="5719619"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7114762" y="4364799"/>
            <a:ext cx="134549" cy="195707"/>
          </a:xfrm>
          <a:prstGeom prst="rect">
            <a:avLst/>
          </a:prstGeom>
        </p:spPr>
      </p:pic>
      <p:sp>
        <p:nvSpPr>
          <p:cNvPr id="31" name="TextBox 30"/>
          <p:cNvSpPr txBox="1"/>
          <p:nvPr/>
        </p:nvSpPr>
        <p:spPr>
          <a:xfrm>
            <a:off x="7289871" y="4375022"/>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2" name="Picture 31" descr="lock.png"/>
          <p:cNvPicPr>
            <a:picLocks noChangeAspect="1"/>
          </p:cNvPicPr>
          <p:nvPr/>
        </p:nvPicPr>
        <p:blipFill>
          <a:blip r:embed="rId4"/>
          <a:stretch>
            <a:fillRect/>
          </a:stretch>
        </p:blipFill>
        <p:spPr>
          <a:xfrm>
            <a:off x="10225671" y="4364799"/>
            <a:ext cx="134549" cy="195707"/>
          </a:xfrm>
          <a:prstGeom prst="rect">
            <a:avLst/>
          </a:prstGeom>
        </p:spPr>
      </p:pic>
      <p:sp>
        <p:nvSpPr>
          <p:cNvPr id="33" name="TextBox 32"/>
          <p:cNvSpPr txBox="1"/>
          <p:nvPr/>
        </p:nvSpPr>
        <p:spPr>
          <a:xfrm>
            <a:off x="10400780" y="4375022"/>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34" name="TextBox 33"/>
          <p:cNvSpPr txBox="1"/>
          <p:nvPr/>
        </p:nvSpPr>
        <p:spPr>
          <a:xfrm>
            <a:off x="276225" y="4550282"/>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35" name="Picture 34" descr="lock.png"/>
          <p:cNvPicPr>
            <a:picLocks noChangeAspect="1"/>
          </p:cNvPicPr>
          <p:nvPr/>
        </p:nvPicPr>
        <p:blipFill>
          <a:blip r:embed="rId4"/>
          <a:stretch>
            <a:fillRect/>
          </a:stretch>
        </p:blipFill>
        <p:spPr>
          <a:xfrm>
            <a:off x="2076999" y="4540059"/>
            <a:ext cx="134549" cy="195707"/>
          </a:xfrm>
          <a:prstGeom prst="rect">
            <a:avLst/>
          </a:prstGeom>
        </p:spPr>
      </p:pic>
      <p:sp>
        <p:nvSpPr>
          <p:cNvPr id="36" name="TextBox 35"/>
          <p:cNvSpPr txBox="1"/>
          <p:nvPr/>
        </p:nvSpPr>
        <p:spPr>
          <a:xfrm>
            <a:off x="2252108"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3" name="Table 12"/>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46995" y="2080450"/>
            <a:ext cx="366712" cy="533400"/>
          </a:xfrm>
          <a:prstGeom prst="rect">
            <a:avLst/>
          </a:prstGeom>
        </p:spPr>
      </p:pic>
      <p:sp>
        <p:nvSpPr>
          <p:cNvPr id="21" name="TextBox 20"/>
          <p:cNvSpPr txBox="1"/>
          <p:nvPr/>
        </p:nvSpPr>
        <p:spPr>
          <a:xfrm>
            <a:off x="276225" y="3971925"/>
            <a:ext cx="4027251" cy="194310"/>
          </a:xfrm>
          <a:prstGeom prst="rect">
            <a:avLst/>
          </a:prstGeom>
          <a:noFill/>
        </p:spPr>
        <p:txBody>
          <a:bodyPr wrap="none" lIns="0" rIns="0" tIns="0" bIns="0">
            <a:spAutoFit/>
          </a:bodyPr>
          <a:lstStyle/>
          <a:p>
            <a:r>
              <a:rPr sz="1150" b="0">
                <a:solidFill>
                  <a:srgbClr val="2E2E2E"/>
                </a:solidFill>
                <a:latin typeface="Calibri"/>
              </a:rPr>
              <a:t>North America hair styling products market is projected to register</a:t>
            </a:r>
          </a:p>
        </p:txBody>
      </p:sp>
      <p:pic>
        <p:nvPicPr>
          <p:cNvPr id="22" name="Picture 21" descr="lock.png"/>
          <p:cNvPicPr>
            <a:picLocks noChangeAspect="1"/>
          </p:cNvPicPr>
          <p:nvPr/>
        </p:nvPicPr>
        <p:blipFill>
          <a:blip r:embed="rId4"/>
          <a:stretch>
            <a:fillRect/>
          </a:stretch>
        </p:blipFill>
        <p:spPr>
          <a:xfrm>
            <a:off x="4252630" y="3961701"/>
            <a:ext cx="134549" cy="195707"/>
          </a:xfrm>
          <a:prstGeom prst="rect">
            <a:avLst/>
          </a:prstGeom>
        </p:spPr>
      </p:pic>
      <p:sp>
        <p:nvSpPr>
          <p:cNvPr id="23" name="TextBox 22"/>
          <p:cNvSpPr txBox="1"/>
          <p:nvPr/>
        </p:nvSpPr>
        <p:spPr>
          <a:xfrm>
            <a:off x="4427740" y="3971925"/>
            <a:ext cx="7397205" cy="194310"/>
          </a:xfrm>
          <a:prstGeom prst="rect">
            <a:avLst/>
          </a:prstGeom>
          <a:noFill/>
        </p:spPr>
        <p:txBody>
          <a:bodyPr wrap="none" lIns="0" rIns="0" tIns="0" bIns="0">
            <a:spAutoFit/>
          </a:bodyPr>
          <a:lstStyle/>
          <a:p>
            <a:r>
              <a:rPr sz="1150" b="0">
                <a:solidFill>
                  <a:srgbClr val="2E2E2E"/>
                </a:solidFill>
                <a:latin typeface="Calibri"/>
              </a:rPr>
              <a:t>X higher value than East Asia in 2036. Among hair styling products by region, South Asia &amp; Pacific is expected to witness the</a:t>
            </a:r>
          </a:p>
        </p:txBody>
      </p:sp>
      <p:sp>
        <p:nvSpPr>
          <p:cNvPr id="24" name="TextBox 23"/>
          <p:cNvSpPr txBox="1"/>
          <p:nvPr/>
        </p:nvSpPr>
        <p:spPr>
          <a:xfrm>
            <a:off x="276225" y="414718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5" name="Picture 24" descr="lock.png"/>
          <p:cNvPicPr>
            <a:picLocks noChangeAspect="1"/>
          </p:cNvPicPr>
          <p:nvPr/>
        </p:nvPicPr>
        <p:blipFill>
          <a:blip r:embed="rId4"/>
          <a:stretch>
            <a:fillRect/>
          </a:stretch>
        </p:blipFill>
        <p:spPr>
          <a:xfrm>
            <a:off x="1257732" y="4136961"/>
            <a:ext cx="134549" cy="195707"/>
          </a:xfrm>
          <a:prstGeom prst="rect">
            <a:avLst/>
          </a:prstGeom>
        </p:spPr>
      </p:pic>
      <p:sp>
        <p:nvSpPr>
          <p:cNvPr id="26" name="TextBox 25"/>
          <p:cNvSpPr txBox="1"/>
          <p:nvPr/>
        </p:nvSpPr>
        <p:spPr>
          <a:xfrm>
            <a:off x="1432841"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8" name="Picture 27" descr="lock.png"/>
          <p:cNvPicPr>
            <a:picLocks noChangeAspect="1"/>
          </p:cNvPicPr>
          <p:nvPr/>
        </p:nvPicPr>
        <p:blipFill>
          <a:blip r:embed="rId4"/>
          <a:stretch>
            <a:fillRect/>
          </a:stretch>
        </p:blipFill>
        <p:spPr>
          <a:xfrm>
            <a:off x="5767043" y="4364799"/>
            <a:ext cx="134549" cy="195707"/>
          </a:xfrm>
          <a:prstGeom prst="rect">
            <a:avLst/>
          </a:prstGeom>
        </p:spPr>
      </p:pic>
      <p:sp>
        <p:nvSpPr>
          <p:cNvPr id="29" name="TextBox 28"/>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7337296" y="4364799"/>
            <a:ext cx="134549" cy="195707"/>
          </a:xfrm>
          <a:prstGeom prst="rect">
            <a:avLst/>
          </a:prstGeom>
        </p:spPr>
      </p:pic>
      <p:sp>
        <p:nvSpPr>
          <p:cNvPr id="31" name="TextBox 30"/>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(Mn Units)</a:t>
            </a:r>
          </a:p>
        </p:txBody>
      </p:sp>
      <p:graphicFrame>
        <p:nvGraphicFramePr>
          <p:cNvPr id="13" name="Chart 12"/>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6"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East Asia</a:t>
            </a:r>
          </a:p>
          <a:p>
            <a:pPr>
              <a:spcBef>
                <a:spcPts val="500"/>
              </a:spcBef>
            </a:pPr>
            <a:r>
              <a:rPr sz="900">
                <a:solidFill>
                  <a:srgbClr val="9E7E0A"/>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Europe</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9" name="Chart 18"/>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20" name="Rounded Rectangle 19"/>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2"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East Asia</a:t>
            </a:r>
          </a:p>
          <a:p>
            <a:pPr>
              <a:spcBef>
                <a:spcPts val="500"/>
              </a:spcBef>
            </a:pPr>
            <a:r>
              <a:rPr sz="900">
                <a:solidFill>
                  <a:srgbClr val="008189"/>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4" name="TextBox 23"/>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TextBox 24"/>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6" name="lockshield_13"/>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9"/>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3" name="Rectangle 12"/>
          <p:cNvSpPr/>
          <p:nvPr/>
        </p:nvSpPr>
        <p:spPr>
          <a:xfrm>
            <a:off x="238125" y="1266825"/>
            <a:ext cx="4402866"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4" name="Rectangle 13"/>
          <p:cNvSpPr/>
          <p:nvPr/>
        </p:nvSpPr>
        <p:spPr>
          <a:xfrm>
            <a:off x="4640991" y="1266825"/>
            <a:ext cx="3639514" cy="3125707"/>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5" name="Rectangle 14"/>
          <p:cNvSpPr/>
          <p:nvPr/>
        </p:nvSpPr>
        <p:spPr>
          <a:xfrm>
            <a:off x="4640991" y="4392532"/>
            <a:ext cx="3639514" cy="2179718"/>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16" name="Rectangle 15"/>
          <p:cNvSpPr/>
          <p:nvPr/>
        </p:nvSpPr>
        <p:spPr>
          <a:xfrm>
            <a:off x="8280505" y="1266825"/>
            <a:ext cx="2034373" cy="2075652"/>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7" name="Rectangle 16"/>
          <p:cNvSpPr/>
          <p:nvPr/>
        </p:nvSpPr>
        <p:spPr>
          <a:xfrm>
            <a:off x="10314878" y="1266825"/>
            <a:ext cx="1638997" cy="2075652"/>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8" name="Rectangle 17"/>
          <p:cNvSpPr/>
          <p:nvPr/>
        </p:nvSpPr>
        <p:spPr>
          <a:xfrm>
            <a:off x="8280505" y="3342477"/>
            <a:ext cx="1678094" cy="1750091"/>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South Korea</a:t>
            </a:r>
          </a:p>
          <a:p>
            <a:pPr algn="ctr"/>
            <a:r>
              <a:rPr sz="1100" b="0">
                <a:solidFill>
                  <a:srgbClr val="FFFFFF"/>
                </a:solidFill>
                <a:latin typeface="Calibri"/>
              </a:rPr>
              <a:t> </a:t>
            </a:r>
          </a:p>
        </p:txBody>
      </p:sp>
      <p:sp>
        <p:nvSpPr>
          <p:cNvPr id="19" name="Rectangle 18"/>
          <p:cNvSpPr/>
          <p:nvPr/>
        </p:nvSpPr>
        <p:spPr>
          <a:xfrm>
            <a:off x="8280505" y="5092568"/>
            <a:ext cx="1678094" cy="1479682"/>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ectangle 19"/>
          <p:cNvSpPr/>
          <p:nvPr/>
        </p:nvSpPr>
        <p:spPr>
          <a:xfrm>
            <a:off x="9958599" y="3342477"/>
            <a:ext cx="1995276" cy="1166424"/>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1" name="Rectangle 20"/>
          <p:cNvSpPr/>
          <p:nvPr/>
        </p:nvSpPr>
        <p:spPr>
          <a:xfrm>
            <a:off x="9958599" y="4508902"/>
            <a:ext cx="1995276" cy="1038338"/>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Australia</a:t>
            </a:r>
          </a:p>
          <a:p>
            <a:pPr algn="ctr"/>
            <a:r>
              <a:rPr sz="1100" b="0">
                <a:solidFill>
                  <a:srgbClr val="FFFFFF"/>
                </a:solidFill>
                <a:latin typeface="Calibri"/>
              </a:rPr>
              <a:t> </a:t>
            </a:r>
          </a:p>
        </p:txBody>
      </p:sp>
      <p:sp>
        <p:nvSpPr>
          <p:cNvPr id="22" name="Rectangle 21"/>
          <p:cNvSpPr/>
          <p:nvPr/>
        </p:nvSpPr>
        <p:spPr>
          <a:xfrm>
            <a:off x="9958599" y="5547240"/>
            <a:ext cx="1995276" cy="1025010"/>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2285119" y="3919537"/>
            <a:ext cx="308877" cy="449275"/>
          </a:xfrm>
          <a:prstGeom prst="rect">
            <a:avLst/>
          </a:prstGeom>
        </p:spPr>
      </p:pic>
      <p:pic>
        <p:nvPicPr>
          <p:cNvPr id="25" name="Picture 24" descr="lock.png"/>
          <p:cNvPicPr>
            <a:picLocks noChangeAspect="1"/>
          </p:cNvPicPr>
          <p:nvPr/>
        </p:nvPicPr>
        <p:blipFill>
          <a:blip r:embed="rId4"/>
          <a:stretch>
            <a:fillRect/>
          </a:stretch>
        </p:blipFill>
        <p:spPr>
          <a:xfrm>
            <a:off x="6306309" y="2829678"/>
            <a:ext cx="308877" cy="449275"/>
          </a:xfrm>
          <a:prstGeom prst="rect">
            <a:avLst/>
          </a:prstGeom>
        </p:spPr>
      </p:pic>
      <p:pic>
        <p:nvPicPr>
          <p:cNvPr id="26" name="Picture 25" descr="lock.png"/>
          <p:cNvPicPr>
            <a:picLocks noChangeAspect="1"/>
          </p:cNvPicPr>
          <p:nvPr/>
        </p:nvPicPr>
        <p:blipFill>
          <a:blip r:embed="rId4"/>
          <a:stretch>
            <a:fillRect/>
          </a:stretch>
        </p:blipFill>
        <p:spPr>
          <a:xfrm>
            <a:off x="6306309" y="5482391"/>
            <a:ext cx="308877" cy="449275"/>
          </a:xfrm>
          <a:prstGeom prst="rect">
            <a:avLst/>
          </a:prstGeom>
        </p:spPr>
      </p:pic>
      <p:pic>
        <p:nvPicPr>
          <p:cNvPr id="27" name="Picture 26" descr="lock.png"/>
          <p:cNvPicPr>
            <a:picLocks noChangeAspect="1"/>
          </p:cNvPicPr>
          <p:nvPr/>
        </p:nvPicPr>
        <p:blipFill>
          <a:blip r:embed="rId4"/>
          <a:stretch>
            <a:fillRect/>
          </a:stretch>
        </p:blipFill>
        <p:spPr>
          <a:xfrm>
            <a:off x="9143253" y="2304651"/>
            <a:ext cx="308877" cy="449275"/>
          </a:xfrm>
          <a:prstGeom prst="rect">
            <a:avLst/>
          </a:prstGeom>
        </p:spPr>
      </p:pic>
      <p:pic>
        <p:nvPicPr>
          <p:cNvPr id="28" name="Picture 27" descr="lock.png"/>
          <p:cNvPicPr>
            <a:picLocks noChangeAspect="1"/>
          </p:cNvPicPr>
          <p:nvPr/>
        </p:nvPicPr>
        <p:blipFill>
          <a:blip r:embed="rId4"/>
          <a:stretch>
            <a:fillRect/>
          </a:stretch>
        </p:blipFill>
        <p:spPr>
          <a:xfrm>
            <a:off x="10979937" y="2304651"/>
            <a:ext cx="308877" cy="449275"/>
          </a:xfrm>
          <a:prstGeom prst="rect">
            <a:avLst/>
          </a:prstGeom>
        </p:spPr>
      </p:pic>
      <p:pic>
        <p:nvPicPr>
          <p:cNvPr id="29" name="Picture 28" descr="lock.png"/>
          <p:cNvPicPr>
            <a:picLocks noChangeAspect="1"/>
          </p:cNvPicPr>
          <p:nvPr/>
        </p:nvPicPr>
        <p:blipFill>
          <a:blip r:embed="rId4"/>
          <a:stretch>
            <a:fillRect/>
          </a:stretch>
        </p:blipFill>
        <p:spPr>
          <a:xfrm>
            <a:off x="8965113" y="4217522"/>
            <a:ext cx="308877" cy="449275"/>
          </a:xfrm>
          <a:prstGeom prst="rect">
            <a:avLst/>
          </a:prstGeom>
        </p:spPr>
      </p:pic>
      <p:pic>
        <p:nvPicPr>
          <p:cNvPr id="30" name="Picture 29" descr="lock.png"/>
          <p:cNvPicPr>
            <a:picLocks noChangeAspect="1"/>
          </p:cNvPicPr>
          <p:nvPr/>
        </p:nvPicPr>
        <p:blipFill>
          <a:blip r:embed="rId4"/>
          <a:stretch>
            <a:fillRect/>
          </a:stretch>
        </p:blipFill>
        <p:spPr>
          <a:xfrm>
            <a:off x="8965113" y="5832409"/>
            <a:ext cx="308877" cy="449275"/>
          </a:xfrm>
          <a:prstGeom prst="rect">
            <a:avLst/>
          </a:prstGeom>
        </p:spPr>
      </p:pic>
      <p:pic>
        <p:nvPicPr>
          <p:cNvPr id="31" name="Picture 30" descr="lock.png"/>
          <p:cNvPicPr>
            <a:picLocks noChangeAspect="1"/>
          </p:cNvPicPr>
          <p:nvPr/>
        </p:nvPicPr>
        <p:blipFill>
          <a:blip r:embed="rId4"/>
          <a:stretch>
            <a:fillRect/>
          </a:stretch>
        </p:blipFill>
        <p:spPr>
          <a:xfrm>
            <a:off x="10801798" y="3925689"/>
            <a:ext cx="308877" cy="449275"/>
          </a:xfrm>
          <a:prstGeom prst="rect">
            <a:avLst/>
          </a:prstGeom>
        </p:spPr>
      </p:pic>
      <p:pic>
        <p:nvPicPr>
          <p:cNvPr id="32" name="Picture 31" descr="lock.png"/>
          <p:cNvPicPr>
            <a:picLocks noChangeAspect="1"/>
          </p:cNvPicPr>
          <p:nvPr/>
        </p:nvPicPr>
        <p:blipFill>
          <a:blip r:embed="rId4"/>
          <a:stretch>
            <a:fillRect/>
          </a:stretch>
        </p:blipFill>
        <p:spPr>
          <a:xfrm>
            <a:off x="10801798" y="5028071"/>
            <a:ext cx="308877" cy="449275"/>
          </a:xfrm>
          <a:prstGeom prst="rect">
            <a:avLst/>
          </a:prstGeom>
        </p:spPr>
      </p:pic>
      <p:pic>
        <p:nvPicPr>
          <p:cNvPr id="33" name="Picture 32" descr="lock.png"/>
          <p:cNvPicPr>
            <a:picLocks noChangeAspect="1"/>
          </p:cNvPicPr>
          <p:nvPr/>
        </p:nvPicPr>
        <p:blipFill>
          <a:blip r:embed="rId4"/>
          <a:stretch>
            <a:fillRect/>
          </a:stretch>
        </p:blipFill>
        <p:spPr>
          <a:xfrm>
            <a:off x="10801798" y="6059745"/>
            <a:ext cx="308877" cy="449275"/>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19653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30822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2994025"/>
            <a:ext cx="8458200" cy="28511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Hold Level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Finish</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Primary Styling Benefit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Hair Type Targeted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Technology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Format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Format,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Serums and Oils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Waxes, Clays, Pastes and Pomades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Sprays and Mists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Sticks and Balms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Format split shows how demand is distributed across product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4" name="Picture 63" descr="2_960_605E5C.png"/>
          <p:cNvPicPr>
            <a:picLocks noChangeAspect="1"/>
          </p:cNvPicPr>
          <p:nvPr/>
        </p:nvPicPr>
        <p:blipFill>
          <a:blip r:embed="rId4"/>
          <a:stretch>
            <a:fillRect/>
          </a:stretch>
        </p:blipFill>
        <p:spPr>
          <a:xfrm>
            <a:off x="2476330" y="2286582"/>
            <a:ext cx="1195728" cy="361950"/>
          </a:xfrm>
          <a:prstGeom prst="rect">
            <a:avLst/>
          </a:prstGeom>
        </p:spPr>
      </p:pic>
      <p:pic>
        <p:nvPicPr>
          <p:cNvPr id="65" name="Picture 64" descr="6_019_605E5C.png"/>
          <p:cNvPicPr>
            <a:picLocks noChangeAspect="1"/>
          </p:cNvPicPr>
          <p:nvPr/>
        </p:nvPicPr>
        <p:blipFill>
          <a:blip r:embed="rId5"/>
          <a:stretch>
            <a:fillRect/>
          </a:stretch>
        </p:blipFill>
        <p:spPr>
          <a:xfrm>
            <a:off x="2476330" y="2779432"/>
            <a:ext cx="1195728" cy="361950"/>
          </a:xfrm>
          <a:prstGeom prst="rect">
            <a:avLst/>
          </a:prstGeom>
        </p:spPr>
      </p:pic>
      <p:pic>
        <p:nvPicPr>
          <p:cNvPr id="66" name="Picture 65" descr="7_4__605E5C.png"/>
          <p:cNvPicPr>
            <a:picLocks noChangeAspect="1"/>
          </p:cNvPicPr>
          <p:nvPr/>
        </p:nvPicPr>
        <p:blipFill>
          <a:blip r:embed="rId6"/>
          <a:stretch>
            <a:fillRect/>
          </a:stretch>
        </p:blipFill>
        <p:spPr>
          <a:xfrm>
            <a:off x="2582976" y="3272281"/>
            <a:ext cx="982436" cy="361950"/>
          </a:xfrm>
          <a:prstGeom prst="rect">
            <a:avLst/>
          </a:prstGeom>
        </p:spPr>
      </p:pic>
      <p:pic>
        <p:nvPicPr>
          <p:cNvPr id="67" name="Picture 66" descr="2_814_605E5C.png"/>
          <p:cNvPicPr>
            <a:picLocks noChangeAspect="1"/>
          </p:cNvPicPr>
          <p:nvPr/>
        </p:nvPicPr>
        <p:blipFill>
          <a:blip r:embed="rId7"/>
          <a:stretch>
            <a:fillRect/>
          </a:stretch>
        </p:blipFill>
        <p:spPr>
          <a:xfrm>
            <a:off x="5005218" y="2286582"/>
            <a:ext cx="1195728" cy="361950"/>
          </a:xfrm>
          <a:prstGeom prst="rect">
            <a:avLst/>
          </a:prstGeom>
        </p:spPr>
      </p:pic>
      <p:pic>
        <p:nvPicPr>
          <p:cNvPr id="68" name="Picture 67" descr="5_168_605E5C.png"/>
          <p:cNvPicPr>
            <a:picLocks noChangeAspect="1"/>
          </p:cNvPicPr>
          <p:nvPr/>
        </p:nvPicPr>
        <p:blipFill>
          <a:blip r:embed="rId8"/>
          <a:stretch>
            <a:fillRect/>
          </a:stretch>
        </p:blipFill>
        <p:spPr>
          <a:xfrm>
            <a:off x="5005218" y="2779432"/>
            <a:ext cx="1195728" cy="361950"/>
          </a:xfrm>
          <a:prstGeom prst="rect">
            <a:avLst/>
          </a:prstGeom>
        </p:spPr>
      </p:pic>
      <p:pic>
        <p:nvPicPr>
          <p:cNvPr id="69" name="Picture 68" descr="6_3__605E5C.png"/>
          <p:cNvPicPr>
            <a:picLocks noChangeAspect="1"/>
          </p:cNvPicPr>
          <p:nvPr/>
        </p:nvPicPr>
        <p:blipFill>
          <a:blip r:embed="rId9"/>
          <a:stretch>
            <a:fillRect/>
          </a:stretch>
        </p:blipFill>
        <p:spPr>
          <a:xfrm>
            <a:off x="5111864" y="3272281"/>
            <a:ext cx="982436" cy="361950"/>
          </a:xfrm>
          <a:prstGeom prst="rect">
            <a:avLst/>
          </a:prstGeom>
        </p:spPr>
      </p:pic>
      <p:pic>
        <p:nvPicPr>
          <p:cNvPr id="70" name="Picture 69" descr="2_129_605E5C.png"/>
          <p:cNvPicPr>
            <a:picLocks noChangeAspect="1"/>
          </p:cNvPicPr>
          <p:nvPr/>
        </p:nvPicPr>
        <p:blipFill>
          <a:blip r:embed="rId10"/>
          <a:stretch>
            <a:fillRect/>
          </a:stretch>
        </p:blipFill>
        <p:spPr>
          <a:xfrm>
            <a:off x="7534105" y="2286582"/>
            <a:ext cx="1195728" cy="361950"/>
          </a:xfrm>
          <a:prstGeom prst="rect">
            <a:avLst/>
          </a:prstGeom>
        </p:spPr>
      </p:pic>
      <p:pic>
        <p:nvPicPr>
          <p:cNvPr id="71" name="Picture 70" descr="3_330_605E5C.png"/>
          <p:cNvPicPr>
            <a:picLocks noChangeAspect="1"/>
          </p:cNvPicPr>
          <p:nvPr/>
        </p:nvPicPr>
        <p:blipFill>
          <a:blip r:embed="rId11"/>
          <a:stretch>
            <a:fillRect/>
          </a:stretch>
        </p:blipFill>
        <p:spPr>
          <a:xfrm>
            <a:off x="7534105" y="2779432"/>
            <a:ext cx="1195728" cy="361950"/>
          </a:xfrm>
          <a:prstGeom prst="rect">
            <a:avLst/>
          </a:prstGeom>
        </p:spPr>
      </p:pic>
      <p:pic>
        <p:nvPicPr>
          <p:cNvPr id="72" name="Picture 71" descr="4_6__605E5C.png"/>
          <p:cNvPicPr>
            <a:picLocks noChangeAspect="1"/>
          </p:cNvPicPr>
          <p:nvPr/>
        </p:nvPicPr>
        <p:blipFill>
          <a:blip r:embed="rId12"/>
          <a:stretch>
            <a:fillRect/>
          </a:stretch>
        </p:blipFill>
        <p:spPr>
          <a:xfrm>
            <a:off x="7640751" y="3272281"/>
            <a:ext cx="982436" cy="361950"/>
          </a:xfrm>
          <a:prstGeom prst="rect">
            <a:avLst/>
          </a:prstGeom>
        </p:spPr>
      </p:pic>
      <p:pic>
        <p:nvPicPr>
          <p:cNvPr id="73" name="Picture 72" descr="2_071_605E5C.png"/>
          <p:cNvPicPr>
            <a:picLocks noChangeAspect="1"/>
          </p:cNvPicPr>
          <p:nvPr/>
        </p:nvPicPr>
        <p:blipFill>
          <a:blip r:embed="rId13"/>
          <a:stretch>
            <a:fillRect/>
          </a:stretch>
        </p:blipFill>
        <p:spPr>
          <a:xfrm>
            <a:off x="10062992" y="2286582"/>
            <a:ext cx="1195728" cy="361950"/>
          </a:xfrm>
          <a:prstGeom prst="rect">
            <a:avLst/>
          </a:prstGeom>
        </p:spPr>
      </p:pic>
      <p:pic>
        <p:nvPicPr>
          <p:cNvPr id="74" name="Picture 73" descr="4_598_605E5C.png"/>
          <p:cNvPicPr>
            <a:picLocks noChangeAspect="1"/>
          </p:cNvPicPr>
          <p:nvPr/>
        </p:nvPicPr>
        <p:blipFill>
          <a:blip r:embed="rId14"/>
          <a:stretch>
            <a:fillRect/>
          </a:stretch>
        </p:blipFill>
        <p:spPr>
          <a:xfrm>
            <a:off x="10062992" y="2779432"/>
            <a:ext cx="1195728" cy="361950"/>
          </a:xfrm>
          <a:prstGeom prst="rect">
            <a:avLst/>
          </a:prstGeom>
        </p:spPr>
      </p:pic>
      <p:pic>
        <p:nvPicPr>
          <p:cNvPr id="75" name="Picture 74" descr="8_3__605E5C.png"/>
          <p:cNvPicPr>
            <a:picLocks noChangeAspect="1"/>
          </p:cNvPicPr>
          <p:nvPr/>
        </p:nvPicPr>
        <p:blipFill>
          <a:blip r:embed="rId15"/>
          <a:stretch>
            <a:fillRect/>
          </a:stretch>
        </p:blipFill>
        <p:spPr>
          <a:xfrm>
            <a:off x="10169638" y="3272281"/>
            <a:ext cx="982436" cy="361950"/>
          </a:xfrm>
          <a:prstGeom prst="rect">
            <a:avLst/>
          </a:prstGeom>
        </p:spPr>
      </p:pic>
      <p:pic>
        <p:nvPicPr>
          <p:cNvPr id="76" name="Picture 75" descr="lock.png"/>
          <p:cNvPicPr>
            <a:picLocks noChangeAspect="1"/>
          </p:cNvPicPr>
          <p:nvPr/>
        </p:nvPicPr>
        <p:blipFill>
          <a:blip r:embed="rId16"/>
          <a:stretch>
            <a:fillRect/>
          </a:stretch>
        </p:blipFill>
        <p:spPr>
          <a:xfrm>
            <a:off x="2980848"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5509737"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8038624" y="2827057"/>
            <a:ext cx="183356" cy="266700"/>
          </a:xfrm>
          <a:prstGeom prst="rect">
            <a:avLst/>
          </a:prstGeom>
        </p:spPr>
      </p:pic>
      <p:pic>
        <p:nvPicPr>
          <p:cNvPr id="79" name="Picture 78" descr="lock.png"/>
          <p:cNvPicPr>
            <a:picLocks noChangeAspect="1"/>
          </p:cNvPicPr>
          <p:nvPr/>
        </p:nvPicPr>
        <p:blipFill>
          <a:blip r:embed="rId16"/>
          <a:stretch>
            <a:fillRect/>
          </a:stretch>
        </p:blipFill>
        <p:spPr>
          <a:xfrm>
            <a:off x="10567511" y="2827057"/>
            <a:ext cx="183356" cy="266700"/>
          </a:xfrm>
          <a:prstGeom prst="rect">
            <a:avLst/>
          </a:prstGeom>
        </p:spPr>
      </p:pic>
      <p:sp>
        <p:nvSpPr>
          <p:cNvPr id="80" name="TextBox 79"/>
          <p:cNvSpPr txBox="1"/>
          <p:nvPr/>
        </p:nvSpPr>
        <p:spPr>
          <a:xfrm>
            <a:off x="485775" y="4229437"/>
            <a:ext cx="2775247" cy="186689"/>
          </a:xfrm>
          <a:prstGeom prst="rect">
            <a:avLst/>
          </a:prstGeom>
          <a:noFill/>
        </p:spPr>
        <p:txBody>
          <a:bodyPr wrap="none" lIns="0" rIns="0" tIns="0" bIns="0">
            <a:spAutoFit/>
          </a:bodyPr>
          <a:lstStyle/>
          <a:p>
            <a:r>
              <a:rPr sz="1100" b="0">
                <a:solidFill>
                  <a:srgbClr val="2E2E2E"/>
                </a:solidFill>
                <a:latin typeface="Calibri"/>
              </a:rPr>
              <a:t>Among hair styling products by product format,</a:t>
            </a:r>
          </a:p>
        </p:txBody>
      </p:sp>
      <p:sp>
        <p:nvSpPr>
          <p:cNvPr id="81" name="TextBox 80"/>
          <p:cNvSpPr txBox="1"/>
          <p:nvPr/>
        </p:nvSpPr>
        <p:spPr>
          <a:xfrm>
            <a:off x="485775" y="4397077"/>
            <a:ext cx="2813174" cy="186689"/>
          </a:xfrm>
          <a:prstGeom prst="rect">
            <a:avLst/>
          </a:prstGeom>
          <a:noFill/>
        </p:spPr>
        <p:txBody>
          <a:bodyPr wrap="none" lIns="0" rIns="0" tIns="0" bIns="0">
            <a:spAutoFit/>
          </a:bodyPr>
          <a:lstStyle/>
          <a:p>
            <a:r>
              <a:rPr sz="1100" b="0">
                <a:solidFill>
                  <a:srgbClr val="2E2E2E"/>
                </a:solidFill>
                <a:latin typeface="Calibri"/>
              </a:rPr>
              <a:t>sticks and balms segment is expected to witness</a:t>
            </a:r>
          </a:p>
        </p:txBody>
      </p:sp>
      <p:sp>
        <p:nvSpPr>
          <p:cNvPr id="82" name="TextBox 81"/>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83" name="Picture 82" descr="lock.png"/>
          <p:cNvPicPr>
            <a:picLocks noChangeAspect="1"/>
          </p:cNvPicPr>
          <p:nvPr/>
        </p:nvPicPr>
        <p:blipFill>
          <a:blip r:embed="rId16"/>
          <a:stretch>
            <a:fillRect/>
          </a:stretch>
        </p:blipFill>
        <p:spPr>
          <a:xfrm>
            <a:off x="1646163" y="4554938"/>
            <a:ext cx="128699" cy="187198"/>
          </a:xfrm>
          <a:prstGeom prst="rect">
            <a:avLst/>
          </a:prstGeom>
        </p:spPr>
      </p:pic>
      <p:sp>
        <p:nvSpPr>
          <p:cNvPr id="84" name="TextBox 83"/>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85" name="TextBox 84"/>
          <p:cNvSpPr txBox="1"/>
          <p:nvPr/>
        </p:nvSpPr>
        <p:spPr>
          <a:xfrm>
            <a:off x="485775" y="4732357"/>
            <a:ext cx="2704851" cy="186689"/>
          </a:xfrm>
          <a:prstGeom prst="rect">
            <a:avLst/>
          </a:prstGeom>
          <a:noFill/>
        </p:spPr>
        <p:txBody>
          <a:bodyPr wrap="none" lIns="0" rIns="0" tIns="0" bIns="0">
            <a:spAutoFit/>
          </a:bodyPr>
          <a:lstStyle/>
          <a:p>
            <a:r>
              <a:rPr sz="1100" b="0">
                <a:solidFill>
                  <a:srgbClr val="2E2E2E"/>
                </a:solidFill>
                <a:latin typeface="Calibri"/>
              </a:rPr>
              <a:t>In terms of value share by product format, the</a:t>
            </a:r>
          </a:p>
        </p:txBody>
      </p:sp>
      <p:sp>
        <p:nvSpPr>
          <p:cNvPr id="86" name="TextBox 85"/>
          <p:cNvSpPr txBox="1"/>
          <p:nvPr/>
        </p:nvSpPr>
        <p:spPr>
          <a:xfrm>
            <a:off x="485775" y="4899997"/>
            <a:ext cx="2705943" cy="186689"/>
          </a:xfrm>
          <a:prstGeom prst="rect">
            <a:avLst/>
          </a:prstGeom>
          <a:noFill/>
        </p:spPr>
        <p:txBody>
          <a:bodyPr wrap="none" lIns="0" rIns="0" tIns="0" bIns="0">
            <a:spAutoFit/>
          </a:bodyPr>
          <a:lstStyle/>
          <a:p>
            <a:r>
              <a:rPr sz="1100" b="0">
                <a:solidFill>
                  <a:srgbClr val="2E2E2E"/>
                </a:solidFill>
                <a:latin typeface="Calibri"/>
              </a:rPr>
              <a:t>styling serums and oils segment is expected to</a:t>
            </a:r>
          </a:p>
        </p:txBody>
      </p:sp>
      <p:sp>
        <p:nvSpPr>
          <p:cNvPr id="87" name="TextBox 86"/>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88" name="Picture 87" descr="lock.png"/>
          <p:cNvPicPr>
            <a:picLocks noChangeAspect="1"/>
          </p:cNvPicPr>
          <p:nvPr/>
        </p:nvPicPr>
        <p:blipFill>
          <a:blip r:embed="rId16"/>
          <a:stretch>
            <a:fillRect/>
          </a:stretch>
        </p:blipFill>
        <p:spPr>
          <a:xfrm>
            <a:off x="2194339" y="5057858"/>
            <a:ext cx="128699" cy="187198"/>
          </a:xfrm>
          <a:prstGeom prst="rect">
            <a:avLst/>
          </a:prstGeom>
        </p:spPr>
      </p:pic>
      <p:sp>
        <p:nvSpPr>
          <p:cNvPr id="89" name="TextBox 88"/>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90" name="TextBox 8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91" name="Picture 90" descr="lock.png"/>
          <p:cNvPicPr>
            <a:picLocks noChangeAspect="1"/>
          </p:cNvPicPr>
          <p:nvPr/>
        </p:nvPicPr>
        <p:blipFill>
          <a:blip r:embed="rId16"/>
          <a:stretch>
            <a:fillRect/>
          </a:stretch>
        </p:blipFill>
        <p:spPr>
          <a:xfrm>
            <a:off x="1330764" y="5225498"/>
            <a:ext cx="128699" cy="187198"/>
          </a:xfrm>
          <a:prstGeom prst="rect">
            <a:avLst/>
          </a:prstGeom>
        </p:spPr>
      </p:pic>
      <p:sp>
        <p:nvSpPr>
          <p:cNvPr id="92" name="TextBox 9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3" name="TextBox 92"/>
          <p:cNvSpPr txBox="1"/>
          <p:nvPr/>
        </p:nvSpPr>
        <p:spPr>
          <a:xfrm>
            <a:off x="485775" y="5453209"/>
            <a:ext cx="2741414" cy="186689"/>
          </a:xfrm>
          <a:prstGeom prst="rect">
            <a:avLst/>
          </a:prstGeom>
          <a:noFill/>
        </p:spPr>
        <p:txBody>
          <a:bodyPr wrap="none" lIns="0" rIns="0" tIns="0" bIns="0">
            <a:spAutoFit/>
          </a:bodyPr>
          <a:lstStyle/>
          <a:p>
            <a:r>
              <a:rPr sz="1100" b="0">
                <a:solidFill>
                  <a:srgbClr val="2E2E2E"/>
                </a:solidFill>
                <a:latin typeface="Calibri"/>
              </a:rPr>
              <a:t>Styling serums and oils segment is projected to</a:t>
            </a:r>
          </a:p>
        </p:txBody>
      </p:sp>
      <p:sp>
        <p:nvSpPr>
          <p:cNvPr id="94" name="TextBox 9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95" name="Picture 94" descr="lock.png"/>
          <p:cNvPicPr>
            <a:picLocks noChangeAspect="1"/>
          </p:cNvPicPr>
          <p:nvPr/>
        </p:nvPicPr>
        <p:blipFill>
          <a:blip r:embed="rId16"/>
          <a:stretch>
            <a:fillRect/>
          </a:stretch>
        </p:blipFill>
        <p:spPr>
          <a:xfrm>
            <a:off x="946316" y="5611070"/>
            <a:ext cx="128699" cy="187198"/>
          </a:xfrm>
          <a:prstGeom prst="rect">
            <a:avLst/>
          </a:prstGeom>
        </p:spPr>
      </p:pic>
      <p:sp>
        <p:nvSpPr>
          <p:cNvPr id="96" name="TextBox 95"/>
          <p:cNvSpPr txBox="1"/>
          <p:nvPr/>
        </p:nvSpPr>
        <p:spPr>
          <a:xfrm>
            <a:off x="1113812" y="5620849"/>
            <a:ext cx="1933227" cy="186689"/>
          </a:xfrm>
          <a:prstGeom prst="rect">
            <a:avLst/>
          </a:prstGeom>
          <a:noFill/>
        </p:spPr>
        <p:txBody>
          <a:bodyPr wrap="none" lIns="0" rIns="0" tIns="0" bIns="0">
            <a:spAutoFit/>
          </a:bodyPr>
          <a:lstStyle/>
          <a:p>
            <a:r>
              <a:rPr sz="1100" b="0">
                <a:solidFill>
                  <a:srgbClr val="2E2E2E"/>
                </a:solidFill>
                <a:latin typeface="Calibri"/>
              </a:rPr>
              <a:t>X higher value than waxes, clays,</a:t>
            </a:r>
          </a:p>
        </p:txBody>
      </p:sp>
      <p:sp>
        <p:nvSpPr>
          <p:cNvPr id="97" name="TextBox 96"/>
          <p:cNvSpPr txBox="1"/>
          <p:nvPr/>
        </p:nvSpPr>
        <p:spPr>
          <a:xfrm>
            <a:off x="485775" y="5788489"/>
            <a:ext cx="2253009" cy="186689"/>
          </a:xfrm>
          <a:prstGeom prst="rect">
            <a:avLst/>
          </a:prstGeom>
          <a:noFill/>
        </p:spPr>
        <p:txBody>
          <a:bodyPr wrap="none" lIns="0" rIns="0" tIns="0" bIns="0">
            <a:spAutoFit/>
          </a:bodyPr>
          <a:lstStyle/>
          <a:p>
            <a:r>
              <a:rPr sz="1100" b="0">
                <a:solidFill>
                  <a:srgbClr val="2E2E2E"/>
                </a:solidFill>
                <a:latin typeface="Calibri"/>
              </a:rPr>
              <a:t>pastes and pomades segment in 2036.</a:t>
            </a:r>
          </a:p>
        </p:txBody>
      </p:sp>
      <p:sp>
        <p:nvSpPr>
          <p:cNvPr id="98" name="TextBox 97"/>
          <p:cNvSpPr txBox="1"/>
          <p:nvPr/>
        </p:nvSpPr>
        <p:spPr>
          <a:xfrm>
            <a:off x="3838575" y="4229437"/>
            <a:ext cx="1549598" cy="186689"/>
          </a:xfrm>
          <a:prstGeom prst="rect">
            <a:avLst/>
          </a:prstGeom>
          <a:noFill/>
        </p:spPr>
        <p:txBody>
          <a:bodyPr wrap="none" lIns="0" rIns="0" tIns="0" bIns="0">
            <a:spAutoFit/>
          </a:bodyPr>
          <a:lstStyle/>
          <a:p>
            <a:r>
              <a:rPr sz="1100" b="0">
                <a:solidFill>
                  <a:srgbClr val="2E2E2E"/>
                </a:solidFill>
                <a:latin typeface="Calibri"/>
              </a:rPr>
              <a:t>● Styling Serums and Oils:</a:t>
            </a:r>
          </a:p>
        </p:txBody>
      </p:sp>
      <p:pic>
        <p:nvPicPr>
          <p:cNvPr id="99" name="Picture 98" descr="lock.png"/>
          <p:cNvPicPr>
            <a:picLocks noChangeAspect="1"/>
          </p:cNvPicPr>
          <p:nvPr/>
        </p:nvPicPr>
        <p:blipFill>
          <a:blip r:embed="rId16"/>
          <a:stretch>
            <a:fillRect/>
          </a:stretch>
        </p:blipFill>
        <p:spPr>
          <a:xfrm>
            <a:off x="5336225" y="4219658"/>
            <a:ext cx="128699" cy="187198"/>
          </a:xfrm>
          <a:prstGeom prst="rect">
            <a:avLst/>
          </a:prstGeom>
        </p:spPr>
      </p:pic>
      <p:sp>
        <p:nvSpPr>
          <p:cNvPr id="100" name="TextBox 99"/>
          <p:cNvSpPr txBox="1"/>
          <p:nvPr/>
        </p:nvSpPr>
        <p:spPr>
          <a:xfrm>
            <a:off x="550372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6"/>
          <a:stretch>
            <a:fillRect/>
          </a:stretch>
        </p:blipFill>
        <p:spPr>
          <a:xfrm>
            <a:off x="6363171" y="4219658"/>
            <a:ext cx="128699" cy="187198"/>
          </a:xfrm>
          <a:prstGeom prst="rect">
            <a:avLst/>
          </a:prstGeom>
        </p:spPr>
      </p:pic>
      <p:sp>
        <p:nvSpPr>
          <p:cNvPr id="102" name="TextBox 101"/>
          <p:cNvSpPr txBox="1"/>
          <p:nvPr/>
        </p:nvSpPr>
        <p:spPr>
          <a:xfrm>
            <a:off x="653066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3" name="TextBox 10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4" name="TextBox 103"/>
          <p:cNvSpPr txBox="1"/>
          <p:nvPr/>
        </p:nvSpPr>
        <p:spPr>
          <a:xfrm>
            <a:off x="3838575" y="4615009"/>
            <a:ext cx="2193800" cy="186689"/>
          </a:xfrm>
          <a:prstGeom prst="rect">
            <a:avLst/>
          </a:prstGeom>
          <a:noFill/>
        </p:spPr>
        <p:txBody>
          <a:bodyPr wrap="none" lIns="0" rIns="0" tIns="0" bIns="0">
            <a:spAutoFit/>
          </a:bodyPr>
          <a:lstStyle/>
          <a:p>
            <a:r>
              <a:rPr sz="1100" b="0">
                <a:solidFill>
                  <a:srgbClr val="2E2E2E"/>
                </a:solidFill>
                <a:latin typeface="Calibri"/>
              </a:rPr>
              <a:t>● Waxes, Clays, Pastes and Pomades:</a:t>
            </a:r>
          </a:p>
        </p:txBody>
      </p:sp>
      <p:pic>
        <p:nvPicPr>
          <p:cNvPr id="105" name="Picture 104" descr="lock.png"/>
          <p:cNvPicPr>
            <a:picLocks noChangeAspect="1"/>
          </p:cNvPicPr>
          <p:nvPr/>
        </p:nvPicPr>
        <p:blipFill>
          <a:blip r:embed="rId16"/>
          <a:stretch>
            <a:fillRect/>
          </a:stretch>
        </p:blipFill>
        <p:spPr>
          <a:xfrm>
            <a:off x="5980427" y="4605230"/>
            <a:ext cx="128699" cy="187198"/>
          </a:xfrm>
          <a:prstGeom prst="rect">
            <a:avLst/>
          </a:prstGeom>
        </p:spPr>
      </p:pic>
      <p:sp>
        <p:nvSpPr>
          <p:cNvPr id="106" name="TextBox 105"/>
          <p:cNvSpPr txBox="1"/>
          <p:nvPr/>
        </p:nvSpPr>
        <p:spPr>
          <a:xfrm>
            <a:off x="614792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7007373" y="4605230"/>
            <a:ext cx="128699" cy="187198"/>
          </a:xfrm>
          <a:prstGeom prst="rect">
            <a:avLst/>
          </a:prstGeom>
        </p:spPr>
      </p:pic>
      <p:sp>
        <p:nvSpPr>
          <p:cNvPr id="108" name="TextBox 107"/>
          <p:cNvSpPr txBox="1"/>
          <p:nvPr/>
        </p:nvSpPr>
        <p:spPr>
          <a:xfrm>
            <a:off x="7174869"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9" name="TextBox 108"/>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0" name="TextBox 109"/>
          <p:cNvSpPr txBox="1"/>
          <p:nvPr/>
        </p:nvSpPr>
        <p:spPr>
          <a:xfrm>
            <a:off x="3838575" y="5000581"/>
            <a:ext cx="1185341" cy="186689"/>
          </a:xfrm>
          <a:prstGeom prst="rect">
            <a:avLst/>
          </a:prstGeom>
          <a:noFill/>
        </p:spPr>
        <p:txBody>
          <a:bodyPr wrap="none" lIns="0" rIns="0" tIns="0" bIns="0">
            <a:spAutoFit/>
          </a:bodyPr>
          <a:lstStyle/>
          <a:p>
            <a:r>
              <a:rPr sz="1100" b="0">
                <a:solidFill>
                  <a:srgbClr val="2E2E2E"/>
                </a:solidFill>
                <a:latin typeface="Calibri"/>
              </a:rPr>
              <a:t>● Sprays and Mists:</a:t>
            </a:r>
          </a:p>
        </p:txBody>
      </p:sp>
      <p:pic>
        <p:nvPicPr>
          <p:cNvPr id="111" name="Picture 110" descr="lock.png"/>
          <p:cNvPicPr>
            <a:picLocks noChangeAspect="1"/>
          </p:cNvPicPr>
          <p:nvPr/>
        </p:nvPicPr>
        <p:blipFill>
          <a:blip r:embed="rId16"/>
          <a:stretch>
            <a:fillRect/>
          </a:stretch>
        </p:blipFill>
        <p:spPr>
          <a:xfrm>
            <a:off x="4971968" y="4990801"/>
            <a:ext cx="128699" cy="187198"/>
          </a:xfrm>
          <a:prstGeom prst="rect">
            <a:avLst/>
          </a:prstGeom>
        </p:spPr>
      </p:pic>
      <p:sp>
        <p:nvSpPr>
          <p:cNvPr id="112" name="TextBox 111"/>
          <p:cNvSpPr txBox="1"/>
          <p:nvPr/>
        </p:nvSpPr>
        <p:spPr>
          <a:xfrm>
            <a:off x="5139464"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6"/>
          <a:stretch>
            <a:fillRect/>
          </a:stretch>
        </p:blipFill>
        <p:spPr>
          <a:xfrm>
            <a:off x="5998914" y="4990801"/>
            <a:ext cx="128699" cy="187198"/>
          </a:xfrm>
          <a:prstGeom prst="rect">
            <a:avLst/>
          </a:prstGeom>
        </p:spPr>
      </p:pic>
      <p:sp>
        <p:nvSpPr>
          <p:cNvPr id="114" name="TextBox 113"/>
          <p:cNvSpPr txBox="1"/>
          <p:nvPr/>
        </p:nvSpPr>
        <p:spPr>
          <a:xfrm>
            <a:off x="6166410"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5" name="TextBox 114"/>
          <p:cNvSpPr txBox="1"/>
          <p:nvPr/>
        </p:nvSpPr>
        <p:spPr>
          <a:xfrm>
            <a:off x="3838575" y="5218513"/>
            <a:ext cx="1168424" cy="186689"/>
          </a:xfrm>
          <a:prstGeom prst="rect">
            <a:avLst/>
          </a:prstGeom>
          <a:noFill/>
        </p:spPr>
        <p:txBody>
          <a:bodyPr wrap="none" lIns="0" rIns="0" tIns="0" bIns="0">
            <a:spAutoFit/>
          </a:bodyPr>
          <a:lstStyle/>
          <a:p>
            <a:r>
              <a:rPr sz="1100" b="0">
                <a:solidFill>
                  <a:srgbClr val="2E2E2E"/>
                </a:solidFill>
                <a:latin typeface="Calibri"/>
              </a:rPr>
              <a:t>● Sticks and Balms:</a:t>
            </a:r>
          </a:p>
        </p:txBody>
      </p:sp>
      <p:pic>
        <p:nvPicPr>
          <p:cNvPr id="116" name="Picture 115" descr="lock.png"/>
          <p:cNvPicPr>
            <a:picLocks noChangeAspect="1"/>
          </p:cNvPicPr>
          <p:nvPr/>
        </p:nvPicPr>
        <p:blipFill>
          <a:blip r:embed="rId16"/>
          <a:stretch>
            <a:fillRect/>
          </a:stretch>
        </p:blipFill>
        <p:spPr>
          <a:xfrm>
            <a:off x="4955051" y="5208733"/>
            <a:ext cx="128699" cy="187198"/>
          </a:xfrm>
          <a:prstGeom prst="rect">
            <a:avLst/>
          </a:prstGeom>
        </p:spPr>
      </p:pic>
      <p:sp>
        <p:nvSpPr>
          <p:cNvPr id="117" name="TextBox 116"/>
          <p:cNvSpPr txBox="1"/>
          <p:nvPr/>
        </p:nvSpPr>
        <p:spPr>
          <a:xfrm>
            <a:off x="5122547"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6"/>
          <a:stretch>
            <a:fillRect/>
          </a:stretch>
        </p:blipFill>
        <p:spPr>
          <a:xfrm>
            <a:off x="5981997" y="5208733"/>
            <a:ext cx="128699" cy="187198"/>
          </a:xfrm>
          <a:prstGeom prst="rect">
            <a:avLst/>
          </a:prstGeom>
        </p:spPr>
      </p:pic>
      <p:sp>
        <p:nvSpPr>
          <p:cNvPr id="119" name="TextBox 118"/>
          <p:cNvSpPr txBox="1"/>
          <p:nvPr/>
        </p:nvSpPr>
        <p:spPr>
          <a:xfrm>
            <a:off x="6149493" y="521851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0" name="TextBox 119"/>
          <p:cNvSpPr txBox="1"/>
          <p:nvPr/>
        </p:nvSpPr>
        <p:spPr>
          <a:xfrm>
            <a:off x="8524875" y="5842641"/>
            <a:ext cx="3087028" cy="194310"/>
          </a:xfrm>
          <a:prstGeom prst="rect">
            <a:avLst/>
          </a:prstGeom>
          <a:noFill/>
        </p:spPr>
        <p:txBody>
          <a:bodyPr wrap="none" lIns="0" rIns="0" tIns="0" bIns="0">
            <a:spAutoFit/>
          </a:bodyPr>
          <a:lstStyle/>
          <a:p>
            <a:r>
              <a:rPr sz="1150" b="1">
                <a:solidFill>
                  <a:srgbClr val="0B2E4A"/>
                </a:solidFill>
                <a:latin typeface="Calibri"/>
              </a:rPr>
              <a:t>The Product Format segment is projected to grow</a:t>
            </a:r>
          </a:p>
        </p:txBody>
      </p:sp>
      <p:sp>
        <p:nvSpPr>
          <p:cNvPr id="121" name="TextBox 120"/>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22" name="Picture 121" descr="lock.png"/>
          <p:cNvPicPr>
            <a:picLocks noChangeAspect="1"/>
          </p:cNvPicPr>
          <p:nvPr/>
        </p:nvPicPr>
        <p:blipFill>
          <a:blip r:embed="rId16"/>
          <a:stretch>
            <a:fillRect/>
          </a:stretch>
        </p:blipFill>
        <p:spPr>
          <a:xfrm>
            <a:off x="9310118" y="6007677"/>
            <a:ext cx="134549" cy="195707"/>
          </a:xfrm>
          <a:prstGeom prst="rect">
            <a:avLst/>
          </a:prstGeom>
        </p:spPr>
      </p:pic>
      <p:sp>
        <p:nvSpPr>
          <p:cNvPr id="123" name="TextBox 122"/>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Format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Format,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Creams and Lotions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Powders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Gels and Jellies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Mousses and Foams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6" name="Oval 45"/>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1_894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3_753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7_1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1_596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3_309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7_6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1_500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2_612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5_7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1_143_605E5C.png"/>
          <p:cNvPicPr>
            <a:picLocks noChangeAspect="1"/>
          </p:cNvPicPr>
          <p:nvPr/>
        </p:nvPicPr>
        <p:blipFill>
          <a:blip r:embed="rId13"/>
          <a:stretch>
            <a:fillRect/>
          </a:stretch>
        </p:blipFill>
        <p:spPr>
          <a:xfrm>
            <a:off x="10062992" y="2286582"/>
            <a:ext cx="1195728" cy="361950"/>
          </a:xfrm>
          <a:prstGeom prst="rect">
            <a:avLst/>
          </a:prstGeom>
        </p:spPr>
      </p:pic>
      <p:pic>
        <p:nvPicPr>
          <p:cNvPr id="63" name="Picture 62" descr="1_898_605E5C.png"/>
          <p:cNvPicPr>
            <a:picLocks noChangeAspect="1"/>
          </p:cNvPicPr>
          <p:nvPr/>
        </p:nvPicPr>
        <p:blipFill>
          <a:blip r:embed="rId14"/>
          <a:stretch>
            <a:fillRect/>
          </a:stretch>
        </p:blipFill>
        <p:spPr>
          <a:xfrm>
            <a:off x="10062992" y="2779432"/>
            <a:ext cx="1195728" cy="361950"/>
          </a:xfrm>
          <a:prstGeom prst="rect">
            <a:avLst/>
          </a:prstGeom>
        </p:spPr>
      </p:pic>
      <p:pic>
        <p:nvPicPr>
          <p:cNvPr id="64" name="Picture 63" descr="5_2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1345505" cy="186689"/>
          </a:xfrm>
          <a:prstGeom prst="rect">
            <a:avLst/>
          </a:prstGeom>
          <a:noFill/>
        </p:spPr>
        <p:txBody>
          <a:bodyPr wrap="none" lIns="0" rIns="0" tIns="0" bIns="0">
            <a:spAutoFit/>
          </a:bodyPr>
          <a:lstStyle/>
          <a:p>
            <a:r>
              <a:rPr sz="1100" b="0">
                <a:solidFill>
                  <a:srgbClr val="2E2E2E"/>
                </a:solidFill>
                <a:latin typeface="Calibri"/>
              </a:rPr>
              <a:t>● Creams and Lotions:</a:t>
            </a:r>
          </a:p>
        </p:txBody>
      </p:sp>
      <p:pic>
        <p:nvPicPr>
          <p:cNvPr id="70" name="Picture 69" descr="lock.png"/>
          <p:cNvPicPr>
            <a:picLocks noChangeAspect="1"/>
          </p:cNvPicPr>
          <p:nvPr/>
        </p:nvPicPr>
        <p:blipFill>
          <a:blip r:embed="rId16"/>
          <a:stretch>
            <a:fillRect/>
          </a:stretch>
        </p:blipFill>
        <p:spPr>
          <a:xfrm>
            <a:off x="1779332" y="4219658"/>
            <a:ext cx="128699" cy="187198"/>
          </a:xfrm>
          <a:prstGeom prst="rect">
            <a:avLst/>
          </a:prstGeom>
        </p:spPr>
      </p:pic>
      <p:sp>
        <p:nvSpPr>
          <p:cNvPr id="71" name="TextBox 70"/>
          <p:cNvSpPr txBox="1"/>
          <p:nvPr/>
        </p:nvSpPr>
        <p:spPr>
          <a:xfrm>
            <a:off x="194682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2806278" y="4219658"/>
            <a:ext cx="128699" cy="187198"/>
          </a:xfrm>
          <a:prstGeom prst="rect">
            <a:avLst/>
          </a:prstGeom>
        </p:spPr>
      </p:pic>
      <p:sp>
        <p:nvSpPr>
          <p:cNvPr id="73" name="TextBox 72"/>
          <p:cNvSpPr txBox="1"/>
          <p:nvPr/>
        </p:nvSpPr>
        <p:spPr>
          <a:xfrm>
            <a:off x="2973773"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131316" cy="186689"/>
          </a:xfrm>
          <a:prstGeom prst="rect">
            <a:avLst/>
          </a:prstGeom>
          <a:noFill/>
        </p:spPr>
        <p:txBody>
          <a:bodyPr wrap="none" lIns="0" rIns="0" tIns="0" bIns="0">
            <a:spAutoFit/>
          </a:bodyPr>
          <a:lstStyle/>
          <a:p>
            <a:r>
              <a:rPr sz="1100" b="0">
                <a:solidFill>
                  <a:srgbClr val="2E2E2E"/>
                </a:solidFill>
                <a:latin typeface="Calibri"/>
              </a:rPr>
              <a:t>● Styling Powders:</a:t>
            </a:r>
          </a:p>
        </p:txBody>
      </p:sp>
      <p:pic>
        <p:nvPicPr>
          <p:cNvPr id="75" name="Picture 74" descr="lock.png"/>
          <p:cNvPicPr>
            <a:picLocks noChangeAspect="1"/>
          </p:cNvPicPr>
          <p:nvPr/>
        </p:nvPicPr>
        <p:blipFill>
          <a:blip r:embed="rId16"/>
          <a:stretch>
            <a:fillRect/>
          </a:stretch>
        </p:blipFill>
        <p:spPr>
          <a:xfrm>
            <a:off x="1565143" y="4437590"/>
            <a:ext cx="128699" cy="187198"/>
          </a:xfrm>
          <a:prstGeom prst="rect">
            <a:avLst/>
          </a:prstGeom>
        </p:spPr>
      </p:pic>
      <p:sp>
        <p:nvSpPr>
          <p:cNvPr id="76" name="TextBox 75"/>
          <p:cNvSpPr txBox="1"/>
          <p:nvPr/>
        </p:nvSpPr>
        <p:spPr>
          <a:xfrm>
            <a:off x="173263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2592089" y="4437590"/>
            <a:ext cx="128699" cy="187198"/>
          </a:xfrm>
          <a:prstGeom prst="rect">
            <a:avLst/>
          </a:prstGeom>
        </p:spPr>
      </p:pic>
      <p:sp>
        <p:nvSpPr>
          <p:cNvPr id="78" name="TextBox 77"/>
          <p:cNvSpPr txBox="1"/>
          <p:nvPr/>
        </p:nvSpPr>
        <p:spPr>
          <a:xfrm>
            <a:off x="275958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9" name="TextBox 78"/>
          <p:cNvSpPr txBox="1"/>
          <p:nvPr/>
        </p:nvSpPr>
        <p:spPr>
          <a:xfrm>
            <a:off x="485775" y="4665301"/>
            <a:ext cx="1085750" cy="186689"/>
          </a:xfrm>
          <a:prstGeom prst="rect">
            <a:avLst/>
          </a:prstGeom>
          <a:noFill/>
        </p:spPr>
        <p:txBody>
          <a:bodyPr wrap="none" lIns="0" rIns="0" tIns="0" bIns="0">
            <a:spAutoFit/>
          </a:bodyPr>
          <a:lstStyle/>
          <a:p>
            <a:r>
              <a:rPr sz="1100" b="0">
                <a:solidFill>
                  <a:srgbClr val="2E2E2E"/>
                </a:solidFill>
                <a:latin typeface="Calibri"/>
              </a:rPr>
              <a:t>● Gels and Jellies:</a:t>
            </a:r>
          </a:p>
        </p:txBody>
      </p:sp>
      <p:pic>
        <p:nvPicPr>
          <p:cNvPr id="80" name="Picture 79" descr="lock.png"/>
          <p:cNvPicPr>
            <a:picLocks noChangeAspect="1"/>
          </p:cNvPicPr>
          <p:nvPr/>
        </p:nvPicPr>
        <p:blipFill>
          <a:blip r:embed="rId16"/>
          <a:stretch>
            <a:fillRect/>
          </a:stretch>
        </p:blipFill>
        <p:spPr>
          <a:xfrm>
            <a:off x="1519577" y="4655522"/>
            <a:ext cx="128699" cy="187198"/>
          </a:xfrm>
          <a:prstGeom prst="rect">
            <a:avLst/>
          </a:prstGeom>
        </p:spPr>
      </p:pic>
      <p:sp>
        <p:nvSpPr>
          <p:cNvPr id="81" name="TextBox 80"/>
          <p:cNvSpPr txBox="1"/>
          <p:nvPr/>
        </p:nvSpPr>
        <p:spPr>
          <a:xfrm>
            <a:off x="168707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2546523" y="4655522"/>
            <a:ext cx="128699" cy="187198"/>
          </a:xfrm>
          <a:prstGeom prst="rect">
            <a:avLst/>
          </a:prstGeom>
        </p:spPr>
      </p:pic>
      <p:sp>
        <p:nvSpPr>
          <p:cNvPr id="83" name="TextBox 82"/>
          <p:cNvSpPr txBox="1"/>
          <p:nvPr/>
        </p:nvSpPr>
        <p:spPr>
          <a:xfrm>
            <a:off x="2714019"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377126" cy="186689"/>
          </a:xfrm>
          <a:prstGeom prst="rect">
            <a:avLst/>
          </a:prstGeom>
          <a:noFill/>
        </p:spPr>
        <p:txBody>
          <a:bodyPr wrap="none" lIns="0" rIns="0" tIns="0" bIns="0">
            <a:spAutoFit/>
          </a:bodyPr>
          <a:lstStyle/>
          <a:p>
            <a:r>
              <a:rPr sz="1100" b="0">
                <a:solidFill>
                  <a:srgbClr val="2E2E2E"/>
                </a:solidFill>
                <a:latin typeface="Calibri"/>
              </a:rPr>
              <a:t>● Mousses and Foams:</a:t>
            </a:r>
          </a:p>
        </p:txBody>
      </p:sp>
      <p:pic>
        <p:nvPicPr>
          <p:cNvPr id="85" name="Picture 84" descr="lock.png"/>
          <p:cNvPicPr>
            <a:picLocks noChangeAspect="1"/>
          </p:cNvPicPr>
          <p:nvPr/>
        </p:nvPicPr>
        <p:blipFill>
          <a:blip r:embed="rId16"/>
          <a:stretch>
            <a:fillRect/>
          </a:stretch>
        </p:blipFill>
        <p:spPr>
          <a:xfrm>
            <a:off x="1810953" y="4873454"/>
            <a:ext cx="128699" cy="187198"/>
          </a:xfrm>
          <a:prstGeom prst="rect">
            <a:avLst/>
          </a:prstGeom>
        </p:spPr>
      </p:pic>
      <p:sp>
        <p:nvSpPr>
          <p:cNvPr id="86" name="TextBox 85"/>
          <p:cNvSpPr txBox="1"/>
          <p:nvPr/>
        </p:nvSpPr>
        <p:spPr>
          <a:xfrm>
            <a:off x="1978448"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2837899" y="4873454"/>
            <a:ext cx="128699" cy="187198"/>
          </a:xfrm>
          <a:prstGeom prst="rect">
            <a:avLst/>
          </a:prstGeom>
        </p:spPr>
      </p:pic>
      <p:sp>
        <p:nvSpPr>
          <p:cNvPr id="88" name="TextBox 87"/>
          <p:cNvSpPr txBox="1"/>
          <p:nvPr/>
        </p:nvSpPr>
        <p:spPr>
          <a:xfrm>
            <a:off x="3005394"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Format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Format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Format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05542" cy="186689"/>
          </a:xfrm>
          <a:prstGeom prst="rect">
            <a:avLst/>
          </a:prstGeom>
          <a:noFill/>
        </p:spPr>
        <p:txBody>
          <a:bodyPr wrap="none" lIns="0" rIns="0" tIns="0" bIns="0">
            <a:spAutoFit/>
          </a:bodyPr>
          <a:lstStyle/>
          <a:p>
            <a:r>
              <a:rPr sz="1100" b="0">
                <a:solidFill>
                  <a:srgbClr val="2E2E2E"/>
                </a:solidFill>
                <a:latin typeface="Calibri"/>
              </a:rPr>
              <a:t>Styling serums and oils followed by waxes, clays, pastes and pomades are expected to be the two most attractive product format segments in the global hair styling products market in terms of value over</a:t>
            </a:r>
          </a:p>
        </p:txBody>
      </p:sp>
      <p:sp>
        <p:nvSpPr>
          <p:cNvPr id="21" name="TextBox 20"/>
          <p:cNvSpPr txBox="1"/>
          <p:nvPr/>
        </p:nvSpPr>
        <p:spPr>
          <a:xfrm>
            <a:off x="257175" y="5861685"/>
            <a:ext cx="6082737" cy="186689"/>
          </a:xfrm>
          <a:prstGeom prst="rect">
            <a:avLst/>
          </a:prstGeom>
          <a:noFill/>
        </p:spPr>
        <p:txBody>
          <a:bodyPr wrap="none" lIns="0" rIns="0" tIns="0" bIns="0">
            <a:spAutoFit/>
          </a:bodyPr>
          <a:lstStyle/>
          <a:p>
            <a:r>
              <a:rPr sz="1100" b="0">
                <a:solidFill>
                  <a:srgbClr val="2E2E2E"/>
                </a:solidFill>
                <a:latin typeface="Calibri"/>
              </a:rPr>
              <a:t>the forecast period. Styling serums and oils and waxes, clays, pastes and pomades exhibit a CAGR index of</a:t>
            </a:r>
          </a:p>
        </p:txBody>
      </p:sp>
      <p:pic>
        <p:nvPicPr>
          <p:cNvPr id="22" name="Picture 21" descr="lock.png"/>
          <p:cNvPicPr>
            <a:picLocks noChangeAspect="1"/>
          </p:cNvPicPr>
          <p:nvPr/>
        </p:nvPicPr>
        <p:blipFill>
          <a:blip r:embed="rId6"/>
          <a:stretch>
            <a:fillRect/>
          </a:stretch>
        </p:blipFill>
        <p:spPr>
          <a:xfrm>
            <a:off x="6287963" y="5851905"/>
            <a:ext cx="128699" cy="187198"/>
          </a:xfrm>
          <a:prstGeom prst="rect">
            <a:avLst/>
          </a:prstGeom>
        </p:spPr>
      </p:pic>
      <p:sp>
        <p:nvSpPr>
          <p:cNvPr id="23" name="TextBox 22"/>
          <p:cNvSpPr txBox="1"/>
          <p:nvPr/>
        </p:nvSpPr>
        <p:spPr>
          <a:xfrm>
            <a:off x="645545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6693354" y="5851905"/>
            <a:ext cx="128699" cy="187198"/>
          </a:xfrm>
          <a:prstGeom prst="rect">
            <a:avLst/>
          </a:prstGeom>
        </p:spPr>
      </p:pic>
      <p:sp>
        <p:nvSpPr>
          <p:cNvPr id="25" name="TextBox 24"/>
          <p:cNvSpPr txBox="1"/>
          <p:nvPr/>
        </p:nvSpPr>
        <p:spPr>
          <a:xfrm>
            <a:off x="686084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469823" y="5851905"/>
            <a:ext cx="128699" cy="187198"/>
          </a:xfrm>
          <a:prstGeom prst="rect">
            <a:avLst/>
          </a:prstGeom>
        </p:spPr>
      </p:pic>
      <p:sp>
        <p:nvSpPr>
          <p:cNvPr id="27" name="TextBox 26"/>
          <p:cNvSpPr txBox="1"/>
          <p:nvPr/>
        </p:nvSpPr>
        <p:spPr>
          <a:xfrm>
            <a:off x="863731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8875213" y="5851905"/>
            <a:ext cx="128699" cy="187198"/>
          </a:xfrm>
          <a:prstGeom prst="rect">
            <a:avLst/>
          </a:prstGeom>
        </p:spPr>
      </p:pic>
      <p:sp>
        <p:nvSpPr>
          <p:cNvPr id="29" name="TextBox 28"/>
          <p:cNvSpPr txBox="1"/>
          <p:nvPr/>
        </p:nvSpPr>
        <p:spPr>
          <a:xfrm>
            <a:off x="9042709" y="5861685"/>
            <a:ext cx="2458466" cy="186689"/>
          </a:xfrm>
          <a:prstGeom prst="rect">
            <a:avLst/>
          </a:prstGeom>
          <a:noFill/>
        </p:spPr>
        <p:txBody>
          <a:bodyPr wrap="none" lIns="0" rIns="0" tIns="0" bIns="0">
            <a:spAutoFit/>
          </a:bodyPr>
          <a:lstStyle/>
          <a:p>
            <a:r>
              <a:rPr sz="1100" b="0">
                <a:solidFill>
                  <a:srgbClr val="2E2E2E"/>
                </a:solidFill>
                <a:latin typeface="Calibri"/>
              </a:rPr>
              <a:t>respectively, against the segment average</a:t>
            </a:r>
          </a:p>
        </p:txBody>
      </p:sp>
      <p:sp>
        <p:nvSpPr>
          <p:cNvPr id="30" name="TextBox 29"/>
          <p:cNvSpPr txBox="1"/>
          <p:nvPr/>
        </p:nvSpPr>
        <p:spPr>
          <a:xfrm>
            <a:off x="257175" y="6029325"/>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31" name="Picture 30" descr="lock.png"/>
          <p:cNvPicPr>
            <a:picLocks noChangeAspect="1"/>
          </p:cNvPicPr>
          <p:nvPr/>
        </p:nvPicPr>
        <p:blipFill>
          <a:blip r:embed="rId6"/>
          <a:stretch>
            <a:fillRect/>
          </a:stretch>
        </p:blipFill>
        <p:spPr>
          <a:xfrm>
            <a:off x="397661" y="6019545"/>
            <a:ext cx="128699" cy="187198"/>
          </a:xfrm>
          <a:prstGeom prst="rect">
            <a:avLst/>
          </a:prstGeom>
        </p:spPr>
      </p:pic>
      <p:sp>
        <p:nvSpPr>
          <p:cNvPr id="32" name="TextBox 31"/>
          <p:cNvSpPr txBox="1"/>
          <p:nvPr/>
        </p:nvSpPr>
        <p:spPr>
          <a:xfrm>
            <a:off x="565157" y="6029325"/>
            <a:ext cx="11161323" cy="186689"/>
          </a:xfrm>
          <a:prstGeom prst="rect">
            <a:avLst/>
          </a:prstGeom>
          <a:noFill/>
        </p:spPr>
        <p:txBody>
          <a:bodyPr wrap="none" lIns="0" rIns="0" tIns="0" bIns="0">
            <a:spAutoFit/>
          </a:bodyPr>
          <a:lstStyle/>
          <a:p>
            <a:r>
              <a:rPr sz="1100" b="0">
                <a:solidFill>
                  <a:srgbClr val="2E2E2E"/>
                </a:solidFill>
                <a:latin typeface="Calibri"/>
              </a:rPr>
              <a:t>. The mousses and foams segment is expected to be less attractive as compared to other segments over the forecast period, owing to its lower CAGR and incremental opportunity. Bubbles right of</a:t>
            </a:r>
          </a:p>
        </p:txBody>
      </p:sp>
      <p:sp>
        <p:nvSpPr>
          <p:cNvPr id="33" name="TextBox 32"/>
          <p:cNvSpPr txBox="1"/>
          <p:nvPr/>
        </p:nvSpPr>
        <p:spPr>
          <a:xfrm>
            <a:off x="257175" y="6196965"/>
            <a:ext cx="3445899" cy="186689"/>
          </a:xfrm>
          <a:prstGeom prst="rect">
            <a:avLst/>
          </a:prstGeom>
          <a:noFill/>
        </p:spPr>
        <p:txBody>
          <a:bodyPr wrap="none" lIns="0" rIns="0" tIns="0" bIns="0">
            <a:spAutoFit/>
          </a:bodyPr>
          <a:lstStyle/>
          <a:p>
            <a:r>
              <a:rPr sz="1100" b="0">
                <a:solidFill>
                  <a:srgbClr val="2E2E2E"/>
                </a:solidFill>
                <a:latin typeface="Calibri"/>
              </a:rPr>
              <a:t>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Format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Sprays and Mists</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Mousses and Foams</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Gels and Jellies</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Creams and Lotions</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8"/>
          <a:stretch>
            <a:fillRect/>
          </a:stretch>
        </p:blipFill>
        <p:spPr>
          <a:xfrm>
            <a:off x="3094826" y="5123309"/>
            <a:ext cx="263506" cy="383281"/>
          </a:xfrm>
          <a:prstGeom prst="rect">
            <a:avLst/>
          </a:prstGeom>
        </p:spPr>
      </p:pic>
      <p:pic>
        <p:nvPicPr>
          <p:cNvPr id="27" name="Picture 26" descr="lock.png"/>
          <p:cNvPicPr>
            <a:picLocks noChangeAspect="1"/>
          </p:cNvPicPr>
          <p:nvPr/>
        </p:nvPicPr>
        <p:blipFill>
          <a:blip r:embed="rId8"/>
          <a:stretch>
            <a:fillRect/>
          </a:stretch>
        </p:blipFill>
        <p:spPr>
          <a:xfrm>
            <a:off x="9124151" y="5123309"/>
            <a:ext cx="263506" cy="383281"/>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Format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Waxes, Clays, Pastes and Pomades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Styling Powders</a:t>
            </a:r>
          </a:p>
        </p:txBody>
      </p:sp>
      <p:graphicFrame>
        <p:nvGraphicFramePr>
          <p:cNvPr id="15" name="Chart 14"/>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Styling Serums and Oils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Sticks and Balms</a:t>
            </a:r>
          </a:p>
        </p:txBody>
      </p:sp>
      <p:graphicFrame>
        <p:nvGraphicFramePr>
          <p:cNvPr id="21" name="Chart 20"/>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4151" y="5123309"/>
            <a:ext cx="263506" cy="383281"/>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Format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Format (US$ Mn)</a:t>
            </a:r>
          </a:p>
        </p:txBody>
      </p:sp>
      <p:graphicFrame>
        <p:nvGraphicFramePr>
          <p:cNvPr id="13" name="Table 12"/>
          <p:cNvGraphicFramePr>
            <a:graphicFrameLocks noGrp="1"/>
          </p:cNvGraphicFramePr>
          <p:nvPr/>
        </p:nvGraphicFramePr>
        <p:xfrm>
          <a:off x="152400" y="1238250"/>
          <a:ext cx="11887207" cy="2714626"/>
        </p:xfrm>
        <a:graphic>
          <a:graphicData uri="http://schemas.openxmlformats.org/drawingml/2006/table">
            <a:tbl>
              <a:tblPr>
                <a:tableStyleId>{5C22544A-7EE6-4342-B048-85BDC9FD1C3A}</a:tableStyleId>
              </a:tblPr>
              <a:tblGrid>
                <a:gridCol w="1744004"/>
                <a:gridCol w="596659"/>
                <a:gridCol w="596659"/>
                <a:gridCol w="596659"/>
                <a:gridCol w="596659"/>
                <a:gridCol w="596659"/>
                <a:gridCol w="596659"/>
                <a:gridCol w="596659"/>
                <a:gridCol w="596659"/>
                <a:gridCol w="596659"/>
                <a:gridCol w="596659"/>
                <a:gridCol w="596659"/>
                <a:gridCol w="596659"/>
                <a:gridCol w="596659"/>
                <a:gridCol w="596659"/>
                <a:gridCol w="596659"/>
                <a:gridCol w="596659"/>
                <a:gridCol w="596659"/>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Sprays and Mists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Aerosol Hairsprays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Non-aerosol Hairsprays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Texturizing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Sea-salt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Volumizing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Mousses and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Aerosol Mousses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Non-aerosol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Gels and Jellies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6781315" y="2451926"/>
            <a:ext cx="366712" cy="5334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Format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Format (US$ Mn)</a:t>
            </a:r>
          </a:p>
        </p:txBody>
      </p:sp>
      <p:graphicFrame>
        <p:nvGraphicFramePr>
          <p:cNvPr id="12" name="Table 11"/>
          <p:cNvGraphicFramePr>
            <a:graphicFrameLocks noGrp="1"/>
          </p:cNvGraphicFramePr>
          <p:nvPr/>
        </p:nvGraphicFramePr>
        <p:xfrm>
          <a:off x="152400" y="1238250"/>
          <a:ext cx="11887199" cy="1724028"/>
        </p:xfrm>
        <a:graphic>
          <a:graphicData uri="http://schemas.openxmlformats.org/drawingml/2006/table">
            <a:tbl>
              <a:tblPr>
                <a:tableStyleId>{5C22544A-7EE6-4342-B048-85BDC9FD1C3A}</a:tableStyleId>
              </a:tblPr>
              <a:tblGrid>
                <a:gridCol w="2239614"/>
                <a:gridCol w="567505"/>
                <a:gridCol w="567505"/>
                <a:gridCol w="567505"/>
                <a:gridCol w="567505"/>
                <a:gridCol w="567505"/>
                <a:gridCol w="567505"/>
                <a:gridCol w="567505"/>
                <a:gridCol w="567505"/>
                <a:gridCol w="567505"/>
                <a:gridCol w="567505"/>
                <a:gridCol w="567505"/>
                <a:gridCol w="567505"/>
                <a:gridCol w="567505"/>
                <a:gridCol w="567505"/>
                <a:gridCol w="567505"/>
                <a:gridCol w="567505"/>
                <a:gridCol w="567505"/>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Creams and Lotions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Waxes, Clays, Pastes and Pomades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Styling Powders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Styling Serums and Oils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Sticks and Balms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Format</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29116" y="1956627"/>
            <a:ext cx="366712" cy="533400"/>
          </a:xfrm>
          <a:prstGeom prst="rect">
            <a:avLst/>
          </a:prstGeom>
        </p:spPr>
      </p:pic>
      <p:sp>
        <p:nvSpPr>
          <p:cNvPr id="20" name="TextBox 19"/>
          <p:cNvSpPr txBox="1"/>
          <p:nvPr/>
        </p:nvSpPr>
        <p:spPr>
          <a:xfrm>
            <a:off x="276225" y="3724275"/>
            <a:ext cx="3351770" cy="194310"/>
          </a:xfrm>
          <a:prstGeom prst="rect">
            <a:avLst/>
          </a:prstGeom>
          <a:noFill/>
        </p:spPr>
        <p:txBody>
          <a:bodyPr wrap="none" lIns="0" rIns="0" tIns="0" bIns="0">
            <a:spAutoFit/>
          </a:bodyPr>
          <a:lstStyle/>
          <a:p>
            <a:r>
              <a:rPr sz="1150" b="0">
                <a:solidFill>
                  <a:srgbClr val="2E2E2E"/>
                </a:solidFill>
                <a:latin typeface="Calibri"/>
              </a:rPr>
              <a:t>Styling serums and oils segment is projected to register</a:t>
            </a:r>
          </a:p>
        </p:txBody>
      </p:sp>
      <p:pic>
        <p:nvPicPr>
          <p:cNvPr id="21" name="Picture 20" descr="lock.png"/>
          <p:cNvPicPr>
            <a:picLocks noChangeAspect="1"/>
          </p:cNvPicPr>
          <p:nvPr/>
        </p:nvPicPr>
        <p:blipFill>
          <a:blip r:embed="rId4"/>
          <a:stretch>
            <a:fillRect/>
          </a:stretch>
        </p:blipFill>
        <p:spPr>
          <a:xfrm>
            <a:off x="3577149" y="3714051"/>
            <a:ext cx="134549" cy="195707"/>
          </a:xfrm>
          <a:prstGeom prst="rect">
            <a:avLst/>
          </a:prstGeom>
        </p:spPr>
      </p:pic>
      <p:sp>
        <p:nvSpPr>
          <p:cNvPr id="22" name="TextBox 21"/>
          <p:cNvSpPr txBox="1"/>
          <p:nvPr/>
        </p:nvSpPr>
        <p:spPr>
          <a:xfrm>
            <a:off x="3752258" y="3724275"/>
            <a:ext cx="7796026" cy="194310"/>
          </a:xfrm>
          <a:prstGeom prst="rect">
            <a:avLst/>
          </a:prstGeom>
          <a:noFill/>
        </p:spPr>
        <p:txBody>
          <a:bodyPr wrap="none" lIns="0" rIns="0" tIns="0" bIns="0">
            <a:spAutoFit/>
          </a:bodyPr>
          <a:lstStyle/>
          <a:p>
            <a:r>
              <a:rPr sz="1150" b="0">
                <a:solidFill>
                  <a:srgbClr val="2E2E2E"/>
                </a:solidFill>
                <a:latin typeface="Calibri"/>
              </a:rPr>
              <a:t>X higher value than waxes, clays, pastes and pomades segment in 2036. Among hair styling products by product format, sticks and</a:t>
            </a:r>
          </a:p>
        </p:txBody>
      </p:sp>
      <p:sp>
        <p:nvSpPr>
          <p:cNvPr id="23" name="TextBox 22"/>
          <p:cNvSpPr txBox="1"/>
          <p:nvPr/>
        </p:nvSpPr>
        <p:spPr>
          <a:xfrm>
            <a:off x="276225" y="3899535"/>
            <a:ext cx="3543728" cy="194310"/>
          </a:xfrm>
          <a:prstGeom prst="rect">
            <a:avLst/>
          </a:prstGeom>
          <a:noFill/>
        </p:spPr>
        <p:txBody>
          <a:bodyPr wrap="none" lIns="0" rIns="0" tIns="0" bIns="0">
            <a:spAutoFit/>
          </a:bodyPr>
          <a:lstStyle/>
          <a:p>
            <a:r>
              <a:rPr sz="1150" b="0">
                <a:solidFill>
                  <a:srgbClr val="2E2E2E"/>
                </a:solidFill>
                <a:latin typeface="Calibri"/>
              </a:rPr>
              <a:t>balms segment is expected to witness the highest CAGR of</a:t>
            </a:r>
          </a:p>
        </p:txBody>
      </p:sp>
      <p:pic>
        <p:nvPicPr>
          <p:cNvPr id="24" name="Picture 23" descr="lock.png"/>
          <p:cNvPicPr>
            <a:picLocks noChangeAspect="1"/>
          </p:cNvPicPr>
          <p:nvPr/>
        </p:nvPicPr>
        <p:blipFill>
          <a:blip r:embed="rId4"/>
          <a:stretch>
            <a:fillRect/>
          </a:stretch>
        </p:blipFill>
        <p:spPr>
          <a:xfrm>
            <a:off x="3769107" y="3889311"/>
            <a:ext cx="134549" cy="195707"/>
          </a:xfrm>
          <a:prstGeom prst="rect">
            <a:avLst/>
          </a:prstGeom>
        </p:spPr>
      </p:pic>
      <p:sp>
        <p:nvSpPr>
          <p:cNvPr id="25" name="TextBox 24"/>
          <p:cNvSpPr txBox="1"/>
          <p:nvPr/>
        </p:nvSpPr>
        <p:spPr>
          <a:xfrm>
            <a:off x="3944216"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7400664" cy="194310"/>
          </a:xfrm>
          <a:prstGeom prst="rect">
            <a:avLst/>
          </a:prstGeom>
          <a:noFill/>
        </p:spPr>
        <p:txBody>
          <a:bodyPr wrap="none" lIns="0" rIns="0" tIns="0" bIns="0">
            <a:spAutoFit/>
          </a:bodyPr>
          <a:lstStyle/>
          <a:p>
            <a:r>
              <a:rPr sz="1150" b="0">
                <a:solidFill>
                  <a:srgbClr val="2E2E2E"/>
                </a:solidFill>
                <a:latin typeface="Calibri"/>
              </a:rPr>
              <a:t>In terms of value share by product format, the styling serums and oils segment is expected to dominate the market, gaining</a:t>
            </a:r>
          </a:p>
        </p:txBody>
      </p:sp>
      <p:pic>
        <p:nvPicPr>
          <p:cNvPr id="27" name="Picture 26" descr="lock.png"/>
          <p:cNvPicPr>
            <a:picLocks noChangeAspect="1"/>
          </p:cNvPicPr>
          <p:nvPr/>
        </p:nvPicPr>
        <p:blipFill>
          <a:blip r:embed="rId4"/>
          <a:stretch>
            <a:fillRect/>
          </a:stretch>
        </p:blipFill>
        <p:spPr>
          <a:xfrm>
            <a:off x="7626043" y="4117149"/>
            <a:ext cx="134549" cy="195707"/>
          </a:xfrm>
          <a:prstGeom prst="rect">
            <a:avLst/>
          </a:prstGeom>
        </p:spPr>
      </p:pic>
      <p:sp>
        <p:nvSpPr>
          <p:cNvPr id="28" name="TextBox 27"/>
          <p:cNvSpPr txBox="1"/>
          <p:nvPr/>
        </p:nvSpPr>
        <p:spPr>
          <a:xfrm>
            <a:off x="7801152"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196295" y="4117149"/>
            <a:ext cx="134549" cy="195707"/>
          </a:xfrm>
          <a:prstGeom prst="rect">
            <a:avLst/>
          </a:prstGeom>
        </p:spPr>
      </p:pic>
      <p:sp>
        <p:nvSpPr>
          <p:cNvPr id="30" name="TextBox 29"/>
          <p:cNvSpPr txBox="1"/>
          <p:nvPr/>
        </p:nvSpPr>
        <p:spPr>
          <a:xfrm>
            <a:off x="9371405" y="4127372"/>
            <a:ext cx="2214178" cy="194310"/>
          </a:xfrm>
          <a:prstGeom prst="rect">
            <a:avLst/>
          </a:prstGeom>
          <a:noFill/>
        </p:spPr>
        <p:txBody>
          <a:bodyPr wrap="none" lIns="0" rIns="0" tIns="0" bIns="0">
            <a:spAutoFit/>
          </a:bodyPr>
          <a:lstStyle/>
          <a:p>
            <a:r>
              <a:rPr sz="1150" b="0">
                <a:solidFill>
                  <a:srgbClr val="2E2E2E"/>
                </a:solidFill>
                <a:latin typeface="Calibri"/>
              </a:rPr>
              <a:t>share by 2036. The sprays and mists</a:t>
            </a:r>
          </a:p>
        </p:txBody>
      </p:sp>
      <p:sp>
        <p:nvSpPr>
          <p:cNvPr id="31" name="TextBox 30"/>
          <p:cNvSpPr txBox="1"/>
          <p:nvPr/>
        </p:nvSpPr>
        <p:spPr>
          <a:xfrm>
            <a:off x="276225" y="43026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292409"/>
            <a:ext cx="134549" cy="195707"/>
          </a:xfrm>
          <a:prstGeom prst="rect">
            <a:avLst/>
          </a:prstGeom>
        </p:spPr>
      </p:pic>
      <p:sp>
        <p:nvSpPr>
          <p:cNvPr id="33" name="TextBox 32"/>
          <p:cNvSpPr txBox="1"/>
          <p:nvPr/>
        </p:nvSpPr>
        <p:spPr>
          <a:xfrm>
            <a:off x="212602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292409"/>
            <a:ext cx="134549" cy="195707"/>
          </a:xfrm>
          <a:prstGeom prst="rect">
            <a:avLst/>
          </a:prstGeom>
        </p:spPr>
      </p:pic>
      <p:sp>
        <p:nvSpPr>
          <p:cNvPr id="35" name="TextBox 34"/>
          <p:cNvSpPr txBox="1"/>
          <p:nvPr/>
        </p:nvSpPr>
        <p:spPr>
          <a:xfrm>
            <a:off x="488864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Format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Format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12651"/>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0788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316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Mousses and Foams</a:t>
            </a:r>
          </a:p>
        </p:txBody>
      </p:sp>
      <p:sp>
        <p:nvSpPr>
          <p:cNvPr id="19" name="BPS Value 1"/>
          <p:cNvSpPr txBox="1"/>
          <p:nvPr/>
        </p:nvSpPr>
        <p:spPr>
          <a:xfrm>
            <a:off x="6896100" y="179360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14861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14384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0676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Gels and Jellies</a:t>
            </a:r>
          </a:p>
        </p:txBody>
      </p:sp>
      <p:sp>
        <p:nvSpPr>
          <p:cNvPr id="23" name="BPS Value 2"/>
          <p:cNvSpPr txBox="1"/>
          <p:nvPr/>
        </p:nvSpPr>
        <p:spPr>
          <a:xfrm>
            <a:off x="6896100" y="212956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258968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25849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25087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Powders</a:t>
            </a:r>
          </a:p>
        </p:txBody>
      </p:sp>
      <p:sp>
        <p:nvSpPr>
          <p:cNvPr id="27" name="BPS Value 3"/>
          <p:cNvSpPr txBox="1"/>
          <p:nvPr/>
        </p:nvSpPr>
        <p:spPr>
          <a:xfrm>
            <a:off x="6896100" y="257063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3084290"/>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07952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00332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Sprays and Mists</a:t>
            </a:r>
          </a:p>
        </p:txBody>
      </p:sp>
      <p:sp>
        <p:nvSpPr>
          <p:cNvPr id="31" name="BPS Value 4"/>
          <p:cNvSpPr txBox="1"/>
          <p:nvPr/>
        </p:nvSpPr>
        <p:spPr>
          <a:xfrm>
            <a:off x="6896100" y="306524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361198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36072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35310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Creams and Lotions</a:t>
            </a:r>
          </a:p>
        </p:txBody>
      </p:sp>
      <p:sp>
        <p:nvSpPr>
          <p:cNvPr id="35" name="BPS Value 5"/>
          <p:cNvSpPr txBox="1"/>
          <p:nvPr/>
        </p:nvSpPr>
        <p:spPr>
          <a:xfrm>
            <a:off x="6896100" y="35929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928997" y="423415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422939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415319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Sticks and Balms</a:t>
            </a:r>
          </a:p>
        </p:txBody>
      </p:sp>
      <p:sp>
        <p:nvSpPr>
          <p:cNvPr id="39" name="BPS Value 6"/>
          <p:cNvSpPr txBox="1"/>
          <p:nvPr/>
        </p:nvSpPr>
        <p:spPr>
          <a:xfrm>
            <a:off x="6896100" y="421510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FMI Legend Chip"/>
          <p:cNvSpPr/>
          <p:nvPr/>
        </p:nvSpPr>
        <p:spPr>
          <a:xfrm>
            <a:off x="4928997" y="496176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rot="10800000">
            <a:off x="5090922" y="49569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7"/>
          <p:cNvSpPr txBox="1"/>
          <p:nvPr/>
        </p:nvSpPr>
        <p:spPr>
          <a:xfrm>
            <a:off x="5233797" y="48807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Waxes, Clays, Pastes and Pomades</a:t>
            </a:r>
          </a:p>
        </p:txBody>
      </p:sp>
      <p:sp>
        <p:nvSpPr>
          <p:cNvPr id="43" name="BPS Value 7"/>
          <p:cNvSpPr txBox="1"/>
          <p:nvPr/>
        </p:nvSpPr>
        <p:spPr>
          <a:xfrm>
            <a:off x="6896100" y="494271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4" name="FMI Legend Chip"/>
          <p:cNvSpPr/>
          <p:nvPr/>
        </p:nvSpPr>
        <p:spPr>
          <a:xfrm>
            <a:off x="4928997" y="579521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Isosceles Triangle 44"/>
          <p:cNvSpPr/>
          <p:nvPr/>
        </p:nvSpPr>
        <p:spPr>
          <a:xfrm>
            <a:off x="5090922" y="579045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PS Name 8"/>
          <p:cNvSpPr txBox="1"/>
          <p:nvPr/>
        </p:nvSpPr>
        <p:spPr>
          <a:xfrm>
            <a:off x="5233797" y="57142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Serums and Oils</a:t>
            </a:r>
          </a:p>
        </p:txBody>
      </p:sp>
      <p:sp>
        <p:nvSpPr>
          <p:cNvPr id="47" name="BPS Value 8"/>
          <p:cNvSpPr txBox="1"/>
          <p:nvPr/>
        </p:nvSpPr>
        <p:spPr>
          <a:xfrm>
            <a:off x="6896100" y="577616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8" name="Rounded Rectangle 4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Format</a:t>
            </a:r>
          </a:p>
        </p:txBody>
      </p:sp>
      <p:sp>
        <p:nvSpPr>
          <p:cNvPr id="50" name="Rectangle 4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5"/>
          <a:stretch>
            <a:fillRect/>
          </a:stretch>
        </p:blipFill>
        <p:spPr>
          <a:xfrm>
            <a:off x="2557843" y="3833622"/>
            <a:ext cx="275034" cy="400050"/>
          </a:xfrm>
          <a:prstGeom prst="rect">
            <a:avLst/>
          </a:prstGeom>
        </p:spPr>
      </p:pic>
      <p:sp>
        <p:nvSpPr>
          <p:cNvPr id="54" name="TextBox 53"/>
          <p:cNvSpPr txBox="1"/>
          <p:nvPr/>
        </p:nvSpPr>
        <p:spPr>
          <a:xfrm>
            <a:off x="7829550" y="1400175"/>
            <a:ext cx="3899743" cy="194310"/>
          </a:xfrm>
          <a:prstGeom prst="rect">
            <a:avLst/>
          </a:prstGeom>
          <a:noFill/>
        </p:spPr>
        <p:txBody>
          <a:bodyPr wrap="none" lIns="0" rIns="0" tIns="0" bIns="0">
            <a:spAutoFit/>
          </a:bodyPr>
          <a:lstStyle/>
          <a:p>
            <a:r>
              <a:rPr sz="1150" b="0">
                <a:solidFill>
                  <a:srgbClr val="2E2E2E"/>
                </a:solidFill>
                <a:latin typeface="Calibri"/>
              </a:rPr>
              <a:t>Among hair styling products by product format, sticks and balms</a:t>
            </a:r>
          </a:p>
        </p:txBody>
      </p:sp>
      <p:sp>
        <p:nvSpPr>
          <p:cNvPr id="55" name="TextBox 54"/>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6" name="Picture 55" descr="lock.png"/>
          <p:cNvPicPr>
            <a:picLocks noChangeAspect="1"/>
          </p:cNvPicPr>
          <p:nvPr/>
        </p:nvPicPr>
        <p:blipFill>
          <a:blip r:embed="rId5"/>
          <a:stretch>
            <a:fillRect/>
          </a:stretch>
        </p:blipFill>
        <p:spPr>
          <a:xfrm>
            <a:off x="10935343" y="1565211"/>
            <a:ext cx="134549" cy="195707"/>
          </a:xfrm>
          <a:prstGeom prst="rect">
            <a:avLst/>
          </a:prstGeom>
        </p:spPr>
      </p:pic>
      <p:sp>
        <p:nvSpPr>
          <p:cNvPr id="57" name="TextBox 56"/>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8" name="TextBox 57"/>
          <p:cNvSpPr txBox="1"/>
          <p:nvPr/>
        </p:nvSpPr>
        <p:spPr>
          <a:xfrm>
            <a:off x="7829550" y="1750695"/>
            <a:ext cx="3798478" cy="194310"/>
          </a:xfrm>
          <a:prstGeom prst="rect">
            <a:avLst/>
          </a:prstGeom>
          <a:noFill/>
        </p:spPr>
        <p:txBody>
          <a:bodyPr wrap="none" lIns="0" rIns="0" tIns="0" bIns="0">
            <a:spAutoFit/>
          </a:bodyPr>
          <a:lstStyle/>
          <a:p>
            <a:r>
              <a:rPr sz="1150" b="0">
                <a:solidFill>
                  <a:srgbClr val="2E2E2E"/>
                </a:solidFill>
                <a:latin typeface="Calibri"/>
              </a:rPr>
              <a:t>forecast period. In terms of value share by product format, the</a:t>
            </a:r>
          </a:p>
        </p:txBody>
      </p:sp>
      <p:sp>
        <p:nvSpPr>
          <p:cNvPr id="59" name="TextBox 58"/>
          <p:cNvSpPr txBox="1"/>
          <p:nvPr/>
        </p:nvSpPr>
        <p:spPr>
          <a:xfrm>
            <a:off x="7829550" y="1925955"/>
            <a:ext cx="3662697" cy="194310"/>
          </a:xfrm>
          <a:prstGeom prst="rect">
            <a:avLst/>
          </a:prstGeom>
          <a:noFill/>
        </p:spPr>
        <p:txBody>
          <a:bodyPr wrap="none" lIns="0" rIns="0" tIns="0" bIns="0">
            <a:spAutoFit/>
          </a:bodyPr>
          <a:lstStyle/>
          <a:p>
            <a:r>
              <a:rPr sz="1150" b="0">
                <a:solidFill>
                  <a:srgbClr val="2E2E2E"/>
                </a:solidFill>
                <a:latin typeface="Calibri"/>
              </a:rPr>
              <a:t>styling serums and oils segment is expected to dominate the</a:t>
            </a:r>
          </a:p>
        </p:txBody>
      </p:sp>
      <p:sp>
        <p:nvSpPr>
          <p:cNvPr id="60" name="TextBox 59"/>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61" name="Picture 60" descr="lock.png"/>
          <p:cNvPicPr>
            <a:picLocks noChangeAspect="1"/>
          </p:cNvPicPr>
          <p:nvPr/>
        </p:nvPicPr>
        <p:blipFill>
          <a:blip r:embed="rId5"/>
          <a:stretch>
            <a:fillRect/>
          </a:stretch>
        </p:blipFill>
        <p:spPr>
          <a:xfrm>
            <a:off x="8778556" y="2090991"/>
            <a:ext cx="134549" cy="195707"/>
          </a:xfrm>
          <a:prstGeom prst="rect">
            <a:avLst/>
          </a:prstGeom>
        </p:spPr>
      </p:pic>
      <p:sp>
        <p:nvSpPr>
          <p:cNvPr id="62" name="TextBox 61"/>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3" name="Picture 62" descr="lock.png"/>
          <p:cNvPicPr>
            <a:picLocks noChangeAspect="1"/>
          </p:cNvPicPr>
          <p:nvPr/>
        </p:nvPicPr>
        <p:blipFill>
          <a:blip r:embed="rId5"/>
          <a:stretch>
            <a:fillRect/>
          </a:stretch>
        </p:blipFill>
        <p:spPr>
          <a:xfrm>
            <a:off x="10348808" y="2090991"/>
            <a:ext cx="134549" cy="195707"/>
          </a:xfrm>
          <a:prstGeom prst="rect">
            <a:avLst/>
          </a:prstGeom>
        </p:spPr>
      </p:pic>
      <p:sp>
        <p:nvSpPr>
          <p:cNvPr id="64" name="TextBox 63"/>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TextBox 64"/>
          <p:cNvSpPr txBox="1"/>
          <p:nvPr/>
        </p:nvSpPr>
        <p:spPr>
          <a:xfrm>
            <a:off x="7829550" y="2329053"/>
            <a:ext cx="2993491" cy="194310"/>
          </a:xfrm>
          <a:prstGeom prst="rect">
            <a:avLst/>
          </a:prstGeom>
          <a:noFill/>
        </p:spPr>
        <p:txBody>
          <a:bodyPr wrap="none" lIns="0" rIns="0" tIns="0" bIns="0">
            <a:spAutoFit/>
          </a:bodyPr>
          <a:lstStyle/>
          <a:p>
            <a:r>
              <a:rPr sz="1150" b="0">
                <a:solidFill>
                  <a:srgbClr val="2E2E2E"/>
                </a:solidFill>
                <a:latin typeface="Calibri"/>
              </a:rPr>
              <a:t>The sprays and mists segment is expected to lose</a:t>
            </a:r>
          </a:p>
        </p:txBody>
      </p:sp>
      <p:pic>
        <p:nvPicPr>
          <p:cNvPr id="66" name="Picture 65" descr="lock.png"/>
          <p:cNvPicPr>
            <a:picLocks noChangeAspect="1"/>
          </p:cNvPicPr>
          <p:nvPr/>
        </p:nvPicPr>
        <p:blipFill>
          <a:blip r:embed="rId5"/>
          <a:stretch>
            <a:fillRect/>
          </a:stretch>
        </p:blipFill>
        <p:spPr>
          <a:xfrm>
            <a:off x="10772195" y="2318829"/>
            <a:ext cx="134549" cy="195707"/>
          </a:xfrm>
          <a:prstGeom prst="rect">
            <a:avLst/>
          </a:prstGeom>
        </p:spPr>
      </p:pic>
      <p:sp>
        <p:nvSpPr>
          <p:cNvPr id="67" name="TextBox 66"/>
          <p:cNvSpPr txBox="1"/>
          <p:nvPr/>
        </p:nvSpPr>
        <p:spPr>
          <a:xfrm>
            <a:off x="10947304"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68" name="TextBox 6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9" name="Picture 68" descr="lock.png"/>
          <p:cNvPicPr>
            <a:picLocks noChangeAspect="1"/>
          </p:cNvPicPr>
          <p:nvPr/>
        </p:nvPicPr>
        <p:blipFill>
          <a:blip r:embed="rId5"/>
          <a:stretch>
            <a:fillRect/>
          </a:stretch>
        </p:blipFill>
        <p:spPr>
          <a:xfrm>
            <a:off x="9630324" y="2494089"/>
            <a:ext cx="134549" cy="195707"/>
          </a:xfrm>
          <a:prstGeom prst="rect">
            <a:avLst/>
          </a:prstGeom>
        </p:spPr>
      </p:pic>
      <p:sp>
        <p:nvSpPr>
          <p:cNvPr id="70" name="TextBox 6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Hold Level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Hold Level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Hold Level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Hold Level,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Hold Level segment categorizes the market by hold level.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Medium Hold</a:t>
            </a:r>
          </a:p>
        </p:txBody>
      </p:sp>
      <p:sp>
        <p:nvSpPr>
          <p:cNvPr id="23" name="Rectangle 22"/>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Strong Hold</a:t>
            </a:r>
          </a:p>
        </p:txBody>
      </p:sp>
      <p:sp>
        <p:nvSpPr>
          <p:cNvPr id="30" name="Rectangle 29"/>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Light or Flexible Hold</a:t>
            </a:r>
          </a:p>
        </p:txBody>
      </p:sp>
      <p:sp>
        <p:nvSpPr>
          <p:cNvPr id="37" name="Rectangle 36"/>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No Hold</a:t>
            </a:r>
          </a:p>
        </p:txBody>
      </p:sp>
      <p:sp>
        <p:nvSpPr>
          <p:cNvPr id="44" name="Rectangle 43"/>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Extra-strong Hold</a:t>
            </a:r>
          </a:p>
        </p:txBody>
      </p:sp>
      <p:sp>
        <p:nvSpPr>
          <p:cNvPr id="51" name="Rectangle 50"/>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7" name="Rectangle 56"/>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9" name="Rounded Rectangle 5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1" name="Rectangle 60"/>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3" name="Rounded Rectangle 6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5" name="Rectangle 64"/>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Hold Level split shows how demand is distributed across hold level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7" name="Rectangle 6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9" name="TextBox 6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3_583_605E5C.png"/>
          <p:cNvPicPr>
            <a:picLocks noChangeAspect="1"/>
          </p:cNvPicPr>
          <p:nvPr/>
        </p:nvPicPr>
        <p:blipFill>
          <a:blip r:embed="rId4"/>
          <a:stretch>
            <a:fillRect/>
          </a:stretch>
        </p:blipFill>
        <p:spPr>
          <a:xfrm>
            <a:off x="2223441" y="2286582"/>
            <a:ext cx="1195728" cy="361950"/>
          </a:xfrm>
          <a:prstGeom prst="rect">
            <a:avLst/>
          </a:prstGeom>
        </p:spPr>
      </p:pic>
      <p:pic>
        <p:nvPicPr>
          <p:cNvPr id="72" name="Picture 71" descr="6_783_605E5C.png"/>
          <p:cNvPicPr>
            <a:picLocks noChangeAspect="1"/>
          </p:cNvPicPr>
          <p:nvPr/>
        </p:nvPicPr>
        <p:blipFill>
          <a:blip r:embed="rId5"/>
          <a:stretch>
            <a:fillRect/>
          </a:stretch>
        </p:blipFill>
        <p:spPr>
          <a:xfrm>
            <a:off x="2223441" y="2779432"/>
            <a:ext cx="1195728" cy="361950"/>
          </a:xfrm>
          <a:prstGeom prst="rect">
            <a:avLst/>
          </a:prstGeom>
        </p:spPr>
      </p:pic>
      <p:pic>
        <p:nvPicPr>
          <p:cNvPr id="73" name="Picture 72" descr="6_6__605E5C.png"/>
          <p:cNvPicPr>
            <a:picLocks noChangeAspect="1"/>
          </p:cNvPicPr>
          <p:nvPr/>
        </p:nvPicPr>
        <p:blipFill>
          <a:blip r:embed="rId6"/>
          <a:stretch>
            <a:fillRect/>
          </a:stretch>
        </p:blipFill>
        <p:spPr>
          <a:xfrm>
            <a:off x="2330087" y="3272281"/>
            <a:ext cx="982436" cy="361950"/>
          </a:xfrm>
          <a:prstGeom prst="rect">
            <a:avLst/>
          </a:prstGeom>
        </p:spPr>
      </p:pic>
      <p:pic>
        <p:nvPicPr>
          <p:cNvPr id="74" name="Picture 73" descr="3_405_605E5C.png"/>
          <p:cNvPicPr>
            <a:picLocks noChangeAspect="1"/>
          </p:cNvPicPr>
          <p:nvPr/>
        </p:nvPicPr>
        <p:blipFill>
          <a:blip r:embed="rId7"/>
          <a:stretch>
            <a:fillRect/>
          </a:stretch>
        </p:blipFill>
        <p:spPr>
          <a:xfrm>
            <a:off x="4246551" y="2286582"/>
            <a:ext cx="1195728" cy="361950"/>
          </a:xfrm>
          <a:prstGeom prst="rect">
            <a:avLst/>
          </a:prstGeom>
        </p:spPr>
      </p:pic>
      <p:pic>
        <p:nvPicPr>
          <p:cNvPr id="75" name="Picture 74" descr="6_132_605E5C.png"/>
          <p:cNvPicPr>
            <a:picLocks noChangeAspect="1"/>
          </p:cNvPicPr>
          <p:nvPr/>
        </p:nvPicPr>
        <p:blipFill>
          <a:blip r:embed="rId8"/>
          <a:stretch>
            <a:fillRect/>
          </a:stretch>
        </p:blipFill>
        <p:spPr>
          <a:xfrm>
            <a:off x="4246551" y="2779432"/>
            <a:ext cx="1195728" cy="361950"/>
          </a:xfrm>
          <a:prstGeom prst="rect">
            <a:avLst/>
          </a:prstGeom>
        </p:spPr>
      </p:pic>
      <p:pic>
        <p:nvPicPr>
          <p:cNvPr id="76" name="Picture 75" descr="6_1__605E5C.png"/>
          <p:cNvPicPr>
            <a:picLocks noChangeAspect="1"/>
          </p:cNvPicPr>
          <p:nvPr/>
        </p:nvPicPr>
        <p:blipFill>
          <a:blip r:embed="rId9"/>
          <a:stretch>
            <a:fillRect/>
          </a:stretch>
        </p:blipFill>
        <p:spPr>
          <a:xfrm>
            <a:off x="4353197" y="3272281"/>
            <a:ext cx="982436" cy="361950"/>
          </a:xfrm>
          <a:prstGeom prst="rect">
            <a:avLst/>
          </a:prstGeom>
        </p:spPr>
      </p:pic>
      <p:pic>
        <p:nvPicPr>
          <p:cNvPr id="77" name="Picture 76" descr="3_234_605E5C.png"/>
          <p:cNvPicPr>
            <a:picLocks noChangeAspect="1"/>
          </p:cNvPicPr>
          <p:nvPr/>
        </p:nvPicPr>
        <p:blipFill>
          <a:blip r:embed="rId10"/>
          <a:stretch>
            <a:fillRect/>
          </a:stretch>
        </p:blipFill>
        <p:spPr>
          <a:xfrm>
            <a:off x="6269661" y="2286582"/>
            <a:ext cx="1195728" cy="361950"/>
          </a:xfrm>
          <a:prstGeom prst="rect">
            <a:avLst/>
          </a:prstGeom>
        </p:spPr>
      </p:pic>
      <p:pic>
        <p:nvPicPr>
          <p:cNvPr id="78" name="Picture 77" descr="6_782_605E5C.png"/>
          <p:cNvPicPr>
            <a:picLocks noChangeAspect="1"/>
          </p:cNvPicPr>
          <p:nvPr/>
        </p:nvPicPr>
        <p:blipFill>
          <a:blip r:embed="rId11"/>
          <a:stretch>
            <a:fillRect/>
          </a:stretch>
        </p:blipFill>
        <p:spPr>
          <a:xfrm>
            <a:off x="6269661" y="2779432"/>
            <a:ext cx="1195728" cy="361950"/>
          </a:xfrm>
          <a:prstGeom prst="rect">
            <a:avLst/>
          </a:prstGeom>
        </p:spPr>
      </p:pic>
      <p:pic>
        <p:nvPicPr>
          <p:cNvPr id="79" name="Picture 78" descr="7_7__605E5C.png"/>
          <p:cNvPicPr>
            <a:picLocks noChangeAspect="1"/>
          </p:cNvPicPr>
          <p:nvPr/>
        </p:nvPicPr>
        <p:blipFill>
          <a:blip r:embed="rId12"/>
          <a:stretch>
            <a:fillRect/>
          </a:stretch>
        </p:blipFill>
        <p:spPr>
          <a:xfrm>
            <a:off x="6376307" y="3272281"/>
            <a:ext cx="982436" cy="361950"/>
          </a:xfrm>
          <a:prstGeom prst="rect">
            <a:avLst/>
          </a:prstGeom>
        </p:spPr>
      </p:pic>
      <p:pic>
        <p:nvPicPr>
          <p:cNvPr id="80" name="Picture 79" descr="3_003_605E5C.png"/>
          <p:cNvPicPr>
            <a:picLocks noChangeAspect="1"/>
          </p:cNvPicPr>
          <p:nvPr/>
        </p:nvPicPr>
        <p:blipFill>
          <a:blip r:embed="rId13"/>
          <a:stretch>
            <a:fillRect/>
          </a:stretch>
        </p:blipFill>
        <p:spPr>
          <a:xfrm>
            <a:off x="8292771" y="2286582"/>
            <a:ext cx="1195728" cy="361950"/>
          </a:xfrm>
          <a:prstGeom prst="rect">
            <a:avLst/>
          </a:prstGeom>
        </p:spPr>
      </p:pic>
      <p:pic>
        <p:nvPicPr>
          <p:cNvPr id="81" name="Picture 80" descr="6_033_605E5C.png"/>
          <p:cNvPicPr>
            <a:picLocks noChangeAspect="1"/>
          </p:cNvPicPr>
          <p:nvPr/>
        </p:nvPicPr>
        <p:blipFill>
          <a:blip r:embed="rId14"/>
          <a:stretch>
            <a:fillRect/>
          </a:stretch>
        </p:blipFill>
        <p:spPr>
          <a:xfrm>
            <a:off x="8292771" y="2779432"/>
            <a:ext cx="1195728" cy="361950"/>
          </a:xfrm>
          <a:prstGeom prst="rect">
            <a:avLst/>
          </a:prstGeom>
        </p:spPr>
      </p:pic>
      <p:pic>
        <p:nvPicPr>
          <p:cNvPr id="82" name="Picture 81" descr="7_2__605E5C.png"/>
          <p:cNvPicPr>
            <a:picLocks noChangeAspect="1"/>
          </p:cNvPicPr>
          <p:nvPr/>
        </p:nvPicPr>
        <p:blipFill>
          <a:blip r:embed="rId15"/>
          <a:stretch>
            <a:fillRect/>
          </a:stretch>
        </p:blipFill>
        <p:spPr>
          <a:xfrm>
            <a:off x="8399417" y="3272281"/>
            <a:ext cx="982436" cy="361950"/>
          </a:xfrm>
          <a:prstGeom prst="rect">
            <a:avLst/>
          </a:prstGeom>
        </p:spPr>
      </p:pic>
      <p:pic>
        <p:nvPicPr>
          <p:cNvPr id="83" name="Picture 82" descr="2_882_605E5C.png"/>
          <p:cNvPicPr>
            <a:picLocks noChangeAspect="1"/>
          </p:cNvPicPr>
          <p:nvPr/>
        </p:nvPicPr>
        <p:blipFill>
          <a:blip r:embed="rId16"/>
          <a:stretch>
            <a:fillRect/>
          </a:stretch>
        </p:blipFill>
        <p:spPr>
          <a:xfrm>
            <a:off x="10315881" y="2286582"/>
            <a:ext cx="1195728" cy="361950"/>
          </a:xfrm>
          <a:prstGeom prst="rect">
            <a:avLst/>
          </a:prstGeom>
        </p:spPr>
      </p:pic>
      <p:pic>
        <p:nvPicPr>
          <p:cNvPr id="84" name="Picture 83" descr="4_958_605E5C.png"/>
          <p:cNvPicPr>
            <a:picLocks noChangeAspect="1"/>
          </p:cNvPicPr>
          <p:nvPr/>
        </p:nvPicPr>
        <p:blipFill>
          <a:blip r:embed="rId17"/>
          <a:stretch>
            <a:fillRect/>
          </a:stretch>
        </p:blipFill>
        <p:spPr>
          <a:xfrm>
            <a:off x="10315881" y="2779432"/>
            <a:ext cx="1195728" cy="361950"/>
          </a:xfrm>
          <a:prstGeom prst="rect">
            <a:avLst/>
          </a:prstGeom>
        </p:spPr>
      </p:pic>
      <p:pic>
        <p:nvPicPr>
          <p:cNvPr id="85" name="Picture 84" descr="5_6__605E5C.png"/>
          <p:cNvPicPr>
            <a:picLocks noChangeAspect="1"/>
          </p:cNvPicPr>
          <p:nvPr/>
        </p:nvPicPr>
        <p:blipFill>
          <a:blip r:embed="rId18"/>
          <a:stretch>
            <a:fillRect/>
          </a:stretch>
        </p:blipFill>
        <p:spPr>
          <a:xfrm>
            <a:off x="10422527" y="3272281"/>
            <a:ext cx="982436" cy="361950"/>
          </a:xfrm>
          <a:prstGeom prst="rect">
            <a:avLst/>
          </a:prstGeom>
        </p:spPr>
      </p:pic>
      <p:pic>
        <p:nvPicPr>
          <p:cNvPr id="86" name="Picture 85" descr="lock.png"/>
          <p:cNvPicPr>
            <a:picLocks noChangeAspect="1"/>
          </p:cNvPicPr>
          <p:nvPr/>
        </p:nvPicPr>
        <p:blipFill>
          <a:blip r:embed="rId19"/>
          <a:stretch>
            <a:fillRect/>
          </a:stretch>
        </p:blipFill>
        <p:spPr>
          <a:xfrm>
            <a:off x="272796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475107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677418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8797290" y="2827057"/>
            <a:ext cx="183356" cy="266700"/>
          </a:xfrm>
          <a:prstGeom prst="rect">
            <a:avLst/>
          </a:prstGeom>
        </p:spPr>
      </p:pic>
      <p:pic>
        <p:nvPicPr>
          <p:cNvPr id="90" name="Picture 89" descr="lock.png"/>
          <p:cNvPicPr>
            <a:picLocks noChangeAspect="1"/>
          </p:cNvPicPr>
          <p:nvPr/>
        </p:nvPicPr>
        <p:blipFill>
          <a:blip r:embed="rId19"/>
          <a:stretch>
            <a:fillRect/>
          </a:stretch>
        </p:blipFill>
        <p:spPr>
          <a:xfrm>
            <a:off x="10820400" y="2827057"/>
            <a:ext cx="183356" cy="266700"/>
          </a:xfrm>
          <a:prstGeom prst="rect">
            <a:avLst/>
          </a:prstGeom>
        </p:spPr>
      </p:pic>
      <p:sp>
        <p:nvSpPr>
          <p:cNvPr id="91" name="TextBox 90"/>
          <p:cNvSpPr txBox="1"/>
          <p:nvPr/>
        </p:nvSpPr>
        <p:spPr>
          <a:xfrm>
            <a:off x="485775" y="4229437"/>
            <a:ext cx="2891482" cy="186689"/>
          </a:xfrm>
          <a:prstGeom prst="rect">
            <a:avLst/>
          </a:prstGeom>
          <a:noFill/>
        </p:spPr>
        <p:txBody>
          <a:bodyPr wrap="none" lIns="0" rIns="0" tIns="0" bIns="0">
            <a:spAutoFit/>
          </a:bodyPr>
          <a:lstStyle/>
          <a:p>
            <a:r>
              <a:rPr sz="1100" b="0">
                <a:solidFill>
                  <a:srgbClr val="2E2E2E"/>
                </a:solidFill>
                <a:latin typeface="Calibri"/>
              </a:rPr>
              <a:t>Among hair styling products by hold level, light or</a:t>
            </a:r>
          </a:p>
        </p:txBody>
      </p:sp>
      <p:sp>
        <p:nvSpPr>
          <p:cNvPr id="92" name="TextBox 91"/>
          <p:cNvSpPr txBox="1"/>
          <p:nvPr/>
        </p:nvSpPr>
        <p:spPr>
          <a:xfrm>
            <a:off x="485775" y="4397077"/>
            <a:ext cx="2804715" cy="186689"/>
          </a:xfrm>
          <a:prstGeom prst="rect">
            <a:avLst/>
          </a:prstGeom>
          <a:noFill/>
        </p:spPr>
        <p:txBody>
          <a:bodyPr wrap="none" lIns="0" rIns="0" tIns="0" bIns="0">
            <a:spAutoFit/>
          </a:bodyPr>
          <a:lstStyle/>
          <a:p>
            <a:r>
              <a:rPr sz="1100" b="0">
                <a:solidFill>
                  <a:srgbClr val="2E2E2E"/>
                </a:solidFill>
                <a:latin typeface="Calibri"/>
              </a:rPr>
              <a:t>flexible hold segment is expected to witness the</a:t>
            </a:r>
          </a:p>
        </p:txBody>
      </p:sp>
      <p:sp>
        <p:nvSpPr>
          <p:cNvPr id="93" name="TextBox 92"/>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94" name="Picture 93" descr="lock.png"/>
          <p:cNvPicPr>
            <a:picLocks noChangeAspect="1"/>
          </p:cNvPicPr>
          <p:nvPr/>
        </p:nvPicPr>
        <p:blipFill>
          <a:blip r:embed="rId19"/>
          <a:stretch>
            <a:fillRect/>
          </a:stretch>
        </p:blipFill>
        <p:spPr>
          <a:xfrm>
            <a:off x="1424607" y="4554938"/>
            <a:ext cx="128699" cy="187198"/>
          </a:xfrm>
          <a:prstGeom prst="rect">
            <a:avLst/>
          </a:prstGeom>
        </p:spPr>
      </p:pic>
      <p:sp>
        <p:nvSpPr>
          <p:cNvPr id="95" name="TextBox 94"/>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96" name="TextBox 95"/>
          <p:cNvSpPr txBox="1"/>
          <p:nvPr/>
        </p:nvSpPr>
        <p:spPr>
          <a:xfrm>
            <a:off x="485775" y="4732357"/>
            <a:ext cx="2747962" cy="186689"/>
          </a:xfrm>
          <a:prstGeom prst="rect">
            <a:avLst/>
          </a:prstGeom>
          <a:noFill/>
        </p:spPr>
        <p:txBody>
          <a:bodyPr wrap="none" lIns="0" rIns="0" tIns="0" bIns="0">
            <a:spAutoFit/>
          </a:bodyPr>
          <a:lstStyle/>
          <a:p>
            <a:r>
              <a:rPr sz="1100" b="0">
                <a:solidFill>
                  <a:srgbClr val="2E2E2E"/>
                </a:solidFill>
                <a:latin typeface="Calibri"/>
              </a:rPr>
              <a:t>terms of value share by hold level, the medium</a:t>
            </a:r>
          </a:p>
        </p:txBody>
      </p:sp>
      <p:sp>
        <p:nvSpPr>
          <p:cNvPr id="97" name="TextBox 96"/>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hold segment is expected to dominate the market,</a:t>
            </a:r>
          </a:p>
        </p:txBody>
      </p:sp>
      <p:sp>
        <p:nvSpPr>
          <p:cNvPr id="98" name="TextBox 97"/>
          <p:cNvSpPr txBox="1"/>
          <p:nvPr/>
        </p:nvSpPr>
        <p:spPr>
          <a:xfrm>
            <a:off x="485775" y="506763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99" name="Picture 98" descr="lock.png"/>
          <p:cNvPicPr>
            <a:picLocks noChangeAspect="1"/>
          </p:cNvPicPr>
          <p:nvPr/>
        </p:nvPicPr>
        <p:blipFill>
          <a:blip r:embed="rId19"/>
          <a:stretch>
            <a:fillRect/>
          </a:stretch>
        </p:blipFill>
        <p:spPr>
          <a:xfrm>
            <a:off x="841814" y="5057858"/>
            <a:ext cx="128699" cy="187198"/>
          </a:xfrm>
          <a:prstGeom prst="rect">
            <a:avLst/>
          </a:prstGeom>
        </p:spPr>
      </p:pic>
      <p:sp>
        <p:nvSpPr>
          <p:cNvPr id="100" name="TextBox 99"/>
          <p:cNvSpPr txBox="1"/>
          <p:nvPr/>
        </p:nvSpPr>
        <p:spPr>
          <a:xfrm>
            <a:off x="1009309"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1" name="Picture 100" descr="lock.png"/>
          <p:cNvPicPr>
            <a:picLocks noChangeAspect="1"/>
          </p:cNvPicPr>
          <p:nvPr/>
        </p:nvPicPr>
        <p:blipFill>
          <a:blip r:embed="rId19"/>
          <a:stretch>
            <a:fillRect/>
          </a:stretch>
        </p:blipFill>
        <p:spPr>
          <a:xfrm>
            <a:off x="2343794" y="5057858"/>
            <a:ext cx="128699" cy="187198"/>
          </a:xfrm>
          <a:prstGeom prst="rect">
            <a:avLst/>
          </a:prstGeom>
        </p:spPr>
      </p:pic>
      <p:sp>
        <p:nvSpPr>
          <p:cNvPr id="102" name="TextBox 101"/>
          <p:cNvSpPr txBox="1"/>
          <p:nvPr/>
        </p:nvSpPr>
        <p:spPr>
          <a:xfrm>
            <a:off x="2511290" y="506763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03" name="TextBox 102"/>
          <p:cNvSpPr txBox="1"/>
          <p:nvPr/>
        </p:nvSpPr>
        <p:spPr>
          <a:xfrm>
            <a:off x="485775" y="523527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04" name="TextBox 103"/>
          <p:cNvSpPr txBox="1"/>
          <p:nvPr/>
        </p:nvSpPr>
        <p:spPr>
          <a:xfrm>
            <a:off x="485775" y="5453209"/>
            <a:ext cx="2681659" cy="186689"/>
          </a:xfrm>
          <a:prstGeom prst="rect">
            <a:avLst/>
          </a:prstGeom>
          <a:noFill/>
        </p:spPr>
        <p:txBody>
          <a:bodyPr wrap="none" lIns="0" rIns="0" tIns="0" bIns="0">
            <a:spAutoFit/>
          </a:bodyPr>
          <a:lstStyle/>
          <a:p>
            <a:r>
              <a:rPr sz="1100" b="0">
                <a:solidFill>
                  <a:srgbClr val="2E2E2E"/>
                </a:solidFill>
                <a:latin typeface="Calibri"/>
              </a:rPr>
              <a:t>Medium hold segment is projected to register</a:t>
            </a:r>
          </a:p>
        </p:txBody>
      </p:sp>
      <p:pic>
        <p:nvPicPr>
          <p:cNvPr id="105" name="Picture 104" descr="lock.png"/>
          <p:cNvPicPr>
            <a:picLocks noChangeAspect="1"/>
          </p:cNvPicPr>
          <p:nvPr/>
        </p:nvPicPr>
        <p:blipFill>
          <a:blip r:embed="rId19"/>
          <a:stretch>
            <a:fillRect/>
          </a:stretch>
        </p:blipFill>
        <p:spPr>
          <a:xfrm>
            <a:off x="472307" y="5611070"/>
            <a:ext cx="128699" cy="187198"/>
          </a:xfrm>
          <a:prstGeom prst="rect">
            <a:avLst/>
          </a:prstGeom>
        </p:spPr>
      </p:pic>
      <p:sp>
        <p:nvSpPr>
          <p:cNvPr id="106" name="TextBox 105"/>
          <p:cNvSpPr txBox="1"/>
          <p:nvPr/>
        </p:nvSpPr>
        <p:spPr>
          <a:xfrm>
            <a:off x="639803" y="5620849"/>
            <a:ext cx="2337048" cy="186689"/>
          </a:xfrm>
          <a:prstGeom prst="rect">
            <a:avLst/>
          </a:prstGeom>
          <a:noFill/>
        </p:spPr>
        <p:txBody>
          <a:bodyPr wrap="none" lIns="0" rIns="0" tIns="0" bIns="0">
            <a:spAutoFit/>
          </a:bodyPr>
          <a:lstStyle/>
          <a:p>
            <a:r>
              <a:rPr sz="1100" b="0">
                <a:solidFill>
                  <a:srgbClr val="2E2E2E"/>
                </a:solidFill>
                <a:latin typeface="Calibri"/>
              </a:rPr>
              <a:t>X higher value than light or flexible hold</a:t>
            </a:r>
          </a:p>
        </p:txBody>
      </p:sp>
      <p:sp>
        <p:nvSpPr>
          <p:cNvPr id="107" name="TextBox 106"/>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8" name="TextBox 107"/>
          <p:cNvSpPr txBox="1"/>
          <p:nvPr/>
        </p:nvSpPr>
        <p:spPr>
          <a:xfrm>
            <a:off x="3838575" y="4229437"/>
            <a:ext cx="1007169" cy="186689"/>
          </a:xfrm>
          <a:prstGeom prst="rect">
            <a:avLst/>
          </a:prstGeom>
          <a:noFill/>
        </p:spPr>
        <p:txBody>
          <a:bodyPr wrap="none" lIns="0" rIns="0" tIns="0" bIns="0">
            <a:spAutoFit/>
          </a:bodyPr>
          <a:lstStyle/>
          <a:p>
            <a:r>
              <a:rPr sz="1100" b="0">
                <a:solidFill>
                  <a:srgbClr val="2E2E2E"/>
                </a:solidFill>
                <a:latin typeface="Calibri"/>
              </a:rPr>
              <a:t>● Medium Hold:</a:t>
            </a:r>
          </a:p>
        </p:txBody>
      </p:sp>
      <p:pic>
        <p:nvPicPr>
          <p:cNvPr id="109" name="Picture 108" descr="lock.png"/>
          <p:cNvPicPr>
            <a:picLocks noChangeAspect="1"/>
          </p:cNvPicPr>
          <p:nvPr/>
        </p:nvPicPr>
        <p:blipFill>
          <a:blip r:embed="rId19"/>
          <a:stretch>
            <a:fillRect/>
          </a:stretch>
        </p:blipFill>
        <p:spPr>
          <a:xfrm>
            <a:off x="4793796" y="4219658"/>
            <a:ext cx="128699" cy="187198"/>
          </a:xfrm>
          <a:prstGeom prst="rect">
            <a:avLst/>
          </a:prstGeom>
        </p:spPr>
      </p:pic>
      <p:sp>
        <p:nvSpPr>
          <p:cNvPr id="110" name="TextBox 109"/>
          <p:cNvSpPr txBox="1"/>
          <p:nvPr/>
        </p:nvSpPr>
        <p:spPr>
          <a:xfrm>
            <a:off x="496129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9"/>
          <a:stretch>
            <a:fillRect/>
          </a:stretch>
        </p:blipFill>
        <p:spPr>
          <a:xfrm>
            <a:off x="5820742" y="4219658"/>
            <a:ext cx="128699" cy="187198"/>
          </a:xfrm>
          <a:prstGeom prst="rect">
            <a:avLst/>
          </a:prstGeom>
        </p:spPr>
      </p:pic>
      <p:sp>
        <p:nvSpPr>
          <p:cNvPr id="112" name="TextBox 111"/>
          <p:cNvSpPr txBox="1"/>
          <p:nvPr/>
        </p:nvSpPr>
        <p:spPr>
          <a:xfrm>
            <a:off x="5988237"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3" name="TextBox 112"/>
          <p:cNvSpPr txBox="1"/>
          <p:nvPr/>
        </p:nvSpPr>
        <p:spPr>
          <a:xfrm>
            <a:off x="3838575" y="4447369"/>
            <a:ext cx="900211" cy="186689"/>
          </a:xfrm>
          <a:prstGeom prst="rect">
            <a:avLst/>
          </a:prstGeom>
          <a:noFill/>
        </p:spPr>
        <p:txBody>
          <a:bodyPr wrap="none" lIns="0" rIns="0" tIns="0" bIns="0">
            <a:spAutoFit/>
          </a:bodyPr>
          <a:lstStyle/>
          <a:p>
            <a:r>
              <a:rPr sz="1100" b="0">
                <a:solidFill>
                  <a:srgbClr val="2E2E2E"/>
                </a:solidFill>
                <a:latin typeface="Calibri"/>
              </a:rPr>
              <a:t>● Strong Hold:</a:t>
            </a:r>
          </a:p>
        </p:txBody>
      </p:sp>
      <p:pic>
        <p:nvPicPr>
          <p:cNvPr id="114" name="Picture 113" descr="lock.png"/>
          <p:cNvPicPr>
            <a:picLocks noChangeAspect="1"/>
          </p:cNvPicPr>
          <p:nvPr/>
        </p:nvPicPr>
        <p:blipFill>
          <a:blip r:embed="rId19"/>
          <a:stretch>
            <a:fillRect/>
          </a:stretch>
        </p:blipFill>
        <p:spPr>
          <a:xfrm>
            <a:off x="4686838" y="4437590"/>
            <a:ext cx="128699" cy="187198"/>
          </a:xfrm>
          <a:prstGeom prst="rect">
            <a:avLst/>
          </a:prstGeom>
        </p:spPr>
      </p:pic>
      <p:sp>
        <p:nvSpPr>
          <p:cNvPr id="115" name="TextBox 114"/>
          <p:cNvSpPr txBox="1"/>
          <p:nvPr/>
        </p:nvSpPr>
        <p:spPr>
          <a:xfrm>
            <a:off x="4854334"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9"/>
          <a:stretch>
            <a:fillRect/>
          </a:stretch>
        </p:blipFill>
        <p:spPr>
          <a:xfrm>
            <a:off x="5713784" y="4437590"/>
            <a:ext cx="128699" cy="187198"/>
          </a:xfrm>
          <a:prstGeom prst="rect">
            <a:avLst/>
          </a:prstGeom>
        </p:spPr>
      </p:pic>
      <p:sp>
        <p:nvSpPr>
          <p:cNvPr id="117" name="TextBox 116"/>
          <p:cNvSpPr txBox="1"/>
          <p:nvPr/>
        </p:nvSpPr>
        <p:spPr>
          <a:xfrm>
            <a:off x="5881280"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3838575" y="4665301"/>
            <a:ext cx="1424086" cy="186689"/>
          </a:xfrm>
          <a:prstGeom prst="rect">
            <a:avLst/>
          </a:prstGeom>
          <a:noFill/>
        </p:spPr>
        <p:txBody>
          <a:bodyPr wrap="none" lIns="0" rIns="0" tIns="0" bIns="0">
            <a:spAutoFit/>
          </a:bodyPr>
          <a:lstStyle/>
          <a:p>
            <a:r>
              <a:rPr sz="1100" b="0">
                <a:solidFill>
                  <a:srgbClr val="2E2E2E"/>
                </a:solidFill>
                <a:latin typeface="Calibri"/>
              </a:rPr>
              <a:t>● Light or Flexible Hold:</a:t>
            </a:r>
          </a:p>
        </p:txBody>
      </p:sp>
      <p:pic>
        <p:nvPicPr>
          <p:cNvPr id="119" name="Picture 118" descr="lock.png"/>
          <p:cNvPicPr>
            <a:picLocks noChangeAspect="1"/>
          </p:cNvPicPr>
          <p:nvPr/>
        </p:nvPicPr>
        <p:blipFill>
          <a:blip r:embed="rId19"/>
          <a:stretch>
            <a:fillRect/>
          </a:stretch>
        </p:blipFill>
        <p:spPr>
          <a:xfrm>
            <a:off x="5210713" y="4655522"/>
            <a:ext cx="128699" cy="187198"/>
          </a:xfrm>
          <a:prstGeom prst="rect">
            <a:avLst/>
          </a:prstGeom>
        </p:spPr>
      </p:pic>
      <p:sp>
        <p:nvSpPr>
          <p:cNvPr id="120" name="TextBox 119"/>
          <p:cNvSpPr txBox="1"/>
          <p:nvPr/>
        </p:nvSpPr>
        <p:spPr>
          <a:xfrm>
            <a:off x="537820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237659" y="4655522"/>
            <a:ext cx="128699" cy="187198"/>
          </a:xfrm>
          <a:prstGeom prst="rect">
            <a:avLst/>
          </a:prstGeom>
        </p:spPr>
      </p:pic>
      <p:sp>
        <p:nvSpPr>
          <p:cNvPr id="122" name="TextBox 121"/>
          <p:cNvSpPr txBox="1"/>
          <p:nvPr/>
        </p:nvSpPr>
        <p:spPr>
          <a:xfrm>
            <a:off x="6405155"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3" name="TextBox 122"/>
          <p:cNvSpPr txBox="1"/>
          <p:nvPr/>
        </p:nvSpPr>
        <p:spPr>
          <a:xfrm>
            <a:off x="3838575" y="4883233"/>
            <a:ext cx="691480" cy="186689"/>
          </a:xfrm>
          <a:prstGeom prst="rect">
            <a:avLst/>
          </a:prstGeom>
          <a:noFill/>
        </p:spPr>
        <p:txBody>
          <a:bodyPr wrap="none" lIns="0" rIns="0" tIns="0" bIns="0">
            <a:spAutoFit/>
          </a:bodyPr>
          <a:lstStyle/>
          <a:p>
            <a:r>
              <a:rPr sz="1100" b="0">
                <a:solidFill>
                  <a:srgbClr val="2E2E2E"/>
                </a:solidFill>
                <a:latin typeface="Calibri"/>
              </a:rPr>
              <a:t>● No Hold:</a:t>
            </a:r>
          </a:p>
        </p:txBody>
      </p:sp>
      <p:pic>
        <p:nvPicPr>
          <p:cNvPr id="124" name="Picture 123" descr="lock.png"/>
          <p:cNvPicPr>
            <a:picLocks noChangeAspect="1"/>
          </p:cNvPicPr>
          <p:nvPr/>
        </p:nvPicPr>
        <p:blipFill>
          <a:blip r:embed="rId19"/>
          <a:stretch>
            <a:fillRect/>
          </a:stretch>
        </p:blipFill>
        <p:spPr>
          <a:xfrm>
            <a:off x="4478106" y="4873454"/>
            <a:ext cx="128699" cy="187198"/>
          </a:xfrm>
          <a:prstGeom prst="rect">
            <a:avLst/>
          </a:prstGeom>
        </p:spPr>
      </p:pic>
      <p:sp>
        <p:nvSpPr>
          <p:cNvPr id="125" name="TextBox 124"/>
          <p:cNvSpPr txBox="1"/>
          <p:nvPr/>
        </p:nvSpPr>
        <p:spPr>
          <a:xfrm>
            <a:off x="4645602"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19"/>
          <a:stretch>
            <a:fillRect/>
          </a:stretch>
        </p:blipFill>
        <p:spPr>
          <a:xfrm>
            <a:off x="5505052" y="4873454"/>
            <a:ext cx="128699" cy="187198"/>
          </a:xfrm>
          <a:prstGeom prst="rect">
            <a:avLst/>
          </a:prstGeom>
        </p:spPr>
      </p:pic>
      <p:sp>
        <p:nvSpPr>
          <p:cNvPr id="127" name="TextBox 126"/>
          <p:cNvSpPr txBox="1"/>
          <p:nvPr/>
        </p:nvSpPr>
        <p:spPr>
          <a:xfrm>
            <a:off x="5672548"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8" name="TextBox 127"/>
          <p:cNvSpPr txBox="1"/>
          <p:nvPr/>
        </p:nvSpPr>
        <p:spPr>
          <a:xfrm>
            <a:off x="3838575" y="5101165"/>
            <a:ext cx="1224905" cy="186689"/>
          </a:xfrm>
          <a:prstGeom prst="rect">
            <a:avLst/>
          </a:prstGeom>
          <a:noFill/>
        </p:spPr>
        <p:txBody>
          <a:bodyPr wrap="none" lIns="0" rIns="0" tIns="0" bIns="0">
            <a:spAutoFit/>
          </a:bodyPr>
          <a:lstStyle/>
          <a:p>
            <a:r>
              <a:rPr sz="1100" b="0">
                <a:solidFill>
                  <a:srgbClr val="2E2E2E"/>
                </a:solidFill>
                <a:latin typeface="Calibri"/>
              </a:rPr>
              <a:t>● Extra-strong Hold:</a:t>
            </a:r>
          </a:p>
        </p:txBody>
      </p:sp>
      <p:pic>
        <p:nvPicPr>
          <p:cNvPr id="129" name="Picture 128" descr="lock.png"/>
          <p:cNvPicPr>
            <a:picLocks noChangeAspect="1"/>
          </p:cNvPicPr>
          <p:nvPr/>
        </p:nvPicPr>
        <p:blipFill>
          <a:blip r:embed="rId19"/>
          <a:stretch>
            <a:fillRect/>
          </a:stretch>
        </p:blipFill>
        <p:spPr>
          <a:xfrm>
            <a:off x="5011531" y="5091385"/>
            <a:ext cx="128699" cy="187198"/>
          </a:xfrm>
          <a:prstGeom prst="rect">
            <a:avLst/>
          </a:prstGeom>
        </p:spPr>
      </p:pic>
      <p:sp>
        <p:nvSpPr>
          <p:cNvPr id="130" name="TextBox 129"/>
          <p:cNvSpPr txBox="1"/>
          <p:nvPr/>
        </p:nvSpPr>
        <p:spPr>
          <a:xfrm>
            <a:off x="5179027"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19"/>
          <a:stretch>
            <a:fillRect/>
          </a:stretch>
        </p:blipFill>
        <p:spPr>
          <a:xfrm>
            <a:off x="6038477" y="5091385"/>
            <a:ext cx="128699" cy="187198"/>
          </a:xfrm>
          <a:prstGeom prst="rect">
            <a:avLst/>
          </a:prstGeom>
        </p:spPr>
      </p:pic>
      <p:sp>
        <p:nvSpPr>
          <p:cNvPr id="132" name="TextBox 131"/>
          <p:cNvSpPr txBox="1"/>
          <p:nvPr/>
        </p:nvSpPr>
        <p:spPr>
          <a:xfrm>
            <a:off x="6205973"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3" name="TextBox 132"/>
          <p:cNvSpPr txBox="1"/>
          <p:nvPr/>
        </p:nvSpPr>
        <p:spPr>
          <a:xfrm>
            <a:off x="8524875" y="5842641"/>
            <a:ext cx="3031145" cy="194310"/>
          </a:xfrm>
          <a:prstGeom prst="rect">
            <a:avLst/>
          </a:prstGeom>
          <a:noFill/>
        </p:spPr>
        <p:txBody>
          <a:bodyPr wrap="none" lIns="0" rIns="0" tIns="0" bIns="0">
            <a:spAutoFit/>
          </a:bodyPr>
          <a:lstStyle/>
          <a:p>
            <a:r>
              <a:rPr sz="1150" b="1">
                <a:solidFill>
                  <a:srgbClr val="0B2E4A"/>
                </a:solidFill>
                <a:latin typeface="Calibri"/>
              </a:rPr>
              <a:t>The Hold Level segment is projected to grow at a</a:t>
            </a:r>
          </a:p>
        </p:txBody>
      </p:sp>
      <p:sp>
        <p:nvSpPr>
          <p:cNvPr id="134" name="TextBox 133"/>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5" name="Picture 134" descr="lock.png"/>
          <p:cNvPicPr>
            <a:picLocks noChangeAspect="1"/>
          </p:cNvPicPr>
          <p:nvPr/>
        </p:nvPicPr>
        <p:blipFill>
          <a:blip r:embed="rId19"/>
          <a:stretch>
            <a:fillRect/>
          </a:stretch>
        </p:blipFill>
        <p:spPr>
          <a:xfrm>
            <a:off x="9048826" y="6007677"/>
            <a:ext cx="134549" cy="195707"/>
          </a:xfrm>
          <a:prstGeom prst="rect">
            <a:avLst/>
          </a:prstGeom>
        </p:spPr>
      </p:pic>
      <p:sp>
        <p:nvSpPr>
          <p:cNvPr id="136" name="TextBox 135"/>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Hold Level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Hold Level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Hold Level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Hold Level · Bubble size represents 2036 value</a:t>
            </a:r>
          </a:p>
        </p:txBody>
      </p:sp>
      <p:graphicFrame>
        <p:nvGraphicFramePr>
          <p:cNvPr id="16" name="Chart 15"/>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98721" cy="186689"/>
          </a:xfrm>
          <a:prstGeom prst="rect">
            <a:avLst/>
          </a:prstGeom>
          <a:noFill/>
        </p:spPr>
        <p:txBody>
          <a:bodyPr wrap="none" lIns="0" rIns="0" tIns="0" bIns="0">
            <a:spAutoFit/>
          </a:bodyPr>
          <a:lstStyle/>
          <a:p>
            <a:r>
              <a:rPr sz="1100" b="0">
                <a:solidFill>
                  <a:srgbClr val="2E2E2E"/>
                </a:solidFill>
                <a:latin typeface="Calibri"/>
              </a:rPr>
              <a:t>Light or flexible hold followed by medium hold are expected to be the two most attractive hold level segments in the global hair styling products market in terms of value over the forecast period. Light or</a:t>
            </a:r>
          </a:p>
        </p:txBody>
      </p:sp>
      <p:sp>
        <p:nvSpPr>
          <p:cNvPr id="21" name="TextBox 20"/>
          <p:cNvSpPr txBox="1"/>
          <p:nvPr/>
        </p:nvSpPr>
        <p:spPr>
          <a:xfrm>
            <a:off x="257175" y="5861685"/>
            <a:ext cx="3163771" cy="186689"/>
          </a:xfrm>
          <a:prstGeom prst="rect">
            <a:avLst/>
          </a:prstGeom>
          <a:noFill/>
        </p:spPr>
        <p:txBody>
          <a:bodyPr wrap="none" lIns="0" rIns="0" tIns="0" bIns="0">
            <a:spAutoFit/>
          </a:bodyPr>
          <a:lstStyle/>
          <a:p>
            <a:r>
              <a:rPr sz="1100" b="0">
                <a:solidFill>
                  <a:srgbClr val="2E2E2E"/>
                </a:solidFill>
                <a:latin typeface="Calibri"/>
              </a:rPr>
              <a:t>flexible hold and medium hold exhibit a CAGR index of</a:t>
            </a:r>
          </a:p>
        </p:txBody>
      </p:sp>
      <p:pic>
        <p:nvPicPr>
          <p:cNvPr id="22" name="Picture 21" descr="lock.png"/>
          <p:cNvPicPr>
            <a:picLocks noChangeAspect="1"/>
          </p:cNvPicPr>
          <p:nvPr/>
        </p:nvPicPr>
        <p:blipFill>
          <a:blip r:embed="rId6"/>
          <a:stretch>
            <a:fillRect/>
          </a:stretch>
        </p:blipFill>
        <p:spPr>
          <a:xfrm>
            <a:off x="3368997" y="5851905"/>
            <a:ext cx="128699" cy="187198"/>
          </a:xfrm>
          <a:prstGeom prst="rect">
            <a:avLst/>
          </a:prstGeom>
        </p:spPr>
      </p:pic>
      <p:sp>
        <p:nvSpPr>
          <p:cNvPr id="23" name="TextBox 22"/>
          <p:cNvSpPr txBox="1"/>
          <p:nvPr/>
        </p:nvSpPr>
        <p:spPr>
          <a:xfrm>
            <a:off x="353649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3774388" y="5851905"/>
            <a:ext cx="128699" cy="187198"/>
          </a:xfrm>
          <a:prstGeom prst="rect">
            <a:avLst/>
          </a:prstGeom>
        </p:spPr>
      </p:pic>
      <p:sp>
        <p:nvSpPr>
          <p:cNvPr id="25" name="TextBox 24"/>
          <p:cNvSpPr txBox="1"/>
          <p:nvPr/>
        </p:nvSpPr>
        <p:spPr>
          <a:xfrm>
            <a:off x="394188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5550857" y="5851905"/>
            <a:ext cx="128699" cy="187198"/>
          </a:xfrm>
          <a:prstGeom prst="rect">
            <a:avLst/>
          </a:prstGeom>
        </p:spPr>
      </p:pic>
      <p:sp>
        <p:nvSpPr>
          <p:cNvPr id="27" name="TextBox 26"/>
          <p:cNvSpPr txBox="1"/>
          <p:nvPr/>
        </p:nvSpPr>
        <p:spPr>
          <a:xfrm>
            <a:off x="571835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5956247" y="5851905"/>
            <a:ext cx="128699" cy="187198"/>
          </a:xfrm>
          <a:prstGeom prst="rect">
            <a:avLst/>
          </a:prstGeom>
        </p:spPr>
      </p:pic>
      <p:sp>
        <p:nvSpPr>
          <p:cNvPr id="29" name="TextBox 28"/>
          <p:cNvSpPr txBox="1"/>
          <p:nvPr/>
        </p:nvSpPr>
        <p:spPr>
          <a:xfrm>
            <a:off x="6123743"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8678147" y="5851905"/>
            <a:ext cx="128699" cy="187198"/>
          </a:xfrm>
          <a:prstGeom prst="rect">
            <a:avLst/>
          </a:prstGeom>
        </p:spPr>
      </p:pic>
      <p:sp>
        <p:nvSpPr>
          <p:cNvPr id="31" name="TextBox 30"/>
          <p:cNvSpPr txBox="1"/>
          <p:nvPr/>
        </p:nvSpPr>
        <p:spPr>
          <a:xfrm>
            <a:off x="8845643" y="5861685"/>
            <a:ext cx="2564333" cy="186689"/>
          </a:xfrm>
          <a:prstGeom prst="rect">
            <a:avLst/>
          </a:prstGeom>
          <a:noFill/>
        </p:spPr>
        <p:txBody>
          <a:bodyPr wrap="none" lIns="0" rIns="0" tIns="0" bIns="0">
            <a:spAutoFit/>
          </a:bodyPr>
          <a:lstStyle/>
          <a:p>
            <a:r>
              <a:rPr sz="1100" b="0">
                <a:solidFill>
                  <a:srgbClr val="2E2E2E"/>
                </a:solidFill>
                <a:latin typeface="Calibri"/>
              </a:rPr>
              <a:t>. The extra-strong hold segment is expected</a:t>
            </a:r>
          </a:p>
        </p:txBody>
      </p:sp>
      <p:sp>
        <p:nvSpPr>
          <p:cNvPr id="32" name="TextBox 31"/>
          <p:cNvSpPr txBox="1"/>
          <p:nvPr/>
        </p:nvSpPr>
        <p:spPr>
          <a:xfrm>
            <a:off x="257175" y="6029325"/>
            <a:ext cx="11390501" cy="186689"/>
          </a:xfrm>
          <a:prstGeom prst="rect">
            <a:avLst/>
          </a:prstGeom>
          <a:noFill/>
        </p:spPr>
        <p:txBody>
          <a:bodyPr wrap="none" lIns="0" rIns="0" tIns="0" bIns="0">
            <a:spAutoFit/>
          </a:bodyPr>
          <a:lstStyle/>
          <a:p>
            <a:r>
              <a:rPr sz="1100" b="0">
                <a:solidFill>
                  <a:srgbClr val="2E2E2E"/>
                </a:solidFill>
                <a:latin typeface="Calibri"/>
              </a:rPr>
              <a:t>to be less attractive as compared to other segments over the forecast period, owing to its lower CAGR and incremental opportunity. Bubbles right of the CAGR-Index line grow faster than the segment</a:t>
            </a:r>
          </a:p>
        </p:txBody>
      </p:sp>
      <p:sp>
        <p:nvSpPr>
          <p:cNvPr id="33" name="TextBox 32"/>
          <p:cNvSpPr txBox="1"/>
          <p:nvPr/>
        </p:nvSpPr>
        <p:spPr>
          <a:xfrm>
            <a:off x="257175" y="6196965"/>
            <a:ext cx="561875" cy="186689"/>
          </a:xfrm>
          <a:prstGeom prst="rect">
            <a:avLst/>
          </a:prstGeom>
          <a:noFill/>
        </p:spPr>
        <p:txBody>
          <a:bodyPr wrap="none" lIns="0" rIns="0" tIns="0" bIns="0">
            <a:spAutoFit/>
          </a:bodyPr>
          <a:lstStyle/>
          <a:p>
            <a:r>
              <a:rPr sz="1100" b="0">
                <a:solidFill>
                  <a:srgbClr val="2E2E2E"/>
                </a:solidFill>
                <a:latin typeface="Calibri"/>
              </a:rPr>
              <a:t>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Hold Level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Hold Level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No Hold</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Light or Flexible Hold</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Medium Hold</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Strong Hold</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094826" y="5123309"/>
            <a:ext cx="263506" cy="383281"/>
          </a:xfrm>
          <a:prstGeom prst="rect">
            <a:avLst/>
          </a:prstGeom>
        </p:spPr>
      </p:pic>
      <p:pic>
        <p:nvPicPr>
          <p:cNvPr id="27" name="Picture 26" descr="lock.png"/>
          <p:cNvPicPr>
            <a:picLocks noChangeAspect="1"/>
          </p:cNvPicPr>
          <p:nvPr/>
        </p:nvPicPr>
        <p:blipFill>
          <a:blip r:embed="rId8"/>
          <a:stretch>
            <a:fillRect/>
          </a:stretch>
        </p:blipFill>
        <p:spPr>
          <a:xfrm>
            <a:off x="9124151" y="5123309"/>
            <a:ext cx="263506" cy="383281"/>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Hold Level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Hold Level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Extra-strong Hold</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Hold Level</a:t>
            </a:r>
          </a:p>
        </p:txBody>
      </p:sp>
      <p:sp>
        <p:nvSpPr>
          <p:cNvPr id="15" name="Rectangle 14"/>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400175"/>
            <a:ext cx="4685595" cy="194310"/>
          </a:xfrm>
          <a:prstGeom prst="rect">
            <a:avLst/>
          </a:prstGeom>
          <a:noFill/>
        </p:spPr>
        <p:txBody>
          <a:bodyPr wrap="none" lIns="0" rIns="0" tIns="0" bIns="0">
            <a:spAutoFit/>
          </a:bodyPr>
          <a:lstStyle/>
          <a:p>
            <a:r>
              <a:rPr sz="1150" b="0">
                <a:solidFill>
                  <a:srgbClr val="2E2E2E"/>
                </a:solidFill>
                <a:latin typeface="Calibri"/>
              </a:rPr>
              <a:t>By 2036, light or flexible hold segment is anticipated to witness an increase of</a:t>
            </a:r>
          </a:p>
        </p:txBody>
      </p:sp>
      <p:pic>
        <p:nvPicPr>
          <p:cNvPr id="20" name="Picture 19" descr="lock.png"/>
          <p:cNvPicPr>
            <a:picLocks noChangeAspect="1"/>
          </p:cNvPicPr>
          <p:nvPr/>
        </p:nvPicPr>
        <p:blipFill>
          <a:blip r:embed="rId5"/>
          <a:stretch>
            <a:fillRect/>
          </a:stretch>
        </p:blipFill>
        <p:spPr>
          <a:xfrm>
            <a:off x="10940299" y="1389951"/>
            <a:ext cx="134549" cy="195707"/>
          </a:xfrm>
          <a:prstGeom prst="rect">
            <a:avLst/>
          </a:prstGeom>
        </p:spPr>
      </p:pic>
      <p:sp>
        <p:nvSpPr>
          <p:cNvPr id="21" name="TextBox 20"/>
          <p:cNvSpPr txBox="1"/>
          <p:nvPr/>
        </p:nvSpPr>
        <p:spPr>
          <a:xfrm>
            <a:off x="11115408" y="140017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2" name="TextBox 21"/>
          <p:cNvSpPr txBox="1"/>
          <p:nvPr/>
        </p:nvSpPr>
        <p:spPr>
          <a:xfrm>
            <a:off x="6305550" y="1575435"/>
            <a:ext cx="5341701" cy="194310"/>
          </a:xfrm>
          <a:prstGeom prst="rect">
            <a:avLst/>
          </a:prstGeom>
          <a:noFill/>
        </p:spPr>
        <p:txBody>
          <a:bodyPr wrap="none" lIns="0" rIns="0" tIns="0" bIns="0">
            <a:spAutoFit/>
          </a:bodyPr>
          <a:lstStyle/>
          <a:p>
            <a:r>
              <a:rPr sz="1150" b="0">
                <a:solidFill>
                  <a:srgbClr val="2E2E2E"/>
                </a:solidFill>
                <a:latin typeface="Calibri"/>
              </a:rPr>
              <a:t>of value as compared to 2026. The light or flexible hold segment is expected to create an</a:t>
            </a:r>
          </a:p>
        </p:txBody>
      </p:sp>
      <p:sp>
        <p:nvSpPr>
          <p:cNvPr id="23" name="TextBox 22"/>
          <p:cNvSpPr txBox="1"/>
          <p:nvPr/>
        </p:nvSpPr>
        <p:spPr>
          <a:xfrm>
            <a:off x="6305550" y="175069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4" name="Picture 23" descr="lock.png"/>
          <p:cNvPicPr>
            <a:picLocks noChangeAspect="1"/>
          </p:cNvPicPr>
          <p:nvPr/>
        </p:nvPicPr>
        <p:blipFill>
          <a:blip r:embed="rId5"/>
          <a:stretch>
            <a:fillRect/>
          </a:stretch>
        </p:blipFill>
        <p:spPr>
          <a:xfrm>
            <a:off x="8211582" y="1740471"/>
            <a:ext cx="134549" cy="195707"/>
          </a:xfrm>
          <a:prstGeom prst="rect">
            <a:avLst/>
          </a:prstGeom>
        </p:spPr>
      </p:pic>
      <p:sp>
        <p:nvSpPr>
          <p:cNvPr id="25" name="TextBox 24"/>
          <p:cNvSpPr txBox="1"/>
          <p:nvPr/>
        </p:nvSpPr>
        <p:spPr>
          <a:xfrm>
            <a:off x="8386692" y="1750695"/>
            <a:ext cx="317548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a:t>
            </a:r>
          </a:p>
        </p:txBody>
      </p:sp>
      <p:sp>
        <p:nvSpPr>
          <p:cNvPr id="26" name="TextBox 25"/>
          <p:cNvSpPr txBox="1"/>
          <p:nvPr/>
        </p:nvSpPr>
        <p:spPr>
          <a:xfrm>
            <a:off x="6305550" y="192595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7" name="TextBox 26"/>
          <p:cNvSpPr txBox="1"/>
          <p:nvPr/>
        </p:nvSpPr>
        <p:spPr>
          <a:xfrm>
            <a:off x="6305550" y="2153793"/>
            <a:ext cx="5033342" cy="194310"/>
          </a:xfrm>
          <a:prstGeom prst="rect">
            <a:avLst/>
          </a:prstGeom>
          <a:noFill/>
        </p:spPr>
        <p:txBody>
          <a:bodyPr wrap="none" lIns="0" rIns="0" tIns="0" bIns="0">
            <a:spAutoFit/>
          </a:bodyPr>
          <a:lstStyle/>
          <a:p>
            <a:r>
              <a:rPr sz="1150" b="0">
                <a:solidFill>
                  <a:srgbClr val="2E2E2E"/>
                </a:solidFill>
                <a:latin typeface="Calibri"/>
              </a:rPr>
              <a:t>The medium hold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11288046" y="2143569"/>
            <a:ext cx="134549" cy="195707"/>
          </a:xfrm>
          <a:prstGeom prst="rect">
            <a:avLst/>
          </a:prstGeom>
        </p:spPr>
      </p:pic>
      <p:sp>
        <p:nvSpPr>
          <p:cNvPr id="29" name="TextBox 28"/>
          <p:cNvSpPr txBox="1"/>
          <p:nvPr/>
        </p:nvSpPr>
        <p:spPr>
          <a:xfrm>
            <a:off x="11463155" y="215379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0" name="TextBox 29"/>
          <p:cNvSpPr txBox="1"/>
          <p:nvPr/>
        </p:nvSpPr>
        <p:spPr>
          <a:xfrm>
            <a:off x="6305550" y="2329053"/>
            <a:ext cx="5204779" cy="194310"/>
          </a:xfrm>
          <a:prstGeom prst="rect">
            <a:avLst/>
          </a:prstGeom>
          <a:noFill/>
        </p:spPr>
        <p:txBody>
          <a:bodyPr wrap="none" lIns="0" rIns="0" tIns="0" bIns="0">
            <a:spAutoFit/>
          </a:bodyPr>
          <a:lstStyle/>
          <a:p>
            <a:r>
              <a:rPr sz="1150" b="0">
                <a:solidFill>
                  <a:srgbClr val="2E2E2E"/>
                </a:solidFill>
                <a:latin typeface="Calibri"/>
              </a:rPr>
              <a:t>for the overall hair styling products market from 2026 to 2036. The no hold segment is</a:t>
            </a:r>
          </a:p>
        </p:txBody>
      </p:sp>
      <p:sp>
        <p:nvSpPr>
          <p:cNvPr id="31" name="TextBox 30"/>
          <p:cNvSpPr txBox="1"/>
          <p:nvPr/>
        </p:nvSpPr>
        <p:spPr>
          <a:xfrm>
            <a:off x="6305550" y="2504313"/>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2" name="Picture 31" descr="lock.png"/>
          <p:cNvPicPr>
            <a:picLocks noChangeAspect="1"/>
          </p:cNvPicPr>
          <p:nvPr/>
        </p:nvPicPr>
        <p:blipFill>
          <a:blip r:embed="rId5"/>
          <a:stretch>
            <a:fillRect/>
          </a:stretch>
        </p:blipFill>
        <p:spPr>
          <a:xfrm>
            <a:off x="9540010" y="2494089"/>
            <a:ext cx="134549" cy="195707"/>
          </a:xfrm>
          <a:prstGeom prst="rect">
            <a:avLst/>
          </a:prstGeom>
        </p:spPr>
      </p:pic>
      <p:sp>
        <p:nvSpPr>
          <p:cNvPr id="33" name="TextBox 32"/>
          <p:cNvSpPr txBox="1"/>
          <p:nvPr/>
        </p:nvSpPr>
        <p:spPr>
          <a:xfrm>
            <a:off x="9715119" y="2504313"/>
            <a:ext cx="1834790" cy="194310"/>
          </a:xfrm>
          <a:prstGeom prst="rect">
            <a:avLst/>
          </a:prstGeom>
          <a:noFill/>
        </p:spPr>
        <p:txBody>
          <a:bodyPr wrap="none" lIns="0" rIns="0" tIns="0" bIns="0">
            <a:spAutoFit/>
          </a:bodyPr>
          <a:lstStyle/>
          <a:p>
            <a:r>
              <a:rPr sz="1150" b="0">
                <a:solidFill>
                  <a:srgbClr val="2E2E2E"/>
                </a:solidFill>
                <a:latin typeface="Calibri"/>
              </a:rPr>
              <a:t>Mn for the overall hair styling</a:t>
            </a:r>
          </a:p>
        </p:txBody>
      </p:sp>
      <p:sp>
        <p:nvSpPr>
          <p:cNvPr id="34" name="TextBox 33"/>
          <p:cNvSpPr txBox="1"/>
          <p:nvPr/>
        </p:nvSpPr>
        <p:spPr>
          <a:xfrm>
            <a:off x="6305550" y="2679573"/>
            <a:ext cx="2239280" cy="194310"/>
          </a:xfrm>
          <a:prstGeom prst="rect">
            <a:avLst/>
          </a:prstGeom>
          <a:noFill/>
        </p:spPr>
        <p:txBody>
          <a:bodyPr wrap="none" lIns="0" rIns="0" tIns="0" bIns="0">
            <a:spAutoFit/>
          </a:bodyPr>
          <a:lstStyle/>
          <a:p>
            <a:r>
              <a:rPr sz="1150" b="0">
                <a:solidFill>
                  <a:srgbClr val="2E2E2E"/>
                </a:solidFill>
                <a:latin typeface="Calibri"/>
              </a:rPr>
              <a:t>products market from 2026 to 2036.</a:t>
            </a:r>
          </a:p>
        </p:txBody>
      </p:sp>
      <p:sp>
        <p:nvSpPr>
          <p:cNvPr id="35"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Hold Level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Hold Level,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Hold Level (US$ Mn)</a:t>
            </a:r>
          </a:p>
        </p:txBody>
      </p:sp>
      <p:graphicFrame>
        <p:nvGraphicFramePr>
          <p:cNvPr id="13" name="Table 12"/>
          <p:cNvGraphicFramePr>
            <a:graphicFrameLocks noGrp="1"/>
          </p:cNvGraphicFramePr>
          <p:nvPr/>
        </p:nvGraphicFramePr>
        <p:xfrm>
          <a:off x="152400" y="1238250"/>
          <a:ext cx="11887201" cy="1724028"/>
        </p:xfrm>
        <a:graphic>
          <a:graphicData uri="http://schemas.openxmlformats.org/drawingml/2006/table">
            <a:tbl>
              <a:tblPr>
                <a:tableStyleId>{5C22544A-7EE6-4342-B048-85BDC9FD1C3A}</a:tableStyleId>
              </a:tblPr>
              <a:tblGrid>
                <a:gridCol w="1506219"/>
                <a:gridCol w="610646"/>
                <a:gridCol w="610646"/>
                <a:gridCol w="610646"/>
                <a:gridCol w="610646"/>
                <a:gridCol w="610646"/>
                <a:gridCol w="610646"/>
                <a:gridCol w="610646"/>
                <a:gridCol w="610646"/>
                <a:gridCol w="610646"/>
                <a:gridCol w="610646"/>
                <a:gridCol w="610646"/>
                <a:gridCol w="610646"/>
                <a:gridCol w="610646"/>
                <a:gridCol w="610646"/>
                <a:gridCol w="610646"/>
                <a:gridCol w="610646"/>
                <a:gridCol w="610646"/>
              </a:tblGrid>
              <a:tr h="246126">
                <a:tc>
                  <a:txBody>
                    <a:bodyPr wrap="none"/>
                    <a:lstStyle/>
                    <a:p>
                      <a:pPr algn="l"/>
                      <a:r>
                        <a:rPr sz="1100" b="1">
                          <a:solidFill>
                            <a:srgbClr val="0B2E4A"/>
                          </a:solidFill>
                          <a:latin typeface="Calibri"/>
                        </a:rPr>
                        <a:t>Hold Level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No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Light or Flexible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Medium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Strong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Extra-strong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Hold Level</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62419" y="1956627"/>
            <a:ext cx="366712" cy="533400"/>
          </a:xfrm>
          <a:prstGeom prst="rect">
            <a:avLst/>
          </a:prstGeom>
        </p:spPr>
      </p:pic>
      <p:sp>
        <p:nvSpPr>
          <p:cNvPr id="21" name="TextBox 20"/>
          <p:cNvSpPr txBox="1"/>
          <p:nvPr/>
        </p:nvSpPr>
        <p:spPr>
          <a:xfrm>
            <a:off x="276225" y="3724275"/>
            <a:ext cx="2800089" cy="194310"/>
          </a:xfrm>
          <a:prstGeom prst="rect">
            <a:avLst/>
          </a:prstGeom>
          <a:noFill/>
        </p:spPr>
        <p:txBody>
          <a:bodyPr wrap="none" lIns="0" rIns="0" tIns="0" bIns="0">
            <a:spAutoFit/>
          </a:bodyPr>
          <a:lstStyle/>
          <a:p>
            <a:r>
              <a:rPr sz="1150" b="0">
                <a:solidFill>
                  <a:srgbClr val="2E2E2E"/>
                </a:solidFill>
                <a:latin typeface="Calibri"/>
              </a:rPr>
              <a:t>Medium hold segment is projected to register</a:t>
            </a:r>
          </a:p>
        </p:txBody>
      </p:sp>
      <p:pic>
        <p:nvPicPr>
          <p:cNvPr id="22" name="Picture 21" descr="lock.png"/>
          <p:cNvPicPr>
            <a:picLocks noChangeAspect="1"/>
          </p:cNvPicPr>
          <p:nvPr/>
        </p:nvPicPr>
        <p:blipFill>
          <a:blip r:embed="rId4"/>
          <a:stretch>
            <a:fillRect/>
          </a:stretch>
        </p:blipFill>
        <p:spPr>
          <a:xfrm>
            <a:off x="3025468" y="3714051"/>
            <a:ext cx="134549" cy="195707"/>
          </a:xfrm>
          <a:prstGeom prst="rect">
            <a:avLst/>
          </a:prstGeom>
        </p:spPr>
      </p:pic>
      <p:sp>
        <p:nvSpPr>
          <p:cNvPr id="23" name="TextBox 22"/>
          <p:cNvSpPr txBox="1"/>
          <p:nvPr/>
        </p:nvSpPr>
        <p:spPr>
          <a:xfrm>
            <a:off x="3200577" y="3724275"/>
            <a:ext cx="8643230" cy="194310"/>
          </a:xfrm>
          <a:prstGeom prst="rect">
            <a:avLst/>
          </a:prstGeom>
          <a:noFill/>
        </p:spPr>
        <p:txBody>
          <a:bodyPr wrap="none" lIns="0" rIns="0" tIns="0" bIns="0">
            <a:spAutoFit/>
          </a:bodyPr>
          <a:lstStyle/>
          <a:p>
            <a:r>
              <a:rPr sz="1150" b="0">
                <a:solidFill>
                  <a:srgbClr val="2E2E2E"/>
                </a:solidFill>
                <a:latin typeface="Calibri"/>
              </a:rPr>
              <a:t>X higher value than light or flexible hold segment in 2036. Among hair styling products by hold level, light or flexible hold segment is expected to</a:t>
            </a:r>
          </a:p>
        </p:txBody>
      </p:sp>
      <p:sp>
        <p:nvSpPr>
          <p:cNvPr id="24" name="TextBox 23"/>
          <p:cNvSpPr txBox="1"/>
          <p:nvPr/>
        </p:nvSpPr>
        <p:spPr>
          <a:xfrm>
            <a:off x="276225" y="38995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5" name="Picture 24" descr="lock.png"/>
          <p:cNvPicPr>
            <a:picLocks noChangeAspect="1"/>
          </p:cNvPicPr>
          <p:nvPr/>
        </p:nvPicPr>
        <p:blipFill>
          <a:blip r:embed="rId4"/>
          <a:stretch>
            <a:fillRect/>
          </a:stretch>
        </p:blipFill>
        <p:spPr>
          <a:xfrm>
            <a:off x="1973149" y="3889311"/>
            <a:ext cx="134549" cy="195707"/>
          </a:xfrm>
          <a:prstGeom prst="rect">
            <a:avLst/>
          </a:prstGeom>
        </p:spPr>
      </p:pic>
      <p:sp>
        <p:nvSpPr>
          <p:cNvPr id="26" name="TextBox 25"/>
          <p:cNvSpPr txBox="1"/>
          <p:nvPr/>
        </p:nvSpPr>
        <p:spPr>
          <a:xfrm>
            <a:off x="214825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127372"/>
            <a:ext cx="6434794" cy="194310"/>
          </a:xfrm>
          <a:prstGeom prst="rect">
            <a:avLst/>
          </a:prstGeom>
          <a:noFill/>
        </p:spPr>
        <p:txBody>
          <a:bodyPr wrap="none" lIns="0" rIns="0" tIns="0" bIns="0">
            <a:spAutoFit/>
          </a:bodyPr>
          <a:lstStyle/>
          <a:p>
            <a:r>
              <a:rPr sz="1150" b="0">
                <a:solidFill>
                  <a:srgbClr val="2E2E2E"/>
                </a:solidFill>
                <a:latin typeface="Calibri"/>
              </a:rPr>
              <a:t>In terms of value share by hold level, the medium hold segment is expected to dominate the market, losing</a:t>
            </a:r>
          </a:p>
        </p:txBody>
      </p:sp>
      <p:pic>
        <p:nvPicPr>
          <p:cNvPr id="28" name="Picture 27" descr="lock.png"/>
          <p:cNvPicPr>
            <a:picLocks noChangeAspect="1"/>
          </p:cNvPicPr>
          <p:nvPr/>
        </p:nvPicPr>
        <p:blipFill>
          <a:blip r:embed="rId4"/>
          <a:stretch>
            <a:fillRect/>
          </a:stretch>
        </p:blipFill>
        <p:spPr>
          <a:xfrm>
            <a:off x="6660173" y="4117149"/>
            <a:ext cx="134549" cy="195707"/>
          </a:xfrm>
          <a:prstGeom prst="rect">
            <a:avLst/>
          </a:prstGeom>
        </p:spPr>
      </p:pic>
      <p:sp>
        <p:nvSpPr>
          <p:cNvPr id="29" name="TextBox 28"/>
          <p:cNvSpPr txBox="1"/>
          <p:nvPr/>
        </p:nvSpPr>
        <p:spPr>
          <a:xfrm>
            <a:off x="6835283"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8230426" y="4117149"/>
            <a:ext cx="134549" cy="195707"/>
          </a:xfrm>
          <a:prstGeom prst="rect">
            <a:avLst/>
          </a:prstGeom>
        </p:spPr>
      </p:pic>
      <p:sp>
        <p:nvSpPr>
          <p:cNvPr id="31" name="TextBox 30"/>
          <p:cNvSpPr txBox="1"/>
          <p:nvPr/>
        </p:nvSpPr>
        <p:spPr>
          <a:xfrm>
            <a:off x="8405535" y="4127372"/>
            <a:ext cx="2931591" cy="194310"/>
          </a:xfrm>
          <a:prstGeom prst="rect">
            <a:avLst/>
          </a:prstGeom>
          <a:noFill/>
        </p:spPr>
        <p:txBody>
          <a:bodyPr wrap="none" lIns="0" rIns="0" tIns="0" bIns="0">
            <a:spAutoFit/>
          </a:bodyPr>
          <a:lstStyle/>
          <a:p>
            <a:r>
              <a:rPr sz="1150" b="0">
                <a:solidFill>
                  <a:srgbClr val="2E2E2E"/>
                </a:solidFill>
                <a:latin typeface="Calibri"/>
              </a:rPr>
              <a:t>share by 2036. The extra-strong hold segment is</a:t>
            </a:r>
          </a:p>
        </p:txBody>
      </p:sp>
      <p:sp>
        <p:nvSpPr>
          <p:cNvPr id="32" name="TextBox 31"/>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3" name="Picture 32" descr="lock.png"/>
          <p:cNvPicPr>
            <a:picLocks noChangeAspect="1"/>
          </p:cNvPicPr>
          <p:nvPr/>
        </p:nvPicPr>
        <p:blipFill>
          <a:blip r:embed="rId4"/>
          <a:stretch>
            <a:fillRect/>
          </a:stretch>
        </p:blipFill>
        <p:spPr>
          <a:xfrm>
            <a:off x="1280285" y="4292409"/>
            <a:ext cx="134549" cy="195707"/>
          </a:xfrm>
          <a:prstGeom prst="rect">
            <a:avLst/>
          </a:prstGeom>
        </p:spPr>
      </p:pic>
      <p:sp>
        <p:nvSpPr>
          <p:cNvPr id="34" name="TextBox 33"/>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042898" y="4292409"/>
            <a:ext cx="134549" cy="195707"/>
          </a:xfrm>
          <a:prstGeom prst="rect">
            <a:avLst/>
          </a:prstGeom>
        </p:spPr>
      </p:pic>
      <p:sp>
        <p:nvSpPr>
          <p:cNvPr id="36" name="TextBox 35"/>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Hold Level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Hold Level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Hold Level ·  2021 / 2026 / 2036 (US$ Mn)  ·  right axis = BPS share shift</a:t>
            </a:r>
          </a:p>
        </p:txBody>
      </p:sp>
      <p:graphicFrame>
        <p:nvGraphicFramePr>
          <p:cNvPr id="13" name="Chart 12"/>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3932301"/>
            <a:ext cx="38100" cy="38100"/>
          </a:xfrm>
          <a:prstGeom prst="rect">
            <a:avLst/>
          </a:prstGeom>
          <a:noFill/>
        </p:spPr>
        <p:txBody>
          <a:bodyPr wrap="none">
            <a:spAutoFit/>
          </a:bodyPr>
          <a:lstStyle/>
          <a:p/>
        </p:txBody>
      </p:sp>
      <p:sp>
        <p:nvSpPr>
          <p:cNvPr id="16" name="FMI Legend Chip"/>
          <p:cNvSpPr/>
          <p:nvPr/>
        </p:nvSpPr>
        <p:spPr>
          <a:xfrm>
            <a:off x="4928997" y="188935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845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083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Extra-strong Hold</a:t>
            </a:r>
          </a:p>
        </p:txBody>
      </p:sp>
      <p:sp>
        <p:nvSpPr>
          <p:cNvPr id="19" name="BPS Value 1"/>
          <p:cNvSpPr txBox="1"/>
          <p:nvPr/>
        </p:nvSpPr>
        <p:spPr>
          <a:xfrm>
            <a:off x="6896100" y="18703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73769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7329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6567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No Hold</a:t>
            </a:r>
          </a:p>
        </p:txBody>
      </p:sp>
      <p:sp>
        <p:nvSpPr>
          <p:cNvPr id="23" name="BPS Value 2"/>
          <p:cNvSpPr txBox="1"/>
          <p:nvPr/>
        </p:nvSpPr>
        <p:spPr>
          <a:xfrm>
            <a:off x="6896100" y="271864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367659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6718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5956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Strong Hold</a:t>
            </a:r>
          </a:p>
        </p:txBody>
      </p:sp>
      <p:sp>
        <p:nvSpPr>
          <p:cNvPr id="27" name="BPS Value 3"/>
          <p:cNvSpPr txBox="1"/>
          <p:nvPr/>
        </p:nvSpPr>
        <p:spPr>
          <a:xfrm>
            <a:off x="6896100" y="365754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467325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466849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45922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Light or Flexible Hold</a:t>
            </a:r>
          </a:p>
        </p:txBody>
      </p:sp>
      <p:sp>
        <p:nvSpPr>
          <p:cNvPr id="31" name="BPS Value 4"/>
          <p:cNvSpPr txBox="1"/>
          <p:nvPr/>
        </p:nvSpPr>
        <p:spPr>
          <a:xfrm>
            <a:off x="6896100" y="465420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928997" y="572015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57153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56391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Medium Hold</a:t>
            </a:r>
          </a:p>
        </p:txBody>
      </p:sp>
      <p:sp>
        <p:nvSpPr>
          <p:cNvPr id="35" name="BPS Value 5"/>
          <p:cNvSpPr txBox="1"/>
          <p:nvPr/>
        </p:nvSpPr>
        <p:spPr>
          <a:xfrm>
            <a:off x="6896100" y="570110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Hold Level</a:t>
            </a:r>
          </a:p>
        </p:txBody>
      </p:sp>
      <p:sp>
        <p:nvSpPr>
          <p:cNvPr id="38" name="Rectangle 37"/>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TextBox 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1" name="Picture 40" descr="lock.png"/>
          <p:cNvPicPr>
            <a:picLocks noChangeAspect="1"/>
          </p:cNvPicPr>
          <p:nvPr/>
        </p:nvPicPr>
        <p:blipFill>
          <a:blip r:embed="rId5"/>
          <a:stretch>
            <a:fillRect/>
          </a:stretch>
        </p:blipFill>
        <p:spPr>
          <a:xfrm>
            <a:off x="2557843" y="3751325"/>
            <a:ext cx="275034" cy="400050"/>
          </a:xfrm>
          <a:prstGeom prst="rect">
            <a:avLst/>
          </a:prstGeom>
        </p:spPr>
      </p:pic>
      <p:sp>
        <p:nvSpPr>
          <p:cNvPr id="42" name="TextBox 41"/>
          <p:cNvSpPr txBox="1"/>
          <p:nvPr/>
        </p:nvSpPr>
        <p:spPr>
          <a:xfrm>
            <a:off x="7829550" y="1400175"/>
            <a:ext cx="3780792" cy="194310"/>
          </a:xfrm>
          <a:prstGeom prst="rect">
            <a:avLst/>
          </a:prstGeom>
          <a:noFill/>
        </p:spPr>
        <p:txBody>
          <a:bodyPr wrap="none" lIns="0" rIns="0" tIns="0" bIns="0">
            <a:spAutoFit/>
          </a:bodyPr>
          <a:lstStyle/>
          <a:p>
            <a:r>
              <a:rPr sz="1150" b="0">
                <a:solidFill>
                  <a:srgbClr val="2E2E2E"/>
                </a:solidFill>
                <a:latin typeface="Calibri"/>
              </a:rPr>
              <a:t>Among hair styling products by hold level, light or flexible hold</a:t>
            </a:r>
          </a:p>
        </p:txBody>
      </p:sp>
      <p:sp>
        <p:nvSpPr>
          <p:cNvPr id="43" name="TextBox 42"/>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4" name="Picture 43" descr="lock.png"/>
          <p:cNvPicPr>
            <a:picLocks noChangeAspect="1"/>
          </p:cNvPicPr>
          <p:nvPr/>
        </p:nvPicPr>
        <p:blipFill>
          <a:blip r:embed="rId5"/>
          <a:stretch>
            <a:fillRect/>
          </a:stretch>
        </p:blipFill>
        <p:spPr>
          <a:xfrm>
            <a:off x="10935343" y="1565211"/>
            <a:ext cx="134549" cy="195707"/>
          </a:xfrm>
          <a:prstGeom prst="rect">
            <a:avLst/>
          </a:prstGeom>
        </p:spPr>
      </p:pic>
      <p:sp>
        <p:nvSpPr>
          <p:cNvPr id="45" name="TextBox 44"/>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6" name="TextBox 45"/>
          <p:cNvSpPr txBox="1"/>
          <p:nvPr/>
        </p:nvSpPr>
        <p:spPr>
          <a:xfrm>
            <a:off x="7829550" y="1750695"/>
            <a:ext cx="3990168" cy="194310"/>
          </a:xfrm>
          <a:prstGeom prst="rect">
            <a:avLst/>
          </a:prstGeom>
          <a:noFill/>
        </p:spPr>
        <p:txBody>
          <a:bodyPr wrap="none" lIns="0" rIns="0" tIns="0" bIns="0">
            <a:spAutoFit/>
          </a:bodyPr>
          <a:lstStyle/>
          <a:p>
            <a:r>
              <a:rPr sz="1150" b="0">
                <a:solidFill>
                  <a:srgbClr val="2E2E2E"/>
                </a:solidFill>
                <a:latin typeface="Calibri"/>
              </a:rPr>
              <a:t>forecast period. In terms of value share by hold level, the medium</a:t>
            </a:r>
          </a:p>
        </p:txBody>
      </p:sp>
      <p:sp>
        <p:nvSpPr>
          <p:cNvPr id="47" name="TextBox 46"/>
          <p:cNvSpPr txBox="1"/>
          <p:nvPr/>
        </p:nvSpPr>
        <p:spPr>
          <a:xfrm>
            <a:off x="7829550" y="1925955"/>
            <a:ext cx="3461878" cy="194310"/>
          </a:xfrm>
          <a:prstGeom prst="rect">
            <a:avLst/>
          </a:prstGeom>
          <a:noFill/>
        </p:spPr>
        <p:txBody>
          <a:bodyPr wrap="none" lIns="0" rIns="0" tIns="0" bIns="0">
            <a:spAutoFit/>
          </a:bodyPr>
          <a:lstStyle/>
          <a:p>
            <a:r>
              <a:rPr sz="1150" b="0">
                <a:solidFill>
                  <a:srgbClr val="2E2E2E"/>
                </a:solidFill>
                <a:latin typeface="Calibri"/>
              </a:rPr>
              <a:t>hold segment is expected to dominate the market, losing</a:t>
            </a:r>
          </a:p>
        </p:txBody>
      </p:sp>
      <p:pic>
        <p:nvPicPr>
          <p:cNvPr id="48" name="Picture 47" descr="lock.png"/>
          <p:cNvPicPr>
            <a:picLocks noChangeAspect="1"/>
          </p:cNvPicPr>
          <p:nvPr/>
        </p:nvPicPr>
        <p:blipFill>
          <a:blip r:embed="rId5"/>
          <a:stretch>
            <a:fillRect/>
          </a:stretch>
        </p:blipFill>
        <p:spPr>
          <a:xfrm>
            <a:off x="11240582" y="1915731"/>
            <a:ext cx="134549" cy="195707"/>
          </a:xfrm>
          <a:prstGeom prst="rect">
            <a:avLst/>
          </a:prstGeom>
        </p:spPr>
      </p:pic>
      <p:sp>
        <p:nvSpPr>
          <p:cNvPr id="49" name="TextBox 48"/>
          <p:cNvSpPr txBox="1"/>
          <p:nvPr/>
        </p:nvSpPr>
        <p:spPr>
          <a:xfrm>
            <a:off x="11415691" y="1925955"/>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0" name="TextBox 49"/>
          <p:cNvSpPr txBox="1"/>
          <p:nvPr/>
        </p:nvSpPr>
        <p:spPr>
          <a:xfrm>
            <a:off x="7829550" y="2101215"/>
            <a:ext cx="1190687" cy="194310"/>
          </a:xfrm>
          <a:prstGeom prst="rect">
            <a:avLst/>
          </a:prstGeom>
          <a:noFill/>
        </p:spPr>
        <p:txBody>
          <a:bodyPr wrap="none" lIns="0" rIns="0" tIns="0" bIns="0">
            <a:spAutoFit/>
          </a:bodyPr>
          <a:lstStyle/>
          <a:p>
            <a:r>
              <a:rPr sz="1150" b="0">
                <a:solidFill>
                  <a:srgbClr val="2E2E2E"/>
                </a:solidFill>
                <a:latin typeface="Calibri"/>
              </a:rPr>
              <a:t>and accounting for</a:t>
            </a:r>
          </a:p>
        </p:txBody>
      </p:sp>
      <p:pic>
        <p:nvPicPr>
          <p:cNvPr id="51" name="Picture 50" descr="lock.png"/>
          <p:cNvPicPr>
            <a:picLocks noChangeAspect="1"/>
          </p:cNvPicPr>
          <p:nvPr/>
        </p:nvPicPr>
        <p:blipFill>
          <a:blip r:embed="rId5"/>
          <a:stretch>
            <a:fillRect/>
          </a:stretch>
        </p:blipFill>
        <p:spPr>
          <a:xfrm>
            <a:off x="8969390" y="2090991"/>
            <a:ext cx="134549" cy="195707"/>
          </a:xfrm>
          <a:prstGeom prst="rect">
            <a:avLst/>
          </a:prstGeom>
        </p:spPr>
      </p:pic>
      <p:sp>
        <p:nvSpPr>
          <p:cNvPr id="52" name="TextBox 51"/>
          <p:cNvSpPr txBox="1"/>
          <p:nvPr/>
        </p:nvSpPr>
        <p:spPr>
          <a:xfrm>
            <a:off x="9144500"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329053"/>
            <a:ext cx="3040273" cy="194310"/>
          </a:xfrm>
          <a:prstGeom prst="rect">
            <a:avLst/>
          </a:prstGeom>
          <a:noFill/>
        </p:spPr>
        <p:txBody>
          <a:bodyPr wrap="none" lIns="0" rIns="0" tIns="0" bIns="0">
            <a:spAutoFit/>
          </a:bodyPr>
          <a:lstStyle/>
          <a:p>
            <a:r>
              <a:rPr sz="1150" b="0">
                <a:solidFill>
                  <a:srgbClr val="2E2E2E"/>
                </a:solidFill>
                <a:latin typeface="Calibri"/>
              </a:rPr>
              <a:t>The extra-strong hold segment is expected to lose</a:t>
            </a:r>
          </a:p>
        </p:txBody>
      </p:sp>
      <p:pic>
        <p:nvPicPr>
          <p:cNvPr id="54" name="Picture 53" descr="lock.png"/>
          <p:cNvPicPr>
            <a:picLocks noChangeAspect="1"/>
          </p:cNvPicPr>
          <p:nvPr/>
        </p:nvPicPr>
        <p:blipFill>
          <a:blip r:embed="rId5"/>
          <a:stretch>
            <a:fillRect/>
          </a:stretch>
        </p:blipFill>
        <p:spPr>
          <a:xfrm>
            <a:off x="10818977" y="2318829"/>
            <a:ext cx="134549" cy="195707"/>
          </a:xfrm>
          <a:prstGeom prst="rect">
            <a:avLst/>
          </a:prstGeom>
        </p:spPr>
      </p:pic>
      <p:sp>
        <p:nvSpPr>
          <p:cNvPr id="55" name="TextBox 54"/>
          <p:cNvSpPr txBox="1"/>
          <p:nvPr/>
        </p:nvSpPr>
        <p:spPr>
          <a:xfrm>
            <a:off x="10994086"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6" name="TextBox 55"/>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7" name="Picture 56" descr="lock.png"/>
          <p:cNvPicPr>
            <a:picLocks noChangeAspect="1"/>
          </p:cNvPicPr>
          <p:nvPr/>
        </p:nvPicPr>
        <p:blipFill>
          <a:blip r:embed="rId5"/>
          <a:stretch>
            <a:fillRect/>
          </a:stretch>
        </p:blipFill>
        <p:spPr>
          <a:xfrm>
            <a:off x="9630324" y="2494089"/>
            <a:ext cx="134549" cy="195707"/>
          </a:xfrm>
          <a:prstGeom prst="rect">
            <a:avLst/>
          </a:prstGeom>
        </p:spPr>
      </p:pic>
      <p:sp>
        <p:nvSpPr>
          <p:cNvPr id="58" name="TextBox 57"/>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13"/>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Finish</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Finish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Finish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Finish,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Finish segment categorizes the market by finish.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Matte</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Natural</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Glossy or Wet-look</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Finish split shows how demand is distributed across finish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5_413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10_234_605E5C.png"/>
          <p:cNvPicPr>
            <a:picLocks noChangeAspect="1"/>
          </p:cNvPicPr>
          <p:nvPr/>
        </p:nvPicPr>
        <p:blipFill>
          <a:blip r:embed="rId5"/>
          <a:stretch>
            <a:fillRect/>
          </a:stretch>
        </p:blipFill>
        <p:spPr>
          <a:xfrm>
            <a:off x="2791165" y="2779432"/>
            <a:ext cx="1409020" cy="361950"/>
          </a:xfrm>
          <a:prstGeom prst="rect">
            <a:avLst/>
          </a:prstGeom>
        </p:spPr>
      </p:pic>
      <p:pic>
        <p:nvPicPr>
          <p:cNvPr id="59" name="Picture 58" descr="6_6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5_404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9_746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6_1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5_290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10_707_605E5C.png"/>
          <p:cNvPicPr>
            <a:picLocks noChangeAspect="1"/>
          </p:cNvPicPr>
          <p:nvPr/>
        </p:nvPicPr>
        <p:blipFill>
          <a:blip r:embed="rId11"/>
          <a:stretch>
            <a:fillRect/>
          </a:stretch>
        </p:blipFill>
        <p:spPr>
          <a:xfrm>
            <a:off x="9534865" y="2779432"/>
            <a:ext cx="1409020" cy="361950"/>
          </a:xfrm>
          <a:prstGeom prst="rect">
            <a:avLst/>
          </a:prstGeom>
        </p:spPr>
      </p:pic>
      <p:pic>
        <p:nvPicPr>
          <p:cNvPr id="65" name="Picture 64" descr="7_3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742505" cy="186689"/>
          </a:xfrm>
          <a:prstGeom prst="rect">
            <a:avLst/>
          </a:prstGeom>
          <a:noFill/>
        </p:spPr>
        <p:txBody>
          <a:bodyPr wrap="none" lIns="0" rIns="0" tIns="0" bIns="0">
            <a:spAutoFit/>
          </a:bodyPr>
          <a:lstStyle/>
          <a:p>
            <a:r>
              <a:rPr sz="1100" b="0">
                <a:solidFill>
                  <a:srgbClr val="2E2E2E"/>
                </a:solidFill>
                <a:latin typeface="Calibri"/>
              </a:rPr>
              <a:t>Among hair styling products by finish, glossy or</a:t>
            </a:r>
          </a:p>
        </p:txBody>
      </p:sp>
      <p:sp>
        <p:nvSpPr>
          <p:cNvPr id="70" name="TextBox 69"/>
          <p:cNvSpPr txBox="1"/>
          <p:nvPr/>
        </p:nvSpPr>
        <p:spPr>
          <a:xfrm>
            <a:off x="485775" y="4397077"/>
            <a:ext cx="2610445" cy="186689"/>
          </a:xfrm>
          <a:prstGeom prst="rect">
            <a:avLst/>
          </a:prstGeom>
          <a:noFill/>
        </p:spPr>
        <p:txBody>
          <a:bodyPr wrap="none" lIns="0" rIns="0" tIns="0" bIns="0">
            <a:spAutoFit/>
          </a:bodyPr>
          <a:lstStyle/>
          <a:p>
            <a:r>
              <a:rPr sz="1100" b="0">
                <a:solidFill>
                  <a:srgbClr val="2E2E2E"/>
                </a:solidFill>
                <a:latin typeface="Calibri"/>
              </a:rPr>
              <a:t>wet-look segment is expected to witness the</a:t>
            </a:r>
          </a:p>
        </p:txBody>
      </p:sp>
      <p:sp>
        <p:nvSpPr>
          <p:cNvPr id="71" name="TextBox 70"/>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72" name="Picture 71" descr="lock.png"/>
          <p:cNvPicPr>
            <a:picLocks noChangeAspect="1"/>
          </p:cNvPicPr>
          <p:nvPr/>
        </p:nvPicPr>
        <p:blipFill>
          <a:blip r:embed="rId13"/>
          <a:stretch>
            <a:fillRect/>
          </a:stretch>
        </p:blipFill>
        <p:spPr>
          <a:xfrm>
            <a:off x="1424607" y="4554938"/>
            <a:ext cx="128699" cy="187198"/>
          </a:xfrm>
          <a:prstGeom prst="rect">
            <a:avLst/>
          </a:prstGeom>
        </p:spPr>
      </p:pic>
      <p:sp>
        <p:nvSpPr>
          <p:cNvPr id="73" name="TextBox 72"/>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74" name="TextBox 73"/>
          <p:cNvSpPr txBox="1"/>
          <p:nvPr/>
        </p:nvSpPr>
        <p:spPr>
          <a:xfrm>
            <a:off x="485775" y="4732357"/>
            <a:ext cx="2531864" cy="186689"/>
          </a:xfrm>
          <a:prstGeom prst="rect">
            <a:avLst/>
          </a:prstGeom>
          <a:noFill/>
        </p:spPr>
        <p:txBody>
          <a:bodyPr wrap="none" lIns="0" rIns="0" tIns="0" bIns="0">
            <a:spAutoFit/>
          </a:bodyPr>
          <a:lstStyle/>
          <a:p>
            <a:r>
              <a:rPr sz="1100" b="0">
                <a:solidFill>
                  <a:srgbClr val="2E2E2E"/>
                </a:solidFill>
                <a:latin typeface="Calibri"/>
              </a:rPr>
              <a:t>terms of value share by finish, the glossy or</a:t>
            </a:r>
          </a:p>
        </p:txBody>
      </p:sp>
      <p:sp>
        <p:nvSpPr>
          <p:cNvPr id="75" name="TextBox 74"/>
          <p:cNvSpPr txBox="1"/>
          <p:nvPr/>
        </p:nvSpPr>
        <p:spPr>
          <a:xfrm>
            <a:off x="485775" y="4899997"/>
            <a:ext cx="2726952" cy="186689"/>
          </a:xfrm>
          <a:prstGeom prst="rect">
            <a:avLst/>
          </a:prstGeom>
          <a:noFill/>
        </p:spPr>
        <p:txBody>
          <a:bodyPr wrap="none" lIns="0" rIns="0" tIns="0" bIns="0">
            <a:spAutoFit/>
          </a:bodyPr>
          <a:lstStyle/>
          <a:p>
            <a:r>
              <a:rPr sz="1100" b="0">
                <a:solidFill>
                  <a:srgbClr val="2E2E2E"/>
                </a:solidFill>
                <a:latin typeface="Calibri"/>
              </a:rPr>
              <a:t>wet-look segment is expected to dominate the</a:t>
            </a:r>
          </a:p>
        </p:txBody>
      </p:sp>
      <p:sp>
        <p:nvSpPr>
          <p:cNvPr id="76" name="TextBox 75"/>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77" name="Picture 76" descr="lock.png"/>
          <p:cNvPicPr>
            <a:picLocks noChangeAspect="1"/>
          </p:cNvPicPr>
          <p:nvPr/>
        </p:nvPicPr>
        <p:blipFill>
          <a:blip r:embed="rId13"/>
          <a:stretch>
            <a:fillRect/>
          </a:stretch>
        </p:blipFill>
        <p:spPr>
          <a:xfrm>
            <a:off x="1393519" y="5057858"/>
            <a:ext cx="128699" cy="187198"/>
          </a:xfrm>
          <a:prstGeom prst="rect">
            <a:avLst/>
          </a:prstGeom>
        </p:spPr>
      </p:pic>
      <p:sp>
        <p:nvSpPr>
          <p:cNvPr id="78" name="TextBox 77"/>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9" name="Picture 78" descr="lock.png"/>
          <p:cNvPicPr>
            <a:picLocks noChangeAspect="1"/>
          </p:cNvPicPr>
          <p:nvPr/>
        </p:nvPicPr>
        <p:blipFill>
          <a:blip r:embed="rId13"/>
          <a:stretch>
            <a:fillRect/>
          </a:stretch>
        </p:blipFill>
        <p:spPr>
          <a:xfrm>
            <a:off x="2895500" y="5057858"/>
            <a:ext cx="128699" cy="187198"/>
          </a:xfrm>
          <a:prstGeom prst="rect">
            <a:avLst/>
          </a:prstGeom>
        </p:spPr>
      </p:pic>
      <p:sp>
        <p:nvSpPr>
          <p:cNvPr id="80" name="TextBox 79"/>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Glossy or wet-look segment is projected to register</a:t>
            </a:r>
          </a:p>
        </p:txBody>
      </p:sp>
      <p:pic>
        <p:nvPicPr>
          <p:cNvPr id="82" name="Picture 81" descr="lock.png"/>
          <p:cNvPicPr>
            <a:picLocks noChangeAspect="1"/>
          </p:cNvPicPr>
          <p:nvPr/>
        </p:nvPicPr>
        <p:blipFill>
          <a:blip r:embed="rId13"/>
          <a:stretch>
            <a:fillRect/>
          </a:stretch>
        </p:blipFill>
        <p:spPr>
          <a:xfrm>
            <a:off x="472307" y="5611070"/>
            <a:ext cx="128699" cy="187198"/>
          </a:xfrm>
          <a:prstGeom prst="rect">
            <a:avLst/>
          </a:prstGeom>
        </p:spPr>
      </p:pic>
      <p:sp>
        <p:nvSpPr>
          <p:cNvPr id="83" name="TextBox 82"/>
          <p:cNvSpPr txBox="1"/>
          <p:nvPr/>
        </p:nvSpPr>
        <p:spPr>
          <a:xfrm>
            <a:off x="639803" y="5620849"/>
            <a:ext cx="2556966" cy="186689"/>
          </a:xfrm>
          <a:prstGeom prst="rect">
            <a:avLst/>
          </a:prstGeom>
          <a:noFill/>
        </p:spPr>
        <p:txBody>
          <a:bodyPr wrap="none" lIns="0" rIns="0" tIns="0" bIns="0">
            <a:spAutoFit/>
          </a:bodyPr>
          <a:lstStyle/>
          <a:p>
            <a:r>
              <a:rPr sz="1100" b="0">
                <a:solidFill>
                  <a:srgbClr val="2E2E2E"/>
                </a:solidFill>
                <a:latin typeface="Calibri"/>
              </a:rPr>
              <a:t>X higher value than matte segment in 2036.</a:t>
            </a:r>
          </a:p>
        </p:txBody>
      </p:sp>
      <p:sp>
        <p:nvSpPr>
          <p:cNvPr id="84" name="TextBox 83"/>
          <p:cNvSpPr txBox="1"/>
          <p:nvPr/>
        </p:nvSpPr>
        <p:spPr>
          <a:xfrm>
            <a:off x="3838575" y="4229437"/>
            <a:ext cx="579338" cy="186689"/>
          </a:xfrm>
          <a:prstGeom prst="rect">
            <a:avLst/>
          </a:prstGeom>
          <a:noFill/>
        </p:spPr>
        <p:txBody>
          <a:bodyPr wrap="none" lIns="0" rIns="0" tIns="0" bIns="0">
            <a:spAutoFit/>
          </a:bodyPr>
          <a:lstStyle/>
          <a:p>
            <a:r>
              <a:rPr sz="1100" b="0">
                <a:solidFill>
                  <a:srgbClr val="2E2E2E"/>
                </a:solidFill>
                <a:latin typeface="Calibri"/>
              </a:rPr>
              <a:t>● Matte:</a:t>
            </a:r>
          </a:p>
        </p:txBody>
      </p:sp>
      <p:pic>
        <p:nvPicPr>
          <p:cNvPr id="85" name="Picture 84" descr="lock.png"/>
          <p:cNvPicPr>
            <a:picLocks noChangeAspect="1"/>
          </p:cNvPicPr>
          <p:nvPr/>
        </p:nvPicPr>
        <p:blipFill>
          <a:blip r:embed="rId13"/>
          <a:stretch>
            <a:fillRect/>
          </a:stretch>
        </p:blipFill>
        <p:spPr>
          <a:xfrm>
            <a:off x="4365964" y="4219658"/>
            <a:ext cx="128699" cy="187198"/>
          </a:xfrm>
          <a:prstGeom prst="rect">
            <a:avLst/>
          </a:prstGeom>
        </p:spPr>
      </p:pic>
      <p:sp>
        <p:nvSpPr>
          <p:cNvPr id="86" name="TextBox 85"/>
          <p:cNvSpPr txBox="1"/>
          <p:nvPr/>
        </p:nvSpPr>
        <p:spPr>
          <a:xfrm>
            <a:off x="453346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3"/>
          <a:stretch>
            <a:fillRect/>
          </a:stretch>
        </p:blipFill>
        <p:spPr>
          <a:xfrm>
            <a:off x="5392910" y="4219658"/>
            <a:ext cx="128699" cy="187198"/>
          </a:xfrm>
          <a:prstGeom prst="rect">
            <a:avLst/>
          </a:prstGeom>
        </p:spPr>
      </p:pic>
      <p:sp>
        <p:nvSpPr>
          <p:cNvPr id="88" name="TextBox 87"/>
          <p:cNvSpPr txBox="1"/>
          <p:nvPr/>
        </p:nvSpPr>
        <p:spPr>
          <a:xfrm>
            <a:off x="556040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9" name="TextBox 88"/>
          <p:cNvSpPr txBox="1"/>
          <p:nvPr/>
        </p:nvSpPr>
        <p:spPr>
          <a:xfrm>
            <a:off x="3838575" y="4447369"/>
            <a:ext cx="654918" cy="186689"/>
          </a:xfrm>
          <a:prstGeom prst="rect">
            <a:avLst/>
          </a:prstGeom>
          <a:noFill/>
        </p:spPr>
        <p:txBody>
          <a:bodyPr wrap="none" lIns="0" rIns="0" tIns="0" bIns="0">
            <a:spAutoFit/>
          </a:bodyPr>
          <a:lstStyle/>
          <a:p>
            <a:r>
              <a:rPr sz="1100" b="0">
                <a:solidFill>
                  <a:srgbClr val="2E2E2E"/>
                </a:solidFill>
                <a:latin typeface="Calibri"/>
              </a:rPr>
              <a:t>● Natural:</a:t>
            </a:r>
          </a:p>
        </p:txBody>
      </p:sp>
      <p:pic>
        <p:nvPicPr>
          <p:cNvPr id="90" name="Picture 89" descr="lock.png"/>
          <p:cNvPicPr>
            <a:picLocks noChangeAspect="1"/>
          </p:cNvPicPr>
          <p:nvPr/>
        </p:nvPicPr>
        <p:blipFill>
          <a:blip r:embed="rId13"/>
          <a:stretch>
            <a:fillRect/>
          </a:stretch>
        </p:blipFill>
        <p:spPr>
          <a:xfrm>
            <a:off x="4441544" y="4437590"/>
            <a:ext cx="128699" cy="187198"/>
          </a:xfrm>
          <a:prstGeom prst="rect">
            <a:avLst/>
          </a:prstGeom>
        </p:spPr>
      </p:pic>
      <p:sp>
        <p:nvSpPr>
          <p:cNvPr id="91" name="TextBox 90"/>
          <p:cNvSpPr txBox="1"/>
          <p:nvPr/>
        </p:nvSpPr>
        <p:spPr>
          <a:xfrm>
            <a:off x="460904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2" name="Picture 91" descr="lock.png"/>
          <p:cNvPicPr>
            <a:picLocks noChangeAspect="1"/>
          </p:cNvPicPr>
          <p:nvPr/>
        </p:nvPicPr>
        <p:blipFill>
          <a:blip r:embed="rId13"/>
          <a:stretch>
            <a:fillRect/>
          </a:stretch>
        </p:blipFill>
        <p:spPr>
          <a:xfrm>
            <a:off x="5468490" y="4437590"/>
            <a:ext cx="128699" cy="187198"/>
          </a:xfrm>
          <a:prstGeom prst="rect">
            <a:avLst/>
          </a:prstGeom>
        </p:spPr>
      </p:pic>
      <p:sp>
        <p:nvSpPr>
          <p:cNvPr id="93" name="TextBox 92"/>
          <p:cNvSpPr txBox="1"/>
          <p:nvPr/>
        </p:nvSpPr>
        <p:spPr>
          <a:xfrm>
            <a:off x="5635986"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4" name="TextBox 93"/>
          <p:cNvSpPr txBox="1"/>
          <p:nvPr/>
        </p:nvSpPr>
        <p:spPr>
          <a:xfrm>
            <a:off x="3838575" y="4665301"/>
            <a:ext cx="1308670" cy="186689"/>
          </a:xfrm>
          <a:prstGeom prst="rect">
            <a:avLst/>
          </a:prstGeom>
          <a:noFill/>
        </p:spPr>
        <p:txBody>
          <a:bodyPr wrap="none" lIns="0" rIns="0" tIns="0" bIns="0">
            <a:spAutoFit/>
          </a:bodyPr>
          <a:lstStyle/>
          <a:p>
            <a:r>
              <a:rPr sz="1100" b="0">
                <a:solidFill>
                  <a:srgbClr val="2E2E2E"/>
                </a:solidFill>
                <a:latin typeface="Calibri"/>
              </a:rPr>
              <a:t>● Glossy or Wet-look:</a:t>
            </a:r>
          </a:p>
        </p:txBody>
      </p:sp>
      <p:pic>
        <p:nvPicPr>
          <p:cNvPr id="95" name="Picture 94" descr="lock.png"/>
          <p:cNvPicPr>
            <a:picLocks noChangeAspect="1"/>
          </p:cNvPicPr>
          <p:nvPr/>
        </p:nvPicPr>
        <p:blipFill>
          <a:blip r:embed="rId13"/>
          <a:stretch>
            <a:fillRect/>
          </a:stretch>
        </p:blipFill>
        <p:spPr>
          <a:xfrm>
            <a:off x="5095297" y="4655522"/>
            <a:ext cx="128699" cy="187198"/>
          </a:xfrm>
          <a:prstGeom prst="rect">
            <a:avLst/>
          </a:prstGeom>
        </p:spPr>
      </p:pic>
      <p:sp>
        <p:nvSpPr>
          <p:cNvPr id="96" name="TextBox 95"/>
          <p:cNvSpPr txBox="1"/>
          <p:nvPr/>
        </p:nvSpPr>
        <p:spPr>
          <a:xfrm>
            <a:off x="5262792"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3"/>
          <a:stretch>
            <a:fillRect/>
          </a:stretch>
        </p:blipFill>
        <p:spPr>
          <a:xfrm>
            <a:off x="6122243" y="4655522"/>
            <a:ext cx="128699" cy="187198"/>
          </a:xfrm>
          <a:prstGeom prst="rect">
            <a:avLst/>
          </a:prstGeom>
        </p:spPr>
      </p:pic>
      <p:sp>
        <p:nvSpPr>
          <p:cNvPr id="98" name="TextBox 97"/>
          <p:cNvSpPr txBox="1"/>
          <p:nvPr/>
        </p:nvSpPr>
        <p:spPr>
          <a:xfrm>
            <a:off x="6289738"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9" name="TextBox 98"/>
          <p:cNvSpPr txBox="1"/>
          <p:nvPr/>
        </p:nvSpPr>
        <p:spPr>
          <a:xfrm>
            <a:off x="8524875" y="5842641"/>
            <a:ext cx="3126963" cy="194310"/>
          </a:xfrm>
          <a:prstGeom prst="rect">
            <a:avLst/>
          </a:prstGeom>
          <a:noFill/>
        </p:spPr>
        <p:txBody>
          <a:bodyPr wrap="none" lIns="0" rIns="0" tIns="0" bIns="0">
            <a:spAutoFit/>
          </a:bodyPr>
          <a:lstStyle/>
          <a:p>
            <a:r>
              <a:rPr sz="1150" b="1">
                <a:solidFill>
                  <a:srgbClr val="0B2E4A"/>
                </a:solidFill>
                <a:latin typeface="Calibri"/>
              </a:rPr>
              <a:t>The Finish segment is projected to grow at a CAGR</a:t>
            </a:r>
          </a:p>
        </p:txBody>
      </p:sp>
      <p:sp>
        <p:nvSpPr>
          <p:cNvPr id="100" name="TextBox 99"/>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01" name="Picture 100" descr="lock.png"/>
          <p:cNvPicPr>
            <a:picLocks noChangeAspect="1"/>
          </p:cNvPicPr>
          <p:nvPr/>
        </p:nvPicPr>
        <p:blipFill>
          <a:blip r:embed="rId13"/>
          <a:stretch>
            <a:fillRect/>
          </a:stretch>
        </p:blipFill>
        <p:spPr>
          <a:xfrm>
            <a:off x="8674884" y="6007677"/>
            <a:ext cx="134549" cy="195707"/>
          </a:xfrm>
          <a:prstGeom prst="rect">
            <a:avLst/>
          </a:prstGeom>
        </p:spPr>
      </p:pic>
      <p:sp>
        <p:nvSpPr>
          <p:cNvPr id="102" name="TextBox 101"/>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Finish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Finish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Finish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Finish · Bubble size represents 2036 value</a:t>
            </a:r>
          </a:p>
        </p:txBody>
      </p:sp>
      <p:graphicFrame>
        <p:nvGraphicFramePr>
          <p:cNvPr id="16" name="Chart 15"/>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Glossy or wet-look followed by matte are expected to be the two most attractive finish segments in the global hair styling products market in terms of value over the forecast period. Glossy or wet-look and</a:t>
            </a:r>
          </a:p>
        </p:txBody>
      </p:sp>
      <p:sp>
        <p:nvSpPr>
          <p:cNvPr id="21" name="TextBox 20"/>
          <p:cNvSpPr txBox="1"/>
          <p:nvPr/>
        </p:nvSpPr>
        <p:spPr>
          <a:xfrm>
            <a:off x="257175" y="5945505"/>
            <a:ext cx="1776048" cy="186689"/>
          </a:xfrm>
          <a:prstGeom prst="rect">
            <a:avLst/>
          </a:prstGeom>
          <a:noFill/>
        </p:spPr>
        <p:txBody>
          <a:bodyPr wrap="none" lIns="0" rIns="0" tIns="0" bIns="0">
            <a:spAutoFit/>
          </a:bodyPr>
          <a:lstStyle/>
          <a:p>
            <a:r>
              <a:rPr sz="1100" b="0">
                <a:solidFill>
                  <a:srgbClr val="2E2E2E"/>
                </a:solidFill>
                <a:latin typeface="Calibri"/>
              </a:rPr>
              <a:t>matte exhibit a CAGR index of</a:t>
            </a:r>
          </a:p>
        </p:txBody>
      </p:sp>
      <p:pic>
        <p:nvPicPr>
          <p:cNvPr id="22" name="Picture 21" descr="lock.png"/>
          <p:cNvPicPr>
            <a:picLocks noChangeAspect="1"/>
          </p:cNvPicPr>
          <p:nvPr/>
        </p:nvPicPr>
        <p:blipFill>
          <a:blip r:embed="rId6"/>
          <a:stretch>
            <a:fillRect/>
          </a:stretch>
        </p:blipFill>
        <p:spPr>
          <a:xfrm>
            <a:off x="1981274" y="5935726"/>
            <a:ext cx="128699" cy="187198"/>
          </a:xfrm>
          <a:prstGeom prst="rect">
            <a:avLst/>
          </a:prstGeom>
        </p:spPr>
      </p:pic>
      <p:sp>
        <p:nvSpPr>
          <p:cNvPr id="23" name="TextBox 22"/>
          <p:cNvSpPr txBox="1"/>
          <p:nvPr/>
        </p:nvSpPr>
        <p:spPr>
          <a:xfrm>
            <a:off x="214877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2386664" y="5935726"/>
            <a:ext cx="128699" cy="187198"/>
          </a:xfrm>
          <a:prstGeom prst="rect">
            <a:avLst/>
          </a:prstGeom>
        </p:spPr>
      </p:pic>
      <p:sp>
        <p:nvSpPr>
          <p:cNvPr id="25" name="TextBox 24"/>
          <p:cNvSpPr txBox="1"/>
          <p:nvPr/>
        </p:nvSpPr>
        <p:spPr>
          <a:xfrm>
            <a:off x="2554160"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4163134" y="5935726"/>
            <a:ext cx="128699" cy="187198"/>
          </a:xfrm>
          <a:prstGeom prst="rect">
            <a:avLst/>
          </a:prstGeom>
        </p:spPr>
      </p:pic>
      <p:sp>
        <p:nvSpPr>
          <p:cNvPr id="27" name="TextBox 26"/>
          <p:cNvSpPr txBox="1"/>
          <p:nvPr/>
        </p:nvSpPr>
        <p:spPr>
          <a:xfrm>
            <a:off x="4330630"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4568524" y="5935726"/>
            <a:ext cx="128699" cy="187198"/>
          </a:xfrm>
          <a:prstGeom prst="rect">
            <a:avLst/>
          </a:prstGeom>
        </p:spPr>
      </p:pic>
      <p:sp>
        <p:nvSpPr>
          <p:cNvPr id="29" name="TextBox 28"/>
          <p:cNvSpPr txBox="1"/>
          <p:nvPr/>
        </p:nvSpPr>
        <p:spPr>
          <a:xfrm>
            <a:off x="4736020"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7290424" y="5935726"/>
            <a:ext cx="128699" cy="187198"/>
          </a:xfrm>
          <a:prstGeom prst="rect">
            <a:avLst/>
          </a:prstGeom>
        </p:spPr>
      </p:pic>
      <p:sp>
        <p:nvSpPr>
          <p:cNvPr id="31" name="TextBox 30"/>
          <p:cNvSpPr txBox="1"/>
          <p:nvPr/>
        </p:nvSpPr>
        <p:spPr>
          <a:xfrm>
            <a:off x="7457920" y="5945505"/>
            <a:ext cx="3899396" cy="186689"/>
          </a:xfrm>
          <a:prstGeom prst="rect">
            <a:avLst/>
          </a:prstGeom>
          <a:noFill/>
        </p:spPr>
        <p:txBody>
          <a:bodyPr wrap="none" lIns="0" rIns="0" tIns="0" bIns="0">
            <a:spAutoFit/>
          </a:bodyPr>
          <a:lstStyle/>
          <a:p>
            <a:r>
              <a:rPr sz="1100" b="0">
                <a:solidFill>
                  <a:srgbClr val="2E2E2E"/>
                </a:solidFill>
                <a:latin typeface="Calibri"/>
              </a:rPr>
              <a:t>. The natural segment is expected to be less attractive as compared</a:t>
            </a:r>
          </a:p>
        </p:txBody>
      </p:sp>
      <p:sp>
        <p:nvSpPr>
          <p:cNvPr id="32" name="TextBox 31"/>
          <p:cNvSpPr txBox="1"/>
          <p:nvPr/>
        </p:nvSpPr>
        <p:spPr>
          <a:xfrm>
            <a:off x="257175" y="6113145"/>
            <a:ext cx="9998140" cy="186689"/>
          </a:xfrm>
          <a:prstGeom prst="rect">
            <a:avLst/>
          </a:prstGeom>
          <a:noFill/>
        </p:spPr>
        <p:txBody>
          <a:bodyPr wrap="none" lIns="0" rIns="0" tIns="0" bIns="0">
            <a:spAutoFit/>
          </a:bodyPr>
          <a:lstStyle/>
          <a:p>
            <a:r>
              <a:rPr sz="1100" b="0">
                <a:solidFill>
                  <a:srgbClr val="2E2E2E"/>
                </a:solidFill>
                <a:latin typeface="Calibri"/>
              </a:rPr>
              <a:t>to other segments over the forecast period, owing to its lower CAGR and 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Finish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Finish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Matte</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Natural</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Glossy or Wet-look</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Finish</a:t>
            </a:r>
          </a:p>
        </p:txBody>
      </p:sp>
      <p:sp>
        <p:nvSpPr>
          <p:cNvPr id="22" name="Rectangle 21"/>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9124151" y="2237234"/>
            <a:ext cx="263506" cy="383281"/>
          </a:xfrm>
          <a:prstGeom prst="rect">
            <a:avLst/>
          </a:prstGeom>
        </p:spPr>
      </p:pic>
      <p:pic>
        <p:nvPicPr>
          <p:cNvPr id="27" name="Picture 26" descr="lock.png"/>
          <p:cNvPicPr>
            <a:picLocks noChangeAspect="1"/>
          </p:cNvPicPr>
          <p:nvPr/>
        </p:nvPicPr>
        <p:blipFill>
          <a:blip r:embed="rId7"/>
          <a:stretch>
            <a:fillRect/>
          </a:stretch>
        </p:blipFill>
        <p:spPr>
          <a:xfrm>
            <a:off x="3094826" y="5123309"/>
            <a:ext cx="263506" cy="383281"/>
          </a:xfrm>
          <a:prstGeom prst="rect">
            <a:avLst/>
          </a:prstGeom>
        </p:spPr>
      </p:pic>
      <p:sp>
        <p:nvSpPr>
          <p:cNvPr id="28" name="TextBox 27"/>
          <p:cNvSpPr txBox="1"/>
          <p:nvPr/>
        </p:nvSpPr>
        <p:spPr>
          <a:xfrm>
            <a:off x="6305550" y="4286250"/>
            <a:ext cx="4580336" cy="194310"/>
          </a:xfrm>
          <a:prstGeom prst="rect">
            <a:avLst/>
          </a:prstGeom>
          <a:noFill/>
        </p:spPr>
        <p:txBody>
          <a:bodyPr wrap="none" lIns="0" rIns="0" tIns="0" bIns="0">
            <a:spAutoFit/>
          </a:bodyPr>
          <a:lstStyle/>
          <a:p>
            <a:r>
              <a:rPr sz="1150" b="0">
                <a:solidFill>
                  <a:srgbClr val="2E2E2E"/>
                </a:solidFill>
                <a:latin typeface="Calibri"/>
              </a:rPr>
              <a:t>By 2036, glossy or wet-look segment is anticipated to witness an increase of</a:t>
            </a:r>
          </a:p>
        </p:txBody>
      </p:sp>
      <p:pic>
        <p:nvPicPr>
          <p:cNvPr id="29" name="Picture 28" descr="lock.png"/>
          <p:cNvPicPr>
            <a:picLocks noChangeAspect="1"/>
          </p:cNvPicPr>
          <p:nvPr/>
        </p:nvPicPr>
        <p:blipFill>
          <a:blip r:embed="rId7"/>
          <a:stretch>
            <a:fillRect/>
          </a:stretch>
        </p:blipFill>
        <p:spPr>
          <a:xfrm>
            <a:off x="10835040" y="4276026"/>
            <a:ext cx="134549" cy="195707"/>
          </a:xfrm>
          <a:prstGeom prst="rect">
            <a:avLst/>
          </a:prstGeom>
        </p:spPr>
      </p:pic>
      <p:sp>
        <p:nvSpPr>
          <p:cNvPr id="30" name="TextBox 29"/>
          <p:cNvSpPr txBox="1"/>
          <p:nvPr/>
        </p:nvSpPr>
        <p:spPr>
          <a:xfrm>
            <a:off x="11010150" y="428625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1" name="TextBox 30"/>
          <p:cNvSpPr txBox="1"/>
          <p:nvPr/>
        </p:nvSpPr>
        <p:spPr>
          <a:xfrm>
            <a:off x="6305550" y="4461510"/>
            <a:ext cx="5081835" cy="194310"/>
          </a:xfrm>
          <a:prstGeom prst="rect">
            <a:avLst/>
          </a:prstGeom>
          <a:noFill/>
        </p:spPr>
        <p:txBody>
          <a:bodyPr wrap="none" lIns="0" rIns="0" tIns="0" bIns="0">
            <a:spAutoFit/>
          </a:bodyPr>
          <a:lstStyle/>
          <a:p>
            <a:r>
              <a:rPr sz="1150" b="0">
                <a:solidFill>
                  <a:srgbClr val="2E2E2E"/>
                </a:solidFill>
                <a:latin typeface="Calibri"/>
              </a:rPr>
              <a:t>value as compared to 2026. The glossy or wet-look segment is expected to create an</a:t>
            </a:r>
          </a:p>
        </p:txBody>
      </p:sp>
      <p:sp>
        <p:nvSpPr>
          <p:cNvPr id="32" name="TextBox 31"/>
          <p:cNvSpPr txBox="1"/>
          <p:nvPr/>
        </p:nvSpPr>
        <p:spPr>
          <a:xfrm>
            <a:off x="6305550" y="4636770"/>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3" name="Picture 32" descr="lock.png"/>
          <p:cNvPicPr>
            <a:picLocks noChangeAspect="1"/>
          </p:cNvPicPr>
          <p:nvPr/>
        </p:nvPicPr>
        <p:blipFill>
          <a:blip r:embed="rId7"/>
          <a:stretch>
            <a:fillRect/>
          </a:stretch>
        </p:blipFill>
        <p:spPr>
          <a:xfrm>
            <a:off x="8211582" y="4626546"/>
            <a:ext cx="134549" cy="195707"/>
          </a:xfrm>
          <a:prstGeom prst="rect">
            <a:avLst/>
          </a:prstGeom>
        </p:spPr>
      </p:pic>
      <p:sp>
        <p:nvSpPr>
          <p:cNvPr id="34" name="TextBox 33"/>
          <p:cNvSpPr txBox="1"/>
          <p:nvPr/>
        </p:nvSpPr>
        <p:spPr>
          <a:xfrm>
            <a:off x="8386692" y="4636770"/>
            <a:ext cx="317548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a:t>
            </a:r>
          </a:p>
        </p:txBody>
      </p:sp>
      <p:sp>
        <p:nvSpPr>
          <p:cNvPr id="35" name="TextBox 34"/>
          <p:cNvSpPr txBox="1"/>
          <p:nvPr/>
        </p:nvSpPr>
        <p:spPr>
          <a:xfrm>
            <a:off x="6305550" y="4812029"/>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36" name="TextBox 35"/>
          <p:cNvSpPr txBox="1"/>
          <p:nvPr/>
        </p:nvSpPr>
        <p:spPr>
          <a:xfrm>
            <a:off x="6305550" y="5039867"/>
            <a:ext cx="4600326" cy="194310"/>
          </a:xfrm>
          <a:prstGeom prst="rect">
            <a:avLst/>
          </a:prstGeom>
          <a:noFill/>
        </p:spPr>
        <p:txBody>
          <a:bodyPr wrap="none" lIns="0" rIns="0" tIns="0" bIns="0">
            <a:spAutoFit/>
          </a:bodyPr>
          <a:lstStyle/>
          <a:p>
            <a:r>
              <a:rPr sz="1150" b="0">
                <a:solidFill>
                  <a:srgbClr val="2E2E2E"/>
                </a:solidFill>
                <a:latin typeface="Calibri"/>
              </a:rPr>
              <a:t>The matte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10855030" y="5029644"/>
            <a:ext cx="134549" cy="195707"/>
          </a:xfrm>
          <a:prstGeom prst="rect">
            <a:avLst/>
          </a:prstGeom>
        </p:spPr>
      </p:pic>
      <p:sp>
        <p:nvSpPr>
          <p:cNvPr id="38" name="TextBox 37"/>
          <p:cNvSpPr txBox="1"/>
          <p:nvPr/>
        </p:nvSpPr>
        <p:spPr>
          <a:xfrm>
            <a:off x="11030140" y="503986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9" name="TextBox 38"/>
          <p:cNvSpPr txBox="1"/>
          <p:nvPr/>
        </p:nvSpPr>
        <p:spPr>
          <a:xfrm>
            <a:off x="6305550" y="5215127"/>
            <a:ext cx="5481761" cy="194310"/>
          </a:xfrm>
          <a:prstGeom prst="rect">
            <a:avLst/>
          </a:prstGeom>
          <a:noFill/>
        </p:spPr>
        <p:txBody>
          <a:bodyPr wrap="none" lIns="0" rIns="0" tIns="0" bIns="0">
            <a:spAutoFit/>
          </a:bodyPr>
          <a:lstStyle/>
          <a:p>
            <a:r>
              <a:rPr sz="1150" b="0">
                <a:solidFill>
                  <a:srgbClr val="2E2E2E"/>
                </a:solidFill>
                <a:latin typeface="Calibri"/>
              </a:rPr>
              <a:t>overall hair styling products market from 2026 to 2036. The natural segment is expected to</a:t>
            </a:r>
          </a:p>
        </p:txBody>
      </p:sp>
      <p:sp>
        <p:nvSpPr>
          <p:cNvPr id="40" name="TextBox 39"/>
          <p:cNvSpPr txBox="1"/>
          <p:nvPr/>
        </p:nvSpPr>
        <p:spPr>
          <a:xfrm>
            <a:off x="6305550" y="5390387"/>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41" name="Picture 40" descr="lock.png"/>
          <p:cNvPicPr>
            <a:picLocks noChangeAspect="1"/>
          </p:cNvPicPr>
          <p:nvPr/>
        </p:nvPicPr>
        <p:blipFill>
          <a:blip r:embed="rId7"/>
          <a:stretch>
            <a:fillRect/>
          </a:stretch>
        </p:blipFill>
        <p:spPr>
          <a:xfrm>
            <a:off x="8801773" y="5380164"/>
            <a:ext cx="134549" cy="195707"/>
          </a:xfrm>
          <a:prstGeom prst="rect">
            <a:avLst/>
          </a:prstGeom>
        </p:spPr>
      </p:pic>
      <p:sp>
        <p:nvSpPr>
          <p:cNvPr id="42" name="TextBox 41"/>
          <p:cNvSpPr txBox="1"/>
          <p:nvPr/>
        </p:nvSpPr>
        <p:spPr>
          <a:xfrm>
            <a:off x="8976882" y="5390387"/>
            <a:ext cx="2853146"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a:t>
            </a:r>
          </a:p>
        </p:txBody>
      </p:sp>
      <p:sp>
        <p:nvSpPr>
          <p:cNvPr id="43" name="TextBox 42"/>
          <p:cNvSpPr txBox="1"/>
          <p:nvPr/>
        </p:nvSpPr>
        <p:spPr>
          <a:xfrm>
            <a:off x="6305550" y="5565647"/>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44"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Finish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Finish,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Finish (US$ Mn)</a:t>
            </a:r>
          </a:p>
        </p:txBody>
      </p:sp>
      <p:graphicFrame>
        <p:nvGraphicFramePr>
          <p:cNvPr id="13" name="Table 12"/>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1391556"/>
                <a:gridCol w="617391"/>
                <a:gridCol w="617391"/>
                <a:gridCol w="617391"/>
                <a:gridCol w="617391"/>
                <a:gridCol w="617391"/>
                <a:gridCol w="617391"/>
                <a:gridCol w="617391"/>
                <a:gridCol w="617391"/>
                <a:gridCol w="617391"/>
                <a:gridCol w="617391"/>
                <a:gridCol w="617391"/>
                <a:gridCol w="617391"/>
                <a:gridCol w="617391"/>
                <a:gridCol w="617391"/>
                <a:gridCol w="617391"/>
                <a:gridCol w="617391"/>
                <a:gridCol w="617391"/>
              </a:tblGrid>
              <a:tr h="246126">
                <a:tc>
                  <a:txBody>
                    <a:bodyPr wrap="none"/>
                    <a:lstStyle/>
                    <a:p>
                      <a:pPr algn="l"/>
                      <a:r>
                        <a:rPr sz="1100" b="1">
                          <a:solidFill>
                            <a:srgbClr val="0B2E4A"/>
                          </a:solidFill>
                          <a:latin typeface="Calibri"/>
                        </a:rPr>
                        <a:t>Finish</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Matte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Natural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Glossy or Wet-look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Finish</a:t>
            </a:r>
          </a:p>
        </p:txBody>
      </p:sp>
      <p:sp>
        <p:nvSpPr>
          <p:cNvPr id="17" name="Rectangle 16"/>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05089" y="1713738"/>
            <a:ext cx="366712" cy="533400"/>
          </a:xfrm>
          <a:prstGeom prst="rect">
            <a:avLst/>
          </a:prstGeom>
        </p:spPr>
      </p:pic>
      <p:sp>
        <p:nvSpPr>
          <p:cNvPr id="21" name="TextBox 20"/>
          <p:cNvSpPr txBox="1"/>
          <p:nvPr/>
        </p:nvSpPr>
        <p:spPr>
          <a:xfrm>
            <a:off x="276225" y="3238500"/>
            <a:ext cx="3103884" cy="194310"/>
          </a:xfrm>
          <a:prstGeom prst="rect">
            <a:avLst/>
          </a:prstGeom>
          <a:noFill/>
        </p:spPr>
        <p:txBody>
          <a:bodyPr wrap="none" lIns="0" rIns="0" tIns="0" bIns="0">
            <a:spAutoFit/>
          </a:bodyPr>
          <a:lstStyle/>
          <a:p>
            <a:r>
              <a:rPr sz="1150" b="0">
                <a:solidFill>
                  <a:srgbClr val="2E2E2E"/>
                </a:solidFill>
                <a:latin typeface="Calibri"/>
              </a:rPr>
              <a:t>Glossy or wet-look segment is projected to register</a:t>
            </a:r>
          </a:p>
        </p:txBody>
      </p:sp>
      <p:pic>
        <p:nvPicPr>
          <p:cNvPr id="22" name="Picture 21" descr="lock.png"/>
          <p:cNvPicPr>
            <a:picLocks noChangeAspect="1"/>
          </p:cNvPicPr>
          <p:nvPr/>
        </p:nvPicPr>
        <p:blipFill>
          <a:blip r:embed="rId4"/>
          <a:stretch>
            <a:fillRect/>
          </a:stretch>
        </p:blipFill>
        <p:spPr>
          <a:xfrm>
            <a:off x="3329263" y="3228276"/>
            <a:ext cx="134549" cy="195707"/>
          </a:xfrm>
          <a:prstGeom prst="rect">
            <a:avLst/>
          </a:prstGeom>
        </p:spPr>
      </p:pic>
      <p:sp>
        <p:nvSpPr>
          <p:cNvPr id="23" name="TextBox 22"/>
          <p:cNvSpPr txBox="1"/>
          <p:nvPr/>
        </p:nvSpPr>
        <p:spPr>
          <a:xfrm>
            <a:off x="3504373" y="3238500"/>
            <a:ext cx="8172846" cy="194310"/>
          </a:xfrm>
          <a:prstGeom prst="rect">
            <a:avLst/>
          </a:prstGeom>
          <a:noFill/>
        </p:spPr>
        <p:txBody>
          <a:bodyPr wrap="none" lIns="0" rIns="0" tIns="0" bIns="0">
            <a:spAutoFit/>
          </a:bodyPr>
          <a:lstStyle/>
          <a:p>
            <a:r>
              <a:rPr sz="1150" b="0">
                <a:solidFill>
                  <a:srgbClr val="2E2E2E"/>
                </a:solidFill>
                <a:latin typeface="Calibri"/>
              </a:rPr>
              <a:t>X higher value than matte segment in 2036. Among hair styling products by finish, glossy or wet-look segment is expected to witness the</a:t>
            </a:r>
          </a:p>
        </p:txBody>
      </p:sp>
      <p:sp>
        <p:nvSpPr>
          <p:cNvPr id="24" name="TextBox 23"/>
          <p:cNvSpPr txBox="1"/>
          <p:nvPr/>
        </p:nvSpPr>
        <p:spPr>
          <a:xfrm>
            <a:off x="276225" y="341376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5" name="Picture 24" descr="lock.png"/>
          <p:cNvPicPr>
            <a:picLocks noChangeAspect="1"/>
          </p:cNvPicPr>
          <p:nvPr/>
        </p:nvPicPr>
        <p:blipFill>
          <a:blip r:embed="rId4"/>
          <a:stretch>
            <a:fillRect/>
          </a:stretch>
        </p:blipFill>
        <p:spPr>
          <a:xfrm>
            <a:off x="1257732" y="3403536"/>
            <a:ext cx="134549" cy="195707"/>
          </a:xfrm>
          <a:prstGeom prst="rect">
            <a:avLst/>
          </a:prstGeom>
        </p:spPr>
      </p:pic>
      <p:sp>
        <p:nvSpPr>
          <p:cNvPr id="26" name="TextBox 25"/>
          <p:cNvSpPr txBox="1"/>
          <p:nvPr/>
        </p:nvSpPr>
        <p:spPr>
          <a:xfrm>
            <a:off x="1432841"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3641597"/>
            <a:ext cx="6551178" cy="194310"/>
          </a:xfrm>
          <a:prstGeom prst="rect">
            <a:avLst/>
          </a:prstGeom>
          <a:noFill/>
        </p:spPr>
        <p:txBody>
          <a:bodyPr wrap="none" lIns="0" rIns="0" tIns="0" bIns="0">
            <a:spAutoFit/>
          </a:bodyPr>
          <a:lstStyle/>
          <a:p>
            <a:r>
              <a:rPr sz="1150" b="0">
                <a:solidFill>
                  <a:srgbClr val="2E2E2E"/>
                </a:solidFill>
                <a:latin typeface="Calibri"/>
              </a:rPr>
              <a:t>In terms of value share by finish, the glossy or wet-look segment is expected to dominate the market, gaining</a:t>
            </a:r>
          </a:p>
        </p:txBody>
      </p:sp>
      <p:pic>
        <p:nvPicPr>
          <p:cNvPr id="28" name="Picture 27" descr="lock.png"/>
          <p:cNvPicPr>
            <a:picLocks noChangeAspect="1"/>
          </p:cNvPicPr>
          <p:nvPr/>
        </p:nvPicPr>
        <p:blipFill>
          <a:blip r:embed="rId4"/>
          <a:stretch>
            <a:fillRect/>
          </a:stretch>
        </p:blipFill>
        <p:spPr>
          <a:xfrm>
            <a:off x="6776557" y="3631374"/>
            <a:ext cx="134549" cy="195707"/>
          </a:xfrm>
          <a:prstGeom prst="rect">
            <a:avLst/>
          </a:prstGeom>
        </p:spPr>
      </p:pic>
      <p:sp>
        <p:nvSpPr>
          <p:cNvPr id="29" name="TextBox 28"/>
          <p:cNvSpPr txBox="1"/>
          <p:nvPr/>
        </p:nvSpPr>
        <p:spPr>
          <a:xfrm>
            <a:off x="6951666"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8346809" y="3631374"/>
            <a:ext cx="134549" cy="195707"/>
          </a:xfrm>
          <a:prstGeom prst="rect">
            <a:avLst/>
          </a:prstGeom>
        </p:spPr>
      </p:pic>
      <p:sp>
        <p:nvSpPr>
          <p:cNvPr id="31" name="TextBox 30"/>
          <p:cNvSpPr txBox="1"/>
          <p:nvPr/>
        </p:nvSpPr>
        <p:spPr>
          <a:xfrm>
            <a:off x="8521919" y="3641597"/>
            <a:ext cx="3069083" cy="194310"/>
          </a:xfrm>
          <a:prstGeom prst="rect">
            <a:avLst/>
          </a:prstGeom>
          <a:noFill/>
        </p:spPr>
        <p:txBody>
          <a:bodyPr wrap="none" lIns="0" rIns="0" tIns="0" bIns="0">
            <a:spAutoFit/>
          </a:bodyPr>
          <a:lstStyle/>
          <a:p>
            <a:r>
              <a:rPr sz="1150" b="0">
                <a:solidFill>
                  <a:srgbClr val="2E2E2E"/>
                </a:solidFill>
                <a:latin typeface="Calibri"/>
              </a:rPr>
              <a:t>share by 2036. The natural segment is expected to</a:t>
            </a:r>
          </a:p>
        </p:txBody>
      </p:sp>
      <p:sp>
        <p:nvSpPr>
          <p:cNvPr id="32" name="TextBox 31"/>
          <p:cNvSpPr txBox="1"/>
          <p:nvPr/>
        </p:nvSpPr>
        <p:spPr>
          <a:xfrm>
            <a:off x="276225" y="381685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3" name="Picture 32" descr="lock.png"/>
          <p:cNvPicPr>
            <a:picLocks noChangeAspect="1"/>
          </p:cNvPicPr>
          <p:nvPr/>
        </p:nvPicPr>
        <p:blipFill>
          <a:blip r:embed="rId4"/>
          <a:stretch>
            <a:fillRect/>
          </a:stretch>
        </p:blipFill>
        <p:spPr>
          <a:xfrm>
            <a:off x="542047" y="3806634"/>
            <a:ext cx="134549" cy="195707"/>
          </a:xfrm>
          <a:prstGeom prst="rect">
            <a:avLst/>
          </a:prstGeom>
        </p:spPr>
      </p:pic>
      <p:sp>
        <p:nvSpPr>
          <p:cNvPr id="34" name="TextBox 33"/>
          <p:cNvSpPr txBox="1"/>
          <p:nvPr/>
        </p:nvSpPr>
        <p:spPr>
          <a:xfrm>
            <a:off x="717157"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3304661" y="3806634"/>
            <a:ext cx="134549" cy="195707"/>
          </a:xfrm>
          <a:prstGeom prst="rect">
            <a:avLst/>
          </a:prstGeom>
        </p:spPr>
      </p:pic>
      <p:sp>
        <p:nvSpPr>
          <p:cNvPr id="36" name="TextBox 35"/>
          <p:cNvSpPr txBox="1"/>
          <p:nvPr/>
        </p:nvSpPr>
        <p:spPr>
          <a:xfrm>
            <a:off x="3479771"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Finish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Finish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Finish ·  2021 / 2026 / 2036 (US$ Mn)  ·  right axis = BPS share shift</a:t>
            </a:r>
          </a:p>
        </p:txBody>
      </p:sp>
      <p:graphicFrame>
        <p:nvGraphicFramePr>
          <p:cNvPr id="13" name="Chart 12"/>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3932301"/>
            <a:ext cx="38100" cy="38100"/>
          </a:xfrm>
          <a:prstGeom prst="rect">
            <a:avLst/>
          </a:prstGeom>
          <a:noFill/>
        </p:spPr>
        <p:txBody>
          <a:bodyPr wrap="none">
            <a:spAutoFit/>
          </a:bodyPr>
          <a:lstStyle/>
          <a:p/>
        </p:txBody>
      </p:sp>
      <p:sp>
        <p:nvSpPr>
          <p:cNvPr id="16" name="FMI Legend Chip"/>
          <p:cNvSpPr/>
          <p:nvPr/>
        </p:nvSpPr>
        <p:spPr>
          <a:xfrm>
            <a:off x="4928997" y="225890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5414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17794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Natural</a:t>
            </a:r>
          </a:p>
        </p:txBody>
      </p:sp>
      <p:sp>
        <p:nvSpPr>
          <p:cNvPr id="19" name="BPS Value 1"/>
          <p:cNvSpPr txBox="1"/>
          <p:nvPr/>
        </p:nvSpPr>
        <p:spPr>
          <a:xfrm>
            <a:off x="6896100" y="223985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80104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7962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7200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Matte</a:t>
            </a:r>
          </a:p>
        </p:txBody>
      </p:sp>
      <p:sp>
        <p:nvSpPr>
          <p:cNvPr id="23" name="BPS Value 2"/>
          <p:cNvSpPr txBox="1"/>
          <p:nvPr/>
        </p:nvSpPr>
        <p:spPr>
          <a:xfrm>
            <a:off x="6896100" y="378199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541728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41252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3363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Glossy or Wet-look</a:t>
            </a:r>
          </a:p>
        </p:txBody>
      </p:sp>
      <p:sp>
        <p:nvSpPr>
          <p:cNvPr id="27" name="BPS Value 3"/>
          <p:cNvSpPr txBox="1"/>
          <p:nvPr/>
        </p:nvSpPr>
        <p:spPr>
          <a:xfrm>
            <a:off x="6896100" y="539823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Finish</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751325"/>
            <a:ext cx="275034" cy="400050"/>
          </a:xfrm>
          <a:prstGeom prst="rect">
            <a:avLst/>
          </a:prstGeom>
        </p:spPr>
      </p:pic>
      <p:sp>
        <p:nvSpPr>
          <p:cNvPr id="34" name="TextBox 33"/>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hair styling products by finish, glossy or wet-look segment is</a:t>
            </a:r>
          </a:p>
        </p:txBody>
      </p:sp>
      <p:sp>
        <p:nvSpPr>
          <p:cNvPr id="35" name="TextBox 34"/>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6" name="Picture 35" descr="lock.png"/>
          <p:cNvPicPr>
            <a:picLocks noChangeAspect="1"/>
          </p:cNvPicPr>
          <p:nvPr/>
        </p:nvPicPr>
        <p:blipFill>
          <a:blip r:embed="rId5"/>
          <a:stretch>
            <a:fillRect/>
          </a:stretch>
        </p:blipFill>
        <p:spPr>
          <a:xfrm>
            <a:off x="10264711" y="1565211"/>
            <a:ext cx="134549" cy="195707"/>
          </a:xfrm>
          <a:prstGeom prst="rect">
            <a:avLst/>
          </a:prstGeom>
        </p:spPr>
      </p:pic>
      <p:sp>
        <p:nvSpPr>
          <p:cNvPr id="37" name="TextBox 36"/>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8" name="TextBox 37"/>
          <p:cNvSpPr txBox="1"/>
          <p:nvPr/>
        </p:nvSpPr>
        <p:spPr>
          <a:xfrm>
            <a:off x="7829550" y="1750695"/>
            <a:ext cx="3806180" cy="194310"/>
          </a:xfrm>
          <a:prstGeom prst="rect">
            <a:avLst/>
          </a:prstGeom>
          <a:noFill/>
        </p:spPr>
        <p:txBody>
          <a:bodyPr wrap="none" lIns="0" rIns="0" tIns="0" bIns="0">
            <a:spAutoFit/>
          </a:bodyPr>
          <a:lstStyle/>
          <a:p>
            <a:r>
              <a:rPr sz="1150" b="0">
                <a:solidFill>
                  <a:srgbClr val="2E2E2E"/>
                </a:solidFill>
                <a:latin typeface="Calibri"/>
              </a:rPr>
              <a:t>period. In terms of value share by finish, the glossy or wet-look</a:t>
            </a:r>
          </a:p>
        </p:txBody>
      </p:sp>
      <p:sp>
        <p:nvSpPr>
          <p:cNvPr id="39" name="TextBox 38"/>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40" name="Picture 39" descr="lock.png"/>
          <p:cNvPicPr>
            <a:picLocks noChangeAspect="1"/>
          </p:cNvPicPr>
          <p:nvPr/>
        </p:nvPicPr>
        <p:blipFill>
          <a:blip r:embed="rId5"/>
          <a:stretch>
            <a:fillRect/>
          </a:stretch>
        </p:blipFill>
        <p:spPr>
          <a:xfrm>
            <a:off x="11024645" y="1915731"/>
            <a:ext cx="134549" cy="195707"/>
          </a:xfrm>
          <a:prstGeom prst="rect">
            <a:avLst/>
          </a:prstGeom>
        </p:spPr>
      </p:pic>
      <p:sp>
        <p:nvSpPr>
          <p:cNvPr id="41" name="TextBox 40"/>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2" name="TextBox 41"/>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3" name="Picture 42" descr="lock.png"/>
          <p:cNvPicPr>
            <a:picLocks noChangeAspect="1"/>
          </p:cNvPicPr>
          <p:nvPr/>
        </p:nvPicPr>
        <p:blipFill>
          <a:blip r:embed="rId5"/>
          <a:stretch>
            <a:fillRect/>
          </a:stretch>
        </p:blipFill>
        <p:spPr>
          <a:xfrm>
            <a:off x="8712947" y="2090991"/>
            <a:ext cx="134549" cy="195707"/>
          </a:xfrm>
          <a:prstGeom prst="rect">
            <a:avLst/>
          </a:prstGeom>
        </p:spPr>
      </p:pic>
      <p:sp>
        <p:nvSpPr>
          <p:cNvPr id="44" name="TextBox 43"/>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329053"/>
            <a:ext cx="2439528" cy="194310"/>
          </a:xfrm>
          <a:prstGeom prst="rect">
            <a:avLst/>
          </a:prstGeom>
          <a:noFill/>
        </p:spPr>
        <p:txBody>
          <a:bodyPr wrap="none" lIns="0" rIns="0" tIns="0" bIns="0">
            <a:spAutoFit/>
          </a:bodyPr>
          <a:lstStyle/>
          <a:p>
            <a:r>
              <a:rPr sz="1150" b="0">
                <a:solidFill>
                  <a:srgbClr val="2E2E2E"/>
                </a:solidFill>
                <a:latin typeface="Calibri"/>
              </a:rPr>
              <a:t>The natural segment is expected to lose</a:t>
            </a:r>
          </a:p>
        </p:txBody>
      </p:sp>
      <p:pic>
        <p:nvPicPr>
          <p:cNvPr id="46" name="Picture 45" descr="lock.png"/>
          <p:cNvPicPr>
            <a:picLocks noChangeAspect="1"/>
          </p:cNvPicPr>
          <p:nvPr/>
        </p:nvPicPr>
        <p:blipFill>
          <a:blip r:embed="rId5"/>
          <a:stretch>
            <a:fillRect/>
          </a:stretch>
        </p:blipFill>
        <p:spPr>
          <a:xfrm>
            <a:off x="10218232" y="2318829"/>
            <a:ext cx="134549" cy="195707"/>
          </a:xfrm>
          <a:prstGeom prst="rect">
            <a:avLst/>
          </a:prstGeom>
        </p:spPr>
      </p:pic>
      <p:sp>
        <p:nvSpPr>
          <p:cNvPr id="47" name="TextBox 46"/>
          <p:cNvSpPr txBox="1"/>
          <p:nvPr/>
        </p:nvSpPr>
        <p:spPr>
          <a:xfrm>
            <a:off x="10393341"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8" name="TextBox 47"/>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9" name="Picture 48" descr="lock.png"/>
          <p:cNvPicPr>
            <a:picLocks noChangeAspect="1"/>
          </p:cNvPicPr>
          <p:nvPr/>
        </p:nvPicPr>
        <p:blipFill>
          <a:blip r:embed="rId5"/>
          <a:stretch>
            <a:fillRect/>
          </a:stretch>
        </p:blipFill>
        <p:spPr>
          <a:xfrm>
            <a:off x="9114014" y="2494089"/>
            <a:ext cx="134549" cy="195707"/>
          </a:xfrm>
          <a:prstGeom prst="rect">
            <a:avLst/>
          </a:prstGeom>
        </p:spPr>
      </p:pic>
      <p:sp>
        <p:nvSpPr>
          <p:cNvPr id="50" name="TextBox 49"/>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13"/>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Distribution Channel,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Mass Retail</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Marketplaces</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Salon and Professional Distributi…</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3_173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5_348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5_4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2_978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6_438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8_0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2_971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5_492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6_3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530499" cy="186689"/>
          </a:xfrm>
          <a:prstGeom prst="rect">
            <a:avLst/>
          </a:prstGeom>
          <a:noFill/>
        </p:spPr>
        <p:txBody>
          <a:bodyPr wrap="none" lIns="0" rIns="0" tIns="0" bIns="0">
            <a:spAutoFit/>
          </a:bodyPr>
          <a:lstStyle/>
          <a:p>
            <a:r>
              <a:rPr sz="1100" b="0">
                <a:solidFill>
                  <a:srgbClr val="2E2E2E"/>
                </a:solidFill>
                <a:latin typeface="Calibri"/>
              </a:rPr>
              <a:t>Among hair styling products by distribution</a:t>
            </a:r>
          </a:p>
        </p:txBody>
      </p:sp>
      <p:sp>
        <p:nvSpPr>
          <p:cNvPr id="70" name="TextBox 6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channel, online marketplaces segment is expected</a:t>
            </a:r>
          </a:p>
        </p:txBody>
      </p:sp>
      <p:sp>
        <p:nvSpPr>
          <p:cNvPr id="71" name="TextBox 70"/>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72" name="Picture 71" descr="lock.png"/>
          <p:cNvPicPr>
            <a:picLocks noChangeAspect="1"/>
          </p:cNvPicPr>
          <p:nvPr/>
        </p:nvPicPr>
        <p:blipFill>
          <a:blip r:embed="rId13"/>
          <a:stretch>
            <a:fillRect/>
          </a:stretch>
        </p:blipFill>
        <p:spPr>
          <a:xfrm>
            <a:off x="2261170" y="4554938"/>
            <a:ext cx="128699" cy="187198"/>
          </a:xfrm>
          <a:prstGeom prst="rect">
            <a:avLst/>
          </a:prstGeom>
        </p:spPr>
      </p:pic>
      <p:sp>
        <p:nvSpPr>
          <p:cNvPr id="73" name="TextBox 72"/>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74" name="TextBox 73"/>
          <p:cNvSpPr txBox="1"/>
          <p:nvPr/>
        </p:nvSpPr>
        <p:spPr>
          <a:xfrm>
            <a:off x="485775" y="4732357"/>
            <a:ext cx="2477566" cy="186689"/>
          </a:xfrm>
          <a:prstGeom prst="rect">
            <a:avLst/>
          </a:prstGeom>
          <a:noFill/>
        </p:spPr>
        <p:txBody>
          <a:bodyPr wrap="none" lIns="0" rIns="0" tIns="0" bIns="0">
            <a:spAutoFit/>
          </a:bodyPr>
          <a:lstStyle/>
          <a:p>
            <a:r>
              <a:rPr sz="1100" b="0">
                <a:solidFill>
                  <a:srgbClr val="2E2E2E"/>
                </a:solidFill>
                <a:latin typeface="Calibri"/>
              </a:rPr>
              <a:t>forecast period. In terms of value share by</a:t>
            </a:r>
          </a:p>
        </p:txBody>
      </p:sp>
      <p:sp>
        <p:nvSpPr>
          <p:cNvPr id="75" name="TextBox 74"/>
          <p:cNvSpPr txBox="1"/>
          <p:nvPr/>
        </p:nvSpPr>
        <p:spPr>
          <a:xfrm>
            <a:off x="485775" y="4899997"/>
            <a:ext cx="2654374" cy="186689"/>
          </a:xfrm>
          <a:prstGeom prst="rect">
            <a:avLst/>
          </a:prstGeom>
          <a:noFill/>
        </p:spPr>
        <p:txBody>
          <a:bodyPr wrap="none" lIns="0" rIns="0" tIns="0" bIns="0">
            <a:spAutoFit/>
          </a:bodyPr>
          <a:lstStyle/>
          <a:p>
            <a:r>
              <a:rPr sz="1100" b="0">
                <a:solidFill>
                  <a:srgbClr val="2E2E2E"/>
                </a:solidFill>
                <a:latin typeface="Calibri"/>
              </a:rPr>
              <a:t>distribution channel, the online marketplaces</a:t>
            </a:r>
          </a:p>
        </p:txBody>
      </p:sp>
      <p:sp>
        <p:nvSpPr>
          <p:cNvPr id="76" name="TextBox 75"/>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77" name="TextBox 76"/>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78" name="Picture 77" descr="lock.png"/>
          <p:cNvPicPr>
            <a:picLocks noChangeAspect="1"/>
          </p:cNvPicPr>
          <p:nvPr/>
        </p:nvPicPr>
        <p:blipFill>
          <a:blip r:embed="rId13"/>
          <a:stretch>
            <a:fillRect/>
          </a:stretch>
        </p:blipFill>
        <p:spPr>
          <a:xfrm>
            <a:off x="919576" y="5225498"/>
            <a:ext cx="128699" cy="187198"/>
          </a:xfrm>
          <a:prstGeom prst="rect">
            <a:avLst/>
          </a:prstGeom>
        </p:spPr>
      </p:pic>
      <p:sp>
        <p:nvSpPr>
          <p:cNvPr id="79" name="TextBox 78"/>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0" name="Picture 79" descr="lock.png"/>
          <p:cNvPicPr>
            <a:picLocks noChangeAspect="1"/>
          </p:cNvPicPr>
          <p:nvPr/>
        </p:nvPicPr>
        <p:blipFill>
          <a:blip r:embed="rId13"/>
          <a:stretch>
            <a:fillRect/>
          </a:stretch>
        </p:blipFill>
        <p:spPr>
          <a:xfrm>
            <a:off x="2421557" y="5225498"/>
            <a:ext cx="128699" cy="187198"/>
          </a:xfrm>
          <a:prstGeom prst="rect">
            <a:avLst/>
          </a:prstGeom>
        </p:spPr>
      </p:pic>
      <p:sp>
        <p:nvSpPr>
          <p:cNvPr id="81" name="TextBox 80"/>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82" name="TextBox 81"/>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3" name="TextBox 82"/>
          <p:cNvSpPr txBox="1"/>
          <p:nvPr/>
        </p:nvSpPr>
        <p:spPr>
          <a:xfrm>
            <a:off x="485775" y="5620849"/>
            <a:ext cx="2617812" cy="186689"/>
          </a:xfrm>
          <a:prstGeom prst="rect">
            <a:avLst/>
          </a:prstGeom>
          <a:noFill/>
        </p:spPr>
        <p:txBody>
          <a:bodyPr wrap="none" lIns="0" rIns="0" tIns="0" bIns="0">
            <a:spAutoFit/>
          </a:bodyPr>
          <a:lstStyle/>
          <a:p>
            <a:r>
              <a:rPr sz="1100" b="0">
                <a:solidFill>
                  <a:srgbClr val="2E2E2E"/>
                </a:solidFill>
                <a:latin typeface="Calibri"/>
              </a:rPr>
              <a:t>Online marketplaces segment is projected to</a:t>
            </a:r>
          </a:p>
        </p:txBody>
      </p:sp>
      <p:sp>
        <p:nvSpPr>
          <p:cNvPr id="84" name="TextBox 83"/>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85" name="Picture 84" descr="lock.png"/>
          <p:cNvPicPr>
            <a:picLocks noChangeAspect="1"/>
          </p:cNvPicPr>
          <p:nvPr/>
        </p:nvPicPr>
        <p:blipFill>
          <a:blip r:embed="rId13"/>
          <a:stretch>
            <a:fillRect/>
          </a:stretch>
        </p:blipFill>
        <p:spPr>
          <a:xfrm>
            <a:off x="946316" y="5778710"/>
            <a:ext cx="128699" cy="187198"/>
          </a:xfrm>
          <a:prstGeom prst="rect">
            <a:avLst/>
          </a:prstGeom>
        </p:spPr>
      </p:pic>
      <p:sp>
        <p:nvSpPr>
          <p:cNvPr id="86" name="TextBox 85"/>
          <p:cNvSpPr txBox="1"/>
          <p:nvPr/>
        </p:nvSpPr>
        <p:spPr>
          <a:xfrm>
            <a:off x="1113812" y="5788489"/>
            <a:ext cx="1750144" cy="186689"/>
          </a:xfrm>
          <a:prstGeom prst="rect">
            <a:avLst/>
          </a:prstGeom>
          <a:noFill/>
        </p:spPr>
        <p:txBody>
          <a:bodyPr wrap="none" lIns="0" rIns="0" tIns="0" bIns="0">
            <a:spAutoFit/>
          </a:bodyPr>
          <a:lstStyle/>
          <a:p>
            <a:r>
              <a:rPr sz="1100" b="0">
                <a:solidFill>
                  <a:srgbClr val="2E2E2E"/>
                </a:solidFill>
                <a:latin typeface="Calibri"/>
              </a:rPr>
              <a:t>X higher value than salon and</a:t>
            </a:r>
          </a:p>
        </p:txBody>
      </p:sp>
      <p:sp>
        <p:nvSpPr>
          <p:cNvPr id="87" name="TextBox 86"/>
          <p:cNvSpPr txBox="1"/>
          <p:nvPr/>
        </p:nvSpPr>
        <p:spPr>
          <a:xfrm>
            <a:off x="485775" y="5956129"/>
            <a:ext cx="2475383" cy="186689"/>
          </a:xfrm>
          <a:prstGeom prst="rect">
            <a:avLst/>
          </a:prstGeom>
          <a:noFill/>
        </p:spPr>
        <p:txBody>
          <a:bodyPr wrap="none" lIns="0" rIns="0" tIns="0" bIns="0">
            <a:spAutoFit/>
          </a:bodyPr>
          <a:lstStyle/>
          <a:p>
            <a:r>
              <a:rPr sz="1100" b="0">
                <a:solidFill>
                  <a:srgbClr val="2E2E2E"/>
                </a:solidFill>
                <a:latin typeface="Calibri"/>
              </a:rPr>
              <a:t>professional distribution segment in 2036.</a:t>
            </a:r>
          </a:p>
        </p:txBody>
      </p:sp>
      <p:sp>
        <p:nvSpPr>
          <p:cNvPr id="88" name="TextBox 87"/>
          <p:cNvSpPr txBox="1"/>
          <p:nvPr/>
        </p:nvSpPr>
        <p:spPr>
          <a:xfrm>
            <a:off x="3838575" y="4229437"/>
            <a:ext cx="880293" cy="186689"/>
          </a:xfrm>
          <a:prstGeom prst="rect">
            <a:avLst/>
          </a:prstGeom>
          <a:noFill/>
        </p:spPr>
        <p:txBody>
          <a:bodyPr wrap="none" lIns="0" rIns="0" tIns="0" bIns="0">
            <a:spAutoFit/>
          </a:bodyPr>
          <a:lstStyle/>
          <a:p>
            <a:r>
              <a:rPr sz="1100" b="0">
                <a:solidFill>
                  <a:srgbClr val="2E2E2E"/>
                </a:solidFill>
                <a:latin typeface="Calibri"/>
              </a:rPr>
              <a:t>● Mass Retail:</a:t>
            </a:r>
          </a:p>
        </p:txBody>
      </p:sp>
      <p:pic>
        <p:nvPicPr>
          <p:cNvPr id="89" name="Picture 88" descr="lock.png"/>
          <p:cNvPicPr>
            <a:picLocks noChangeAspect="1"/>
          </p:cNvPicPr>
          <p:nvPr/>
        </p:nvPicPr>
        <p:blipFill>
          <a:blip r:embed="rId13"/>
          <a:stretch>
            <a:fillRect/>
          </a:stretch>
        </p:blipFill>
        <p:spPr>
          <a:xfrm>
            <a:off x="4666920" y="4219658"/>
            <a:ext cx="128699" cy="187198"/>
          </a:xfrm>
          <a:prstGeom prst="rect">
            <a:avLst/>
          </a:prstGeom>
        </p:spPr>
      </p:pic>
      <p:sp>
        <p:nvSpPr>
          <p:cNvPr id="90" name="TextBox 89"/>
          <p:cNvSpPr txBox="1"/>
          <p:nvPr/>
        </p:nvSpPr>
        <p:spPr>
          <a:xfrm>
            <a:off x="483441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1" name="Picture 90" descr="lock.png"/>
          <p:cNvPicPr>
            <a:picLocks noChangeAspect="1"/>
          </p:cNvPicPr>
          <p:nvPr/>
        </p:nvPicPr>
        <p:blipFill>
          <a:blip r:embed="rId13"/>
          <a:stretch>
            <a:fillRect/>
          </a:stretch>
        </p:blipFill>
        <p:spPr>
          <a:xfrm>
            <a:off x="5693866" y="4219658"/>
            <a:ext cx="128699" cy="187198"/>
          </a:xfrm>
          <a:prstGeom prst="rect">
            <a:avLst/>
          </a:prstGeom>
        </p:spPr>
      </p:pic>
      <p:sp>
        <p:nvSpPr>
          <p:cNvPr id="92" name="TextBox 91"/>
          <p:cNvSpPr txBox="1"/>
          <p:nvPr/>
        </p:nvSpPr>
        <p:spPr>
          <a:xfrm>
            <a:off x="5861362"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93" name="TextBox 92"/>
          <p:cNvSpPr txBox="1"/>
          <p:nvPr/>
        </p:nvSpPr>
        <p:spPr>
          <a:xfrm>
            <a:off x="3838575" y="4447369"/>
            <a:ext cx="1405532" cy="186689"/>
          </a:xfrm>
          <a:prstGeom prst="rect">
            <a:avLst/>
          </a:prstGeom>
          <a:noFill/>
        </p:spPr>
        <p:txBody>
          <a:bodyPr wrap="none" lIns="0" rIns="0" tIns="0" bIns="0">
            <a:spAutoFit/>
          </a:bodyPr>
          <a:lstStyle/>
          <a:p>
            <a:r>
              <a:rPr sz="1100" b="0">
                <a:solidFill>
                  <a:srgbClr val="2E2E2E"/>
                </a:solidFill>
                <a:latin typeface="Calibri"/>
              </a:rPr>
              <a:t>● Online Marketplaces:</a:t>
            </a:r>
          </a:p>
        </p:txBody>
      </p:sp>
      <p:pic>
        <p:nvPicPr>
          <p:cNvPr id="94" name="Picture 93" descr="lock.png"/>
          <p:cNvPicPr>
            <a:picLocks noChangeAspect="1"/>
          </p:cNvPicPr>
          <p:nvPr/>
        </p:nvPicPr>
        <p:blipFill>
          <a:blip r:embed="rId13"/>
          <a:stretch>
            <a:fillRect/>
          </a:stretch>
        </p:blipFill>
        <p:spPr>
          <a:xfrm>
            <a:off x="5192159" y="4437590"/>
            <a:ext cx="128699" cy="187198"/>
          </a:xfrm>
          <a:prstGeom prst="rect">
            <a:avLst/>
          </a:prstGeom>
        </p:spPr>
      </p:pic>
      <p:sp>
        <p:nvSpPr>
          <p:cNvPr id="95" name="TextBox 94"/>
          <p:cNvSpPr txBox="1"/>
          <p:nvPr/>
        </p:nvSpPr>
        <p:spPr>
          <a:xfrm>
            <a:off x="535965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6" name="Picture 95" descr="lock.png"/>
          <p:cNvPicPr>
            <a:picLocks noChangeAspect="1"/>
          </p:cNvPicPr>
          <p:nvPr/>
        </p:nvPicPr>
        <p:blipFill>
          <a:blip r:embed="rId13"/>
          <a:stretch>
            <a:fillRect/>
          </a:stretch>
        </p:blipFill>
        <p:spPr>
          <a:xfrm>
            <a:off x="6219105" y="4437590"/>
            <a:ext cx="128699" cy="187198"/>
          </a:xfrm>
          <a:prstGeom prst="rect">
            <a:avLst/>
          </a:prstGeom>
        </p:spPr>
      </p:pic>
      <p:sp>
        <p:nvSpPr>
          <p:cNvPr id="97" name="TextBox 96"/>
          <p:cNvSpPr txBox="1"/>
          <p:nvPr/>
        </p:nvSpPr>
        <p:spPr>
          <a:xfrm>
            <a:off x="6386601"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8" name="TextBox 97"/>
          <p:cNvSpPr txBox="1"/>
          <p:nvPr/>
        </p:nvSpPr>
        <p:spPr>
          <a:xfrm>
            <a:off x="3838575" y="4665301"/>
            <a:ext cx="2216447" cy="186689"/>
          </a:xfrm>
          <a:prstGeom prst="rect">
            <a:avLst/>
          </a:prstGeom>
          <a:noFill/>
        </p:spPr>
        <p:txBody>
          <a:bodyPr wrap="none" lIns="0" rIns="0" tIns="0" bIns="0">
            <a:spAutoFit/>
          </a:bodyPr>
          <a:lstStyle/>
          <a:p>
            <a:r>
              <a:rPr sz="1100" b="0">
                <a:solidFill>
                  <a:srgbClr val="2E2E2E"/>
                </a:solidFill>
                <a:latin typeface="Calibri"/>
              </a:rPr>
              <a:t>● Salon and Professional Distribution:</a:t>
            </a:r>
          </a:p>
        </p:txBody>
      </p:sp>
      <p:pic>
        <p:nvPicPr>
          <p:cNvPr id="99" name="Picture 98" descr="lock.png"/>
          <p:cNvPicPr>
            <a:picLocks noChangeAspect="1"/>
          </p:cNvPicPr>
          <p:nvPr/>
        </p:nvPicPr>
        <p:blipFill>
          <a:blip r:embed="rId13"/>
          <a:stretch>
            <a:fillRect/>
          </a:stretch>
        </p:blipFill>
        <p:spPr>
          <a:xfrm>
            <a:off x="6003074" y="4655522"/>
            <a:ext cx="128699" cy="187198"/>
          </a:xfrm>
          <a:prstGeom prst="rect">
            <a:avLst/>
          </a:prstGeom>
        </p:spPr>
      </p:pic>
      <p:sp>
        <p:nvSpPr>
          <p:cNvPr id="100" name="TextBox 99"/>
          <p:cNvSpPr txBox="1"/>
          <p:nvPr/>
        </p:nvSpPr>
        <p:spPr>
          <a:xfrm>
            <a:off x="617057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3"/>
          <a:stretch>
            <a:fillRect/>
          </a:stretch>
        </p:blipFill>
        <p:spPr>
          <a:xfrm>
            <a:off x="7030020" y="4655522"/>
            <a:ext cx="128699" cy="187198"/>
          </a:xfrm>
          <a:prstGeom prst="rect">
            <a:avLst/>
          </a:prstGeom>
        </p:spPr>
      </p:pic>
      <p:sp>
        <p:nvSpPr>
          <p:cNvPr id="102" name="TextBox 101"/>
          <p:cNvSpPr txBox="1"/>
          <p:nvPr/>
        </p:nvSpPr>
        <p:spPr>
          <a:xfrm>
            <a:off x="7197516" y="466530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3" name="TextBox 102"/>
          <p:cNvSpPr txBox="1"/>
          <p:nvPr/>
        </p:nvSpPr>
        <p:spPr>
          <a:xfrm>
            <a:off x="3838575" y="483294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04" name="TextBox 103"/>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05" name="TextBox 104"/>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06" name="Picture 105" descr="lock.png"/>
          <p:cNvPicPr>
            <a:picLocks noChangeAspect="1"/>
          </p:cNvPicPr>
          <p:nvPr/>
        </p:nvPicPr>
        <p:blipFill>
          <a:blip r:embed="rId13"/>
          <a:stretch>
            <a:fillRect/>
          </a:stretch>
        </p:blipFill>
        <p:spPr>
          <a:xfrm>
            <a:off x="9651852" y="6007677"/>
            <a:ext cx="134549" cy="195707"/>
          </a:xfrm>
          <a:prstGeom prst="rect">
            <a:avLst/>
          </a:prstGeom>
        </p:spPr>
      </p:pic>
      <p:sp>
        <p:nvSpPr>
          <p:cNvPr id="107" name="TextBox 106"/>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Beauty Specialty Retail</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25" name="Oval 24"/>
          <p:cNvSpPr/>
          <p:nvPr/>
        </p:nvSpPr>
        <p:spPr>
          <a:xfrm>
            <a:off x="333375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26" name="Rounded Rectangle 25"/>
          <p:cNvSpPr/>
          <p:nvPr/>
        </p:nvSpPr>
        <p:spPr>
          <a:xfrm>
            <a:off x="523875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Pharmacies and Drugstores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32" name="Oval 31"/>
          <p:cNvSpPr/>
          <p:nvPr/>
        </p:nvSpPr>
        <p:spPr>
          <a:xfrm>
            <a:off x="670560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33" name="Rounded Rectangle 32"/>
          <p:cNvSpPr/>
          <p:nvPr/>
        </p:nvSpPr>
        <p:spPr>
          <a:xfrm>
            <a:off x="861060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Brand-owned Online Stores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9" name="Oval 38"/>
          <p:cNvSpPr/>
          <p:nvPr/>
        </p:nvSpPr>
        <p:spPr>
          <a:xfrm>
            <a:off x="1007745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6" name="Picture 45" descr="2_510_605E5C.png"/>
          <p:cNvPicPr>
            <a:picLocks noChangeAspect="1"/>
          </p:cNvPicPr>
          <p:nvPr/>
        </p:nvPicPr>
        <p:blipFill>
          <a:blip r:embed="rId4"/>
          <a:stretch>
            <a:fillRect/>
          </a:stretch>
        </p:blipFill>
        <p:spPr>
          <a:xfrm>
            <a:off x="2897811" y="2286582"/>
            <a:ext cx="1195728" cy="361950"/>
          </a:xfrm>
          <a:prstGeom prst="rect">
            <a:avLst/>
          </a:prstGeom>
        </p:spPr>
      </p:pic>
      <p:pic>
        <p:nvPicPr>
          <p:cNvPr id="47" name="Picture 46" descr="4_895_605E5C.png"/>
          <p:cNvPicPr>
            <a:picLocks noChangeAspect="1"/>
          </p:cNvPicPr>
          <p:nvPr/>
        </p:nvPicPr>
        <p:blipFill>
          <a:blip r:embed="rId5"/>
          <a:stretch>
            <a:fillRect/>
          </a:stretch>
        </p:blipFill>
        <p:spPr>
          <a:xfrm>
            <a:off x="2897811" y="2779432"/>
            <a:ext cx="1195728" cy="361950"/>
          </a:xfrm>
          <a:prstGeom prst="rect">
            <a:avLst/>
          </a:prstGeom>
        </p:spPr>
      </p:pic>
      <p:pic>
        <p:nvPicPr>
          <p:cNvPr id="48" name="Picture 47" descr="6_9__605E5C.png"/>
          <p:cNvPicPr>
            <a:picLocks noChangeAspect="1"/>
          </p:cNvPicPr>
          <p:nvPr/>
        </p:nvPicPr>
        <p:blipFill>
          <a:blip r:embed="rId6"/>
          <a:stretch>
            <a:fillRect/>
          </a:stretch>
        </p:blipFill>
        <p:spPr>
          <a:xfrm>
            <a:off x="3004457" y="3272281"/>
            <a:ext cx="982436" cy="361950"/>
          </a:xfrm>
          <a:prstGeom prst="rect">
            <a:avLst/>
          </a:prstGeom>
        </p:spPr>
      </p:pic>
      <p:pic>
        <p:nvPicPr>
          <p:cNvPr id="49" name="Picture 48" descr="2_423_605E5C.png"/>
          <p:cNvPicPr>
            <a:picLocks noChangeAspect="1"/>
          </p:cNvPicPr>
          <p:nvPr/>
        </p:nvPicPr>
        <p:blipFill>
          <a:blip r:embed="rId7"/>
          <a:stretch>
            <a:fillRect/>
          </a:stretch>
        </p:blipFill>
        <p:spPr>
          <a:xfrm>
            <a:off x="6269661" y="2286582"/>
            <a:ext cx="1195728" cy="361950"/>
          </a:xfrm>
          <a:prstGeom prst="rect">
            <a:avLst/>
          </a:prstGeom>
        </p:spPr>
      </p:pic>
      <p:pic>
        <p:nvPicPr>
          <p:cNvPr id="50" name="Picture 49" descr="4_270_605E5C.png"/>
          <p:cNvPicPr>
            <a:picLocks noChangeAspect="1"/>
          </p:cNvPicPr>
          <p:nvPr/>
        </p:nvPicPr>
        <p:blipFill>
          <a:blip r:embed="rId8"/>
          <a:stretch>
            <a:fillRect/>
          </a:stretch>
        </p:blipFill>
        <p:spPr>
          <a:xfrm>
            <a:off x="6269661" y="2779432"/>
            <a:ext cx="1195728" cy="361950"/>
          </a:xfrm>
          <a:prstGeom prst="rect">
            <a:avLst/>
          </a:prstGeom>
        </p:spPr>
      </p:pic>
      <p:pic>
        <p:nvPicPr>
          <p:cNvPr id="51" name="Picture 50" descr="5_8__605E5C.png"/>
          <p:cNvPicPr>
            <a:picLocks noChangeAspect="1"/>
          </p:cNvPicPr>
          <p:nvPr/>
        </p:nvPicPr>
        <p:blipFill>
          <a:blip r:embed="rId9"/>
          <a:stretch>
            <a:fillRect/>
          </a:stretch>
        </p:blipFill>
        <p:spPr>
          <a:xfrm>
            <a:off x="6376307" y="3272281"/>
            <a:ext cx="982436" cy="361950"/>
          </a:xfrm>
          <a:prstGeom prst="rect">
            <a:avLst/>
          </a:prstGeom>
        </p:spPr>
      </p:pic>
      <p:pic>
        <p:nvPicPr>
          <p:cNvPr id="52" name="Picture 51" descr="2_051_605E5C.png"/>
          <p:cNvPicPr>
            <a:picLocks noChangeAspect="1"/>
          </p:cNvPicPr>
          <p:nvPr/>
        </p:nvPicPr>
        <p:blipFill>
          <a:blip r:embed="rId10"/>
          <a:stretch>
            <a:fillRect/>
          </a:stretch>
        </p:blipFill>
        <p:spPr>
          <a:xfrm>
            <a:off x="9641511" y="2286582"/>
            <a:ext cx="1195728" cy="361950"/>
          </a:xfrm>
          <a:prstGeom prst="rect">
            <a:avLst/>
          </a:prstGeom>
        </p:spPr>
      </p:pic>
      <p:pic>
        <p:nvPicPr>
          <p:cNvPr id="53" name="Picture 52" descr="4_245_605E5C.png"/>
          <p:cNvPicPr>
            <a:picLocks noChangeAspect="1"/>
          </p:cNvPicPr>
          <p:nvPr/>
        </p:nvPicPr>
        <p:blipFill>
          <a:blip r:embed="rId11"/>
          <a:stretch>
            <a:fillRect/>
          </a:stretch>
        </p:blipFill>
        <p:spPr>
          <a:xfrm>
            <a:off x="9641511" y="2779432"/>
            <a:ext cx="1195728" cy="361950"/>
          </a:xfrm>
          <a:prstGeom prst="rect">
            <a:avLst/>
          </a:prstGeom>
        </p:spPr>
      </p:pic>
      <p:pic>
        <p:nvPicPr>
          <p:cNvPr id="54" name="Picture 53" descr="7_5__605E5C.png"/>
          <p:cNvPicPr>
            <a:picLocks noChangeAspect="1"/>
          </p:cNvPicPr>
          <p:nvPr/>
        </p:nvPicPr>
        <p:blipFill>
          <a:blip r:embed="rId12"/>
          <a:stretch>
            <a:fillRect/>
          </a:stretch>
        </p:blipFill>
        <p:spPr>
          <a:xfrm>
            <a:off x="9748157" y="3272281"/>
            <a:ext cx="982436" cy="361950"/>
          </a:xfrm>
          <a:prstGeom prst="rect">
            <a:avLst/>
          </a:prstGeom>
        </p:spPr>
      </p:pic>
      <p:pic>
        <p:nvPicPr>
          <p:cNvPr id="55" name="Picture 54" descr="lock.png"/>
          <p:cNvPicPr>
            <a:picLocks noChangeAspect="1"/>
          </p:cNvPicPr>
          <p:nvPr/>
        </p:nvPicPr>
        <p:blipFill>
          <a:blip r:embed="rId13"/>
          <a:stretch>
            <a:fillRect/>
          </a:stretch>
        </p:blipFill>
        <p:spPr>
          <a:xfrm>
            <a:off x="3402330" y="2827057"/>
            <a:ext cx="183356" cy="266700"/>
          </a:xfrm>
          <a:prstGeom prst="rect">
            <a:avLst/>
          </a:prstGeom>
        </p:spPr>
      </p:pic>
      <p:pic>
        <p:nvPicPr>
          <p:cNvPr id="56" name="Picture 55" descr="lock.png"/>
          <p:cNvPicPr>
            <a:picLocks noChangeAspect="1"/>
          </p:cNvPicPr>
          <p:nvPr/>
        </p:nvPicPr>
        <p:blipFill>
          <a:blip r:embed="rId13"/>
          <a:stretch>
            <a:fillRect/>
          </a:stretch>
        </p:blipFill>
        <p:spPr>
          <a:xfrm>
            <a:off x="6774180" y="2827057"/>
            <a:ext cx="183356" cy="266700"/>
          </a:xfrm>
          <a:prstGeom prst="rect">
            <a:avLst/>
          </a:prstGeom>
        </p:spPr>
      </p:pic>
      <p:pic>
        <p:nvPicPr>
          <p:cNvPr id="57" name="Picture 56" descr="lock.png"/>
          <p:cNvPicPr>
            <a:picLocks noChangeAspect="1"/>
          </p:cNvPicPr>
          <p:nvPr/>
        </p:nvPicPr>
        <p:blipFill>
          <a:blip r:embed="rId13"/>
          <a:stretch>
            <a:fillRect/>
          </a:stretch>
        </p:blipFill>
        <p:spPr>
          <a:xfrm>
            <a:off x="10146030" y="2827057"/>
            <a:ext cx="183356" cy="266700"/>
          </a:xfrm>
          <a:prstGeom prst="rect">
            <a:avLst/>
          </a:prstGeom>
        </p:spPr>
      </p:pic>
      <p:sp>
        <p:nvSpPr>
          <p:cNvPr id="58" name="TextBox 57"/>
          <p:cNvSpPr txBox="1"/>
          <p:nvPr/>
        </p:nvSpPr>
        <p:spPr>
          <a:xfrm>
            <a:off x="485775" y="4229437"/>
            <a:ext cx="1520403" cy="186689"/>
          </a:xfrm>
          <a:prstGeom prst="rect">
            <a:avLst/>
          </a:prstGeom>
          <a:noFill/>
        </p:spPr>
        <p:txBody>
          <a:bodyPr wrap="none" lIns="0" rIns="0" tIns="0" bIns="0">
            <a:spAutoFit/>
          </a:bodyPr>
          <a:lstStyle/>
          <a:p>
            <a:r>
              <a:rPr sz="1100" b="0">
                <a:solidFill>
                  <a:srgbClr val="2E2E2E"/>
                </a:solidFill>
                <a:latin typeface="Calibri"/>
              </a:rPr>
              <a:t>● Beauty Specialty Retail:</a:t>
            </a:r>
          </a:p>
        </p:txBody>
      </p:sp>
      <p:pic>
        <p:nvPicPr>
          <p:cNvPr id="59" name="Picture 58" descr="lock.png"/>
          <p:cNvPicPr>
            <a:picLocks noChangeAspect="1"/>
          </p:cNvPicPr>
          <p:nvPr/>
        </p:nvPicPr>
        <p:blipFill>
          <a:blip r:embed="rId13"/>
          <a:stretch>
            <a:fillRect/>
          </a:stretch>
        </p:blipFill>
        <p:spPr>
          <a:xfrm>
            <a:off x="1954229" y="4219658"/>
            <a:ext cx="128699" cy="187198"/>
          </a:xfrm>
          <a:prstGeom prst="rect">
            <a:avLst/>
          </a:prstGeom>
        </p:spPr>
      </p:pic>
      <p:sp>
        <p:nvSpPr>
          <p:cNvPr id="60" name="TextBox 59"/>
          <p:cNvSpPr txBox="1"/>
          <p:nvPr/>
        </p:nvSpPr>
        <p:spPr>
          <a:xfrm>
            <a:off x="212172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1" name="Picture 60" descr="lock.png"/>
          <p:cNvPicPr>
            <a:picLocks noChangeAspect="1"/>
          </p:cNvPicPr>
          <p:nvPr/>
        </p:nvPicPr>
        <p:blipFill>
          <a:blip r:embed="rId13"/>
          <a:stretch>
            <a:fillRect/>
          </a:stretch>
        </p:blipFill>
        <p:spPr>
          <a:xfrm>
            <a:off x="2981175" y="4219658"/>
            <a:ext cx="128699" cy="187198"/>
          </a:xfrm>
          <a:prstGeom prst="rect">
            <a:avLst/>
          </a:prstGeom>
        </p:spPr>
      </p:pic>
      <p:sp>
        <p:nvSpPr>
          <p:cNvPr id="62" name="TextBox 61"/>
          <p:cNvSpPr txBox="1"/>
          <p:nvPr/>
        </p:nvSpPr>
        <p:spPr>
          <a:xfrm>
            <a:off x="3148671"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3" name="TextBox 62"/>
          <p:cNvSpPr txBox="1"/>
          <p:nvPr/>
        </p:nvSpPr>
        <p:spPr>
          <a:xfrm>
            <a:off x="485775" y="4447369"/>
            <a:ext cx="1783977" cy="186689"/>
          </a:xfrm>
          <a:prstGeom prst="rect">
            <a:avLst/>
          </a:prstGeom>
          <a:noFill/>
        </p:spPr>
        <p:txBody>
          <a:bodyPr wrap="none" lIns="0" rIns="0" tIns="0" bIns="0">
            <a:spAutoFit/>
          </a:bodyPr>
          <a:lstStyle/>
          <a:p>
            <a:r>
              <a:rPr sz="1100" b="0">
                <a:solidFill>
                  <a:srgbClr val="2E2E2E"/>
                </a:solidFill>
                <a:latin typeface="Calibri"/>
              </a:rPr>
              <a:t>● Pharmacies and Drugstores:</a:t>
            </a:r>
          </a:p>
        </p:txBody>
      </p:sp>
      <p:pic>
        <p:nvPicPr>
          <p:cNvPr id="64" name="Picture 63" descr="lock.png"/>
          <p:cNvPicPr>
            <a:picLocks noChangeAspect="1"/>
          </p:cNvPicPr>
          <p:nvPr/>
        </p:nvPicPr>
        <p:blipFill>
          <a:blip r:embed="rId13"/>
          <a:stretch>
            <a:fillRect/>
          </a:stretch>
        </p:blipFill>
        <p:spPr>
          <a:xfrm>
            <a:off x="2217804" y="4437590"/>
            <a:ext cx="128699" cy="187198"/>
          </a:xfrm>
          <a:prstGeom prst="rect">
            <a:avLst/>
          </a:prstGeom>
        </p:spPr>
      </p:pic>
      <p:sp>
        <p:nvSpPr>
          <p:cNvPr id="65" name="TextBox 64"/>
          <p:cNvSpPr txBox="1"/>
          <p:nvPr/>
        </p:nvSpPr>
        <p:spPr>
          <a:xfrm>
            <a:off x="238530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6" name="Picture 65" descr="lock.png"/>
          <p:cNvPicPr>
            <a:picLocks noChangeAspect="1"/>
          </p:cNvPicPr>
          <p:nvPr/>
        </p:nvPicPr>
        <p:blipFill>
          <a:blip r:embed="rId13"/>
          <a:stretch>
            <a:fillRect/>
          </a:stretch>
        </p:blipFill>
        <p:spPr>
          <a:xfrm>
            <a:off x="3244750" y="4437590"/>
            <a:ext cx="128699" cy="187198"/>
          </a:xfrm>
          <a:prstGeom prst="rect">
            <a:avLst/>
          </a:prstGeom>
        </p:spPr>
      </p:pic>
      <p:sp>
        <p:nvSpPr>
          <p:cNvPr id="67" name="TextBox 66"/>
          <p:cNvSpPr txBox="1"/>
          <p:nvPr/>
        </p:nvSpPr>
        <p:spPr>
          <a:xfrm>
            <a:off x="3412246"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8" name="TextBox 67"/>
          <p:cNvSpPr txBox="1"/>
          <p:nvPr/>
        </p:nvSpPr>
        <p:spPr>
          <a:xfrm>
            <a:off x="485775" y="4665301"/>
            <a:ext cx="1795164" cy="186689"/>
          </a:xfrm>
          <a:prstGeom prst="rect">
            <a:avLst/>
          </a:prstGeom>
          <a:noFill/>
        </p:spPr>
        <p:txBody>
          <a:bodyPr wrap="none" lIns="0" rIns="0" tIns="0" bIns="0">
            <a:spAutoFit/>
          </a:bodyPr>
          <a:lstStyle/>
          <a:p>
            <a:r>
              <a:rPr sz="1100" b="0">
                <a:solidFill>
                  <a:srgbClr val="2E2E2E"/>
                </a:solidFill>
                <a:latin typeface="Calibri"/>
              </a:rPr>
              <a:t>● Brand-owned Online Stores:</a:t>
            </a:r>
          </a:p>
        </p:txBody>
      </p:sp>
      <p:pic>
        <p:nvPicPr>
          <p:cNvPr id="69" name="Picture 68" descr="lock.png"/>
          <p:cNvPicPr>
            <a:picLocks noChangeAspect="1"/>
          </p:cNvPicPr>
          <p:nvPr/>
        </p:nvPicPr>
        <p:blipFill>
          <a:blip r:embed="rId13"/>
          <a:stretch>
            <a:fillRect/>
          </a:stretch>
        </p:blipFill>
        <p:spPr>
          <a:xfrm>
            <a:off x="2228991" y="4655522"/>
            <a:ext cx="128699" cy="187198"/>
          </a:xfrm>
          <a:prstGeom prst="rect">
            <a:avLst/>
          </a:prstGeom>
        </p:spPr>
      </p:pic>
      <p:sp>
        <p:nvSpPr>
          <p:cNvPr id="70" name="TextBox 69"/>
          <p:cNvSpPr txBox="1"/>
          <p:nvPr/>
        </p:nvSpPr>
        <p:spPr>
          <a:xfrm>
            <a:off x="239648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1" name="Picture 70" descr="lock.png"/>
          <p:cNvPicPr>
            <a:picLocks noChangeAspect="1"/>
          </p:cNvPicPr>
          <p:nvPr/>
        </p:nvPicPr>
        <p:blipFill>
          <a:blip r:embed="rId13"/>
          <a:stretch>
            <a:fillRect/>
          </a:stretch>
        </p:blipFill>
        <p:spPr>
          <a:xfrm>
            <a:off x="3255937" y="4655522"/>
            <a:ext cx="128699" cy="187198"/>
          </a:xfrm>
          <a:prstGeom prst="rect">
            <a:avLst/>
          </a:prstGeom>
        </p:spPr>
      </p:pic>
      <p:sp>
        <p:nvSpPr>
          <p:cNvPr id="72" name="TextBox 71"/>
          <p:cNvSpPr txBox="1"/>
          <p:nvPr/>
        </p:nvSpPr>
        <p:spPr>
          <a:xfrm>
            <a:off x="342343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504314" cy="186689"/>
          </a:xfrm>
          <a:prstGeom prst="rect">
            <a:avLst/>
          </a:prstGeom>
          <a:noFill/>
        </p:spPr>
        <p:txBody>
          <a:bodyPr wrap="none" lIns="0" rIns="0" tIns="0" bIns="0">
            <a:spAutoFit/>
          </a:bodyPr>
          <a:lstStyle/>
          <a:p>
            <a:r>
              <a:rPr sz="1100" b="0">
                <a:solidFill>
                  <a:srgbClr val="2E2E2E"/>
                </a:solidFill>
                <a:latin typeface="Calibri"/>
              </a:rPr>
              <a:t>Online marketplaces followed by salon and professional distribution are expected to be the two most attractive distribution channel segments in the global hair styling products market in terms of value</a:t>
            </a:r>
          </a:p>
        </p:txBody>
      </p:sp>
      <p:sp>
        <p:nvSpPr>
          <p:cNvPr id="21" name="TextBox 20"/>
          <p:cNvSpPr txBox="1"/>
          <p:nvPr/>
        </p:nvSpPr>
        <p:spPr>
          <a:xfrm>
            <a:off x="257175" y="5861685"/>
            <a:ext cx="6285193" cy="186689"/>
          </a:xfrm>
          <a:prstGeom prst="rect">
            <a:avLst/>
          </a:prstGeom>
          <a:noFill/>
        </p:spPr>
        <p:txBody>
          <a:bodyPr wrap="none" lIns="0" rIns="0" tIns="0" bIns="0">
            <a:spAutoFit/>
          </a:bodyPr>
          <a:lstStyle/>
          <a:p>
            <a:r>
              <a:rPr sz="1100" b="0">
                <a:solidFill>
                  <a:srgbClr val="2E2E2E"/>
                </a:solidFill>
                <a:latin typeface="Calibri"/>
              </a:rPr>
              <a:t>over the forecast period. Online marketplaces and salon and professional distribution exhibit a CAGR index of</a:t>
            </a:r>
          </a:p>
        </p:txBody>
      </p:sp>
      <p:pic>
        <p:nvPicPr>
          <p:cNvPr id="22" name="Picture 21" descr="lock.png"/>
          <p:cNvPicPr>
            <a:picLocks noChangeAspect="1"/>
          </p:cNvPicPr>
          <p:nvPr/>
        </p:nvPicPr>
        <p:blipFill>
          <a:blip r:embed="rId6"/>
          <a:stretch>
            <a:fillRect/>
          </a:stretch>
        </p:blipFill>
        <p:spPr>
          <a:xfrm>
            <a:off x="6490419" y="5851905"/>
            <a:ext cx="128699" cy="187198"/>
          </a:xfrm>
          <a:prstGeom prst="rect">
            <a:avLst/>
          </a:prstGeom>
        </p:spPr>
      </p:pic>
      <p:sp>
        <p:nvSpPr>
          <p:cNvPr id="23" name="TextBox 22"/>
          <p:cNvSpPr txBox="1"/>
          <p:nvPr/>
        </p:nvSpPr>
        <p:spPr>
          <a:xfrm>
            <a:off x="665791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6895809" y="5851905"/>
            <a:ext cx="128699" cy="187198"/>
          </a:xfrm>
          <a:prstGeom prst="rect">
            <a:avLst/>
          </a:prstGeom>
        </p:spPr>
      </p:pic>
      <p:sp>
        <p:nvSpPr>
          <p:cNvPr id="25" name="TextBox 24"/>
          <p:cNvSpPr txBox="1"/>
          <p:nvPr/>
        </p:nvSpPr>
        <p:spPr>
          <a:xfrm>
            <a:off x="706330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8672279" y="5851905"/>
            <a:ext cx="128699" cy="187198"/>
          </a:xfrm>
          <a:prstGeom prst="rect">
            <a:avLst/>
          </a:prstGeom>
        </p:spPr>
      </p:pic>
      <p:sp>
        <p:nvSpPr>
          <p:cNvPr id="27" name="TextBox 26"/>
          <p:cNvSpPr txBox="1"/>
          <p:nvPr/>
        </p:nvSpPr>
        <p:spPr>
          <a:xfrm>
            <a:off x="883977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9077669" y="5851905"/>
            <a:ext cx="128699" cy="187198"/>
          </a:xfrm>
          <a:prstGeom prst="rect">
            <a:avLst/>
          </a:prstGeom>
        </p:spPr>
      </p:pic>
      <p:sp>
        <p:nvSpPr>
          <p:cNvPr id="29" name="TextBox 28"/>
          <p:cNvSpPr txBox="1"/>
          <p:nvPr/>
        </p:nvSpPr>
        <p:spPr>
          <a:xfrm>
            <a:off x="9245165"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30" name="TextBox 29"/>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1" name="Picture 30" descr="lock.png"/>
          <p:cNvPicPr>
            <a:picLocks noChangeAspect="1"/>
          </p:cNvPicPr>
          <p:nvPr/>
        </p:nvPicPr>
        <p:blipFill>
          <a:blip r:embed="rId6"/>
          <a:stretch>
            <a:fillRect/>
          </a:stretch>
        </p:blipFill>
        <p:spPr>
          <a:xfrm>
            <a:off x="879790" y="6019545"/>
            <a:ext cx="128699" cy="187198"/>
          </a:xfrm>
          <a:prstGeom prst="rect">
            <a:avLst/>
          </a:prstGeom>
        </p:spPr>
      </p:pic>
      <p:sp>
        <p:nvSpPr>
          <p:cNvPr id="32" name="TextBox 31"/>
          <p:cNvSpPr txBox="1"/>
          <p:nvPr/>
        </p:nvSpPr>
        <p:spPr>
          <a:xfrm>
            <a:off x="1047285" y="6029325"/>
            <a:ext cx="10655183" cy="186689"/>
          </a:xfrm>
          <a:prstGeom prst="rect">
            <a:avLst/>
          </a:prstGeom>
          <a:noFill/>
        </p:spPr>
        <p:txBody>
          <a:bodyPr wrap="none" lIns="0" rIns="0" tIns="0" bIns="0">
            <a:spAutoFit/>
          </a:bodyPr>
          <a:lstStyle/>
          <a:p>
            <a:r>
              <a:rPr sz="1100" b="0">
                <a:solidFill>
                  <a:srgbClr val="2E2E2E"/>
                </a:solidFill>
                <a:latin typeface="Calibri"/>
              </a:rPr>
              <a:t>. The pharmacies and drugstores segment is expected to be less attractive as compared to other segments over the forecast period, owing to its lower CAGR and incremental opportunity.</a:t>
            </a:r>
          </a:p>
        </p:txBody>
      </p:sp>
      <p:sp>
        <p:nvSpPr>
          <p:cNvPr id="33" name="TextBox 32"/>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Mass Retail</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Beauty Specialty Retail</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Salon and Professional Distribution</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Pharmacies and Drugstores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Distribution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Online Marketplaces</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Brand-owned Online Stores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Distribution Channel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702710" cy="194310"/>
          </a:xfrm>
          <a:prstGeom prst="rect">
            <a:avLst/>
          </a:prstGeom>
          <a:noFill/>
        </p:spPr>
        <p:txBody>
          <a:bodyPr wrap="none" lIns="0" rIns="0" tIns="0" bIns="0">
            <a:spAutoFit/>
          </a:bodyPr>
          <a:lstStyle/>
          <a:p>
            <a:r>
              <a:rPr sz="1150" b="0">
                <a:solidFill>
                  <a:srgbClr val="2E2E2E"/>
                </a:solidFill>
                <a:latin typeface="Calibri"/>
              </a:rPr>
              <a:t>By 2036, online marketplaces segment is anticipated to witness an increase of</a:t>
            </a:r>
          </a:p>
        </p:txBody>
      </p:sp>
      <p:pic>
        <p:nvPicPr>
          <p:cNvPr id="24" name="Picture 23" descr="lock.png"/>
          <p:cNvPicPr>
            <a:picLocks noChangeAspect="1"/>
          </p:cNvPicPr>
          <p:nvPr/>
        </p:nvPicPr>
        <p:blipFill>
          <a:blip r:embed="rId6"/>
          <a:stretch>
            <a:fillRect/>
          </a:stretch>
        </p:blipFill>
        <p:spPr>
          <a:xfrm>
            <a:off x="10957414" y="1588021"/>
            <a:ext cx="134549" cy="195707"/>
          </a:xfrm>
          <a:prstGeom prst="rect">
            <a:avLst/>
          </a:prstGeom>
        </p:spPr>
      </p:pic>
      <p:sp>
        <p:nvSpPr>
          <p:cNvPr id="25" name="TextBox 24"/>
          <p:cNvSpPr txBox="1"/>
          <p:nvPr/>
        </p:nvSpPr>
        <p:spPr>
          <a:xfrm>
            <a:off x="11132524"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6" name="TextBox 25"/>
          <p:cNvSpPr txBox="1"/>
          <p:nvPr/>
        </p:nvSpPr>
        <p:spPr>
          <a:xfrm>
            <a:off x="6305550" y="1773505"/>
            <a:ext cx="5358817" cy="194310"/>
          </a:xfrm>
          <a:prstGeom prst="rect">
            <a:avLst/>
          </a:prstGeom>
          <a:noFill/>
        </p:spPr>
        <p:txBody>
          <a:bodyPr wrap="none" lIns="0" rIns="0" tIns="0" bIns="0">
            <a:spAutoFit/>
          </a:bodyPr>
          <a:lstStyle/>
          <a:p>
            <a:r>
              <a:rPr sz="1150" b="0">
                <a:solidFill>
                  <a:srgbClr val="2E2E2E"/>
                </a:solidFill>
                <a:latin typeface="Calibri"/>
              </a:rPr>
              <a:t>of value as compared to 2026. The online marketplaces segment is expected to create an</a:t>
            </a:r>
          </a:p>
        </p:txBody>
      </p:sp>
      <p:sp>
        <p:nvSpPr>
          <p:cNvPr id="27" name="TextBox 26"/>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938541"/>
            <a:ext cx="134549" cy="195707"/>
          </a:xfrm>
          <a:prstGeom prst="rect">
            <a:avLst/>
          </a:prstGeom>
        </p:spPr>
      </p:pic>
      <p:sp>
        <p:nvSpPr>
          <p:cNvPr id="29" name="TextBox 28"/>
          <p:cNvSpPr txBox="1"/>
          <p:nvPr/>
        </p:nvSpPr>
        <p:spPr>
          <a:xfrm>
            <a:off x="8386692" y="1948765"/>
            <a:ext cx="317548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a:t>
            </a:r>
          </a:p>
        </p:txBody>
      </p:sp>
      <p:sp>
        <p:nvSpPr>
          <p:cNvPr id="30" name="TextBox 29"/>
          <p:cNvSpPr txBox="1"/>
          <p:nvPr/>
        </p:nvSpPr>
        <p:spPr>
          <a:xfrm>
            <a:off x="6305550" y="212402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31" name="TextBox 30"/>
          <p:cNvSpPr txBox="1"/>
          <p:nvPr/>
        </p:nvSpPr>
        <p:spPr>
          <a:xfrm>
            <a:off x="6305550" y="2351863"/>
            <a:ext cx="5132325" cy="194310"/>
          </a:xfrm>
          <a:prstGeom prst="rect">
            <a:avLst/>
          </a:prstGeom>
          <a:noFill/>
        </p:spPr>
        <p:txBody>
          <a:bodyPr wrap="none" lIns="0" rIns="0" tIns="0" bIns="0">
            <a:spAutoFit/>
          </a:bodyPr>
          <a:lstStyle/>
          <a:p>
            <a:r>
              <a:rPr sz="1150" b="0">
                <a:solidFill>
                  <a:srgbClr val="2E2E2E"/>
                </a:solidFill>
                <a:latin typeface="Calibri"/>
              </a:rPr>
              <a:t>The salon and professional distribution segment is expected to create an incremental</a:t>
            </a:r>
          </a:p>
        </p:txBody>
      </p:sp>
      <p:sp>
        <p:nvSpPr>
          <p:cNvPr id="32" name="TextBox 31"/>
          <p:cNvSpPr txBox="1"/>
          <p:nvPr/>
        </p:nvSpPr>
        <p:spPr>
          <a:xfrm>
            <a:off x="6305550" y="252712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3" name="Picture 32" descr="lock.png"/>
          <p:cNvPicPr>
            <a:picLocks noChangeAspect="1"/>
          </p:cNvPicPr>
          <p:nvPr/>
        </p:nvPicPr>
        <p:blipFill>
          <a:blip r:embed="rId6"/>
          <a:stretch>
            <a:fillRect/>
          </a:stretch>
        </p:blipFill>
        <p:spPr>
          <a:xfrm>
            <a:off x="7463647" y="2516899"/>
            <a:ext cx="134549" cy="195707"/>
          </a:xfrm>
          <a:prstGeom prst="rect">
            <a:avLst/>
          </a:prstGeom>
        </p:spPr>
      </p:pic>
      <p:sp>
        <p:nvSpPr>
          <p:cNvPr id="34" name="TextBox 33"/>
          <p:cNvSpPr txBox="1"/>
          <p:nvPr/>
        </p:nvSpPr>
        <p:spPr>
          <a:xfrm>
            <a:off x="7638756" y="2527123"/>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35" name="TextBox 34"/>
          <p:cNvSpPr txBox="1"/>
          <p:nvPr/>
        </p:nvSpPr>
        <p:spPr>
          <a:xfrm>
            <a:off x="6305550" y="2702383"/>
            <a:ext cx="5551363" cy="194310"/>
          </a:xfrm>
          <a:prstGeom prst="rect">
            <a:avLst/>
          </a:prstGeom>
          <a:noFill/>
        </p:spPr>
        <p:txBody>
          <a:bodyPr wrap="none" lIns="0" rIns="0" tIns="0" bIns="0">
            <a:spAutoFit/>
          </a:bodyPr>
          <a:lstStyle/>
          <a:p>
            <a:r>
              <a:rPr sz="1150" b="0">
                <a:solidFill>
                  <a:srgbClr val="2E2E2E"/>
                </a:solidFill>
                <a:latin typeface="Calibri"/>
              </a:rPr>
              <a:t>The beauty specialty retail segment is expected to create an incremental opportunity of US$</a:t>
            </a:r>
          </a:p>
        </p:txBody>
      </p:sp>
      <p:pic>
        <p:nvPicPr>
          <p:cNvPr id="36" name="Picture 35" descr="lock.png"/>
          <p:cNvPicPr>
            <a:picLocks noChangeAspect="1"/>
          </p:cNvPicPr>
          <p:nvPr/>
        </p:nvPicPr>
        <p:blipFill>
          <a:blip r:embed="rId6"/>
          <a:stretch>
            <a:fillRect/>
          </a:stretch>
        </p:blipFill>
        <p:spPr>
          <a:xfrm>
            <a:off x="6291470" y="2867419"/>
            <a:ext cx="134549" cy="195707"/>
          </a:xfrm>
          <a:prstGeom prst="rect">
            <a:avLst/>
          </a:prstGeom>
        </p:spPr>
      </p:pic>
      <p:sp>
        <p:nvSpPr>
          <p:cNvPr id="37" name="TextBox 36"/>
          <p:cNvSpPr txBox="1"/>
          <p:nvPr/>
        </p:nvSpPr>
        <p:spPr>
          <a:xfrm>
            <a:off x="6466579" y="2877643"/>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38"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Distribution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Distribution Channel (US$ Mn)</a:t>
            </a:r>
          </a:p>
        </p:txBody>
      </p:sp>
      <p:graphicFrame>
        <p:nvGraphicFramePr>
          <p:cNvPr id="13" name="Table 12"/>
          <p:cNvGraphicFramePr>
            <a:graphicFrameLocks noGrp="1"/>
          </p:cNvGraphicFramePr>
          <p:nvPr/>
        </p:nvGraphicFramePr>
        <p:xfrm>
          <a:off x="152400" y="1238250"/>
          <a:ext cx="11887203" cy="1971675"/>
        </p:xfrm>
        <a:graphic>
          <a:graphicData uri="http://schemas.openxmlformats.org/drawingml/2006/table">
            <a:tbl>
              <a:tblPr>
                <a:tableStyleId>{5C22544A-7EE6-4342-B048-85BDC9FD1C3A}</a:tableStyleId>
              </a:tblPr>
              <a:tblGrid>
                <a:gridCol w="2266070"/>
                <a:gridCol w="565949"/>
                <a:gridCol w="565949"/>
                <a:gridCol w="565949"/>
                <a:gridCol w="565949"/>
                <a:gridCol w="565949"/>
                <a:gridCol w="565949"/>
                <a:gridCol w="565949"/>
                <a:gridCol w="565949"/>
                <a:gridCol w="565949"/>
                <a:gridCol w="565949"/>
                <a:gridCol w="565949"/>
                <a:gridCol w="565949"/>
                <a:gridCol w="565949"/>
                <a:gridCol w="565949"/>
                <a:gridCol w="565949"/>
                <a:gridCol w="565949"/>
                <a:gridCol w="565949"/>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Beauty Specialty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Salon and Professional Distribution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Pharmacies and Drugstores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Online Marketplaces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Brand-owned Online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Distribution Channel</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042346" y="2080450"/>
            <a:ext cx="366712" cy="533400"/>
          </a:xfrm>
          <a:prstGeom prst="rect">
            <a:avLst/>
          </a:prstGeom>
        </p:spPr>
      </p:pic>
      <p:sp>
        <p:nvSpPr>
          <p:cNvPr id="21" name="TextBox 20"/>
          <p:cNvSpPr txBox="1"/>
          <p:nvPr/>
        </p:nvSpPr>
        <p:spPr>
          <a:xfrm>
            <a:off x="276225" y="3971925"/>
            <a:ext cx="3222550" cy="194310"/>
          </a:xfrm>
          <a:prstGeom prst="rect">
            <a:avLst/>
          </a:prstGeom>
          <a:noFill/>
        </p:spPr>
        <p:txBody>
          <a:bodyPr wrap="none" lIns="0" rIns="0" tIns="0" bIns="0">
            <a:spAutoFit/>
          </a:bodyPr>
          <a:lstStyle/>
          <a:p>
            <a:r>
              <a:rPr sz="1150" b="0">
                <a:solidFill>
                  <a:srgbClr val="2E2E2E"/>
                </a:solidFill>
                <a:latin typeface="Calibri"/>
              </a:rPr>
              <a:t>Online marketplaces segment is projected to register</a:t>
            </a:r>
          </a:p>
        </p:txBody>
      </p:sp>
      <p:pic>
        <p:nvPicPr>
          <p:cNvPr id="22" name="Picture 21" descr="lock.png"/>
          <p:cNvPicPr>
            <a:picLocks noChangeAspect="1"/>
          </p:cNvPicPr>
          <p:nvPr/>
        </p:nvPicPr>
        <p:blipFill>
          <a:blip r:embed="rId4"/>
          <a:stretch>
            <a:fillRect/>
          </a:stretch>
        </p:blipFill>
        <p:spPr>
          <a:xfrm>
            <a:off x="3447929" y="3961701"/>
            <a:ext cx="134549" cy="195707"/>
          </a:xfrm>
          <a:prstGeom prst="rect">
            <a:avLst/>
          </a:prstGeom>
        </p:spPr>
      </p:pic>
      <p:sp>
        <p:nvSpPr>
          <p:cNvPr id="23" name="TextBox 22"/>
          <p:cNvSpPr txBox="1"/>
          <p:nvPr/>
        </p:nvSpPr>
        <p:spPr>
          <a:xfrm>
            <a:off x="3623038" y="3971925"/>
            <a:ext cx="7908131" cy="194310"/>
          </a:xfrm>
          <a:prstGeom prst="rect">
            <a:avLst/>
          </a:prstGeom>
          <a:noFill/>
        </p:spPr>
        <p:txBody>
          <a:bodyPr wrap="none" lIns="0" rIns="0" tIns="0" bIns="0">
            <a:spAutoFit/>
          </a:bodyPr>
          <a:lstStyle/>
          <a:p>
            <a:r>
              <a:rPr sz="1150" b="0">
                <a:solidFill>
                  <a:srgbClr val="2E2E2E"/>
                </a:solidFill>
                <a:latin typeface="Calibri"/>
              </a:rPr>
              <a:t>X higher value than salon and professional distribution segment in 2036. Among hair styling products by distribution channel, online</a:t>
            </a:r>
          </a:p>
        </p:txBody>
      </p:sp>
      <p:sp>
        <p:nvSpPr>
          <p:cNvPr id="24" name="TextBox 23"/>
          <p:cNvSpPr txBox="1"/>
          <p:nvPr/>
        </p:nvSpPr>
        <p:spPr>
          <a:xfrm>
            <a:off x="276225" y="4147185"/>
            <a:ext cx="3987583" cy="194310"/>
          </a:xfrm>
          <a:prstGeom prst="rect">
            <a:avLst/>
          </a:prstGeom>
          <a:noFill/>
        </p:spPr>
        <p:txBody>
          <a:bodyPr wrap="none" lIns="0" rIns="0" tIns="0" bIns="0">
            <a:spAutoFit/>
          </a:bodyPr>
          <a:lstStyle/>
          <a:p>
            <a:r>
              <a:rPr sz="1150" b="0">
                <a:solidFill>
                  <a:srgbClr val="2E2E2E"/>
                </a:solidFill>
                <a:latin typeface="Calibri"/>
              </a:rPr>
              <a:t>marketplaces segment is expected to witness the highest CAGR of</a:t>
            </a:r>
          </a:p>
        </p:txBody>
      </p:sp>
      <p:pic>
        <p:nvPicPr>
          <p:cNvPr id="25" name="Picture 24" descr="lock.png"/>
          <p:cNvPicPr>
            <a:picLocks noChangeAspect="1"/>
          </p:cNvPicPr>
          <p:nvPr/>
        </p:nvPicPr>
        <p:blipFill>
          <a:blip r:embed="rId4"/>
          <a:stretch>
            <a:fillRect/>
          </a:stretch>
        </p:blipFill>
        <p:spPr>
          <a:xfrm>
            <a:off x="4212962" y="4136961"/>
            <a:ext cx="134549" cy="195707"/>
          </a:xfrm>
          <a:prstGeom prst="rect">
            <a:avLst/>
          </a:prstGeom>
        </p:spPr>
      </p:pic>
      <p:sp>
        <p:nvSpPr>
          <p:cNvPr id="26" name="TextBox 25"/>
          <p:cNvSpPr txBox="1"/>
          <p:nvPr/>
        </p:nvSpPr>
        <p:spPr>
          <a:xfrm>
            <a:off x="4388071"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7543862"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online marketplaces segment is expected to dominate the market, gaining</a:t>
            </a:r>
          </a:p>
        </p:txBody>
      </p:sp>
      <p:pic>
        <p:nvPicPr>
          <p:cNvPr id="28" name="Picture 27" descr="lock.png"/>
          <p:cNvPicPr>
            <a:picLocks noChangeAspect="1"/>
          </p:cNvPicPr>
          <p:nvPr/>
        </p:nvPicPr>
        <p:blipFill>
          <a:blip r:embed="rId4"/>
          <a:stretch>
            <a:fillRect/>
          </a:stretch>
        </p:blipFill>
        <p:spPr>
          <a:xfrm>
            <a:off x="7769240" y="4364799"/>
            <a:ext cx="134549" cy="195707"/>
          </a:xfrm>
          <a:prstGeom prst="rect">
            <a:avLst/>
          </a:prstGeom>
        </p:spPr>
      </p:pic>
      <p:sp>
        <p:nvSpPr>
          <p:cNvPr id="29" name="TextBox 28"/>
          <p:cNvSpPr txBox="1"/>
          <p:nvPr/>
        </p:nvSpPr>
        <p:spPr>
          <a:xfrm>
            <a:off x="7944350"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339493" y="4364799"/>
            <a:ext cx="134549" cy="195707"/>
          </a:xfrm>
          <a:prstGeom prst="rect">
            <a:avLst/>
          </a:prstGeom>
        </p:spPr>
      </p:pic>
      <p:sp>
        <p:nvSpPr>
          <p:cNvPr id="31" name="TextBox 30"/>
          <p:cNvSpPr txBox="1"/>
          <p:nvPr/>
        </p:nvSpPr>
        <p:spPr>
          <a:xfrm>
            <a:off x="9514602" y="4375022"/>
            <a:ext cx="1877007" cy="194310"/>
          </a:xfrm>
          <a:prstGeom prst="rect">
            <a:avLst/>
          </a:prstGeom>
          <a:noFill/>
        </p:spPr>
        <p:txBody>
          <a:bodyPr wrap="none" lIns="0" rIns="0" tIns="0" bIns="0">
            <a:spAutoFit/>
          </a:bodyPr>
          <a:lstStyle/>
          <a:p>
            <a:r>
              <a:rPr sz="1150" b="0">
                <a:solidFill>
                  <a:srgbClr val="2E2E2E"/>
                </a:solidFill>
                <a:latin typeface="Calibri"/>
              </a:rPr>
              <a:t>share by 2036. The mass retail</a:t>
            </a:r>
          </a:p>
        </p:txBody>
      </p:sp>
      <p:sp>
        <p:nvSpPr>
          <p:cNvPr id="32" name="TextBox 31"/>
          <p:cNvSpPr txBox="1"/>
          <p:nvPr/>
        </p:nvSpPr>
        <p:spPr>
          <a:xfrm>
            <a:off x="276225" y="455028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3" name="Picture 32" descr="lock.png"/>
          <p:cNvPicPr>
            <a:picLocks noChangeAspect="1"/>
          </p:cNvPicPr>
          <p:nvPr/>
        </p:nvPicPr>
        <p:blipFill>
          <a:blip r:embed="rId4"/>
          <a:stretch>
            <a:fillRect/>
          </a:stretch>
        </p:blipFill>
        <p:spPr>
          <a:xfrm>
            <a:off x="1950917" y="4540059"/>
            <a:ext cx="134549" cy="195707"/>
          </a:xfrm>
          <a:prstGeom prst="rect">
            <a:avLst/>
          </a:prstGeom>
        </p:spPr>
      </p:pic>
      <p:sp>
        <p:nvSpPr>
          <p:cNvPr id="34" name="TextBox 33"/>
          <p:cNvSpPr txBox="1"/>
          <p:nvPr/>
        </p:nvSpPr>
        <p:spPr>
          <a:xfrm>
            <a:off x="212602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713530" y="4540059"/>
            <a:ext cx="134549" cy="195707"/>
          </a:xfrm>
          <a:prstGeom prst="rect">
            <a:avLst/>
          </a:prstGeom>
        </p:spPr>
      </p:pic>
      <p:sp>
        <p:nvSpPr>
          <p:cNvPr id="36" name="TextBox 35"/>
          <p:cNvSpPr txBox="1"/>
          <p:nvPr/>
        </p:nvSpPr>
        <p:spPr>
          <a:xfrm>
            <a:off x="4888640"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Distribution Channel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87513"/>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8275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9065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Brand-owned Online Stores</a:t>
            </a:r>
          </a:p>
        </p:txBody>
      </p:sp>
      <p:sp>
        <p:nvSpPr>
          <p:cNvPr id="19" name="BPS Value 1"/>
          <p:cNvSpPr txBox="1"/>
          <p:nvPr/>
        </p:nvSpPr>
        <p:spPr>
          <a:xfrm>
            <a:off x="6896100" y="196846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621872"/>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61711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54091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Pharmacies and Drugstores</a:t>
            </a:r>
          </a:p>
        </p:txBody>
      </p:sp>
      <p:sp>
        <p:nvSpPr>
          <p:cNvPr id="23" name="BPS Value 2"/>
          <p:cNvSpPr txBox="1"/>
          <p:nvPr/>
        </p:nvSpPr>
        <p:spPr>
          <a:xfrm>
            <a:off x="6896100" y="260282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304630"/>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29986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22366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Beauty Specialty Retail</a:t>
            </a:r>
          </a:p>
        </p:txBody>
      </p:sp>
      <p:sp>
        <p:nvSpPr>
          <p:cNvPr id="27" name="BPS Value 3"/>
          <p:cNvSpPr txBox="1"/>
          <p:nvPr/>
        </p:nvSpPr>
        <p:spPr>
          <a:xfrm>
            <a:off x="6896100" y="328558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067696"/>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06293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98673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Mass Retail</a:t>
            </a:r>
          </a:p>
        </p:txBody>
      </p:sp>
      <p:sp>
        <p:nvSpPr>
          <p:cNvPr id="31" name="BPS Value 4"/>
          <p:cNvSpPr txBox="1"/>
          <p:nvPr/>
        </p:nvSpPr>
        <p:spPr>
          <a:xfrm>
            <a:off x="6896100" y="404864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487528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487052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479432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Salon and Professional Distribution</a:t>
            </a:r>
          </a:p>
        </p:txBody>
      </p:sp>
      <p:sp>
        <p:nvSpPr>
          <p:cNvPr id="35" name="BPS Value 5"/>
          <p:cNvSpPr txBox="1"/>
          <p:nvPr/>
        </p:nvSpPr>
        <p:spPr>
          <a:xfrm>
            <a:off x="6896100" y="485623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FMI Legend Chip"/>
          <p:cNvSpPr/>
          <p:nvPr/>
        </p:nvSpPr>
        <p:spPr>
          <a:xfrm>
            <a:off x="4928997" y="576404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575928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568308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Marketplaces</a:t>
            </a:r>
          </a:p>
        </p:txBody>
      </p:sp>
      <p:sp>
        <p:nvSpPr>
          <p:cNvPr id="39" name="BPS Value 6"/>
          <p:cNvSpPr txBox="1"/>
          <p:nvPr/>
        </p:nvSpPr>
        <p:spPr>
          <a:xfrm>
            <a:off x="6896100" y="574499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Distribution Channel</a:t>
            </a:r>
          </a:p>
        </p:txBody>
      </p:sp>
      <p:sp>
        <p:nvSpPr>
          <p:cNvPr id="42" name="Rectangle 41"/>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5" name="Picture 44" descr="lock.png"/>
          <p:cNvPicPr>
            <a:picLocks noChangeAspect="1"/>
          </p:cNvPicPr>
          <p:nvPr/>
        </p:nvPicPr>
        <p:blipFill>
          <a:blip r:embed="rId5"/>
          <a:stretch>
            <a:fillRect/>
          </a:stretch>
        </p:blipFill>
        <p:spPr>
          <a:xfrm>
            <a:off x="2557843" y="3833622"/>
            <a:ext cx="275034" cy="400050"/>
          </a:xfrm>
          <a:prstGeom prst="rect">
            <a:avLst/>
          </a:prstGeom>
        </p:spPr>
      </p:pic>
      <p:sp>
        <p:nvSpPr>
          <p:cNvPr id="46" name="TextBox 45"/>
          <p:cNvSpPr txBox="1"/>
          <p:nvPr/>
        </p:nvSpPr>
        <p:spPr>
          <a:xfrm>
            <a:off x="7829550" y="1400175"/>
            <a:ext cx="3583682" cy="194310"/>
          </a:xfrm>
          <a:prstGeom prst="rect">
            <a:avLst/>
          </a:prstGeom>
          <a:noFill/>
        </p:spPr>
        <p:txBody>
          <a:bodyPr wrap="none" lIns="0" rIns="0" tIns="0" bIns="0">
            <a:spAutoFit/>
          </a:bodyPr>
          <a:lstStyle/>
          <a:p>
            <a:r>
              <a:rPr sz="1150" b="0">
                <a:solidFill>
                  <a:srgbClr val="2E2E2E"/>
                </a:solidFill>
                <a:latin typeface="Calibri"/>
              </a:rPr>
              <a:t>Among hair styling products by distribution channel, online</a:t>
            </a:r>
          </a:p>
        </p:txBody>
      </p:sp>
      <p:sp>
        <p:nvSpPr>
          <p:cNvPr id="47" name="TextBox 46"/>
          <p:cNvSpPr txBox="1"/>
          <p:nvPr/>
        </p:nvSpPr>
        <p:spPr>
          <a:xfrm>
            <a:off x="7829550" y="1575435"/>
            <a:ext cx="3987583" cy="194310"/>
          </a:xfrm>
          <a:prstGeom prst="rect">
            <a:avLst/>
          </a:prstGeom>
          <a:noFill/>
        </p:spPr>
        <p:txBody>
          <a:bodyPr wrap="none" lIns="0" rIns="0" tIns="0" bIns="0">
            <a:spAutoFit/>
          </a:bodyPr>
          <a:lstStyle/>
          <a:p>
            <a:r>
              <a:rPr sz="1150" b="0">
                <a:solidFill>
                  <a:srgbClr val="2E2E2E"/>
                </a:solidFill>
                <a:latin typeface="Calibri"/>
              </a:rPr>
              <a:t>marketplaces segment is expected to witness the highest CAGR of</a:t>
            </a:r>
          </a:p>
        </p:txBody>
      </p:sp>
      <p:pic>
        <p:nvPicPr>
          <p:cNvPr id="48" name="Picture 47" descr="lock.png"/>
          <p:cNvPicPr>
            <a:picLocks noChangeAspect="1"/>
          </p:cNvPicPr>
          <p:nvPr/>
        </p:nvPicPr>
        <p:blipFill>
          <a:blip r:embed="rId5"/>
          <a:stretch>
            <a:fillRect/>
          </a:stretch>
        </p:blipFill>
        <p:spPr>
          <a:xfrm>
            <a:off x="7815470" y="1740471"/>
            <a:ext cx="134549" cy="195707"/>
          </a:xfrm>
          <a:prstGeom prst="rect">
            <a:avLst/>
          </a:prstGeom>
        </p:spPr>
      </p:pic>
      <p:sp>
        <p:nvSpPr>
          <p:cNvPr id="49" name="TextBox 48"/>
          <p:cNvSpPr txBox="1"/>
          <p:nvPr/>
        </p:nvSpPr>
        <p:spPr>
          <a:xfrm>
            <a:off x="7990579" y="1750695"/>
            <a:ext cx="384240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distribution</a:t>
            </a:r>
          </a:p>
        </p:txBody>
      </p:sp>
      <p:sp>
        <p:nvSpPr>
          <p:cNvPr id="50" name="TextBox 49"/>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channel, the online marketplaces segment is expected to dominate</a:t>
            </a:r>
          </a:p>
        </p:txBody>
      </p:sp>
      <p:sp>
        <p:nvSpPr>
          <p:cNvPr id="51" name="TextBox 50"/>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52" name="Picture 51" descr="lock.png"/>
          <p:cNvPicPr>
            <a:picLocks noChangeAspect="1"/>
          </p:cNvPicPr>
          <p:nvPr/>
        </p:nvPicPr>
        <p:blipFill>
          <a:blip r:embed="rId5"/>
          <a:stretch>
            <a:fillRect/>
          </a:stretch>
        </p:blipFill>
        <p:spPr>
          <a:xfrm>
            <a:off x="9010182" y="2090991"/>
            <a:ext cx="134549" cy="195707"/>
          </a:xfrm>
          <a:prstGeom prst="rect">
            <a:avLst/>
          </a:prstGeom>
        </p:spPr>
      </p:pic>
      <p:sp>
        <p:nvSpPr>
          <p:cNvPr id="53" name="TextBox 52"/>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0580434" y="2090991"/>
            <a:ext cx="134549" cy="195707"/>
          </a:xfrm>
          <a:prstGeom prst="rect">
            <a:avLst/>
          </a:prstGeom>
        </p:spPr>
      </p:pic>
      <p:sp>
        <p:nvSpPr>
          <p:cNvPr id="55" name="TextBox 54"/>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TextBox 55"/>
          <p:cNvSpPr txBox="1"/>
          <p:nvPr/>
        </p:nvSpPr>
        <p:spPr>
          <a:xfrm>
            <a:off x="7829550" y="2329053"/>
            <a:ext cx="2656321" cy="194310"/>
          </a:xfrm>
          <a:prstGeom prst="rect">
            <a:avLst/>
          </a:prstGeom>
          <a:noFill/>
        </p:spPr>
        <p:txBody>
          <a:bodyPr wrap="none" lIns="0" rIns="0" tIns="0" bIns="0">
            <a:spAutoFit/>
          </a:bodyPr>
          <a:lstStyle/>
          <a:p>
            <a:r>
              <a:rPr sz="1150" b="0">
                <a:solidFill>
                  <a:srgbClr val="2E2E2E"/>
                </a:solidFill>
                <a:latin typeface="Calibri"/>
              </a:rPr>
              <a:t>The mass retail segment is expected to lose</a:t>
            </a:r>
          </a:p>
        </p:txBody>
      </p:sp>
      <p:pic>
        <p:nvPicPr>
          <p:cNvPr id="57" name="Picture 56" descr="lock.png"/>
          <p:cNvPicPr>
            <a:picLocks noChangeAspect="1"/>
          </p:cNvPicPr>
          <p:nvPr/>
        </p:nvPicPr>
        <p:blipFill>
          <a:blip r:embed="rId5"/>
          <a:stretch>
            <a:fillRect/>
          </a:stretch>
        </p:blipFill>
        <p:spPr>
          <a:xfrm>
            <a:off x="10435025" y="2318829"/>
            <a:ext cx="134549" cy="195707"/>
          </a:xfrm>
          <a:prstGeom prst="rect">
            <a:avLst/>
          </a:prstGeom>
        </p:spPr>
      </p:pic>
      <p:sp>
        <p:nvSpPr>
          <p:cNvPr id="58" name="TextBox 57"/>
          <p:cNvSpPr txBox="1"/>
          <p:nvPr/>
        </p:nvSpPr>
        <p:spPr>
          <a:xfrm>
            <a:off x="10610134"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9" name="TextBox 58"/>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0" name="Picture 59" descr="lock.png"/>
          <p:cNvPicPr>
            <a:picLocks noChangeAspect="1"/>
          </p:cNvPicPr>
          <p:nvPr/>
        </p:nvPicPr>
        <p:blipFill>
          <a:blip r:embed="rId5"/>
          <a:stretch>
            <a:fillRect/>
          </a:stretch>
        </p:blipFill>
        <p:spPr>
          <a:xfrm>
            <a:off x="9630324" y="2494089"/>
            <a:ext cx="134549" cy="195707"/>
          </a:xfrm>
          <a:prstGeom prst="rect">
            <a:avLst/>
          </a:prstGeom>
        </p:spPr>
      </p:pic>
      <p:sp>
        <p:nvSpPr>
          <p:cNvPr id="61" name="TextBox 60"/>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Primary Styling Benefit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Primary Styling Benefit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Primary Styling Benefit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Primary Styling Benefit,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Primary Styling Benefit segment categorizes the market by primary styling benefit.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Smoothing and Frizz Control</a:t>
            </a:r>
          </a:p>
        </p:txBody>
      </p:sp>
      <p:sp>
        <p:nvSpPr>
          <p:cNvPr id="23" name="Rectangle 22"/>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Hold and Shape</a:t>
            </a:r>
          </a:p>
        </p:txBody>
      </p:sp>
      <p:sp>
        <p:nvSpPr>
          <p:cNvPr id="30" name="Rectangle 29"/>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Curl Definition</a:t>
            </a:r>
          </a:p>
        </p:txBody>
      </p:sp>
      <p:sp>
        <p:nvSpPr>
          <p:cNvPr id="37" name="Rectangle 36"/>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Heat Styling Support</a:t>
            </a:r>
          </a:p>
        </p:txBody>
      </p:sp>
      <p:sp>
        <p:nvSpPr>
          <p:cNvPr id="44" name="Rectangle 43"/>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Volume and Root Lift</a:t>
            </a:r>
          </a:p>
        </p:txBody>
      </p:sp>
      <p:sp>
        <p:nvSpPr>
          <p:cNvPr id="51" name="Rectangle 50"/>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Texture and Separation</a:t>
            </a:r>
          </a:p>
        </p:txBody>
      </p:sp>
      <p:sp>
        <p:nvSpPr>
          <p:cNvPr id="58" name="Rectangle 57"/>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Rectangle 59"/>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1" name="Oval 60"/>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Sleek Styling and Edge Control</a:t>
            </a:r>
          </a:p>
        </p:txBody>
      </p:sp>
      <p:sp>
        <p:nvSpPr>
          <p:cNvPr id="65" name="Rectangle 64"/>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Rectangle 66"/>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8" name="Oval 67"/>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9" name="Rounded Rectangle 6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1" name="Rectangle 70"/>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73" name="Rounded Rectangle 7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5" name="Rectangle 74"/>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7" name="Rounded Rectangle 7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9" name="Rectangle 78"/>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Primary Styling Benefit split shows how demand is distributed across primary styling benefit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81" name="Rectangle 8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83" name="TextBox 82"/>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4" name="TextBox 8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5" name="Picture 84" descr="2_625_605E5C.png"/>
          <p:cNvPicPr>
            <a:picLocks noChangeAspect="1"/>
          </p:cNvPicPr>
          <p:nvPr/>
        </p:nvPicPr>
        <p:blipFill>
          <a:blip r:embed="rId4"/>
          <a:stretch>
            <a:fillRect/>
          </a:stretch>
        </p:blipFill>
        <p:spPr>
          <a:xfrm>
            <a:off x="1934425" y="2286582"/>
            <a:ext cx="1195728" cy="361950"/>
          </a:xfrm>
          <a:prstGeom prst="rect">
            <a:avLst/>
          </a:prstGeom>
        </p:spPr>
      </p:pic>
      <p:pic>
        <p:nvPicPr>
          <p:cNvPr id="86" name="Picture 85" descr="5_268_605E5C.png"/>
          <p:cNvPicPr>
            <a:picLocks noChangeAspect="1"/>
          </p:cNvPicPr>
          <p:nvPr/>
        </p:nvPicPr>
        <p:blipFill>
          <a:blip r:embed="rId5"/>
          <a:stretch>
            <a:fillRect/>
          </a:stretch>
        </p:blipFill>
        <p:spPr>
          <a:xfrm>
            <a:off x="1934425" y="2779432"/>
            <a:ext cx="1195728" cy="361950"/>
          </a:xfrm>
          <a:prstGeom prst="rect">
            <a:avLst/>
          </a:prstGeom>
        </p:spPr>
      </p:pic>
      <p:pic>
        <p:nvPicPr>
          <p:cNvPr id="87" name="Picture 86" descr="7_2__605E5C.png"/>
          <p:cNvPicPr>
            <a:picLocks noChangeAspect="1"/>
          </p:cNvPicPr>
          <p:nvPr/>
        </p:nvPicPr>
        <p:blipFill>
          <a:blip r:embed="rId6"/>
          <a:stretch>
            <a:fillRect/>
          </a:stretch>
        </p:blipFill>
        <p:spPr>
          <a:xfrm>
            <a:off x="2041071" y="3272281"/>
            <a:ext cx="982436" cy="361950"/>
          </a:xfrm>
          <a:prstGeom prst="rect">
            <a:avLst/>
          </a:prstGeom>
        </p:spPr>
      </p:pic>
      <p:pic>
        <p:nvPicPr>
          <p:cNvPr id="88" name="Picture 87" descr="2_456_605E5C.png"/>
          <p:cNvPicPr>
            <a:picLocks noChangeAspect="1"/>
          </p:cNvPicPr>
          <p:nvPr/>
        </p:nvPicPr>
        <p:blipFill>
          <a:blip r:embed="rId7"/>
          <a:stretch>
            <a:fillRect/>
          </a:stretch>
        </p:blipFill>
        <p:spPr>
          <a:xfrm>
            <a:off x="3379504" y="2286582"/>
            <a:ext cx="1195728" cy="361950"/>
          </a:xfrm>
          <a:prstGeom prst="rect">
            <a:avLst/>
          </a:prstGeom>
        </p:spPr>
      </p:pic>
      <p:pic>
        <p:nvPicPr>
          <p:cNvPr id="89" name="Picture 88" descr="4_003_605E5C.png"/>
          <p:cNvPicPr>
            <a:picLocks noChangeAspect="1"/>
          </p:cNvPicPr>
          <p:nvPr/>
        </p:nvPicPr>
        <p:blipFill>
          <a:blip r:embed="rId8"/>
          <a:stretch>
            <a:fillRect/>
          </a:stretch>
        </p:blipFill>
        <p:spPr>
          <a:xfrm>
            <a:off x="3379504" y="2779432"/>
            <a:ext cx="1195728" cy="361950"/>
          </a:xfrm>
          <a:prstGeom prst="rect">
            <a:avLst/>
          </a:prstGeom>
        </p:spPr>
      </p:pic>
      <p:pic>
        <p:nvPicPr>
          <p:cNvPr id="90" name="Picture 89" descr="5_0__605E5C.png"/>
          <p:cNvPicPr>
            <a:picLocks noChangeAspect="1"/>
          </p:cNvPicPr>
          <p:nvPr/>
        </p:nvPicPr>
        <p:blipFill>
          <a:blip r:embed="rId9"/>
          <a:stretch>
            <a:fillRect/>
          </a:stretch>
        </p:blipFill>
        <p:spPr>
          <a:xfrm>
            <a:off x="3486150" y="3272281"/>
            <a:ext cx="982436" cy="361950"/>
          </a:xfrm>
          <a:prstGeom prst="rect">
            <a:avLst/>
          </a:prstGeom>
        </p:spPr>
      </p:pic>
      <p:pic>
        <p:nvPicPr>
          <p:cNvPr id="91" name="Picture 90" descr="2_369_605E5C.png"/>
          <p:cNvPicPr>
            <a:picLocks noChangeAspect="1"/>
          </p:cNvPicPr>
          <p:nvPr/>
        </p:nvPicPr>
        <p:blipFill>
          <a:blip r:embed="rId10"/>
          <a:stretch>
            <a:fillRect/>
          </a:stretch>
        </p:blipFill>
        <p:spPr>
          <a:xfrm>
            <a:off x="4824582" y="2286582"/>
            <a:ext cx="1195728" cy="361950"/>
          </a:xfrm>
          <a:prstGeom prst="rect">
            <a:avLst/>
          </a:prstGeom>
        </p:spPr>
      </p:pic>
      <p:pic>
        <p:nvPicPr>
          <p:cNvPr id="92" name="Picture 91" descr="5_193_605E5C.png"/>
          <p:cNvPicPr>
            <a:picLocks noChangeAspect="1"/>
          </p:cNvPicPr>
          <p:nvPr/>
        </p:nvPicPr>
        <p:blipFill>
          <a:blip r:embed="rId11"/>
          <a:stretch>
            <a:fillRect/>
          </a:stretch>
        </p:blipFill>
        <p:spPr>
          <a:xfrm>
            <a:off x="4824582" y="2779432"/>
            <a:ext cx="1195728" cy="361950"/>
          </a:xfrm>
          <a:prstGeom prst="rect">
            <a:avLst/>
          </a:prstGeom>
        </p:spPr>
      </p:pic>
      <p:pic>
        <p:nvPicPr>
          <p:cNvPr id="93" name="Picture 92" descr="8_2__605E5C.png"/>
          <p:cNvPicPr>
            <a:picLocks noChangeAspect="1"/>
          </p:cNvPicPr>
          <p:nvPr/>
        </p:nvPicPr>
        <p:blipFill>
          <a:blip r:embed="rId12"/>
          <a:stretch>
            <a:fillRect/>
          </a:stretch>
        </p:blipFill>
        <p:spPr>
          <a:xfrm>
            <a:off x="4931228" y="3272281"/>
            <a:ext cx="982436" cy="361950"/>
          </a:xfrm>
          <a:prstGeom prst="rect">
            <a:avLst/>
          </a:prstGeom>
        </p:spPr>
      </p:pic>
      <p:pic>
        <p:nvPicPr>
          <p:cNvPr id="94" name="Picture 93" descr="2_297_605E5C.png"/>
          <p:cNvPicPr>
            <a:picLocks noChangeAspect="1"/>
          </p:cNvPicPr>
          <p:nvPr/>
        </p:nvPicPr>
        <p:blipFill>
          <a:blip r:embed="rId13"/>
          <a:stretch>
            <a:fillRect/>
          </a:stretch>
        </p:blipFill>
        <p:spPr>
          <a:xfrm>
            <a:off x="6269661" y="2286582"/>
            <a:ext cx="1195728" cy="361950"/>
          </a:xfrm>
          <a:prstGeom prst="rect">
            <a:avLst/>
          </a:prstGeom>
        </p:spPr>
      </p:pic>
      <p:pic>
        <p:nvPicPr>
          <p:cNvPr id="95" name="Picture 94" descr="4_788_605E5C.png"/>
          <p:cNvPicPr>
            <a:picLocks noChangeAspect="1"/>
          </p:cNvPicPr>
          <p:nvPr/>
        </p:nvPicPr>
        <p:blipFill>
          <a:blip r:embed="rId14"/>
          <a:stretch>
            <a:fillRect/>
          </a:stretch>
        </p:blipFill>
        <p:spPr>
          <a:xfrm>
            <a:off x="6269661" y="2779432"/>
            <a:ext cx="1195728" cy="361950"/>
          </a:xfrm>
          <a:prstGeom prst="rect">
            <a:avLst/>
          </a:prstGeom>
        </p:spPr>
      </p:pic>
      <p:pic>
        <p:nvPicPr>
          <p:cNvPr id="96" name="Picture 95" descr="7_6__605E5C.png"/>
          <p:cNvPicPr>
            <a:picLocks noChangeAspect="1"/>
          </p:cNvPicPr>
          <p:nvPr/>
        </p:nvPicPr>
        <p:blipFill>
          <a:blip r:embed="rId15"/>
          <a:stretch>
            <a:fillRect/>
          </a:stretch>
        </p:blipFill>
        <p:spPr>
          <a:xfrm>
            <a:off x="6376307" y="3272281"/>
            <a:ext cx="982436" cy="361950"/>
          </a:xfrm>
          <a:prstGeom prst="rect">
            <a:avLst/>
          </a:prstGeom>
        </p:spPr>
      </p:pic>
      <p:pic>
        <p:nvPicPr>
          <p:cNvPr id="97" name="Picture 96" descr="2_285_605E5C.png"/>
          <p:cNvPicPr>
            <a:picLocks noChangeAspect="1"/>
          </p:cNvPicPr>
          <p:nvPr/>
        </p:nvPicPr>
        <p:blipFill>
          <a:blip r:embed="rId16"/>
          <a:stretch>
            <a:fillRect/>
          </a:stretch>
        </p:blipFill>
        <p:spPr>
          <a:xfrm>
            <a:off x="7714739" y="2286582"/>
            <a:ext cx="1195728" cy="361950"/>
          </a:xfrm>
          <a:prstGeom prst="rect">
            <a:avLst/>
          </a:prstGeom>
        </p:spPr>
      </p:pic>
      <p:pic>
        <p:nvPicPr>
          <p:cNvPr id="98" name="Picture 97" descr="4_087_605E5C.png"/>
          <p:cNvPicPr>
            <a:picLocks noChangeAspect="1"/>
          </p:cNvPicPr>
          <p:nvPr/>
        </p:nvPicPr>
        <p:blipFill>
          <a:blip r:embed="rId17"/>
          <a:stretch>
            <a:fillRect/>
          </a:stretch>
        </p:blipFill>
        <p:spPr>
          <a:xfrm>
            <a:off x="7714739" y="2779432"/>
            <a:ext cx="1195728" cy="361950"/>
          </a:xfrm>
          <a:prstGeom prst="rect">
            <a:avLst/>
          </a:prstGeom>
        </p:spPr>
      </p:pic>
      <p:pic>
        <p:nvPicPr>
          <p:cNvPr id="99" name="Picture 98" descr="6_0__605E5C.png"/>
          <p:cNvPicPr>
            <a:picLocks noChangeAspect="1"/>
          </p:cNvPicPr>
          <p:nvPr/>
        </p:nvPicPr>
        <p:blipFill>
          <a:blip r:embed="rId18"/>
          <a:stretch>
            <a:fillRect/>
          </a:stretch>
        </p:blipFill>
        <p:spPr>
          <a:xfrm>
            <a:off x="7821385" y="3272281"/>
            <a:ext cx="982436" cy="361950"/>
          </a:xfrm>
          <a:prstGeom prst="rect">
            <a:avLst/>
          </a:prstGeom>
        </p:spPr>
      </p:pic>
      <p:pic>
        <p:nvPicPr>
          <p:cNvPr id="100" name="Picture 99" descr="2_226_605E5C.png"/>
          <p:cNvPicPr>
            <a:picLocks noChangeAspect="1"/>
          </p:cNvPicPr>
          <p:nvPr/>
        </p:nvPicPr>
        <p:blipFill>
          <a:blip r:embed="rId19"/>
          <a:stretch>
            <a:fillRect/>
          </a:stretch>
        </p:blipFill>
        <p:spPr>
          <a:xfrm>
            <a:off x="9159818" y="2286582"/>
            <a:ext cx="1195728" cy="361950"/>
          </a:xfrm>
          <a:prstGeom prst="rect">
            <a:avLst/>
          </a:prstGeom>
        </p:spPr>
      </p:pic>
      <p:pic>
        <p:nvPicPr>
          <p:cNvPr id="101" name="Picture 100" descr="4_180_605E5C.png"/>
          <p:cNvPicPr>
            <a:picLocks noChangeAspect="1"/>
          </p:cNvPicPr>
          <p:nvPr/>
        </p:nvPicPr>
        <p:blipFill>
          <a:blip r:embed="rId20"/>
          <a:stretch>
            <a:fillRect/>
          </a:stretch>
        </p:blipFill>
        <p:spPr>
          <a:xfrm>
            <a:off x="9159818" y="2779432"/>
            <a:ext cx="1195728" cy="361950"/>
          </a:xfrm>
          <a:prstGeom prst="rect">
            <a:avLst/>
          </a:prstGeom>
        </p:spPr>
      </p:pic>
      <p:pic>
        <p:nvPicPr>
          <p:cNvPr id="102" name="Picture 101" descr="6_5__605E5C.png"/>
          <p:cNvPicPr>
            <a:picLocks noChangeAspect="1"/>
          </p:cNvPicPr>
          <p:nvPr/>
        </p:nvPicPr>
        <p:blipFill>
          <a:blip r:embed="rId21"/>
          <a:stretch>
            <a:fillRect/>
          </a:stretch>
        </p:blipFill>
        <p:spPr>
          <a:xfrm>
            <a:off x="9266464" y="3272281"/>
            <a:ext cx="982436" cy="361950"/>
          </a:xfrm>
          <a:prstGeom prst="rect">
            <a:avLst/>
          </a:prstGeom>
        </p:spPr>
      </p:pic>
      <p:pic>
        <p:nvPicPr>
          <p:cNvPr id="103" name="Picture 102" descr="1_848_605E5C.png"/>
          <p:cNvPicPr>
            <a:picLocks noChangeAspect="1"/>
          </p:cNvPicPr>
          <p:nvPr/>
        </p:nvPicPr>
        <p:blipFill>
          <a:blip r:embed="rId22"/>
          <a:stretch>
            <a:fillRect/>
          </a:stretch>
        </p:blipFill>
        <p:spPr>
          <a:xfrm>
            <a:off x="10604896" y="2286582"/>
            <a:ext cx="1195728" cy="361950"/>
          </a:xfrm>
          <a:prstGeom prst="rect">
            <a:avLst/>
          </a:prstGeom>
        </p:spPr>
      </p:pic>
      <p:pic>
        <p:nvPicPr>
          <p:cNvPr id="104" name="Picture 103" descr="3_169_605E5C.png"/>
          <p:cNvPicPr>
            <a:picLocks noChangeAspect="1"/>
          </p:cNvPicPr>
          <p:nvPr/>
        </p:nvPicPr>
        <p:blipFill>
          <a:blip r:embed="rId23"/>
          <a:stretch>
            <a:fillRect/>
          </a:stretch>
        </p:blipFill>
        <p:spPr>
          <a:xfrm>
            <a:off x="10604896" y="2779432"/>
            <a:ext cx="1195728" cy="361950"/>
          </a:xfrm>
          <a:prstGeom prst="rect">
            <a:avLst/>
          </a:prstGeom>
        </p:spPr>
      </p:pic>
      <p:pic>
        <p:nvPicPr>
          <p:cNvPr id="105" name="Picture 104" descr="5_5__605E5C.png"/>
          <p:cNvPicPr>
            <a:picLocks noChangeAspect="1"/>
          </p:cNvPicPr>
          <p:nvPr/>
        </p:nvPicPr>
        <p:blipFill>
          <a:blip r:embed="rId24"/>
          <a:stretch>
            <a:fillRect/>
          </a:stretch>
        </p:blipFill>
        <p:spPr>
          <a:xfrm>
            <a:off x="10711542" y="3272281"/>
            <a:ext cx="982436" cy="361950"/>
          </a:xfrm>
          <a:prstGeom prst="rect">
            <a:avLst/>
          </a:prstGeom>
        </p:spPr>
      </p:pic>
      <p:pic>
        <p:nvPicPr>
          <p:cNvPr id="106" name="Picture 105" descr="lock.png"/>
          <p:cNvPicPr>
            <a:picLocks noChangeAspect="1"/>
          </p:cNvPicPr>
          <p:nvPr/>
        </p:nvPicPr>
        <p:blipFill>
          <a:blip r:embed="rId25"/>
          <a:stretch>
            <a:fillRect/>
          </a:stretch>
        </p:blipFill>
        <p:spPr>
          <a:xfrm>
            <a:off x="2438944"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3884023"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5329101"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6774180" y="2827057"/>
            <a:ext cx="183356" cy="266700"/>
          </a:xfrm>
          <a:prstGeom prst="rect">
            <a:avLst/>
          </a:prstGeom>
        </p:spPr>
      </p:pic>
      <p:pic>
        <p:nvPicPr>
          <p:cNvPr id="110" name="Picture 109" descr="lock.png"/>
          <p:cNvPicPr>
            <a:picLocks noChangeAspect="1"/>
          </p:cNvPicPr>
          <p:nvPr/>
        </p:nvPicPr>
        <p:blipFill>
          <a:blip r:embed="rId25"/>
          <a:stretch>
            <a:fillRect/>
          </a:stretch>
        </p:blipFill>
        <p:spPr>
          <a:xfrm>
            <a:off x="8219258" y="2827057"/>
            <a:ext cx="183356" cy="266700"/>
          </a:xfrm>
          <a:prstGeom prst="rect">
            <a:avLst/>
          </a:prstGeom>
        </p:spPr>
      </p:pic>
      <p:pic>
        <p:nvPicPr>
          <p:cNvPr id="111" name="Picture 110" descr="lock.png"/>
          <p:cNvPicPr>
            <a:picLocks noChangeAspect="1"/>
          </p:cNvPicPr>
          <p:nvPr/>
        </p:nvPicPr>
        <p:blipFill>
          <a:blip r:embed="rId25"/>
          <a:stretch>
            <a:fillRect/>
          </a:stretch>
        </p:blipFill>
        <p:spPr>
          <a:xfrm>
            <a:off x="9664337" y="2827057"/>
            <a:ext cx="183356" cy="266700"/>
          </a:xfrm>
          <a:prstGeom prst="rect">
            <a:avLst/>
          </a:prstGeom>
        </p:spPr>
      </p:pic>
      <p:pic>
        <p:nvPicPr>
          <p:cNvPr id="112" name="Picture 111" descr="lock.png"/>
          <p:cNvPicPr>
            <a:picLocks noChangeAspect="1"/>
          </p:cNvPicPr>
          <p:nvPr/>
        </p:nvPicPr>
        <p:blipFill>
          <a:blip r:embed="rId25"/>
          <a:stretch>
            <a:fillRect/>
          </a:stretch>
        </p:blipFill>
        <p:spPr>
          <a:xfrm>
            <a:off x="11109415" y="2827057"/>
            <a:ext cx="183356" cy="266700"/>
          </a:xfrm>
          <a:prstGeom prst="rect">
            <a:avLst/>
          </a:prstGeom>
        </p:spPr>
      </p:pic>
      <p:sp>
        <p:nvSpPr>
          <p:cNvPr id="113" name="TextBox 112"/>
          <p:cNvSpPr txBox="1"/>
          <p:nvPr/>
        </p:nvSpPr>
        <p:spPr>
          <a:xfrm>
            <a:off x="485775" y="4229437"/>
            <a:ext cx="2714401" cy="186689"/>
          </a:xfrm>
          <a:prstGeom prst="rect">
            <a:avLst/>
          </a:prstGeom>
          <a:noFill/>
        </p:spPr>
        <p:txBody>
          <a:bodyPr wrap="none" lIns="0" rIns="0" tIns="0" bIns="0">
            <a:spAutoFit/>
          </a:bodyPr>
          <a:lstStyle/>
          <a:p>
            <a:r>
              <a:rPr sz="1100" b="0">
                <a:solidFill>
                  <a:srgbClr val="2E2E2E"/>
                </a:solidFill>
                <a:latin typeface="Calibri"/>
              </a:rPr>
              <a:t>Among hair styling products by primary styling</a:t>
            </a:r>
          </a:p>
        </p:txBody>
      </p:sp>
      <p:sp>
        <p:nvSpPr>
          <p:cNvPr id="114" name="TextBox 113"/>
          <p:cNvSpPr txBox="1"/>
          <p:nvPr/>
        </p:nvSpPr>
        <p:spPr>
          <a:xfrm>
            <a:off x="485775" y="4397077"/>
            <a:ext cx="2692846" cy="186689"/>
          </a:xfrm>
          <a:prstGeom prst="rect">
            <a:avLst/>
          </a:prstGeom>
          <a:noFill/>
        </p:spPr>
        <p:txBody>
          <a:bodyPr wrap="none" lIns="0" rIns="0" tIns="0" bIns="0">
            <a:spAutoFit/>
          </a:bodyPr>
          <a:lstStyle/>
          <a:p>
            <a:r>
              <a:rPr sz="1100" b="0">
                <a:solidFill>
                  <a:srgbClr val="2E2E2E"/>
                </a:solidFill>
                <a:latin typeface="Calibri"/>
              </a:rPr>
              <a:t>benefit, curl definition segment is expected to</a:t>
            </a:r>
          </a:p>
        </p:txBody>
      </p:sp>
      <p:sp>
        <p:nvSpPr>
          <p:cNvPr id="115" name="TextBox 114"/>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16" name="Picture 115" descr="lock.png"/>
          <p:cNvPicPr>
            <a:picLocks noChangeAspect="1"/>
          </p:cNvPicPr>
          <p:nvPr/>
        </p:nvPicPr>
        <p:blipFill>
          <a:blip r:embed="rId25"/>
          <a:stretch>
            <a:fillRect/>
          </a:stretch>
        </p:blipFill>
        <p:spPr>
          <a:xfrm>
            <a:off x="2108919" y="4554938"/>
            <a:ext cx="128699" cy="187198"/>
          </a:xfrm>
          <a:prstGeom prst="rect">
            <a:avLst/>
          </a:prstGeom>
        </p:spPr>
      </p:pic>
      <p:sp>
        <p:nvSpPr>
          <p:cNvPr id="117" name="TextBox 116"/>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18" name="TextBox 117"/>
          <p:cNvSpPr txBox="1"/>
          <p:nvPr/>
        </p:nvSpPr>
        <p:spPr>
          <a:xfrm>
            <a:off x="485775" y="4732357"/>
            <a:ext cx="2860377" cy="186689"/>
          </a:xfrm>
          <a:prstGeom prst="rect">
            <a:avLst/>
          </a:prstGeom>
          <a:noFill/>
        </p:spPr>
        <p:txBody>
          <a:bodyPr wrap="none" lIns="0" rIns="0" tIns="0" bIns="0">
            <a:spAutoFit/>
          </a:bodyPr>
          <a:lstStyle/>
          <a:p>
            <a:r>
              <a:rPr sz="1100" b="0">
                <a:solidFill>
                  <a:srgbClr val="2E2E2E"/>
                </a:solidFill>
                <a:latin typeface="Calibri"/>
              </a:rPr>
              <a:t>period. In terms of value share by primary styling</a:t>
            </a:r>
          </a:p>
        </p:txBody>
      </p:sp>
      <p:sp>
        <p:nvSpPr>
          <p:cNvPr id="119" name="TextBox 118"/>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benefit, the smoothing and frizz control segment is</a:t>
            </a:r>
          </a:p>
        </p:txBody>
      </p:sp>
      <p:sp>
        <p:nvSpPr>
          <p:cNvPr id="120" name="TextBox 119"/>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121" name="Picture 120" descr="lock.png"/>
          <p:cNvPicPr>
            <a:picLocks noChangeAspect="1"/>
          </p:cNvPicPr>
          <p:nvPr/>
        </p:nvPicPr>
        <p:blipFill>
          <a:blip r:embed="rId25"/>
          <a:stretch>
            <a:fillRect/>
          </a:stretch>
        </p:blipFill>
        <p:spPr>
          <a:xfrm>
            <a:off x="2900479" y="5057858"/>
            <a:ext cx="128699" cy="187198"/>
          </a:xfrm>
          <a:prstGeom prst="rect">
            <a:avLst/>
          </a:prstGeom>
        </p:spPr>
      </p:pic>
      <p:sp>
        <p:nvSpPr>
          <p:cNvPr id="122" name="TextBox 121"/>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3" name="TextBox 122"/>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24" name="Picture 123" descr="lock.png"/>
          <p:cNvPicPr>
            <a:picLocks noChangeAspect="1"/>
          </p:cNvPicPr>
          <p:nvPr/>
        </p:nvPicPr>
        <p:blipFill>
          <a:blip r:embed="rId25"/>
          <a:stretch>
            <a:fillRect/>
          </a:stretch>
        </p:blipFill>
        <p:spPr>
          <a:xfrm>
            <a:off x="1576057" y="5225498"/>
            <a:ext cx="128699" cy="187198"/>
          </a:xfrm>
          <a:prstGeom prst="rect">
            <a:avLst/>
          </a:prstGeom>
        </p:spPr>
      </p:pic>
      <p:sp>
        <p:nvSpPr>
          <p:cNvPr id="125" name="TextBox 124"/>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6" name="TextBox 125"/>
          <p:cNvSpPr txBox="1"/>
          <p:nvPr/>
        </p:nvSpPr>
        <p:spPr>
          <a:xfrm>
            <a:off x="485775" y="5453209"/>
            <a:ext cx="2862560" cy="186689"/>
          </a:xfrm>
          <a:prstGeom prst="rect">
            <a:avLst/>
          </a:prstGeom>
          <a:noFill/>
        </p:spPr>
        <p:txBody>
          <a:bodyPr wrap="none" lIns="0" rIns="0" tIns="0" bIns="0">
            <a:spAutoFit/>
          </a:bodyPr>
          <a:lstStyle/>
          <a:p>
            <a:r>
              <a:rPr sz="1100" b="0">
                <a:solidFill>
                  <a:srgbClr val="2E2E2E"/>
                </a:solidFill>
                <a:latin typeface="Calibri"/>
              </a:rPr>
              <a:t>Smoothing and frizz control segment is projected</a:t>
            </a:r>
          </a:p>
        </p:txBody>
      </p:sp>
      <p:sp>
        <p:nvSpPr>
          <p:cNvPr id="127" name="TextBox 126"/>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128" name="Picture 127" descr="lock.png"/>
          <p:cNvPicPr>
            <a:picLocks noChangeAspect="1"/>
          </p:cNvPicPr>
          <p:nvPr/>
        </p:nvPicPr>
        <p:blipFill>
          <a:blip r:embed="rId25"/>
          <a:stretch>
            <a:fillRect/>
          </a:stretch>
        </p:blipFill>
        <p:spPr>
          <a:xfrm>
            <a:off x="1098567" y="5611070"/>
            <a:ext cx="128699" cy="187198"/>
          </a:xfrm>
          <a:prstGeom prst="rect">
            <a:avLst/>
          </a:prstGeom>
        </p:spPr>
      </p:pic>
      <p:sp>
        <p:nvSpPr>
          <p:cNvPr id="129" name="TextBox 128"/>
          <p:cNvSpPr txBox="1"/>
          <p:nvPr/>
        </p:nvSpPr>
        <p:spPr>
          <a:xfrm>
            <a:off x="1266063" y="5620849"/>
            <a:ext cx="1998984" cy="186689"/>
          </a:xfrm>
          <a:prstGeom prst="rect">
            <a:avLst/>
          </a:prstGeom>
          <a:noFill/>
        </p:spPr>
        <p:txBody>
          <a:bodyPr wrap="none" lIns="0" rIns="0" tIns="0" bIns="0">
            <a:spAutoFit/>
          </a:bodyPr>
          <a:lstStyle/>
          <a:p>
            <a:r>
              <a:rPr sz="1100" b="0">
                <a:solidFill>
                  <a:srgbClr val="2E2E2E"/>
                </a:solidFill>
                <a:latin typeface="Calibri"/>
              </a:rPr>
              <a:t>X higher value than curl definition</a:t>
            </a:r>
          </a:p>
        </p:txBody>
      </p:sp>
      <p:sp>
        <p:nvSpPr>
          <p:cNvPr id="130" name="TextBox 129"/>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31" name="TextBox 130"/>
          <p:cNvSpPr txBox="1"/>
          <p:nvPr/>
        </p:nvSpPr>
        <p:spPr>
          <a:xfrm>
            <a:off x="3838575" y="4229437"/>
            <a:ext cx="1831454" cy="186689"/>
          </a:xfrm>
          <a:prstGeom prst="rect">
            <a:avLst/>
          </a:prstGeom>
          <a:noFill/>
        </p:spPr>
        <p:txBody>
          <a:bodyPr wrap="none" lIns="0" rIns="0" tIns="0" bIns="0">
            <a:spAutoFit/>
          </a:bodyPr>
          <a:lstStyle/>
          <a:p>
            <a:r>
              <a:rPr sz="1100" b="0">
                <a:solidFill>
                  <a:srgbClr val="2E2E2E"/>
                </a:solidFill>
                <a:latin typeface="Calibri"/>
              </a:rPr>
              <a:t>● Smoothing and Frizz Control:</a:t>
            </a:r>
          </a:p>
        </p:txBody>
      </p:sp>
      <p:pic>
        <p:nvPicPr>
          <p:cNvPr id="132" name="Picture 131" descr="lock.png"/>
          <p:cNvPicPr>
            <a:picLocks noChangeAspect="1"/>
          </p:cNvPicPr>
          <p:nvPr/>
        </p:nvPicPr>
        <p:blipFill>
          <a:blip r:embed="rId25"/>
          <a:stretch>
            <a:fillRect/>
          </a:stretch>
        </p:blipFill>
        <p:spPr>
          <a:xfrm>
            <a:off x="5618080" y="4219658"/>
            <a:ext cx="128699" cy="187198"/>
          </a:xfrm>
          <a:prstGeom prst="rect">
            <a:avLst/>
          </a:prstGeom>
        </p:spPr>
      </p:pic>
      <p:sp>
        <p:nvSpPr>
          <p:cNvPr id="133" name="TextBox 132"/>
          <p:cNvSpPr txBox="1"/>
          <p:nvPr/>
        </p:nvSpPr>
        <p:spPr>
          <a:xfrm>
            <a:off x="578557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5"/>
          <a:stretch>
            <a:fillRect/>
          </a:stretch>
        </p:blipFill>
        <p:spPr>
          <a:xfrm>
            <a:off x="6645026" y="4219658"/>
            <a:ext cx="128699" cy="187198"/>
          </a:xfrm>
          <a:prstGeom prst="rect">
            <a:avLst/>
          </a:prstGeom>
        </p:spPr>
      </p:pic>
      <p:sp>
        <p:nvSpPr>
          <p:cNvPr id="135" name="TextBox 134"/>
          <p:cNvSpPr txBox="1"/>
          <p:nvPr/>
        </p:nvSpPr>
        <p:spPr>
          <a:xfrm>
            <a:off x="6812522"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36" name="TextBox 135"/>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37" name="TextBox 136"/>
          <p:cNvSpPr txBox="1"/>
          <p:nvPr/>
        </p:nvSpPr>
        <p:spPr>
          <a:xfrm>
            <a:off x="3838575" y="4615009"/>
            <a:ext cx="1120130" cy="186689"/>
          </a:xfrm>
          <a:prstGeom prst="rect">
            <a:avLst/>
          </a:prstGeom>
          <a:noFill/>
        </p:spPr>
        <p:txBody>
          <a:bodyPr wrap="none" lIns="0" rIns="0" tIns="0" bIns="0">
            <a:spAutoFit/>
          </a:bodyPr>
          <a:lstStyle/>
          <a:p>
            <a:r>
              <a:rPr sz="1100" b="0">
                <a:solidFill>
                  <a:srgbClr val="2E2E2E"/>
                </a:solidFill>
                <a:latin typeface="Calibri"/>
              </a:rPr>
              <a:t>● Hold and Shape:</a:t>
            </a:r>
          </a:p>
        </p:txBody>
      </p:sp>
      <p:pic>
        <p:nvPicPr>
          <p:cNvPr id="138" name="Picture 137" descr="lock.png"/>
          <p:cNvPicPr>
            <a:picLocks noChangeAspect="1"/>
          </p:cNvPicPr>
          <p:nvPr/>
        </p:nvPicPr>
        <p:blipFill>
          <a:blip r:embed="rId25"/>
          <a:stretch>
            <a:fillRect/>
          </a:stretch>
        </p:blipFill>
        <p:spPr>
          <a:xfrm>
            <a:off x="4906756" y="4605230"/>
            <a:ext cx="128699" cy="187198"/>
          </a:xfrm>
          <a:prstGeom prst="rect">
            <a:avLst/>
          </a:prstGeom>
        </p:spPr>
      </p:pic>
      <p:sp>
        <p:nvSpPr>
          <p:cNvPr id="139" name="TextBox 138"/>
          <p:cNvSpPr txBox="1"/>
          <p:nvPr/>
        </p:nvSpPr>
        <p:spPr>
          <a:xfrm>
            <a:off x="507425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5"/>
          <a:stretch>
            <a:fillRect/>
          </a:stretch>
        </p:blipFill>
        <p:spPr>
          <a:xfrm>
            <a:off x="5933702" y="4605230"/>
            <a:ext cx="128699" cy="187198"/>
          </a:xfrm>
          <a:prstGeom prst="rect">
            <a:avLst/>
          </a:prstGeom>
        </p:spPr>
      </p:pic>
      <p:sp>
        <p:nvSpPr>
          <p:cNvPr id="141" name="TextBox 140"/>
          <p:cNvSpPr txBox="1"/>
          <p:nvPr/>
        </p:nvSpPr>
        <p:spPr>
          <a:xfrm>
            <a:off x="6101198"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2" name="TextBox 141"/>
          <p:cNvSpPr txBox="1"/>
          <p:nvPr/>
        </p:nvSpPr>
        <p:spPr>
          <a:xfrm>
            <a:off x="3838575" y="4832941"/>
            <a:ext cx="1052190" cy="186689"/>
          </a:xfrm>
          <a:prstGeom prst="rect">
            <a:avLst/>
          </a:prstGeom>
          <a:noFill/>
        </p:spPr>
        <p:txBody>
          <a:bodyPr wrap="none" lIns="0" rIns="0" tIns="0" bIns="0">
            <a:spAutoFit/>
          </a:bodyPr>
          <a:lstStyle/>
          <a:p>
            <a:r>
              <a:rPr sz="1100" b="0">
                <a:solidFill>
                  <a:srgbClr val="2E2E2E"/>
                </a:solidFill>
                <a:latin typeface="Calibri"/>
              </a:rPr>
              <a:t>● Curl Definition:</a:t>
            </a:r>
          </a:p>
        </p:txBody>
      </p:sp>
      <p:pic>
        <p:nvPicPr>
          <p:cNvPr id="143" name="Picture 142" descr="lock.png"/>
          <p:cNvPicPr>
            <a:picLocks noChangeAspect="1"/>
          </p:cNvPicPr>
          <p:nvPr/>
        </p:nvPicPr>
        <p:blipFill>
          <a:blip r:embed="rId25"/>
          <a:stretch>
            <a:fillRect/>
          </a:stretch>
        </p:blipFill>
        <p:spPr>
          <a:xfrm>
            <a:off x="4838816" y="4823162"/>
            <a:ext cx="128699" cy="187198"/>
          </a:xfrm>
          <a:prstGeom prst="rect">
            <a:avLst/>
          </a:prstGeom>
        </p:spPr>
      </p:pic>
      <p:sp>
        <p:nvSpPr>
          <p:cNvPr id="144" name="TextBox 143"/>
          <p:cNvSpPr txBox="1"/>
          <p:nvPr/>
        </p:nvSpPr>
        <p:spPr>
          <a:xfrm>
            <a:off x="5006312"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5"/>
          <a:stretch>
            <a:fillRect/>
          </a:stretch>
        </p:blipFill>
        <p:spPr>
          <a:xfrm>
            <a:off x="5865762" y="4823162"/>
            <a:ext cx="128699" cy="187198"/>
          </a:xfrm>
          <a:prstGeom prst="rect">
            <a:avLst/>
          </a:prstGeom>
        </p:spPr>
      </p:pic>
      <p:sp>
        <p:nvSpPr>
          <p:cNvPr id="146" name="TextBox 145"/>
          <p:cNvSpPr txBox="1"/>
          <p:nvPr/>
        </p:nvSpPr>
        <p:spPr>
          <a:xfrm>
            <a:off x="6033258" y="483294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7" name="TextBox 146"/>
          <p:cNvSpPr txBox="1"/>
          <p:nvPr/>
        </p:nvSpPr>
        <p:spPr>
          <a:xfrm>
            <a:off x="3838575" y="5050872"/>
            <a:ext cx="1394891" cy="186689"/>
          </a:xfrm>
          <a:prstGeom prst="rect">
            <a:avLst/>
          </a:prstGeom>
          <a:noFill/>
        </p:spPr>
        <p:txBody>
          <a:bodyPr wrap="none" lIns="0" rIns="0" tIns="0" bIns="0">
            <a:spAutoFit/>
          </a:bodyPr>
          <a:lstStyle/>
          <a:p>
            <a:r>
              <a:rPr sz="1100" b="0">
                <a:solidFill>
                  <a:srgbClr val="2E2E2E"/>
                </a:solidFill>
                <a:latin typeface="Calibri"/>
              </a:rPr>
              <a:t>● Heat Styling Support:</a:t>
            </a:r>
          </a:p>
        </p:txBody>
      </p:sp>
      <p:pic>
        <p:nvPicPr>
          <p:cNvPr id="148" name="Picture 147" descr="lock.png"/>
          <p:cNvPicPr>
            <a:picLocks noChangeAspect="1"/>
          </p:cNvPicPr>
          <p:nvPr/>
        </p:nvPicPr>
        <p:blipFill>
          <a:blip r:embed="rId25"/>
          <a:stretch>
            <a:fillRect/>
          </a:stretch>
        </p:blipFill>
        <p:spPr>
          <a:xfrm>
            <a:off x="5181518" y="5041093"/>
            <a:ext cx="128699" cy="187198"/>
          </a:xfrm>
          <a:prstGeom prst="rect">
            <a:avLst/>
          </a:prstGeom>
        </p:spPr>
      </p:pic>
      <p:sp>
        <p:nvSpPr>
          <p:cNvPr id="149" name="TextBox 148"/>
          <p:cNvSpPr txBox="1"/>
          <p:nvPr/>
        </p:nvSpPr>
        <p:spPr>
          <a:xfrm>
            <a:off x="5349014"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0" name="Picture 149" descr="lock.png"/>
          <p:cNvPicPr>
            <a:picLocks noChangeAspect="1"/>
          </p:cNvPicPr>
          <p:nvPr/>
        </p:nvPicPr>
        <p:blipFill>
          <a:blip r:embed="rId25"/>
          <a:stretch>
            <a:fillRect/>
          </a:stretch>
        </p:blipFill>
        <p:spPr>
          <a:xfrm>
            <a:off x="6208464" y="5041093"/>
            <a:ext cx="128699" cy="187198"/>
          </a:xfrm>
          <a:prstGeom prst="rect">
            <a:avLst/>
          </a:prstGeom>
        </p:spPr>
      </p:pic>
      <p:sp>
        <p:nvSpPr>
          <p:cNvPr id="151" name="TextBox 150"/>
          <p:cNvSpPr txBox="1"/>
          <p:nvPr/>
        </p:nvSpPr>
        <p:spPr>
          <a:xfrm>
            <a:off x="6375960"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2" name="TextBox 151"/>
          <p:cNvSpPr txBox="1"/>
          <p:nvPr/>
        </p:nvSpPr>
        <p:spPr>
          <a:xfrm>
            <a:off x="3838575" y="5268804"/>
            <a:ext cx="1428452" cy="186689"/>
          </a:xfrm>
          <a:prstGeom prst="rect">
            <a:avLst/>
          </a:prstGeom>
          <a:noFill/>
        </p:spPr>
        <p:txBody>
          <a:bodyPr wrap="none" lIns="0" rIns="0" tIns="0" bIns="0">
            <a:spAutoFit/>
          </a:bodyPr>
          <a:lstStyle/>
          <a:p>
            <a:r>
              <a:rPr sz="1100" b="0">
                <a:solidFill>
                  <a:srgbClr val="2E2E2E"/>
                </a:solidFill>
                <a:latin typeface="Calibri"/>
              </a:rPr>
              <a:t>● Volume and Root Lift:</a:t>
            </a:r>
          </a:p>
        </p:txBody>
      </p:sp>
      <p:pic>
        <p:nvPicPr>
          <p:cNvPr id="153" name="Picture 152" descr="lock.png"/>
          <p:cNvPicPr>
            <a:picLocks noChangeAspect="1"/>
          </p:cNvPicPr>
          <p:nvPr/>
        </p:nvPicPr>
        <p:blipFill>
          <a:blip r:embed="rId25"/>
          <a:stretch>
            <a:fillRect/>
          </a:stretch>
        </p:blipFill>
        <p:spPr>
          <a:xfrm>
            <a:off x="5215078" y="5259025"/>
            <a:ext cx="128699" cy="187198"/>
          </a:xfrm>
          <a:prstGeom prst="rect">
            <a:avLst/>
          </a:prstGeom>
        </p:spPr>
      </p:pic>
      <p:sp>
        <p:nvSpPr>
          <p:cNvPr id="154" name="TextBox 153"/>
          <p:cNvSpPr txBox="1"/>
          <p:nvPr/>
        </p:nvSpPr>
        <p:spPr>
          <a:xfrm>
            <a:off x="5382574"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5" name="Picture 154" descr="lock.png"/>
          <p:cNvPicPr>
            <a:picLocks noChangeAspect="1"/>
          </p:cNvPicPr>
          <p:nvPr/>
        </p:nvPicPr>
        <p:blipFill>
          <a:blip r:embed="rId25"/>
          <a:stretch>
            <a:fillRect/>
          </a:stretch>
        </p:blipFill>
        <p:spPr>
          <a:xfrm>
            <a:off x="6242024" y="5259025"/>
            <a:ext cx="128699" cy="187198"/>
          </a:xfrm>
          <a:prstGeom prst="rect">
            <a:avLst/>
          </a:prstGeom>
        </p:spPr>
      </p:pic>
      <p:sp>
        <p:nvSpPr>
          <p:cNvPr id="156" name="TextBox 155"/>
          <p:cNvSpPr txBox="1"/>
          <p:nvPr/>
        </p:nvSpPr>
        <p:spPr>
          <a:xfrm>
            <a:off x="6409520" y="5268804"/>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7" name="TextBox 156"/>
          <p:cNvSpPr txBox="1"/>
          <p:nvPr/>
        </p:nvSpPr>
        <p:spPr>
          <a:xfrm>
            <a:off x="3838575" y="5486736"/>
            <a:ext cx="1559421" cy="186689"/>
          </a:xfrm>
          <a:prstGeom prst="rect">
            <a:avLst/>
          </a:prstGeom>
          <a:noFill/>
        </p:spPr>
        <p:txBody>
          <a:bodyPr wrap="none" lIns="0" rIns="0" tIns="0" bIns="0">
            <a:spAutoFit/>
          </a:bodyPr>
          <a:lstStyle/>
          <a:p>
            <a:r>
              <a:rPr sz="1100" b="0">
                <a:solidFill>
                  <a:srgbClr val="2E2E2E"/>
                </a:solidFill>
                <a:latin typeface="Calibri"/>
              </a:rPr>
              <a:t>● Texture and Separation:</a:t>
            </a:r>
          </a:p>
        </p:txBody>
      </p:sp>
      <p:pic>
        <p:nvPicPr>
          <p:cNvPr id="158" name="Picture 157" descr="lock.png"/>
          <p:cNvPicPr>
            <a:picLocks noChangeAspect="1"/>
          </p:cNvPicPr>
          <p:nvPr/>
        </p:nvPicPr>
        <p:blipFill>
          <a:blip r:embed="rId25"/>
          <a:stretch>
            <a:fillRect/>
          </a:stretch>
        </p:blipFill>
        <p:spPr>
          <a:xfrm>
            <a:off x="5346047" y="5476957"/>
            <a:ext cx="128699" cy="187198"/>
          </a:xfrm>
          <a:prstGeom prst="rect">
            <a:avLst/>
          </a:prstGeom>
        </p:spPr>
      </p:pic>
      <p:sp>
        <p:nvSpPr>
          <p:cNvPr id="159" name="TextBox 158"/>
          <p:cNvSpPr txBox="1"/>
          <p:nvPr/>
        </p:nvSpPr>
        <p:spPr>
          <a:xfrm>
            <a:off x="5513543" y="5486736"/>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0" name="Picture 159" descr="lock.png"/>
          <p:cNvPicPr>
            <a:picLocks noChangeAspect="1"/>
          </p:cNvPicPr>
          <p:nvPr/>
        </p:nvPicPr>
        <p:blipFill>
          <a:blip r:embed="rId25"/>
          <a:stretch>
            <a:fillRect/>
          </a:stretch>
        </p:blipFill>
        <p:spPr>
          <a:xfrm>
            <a:off x="6372993" y="5476957"/>
            <a:ext cx="128699" cy="187198"/>
          </a:xfrm>
          <a:prstGeom prst="rect">
            <a:avLst/>
          </a:prstGeom>
        </p:spPr>
      </p:pic>
      <p:sp>
        <p:nvSpPr>
          <p:cNvPr id="161" name="TextBox 160"/>
          <p:cNvSpPr txBox="1"/>
          <p:nvPr/>
        </p:nvSpPr>
        <p:spPr>
          <a:xfrm>
            <a:off x="6540489" y="5486736"/>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62" name="TextBox 161"/>
          <p:cNvSpPr txBox="1"/>
          <p:nvPr/>
        </p:nvSpPr>
        <p:spPr>
          <a:xfrm>
            <a:off x="3838575" y="5704668"/>
            <a:ext cx="1946840" cy="186689"/>
          </a:xfrm>
          <a:prstGeom prst="rect">
            <a:avLst/>
          </a:prstGeom>
          <a:noFill/>
        </p:spPr>
        <p:txBody>
          <a:bodyPr wrap="none" lIns="0" rIns="0" tIns="0" bIns="0">
            <a:spAutoFit/>
          </a:bodyPr>
          <a:lstStyle/>
          <a:p>
            <a:r>
              <a:rPr sz="1100" b="0">
                <a:solidFill>
                  <a:srgbClr val="2E2E2E"/>
                </a:solidFill>
                <a:latin typeface="Calibri"/>
              </a:rPr>
              <a:t>● Sleek Styling and Edge Control:</a:t>
            </a:r>
          </a:p>
        </p:txBody>
      </p:sp>
      <p:pic>
        <p:nvPicPr>
          <p:cNvPr id="163" name="Picture 162" descr="lock.png"/>
          <p:cNvPicPr>
            <a:picLocks noChangeAspect="1"/>
          </p:cNvPicPr>
          <p:nvPr/>
        </p:nvPicPr>
        <p:blipFill>
          <a:blip r:embed="rId25"/>
          <a:stretch>
            <a:fillRect/>
          </a:stretch>
        </p:blipFill>
        <p:spPr>
          <a:xfrm>
            <a:off x="5733467" y="5694889"/>
            <a:ext cx="128699" cy="187198"/>
          </a:xfrm>
          <a:prstGeom prst="rect">
            <a:avLst/>
          </a:prstGeom>
        </p:spPr>
      </p:pic>
      <p:sp>
        <p:nvSpPr>
          <p:cNvPr id="164" name="TextBox 163"/>
          <p:cNvSpPr txBox="1"/>
          <p:nvPr/>
        </p:nvSpPr>
        <p:spPr>
          <a:xfrm>
            <a:off x="5900962" y="5704668"/>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5" name="Picture 164" descr="lock.png"/>
          <p:cNvPicPr>
            <a:picLocks noChangeAspect="1"/>
          </p:cNvPicPr>
          <p:nvPr/>
        </p:nvPicPr>
        <p:blipFill>
          <a:blip r:embed="rId25"/>
          <a:stretch>
            <a:fillRect/>
          </a:stretch>
        </p:blipFill>
        <p:spPr>
          <a:xfrm>
            <a:off x="6760413" y="5694889"/>
            <a:ext cx="128699" cy="187198"/>
          </a:xfrm>
          <a:prstGeom prst="rect">
            <a:avLst/>
          </a:prstGeom>
        </p:spPr>
      </p:pic>
      <p:sp>
        <p:nvSpPr>
          <p:cNvPr id="166" name="TextBox 165"/>
          <p:cNvSpPr txBox="1"/>
          <p:nvPr/>
        </p:nvSpPr>
        <p:spPr>
          <a:xfrm>
            <a:off x="6927908" y="5704668"/>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67" name="TextBox 166"/>
          <p:cNvSpPr txBox="1"/>
          <p:nvPr/>
        </p:nvSpPr>
        <p:spPr>
          <a:xfrm>
            <a:off x="3838575" y="587230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68" name="TextBox 167"/>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Primary Styling Benefit segment is projected to</a:t>
            </a:r>
          </a:p>
        </p:txBody>
      </p:sp>
      <p:sp>
        <p:nvSpPr>
          <p:cNvPr id="169" name="TextBox 168"/>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70" name="Picture 169" descr="lock.png"/>
          <p:cNvPicPr>
            <a:picLocks noChangeAspect="1"/>
          </p:cNvPicPr>
          <p:nvPr/>
        </p:nvPicPr>
        <p:blipFill>
          <a:blip r:embed="rId25"/>
          <a:stretch>
            <a:fillRect/>
          </a:stretch>
        </p:blipFill>
        <p:spPr>
          <a:xfrm>
            <a:off x="9651852" y="6007677"/>
            <a:ext cx="134549" cy="195707"/>
          </a:xfrm>
          <a:prstGeom prst="rect">
            <a:avLst/>
          </a:prstGeom>
        </p:spPr>
      </p:pic>
      <p:sp>
        <p:nvSpPr>
          <p:cNvPr id="171" name="TextBox 170"/>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Primary Styling Benefit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Primary Styling Benefit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Primary Styling Benefit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Primary Styling Benefit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387807" cy="186689"/>
          </a:xfrm>
          <a:prstGeom prst="rect">
            <a:avLst/>
          </a:prstGeom>
          <a:noFill/>
        </p:spPr>
        <p:txBody>
          <a:bodyPr wrap="none" lIns="0" rIns="0" tIns="0" bIns="0">
            <a:spAutoFit/>
          </a:bodyPr>
          <a:lstStyle/>
          <a:p>
            <a:r>
              <a:rPr sz="1100" b="0">
                <a:solidFill>
                  <a:srgbClr val="2E2E2E"/>
                </a:solidFill>
                <a:latin typeface="Calibri"/>
              </a:rPr>
              <a:t>Curl definition followed by smoothing and frizz control are expected to be the two most attractive primary styling benefit segments in the global hair styling products market in terms of value over the</a:t>
            </a:r>
          </a:p>
        </p:txBody>
      </p:sp>
      <p:sp>
        <p:nvSpPr>
          <p:cNvPr id="21" name="TextBox 20"/>
          <p:cNvSpPr txBox="1"/>
          <p:nvPr/>
        </p:nvSpPr>
        <p:spPr>
          <a:xfrm>
            <a:off x="257175" y="5861685"/>
            <a:ext cx="5008520" cy="186689"/>
          </a:xfrm>
          <a:prstGeom prst="rect">
            <a:avLst/>
          </a:prstGeom>
          <a:noFill/>
        </p:spPr>
        <p:txBody>
          <a:bodyPr wrap="none" lIns="0" rIns="0" tIns="0" bIns="0">
            <a:spAutoFit/>
          </a:bodyPr>
          <a:lstStyle/>
          <a:p>
            <a:r>
              <a:rPr sz="1100" b="0">
                <a:solidFill>
                  <a:srgbClr val="2E2E2E"/>
                </a:solidFill>
                <a:latin typeface="Calibri"/>
              </a:rPr>
              <a:t>forecast period. Curl definition and smoothing and frizz control exhibit a CAGR index of</a:t>
            </a:r>
          </a:p>
        </p:txBody>
      </p:sp>
      <p:pic>
        <p:nvPicPr>
          <p:cNvPr id="22" name="Picture 21" descr="lock.png"/>
          <p:cNvPicPr>
            <a:picLocks noChangeAspect="1"/>
          </p:cNvPicPr>
          <p:nvPr/>
        </p:nvPicPr>
        <p:blipFill>
          <a:blip r:embed="rId6"/>
          <a:stretch>
            <a:fillRect/>
          </a:stretch>
        </p:blipFill>
        <p:spPr>
          <a:xfrm>
            <a:off x="5213747" y="5851905"/>
            <a:ext cx="128699" cy="187198"/>
          </a:xfrm>
          <a:prstGeom prst="rect">
            <a:avLst/>
          </a:prstGeom>
        </p:spPr>
      </p:pic>
      <p:sp>
        <p:nvSpPr>
          <p:cNvPr id="23" name="TextBox 22"/>
          <p:cNvSpPr txBox="1"/>
          <p:nvPr/>
        </p:nvSpPr>
        <p:spPr>
          <a:xfrm>
            <a:off x="538124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5619137" y="5851905"/>
            <a:ext cx="128699" cy="187198"/>
          </a:xfrm>
          <a:prstGeom prst="rect">
            <a:avLst/>
          </a:prstGeom>
        </p:spPr>
      </p:pic>
      <p:sp>
        <p:nvSpPr>
          <p:cNvPr id="25" name="TextBox 24"/>
          <p:cNvSpPr txBox="1"/>
          <p:nvPr/>
        </p:nvSpPr>
        <p:spPr>
          <a:xfrm>
            <a:off x="578663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7395606" y="5851905"/>
            <a:ext cx="128699" cy="187198"/>
          </a:xfrm>
          <a:prstGeom prst="rect">
            <a:avLst/>
          </a:prstGeom>
        </p:spPr>
      </p:pic>
      <p:sp>
        <p:nvSpPr>
          <p:cNvPr id="27" name="TextBox 26"/>
          <p:cNvSpPr txBox="1"/>
          <p:nvPr/>
        </p:nvSpPr>
        <p:spPr>
          <a:xfrm>
            <a:off x="756310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7800996" y="5851905"/>
            <a:ext cx="128699" cy="187198"/>
          </a:xfrm>
          <a:prstGeom prst="rect">
            <a:avLst/>
          </a:prstGeom>
        </p:spPr>
      </p:pic>
      <p:sp>
        <p:nvSpPr>
          <p:cNvPr id="29" name="TextBox 28"/>
          <p:cNvSpPr txBox="1"/>
          <p:nvPr/>
        </p:nvSpPr>
        <p:spPr>
          <a:xfrm>
            <a:off x="796849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10522896" y="5851905"/>
            <a:ext cx="128699" cy="187198"/>
          </a:xfrm>
          <a:prstGeom prst="rect">
            <a:avLst/>
          </a:prstGeom>
        </p:spPr>
      </p:pic>
      <p:sp>
        <p:nvSpPr>
          <p:cNvPr id="31" name="TextBox 30"/>
          <p:cNvSpPr txBox="1"/>
          <p:nvPr/>
        </p:nvSpPr>
        <p:spPr>
          <a:xfrm>
            <a:off x="10690392" y="5861685"/>
            <a:ext cx="675382" cy="186689"/>
          </a:xfrm>
          <a:prstGeom prst="rect">
            <a:avLst/>
          </a:prstGeom>
          <a:noFill/>
        </p:spPr>
        <p:txBody>
          <a:bodyPr wrap="none" lIns="0" rIns="0" tIns="0" bIns="0">
            <a:spAutoFit/>
          </a:bodyPr>
          <a:lstStyle/>
          <a:p>
            <a:r>
              <a:rPr sz="1100" b="0">
                <a:solidFill>
                  <a:srgbClr val="2E2E2E"/>
                </a:solidFill>
                <a:latin typeface="Calibri"/>
              </a:rPr>
              <a:t>. The sleek</a:t>
            </a:r>
          </a:p>
        </p:txBody>
      </p:sp>
      <p:sp>
        <p:nvSpPr>
          <p:cNvPr id="32" name="TextBox 31"/>
          <p:cNvSpPr txBox="1"/>
          <p:nvPr/>
        </p:nvSpPr>
        <p:spPr>
          <a:xfrm>
            <a:off x="257175" y="6029325"/>
            <a:ext cx="11318213" cy="186689"/>
          </a:xfrm>
          <a:prstGeom prst="rect">
            <a:avLst/>
          </a:prstGeom>
          <a:noFill/>
        </p:spPr>
        <p:txBody>
          <a:bodyPr wrap="none" lIns="0" rIns="0" tIns="0" bIns="0">
            <a:spAutoFit/>
          </a:bodyPr>
          <a:lstStyle/>
          <a:p>
            <a:r>
              <a:rPr sz="1100" b="0">
                <a:solidFill>
                  <a:srgbClr val="2E2E2E"/>
                </a:solidFill>
                <a:latin typeface="Calibri"/>
              </a:rPr>
              <a:t>styling and edge control segment is expected to be less attractive as compared to other segments over the forecast period, owing to its lower CAGR and incremental opportunity. Bubbles right of the</a:t>
            </a:r>
          </a:p>
        </p:txBody>
      </p:sp>
      <p:sp>
        <p:nvSpPr>
          <p:cNvPr id="33" name="TextBox 32"/>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Primary Styling Benefit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Primary Styling Benefit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Hold and Shape</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Curl Definition</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Volume and Root Lift</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Texture and Separation</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Primary Styling Benefit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Primary Styling Benefit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Smoothing and Frizz Control</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Sleek Styling and Edge Control</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Heat Styling Support</a:t>
            </a:r>
          </a:p>
        </p:txBody>
      </p:sp>
      <p:graphicFrame>
        <p:nvGraphicFramePr>
          <p:cNvPr id="18" name="Chart 17"/>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Primary Styling Benefit</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094826" y="5123309"/>
            <a:ext cx="263506" cy="383281"/>
          </a:xfrm>
          <a:prstGeom prst="rect">
            <a:avLst/>
          </a:prstGeom>
        </p:spPr>
      </p:pic>
      <p:sp>
        <p:nvSpPr>
          <p:cNvPr id="27" name="TextBox 26"/>
          <p:cNvSpPr txBox="1"/>
          <p:nvPr/>
        </p:nvSpPr>
        <p:spPr>
          <a:xfrm>
            <a:off x="6305550" y="4484320"/>
            <a:ext cx="4332165" cy="194310"/>
          </a:xfrm>
          <a:prstGeom prst="rect">
            <a:avLst/>
          </a:prstGeom>
          <a:noFill/>
        </p:spPr>
        <p:txBody>
          <a:bodyPr wrap="none" lIns="0" rIns="0" tIns="0" bIns="0">
            <a:spAutoFit/>
          </a:bodyPr>
          <a:lstStyle/>
          <a:p>
            <a:r>
              <a:rPr sz="1150" b="0">
                <a:solidFill>
                  <a:srgbClr val="2E2E2E"/>
                </a:solidFill>
                <a:latin typeface="Calibri"/>
              </a:rPr>
              <a:t>By 2036, curl definition segment is anticipated to witness an increase of</a:t>
            </a:r>
          </a:p>
        </p:txBody>
      </p:sp>
      <p:pic>
        <p:nvPicPr>
          <p:cNvPr id="28" name="Picture 27" descr="lock.png"/>
          <p:cNvPicPr>
            <a:picLocks noChangeAspect="1"/>
          </p:cNvPicPr>
          <p:nvPr/>
        </p:nvPicPr>
        <p:blipFill>
          <a:blip r:embed="rId7"/>
          <a:stretch>
            <a:fillRect/>
          </a:stretch>
        </p:blipFill>
        <p:spPr>
          <a:xfrm>
            <a:off x="10586869" y="4474096"/>
            <a:ext cx="134549" cy="195707"/>
          </a:xfrm>
          <a:prstGeom prst="rect">
            <a:avLst/>
          </a:prstGeom>
        </p:spPr>
      </p:pic>
      <p:sp>
        <p:nvSpPr>
          <p:cNvPr id="29" name="TextBox 28"/>
          <p:cNvSpPr txBox="1"/>
          <p:nvPr/>
        </p:nvSpPr>
        <p:spPr>
          <a:xfrm>
            <a:off x="10761979" y="448432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0" name="TextBox 29"/>
          <p:cNvSpPr txBox="1"/>
          <p:nvPr/>
        </p:nvSpPr>
        <p:spPr>
          <a:xfrm>
            <a:off x="6305550" y="4659580"/>
            <a:ext cx="5581600" cy="194310"/>
          </a:xfrm>
          <a:prstGeom prst="rect">
            <a:avLst/>
          </a:prstGeom>
          <a:noFill/>
        </p:spPr>
        <p:txBody>
          <a:bodyPr wrap="none" lIns="0" rIns="0" tIns="0" bIns="0">
            <a:spAutoFit/>
          </a:bodyPr>
          <a:lstStyle/>
          <a:p>
            <a:r>
              <a:rPr sz="1150" b="0">
                <a:solidFill>
                  <a:srgbClr val="2E2E2E"/>
                </a:solidFill>
                <a:latin typeface="Calibri"/>
              </a:rPr>
              <a:t>value as compared to 2026. The curl definition segment is expected to create an incremental</a:t>
            </a:r>
          </a:p>
        </p:txBody>
      </p:sp>
      <p:sp>
        <p:nvSpPr>
          <p:cNvPr id="31" name="TextBox 30"/>
          <p:cNvSpPr txBox="1"/>
          <p:nvPr/>
        </p:nvSpPr>
        <p:spPr>
          <a:xfrm>
            <a:off x="6305550" y="483484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824616"/>
            <a:ext cx="134549" cy="195707"/>
          </a:xfrm>
          <a:prstGeom prst="rect">
            <a:avLst/>
          </a:prstGeom>
        </p:spPr>
      </p:pic>
      <p:sp>
        <p:nvSpPr>
          <p:cNvPr id="33" name="TextBox 32"/>
          <p:cNvSpPr txBox="1"/>
          <p:nvPr/>
        </p:nvSpPr>
        <p:spPr>
          <a:xfrm>
            <a:off x="7638756" y="4834840"/>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34" name="TextBox 33"/>
          <p:cNvSpPr txBox="1"/>
          <p:nvPr/>
        </p:nvSpPr>
        <p:spPr>
          <a:xfrm>
            <a:off x="6305550" y="5062678"/>
            <a:ext cx="5591175" cy="194310"/>
          </a:xfrm>
          <a:prstGeom prst="rect">
            <a:avLst/>
          </a:prstGeom>
          <a:noFill/>
        </p:spPr>
        <p:txBody>
          <a:bodyPr wrap="none" lIns="0" rIns="0" tIns="0" bIns="0">
            <a:spAutoFit/>
          </a:bodyPr>
          <a:lstStyle/>
          <a:p>
            <a:r>
              <a:rPr sz="1150" b="0">
                <a:solidFill>
                  <a:srgbClr val="2E2E2E"/>
                </a:solidFill>
                <a:latin typeface="Calibri"/>
              </a:rPr>
              <a:t>The smoothing and frizz control segment is expected to create an incremental opportunity of</a:t>
            </a:r>
          </a:p>
        </p:txBody>
      </p:sp>
      <p:sp>
        <p:nvSpPr>
          <p:cNvPr id="35" name="TextBox 34"/>
          <p:cNvSpPr txBox="1"/>
          <p:nvPr/>
        </p:nvSpPr>
        <p:spPr>
          <a:xfrm>
            <a:off x="6305550" y="5237938"/>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6" name="Picture 35" descr="lock.png"/>
          <p:cNvPicPr>
            <a:picLocks noChangeAspect="1"/>
          </p:cNvPicPr>
          <p:nvPr/>
        </p:nvPicPr>
        <p:blipFill>
          <a:blip r:embed="rId7"/>
          <a:stretch>
            <a:fillRect/>
          </a:stretch>
        </p:blipFill>
        <p:spPr>
          <a:xfrm>
            <a:off x="6565953" y="5227714"/>
            <a:ext cx="134549" cy="195707"/>
          </a:xfrm>
          <a:prstGeom prst="rect">
            <a:avLst/>
          </a:prstGeom>
        </p:spPr>
      </p:pic>
      <p:sp>
        <p:nvSpPr>
          <p:cNvPr id="37" name="TextBox 36"/>
          <p:cNvSpPr txBox="1"/>
          <p:nvPr/>
        </p:nvSpPr>
        <p:spPr>
          <a:xfrm>
            <a:off x="6741062" y="5237938"/>
            <a:ext cx="5004531"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 The heat styling</a:t>
            </a:r>
          </a:p>
        </p:txBody>
      </p:sp>
      <p:sp>
        <p:nvSpPr>
          <p:cNvPr id="38" name="TextBox 37"/>
          <p:cNvSpPr txBox="1"/>
          <p:nvPr/>
        </p:nvSpPr>
        <p:spPr>
          <a:xfrm>
            <a:off x="6305550" y="5413197"/>
            <a:ext cx="4453421" cy="194310"/>
          </a:xfrm>
          <a:prstGeom prst="rect">
            <a:avLst/>
          </a:prstGeom>
          <a:noFill/>
        </p:spPr>
        <p:txBody>
          <a:bodyPr wrap="none" lIns="0" rIns="0" tIns="0" bIns="0">
            <a:spAutoFit/>
          </a:bodyPr>
          <a:lstStyle/>
          <a:p>
            <a:r>
              <a:rPr sz="1150" b="0">
                <a:solidFill>
                  <a:srgbClr val="2E2E2E"/>
                </a:solidFill>
                <a:latin typeface="Calibri"/>
              </a:rPr>
              <a:t>support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708125" y="5402974"/>
            <a:ext cx="134549" cy="195707"/>
          </a:xfrm>
          <a:prstGeom prst="rect">
            <a:avLst/>
          </a:prstGeom>
        </p:spPr>
      </p:pic>
      <p:sp>
        <p:nvSpPr>
          <p:cNvPr id="40" name="TextBox 39"/>
          <p:cNvSpPr txBox="1"/>
          <p:nvPr/>
        </p:nvSpPr>
        <p:spPr>
          <a:xfrm>
            <a:off x="10883234" y="541319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41" name="TextBox 40"/>
          <p:cNvSpPr txBox="1"/>
          <p:nvPr/>
        </p:nvSpPr>
        <p:spPr>
          <a:xfrm>
            <a:off x="6305550" y="5588457"/>
            <a:ext cx="3358901" cy="194310"/>
          </a:xfrm>
          <a:prstGeom prst="rect">
            <a:avLst/>
          </a:prstGeom>
          <a:noFill/>
        </p:spPr>
        <p:txBody>
          <a:bodyPr wrap="none" lIns="0" rIns="0" tIns="0" bIns="0">
            <a:spAutoFit/>
          </a:bodyPr>
          <a:lstStyle/>
          <a:p>
            <a:r>
              <a:rPr sz="1150" b="0">
                <a:solidFill>
                  <a:srgbClr val="2E2E2E"/>
                </a:solidFill>
                <a:latin typeface="Calibri"/>
              </a:rPr>
              <a:t>overall hair styling products market from 2026 to 2036.</a:t>
            </a:r>
          </a:p>
        </p:txBody>
      </p:sp>
      <p:sp>
        <p:nvSpPr>
          <p:cNvPr id="42"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Primary Styling Benefit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Primary Styling Benefit,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Primary Styling Benefit (US$ Mn)</a:t>
            </a:r>
          </a:p>
        </p:txBody>
      </p:sp>
      <p:graphicFrame>
        <p:nvGraphicFramePr>
          <p:cNvPr id="13" name="Table 12"/>
          <p:cNvGraphicFramePr>
            <a:graphicFrameLocks noGrp="1"/>
          </p:cNvGraphicFramePr>
          <p:nvPr/>
        </p:nvGraphicFramePr>
        <p:xfrm>
          <a:off x="152400" y="1238250"/>
          <a:ext cx="11887194" cy="2219326"/>
        </p:xfrm>
        <a:graphic>
          <a:graphicData uri="http://schemas.openxmlformats.org/drawingml/2006/table">
            <a:tbl>
              <a:tblPr>
                <a:tableStyleId>{5C22544A-7EE6-4342-B048-85BDC9FD1C3A}</a:tableStyleId>
              </a:tblPr>
              <a:tblGrid>
                <a:gridCol w="2014036"/>
                <a:gridCol w="580774"/>
                <a:gridCol w="580774"/>
                <a:gridCol w="580774"/>
                <a:gridCol w="580774"/>
                <a:gridCol w="580774"/>
                <a:gridCol w="580774"/>
                <a:gridCol w="580774"/>
                <a:gridCol w="580774"/>
                <a:gridCol w="580774"/>
                <a:gridCol w="580774"/>
                <a:gridCol w="580774"/>
                <a:gridCol w="580774"/>
                <a:gridCol w="580774"/>
                <a:gridCol w="580774"/>
                <a:gridCol w="580774"/>
                <a:gridCol w="580774"/>
                <a:gridCol w="580774"/>
              </a:tblGrid>
              <a:tr h="246126">
                <a:tc>
                  <a:txBody>
                    <a:bodyPr wrap="none"/>
                    <a:lstStyle/>
                    <a:p>
                      <a:pPr algn="l"/>
                      <a:r>
                        <a:rPr sz="1100" b="1">
                          <a:solidFill>
                            <a:srgbClr val="0B2E4A"/>
                          </a:solidFill>
                          <a:latin typeface="Calibri"/>
                        </a:rPr>
                        <a:t>Primary Styling Benefit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Hold and Shape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Curl Definition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Volume and Root Lift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Texture and Separation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Smoothing and Frizz Control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Sleek Styling and Edge Control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Heat Styling Support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Primary Styling Benefit</a:t>
            </a:r>
          </a:p>
        </p:txBody>
      </p:sp>
      <p:sp>
        <p:nvSpPr>
          <p:cNvPr id="17" name="Rectangle 16"/>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16325" y="2204276"/>
            <a:ext cx="366712" cy="533400"/>
          </a:xfrm>
          <a:prstGeom prst="rect">
            <a:avLst/>
          </a:prstGeom>
        </p:spPr>
      </p:pic>
      <p:sp>
        <p:nvSpPr>
          <p:cNvPr id="21" name="TextBox 20"/>
          <p:cNvSpPr txBox="1"/>
          <p:nvPr/>
        </p:nvSpPr>
        <p:spPr>
          <a:xfrm>
            <a:off x="276225" y="4219575"/>
            <a:ext cx="3637595" cy="194310"/>
          </a:xfrm>
          <a:prstGeom prst="rect">
            <a:avLst/>
          </a:prstGeom>
          <a:noFill/>
        </p:spPr>
        <p:txBody>
          <a:bodyPr wrap="none" lIns="0" rIns="0" tIns="0" bIns="0">
            <a:spAutoFit/>
          </a:bodyPr>
          <a:lstStyle/>
          <a:p>
            <a:r>
              <a:rPr sz="1150" b="0">
                <a:solidFill>
                  <a:srgbClr val="2E2E2E"/>
                </a:solidFill>
                <a:latin typeface="Calibri"/>
              </a:rPr>
              <a:t>Smoothing and frizz control segment is projected to register</a:t>
            </a:r>
          </a:p>
        </p:txBody>
      </p:sp>
      <p:pic>
        <p:nvPicPr>
          <p:cNvPr id="22" name="Picture 21" descr="lock.png"/>
          <p:cNvPicPr>
            <a:picLocks noChangeAspect="1"/>
          </p:cNvPicPr>
          <p:nvPr/>
        </p:nvPicPr>
        <p:blipFill>
          <a:blip r:embed="rId4"/>
          <a:stretch>
            <a:fillRect/>
          </a:stretch>
        </p:blipFill>
        <p:spPr>
          <a:xfrm>
            <a:off x="3862973" y="4209351"/>
            <a:ext cx="134549" cy="195707"/>
          </a:xfrm>
          <a:prstGeom prst="rect">
            <a:avLst/>
          </a:prstGeom>
        </p:spPr>
      </p:pic>
      <p:sp>
        <p:nvSpPr>
          <p:cNvPr id="23" name="TextBox 22"/>
          <p:cNvSpPr txBox="1"/>
          <p:nvPr/>
        </p:nvSpPr>
        <p:spPr>
          <a:xfrm>
            <a:off x="4038083" y="4219575"/>
            <a:ext cx="7841096" cy="194310"/>
          </a:xfrm>
          <a:prstGeom prst="rect">
            <a:avLst/>
          </a:prstGeom>
          <a:noFill/>
        </p:spPr>
        <p:txBody>
          <a:bodyPr wrap="none" lIns="0" rIns="0" tIns="0" bIns="0">
            <a:spAutoFit/>
          </a:bodyPr>
          <a:lstStyle/>
          <a:p>
            <a:r>
              <a:rPr sz="1150" b="0">
                <a:solidFill>
                  <a:srgbClr val="2E2E2E"/>
                </a:solidFill>
                <a:latin typeface="Calibri"/>
              </a:rPr>
              <a:t>X higher value than curl definition segment in 2036. Among hair styling products by primary styling benefit, curl definition segment</a:t>
            </a:r>
          </a:p>
        </p:txBody>
      </p:sp>
      <p:sp>
        <p:nvSpPr>
          <p:cNvPr id="24" name="TextBox 23"/>
          <p:cNvSpPr txBox="1"/>
          <p:nvPr/>
        </p:nvSpPr>
        <p:spPr>
          <a:xfrm>
            <a:off x="276225" y="43948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25" name="Picture 24" descr="lock.png"/>
          <p:cNvPicPr>
            <a:picLocks noChangeAspect="1"/>
          </p:cNvPicPr>
          <p:nvPr/>
        </p:nvPicPr>
        <p:blipFill>
          <a:blip r:embed="rId4"/>
          <a:stretch>
            <a:fillRect/>
          </a:stretch>
        </p:blipFill>
        <p:spPr>
          <a:xfrm>
            <a:off x="2835186" y="4384611"/>
            <a:ext cx="134549" cy="195707"/>
          </a:xfrm>
          <a:prstGeom prst="rect">
            <a:avLst/>
          </a:prstGeom>
        </p:spPr>
      </p:pic>
      <p:sp>
        <p:nvSpPr>
          <p:cNvPr id="26" name="TextBox 25"/>
          <p:cNvSpPr txBox="1"/>
          <p:nvPr/>
        </p:nvSpPr>
        <p:spPr>
          <a:xfrm>
            <a:off x="3010295"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622672"/>
            <a:ext cx="8118648" cy="194310"/>
          </a:xfrm>
          <a:prstGeom prst="rect">
            <a:avLst/>
          </a:prstGeom>
          <a:noFill/>
        </p:spPr>
        <p:txBody>
          <a:bodyPr wrap="none" lIns="0" rIns="0" tIns="0" bIns="0">
            <a:spAutoFit/>
          </a:bodyPr>
          <a:lstStyle/>
          <a:p>
            <a:r>
              <a:rPr sz="1150" b="0">
                <a:solidFill>
                  <a:srgbClr val="2E2E2E"/>
                </a:solidFill>
                <a:latin typeface="Calibri"/>
              </a:rPr>
              <a:t>In terms of value share by primary styling benefit, the smoothing and frizz control segment is expected to dominate the market, gaining</a:t>
            </a:r>
          </a:p>
        </p:txBody>
      </p:sp>
      <p:pic>
        <p:nvPicPr>
          <p:cNvPr id="28" name="Picture 27" descr="lock.png"/>
          <p:cNvPicPr>
            <a:picLocks noChangeAspect="1"/>
          </p:cNvPicPr>
          <p:nvPr/>
        </p:nvPicPr>
        <p:blipFill>
          <a:blip r:embed="rId4"/>
          <a:stretch>
            <a:fillRect/>
          </a:stretch>
        </p:blipFill>
        <p:spPr>
          <a:xfrm>
            <a:off x="8344027" y="4612449"/>
            <a:ext cx="134549" cy="195707"/>
          </a:xfrm>
          <a:prstGeom prst="rect">
            <a:avLst/>
          </a:prstGeom>
        </p:spPr>
      </p:pic>
      <p:sp>
        <p:nvSpPr>
          <p:cNvPr id="29" name="TextBox 28"/>
          <p:cNvSpPr txBox="1"/>
          <p:nvPr/>
        </p:nvSpPr>
        <p:spPr>
          <a:xfrm>
            <a:off x="8519136"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914280" y="4612449"/>
            <a:ext cx="134549" cy="195707"/>
          </a:xfrm>
          <a:prstGeom prst="rect">
            <a:avLst/>
          </a:prstGeom>
        </p:spPr>
      </p:pic>
      <p:sp>
        <p:nvSpPr>
          <p:cNvPr id="31" name="TextBox 30"/>
          <p:cNvSpPr txBox="1"/>
          <p:nvPr/>
        </p:nvSpPr>
        <p:spPr>
          <a:xfrm>
            <a:off x="10089389" y="4622672"/>
            <a:ext cx="1497334" cy="194310"/>
          </a:xfrm>
          <a:prstGeom prst="rect">
            <a:avLst/>
          </a:prstGeom>
          <a:noFill/>
        </p:spPr>
        <p:txBody>
          <a:bodyPr wrap="none" lIns="0" rIns="0" tIns="0" bIns="0">
            <a:spAutoFit/>
          </a:bodyPr>
          <a:lstStyle/>
          <a:p>
            <a:r>
              <a:rPr sz="1150" b="0">
                <a:solidFill>
                  <a:srgbClr val="2E2E2E"/>
                </a:solidFill>
                <a:latin typeface="Calibri"/>
              </a:rPr>
              <a:t>share by 2036. The hold</a:t>
            </a:r>
          </a:p>
        </p:txBody>
      </p:sp>
      <p:sp>
        <p:nvSpPr>
          <p:cNvPr id="32" name="TextBox 31"/>
          <p:cNvSpPr txBox="1"/>
          <p:nvPr/>
        </p:nvSpPr>
        <p:spPr>
          <a:xfrm>
            <a:off x="276225" y="4797932"/>
            <a:ext cx="2368215" cy="194310"/>
          </a:xfrm>
          <a:prstGeom prst="rect">
            <a:avLst/>
          </a:prstGeom>
          <a:noFill/>
        </p:spPr>
        <p:txBody>
          <a:bodyPr wrap="none" lIns="0" rIns="0" tIns="0" bIns="0">
            <a:spAutoFit/>
          </a:bodyPr>
          <a:lstStyle/>
          <a:p>
            <a:r>
              <a:rPr sz="1150" b="0">
                <a:solidFill>
                  <a:srgbClr val="2E2E2E"/>
                </a:solidFill>
                <a:latin typeface="Calibri"/>
              </a:rPr>
              <a:t>and shape segment is expected to lose</a:t>
            </a:r>
          </a:p>
        </p:txBody>
      </p:sp>
      <p:pic>
        <p:nvPicPr>
          <p:cNvPr id="33" name="Picture 32" descr="lock.png"/>
          <p:cNvPicPr>
            <a:picLocks noChangeAspect="1"/>
          </p:cNvPicPr>
          <p:nvPr/>
        </p:nvPicPr>
        <p:blipFill>
          <a:blip r:embed="rId4"/>
          <a:stretch>
            <a:fillRect/>
          </a:stretch>
        </p:blipFill>
        <p:spPr>
          <a:xfrm>
            <a:off x="2593594" y="4787709"/>
            <a:ext cx="134549" cy="195707"/>
          </a:xfrm>
          <a:prstGeom prst="rect">
            <a:avLst/>
          </a:prstGeom>
        </p:spPr>
      </p:pic>
      <p:sp>
        <p:nvSpPr>
          <p:cNvPr id="34" name="TextBox 33"/>
          <p:cNvSpPr txBox="1"/>
          <p:nvPr/>
        </p:nvSpPr>
        <p:spPr>
          <a:xfrm>
            <a:off x="2768703"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5356207" y="4787709"/>
            <a:ext cx="134549" cy="195707"/>
          </a:xfrm>
          <a:prstGeom prst="rect">
            <a:avLst/>
          </a:prstGeom>
        </p:spPr>
      </p:pic>
      <p:sp>
        <p:nvSpPr>
          <p:cNvPr id="36" name="TextBox 35"/>
          <p:cNvSpPr txBox="1"/>
          <p:nvPr/>
        </p:nvSpPr>
        <p:spPr>
          <a:xfrm>
            <a:off x="5531317"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Primary Styling Benefit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Primary Styling Benefit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Primary Styling Benefit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07357"/>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9025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263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Sleek Styling and Edge Control</a:t>
            </a:r>
          </a:p>
        </p:txBody>
      </p:sp>
      <p:sp>
        <p:nvSpPr>
          <p:cNvPr id="19" name="BPS Value 1"/>
          <p:cNvSpPr txBox="1"/>
          <p:nvPr/>
        </p:nvSpPr>
        <p:spPr>
          <a:xfrm>
            <a:off x="6896100" y="18883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441647"/>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43688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36068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Hold and Shape</a:t>
            </a:r>
          </a:p>
        </p:txBody>
      </p:sp>
      <p:sp>
        <p:nvSpPr>
          <p:cNvPr id="23" name="BPS Value 2"/>
          <p:cNvSpPr txBox="1"/>
          <p:nvPr/>
        </p:nvSpPr>
        <p:spPr>
          <a:xfrm>
            <a:off x="6896100" y="242259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04431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03955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29633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Volume and Root Lift</a:t>
            </a:r>
          </a:p>
        </p:txBody>
      </p:sp>
      <p:sp>
        <p:nvSpPr>
          <p:cNvPr id="27" name="BPS Value 3"/>
          <p:cNvSpPr txBox="1"/>
          <p:nvPr/>
        </p:nvSpPr>
        <p:spPr>
          <a:xfrm>
            <a:off x="6896100" y="302526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366018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6554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5792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Texture and Separation</a:t>
            </a:r>
          </a:p>
        </p:txBody>
      </p:sp>
      <p:sp>
        <p:nvSpPr>
          <p:cNvPr id="31" name="BPS Value 4"/>
          <p:cNvSpPr txBox="1"/>
          <p:nvPr/>
        </p:nvSpPr>
        <p:spPr>
          <a:xfrm>
            <a:off x="6896100" y="36411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4328292"/>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43235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42473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Heat Styling Support</a:t>
            </a:r>
          </a:p>
        </p:txBody>
      </p:sp>
      <p:sp>
        <p:nvSpPr>
          <p:cNvPr id="35" name="BPS Value 5"/>
          <p:cNvSpPr txBox="1"/>
          <p:nvPr/>
        </p:nvSpPr>
        <p:spPr>
          <a:xfrm>
            <a:off x="6896100" y="430924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928997" y="507187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506711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49909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Curl Definition</a:t>
            </a:r>
          </a:p>
        </p:txBody>
      </p:sp>
      <p:sp>
        <p:nvSpPr>
          <p:cNvPr id="39" name="BPS Value 6"/>
          <p:cNvSpPr txBox="1"/>
          <p:nvPr/>
        </p:nvSpPr>
        <p:spPr>
          <a:xfrm>
            <a:off x="6896100" y="505282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FMI Legend Chip"/>
          <p:cNvSpPr/>
          <p:nvPr/>
        </p:nvSpPr>
        <p:spPr>
          <a:xfrm>
            <a:off x="4928997" y="585119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5090922" y="584643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7"/>
          <p:cNvSpPr txBox="1"/>
          <p:nvPr/>
        </p:nvSpPr>
        <p:spPr>
          <a:xfrm>
            <a:off x="5233797" y="57702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Smoothing and Frizz Control</a:t>
            </a:r>
          </a:p>
        </p:txBody>
      </p:sp>
      <p:sp>
        <p:nvSpPr>
          <p:cNvPr id="43" name="BPS Value 7"/>
          <p:cNvSpPr txBox="1"/>
          <p:nvPr/>
        </p:nvSpPr>
        <p:spPr>
          <a:xfrm>
            <a:off x="6896100" y="58321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Primary Styling Benefit</a:t>
            </a:r>
          </a:p>
        </p:txBody>
      </p:sp>
      <p:sp>
        <p:nvSpPr>
          <p:cNvPr id="46" name="Rectangle 45"/>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5"/>
          <a:stretch>
            <a:fillRect/>
          </a:stretch>
        </p:blipFill>
        <p:spPr>
          <a:xfrm>
            <a:off x="2557843" y="3833622"/>
            <a:ext cx="275034" cy="400050"/>
          </a:xfrm>
          <a:prstGeom prst="rect">
            <a:avLst/>
          </a:prstGeom>
        </p:spPr>
      </p:pic>
      <p:sp>
        <p:nvSpPr>
          <p:cNvPr id="50" name="TextBox 49"/>
          <p:cNvSpPr txBox="1"/>
          <p:nvPr/>
        </p:nvSpPr>
        <p:spPr>
          <a:xfrm>
            <a:off x="7829550" y="1400175"/>
            <a:ext cx="3586534" cy="194310"/>
          </a:xfrm>
          <a:prstGeom prst="rect">
            <a:avLst/>
          </a:prstGeom>
          <a:noFill/>
        </p:spPr>
        <p:txBody>
          <a:bodyPr wrap="none" lIns="0" rIns="0" tIns="0" bIns="0">
            <a:spAutoFit/>
          </a:bodyPr>
          <a:lstStyle/>
          <a:p>
            <a:r>
              <a:rPr sz="1150" b="0">
                <a:solidFill>
                  <a:srgbClr val="2E2E2E"/>
                </a:solidFill>
                <a:latin typeface="Calibri"/>
              </a:rPr>
              <a:t>Among hair styling products by primary styling benefit, curl</a:t>
            </a:r>
          </a:p>
        </p:txBody>
      </p:sp>
      <p:sp>
        <p:nvSpPr>
          <p:cNvPr id="51" name="TextBox 50"/>
          <p:cNvSpPr txBox="1"/>
          <p:nvPr/>
        </p:nvSpPr>
        <p:spPr>
          <a:xfrm>
            <a:off x="7829550" y="1575435"/>
            <a:ext cx="3764229" cy="194310"/>
          </a:xfrm>
          <a:prstGeom prst="rect">
            <a:avLst/>
          </a:prstGeom>
          <a:noFill/>
        </p:spPr>
        <p:txBody>
          <a:bodyPr wrap="none" lIns="0" rIns="0" tIns="0" bIns="0">
            <a:spAutoFit/>
          </a:bodyPr>
          <a:lstStyle/>
          <a:p>
            <a:r>
              <a:rPr sz="1150" b="0">
                <a:solidFill>
                  <a:srgbClr val="2E2E2E"/>
                </a:solidFill>
                <a:latin typeface="Calibri"/>
              </a:rPr>
              <a:t>definition segment is expected to witness the highest CAGR of</a:t>
            </a:r>
          </a:p>
        </p:txBody>
      </p:sp>
      <p:pic>
        <p:nvPicPr>
          <p:cNvPr id="52" name="Picture 51" descr="lock.png"/>
          <p:cNvPicPr>
            <a:picLocks noChangeAspect="1"/>
          </p:cNvPicPr>
          <p:nvPr/>
        </p:nvPicPr>
        <p:blipFill>
          <a:blip r:embed="rId5"/>
          <a:stretch>
            <a:fillRect/>
          </a:stretch>
        </p:blipFill>
        <p:spPr>
          <a:xfrm>
            <a:off x="11542933" y="1565211"/>
            <a:ext cx="134549" cy="195707"/>
          </a:xfrm>
          <a:prstGeom prst="rect">
            <a:avLst/>
          </a:prstGeom>
        </p:spPr>
      </p:pic>
      <p:sp>
        <p:nvSpPr>
          <p:cNvPr id="53" name="TextBox 52"/>
          <p:cNvSpPr txBox="1"/>
          <p:nvPr/>
        </p:nvSpPr>
        <p:spPr>
          <a:xfrm>
            <a:off x="7829550" y="1750695"/>
            <a:ext cx="4034668"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primary styling</a:t>
            </a:r>
          </a:p>
        </p:txBody>
      </p:sp>
      <p:sp>
        <p:nvSpPr>
          <p:cNvPr id="54" name="TextBox 53"/>
          <p:cNvSpPr txBox="1"/>
          <p:nvPr/>
        </p:nvSpPr>
        <p:spPr>
          <a:xfrm>
            <a:off x="7829550" y="1925955"/>
            <a:ext cx="3838699" cy="194310"/>
          </a:xfrm>
          <a:prstGeom prst="rect">
            <a:avLst/>
          </a:prstGeom>
          <a:noFill/>
        </p:spPr>
        <p:txBody>
          <a:bodyPr wrap="none" lIns="0" rIns="0" tIns="0" bIns="0">
            <a:spAutoFit/>
          </a:bodyPr>
          <a:lstStyle/>
          <a:p>
            <a:r>
              <a:rPr sz="1150" b="0">
                <a:solidFill>
                  <a:srgbClr val="2E2E2E"/>
                </a:solidFill>
                <a:latin typeface="Calibri"/>
              </a:rPr>
              <a:t>benefit, the smoothing and frizz control segment is expected to</a:t>
            </a:r>
          </a:p>
        </p:txBody>
      </p:sp>
      <p:sp>
        <p:nvSpPr>
          <p:cNvPr id="55" name="TextBox 54"/>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6" name="Picture 55" descr="lock.png"/>
          <p:cNvPicPr>
            <a:picLocks noChangeAspect="1"/>
          </p:cNvPicPr>
          <p:nvPr/>
        </p:nvPicPr>
        <p:blipFill>
          <a:blip r:embed="rId5"/>
          <a:stretch>
            <a:fillRect/>
          </a:stretch>
        </p:blipFill>
        <p:spPr>
          <a:xfrm>
            <a:off x="9615776" y="2090991"/>
            <a:ext cx="134549" cy="195707"/>
          </a:xfrm>
          <a:prstGeom prst="rect">
            <a:avLst/>
          </a:prstGeom>
        </p:spPr>
      </p:pic>
      <p:sp>
        <p:nvSpPr>
          <p:cNvPr id="57" name="TextBox 56"/>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11186028" y="2090991"/>
            <a:ext cx="134549" cy="195707"/>
          </a:xfrm>
          <a:prstGeom prst="rect">
            <a:avLst/>
          </a:prstGeom>
        </p:spPr>
      </p:pic>
      <p:sp>
        <p:nvSpPr>
          <p:cNvPr id="59" name="TextBox 58"/>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504313"/>
            <a:ext cx="2919325" cy="194310"/>
          </a:xfrm>
          <a:prstGeom prst="rect">
            <a:avLst/>
          </a:prstGeom>
          <a:noFill/>
        </p:spPr>
        <p:txBody>
          <a:bodyPr wrap="none" lIns="0" rIns="0" tIns="0" bIns="0">
            <a:spAutoFit/>
          </a:bodyPr>
          <a:lstStyle/>
          <a:p>
            <a:r>
              <a:rPr sz="1150" b="0">
                <a:solidFill>
                  <a:srgbClr val="2E2E2E"/>
                </a:solidFill>
                <a:latin typeface="Calibri"/>
              </a:rPr>
              <a:t>The hold and shape segment is expected to lose</a:t>
            </a:r>
          </a:p>
        </p:txBody>
      </p:sp>
      <p:pic>
        <p:nvPicPr>
          <p:cNvPr id="61" name="Picture 60" descr="lock.png"/>
          <p:cNvPicPr>
            <a:picLocks noChangeAspect="1"/>
          </p:cNvPicPr>
          <p:nvPr/>
        </p:nvPicPr>
        <p:blipFill>
          <a:blip r:embed="rId5"/>
          <a:stretch>
            <a:fillRect/>
          </a:stretch>
        </p:blipFill>
        <p:spPr>
          <a:xfrm>
            <a:off x="10698029" y="2494089"/>
            <a:ext cx="134549" cy="195707"/>
          </a:xfrm>
          <a:prstGeom prst="rect">
            <a:avLst/>
          </a:prstGeom>
        </p:spPr>
      </p:pic>
      <p:sp>
        <p:nvSpPr>
          <p:cNvPr id="62" name="TextBox 61"/>
          <p:cNvSpPr txBox="1"/>
          <p:nvPr/>
        </p:nvSpPr>
        <p:spPr>
          <a:xfrm>
            <a:off x="10873138" y="250431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63" name="TextBox 62"/>
          <p:cNvSpPr txBox="1"/>
          <p:nvPr/>
        </p:nvSpPr>
        <p:spPr>
          <a:xfrm>
            <a:off x="7829550" y="267957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4" name="Picture 63" descr="lock.png"/>
          <p:cNvPicPr>
            <a:picLocks noChangeAspect="1"/>
          </p:cNvPicPr>
          <p:nvPr/>
        </p:nvPicPr>
        <p:blipFill>
          <a:blip r:embed="rId5"/>
          <a:stretch>
            <a:fillRect/>
          </a:stretch>
        </p:blipFill>
        <p:spPr>
          <a:xfrm>
            <a:off x="9630324" y="2669349"/>
            <a:ext cx="134549" cy="195707"/>
          </a:xfrm>
          <a:prstGeom prst="rect">
            <a:avLst/>
          </a:prstGeom>
        </p:spPr>
      </p:pic>
      <p:sp>
        <p:nvSpPr>
          <p:cNvPr id="65" name="TextBox 64"/>
          <p:cNvSpPr txBox="1"/>
          <p:nvPr/>
        </p:nvSpPr>
        <p:spPr>
          <a:xfrm>
            <a:off x="980543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Hair Type Targeted</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Hair Type Targeted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Hair Type Targeted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Hair Type Targeted,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Hair Type Targeted segment categorizes the market by hair type targeted.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Straight Hair</a:t>
            </a:r>
          </a:p>
        </p:txBody>
      </p:sp>
      <p:sp>
        <p:nvSpPr>
          <p:cNvPr id="23" name="Rectangle 22"/>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All Hair Types</a:t>
            </a:r>
          </a:p>
        </p:txBody>
      </p:sp>
      <p:sp>
        <p:nvSpPr>
          <p:cNvPr id="30" name="Rectangle 29"/>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Wavy Hair</a:t>
            </a:r>
          </a:p>
        </p:txBody>
      </p:sp>
      <p:sp>
        <p:nvSpPr>
          <p:cNvPr id="37" name="Rectangle 36"/>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Coily Hair</a:t>
            </a:r>
          </a:p>
        </p:txBody>
      </p:sp>
      <p:sp>
        <p:nvSpPr>
          <p:cNvPr id="44" name="Rectangle 43"/>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Curly Hair</a:t>
            </a:r>
          </a:p>
        </p:txBody>
      </p:sp>
      <p:sp>
        <p:nvSpPr>
          <p:cNvPr id="51" name="Rectangle 50"/>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7" name="Rectangle 56"/>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9" name="Rounded Rectangle 5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1" name="Rectangle 60"/>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3" name="Rounded Rectangle 6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5" name="Rectangle 64"/>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Hair Type Targeted split shows how demand is distributed across hair type targeted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7" name="Rectangle 6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9" name="TextBox 6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3_487_605E5C.png"/>
          <p:cNvPicPr>
            <a:picLocks noChangeAspect="1"/>
          </p:cNvPicPr>
          <p:nvPr/>
        </p:nvPicPr>
        <p:blipFill>
          <a:blip r:embed="rId4"/>
          <a:stretch>
            <a:fillRect/>
          </a:stretch>
        </p:blipFill>
        <p:spPr>
          <a:xfrm>
            <a:off x="2223441" y="2286582"/>
            <a:ext cx="1195728" cy="361950"/>
          </a:xfrm>
          <a:prstGeom prst="rect">
            <a:avLst/>
          </a:prstGeom>
        </p:spPr>
      </p:pic>
      <p:pic>
        <p:nvPicPr>
          <p:cNvPr id="72" name="Picture 71" descr="6_007_605E5C.png"/>
          <p:cNvPicPr>
            <a:picLocks noChangeAspect="1"/>
          </p:cNvPicPr>
          <p:nvPr/>
        </p:nvPicPr>
        <p:blipFill>
          <a:blip r:embed="rId5"/>
          <a:stretch>
            <a:fillRect/>
          </a:stretch>
        </p:blipFill>
        <p:spPr>
          <a:xfrm>
            <a:off x="2223441" y="2779432"/>
            <a:ext cx="1195728" cy="361950"/>
          </a:xfrm>
          <a:prstGeom prst="rect">
            <a:avLst/>
          </a:prstGeom>
        </p:spPr>
      </p:pic>
      <p:pic>
        <p:nvPicPr>
          <p:cNvPr id="73" name="Picture 72" descr="5_6__605E5C.png"/>
          <p:cNvPicPr>
            <a:picLocks noChangeAspect="1"/>
          </p:cNvPicPr>
          <p:nvPr/>
        </p:nvPicPr>
        <p:blipFill>
          <a:blip r:embed="rId6"/>
          <a:stretch>
            <a:fillRect/>
          </a:stretch>
        </p:blipFill>
        <p:spPr>
          <a:xfrm>
            <a:off x="2330087" y="3272281"/>
            <a:ext cx="982436" cy="361950"/>
          </a:xfrm>
          <a:prstGeom prst="rect">
            <a:avLst/>
          </a:prstGeom>
        </p:spPr>
      </p:pic>
      <p:pic>
        <p:nvPicPr>
          <p:cNvPr id="74" name="Picture 73" descr="3_376_605E5C.png"/>
          <p:cNvPicPr>
            <a:picLocks noChangeAspect="1"/>
          </p:cNvPicPr>
          <p:nvPr/>
        </p:nvPicPr>
        <p:blipFill>
          <a:blip r:embed="rId7"/>
          <a:stretch>
            <a:fillRect/>
          </a:stretch>
        </p:blipFill>
        <p:spPr>
          <a:xfrm>
            <a:off x="4246551" y="2286582"/>
            <a:ext cx="1195728" cy="361950"/>
          </a:xfrm>
          <a:prstGeom prst="rect">
            <a:avLst/>
          </a:prstGeom>
        </p:spPr>
      </p:pic>
      <p:pic>
        <p:nvPicPr>
          <p:cNvPr id="75" name="Picture 74" descr="6_119_605E5C.png"/>
          <p:cNvPicPr>
            <a:picLocks noChangeAspect="1"/>
          </p:cNvPicPr>
          <p:nvPr/>
        </p:nvPicPr>
        <p:blipFill>
          <a:blip r:embed="rId8"/>
          <a:stretch>
            <a:fillRect/>
          </a:stretch>
        </p:blipFill>
        <p:spPr>
          <a:xfrm>
            <a:off x="4246551" y="2779432"/>
            <a:ext cx="1195728" cy="361950"/>
          </a:xfrm>
          <a:prstGeom prst="rect">
            <a:avLst/>
          </a:prstGeom>
        </p:spPr>
      </p:pic>
      <p:pic>
        <p:nvPicPr>
          <p:cNvPr id="76" name="Picture 75" descr="6_1__605E5C.png"/>
          <p:cNvPicPr>
            <a:picLocks noChangeAspect="1"/>
          </p:cNvPicPr>
          <p:nvPr/>
        </p:nvPicPr>
        <p:blipFill>
          <a:blip r:embed="rId9"/>
          <a:stretch>
            <a:fillRect/>
          </a:stretch>
        </p:blipFill>
        <p:spPr>
          <a:xfrm>
            <a:off x="4353197" y="3272281"/>
            <a:ext cx="982436" cy="361950"/>
          </a:xfrm>
          <a:prstGeom prst="rect">
            <a:avLst/>
          </a:prstGeom>
        </p:spPr>
      </p:pic>
      <p:pic>
        <p:nvPicPr>
          <p:cNvPr id="77" name="Picture 76" descr="3_148_605E5C.png"/>
          <p:cNvPicPr>
            <a:picLocks noChangeAspect="1"/>
          </p:cNvPicPr>
          <p:nvPr/>
        </p:nvPicPr>
        <p:blipFill>
          <a:blip r:embed="rId10"/>
          <a:stretch>
            <a:fillRect/>
          </a:stretch>
        </p:blipFill>
        <p:spPr>
          <a:xfrm>
            <a:off x="6269661" y="2286582"/>
            <a:ext cx="1195728" cy="361950"/>
          </a:xfrm>
          <a:prstGeom prst="rect">
            <a:avLst/>
          </a:prstGeom>
        </p:spPr>
      </p:pic>
      <p:pic>
        <p:nvPicPr>
          <p:cNvPr id="78" name="Picture 77" descr="5_971_605E5C.png"/>
          <p:cNvPicPr>
            <a:picLocks noChangeAspect="1"/>
          </p:cNvPicPr>
          <p:nvPr/>
        </p:nvPicPr>
        <p:blipFill>
          <a:blip r:embed="rId11"/>
          <a:stretch>
            <a:fillRect/>
          </a:stretch>
        </p:blipFill>
        <p:spPr>
          <a:xfrm>
            <a:off x="6269661" y="2779432"/>
            <a:ext cx="1195728" cy="361950"/>
          </a:xfrm>
          <a:prstGeom prst="rect">
            <a:avLst/>
          </a:prstGeom>
        </p:spPr>
      </p:pic>
      <p:pic>
        <p:nvPicPr>
          <p:cNvPr id="79" name="Picture 78" descr="6_6__605E5C.png"/>
          <p:cNvPicPr>
            <a:picLocks noChangeAspect="1"/>
          </p:cNvPicPr>
          <p:nvPr/>
        </p:nvPicPr>
        <p:blipFill>
          <a:blip r:embed="rId12"/>
          <a:stretch>
            <a:fillRect/>
          </a:stretch>
        </p:blipFill>
        <p:spPr>
          <a:xfrm>
            <a:off x="6376307" y="3272281"/>
            <a:ext cx="982436" cy="361950"/>
          </a:xfrm>
          <a:prstGeom prst="rect">
            <a:avLst/>
          </a:prstGeom>
        </p:spPr>
      </p:pic>
      <p:pic>
        <p:nvPicPr>
          <p:cNvPr id="80" name="Picture 79" descr="3_070_605E5C.png"/>
          <p:cNvPicPr>
            <a:picLocks noChangeAspect="1"/>
          </p:cNvPicPr>
          <p:nvPr/>
        </p:nvPicPr>
        <p:blipFill>
          <a:blip r:embed="rId13"/>
          <a:stretch>
            <a:fillRect/>
          </a:stretch>
        </p:blipFill>
        <p:spPr>
          <a:xfrm>
            <a:off x="8292771" y="2286582"/>
            <a:ext cx="1195728" cy="361950"/>
          </a:xfrm>
          <a:prstGeom prst="rect">
            <a:avLst/>
          </a:prstGeom>
        </p:spPr>
      </p:pic>
      <p:pic>
        <p:nvPicPr>
          <p:cNvPr id="81" name="Picture 80" descr="6_464_605E5C.png"/>
          <p:cNvPicPr>
            <a:picLocks noChangeAspect="1"/>
          </p:cNvPicPr>
          <p:nvPr/>
        </p:nvPicPr>
        <p:blipFill>
          <a:blip r:embed="rId14"/>
          <a:stretch>
            <a:fillRect/>
          </a:stretch>
        </p:blipFill>
        <p:spPr>
          <a:xfrm>
            <a:off x="8292771" y="2779432"/>
            <a:ext cx="1195728" cy="361950"/>
          </a:xfrm>
          <a:prstGeom prst="rect">
            <a:avLst/>
          </a:prstGeom>
        </p:spPr>
      </p:pic>
      <p:pic>
        <p:nvPicPr>
          <p:cNvPr id="82" name="Picture 81" descr="7_7__605E5C.png"/>
          <p:cNvPicPr>
            <a:picLocks noChangeAspect="1"/>
          </p:cNvPicPr>
          <p:nvPr/>
        </p:nvPicPr>
        <p:blipFill>
          <a:blip r:embed="rId15"/>
          <a:stretch>
            <a:fillRect/>
          </a:stretch>
        </p:blipFill>
        <p:spPr>
          <a:xfrm>
            <a:off x="8399417" y="3272281"/>
            <a:ext cx="982436" cy="361950"/>
          </a:xfrm>
          <a:prstGeom prst="rect">
            <a:avLst/>
          </a:prstGeom>
        </p:spPr>
      </p:pic>
      <p:pic>
        <p:nvPicPr>
          <p:cNvPr id="83" name="Picture 82" descr="3_025_605E5C.png"/>
          <p:cNvPicPr>
            <a:picLocks noChangeAspect="1"/>
          </p:cNvPicPr>
          <p:nvPr/>
        </p:nvPicPr>
        <p:blipFill>
          <a:blip r:embed="rId16"/>
          <a:stretch>
            <a:fillRect/>
          </a:stretch>
        </p:blipFill>
        <p:spPr>
          <a:xfrm>
            <a:off x="10315881" y="2286582"/>
            <a:ext cx="1195728" cy="361950"/>
          </a:xfrm>
          <a:prstGeom prst="rect">
            <a:avLst/>
          </a:prstGeom>
        </p:spPr>
      </p:pic>
      <p:pic>
        <p:nvPicPr>
          <p:cNvPr id="84" name="Picture 83" descr="6_126_605E5C.png"/>
          <p:cNvPicPr>
            <a:picLocks noChangeAspect="1"/>
          </p:cNvPicPr>
          <p:nvPr/>
        </p:nvPicPr>
        <p:blipFill>
          <a:blip r:embed="rId17"/>
          <a:stretch>
            <a:fillRect/>
          </a:stretch>
        </p:blipFill>
        <p:spPr>
          <a:xfrm>
            <a:off x="10315881" y="2779432"/>
            <a:ext cx="1195728" cy="361950"/>
          </a:xfrm>
          <a:prstGeom prst="rect">
            <a:avLst/>
          </a:prstGeom>
        </p:spPr>
      </p:pic>
      <p:pic>
        <p:nvPicPr>
          <p:cNvPr id="85" name="Picture 84" descr="7_3__605E5C.png"/>
          <p:cNvPicPr>
            <a:picLocks noChangeAspect="1"/>
          </p:cNvPicPr>
          <p:nvPr/>
        </p:nvPicPr>
        <p:blipFill>
          <a:blip r:embed="rId18"/>
          <a:stretch>
            <a:fillRect/>
          </a:stretch>
        </p:blipFill>
        <p:spPr>
          <a:xfrm>
            <a:off x="10422527" y="3272281"/>
            <a:ext cx="982436" cy="361950"/>
          </a:xfrm>
          <a:prstGeom prst="rect">
            <a:avLst/>
          </a:prstGeom>
        </p:spPr>
      </p:pic>
      <p:pic>
        <p:nvPicPr>
          <p:cNvPr id="86" name="Picture 85" descr="lock.png"/>
          <p:cNvPicPr>
            <a:picLocks noChangeAspect="1"/>
          </p:cNvPicPr>
          <p:nvPr/>
        </p:nvPicPr>
        <p:blipFill>
          <a:blip r:embed="rId19"/>
          <a:stretch>
            <a:fillRect/>
          </a:stretch>
        </p:blipFill>
        <p:spPr>
          <a:xfrm>
            <a:off x="272796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475107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677418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8797290" y="2827057"/>
            <a:ext cx="183356" cy="266700"/>
          </a:xfrm>
          <a:prstGeom prst="rect">
            <a:avLst/>
          </a:prstGeom>
        </p:spPr>
      </p:pic>
      <p:pic>
        <p:nvPicPr>
          <p:cNvPr id="90" name="Picture 89" descr="lock.png"/>
          <p:cNvPicPr>
            <a:picLocks noChangeAspect="1"/>
          </p:cNvPicPr>
          <p:nvPr/>
        </p:nvPicPr>
        <p:blipFill>
          <a:blip r:embed="rId19"/>
          <a:stretch>
            <a:fillRect/>
          </a:stretch>
        </p:blipFill>
        <p:spPr>
          <a:xfrm>
            <a:off x="10820400" y="2827057"/>
            <a:ext cx="183356" cy="266700"/>
          </a:xfrm>
          <a:prstGeom prst="rect">
            <a:avLst/>
          </a:prstGeom>
        </p:spPr>
      </p:pic>
      <p:sp>
        <p:nvSpPr>
          <p:cNvPr id="91" name="TextBox 90"/>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hair styling products by hair type targeted,</a:t>
            </a:r>
          </a:p>
        </p:txBody>
      </p:sp>
      <p:sp>
        <p:nvSpPr>
          <p:cNvPr id="92" name="TextBox 91"/>
          <p:cNvSpPr txBox="1"/>
          <p:nvPr/>
        </p:nvSpPr>
        <p:spPr>
          <a:xfrm>
            <a:off x="485775" y="4397077"/>
            <a:ext cx="2621632" cy="186689"/>
          </a:xfrm>
          <a:prstGeom prst="rect">
            <a:avLst/>
          </a:prstGeom>
          <a:noFill/>
        </p:spPr>
        <p:txBody>
          <a:bodyPr wrap="none" lIns="0" rIns="0" tIns="0" bIns="0">
            <a:spAutoFit/>
          </a:bodyPr>
          <a:lstStyle/>
          <a:p>
            <a:r>
              <a:rPr sz="1100" b="0">
                <a:solidFill>
                  <a:srgbClr val="2E2E2E"/>
                </a:solidFill>
                <a:latin typeface="Calibri"/>
              </a:rPr>
              <a:t>coily hair segment is expected to witness the</a:t>
            </a:r>
          </a:p>
        </p:txBody>
      </p:sp>
      <p:sp>
        <p:nvSpPr>
          <p:cNvPr id="93" name="TextBox 92"/>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94" name="Picture 93" descr="lock.png"/>
          <p:cNvPicPr>
            <a:picLocks noChangeAspect="1"/>
          </p:cNvPicPr>
          <p:nvPr/>
        </p:nvPicPr>
        <p:blipFill>
          <a:blip r:embed="rId19"/>
          <a:stretch>
            <a:fillRect/>
          </a:stretch>
        </p:blipFill>
        <p:spPr>
          <a:xfrm>
            <a:off x="1424607" y="4554938"/>
            <a:ext cx="128699" cy="187198"/>
          </a:xfrm>
          <a:prstGeom prst="rect">
            <a:avLst/>
          </a:prstGeom>
        </p:spPr>
      </p:pic>
      <p:sp>
        <p:nvSpPr>
          <p:cNvPr id="95" name="TextBox 94"/>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96" name="TextBox 95"/>
          <p:cNvSpPr txBox="1"/>
          <p:nvPr/>
        </p:nvSpPr>
        <p:spPr>
          <a:xfrm>
            <a:off x="485775" y="4732357"/>
            <a:ext cx="2719313" cy="186689"/>
          </a:xfrm>
          <a:prstGeom prst="rect">
            <a:avLst/>
          </a:prstGeom>
          <a:noFill/>
        </p:spPr>
        <p:txBody>
          <a:bodyPr wrap="none" lIns="0" rIns="0" tIns="0" bIns="0">
            <a:spAutoFit/>
          </a:bodyPr>
          <a:lstStyle/>
          <a:p>
            <a:r>
              <a:rPr sz="1100" b="0">
                <a:solidFill>
                  <a:srgbClr val="2E2E2E"/>
                </a:solidFill>
                <a:latin typeface="Calibri"/>
              </a:rPr>
              <a:t>terms of value share by hair type targeted, the</a:t>
            </a:r>
          </a:p>
        </p:txBody>
      </p:sp>
      <p:sp>
        <p:nvSpPr>
          <p:cNvPr id="97" name="TextBox 96"/>
          <p:cNvSpPr txBox="1"/>
          <p:nvPr/>
        </p:nvSpPr>
        <p:spPr>
          <a:xfrm>
            <a:off x="485775" y="4899997"/>
            <a:ext cx="2738139" cy="186689"/>
          </a:xfrm>
          <a:prstGeom prst="rect">
            <a:avLst/>
          </a:prstGeom>
          <a:noFill/>
        </p:spPr>
        <p:txBody>
          <a:bodyPr wrap="none" lIns="0" rIns="0" tIns="0" bIns="0">
            <a:spAutoFit/>
          </a:bodyPr>
          <a:lstStyle/>
          <a:p>
            <a:r>
              <a:rPr sz="1100" b="0">
                <a:solidFill>
                  <a:srgbClr val="2E2E2E"/>
                </a:solidFill>
                <a:latin typeface="Calibri"/>
              </a:rPr>
              <a:t>coily hair segment is expected to dominate the</a:t>
            </a:r>
          </a:p>
        </p:txBody>
      </p:sp>
      <p:sp>
        <p:nvSpPr>
          <p:cNvPr id="98" name="TextBox 97"/>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99" name="Picture 98" descr="lock.png"/>
          <p:cNvPicPr>
            <a:picLocks noChangeAspect="1"/>
          </p:cNvPicPr>
          <p:nvPr/>
        </p:nvPicPr>
        <p:blipFill>
          <a:blip r:embed="rId19"/>
          <a:stretch>
            <a:fillRect/>
          </a:stretch>
        </p:blipFill>
        <p:spPr>
          <a:xfrm>
            <a:off x="1393519" y="5057858"/>
            <a:ext cx="128699" cy="187198"/>
          </a:xfrm>
          <a:prstGeom prst="rect">
            <a:avLst/>
          </a:prstGeom>
        </p:spPr>
      </p:pic>
      <p:sp>
        <p:nvSpPr>
          <p:cNvPr id="100" name="TextBox 99"/>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1" name="Picture 100" descr="lock.png"/>
          <p:cNvPicPr>
            <a:picLocks noChangeAspect="1"/>
          </p:cNvPicPr>
          <p:nvPr/>
        </p:nvPicPr>
        <p:blipFill>
          <a:blip r:embed="rId19"/>
          <a:stretch>
            <a:fillRect/>
          </a:stretch>
        </p:blipFill>
        <p:spPr>
          <a:xfrm>
            <a:off x="2895500" y="5057858"/>
            <a:ext cx="128699" cy="187198"/>
          </a:xfrm>
          <a:prstGeom prst="rect">
            <a:avLst/>
          </a:prstGeom>
        </p:spPr>
      </p:pic>
      <p:sp>
        <p:nvSpPr>
          <p:cNvPr id="102" name="TextBox 101"/>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446461" cy="186689"/>
          </a:xfrm>
          <a:prstGeom prst="rect">
            <a:avLst/>
          </a:prstGeom>
          <a:noFill/>
        </p:spPr>
        <p:txBody>
          <a:bodyPr wrap="none" lIns="0" rIns="0" tIns="0" bIns="0">
            <a:spAutoFit/>
          </a:bodyPr>
          <a:lstStyle/>
          <a:p>
            <a:r>
              <a:rPr sz="1100" b="0">
                <a:solidFill>
                  <a:srgbClr val="2E2E2E"/>
                </a:solidFill>
                <a:latin typeface="Calibri"/>
              </a:rPr>
              <a:t>Coily hair segment is projected to register</a:t>
            </a:r>
          </a:p>
        </p:txBody>
      </p:sp>
      <p:pic>
        <p:nvPicPr>
          <p:cNvPr id="104" name="Picture 103" descr="lock.png"/>
          <p:cNvPicPr>
            <a:picLocks noChangeAspect="1"/>
          </p:cNvPicPr>
          <p:nvPr/>
        </p:nvPicPr>
        <p:blipFill>
          <a:blip r:embed="rId19"/>
          <a:stretch>
            <a:fillRect/>
          </a:stretch>
        </p:blipFill>
        <p:spPr>
          <a:xfrm>
            <a:off x="2880288" y="5443430"/>
            <a:ext cx="128699" cy="187198"/>
          </a:xfrm>
          <a:prstGeom prst="rect">
            <a:avLst/>
          </a:prstGeom>
        </p:spPr>
      </p:pic>
      <p:sp>
        <p:nvSpPr>
          <p:cNvPr id="105" name="TextBox 104"/>
          <p:cNvSpPr txBox="1"/>
          <p:nvPr/>
        </p:nvSpPr>
        <p:spPr>
          <a:xfrm>
            <a:off x="3047783"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06" name="TextBox 105"/>
          <p:cNvSpPr txBox="1"/>
          <p:nvPr/>
        </p:nvSpPr>
        <p:spPr>
          <a:xfrm>
            <a:off x="485775" y="5620849"/>
            <a:ext cx="2640731" cy="186689"/>
          </a:xfrm>
          <a:prstGeom prst="rect">
            <a:avLst/>
          </a:prstGeom>
          <a:noFill/>
        </p:spPr>
        <p:txBody>
          <a:bodyPr wrap="none" lIns="0" rIns="0" tIns="0" bIns="0">
            <a:spAutoFit/>
          </a:bodyPr>
          <a:lstStyle/>
          <a:p>
            <a:r>
              <a:rPr sz="1100" b="0">
                <a:solidFill>
                  <a:srgbClr val="2E2E2E"/>
                </a:solidFill>
                <a:latin typeface="Calibri"/>
              </a:rPr>
              <a:t>higher value than curly hair segment in 2036.</a:t>
            </a:r>
          </a:p>
        </p:txBody>
      </p:sp>
      <p:sp>
        <p:nvSpPr>
          <p:cNvPr id="107" name="TextBox 106"/>
          <p:cNvSpPr txBox="1"/>
          <p:nvPr/>
        </p:nvSpPr>
        <p:spPr>
          <a:xfrm>
            <a:off x="3838575" y="4229437"/>
            <a:ext cx="941139" cy="186689"/>
          </a:xfrm>
          <a:prstGeom prst="rect">
            <a:avLst/>
          </a:prstGeom>
          <a:noFill/>
        </p:spPr>
        <p:txBody>
          <a:bodyPr wrap="none" lIns="0" rIns="0" tIns="0" bIns="0">
            <a:spAutoFit/>
          </a:bodyPr>
          <a:lstStyle/>
          <a:p>
            <a:r>
              <a:rPr sz="1100" b="0">
                <a:solidFill>
                  <a:srgbClr val="2E2E2E"/>
                </a:solidFill>
                <a:latin typeface="Calibri"/>
              </a:rPr>
              <a:t>● Straight Hair:</a:t>
            </a:r>
          </a:p>
        </p:txBody>
      </p:sp>
      <p:pic>
        <p:nvPicPr>
          <p:cNvPr id="108" name="Picture 107" descr="lock.png"/>
          <p:cNvPicPr>
            <a:picLocks noChangeAspect="1"/>
          </p:cNvPicPr>
          <p:nvPr/>
        </p:nvPicPr>
        <p:blipFill>
          <a:blip r:embed="rId19"/>
          <a:stretch>
            <a:fillRect/>
          </a:stretch>
        </p:blipFill>
        <p:spPr>
          <a:xfrm>
            <a:off x="4727766" y="4219658"/>
            <a:ext cx="128699" cy="187198"/>
          </a:xfrm>
          <a:prstGeom prst="rect">
            <a:avLst/>
          </a:prstGeom>
        </p:spPr>
      </p:pic>
      <p:sp>
        <p:nvSpPr>
          <p:cNvPr id="109" name="TextBox 108"/>
          <p:cNvSpPr txBox="1"/>
          <p:nvPr/>
        </p:nvSpPr>
        <p:spPr>
          <a:xfrm>
            <a:off x="489526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754712" y="4219658"/>
            <a:ext cx="128699" cy="187198"/>
          </a:xfrm>
          <a:prstGeom prst="rect">
            <a:avLst/>
          </a:prstGeom>
        </p:spPr>
      </p:pic>
      <p:sp>
        <p:nvSpPr>
          <p:cNvPr id="111" name="TextBox 110"/>
          <p:cNvSpPr txBox="1"/>
          <p:nvPr/>
        </p:nvSpPr>
        <p:spPr>
          <a:xfrm>
            <a:off x="5922207"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1001985" cy="186689"/>
          </a:xfrm>
          <a:prstGeom prst="rect">
            <a:avLst/>
          </a:prstGeom>
          <a:noFill/>
        </p:spPr>
        <p:txBody>
          <a:bodyPr wrap="none" lIns="0" rIns="0" tIns="0" bIns="0">
            <a:spAutoFit/>
          </a:bodyPr>
          <a:lstStyle/>
          <a:p>
            <a:r>
              <a:rPr sz="1100" b="0">
                <a:solidFill>
                  <a:srgbClr val="2E2E2E"/>
                </a:solidFill>
                <a:latin typeface="Calibri"/>
              </a:rPr>
              <a:t>● All Hair Types:</a:t>
            </a:r>
          </a:p>
        </p:txBody>
      </p:sp>
      <p:pic>
        <p:nvPicPr>
          <p:cNvPr id="113" name="Picture 112" descr="lock.png"/>
          <p:cNvPicPr>
            <a:picLocks noChangeAspect="1"/>
          </p:cNvPicPr>
          <p:nvPr/>
        </p:nvPicPr>
        <p:blipFill>
          <a:blip r:embed="rId19"/>
          <a:stretch>
            <a:fillRect/>
          </a:stretch>
        </p:blipFill>
        <p:spPr>
          <a:xfrm>
            <a:off x="4788611" y="4437590"/>
            <a:ext cx="128699" cy="187198"/>
          </a:xfrm>
          <a:prstGeom prst="rect">
            <a:avLst/>
          </a:prstGeom>
        </p:spPr>
      </p:pic>
      <p:sp>
        <p:nvSpPr>
          <p:cNvPr id="114" name="TextBox 113"/>
          <p:cNvSpPr txBox="1"/>
          <p:nvPr/>
        </p:nvSpPr>
        <p:spPr>
          <a:xfrm>
            <a:off x="4956107"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5815557" y="4437590"/>
            <a:ext cx="128699" cy="187198"/>
          </a:xfrm>
          <a:prstGeom prst="rect">
            <a:avLst/>
          </a:prstGeom>
        </p:spPr>
      </p:pic>
      <p:sp>
        <p:nvSpPr>
          <p:cNvPr id="116" name="TextBox 115"/>
          <p:cNvSpPr txBox="1"/>
          <p:nvPr/>
        </p:nvSpPr>
        <p:spPr>
          <a:xfrm>
            <a:off x="5983053"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7" name="TextBox 116"/>
          <p:cNvSpPr txBox="1"/>
          <p:nvPr/>
        </p:nvSpPr>
        <p:spPr>
          <a:xfrm>
            <a:off x="3838575" y="4665301"/>
            <a:ext cx="813717" cy="186689"/>
          </a:xfrm>
          <a:prstGeom prst="rect">
            <a:avLst/>
          </a:prstGeom>
          <a:noFill/>
        </p:spPr>
        <p:txBody>
          <a:bodyPr wrap="none" lIns="0" rIns="0" tIns="0" bIns="0">
            <a:spAutoFit/>
          </a:bodyPr>
          <a:lstStyle/>
          <a:p>
            <a:r>
              <a:rPr sz="1100" b="0">
                <a:solidFill>
                  <a:srgbClr val="2E2E2E"/>
                </a:solidFill>
                <a:latin typeface="Calibri"/>
              </a:rPr>
              <a:t>● Wavy Hair:</a:t>
            </a:r>
          </a:p>
        </p:txBody>
      </p:sp>
      <p:pic>
        <p:nvPicPr>
          <p:cNvPr id="118" name="Picture 117" descr="lock.png"/>
          <p:cNvPicPr>
            <a:picLocks noChangeAspect="1"/>
          </p:cNvPicPr>
          <p:nvPr/>
        </p:nvPicPr>
        <p:blipFill>
          <a:blip r:embed="rId19"/>
          <a:stretch>
            <a:fillRect/>
          </a:stretch>
        </p:blipFill>
        <p:spPr>
          <a:xfrm>
            <a:off x="4600344" y="4655522"/>
            <a:ext cx="128699" cy="187198"/>
          </a:xfrm>
          <a:prstGeom prst="rect">
            <a:avLst/>
          </a:prstGeom>
        </p:spPr>
      </p:pic>
      <p:sp>
        <p:nvSpPr>
          <p:cNvPr id="119" name="TextBox 118"/>
          <p:cNvSpPr txBox="1"/>
          <p:nvPr/>
        </p:nvSpPr>
        <p:spPr>
          <a:xfrm>
            <a:off x="4767840"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19"/>
          <a:stretch>
            <a:fillRect/>
          </a:stretch>
        </p:blipFill>
        <p:spPr>
          <a:xfrm>
            <a:off x="5627290" y="4655522"/>
            <a:ext cx="128699" cy="187198"/>
          </a:xfrm>
          <a:prstGeom prst="rect">
            <a:avLst/>
          </a:prstGeom>
        </p:spPr>
      </p:pic>
      <p:sp>
        <p:nvSpPr>
          <p:cNvPr id="121" name="TextBox 120"/>
          <p:cNvSpPr txBox="1"/>
          <p:nvPr/>
        </p:nvSpPr>
        <p:spPr>
          <a:xfrm>
            <a:off x="5794786"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2" name="TextBox 121"/>
          <p:cNvSpPr txBox="1"/>
          <p:nvPr/>
        </p:nvSpPr>
        <p:spPr>
          <a:xfrm>
            <a:off x="3838575" y="4883233"/>
            <a:ext cx="771971" cy="186689"/>
          </a:xfrm>
          <a:prstGeom prst="rect">
            <a:avLst/>
          </a:prstGeom>
          <a:noFill/>
        </p:spPr>
        <p:txBody>
          <a:bodyPr wrap="none" lIns="0" rIns="0" tIns="0" bIns="0">
            <a:spAutoFit/>
          </a:bodyPr>
          <a:lstStyle/>
          <a:p>
            <a:r>
              <a:rPr sz="1100" b="0">
                <a:solidFill>
                  <a:srgbClr val="2E2E2E"/>
                </a:solidFill>
                <a:latin typeface="Calibri"/>
              </a:rPr>
              <a:t>● Coily Hair:</a:t>
            </a:r>
          </a:p>
        </p:txBody>
      </p:sp>
      <p:pic>
        <p:nvPicPr>
          <p:cNvPr id="123" name="Picture 122" descr="lock.png"/>
          <p:cNvPicPr>
            <a:picLocks noChangeAspect="1"/>
          </p:cNvPicPr>
          <p:nvPr/>
        </p:nvPicPr>
        <p:blipFill>
          <a:blip r:embed="rId19"/>
          <a:stretch>
            <a:fillRect/>
          </a:stretch>
        </p:blipFill>
        <p:spPr>
          <a:xfrm>
            <a:off x="4558598" y="4873454"/>
            <a:ext cx="128699" cy="187198"/>
          </a:xfrm>
          <a:prstGeom prst="rect">
            <a:avLst/>
          </a:prstGeom>
        </p:spPr>
      </p:pic>
      <p:sp>
        <p:nvSpPr>
          <p:cNvPr id="124" name="TextBox 123"/>
          <p:cNvSpPr txBox="1"/>
          <p:nvPr/>
        </p:nvSpPr>
        <p:spPr>
          <a:xfrm>
            <a:off x="472609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19"/>
          <a:stretch>
            <a:fillRect/>
          </a:stretch>
        </p:blipFill>
        <p:spPr>
          <a:xfrm>
            <a:off x="5585544" y="4873454"/>
            <a:ext cx="128699" cy="187198"/>
          </a:xfrm>
          <a:prstGeom prst="rect">
            <a:avLst/>
          </a:prstGeom>
        </p:spPr>
      </p:pic>
      <p:sp>
        <p:nvSpPr>
          <p:cNvPr id="126" name="TextBox 125"/>
          <p:cNvSpPr txBox="1"/>
          <p:nvPr/>
        </p:nvSpPr>
        <p:spPr>
          <a:xfrm>
            <a:off x="5753039"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7" name="TextBox 126"/>
          <p:cNvSpPr txBox="1"/>
          <p:nvPr/>
        </p:nvSpPr>
        <p:spPr>
          <a:xfrm>
            <a:off x="3838575" y="5101165"/>
            <a:ext cx="788342" cy="186689"/>
          </a:xfrm>
          <a:prstGeom prst="rect">
            <a:avLst/>
          </a:prstGeom>
          <a:noFill/>
        </p:spPr>
        <p:txBody>
          <a:bodyPr wrap="none" lIns="0" rIns="0" tIns="0" bIns="0">
            <a:spAutoFit/>
          </a:bodyPr>
          <a:lstStyle/>
          <a:p>
            <a:r>
              <a:rPr sz="1100" b="0">
                <a:solidFill>
                  <a:srgbClr val="2E2E2E"/>
                </a:solidFill>
                <a:latin typeface="Calibri"/>
              </a:rPr>
              <a:t>● Curly Hair:</a:t>
            </a:r>
          </a:p>
        </p:txBody>
      </p:sp>
      <p:pic>
        <p:nvPicPr>
          <p:cNvPr id="128" name="Picture 127" descr="lock.png"/>
          <p:cNvPicPr>
            <a:picLocks noChangeAspect="1"/>
          </p:cNvPicPr>
          <p:nvPr/>
        </p:nvPicPr>
        <p:blipFill>
          <a:blip r:embed="rId19"/>
          <a:stretch>
            <a:fillRect/>
          </a:stretch>
        </p:blipFill>
        <p:spPr>
          <a:xfrm>
            <a:off x="4574969" y="5091385"/>
            <a:ext cx="128699" cy="187198"/>
          </a:xfrm>
          <a:prstGeom prst="rect">
            <a:avLst/>
          </a:prstGeom>
        </p:spPr>
      </p:pic>
      <p:sp>
        <p:nvSpPr>
          <p:cNvPr id="129" name="TextBox 128"/>
          <p:cNvSpPr txBox="1"/>
          <p:nvPr/>
        </p:nvSpPr>
        <p:spPr>
          <a:xfrm>
            <a:off x="4742464"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19"/>
          <a:stretch>
            <a:fillRect/>
          </a:stretch>
        </p:blipFill>
        <p:spPr>
          <a:xfrm>
            <a:off x="5601915" y="5091385"/>
            <a:ext cx="128699" cy="187198"/>
          </a:xfrm>
          <a:prstGeom prst="rect">
            <a:avLst/>
          </a:prstGeom>
        </p:spPr>
      </p:pic>
      <p:sp>
        <p:nvSpPr>
          <p:cNvPr id="131" name="TextBox 130"/>
          <p:cNvSpPr txBox="1"/>
          <p:nvPr/>
        </p:nvSpPr>
        <p:spPr>
          <a:xfrm>
            <a:off x="5769411"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2" name="TextBox 131"/>
          <p:cNvSpPr txBox="1"/>
          <p:nvPr/>
        </p:nvSpPr>
        <p:spPr>
          <a:xfrm>
            <a:off x="8524875" y="5842641"/>
            <a:ext cx="2950418" cy="194310"/>
          </a:xfrm>
          <a:prstGeom prst="rect">
            <a:avLst/>
          </a:prstGeom>
          <a:noFill/>
        </p:spPr>
        <p:txBody>
          <a:bodyPr wrap="none" lIns="0" rIns="0" tIns="0" bIns="0">
            <a:spAutoFit/>
          </a:bodyPr>
          <a:lstStyle/>
          <a:p>
            <a:r>
              <a:rPr sz="1150" b="1">
                <a:solidFill>
                  <a:srgbClr val="0B2E4A"/>
                </a:solidFill>
                <a:latin typeface="Calibri"/>
              </a:rPr>
              <a:t>The Hair Type Targeted segment is projected to</a:t>
            </a:r>
          </a:p>
        </p:txBody>
      </p:sp>
      <p:sp>
        <p:nvSpPr>
          <p:cNvPr id="133" name="TextBox 132"/>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34" name="Picture 133" descr="lock.png"/>
          <p:cNvPicPr>
            <a:picLocks noChangeAspect="1"/>
          </p:cNvPicPr>
          <p:nvPr/>
        </p:nvPicPr>
        <p:blipFill>
          <a:blip r:embed="rId19"/>
          <a:stretch>
            <a:fillRect/>
          </a:stretch>
        </p:blipFill>
        <p:spPr>
          <a:xfrm>
            <a:off x="9651852" y="6007677"/>
            <a:ext cx="134549" cy="195707"/>
          </a:xfrm>
          <a:prstGeom prst="rect">
            <a:avLst/>
          </a:prstGeom>
        </p:spPr>
      </p:pic>
      <p:sp>
        <p:nvSpPr>
          <p:cNvPr id="135" name="TextBox 134"/>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Hair Type Targeted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Hair Type Targeted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Hair Type Targeted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Hair Type Targeted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777865"/>
            <a:ext cx="11559703" cy="186689"/>
          </a:xfrm>
          <a:prstGeom prst="rect">
            <a:avLst/>
          </a:prstGeom>
          <a:noFill/>
        </p:spPr>
        <p:txBody>
          <a:bodyPr wrap="none" lIns="0" rIns="0" tIns="0" bIns="0">
            <a:spAutoFit/>
          </a:bodyPr>
          <a:lstStyle/>
          <a:p>
            <a:r>
              <a:rPr sz="1100" b="0">
                <a:solidFill>
                  <a:srgbClr val="2E2E2E"/>
                </a:solidFill>
                <a:latin typeface="Calibri"/>
              </a:rPr>
              <a:t>Coily hair followed by curly hair are expected to be the two most attractive hair type targeted segments in the global hair styling products market in terms of value over the forecast period. Coily hair and</a:t>
            </a:r>
          </a:p>
        </p:txBody>
      </p:sp>
      <p:sp>
        <p:nvSpPr>
          <p:cNvPr id="21" name="TextBox 20"/>
          <p:cNvSpPr txBox="1"/>
          <p:nvPr/>
        </p:nvSpPr>
        <p:spPr>
          <a:xfrm>
            <a:off x="257175" y="5945505"/>
            <a:ext cx="1964042" cy="186689"/>
          </a:xfrm>
          <a:prstGeom prst="rect">
            <a:avLst/>
          </a:prstGeom>
          <a:noFill/>
        </p:spPr>
        <p:txBody>
          <a:bodyPr wrap="none" lIns="0" rIns="0" tIns="0" bIns="0">
            <a:spAutoFit/>
          </a:bodyPr>
          <a:lstStyle/>
          <a:p>
            <a:r>
              <a:rPr sz="1100" b="0">
                <a:solidFill>
                  <a:srgbClr val="2E2E2E"/>
                </a:solidFill>
                <a:latin typeface="Calibri"/>
              </a:rPr>
              <a:t>curly hair exhibit a CAGR index of</a:t>
            </a:r>
          </a:p>
        </p:txBody>
      </p:sp>
      <p:pic>
        <p:nvPicPr>
          <p:cNvPr id="22" name="Picture 21" descr="lock.png"/>
          <p:cNvPicPr>
            <a:picLocks noChangeAspect="1"/>
          </p:cNvPicPr>
          <p:nvPr/>
        </p:nvPicPr>
        <p:blipFill>
          <a:blip r:embed="rId6"/>
          <a:stretch>
            <a:fillRect/>
          </a:stretch>
        </p:blipFill>
        <p:spPr>
          <a:xfrm>
            <a:off x="2169269" y="5935726"/>
            <a:ext cx="128699" cy="187198"/>
          </a:xfrm>
          <a:prstGeom prst="rect">
            <a:avLst/>
          </a:prstGeom>
        </p:spPr>
      </p:pic>
      <p:sp>
        <p:nvSpPr>
          <p:cNvPr id="23" name="TextBox 22"/>
          <p:cNvSpPr txBox="1"/>
          <p:nvPr/>
        </p:nvSpPr>
        <p:spPr>
          <a:xfrm>
            <a:off x="2336765"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2574659" y="5935726"/>
            <a:ext cx="128699" cy="187198"/>
          </a:xfrm>
          <a:prstGeom prst="rect">
            <a:avLst/>
          </a:prstGeom>
        </p:spPr>
      </p:pic>
      <p:sp>
        <p:nvSpPr>
          <p:cNvPr id="25" name="TextBox 24"/>
          <p:cNvSpPr txBox="1"/>
          <p:nvPr/>
        </p:nvSpPr>
        <p:spPr>
          <a:xfrm>
            <a:off x="2742155"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4351128" y="5935726"/>
            <a:ext cx="128699" cy="187198"/>
          </a:xfrm>
          <a:prstGeom prst="rect">
            <a:avLst/>
          </a:prstGeom>
        </p:spPr>
      </p:pic>
      <p:sp>
        <p:nvSpPr>
          <p:cNvPr id="27" name="TextBox 26"/>
          <p:cNvSpPr txBox="1"/>
          <p:nvPr/>
        </p:nvSpPr>
        <p:spPr>
          <a:xfrm>
            <a:off x="451862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4756519" y="5935726"/>
            <a:ext cx="128699" cy="187198"/>
          </a:xfrm>
          <a:prstGeom prst="rect">
            <a:avLst/>
          </a:prstGeom>
        </p:spPr>
      </p:pic>
      <p:sp>
        <p:nvSpPr>
          <p:cNvPr id="29" name="TextBox 28"/>
          <p:cNvSpPr txBox="1"/>
          <p:nvPr/>
        </p:nvSpPr>
        <p:spPr>
          <a:xfrm>
            <a:off x="4924014"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7478419" y="5935726"/>
            <a:ext cx="128699" cy="187198"/>
          </a:xfrm>
          <a:prstGeom prst="rect">
            <a:avLst/>
          </a:prstGeom>
        </p:spPr>
      </p:pic>
      <p:sp>
        <p:nvSpPr>
          <p:cNvPr id="31" name="TextBox 30"/>
          <p:cNvSpPr txBox="1"/>
          <p:nvPr/>
        </p:nvSpPr>
        <p:spPr>
          <a:xfrm>
            <a:off x="7645914" y="5945505"/>
            <a:ext cx="3571155" cy="186689"/>
          </a:xfrm>
          <a:prstGeom prst="rect">
            <a:avLst/>
          </a:prstGeom>
          <a:noFill/>
        </p:spPr>
        <p:txBody>
          <a:bodyPr wrap="none" lIns="0" rIns="0" tIns="0" bIns="0">
            <a:spAutoFit/>
          </a:bodyPr>
          <a:lstStyle/>
          <a:p>
            <a:r>
              <a:rPr sz="1100" b="0">
                <a:solidFill>
                  <a:srgbClr val="2E2E2E"/>
                </a:solidFill>
                <a:latin typeface="Calibri"/>
              </a:rPr>
              <a:t>. The straight hair segment is expected to be less attractive as</a:t>
            </a:r>
          </a:p>
        </p:txBody>
      </p:sp>
      <p:sp>
        <p:nvSpPr>
          <p:cNvPr id="32" name="TextBox 31"/>
          <p:cNvSpPr txBox="1"/>
          <p:nvPr/>
        </p:nvSpPr>
        <p:spPr>
          <a:xfrm>
            <a:off x="257175" y="6113145"/>
            <a:ext cx="10606326" cy="186689"/>
          </a:xfrm>
          <a:prstGeom prst="rect">
            <a:avLst/>
          </a:prstGeom>
          <a:noFill/>
        </p:spPr>
        <p:txBody>
          <a:bodyPr wrap="none" lIns="0" rIns="0" tIns="0" bIns="0">
            <a:spAutoFit/>
          </a:bodyPr>
          <a:lstStyle/>
          <a:p>
            <a:r>
              <a:rPr sz="1100" b="0">
                <a:solidFill>
                  <a:srgbClr val="2E2E2E"/>
                </a:solidFill>
                <a:latin typeface="Calibri"/>
              </a:rPr>
              <a:t>compared to other segments over the forecast period, owing to its lower CAGR and 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Hair Type Targeted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Hair Type Targeted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Straight Hair</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Wavy Hair</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Curly Hair</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Coily Hair</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8"/>
          <a:stretch>
            <a:fillRect/>
          </a:stretch>
        </p:blipFill>
        <p:spPr>
          <a:xfrm>
            <a:off x="3094826" y="5123309"/>
            <a:ext cx="263506" cy="383281"/>
          </a:xfrm>
          <a:prstGeom prst="rect">
            <a:avLst/>
          </a:prstGeom>
        </p:spPr>
      </p:pic>
      <p:pic>
        <p:nvPicPr>
          <p:cNvPr id="27" name="Picture 26" descr="lock.png"/>
          <p:cNvPicPr>
            <a:picLocks noChangeAspect="1"/>
          </p:cNvPicPr>
          <p:nvPr/>
        </p:nvPicPr>
        <p:blipFill>
          <a:blip r:embed="rId8"/>
          <a:stretch>
            <a:fillRect/>
          </a:stretch>
        </p:blipFill>
        <p:spPr>
          <a:xfrm>
            <a:off x="9124151" y="5123309"/>
            <a:ext cx="263506" cy="383281"/>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Hair Type Targeted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Hair Type Targeted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All Hair Types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Global Absolute $ Opportunity Analysis, By Hair Type Targeted</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4059" y="3583939"/>
            <a:ext cx="402511" cy="585471"/>
          </a:xfrm>
          <a:prstGeom prst="rect">
            <a:avLst/>
          </a:prstGeom>
        </p:spPr>
      </p:pic>
      <p:sp>
        <p:nvSpPr>
          <p:cNvPr id="19" name="TextBox 18"/>
          <p:cNvSpPr txBox="1"/>
          <p:nvPr/>
        </p:nvSpPr>
        <p:spPr>
          <a:xfrm>
            <a:off x="6305550" y="1598245"/>
            <a:ext cx="4038069" cy="194310"/>
          </a:xfrm>
          <a:prstGeom prst="rect">
            <a:avLst/>
          </a:prstGeom>
          <a:noFill/>
        </p:spPr>
        <p:txBody>
          <a:bodyPr wrap="none" lIns="0" rIns="0" tIns="0" bIns="0">
            <a:spAutoFit/>
          </a:bodyPr>
          <a:lstStyle/>
          <a:p>
            <a:r>
              <a:rPr sz="1150" b="0">
                <a:solidFill>
                  <a:srgbClr val="2E2E2E"/>
                </a:solidFill>
                <a:latin typeface="Calibri"/>
              </a:rPr>
              <a:t>By 2036, coily hair segment is anticipated to witness an increase of</a:t>
            </a:r>
          </a:p>
        </p:txBody>
      </p:sp>
      <p:pic>
        <p:nvPicPr>
          <p:cNvPr id="20" name="Picture 19" descr="lock.png"/>
          <p:cNvPicPr>
            <a:picLocks noChangeAspect="1"/>
          </p:cNvPicPr>
          <p:nvPr/>
        </p:nvPicPr>
        <p:blipFill>
          <a:blip r:embed="rId5"/>
          <a:stretch>
            <a:fillRect/>
          </a:stretch>
        </p:blipFill>
        <p:spPr>
          <a:xfrm>
            <a:off x="10292773" y="1588021"/>
            <a:ext cx="134549" cy="195707"/>
          </a:xfrm>
          <a:prstGeom prst="rect">
            <a:avLst/>
          </a:prstGeom>
        </p:spPr>
      </p:pic>
      <p:sp>
        <p:nvSpPr>
          <p:cNvPr id="21" name="TextBox 20"/>
          <p:cNvSpPr txBox="1"/>
          <p:nvPr/>
        </p:nvSpPr>
        <p:spPr>
          <a:xfrm>
            <a:off x="10467882" y="159824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2" name="TextBox 21"/>
          <p:cNvSpPr txBox="1"/>
          <p:nvPr/>
        </p:nvSpPr>
        <p:spPr>
          <a:xfrm>
            <a:off x="6305550" y="1773505"/>
            <a:ext cx="5518559" cy="194310"/>
          </a:xfrm>
          <a:prstGeom prst="rect">
            <a:avLst/>
          </a:prstGeom>
          <a:noFill/>
        </p:spPr>
        <p:txBody>
          <a:bodyPr wrap="none" lIns="0" rIns="0" tIns="0" bIns="0">
            <a:spAutoFit/>
          </a:bodyPr>
          <a:lstStyle/>
          <a:p>
            <a:r>
              <a:rPr sz="1150" b="0">
                <a:solidFill>
                  <a:srgbClr val="2E2E2E"/>
                </a:solidFill>
                <a:latin typeface="Calibri"/>
              </a:rPr>
              <a:t>compared to 2026. The coily hair segment is expected to create an incremental opportunity</a:t>
            </a:r>
          </a:p>
        </p:txBody>
      </p:sp>
      <p:sp>
        <p:nvSpPr>
          <p:cNvPr id="23" name="TextBox 22"/>
          <p:cNvSpPr txBox="1"/>
          <p:nvPr/>
        </p:nvSpPr>
        <p:spPr>
          <a:xfrm>
            <a:off x="6305550" y="1948765"/>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24" name="Picture 23" descr="lock.png"/>
          <p:cNvPicPr>
            <a:picLocks noChangeAspect="1"/>
          </p:cNvPicPr>
          <p:nvPr/>
        </p:nvPicPr>
        <p:blipFill>
          <a:blip r:embed="rId5"/>
          <a:stretch>
            <a:fillRect/>
          </a:stretch>
        </p:blipFill>
        <p:spPr>
          <a:xfrm>
            <a:off x="6720560" y="1938541"/>
            <a:ext cx="134549" cy="195707"/>
          </a:xfrm>
          <a:prstGeom prst="rect">
            <a:avLst/>
          </a:prstGeom>
        </p:spPr>
      </p:pic>
      <p:sp>
        <p:nvSpPr>
          <p:cNvPr id="25" name="TextBox 24"/>
          <p:cNvSpPr txBox="1"/>
          <p:nvPr/>
        </p:nvSpPr>
        <p:spPr>
          <a:xfrm>
            <a:off x="6895670" y="1948765"/>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26" name="TextBox 25"/>
          <p:cNvSpPr txBox="1"/>
          <p:nvPr/>
        </p:nvSpPr>
        <p:spPr>
          <a:xfrm>
            <a:off x="6305550" y="2176603"/>
            <a:ext cx="4796866" cy="194310"/>
          </a:xfrm>
          <a:prstGeom prst="rect">
            <a:avLst/>
          </a:prstGeom>
          <a:noFill/>
        </p:spPr>
        <p:txBody>
          <a:bodyPr wrap="none" lIns="0" rIns="0" tIns="0" bIns="0">
            <a:spAutoFit/>
          </a:bodyPr>
          <a:lstStyle/>
          <a:p>
            <a:r>
              <a:rPr sz="1150" b="0">
                <a:solidFill>
                  <a:srgbClr val="2E2E2E"/>
                </a:solidFill>
                <a:latin typeface="Calibri"/>
              </a:rPr>
              <a:t>The curly hair segment is expected to create an incremental opportunity of US$</a:t>
            </a:r>
          </a:p>
        </p:txBody>
      </p:sp>
      <p:pic>
        <p:nvPicPr>
          <p:cNvPr id="27" name="Picture 26" descr="lock.png"/>
          <p:cNvPicPr>
            <a:picLocks noChangeAspect="1"/>
          </p:cNvPicPr>
          <p:nvPr/>
        </p:nvPicPr>
        <p:blipFill>
          <a:blip r:embed="rId5"/>
          <a:stretch>
            <a:fillRect/>
          </a:stretch>
        </p:blipFill>
        <p:spPr>
          <a:xfrm>
            <a:off x="11051570" y="2166379"/>
            <a:ext cx="134549" cy="195707"/>
          </a:xfrm>
          <a:prstGeom prst="rect">
            <a:avLst/>
          </a:prstGeom>
        </p:spPr>
      </p:pic>
      <p:sp>
        <p:nvSpPr>
          <p:cNvPr id="28" name="TextBox 27"/>
          <p:cNvSpPr txBox="1"/>
          <p:nvPr/>
        </p:nvSpPr>
        <p:spPr>
          <a:xfrm>
            <a:off x="11226680" y="217660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29" name="TextBox 28"/>
          <p:cNvSpPr txBox="1"/>
          <p:nvPr/>
        </p:nvSpPr>
        <p:spPr>
          <a:xfrm>
            <a:off x="6305550" y="2351863"/>
            <a:ext cx="5118918" cy="194310"/>
          </a:xfrm>
          <a:prstGeom prst="rect">
            <a:avLst/>
          </a:prstGeom>
          <a:noFill/>
        </p:spPr>
        <p:txBody>
          <a:bodyPr wrap="none" lIns="0" rIns="0" tIns="0" bIns="0">
            <a:spAutoFit/>
          </a:bodyPr>
          <a:lstStyle/>
          <a:p>
            <a:r>
              <a:rPr sz="1150" b="0">
                <a:solidFill>
                  <a:srgbClr val="2E2E2E"/>
                </a:solidFill>
                <a:latin typeface="Calibri"/>
              </a:rPr>
              <a:t>the overall hair styling products market from 2026 to 2036. The wavy hair segment is</a:t>
            </a:r>
          </a:p>
        </p:txBody>
      </p:sp>
      <p:sp>
        <p:nvSpPr>
          <p:cNvPr id="30" name="TextBox 29"/>
          <p:cNvSpPr txBox="1"/>
          <p:nvPr/>
        </p:nvSpPr>
        <p:spPr>
          <a:xfrm>
            <a:off x="6305550" y="2527123"/>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1" name="Picture 30" descr="lock.png"/>
          <p:cNvPicPr>
            <a:picLocks noChangeAspect="1"/>
          </p:cNvPicPr>
          <p:nvPr/>
        </p:nvPicPr>
        <p:blipFill>
          <a:blip r:embed="rId5"/>
          <a:stretch>
            <a:fillRect/>
          </a:stretch>
        </p:blipFill>
        <p:spPr>
          <a:xfrm>
            <a:off x="9540010" y="2516899"/>
            <a:ext cx="134549" cy="195707"/>
          </a:xfrm>
          <a:prstGeom prst="rect">
            <a:avLst/>
          </a:prstGeom>
        </p:spPr>
      </p:pic>
      <p:sp>
        <p:nvSpPr>
          <p:cNvPr id="32" name="TextBox 31"/>
          <p:cNvSpPr txBox="1"/>
          <p:nvPr/>
        </p:nvSpPr>
        <p:spPr>
          <a:xfrm>
            <a:off x="9715119" y="2527123"/>
            <a:ext cx="1834790" cy="194310"/>
          </a:xfrm>
          <a:prstGeom prst="rect">
            <a:avLst/>
          </a:prstGeom>
          <a:noFill/>
        </p:spPr>
        <p:txBody>
          <a:bodyPr wrap="none" lIns="0" rIns="0" tIns="0" bIns="0">
            <a:spAutoFit/>
          </a:bodyPr>
          <a:lstStyle/>
          <a:p>
            <a:r>
              <a:rPr sz="1150" b="0">
                <a:solidFill>
                  <a:srgbClr val="2E2E2E"/>
                </a:solidFill>
                <a:latin typeface="Calibri"/>
              </a:rPr>
              <a:t>Mn for the overall hair styling</a:t>
            </a:r>
          </a:p>
        </p:txBody>
      </p:sp>
      <p:sp>
        <p:nvSpPr>
          <p:cNvPr id="33" name="TextBox 32"/>
          <p:cNvSpPr txBox="1"/>
          <p:nvPr/>
        </p:nvSpPr>
        <p:spPr>
          <a:xfrm>
            <a:off x="6305550" y="2702383"/>
            <a:ext cx="2239280" cy="194310"/>
          </a:xfrm>
          <a:prstGeom prst="rect">
            <a:avLst/>
          </a:prstGeom>
          <a:noFill/>
        </p:spPr>
        <p:txBody>
          <a:bodyPr wrap="none" lIns="0" rIns="0" tIns="0" bIns="0">
            <a:spAutoFit/>
          </a:bodyPr>
          <a:lstStyle/>
          <a:p>
            <a:r>
              <a:rPr sz="1150" b="0">
                <a:solidFill>
                  <a:srgbClr val="2E2E2E"/>
                </a:solidFill>
                <a:latin typeface="Calibri"/>
              </a:rPr>
              <a:t>products market from 2026 to 2036.</a:t>
            </a:r>
          </a:p>
        </p:txBody>
      </p:sp>
      <p:sp>
        <p:nvSpPr>
          <p:cNvPr id="34"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Hair Type Targeted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Hair Type Targeted,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Hair Type Targeted (US$ Mn)</a:t>
            </a:r>
          </a:p>
        </p:txBody>
      </p:sp>
      <p:graphicFrame>
        <p:nvGraphicFramePr>
          <p:cNvPr id="13" name="Table 12"/>
          <p:cNvGraphicFramePr>
            <a:graphicFrameLocks noGrp="1"/>
          </p:cNvGraphicFramePr>
          <p:nvPr/>
        </p:nvGraphicFramePr>
        <p:xfrm>
          <a:off x="152400" y="1238250"/>
          <a:ext cx="11887201" cy="1724028"/>
        </p:xfrm>
        <a:graphic>
          <a:graphicData uri="http://schemas.openxmlformats.org/drawingml/2006/table">
            <a:tbl>
              <a:tblPr>
                <a:tableStyleId>{5C22544A-7EE6-4342-B048-85BDC9FD1C3A}</a:tableStyleId>
              </a:tblPr>
              <a:tblGrid>
                <a:gridCol w="1389140"/>
                <a:gridCol w="617533"/>
                <a:gridCol w="617533"/>
                <a:gridCol w="617533"/>
                <a:gridCol w="617533"/>
                <a:gridCol w="617533"/>
                <a:gridCol w="617533"/>
                <a:gridCol w="617533"/>
                <a:gridCol w="617533"/>
                <a:gridCol w="617533"/>
                <a:gridCol w="617533"/>
                <a:gridCol w="617533"/>
                <a:gridCol w="617533"/>
                <a:gridCol w="617533"/>
                <a:gridCol w="617533"/>
                <a:gridCol w="617533"/>
                <a:gridCol w="617533"/>
                <a:gridCol w="617533"/>
              </a:tblGrid>
              <a:tr h="246126">
                <a:tc>
                  <a:txBody>
                    <a:bodyPr wrap="none"/>
                    <a:lstStyle/>
                    <a:p>
                      <a:pPr algn="l"/>
                      <a:r>
                        <a:rPr sz="1100" b="1">
                          <a:solidFill>
                            <a:srgbClr val="0B2E4A"/>
                          </a:solidFill>
                          <a:latin typeface="Calibri"/>
                        </a:rPr>
                        <a:t>Hair Type Targeted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Straight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Wavy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Curly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Coily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All Hair Types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Hair Type Targeted</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03880" y="1956627"/>
            <a:ext cx="366712" cy="533400"/>
          </a:xfrm>
          <a:prstGeom prst="rect">
            <a:avLst/>
          </a:prstGeom>
        </p:spPr>
      </p:pic>
      <p:sp>
        <p:nvSpPr>
          <p:cNvPr id="21" name="TextBox 20"/>
          <p:cNvSpPr txBox="1"/>
          <p:nvPr/>
        </p:nvSpPr>
        <p:spPr>
          <a:xfrm>
            <a:off x="276225" y="3724275"/>
            <a:ext cx="2554200" cy="194310"/>
          </a:xfrm>
          <a:prstGeom prst="rect">
            <a:avLst/>
          </a:prstGeom>
          <a:noFill/>
        </p:spPr>
        <p:txBody>
          <a:bodyPr wrap="none" lIns="0" rIns="0" tIns="0" bIns="0">
            <a:spAutoFit/>
          </a:bodyPr>
          <a:lstStyle/>
          <a:p>
            <a:r>
              <a:rPr sz="1150" b="0">
                <a:solidFill>
                  <a:srgbClr val="2E2E2E"/>
                </a:solidFill>
                <a:latin typeface="Calibri"/>
              </a:rPr>
              <a:t>Coily hair segment is projected to register</a:t>
            </a:r>
          </a:p>
        </p:txBody>
      </p:sp>
      <p:pic>
        <p:nvPicPr>
          <p:cNvPr id="22" name="Picture 21" descr="lock.png"/>
          <p:cNvPicPr>
            <a:picLocks noChangeAspect="1"/>
          </p:cNvPicPr>
          <p:nvPr/>
        </p:nvPicPr>
        <p:blipFill>
          <a:blip r:embed="rId4"/>
          <a:stretch>
            <a:fillRect/>
          </a:stretch>
        </p:blipFill>
        <p:spPr>
          <a:xfrm>
            <a:off x="2779579" y="3714051"/>
            <a:ext cx="134549" cy="195707"/>
          </a:xfrm>
          <a:prstGeom prst="rect">
            <a:avLst/>
          </a:prstGeom>
        </p:spPr>
      </p:pic>
      <p:sp>
        <p:nvSpPr>
          <p:cNvPr id="23" name="TextBox 22"/>
          <p:cNvSpPr txBox="1"/>
          <p:nvPr/>
        </p:nvSpPr>
        <p:spPr>
          <a:xfrm>
            <a:off x="2954688" y="3724275"/>
            <a:ext cx="8577051" cy="194310"/>
          </a:xfrm>
          <a:prstGeom prst="rect">
            <a:avLst/>
          </a:prstGeom>
          <a:noFill/>
        </p:spPr>
        <p:txBody>
          <a:bodyPr wrap="none" lIns="0" rIns="0" tIns="0" bIns="0">
            <a:spAutoFit/>
          </a:bodyPr>
          <a:lstStyle/>
          <a:p>
            <a:r>
              <a:rPr sz="1150" b="0">
                <a:solidFill>
                  <a:srgbClr val="2E2E2E"/>
                </a:solidFill>
                <a:latin typeface="Calibri"/>
              </a:rPr>
              <a:t>X higher value than curly hair segment in 2036. Among hair styling products by hair type targeted, coily hair segment is expected to witness the</a:t>
            </a:r>
          </a:p>
        </p:txBody>
      </p:sp>
      <p:sp>
        <p:nvSpPr>
          <p:cNvPr id="24" name="TextBox 23"/>
          <p:cNvSpPr txBox="1"/>
          <p:nvPr/>
        </p:nvSpPr>
        <p:spPr>
          <a:xfrm>
            <a:off x="276225" y="389953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5" name="Picture 24" descr="lock.png"/>
          <p:cNvPicPr>
            <a:picLocks noChangeAspect="1"/>
          </p:cNvPicPr>
          <p:nvPr/>
        </p:nvPicPr>
        <p:blipFill>
          <a:blip r:embed="rId4"/>
          <a:stretch>
            <a:fillRect/>
          </a:stretch>
        </p:blipFill>
        <p:spPr>
          <a:xfrm>
            <a:off x="1257732" y="3889311"/>
            <a:ext cx="134549" cy="195707"/>
          </a:xfrm>
          <a:prstGeom prst="rect">
            <a:avLst/>
          </a:prstGeom>
        </p:spPr>
      </p:pic>
      <p:sp>
        <p:nvSpPr>
          <p:cNvPr id="26" name="TextBox 25"/>
          <p:cNvSpPr txBox="1"/>
          <p:nvPr/>
        </p:nvSpPr>
        <p:spPr>
          <a:xfrm>
            <a:off x="1432841"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127372"/>
            <a:ext cx="6758843" cy="194310"/>
          </a:xfrm>
          <a:prstGeom prst="rect">
            <a:avLst/>
          </a:prstGeom>
          <a:noFill/>
        </p:spPr>
        <p:txBody>
          <a:bodyPr wrap="none" lIns="0" rIns="0" tIns="0" bIns="0">
            <a:spAutoFit/>
          </a:bodyPr>
          <a:lstStyle/>
          <a:p>
            <a:r>
              <a:rPr sz="1150" b="0">
                <a:solidFill>
                  <a:srgbClr val="2E2E2E"/>
                </a:solidFill>
                <a:latin typeface="Calibri"/>
              </a:rPr>
              <a:t>In terms of value share by hair type targeted, the coily hair segment is expected to dominate the market, gaining</a:t>
            </a:r>
          </a:p>
        </p:txBody>
      </p:sp>
      <p:pic>
        <p:nvPicPr>
          <p:cNvPr id="28" name="Picture 27" descr="lock.png"/>
          <p:cNvPicPr>
            <a:picLocks noChangeAspect="1"/>
          </p:cNvPicPr>
          <p:nvPr/>
        </p:nvPicPr>
        <p:blipFill>
          <a:blip r:embed="rId4"/>
          <a:stretch>
            <a:fillRect/>
          </a:stretch>
        </p:blipFill>
        <p:spPr>
          <a:xfrm>
            <a:off x="6984222" y="4117149"/>
            <a:ext cx="134549" cy="195707"/>
          </a:xfrm>
          <a:prstGeom prst="rect">
            <a:avLst/>
          </a:prstGeom>
        </p:spPr>
      </p:pic>
      <p:sp>
        <p:nvSpPr>
          <p:cNvPr id="29" name="TextBox 28"/>
          <p:cNvSpPr txBox="1"/>
          <p:nvPr/>
        </p:nvSpPr>
        <p:spPr>
          <a:xfrm>
            <a:off x="7159331"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8554474" y="4117149"/>
            <a:ext cx="134549" cy="195707"/>
          </a:xfrm>
          <a:prstGeom prst="rect">
            <a:avLst/>
          </a:prstGeom>
        </p:spPr>
      </p:pic>
      <p:sp>
        <p:nvSpPr>
          <p:cNvPr id="31" name="TextBox 30"/>
          <p:cNvSpPr txBox="1"/>
          <p:nvPr/>
        </p:nvSpPr>
        <p:spPr>
          <a:xfrm>
            <a:off x="8729583" y="4127372"/>
            <a:ext cx="2623517" cy="194310"/>
          </a:xfrm>
          <a:prstGeom prst="rect">
            <a:avLst/>
          </a:prstGeom>
          <a:noFill/>
        </p:spPr>
        <p:txBody>
          <a:bodyPr wrap="none" lIns="0" rIns="0" tIns="0" bIns="0">
            <a:spAutoFit/>
          </a:bodyPr>
          <a:lstStyle/>
          <a:p>
            <a:r>
              <a:rPr sz="1150" b="0">
                <a:solidFill>
                  <a:srgbClr val="2E2E2E"/>
                </a:solidFill>
                <a:latin typeface="Calibri"/>
              </a:rPr>
              <a:t>share by 2036. The straight hair segment is</a:t>
            </a:r>
          </a:p>
        </p:txBody>
      </p:sp>
      <p:sp>
        <p:nvSpPr>
          <p:cNvPr id="32" name="TextBox 31"/>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3" name="Picture 32" descr="lock.png"/>
          <p:cNvPicPr>
            <a:picLocks noChangeAspect="1"/>
          </p:cNvPicPr>
          <p:nvPr/>
        </p:nvPicPr>
        <p:blipFill>
          <a:blip r:embed="rId4"/>
          <a:stretch>
            <a:fillRect/>
          </a:stretch>
        </p:blipFill>
        <p:spPr>
          <a:xfrm>
            <a:off x="1280285" y="4292409"/>
            <a:ext cx="134549" cy="195707"/>
          </a:xfrm>
          <a:prstGeom prst="rect">
            <a:avLst/>
          </a:prstGeom>
        </p:spPr>
      </p:pic>
      <p:sp>
        <p:nvSpPr>
          <p:cNvPr id="34" name="TextBox 33"/>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042898" y="4292409"/>
            <a:ext cx="134549" cy="195707"/>
          </a:xfrm>
          <a:prstGeom prst="rect">
            <a:avLst/>
          </a:prstGeom>
        </p:spPr>
      </p:pic>
      <p:sp>
        <p:nvSpPr>
          <p:cNvPr id="36" name="TextBox 35"/>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Hair Type Targeted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Hair Type Targeted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Hair Type Targeted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116069"/>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11130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0351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Wavy Hair</a:t>
            </a:r>
          </a:p>
        </p:txBody>
      </p:sp>
      <p:sp>
        <p:nvSpPr>
          <p:cNvPr id="19" name="BPS Value 1"/>
          <p:cNvSpPr txBox="1"/>
          <p:nvPr/>
        </p:nvSpPr>
        <p:spPr>
          <a:xfrm>
            <a:off x="6896100" y="209701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00843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0036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9274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Straight Hair</a:t>
            </a:r>
          </a:p>
        </p:txBody>
      </p:sp>
      <p:sp>
        <p:nvSpPr>
          <p:cNvPr id="23" name="BPS Value 2"/>
          <p:cNvSpPr txBox="1"/>
          <p:nvPr/>
        </p:nvSpPr>
        <p:spPr>
          <a:xfrm>
            <a:off x="6896100" y="29893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91184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9070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8308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All Hair Types</a:t>
            </a:r>
          </a:p>
        </p:txBody>
      </p:sp>
      <p:sp>
        <p:nvSpPr>
          <p:cNvPr id="27" name="BPS Value 3"/>
          <p:cNvSpPr txBox="1"/>
          <p:nvPr/>
        </p:nvSpPr>
        <p:spPr>
          <a:xfrm>
            <a:off x="6896100" y="389279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482410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481933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47431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Curly Hair</a:t>
            </a:r>
          </a:p>
        </p:txBody>
      </p:sp>
      <p:sp>
        <p:nvSpPr>
          <p:cNvPr id="31" name="BPS Value 4"/>
          <p:cNvSpPr txBox="1"/>
          <p:nvPr/>
        </p:nvSpPr>
        <p:spPr>
          <a:xfrm>
            <a:off x="6896100" y="480505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FMI Legend Chip"/>
          <p:cNvSpPr/>
          <p:nvPr/>
        </p:nvSpPr>
        <p:spPr>
          <a:xfrm>
            <a:off x="4928997" y="576207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75730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568110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Coily Hair</a:t>
            </a:r>
          </a:p>
        </p:txBody>
      </p:sp>
      <p:sp>
        <p:nvSpPr>
          <p:cNvPr id="35" name="BPS Value 5"/>
          <p:cNvSpPr txBox="1"/>
          <p:nvPr/>
        </p:nvSpPr>
        <p:spPr>
          <a:xfrm>
            <a:off x="6896100" y="574302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Hair Type Targeted</a:t>
            </a:r>
          </a:p>
        </p:txBody>
      </p:sp>
      <p:sp>
        <p:nvSpPr>
          <p:cNvPr id="38" name="Rectangle 37"/>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TextBox 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1" name="Picture 40" descr="lock.png"/>
          <p:cNvPicPr>
            <a:picLocks noChangeAspect="1"/>
          </p:cNvPicPr>
          <p:nvPr/>
        </p:nvPicPr>
        <p:blipFill>
          <a:blip r:embed="rId5"/>
          <a:stretch>
            <a:fillRect/>
          </a:stretch>
        </p:blipFill>
        <p:spPr>
          <a:xfrm>
            <a:off x="2557843" y="3833622"/>
            <a:ext cx="275034" cy="400050"/>
          </a:xfrm>
          <a:prstGeom prst="rect">
            <a:avLst/>
          </a:prstGeom>
        </p:spPr>
      </p:pic>
      <p:sp>
        <p:nvSpPr>
          <p:cNvPr id="42" name="TextBox 41"/>
          <p:cNvSpPr txBox="1"/>
          <p:nvPr/>
        </p:nvSpPr>
        <p:spPr>
          <a:xfrm>
            <a:off x="7829550" y="1400175"/>
            <a:ext cx="3629607" cy="194310"/>
          </a:xfrm>
          <a:prstGeom prst="rect">
            <a:avLst/>
          </a:prstGeom>
          <a:noFill/>
        </p:spPr>
        <p:txBody>
          <a:bodyPr wrap="none" lIns="0" rIns="0" tIns="0" bIns="0">
            <a:spAutoFit/>
          </a:bodyPr>
          <a:lstStyle/>
          <a:p>
            <a:r>
              <a:rPr sz="1150" b="0">
                <a:solidFill>
                  <a:srgbClr val="2E2E2E"/>
                </a:solidFill>
                <a:latin typeface="Calibri"/>
              </a:rPr>
              <a:t>Among hair styling products by hair type targeted, coily hair</a:t>
            </a:r>
          </a:p>
        </p:txBody>
      </p:sp>
      <p:sp>
        <p:nvSpPr>
          <p:cNvPr id="43" name="TextBox 42"/>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4" name="Picture 43" descr="lock.png"/>
          <p:cNvPicPr>
            <a:picLocks noChangeAspect="1"/>
          </p:cNvPicPr>
          <p:nvPr/>
        </p:nvPicPr>
        <p:blipFill>
          <a:blip r:embed="rId5"/>
          <a:stretch>
            <a:fillRect/>
          </a:stretch>
        </p:blipFill>
        <p:spPr>
          <a:xfrm>
            <a:off x="10935343" y="1565211"/>
            <a:ext cx="134549" cy="195707"/>
          </a:xfrm>
          <a:prstGeom prst="rect">
            <a:avLst/>
          </a:prstGeom>
        </p:spPr>
      </p:pic>
      <p:sp>
        <p:nvSpPr>
          <p:cNvPr id="45" name="TextBox 44"/>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6" name="TextBox 45"/>
          <p:cNvSpPr txBox="1"/>
          <p:nvPr/>
        </p:nvSpPr>
        <p:spPr>
          <a:xfrm>
            <a:off x="7829550" y="1750695"/>
            <a:ext cx="3960217" cy="194310"/>
          </a:xfrm>
          <a:prstGeom prst="rect">
            <a:avLst/>
          </a:prstGeom>
          <a:noFill/>
        </p:spPr>
        <p:txBody>
          <a:bodyPr wrap="none" lIns="0" rIns="0" tIns="0" bIns="0">
            <a:spAutoFit/>
          </a:bodyPr>
          <a:lstStyle/>
          <a:p>
            <a:r>
              <a:rPr sz="1150" b="0">
                <a:solidFill>
                  <a:srgbClr val="2E2E2E"/>
                </a:solidFill>
                <a:latin typeface="Calibri"/>
              </a:rPr>
              <a:t>forecast period. In terms of value share by hair type targeted, the</a:t>
            </a:r>
          </a:p>
        </p:txBody>
      </p:sp>
      <p:sp>
        <p:nvSpPr>
          <p:cNvPr id="47" name="TextBox 46"/>
          <p:cNvSpPr txBox="1"/>
          <p:nvPr/>
        </p:nvSpPr>
        <p:spPr>
          <a:xfrm>
            <a:off x="7829550" y="1925955"/>
            <a:ext cx="3815878" cy="194310"/>
          </a:xfrm>
          <a:prstGeom prst="rect">
            <a:avLst/>
          </a:prstGeom>
          <a:noFill/>
        </p:spPr>
        <p:txBody>
          <a:bodyPr wrap="none" lIns="0" rIns="0" tIns="0" bIns="0">
            <a:spAutoFit/>
          </a:bodyPr>
          <a:lstStyle/>
          <a:p>
            <a:r>
              <a:rPr sz="1150" b="0">
                <a:solidFill>
                  <a:srgbClr val="2E2E2E"/>
                </a:solidFill>
                <a:latin typeface="Calibri"/>
              </a:rPr>
              <a:t>coily hair segment is expected to dominate the market, gaining</a:t>
            </a:r>
          </a:p>
        </p:txBody>
      </p:sp>
      <p:pic>
        <p:nvPicPr>
          <p:cNvPr id="48" name="Picture 47" descr="lock.png"/>
          <p:cNvPicPr>
            <a:picLocks noChangeAspect="1"/>
          </p:cNvPicPr>
          <p:nvPr/>
        </p:nvPicPr>
        <p:blipFill>
          <a:blip r:embed="rId5"/>
          <a:stretch>
            <a:fillRect/>
          </a:stretch>
        </p:blipFill>
        <p:spPr>
          <a:xfrm>
            <a:off x="11594582" y="1915731"/>
            <a:ext cx="134549" cy="195707"/>
          </a:xfrm>
          <a:prstGeom prst="rect">
            <a:avLst/>
          </a:prstGeom>
        </p:spPr>
      </p:pic>
      <p:sp>
        <p:nvSpPr>
          <p:cNvPr id="49" name="TextBox 48"/>
          <p:cNvSpPr txBox="1"/>
          <p:nvPr/>
        </p:nvSpPr>
        <p:spPr>
          <a:xfrm>
            <a:off x="7829550"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224693" y="2090991"/>
            <a:ext cx="134549" cy="195707"/>
          </a:xfrm>
          <a:prstGeom prst="rect">
            <a:avLst/>
          </a:prstGeom>
        </p:spPr>
      </p:pic>
      <p:sp>
        <p:nvSpPr>
          <p:cNvPr id="51" name="TextBox 50"/>
          <p:cNvSpPr txBox="1"/>
          <p:nvPr/>
        </p:nvSpPr>
        <p:spPr>
          <a:xfrm>
            <a:off x="939980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2732199" cy="194310"/>
          </a:xfrm>
          <a:prstGeom prst="rect">
            <a:avLst/>
          </a:prstGeom>
          <a:noFill/>
        </p:spPr>
        <p:txBody>
          <a:bodyPr wrap="none" lIns="0" rIns="0" tIns="0" bIns="0">
            <a:spAutoFit/>
          </a:bodyPr>
          <a:lstStyle/>
          <a:p>
            <a:r>
              <a:rPr sz="1150" b="0">
                <a:solidFill>
                  <a:srgbClr val="2E2E2E"/>
                </a:solidFill>
                <a:latin typeface="Calibri"/>
              </a:rPr>
              <a:t>The straight hair segment is expected to lose</a:t>
            </a:r>
          </a:p>
        </p:txBody>
      </p:sp>
      <p:pic>
        <p:nvPicPr>
          <p:cNvPr id="53" name="Picture 52" descr="lock.png"/>
          <p:cNvPicPr>
            <a:picLocks noChangeAspect="1"/>
          </p:cNvPicPr>
          <p:nvPr/>
        </p:nvPicPr>
        <p:blipFill>
          <a:blip r:embed="rId5"/>
          <a:stretch>
            <a:fillRect/>
          </a:stretch>
        </p:blipFill>
        <p:spPr>
          <a:xfrm>
            <a:off x="10510903" y="2318829"/>
            <a:ext cx="134549" cy="195707"/>
          </a:xfrm>
          <a:prstGeom prst="rect">
            <a:avLst/>
          </a:prstGeom>
        </p:spPr>
      </p:pic>
      <p:sp>
        <p:nvSpPr>
          <p:cNvPr id="54" name="TextBox 53"/>
          <p:cNvSpPr txBox="1"/>
          <p:nvPr/>
        </p:nvSpPr>
        <p:spPr>
          <a:xfrm>
            <a:off x="10686012"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5" name="TextBox 54"/>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6" name="Picture 55" descr="lock.png"/>
          <p:cNvPicPr>
            <a:picLocks noChangeAspect="1"/>
          </p:cNvPicPr>
          <p:nvPr/>
        </p:nvPicPr>
        <p:blipFill>
          <a:blip r:embed="rId5"/>
          <a:stretch>
            <a:fillRect/>
          </a:stretch>
        </p:blipFill>
        <p:spPr>
          <a:xfrm>
            <a:off x="9630324" y="2494089"/>
            <a:ext cx="134549" cy="195707"/>
          </a:xfrm>
          <a:prstGeom prst="rect">
            <a:avLst/>
          </a:prstGeom>
        </p:spPr>
      </p:pic>
      <p:sp>
        <p:nvSpPr>
          <p:cNvPr id="57" name="TextBox 56"/>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Ingredient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Ingredient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Ingredient Technology,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Ingredient Technology segment categorizes the market by ingredient technology.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Film-forming and Fixative Polymers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Texture and Volume Additives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Conditioning and Smoothing Agents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Waxes and Structuring Agents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Ingredient Technology split shows how demand is distributed across ingredient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4" name="Picture 63" descr="4_181_605E5C.png"/>
          <p:cNvPicPr>
            <a:picLocks noChangeAspect="1"/>
          </p:cNvPicPr>
          <p:nvPr/>
        </p:nvPicPr>
        <p:blipFill>
          <a:blip r:embed="rId4"/>
          <a:stretch>
            <a:fillRect/>
          </a:stretch>
        </p:blipFill>
        <p:spPr>
          <a:xfrm>
            <a:off x="2476330" y="2286582"/>
            <a:ext cx="1195728" cy="361950"/>
          </a:xfrm>
          <a:prstGeom prst="rect">
            <a:avLst/>
          </a:prstGeom>
        </p:spPr>
      </p:pic>
      <p:pic>
        <p:nvPicPr>
          <p:cNvPr id="65" name="Picture 64" descr="7_360_605E5C.png"/>
          <p:cNvPicPr>
            <a:picLocks noChangeAspect="1"/>
          </p:cNvPicPr>
          <p:nvPr/>
        </p:nvPicPr>
        <p:blipFill>
          <a:blip r:embed="rId5"/>
          <a:stretch>
            <a:fillRect/>
          </a:stretch>
        </p:blipFill>
        <p:spPr>
          <a:xfrm>
            <a:off x="2476330" y="2779432"/>
            <a:ext cx="1195728" cy="361950"/>
          </a:xfrm>
          <a:prstGeom prst="rect">
            <a:avLst/>
          </a:prstGeom>
        </p:spPr>
      </p:pic>
      <p:pic>
        <p:nvPicPr>
          <p:cNvPr id="66" name="Picture 65" descr="5_8__605E5C.png"/>
          <p:cNvPicPr>
            <a:picLocks noChangeAspect="1"/>
          </p:cNvPicPr>
          <p:nvPr/>
        </p:nvPicPr>
        <p:blipFill>
          <a:blip r:embed="rId6"/>
          <a:stretch>
            <a:fillRect/>
          </a:stretch>
        </p:blipFill>
        <p:spPr>
          <a:xfrm>
            <a:off x="2582976" y="3272281"/>
            <a:ext cx="982436" cy="361950"/>
          </a:xfrm>
          <a:prstGeom prst="rect">
            <a:avLst/>
          </a:prstGeom>
        </p:spPr>
      </p:pic>
      <p:pic>
        <p:nvPicPr>
          <p:cNvPr id="67" name="Picture 66" descr="4_048_605E5C.png"/>
          <p:cNvPicPr>
            <a:picLocks noChangeAspect="1"/>
          </p:cNvPicPr>
          <p:nvPr/>
        </p:nvPicPr>
        <p:blipFill>
          <a:blip r:embed="rId7"/>
          <a:stretch>
            <a:fillRect/>
          </a:stretch>
        </p:blipFill>
        <p:spPr>
          <a:xfrm>
            <a:off x="5005218" y="2286582"/>
            <a:ext cx="1195728" cy="361950"/>
          </a:xfrm>
          <a:prstGeom prst="rect">
            <a:avLst/>
          </a:prstGeom>
        </p:spPr>
      </p:pic>
      <p:pic>
        <p:nvPicPr>
          <p:cNvPr id="68" name="Picture 67" descr="7_950_605E5C.png"/>
          <p:cNvPicPr>
            <a:picLocks noChangeAspect="1"/>
          </p:cNvPicPr>
          <p:nvPr/>
        </p:nvPicPr>
        <p:blipFill>
          <a:blip r:embed="rId8"/>
          <a:stretch>
            <a:fillRect/>
          </a:stretch>
        </p:blipFill>
        <p:spPr>
          <a:xfrm>
            <a:off x="5005218" y="2779432"/>
            <a:ext cx="1195728" cy="361950"/>
          </a:xfrm>
          <a:prstGeom prst="rect">
            <a:avLst/>
          </a:prstGeom>
        </p:spPr>
      </p:pic>
      <p:pic>
        <p:nvPicPr>
          <p:cNvPr id="69" name="Picture 68" descr="7_0__605E5C.png"/>
          <p:cNvPicPr>
            <a:picLocks noChangeAspect="1"/>
          </p:cNvPicPr>
          <p:nvPr/>
        </p:nvPicPr>
        <p:blipFill>
          <a:blip r:embed="rId9"/>
          <a:stretch>
            <a:fillRect/>
          </a:stretch>
        </p:blipFill>
        <p:spPr>
          <a:xfrm>
            <a:off x="5111864" y="3272281"/>
            <a:ext cx="982436" cy="361950"/>
          </a:xfrm>
          <a:prstGeom prst="rect">
            <a:avLst/>
          </a:prstGeom>
        </p:spPr>
      </p:pic>
      <p:pic>
        <p:nvPicPr>
          <p:cNvPr id="70" name="Picture 69" descr="4_019_605E5C.png"/>
          <p:cNvPicPr>
            <a:picLocks noChangeAspect="1"/>
          </p:cNvPicPr>
          <p:nvPr/>
        </p:nvPicPr>
        <p:blipFill>
          <a:blip r:embed="rId10"/>
          <a:stretch>
            <a:fillRect/>
          </a:stretch>
        </p:blipFill>
        <p:spPr>
          <a:xfrm>
            <a:off x="7534105" y="2286582"/>
            <a:ext cx="1195728" cy="361950"/>
          </a:xfrm>
          <a:prstGeom prst="rect">
            <a:avLst/>
          </a:prstGeom>
        </p:spPr>
      </p:pic>
      <p:pic>
        <p:nvPicPr>
          <p:cNvPr id="71" name="Picture 70" descr="7_453_605E5C.png"/>
          <p:cNvPicPr>
            <a:picLocks noChangeAspect="1"/>
          </p:cNvPicPr>
          <p:nvPr/>
        </p:nvPicPr>
        <p:blipFill>
          <a:blip r:embed="rId11"/>
          <a:stretch>
            <a:fillRect/>
          </a:stretch>
        </p:blipFill>
        <p:spPr>
          <a:xfrm>
            <a:off x="7534105" y="2779432"/>
            <a:ext cx="1195728" cy="361950"/>
          </a:xfrm>
          <a:prstGeom prst="rect">
            <a:avLst/>
          </a:prstGeom>
        </p:spPr>
      </p:pic>
      <p:pic>
        <p:nvPicPr>
          <p:cNvPr id="72" name="Picture 71" descr="6_4__605E5C.png"/>
          <p:cNvPicPr>
            <a:picLocks noChangeAspect="1"/>
          </p:cNvPicPr>
          <p:nvPr/>
        </p:nvPicPr>
        <p:blipFill>
          <a:blip r:embed="rId12"/>
          <a:stretch>
            <a:fillRect/>
          </a:stretch>
        </p:blipFill>
        <p:spPr>
          <a:xfrm>
            <a:off x="7640751" y="3272281"/>
            <a:ext cx="982436" cy="361950"/>
          </a:xfrm>
          <a:prstGeom prst="rect">
            <a:avLst/>
          </a:prstGeom>
        </p:spPr>
      </p:pic>
      <p:pic>
        <p:nvPicPr>
          <p:cNvPr id="73" name="Picture 72" descr="3_858_605E5C.png"/>
          <p:cNvPicPr>
            <a:picLocks noChangeAspect="1"/>
          </p:cNvPicPr>
          <p:nvPr/>
        </p:nvPicPr>
        <p:blipFill>
          <a:blip r:embed="rId13"/>
          <a:stretch>
            <a:fillRect/>
          </a:stretch>
        </p:blipFill>
        <p:spPr>
          <a:xfrm>
            <a:off x="10062992" y="2286582"/>
            <a:ext cx="1195728" cy="361950"/>
          </a:xfrm>
          <a:prstGeom prst="rect">
            <a:avLst/>
          </a:prstGeom>
        </p:spPr>
      </p:pic>
      <p:pic>
        <p:nvPicPr>
          <p:cNvPr id="74" name="Picture 73" descr="7_924_605E5C.png"/>
          <p:cNvPicPr>
            <a:picLocks noChangeAspect="1"/>
          </p:cNvPicPr>
          <p:nvPr/>
        </p:nvPicPr>
        <p:blipFill>
          <a:blip r:embed="rId14"/>
          <a:stretch>
            <a:fillRect/>
          </a:stretch>
        </p:blipFill>
        <p:spPr>
          <a:xfrm>
            <a:off x="10062992" y="2779432"/>
            <a:ext cx="1195728" cy="361950"/>
          </a:xfrm>
          <a:prstGeom prst="rect">
            <a:avLst/>
          </a:prstGeom>
        </p:spPr>
      </p:pic>
      <p:pic>
        <p:nvPicPr>
          <p:cNvPr id="75" name="Picture 74" descr="7_5__605E5C.png"/>
          <p:cNvPicPr>
            <a:picLocks noChangeAspect="1"/>
          </p:cNvPicPr>
          <p:nvPr/>
        </p:nvPicPr>
        <p:blipFill>
          <a:blip r:embed="rId15"/>
          <a:stretch>
            <a:fillRect/>
          </a:stretch>
        </p:blipFill>
        <p:spPr>
          <a:xfrm>
            <a:off x="10169638" y="3272281"/>
            <a:ext cx="982436" cy="361950"/>
          </a:xfrm>
          <a:prstGeom prst="rect">
            <a:avLst/>
          </a:prstGeom>
        </p:spPr>
      </p:pic>
      <p:pic>
        <p:nvPicPr>
          <p:cNvPr id="76" name="Picture 75" descr="lock.png"/>
          <p:cNvPicPr>
            <a:picLocks noChangeAspect="1"/>
          </p:cNvPicPr>
          <p:nvPr/>
        </p:nvPicPr>
        <p:blipFill>
          <a:blip r:embed="rId16"/>
          <a:stretch>
            <a:fillRect/>
          </a:stretch>
        </p:blipFill>
        <p:spPr>
          <a:xfrm>
            <a:off x="2980848"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5509737"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8038624" y="2827057"/>
            <a:ext cx="183356" cy="266700"/>
          </a:xfrm>
          <a:prstGeom prst="rect">
            <a:avLst/>
          </a:prstGeom>
        </p:spPr>
      </p:pic>
      <p:pic>
        <p:nvPicPr>
          <p:cNvPr id="79" name="Picture 78" descr="lock.png"/>
          <p:cNvPicPr>
            <a:picLocks noChangeAspect="1"/>
          </p:cNvPicPr>
          <p:nvPr/>
        </p:nvPicPr>
        <p:blipFill>
          <a:blip r:embed="rId16"/>
          <a:stretch>
            <a:fillRect/>
          </a:stretch>
        </p:blipFill>
        <p:spPr>
          <a:xfrm>
            <a:off x="10567511" y="2827057"/>
            <a:ext cx="183356" cy="266700"/>
          </a:xfrm>
          <a:prstGeom prst="rect">
            <a:avLst/>
          </a:prstGeom>
        </p:spPr>
      </p:pic>
      <p:sp>
        <p:nvSpPr>
          <p:cNvPr id="80" name="TextBox 79"/>
          <p:cNvSpPr txBox="1"/>
          <p:nvPr/>
        </p:nvSpPr>
        <p:spPr>
          <a:xfrm>
            <a:off x="485775" y="4229437"/>
            <a:ext cx="2454647" cy="186689"/>
          </a:xfrm>
          <a:prstGeom prst="rect">
            <a:avLst/>
          </a:prstGeom>
          <a:noFill/>
        </p:spPr>
        <p:txBody>
          <a:bodyPr wrap="none" lIns="0" rIns="0" tIns="0" bIns="0">
            <a:spAutoFit/>
          </a:bodyPr>
          <a:lstStyle/>
          <a:p>
            <a:r>
              <a:rPr sz="1100" b="0">
                <a:solidFill>
                  <a:srgbClr val="2E2E2E"/>
                </a:solidFill>
                <a:latin typeface="Calibri"/>
              </a:rPr>
              <a:t>Among hair styling products by ingredient</a:t>
            </a:r>
          </a:p>
        </p:txBody>
      </p:sp>
      <p:sp>
        <p:nvSpPr>
          <p:cNvPr id="81" name="TextBox 80"/>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technology, waxes and structuring agents segment</a:t>
            </a:r>
          </a:p>
        </p:txBody>
      </p:sp>
      <p:sp>
        <p:nvSpPr>
          <p:cNvPr id="82" name="TextBox 81"/>
          <p:cNvSpPr txBox="1"/>
          <p:nvPr/>
        </p:nvSpPr>
        <p:spPr>
          <a:xfrm>
            <a:off x="485775" y="4564717"/>
            <a:ext cx="2499650" cy="186689"/>
          </a:xfrm>
          <a:prstGeom prst="rect">
            <a:avLst/>
          </a:prstGeom>
          <a:noFill/>
        </p:spPr>
        <p:txBody>
          <a:bodyPr wrap="none" lIns="0" rIns="0" tIns="0" bIns="0">
            <a:spAutoFit/>
          </a:bodyPr>
          <a:lstStyle/>
          <a:p>
            <a:r>
              <a:rPr sz="1100" b="0">
                <a:solidFill>
                  <a:srgbClr val="2E2E2E"/>
                </a:solidFill>
                <a:latin typeface="Calibri"/>
              </a:rPr>
              <a:t>is expected to witness the highest CAGR of</a:t>
            </a:r>
          </a:p>
        </p:txBody>
      </p:sp>
      <p:pic>
        <p:nvPicPr>
          <p:cNvPr id="83" name="Picture 82" descr="lock.png"/>
          <p:cNvPicPr>
            <a:picLocks noChangeAspect="1"/>
          </p:cNvPicPr>
          <p:nvPr/>
        </p:nvPicPr>
        <p:blipFill>
          <a:blip r:embed="rId16"/>
          <a:stretch>
            <a:fillRect/>
          </a:stretch>
        </p:blipFill>
        <p:spPr>
          <a:xfrm>
            <a:off x="2933477" y="4554938"/>
            <a:ext cx="128699" cy="187198"/>
          </a:xfrm>
          <a:prstGeom prst="rect">
            <a:avLst/>
          </a:prstGeom>
        </p:spPr>
      </p:pic>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over the forecast period. In terms of value share by</a:t>
            </a:r>
          </a:p>
        </p:txBody>
      </p:sp>
      <p:sp>
        <p:nvSpPr>
          <p:cNvPr id="85" name="TextBox 84"/>
          <p:cNvSpPr txBox="1"/>
          <p:nvPr/>
        </p:nvSpPr>
        <p:spPr>
          <a:xfrm>
            <a:off x="485775" y="4899997"/>
            <a:ext cx="2728590" cy="186689"/>
          </a:xfrm>
          <a:prstGeom prst="rect">
            <a:avLst/>
          </a:prstGeom>
          <a:noFill/>
        </p:spPr>
        <p:txBody>
          <a:bodyPr wrap="none" lIns="0" rIns="0" tIns="0" bIns="0">
            <a:spAutoFit/>
          </a:bodyPr>
          <a:lstStyle/>
          <a:p>
            <a:r>
              <a:rPr sz="1100" b="0">
                <a:solidFill>
                  <a:srgbClr val="2E2E2E"/>
                </a:solidFill>
                <a:latin typeface="Calibri"/>
              </a:rPr>
              <a:t>ingredient technology, the texture and volume</a:t>
            </a:r>
          </a:p>
        </p:txBody>
      </p:sp>
      <p:sp>
        <p:nvSpPr>
          <p:cNvPr id="86" name="TextBox 85"/>
          <p:cNvSpPr txBox="1"/>
          <p:nvPr/>
        </p:nvSpPr>
        <p:spPr>
          <a:xfrm>
            <a:off x="485775" y="5067637"/>
            <a:ext cx="2736775" cy="186689"/>
          </a:xfrm>
          <a:prstGeom prst="rect">
            <a:avLst/>
          </a:prstGeom>
          <a:noFill/>
        </p:spPr>
        <p:txBody>
          <a:bodyPr wrap="none" lIns="0" rIns="0" tIns="0" bIns="0">
            <a:spAutoFit/>
          </a:bodyPr>
          <a:lstStyle/>
          <a:p>
            <a:r>
              <a:rPr sz="1100" b="0">
                <a:solidFill>
                  <a:srgbClr val="2E2E2E"/>
                </a:solidFill>
                <a:latin typeface="Calibri"/>
              </a:rPr>
              <a:t>additives segment is expected to dominate the</a:t>
            </a:r>
          </a:p>
        </p:txBody>
      </p:sp>
      <p:sp>
        <p:nvSpPr>
          <p:cNvPr id="87" name="TextBox 86"/>
          <p:cNvSpPr txBox="1"/>
          <p:nvPr/>
        </p:nvSpPr>
        <p:spPr>
          <a:xfrm>
            <a:off x="485775" y="523527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88" name="Picture 87" descr="lock.png"/>
          <p:cNvPicPr>
            <a:picLocks noChangeAspect="1"/>
          </p:cNvPicPr>
          <p:nvPr/>
        </p:nvPicPr>
        <p:blipFill>
          <a:blip r:embed="rId16"/>
          <a:stretch>
            <a:fillRect/>
          </a:stretch>
        </p:blipFill>
        <p:spPr>
          <a:xfrm>
            <a:off x="1393519" y="5225498"/>
            <a:ext cx="128699" cy="187198"/>
          </a:xfrm>
          <a:prstGeom prst="rect">
            <a:avLst/>
          </a:prstGeom>
        </p:spPr>
      </p:pic>
      <p:sp>
        <p:nvSpPr>
          <p:cNvPr id="89" name="TextBox 88"/>
          <p:cNvSpPr txBox="1"/>
          <p:nvPr/>
        </p:nvSpPr>
        <p:spPr>
          <a:xfrm>
            <a:off x="1561015"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90" name="Picture 89" descr="lock.png"/>
          <p:cNvPicPr>
            <a:picLocks noChangeAspect="1"/>
          </p:cNvPicPr>
          <p:nvPr/>
        </p:nvPicPr>
        <p:blipFill>
          <a:blip r:embed="rId16"/>
          <a:stretch>
            <a:fillRect/>
          </a:stretch>
        </p:blipFill>
        <p:spPr>
          <a:xfrm>
            <a:off x="2895500" y="5225498"/>
            <a:ext cx="128699" cy="187198"/>
          </a:xfrm>
          <a:prstGeom prst="rect">
            <a:avLst/>
          </a:prstGeom>
        </p:spPr>
      </p:pic>
      <p:sp>
        <p:nvSpPr>
          <p:cNvPr id="91" name="TextBox 90"/>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620849"/>
            <a:ext cx="2914650" cy="186689"/>
          </a:xfrm>
          <a:prstGeom prst="rect">
            <a:avLst/>
          </a:prstGeom>
          <a:noFill/>
        </p:spPr>
        <p:txBody>
          <a:bodyPr wrap="none" lIns="0" rIns="0" tIns="0" bIns="0">
            <a:spAutoFit/>
          </a:bodyPr>
          <a:lstStyle/>
          <a:p>
            <a:r>
              <a:rPr sz="1100" b="0">
                <a:solidFill>
                  <a:srgbClr val="2E2E2E"/>
                </a:solidFill>
                <a:latin typeface="Calibri"/>
              </a:rPr>
              <a:t>Texture and volume additives segment is projected</a:t>
            </a:r>
          </a:p>
        </p:txBody>
      </p:sp>
      <p:sp>
        <p:nvSpPr>
          <p:cNvPr id="93" name="TextBox 92"/>
          <p:cNvSpPr txBox="1"/>
          <p:nvPr/>
        </p:nvSpPr>
        <p:spPr>
          <a:xfrm>
            <a:off x="485775" y="578848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94" name="Picture 93" descr="lock.png"/>
          <p:cNvPicPr>
            <a:picLocks noChangeAspect="1"/>
          </p:cNvPicPr>
          <p:nvPr/>
        </p:nvPicPr>
        <p:blipFill>
          <a:blip r:embed="rId16"/>
          <a:stretch>
            <a:fillRect/>
          </a:stretch>
        </p:blipFill>
        <p:spPr>
          <a:xfrm>
            <a:off x="1098567" y="5778710"/>
            <a:ext cx="128699" cy="187198"/>
          </a:xfrm>
          <a:prstGeom prst="rect">
            <a:avLst/>
          </a:prstGeom>
        </p:spPr>
      </p:pic>
      <p:sp>
        <p:nvSpPr>
          <p:cNvPr id="95" name="TextBox 94"/>
          <p:cNvSpPr txBox="1"/>
          <p:nvPr/>
        </p:nvSpPr>
        <p:spPr>
          <a:xfrm>
            <a:off x="1266063" y="5788489"/>
            <a:ext cx="1800894" cy="186689"/>
          </a:xfrm>
          <a:prstGeom prst="rect">
            <a:avLst/>
          </a:prstGeom>
          <a:noFill/>
        </p:spPr>
        <p:txBody>
          <a:bodyPr wrap="none" lIns="0" rIns="0" tIns="0" bIns="0">
            <a:spAutoFit/>
          </a:bodyPr>
          <a:lstStyle/>
          <a:p>
            <a:r>
              <a:rPr sz="1100" b="0">
                <a:solidFill>
                  <a:srgbClr val="2E2E2E"/>
                </a:solidFill>
                <a:latin typeface="Calibri"/>
              </a:rPr>
              <a:t>X higher value than waxes and</a:t>
            </a:r>
          </a:p>
        </p:txBody>
      </p:sp>
      <p:sp>
        <p:nvSpPr>
          <p:cNvPr id="96" name="TextBox 95"/>
          <p:cNvSpPr txBox="1"/>
          <p:nvPr/>
        </p:nvSpPr>
        <p:spPr>
          <a:xfrm>
            <a:off x="485775" y="5956129"/>
            <a:ext cx="2119312" cy="186689"/>
          </a:xfrm>
          <a:prstGeom prst="rect">
            <a:avLst/>
          </a:prstGeom>
          <a:noFill/>
        </p:spPr>
        <p:txBody>
          <a:bodyPr wrap="none" lIns="0" rIns="0" tIns="0" bIns="0">
            <a:spAutoFit/>
          </a:bodyPr>
          <a:lstStyle/>
          <a:p>
            <a:r>
              <a:rPr sz="1100" b="0">
                <a:solidFill>
                  <a:srgbClr val="2E2E2E"/>
                </a:solidFill>
                <a:latin typeface="Calibri"/>
              </a:rPr>
              <a:t>structuring agents segment in 2036.</a:t>
            </a:r>
          </a:p>
        </p:txBody>
      </p:sp>
      <p:sp>
        <p:nvSpPr>
          <p:cNvPr id="97" name="TextBox 96"/>
          <p:cNvSpPr txBox="1"/>
          <p:nvPr/>
        </p:nvSpPr>
        <p:spPr>
          <a:xfrm>
            <a:off x="3838575" y="4229437"/>
            <a:ext cx="2230635" cy="186689"/>
          </a:xfrm>
          <a:prstGeom prst="rect">
            <a:avLst/>
          </a:prstGeom>
          <a:noFill/>
        </p:spPr>
        <p:txBody>
          <a:bodyPr wrap="none" lIns="0" rIns="0" tIns="0" bIns="0">
            <a:spAutoFit/>
          </a:bodyPr>
          <a:lstStyle/>
          <a:p>
            <a:r>
              <a:rPr sz="1100" b="0">
                <a:solidFill>
                  <a:srgbClr val="2E2E2E"/>
                </a:solidFill>
                <a:latin typeface="Calibri"/>
              </a:rPr>
              <a:t>● Film-forming and Fixative Polymers:</a:t>
            </a:r>
          </a:p>
        </p:txBody>
      </p:sp>
      <p:pic>
        <p:nvPicPr>
          <p:cNvPr id="98" name="Picture 97" descr="lock.png"/>
          <p:cNvPicPr>
            <a:picLocks noChangeAspect="1"/>
          </p:cNvPicPr>
          <p:nvPr/>
        </p:nvPicPr>
        <p:blipFill>
          <a:blip r:embed="rId16"/>
          <a:stretch>
            <a:fillRect/>
          </a:stretch>
        </p:blipFill>
        <p:spPr>
          <a:xfrm>
            <a:off x="6017262" y="4219658"/>
            <a:ext cx="128699" cy="187198"/>
          </a:xfrm>
          <a:prstGeom prst="rect">
            <a:avLst/>
          </a:prstGeom>
        </p:spPr>
      </p:pic>
      <p:sp>
        <p:nvSpPr>
          <p:cNvPr id="99" name="TextBox 98"/>
          <p:cNvSpPr txBox="1"/>
          <p:nvPr/>
        </p:nvSpPr>
        <p:spPr>
          <a:xfrm>
            <a:off x="618475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7044208" y="4219658"/>
            <a:ext cx="128699" cy="187198"/>
          </a:xfrm>
          <a:prstGeom prst="rect">
            <a:avLst/>
          </a:prstGeom>
        </p:spPr>
      </p:pic>
      <p:sp>
        <p:nvSpPr>
          <p:cNvPr id="101" name="TextBox 100"/>
          <p:cNvSpPr txBox="1"/>
          <p:nvPr/>
        </p:nvSpPr>
        <p:spPr>
          <a:xfrm>
            <a:off x="7211704"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2" name="TextBox 101"/>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103" name="TextBox 102"/>
          <p:cNvSpPr txBox="1"/>
          <p:nvPr/>
        </p:nvSpPr>
        <p:spPr>
          <a:xfrm>
            <a:off x="3838575" y="4615009"/>
            <a:ext cx="1941140" cy="186689"/>
          </a:xfrm>
          <a:prstGeom prst="rect">
            <a:avLst/>
          </a:prstGeom>
          <a:noFill/>
        </p:spPr>
        <p:txBody>
          <a:bodyPr wrap="none" lIns="0" rIns="0" tIns="0" bIns="0">
            <a:spAutoFit/>
          </a:bodyPr>
          <a:lstStyle/>
          <a:p>
            <a:r>
              <a:rPr sz="1100" b="0">
                <a:solidFill>
                  <a:srgbClr val="2E2E2E"/>
                </a:solidFill>
                <a:latin typeface="Calibri"/>
              </a:rPr>
              <a:t>● Texture and Volume Additives:</a:t>
            </a:r>
          </a:p>
        </p:txBody>
      </p:sp>
      <p:pic>
        <p:nvPicPr>
          <p:cNvPr id="104" name="Picture 103" descr="lock.png"/>
          <p:cNvPicPr>
            <a:picLocks noChangeAspect="1"/>
          </p:cNvPicPr>
          <p:nvPr/>
        </p:nvPicPr>
        <p:blipFill>
          <a:blip r:embed="rId16"/>
          <a:stretch>
            <a:fillRect/>
          </a:stretch>
        </p:blipFill>
        <p:spPr>
          <a:xfrm>
            <a:off x="5727767" y="4605230"/>
            <a:ext cx="128699" cy="187198"/>
          </a:xfrm>
          <a:prstGeom prst="rect">
            <a:avLst/>
          </a:prstGeom>
        </p:spPr>
      </p:pic>
      <p:sp>
        <p:nvSpPr>
          <p:cNvPr id="105" name="TextBox 104"/>
          <p:cNvSpPr txBox="1"/>
          <p:nvPr/>
        </p:nvSpPr>
        <p:spPr>
          <a:xfrm>
            <a:off x="589526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6"/>
          <a:stretch>
            <a:fillRect/>
          </a:stretch>
        </p:blipFill>
        <p:spPr>
          <a:xfrm>
            <a:off x="6754713" y="4605230"/>
            <a:ext cx="128699" cy="187198"/>
          </a:xfrm>
          <a:prstGeom prst="rect">
            <a:avLst/>
          </a:prstGeom>
        </p:spPr>
      </p:pic>
      <p:sp>
        <p:nvSpPr>
          <p:cNvPr id="107" name="TextBox 106"/>
          <p:cNvSpPr txBox="1"/>
          <p:nvPr/>
        </p:nvSpPr>
        <p:spPr>
          <a:xfrm>
            <a:off x="6922208"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8" name="TextBox 107"/>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9" name="TextBox 108"/>
          <p:cNvSpPr txBox="1"/>
          <p:nvPr/>
        </p:nvSpPr>
        <p:spPr>
          <a:xfrm>
            <a:off x="3838575" y="5000581"/>
            <a:ext cx="2268562" cy="186689"/>
          </a:xfrm>
          <a:prstGeom prst="rect">
            <a:avLst/>
          </a:prstGeom>
          <a:noFill/>
        </p:spPr>
        <p:txBody>
          <a:bodyPr wrap="none" lIns="0" rIns="0" tIns="0" bIns="0">
            <a:spAutoFit/>
          </a:bodyPr>
          <a:lstStyle/>
          <a:p>
            <a:r>
              <a:rPr sz="1100" b="0">
                <a:solidFill>
                  <a:srgbClr val="2E2E2E"/>
                </a:solidFill>
                <a:latin typeface="Calibri"/>
              </a:rPr>
              <a:t>● Conditioning and Smoothing Agents:</a:t>
            </a:r>
          </a:p>
        </p:txBody>
      </p:sp>
      <p:pic>
        <p:nvPicPr>
          <p:cNvPr id="110" name="Picture 109" descr="lock.png"/>
          <p:cNvPicPr>
            <a:picLocks noChangeAspect="1"/>
          </p:cNvPicPr>
          <p:nvPr/>
        </p:nvPicPr>
        <p:blipFill>
          <a:blip r:embed="rId16"/>
          <a:stretch>
            <a:fillRect/>
          </a:stretch>
        </p:blipFill>
        <p:spPr>
          <a:xfrm>
            <a:off x="6055188" y="4990801"/>
            <a:ext cx="128699" cy="187198"/>
          </a:xfrm>
          <a:prstGeom prst="rect">
            <a:avLst/>
          </a:prstGeom>
        </p:spPr>
      </p:pic>
      <p:sp>
        <p:nvSpPr>
          <p:cNvPr id="111" name="TextBox 110"/>
          <p:cNvSpPr txBox="1"/>
          <p:nvPr/>
        </p:nvSpPr>
        <p:spPr>
          <a:xfrm>
            <a:off x="6222684"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6"/>
          <a:stretch>
            <a:fillRect/>
          </a:stretch>
        </p:blipFill>
        <p:spPr>
          <a:xfrm>
            <a:off x="7082134" y="4990801"/>
            <a:ext cx="128699" cy="187198"/>
          </a:xfrm>
          <a:prstGeom prst="rect">
            <a:avLst/>
          </a:prstGeom>
        </p:spPr>
      </p:pic>
      <p:sp>
        <p:nvSpPr>
          <p:cNvPr id="113" name="TextBox 112"/>
          <p:cNvSpPr txBox="1"/>
          <p:nvPr/>
        </p:nvSpPr>
        <p:spPr>
          <a:xfrm>
            <a:off x="7249630"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4" name="TextBox 113"/>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5" name="TextBox 114"/>
          <p:cNvSpPr txBox="1"/>
          <p:nvPr/>
        </p:nvSpPr>
        <p:spPr>
          <a:xfrm>
            <a:off x="3838575" y="5386153"/>
            <a:ext cx="1938139" cy="186689"/>
          </a:xfrm>
          <a:prstGeom prst="rect">
            <a:avLst/>
          </a:prstGeom>
          <a:noFill/>
        </p:spPr>
        <p:txBody>
          <a:bodyPr wrap="none" lIns="0" rIns="0" tIns="0" bIns="0">
            <a:spAutoFit/>
          </a:bodyPr>
          <a:lstStyle/>
          <a:p>
            <a:r>
              <a:rPr sz="1100" b="0">
                <a:solidFill>
                  <a:srgbClr val="2E2E2E"/>
                </a:solidFill>
                <a:latin typeface="Calibri"/>
              </a:rPr>
              <a:t>● Waxes and Structuring Agents:</a:t>
            </a:r>
          </a:p>
        </p:txBody>
      </p:sp>
      <p:pic>
        <p:nvPicPr>
          <p:cNvPr id="116" name="Picture 115" descr="lock.png"/>
          <p:cNvPicPr>
            <a:picLocks noChangeAspect="1"/>
          </p:cNvPicPr>
          <p:nvPr/>
        </p:nvPicPr>
        <p:blipFill>
          <a:blip r:embed="rId16"/>
          <a:stretch>
            <a:fillRect/>
          </a:stretch>
        </p:blipFill>
        <p:spPr>
          <a:xfrm>
            <a:off x="5724765" y="5376373"/>
            <a:ext cx="128699" cy="187198"/>
          </a:xfrm>
          <a:prstGeom prst="rect">
            <a:avLst/>
          </a:prstGeom>
        </p:spPr>
      </p:pic>
      <p:sp>
        <p:nvSpPr>
          <p:cNvPr id="117" name="TextBox 116"/>
          <p:cNvSpPr txBox="1"/>
          <p:nvPr/>
        </p:nvSpPr>
        <p:spPr>
          <a:xfrm>
            <a:off x="5892261"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6"/>
          <a:stretch>
            <a:fillRect/>
          </a:stretch>
        </p:blipFill>
        <p:spPr>
          <a:xfrm>
            <a:off x="6751711" y="5376373"/>
            <a:ext cx="128699" cy="187198"/>
          </a:xfrm>
          <a:prstGeom prst="rect">
            <a:avLst/>
          </a:prstGeom>
        </p:spPr>
      </p:pic>
      <p:sp>
        <p:nvSpPr>
          <p:cNvPr id="119" name="TextBox 118"/>
          <p:cNvSpPr txBox="1"/>
          <p:nvPr/>
        </p:nvSpPr>
        <p:spPr>
          <a:xfrm>
            <a:off x="6919207" y="538615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20" name="TextBox 119"/>
          <p:cNvSpPr txBox="1"/>
          <p:nvPr/>
        </p:nvSpPr>
        <p:spPr>
          <a:xfrm>
            <a:off x="3838575" y="555379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21" name="TextBox 120"/>
          <p:cNvSpPr txBox="1"/>
          <p:nvPr/>
        </p:nvSpPr>
        <p:spPr>
          <a:xfrm>
            <a:off x="8524875" y="5842641"/>
            <a:ext cx="3154089" cy="194310"/>
          </a:xfrm>
          <a:prstGeom prst="rect">
            <a:avLst/>
          </a:prstGeom>
          <a:noFill/>
        </p:spPr>
        <p:txBody>
          <a:bodyPr wrap="none" lIns="0" rIns="0" tIns="0" bIns="0">
            <a:spAutoFit/>
          </a:bodyPr>
          <a:lstStyle/>
          <a:p>
            <a:r>
              <a:rPr sz="1150" b="1">
                <a:solidFill>
                  <a:srgbClr val="0B2E4A"/>
                </a:solidFill>
                <a:latin typeface="Calibri"/>
              </a:rPr>
              <a:t>The Ingredient Technology segment is projected to</a:t>
            </a:r>
          </a:p>
        </p:txBody>
      </p:sp>
      <p:sp>
        <p:nvSpPr>
          <p:cNvPr id="122" name="TextBox 121"/>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23" name="Picture 122" descr="lock.png"/>
          <p:cNvPicPr>
            <a:picLocks noChangeAspect="1"/>
          </p:cNvPicPr>
          <p:nvPr/>
        </p:nvPicPr>
        <p:blipFill>
          <a:blip r:embed="rId16"/>
          <a:stretch>
            <a:fillRect/>
          </a:stretch>
        </p:blipFill>
        <p:spPr>
          <a:xfrm>
            <a:off x="9651852" y="6007677"/>
            <a:ext cx="134549" cy="195707"/>
          </a:xfrm>
          <a:prstGeom prst="rect">
            <a:avLst/>
          </a:prstGeom>
        </p:spPr>
      </p:pic>
      <p:sp>
        <p:nvSpPr>
          <p:cNvPr id="124" name="TextBox 123"/>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Ingredient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Ingredient Technology mix within each region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Ingredient Technology mix within each region (share of 2036 value) · row label = region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Ingredient Technology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486033" cy="186689"/>
          </a:xfrm>
          <a:prstGeom prst="rect">
            <a:avLst/>
          </a:prstGeom>
          <a:noFill/>
        </p:spPr>
        <p:txBody>
          <a:bodyPr wrap="none" lIns="0" rIns="0" tIns="0" bIns="0">
            <a:spAutoFit/>
          </a:bodyPr>
          <a:lstStyle/>
          <a:p>
            <a:r>
              <a:rPr sz="1100" b="0">
                <a:solidFill>
                  <a:srgbClr val="2E2E2E"/>
                </a:solidFill>
                <a:latin typeface="Calibri"/>
              </a:rPr>
              <a:t>Waxes and structuring agents followed by texture and volume additives are expected to be the two most attractive ingredient technology segments in the global hair styling products market in terms of</a:t>
            </a:r>
          </a:p>
        </p:txBody>
      </p:sp>
      <p:sp>
        <p:nvSpPr>
          <p:cNvPr id="21" name="TextBox 20"/>
          <p:cNvSpPr txBox="1"/>
          <p:nvPr/>
        </p:nvSpPr>
        <p:spPr>
          <a:xfrm>
            <a:off x="257175" y="5861685"/>
            <a:ext cx="6833079" cy="186689"/>
          </a:xfrm>
          <a:prstGeom prst="rect">
            <a:avLst/>
          </a:prstGeom>
          <a:noFill/>
        </p:spPr>
        <p:txBody>
          <a:bodyPr wrap="none" lIns="0" rIns="0" tIns="0" bIns="0">
            <a:spAutoFit/>
          </a:bodyPr>
          <a:lstStyle/>
          <a:p>
            <a:r>
              <a:rPr sz="1100" b="0">
                <a:solidFill>
                  <a:srgbClr val="2E2E2E"/>
                </a:solidFill>
                <a:latin typeface="Calibri"/>
              </a:rPr>
              <a:t>value over the forecast period. Waxes and structuring agents and texture and volume additives exhibit a CAGR index of</a:t>
            </a:r>
          </a:p>
        </p:txBody>
      </p:sp>
      <p:pic>
        <p:nvPicPr>
          <p:cNvPr id="22" name="Picture 21" descr="lock.png"/>
          <p:cNvPicPr>
            <a:picLocks noChangeAspect="1"/>
          </p:cNvPicPr>
          <p:nvPr/>
        </p:nvPicPr>
        <p:blipFill>
          <a:blip r:embed="rId6"/>
          <a:stretch>
            <a:fillRect/>
          </a:stretch>
        </p:blipFill>
        <p:spPr>
          <a:xfrm>
            <a:off x="7038305" y="5851905"/>
            <a:ext cx="128699" cy="187198"/>
          </a:xfrm>
          <a:prstGeom prst="rect">
            <a:avLst/>
          </a:prstGeom>
        </p:spPr>
      </p:pic>
      <p:sp>
        <p:nvSpPr>
          <p:cNvPr id="23" name="TextBox 22"/>
          <p:cNvSpPr txBox="1"/>
          <p:nvPr/>
        </p:nvSpPr>
        <p:spPr>
          <a:xfrm>
            <a:off x="720580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7443695" y="5851905"/>
            <a:ext cx="128699" cy="187198"/>
          </a:xfrm>
          <a:prstGeom prst="rect">
            <a:avLst/>
          </a:prstGeom>
        </p:spPr>
      </p:pic>
      <p:sp>
        <p:nvSpPr>
          <p:cNvPr id="25" name="TextBox 24"/>
          <p:cNvSpPr txBox="1"/>
          <p:nvPr/>
        </p:nvSpPr>
        <p:spPr>
          <a:xfrm>
            <a:off x="7611191"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9220165" y="5851905"/>
            <a:ext cx="128699" cy="187198"/>
          </a:xfrm>
          <a:prstGeom prst="rect">
            <a:avLst/>
          </a:prstGeom>
        </p:spPr>
      </p:pic>
      <p:sp>
        <p:nvSpPr>
          <p:cNvPr id="27" name="TextBox 26"/>
          <p:cNvSpPr txBox="1"/>
          <p:nvPr/>
        </p:nvSpPr>
        <p:spPr>
          <a:xfrm>
            <a:off x="938766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9625555" y="5851905"/>
            <a:ext cx="128699" cy="187198"/>
          </a:xfrm>
          <a:prstGeom prst="rect">
            <a:avLst/>
          </a:prstGeom>
        </p:spPr>
      </p:pic>
      <p:sp>
        <p:nvSpPr>
          <p:cNvPr id="29" name="TextBox 28"/>
          <p:cNvSpPr txBox="1"/>
          <p:nvPr/>
        </p:nvSpPr>
        <p:spPr>
          <a:xfrm>
            <a:off x="9793051"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30" name="TextBox 29"/>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1" name="Picture 30" descr="lock.png"/>
          <p:cNvPicPr>
            <a:picLocks noChangeAspect="1"/>
          </p:cNvPicPr>
          <p:nvPr/>
        </p:nvPicPr>
        <p:blipFill>
          <a:blip r:embed="rId6"/>
          <a:stretch>
            <a:fillRect/>
          </a:stretch>
        </p:blipFill>
        <p:spPr>
          <a:xfrm>
            <a:off x="1402846" y="6019545"/>
            <a:ext cx="128699" cy="187198"/>
          </a:xfrm>
          <a:prstGeom prst="rect">
            <a:avLst/>
          </a:prstGeom>
        </p:spPr>
      </p:pic>
      <p:sp>
        <p:nvSpPr>
          <p:cNvPr id="32" name="TextBox 31"/>
          <p:cNvSpPr txBox="1"/>
          <p:nvPr/>
        </p:nvSpPr>
        <p:spPr>
          <a:xfrm>
            <a:off x="1570342" y="6029325"/>
            <a:ext cx="10325306" cy="186689"/>
          </a:xfrm>
          <a:prstGeom prst="rect">
            <a:avLst/>
          </a:prstGeom>
          <a:noFill/>
        </p:spPr>
        <p:txBody>
          <a:bodyPr wrap="none" lIns="0" rIns="0" tIns="0" bIns="0">
            <a:spAutoFit/>
          </a:bodyPr>
          <a:lstStyle/>
          <a:p>
            <a:r>
              <a:rPr sz="1100" b="0">
                <a:solidFill>
                  <a:srgbClr val="2E2E2E"/>
                </a:solidFill>
                <a:latin typeface="Calibri"/>
              </a:rPr>
              <a:t>. The film-forming and fixative polymers segment is expected to be less attractive as compared to other segments over the forecast period, owing to its lower CAGR and incremental</a:t>
            </a:r>
          </a:p>
        </p:txBody>
      </p:sp>
      <p:sp>
        <p:nvSpPr>
          <p:cNvPr id="33" name="TextBox 32"/>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Ingredient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Ingredient Technology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Film-forming and Fixative Polymers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Texture and Volume Additives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Conditioning and Smoothing Agents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Waxes and Structuring Agents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Ingredient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Ingredient Technology,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11906250" cy="3933825"/>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Ingredient Technology (US$ Mn)</a:t>
            </a:r>
          </a:p>
        </p:txBody>
      </p:sp>
      <p:graphicFrame>
        <p:nvGraphicFramePr>
          <p:cNvPr id="13" name="Table 12"/>
          <p:cNvGraphicFramePr>
            <a:graphicFrameLocks noGrp="1"/>
          </p:cNvGraphicFramePr>
          <p:nvPr/>
        </p:nvGraphicFramePr>
        <p:xfrm>
          <a:off x="152400" y="1238250"/>
          <a:ext cx="11887200" cy="3505200"/>
        </p:xfrm>
        <a:graphic>
          <a:graphicData uri="http://schemas.openxmlformats.org/drawingml/2006/table">
            <a:tbl>
              <a:tblPr>
                <a:tableStyleId>{5C22544A-7EE6-4342-B048-85BDC9FD1C3A}</a:tableStyleId>
              </a:tblPr>
              <a:tblGrid>
                <a:gridCol w="2937278"/>
                <a:gridCol w="537608"/>
                <a:gridCol w="537608"/>
                <a:gridCol w="537608"/>
                <a:gridCol w="537608"/>
                <a:gridCol w="537608"/>
                <a:gridCol w="518671"/>
                <a:gridCol w="513260"/>
                <a:gridCol w="513260"/>
                <a:gridCol w="513260"/>
                <a:gridCol w="513260"/>
                <a:gridCol w="513260"/>
                <a:gridCol w="513260"/>
                <a:gridCol w="513260"/>
                <a:gridCol w="513260"/>
                <a:gridCol w="513260"/>
                <a:gridCol w="513260"/>
                <a:gridCol w="610611"/>
              </a:tblGrid>
              <a:tr h="219075">
                <a:tc>
                  <a:txBody>
                    <a:bodyPr wrap="none"/>
                    <a:lstStyle/>
                    <a:p>
                      <a:pPr algn="l"/>
                      <a:r>
                        <a:rPr sz="1100" b="1">
                          <a:solidFill>
                            <a:srgbClr val="0B2E4A"/>
                          </a:solidFill>
                          <a:latin typeface="Calibri"/>
                        </a:rPr>
                        <a:t>Ingredient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19075">
                <a:tc>
                  <a:txBody>
                    <a:bodyPr wrap="none"/>
                    <a:lstStyle/>
                    <a:p>
                      <a:pPr algn="l"/>
                      <a:r>
                        <a:rPr sz="1100" b="1">
                          <a:solidFill>
                            <a:srgbClr val="2E2E2E"/>
                          </a:solidFill>
                          <a:latin typeface="Calibri"/>
                        </a:rPr>
                        <a:t>Film-forming and Fixative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Synthetic Polymers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Bio-based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Biodegradable Polymers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Texture and Volume Additives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Silica-based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Starch-based Additives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Other Mineral and Plant-based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Conditioning and Smoothing Agents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Silicone-based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Silicone-free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Waxes and Structuring Agents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Synthetic Waxes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Plant-derived Waxes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762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377949" y="2724150"/>
            <a:ext cx="366712" cy="533399"/>
          </a:xfrm>
          <a:prstGeom prst="rect">
            <a:avLst/>
          </a:prstGeom>
        </p:spPr>
      </p:pic>
      <p:sp>
        <p:nvSpPr>
          <p:cNvPr id="14" name="Rounded Rectangle 13"/>
          <p:cNvSpPr/>
          <p:nvPr/>
        </p:nvSpPr>
        <p:spPr>
          <a:xfrm>
            <a:off x="142875" y="5010150"/>
            <a:ext cx="11906250" cy="1619250"/>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958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Ingredient Technology</a:t>
            </a:r>
          </a:p>
        </p:txBody>
      </p:sp>
      <p:sp>
        <p:nvSpPr>
          <p:cNvPr id="16" name="Rectangle 15"/>
          <p:cNvSpPr/>
          <p:nvPr/>
        </p:nvSpPr>
        <p:spPr>
          <a:xfrm>
            <a:off x="276225" y="53340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19725"/>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276225" y="5429250"/>
            <a:ext cx="3759113" cy="194310"/>
          </a:xfrm>
          <a:prstGeom prst="rect">
            <a:avLst/>
          </a:prstGeom>
          <a:noFill/>
        </p:spPr>
        <p:txBody>
          <a:bodyPr wrap="none" lIns="0" rIns="0" tIns="0" bIns="0">
            <a:spAutoFit/>
          </a:bodyPr>
          <a:lstStyle/>
          <a:p>
            <a:r>
              <a:rPr sz="1150" b="0">
                <a:solidFill>
                  <a:srgbClr val="2E2E2E"/>
                </a:solidFill>
                <a:latin typeface="Calibri"/>
              </a:rPr>
              <a:t>Texture and volume additives segment is projected to register</a:t>
            </a:r>
          </a:p>
        </p:txBody>
      </p:sp>
      <p:pic>
        <p:nvPicPr>
          <p:cNvPr id="21" name="Picture 20" descr="image.png"/>
          <p:cNvPicPr>
            <a:picLocks noChangeAspect="1"/>
          </p:cNvPicPr>
          <p:nvPr/>
        </p:nvPicPr>
        <p:blipFill>
          <a:blip r:embed="rId4"/>
          <a:stretch>
            <a:fillRect/>
          </a:stretch>
        </p:blipFill>
        <p:spPr>
          <a:xfrm>
            <a:off x="3984492" y="5419026"/>
            <a:ext cx="134549" cy="195707"/>
          </a:xfrm>
          <a:prstGeom prst="rect">
            <a:avLst/>
          </a:prstGeom>
        </p:spPr>
      </p:pic>
      <p:sp>
        <p:nvSpPr>
          <p:cNvPr id="22" name="TextBox 21"/>
          <p:cNvSpPr txBox="1"/>
          <p:nvPr/>
        </p:nvSpPr>
        <p:spPr>
          <a:xfrm>
            <a:off x="4159601" y="5429250"/>
            <a:ext cx="7697899" cy="194310"/>
          </a:xfrm>
          <a:prstGeom prst="rect">
            <a:avLst/>
          </a:prstGeom>
          <a:noFill/>
        </p:spPr>
        <p:txBody>
          <a:bodyPr wrap="none" lIns="0" rIns="0" tIns="0" bIns="0">
            <a:spAutoFit/>
          </a:bodyPr>
          <a:lstStyle/>
          <a:p>
            <a:r>
              <a:rPr sz="1150" b="0">
                <a:solidFill>
                  <a:srgbClr val="2E2E2E"/>
                </a:solidFill>
                <a:latin typeface="Calibri"/>
              </a:rPr>
              <a:t>X higher value than waxes and structuring agents segment in 2036. Among hair styling products by ingredient technology, waxes</a:t>
            </a:r>
          </a:p>
        </p:txBody>
      </p:sp>
      <p:sp>
        <p:nvSpPr>
          <p:cNvPr id="23" name="TextBox 22"/>
          <p:cNvSpPr txBox="1"/>
          <p:nvPr/>
        </p:nvSpPr>
        <p:spPr>
          <a:xfrm>
            <a:off x="276225" y="5604510"/>
            <a:ext cx="4525287" cy="194310"/>
          </a:xfrm>
          <a:prstGeom prst="rect">
            <a:avLst/>
          </a:prstGeom>
          <a:noFill/>
        </p:spPr>
        <p:txBody>
          <a:bodyPr wrap="none" lIns="0" rIns="0" tIns="0" bIns="0">
            <a:spAutoFit/>
          </a:bodyPr>
          <a:lstStyle/>
          <a:p>
            <a:r>
              <a:rPr sz="1150" b="0">
                <a:solidFill>
                  <a:srgbClr val="2E2E2E"/>
                </a:solidFill>
                <a:latin typeface="Calibri"/>
              </a:rPr>
              <a:t>and structuring agents segment is expected to witness the highest CAGR of</a:t>
            </a:r>
          </a:p>
        </p:txBody>
      </p:sp>
      <p:pic>
        <p:nvPicPr>
          <p:cNvPr id="24" name="Picture 23" descr="image.png"/>
          <p:cNvPicPr>
            <a:picLocks noChangeAspect="1"/>
          </p:cNvPicPr>
          <p:nvPr/>
        </p:nvPicPr>
        <p:blipFill>
          <a:blip r:embed="rId4"/>
          <a:stretch>
            <a:fillRect/>
          </a:stretch>
        </p:blipFill>
        <p:spPr>
          <a:xfrm>
            <a:off x="4750666" y="5594286"/>
            <a:ext cx="134549" cy="195707"/>
          </a:xfrm>
          <a:prstGeom prst="rect">
            <a:avLst/>
          </a:prstGeom>
        </p:spPr>
      </p:pic>
      <p:sp>
        <p:nvSpPr>
          <p:cNvPr id="25" name="TextBox 24"/>
          <p:cNvSpPr txBox="1"/>
          <p:nvPr/>
        </p:nvSpPr>
        <p:spPr>
          <a:xfrm>
            <a:off x="4925775" y="56045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832347"/>
            <a:ext cx="8189962" cy="194310"/>
          </a:xfrm>
          <a:prstGeom prst="rect">
            <a:avLst/>
          </a:prstGeom>
          <a:noFill/>
        </p:spPr>
        <p:txBody>
          <a:bodyPr wrap="none" lIns="0" rIns="0" tIns="0" bIns="0">
            <a:spAutoFit/>
          </a:bodyPr>
          <a:lstStyle/>
          <a:p>
            <a:r>
              <a:rPr sz="1150" b="0">
                <a:solidFill>
                  <a:srgbClr val="2E2E2E"/>
                </a:solidFill>
                <a:latin typeface="Calibri"/>
              </a:rPr>
              <a:t>In terms of value share by ingredient technology, the texture and volume additives segment is expected to dominate the market, gaining</a:t>
            </a:r>
          </a:p>
        </p:txBody>
      </p:sp>
      <p:pic>
        <p:nvPicPr>
          <p:cNvPr id="27" name="Picture 26" descr="image.png"/>
          <p:cNvPicPr>
            <a:picLocks noChangeAspect="1"/>
          </p:cNvPicPr>
          <p:nvPr/>
        </p:nvPicPr>
        <p:blipFill>
          <a:blip r:embed="rId4"/>
          <a:stretch>
            <a:fillRect/>
          </a:stretch>
        </p:blipFill>
        <p:spPr>
          <a:xfrm>
            <a:off x="8415341" y="5822124"/>
            <a:ext cx="134549" cy="195707"/>
          </a:xfrm>
          <a:prstGeom prst="rect">
            <a:avLst/>
          </a:prstGeom>
        </p:spPr>
      </p:pic>
      <p:sp>
        <p:nvSpPr>
          <p:cNvPr id="28" name="TextBox 27"/>
          <p:cNvSpPr txBox="1"/>
          <p:nvPr/>
        </p:nvSpPr>
        <p:spPr>
          <a:xfrm>
            <a:off x="8590450" y="58323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image.png"/>
          <p:cNvPicPr>
            <a:picLocks noChangeAspect="1"/>
          </p:cNvPicPr>
          <p:nvPr/>
        </p:nvPicPr>
        <p:blipFill>
          <a:blip r:embed="rId4"/>
          <a:stretch>
            <a:fillRect/>
          </a:stretch>
        </p:blipFill>
        <p:spPr>
          <a:xfrm>
            <a:off x="9985593" y="5822124"/>
            <a:ext cx="134549" cy="195707"/>
          </a:xfrm>
          <a:prstGeom prst="rect">
            <a:avLst/>
          </a:prstGeom>
        </p:spPr>
      </p:pic>
      <p:sp>
        <p:nvSpPr>
          <p:cNvPr id="30" name="TextBox 29"/>
          <p:cNvSpPr txBox="1"/>
          <p:nvPr/>
        </p:nvSpPr>
        <p:spPr>
          <a:xfrm>
            <a:off x="10160702" y="5832347"/>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6007607"/>
            <a:ext cx="3806750" cy="194310"/>
          </a:xfrm>
          <a:prstGeom prst="rect">
            <a:avLst/>
          </a:prstGeom>
          <a:noFill/>
        </p:spPr>
        <p:txBody>
          <a:bodyPr wrap="none" lIns="0" rIns="0" tIns="0" bIns="0">
            <a:spAutoFit/>
          </a:bodyPr>
          <a:lstStyle/>
          <a:p>
            <a:r>
              <a:rPr sz="1150" b="0">
                <a:solidFill>
                  <a:srgbClr val="2E2E2E"/>
                </a:solidFill>
                <a:latin typeface="Calibri"/>
              </a:rPr>
              <a:t>film-forming and fixative polymers segment is expected to lose</a:t>
            </a:r>
          </a:p>
        </p:txBody>
      </p:sp>
      <p:pic>
        <p:nvPicPr>
          <p:cNvPr id="32" name="Picture 31" descr="image.png"/>
          <p:cNvPicPr>
            <a:picLocks noChangeAspect="1"/>
          </p:cNvPicPr>
          <p:nvPr/>
        </p:nvPicPr>
        <p:blipFill>
          <a:blip r:embed="rId4"/>
          <a:stretch>
            <a:fillRect/>
          </a:stretch>
        </p:blipFill>
        <p:spPr>
          <a:xfrm>
            <a:off x="4032129" y="5997384"/>
            <a:ext cx="134549" cy="195707"/>
          </a:xfrm>
          <a:prstGeom prst="rect">
            <a:avLst/>
          </a:prstGeom>
        </p:spPr>
      </p:pic>
      <p:sp>
        <p:nvSpPr>
          <p:cNvPr id="33" name="TextBox 32"/>
          <p:cNvSpPr txBox="1"/>
          <p:nvPr/>
        </p:nvSpPr>
        <p:spPr>
          <a:xfrm>
            <a:off x="4207238" y="60076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image.png"/>
          <p:cNvPicPr>
            <a:picLocks noChangeAspect="1"/>
          </p:cNvPicPr>
          <p:nvPr/>
        </p:nvPicPr>
        <p:blipFill>
          <a:blip r:embed="rId4"/>
          <a:stretch>
            <a:fillRect/>
          </a:stretch>
        </p:blipFill>
        <p:spPr>
          <a:xfrm>
            <a:off x="6794743" y="5997384"/>
            <a:ext cx="134549" cy="195707"/>
          </a:xfrm>
          <a:prstGeom prst="rect">
            <a:avLst/>
          </a:prstGeom>
        </p:spPr>
      </p:pic>
      <p:sp>
        <p:nvSpPr>
          <p:cNvPr id="35" name="TextBox 34"/>
          <p:cNvSpPr txBox="1"/>
          <p:nvPr/>
        </p:nvSpPr>
        <p:spPr>
          <a:xfrm>
            <a:off x="6969852" y="60076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Ingredient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Ingredient Technology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Ingredient Technology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219586"/>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1482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13862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Film-forming and Fixative Polymers</a:t>
            </a:r>
          </a:p>
        </p:txBody>
      </p:sp>
      <p:sp>
        <p:nvSpPr>
          <p:cNvPr id="19" name="BPS Value 1"/>
          <p:cNvSpPr txBox="1"/>
          <p:nvPr/>
        </p:nvSpPr>
        <p:spPr>
          <a:xfrm>
            <a:off x="6896100" y="220053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32317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31841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2422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Conditioning and Smoothing Agents</a:t>
            </a:r>
          </a:p>
        </p:txBody>
      </p:sp>
      <p:sp>
        <p:nvSpPr>
          <p:cNvPr id="23" name="BPS Value 2"/>
          <p:cNvSpPr txBox="1"/>
          <p:nvPr/>
        </p:nvSpPr>
        <p:spPr>
          <a:xfrm>
            <a:off x="6896100" y="330412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446874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446397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3877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Waxes and Structuring Agents</a:t>
            </a:r>
          </a:p>
        </p:txBody>
      </p:sp>
      <p:sp>
        <p:nvSpPr>
          <p:cNvPr id="27" name="BPS Value 3"/>
          <p:cNvSpPr txBox="1"/>
          <p:nvPr/>
        </p:nvSpPr>
        <p:spPr>
          <a:xfrm>
            <a:off x="6896100" y="44496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565133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56465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55703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Texture and Volume Additives</a:t>
            </a:r>
          </a:p>
        </p:txBody>
      </p:sp>
      <p:sp>
        <p:nvSpPr>
          <p:cNvPr id="31" name="BPS Value 4"/>
          <p:cNvSpPr txBox="1"/>
          <p:nvPr/>
        </p:nvSpPr>
        <p:spPr>
          <a:xfrm>
            <a:off x="6896100" y="563228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Ingredient Technology</a:t>
            </a:r>
          </a:p>
        </p:txBody>
      </p:sp>
      <p:sp>
        <p:nvSpPr>
          <p:cNvPr id="34" name="Rectangle 33"/>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6" name="TextBox 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 name="Picture 36" descr="lock.png"/>
          <p:cNvPicPr>
            <a:picLocks noChangeAspect="1"/>
          </p:cNvPicPr>
          <p:nvPr/>
        </p:nvPicPr>
        <p:blipFill>
          <a:blip r:embed="rId5"/>
          <a:stretch>
            <a:fillRect/>
          </a:stretch>
        </p:blipFill>
        <p:spPr>
          <a:xfrm>
            <a:off x="2557843" y="3833622"/>
            <a:ext cx="275034" cy="400050"/>
          </a:xfrm>
          <a:prstGeom prst="rect">
            <a:avLst/>
          </a:prstGeom>
        </p:spPr>
      </p:pic>
      <p:sp>
        <p:nvSpPr>
          <p:cNvPr id="38" name="TextBox 37"/>
          <p:cNvSpPr txBox="1"/>
          <p:nvPr/>
        </p:nvSpPr>
        <p:spPr>
          <a:xfrm>
            <a:off x="7829550" y="1400175"/>
            <a:ext cx="3949092" cy="194310"/>
          </a:xfrm>
          <a:prstGeom prst="rect">
            <a:avLst/>
          </a:prstGeom>
          <a:noFill/>
        </p:spPr>
        <p:txBody>
          <a:bodyPr wrap="none" lIns="0" rIns="0" tIns="0" bIns="0">
            <a:spAutoFit/>
          </a:bodyPr>
          <a:lstStyle/>
          <a:p>
            <a:r>
              <a:rPr sz="1150" b="0">
                <a:solidFill>
                  <a:srgbClr val="2E2E2E"/>
                </a:solidFill>
                <a:latin typeface="Calibri"/>
              </a:rPr>
              <a:t>Among hair styling products by ingredient technology, waxes and</a:t>
            </a:r>
          </a:p>
        </p:txBody>
      </p:sp>
      <p:sp>
        <p:nvSpPr>
          <p:cNvPr id="39" name="TextBox 38"/>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structuring agents segment is expected to witness the highest CAGR</a:t>
            </a:r>
          </a:p>
        </p:txBody>
      </p:sp>
      <p:sp>
        <p:nvSpPr>
          <p:cNvPr id="40" name="TextBox 39"/>
          <p:cNvSpPr txBox="1"/>
          <p:nvPr/>
        </p:nvSpPr>
        <p:spPr>
          <a:xfrm>
            <a:off x="782955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41" name="Picture 40" descr="lock.png"/>
          <p:cNvPicPr>
            <a:picLocks noChangeAspect="1"/>
          </p:cNvPicPr>
          <p:nvPr/>
        </p:nvPicPr>
        <p:blipFill>
          <a:blip r:embed="rId5"/>
          <a:stretch>
            <a:fillRect/>
          </a:stretch>
        </p:blipFill>
        <p:spPr>
          <a:xfrm>
            <a:off x="7976422" y="1740471"/>
            <a:ext cx="134549" cy="195707"/>
          </a:xfrm>
          <a:prstGeom prst="rect">
            <a:avLst/>
          </a:prstGeom>
        </p:spPr>
      </p:pic>
      <p:sp>
        <p:nvSpPr>
          <p:cNvPr id="42" name="TextBox 41"/>
          <p:cNvSpPr txBox="1"/>
          <p:nvPr/>
        </p:nvSpPr>
        <p:spPr>
          <a:xfrm>
            <a:off x="8151531"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43" name="TextBox 42"/>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ingredient technology, the texture and volume additives segment is</a:t>
            </a:r>
          </a:p>
        </p:txBody>
      </p:sp>
      <p:sp>
        <p:nvSpPr>
          <p:cNvPr id="44" name="TextBox 43"/>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45" name="Picture 44" descr="lock.png"/>
          <p:cNvPicPr>
            <a:picLocks noChangeAspect="1"/>
          </p:cNvPicPr>
          <p:nvPr/>
        </p:nvPicPr>
        <p:blipFill>
          <a:blip r:embed="rId5"/>
          <a:stretch>
            <a:fillRect/>
          </a:stretch>
        </p:blipFill>
        <p:spPr>
          <a:xfrm>
            <a:off x="10354013" y="2090991"/>
            <a:ext cx="134549" cy="195707"/>
          </a:xfrm>
          <a:prstGeom prst="rect">
            <a:avLst/>
          </a:prstGeom>
        </p:spPr>
      </p:pic>
      <p:sp>
        <p:nvSpPr>
          <p:cNvPr id="46" name="TextBox 45"/>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7" name="TextBox 46"/>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8" name="Picture 47" descr="lock.png"/>
          <p:cNvPicPr>
            <a:picLocks noChangeAspect="1"/>
          </p:cNvPicPr>
          <p:nvPr/>
        </p:nvPicPr>
        <p:blipFill>
          <a:blip r:embed="rId5"/>
          <a:stretch>
            <a:fillRect/>
          </a:stretch>
        </p:blipFill>
        <p:spPr>
          <a:xfrm>
            <a:off x="8027482" y="2266251"/>
            <a:ext cx="134549" cy="195707"/>
          </a:xfrm>
          <a:prstGeom prst="rect">
            <a:avLst/>
          </a:prstGeom>
        </p:spPr>
      </p:pic>
      <p:sp>
        <p:nvSpPr>
          <p:cNvPr id="49" name="TextBox 48"/>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TextBox 49"/>
          <p:cNvSpPr txBox="1"/>
          <p:nvPr/>
        </p:nvSpPr>
        <p:spPr>
          <a:xfrm>
            <a:off x="7829550" y="2504313"/>
            <a:ext cx="4057650" cy="194310"/>
          </a:xfrm>
          <a:prstGeom prst="rect">
            <a:avLst/>
          </a:prstGeom>
          <a:noFill/>
        </p:spPr>
        <p:txBody>
          <a:bodyPr wrap="none" lIns="0" rIns="0" tIns="0" bIns="0">
            <a:spAutoFit/>
          </a:bodyPr>
          <a:lstStyle/>
          <a:p>
            <a:r>
              <a:rPr sz="1150" b="0">
                <a:solidFill>
                  <a:srgbClr val="2E2E2E"/>
                </a:solidFill>
                <a:latin typeface="Calibri"/>
              </a:rPr>
              <a:t>The film-forming and fixative polymers segment is expected to lose</a:t>
            </a:r>
          </a:p>
        </p:txBody>
      </p:sp>
      <p:pic>
        <p:nvPicPr>
          <p:cNvPr id="51" name="Picture 50" descr="lock.png"/>
          <p:cNvPicPr>
            <a:picLocks noChangeAspect="1"/>
          </p:cNvPicPr>
          <p:nvPr/>
        </p:nvPicPr>
        <p:blipFill>
          <a:blip r:embed="rId5"/>
          <a:stretch>
            <a:fillRect/>
          </a:stretch>
        </p:blipFill>
        <p:spPr>
          <a:xfrm>
            <a:off x="7815470" y="2669349"/>
            <a:ext cx="134549" cy="195707"/>
          </a:xfrm>
          <a:prstGeom prst="rect">
            <a:avLst/>
          </a:prstGeom>
        </p:spPr>
      </p:pic>
      <p:sp>
        <p:nvSpPr>
          <p:cNvPr id="52" name="TextBox 51"/>
          <p:cNvSpPr txBox="1"/>
          <p:nvPr/>
        </p:nvSpPr>
        <p:spPr>
          <a:xfrm>
            <a:off x="7990579"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3" name="Picture 52" descr="lock.png"/>
          <p:cNvPicPr>
            <a:picLocks noChangeAspect="1"/>
          </p:cNvPicPr>
          <p:nvPr/>
        </p:nvPicPr>
        <p:blipFill>
          <a:blip r:embed="rId5"/>
          <a:stretch>
            <a:fillRect/>
          </a:stretch>
        </p:blipFill>
        <p:spPr>
          <a:xfrm>
            <a:off x="10578084" y="2669349"/>
            <a:ext cx="134549" cy="195707"/>
          </a:xfrm>
          <a:prstGeom prst="rect">
            <a:avLst/>
          </a:prstGeom>
        </p:spPr>
      </p:pic>
      <p:sp>
        <p:nvSpPr>
          <p:cNvPr id="54" name="TextBox 53"/>
          <p:cNvSpPr txBox="1"/>
          <p:nvPr/>
        </p:nvSpPr>
        <p:spPr>
          <a:xfrm>
            <a:off x="1075319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1807210"/>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211201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274060"/>
            <a:ext cx="7124700" cy="32054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Hold Level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Finish</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Distribution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Primary Styling Benefit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Hair Type Targeted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Ingredient Technology</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Summary, By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(MN UNITS)</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(Mn Units)</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5" name="Rounded Rectangle 24"/>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848100" cy="186689"/>
          </a:xfrm>
          <a:prstGeom prst="rect">
            <a:avLst/>
          </a:prstGeom>
          <a:noFill/>
        </p:spPr>
        <p:txBody>
          <a:bodyPr wrap="none" lIns="0" rIns="0" tIns="0" bIns="0">
            <a:spAutoFit/>
          </a:bodyPr>
          <a:lstStyle/>
          <a:p>
            <a:r>
              <a:rPr sz="1100" b="0">
                <a:solidFill>
                  <a:srgbClr val="2E2E2E"/>
                </a:solidFill>
                <a:latin typeface="Calibri"/>
              </a:rPr>
              <a:t>North America hair styling products market is projected to register</a:t>
            </a:r>
          </a:p>
        </p:txBody>
      </p:sp>
      <p:pic>
        <p:nvPicPr>
          <p:cNvPr id="36" name="Picture 35" descr="lock.png"/>
          <p:cNvPicPr>
            <a:picLocks noChangeAspect="1"/>
          </p:cNvPicPr>
          <p:nvPr/>
        </p:nvPicPr>
        <p:blipFill>
          <a:blip r:embed="rId6"/>
          <a:stretch>
            <a:fillRect/>
          </a:stretch>
        </p:blipFill>
        <p:spPr>
          <a:xfrm>
            <a:off x="8035157" y="2204848"/>
            <a:ext cx="128699" cy="187198"/>
          </a:xfrm>
          <a:prstGeom prst="rect">
            <a:avLst/>
          </a:prstGeom>
        </p:spPr>
      </p:pic>
      <p:sp>
        <p:nvSpPr>
          <p:cNvPr id="37" name="TextBox 36"/>
          <p:cNvSpPr txBox="1"/>
          <p:nvPr/>
        </p:nvSpPr>
        <p:spPr>
          <a:xfrm>
            <a:off x="8202653" y="2214627"/>
            <a:ext cx="3679750"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 North</a:t>
            </a:r>
          </a:p>
        </p:txBody>
      </p:sp>
      <p:sp>
        <p:nvSpPr>
          <p:cNvPr id="38" name="TextBox 37"/>
          <p:cNvSpPr txBox="1"/>
          <p:nvPr/>
        </p:nvSpPr>
        <p:spPr>
          <a:xfrm>
            <a:off x="8048625" y="2382267"/>
            <a:ext cx="3126680" cy="186689"/>
          </a:xfrm>
          <a:prstGeom prst="rect">
            <a:avLst/>
          </a:prstGeom>
          <a:noFill/>
        </p:spPr>
        <p:txBody>
          <a:bodyPr wrap="none" lIns="0" rIns="0" tIns="0" bIns="0">
            <a:spAutoFit/>
          </a:bodyPr>
          <a:lstStyle/>
          <a:p>
            <a:r>
              <a:rPr sz="1100" b="0">
                <a:solidFill>
                  <a:srgbClr val="2E2E2E"/>
                </a:solidFill>
                <a:latin typeface="Calibri"/>
              </a:rPr>
              <a:t>America hair styling products market volume stood at</a:t>
            </a:r>
          </a:p>
        </p:txBody>
      </p:sp>
      <p:pic>
        <p:nvPicPr>
          <p:cNvPr id="39" name="Picture 38" descr="lock.png"/>
          <p:cNvPicPr>
            <a:picLocks noChangeAspect="1"/>
          </p:cNvPicPr>
          <p:nvPr/>
        </p:nvPicPr>
        <p:blipFill>
          <a:blip r:embed="rId6"/>
          <a:stretch>
            <a:fillRect/>
          </a:stretch>
        </p:blipFill>
        <p:spPr>
          <a:xfrm>
            <a:off x="11123357" y="2372488"/>
            <a:ext cx="128699" cy="187198"/>
          </a:xfrm>
          <a:prstGeom prst="rect">
            <a:avLst/>
          </a:prstGeom>
        </p:spPr>
      </p:pic>
      <p:sp>
        <p:nvSpPr>
          <p:cNvPr id="40" name="TextBox 39"/>
          <p:cNvSpPr txBox="1"/>
          <p:nvPr/>
        </p:nvSpPr>
        <p:spPr>
          <a:xfrm>
            <a:off x="11290852" y="2382267"/>
            <a:ext cx="597619" cy="186689"/>
          </a:xfrm>
          <a:prstGeom prst="rect">
            <a:avLst/>
          </a:prstGeom>
          <a:noFill/>
        </p:spPr>
        <p:txBody>
          <a:bodyPr wrap="none" lIns="0" rIns="0" tIns="0" bIns="0">
            <a:spAutoFit/>
          </a:bodyPr>
          <a:lstStyle/>
          <a:p>
            <a:r>
              <a:rPr sz="1100" b="0">
                <a:solidFill>
                  <a:srgbClr val="2E2E2E"/>
                </a:solidFill>
                <a:latin typeface="Calibri"/>
              </a:rPr>
              <a:t>Mn Units</a:t>
            </a:r>
          </a:p>
        </p:txBody>
      </p:sp>
      <p:sp>
        <p:nvSpPr>
          <p:cNvPr id="41" name="TextBox 40"/>
          <p:cNvSpPr txBox="1"/>
          <p:nvPr/>
        </p:nvSpPr>
        <p:spPr>
          <a:xfrm>
            <a:off x="8048625" y="2549907"/>
            <a:ext cx="1916583" cy="186689"/>
          </a:xfrm>
          <a:prstGeom prst="rect">
            <a:avLst/>
          </a:prstGeom>
          <a:noFill/>
        </p:spPr>
        <p:txBody>
          <a:bodyPr wrap="none" lIns="0" rIns="0" tIns="0" bIns="0">
            <a:spAutoFit/>
          </a:bodyPr>
          <a:lstStyle/>
          <a:p>
            <a:r>
              <a:rPr sz="1100" b="0">
                <a:solidFill>
                  <a:srgbClr val="2E2E2E"/>
                </a:solidFill>
                <a:latin typeface="Calibri"/>
              </a:rPr>
              <a:t>in 2025 and is expected to reach</a:t>
            </a:r>
          </a:p>
        </p:txBody>
      </p:sp>
      <p:pic>
        <p:nvPicPr>
          <p:cNvPr id="42" name="Picture 41" descr="lock.png"/>
          <p:cNvPicPr>
            <a:picLocks noChangeAspect="1"/>
          </p:cNvPicPr>
          <p:nvPr/>
        </p:nvPicPr>
        <p:blipFill>
          <a:blip r:embed="rId6"/>
          <a:stretch>
            <a:fillRect/>
          </a:stretch>
        </p:blipFill>
        <p:spPr>
          <a:xfrm>
            <a:off x="9913260" y="2540128"/>
            <a:ext cx="128699" cy="187198"/>
          </a:xfrm>
          <a:prstGeom prst="rect">
            <a:avLst/>
          </a:prstGeom>
        </p:spPr>
      </p:pic>
      <p:sp>
        <p:nvSpPr>
          <p:cNvPr id="43" name="TextBox 42"/>
          <p:cNvSpPr txBox="1"/>
          <p:nvPr/>
        </p:nvSpPr>
        <p:spPr>
          <a:xfrm>
            <a:off x="10080756" y="2549907"/>
            <a:ext cx="1608261" cy="186689"/>
          </a:xfrm>
          <a:prstGeom prst="rect">
            <a:avLst/>
          </a:prstGeom>
          <a:noFill/>
        </p:spPr>
        <p:txBody>
          <a:bodyPr wrap="none" lIns="0" rIns="0" tIns="0" bIns="0">
            <a:spAutoFit/>
          </a:bodyPr>
          <a:lstStyle/>
          <a:p>
            <a:r>
              <a:rPr sz="1100" b="0">
                <a:solidFill>
                  <a:srgbClr val="2E2E2E"/>
                </a:solidFill>
                <a:latin typeface="Calibri"/>
              </a:rPr>
              <a:t>Mn Units by 2036 end, at a</a:t>
            </a:r>
          </a:p>
        </p:txBody>
      </p:sp>
      <p:sp>
        <p:nvSpPr>
          <p:cNvPr id="44" name="TextBox 43"/>
          <p:cNvSpPr txBox="1"/>
          <p:nvPr/>
        </p:nvSpPr>
        <p:spPr>
          <a:xfrm>
            <a:off x="8048625" y="271754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45" name="Picture 44" descr="lock.png"/>
          <p:cNvPicPr>
            <a:picLocks noChangeAspect="1"/>
          </p:cNvPicPr>
          <p:nvPr/>
        </p:nvPicPr>
        <p:blipFill>
          <a:blip r:embed="rId6"/>
          <a:stretch>
            <a:fillRect/>
          </a:stretch>
        </p:blipFill>
        <p:spPr>
          <a:xfrm>
            <a:off x="8539981" y="2707768"/>
            <a:ext cx="128699" cy="187198"/>
          </a:xfrm>
          <a:prstGeom prst="rect">
            <a:avLst/>
          </a:prstGeom>
        </p:spPr>
      </p:pic>
      <p:sp>
        <p:nvSpPr>
          <p:cNvPr id="46" name="TextBox 45"/>
          <p:cNvSpPr txBox="1"/>
          <p:nvPr/>
        </p:nvSpPr>
        <p:spPr>
          <a:xfrm>
            <a:off x="8707477"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0" name="Picture 49" descr="lock.png"/>
          <p:cNvPicPr>
            <a:picLocks noChangeAspect="1"/>
          </p:cNvPicPr>
          <p:nvPr/>
        </p:nvPicPr>
        <p:blipFill>
          <a:blip r:embed="rId6"/>
          <a:stretch>
            <a:fillRect/>
          </a:stretch>
        </p:blipFill>
        <p:spPr>
          <a:xfrm>
            <a:off x="10136079" y="4446251"/>
            <a:ext cx="134549" cy="195707"/>
          </a:xfrm>
          <a:prstGeom prst="rect">
            <a:avLst/>
          </a:prstGeom>
        </p:spPr>
      </p:pic>
      <p:sp>
        <p:nvSpPr>
          <p:cNvPr id="51" name="TextBox 50"/>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788779" cy="194310"/>
          </a:xfrm>
          <a:prstGeom prst="rect">
            <a:avLst/>
          </a:prstGeom>
          <a:noFill/>
        </p:spPr>
        <p:txBody>
          <a:bodyPr wrap="none" lIns="0" rIns="0" tIns="0" bIns="0">
            <a:spAutoFit/>
          </a:bodyPr>
          <a:lstStyle/>
          <a:p>
            <a:r>
              <a:rPr sz="1150" b="0">
                <a:solidFill>
                  <a:srgbClr val="2E2E2E"/>
                </a:solidFill>
                <a:latin typeface="Calibri"/>
              </a:rPr>
              <a:t>▪ Demand concentrates in 'Creams and Lotions' within Product</a:t>
            </a:r>
          </a:p>
        </p:txBody>
      </p:sp>
      <p:sp>
        <p:nvSpPr>
          <p:cNvPr id="53" name="TextBox 52"/>
          <p:cNvSpPr txBox="1"/>
          <p:nvPr/>
        </p:nvSpPr>
        <p:spPr>
          <a:xfrm>
            <a:off x="8048625" y="4859572"/>
            <a:ext cx="543699" cy="194310"/>
          </a:xfrm>
          <a:prstGeom prst="rect">
            <a:avLst/>
          </a:prstGeom>
          <a:noFill/>
        </p:spPr>
        <p:txBody>
          <a:bodyPr wrap="none" lIns="0" rIns="0" tIns="0" bIns="0">
            <a:spAutoFit/>
          </a:bodyPr>
          <a:lstStyle/>
          <a:p>
            <a:r>
              <a:rPr sz="1150" b="0">
                <a:solidFill>
                  <a:srgbClr val="2E2E2E"/>
                </a:solidFill>
                <a:latin typeface="Calibri"/>
              </a:rPr>
              <a:t>Format.</a:t>
            </a:r>
          </a:p>
        </p:txBody>
      </p:sp>
      <p:sp>
        <p:nvSpPr>
          <p:cNvPr id="54" name="TextBox 53"/>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5" name="TextBox 54"/>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6"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Format  ·  range across 2021–2036 (US$/Units)</a:t>
            </a:r>
          </a:p>
        </p:txBody>
      </p:sp>
      <p:cxnSp>
        <p:nvCxnSpPr>
          <p:cNvPr id="13" name="Connector 12"/>
          <p:cNvCxnSpPr/>
          <p:nvPr/>
        </p:nvCxnSpPr>
        <p:spPr>
          <a:xfrm>
            <a:off x="657225" y="310071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68877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227683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86488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7225" y="1452945"/>
            <a:ext cx="0" cy="164777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310071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68877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227683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86488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4" name="FMI Scale tick"/>
          <p:cNvSpPr txBox="1"/>
          <p:nvPr/>
        </p:nvSpPr>
        <p:spPr>
          <a:xfrm>
            <a:off x="219075" y="303404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5" name="FMI Scale tick"/>
          <p:cNvSpPr txBox="1"/>
          <p:nvPr/>
        </p:nvSpPr>
        <p:spPr>
          <a:xfrm>
            <a:off x="219075" y="2210155"/>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sp>
        <p:nvSpPr>
          <p:cNvPr id="26"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C7A89"/>
                </a:solidFill>
                <a:latin typeface="Calibri"/>
              </a:rPr>
              <a:t/>
            </a:r>
          </a:p>
        </p:txBody>
      </p:sp>
      <p:cxnSp>
        <p:nvCxnSpPr>
          <p:cNvPr id="27" name="Connector 26"/>
          <p:cNvCxnSpPr/>
          <p:nvPr/>
        </p:nvCxnSpPr>
        <p:spPr>
          <a:xfrm flipV="1">
            <a:off x="1095375" y="2439677"/>
            <a:ext cx="0" cy="15274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3930" y="259242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3930" y="243967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76300" y="2501918"/>
            <a:ext cx="438150" cy="7761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76300" y="254860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7225" y="228727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3" name="Connector 32"/>
          <p:cNvCxnSpPr/>
          <p:nvPr/>
        </p:nvCxnSpPr>
        <p:spPr>
          <a:xfrm flipV="1">
            <a:off x="1971675" y="2773588"/>
            <a:ext cx="0" cy="13700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840230" y="2910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840230" y="277358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752600" y="2829572"/>
            <a:ext cx="438150" cy="6935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1752600" y="287129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533525" y="2621188"/>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9" name="Connector 38"/>
          <p:cNvCxnSpPr/>
          <p:nvPr/>
        </p:nvCxnSpPr>
        <p:spPr>
          <a:xfrm flipV="1">
            <a:off x="2847975" y="2768435"/>
            <a:ext cx="0" cy="11661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716530" y="288505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716530" y="276843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628900" y="2814835"/>
            <a:ext cx="438150" cy="59347"/>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628900" y="284966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409825" y="2616035"/>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45" name="Connector 44"/>
          <p:cNvCxnSpPr/>
          <p:nvPr/>
        </p:nvCxnSpPr>
        <p:spPr>
          <a:xfrm flipV="1">
            <a:off x="3724275" y="2403845"/>
            <a:ext cx="0" cy="23739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592830" y="264123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592830" y="240384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3505200" y="2495585"/>
            <a:ext cx="438150" cy="12232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3505200" y="2565873"/>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286125" y="2251445"/>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1" name="Connector 50"/>
          <p:cNvCxnSpPr/>
          <p:nvPr/>
        </p:nvCxnSpPr>
        <p:spPr>
          <a:xfrm flipV="1">
            <a:off x="4600575" y="2118087"/>
            <a:ext cx="0" cy="20887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469130" y="232696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469130" y="211808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4381500" y="2195587"/>
            <a:ext cx="438150" cy="11518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4381500" y="226042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162425" y="1965687"/>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57" name="Connector 56"/>
          <p:cNvCxnSpPr/>
          <p:nvPr/>
        </p:nvCxnSpPr>
        <p:spPr>
          <a:xfrm flipV="1">
            <a:off x="5476875" y="2385066"/>
            <a:ext cx="0" cy="8778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5430" y="247285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345430" y="238506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5257800" y="2417839"/>
            <a:ext cx="438150" cy="4707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5257800" y="244475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38725" y="2232666"/>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3" name="Connector 62"/>
          <p:cNvCxnSpPr/>
          <p:nvPr/>
        </p:nvCxnSpPr>
        <p:spPr>
          <a:xfrm flipV="1">
            <a:off x="6353175" y="1643073"/>
            <a:ext cx="0" cy="33718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221730" y="198026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221730" y="16430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6134100" y="1790476"/>
            <a:ext cx="438150" cy="164636"/>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6134100" y="188902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915025" y="1490673"/>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69" name="Connector 68"/>
          <p:cNvCxnSpPr/>
          <p:nvPr/>
        </p:nvCxnSpPr>
        <p:spPr>
          <a:xfrm flipV="1">
            <a:off x="7229475" y="1899346"/>
            <a:ext cx="0" cy="29255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098030" y="219189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098030" y="189934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7010400" y="2006450"/>
            <a:ext cx="438150" cy="15364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7010400" y="2093709"/>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791325" y="1746946"/>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75" name="TextBox 74"/>
          <p:cNvSpPr txBox="1"/>
          <p:nvPr/>
        </p:nvSpPr>
        <p:spPr>
          <a:xfrm>
            <a:off x="6572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Sprays and Mists</a:t>
            </a:r>
          </a:p>
        </p:txBody>
      </p:sp>
      <p:sp>
        <p:nvSpPr>
          <p:cNvPr id="76" name="TextBox 75"/>
          <p:cNvSpPr txBox="1"/>
          <p:nvPr/>
        </p:nvSpPr>
        <p:spPr>
          <a:xfrm>
            <a:off x="15335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Mousses and Foams</a:t>
            </a:r>
          </a:p>
        </p:txBody>
      </p:sp>
      <p:sp>
        <p:nvSpPr>
          <p:cNvPr id="77" name="TextBox 76"/>
          <p:cNvSpPr txBox="1"/>
          <p:nvPr/>
        </p:nvSpPr>
        <p:spPr>
          <a:xfrm>
            <a:off x="24098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Gels and Jellies</a:t>
            </a:r>
          </a:p>
        </p:txBody>
      </p:sp>
      <p:sp>
        <p:nvSpPr>
          <p:cNvPr id="78" name="TextBox 77"/>
          <p:cNvSpPr txBox="1"/>
          <p:nvPr/>
        </p:nvSpPr>
        <p:spPr>
          <a:xfrm>
            <a:off x="32861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Creams and Lotions</a:t>
            </a:r>
          </a:p>
        </p:txBody>
      </p:sp>
      <p:sp>
        <p:nvSpPr>
          <p:cNvPr id="79" name="TextBox 78"/>
          <p:cNvSpPr txBox="1"/>
          <p:nvPr/>
        </p:nvSpPr>
        <p:spPr>
          <a:xfrm>
            <a:off x="41624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Waxes, Clays, Pastes…</a:t>
            </a:r>
          </a:p>
        </p:txBody>
      </p:sp>
      <p:sp>
        <p:nvSpPr>
          <p:cNvPr id="80" name="TextBox 79"/>
          <p:cNvSpPr txBox="1"/>
          <p:nvPr/>
        </p:nvSpPr>
        <p:spPr>
          <a:xfrm>
            <a:off x="50387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Powders</a:t>
            </a:r>
          </a:p>
        </p:txBody>
      </p:sp>
      <p:sp>
        <p:nvSpPr>
          <p:cNvPr id="81" name="TextBox 80"/>
          <p:cNvSpPr txBox="1"/>
          <p:nvPr/>
        </p:nvSpPr>
        <p:spPr>
          <a:xfrm>
            <a:off x="59150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Serums and Oils</a:t>
            </a:r>
          </a:p>
        </p:txBody>
      </p:sp>
      <p:sp>
        <p:nvSpPr>
          <p:cNvPr id="82" name="TextBox 81"/>
          <p:cNvSpPr txBox="1"/>
          <p:nvPr/>
        </p:nvSpPr>
        <p:spPr>
          <a:xfrm>
            <a:off x="6791325" y="3129290"/>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Sticks and Balms</a:t>
            </a:r>
          </a:p>
        </p:txBody>
      </p:sp>
      <p:sp>
        <p:nvSpPr>
          <p:cNvPr id="83" name="Rounded Rectangle 82"/>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85" name="Connector 84"/>
          <p:cNvCxnSpPr/>
          <p:nvPr/>
        </p:nvCxnSpPr>
        <p:spPr>
          <a:xfrm>
            <a:off x="619125" y="430367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19125" y="474839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19125" y="563783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19125" y="608256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19125" y="4303670"/>
            <a:ext cx="0" cy="1778891"/>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90550" y="430367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90550" y="474839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90550" y="563783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90550" y="608256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96" name="FMI Scale tick"/>
          <p:cNvSpPr txBox="1"/>
          <p:nvPr/>
        </p:nvSpPr>
        <p:spPr>
          <a:xfrm>
            <a:off x="138112" y="4236995"/>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+1.8%</a:t>
            </a:r>
          </a:p>
        </p:txBody>
      </p:sp>
      <p:sp>
        <p:nvSpPr>
          <p:cNvPr id="97" name="FMI Scale tick"/>
          <p:cNvSpPr txBox="1"/>
          <p:nvPr/>
        </p:nvSpPr>
        <p:spPr>
          <a:xfrm>
            <a:off x="138112" y="4681718"/>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+0.9%</a:t>
            </a:r>
          </a:p>
        </p:txBody>
      </p:sp>
      <p:sp>
        <p:nvSpPr>
          <p:cNvPr id="98"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99" name="FMI Scale tick"/>
          <p:cNvSpPr txBox="1"/>
          <p:nvPr/>
        </p:nvSpPr>
        <p:spPr>
          <a:xfrm>
            <a:off x="164306" y="5571164"/>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-0.9%</a:t>
            </a:r>
          </a:p>
        </p:txBody>
      </p:sp>
      <p:sp>
        <p:nvSpPr>
          <p:cNvPr id="100" name="FMI Scale tick"/>
          <p:cNvSpPr txBox="1"/>
          <p:nvPr/>
        </p:nvSpPr>
        <p:spPr>
          <a:xfrm>
            <a:off x="164306" y="6015886"/>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-1.8%</a:t>
            </a:r>
          </a:p>
        </p:txBody>
      </p:sp>
      <p:cxnSp>
        <p:nvCxnSpPr>
          <p:cNvPr id="101" name="Connector 100"/>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2152650" y="5114175"/>
            <a:ext cx="457200" cy="7894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MI Data Label"/>
          <p:cNvSpPr txBox="1"/>
          <p:nvPr/>
        </p:nvSpPr>
        <p:spPr>
          <a:xfrm>
            <a:off x="619125" y="4971300"/>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4" name="Rectangle 103"/>
          <p:cNvSpPr/>
          <p:nvPr/>
        </p:nvSpPr>
        <p:spPr>
          <a:xfrm>
            <a:off x="5676900" y="5193116"/>
            <a:ext cx="457200" cy="75582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MI Data Label"/>
          <p:cNvSpPr txBox="1"/>
          <p:nvPr/>
        </p:nvSpPr>
        <p:spPr>
          <a:xfrm>
            <a:off x="4143375" y="5958470"/>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106" name="TextBox 105"/>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107" name="TextBox 106"/>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108" name="Rounded Rectangle 107"/>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10" name="Rectangle 109"/>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2" name="TextBox 1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3" name="Picture 112" descr="lock.png"/>
          <p:cNvPicPr>
            <a:picLocks noChangeAspect="1"/>
          </p:cNvPicPr>
          <p:nvPr/>
        </p:nvPicPr>
        <p:blipFill>
          <a:blip r:embed="rId4"/>
          <a:stretch>
            <a:fillRect/>
          </a:stretch>
        </p:blipFill>
        <p:spPr>
          <a:xfrm>
            <a:off x="1031025" y="2260353"/>
            <a:ext cx="128699" cy="187198"/>
          </a:xfrm>
          <a:prstGeom prst="rect">
            <a:avLst/>
          </a:prstGeom>
        </p:spPr>
      </p:pic>
      <p:pic>
        <p:nvPicPr>
          <p:cNvPr id="114" name="Picture 113" descr="lock.png"/>
          <p:cNvPicPr>
            <a:picLocks noChangeAspect="1"/>
          </p:cNvPicPr>
          <p:nvPr/>
        </p:nvPicPr>
        <p:blipFill>
          <a:blip r:embed="rId4"/>
          <a:stretch>
            <a:fillRect/>
          </a:stretch>
        </p:blipFill>
        <p:spPr>
          <a:xfrm>
            <a:off x="1907325" y="2594264"/>
            <a:ext cx="128699" cy="187198"/>
          </a:xfrm>
          <a:prstGeom prst="rect">
            <a:avLst/>
          </a:prstGeom>
        </p:spPr>
      </p:pic>
      <p:pic>
        <p:nvPicPr>
          <p:cNvPr id="115" name="Picture 114" descr="lock.png"/>
          <p:cNvPicPr>
            <a:picLocks noChangeAspect="1"/>
          </p:cNvPicPr>
          <p:nvPr/>
        </p:nvPicPr>
        <p:blipFill>
          <a:blip r:embed="rId4"/>
          <a:stretch>
            <a:fillRect/>
          </a:stretch>
        </p:blipFill>
        <p:spPr>
          <a:xfrm>
            <a:off x="2783625" y="2589111"/>
            <a:ext cx="128699" cy="187198"/>
          </a:xfrm>
          <a:prstGeom prst="rect">
            <a:avLst/>
          </a:prstGeom>
        </p:spPr>
      </p:pic>
      <p:pic>
        <p:nvPicPr>
          <p:cNvPr id="116" name="Picture 115" descr="lock.png"/>
          <p:cNvPicPr>
            <a:picLocks noChangeAspect="1"/>
          </p:cNvPicPr>
          <p:nvPr/>
        </p:nvPicPr>
        <p:blipFill>
          <a:blip r:embed="rId4"/>
          <a:stretch>
            <a:fillRect/>
          </a:stretch>
        </p:blipFill>
        <p:spPr>
          <a:xfrm>
            <a:off x="3659925" y="2224521"/>
            <a:ext cx="128699" cy="187198"/>
          </a:xfrm>
          <a:prstGeom prst="rect">
            <a:avLst/>
          </a:prstGeom>
        </p:spPr>
      </p:pic>
      <p:pic>
        <p:nvPicPr>
          <p:cNvPr id="117" name="Picture 116" descr="lock.png"/>
          <p:cNvPicPr>
            <a:picLocks noChangeAspect="1"/>
          </p:cNvPicPr>
          <p:nvPr/>
        </p:nvPicPr>
        <p:blipFill>
          <a:blip r:embed="rId4"/>
          <a:stretch>
            <a:fillRect/>
          </a:stretch>
        </p:blipFill>
        <p:spPr>
          <a:xfrm>
            <a:off x="4536225" y="1938763"/>
            <a:ext cx="128699" cy="187198"/>
          </a:xfrm>
          <a:prstGeom prst="rect">
            <a:avLst/>
          </a:prstGeom>
        </p:spPr>
      </p:pic>
      <p:pic>
        <p:nvPicPr>
          <p:cNvPr id="118" name="Picture 117" descr="lock.png"/>
          <p:cNvPicPr>
            <a:picLocks noChangeAspect="1"/>
          </p:cNvPicPr>
          <p:nvPr/>
        </p:nvPicPr>
        <p:blipFill>
          <a:blip r:embed="rId4"/>
          <a:stretch>
            <a:fillRect/>
          </a:stretch>
        </p:blipFill>
        <p:spPr>
          <a:xfrm>
            <a:off x="5412525" y="2205742"/>
            <a:ext cx="128699" cy="187198"/>
          </a:xfrm>
          <a:prstGeom prst="rect">
            <a:avLst/>
          </a:prstGeom>
        </p:spPr>
      </p:pic>
      <p:pic>
        <p:nvPicPr>
          <p:cNvPr id="119" name="Picture 118" descr="lock.png"/>
          <p:cNvPicPr>
            <a:picLocks noChangeAspect="1"/>
          </p:cNvPicPr>
          <p:nvPr/>
        </p:nvPicPr>
        <p:blipFill>
          <a:blip r:embed="rId4"/>
          <a:stretch>
            <a:fillRect/>
          </a:stretch>
        </p:blipFill>
        <p:spPr>
          <a:xfrm>
            <a:off x="6288825" y="1463749"/>
            <a:ext cx="128699" cy="187198"/>
          </a:xfrm>
          <a:prstGeom prst="rect">
            <a:avLst/>
          </a:prstGeom>
        </p:spPr>
      </p:pic>
      <p:pic>
        <p:nvPicPr>
          <p:cNvPr id="120" name="Picture 119" descr="lock.png"/>
          <p:cNvPicPr>
            <a:picLocks noChangeAspect="1"/>
          </p:cNvPicPr>
          <p:nvPr/>
        </p:nvPicPr>
        <p:blipFill>
          <a:blip r:embed="rId4"/>
          <a:stretch>
            <a:fillRect/>
          </a:stretch>
        </p:blipFill>
        <p:spPr>
          <a:xfrm>
            <a:off x="7165125" y="1720022"/>
            <a:ext cx="128699" cy="187198"/>
          </a:xfrm>
          <a:prstGeom prst="rect">
            <a:avLst/>
          </a:prstGeom>
        </p:spPr>
      </p:pic>
      <p:pic>
        <p:nvPicPr>
          <p:cNvPr id="121" name="Picture 120" descr="lock.png"/>
          <p:cNvPicPr>
            <a:picLocks noChangeAspect="1"/>
          </p:cNvPicPr>
          <p:nvPr/>
        </p:nvPicPr>
        <p:blipFill>
          <a:blip r:embed="rId4"/>
          <a:stretch>
            <a:fillRect/>
          </a:stretch>
        </p:blipFill>
        <p:spPr>
          <a:xfrm>
            <a:off x="2316900" y="4944376"/>
            <a:ext cx="128699" cy="187198"/>
          </a:xfrm>
          <a:prstGeom prst="rect">
            <a:avLst/>
          </a:prstGeom>
        </p:spPr>
      </p:pic>
      <p:pic>
        <p:nvPicPr>
          <p:cNvPr id="122" name="Picture 121" descr="lock.png"/>
          <p:cNvPicPr>
            <a:picLocks noChangeAspect="1"/>
          </p:cNvPicPr>
          <p:nvPr/>
        </p:nvPicPr>
        <p:blipFill>
          <a:blip r:embed="rId4"/>
          <a:stretch>
            <a:fillRect/>
          </a:stretch>
        </p:blipFill>
        <p:spPr>
          <a:xfrm>
            <a:off x="5841150" y="5931546"/>
            <a:ext cx="128699" cy="187198"/>
          </a:xfrm>
          <a:prstGeom prst="rect">
            <a:avLst/>
          </a:prstGeom>
        </p:spPr>
      </p:pic>
      <p:sp>
        <p:nvSpPr>
          <p:cNvPr id="123" name="TextBox 122"/>
          <p:cNvSpPr txBox="1"/>
          <p:nvPr/>
        </p:nvSpPr>
        <p:spPr>
          <a:xfrm>
            <a:off x="8048625" y="1471995"/>
            <a:ext cx="3695786" cy="194310"/>
          </a:xfrm>
          <a:prstGeom prst="rect">
            <a:avLst/>
          </a:prstGeom>
          <a:noFill/>
        </p:spPr>
        <p:txBody>
          <a:bodyPr wrap="none" lIns="0" rIns="0" tIns="0" bIns="0">
            <a:spAutoFit/>
          </a:bodyPr>
          <a:lstStyle/>
          <a:p>
            <a:r>
              <a:rPr sz="1150" b="0">
                <a:solidFill>
                  <a:srgbClr val="2E2E2E"/>
                </a:solidFill>
                <a:latin typeface="Calibri"/>
              </a:rPr>
              <a:t>Styling serums and oils segment is expected to command the</a:t>
            </a:r>
          </a:p>
        </p:txBody>
      </p:sp>
      <p:sp>
        <p:nvSpPr>
          <p:cNvPr id="124" name="TextBox 123"/>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25" name="Picture 124" descr="lock.png"/>
          <p:cNvPicPr>
            <a:picLocks noChangeAspect="1"/>
          </p:cNvPicPr>
          <p:nvPr/>
        </p:nvPicPr>
        <p:blipFill>
          <a:blip r:embed="rId4"/>
          <a:stretch>
            <a:fillRect/>
          </a:stretch>
        </p:blipFill>
        <p:spPr>
          <a:xfrm>
            <a:off x="9764678" y="1637031"/>
            <a:ext cx="134549" cy="195707"/>
          </a:xfrm>
          <a:prstGeom prst="rect">
            <a:avLst/>
          </a:prstGeom>
        </p:spPr>
      </p:pic>
      <p:sp>
        <p:nvSpPr>
          <p:cNvPr id="126" name="TextBox 125"/>
          <p:cNvSpPr txBox="1"/>
          <p:nvPr/>
        </p:nvSpPr>
        <p:spPr>
          <a:xfrm>
            <a:off x="9939788"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27" name="TextBox 126"/>
          <p:cNvSpPr txBox="1"/>
          <p:nvPr/>
        </p:nvSpPr>
        <p:spPr>
          <a:xfrm>
            <a:off x="8048625" y="1822515"/>
            <a:ext cx="3352911" cy="194310"/>
          </a:xfrm>
          <a:prstGeom prst="rect">
            <a:avLst/>
          </a:prstGeom>
          <a:noFill/>
        </p:spPr>
        <p:txBody>
          <a:bodyPr wrap="none" lIns="0" rIns="0" tIns="0" bIns="0">
            <a:spAutoFit/>
          </a:bodyPr>
          <a:lstStyle/>
          <a:p>
            <a:r>
              <a:rPr sz="1150" b="0">
                <a:solidFill>
                  <a:srgbClr val="2E2E2E"/>
                </a:solidFill>
                <a:latin typeface="Calibri"/>
              </a:rPr>
              <a:t>selling price of hair styling products is estimated at US$</a:t>
            </a:r>
          </a:p>
        </p:txBody>
      </p:sp>
      <p:pic>
        <p:nvPicPr>
          <p:cNvPr id="128" name="Picture 127" descr="lock.png"/>
          <p:cNvPicPr>
            <a:picLocks noChangeAspect="1"/>
          </p:cNvPicPr>
          <p:nvPr/>
        </p:nvPicPr>
        <p:blipFill>
          <a:blip r:embed="rId4"/>
          <a:stretch>
            <a:fillRect/>
          </a:stretch>
        </p:blipFill>
        <p:spPr>
          <a:xfrm>
            <a:off x="11350690" y="1812291"/>
            <a:ext cx="134549" cy="195707"/>
          </a:xfrm>
          <a:prstGeom prst="rect">
            <a:avLst/>
          </a:prstGeom>
        </p:spPr>
      </p:pic>
      <p:sp>
        <p:nvSpPr>
          <p:cNvPr id="129" name="TextBox 128"/>
          <p:cNvSpPr txBox="1"/>
          <p:nvPr/>
        </p:nvSpPr>
        <p:spPr>
          <a:xfrm>
            <a:off x="11525799"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30" name="TextBox 129"/>
          <p:cNvSpPr txBox="1"/>
          <p:nvPr/>
        </p:nvSpPr>
        <p:spPr>
          <a:xfrm>
            <a:off x="8048625" y="1997775"/>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131" name="Picture 130" descr="lock.png"/>
          <p:cNvPicPr>
            <a:picLocks noChangeAspect="1"/>
          </p:cNvPicPr>
          <p:nvPr/>
        </p:nvPicPr>
        <p:blipFill>
          <a:blip r:embed="rId4"/>
          <a:stretch>
            <a:fillRect/>
          </a:stretch>
        </p:blipFill>
        <p:spPr>
          <a:xfrm>
            <a:off x="10902271" y="1987551"/>
            <a:ext cx="134549" cy="195707"/>
          </a:xfrm>
          <a:prstGeom prst="rect">
            <a:avLst/>
          </a:prstGeom>
        </p:spPr>
      </p:pic>
      <p:sp>
        <p:nvSpPr>
          <p:cNvPr id="132" name="TextBox 131"/>
          <p:cNvSpPr txBox="1"/>
          <p:nvPr/>
        </p:nvSpPr>
        <p:spPr>
          <a:xfrm>
            <a:off x="11077380" y="1997775"/>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133" name="TextBox 132"/>
          <p:cNvSpPr txBox="1"/>
          <p:nvPr/>
        </p:nvSpPr>
        <p:spPr>
          <a:xfrm>
            <a:off x="8048625" y="2173035"/>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134" name="TextBox 133"/>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U.S. is the highest-priced country, while Canada is the most</a:t>
            </a:r>
          </a:p>
        </p:txBody>
      </p:sp>
      <p:sp>
        <p:nvSpPr>
          <p:cNvPr id="135" name="TextBox 134"/>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36" name="Picture 135" descr="lock.png"/>
          <p:cNvPicPr>
            <a:picLocks noChangeAspect="1"/>
          </p:cNvPicPr>
          <p:nvPr/>
        </p:nvPicPr>
        <p:blipFill>
          <a:blip r:embed="rId4"/>
          <a:stretch>
            <a:fillRect/>
          </a:stretch>
        </p:blipFill>
        <p:spPr>
          <a:xfrm>
            <a:off x="8034545" y="2741169"/>
            <a:ext cx="134549" cy="195707"/>
          </a:xfrm>
          <a:prstGeom prst="rect">
            <a:avLst/>
          </a:prstGeom>
        </p:spPr>
      </p:pic>
      <p:sp>
        <p:nvSpPr>
          <p:cNvPr id="137" name="TextBox 136"/>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1 of 2 countries price above and 1 below.</a:t>
            </a:r>
          </a:p>
        </p:txBody>
      </p:sp>
      <p:sp>
        <p:nvSpPr>
          <p:cNvPr id="138" name="TextBox 137"/>
          <p:cNvSpPr txBox="1"/>
          <p:nvPr/>
        </p:nvSpPr>
        <p:spPr>
          <a:xfrm>
            <a:off x="8048625" y="2979230"/>
            <a:ext cx="1470806" cy="194310"/>
          </a:xfrm>
          <a:prstGeom prst="rect">
            <a:avLst/>
          </a:prstGeom>
          <a:noFill/>
        </p:spPr>
        <p:txBody>
          <a:bodyPr wrap="none" lIns="0" rIns="0" tIns="0" bIns="0">
            <a:spAutoFit/>
          </a:bodyPr>
          <a:lstStyle/>
          <a:p>
            <a:r>
              <a:rPr sz="1150" b="0">
                <a:solidFill>
                  <a:srgbClr val="2E2E2E"/>
                </a:solidFill>
                <a:latin typeface="Calibri"/>
              </a:rPr>
              <a:t>'U.S.' is the dearest at +</a:t>
            </a:r>
          </a:p>
        </p:txBody>
      </p:sp>
      <p:pic>
        <p:nvPicPr>
          <p:cNvPr id="139" name="Picture 138" descr="lock.png"/>
          <p:cNvPicPr>
            <a:picLocks noChangeAspect="1"/>
          </p:cNvPicPr>
          <p:nvPr/>
        </p:nvPicPr>
        <p:blipFill>
          <a:blip r:embed="rId4"/>
          <a:stretch>
            <a:fillRect/>
          </a:stretch>
        </p:blipFill>
        <p:spPr>
          <a:xfrm>
            <a:off x="9468585" y="2969007"/>
            <a:ext cx="134549" cy="195707"/>
          </a:xfrm>
          <a:prstGeom prst="rect">
            <a:avLst/>
          </a:prstGeom>
        </p:spPr>
      </p:pic>
      <p:sp>
        <p:nvSpPr>
          <p:cNvPr id="140" name="TextBox 139"/>
          <p:cNvSpPr txBox="1"/>
          <p:nvPr/>
        </p:nvSpPr>
        <p:spPr>
          <a:xfrm>
            <a:off x="9643694" y="2979230"/>
            <a:ext cx="2168252" cy="194310"/>
          </a:xfrm>
          <a:prstGeom prst="rect">
            <a:avLst/>
          </a:prstGeom>
          <a:noFill/>
        </p:spPr>
        <p:txBody>
          <a:bodyPr wrap="none" lIns="0" rIns="0" tIns="0" bIns="0">
            <a:spAutoFit/>
          </a:bodyPr>
          <a:lstStyle/>
          <a:p>
            <a:r>
              <a:rPr sz="1150" b="0">
                <a:solidFill>
                  <a:srgbClr val="2E2E2E"/>
                </a:solidFill>
                <a:latin typeface="Calibri"/>
              </a:rPr>
              <a:t>versus North America, 'Canada' the</a:t>
            </a:r>
          </a:p>
        </p:txBody>
      </p:sp>
      <p:sp>
        <p:nvSpPr>
          <p:cNvPr id="141" name="TextBox 140"/>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42" name="Picture 141" descr="lock.png"/>
          <p:cNvPicPr>
            <a:picLocks noChangeAspect="1"/>
          </p:cNvPicPr>
          <p:nvPr/>
        </p:nvPicPr>
        <p:blipFill>
          <a:blip r:embed="rId4"/>
          <a:stretch>
            <a:fillRect/>
          </a:stretch>
        </p:blipFill>
        <p:spPr>
          <a:xfrm>
            <a:off x="8840741" y="3144267"/>
            <a:ext cx="134549" cy="195707"/>
          </a:xfrm>
          <a:prstGeom prst="rect">
            <a:avLst/>
          </a:prstGeom>
        </p:spPr>
      </p:pic>
      <p:sp>
        <p:nvSpPr>
          <p:cNvPr id="143" name="TextBox 142"/>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44" name="TextBox 143"/>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3" name="Rounded Rectangle 12"/>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4" name="Rounded Rectangle 13"/>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7" name="Chart 16"/>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8" name="Rounded Rectangle 17"/>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0" name="Chart 19"/>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1" name="Rounded Rectangle 20"/>
          <p:cNvSpPr/>
          <p:nvPr/>
        </p:nvSpPr>
        <p:spPr>
          <a:xfrm>
            <a:off x="7915275" y="1627887"/>
            <a:ext cx="4133850" cy="2955981"/>
          </a:xfrm>
          <a:prstGeom prst="roundRect">
            <a:avLst>
              <a:gd name="adj" fmla="val 25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3" name="Rectangle 22"/>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2037462"/>
            <a:ext cx="3867150" cy="247020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5" name="Rounded Rectangle 24"/>
          <p:cNvSpPr/>
          <p:nvPr/>
        </p:nvSpPr>
        <p:spPr>
          <a:xfrm>
            <a:off x="7915275" y="4638629"/>
            <a:ext cx="4133850" cy="1917756"/>
          </a:xfrm>
          <a:prstGeom prst="roundRect">
            <a:avLst>
              <a:gd name="adj" fmla="val 39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72435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7" name="Rectangle 26"/>
          <p:cNvSpPr/>
          <p:nvPr/>
        </p:nvSpPr>
        <p:spPr>
          <a:xfrm>
            <a:off x="8048625" y="496247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8625" y="5048204"/>
            <a:ext cx="3867150" cy="143198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6"/>
          <a:stretch>
            <a:fillRect/>
          </a:stretch>
        </p:blipFill>
        <p:spPr>
          <a:xfrm>
            <a:off x="1502569"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45029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75128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10522744" y="1250587"/>
            <a:ext cx="157162" cy="228600"/>
          </a:xfrm>
          <a:prstGeom prst="rect">
            <a:avLst/>
          </a:prstGeom>
        </p:spPr>
      </p:pic>
      <p:pic>
        <p:nvPicPr>
          <p:cNvPr id="34" name="Picture 33" descr="lock.png"/>
          <p:cNvPicPr>
            <a:picLocks noChangeAspect="1"/>
          </p:cNvPicPr>
          <p:nvPr/>
        </p:nvPicPr>
        <p:blipFill>
          <a:blip r:embed="rId6"/>
          <a:stretch>
            <a:fillRect/>
          </a:stretch>
        </p:blipFill>
        <p:spPr>
          <a:xfrm>
            <a:off x="3991062" y="5157531"/>
            <a:ext cx="289830" cy="421571"/>
          </a:xfrm>
          <a:prstGeom prst="rect">
            <a:avLst/>
          </a:prstGeom>
        </p:spPr>
      </p:pic>
      <p:sp>
        <p:nvSpPr>
          <p:cNvPr id="35" name="TextBox 34"/>
          <p:cNvSpPr txBox="1"/>
          <p:nvPr/>
        </p:nvSpPr>
        <p:spPr>
          <a:xfrm>
            <a:off x="8048625" y="2046987"/>
            <a:ext cx="3848100" cy="186689"/>
          </a:xfrm>
          <a:prstGeom prst="rect">
            <a:avLst/>
          </a:prstGeom>
          <a:noFill/>
        </p:spPr>
        <p:txBody>
          <a:bodyPr wrap="none" lIns="0" rIns="0" tIns="0" bIns="0">
            <a:spAutoFit/>
          </a:bodyPr>
          <a:lstStyle/>
          <a:p>
            <a:r>
              <a:rPr sz="1100" b="0">
                <a:solidFill>
                  <a:srgbClr val="2E2E2E"/>
                </a:solidFill>
                <a:latin typeface="Calibri"/>
              </a:rPr>
              <a:t>Hair styling products market value in North America is expected to</a:t>
            </a:r>
          </a:p>
        </p:txBody>
      </p:sp>
      <p:sp>
        <p:nvSpPr>
          <p:cNvPr id="36" name="TextBox 35"/>
          <p:cNvSpPr txBox="1"/>
          <p:nvPr/>
        </p:nvSpPr>
        <p:spPr>
          <a:xfrm>
            <a:off x="8048625" y="2214627"/>
            <a:ext cx="550416" cy="186689"/>
          </a:xfrm>
          <a:prstGeom prst="rect">
            <a:avLst/>
          </a:prstGeom>
          <a:noFill/>
        </p:spPr>
        <p:txBody>
          <a:bodyPr wrap="none" lIns="0" rIns="0" tIns="0" bIns="0">
            <a:spAutoFit/>
          </a:bodyPr>
          <a:lstStyle/>
          <a:p>
            <a:r>
              <a:rPr sz="1100" b="0">
                <a:solidFill>
                  <a:srgbClr val="2E2E2E"/>
                </a:solidFill>
                <a:latin typeface="Calibri"/>
              </a:rPr>
              <a:t>increase</a:t>
            </a:r>
          </a:p>
        </p:txBody>
      </p:sp>
      <p:pic>
        <p:nvPicPr>
          <p:cNvPr id="37" name="Picture 36" descr="lock.png"/>
          <p:cNvPicPr>
            <a:picLocks noChangeAspect="1"/>
          </p:cNvPicPr>
          <p:nvPr/>
        </p:nvPicPr>
        <p:blipFill>
          <a:blip r:embed="rId6"/>
          <a:stretch>
            <a:fillRect/>
          </a:stretch>
        </p:blipFill>
        <p:spPr>
          <a:xfrm>
            <a:off x="8547092" y="2204848"/>
            <a:ext cx="128699" cy="187198"/>
          </a:xfrm>
          <a:prstGeom prst="rect">
            <a:avLst/>
          </a:prstGeom>
        </p:spPr>
      </p:pic>
      <p:sp>
        <p:nvSpPr>
          <p:cNvPr id="38" name="TextBox 37"/>
          <p:cNvSpPr txBox="1"/>
          <p:nvPr/>
        </p:nvSpPr>
        <p:spPr>
          <a:xfrm>
            <a:off x="8714588" y="2214627"/>
            <a:ext cx="2959149" cy="186689"/>
          </a:xfrm>
          <a:prstGeom prst="rect">
            <a:avLst/>
          </a:prstGeom>
          <a:noFill/>
        </p:spPr>
        <p:txBody>
          <a:bodyPr wrap="none" lIns="0" rIns="0" tIns="0" bIns="0">
            <a:spAutoFit/>
          </a:bodyPr>
          <a:lstStyle/>
          <a:p>
            <a:r>
              <a:rPr sz="1100" b="0">
                <a:solidFill>
                  <a:srgbClr val="2E2E2E"/>
                </a:solidFill>
                <a:latin typeface="Calibri"/>
              </a:rPr>
              <a:t>X between 2025 and 2036. In 2025, the hair styling</a:t>
            </a:r>
          </a:p>
        </p:txBody>
      </p:sp>
      <p:sp>
        <p:nvSpPr>
          <p:cNvPr id="39" name="TextBox 38"/>
          <p:cNvSpPr txBox="1"/>
          <p:nvPr/>
        </p:nvSpPr>
        <p:spPr>
          <a:xfrm>
            <a:off x="8048625" y="2382267"/>
            <a:ext cx="3086298" cy="186689"/>
          </a:xfrm>
          <a:prstGeom prst="rect">
            <a:avLst/>
          </a:prstGeom>
          <a:noFill/>
        </p:spPr>
        <p:txBody>
          <a:bodyPr wrap="none" lIns="0" rIns="0" tIns="0" bIns="0">
            <a:spAutoFit/>
          </a:bodyPr>
          <a:lstStyle/>
          <a:p>
            <a:r>
              <a:rPr sz="1100" b="0">
                <a:solidFill>
                  <a:srgbClr val="2E2E2E"/>
                </a:solidFill>
                <a:latin typeface="Calibri"/>
              </a:rPr>
              <a:t>products market in North America was valued at US$</a:t>
            </a:r>
          </a:p>
        </p:txBody>
      </p:sp>
      <p:pic>
        <p:nvPicPr>
          <p:cNvPr id="40" name="Picture 39" descr="lock.png"/>
          <p:cNvPicPr>
            <a:picLocks noChangeAspect="1"/>
          </p:cNvPicPr>
          <p:nvPr/>
        </p:nvPicPr>
        <p:blipFill>
          <a:blip r:embed="rId6"/>
          <a:stretch>
            <a:fillRect/>
          </a:stretch>
        </p:blipFill>
        <p:spPr>
          <a:xfrm>
            <a:off x="11082975" y="2372488"/>
            <a:ext cx="128699" cy="187198"/>
          </a:xfrm>
          <a:prstGeom prst="rect">
            <a:avLst/>
          </a:prstGeom>
        </p:spPr>
      </p:pic>
      <p:sp>
        <p:nvSpPr>
          <p:cNvPr id="41" name="TextBox 40"/>
          <p:cNvSpPr txBox="1"/>
          <p:nvPr/>
        </p:nvSpPr>
        <p:spPr>
          <a:xfrm>
            <a:off x="11250470" y="2382267"/>
            <a:ext cx="632817" cy="186689"/>
          </a:xfrm>
          <a:prstGeom prst="rect">
            <a:avLst/>
          </a:prstGeom>
          <a:noFill/>
        </p:spPr>
        <p:txBody>
          <a:bodyPr wrap="none" lIns="0" rIns="0" tIns="0" bIns="0">
            <a:spAutoFit/>
          </a:bodyPr>
          <a:lstStyle/>
          <a:p>
            <a:r>
              <a:rPr sz="1100" b="0">
                <a:solidFill>
                  <a:srgbClr val="2E2E2E"/>
                </a:solidFill>
                <a:latin typeface="Calibri"/>
              </a:rPr>
              <a:t>Mn and is</a:t>
            </a:r>
          </a:p>
        </p:txBody>
      </p:sp>
      <p:sp>
        <p:nvSpPr>
          <p:cNvPr id="42" name="TextBox 41"/>
          <p:cNvSpPr txBox="1"/>
          <p:nvPr/>
        </p:nvSpPr>
        <p:spPr>
          <a:xfrm>
            <a:off x="8048625" y="2549907"/>
            <a:ext cx="1737593" cy="186689"/>
          </a:xfrm>
          <a:prstGeom prst="rect">
            <a:avLst/>
          </a:prstGeom>
          <a:noFill/>
        </p:spPr>
        <p:txBody>
          <a:bodyPr wrap="none" lIns="0" rIns="0" tIns="0" bIns="0">
            <a:spAutoFit/>
          </a:bodyPr>
          <a:lstStyle/>
          <a:p>
            <a:r>
              <a:rPr sz="1100" b="0">
                <a:solidFill>
                  <a:srgbClr val="2E2E2E"/>
                </a:solidFill>
                <a:latin typeface="Calibri"/>
              </a:rPr>
              <a:t>estimated to account for US$</a:t>
            </a:r>
          </a:p>
        </p:txBody>
      </p:sp>
      <p:pic>
        <p:nvPicPr>
          <p:cNvPr id="43" name="Picture 42" descr="lock.png"/>
          <p:cNvPicPr>
            <a:picLocks noChangeAspect="1"/>
          </p:cNvPicPr>
          <p:nvPr/>
        </p:nvPicPr>
        <p:blipFill>
          <a:blip r:embed="rId6"/>
          <a:stretch>
            <a:fillRect/>
          </a:stretch>
        </p:blipFill>
        <p:spPr>
          <a:xfrm>
            <a:off x="9734269" y="2540128"/>
            <a:ext cx="128699" cy="187198"/>
          </a:xfrm>
          <a:prstGeom prst="rect">
            <a:avLst/>
          </a:prstGeom>
        </p:spPr>
      </p:pic>
      <p:sp>
        <p:nvSpPr>
          <p:cNvPr id="44" name="TextBox 43"/>
          <p:cNvSpPr txBox="1"/>
          <p:nvPr/>
        </p:nvSpPr>
        <p:spPr>
          <a:xfrm>
            <a:off x="9901765" y="2549907"/>
            <a:ext cx="1977156" cy="186689"/>
          </a:xfrm>
          <a:prstGeom prst="rect">
            <a:avLst/>
          </a:prstGeom>
          <a:noFill/>
        </p:spPr>
        <p:txBody>
          <a:bodyPr wrap="none" lIns="0" rIns="0" tIns="0" bIns="0">
            <a:spAutoFit/>
          </a:bodyPr>
          <a:lstStyle/>
          <a:p>
            <a:r>
              <a:rPr sz="1100" b="0">
                <a:solidFill>
                  <a:srgbClr val="2E2E2E"/>
                </a:solidFill>
                <a:latin typeface="Calibri"/>
              </a:rPr>
              <a:t>Mn by the end of 2026, reflecting</a:t>
            </a:r>
          </a:p>
        </p:txBody>
      </p:sp>
      <p:sp>
        <p:nvSpPr>
          <p:cNvPr id="45" name="TextBox 44"/>
          <p:cNvSpPr txBox="1"/>
          <p:nvPr/>
        </p:nvSpPr>
        <p:spPr>
          <a:xfrm>
            <a:off x="8048625" y="2717547"/>
            <a:ext cx="1322313" cy="186689"/>
          </a:xfrm>
          <a:prstGeom prst="rect">
            <a:avLst/>
          </a:prstGeom>
          <a:noFill/>
        </p:spPr>
        <p:txBody>
          <a:bodyPr wrap="none" lIns="0" rIns="0" tIns="0" bIns="0">
            <a:spAutoFit/>
          </a:bodyPr>
          <a:lstStyle/>
          <a:p>
            <a:r>
              <a:rPr sz="1100" b="0">
                <a:solidFill>
                  <a:srgbClr val="2E2E2E"/>
                </a:solidFill>
                <a:latin typeface="Calibri"/>
              </a:rPr>
              <a:t>a Y-o-Y growth rate of</a:t>
            </a:r>
          </a:p>
        </p:txBody>
      </p:sp>
      <p:pic>
        <p:nvPicPr>
          <p:cNvPr id="46" name="Picture 45" descr="lock.png"/>
          <p:cNvPicPr>
            <a:picLocks noChangeAspect="1"/>
          </p:cNvPicPr>
          <p:nvPr/>
        </p:nvPicPr>
        <p:blipFill>
          <a:blip r:embed="rId6"/>
          <a:stretch>
            <a:fillRect/>
          </a:stretch>
        </p:blipFill>
        <p:spPr>
          <a:xfrm>
            <a:off x="9318989" y="2707768"/>
            <a:ext cx="128699" cy="187198"/>
          </a:xfrm>
          <a:prstGeom prst="rect">
            <a:avLst/>
          </a:prstGeom>
        </p:spPr>
      </p:pic>
      <p:sp>
        <p:nvSpPr>
          <p:cNvPr id="47" name="TextBox 46"/>
          <p:cNvSpPr txBox="1"/>
          <p:nvPr/>
        </p:nvSpPr>
        <p:spPr>
          <a:xfrm>
            <a:off x="9486485"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8" name="TextBox 47"/>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9" name="Picture 48" descr="lock.png"/>
          <p:cNvPicPr>
            <a:picLocks noChangeAspect="1"/>
          </p:cNvPicPr>
          <p:nvPr/>
        </p:nvPicPr>
        <p:blipFill>
          <a:blip r:embed="rId6"/>
          <a:stretch>
            <a:fillRect/>
          </a:stretch>
        </p:blipFill>
        <p:spPr>
          <a:xfrm>
            <a:off x="8035157" y="3093340"/>
            <a:ext cx="128699" cy="187198"/>
          </a:xfrm>
          <a:prstGeom prst="rect">
            <a:avLst/>
          </a:prstGeom>
        </p:spPr>
      </p:pic>
      <p:sp>
        <p:nvSpPr>
          <p:cNvPr id="50" name="TextBox 49"/>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1" name="Picture 50" descr="lock.png"/>
          <p:cNvPicPr>
            <a:picLocks noChangeAspect="1"/>
          </p:cNvPicPr>
          <p:nvPr/>
        </p:nvPicPr>
        <p:blipFill>
          <a:blip r:embed="rId6"/>
          <a:stretch>
            <a:fillRect/>
          </a:stretch>
        </p:blipFill>
        <p:spPr>
          <a:xfrm>
            <a:off x="9646261" y="3093340"/>
            <a:ext cx="128699" cy="187198"/>
          </a:xfrm>
          <a:prstGeom prst="rect">
            <a:avLst/>
          </a:prstGeom>
        </p:spPr>
      </p:pic>
      <p:sp>
        <p:nvSpPr>
          <p:cNvPr id="52" name="TextBox 51"/>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3" name="TextBox 52"/>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4" name="Picture 53" descr="lock.png"/>
          <p:cNvPicPr>
            <a:picLocks noChangeAspect="1"/>
          </p:cNvPicPr>
          <p:nvPr/>
        </p:nvPicPr>
        <p:blipFill>
          <a:blip r:embed="rId6"/>
          <a:stretch>
            <a:fillRect/>
          </a:stretch>
        </p:blipFill>
        <p:spPr>
          <a:xfrm>
            <a:off x="8035157" y="3428620"/>
            <a:ext cx="128699" cy="187198"/>
          </a:xfrm>
          <a:prstGeom prst="rect">
            <a:avLst/>
          </a:prstGeom>
        </p:spPr>
      </p:pic>
      <p:sp>
        <p:nvSpPr>
          <p:cNvPr id="55" name="TextBox 54"/>
          <p:cNvSpPr txBox="1"/>
          <p:nvPr/>
        </p:nvSpPr>
        <p:spPr>
          <a:xfrm>
            <a:off x="8202653" y="3438399"/>
            <a:ext cx="3508399" cy="186689"/>
          </a:xfrm>
          <a:prstGeom prst="rect">
            <a:avLst/>
          </a:prstGeom>
          <a:noFill/>
        </p:spPr>
        <p:txBody>
          <a:bodyPr wrap="none" lIns="0" rIns="0" tIns="0" bIns="0">
            <a:spAutoFit/>
          </a:bodyPr>
          <a:lstStyle/>
          <a:p>
            <a:r>
              <a:rPr sz="1100" b="0">
                <a:solidFill>
                  <a:srgbClr val="2E2E2E"/>
                </a:solidFill>
                <a:latin typeface="Calibri"/>
              </a:rPr>
              <a:t>Mn for the overall hair styling products market from 2025 to</a:t>
            </a:r>
          </a:p>
        </p:txBody>
      </p:sp>
      <p:sp>
        <p:nvSpPr>
          <p:cNvPr id="56" name="TextBox 55"/>
          <p:cNvSpPr txBox="1"/>
          <p:nvPr/>
        </p:nvSpPr>
        <p:spPr>
          <a:xfrm>
            <a:off x="8048625" y="360603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57" name="TextBox 56"/>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8" name="Picture 57" descr="lock.png"/>
          <p:cNvPicPr>
            <a:picLocks noChangeAspect="1"/>
          </p:cNvPicPr>
          <p:nvPr/>
        </p:nvPicPr>
        <p:blipFill>
          <a:blip r:embed="rId6"/>
          <a:stretch>
            <a:fillRect/>
          </a:stretch>
        </p:blipFill>
        <p:spPr>
          <a:xfrm>
            <a:off x="10833861" y="3814192"/>
            <a:ext cx="128699" cy="187198"/>
          </a:xfrm>
          <a:prstGeom prst="rect">
            <a:avLst/>
          </a:prstGeom>
        </p:spPr>
      </p:pic>
      <p:sp>
        <p:nvSpPr>
          <p:cNvPr id="59" name="TextBox 58"/>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60" name="TextBox 59"/>
          <p:cNvSpPr txBox="1"/>
          <p:nvPr/>
        </p:nvSpPr>
        <p:spPr>
          <a:xfrm>
            <a:off x="8048625" y="505772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61" name="Picture 60" descr="lock.png"/>
          <p:cNvPicPr>
            <a:picLocks noChangeAspect="1"/>
          </p:cNvPicPr>
          <p:nvPr/>
        </p:nvPicPr>
        <p:blipFill>
          <a:blip r:embed="rId6"/>
          <a:stretch>
            <a:fillRect/>
          </a:stretch>
        </p:blipFill>
        <p:spPr>
          <a:xfrm>
            <a:off x="10136079" y="5047505"/>
            <a:ext cx="134549" cy="195707"/>
          </a:xfrm>
          <a:prstGeom prst="rect">
            <a:avLst/>
          </a:prstGeom>
        </p:spPr>
      </p:pic>
      <p:sp>
        <p:nvSpPr>
          <p:cNvPr id="62" name="TextBox 61"/>
          <p:cNvSpPr txBox="1"/>
          <p:nvPr/>
        </p:nvSpPr>
        <p:spPr>
          <a:xfrm>
            <a:off x="10311188" y="505772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8048625" y="5285566"/>
            <a:ext cx="3500958" cy="194310"/>
          </a:xfrm>
          <a:prstGeom prst="rect">
            <a:avLst/>
          </a:prstGeom>
          <a:noFill/>
        </p:spPr>
        <p:txBody>
          <a:bodyPr wrap="none" lIns="0" rIns="0" tIns="0" bIns="0">
            <a:spAutoFit/>
          </a:bodyPr>
          <a:lstStyle/>
          <a:p>
            <a:r>
              <a:rPr sz="1150" b="0">
                <a:solidFill>
                  <a:srgbClr val="2E2E2E"/>
                </a:solidFill>
                <a:latin typeface="Calibri"/>
              </a:rPr>
              <a:t>▪ Demand concentrates in 'Styling Serums and Oils' within</a:t>
            </a:r>
          </a:p>
        </p:txBody>
      </p:sp>
      <p:sp>
        <p:nvSpPr>
          <p:cNvPr id="64" name="TextBox 63"/>
          <p:cNvSpPr txBox="1"/>
          <p:nvPr/>
        </p:nvSpPr>
        <p:spPr>
          <a:xfrm>
            <a:off x="8048625" y="5460826"/>
            <a:ext cx="1044891" cy="194310"/>
          </a:xfrm>
          <a:prstGeom prst="rect">
            <a:avLst/>
          </a:prstGeom>
          <a:noFill/>
        </p:spPr>
        <p:txBody>
          <a:bodyPr wrap="none" lIns="0" rIns="0" tIns="0" bIns="0">
            <a:spAutoFit/>
          </a:bodyPr>
          <a:lstStyle/>
          <a:p>
            <a:r>
              <a:rPr sz="1150" b="0">
                <a:solidFill>
                  <a:srgbClr val="2E2E2E"/>
                </a:solidFill>
                <a:latin typeface="Calibri"/>
              </a:rPr>
              <a:t>Product Format.</a:t>
            </a:r>
          </a:p>
        </p:txBody>
      </p:sp>
      <p:sp>
        <p:nvSpPr>
          <p:cNvPr id="65" name="TextBox 64"/>
          <p:cNvSpPr txBox="1"/>
          <p:nvPr/>
        </p:nvSpPr>
        <p:spPr>
          <a:xfrm>
            <a:off x="8048625" y="568866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6" name="TextBox 65"/>
          <p:cNvSpPr txBox="1"/>
          <p:nvPr/>
        </p:nvSpPr>
        <p:spPr>
          <a:xfrm>
            <a:off x="8048625" y="591650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7" name="lockshield_17"/>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0"/>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3" name="Chart 12"/>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6" name="Chart 15"/>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8" name="Rounded Rectangle 17"/>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9" name="Rounded Rectangle 18"/>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20" name="Rounded Rectangle 19"/>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1" name="Rounded Rectangle 20"/>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3" name="Rectangle 22"/>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2535356" y="2029222"/>
            <a:ext cx="202455" cy="294480"/>
          </a:xfrm>
          <a:prstGeom prst="rect">
            <a:avLst/>
          </a:prstGeom>
        </p:spPr>
      </p:pic>
      <p:pic>
        <p:nvPicPr>
          <p:cNvPr id="27" name="Picture 26" descr="lock.png"/>
          <p:cNvPicPr>
            <a:picLocks noChangeAspect="1"/>
          </p:cNvPicPr>
          <p:nvPr/>
        </p:nvPicPr>
        <p:blipFill>
          <a:blip r:embed="rId6"/>
          <a:stretch>
            <a:fillRect/>
          </a:stretch>
        </p:blipFill>
        <p:spPr>
          <a:xfrm>
            <a:off x="8532694" y="1990329"/>
            <a:ext cx="255933" cy="372266"/>
          </a:xfrm>
          <a:prstGeom prst="rect">
            <a:avLst/>
          </a:prstGeom>
        </p:spPr>
      </p:pic>
      <p:pic>
        <p:nvPicPr>
          <p:cNvPr id="28" name="Picture 27" descr="lock.png"/>
          <p:cNvPicPr>
            <a:picLocks noChangeAspect="1"/>
          </p:cNvPicPr>
          <p:nvPr/>
        </p:nvPicPr>
        <p:blipFill>
          <a:blip r:embed="rId6"/>
          <a:stretch>
            <a:fillRect/>
          </a:stretch>
        </p:blipFill>
        <p:spPr>
          <a:xfrm>
            <a:off x="1321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39885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6998494" y="3950970"/>
            <a:ext cx="157162" cy="228600"/>
          </a:xfrm>
          <a:prstGeom prst="rect">
            <a:avLst/>
          </a:prstGeom>
        </p:spPr>
      </p:pic>
      <p:pic>
        <p:nvPicPr>
          <p:cNvPr id="31" name="Picture 30" descr="lock.png"/>
          <p:cNvPicPr>
            <a:picLocks noChangeAspect="1"/>
          </p:cNvPicPr>
          <p:nvPr/>
        </p:nvPicPr>
        <p:blipFill>
          <a:blip r:embed="rId6"/>
          <a:stretch>
            <a:fillRect/>
          </a:stretch>
        </p:blipFill>
        <p:spPr>
          <a:xfrm>
            <a:off x="10351294" y="3950970"/>
            <a:ext cx="157162" cy="228600"/>
          </a:xfrm>
          <a:prstGeom prst="rect">
            <a:avLst/>
          </a:prstGeom>
        </p:spPr>
      </p:pic>
      <p:sp>
        <p:nvSpPr>
          <p:cNvPr id="32" name="TextBox 31"/>
          <p:cNvSpPr txBox="1"/>
          <p:nvPr/>
        </p:nvSpPr>
        <p:spPr>
          <a:xfrm>
            <a:off x="276225" y="4876800"/>
            <a:ext cx="4549551" cy="194310"/>
          </a:xfrm>
          <a:prstGeom prst="rect">
            <a:avLst/>
          </a:prstGeom>
          <a:noFill/>
        </p:spPr>
        <p:txBody>
          <a:bodyPr wrap="none" lIns="0" rIns="0" tIns="0" bIns="0">
            <a:spAutoFit/>
          </a:bodyPr>
          <a:lstStyle/>
          <a:p>
            <a:r>
              <a:rPr sz="1150" b="0">
                <a:solidFill>
                  <a:srgbClr val="2E2E2E"/>
                </a:solidFill>
                <a:latin typeface="Calibri"/>
              </a:rPr>
              <a:t>Hair styling products market value in North America is expected to increase</a:t>
            </a:r>
          </a:p>
        </p:txBody>
      </p:sp>
      <p:pic>
        <p:nvPicPr>
          <p:cNvPr id="33" name="Picture 32" descr="lock.png"/>
          <p:cNvPicPr>
            <a:picLocks noChangeAspect="1"/>
          </p:cNvPicPr>
          <p:nvPr/>
        </p:nvPicPr>
        <p:blipFill>
          <a:blip r:embed="rId6"/>
          <a:stretch>
            <a:fillRect/>
          </a:stretch>
        </p:blipFill>
        <p:spPr>
          <a:xfrm>
            <a:off x="4774930" y="4866576"/>
            <a:ext cx="134549" cy="195707"/>
          </a:xfrm>
          <a:prstGeom prst="rect">
            <a:avLst/>
          </a:prstGeom>
        </p:spPr>
      </p:pic>
      <p:sp>
        <p:nvSpPr>
          <p:cNvPr id="34" name="TextBox 33"/>
          <p:cNvSpPr txBox="1"/>
          <p:nvPr/>
        </p:nvSpPr>
        <p:spPr>
          <a:xfrm>
            <a:off x="4950039" y="4876800"/>
            <a:ext cx="6270203" cy="194310"/>
          </a:xfrm>
          <a:prstGeom prst="rect">
            <a:avLst/>
          </a:prstGeom>
          <a:noFill/>
        </p:spPr>
        <p:txBody>
          <a:bodyPr wrap="none" lIns="0" rIns="0" tIns="0" bIns="0">
            <a:spAutoFit/>
          </a:bodyPr>
          <a:lstStyle/>
          <a:p>
            <a:r>
              <a:rPr sz="1150" b="0">
                <a:solidFill>
                  <a:srgbClr val="2E2E2E"/>
                </a:solidFill>
                <a:latin typeface="Calibri"/>
              </a:rPr>
              <a:t>X between 2025 and 2036. In 2025, the hair styling products market in North America was valued at US$</a:t>
            </a:r>
          </a:p>
        </p:txBody>
      </p:sp>
      <p:pic>
        <p:nvPicPr>
          <p:cNvPr id="35" name="Picture 34" descr="lock.png"/>
          <p:cNvPicPr>
            <a:picLocks noChangeAspect="1"/>
          </p:cNvPicPr>
          <p:nvPr/>
        </p:nvPicPr>
        <p:blipFill>
          <a:blip r:embed="rId6"/>
          <a:stretch>
            <a:fillRect/>
          </a:stretch>
        </p:blipFill>
        <p:spPr>
          <a:xfrm>
            <a:off x="11169397" y="4866576"/>
            <a:ext cx="134549" cy="195707"/>
          </a:xfrm>
          <a:prstGeom prst="rect">
            <a:avLst/>
          </a:prstGeom>
        </p:spPr>
      </p:pic>
      <p:sp>
        <p:nvSpPr>
          <p:cNvPr id="36" name="TextBox 35"/>
          <p:cNvSpPr txBox="1"/>
          <p:nvPr/>
        </p:nvSpPr>
        <p:spPr>
          <a:xfrm>
            <a:off x="11344506" y="4876800"/>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7" name="TextBox 36"/>
          <p:cNvSpPr txBox="1"/>
          <p:nvPr/>
        </p:nvSpPr>
        <p:spPr>
          <a:xfrm>
            <a:off x="276225" y="5052060"/>
            <a:ext cx="2193354" cy="194310"/>
          </a:xfrm>
          <a:prstGeom prst="rect">
            <a:avLst/>
          </a:prstGeom>
          <a:noFill/>
        </p:spPr>
        <p:txBody>
          <a:bodyPr wrap="none" lIns="0" rIns="0" tIns="0" bIns="0">
            <a:spAutoFit/>
          </a:bodyPr>
          <a:lstStyle/>
          <a:p>
            <a:r>
              <a:rPr sz="1150" b="0">
                <a:solidFill>
                  <a:srgbClr val="2E2E2E"/>
                </a:solidFill>
                <a:latin typeface="Calibri"/>
              </a:rPr>
              <a:t>and is estimated to account for US$</a:t>
            </a:r>
          </a:p>
        </p:txBody>
      </p:sp>
      <p:pic>
        <p:nvPicPr>
          <p:cNvPr id="38" name="Picture 37" descr="lock.png"/>
          <p:cNvPicPr>
            <a:picLocks noChangeAspect="1"/>
          </p:cNvPicPr>
          <p:nvPr/>
        </p:nvPicPr>
        <p:blipFill>
          <a:blip r:embed="rId6"/>
          <a:stretch>
            <a:fillRect/>
          </a:stretch>
        </p:blipFill>
        <p:spPr>
          <a:xfrm>
            <a:off x="2418733" y="5041836"/>
            <a:ext cx="134549" cy="195707"/>
          </a:xfrm>
          <a:prstGeom prst="rect">
            <a:avLst/>
          </a:prstGeom>
        </p:spPr>
      </p:pic>
      <p:sp>
        <p:nvSpPr>
          <p:cNvPr id="39" name="TextBox 38"/>
          <p:cNvSpPr txBox="1"/>
          <p:nvPr/>
        </p:nvSpPr>
        <p:spPr>
          <a:xfrm>
            <a:off x="2593842"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40" name="Picture 39" descr="lock.png"/>
          <p:cNvPicPr>
            <a:picLocks noChangeAspect="1"/>
          </p:cNvPicPr>
          <p:nvPr/>
        </p:nvPicPr>
        <p:blipFill>
          <a:blip r:embed="rId6"/>
          <a:stretch>
            <a:fillRect/>
          </a:stretch>
        </p:blipFill>
        <p:spPr>
          <a:xfrm>
            <a:off x="5942404" y="5041836"/>
            <a:ext cx="134549" cy="195707"/>
          </a:xfrm>
          <a:prstGeom prst="rect">
            <a:avLst/>
          </a:prstGeom>
        </p:spPr>
      </p:pic>
      <p:sp>
        <p:nvSpPr>
          <p:cNvPr id="41" name="TextBox 40"/>
          <p:cNvSpPr txBox="1"/>
          <p:nvPr/>
        </p:nvSpPr>
        <p:spPr>
          <a:xfrm>
            <a:off x="6117513"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2" name="Picture 41" descr="lock.png"/>
          <p:cNvPicPr>
            <a:picLocks noChangeAspect="1"/>
          </p:cNvPicPr>
          <p:nvPr/>
        </p:nvPicPr>
        <p:blipFill>
          <a:blip r:embed="rId6"/>
          <a:stretch>
            <a:fillRect/>
          </a:stretch>
        </p:blipFill>
        <p:spPr>
          <a:xfrm>
            <a:off x="9782992" y="5041836"/>
            <a:ext cx="134549" cy="195707"/>
          </a:xfrm>
          <a:prstGeom prst="rect">
            <a:avLst/>
          </a:prstGeom>
        </p:spPr>
      </p:pic>
      <p:sp>
        <p:nvSpPr>
          <p:cNvPr id="43" name="TextBox 42"/>
          <p:cNvSpPr txBox="1"/>
          <p:nvPr/>
        </p:nvSpPr>
        <p:spPr>
          <a:xfrm>
            <a:off x="9958102" y="5052060"/>
            <a:ext cx="1560072" cy="194310"/>
          </a:xfrm>
          <a:prstGeom prst="rect">
            <a:avLst/>
          </a:prstGeom>
          <a:noFill/>
        </p:spPr>
        <p:txBody>
          <a:bodyPr wrap="none" lIns="0" rIns="0" tIns="0" bIns="0">
            <a:spAutoFit/>
          </a:bodyPr>
          <a:lstStyle/>
          <a:p>
            <a:r>
              <a:rPr sz="1150" b="0">
                <a:solidFill>
                  <a:srgbClr val="2E2E2E"/>
                </a:solidFill>
                <a:latin typeface="Calibri"/>
              </a:rPr>
              <a:t>Mn by 2036 at a CAGR of</a:t>
            </a:r>
          </a:p>
        </p:txBody>
      </p:sp>
      <p:pic>
        <p:nvPicPr>
          <p:cNvPr id="44" name="Picture 43" descr="lock.png"/>
          <p:cNvPicPr>
            <a:picLocks noChangeAspect="1"/>
          </p:cNvPicPr>
          <p:nvPr/>
        </p:nvPicPr>
        <p:blipFill>
          <a:blip r:embed="rId6"/>
          <a:stretch>
            <a:fillRect/>
          </a:stretch>
        </p:blipFill>
        <p:spPr>
          <a:xfrm>
            <a:off x="262145" y="5217096"/>
            <a:ext cx="134549" cy="195707"/>
          </a:xfrm>
          <a:prstGeom prst="rect">
            <a:avLst/>
          </a:prstGeom>
        </p:spPr>
      </p:pic>
      <p:sp>
        <p:nvSpPr>
          <p:cNvPr id="45" name="TextBox 44"/>
          <p:cNvSpPr txBox="1"/>
          <p:nvPr/>
        </p:nvSpPr>
        <p:spPr>
          <a:xfrm>
            <a:off x="437254"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6" name="TextBox 45"/>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7" name="Picture 46" descr="lock.png"/>
          <p:cNvPicPr>
            <a:picLocks noChangeAspect="1"/>
          </p:cNvPicPr>
          <p:nvPr/>
        </p:nvPicPr>
        <p:blipFill>
          <a:blip r:embed="rId6"/>
          <a:stretch>
            <a:fillRect/>
          </a:stretch>
        </p:blipFill>
        <p:spPr>
          <a:xfrm>
            <a:off x="4539310" y="5444934"/>
            <a:ext cx="134549" cy="195707"/>
          </a:xfrm>
          <a:prstGeom prst="rect">
            <a:avLst/>
          </a:prstGeom>
        </p:spPr>
      </p:pic>
      <p:sp>
        <p:nvSpPr>
          <p:cNvPr id="48" name="TextBox 47"/>
          <p:cNvSpPr txBox="1"/>
          <p:nvPr/>
        </p:nvSpPr>
        <p:spPr>
          <a:xfrm>
            <a:off x="4714420" y="5455157"/>
            <a:ext cx="695053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2025 to 2036. Absolute $ value for 2026 is estimated to be US$</a:t>
            </a:r>
          </a:p>
        </p:txBody>
      </p:sp>
      <p:pic>
        <p:nvPicPr>
          <p:cNvPr id="49" name="Picture 48" descr="lock.png"/>
          <p:cNvPicPr>
            <a:picLocks noChangeAspect="1"/>
          </p:cNvPicPr>
          <p:nvPr/>
        </p:nvPicPr>
        <p:blipFill>
          <a:blip r:embed="rId6"/>
          <a:stretch>
            <a:fillRect/>
          </a:stretch>
        </p:blipFill>
        <p:spPr>
          <a:xfrm>
            <a:off x="262145" y="5620194"/>
            <a:ext cx="134549" cy="195707"/>
          </a:xfrm>
          <a:prstGeom prst="rect">
            <a:avLst/>
          </a:prstGeom>
        </p:spPr>
      </p:pic>
      <p:sp>
        <p:nvSpPr>
          <p:cNvPr id="50" name="TextBox 49"/>
          <p:cNvSpPr txBox="1"/>
          <p:nvPr/>
        </p:nvSpPr>
        <p:spPr>
          <a:xfrm>
            <a:off x="437254" y="5630417"/>
            <a:ext cx="4298813" cy="194310"/>
          </a:xfrm>
          <a:prstGeom prst="rect">
            <a:avLst/>
          </a:prstGeom>
          <a:noFill/>
        </p:spPr>
        <p:txBody>
          <a:bodyPr wrap="none" lIns="0" rIns="0" tIns="0" bIns="0">
            <a:spAutoFit/>
          </a:bodyPr>
          <a:lstStyle/>
          <a:p>
            <a:r>
              <a:rPr sz="1150" b="0">
                <a:solidFill>
                  <a:srgbClr val="2E2E2E"/>
                </a:solidFill>
                <a:latin typeface="Calibri"/>
              </a:rPr>
              <a:t>Mn. North America hair styling products market is projected to register</a:t>
            </a:r>
          </a:p>
        </p:txBody>
      </p:sp>
      <p:pic>
        <p:nvPicPr>
          <p:cNvPr id="51" name="Picture 50" descr="lock.png"/>
          <p:cNvPicPr>
            <a:picLocks noChangeAspect="1"/>
          </p:cNvPicPr>
          <p:nvPr/>
        </p:nvPicPr>
        <p:blipFill>
          <a:blip r:embed="rId6"/>
          <a:stretch>
            <a:fillRect/>
          </a:stretch>
        </p:blipFill>
        <p:spPr>
          <a:xfrm>
            <a:off x="4685222" y="5620194"/>
            <a:ext cx="134549" cy="195707"/>
          </a:xfrm>
          <a:prstGeom prst="rect">
            <a:avLst/>
          </a:prstGeom>
        </p:spPr>
      </p:pic>
      <p:sp>
        <p:nvSpPr>
          <p:cNvPr id="52" name="TextBox 51"/>
          <p:cNvSpPr txBox="1"/>
          <p:nvPr/>
        </p:nvSpPr>
        <p:spPr>
          <a:xfrm>
            <a:off x="4860331"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3" name="TextBox 52"/>
          <p:cNvSpPr txBox="1"/>
          <p:nvPr/>
        </p:nvSpPr>
        <p:spPr>
          <a:xfrm>
            <a:off x="276225" y="5858255"/>
            <a:ext cx="3646723" cy="194310"/>
          </a:xfrm>
          <a:prstGeom prst="rect">
            <a:avLst/>
          </a:prstGeom>
          <a:noFill/>
        </p:spPr>
        <p:txBody>
          <a:bodyPr wrap="none" lIns="0" rIns="0" tIns="0" bIns="0">
            <a:spAutoFit/>
          </a:bodyPr>
          <a:lstStyle/>
          <a:p>
            <a:r>
              <a:rPr sz="1150" b="0">
                <a:solidFill>
                  <a:srgbClr val="2E2E2E"/>
                </a:solidFill>
                <a:latin typeface="Calibri"/>
              </a:rPr>
              <a:t>North America hair styling products market volume stood at</a:t>
            </a:r>
          </a:p>
        </p:txBody>
      </p:sp>
      <p:pic>
        <p:nvPicPr>
          <p:cNvPr id="54" name="Picture 53" descr="lock.png"/>
          <p:cNvPicPr>
            <a:picLocks noChangeAspect="1"/>
          </p:cNvPicPr>
          <p:nvPr/>
        </p:nvPicPr>
        <p:blipFill>
          <a:blip r:embed="rId6"/>
          <a:stretch>
            <a:fillRect/>
          </a:stretch>
        </p:blipFill>
        <p:spPr>
          <a:xfrm>
            <a:off x="3872102" y="5848032"/>
            <a:ext cx="134549" cy="195707"/>
          </a:xfrm>
          <a:prstGeom prst="rect">
            <a:avLst/>
          </a:prstGeom>
        </p:spPr>
      </p:pic>
      <p:sp>
        <p:nvSpPr>
          <p:cNvPr id="55" name="TextBox 54"/>
          <p:cNvSpPr txBox="1"/>
          <p:nvPr/>
        </p:nvSpPr>
        <p:spPr>
          <a:xfrm>
            <a:off x="4047211" y="5858255"/>
            <a:ext cx="2578447" cy="194310"/>
          </a:xfrm>
          <a:prstGeom prst="rect">
            <a:avLst/>
          </a:prstGeom>
          <a:noFill/>
        </p:spPr>
        <p:txBody>
          <a:bodyPr wrap="none" lIns="0" rIns="0" tIns="0" bIns="0">
            <a:spAutoFit/>
          </a:bodyPr>
          <a:lstStyle/>
          <a:p>
            <a:r>
              <a:rPr sz="1150" b="0">
                <a:solidFill>
                  <a:srgbClr val="2E2E2E"/>
                </a:solidFill>
                <a:latin typeface="Calibri"/>
              </a:rPr>
              <a:t>Mn Units in 2025 and is expected to reach</a:t>
            </a:r>
          </a:p>
        </p:txBody>
      </p:sp>
      <p:pic>
        <p:nvPicPr>
          <p:cNvPr id="56" name="Picture 55" descr="lock.png"/>
          <p:cNvPicPr>
            <a:picLocks noChangeAspect="1"/>
          </p:cNvPicPr>
          <p:nvPr/>
        </p:nvPicPr>
        <p:blipFill>
          <a:blip r:embed="rId6"/>
          <a:stretch>
            <a:fillRect/>
          </a:stretch>
        </p:blipFill>
        <p:spPr>
          <a:xfrm>
            <a:off x="6574812" y="5848032"/>
            <a:ext cx="134549" cy="195707"/>
          </a:xfrm>
          <a:prstGeom prst="rect">
            <a:avLst/>
          </a:prstGeom>
        </p:spPr>
      </p:pic>
      <p:sp>
        <p:nvSpPr>
          <p:cNvPr id="57" name="TextBox 56"/>
          <p:cNvSpPr txBox="1"/>
          <p:nvPr/>
        </p:nvSpPr>
        <p:spPr>
          <a:xfrm>
            <a:off x="6749921" y="5858255"/>
            <a:ext cx="2199326" cy="194310"/>
          </a:xfrm>
          <a:prstGeom prst="rect">
            <a:avLst/>
          </a:prstGeom>
          <a:noFill/>
        </p:spPr>
        <p:txBody>
          <a:bodyPr wrap="none" lIns="0" rIns="0" tIns="0" bIns="0">
            <a:spAutoFit/>
          </a:bodyPr>
          <a:lstStyle/>
          <a:p>
            <a:r>
              <a:rPr sz="1150" b="0">
                <a:solidFill>
                  <a:srgbClr val="2E2E2E"/>
                </a:solidFill>
                <a:latin typeface="Calibri"/>
              </a:rPr>
              <a:t>Mn Units by 2036 end, at a CAGR of</a:t>
            </a:r>
          </a:p>
        </p:txBody>
      </p:sp>
      <p:pic>
        <p:nvPicPr>
          <p:cNvPr id="58" name="Picture 57" descr="lock.png"/>
          <p:cNvPicPr>
            <a:picLocks noChangeAspect="1"/>
          </p:cNvPicPr>
          <p:nvPr/>
        </p:nvPicPr>
        <p:blipFill>
          <a:blip r:embed="rId6"/>
          <a:stretch>
            <a:fillRect/>
          </a:stretch>
        </p:blipFill>
        <p:spPr>
          <a:xfrm>
            <a:off x="8898402" y="5848032"/>
            <a:ext cx="134549" cy="195707"/>
          </a:xfrm>
          <a:prstGeom prst="rect">
            <a:avLst/>
          </a:prstGeom>
        </p:spPr>
      </p:pic>
      <p:sp>
        <p:nvSpPr>
          <p:cNvPr id="59" name="TextBox 58"/>
          <p:cNvSpPr txBox="1"/>
          <p:nvPr/>
        </p:nvSpPr>
        <p:spPr>
          <a:xfrm>
            <a:off x="9073512" y="5858255"/>
            <a:ext cx="2388468" cy="194310"/>
          </a:xfrm>
          <a:prstGeom prst="rect">
            <a:avLst/>
          </a:prstGeom>
          <a:noFill/>
        </p:spPr>
        <p:txBody>
          <a:bodyPr wrap="none" lIns="0" rIns="0" tIns="0" bIns="0">
            <a:spAutoFit/>
          </a:bodyPr>
          <a:lstStyle/>
          <a:p>
            <a:r>
              <a:rPr sz="1150" b="0">
                <a:solidFill>
                  <a:srgbClr val="2E2E2E"/>
                </a:solidFill>
                <a:latin typeface="Calibri"/>
              </a:rPr>
              <a:t>. Value is projected to grow faster than</a:t>
            </a:r>
          </a:p>
        </p:txBody>
      </p:sp>
      <p:sp>
        <p:nvSpPr>
          <p:cNvPr id="60" name="TextBox 59"/>
          <p:cNvSpPr txBox="1"/>
          <p:nvPr/>
        </p:nvSpPr>
        <p:spPr>
          <a:xfrm>
            <a:off x="276225" y="6033515"/>
            <a:ext cx="4708438" cy="194310"/>
          </a:xfrm>
          <a:prstGeom prst="rect">
            <a:avLst/>
          </a:prstGeom>
          <a:noFill/>
        </p:spPr>
        <p:txBody>
          <a:bodyPr wrap="none" lIns="0" rIns="0" tIns="0" bIns="0">
            <a:spAutoFit/>
          </a:bodyPr>
          <a:lstStyle/>
          <a:p>
            <a:r>
              <a:rPr sz="1150" b="0">
                <a:solidFill>
                  <a:srgbClr val="2E2E2E"/>
                </a:solidFill>
                <a:latin typeface="Calibri"/>
              </a:rPr>
              <a:t>volume over the forecast period, owing to an increase in average selling price.</a:t>
            </a:r>
          </a:p>
        </p:txBody>
      </p:sp>
      <p:sp>
        <p:nvSpPr>
          <p:cNvPr id="61" name="lockshield_13"/>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6"/>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4144991"/>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5438002"/>
            <a:ext cx="3743325" cy="440608"/>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3365506"/>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658306"/>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3488754" cy="186689"/>
          </a:xfrm>
          <a:prstGeom prst="rect">
            <a:avLst/>
          </a:prstGeom>
          <a:noFill/>
        </p:spPr>
        <p:txBody>
          <a:bodyPr wrap="none" lIns="0" rIns="0" tIns="0" bIns="0">
            <a:spAutoFit/>
          </a:bodyPr>
          <a:lstStyle/>
          <a:p>
            <a:r>
              <a:rPr sz="1100" b="0">
                <a:solidFill>
                  <a:srgbClr val="2E2E2E"/>
                </a:solidFill>
                <a:latin typeface="Calibri"/>
              </a:rPr>
              <a:t>The U.S. hair styling products market is projected to register</a:t>
            </a:r>
          </a:p>
        </p:txBody>
      </p:sp>
      <p:pic>
        <p:nvPicPr>
          <p:cNvPr id="35" name="Picture 34" descr="lock.png"/>
          <p:cNvPicPr>
            <a:picLocks noChangeAspect="1"/>
          </p:cNvPicPr>
          <p:nvPr/>
        </p:nvPicPr>
        <p:blipFill>
          <a:blip r:embed="rId6"/>
          <a:stretch>
            <a:fillRect/>
          </a:stretch>
        </p:blipFill>
        <p:spPr>
          <a:xfrm>
            <a:off x="3693981" y="6150795"/>
            <a:ext cx="128699" cy="187198"/>
          </a:xfrm>
          <a:prstGeom prst="rect">
            <a:avLst/>
          </a:prstGeom>
        </p:spPr>
      </p:pic>
      <p:sp>
        <p:nvSpPr>
          <p:cNvPr id="36" name="TextBox 35"/>
          <p:cNvSpPr txBox="1"/>
          <p:nvPr/>
        </p:nvSpPr>
        <p:spPr>
          <a:xfrm>
            <a:off x="3861476"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8149289" y="6150795"/>
            <a:ext cx="128699" cy="187198"/>
          </a:xfrm>
          <a:prstGeom prst="rect">
            <a:avLst/>
          </a:prstGeom>
        </p:spPr>
      </p:pic>
      <p:sp>
        <p:nvSpPr>
          <p:cNvPr id="38" name="TextBox 37"/>
          <p:cNvSpPr txBox="1"/>
          <p:nvPr/>
        </p:nvSpPr>
        <p:spPr>
          <a:xfrm>
            <a:off x="8316785"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054817" y="6150795"/>
            <a:ext cx="128699" cy="187198"/>
          </a:xfrm>
          <a:prstGeom prst="rect">
            <a:avLst/>
          </a:prstGeom>
        </p:spPr>
      </p:pic>
      <p:sp>
        <p:nvSpPr>
          <p:cNvPr id="40" name="TextBox 39"/>
          <p:cNvSpPr txBox="1"/>
          <p:nvPr/>
        </p:nvSpPr>
        <p:spPr>
          <a:xfrm>
            <a:off x="9222312"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743075"/>
          </a:xfrm>
          <a:prstGeom prst="roundRect">
            <a:avLst>
              <a:gd name="adj" fmla="val 4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57500"/>
            <a:ext cx="11906250"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619625"/>
            <a:ext cx="3943350"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9434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619625"/>
            <a:ext cx="3819525" cy="1990725"/>
          </a:xfrm>
          <a:prstGeom prst="roundRect">
            <a:avLst>
              <a:gd name="adj" fmla="val 38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9434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'Sticks and Balms'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8 product format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506092" cy="194310"/>
          </a:xfrm>
          <a:prstGeom prst="rect">
            <a:avLst/>
          </a:prstGeom>
          <a:noFill/>
        </p:spPr>
        <p:txBody>
          <a:bodyPr wrap="none" lIns="0" rIns="0" tIns="0" bIns="0">
            <a:spAutoFit/>
          </a:bodyPr>
          <a:lstStyle/>
          <a:p>
            <a:r>
              <a:rPr sz="1150" b="0">
                <a:solidFill>
                  <a:srgbClr val="2E2E2E"/>
                </a:solidFill>
                <a:latin typeface="Calibri"/>
              </a:rPr>
              <a:t>Global hair styling products market is expected to witness</a:t>
            </a:r>
          </a:p>
        </p:txBody>
      </p:sp>
      <p:pic>
        <p:nvPicPr>
          <p:cNvPr id="32" name="Picture 31" descr="lock.png"/>
          <p:cNvPicPr>
            <a:picLocks noChangeAspect="1"/>
          </p:cNvPicPr>
          <p:nvPr/>
        </p:nvPicPr>
        <p:blipFill>
          <a:blip r:embed="rId4"/>
          <a:stretch>
            <a:fillRect/>
          </a:stretch>
        </p:blipFill>
        <p:spPr>
          <a:xfrm>
            <a:off x="3731471" y="1389951"/>
            <a:ext cx="134549" cy="195707"/>
          </a:xfrm>
          <a:prstGeom prst="rect">
            <a:avLst/>
          </a:prstGeom>
        </p:spPr>
      </p:pic>
      <p:sp>
        <p:nvSpPr>
          <p:cNvPr id="33" name="TextBox 32"/>
          <p:cNvSpPr txBox="1"/>
          <p:nvPr/>
        </p:nvSpPr>
        <p:spPr>
          <a:xfrm>
            <a:off x="3906581" y="1400175"/>
            <a:ext cx="5394759" cy="194310"/>
          </a:xfrm>
          <a:prstGeom prst="rect">
            <a:avLst/>
          </a:prstGeom>
          <a:noFill/>
        </p:spPr>
        <p:txBody>
          <a:bodyPr wrap="none" lIns="0" rIns="0" tIns="0" bIns="0">
            <a:spAutoFit/>
          </a:bodyPr>
          <a:lstStyle/>
          <a:p>
            <a:r>
              <a:rPr sz="1150" b="0">
                <a:solidFill>
                  <a:srgbClr val="2E2E2E"/>
                </a:solidFill>
                <a:latin typeface="Calibri"/>
              </a:rPr>
              <a:t>X increase in revenue by 2036 end. Global hair styling products market accounted for US$</a:t>
            </a:r>
          </a:p>
        </p:txBody>
      </p:sp>
      <p:pic>
        <p:nvPicPr>
          <p:cNvPr id="34" name="Picture 33" descr="lock.png"/>
          <p:cNvPicPr>
            <a:picLocks noChangeAspect="1"/>
          </p:cNvPicPr>
          <p:nvPr/>
        </p:nvPicPr>
        <p:blipFill>
          <a:blip r:embed="rId4"/>
          <a:stretch>
            <a:fillRect/>
          </a:stretch>
        </p:blipFill>
        <p:spPr>
          <a:xfrm>
            <a:off x="9250494" y="1389951"/>
            <a:ext cx="134549" cy="195707"/>
          </a:xfrm>
          <a:prstGeom prst="rect">
            <a:avLst/>
          </a:prstGeom>
        </p:spPr>
      </p:pic>
      <p:sp>
        <p:nvSpPr>
          <p:cNvPr id="35" name="TextBox 34"/>
          <p:cNvSpPr txBox="1"/>
          <p:nvPr/>
        </p:nvSpPr>
        <p:spPr>
          <a:xfrm>
            <a:off x="9425603"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6" name="TextBox 35"/>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7" name="Picture 36" descr="lock.png"/>
          <p:cNvPicPr>
            <a:picLocks noChangeAspect="1"/>
          </p:cNvPicPr>
          <p:nvPr/>
        </p:nvPicPr>
        <p:blipFill>
          <a:blip r:embed="rId4"/>
          <a:stretch>
            <a:fillRect/>
          </a:stretch>
        </p:blipFill>
        <p:spPr>
          <a:xfrm>
            <a:off x="1224660" y="1565211"/>
            <a:ext cx="134549" cy="195707"/>
          </a:xfrm>
          <a:prstGeom prst="rect">
            <a:avLst/>
          </a:prstGeom>
        </p:spPr>
      </p:pic>
      <p:sp>
        <p:nvSpPr>
          <p:cNvPr id="38" name="TextBox 37"/>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2876477" y="1565211"/>
            <a:ext cx="134549" cy="195707"/>
          </a:xfrm>
          <a:prstGeom prst="rect">
            <a:avLst/>
          </a:prstGeom>
        </p:spPr>
      </p:pic>
      <p:sp>
        <p:nvSpPr>
          <p:cNvPr id="40" name="TextBox 39"/>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hair styling products market has been analysed on the basis of product format, hold level, finish and distribution channel across the globe. U.S. is expected to remain the largest market</a:t>
            </a:r>
          </a:p>
        </p:txBody>
      </p:sp>
      <p:sp>
        <p:nvSpPr>
          <p:cNvPr id="42" name="TextBox 41"/>
          <p:cNvSpPr txBox="1"/>
          <p:nvPr/>
        </p:nvSpPr>
        <p:spPr>
          <a:xfrm>
            <a:off x="276225" y="1978533"/>
            <a:ext cx="5812638" cy="194310"/>
          </a:xfrm>
          <a:prstGeom prst="rect">
            <a:avLst/>
          </a:prstGeom>
          <a:noFill/>
        </p:spPr>
        <p:txBody>
          <a:bodyPr wrap="none" lIns="0" rIns="0" tIns="0" bIns="0">
            <a:spAutoFit/>
          </a:bodyPr>
          <a:lstStyle/>
          <a:p>
            <a:r>
              <a:rPr sz="1150" b="0">
                <a:solidFill>
                  <a:srgbClr val="2E2E2E"/>
                </a:solidFill>
                <a:latin typeface="Calibri"/>
              </a:rPr>
              <a:t>for hair styling products, while demand in Canada is projected to increase at the highest CAGR of</a:t>
            </a:r>
          </a:p>
        </p:txBody>
      </p:sp>
      <p:pic>
        <p:nvPicPr>
          <p:cNvPr id="43" name="Picture 42" descr="lock.png"/>
          <p:cNvPicPr>
            <a:picLocks noChangeAspect="1"/>
          </p:cNvPicPr>
          <p:nvPr/>
        </p:nvPicPr>
        <p:blipFill>
          <a:blip r:embed="rId4"/>
          <a:stretch>
            <a:fillRect/>
          </a:stretch>
        </p:blipFill>
        <p:spPr>
          <a:xfrm>
            <a:off x="6038017" y="1968309"/>
            <a:ext cx="134549" cy="195707"/>
          </a:xfrm>
          <a:prstGeom prst="rect">
            <a:avLst/>
          </a:prstGeom>
        </p:spPr>
      </p:pic>
      <p:sp>
        <p:nvSpPr>
          <p:cNvPr id="44" name="TextBox 43"/>
          <p:cNvSpPr txBox="1"/>
          <p:nvPr/>
        </p:nvSpPr>
        <p:spPr>
          <a:xfrm>
            <a:off x="6213126"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76600"/>
            <a:ext cx="6476441"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product format category 'Styling Serums and Oils' holds</a:t>
            </a:r>
          </a:p>
        </p:txBody>
      </p:sp>
      <p:pic>
        <p:nvPicPr>
          <p:cNvPr id="46" name="Picture 45" descr="lock.png"/>
          <p:cNvPicPr>
            <a:picLocks noChangeAspect="1"/>
          </p:cNvPicPr>
          <p:nvPr/>
        </p:nvPicPr>
        <p:blipFill>
          <a:blip r:embed="rId4"/>
          <a:stretch>
            <a:fillRect/>
          </a:stretch>
        </p:blipFill>
        <p:spPr>
          <a:xfrm>
            <a:off x="6701820" y="3266376"/>
            <a:ext cx="134549" cy="195707"/>
          </a:xfrm>
          <a:prstGeom prst="rect">
            <a:avLst/>
          </a:prstGeom>
        </p:spPr>
      </p:pic>
      <p:sp>
        <p:nvSpPr>
          <p:cNvPr id="47" name="TextBox 46"/>
          <p:cNvSpPr txBox="1"/>
          <p:nvPr/>
        </p:nvSpPr>
        <p:spPr>
          <a:xfrm>
            <a:off x="6876930"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04437"/>
            <a:ext cx="5173402" cy="194310"/>
          </a:xfrm>
          <a:prstGeom prst="rect">
            <a:avLst/>
          </a:prstGeom>
          <a:noFill/>
        </p:spPr>
        <p:txBody>
          <a:bodyPr wrap="none" lIns="0" rIns="0" tIns="0" bIns="0">
            <a:spAutoFit/>
          </a:bodyPr>
          <a:lstStyle/>
          <a:p>
            <a:r>
              <a:rPr sz="1150" b="0">
                <a:solidFill>
                  <a:srgbClr val="2E2E2E"/>
                </a:solidFill>
                <a:latin typeface="Calibri"/>
              </a:rPr>
              <a:t>▪ Demand spans 2 countries and 7 segmentation lenses (8 product format categories).</a:t>
            </a:r>
          </a:p>
        </p:txBody>
      </p:sp>
      <p:sp>
        <p:nvSpPr>
          <p:cNvPr id="49" name="TextBox 48"/>
          <p:cNvSpPr txBox="1"/>
          <p:nvPr/>
        </p:nvSpPr>
        <p:spPr>
          <a:xfrm>
            <a:off x="276225" y="373227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722052"/>
            <a:ext cx="134549" cy="195707"/>
          </a:xfrm>
          <a:prstGeom prst="rect">
            <a:avLst/>
          </a:prstGeom>
        </p:spPr>
      </p:pic>
      <p:sp>
        <p:nvSpPr>
          <p:cNvPr id="51" name="TextBox 50"/>
          <p:cNvSpPr txBox="1"/>
          <p:nvPr/>
        </p:nvSpPr>
        <p:spPr>
          <a:xfrm>
            <a:off x="2689402"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5038725"/>
            <a:ext cx="2653183" cy="194310"/>
          </a:xfrm>
          <a:prstGeom prst="rect">
            <a:avLst/>
          </a:prstGeom>
          <a:noFill/>
        </p:spPr>
        <p:txBody>
          <a:bodyPr wrap="none" lIns="0" rIns="0" tIns="0" bIns="0">
            <a:spAutoFit/>
          </a:bodyPr>
          <a:lstStyle/>
          <a:p>
            <a:r>
              <a:rPr sz="1150" b="0">
                <a:solidFill>
                  <a:srgbClr val="2E2E2E"/>
                </a:solidFill>
                <a:latin typeface="Calibri"/>
              </a:rPr>
              <a:t>▪ Accelerating uptake of 'Sticks and Balms' (</a:t>
            </a:r>
          </a:p>
        </p:txBody>
      </p:sp>
      <p:pic>
        <p:nvPicPr>
          <p:cNvPr id="53" name="Picture 52" descr="lock.png"/>
          <p:cNvPicPr>
            <a:picLocks noChangeAspect="1"/>
          </p:cNvPicPr>
          <p:nvPr/>
        </p:nvPicPr>
        <p:blipFill>
          <a:blip r:embed="rId4"/>
          <a:stretch>
            <a:fillRect/>
          </a:stretch>
        </p:blipFill>
        <p:spPr>
          <a:xfrm>
            <a:off x="2878562" y="5028501"/>
            <a:ext cx="134549" cy="195707"/>
          </a:xfrm>
          <a:prstGeom prst="rect">
            <a:avLst/>
          </a:prstGeom>
        </p:spPr>
      </p:pic>
      <p:sp>
        <p:nvSpPr>
          <p:cNvPr id="54" name="TextBox 53"/>
          <p:cNvSpPr txBox="1"/>
          <p:nvPr/>
        </p:nvSpPr>
        <p:spPr>
          <a:xfrm>
            <a:off x="3053671" y="503872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266563"/>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6" name="Picture 55" descr="lock.png"/>
          <p:cNvPicPr>
            <a:picLocks noChangeAspect="1"/>
          </p:cNvPicPr>
          <p:nvPr/>
        </p:nvPicPr>
        <p:blipFill>
          <a:blip r:embed="rId4"/>
          <a:stretch>
            <a:fillRect/>
          </a:stretch>
        </p:blipFill>
        <p:spPr>
          <a:xfrm>
            <a:off x="2371889" y="5256339"/>
            <a:ext cx="134549" cy="195707"/>
          </a:xfrm>
          <a:prstGeom prst="rect">
            <a:avLst/>
          </a:prstGeom>
        </p:spPr>
      </p:pic>
      <p:sp>
        <p:nvSpPr>
          <p:cNvPr id="57" name="TextBox 56"/>
          <p:cNvSpPr txBox="1"/>
          <p:nvPr/>
        </p:nvSpPr>
        <p:spPr>
          <a:xfrm>
            <a:off x="2546998" y="5266563"/>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494400"/>
            <a:ext cx="3409106" cy="194310"/>
          </a:xfrm>
          <a:prstGeom prst="rect">
            <a:avLst/>
          </a:prstGeom>
          <a:noFill/>
        </p:spPr>
        <p:txBody>
          <a:bodyPr wrap="none" lIns="0" rIns="0" tIns="0" bIns="0">
            <a:spAutoFit/>
          </a:bodyPr>
          <a:lstStyle/>
          <a:p>
            <a:r>
              <a:rPr sz="1150" b="0">
                <a:solidFill>
                  <a:srgbClr val="2E2E2E"/>
                </a:solidFill>
                <a:latin typeface="Calibri"/>
              </a:rPr>
              <a:t>▪ Momentum in Online Marketplaces within distribution</a:t>
            </a:r>
          </a:p>
        </p:txBody>
      </p:sp>
      <p:sp>
        <p:nvSpPr>
          <p:cNvPr id="59" name="TextBox 58"/>
          <p:cNvSpPr txBox="1"/>
          <p:nvPr/>
        </p:nvSpPr>
        <p:spPr>
          <a:xfrm>
            <a:off x="276225" y="5669660"/>
            <a:ext cx="621890" cy="194310"/>
          </a:xfrm>
          <a:prstGeom prst="rect">
            <a:avLst/>
          </a:prstGeom>
          <a:noFill/>
        </p:spPr>
        <p:txBody>
          <a:bodyPr wrap="none" lIns="0" rIns="0" tIns="0" bIns="0">
            <a:spAutoFit/>
          </a:bodyPr>
          <a:lstStyle/>
          <a:p>
            <a:r>
              <a:rPr sz="1150" b="0">
                <a:solidFill>
                  <a:srgbClr val="2E2E2E"/>
                </a:solidFill>
                <a:latin typeface="Calibri"/>
              </a:rPr>
              <a:t>channel (</a:t>
            </a:r>
          </a:p>
        </p:txBody>
      </p:sp>
      <p:pic>
        <p:nvPicPr>
          <p:cNvPr id="60" name="Picture 59" descr="lock.png"/>
          <p:cNvPicPr>
            <a:picLocks noChangeAspect="1"/>
          </p:cNvPicPr>
          <p:nvPr/>
        </p:nvPicPr>
        <p:blipFill>
          <a:blip r:embed="rId4"/>
          <a:stretch>
            <a:fillRect/>
          </a:stretch>
        </p:blipFill>
        <p:spPr>
          <a:xfrm>
            <a:off x="847269" y="5659437"/>
            <a:ext cx="134549" cy="195707"/>
          </a:xfrm>
          <a:prstGeom prst="rect">
            <a:avLst/>
          </a:prstGeom>
        </p:spPr>
      </p:pic>
      <p:sp>
        <p:nvSpPr>
          <p:cNvPr id="61" name="TextBox 60"/>
          <p:cNvSpPr txBox="1"/>
          <p:nvPr/>
        </p:nvSpPr>
        <p:spPr>
          <a:xfrm>
            <a:off x="1022378"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2" name="TextBox 61"/>
          <p:cNvSpPr txBox="1"/>
          <p:nvPr/>
        </p:nvSpPr>
        <p:spPr>
          <a:xfrm>
            <a:off x="4371975" y="5038725"/>
            <a:ext cx="2619809" cy="194310"/>
          </a:xfrm>
          <a:prstGeom prst="rect">
            <a:avLst/>
          </a:prstGeom>
          <a:noFill/>
        </p:spPr>
        <p:txBody>
          <a:bodyPr wrap="none" lIns="0" rIns="0" tIns="0" bIns="0">
            <a:spAutoFit/>
          </a:bodyPr>
          <a:lstStyle/>
          <a:p>
            <a:r>
              <a:rPr sz="1150" b="0">
                <a:solidFill>
                  <a:srgbClr val="2E2E2E"/>
                </a:solidFill>
                <a:latin typeface="Calibri"/>
              </a:rPr>
              <a:t>▪ Slower momentum in 'Sprays and Mists' (</a:t>
            </a:r>
          </a:p>
        </p:txBody>
      </p:sp>
      <p:pic>
        <p:nvPicPr>
          <p:cNvPr id="63" name="Picture 62" descr="lock.png"/>
          <p:cNvPicPr>
            <a:picLocks noChangeAspect="1"/>
          </p:cNvPicPr>
          <p:nvPr/>
        </p:nvPicPr>
        <p:blipFill>
          <a:blip r:embed="rId4"/>
          <a:stretch>
            <a:fillRect/>
          </a:stretch>
        </p:blipFill>
        <p:spPr>
          <a:xfrm>
            <a:off x="6940938" y="5028501"/>
            <a:ext cx="134549" cy="195707"/>
          </a:xfrm>
          <a:prstGeom prst="rect">
            <a:avLst/>
          </a:prstGeom>
        </p:spPr>
      </p:pic>
      <p:sp>
        <p:nvSpPr>
          <p:cNvPr id="64" name="TextBox 63"/>
          <p:cNvSpPr txBox="1"/>
          <p:nvPr/>
        </p:nvSpPr>
        <p:spPr>
          <a:xfrm>
            <a:off x="7116047"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31599"/>
            <a:ext cx="134549" cy="195707"/>
          </a:xfrm>
          <a:prstGeom prst="rect">
            <a:avLst/>
          </a:prstGeom>
        </p:spPr>
      </p:pic>
      <p:sp>
        <p:nvSpPr>
          <p:cNvPr id="68" name="TextBox 67"/>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669660"/>
            <a:ext cx="3359187" cy="194310"/>
          </a:xfrm>
          <a:prstGeom prst="rect">
            <a:avLst/>
          </a:prstGeom>
          <a:noFill/>
        </p:spPr>
        <p:txBody>
          <a:bodyPr wrap="none" lIns="0" rIns="0" tIns="0" bIns="0">
            <a:spAutoFit/>
          </a:bodyPr>
          <a:lstStyle/>
          <a:p>
            <a:r>
              <a:rPr sz="1150" b="0">
                <a:solidFill>
                  <a:srgbClr val="2E2E2E"/>
                </a:solidFill>
                <a:latin typeface="Calibri"/>
              </a:rPr>
              <a:t>▪ Value concentration in 'Styling Serums and Oils' raises</a:t>
            </a:r>
          </a:p>
        </p:txBody>
      </p:sp>
      <p:sp>
        <p:nvSpPr>
          <p:cNvPr id="70" name="TextBox 69"/>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1430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Capacity and product development are concentrating in 'Sticks and Balms' and in Canada, the fastest-growing country.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Portfolio expansion is tracking the shift toward higher-growth product format categories.</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Commercial focus is intensifying in U.S. and Canada, the two countries that make up the North America market.</a:t>
            </a:r>
          </a:p>
        </p:txBody>
      </p:sp>
      <p:sp>
        <p:nvSpPr>
          <p:cNvPr id="14" name="Rounded Rectangle 13"/>
          <p:cNvSpPr/>
          <p:nvPr/>
        </p:nvSpPr>
        <p:spPr>
          <a:xfrm>
            <a:off x="6172200" y="981075"/>
            <a:ext cx="5876925" cy="1628775"/>
          </a:xfrm>
          <a:prstGeom prst="roundRect">
            <a:avLst>
              <a:gd name="adj" fmla="val 46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1430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743200"/>
            <a:ext cx="5876925" cy="1714500"/>
          </a:xfrm>
          <a:prstGeom prst="roundRect">
            <a:avLst>
              <a:gd name="adj" fmla="val 44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289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0670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152775"/>
            <a:ext cx="5610225" cy="12287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743200"/>
            <a:ext cx="5876925" cy="1714500"/>
          </a:xfrm>
          <a:prstGeom prst="roundRect">
            <a:avLst>
              <a:gd name="adj" fmla="val 44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289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0670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152775"/>
            <a:ext cx="5610225" cy="12287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591050"/>
            <a:ext cx="11906250" cy="2028825"/>
          </a:xfrm>
          <a:prstGeom prst="roundRect">
            <a:avLst>
              <a:gd name="adj" fmla="val 37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6482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Format Share (2036)</a:t>
            </a:r>
          </a:p>
        </p:txBody>
      </p:sp>
      <p:graphicFrame>
        <p:nvGraphicFramePr>
          <p:cNvPr id="28" name="Chart 27"/>
          <p:cNvGraphicFramePr>
            <a:graphicFrameLocks noGrp="1"/>
          </p:cNvGraphicFramePr>
          <p:nvPr/>
        </p:nvGraphicFramePr>
        <p:xfrm>
          <a:off x="238125" y="4876800"/>
          <a:ext cx="11715750" cy="1685925"/>
        </p:xfrm>
        <a:graphic>
          <a:graphicData uri="http://schemas.openxmlformats.org/drawingml/2006/chart">
            <c:chart xmlns:c="http://schemas.openxmlformats.org/drawingml/2006/chart" r:id="rId3"/>
          </a:graphicData>
        </a:graphic>
      </p:graphicFrame>
      <p:sp>
        <p:nvSpPr>
          <p:cNvPr id="29" name="TextBox 28"/>
          <p:cNvSpPr txBox="1"/>
          <p:nvPr/>
        </p:nvSpPr>
        <p:spPr>
          <a:xfrm>
            <a:off x="3935364" y="5605462"/>
            <a:ext cx="806547"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62835" y="5467328"/>
            <a:ext cx="330567" cy="480825"/>
          </a:xfrm>
          <a:prstGeom prst="rect">
            <a:avLst/>
          </a:prstGeom>
        </p:spPr>
      </p:pic>
      <p:sp>
        <p:nvSpPr>
          <p:cNvPr id="32" name="TextBox 31"/>
          <p:cNvSpPr txBox="1"/>
          <p:nvPr/>
        </p:nvSpPr>
        <p:spPr>
          <a:xfrm>
            <a:off x="6305550" y="1400175"/>
            <a:ext cx="1508943" cy="186689"/>
          </a:xfrm>
          <a:prstGeom prst="rect">
            <a:avLst/>
          </a:prstGeom>
          <a:noFill/>
        </p:spPr>
        <p:txBody>
          <a:bodyPr wrap="none" lIns="0" rIns="0" tIns="0" bIns="0">
            <a:spAutoFit/>
          </a:bodyPr>
          <a:lstStyle/>
          <a:p>
            <a:r>
              <a:rPr sz="1100" b="0">
                <a:solidFill>
                  <a:srgbClr val="2E2E2E"/>
                </a:solidFill>
                <a:latin typeface="Calibri"/>
              </a:rPr>
              <a:t>▪ Market value rises from</a:t>
            </a:r>
          </a:p>
        </p:txBody>
      </p:sp>
      <p:pic>
        <p:nvPicPr>
          <p:cNvPr id="33" name="Picture 32" descr="lock.png"/>
          <p:cNvPicPr>
            <a:picLocks noChangeAspect="1"/>
          </p:cNvPicPr>
          <p:nvPr/>
        </p:nvPicPr>
        <p:blipFill>
          <a:blip r:embed="rId5"/>
          <a:stretch>
            <a:fillRect/>
          </a:stretch>
        </p:blipFill>
        <p:spPr>
          <a:xfrm>
            <a:off x="7762545" y="1390396"/>
            <a:ext cx="128699" cy="187198"/>
          </a:xfrm>
          <a:prstGeom prst="rect">
            <a:avLst/>
          </a:prstGeom>
        </p:spPr>
      </p:pic>
      <p:sp>
        <p:nvSpPr>
          <p:cNvPr id="34" name="TextBox 33"/>
          <p:cNvSpPr txBox="1"/>
          <p:nvPr/>
        </p:nvSpPr>
        <p:spPr>
          <a:xfrm>
            <a:off x="7930040" y="1400175"/>
            <a:ext cx="1130498" cy="186689"/>
          </a:xfrm>
          <a:prstGeom prst="rect">
            <a:avLst/>
          </a:prstGeom>
          <a:noFill/>
        </p:spPr>
        <p:txBody>
          <a:bodyPr wrap="none" lIns="0" rIns="0" tIns="0" bIns="0">
            <a:spAutoFit/>
          </a:bodyPr>
          <a:lstStyle/>
          <a:p>
            <a:r>
              <a:rPr sz="1100" b="0">
                <a:solidFill>
                  <a:srgbClr val="2E2E2E"/>
                </a:solidFill>
                <a:latin typeface="Calibri"/>
              </a:rPr>
              <a:t>US$ Mn in 2026 to</a:t>
            </a:r>
          </a:p>
        </p:txBody>
      </p:sp>
      <p:pic>
        <p:nvPicPr>
          <p:cNvPr id="35" name="Picture 34" descr="lock.png"/>
          <p:cNvPicPr>
            <a:picLocks noChangeAspect="1"/>
          </p:cNvPicPr>
          <p:nvPr/>
        </p:nvPicPr>
        <p:blipFill>
          <a:blip r:embed="rId5"/>
          <a:stretch>
            <a:fillRect/>
          </a:stretch>
        </p:blipFill>
        <p:spPr>
          <a:xfrm>
            <a:off x="9008591" y="1390396"/>
            <a:ext cx="128699" cy="187198"/>
          </a:xfrm>
          <a:prstGeom prst="rect">
            <a:avLst/>
          </a:prstGeom>
        </p:spPr>
      </p:pic>
      <p:sp>
        <p:nvSpPr>
          <p:cNvPr id="36" name="TextBox 35"/>
          <p:cNvSpPr txBox="1"/>
          <p:nvPr/>
        </p:nvSpPr>
        <p:spPr>
          <a:xfrm>
            <a:off x="9176086" y="1400175"/>
            <a:ext cx="1013445" cy="186689"/>
          </a:xfrm>
          <a:prstGeom prst="rect">
            <a:avLst/>
          </a:prstGeom>
          <a:noFill/>
        </p:spPr>
        <p:txBody>
          <a:bodyPr wrap="none" lIns="0" rIns="0" tIns="0" bIns="0">
            <a:spAutoFit/>
          </a:bodyPr>
          <a:lstStyle/>
          <a:p>
            <a:r>
              <a:rPr sz="1100" b="0">
                <a:solidFill>
                  <a:srgbClr val="2E2E2E"/>
                </a:solidFill>
                <a:latin typeface="Calibri"/>
              </a:rPr>
              <a:t>US$ Mn in 2036.</a:t>
            </a:r>
          </a:p>
        </p:txBody>
      </p:sp>
      <p:sp>
        <p:nvSpPr>
          <p:cNvPr id="37" name="TextBox 36"/>
          <p:cNvSpPr txBox="1"/>
          <p:nvPr/>
        </p:nvSpPr>
        <p:spPr>
          <a:xfrm>
            <a:off x="6305550" y="1618107"/>
            <a:ext cx="1331572" cy="186689"/>
          </a:xfrm>
          <a:prstGeom prst="rect">
            <a:avLst/>
          </a:prstGeom>
          <a:noFill/>
        </p:spPr>
        <p:txBody>
          <a:bodyPr wrap="none" lIns="0" rIns="0" tIns="0" bIns="0">
            <a:spAutoFit/>
          </a:bodyPr>
          <a:lstStyle/>
          <a:p>
            <a:r>
              <a:rPr sz="1100" b="0">
                <a:solidFill>
                  <a:srgbClr val="2E2E2E"/>
                </a:solidFill>
                <a:latin typeface="Calibri"/>
              </a:rPr>
              <a:t>▪ The forecast CAGR is</a:t>
            </a:r>
          </a:p>
        </p:txBody>
      </p:sp>
      <p:pic>
        <p:nvPicPr>
          <p:cNvPr id="38" name="Picture 37" descr="lock.png"/>
          <p:cNvPicPr>
            <a:picLocks noChangeAspect="1"/>
          </p:cNvPicPr>
          <p:nvPr/>
        </p:nvPicPr>
        <p:blipFill>
          <a:blip r:embed="rId5"/>
          <a:stretch>
            <a:fillRect/>
          </a:stretch>
        </p:blipFill>
        <p:spPr>
          <a:xfrm>
            <a:off x="7585174" y="1608328"/>
            <a:ext cx="128699" cy="187198"/>
          </a:xfrm>
          <a:prstGeom prst="rect">
            <a:avLst/>
          </a:prstGeom>
        </p:spPr>
      </p:pic>
      <p:sp>
        <p:nvSpPr>
          <p:cNvPr id="39" name="TextBox 38"/>
          <p:cNvSpPr txBox="1"/>
          <p:nvPr/>
        </p:nvSpPr>
        <p:spPr>
          <a:xfrm>
            <a:off x="7752670" y="1618107"/>
            <a:ext cx="1008533" cy="186689"/>
          </a:xfrm>
          <a:prstGeom prst="rect">
            <a:avLst/>
          </a:prstGeom>
          <a:noFill/>
        </p:spPr>
        <p:txBody>
          <a:bodyPr wrap="none" lIns="0" rIns="0" tIns="0" bIns="0">
            <a:spAutoFit/>
          </a:bodyPr>
          <a:lstStyle/>
          <a:p>
            <a:r>
              <a:rPr sz="1100" b="0">
                <a:solidFill>
                  <a:srgbClr val="2E2E2E"/>
                </a:solidFill>
                <a:latin typeface="Calibri"/>
              </a:rPr>
              <a:t>over 2026-2036.</a:t>
            </a:r>
          </a:p>
        </p:txBody>
      </p:sp>
      <p:sp>
        <p:nvSpPr>
          <p:cNvPr id="40" name="TextBox 39"/>
          <p:cNvSpPr txBox="1"/>
          <p:nvPr/>
        </p:nvSpPr>
        <p:spPr>
          <a:xfrm>
            <a:off x="6305550" y="1836039"/>
            <a:ext cx="3865016" cy="186689"/>
          </a:xfrm>
          <a:prstGeom prst="rect">
            <a:avLst/>
          </a:prstGeom>
          <a:noFill/>
        </p:spPr>
        <p:txBody>
          <a:bodyPr wrap="none" lIns="0" rIns="0" tIns="0" bIns="0">
            <a:spAutoFit/>
          </a:bodyPr>
          <a:lstStyle/>
          <a:p>
            <a:r>
              <a:rPr sz="1100" b="0">
                <a:solidFill>
                  <a:srgbClr val="2E2E2E"/>
                </a:solidFill>
                <a:latin typeface="Calibri"/>
              </a:rPr>
              <a:t>▪ 'Styling Serums and Oils' is the lead product format category with</a:t>
            </a:r>
          </a:p>
        </p:txBody>
      </p:sp>
      <p:pic>
        <p:nvPicPr>
          <p:cNvPr id="41" name="Picture 40" descr="lock.png"/>
          <p:cNvPicPr>
            <a:picLocks noChangeAspect="1"/>
          </p:cNvPicPr>
          <p:nvPr/>
        </p:nvPicPr>
        <p:blipFill>
          <a:blip r:embed="rId5"/>
          <a:stretch>
            <a:fillRect/>
          </a:stretch>
        </p:blipFill>
        <p:spPr>
          <a:xfrm>
            <a:off x="10118618" y="1826260"/>
            <a:ext cx="128699" cy="187198"/>
          </a:xfrm>
          <a:prstGeom prst="rect">
            <a:avLst/>
          </a:prstGeom>
        </p:spPr>
      </p:pic>
      <p:sp>
        <p:nvSpPr>
          <p:cNvPr id="42" name="TextBox 41"/>
          <p:cNvSpPr txBox="1"/>
          <p:nvPr/>
        </p:nvSpPr>
        <p:spPr>
          <a:xfrm>
            <a:off x="10286114" y="1836039"/>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43" name="TextBox 42"/>
          <p:cNvSpPr txBox="1"/>
          <p:nvPr/>
        </p:nvSpPr>
        <p:spPr>
          <a:xfrm>
            <a:off x="6305550" y="2053970"/>
            <a:ext cx="1749598" cy="186689"/>
          </a:xfrm>
          <a:prstGeom prst="rect">
            <a:avLst/>
          </a:prstGeom>
          <a:noFill/>
        </p:spPr>
        <p:txBody>
          <a:bodyPr wrap="none" lIns="0" rIns="0" tIns="0" bIns="0">
            <a:spAutoFit/>
          </a:bodyPr>
          <a:lstStyle/>
          <a:p>
            <a:r>
              <a:rPr sz="1100" b="0">
                <a:solidFill>
                  <a:srgbClr val="2E2E2E"/>
                </a:solidFill>
                <a:latin typeface="Calibri"/>
              </a:rPr>
              <a:t>▪ U.S. is the lead country with</a:t>
            </a:r>
          </a:p>
        </p:txBody>
      </p:sp>
      <p:pic>
        <p:nvPicPr>
          <p:cNvPr id="44" name="Picture 43" descr="lock.png"/>
          <p:cNvPicPr>
            <a:picLocks noChangeAspect="1"/>
          </p:cNvPicPr>
          <p:nvPr/>
        </p:nvPicPr>
        <p:blipFill>
          <a:blip r:embed="rId5"/>
          <a:stretch>
            <a:fillRect/>
          </a:stretch>
        </p:blipFill>
        <p:spPr>
          <a:xfrm>
            <a:off x="8003200" y="2044192"/>
            <a:ext cx="128699" cy="187198"/>
          </a:xfrm>
          <a:prstGeom prst="rect">
            <a:avLst/>
          </a:prstGeom>
        </p:spPr>
      </p:pic>
      <p:sp>
        <p:nvSpPr>
          <p:cNvPr id="45" name="TextBox 44"/>
          <p:cNvSpPr txBox="1"/>
          <p:nvPr/>
        </p:nvSpPr>
        <p:spPr>
          <a:xfrm>
            <a:off x="8170696" y="2053970"/>
            <a:ext cx="879747"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46" name="TextBox 45"/>
          <p:cNvSpPr txBox="1"/>
          <p:nvPr/>
        </p:nvSpPr>
        <p:spPr>
          <a:xfrm>
            <a:off x="6305550" y="2271903"/>
            <a:ext cx="2841823" cy="186689"/>
          </a:xfrm>
          <a:prstGeom prst="rect">
            <a:avLst/>
          </a:prstGeom>
          <a:noFill/>
        </p:spPr>
        <p:txBody>
          <a:bodyPr wrap="none" lIns="0" rIns="0" tIns="0" bIns="0">
            <a:spAutoFit/>
          </a:bodyPr>
          <a:lstStyle/>
          <a:p>
            <a:r>
              <a:rPr sz="1100" b="0">
                <a:solidFill>
                  <a:srgbClr val="2E2E2E"/>
                </a:solidFill>
                <a:latin typeface="Calibri"/>
              </a:rPr>
              <a:t>▪ The incremental opportunity over 2026-2036 is</a:t>
            </a:r>
          </a:p>
        </p:txBody>
      </p:sp>
      <p:pic>
        <p:nvPicPr>
          <p:cNvPr id="47" name="Picture 46" descr="lock.png"/>
          <p:cNvPicPr>
            <a:picLocks noChangeAspect="1"/>
          </p:cNvPicPr>
          <p:nvPr/>
        </p:nvPicPr>
        <p:blipFill>
          <a:blip r:embed="rId5"/>
          <a:stretch>
            <a:fillRect/>
          </a:stretch>
        </p:blipFill>
        <p:spPr>
          <a:xfrm>
            <a:off x="9095425" y="2262124"/>
            <a:ext cx="128699" cy="187198"/>
          </a:xfrm>
          <a:prstGeom prst="rect">
            <a:avLst/>
          </a:prstGeom>
        </p:spPr>
      </p:pic>
      <p:sp>
        <p:nvSpPr>
          <p:cNvPr id="48" name="TextBox 47"/>
          <p:cNvSpPr txBox="1"/>
          <p:nvPr/>
        </p:nvSpPr>
        <p:spPr>
          <a:xfrm>
            <a:off x="926292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162300"/>
            <a:ext cx="5139742" cy="194310"/>
          </a:xfrm>
          <a:prstGeom prst="rect">
            <a:avLst/>
          </a:prstGeom>
          <a:noFill/>
        </p:spPr>
        <p:txBody>
          <a:bodyPr wrap="none" lIns="0" rIns="0" tIns="0" bIns="0">
            <a:spAutoFit/>
          </a:bodyPr>
          <a:lstStyle/>
          <a:p>
            <a:r>
              <a:rPr sz="1150" b="0">
                <a:solidFill>
                  <a:srgbClr val="2E2E2E"/>
                </a:solidFill>
                <a:latin typeface="Calibri"/>
              </a:rPr>
              <a:t>▪ Investment is flowing toward 'Sticks and Balms', the fastest-growing product format</a:t>
            </a:r>
          </a:p>
        </p:txBody>
      </p:sp>
      <p:sp>
        <p:nvSpPr>
          <p:cNvPr id="50" name="TextBox 49"/>
          <p:cNvSpPr txBox="1"/>
          <p:nvPr/>
        </p:nvSpPr>
        <p:spPr>
          <a:xfrm>
            <a:off x="276225" y="3337560"/>
            <a:ext cx="744835" cy="194310"/>
          </a:xfrm>
          <a:prstGeom prst="rect">
            <a:avLst/>
          </a:prstGeom>
          <a:noFill/>
        </p:spPr>
        <p:txBody>
          <a:bodyPr wrap="none" lIns="0" rIns="0" tIns="0" bIns="0">
            <a:spAutoFit/>
          </a:bodyPr>
          <a:lstStyle/>
          <a:p>
            <a:r>
              <a:rPr sz="1150" b="0">
                <a:solidFill>
                  <a:srgbClr val="2E2E2E"/>
                </a:solidFill>
                <a:latin typeface="Calibri"/>
              </a:rPr>
              <a:t>category at</a:t>
            </a:r>
          </a:p>
        </p:txBody>
      </p:sp>
      <p:pic>
        <p:nvPicPr>
          <p:cNvPr id="51" name="Picture 50" descr="lock.png"/>
          <p:cNvPicPr>
            <a:picLocks noChangeAspect="1"/>
          </p:cNvPicPr>
          <p:nvPr/>
        </p:nvPicPr>
        <p:blipFill>
          <a:blip r:embed="rId5"/>
          <a:stretch>
            <a:fillRect/>
          </a:stretch>
        </p:blipFill>
        <p:spPr>
          <a:xfrm>
            <a:off x="970214" y="3327336"/>
            <a:ext cx="134549" cy="195707"/>
          </a:xfrm>
          <a:prstGeom prst="rect">
            <a:avLst/>
          </a:prstGeom>
        </p:spPr>
      </p:pic>
      <p:sp>
        <p:nvSpPr>
          <p:cNvPr id="52" name="TextBox 51"/>
          <p:cNvSpPr txBox="1"/>
          <p:nvPr/>
        </p:nvSpPr>
        <p:spPr>
          <a:xfrm>
            <a:off x="1145323" y="333756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3" name="TextBox 52"/>
          <p:cNvSpPr txBox="1"/>
          <p:nvPr/>
        </p:nvSpPr>
        <p:spPr>
          <a:xfrm>
            <a:off x="276225" y="3565397"/>
            <a:ext cx="679226" cy="194310"/>
          </a:xfrm>
          <a:prstGeom prst="rect">
            <a:avLst/>
          </a:prstGeom>
          <a:noFill/>
        </p:spPr>
        <p:txBody>
          <a:bodyPr wrap="none" lIns="0" rIns="0" tIns="0" bIns="0">
            <a:spAutoFit/>
          </a:bodyPr>
          <a:lstStyle/>
          <a:p>
            <a:r>
              <a:rPr sz="1150" b="0">
                <a:solidFill>
                  <a:srgbClr val="2E2E2E"/>
                </a:solidFill>
                <a:latin typeface="Calibri"/>
              </a:rPr>
              <a:t>▪ Canada (</a:t>
            </a:r>
          </a:p>
        </p:txBody>
      </p:sp>
      <p:pic>
        <p:nvPicPr>
          <p:cNvPr id="54" name="Picture 53" descr="lock.png"/>
          <p:cNvPicPr>
            <a:picLocks noChangeAspect="1"/>
          </p:cNvPicPr>
          <p:nvPr/>
        </p:nvPicPr>
        <p:blipFill>
          <a:blip r:embed="rId5"/>
          <a:stretch>
            <a:fillRect/>
          </a:stretch>
        </p:blipFill>
        <p:spPr>
          <a:xfrm>
            <a:off x="904605" y="3555174"/>
            <a:ext cx="134549" cy="195707"/>
          </a:xfrm>
          <a:prstGeom prst="rect">
            <a:avLst/>
          </a:prstGeom>
        </p:spPr>
      </p:pic>
      <p:sp>
        <p:nvSpPr>
          <p:cNvPr id="55" name="TextBox 54"/>
          <p:cNvSpPr txBox="1"/>
          <p:nvPr/>
        </p:nvSpPr>
        <p:spPr>
          <a:xfrm>
            <a:off x="1079714" y="3565397"/>
            <a:ext cx="3676656" cy="194310"/>
          </a:xfrm>
          <a:prstGeom prst="rect">
            <a:avLst/>
          </a:prstGeom>
          <a:noFill/>
        </p:spPr>
        <p:txBody>
          <a:bodyPr wrap="none" lIns="0" rIns="0" tIns="0" bIns="0">
            <a:spAutoFit/>
          </a:bodyPr>
          <a:lstStyle/>
          <a:p>
            <a:r>
              <a:rPr sz="1150" b="0">
                <a:solidFill>
                  <a:srgbClr val="2E2E2E"/>
                </a:solidFill>
                <a:latin typeface="Calibri"/>
              </a:rPr>
              <a:t>CAGR) is a priority country for new capacity and distribution.</a:t>
            </a:r>
          </a:p>
        </p:txBody>
      </p:sp>
      <p:sp>
        <p:nvSpPr>
          <p:cNvPr id="56" name="TextBox 55"/>
          <p:cNvSpPr txBox="1"/>
          <p:nvPr/>
        </p:nvSpPr>
        <p:spPr>
          <a:xfrm>
            <a:off x="276225" y="3793235"/>
            <a:ext cx="5421287" cy="194310"/>
          </a:xfrm>
          <a:prstGeom prst="rect">
            <a:avLst/>
          </a:prstGeom>
          <a:noFill/>
        </p:spPr>
        <p:txBody>
          <a:bodyPr wrap="none" lIns="0" rIns="0" tIns="0" bIns="0">
            <a:spAutoFit/>
          </a:bodyPr>
          <a:lstStyle/>
          <a:p>
            <a:r>
              <a:rPr sz="1150" b="0">
                <a:solidFill>
                  <a:srgbClr val="2E2E2E"/>
                </a:solidFill>
                <a:latin typeface="Calibri"/>
              </a:rPr>
              <a:t>▪ Scale players are anchoring their portfolios around 'Styling Serums and Oils', which holds</a:t>
            </a:r>
          </a:p>
        </p:txBody>
      </p:sp>
      <p:pic>
        <p:nvPicPr>
          <p:cNvPr id="57" name="Picture 56" descr="lock.png"/>
          <p:cNvPicPr>
            <a:picLocks noChangeAspect="1"/>
          </p:cNvPicPr>
          <p:nvPr/>
        </p:nvPicPr>
        <p:blipFill>
          <a:blip r:embed="rId5"/>
          <a:stretch>
            <a:fillRect/>
          </a:stretch>
        </p:blipFill>
        <p:spPr>
          <a:xfrm>
            <a:off x="262145" y="3958272"/>
            <a:ext cx="134549" cy="195707"/>
          </a:xfrm>
          <a:prstGeom prst="rect">
            <a:avLst/>
          </a:prstGeom>
        </p:spPr>
      </p:pic>
      <p:sp>
        <p:nvSpPr>
          <p:cNvPr id="58" name="TextBox 57"/>
          <p:cNvSpPr txBox="1"/>
          <p:nvPr/>
        </p:nvSpPr>
        <p:spPr>
          <a:xfrm>
            <a:off x="437254" y="3968495"/>
            <a:ext cx="440469" cy="194310"/>
          </a:xfrm>
          <a:prstGeom prst="rect">
            <a:avLst/>
          </a:prstGeom>
          <a:noFill/>
        </p:spPr>
        <p:txBody>
          <a:bodyPr wrap="none" lIns="0" rIns="0" tIns="0" bIns="0">
            <a:spAutoFit/>
          </a:bodyPr>
          <a:lstStyle/>
          <a:p>
            <a:r>
              <a:rPr sz="1150" b="0">
                <a:solidFill>
                  <a:srgbClr val="2E2E2E"/>
                </a:solidFill>
                <a:latin typeface="Calibri"/>
              </a:rPr>
              <a:t>share.</a:t>
            </a:r>
          </a:p>
        </p:txBody>
      </p:sp>
      <p:sp>
        <p:nvSpPr>
          <p:cNvPr id="59" name="TextBox 58"/>
          <p:cNvSpPr txBox="1"/>
          <p:nvPr/>
        </p:nvSpPr>
        <p:spPr>
          <a:xfrm>
            <a:off x="6305550" y="3162300"/>
            <a:ext cx="5591175" cy="186689"/>
          </a:xfrm>
          <a:prstGeom prst="rect">
            <a:avLst/>
          </a:prstGeom>
          <a:noFill/>
        </p:spPr>
        <p:txBody>
          <a:bodyPr wrap="none" lIns="0" rIns="0" tIns="0" bIns="0">
            <a:spAutoFit/>
          </a:bodyPr>
          <a:lstStyle/>
          <a:p>
            <a:r>
              <a:rPr sz="1100" b="0">
                <a:solidFill>
                  <a:srgbClr val="2E2E2E"/>
                </a:solidFill>
                <a:latin typeface="Calibri"/>
              </a:rPr>
              <a:t>▪ R&amp;D programmes are focused on product design, premium formats and sustainable materials, in</a:t>
            </a:r>
          </a:p>
        </p:txBody>
      </p:sp>
      <p:sp>
        <p:nvSpPr>
          <p:cNvPr id="60" name="TextBox 59"/>
          <p:cNvSpPr txBox="1"/>
          <p:nvPr/>
        </p:nvSpPr>
        <p:spPr>
          <a:xfrm>
            <a:off x="6305550" y="3329940"/>
            <a:ext cx="2880841" cy="186689"/>
          </a:xfrm>
          <a:prstGeom prst="rect">
            <a:avLst/>
          </a:prstGeom>
          <a:noFill/>
        </p:spPr>
        <p:txBody>
          <a:bodyPr wrap="none" lIns="0" rIns="0" tIns="0" bIns="0">
            <a:spAutoFit/>
          </a:bodyPr>
          <a:lstStyle/>
          <a:p>
            <a:r>
              <a:rPr sz="1100" b="0">
                <a:solidFill>
                  <a:srgbClr val="2E2E2E"/>
                </a:solidFill>
                <a:latin typeface="Calibri"/>
              </a:rPr>
              <a:t>line with the migration toward 'Sticks and Balms'.</a:t>
            </a:r>
          </a:p>
        </p:txBody>
      </p:sp>
      <p:sp>
        <p:nvSpPr>
          <p:cNvPr id="61" name="TextBox 60"/>
          <p:cNvSpPr txBox="1"/>
          <p:nvPr/>
        </p:nvSpPr>
        <p:spPr>
          <a:xfrm>
            <a:off x="6305550" y="3547872"/>
            <a:ext cx="5429547" cy="186689"/>
          </a:xfrm>
          <a:prstGeom prst="rect">
            <a:avLst/>
          </a:prstGeom>
          <a:noFill/>
        </p:spPr>
        <p:txBody>
          <a:bodyPr wrap="none" lIns="0" rIns="0" tIns="0" bIns="0">
            <a:spAutoFit/>
          </a:bodyPr>
          <a:lstStyle/>
          <a:p>
            <a:r>
              <a:rPr sz="1100" b="0">
                <a:solidFill>
                  <a:srgbClr val="2E2E2E"/>
                </a:solidFill>
                <a:latin typeface="Calibri"/>
              </a:rPr>
              <a:t>▪ Development spend is targeting the product format categories that gain share through 2036.</a:t>
            </a:r>
          </a:p>
        </p:txBody>
      </p:sp>
      <p:sp>
        <p:nvSpPr>
          <p:cNvPr id="62" name="TextBox 61"/>
          <p:cNvSpPr txBox="1"/>
          <p:nvPr/>
        </p:nvSpPr>
        <p:spPr>
          <a:xfrm>
            <a:off x="6305550" y="376580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3" name="Picture 62" descr="lock.png"/>
          <p:cNvPicPr>
            <a:picLocks noChangeAspect="1"/>
          </p:cNvPicPr>
          <p:nvPr/>
        </p:nvPicPr>
        <p:blipFill>
          <a:blip r:embed="rId5"/>
          <a:stretch>
            <a:fillRect/>
          </a:stretch>
        </p:blipFill>
        <p:spPr>
          <a:xfrm>
            <a:off x="7847947" y="3756025"/>
            <a:ext cx="128699" cy="187198"/>
          </a:xfrm>
          <a:prstGeom prst="rect">
            <a:avLst/>
          </a:prstGeom>
        </p:spPr>
      </p:pic>
      <p:sp>
        <p:nvSpPr>
          <p:cNvPr id="64" name="TextBox 63"/>
          <p:cNvSpPr txBox="1"/>
          <p:nvPr/>
        </p:nvSpPr>
        <p:spPr>
          <a:xfrm>
            <a:off x="8015443" y="3765804"/>
            <a:ext cx="3416977" cy="186689"/>
          </a:xfrm>
          <a:prstGeom prst="rect">
            <a:avLst/>
          </a:prstGeom>
          <a:noFill/>
        </p:spPr>
        <p:txBody>
          <a:bodyPr wrap="none" lIns="0" rIns="0" tIns="0" bIns="0">
            <a:spAutoFit/>
          </a:bodyPr>
          <a:lstStyle/>
          <a:p>
            <a:r>
              <a:rPr sz="1100" b="0">
                <a:solidFill>
                  <a:srgbClr val="2E2E2E"/>
                </a:solidFill>
                <a:latin typeface="Calibri"/>
              </a:rPr>
              <a:t>forecast CAGR by sustaining both volume growth and price</a:t>
            </a:r>
          </a:p>
        </p:txBody>
      </p:sp>
      <p:sp>
        <p:nvSpPr>
          <p:cNvPr id="65" name="TextBox 64"/>
          <p:cNvSpPr txBox="1"/>
          <p:nvPr/>
        </p:nvSpPr>
        <p:spPr>
          <a:xfrm>
            <a:off x="6305550" y="3933444"/>
            <a:ext cx="708669" cy="186689"/>
          </a:xfrm>
          <a:prstGeom prst="rect">
            <a:avLst/>
          </a:prstGeom>
          <a:noFill/>
        </p:spPr>
        <p:txBody>
          <a:bodyPr wrap="none" lIns="0" rIns="0" tIns="0" bIns="0">
            <a:spAutoFit/>
          </a:bodyPr>
          <a:lstStyle/>
          <a:p>
            <a:r>
              <a:rPr sz="1100" b="0">
                <a:solidFill>
                  <a:srgbClr val="2E2E2E"/>
                </a:solidFill>
                <a:latin typeface="Calibri"/>
              </a:rPr>
              <a:t>realisation.</a:t>
            </a:r>
          </a:p>
        </p:txBody>
      </p:sp>
      <p:sp>
        <p:nvSpPr>
          <p:cNvPr id="66" name="lockshield_28"/>
          <p:cNvSpPr/>
          <p:nvPr/>
        </p:nvSpPr>
        <p:spPr>
          <a:xfrm>
            <a:off x="238125" y="4876800"/>
            <a:ext cx="11715750" cy="16859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'Sticks and Balms' category and the 'Online Marketplaces' distribution channel route, where growth outpaces the market.</a:t>
            </a:r>
          </a:p>
        </p:txBody>
      </p:sp>
      <p:sp>
        <p:nvSpPr>
          <p:cNvPr id="18" name="Rounded Rectangle 17"/>
          <p:cNvSpPr/>
          <p:nvPr/>
        </p:nvSpPr>
        <p:spPr>
          <a:xfrm>
            <a:off x="142875"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962275"/>
            <a:ext cx="5876925" cy="1600200"/>
          </a:xfrm>
          <a:prstGeom prst="roundRect">
            <a:avLst>
              <a:gd name="adj" fmla="val 476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048000"/>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2861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71850"/>
            <a:ext cx="5610225" cy="1114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95825"/>
            <a:ext cx="11906250" cy="1914525"/>
          </a:xfrm>
          <a:prstGeom prst="roundRect">
            <a:avLst>
              <a:gd name="adj" fmla="val 3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81550"/>
            <a:ext cx="11639550" cy="209550"/>
          </a:xfrm>
          <a:prstGeom prst="rect">
            <a:avLst/>
          </a:prstGeom>
          <a:noFill/>
        </p:spPr>
        <p:txBody>
          <a:bodyPr wrap="square" lIns="0" rIns="19050" tIns="9525" bIns="9525">
            <a:spAutoFit/>
          </a:bodyPr>
          <a:lstStyle/>
          <a:p>
            <a:pPr algn="l"/>
            <a:r>
              <a:rPr sz="1300" b="1">
                <a:solidFill>
                  <a:srgbClr val="0B2E4A"/>
                </a:solidFill>
                <a:latin typeface="Calibri"/>
              </a:rPr>
              <a:t>FMI Analysis and Recommendation</a:t>
            </a:r>
          </a:p>
        </p:txBody>
      </p:sp>
      <p:sp>
        <p:nvSpPr>
          <p:cNvPr id="28" name="Rectangle 27"/>
          <p:cNvSpPr/>
          <p:nvPr/>
        </p:nvSpPr>
        <p:spPr>
          <a:xfrm>
            <a:off x="276225" y="5019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105400"/>
            <a:ext cx="11639550" cy="14287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Concentrate resources on the leading segment and country while seeding the fastest-growing pockets early.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Defend share in 'Styling Serums and Oils' as the value anchor of the portfolio.</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quality certification and brand trust into the offer to protect pricing as competition intensifies.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256696" cy="194310"/>
          </a:xfrm>
          <a:prstGeom prst="rect">
            <a:avLst/>
          </a:prstGeom>
          <a:noFill/>
        </p:spPr>
        <p:txBody>
          <a:bodyPr wrap="none" lIns="0" rIns="0" tIns="0" bIns="0">
            <a:spAutoFit/>
          </a:bodyPr>
          <a:lstStyle/>
          <a:p>
            <a:r>
              <a:rPr sz="1150" b="0">
                <a:solidFill>
                  <a:srgbClr val="2E2E2E"/>
                </a:solidFill>
                <a:latin typeface="Calibri"/>
              </a:rPr>
              <a:t>▪ Balance scale in 'Styling Serums and Oils' with targeted growth in 'Sticks and Balms' to</a:t>
            </a:r>
          </a:p>
        </p:txBody>
      </p:sp>
      <p:sp>
        <p:nvSpPr>
          <p:cNvPr id="32" name="TextBox 31"/>
          <p:cNvSpPr txBox="1"/>
          <p:nvPr/>
        </p:nvSpPr>
        <p:spPr>
          <a:xfrm>
            <a:off x="276225" y="1575435"/>
            <a:ext cx="765943" cy="194310"/>
          </a:xfrm>
          <a:prstGeom prst="rect">
            <a:avLst/>
          </a:prstGeom>
          <a:noFill/>
        </p:spPr>
        <p:txBody>
          <a:bodyPr wrap="none" lIns="0" rIns="0" tIns="0" bIns="0">
            <a:spAutoFit/>
          </a:bodyPr>
          <a:lstStyle/>
          <a:p>
            <a:r>
              <a:rPr sz="1150" b="0">
                <a:solidFill>
                  <a:srgbClr val="2E2E2E"/>
                </a:solidFill>
                <a:latin typeface="Calibri"/>
              </a:rPr>
              <a:t>capture the</a:t>
            </a:r>
          </a:p>
        </p:txBody>
      </p:sp>
      <p:pic>
        <p:nvPicPr>
          <p:cNvPr id="33" name="Picture 32" descr="lock.png"/>
          <p:cNvPicPr>
            <a:picLocks noChangeAspect="1"/>
          </p:cNvPicPr>
          <p:nvPr/>
        </p:nvPicPr>
        <p:blipFill>
          <a:blip r:embed="rId4"/>
          <a:stretch>
            <a:fillRect/>
          </a:stretch>
        </p:blipFill>
        <p:spPr>
          <a:xfrm>
            <a:off x="991322" y="1565211"/>
            <a:ext cx="134549" cy="195707"/>
          </a:xfrm>
          <a:prstGeom prst="rect">
            <a:avLst/>
          </a:prstGeom>
        </p:spPr>
      </p:pic>
      <p:sp>
        <p:nvSpPr>
          <p:cNvPr id="34" name="TextBox 33"/>
          <p:cNvSpPr txBox="1"/>
          <p:nvPr/>
        </p:nvSpPr>
        <p:spPr>
          <a:xfrm>
            <a:off x="1166432"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1803273"/>
            <a:ext cx="1154174" cy="194310"/>
          </a:xfrm>
          <a:prstGeom prst="rect">
            <a:avLst/>
          </a:prstGeom>
          <a:noFill/>
        </p:spPr>
        <p:txBody>
          <a:bodyPr wrap="none" lIns="0" rIns="0" tIns="0" bIns="0">
            <a:spAutoFit/>
          </a:bodyPr>
          <a:lstStyle/>
          <a:p>
            <a:r>
              <a:rPr sz="1150" b="0">
                <a:solidFill>
                  <a:srgbClr val="2E2E2E"/>
                </a:solidFill>
                <a:latin typeface="Calibri"/>
              </a:rPr>
              <a:t>▪ The market adds</a:t>
            </a:r>
          </a:p>
        </p:txBody>
      </p:sp>
      <p:pic>
        <p:nvPicPr>
          <p:cNvPr id="36" name="Picture 35" descr="lock.png"/>
          <p:cNvPicPr>
            <a:picLocks noChangeAspect="1"/>
          </p:cNvPicPr>
          <p:nvPr/>
        </p:nvPicPr>
        <p:blipFill>
          <a:blip r:embed="rId4"/>
          <a:stretch>
            <a:fillRect/>
          </a:stretch>
        </p:blipFill>
        <p:spPr>
          <a:xfrm>
            <a:off x="1379553" y="1793049"/>
            <a:ext cx="134549" cy="195707"/>
          </a:xfrm>
          <a:prstGeom prst="rect">
            <a:avLst/>
          </a:prstGeom>
        </p:spPr>
      </p:pic>
      <p:sp>
        <p:nvSpPr>
          <p:cNvPr id="37" name="TextBox 36"/>
          <p:cNvSpPr txBox="1"/>
          <p:nvPr/>
        </p:nvSpPr>
        <p:spPr>
          <a:xfrm>
            <a:off x="1554662" y="1803273"/>
            <a:ext cx="1851620"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38" name="Picture 37" descr="lock.png"/>
          <p:cNvPicPr>
            <a:picLocks noChangeAspect="1"/>
          </p:cNvPicPr>
          <p:nvPr/>
        </p:nvPicPr>
        <p:blipFill>
          <a:blip r:embed="rId4"/>
          <a:stretch>
            <a:fillRect/>
          </a:stretch>
        </p:blipFill>
        <p:spPr>
          <a:xfrm>
            <a:off x="3355436" y="1793049"/>
            <a:ext cx="134549" cy="195707"/>
          </a:xfrm>
          <a:prstGeom prst="rect">
            <a:avLst/>
          </a:prstGeom>
        </p:spPr>
      </p:pic>
      <p:sp>
        <p:nvSpPr>
          <p:cNvPr id="39" name="TextBox 38"/>
          <p:cNvSpPr txBox="1"/>
          <p:nvPr/>
        </p:nvSpPr>
        <p:spPr>
          <a:xfrm>
            <a:off x="3530546" y="1803273"/>
            <a:ext cx="1871017" cy="194310"/>
          </a:xfrm>
          <a:prstGeom prst="rect">
            <a:avLst/>
          </a:prstGeom>
          <a:noFill/>
        </p:spPr>
        <p:txBody>
          <a:bodyPr wrap="none" lIns="0" rIns="0" tIns="0" bIns="0">
            <a:spAutoFit/>
          </a:bodyPr>
          <a:lstStyle/>
          <a:p>
            <a:r>
              <a:rPr sz="1150" b="0">
                <a:solidFill>
                  <a:srgbClr val="2E2E2E"/>
                </a:solidFill>
                <a:latin typeface="Calibri"/>
              </a:rPr>
              <a:t>x expansion on the 2026 base.</a:t>
            </a:r>
          </a:p>
        </p:txBody>
      </p:sp>
      <p:sp>
        <p:nvSpPr>
          <p:cNvPr id="40" name="TextBox 39"/>
          <p:cNvSpPr txBox="1"/>
          <p:nvPr/>
        </p:nvSpPr>
        <p:spPr>
          <a:xfrm>
            <a:off x="276225" y="3381375"/>
            <a:ext cx="1851905" cy="194310"/>
          </a:xfrm>
          <a:prstGeom prst="rect">
            <a:avLst/>
          </a:prstGeom>
          <a:noFill/>
        </p:spPr>
        <p:txBody>
          <a:bodyPr wrap="none" lIns="0" rIns="0" tIns="0" bIns="0">
            <a:spAutoFit/>
          </a:bodyPr>
          <a:lstStyle/>
          <a:p>
            <a:r>
              <a:rPr sz="1150" b="0">
                <a:solidFill>
                  <a:srgbClr val="2E2E2E"/>
                </a:solidFill>
                <a:latin typeface="Calibri"/>
              </a:rPr>
              <a:t>▪ Prioritise 'Sticks and Balms' (</a:t>
            </a:r>
          </a:p>
        </p:txBody>
      </p:sp>
      <p:pic>
        <p:nvPicPr>
          <p:cNvPr id="41" name="Picture 40" descr="lock.png"/>
          <p:cNvPicPr>
            <a:picLocks noChangeAspect="1"/>
          </p:cNvPicPr>
          <p:nvPr/>
        </p:nvPicPr>
        <p:blipFill>
          <a:blip r:embed="rId4"/>
          <a:stretch>
            <a:fillRect/>
          </a:stretch>
        </p:blipFill>
        <p:spPr>
          <a:xfrm>
            <a:off x="2077284" y="3371151"/>
            <a:ext cx="134549" cy="195707"/>
          </a:xfrm>
          <a:prstGeom prst="rect">
            <a:avLst/>
          </a:prstGeom>
        </p:spPr>
      </p:pic>
      <p:sp>
        <p:nvSpPr>
          <p:cNvPr id="42" name="TextBox 41"/>
          <p:cNvSpPr txBox="1"/>
          <p:nvPr/>
        </p:nvSpPr>
        <p:spPr>
          <a:xfrm>
            <a:off x="2252393" y="3381375"/>
            <a:ext cx="3491812" cy="194310"/>
          </a:xfrm>
          <a:prstGeom prst="rect">
            <a:avLst/>
          </a:prstGeom>
          <a:noFill/>
        </p:spPr>
        <p:txBody>
          <a:bodyPr wrap="none" lIns="0" rIns="0" tIns="0" bIns="0">
            <a:spAutoFit/>
          </a:bodyPr>
          <a:lstStyle/>
          <a:p>
            <a:r>
              <a:rPr sz="1150" b="0">
                <a:solidFill>
                  <a:srgbClr val="2E2E2E"/>
                </a:solidFill>
                <a:latin typeface="Calibri"/>
              </a:rPr>
              <a:t>CAGR) for growth, while 'Styling Serums and Oils' anchors</a:t>
            </a:r>
          </a:p>
        </p:txBody>
      </p:sp>
      <p:pic>
        <p:nvPicPr>
          <p:cNvPr id="43" name="Picture 42" descr="lock.png"/>
          <p:cNvPicPr>
            <a:picLocks noChangeAspect="1"/>
          </p:cNvPicPr>
          <p:nvPr/>
        </p:nvPicPr>
        <p:blipFill>
          <a:blip r:embed="rId4"/>
          <a:stretch>
            <a:fillRect/>
          </a:stretch>
        </p:blipFill>
        <p:spPr>
          <a:xfrm>
            <a:off x="262145" y="3546411"/>
            <a:ext cx="134549" cy="195707"/>
          </a:xfrm>
          <a:prstGeom prst="rect">
            <a:avLst/>
          </a:prstGeom>
        </p:spPr>
      </p:pic>
      <p:sp>
        <p:nvSpPr>
          <p:cNvPr id="44" name="TextBox 43"/>
          <p:cNvSpPr txBox="1"/>
          <p:nvPr/>
        </p:nvSpPr>
        <p:spPr>
          <a:xfrm>
            <a:off x="437254" y="3556635"/>
            <a:ext cx="1992250" cy="194310"/>
          </a:xfrm>
          <a:prstGeom prst="rect">
            <a:avLst/>
          </a:prstGeom>
          <a:noFill/>
        </p:spPr>
        <p:txBody>
          <a:bodyPr wrap="none" lIns="0" rIns="0" tIns="0" bIns="0">
            <a:spAutoFit/>
          </a:bodyPr>
          <a:lstStyle/>
          <a:p>
            <a:r>
              <a:rPr sz="1150" b="0">
                <a:solidFill>
                  <a:srgbClr val="2E2E2E"/>
                </a:solidFill>
                <a:latin typeface="Calibri"/>
              </a:rPr>
              <a:t>of value and funds the portfolio.</a:t>
            </a:r>
          </a:p>
        </p:txBody>
      </p:sp>
      <p:sp>
        <p:nvSpPr>
          <p:cNvPr id="45" name="TextBox 44"/>
          <p:cNvSpPr txBox="1"/>
          <p:nvPr/>
        </p:nvSpPr>
        <p:spPr>
          <a:xfrm>
            <a:off x="6305550" y="3381375"/>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6" name="Picture 45" descr="lock.png"/>
          <p:cNvPicPr>
            <a:picLocks noChangeAspect="1"/>
          </p:cNvPicPr>
          <p:nvPr/>
        </p:nvPicPr>
        <p:blipFill>
          <a:blip r:embed="rId4"/>
          <a:stretch>
            <a:fillRect/>
          </a:stretch>
        </p:blipFill>
        <p:spPr>
          <a:xfrm>
            <a:off x="7338135" y="3371151"/>
            <a:ext cx="134549" cy="195707"/>
          </a:xfrm>
          <a:prstGeom prst="rect">
            <a:avLst/>
          </a:prstGeom>
        </p:spPr>
      </p:pic>
      <p:sp>
        <p:nvSpPr>
          <p:cNvPr id="47" name="TextBox 46"/>
          <p:cNvSpPr txBox="1"/>
          <p:nvPr/>
        </p:nvSpPr>
        <p:spPr>
          <a:xfrm>
            <a:off x="7513244" y="3381375"/>
            <a:ext cx="2463204" cy="194310"/>
          </a:xfrm>
          <a:prstGeom prst="rect">
            <a:avLst/>
          </a:prstGeom>
          <a:noFill/>
        </p:spPr>
        <p:txBody>
          <a:bodyPr wrap="none" lIns="0" rIns="0" tIns="0" bIns="0">
            <a:spAutoFit/>
          </a:bodyPr>
          <a:lstStyle/>
          <a:p>
            <a:r>
              <a:rPr sz="1150" b="0">
                <a:solidFill>
                  <a:srgbClr val="2E2E2E"/>
                </a:solidFill>
                <a:latin typeface="Calibri"/>
              </a:rPr>
              <a:t>of value) and capture upside in Canada (</a:t>
            </a:r>
          </a:p>
        </p:txBody>
      </p:sp>
      <p:pic>
        <p:nvPicPr>
          <p:cNvPr id="48" name="Picture 47" descr="lock.png"/>
          <p:cNvPicPr>
            <a:picLocks noChangeAspect="1"/>
          </p:cNvPicPr>
          <p:nvPr/>
        </p:nvPicPr>
        <p:blipFill>
          <a:blip r:embed="rId4"/>
          <a:stretch>
            <a:fillRect/>
          </a:stretch>
        </p:blipFill>
        <p:spPr>
          <a:xfrm>
            <a:off x="9925603" y="3371151"/>
            <a:ext cx="134549" cy="195707"/>
          </a:xfrm>
          <a:prstGeom prst="rect">
            <a:avLst/>
          </a:prstGeom>
        </p:spPr>
      </p:pic>
      <p:sp>
        <p:nvSpPr>
          <p:cNvPr id="49" name="TextBox 48"/>
          <p:cNvSpPr txBox="1"/>
          <p:nvPr/>
        </p:nvSpPr>
        <p:spPr>
          <a:xfrm>
            <a:off x="10100712" y="3381375"/>
            <a:ext cx="490941" cy="194310"/>
          </a:xfrm>
          <a:prstGeom prst="rect">
            <a:avLst/>
          </a:prstGeom>
          <a:noFill/>
        </p:spPr>
        <p:txBody>
          <a:bodyPr wrap="none" lIns="0" rIns="0" tIns="0" bIns="0">
            <a:spAutoFit/>
          </a:bodyPr>
          <a:lstStyle/>
          <a:p>
            <a:r>
              <a:rPr sz="1150" b="0">
                <a:solidFill>
                  <a:srgbClr val="2E2E2E"/>
                </a:solidFill>
                <a:latin typeface="Calibri"/>
              </a:rPr>
              <a:t>CAGR).</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OPTIMISTIC (2036)</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CAGR 7.3%</a:t>
            </a:r>
          </a:p>
        </p:txBody>
      </p:sp>
      <p:sp>
        <p:nvSpPr>
          <p:cNvPr id="11" name="Rounded Rectangle 10"/>
          <p:cNvSpPr/>
          <p:nvPr/>
        </p:nvSpPr>
        <p:spPr>
          <a:xfrm>
            <a:off x="4238625"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LIKELY (2036)</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CAGR 6.1%</a:t>
            </a:r>
          </a:p>
        </p:txBody>
      </p:sp>
      <p:sp>
        <p:nvSpPr>
          <p:cNvPr id="12" name="Rounded Rectangle 11"/>
          <p:cNvSpPr/>
          <p:nvPr/>
        </p:nvSpPr>
        <p:spPr>
          <a:xfrm>
            <a:off x="8210550" y="981075"/>
            <a:ext cx="3819525" cy="6096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CONSERVATIVE (2036)</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CAGR 4.5%</a:t>
            </a:r>
          </a:p>
        </p:txBody>
      </p:sp>
      <p:sp>
        <p:nvSpPr>
          <p:cNvPr id="13" name="Rounded Rectangle 12"/>
          <p:cNvSpPr/>
          <p:nvPr/>
        </p:nvSpPr>
        <p:spPr>
          <a:xfrm>
            <a:off x="142875"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Hair Styling Products Market Value (US$ Mn): Scenario Forecast, 2025 and 2036</a:t>
            </a:r>
          </a:p>
        </p:txBody>
      </p:sp>
      <p:cxnSp>
        <p:nvCxnSpPr>
          <p:cNvPr id="15" name="Connector 14"/>
          <p:cNvCxnSpPr/>
          <p:nvPr/>
        </p:nvCxnSpPr>
        <p:spPr>
          <a:xfrm>
            <a:off x="238125" y="413385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35839"/>
            <a:ext cx="635826" cy="698011"/>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07740"/>
            <a:ext cx="635826" cy="1126110"/>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19116"/>
            <a:ext cx="635826" cy="131473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602230"/>
            <a:ext cx="635826" cy="153162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874390"/>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769615"/>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4.5%</a:t>
            </a:r>
          </a:p>
        </p:txBody>
      </p:sp>
      <p:cxnSp>
        <p:nvCxnSpPr>
          <p:cNvPr id="22" name="Connector 21"/>
          <p:cNvCxnSpPr/>
          <p:nvPr/>
        </p:nvCxnSpPr>
        <p:spPr>
          <a:xfrm>
            <a:off x="1456468" y="2617215"/>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12440"/>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6.1%</a:t>
            </a:r>
          </a:p>
        </p:txBody>
      </p:sp>
      <p:cxnSp>
        <p:nvCxnSpPr>
          <p:cNvPr id="24" name="Connector 23"/>
          <p:cNvCxnSpPr/>
          <p:nvPr/>
        </p:nvCxnSpPr>
        <p:spPr>
          <a:xfrm>
            <a:off x="1456468" y="2360040"/>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255265"/>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CAGR: 7.3%</a:t>
            </a:r>
          </a:p>
        </p:txBody>
      </p:sp>
      <p:sp>
        <p:nvSpPr>
          <p:cNvPr id="26" name="TextBox 25"/>
          <p:cNvSpPr txBox="1"/>
          <p:nvPr/>
        </p:nvSpPr>
        <p:spPr>
          <a:xfrm>
            <a:off x="643255"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16242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40055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40055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40055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37197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724025"/>
            <a:ext cx="5876925" cy="2924175"/>
          </a:xfrm>
          <a:prstGeom prst="roundRect">
            <a:avLst>
              <a:gd name="adj" fmla="val 260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78117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Hair Styling Products Market Attractiveness Analysis By Region, 2026–2036</a:t>
            </a:r>
          </a:p>
        </p:txBody>
      </p:sp>
      <p:graphicFrame>
        <p:nvGraphicFramePr>
          <p:cNvPr id="36" name="Chart 35"/>
          <p:cNvGraphicFramePr>
            <a:graphicFrameLocks noGrp="1"/>
          </p:cNvGraphicFramePr>
          <p:nvPr/>
        </p:nvGraphicFramePr>
        <p:xfrm>
          <a:off x="6267450" y="2181225"/>
          <a:ext cx="5686425" cy="2409825"/>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781550"/>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191125"/>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171575"/>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171575"/>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171575"/>
            <a:ext cx="157162" cy="228600"/>
          </a:xfrm>
          <a:prstGeom prst="rect">
            <a:avLst/>
          </a:prstGeom>
        </p:spPr>
      </p:pic>
      <p:sp>
        <p:nvSpPr>
          <p:cNvPr id="45" name="TextBox 44"/>
          <p:cNvSpPr txBox="1"/>
          <p:nvPr/>
        </p:nvSpPr>
        <p:spPr>
          <a:xfrm>
            <a:off x="276225" y="5200650"/>
            <a:ext cx="1993962" cy="194310"/>
          </a:xfrm>
          <a:prstGeom prst="rect">
            <a:avLst/>
          </a:prstGeom>
          <a:noFill/>
        </p:spPr>
        <p:txBody>
          <a:bodyPr wrap="none" lIns="0" rIns="0" tIns="0" bIns="0">
            <a:spAutoFit/>
          </a:bodyPr>
          <a:lstStyle/>
          <a:p>
            <a:r>
              <a:rPr sz="1150" b="0">
                <a:solidFill>
                  <a:srgbClr val="2E2E2E"/>
                </a:solidFill>
                <a:latin typeface="Calibri"/>
              </a:rPr>
              <a:t>▪ Optimistic: the market reaches</a:t>
            </a:r>
          </a:p>
        </p:txBody>
      </p:sp>
      <p:pic>
        <p:nvPicPr>
          <p:cNvPr id="46" name="Picture 45" descr="lock.png"/>
          <p:cNvPicPr>
            <a:picLocks noChangeAspect="1"/>
          </p:cNvPicPr>
          <p:nvPr/>
        </p:nvPicPr>
        <p:blipFill>
          <a:blip r:embed="rId5"/>
          <a:stretch>
            <a:fillRect/>
          </a:stretch>
        </p:blipFill>
        <p:spPr>
          <a:xfrm>
            <a:off x="2219340" y="5190426"/>
            <a:ext cx="134549" cy="195707"/>
          </a:xfrm>
          <a:prstGeom prst="rect">
            <a:avLst/>
          </a:prstGeom>
        </p:spPr>
      </p:pic>
      <p:sp>
        <p:nvSpPr>
          <p:cNvPr id="47" name="TextBox 46"/>
          <p:cNvSpPr txBox="1"/>
          <p:nvPr/>
        </p:nvSpPr>
        <p:spPr>
          <a:xfrm>
            <a:off x="2394450" y="5200650"/>
            <a:ext cx="5283206" cy="194310"/>
          </a:xfrm>
          <a:prstGeom prst="rect">
            <a:avLst/>
          </a:prstGeom>
          <a:noFill/>
        </p:spPr>
        <p:txBody>
          <a:bodyPr wrap="none" lIns="0" rIns="0" tIns="0" bIns="0">
            <a:spAutoFit/>
          </a:bodyPr>
          <a:lstStyle/>
          <a:p>
            <a:r>
              <a:rPr sz="1150" b="0">
                <a:solidFill>
                  <a:srgbClr val="2E2E2E"/>
                </a:solidFill>
                <a:latin typeface="Calibri"/>
              </a:rPr>
              <a:t>US$ Mn by 2036 at 7.3% CAGR, assuming faster adoption and stronger price realisation.</a:t>
            </a:r>
          </a:p>
        </p:txBody>
      </p:sp>
      <p:sp>
        <p:nvSpPr>
          <p:cNvPr id="48" name="TextBox 47"/>
          <p:cNvSpPr txBox="1"/>
          <p:nvPr/>
        </p:nvSpPr>
        <p:spPr>
          <a:xfrm>
            <a:off x="276225" y="5428488"/>
            <a:ext cx="2634071" cy="194310"/>
          </a:xfrm>
          <a:prstGeom prst="rect">
            <a:avLst/>
          </a:prstGeom>
          <a:noFill/>
        </p:spPr>
        <p:txBody>
          <a:bodyPr wrap="none" lIns="0" rIns="0" tIns="0" bIns="0">
            <a:spAutoFit/>
          </a:bodyPr>
          <a:lstStyle/>
          <a:p>
            <a:r>
              <a:rPr sz="1150" b="0">
                <a:solidFill>
                  <a:srgbClr val="2E2E2E"/>
                </a:solidFill>
                <a:latin typeface="Calibri"/>
              </a:rPr>
              <a:t>▪ Likely (base forecast): the market reaches</a:t>
            </a:r>
          </a:p>
        </p:txBody>
      </p:sp>
      <p:pic>
        <p:nvPicPr>
          <p:cNvPr id="49" name="Picture 48" descr="lock.png"/>
          <p:cNvPicPr>
            <a:picLocks noChangeAspect="1"/>
          </p:cNvPicPr>
          <p:nvPr/>
        </p:nvPicPr>
        <p:blipFill>
          <a:blip r:embed="rId5"/>
          <a:stretch>
            <a:fillRect/>
          </a:stretch>
        </p:blipFill>
        <p:spPr>
          <a:xfrm>
            <a:off x="2859450" y="5418264"/>
            <a:ext cx="134549" cy="195707"/>
          </a:xfrm>
          <a:prstGeom prst="rect">
            <a:avLst/>
          </a:prstGeom>
        </p:spPr>
      </p:pic>
      <p:sp>
        <p:nvSpPr>
          <p:cNvPr id="50" name="TextBox 49"/>
          <p:cNvSpPr txBox="1"/>
          <p:nvPr/>
        </p:nvSpPr>
        <p:spPr>
          <a:xfrm>
            <a:off x="3034559" y="5428488"/>
            <a:ext cx="1930047" cy="194310"/>
          </a:xfrm>
          <a:prstGeom prst="rect">
            <a:avLst/>
          </a:prstGeom>
          <a:noFill/>
        </p:spPr>
        <p:txBody>
          <a:bodyPr wrap="none" lIns="0" rIns="0" tIns="0" bIns="0">
            <a:spAutoFit/>
          </a:bodyPr>
          <a:lstStyle/>
          <a:p>
            <a:r>
              <a:rPr sz="1150" b="0">
                <a:solidFill>
                  <a:srgbClr val="2E2E2E"/>
                </a:solidFill>
                <a:latin typeface="Calibri"/>
              </a:rPr>
              <a:t>US$ Mn by 2036 at 6.1% CAGR.</a:t>
            </a:r>
          </a:p>
        </p:txBody>
      </p:sp>
      <p:sp>
        <p:nvSpPr>
          <p:cNvPr id="51" name="TextBox 50"/>
          <p:cNvSpPr txBox="1"/>
          <p:nvPr/>
        </p:nvSpPr>
        <p:spPr>
          <a:xfrm>
            <a:off x="276225" y="5656325"/>
            <a:ext cx="2155415" cy="194310"/>
          </a:xfrm>
          <a:prstGeom prst="rect">
            <a:avLst/>
          </a:prstGeom>
          <a:noFill/>
        </p:spPr>
        <p:txBody>
          <a:bodyPr wrap="none" lIns="0" rIns="0" tIns="0" bIns="0">
            <a:spAutoFit/>
          </a:bodyPr>
          <a:lstStyle/>
          <a:p>
            <a:r>
              <a:rPr sz="1150" b="0">
                <a:solidFill>
                  <a:srgbClr val="2E2E2E"/>
                </a:solidFill>
                <a:latin typeface="Calibri"/>
              </a:rPr>
              <a:t>▪ Conservative: the market reaches</a:t>
            </a:r>
          </a:p>
        </p:txBody>
      </p:sp>
      <p:pic>
        <p:nvPicPr>
          <p:cNvPr id="52" name="Picture 51" descr="lock.png"/>
          <p:cNvPicPr>
            <a:picLocks noChangeAspect="1"/>
          </p:cNvPicPr>
          <p:nvPr/>
        </p:nvPicPr>
        <p:blipFill>
          <a:blip r:embed="rId5"/>
          <a:stretch>
            <a:fillRect/>
          </a:stretch>
        </p:blipFill>
        <p:spPr>
          <a:xfrm>
            <a:off x="2380794" y="5646102"/>
            <a:ext cx="134549" cy="195707"/>
          </a:xfrm>
          <a:prstGeom prst="rect">
            <a:avLst/>
          </a:prstGeom>
        </p:spPr>
      </p:pic>
      <p:sp>
        <p:nvSpPr>
          <p:cNvPr id="53" name="TextBox 52"/>
          <p:cNvSpPr txBox="1"/>
          <p:nvPr/>
        </p:nvSpPr>
        <p:spPr>
          <a:xfrm>
            <a:off x="2555903" y="5656325"/>
            <a:ext cx="4681321" cy="194310"/>
          </a:xfrm>
          <a:prstGeom prst="rect">
            <a:avLst/>
          </a:prstGeom>
          <a:noFill/>
        </p:spPr>
        <p:txBody>
          <a:bodyPr wrap="none" lIns="0" rIns="0" tIns="0" bIns="0">
            <a:spAutoFit/>
          </a:bodyPr>
          <a:lstStyle/>
          <a:p>
            <a:r>
              <a:rPr sz="1150" b="0">
                <a:solidFill>
                  <a:srgbClr val="2E2E2E"/>
                </a:solidFill>
                <a:latin typeface="Calibri"/>
              </a:rPr>
              <a:t>US$ Mn by 2036 at 4.5% CAGR, assuming slower adoption and tighter pricing.</a:t>
            </a:r>
          </a:p>
        </p:txBody>
      </p:sp>
      <p:sp>
        <p:nvSpPr>
          <p:cNvPr id="54" name="TextBox 53"/>
          <p:cNvSpPr txBox="1"/>
          <p:nvPr/>
        </p:nvSpPr>
        <p:spPr>
          <a:xfrm>
            <a:off x="276225" y="5884163"/>
            <a:ext cx="4386671"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plus or minus</a:t>
            </a:r>
          </a:p>
        </p:txBody>
      </p:sp>
      <p:pic>
        <p:nvPicPr>
          <p:cNvPr id="55" name="Picture 54" descr="lock.png"/>
          <p:cNvPicPr>
            <a:picLocks noChangeAspect="1"/>
          </p:cNvPicPr>
          <p:nvPr/>
        </p:nvPicPr>
        <p:blipFill>
          <a:blip r:embed="rId5"/>
          <a:stretch>
            <a:fillRect/>
          </a:stretch>
        </p:blipFill>
        <p:spPr>
          <a:xfrm>
            <a:off x="4612050" y="5873940"/>
            <a:ext cx="134549" cy="195707"/>
          </a:xfrm>
          <a:prstGeom prst="rect">
            <a:avLst/>
          </a:prstGeom>
        </p:spPr>
      </p:pic>
      <p:sp>
        <p:nvSpPr>
          <p:cNvPr id="56" name="TextBox 55"/>
          <p:cNvSpPr txBox="1"/>
          <p:nvPr/>
        </p:nvSpPr>
        <p:spPr>
          <a:xfrm>
            <a:off x="4787159" y="5884163"/>
            <a:ext cx="1158168" cy="194310"/>
          </a:xfrm>
          <a:prstGeom prst="rect">
            <a:avLst/>
          </a:prstGeom>
          <a:noFill/>
        </p:spPr>
        <p:txBody>
          <a:bodyPr wrap="none" lIns="0" rIns="0" tIns="0" bIns="0">
            <a:spAutoFit/>
          </a:bodyPr>
          <a:lstStyle/>
          <a:p>
            <a:r>
              <a:rPr sz="1150" b="0">
                <a:solidFill>
                  <a:srgbClr val="2E2E2E"/>
                </a:solidFill>
                <a:latin typeface="Calibri"/>
              </a:rPr>
              <a:t>across 2026-2036.</a:t>
            </a:r>
          </a:p>
        </p:txBody>
      </p:sp>
      <p:sp>
        <p:nvSpPr>
          <p:cNvPr id="57" name="TextBox 56"/>
          <p:cNvSpPr txBox="1"/>
          <p:nvPr/>
        </p:nvSpPr>
        <p:spPr>
          <a:xfrm>
            <a:off x="276225" y="6112001"/>
            <a:ext cx="3829856" cy="194310"/>
          </a:xfrm>
          <a:prstGeom prst="rect">
            <a:avLst/>
          </a:prstGeom>
          <a:noFill/>
        </p:spPr>
        <p:txBody>
          <a:bodyPr wrap="none" lIns="0" rIns="0" tIns="0" bIns="0">
            <a:spAutoFit/>
          </a:bodyPr>
          <a:lstStyle/>
          <a:p>
            <a:r>
              <a:rPr sz="1150" b="0">
                <a:solidFill>
                  <a:srgbClr val="2E2E2E"/>
                </a:solidFill>
                <a:latin typeface="Calibri"/>
              </a:rPr>
              <a:t>▪ The gap between the optimistic and conservative outcomes is</a:t>
            </a:r>
          </a:p>
        </p:txBody>
      </p:sp>
      <p:pic>
        <p:nvPicPr>
          <p:cNvPr id="58" name="Picture 57" descr="lock.png"/>
          <p:cNvPicPr>
            <a:picLocks noChangeAspect="1"/>
          </p:cNvPicPr>
          <p:nvPr/>
        </p:nvPicPr>
        <p:blipFill>
          <a:blip r:embed="rId5"/>
          <a:stretch>
            <a:fillRect/>
          </a:stretch>
        </p:blipFill>
        <p:spPr>
          <a:xfrm>
            <a:off x="4055235" y="6101778"/>
            <a:ext cx="134549" cy="195707"/>
          </a:xfrm>
          <a:prstGeom prst="rect">
            <a:avLst/>
          </a:prstGeom>
        </p:spPr>
      </p:pic>
      <p:sp>
        <p:nvSpPr>
          <p:cNvPr id="59" name="TextBox 58"/>
          <p:cNvSpPr txBox="1"/>
          <p:nvPr/>
        </p:nvSpPr>
        <p:spPr>
          <a:xfrm>
            <a:off x="4230344" y="6112001"/>
            <a:ext cx="5341416" cy="194310"/>
          </a:xfrm>
          <a:prstGeom prst="rect">
            <a:avLst/>
          </a:prstGeom>
          <a:noFill/>
        </p:spPr>
        <p:txBody>
          <a:bodyPr wrap="none" lIns="0" rIns="0" tIns="0" bIns="0">
            <a:spAutoFit/>
          </a:bodyPr>
          <a:lstStyle/>
          <a:p>
            <a:r>
              <a:rPr sz="1150" b="0">
                <a:solidFill>
                  <a:srgbClr val="2E2E2E"/>
                </a:solidFill>
                <a:latin typeface="Calibri"/>
              </a:rPr>
              <a:t>US$ Mn in 2036, which frames the planning range for capacity and investment decisions.</a:t>
            </a:r>
          </a:p>
        </p:txBody>
      </p:sp>
      <p:sp>
        <p:nvSpPr>
          <p:cNvPr id="60" name="lockshield_36"/>
          <p:cNvSpPr/>
          <p:nvPr/>
        </p:nvSpPr>
        <p:spPr>
          <a:xfrm>
            <a:off x="6267450" y="21812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Hair Styling Products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3" name="Rectangle 22"/>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Rectangle 24"/>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6" name="Oval 25"/>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30" name="Rectangle 29"/>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Rectangle 31"/>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3" name="Oval 32"/>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6" name="Rectangle 35"/>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8" name="Rounded Rectangle 3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40" name="Rectangle 39"/>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2" name="Rounded Rectangle 4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4" name="Rectangle 43"/>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6" name="Rectangle 4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8" name="TextBox 4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9" name="TextBox 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0" name="Picture 49" descr="lock.png"/>
          <p:cNvPicPr>
            <a:picLocks noChangeAspect="1"/>
          </p:cNvPicPr>
          <p:nvPr/>
        </p:nvPicPr>
        <p:blipFill>
          <a:blip r:embed="rId4"/>
          <a:stretch>
            <a:fillRect/>
          </a:stretch>
        </p:blipFill>
        <p:spPr>
          <a:xfrm>
            <a:off x="4250888" y="233992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2832772"/>
            <a:ext cx="175498" cy="255270"/>
          </a:xfrm>
          <a:prstGeom prst="rect">
            <a:avLst/>
          </a:prstGeom>
        </p:spPr>
      </p:pic>
      <p:pic>
        <p:nvPicPr>
          <p:cNvPr id="52" name="Picture 51" descr="lock.png"/>
          <p:cNvPicPr>
            <a:picLocks noChangeAspect="1"/>
          </p:cNvPicPr>
          <p:nvPr/>
        </p:nvPicPr>
        <p:blipFill>
          <a:blip r:embed="rId4"/>
          <a:stretch>
            <a:fillRect/>
          </a:stretch>
        </p:blipFill>
        <p:spPr>
          <a:xfrm>
            <a:off x="4250888" y="33256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33992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2832772"/>
            <a:ext cx="175498" cy="255270"/>
          </a:xfrm>
          <a:prstGeom prst="rect">
            <a:avLst/>
          </a:prstGeom>
        </p:spPr>
      </p:pic>
      <p:pic>
        <p:nvPicPr>
          <p:cNvPr id="55" name="Picture 54" descr="lock.png"/>
          <p:cNvPicPr>
            <a:picLocks noChangeAspect="1"/>
          </p:cNvPicPr>
          <p:nvPr/>
        </p:nvPicPr>
        <p:blipFill>
          <a:blip r:embed="rId4"/>
          <a:stretch>
            <a:fillRect/>
          </a:stretch>
        </p:blipFill>
        <p:spPr>
          <a:xfrm>
            <a:off x="9308663" y="3325622"/>
            <a:ext cx="175498" cy="255270"/>
          </a:xfrm>
          <a:prstGeom prst="rect">
            <a:avLst/>
          </a:prstGeom>
        </p:spPr>
      </p:pic>
      <p:sp>
        <p:nvSpPr>
          <p:cNvPr id="56" name="TextBox 55"/>
          <p:cNvSpPr txBox="1"/>
          <p:nvPr/>
        </p:nvSpPr>
        <p:spPr>
          <a:xfrm>
            <a:off x="485775" y="4229437"/>
            <a:ext cx="2868562" cy="186689"/>
          </a:xfrm>
          <a:prstGeom prst="rect">
            <a:avLst/>
          </a:prstGeom>
          <a:noFill/>
        </p:spPr>
        <p:txBody>
          <a:bodyPr wrap="none" lIns="0" rIns="0" tIns="0" bIns="0">
            <a:spAutoFit/>
          </a:bodyPr>
          <a:lstStyle/>
          <a:p>
            <a:r>
              <a:rPr sz="1100" b="0">
                <a:solidFill>
                  <a:srgbClr val="2E2E2E"/>
                </a:solidFill>
                <a:latin typeface="Calibri"/>
              </a:rPr>
              <a:t>The U.S. hair styling products market is projected</a:t>
            </a:r>
          </a:p>
        </p:txBody>
      </p:sp>
      <p:sp>
        <p:nvSpPr>
          <p:cNvPr id="57" name="TextBox 56"/>
          <p:cNvSpPr txBox="1"/>
          <p:nvPr/>
        </p:nvSpPr>
        <p:spPr>
          <a:xfrm>
            <a:off x="485775" y="4397077"/>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58" name="Picture 57" descr="lock.png"/>
          <p:cNvPicPr>
            <a:picLocks noChangeAspect="1"/>
          </p:cNvPicPr>
          <p:nvPr/>
        </p:nvPicPr>
        <p:blipFill>
          <a:blip r:embed="rId4"/>
          <a:stretch>
            <a:fillRect/>
          </a:stretch>
        </p:blipFill>
        <p:spPr>
          <a:xfrm>
            <a:off x="1098567" y="4387298"/>
            <a:ext cx="128699" cy="187198"/>
          </a:xfrm>
          <a:prstGeom prst="rect">
            <a:avLst/>
          </a:prstGeom>
        </p:spPr>
      </p:pic>
      <p:sp>
        <p:nvSpPr>
          <p:cNvPr id="59" name="TextBox 58"/>
          <p:cNvSpPr txBox="1"/>
          <p:nvPr/>
        </p:nvSpPr>
        <p:spPr>
          <a:xfrm>
            <a:off x="1266063" y="4397077"/>
            <a:ext cx="2113855" cy="186689"/>
          </a:xfrm>
          <a:prstGeom prst="rect">
            <a:avLst/>
          </a:prstGeom>
          <a:noFill/>
        </p:spPr>
        <p:txBody>
          <a:bodyPr wrap="none" lIns="0" rIns="0" tIns="0" bIns="0">
            <a:spAutoFit/>
          </a:bodyPr>
          <a:lstStyle/>
          <a:p>
            <a:r>
              <a:rPr sz="1100" b="0">
                <a:solidFill>
                  <a:srgbClr val="2E2E2E"/>
                </a:solidFill>
                <a:latin typeface="Calibri"/>
              </a:rPr>
              <a:t>X higher value than Canada in 2036.</a:t>
            </a:r>
          </a:p>
        </p:txBody>
      </p:sp>
      <p:sp>
        <p:nvSpPr>
          <p:cNvPr id="60" name="TextBox 59"/>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Among hair styling products by country, Canada is</a:t>
            </a:r>
          </a:p>
        </p:txBody>
      </p:sp>
      <p:sp>
        <p:nvSpPr>
          <p:cNvPr id="61" name="TextBox 60"/>
          <p:cNvSpPr txBox="1"/>
          <p:nvPr/>
        </p:nvSpPr>
        <p:spPr>
          <a:xfrm>
            <a:off x="485775" y="473235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2" name="Picture 61" descr="lock.png"/>
          <p:cNvPicPr>
            <a:picLocks noChangeAspect="1"/>
          </p:cNvPicPr>
          <p:nvPr/>
        </p:nvPicPr>
        <p:blipFill>
          <a:blip r:embed="rId4"/>
          <a:stretch>
            <a:fillRect/>
          </a:stretch>
        </p:blipFill>
        <p:spPr>
          <a:xfrm>
            <a:off x="2815059" y="4722578"/>
            <a:ext cx="128699" cy="187198"/>
          </a:xfrm>
          <a:prstGeom prst="rect">
            <a:avLst/>
          </a:prstGeom>
        </p:spPr>
      </p:pic>
      <p:sp>
        <p:nvSpPr>
          <p:cNvPr id="63" name="TextBox 62"/>
          <p:cNvSpPr txBox="1"/>
          <p:nvPr/>
        </p:nvSpPr>
        <p:spPr>
          <a:xfrm>
            <a:off x="2982555" y="473235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4" name="TextBox 63"/>
          <p:cNvSpPr txBox="1"/>
          <p:nvPr/>
        </p:nvSpPr>
        <p:spPr>
          <a:xfrm>
            <a:off x="485775" y="489999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65" name="TextBox 64"/>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6" name="TextBox 65"/>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7" name="Picture 66" descr="lock.png"/>
          <p:cNvPicPr>
            <a:picLocks noChangeAspect="1"/>
          </p:cNvPicPr>
          <p:nvPr/>
        </p:nvPicPr>
        <p:blipFill>
          <a:blip r:embed="rId4"/>
          <a:stretch>
            <a:fillRect/>
          </a:stretch>
        </p:blipFill>
        <p:spPr>
          <a:xfrm>
            <a:off x="2268827" y="5275790"/>
            <a:ext cx="128699" cy="187198"/>
          </a:xfrm>
          <a:prstGeom prst="rect">
            <a:avLst/>
          </a:prstGeom>
        </p:spPr>
      </p:pic>
      <p:sp>
        <p:nvSpPr>
          <p:cNvPr id="68" name="TextBox 67"/>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9" name="TextBox 68"/>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0" name="Picture 69" descr="lock.png"/>
          <p:cNvPicPr>
            <a:picLocks noChangeAspect="1"/>
          </p:cNvPicPr>
          <p:nvPr/>
        </p:nvPicPr>
        <p:blipFill>
          <a:blip r:embed="rId4"/>
          <a:stretch>
            <a:fillRect/>
          </a:stretch>
        </p:blipFill>
        <p:spPr>
          <a:xfrm>
            <a:off x="1330764" y="5443430"/>
            <a:ext cx="128699" cy="187198"/>
          </a:xfrm>
          <a:prstGeom prst="rect">
            <a:avLst/>
          </a:prstGeom>
        </p:spPr>
      </p:pic>
      <p:sp>
        <p:nvSpPr>
          <p:cNvPr id="71" name="TextBox 70"/>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2" name="TextBox 71"/>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3" name="Picture 72" descr="lock.png"/>
          <p:cNvPicPr>
            <a:picLocks noChangeAspect="1"/>
          </p:cNvPicPr>
          <p:nvPr/>
        </p:nvPicPr>
        <p:blipFill>
          <a:blip r:embed="rId4"/>
          <a:stretch>
            <a:fillRect/>
          </a:stretch>
        </p:blipFill>
        <p:spPr>
          <a:xfrm>
            <a:off x="4240453" y="4219658"/>
            <a:ext cx="128699" cy="187198"/>
          </a:xfrm>
          <a:prstGeom prst="rect">
            <a:avLst/>
          </a:prstGeom>
        </p:spPr>
      </p:pic>
      <p:sp>
        <p:nvSpPr>
          <p:cNvPr id="74" name="TextBox 73"/>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4"/>
          <a:stretch>
            <a:fillRect/>
          </a:stretch>
        </p:blipFill>
        <p:spPr>
          <a:xfrm>
            <a:off x="5267399" y="4219658"/>
            <a:ext cx="128699" cy="187198"/>
          </a:xfrm>
          <a:prstGeom prst="rect">
            <a:avLst/>
          </a:prstGeom>
        </p:spPr>
      </p:pic>
      <p:sp>
        <p:nvSpPr>
          <p:cNvPr id="76" name="TextBox 75"/>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7" name="TextBox 76"/>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8" name="Picture 77" descr="lock.png"/>
          <p:cNvPicPr>
            <a:picLocks noChangeAspect="1"/>
          </p:cNvPicPr>
          <p:nvPr/>
        </p:nvPicPr>
        <p:blipFill>
          <a:blip r:embed="rId4"/>
          <a:stretch>
            <a:fillRect/>
          </a:stretch>
        </p:blipFill>
        <p:spPr>
          <a:xfrm>
            <a:off x="4437997" y="4437590"/>
            <a:ext cx="128699" cy="187198"/>
          </a:xfrm>
          <a:prstGeom prst="rect">
            <a:avLst/>
          </a:prstGeom>
        </p:spPr>
      </p:pic>
      <p:sp>
        <p:nvSpPr>
          <p:cNvPr id="79" name="TextBox 78"/>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4"/>
          <a:stretch>
            <a:fillRect/>
          </a:stretch>
        </p:blipFill>
        <p:spPr>
          <a:xfrm>
            <a:off x="5464943" y="4437590"/>
            <a:ext cx="128699" cy="187198"/>
          </a:xfrm>
          <a:prstGeom prst="rect">
            <a:avLst/>
          </a:prstGeom>
        </p:spPr>
      </p:pic>
      <p:sp>
        <p:nvSpPr>
          <p:cNvPr id="81" name="TextBox 80"/>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2" name="TextBox 81"/>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3" name="TextBox 82"/>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4" name="Picture 83" descr="lock.png"/>
          <p:cNvPicPr>
            <a:picLocks noChangeAspect="1"/>
          </p:cNvPicPr>
          <p:nvPr/>
        </p:nvPicPr>
        <p:blipFill>
          <a:blip r:embed="rId4"/>
          <a:stretch>
            <a:fillRect/>
          </a:stretch>
        </p:blipFill>
        <p:spPr>
          <a:xfrm>
            <a:off x="9048826" y="6007677"/>
            <a:ext cx="134549" cy="195707"/>
          </a:xfrm>
          <a:prstGeom prst="rect">
            <a:avLst/>
          </a:prstGeom>
        </p:spPr>
      </p:pic>
      <p:sp>
        <p:nvSpPr>
          <p:cNvPr id="85" name="TextBox 84"/>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Analysis, By Country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64039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63563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5943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1"/>
          <p:cNvSpPr txBox="1"/>
          <p:nvPr/>
        </p:nvSpPr>
        <p:spPr>
          <a:xfrm>
            <a:off x="6305550" y="16213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3473957"/>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34691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339299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2"/>
          <p:cNvSpPr txBox="1"/>
          <p:nvPr/>
        </p:nvSpPr>
        <p:spPr>
          <a:xfrm>
            <a:off x="6305550" y="34549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6" name="Rectangle 25"/>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(MN UNITS)</a:t>
            </a:r>
          </a:p>
          <a:p>
            <a:pPr algn="ctr">
              <a:lnSpc>
                <a:spcPct val="95000"/>
              </a:lnSpc>
            </a:pPr>
            <a:r>
              <a:rPr sz="2000" b="1">
                <a:solidFill>
                  <a:srgbClr val="0E72AE"/>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(MN UNITS)</a:t>
            </a:r>
          </a:p>
          <a:p>
            <a:pPr algn="ctr">
              <a:lnSpc>
                <a:spcPct val="95000"/>
              </a:lnSpc>
            </a:pPr>
            <a:r>
              <a:rPr sz="2000" b="1">
                <a:solidFill>
                  <a:srgbClr val="0E72AE"/>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368867" y="3171825"/>
            <a:ext cx="275034" cy="400050"/>
          </a:xfrm>
          <a:prstGeom prst="rect">
            <a:avLst/>
          </a:prstGeom>
        </p:spPr>
      </p:pic>
      <p:pic>
        <p:nvPicPr>
          <p:cNvPr id="33" name="Picture 32" descr="lock.png"/>
          <p:cNvPicPr>
            <a:picLocks noChangeAspect="1"/>
          </p:cNvPicPr>
          <p:nvPr/>
        </p:nvPicPr>
        <p:blipFill>
          <a:blip r:embed="rId5"/>
          <a:stretch>
            <a:fillRect/>
          </a:stretch>
        </p:blipFill>
        <p:spPr>
          <a:xfrm>
            <a:off x="2009775"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6043612"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10015537" y="6070282"/>
            <a:ext cx="209550" cy="304800"/>
          </a:xfrm>
          <a:prstGeom prst="rect">
            <a:avLst/>
          </a:prstGeom>
        </p:spPr>
      </p:pic>
      <p:sp>
        <p:nvSpPr>
          <p:cNvPr id="36" name="TextBox 35"/>
          <p:cNvSpPr txBox="1"/>
          <p:nvPr/>
        </p:nvSpPr>
        <p:spPr>
          <a:xfrm>
            <a:off x="7239000" y="1400175"/>
            <a:ext cx="3643870" cy="194310"/>
          </a:xfrm>
          <a:prstGeom prst="rect">
            <a:avLst/>
          </a:prstGeom>
          <a:noFill/>
        </p:spPr>
        <p:txBody>
          <a:bodyPr wrap="none" lIns="0" rIns="0" tIns="0" bIns="0">
            <a:spAutoFit/>
          </a:bodyPr>
          <a:lstStyle/>
          <a:p>
            <a:r>
              <a:rPr sz="1150" b="0">
                <a:solidFill>
                  <a:srgbClr val="2E2E2E"/>
                </a:solidFill>
                <a:latin typeface="Calibri"/>
              </a:rPr>
              <a:t>The U.S. hair styling products market is projected to register</a:t>
            </a:r>
          </a:p>
        </p:txBody>
      </p:sp>
      <p:pic>
        <p:nvPicPr>
          <p:cNvPr id="37" name="Picture 36" descr="lock.png"/>
          <p:cNvPicPr>
            <a:picLocks noChangeAspect="1"/>
          </p:cNvPicPr>
          <p:nvPr/>
        </p:nvPicPr>
        <p:blipFill>
          <a:blip r:embed="rId5"/>
          <a:stretch>
            <a:fillRect/>
          </a:stretch>
        </p:blipFill>
        <p:spPr>
          <a:xfrm>
            <a:off x="10832024" y="1389951"/>
            <a:ext cx="134549" cy="195707"/>
          </a:xfrm>
          <a:prstGeom prst="rect">
            <a:avLst/>
          </a:prstGeom>
        </p:spPr>
      </p:pic>
      <p:sp>
        <p:nvSpPr>
          <p:cNvPr id="38" name="TextBox 37"/>
          <p:cNvSpPr txBox="1"/>
          <p:nvPr/>
        </p:nvSpPr>
        <p:spPr>
          <a:xfrm>
            <a:off x="11007133"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9" name="TextBox 38"/>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volume than Canada in 2036. Among hair styling products by country, Canada</a:t>
            </a:r>
          </a:p>
        </p:txBody>
      </p:sp>
      <p:sp>
        <p:nvSpPr>
          <p:cNvPr id="40" name="TextBox 39"/>
          <p:cNvSpPr txBox="1"/>
          <p:nvPr/>
        </p:nvSpPr>
        <p:spPr>
          <a:xfrm>
            <a:off x="7239000" y="175069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41" name="Picture 40" descr="lock.png"/>
          <p:cNvPicPr>
            <a:picLocks noChangeAspect="1"/>
          </p:cNvPicPr>
          <p:nvPr/>
        </p:nvPicPr>
        <p:blipFill>
          <a:blip r:embed="rId5"/>
          <a:stretch>
            <a:fillRect/>
          </a:stretch>
        </p:blipFill>
        <p:spPr>
          <a:xfrm>
            <a:off x="9797961" y="1740471"/>
            <a:ext cx="134549" cy="195707"/>
          </a:xfrm>
          <a:prstGeom prst="rect">
            <a:avLst/>
          </a:prstGeom>
        </p:spPr>
      </p:pic>
      <p:sp>
        <p:nvSpPr>
          <p:cNvPr id="42" name="TextBox 41"/>
          <p:cNvSpPr txBox="1"/>
          <p:nvPr/>
        </p:nvSpPr>
        <p:spPr>
          <a:xfrm>
            <a:off x="99730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3" name="TextBox 42"/>
          <p:cNvSpPr txBox="1"/>
          <p:nvPr/>
        </p:nvSpPr>
        <p:spPr>
          <a:xfrm>
            <a:off x="7239000" y="197853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4" name="TextBox 43"/>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5" name="Picture 44" descr="lock.png"/>
          <p:cNvPicPr>
            <a:picLocks noChangeAspect="1"/>
          </p:cNvPicPr>
          <p:nvPr/>
        </p:nvPicPr>
        <p:blipFill>
          <a:blip r:embed="rId5"/>
          <a:stretch>
            <a:fillRect/>
          </a:stretch>
        </p:blipFill>
        <p:spPr>
          <a:xfrm>
            <a:off x="8106708" y="2143569"/>
            <a:ext cx="134549" cy="195707"/>
          </a:xfrm>
          <a:prstGeom prst="rect">
            <a:avLst/>
          </a:prstGeom>
        </p:spPr>
      </p:pic>
      <p:sp>
        <p:nvSpPr>
          <p:cNvPr id="46" name="TextBox 45"/>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9676961" y="2143569"/>
            <a:ext cx="134549" cy="195707"/>
          </a:xfrm>
          <a:prstGeom prst="rect">
            <a:avLst/>
          </a:prstGeom>
        </p:spPr>
      </p:pic>
      <p:sp>
        <p:nvSpPr>
          <p:cNvPr id="48" name="TextBox 47"/>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3" name="Chart 12"/>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4" name="TextBox 13"/>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5" name="FMI Lock Anchor"/>
          <p:cNvSpPr txBox="1"/>
          <p:nvPr/>
        </p:nvSpPr>
        <p:spPr>
          <a:xfrm>
            <a:off x="2489835" y="3352800"/>
            <a:ext cx="38100" cy="38100"/>
          </a:xfrm>
          <a:prstGeom prst="rect">
            <a:avLst/>
          </a:prstGeom>
          <a:noFill/>
        </p:spPr>
        <p:txBody>
          <a:bodyPr wrap="none">
            <a:spAutoFit/>
          </a:bodyPr>
          <a:lstStyle/>
          <a:p/>
        </p:txBody>
      </p:sp>
      <p:sp>
        <p:nvSpPr>
          <p:cNvPr id="16" name="FMI Legend Chip"/>
          <p:cNvSpPr/>
          <p:nvPr/>
        </p:nvSpPr>
        <p:spPr>
          <a:xfrm>
            <a:off x="4551045" y="163826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63350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4855845" y="155730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1"/>
          <p:cNvSpPr txBox="1"/>
          <p:nvPr/>
        </p:nvSpPr>
        <p:spPr>
          <a:xfrm>
            <a:off x="6305550" y="161921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551045" y="347182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346706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4855845" y="339086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2"/>
          <p:cNvSpPr txBox="1"/>
          <p:nvPr/>
        </p:nvSpPr>
        <p:spPr>
          <a:xfrm>
            <a:off x="6305550" y="345277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6" name="Rectangle 25"/>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2368867" y="3171825"/>
            <a:ext cx="275034" cy="400050"/>
          </a:xfrm>
          <a:prstGeom prst="rect">
            <a:avLst/>
          </a:prstGeom>
        </p:spPr>
      </p:pic>
      <p:pic>
        <p:nvPicPr>
          <p:cNvPr id="33" name="Picture 32" descr="lock.png"/>
          <p:cNvPicPr>
            <a:picLocks noChangeAspect="1"/>
          </p:cNvPicPr>
          <p:nvPr/>
        </p:nvPicPr>
        <p:blipFill>
          <a:blip r:embed="rId5"/>
          <a:stretch>
            <a:fillRect/>
          </a:stretch>
        </p:blipFill>
        <p:spPr>
          <a:xfrm>
            <a:off x="2009775"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6043612"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10015537" y="6070282"/>
            <a:ext cx="209550" cy="304800"/>
          </a:xfrm>
          <a:prstGeom prst="rect">
            <a:avLst/>
          </a:prstGeom>
        </p:spPr>
      </p:pic>
      <p:sp>
        <p:nvSpPr>
          <p:cNvPr id="36" name="TextBox 35"/>
          <p:cNvSpPr txBox="1"/>
          <p:nvPr/>
        </p:nvSpPr>
        <p:spPr>
          <a:xfrm>
            <a:off x="7239000" y="1400175"/>
            <a:ext cx="3643870" cy="194310"/>
          </a:xfrm>
          <a:prstGeom prst="rect">
            <a:avLst/>
          </a:prstGeom>
          <a:noFill/>
        </p:spPr>
        <p:txBody>
          <a:bodyPr wrap="none" lIns="0" rIns="0" tIns="0" bIns="0">
            <a:spAutoFit/>
          </a:bodyPr>
          <a:lstStyle/>
          <a:p>
            <a:r>
              <a:rPr sz="1150" b="0">
                <a:solidFill>
                  <a:srgbClr val="2E2E2E"/>
                </a:solidFill>
                <a:latin typeface="Calibri"/>
              </a:rPr>
              <a:t>The U.S. hair styling products market is projected to register</a:t>
            </a:r>
          </a:p>
        </p:txBody>
      </p:sp>
      <p:pic>
        <p:nvPicPr>
          <p:cNvPr id="37" name="Picture 36" descr="lock.png"/>
          <p:cNvPicPr>
            <a:picLocks noChangeAspect="1"/>
          </p:cNvPicPr>
          <p:nvPr/>
        </p:nvPicPr>
        <p:blipFill>
          <a:blip r:embed="rId5"/>
          <a:stretch>
            <a:fillRect/>
          </a:stretch>
        </p:blipFill>
        <p:spPr>
          <a:xfrm>
            <a:off x="10832024" y="1389951"/>
            <a:ext cx="134549" cy="195707"/>
          </a:xfrm>
          <a:prstGeom prst="rect">
            <a:avLst/>
          </a:prstGeom>
        </p:spPr>
      </p:pic>
      <p:sp>
        <p:nvSpPr>
          <p:cNvPr id="38" name="TextBox 37"/>
          <p:cNvSpPr txBox="1"/>
          <p:nvPr/>
        </p:nvSpPr>
        <p:spPr>
          <a:xfrm>
            <a:off x="11007133"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9" name="TextBox 38"/>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value than Canada in 2036. Among hair styling products by country, Canada is</a:t>
            </a:r>
          </a:p>
        </p:txBody>
      </p:sp>
      <p:sp>
        <p:nvSpPr>
          <p:cNvPr id="40" name="TextBox 39"/>
          <p:cNvSpPr txBox="1"/>
          <p:nvPr/>
        </p:nvSpPr>
        <p:spPr>
          <a:xfrm>
            <a:off x="723900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41" name="Picture 40" descr="lock.png"/>
          <p:cNvPicPr>
            <a:picLocks noChangeAspect="1"/>
          </p:cNvPicPr>
          <p:nvPr/>
        </p:nvPicPr>
        <p:blipFill>
          <a:blip r:embed="rId5"/>
          <a:stretch>
            <a:fillRect/>
          </a:stretch>
        </p:blipFill>
        <p:spPr>
          <a:xfrm>
            <a:off x="9674161" y="1740471"/>
            <a:ext cx="134549" cy="195707"/>
          </a:xfrm>
          <a:prstGeom prst="rect">
            <a:avLst/>
          </a:prstGeom>
        </p:spPr>
      </p:pic>
      <p:sp>
        <p:nvSpPr>
          <p:cNvPr id="42" name="TextBox 41"/>
          <p:cNvSpPr txBox="1"/>
          <p:nvPr/>
        </p:nvSpPr>
        <p:spPr>
          <a:xfrm>
            <a:off x="98492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3" name="TextBox 42"/>
          <p:cNvSpPr txBox="1"/>
          <p:nvPr/>
        </p:nvSpPr>
        <p:spPr>
          <a:xfrm>
            <a:off x="7239000" y="197853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4" name="TextBox 43"/>
          <p:cNvSpPr txBox="1"/>
          <p:nvPr/>
        </p:nvSpPr>
        <p:spPr>
          <a:xfrm>
            <a:off x="7239000" y="215379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5" name="Picture 44" descr="lock.png"/>
          <p:cNvPicPr>
            <a:picLocks noChangeAspect="1"/>
          </p:cNvPicPr>
          <p:nvPr/>
        </p:nvPicPr>
        <p:blipFill>
          <a:blip r:embed="rId5"/>
          <a:stretch>
            <a:fillRect/>
          </a:stretch>
        </p:blipFill>
        <p:spPr>
          <a:xfrm>
            <a:off x="7611222" y="2143569"/>
            <a:ext cx="134549" cy="195707"/>
          </a:xfrm>
          <a:prstGeom prst="rect">
            <a:avLst/>
          </a:prstGeom>
        </p:spPr>
      </p:pic>
      <p:sp>
        <p:nvSpPr>
          <p:cNvPr id="46" name="TextBox 45"/>
          <p:cNvSpPr txBox="1"/>
          <p:nvPr/>
        </p:nvSpPr>
        <p:spPr>
          <a:xfrm>
            <a:off x="7786331"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9181475" y="2143569"/>
            <a:ext cx="134549" cy="195707"/>
          </a:xfrm>
          <a:prstGeom prst="rect">
            <a:avLst/>
          </a:prstGeom>
        </p:spPr>
      </p:pic>
      <p:sp>
        <p:nvSpPr>
          <p:cNvPr id="48" name="TextBox 47"/>
          <p:cNvSpPr txBox="1"/>
          <p:nvPr/>
        </p:nvSpPr>
        <p:spPr>
          <a:xfrm>
            <a:off x="9356584"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3"/>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Share Analysis, By Country Volume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(Mn Units)</a:t>
            </a:r>
          </a:p>
        </p:txBody>
      </p:sp>
      <p:graphicFrame>
        <p:nvGraphicFramePr>
          <p:cNvPr id="13" name="Table 12"/>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7" name="Rectangle 16"/>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257436" y="1589913"/>
            <a:ext cx="366712" cy="533400"/>
          </a:xfrm>
          <a:prstGeom prst="rect">
            <a:avLst/>
          </a:prstGeom>
        </p:spPr>
      </p:pic>
      <p:sp>
        <p:nvSpPr>
          <p:cNvPr id="21" name="TextBox 20"/>
          <p:cNvSpPr txBox="1"/>
          <p:nvPr/>
        </p:nvSpPr>
        <p:spPr>
          <a:xfrm>
            <a:off x="276225" y="2990850"/>
            <a:ext cx="3643870" cy="194310"/>
          </a:xfrm>
          <a:prstGeom prst="rect">
            <a:avLst/>
          </a:prstGeom>
          <a:noFill/>
        </p:spPr>
        <p:txBody>
          <a:bodyPr wrap="none" lIns="0" rIns="0" tIns="0" bIns="0">
            <a:spAutoFit/>
          </a:bodyPr>
          <a:lstStyle/>
          <a:p>
            <a:r>
              <a:rPr sz="1150" b="0">
                <a:solidFill>
                  <a:srgbClr val="2E2E2E"/>
                </a:solidFill>
                <a:latin typeface="Calibri"/>
              </a:rPr>
              <a:t>The U.S. hair styling products market is projected to register</a:t>
            </a:r>
          </a:p>
        </p:txBody>
      </p:sp>
      <p:pic>
        <p:nvPicPr>
          <p:cNvPr id="22" name="Picture 21" descr="lock.png"/>
          <p:cNvPicPr>
            <a:picLocks noChangeAspect="1"/>
          </p:cNvPicPr>
          <p:nvPr/>
        </p:nvPicPr>
        <p:blipFill>
          <a:blip r:embed="rId4"/>
          <a:stretch>
            <a:fillRect/>
          </a:stretch>
        </p:blipFill>
        <p:spPr>
          <a:xfrm>
            <a:off x="3869249" y="2980626"/>
            <a:ext cx="134549" cy="195707"/>
          </a:xfrm>
          <a:prstGeom prst="rect">
            <a:avLst/>
          </a:prstGeom>
        </p:spPr>
      </p:pic>
      <p:sp>
        <p:nvSpPr>
          <p:cNvPr id="23" name="TextBox 22"/>
          <p:cNvSpPr txBox="1"/>
          <p:nvPr/>
        </p:nvSpPr>
        <p:spPr>
          <a:xfrm>
            <a:off x="4044358" y="2990850"/>
            <a:ext cx="7774044" cy="194310"/>
          </a:xfrm>
          <a:prstGeom prst="rect">
            <a:avLst/>
          </a:prstGeom>
          <a:noFill/>
        </p:spPr>
        <p:txBody>
          <a:bodyPr wrap="none" lIns="0" rIns="0" tIns="0" bIns="0">
            <a:spAutoFit/>
          </a:bodyPr>
          <a:lstStyle/>
          <a:p>
            <a:r>
              <a:rPr sz="1150" b="0">
                <a:solidFill>
                  <a:srgbClr val="2E2E2E"/>
                </a:solidFill>
                <a:latin typeface="Calibri"/>
              </a:rPr>
              <a:t>X higher volume than Canada in 2036. Among hair styling products by country, Canada is expected to witness the highest CAGR of</a:t>
            </a:r>
          </a:p>
        </p:txBody>
      </p:sp>
      <p:pic>
        <p:nvPicPr>
          <p:cNvPr id="24" name="Picture 23" descr="lock.png"/>
          <p:cNvPicPr>
            <a:picLocks noChangeAspect="1"/>
          </p:cNvPicPr>
          <p:nvPr/>
        </p:nvPicPr>
        <p:blipFill>
          <a:blip r:embed="rId4"/>
          <a:stretch>
            <a:fillRect/>
          </a:stretch>
        </p:blipFill>
        <p:spPr>
          <a:xfrm>
            <a:off x="262145" y="3155886"/>
            <a:ext cx="134549" cy="195707"/>
          </a:xfrm>
          <a:prstGeom prst="rect">
            <a:avLst/>
          </a:prstGeom>
        </p:spPr>
      </p:pic>
      <p:sp>
        <p:nvSpPr>
          <p:cNvPr id="25" name="TextBox 24"/>
          <p:cNvSpPr txBox="1"/>
          <p:nvPr/>
        </p:nvSpPr>
        <p:spPr>
          <a:xfrm>
            <a:off x="437254"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332316" y="3383724"/>
            <a:ext cx="134549" cy="195707"/>
          </a:xfrm>
          <a:prstGeom prst="rect">
            <a:avLst/>
          </a:prstGeom>
        </p:spPr>
      </p:pic>
      <p:sp>
        <p:nvSpPr>
          <p:cNvPr id="28" name="TextBox 27"/>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902569" y="3383724"/>
            <a:ext cx="134549" cy="195707"/>
          </a:xfrm>
          <a:prstGeom prst="rect">
            <a:avLst/>
          </a:prstGeom>
        </p:spPr>
      </p:pic>
      <p:sp>
        <p:nvSpPr>
          <p:cNvPr id="30" name="TextBox 29"/>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3" name="Table 12"/>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7" name="Rectangle 16"/>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257436" y="1589913"/>
            <a:ext cx="366712" cy="533400"/>
          </a:xfrm>
          <a:prstGeom prst="rect">
            <a:avLst/>
          </a:prstGeom>
        </p:spPr>
      </p:pic>
      <p:sp>
        <p:nvSpPr>
          <p:cNvPr id="21" name="TextBox 20"/>
          <p:cNvSpPr txBox="1"/>
          <p:nvPr/>
        </p:nvSpPr>
        <p:spPr>
          <a:xfrm>
            <a:off x="276225" y="2990850"/>
            <a:ext cx="3643870" cy="194310"/>
          </a:xfrm>
          <a:prstGeom prst="rect">
            <a:avLst/>
          </a:prstGeom>
          <a:noFill/>
        </p:spPr>
        <p:txBody>
          <a:bodyPr wrap="none" lIns="0" rIns="0" tIns="0" bIns="0">
            <a:spAutoFit/>
          </a:bodyPr>
          <a:lstStyle/>
          <a:p>
            <a:r>
              <a:rPr sz="1150" b="0">
                <a:solidFill>
                  <a:srgbClr val="2E2E2E"/>
                </a:solidFill>
                <a:latin typeface="Calibri"/>
              </a:rPr>
              <a:t>The U.S. hair styling products market is projected to register</a:t>
            </a:r>
          </a:p>
        </p:txBody>
      </p:sp>
      <p:pic>
        <p:nvPicPr>
          <p:cNvPr id="22" name="Picture 21" descr="lock.png"/>
          <p:cNvPicPr>
            <a:picLocks noChangeAspect="1"/>
          </p:cNvPicPr>
          <p:nvPr/>
        </p:nvPicPr>
        <p:blipFill>
          <a:blip r:embed="rId4"/>
          <a:stretch>
            <a:fillRect/>
          </a:stretch>
        </p:blipFill>
        <p:spPr>
          <a:xfrm>
            <a:off x="3869249" y="2980626"/>
            <a:ext cx="134549" cy="195707"/>
          </a:xfrm>
          <a:prstGeom prst="rect">
            <a:avLst/>
          </a:prstGeom>
        </p:spPr>
      </p:pic>
      <p:sp>
        <p:nvSpPr>
          <p:cNvPr id="23" name="TextBox 22"/>
          <p:cNvSpPr txBox="1"/>
          <p:nvPr/>
        </p:nvSpPr>
        <p:spPr>
          <a:xfrm>
            <a:off x="4044358" y="2990850"/>
            <a:ext cx="7650243" cy="194310"/>
          </a:xfrm>
          <a:prstGeom prst="rect">
            <a:avLst/>
          </a:prstGeom>
          <a:noFill/>
        </p:spPr>
        <p:txBody>
          <a:bodyPr wrap="none" lIns="0" rIns="0" tIns="0" bIns="0">
            <a:spAutoFit/>
          </a:bodyPr>
          <a:lstStyle/>
          <a:p>
            <a:r>
              <a:rPr sz="1150" b="0">
                <a:solidFill>
                  <a:srgbClr val="2E2E2E"/>
                </a:solidFill>
                <a:latin typeface="Calibri"/>
              </a:rPr>
              <a:t>X higher value than Canada in 2036. Among hair styling products by country, Canada is expected to witness the highest CAGR of</a:t>
            </a:r>
          </a:p>
        </p:txBody>
      </p:sp>
      <p:pic>
        <p:nvPicPr>
          <p:cNvPr id="24" name="Picture 23" descr="lock.png"/>
          <p:cNvPicPr>
            <a:picLocks noChangeAspect="1"/>
          </p:cNvPicPr>
          <p:nvPr/>
        </p:nvPicPr>
        <p:blipFill>
          <a:blip r:embed="rId4"/>
          <a:stretch>
            <a:fillRect/>
          </a:stretch>
        </p:blipFill>
        <p:spPr>
          <a:xfrm>
            <a:off x="262145" y="3155886"/>
            <a:ext cx="134549" cy="195707"/>
          </a:xfrm>
          <a:prstGeom prst="rect">
            <a:avLst/>
          </a:prstGeom>
        </p:spPr>
      </p:pic>
      <p:sp>
        <p:nvSpPr>
          <p:cNvPr id="25" name="TextBox 24"/>
          <p:cNvSpPr txBox="1"/>
          <p:nvPr/>
        </p:nvSpPr>
        <p:spPr>
          <a:xfrm>
            <a:off x="437254"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208516" y="3383724"/>
            <a:ext cx="134549" cy="195707"/>
          </a:xfrm>
          <a:prstGeom prst="rect">
            <a:avLst/>
          </a:prstGeom>
        </p:spPr>
      </p:pic>
      <p:sp>
        <p:nvSpPr>
          <p:cNvPr id="28" name="TextBox 27"/>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778769" y="3383724"/>
            <a:ext cx="134549" cy="195707"/>
          </a:xfrm>
          <a:prstGeom prst="rect">
            <a:avLst/>
          </a:prstGeom>
        </p:spPr>
      </p:pic>
      <p:sp>
        <p:nvSpPr>
          <p:cNvPr id="30" name="TextBox 29"/>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(Mn Units)</a:t>
            </a:r>
          </a:p>
        </p:txBody>
      </p:sp>
      <p:graphicFrame>
        <p:nvGraphicFramePr>
          <p:cNvPr id="13" name="Chart 12"/>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6" name="Chart 15"/>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6058646" y="2026489"/>
            <a:ext cx="363375" cy="528545"/>
          </a:xfrm>
          <a:prstGeom prst="rect">
            <a:avLst/>
          </a:prstGeom>
        </p:spPr>
      </p:pic>
      <p:pic>
        <p:nvPicPr>
          <p:cNvPr id="19" name="Picture 18" descr="lock.png"/>
          <p:cNvPicPr>
            <a:picLocks noChangeAspect="1"/>
          </p:cNvPicPr>
          <p:nvPr/>
        </p:nvPicPr>
        <p:blipFill>
          <a:blip r:embed="rId6"/>
          <a:stretch>
            <a:fillRect/>
          </a:stretch>
        </p:blipFill>
        <p:spPr>
          <a:xfrm>
            <a:off x="6058646" y="4912564"/>
            <a:ext cx="363375" cy="528545"/>
          </a:xfrm>
          <a:prstGeom prst="rect">
            <a:avLst/>
          </a:prstGeom>
        </p:spPr>
      </p:pic>
      <p:sp>
        <p:nvSpPr>
          <p:cNvPr id="20" name="lockshield_13"/>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ockshield_16"/>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Hair Styling Products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3" name="Rectangle 12"/>
          <p:cNvSpPr/>
          <p:nvPr/>
        </p:nvSpPr>
        <p:spPr>
          <a:xfrm>
            <a:off x="238125" y="1266825"/>
            <a:ext cx="10590040"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4" name="Rectangle 13"/>
          <p:cNvSpPr/>
          <p:nvPr/>
        </p:nvSpPr>
        <p:spPr>
          <a:xfrm>
            <a:off x="10828165" y="1266825"/>
            <a:ext cx="1125710"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5475519" y="3919537"/>
            <a:ext cx="115252" cy="167639"/>
          </a:xfrm>
          <a:prstGeom prst="rect">
            <a:avLst/>
          </a:prstGeom>
        </p:spPr>
      </p:pic>
      <p:pic>
        <p:nvPicPr>
          <p:cNvPr id="17" name="Picture 16" descr="lock.png"/>
          <p:cNvPicPr>
            <a:picLocks noChangeAspect="1"/>
          </p:cNvPicPr>
          <p:nvPr/>
        </p:nvPicPr>
        <p:blipFill>
          <a:blip r:embed="rId4"/>
          <a:stretch>
            <a:fillRect/>
          </a:stretch>
        </p:blipFill>
        <p:spPr>
          <a:xfrm>
            <a:off x="11333394" y="3919537"/>
            <a:ext cx="115252" cy="167639"/>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19653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30822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2994025"/>
            <a:ext cx="8458200" cy="28511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Hold Level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Finish</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Primary Styling Benefit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Hair Type Targeted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Technology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Product Format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Format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Format,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Serums and Oils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Waxes, Clays, Pastes and Pomades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Sprays and Mists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Sticks and Balms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Product Format split shows how demand is distributed across product format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4" name="Picture 63" descr="958_1_605E5C.png"/>
          <p:cNvPicPr>
            <a:picLocks noChangeAspect="1"/>
          </p:cNvPicPr>
          <p:nvPr/>
        </p:nvPicPr>
        <p:blipFill>
          <a:blip r:embed="rId4"/>
          <a:stretch>
            <a:fillRect/>
          </a:stretch>
        </p:blipFill>
        <p:spPr>
          <a:xfrm>
            <a:off x="2476330" y="2286582"/>
            <a:ext cx="1195728" cy="361950"/>
          </a:xfrm>
          <a:prstGeom prst="rect">
            <a:avLst/>
          </a:prstGeom>
        </p:spPr>
      </p:pic>
      <p:pic>
        <p:nvPicPr>
          <p:cNvPr id="65" name="Picture 64" descr="1_881_605E5C.png"/>
          <p:cNvPicPr>
            <a:picLocks noChangeAspect="1"/>
          </p:cNvPicPr>
          <p:nvPr/>
        </p:nvPicPr>
        <p:blipFill>
          <a:blip r:embed="rId5"/>
          <a:stretch>
            <a:fillRect/>
          </a:stretch>
        </p:blipFill>
        <p:spPr>
          <a:xfrm>
            <a:off x="2476330" y="2779432"/>
            <a:ext cx="1195728" cy="361950"/>
          </a:xfrm>
          <a:prstGeom prst="rect">
            <a:avLst/>
          </a:prstGeom>
        </p:spPr>
      </p:pic>
      <p:pic>
        <p:nvPicPr>
          <p:cNvPr id="66" name="Picture 65" descr="7_0__605E5C.png"/>
          <p:cNvPicPr>
            <a:picLocks noChangeAspect="1"/>
          </p:cNvPicPr>
          <p:nvPr/>
        </p:nvPicPr>
        <p:blipFill>
          <a:blip r:embed="rId6"/>
          <a:stretch>
            <a:fillRect/>
          </a:stretch>
        </p:blipFill>
        <p:spPr>
          <a:xfrm>
            <a:off x="2582976" y="3272281"/>
            <a:ext cx="982436" cy="361950"/>
          </a:xfrm>
          <a:prstGeom prst="rect">
            <a:avLst/>
          </a:prstGeom>
        </p:spPr>
      </p:pic>
      <p:pic>
        <p:nvPicPr>
          <p:cNvPr id="67" name="Picture 66" descr="827_2_605E5C.png"/>
          <p:cNvPicPr>
            <a:picLocks noChangeAspect="1"/>
          </p:cNvPicPr>
          <p:nvPr/>
        </p:nvPicPr>
        <p:blipFill>
          <a:blip r:embed="rId7"/>
          <a:stretch>
            <a:fillRect/>
          </a:stretch>
        </p:blipFill>
        <p:spPr>
          <a:xfrm>
            <a:off x="5005218" y="2286582"/>
            <a:ext cx="1195728" cy="361950"/>
          </a:xfrm>
          <a:prstGeom prst="rect">
            <a:avLst/>
          </a:prstGeom>
        </p:spPr>
      </p:pic>
      <p:pic>
        <p:nvPicPr>
          <p:cNvPr id="68" name="Picture 67" descr="1_418_605E5C.png"/>
          <p:cNvPicPr>
            <a:picLocks noChangeAspect="1"/>
          </p:cNvPicPr>
          <p:nvPr/>
        </p:nvPicPr>
        <p:blipFill>
          <a:blip r:embed="rId8"/>
          <a:stretch>
            <a:fillRect/>
          </a:stretch>
        </p:blipFill>
        <p:spPr>
          <a:xfrm>
            <a:off x="5005218" y="2779432"/>
            <a:ext cx="1195728" cy="361950"/>
          </a:xfrm>
          <a:prstGeom prst="rect">
            <a:avLst/>
          </a:prstGeom>
        </p:spPr>
      </p:pic>
      <p:pic>
        <p:nvPicPr>
          <p:cNvPr id="69" name="Picture 68" descr="5_5__605E5C.png"/>
          <p:cNvPicPr>
            <a:picLocks noChangeAspect="1"/>
          </p:cNvPicPr>
          <p:nvPr/>
        </p:nvPicPr>
        <p:blipFill>
          <a:blip r:embed="rId9"/>
          <a:stretch>
            <a:fillRect/>
          </a:stretch>
        </p:blipFill>
        <p:spPr>
          <a:xfrm>
            <a:off x="5111864" y="3272281"/>
            <a:ext cx="982436" cy="361950"/>
          </a:xfrm>
          <a:prstGeom prst="rect">
            <a:avLst/>
          </a:prstGeom>
        </p:spPr>
      </p:pic>
      <p:pic>
        <p:nvPicPr>
          <p:cNvPr id="70" name="Picture 69" descr="713_2_605E5C.png"/>
          <p:cNvPicPr>
            <a:picLocks noChangeAspect="1"/>
          </p:cNvPicPr>
          <p:nvPr/>
        </p:nvPicPr>
        <p:blipFill>
          <a:blip r:embed="rId10"/>
          <a:stretch>
            <a:fillRect/>
          </a:stretch>
        </p:blipFill>
        <p:spPr>
          <a:xfrm>
            <a:off x="7534105" y="2286582"/>
            <a:ext cx="1195728" cy="361950"/>
          </a:xfrm>
          <a:prstGeom prst="rect">
            <a:avLst/>
          </a:prstGeom>
        </p:spPr>
      </p:pic>
      <p:pic>
        <p:nvPicPr>
          <p:cNvPr id="71" name="Picture 70" descr="1_031_605E5C.png"/>
          <p:cNvPicPr>
            <a:picLocks noChangeAspect="1"/>
          </p:cNvPicPr>
          <p:nvPr/>
        </p:nvPicPr>
        <p:blipFill>
          <a:blip r:embed="rId11"/>
          <a:stretch>
            <a:fillRect/>
          </a:stretch>
        </p:blipFill>
        <p:spPr>
          <a:xfrm>
            <a:off x="7534105" y="2779432"/>
            <a:ext cx="1195728" cy="361950"/>
          </a:xfrm>
          <a:prstGeom prst="rect">
            <a:avLst/>
          </a:prstGeom>
        </p:spPr>
      </p:pic>
      <p:pic>
        <p:nvPicPr>
          <p:cNvPr id="72" name="Picture 71" descr="3_8__605E5C.png"/>
          <p:cNvPicPr>
            <a:picLocks noChangeAspect="1"/>
          </p:cNvPicPr>
          <p:nvPr/>
        </p:nvPicPr>
        <p:blipFill>
          <a:blip r:embed="rId12"/>
          <a:stretch>
            <a:fillRect/>
          </a:stretch>
        </p:blipFill>
        <p:spPr>
          <a:xfrm>
            <a:off x="7640751" y="3272281"/>
            <a:ext cx="982436" cy="361950"/>
          </a:xfrm>
          <a:prstGeom prst="rect">
            <a:avLst/>
          </a:prstGeom>
        </p:spPr>
      </p:pic>
      <p:pic>
        <p:nvPicPr>
          <p:cNvPr id="73" name="Picture 72" descr="643_4_605E5C.png"/>
          <p:cNvPicPr>
            <a:picLocks noChangeAspect="1"/>
          </p:cNvPicPr>
          <p:nvPr/>
        </p:nvPicPr>
        <p:blipFill>
          <a:blip r:embed="rId13"/>
          <a:stretch>
            <a:fillRect/>
          </a:stretch>
        </p:blipFill>
        <p:spPr>
          <a:xfrm>
            <a:off x="10062992" y="2286582"/>
            <a:ext cx="1195728" cy="361950"/>
          </a:xfrm>
          <a:prstGeom prst="rect">
            <a:avLst/>
          </a:prstGeom>
        </p:spPr>
      </p:pic>
      <p:pic>
        <p:nvPicPr>
          <p:cNvPr id="74" name="Picture 73" descr="1_375_605E5C.png"/>
          <p:cNvPicPr>
            <a:picLocks noChangeAspect="1"/>
          </p:cNvPicPr>
          <p:nvPr/>
        </p:nvPicPr>
        <p:blipFill>
          <a:blip r:embed="rId14"/>
          <a:stretch>
            <a:fillRect/>
          </a:stretch>
        </p:blipFill>
        <p:spPr>
          <a:xfrm>
            <a:off x="10062992" y="2779432"/>
            <a:ext cx="1195728" cy="361950"/>
          </a:xfrm>
          <a:prstGeom prst="rect">
            <a:avLst/>
          </a:prstGeom>
        </p:spPr>
      </p:pic>
      <p:pic>
        <p:nvPicPr>
          <p:cNvPr id="75" name="Picture 74" descr="7_9__605E5C.png"/>
          <p:cNvPicPr>
            <a:picLocks noChangeAspect="1"/>
          </p:cNvPicPr>
          <p:nvPr/>
        </p:nvPicPr>
        <p:blipFill>
          <a:blip r:embed="rId15"/>
          <a:stretch>
            <a:fillRect/>
          </a:stretch>
        </p:blipFill>
        <p:spPr>
          <a:xfrm>
            <a:off x="10169638" y="3272281"/>
            <a:ext cx="982436" cy="361950"/>
          </a:xfrm>
          <a:prstGeom prst="rect">
            <a:avLst/>
          </a:prstGeom>
        </p:spPr>
      </p:pic>
      <p:pic>
        <p:nvPicPr>
          <p:cNvPr id="76" name="Picture 75" descr="lock.png"/>
          <p:cNvPicPr>
            <a:picLocks noChangeAspect="1"/>
          </p:cNvPicPr>
          <p:nvPr/>
        </p:nvPicPr>
        <p:blipFill>
          <a:blip r:embed="rId16"/>
          <a:stretch>
            <a:fillRect/>
          </a:stretch>
        </p:blipFill>
        <p:spPr>
          <a:xfrm>
            <a:off x="2980848"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5509737"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8038624" y="2827057"/>
            <a:ext cx="183356" cy="266700"/>
          </a:xfrm>
          <a:prstGeom prst="rect">
            <a:avLst/>
          </a:prstGeom>
        </p:spPr>
      </p:pic>
      <p:pic>
        <p:nvPicPr>
          <p:cNvPr id="79" name="Picture 78" descr="lock.png"/>
          <p:cNvPicPr>
            <a:picLocks noChangeAspect="1"/>
          </p:cNvPicPr>
          <p:nvPr/>
        </p:nvPicPr>
        <p:blipFill>
          <a:blip r:embed="rId16"/>
          <a:stretch>
            <a:fillRect/>
          </a:stretch>
        </p:blipFill>
        <p:spPr>
          <a:xfrm>
            <a:off x="10567511" y="2827057"/>
            <a:ext cx="183356" cy="266700"/>
          </a:xfrm>
          <a:prstGeom prst="rect">
            <a:avLst/>
          </a:prstGeom>
        </p:spPr>
      </p:pic>
      <p:sp>
        <p:nvSpPr>
          <p:cNvPr id="80" name="TextBox 79"/>
          <p:cNvSpPr txBox="1"/>
          <p:nvPr/>
        </p:nvSpPr>
        <p:spPr>
          <a:xfrm>
            <a:off x="485775" y="4229437"/>
            <a:ext cx="2775247" cy="186689"/>
          </a:xfrm>
          <a:prstGeom prst="rect">
            <a:avLst/>
          </a:prstGeom>
          <a:noFill/>
        </p:spPr>
        <p:txBody>
          <a:bodyPr wrap="none" lIns="0" rIns="0" tIns="0" bIns="0">
            <a:spAutoFit/>
          </a:bodyPr>
          <a:lstStyle/>
          <a:p>
            <a:r>
              <a:rPr sz="1100" b="0">
                <a:solidFill>
                  <a:srgbClr val="2E2E2E"/>
                </a:solidFill>
                <a:latin typeface="Calibri"/>
              </a:rPr>
              <a:t>Among hair styling products by product format,</a:t>
            </a:r>
          </a:p>
        </p:txBody>
      </p:sp>
      <p:sp>
        <p:nvSpPr>
          <p:cNvPr id="81" name="TextBox 80"/>
          <p:cNvSpPr txBox="1"/>
          <p:nvPr/>
        </p:nvSpPr>
        <p:spPr>
          <a:xfrm>
            <a:off x="485775" y="4397077"/>
            <a:ext cx="2813174" cy="186689"/>
          </a:xfrm>
          <a:prstGeom prst="rect">
            <a:avLst/>
          </a:prstGeom>
          <a:noFill/>
        </p:spPr>
        <p:txBody>
          <a:bodyPr wrap="none" lIns="0" rIns="0" tIns="0" bIns="0">
            <a:spAutoFit/>
          </a:bodyPr>
          <a:lstStyle/>
          <a:p>
            <a:r>
              <a:rPr sz="1100" b="0">
                <a:solidFill>
                  <a:srgbClr val="2E2E2E"/>
                </a:solidFill>
                <a:latin typeface="Calibri"/>
              </a:rPr>
              <a:t>sticks and balms segment is expected to witness</a:t>
            </a:r>
          </a:p>
        </p:txBody>
      </p:sp>
      <p:sp>
        <p:nvSpPr>
          <p:cNvPr id="82" name="TextBox 81"/>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83" name="Picture 82" descr="lock.png"/>
          <p:cNvPicPr>
            <a:picLocks noChangeAspect="1"/>
          </p:cNvPicPr>
          <p:nvPr/>
        </p:nvPicPr>
        <p:blipFill>
          <a:blip r:embed="rId16"/>
          <a:stretch>
            <a:fillRect/>
          </a:stretch>
        </p:blipFill>
        <p:spPr>
          <a:xfrm>
            <a:off x="1646163" y="4554938"/>
            <a:ext cx="128699" cy="187198"/>
          </a:xfrm>
          <a:prstGeom prst="rect">
            <a:avLst/>
          </a:prstGeom>
        </p:spPr>
      </p:pic>
      <p:sp>
        <p:nvSpPr>
          <p:cNvPr id="84" name="TextBox 83"/>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85" name="TextBox 84"/>
          <p:cNvSpPr txBox="1"/>
          <p:nvPr/>
        </p:nvSpPr>
        <p:spPr>
          <a:xfrm>
            <a:off x="485775" y="4732357"/>
            <a:ext cx="2704851" cy="186689"/>
          </a:xfrm>
          <a:prstGeom prst="rect">
            <a:avLst/>
          </a:prstGeom>
          <a:noFill/>
        </p:spPr>
        <p:txBody>
          <a:bodyPr wrap="none" lIns="0" rIns="0" tIns="0" bIns="0">
            <a:spAutoFit/>
          </a:bodyPr>
          <a:lstStyle/>
          <a:p>
            <a:r>
              <a:rPr sz="1100" b="0">
                <a:solidFill>
                  <a:srgbClr val="2E2E2E"/>
                </a:solidFill>
                <a:latin typeface="Calibri"/>
              </a:rPr>
              <a:t>In terms of value share by product format, the</a:t>
            </a:r>
          </a:p>
        </p:txBody>
      </p:sp>
      <p:sp>
        <p:nvSpPr>
          <p:cNvPr id="86" name="TextBox 85"/>
          <p:cNvSpPr txBox="1"/>
          <p:nvPr/>
        </p:nvSpPr>
        <p:spPr>
          <a:xfrm>
            <a:off x="485775" y="4899997"/>
            <a:ext cx="2705943" cy="186689"/>
          </a:xfrm>
          <a:prstGeom prst="rect">
            <a:avLst/>
          </a:prstGeom>
          <a:noFill/>
        </p:spPr>
        <p:txBody>
          <a:bodyPr wrap="none" lIns="0" rIns="0" tIns="0" bIns="0">
            <a:spAutoFit/>
          </a:bodyPr>
          <a:lstStyle/>
          <a:p>
            <a:r>
              <a:rPr sz="1100" b="0">
                <a:solidFill>
                  <a:srgbClr val="2E2E2E"/>
                </a:solidFill>
                <a:latin typeface="Calibri"/>
              </a:rPr>
              <a:t>styling serums and oils segment is expected to</a:t>
            </a:r>
          </a:p>
        </p:txBody>
      </p:sp>
      <p:sp>
        <p:nvSpPr>
          <p:cNvPr id="87" name="TextBox 86"/>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88" name="Picture 87" descr="lock.png"/>
          <p:cNvPicPr>
            <a:picLocks noChangeAspect="1"/>
          </p:cNvPicPr>
          <p:nvPr/>
        </p:nvPicPr>
        <p:blipFill>
          <a:blip r:embed="rId16"/>
          <a:stretch>
            <a:fillRect/>
          </a:stretch>
        </p:blipFill>
        <p:spPr>
          <a:xfrm>
            <a:off x="2194339" y="5057858"/>
            <a:ext cx="128699" cy="187198"/>
          </a:xfrm>
          <a:prstGeom prst="rect">
            <a:avLst/>
          </a:prstGeom>
        </p:spPr>
      </p:pic>
      <p:sp>
        <p:nvSpPr>
          <p:cNvPr id="89" name="TextBox 88"/>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90" name="TextBox 89"/>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91" name="Picture 90" descr="lock.png"/>
          <p:cNvPicPr>
            <a:picLocks noChangeAspect="1"/>
          </p:cNvPicPr>
          <p:nvPr/>
        </p:nvPicPr>
        <p:blipFill>
          <a:blip r:embed="rId16"/>
          <a:stretch>
            <a:fillRect/>
          </a:stretch>
        </p:blipFill>
        <p:spPr>
          <a:xfrm>
            <a:off x="1330764" y="5225498"/>
            <a:ext cx="128699" cy="187198"/>
          </a:xfrm>
          <a:prstGeom prst="rect">
            <a:avLst/>
          </a:prstGeom>
        </p:spPr>
      </p:pic>
      <p:sp>
        <p:nvSpPr>
          <p:cNvPr id="92" name="TextBox 91"/>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3" name="TextBox 92"/>
          <p:cNvSpPr txBox="1"/>
          <p:nvPr/>
        </p:nvSpPr>
        <p:spPr>
          <a:xfrm>
            <a:off x="485775" y="5453209"/>
            <a:ext cx="2741414" cy="186689"/>
          </a:xfrm>
          <a:prstGeom prst="rect">
            <a:avLst/>
          </a:prstGeom>
          <a:noFill/>
        </p:spPr>
        <p:txBody>
          <a:bodyPr wrap="none" lIns="0" rIns="0" tIns="0" bIns="0">
            <a:spAutoFit/>
          </a:bodyPr>
          <a:lstStyle/>
          <a:p>
            <a:r>
              <a:rPr sz="1100" b="0">
                <a:solidFill>
                  <a:srgbClr val="2E2E2E"/>
                </a:solidFill>
                <a:latin typeface="Calibri"/>
              </a:rPr>
              <a:t>Styling serums and oils segment is projected to</a:t>
            </a:r>
          </a:p>
        </p:txBody>
      </p:sp>
      <p:sp>
        <p:nvSpPr>
          <p:cNvPr id="94" name="TextBox 9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95" name="Picture 94" descr="lock.png"/>
          <p:cNvPicPr>
            <a:picLocks noChangeAspect="1"/>
          </p:cNvPicPr>
          <p:nvPr/>
        </p:nvPicPr>
        <p:blipFill>
          <a:blip r:embed="rId16"/>
          <a:stretch>
            <a:fillRect/>
          </a:stretch>
        </p:blipFill>
        <p:spPr>
          <a:xfrm>
            <a:off x="946316" y="5611070"/>
            <a:ext cx="128699" cy="187198"/>
          </a:xfrm>
          <a:prstGeom prst="rect">
            <a:avLst/>
          </a:prstGeom>
        </p:spPr>
      </p:pic>
      <p:sp>
        <p:nvSpPr>
          <p:cNvPr id="96" name="TextBox 95"/>
          <p:cNvSpPr txBox="1"/>
          <p:nvPr/>
        </p:nvSpPr>
        <p:spPr>
          <a:xfrm>
            <a:off x="1113812" y="5620849"/>
            <a:ext cx="1933227" cy="186689"/>
          </a:xfrm>
          <a:prstGeom prst="rect">
            <a:avLst/>
          </a:prstGeom>
          <a:noFill/>
        </p:spPr>
        <p:txBody>
          <a:bodyPr wrap="none" lIns="0" rIns="0" tIns="0" bIns="0">
            <a:spAutoFit/>
          </a:bodyPr>
          <a:lstStyle/>
          <a:p>
            <a:r>
              <a:rPr sz="1100" b="0">
                <a:solidFill>
                  <a:srgbClr val="2E2E2E"/>
                </a:solidFill>
                <a:latin typeface="Calibri"/>
              </a:rPr>
              <a:t>X higher value than waxes, clays,</a:t>
            </a:r>
          </a:p>
        </p:txBody>
      </p:sp>
      <p:sp>
        <p:nvSpPr>
          <p:cNvPr id="97" name="TextBox 96"/>
          <p:cNvSpPr txBox="1"/>
          <p:nvPr/>
        </p:nvSpPr>
        <p:spPr>
          <a:xfrm>
            <a:off x="485775" y="5788489"/>
            <a:ext cx="2253009" cy="186689"/>
          </a:xfrm>
          <a:prstGeom prst="rect">
            <a:avLst/>
          </a:prstGeom>
          <a:noFill/>
        </p:spPr>
        <p:txBody>
          <a:bodyPr wrap="none" lIns="0" rIns="0" tIns="0" bIns="0">
            <a:spAutoFit/>
          </a:bodyPr>
          <a:lstStyle/>
          <a:p>
            <a:r>
              <a:rPr sz="1100" b="0">
                <a:solidFill>
                  <a:srgbClr val="2E2E2E"/>
                </a:solidFill>
                <a:latin typeface="Calibri"/>
              </a:rPr>
              <a:t>pastes and pomades segment in 2036.</a:t>
            </a:r>
          </a:p>
        </p:txBody>
      </p:sp>
      <p:sp>
        <p:nvSpPr>
          <p:cNvPr id="98" name="TextBox 97"/>
          <p:cNvSpPr txBox="1"/>
          <p:nvPr/>
        </p:nvSpPr>
        <p:spPr>
          <a:xfrm>
            <a:off x="3838575" y="4229437"/>
            <a:ext cx="1549598" cy="186689"/>
          </a:xfrm>
          <a:prstGeom prst="rect">
            <a:avLst/>
          </a:prstGeom>
          <a:noFill/>
        </p:spPr>
        <p:txBody>
          <a:bodyPr wrap="none" lIns="0" rIns="0" tIns="0" bIns="0">
            <a:spAutoFit/>
          </a:bodyPr>
          <a:lstStyle/>
          <a:p>
            <a:r>
              <a:rPr sz="1100" b="0">
                <a:solidFill>
                  <a:srgbClr val="2E2E2E"/>
                </a:solidFill>
                <a:latin typeface="Calibri"/>
              </a:rPr>
              <a:t>● Styling Serums and Oils:</a:t>
            </a:r>
          </a:p>
        </p:txBody>
      </p:sp>
      <p:pic>
        <p:nvPicPr>
          <p:cNvPr id="99" name="Picture 98" descr="lock.png"/>
          <p:cNvPicPr>
            <a:picLocks noChangeAspect="1"/>
          </p:cNvPicPr>
          <p:nvPr/>
        </p:nvPicPr>
        <p:blipFill>
          <a:blip r:embed="rId16"/>
          <a:stretch>
            <a:fillRect/>
          </a:stretch>
        </p:blipFill>
        <p:spPr>
          <a:xfrm>
            <a:off x="5336225" y="4219658"/>
            <a:ext cx="128699" cy="187198"/>
          </a:xfrm>
          <a:prstGeom prst="rect">
            <a:avLst/>
          </a:prstGeom>
        </p:spPr>
      </p:pic>
      <p:sp>
        <p:nvSpPr>
          <p:cNvPr id="100" name="TextBox 99"/>
          <p:cNvSpPr txBox="1"/>
          <p:nvPr/>
        </p:nvSpPr>
        <p:spPr>
          <a:xfrm>
            <a:off x="550372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1" name="Picture 100" descr="lock.png"/>
          <p:cNvPicPr>
            <a:picLocks noChangeAspect="1"/>
          </p:cNvPicPr>
          <p:nvPr/>
        </p:nvPicPr>
        <p:blipFill>
          <a:blip r:embed="rId16"/>
          <a:stretch>
            <a:fillRect/>
          </a:stretch>
        </p:blipFill>
        <p:spPr>
          <a:xfrm>
            <a:off x="6363171" y="4219658"/>
            <a:ext cx="128699" cy="187198"/>
          </a:xfrm>
          <a:prstGeom prst="rect">
            <a:avLst/>
          </a:prstGeom>
        </p:spPr>
      </p:pic>
      <p:sp>
        <p:nvSpPr>
          <p:cNvPr id="102" name="TextBox 101"/>
          <p:cNvSpPr txBox="1"/>
          <p:nvPr/>
        </p:nvSpPr>
        <p:spPr>
          <a:xfrm>
            <a:off x="653066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3" name="TextBox 102"/>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4" name="TextBox 103"/>
          <p:cNvSpPr txBox="1"/>
          <p:nvPr/>
        </p:nvSpPr>
        <p:spPr>
          <a:xfrm>
            <a:off x="3838575" y="4615009"/>
            <a:ext cx="2193800" cy="186689"/>
          </a:xfrm>
          <a:prstGeom prst="rect">
            <a:avLst/>
          </a:prstGeom>
          <a:noFill/>
        </p:spPr>
        <p:txBody>
          <a:bodyPr wrap="none" lIns="0" rIns="0" tIns="0" bIns="0">
            <a:spAutoFit/>
          </a:bodyPr>
          <a:lstStyle/>
          <a:p>
            <a:r>
              <a:rPr sz="1100" b="0">
                <a:solidFill>
                  <a:srgbClr val="2E2E2E"/>
                </a:solidFill>
                <a:latin typeface="Calibri"/>
              </a:rPr>
              <a:t>● Waxes, Clays, Pastes and Pomades:</a:t>
            </a:r>
          </a:p>
        </p:txBody>
      </p:sp>
      <p:pic>
        <p:nvPicPr>
          <p:cNvPr id="105" name="Picture 104" descr="lock.png"/>
          <p:cNvPicPr>
            <a:picLocks noChangeAspect="1"/>
          </p:cNvPicPr>
          <p:nvPr/>
        </p:nvPicPr>
        <p:blipFill>
          <a:blip r:embed="rId16"/>
          <a:stretch>
            <a:fillRect/>
          </a:stretch>
        </p:blipFill>
        <p:spPr>
          <a:xfrm>
            <a:off x="5980427" y="4605230"/>
            <a:ext cx="128699" cy="187198"/>
          </a:xfrm>
          <a:prstGeom prst="rect">
            <a:avLst/>
          </a:prstGeom>
        </p:spPr>
      </p:pic>
      <p:sp>
        <p:nvSpPr>
          <p:cNvPr id="106" name="TextBox 105"/>
          <p:cNvSpPr txBox="1"/>
          <p:nvPr/>
        </p:nvSpPr>
        <p:spPr>
          <a:xfrm>
            <a:off x="614792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7" name="Picture 106" descr="lock.png"/>
          <p:cNvPicPr>
            <a:picLocks noChangeAspect="1"/>
          </p:cNvPicPr>
          <p:nvPr/>
        </p:nvPicPr>
        <p:blipFill>
          <a:blip r:embed="rId16"/>
          <a:stretch>
            <a:fillRect/>
          </a:stretch>
        </p:blipFill>
        <p:spPr>
          <a:xfrm>
            <a:off x="7007373" y="4605230"/>
            <a:ext cx="128699" cy="187198"/>
          </a:xfrm>
          <a:prstGeom prst="rect">
            <a:avLst/>
          </a:prstGeom>
        </p:spPr>
      </p:pic>
      <p:sp>
        <p:nvSpPr>
          <p:cNvPr id="108" name="TextBox 107"/>
          <p:cNvSpPr txBox="1"/>
          <p:nvPr/>
        </p:nvSpPr>
        <p:spPr>
          <a:xfrm>
            <a:off x="7174869"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9" name="TextBox 108"/>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0" name="TextBox 109"/>
          <p:cNvSpPr txBox="1"/>
          <p:nvPr/>
        </p:nvSpPr>
        <p:spPr>
          <a:xfrm>
            <a:off x="3838575" y="5000581"/>
            <a:ext cx="1185341" cy="186689"/>
          </a:xfrm>
          <a:prstGeom prst="rect">
            <a:avLst/>
          </a:prstGeom>
          <a:noFill/>
        </p:spPr>
        <p:txBody>
          <a:bodyPr wrap="none" lIns="0" rIns="0" tIns="0" bIns="0">
            <a:spAutoFit/>
          </a:bodyPr>
          <a:lstStyle/>
          <a:p>
            <a:r>
              <a:rPr sz="1100" b="0">
                <a:solidFill>
                  <a:srgbClr val="2E2E2E"/>
                </a:solidFill>
                <a:latin typeface="Calibri"/>
              </a:rPr>
              <a:t>● Sprays and Mists:</a:t>
            </a:r>
          </a:p>
        </p:txBody>
      </p:sp>
      <p:pic>
        <p:nvPicPr>
          <p:cNvPr id="111" name="Picture 110" descr="lock.png"/>
          <p:cNvPicPr>
            <a:picLocks noChangeAspect="1"/>
          </p:cNvPicPr>
          <p:nvPr/>
        </p:nvPicPr>
        <p:blipFill>
          <a:blip r:embed="rId16"/>
          <a:stretch>
            <a:fillRect/>
          </a:stretch>
        </p:blipFill>
        <p:spPr>
          <a:xfrm>
            <a:off x="4971968" y="4990801"/>
            <a:ext cx="128699" cy="187198"/>
          </a:xfrm>
          <a:prstGeom prst="rect">
            <a:avLst/>
          </a:prstGeom>
        </p:spPr>
      </p:pic>
      <p:sp>
        <p:nvSpPr>
          <p:cNvPr id="112" name="TextBox 111"/>
          <p:cNvSpPr txBox="1"/>
          <p:nvPr/>
        </p:nvSpPr>
        <p:spPr>
          <a:xfrm>
            <a:off x="5139464"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3" name="Picture 112" descr="lock.png"/>
          <p:cNvPicPr>
            <a:picLocks noChangeAspect="1"/>
          </p:cNvPicPr>
          <p:nvPr/>
        </p:nvPicPr>
        <p:blipFill>
          <a:blip r:embed="rId16"/>
          <a:stretch>
            <a:fillRect/>
          </a:stretch>
        </p:blipFill>
        <p:spPr>
          <a:xfrm>
            <a:off x="5998914" y="4990801"/>
            <a:ext cx="128699" cy="187198"/>
          </a:xfrm>
          <a:prstGeom prst="rect">
            <a:avLst/>
          </a:prstGeom>
        </p:spPr>
      </p:pic>
      <p:sp>
        <p:nvSpPr>
          <p:cNvPr id="114" name="TextBox 113"/>
          <p:cNvSpPr txBox="1"/>
          <p:nvPr/>
        </p:nvSpPr>
        <p:spPr>
          <a:xfrm>
            <a:off x="6166410"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5" name="TextBox 114"/>
          <p:cNvSpPr txBox="1"/>
          <p:nvPr/>
        </p:nvSpPr>
        <p:spPr>
          <a:xfrm>
            <a:off x="3838575" y="5218513"/>
            <a:ext cx="1168424" cy="186689"/>
          </a:xfrm>
          <a:prstGeom prst="rect">
            <a:avLst/>
          </a:prstGeom>
          <a:noFill/>
        </p:spPr>
        <p:txBody>
          <a:bodyPr wrap="none" lIns="0" rIns="0" tIns="0" bIns="0">
            <a:spAutoFit/>
          </a:bodyPr>
          <a:lstStyle/>
          <a:p>
            <a:r>
              <a:rPr sz="1100" b="0">
                <a:solidFill>
                  <a:srgbClr val="2E2E2E"/>
                </a:solidFill>
                <a:latin typeface="Calibri"/>
              </a:rPr>
              <a:t>● Sticks and Balms:</a:t>
            </a:r>
          </a:p>
        </p:txBody>
      </p:sp>
      <p:pic>
        <p:nvPicPr>
          <p:cNvPr id="116" name="Picture 115" descr="lock.png"/>
          <p:cNvPicPr>
            <a:picLocks noChangeAspect="1"/>
          </p:cNvPicPr>
          <p:nvPr/>
        </p:nvPicPr>
        <p:blipFill>
          <a:blip r:embed="rId16"/>
          <a:stretch>
            <a:fillRect/>
          </a:stretch>
        </p:blipFill>
        <p:spPr>
          <a:xfrm>
            <a:off x="4955051" y="5208733"/>
            <a:ext cx="128699" cy="187198"/>
          </a:xfrm>
          <a:prstGeom prst="rect">
            <a:avLst/>
          </a:prstGeom>
        </p:spPr>
      </p:pic>
      <p:sp>
        <p:nvSpPr>
          <p:cNvPr id="117" name="TextBox 116"/>
          <p:cNvSpPr txBox="1"/>
          <p:nvPr/>
        </p:nvSpPr>
        <p:spPr>
          <a:xfrm>
            <a:off x="5122547"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6"/>
          <a:stretch>
            <a:fillRect/>
          </a:stretch>
        </p:blipFill>
        <p:spPr>
          <a:xfrm>
            <a:off x="5981997" y="5208733"/>
            <a:ext cx="128699" cy="187198"/>
          </a:xfrm>
          <a:prstGeom prst="rect">
            <a:avLst/>
          </a:prstGeom>
        </p:spPr>
      </p:pic>
      <p:sp>
        <p:nvSpPr>
          <p:cNvPr id="119" name="TextBox 118"/>
          <p:cNvSpPr txBox="1"/>
          <p:nvPr/>
        </p:nvSpPr>
        <p:spPr>
          <a:xfrm>
            <a:off x="6149493" y="521851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0" name="TextBox 119"/>
          <p:cNvSpPr txBox="1"/>
          <p:nvPr/>
        </p:nvSpPr>
        <p:spPr>
          <a:xfrm>
            <a:off x="8524875" y="5842641"/>
            <a:ext cx="3087028" cy="194310"/>
          </a:xfrm>
          <a:prstGeom prst="rect">
            <a:avLst/>
          </a:prstGeom>
          <a:noFill/>
        </p:spPr>
        <p:txBody>
          <a:bodyPr wrap="none" lIns="0" rIns="0" tIns="0" bIns="0">
            <a:spAutoFit/>
          </a:bodyPr>
          <a:lstStyle/>
          <a:p>
            <a:r>
              <a:rPr sz="1150" b="1">
                <a:solidFill>
                  <a:srgbClr val="0B2E4A"/>
                </a:solidFill>
                <a:latin typeface="Calibri"/>
              </a:rPr>
              <a:t>The Product Format segment is projected to grow</a:t>
            </a:r>
          </a:p>
        </p:txBody>
      </p:sp>
      <p:sp>
        <p:nvSpPr>
          <p:cNvPr id="121" name="TextBox 120"/>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22" name="Picture 121" descr="lock.png"/>
          <p:cNvPicPr>
            <a:picLocks noChangeAspect="1"/>
          </p:cNvPicPr>
          <p:nvPr/>
        </p:nvPicPr>
        <p:blipFill>
          <a:blip r:embed="rId16"/>
          <a:stretch>
            <a:fillRect/>
          </a:stretch>
        </p:blipFill>
        <p:spPr>
          <a:xfrm>
            <a:off x="9310118" y="6007677"/>
            <a:ext cx="134549" cy="195707"/>
          </a:xfrm>
          <a:prstGeom prst="rect">
            <a:avLst/>
          </a:prstGeom>
        </p:spPr>
      </p:pic>
      <p:sp>
        <p:nvSpPr>
          <p:cNvPr id="123" name="TextBox 122"/>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Format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Product Format,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Format segment categorizes the market by product format.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Creams and Lotions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5" name="Oval 24"/>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6" name="Rounded Rectangle 25"/>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Powders</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2" name="Oval 31"/>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3" name="Rounded Rectangle 32"/>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Gels and Jellies</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9" name="Oval 38"/>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40" name="Rounded Rectangle 39"/>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Mousses and Foams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6" name="Oval 45"/>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7" name="Rounded Rectangle 46"/>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9" name="Rectangle 48"/>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591_0_605E5C.png"/>
          <p:cNvPicPr>
            <a:picLocks noChangeAspect="1"/>
          </p:cNvPicPr>
          <p:nvPr/>
        </p:nvPicPr>
        <p:blipFill>
          <a:blip r:embed="rId4"/>
          <a:stretch>
            <a:fillRect/>
          </a:stretch>
        </p:blipFill>
        <p:spPr>
          <a:xfrm>
            <a:off x="2476330" y="2286582"/>
            <a:ext cx="1195728" cy="361950"/>
          </a:xfrm>
          <a:prstGeom prst="rect">
            <a:avLst/>
          </a:prstGeom>
        </p:spPr>
      </p:pic>
      <p:pic>
        <p:nvPicPr>
          <p:cNvPr id="54" name="Picture 53" descr="1_140_605E5C.png"/>
          <p:cNvPicPr>
            <a:picLocks noChangeAspect="1"/>
          </p:cNvPicPr>
          <p:nvPr/>
        </p:nvPicPr>
        <p:blipFill>
          <a:blip r:embed="rId5"/>
          <a:stretch>
            <a:fillRect/>
          </a:stretch>
        </p:blipFill>
        <p:spPr>
          <a:xfrm>
            <a:off x="2476330" y="2779432"/>
            <a:ext cx="1195728" cy="361950"/>
          </a:xfrm>
          <a:prstGeom prst="rect">
            <a:avLst/>
          </a:prstGeom>
        </p:spPr>
      </p:pic>
      <p:pic>
        <p:nvPicPr>
          <p:cNvPr id="55" name="Picture 54" descr="6_8__605E5C.png"/>
          <p:cNvPicPr>
            <a:picLocks noChangeAspect="1"/>
          </p:cNvPicPr>
          <p:nvPr/>
        </p:nvPicPr>
        <p:blipFill>
          <a:blip r:embed="rId6"/>
          <a:stretch>
            <a:fillRect/>
          </a:stretch>
        </p:blipFill>
        <p:spPr>
          <a:xfrm>
            <a:off x="2582976" y="3272281"/>
            <a:ext cx="982436" cy="361950"/>
          </a:xfrm>
          <a:prstGeom prst="rect">
            <a:avLst/>
          </a:prstGeom>
        </p:spPr>
      </p:pic>
      <p:pic>
        <p:nvPicPr>
          <p:cNvPr id="56" name="Picture 55" descr="495_9_605E5C.png"/>
          <p:cNvPicPr>
            <a:picLocks noChangeAspect="1"/>
          </p:cNvPicPr>
          <p:nvPr/>
        </p:nvPicPr>
        <p:blipFill>
          <a:blip r:embed="rId7"/>
          <a:stretch>
            <a:fillRect/>
          </a:stretch>
        </p:blipFill>
        <p:spPr>
          <a:xfrm>
            <a:off x="5005218" y="2286582"/>
            <a:ext cx="1195728" cy="361950"/>
          </a:xfrm>
          <a:prstGeom prst="rect">
            <a:avLst/>
          </a:prstGeom>
        </p:spPr>
      </p:pic>
      <p:pic>
        <p:nvPicPr>
          <p:cNvPr id="57" name="Picture 56" descr="925_2_605E5C.png"/>
          <p:cNvPicPr>
            <a:picLocks noChangeAspect="1"/>
          </p:cNvPicPr>
          <p:nvPr/>
        </p:nvPicPr>
        <p:blipFill>
          <a:blip r:embed="rId8"/>
          <a:stretch>
            <a:fillRect/>
          </a:stretch>
        </p:blipFill>
        <p:spPr>
          <a:xfrm>
            <a:off x="5005218" y="2779432"/>
            <a:ext cx="1195728" cy="361950"/>
          </a:xfrm>
          <a:prstGeom prst="rect">
            <a:avLst/>
          </a:prstGeom>
        </p:spPr>
      </p:pic>
      <p:pic>
        <p:nvPicPr>
          <p:cNvPr id="58" name="Picture 57" descr="6_4__605E5C.png"/>
          <p:cNvPicPr>
            <a:picLocks noChangeAspect="1"/>
          </p:cNvPicPr>
          <p:nvPr/>
        </p:nvPicPr>
        <p:blipFill>
          <a:blip r:embed="rId9"/>
          <a:stretch>
            <a:fillRect/>
          </a:stretch>
        </p:blipFill>
        <p:spPr>
          <a:xfrm>
            <a:off x="5111864" y="3272281"/>
            <a:ext cx="982436" cy="361950"/>
          </a:xfrm>
          <a:prstGeom prst="rect">
            <a:avLst/>
          </a:prstGeom>
        </p:spPr>
      </p:pic>
      <p:pic>
        <p:nvPicPr>
          <p:cNvPr id="59" name="Picture 58" descr="432_7_605E5C.png"/>
          <p:cNvPicPr>
            <a:picLocks noChangeAspect="1"/>
          </p:cNvPicPr>
          <p:nvPr/>
        </p:nvPicPr>
        <p:blipFill>
          <a:blip r:embed="rId10"/>
          <a:stretch>
            <a:fillRect/>
          </a:stretch>
        </p:blipFill>
        <p:spPr>
          <a:xfrm>
            <a:off x="7534105" y="2286582"/>
            <a:ext cx="1195728" cy="361950"/>
          </a:xfrm>
          <a:prstGeom prst="rect">
            <a:avLst/>
          </a:prstGeom>
        </p:spPr>
      </p:pic>
      <p:pic>
        <p:nvPicPr>
          <p:cNvPr id="60" name="Picture 59" descr="706_0_605E5C.png"/>
          <p:cNvPicPr>
            <a:picLocks noChangeAspect="1"/>
          </p:cNvPicPr>
          <p:nvPr/>
        </p:nvPicPr>
        <p:blipFill>
          <a:blip r:embed="rId11"/>
          <a:stretch>
            <a:fillRect/>
          </a:stretch>
        </p:blipFill>
        <p:spPr>
          <a:xfrm>
            <a:off x="7534105" y="2779432"/>
            <a:ext cx="1195728" cy="361950"/>
          </a:xfrm>
          <a:prstGeom prst="rect">
            <a:avLst/>
          </a:prstGeom>
        </p:spPr>
      </p:pic>
      <p:pic>
        <p:nvPicPr>
          <p:cNvPr id="61" name="Picture 60" descr="5_0__605E5C.png"/>
          <p:cNvPicPr>
            <a:picLocks noChangeAspect="1"/>
          </p:cNvPicPr>
          <p:nvPr/>
        </p:nvPicPr>
        <p:blipFill>
          <a:blip r:embed="rId12"/>
          <a:stretch>
            <a:fillRect/>
          </a:stretch>
        </p:blipFill>
        <p:spPr>
          <a:xfrm>
            <a:off x="7640751" y="3272281"/>
            <a:ext cx="982436" cy="361950"/>
          </a:xfrm>
          <a:prstGeom prst="rect">
            <a:avLst/>
          </a:prstGeom>
        </p:spPr>
      </p:pic>
      <p:pic>
        <p:nvPicPr>
          <p:cNvPr id="62" name="Picture 61" descr="358_3_605E5C.png"/>
          <p:cNvPicPr>
            <a:picLocks noChangeAspect="1"/>
          </p:cNvPicPr>
          <p:nvPr/>
        </p:nvPicPr>
        <p:blipFill>
          <a:blip r:embed="rId13"/>
          <a:stretch>
            <a:fillRect/>
          </a:stretch>
        </p:blipFill>
        <p:spPr>
          <a:xfrm>
            <a:off x="10062992" y="2286582"/>
            <a:ext cx="1195728" cy="361950"/>
          </a:xfrm>
          <a:prstGeom prst="rect">
            <a:avLst/>
          </a:prstGeom>
        </p:spPr>
      </p:pic>
      <p:pic>
        <p:nvPicPr>
          <p:cNvPr id="63" name="Picture 62" descr="563_0_605E5C.png"/>
          <p:cNvPicPr>
            <a:picLocks noChangeAspect="1"/>
          </p:cNvPicPr>
          <p:nvPr/>
        </p:nvPicPr>
        <p:blipFill>
          <a:blip r:embed="rId14"/>
          <a:stretch>
            <a:fillRect/>
          </a:stretch>
        </p:blipFill>
        <p:spPr>
          <a:xfrm>
            <a:off x="10062992" y="2779432"/>
            <a:ext cx="1195728" cy="361950"/>
          </a:xfrm>
          <a:prstGeom prst="rect">
            <a:avLst/>
          </a:prstGeom>
        </p:spPr>
      </p:pic>
      <p:pic>
        <p:nvPicPr>
          <p:cNvPr id="64" name="Picture 63" descr="4_6__605E5C.png"/>
          <p:cNvPicPr>
            <a:picLocks noChangeAspect="1"/>
          </p:cNvPicPr>
          <p:nvPr/>
        </p:nvPicPr>
        <p:blipFill>
          <a:blip r:embed="rId15"/>
          <a:stretch>
            <a:fillRect/>
          </a:stretch>
        </p:blipFill>
        <p:spPr>
          <a:xfrm>
            <a:off x="10169638" y="3272281"/>
            <a:ext cx="982436" cy="361950"/>
          </a:xfrm>
          <a:prstGeom prst="rect">
            <a:avLst/>
          </a:prstGeom>
        </p:spPr>
      </p:pic>
      <p:pic>
        <p:nvPicPr>
          <p:cNvPr id="65" name="Picture 64" descr="lock.png"/>
          <p:cNvPicPr>
            <a:picLocks noChangeAspect="1"/>
          </p:cNvPicPr>
          <p:nvPr/>
        </p:nvPicPr>
        <p:blipFill>
          <a:blip r:embed="rId16"/>
          <a:stretch>
            <a:fillRect/>
          </a:stretch>
        </p:blipFill>
        <p:spPr>
          <a:xfrm>
            <a:off x="2980848"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5509737" y="2827057"/>
            <a:ext cx="183356" cy="266700"/>
          </a:xfrm>
          <a:prstGeom prst="rect">
            <a:avLst/>
          </a:prstGeom>
        </p:spPr>
      </p:pic>
      <p:pic>
        <p:nvPicPr>
          <p:cNvPr id="67" name="Picture 66" descr="lock.png"/>
          <p:cNvPicPr>
            <a:picLocks noChangeAspect="1"/>
          </p:cNvPicPr>
          <p:nvPr/>
        </p:nvPicPr>
        <p:blipFill>
          <a:blip r:embed="rId16"/>
          <a:stretch>
            <a:fillRect/>
          </a:stretch>
        </p:blipFill>
        <p:spPr>
          <a:xfrm>
            <a:off x="8038624" y="2827057"/>
            <a:ext cx="183356" cy="266700"/>
          </a:xfrm>
          <a:prstGeom prst="rect">
            <a:avLst/>
          </a:prstGeom>
        </p:spPr>
      </p:pic>
      <p:pic>
        <p:nvPicPr>
          <p:cNvPr id="68" name="Picture 67" descr="lock.png"/>
          <p:cNvPicPr>
            <a:picLocks noChangeAspect="1"/>
          </p:cNvPicPr>
          <p:nvPr/>
        </p:nvPicPr>
        <p:blipFill>
          <a:blip r:embed="rId16"/>
          <a:stretch>
            <a:fillRect/>
          </a:stretch>
        </p:blipFill>
        <p:spPr>
          <a:xfrm>
            <a:off x="10567511" y="2827057"/>
            <a:ext cx="183356" cy="266700"/>
          </a:xfrm>
          <a:prstGeom prst="rect">
            <a:avLst/>
          </a:prstGeom>
        </p:spPr>
      </p:pic>
      <p:sp>
        <p:nvSpPr>
          <p:cNvPr id="69" name="TextBox 68"/>
          <p:cNvSpPr txBox="1"/>
          <p:nvPr/>
        </p:nvSpPr>
        <p:spPr>
          <a:xfrm>
            <a:off x="485775" y="4229437"/>
            <a:ext cx="1345505" cy="186689"/>
          </a:xfrm>
          <a:prstGeom prst="rect">
            <a:avLst/>
          </a:prstGeom>
          <a:noFill/>
        </p:spPr>
        <p:txBody>
          <a:bodyPr wrap="none" lIns="0" rIns="0" tIns="0" bIns="0">
            <a:spAutoFit/>
          </a:bodyPr>
          <a:lstStyle/>
          <a:p>
            <a:r>
              <a:rPr sz="1100" b="0">
                <a:solidFill>
                  <a:srgbClr val="2E2E2E"/>
                </a:solidFill>
                <a:latin typeface="Calibri"/>
              </a:rPr>
              <a:t>● Creams and Lotions:</a:t>
            </a:r>
          </a:p>
        </p:txBody>
      </p:sp>
      <p:pic>
        <p:nvPicPr>
          <p:cNvPr id="70" name="Picture 69" descr="lock.png"/>
          <p:cNvPicPr>
            <a:picLocks noChangeAspect="1"/>
          </p:cNvPicPr>
          <p:nvPr/>
        </p:nvPicPr>
        <p:blipFill>
          <a:blip r:embed="rId16"/>
          <a:stretch>
            <a:fillRect/>
          </a:stretch>
        </p:blipFill>
        <p:spPr>
          <a:xfrm>
            <a:off x="1779332" y="4219658"/>
            <a:ext cx="128699" cy="187198"/>
          </a:xfrm>
          <a:prstGeom prst="rect">
            <a:avLst/>
          </a:prstGeom>
        </p:spPr>
      </p:pic>
      <p:sp>
        <p:nvSpPr>
          <p:cNvPr id="71" name="TextBox 70"/>
          <p:cNvSpPr txBox="1"/>
          <p:nvPr/>
        </p:nvSpPr>
        <p:spPr>
          <a:xfrm>
            <a:off x="194682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16"/>
          <a:stretch>
            <a:fillRect/>
          </a:stretch>
        </p:blipFill>
        <p:spPr>
          <a:xfrm>
            <a:off x="2806278" y="4219658"/>
            <a:ext cx="128699" cy="187198"/>
          </a:xfrm>
          <a:prstGeom prst="rect">
            <a:avLst/>
          </a:prstGeom>
        </p:spPr>
      </p:pic>
      <p:sp>
        <p:nvSpPr>
          <p:cNvPr id="73" name="TextBox 72"/>
          <p:cNvSpPr txBox="1"/>
          <p:nvPr/>
        </p:nvSpPr>
        <p:spPr>
          <a:xfrm>
            <a:off x="2973773"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4" name="TextBox 73"/>
          <p:cNvSpPr txBox="1"/>
          <p:nvPr/>
        </p:nvSpPr>
        <p:spPr>
          <a:xfrm>
            <a:off x="485775" y="4447369"/>
            <a:ext cx="1131316" cy="186689"/>
          </a:xfrm>
          <a:prstGeom prst="rect">
            <a:avLst/>
          </a:prstGeom>
          <a:noFill/>
        </p:spPr>
        <p:txBody>
          <a:bodyPr wrap="none" lIns="0" rIns="0" tIns="0" bIns="0">
            <a:spAutoFit/>
          </a:bodyPr>
          <a:lstStyle/>
          <a:p>
            <a:r>
              <a:rPr sz="1100" b="0">
                <a:solidFill>
                  <a:srgbClr val="2E2E2E"/>
                </a:solidFill>
                <a:latin typeface="Calibri"/>
              </a:rPr>
              <a:t>● Styling Powders:</a:t>
            </a:r>
          </a:p>
        </p:txBody>
      </p:sp>
      <p:pic>
        <p:nvPicPr>
          <p:cNvPr id="75" name="Picture 74" descr="lock.png"/>
          <p:cNvPicPr>
            <a:picLocks noChangeAspect="1"/>
          </p:cNvPicPr>
          <p:nvPr/>
        </p:nvPicPr>
        <p:blipFill>
          <a:blip r:embed="rId16"/>
          <a:stretch>
            <a:fillRect/>
          </a:stretch>
        </p:blipFill>
        <p:spPr>
          <a:xfrm>
            <a:off x="1565143" y="4437590"/>
            <a:ext cx="128699" cy="187198"/>
          </a:xfrm>
          <a:prstGeom prst="rect">
            <a:avLst/>
          </a:prstGeom>
        </p:spPr>
      </p:pic>
      <p:sp>
        <p:nvSpPr>
          <p:cNvPr id="76" name="TextBox 75"/>
          <p:cNvSpPr txBox="1"/>
          <p:nvPr/>
        </p:nvSpPr>
        <p:spPr>
          <a:xfrm>
            <a:off x="173263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6"/>
          <a:stretch>
            <a:fillRect/>
          </a:stretch>
        </p:blipFill>
        <p:spPr>
          <a:xfrm>
            <a:off x="2592089" y="4437590"/>
            <a:ext cx="128699" cy="187198"/>
          </a:xfrm>
          <a:prstGeom prst="rect">
            <a:avLst/>
          </a:prstGeom>
        </p:spPr>
      </p:pic>
      <p:sp>
        <p:nvSpPr>
          <p:cNvPr id="78" name="TextBox 77"/>
          <p:cNvSpPr txBox="1"/>
          <p:nvPr/>
        </p:nvSpPr>
        <p:spPr>
          <a:xfrm>
            <a:off x="2759585"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9" name="TextBox 78"/>
          <p:cNvSpPr txBox="1"/>
          <p:nvPr/>
        </p:nvSpPr>
        <p:spPr>
          <a:xfrm>
            <a:off x="485775" y="4665301"/>
            <a:ext cx="1085750" cy="186689"/>
          </a:xfrm>
          <a:prstGeom prst="rect">
            <a:avLst/>
          </a:prstGeom>
          <a:noFill/>
        </p:spPr>
        <p:txBody>
          <a:bodyPr wrap="none" lIns="0" rIns="0" tIns="0" bIns="0">
            <a:spAutoFit/>
          </a:bodyPr>
          <a:lstStyle/>
          <a:p>
            <a:r>
              <a:rPr sz="1100" b="0">
                <a:solidFill>
                  <a:srgbClr val="2E2E2E"/>
                </a:solidFill>
                <a:latin typeface="Calibri"/>
              </a:rPr>
              <a:t>● Gels and Jellies:</a:t>
            </a:r>
          </a:p>
        </p:txBody>
      </p:sp>
      <p:pic>
        <p:nvPicPr>
          <p:cNvPr id="80" name="Picture 79" descr="lock.png"/>
          <p:cNvPicPr>
            <a:picLocks noChangeAspect="1"/>
          </p:cNvPicPr>
          <p:nvPr/>
        </p:nvPicPr>
        <p:blipFill>
          <a:blip r:embed="rId16"/>
          <a:stretch>
            <a:fillRect/>
          </a:stretch>
        </p:blipFill>
        <p:spPr>
          <a:xfrm>
            <a:off x="1519577" y="4655522"/>
            <a:ext cx="128699" cy="187198"/>
          </a:xfrm>
          <a:prstGeom prst="rect">
            <a:avLst/>
          </a:prstGeom>
        </p:spPr>
      </p:pic>
      <p:sp>
        <p:nvSpPr>
          <p:cNvPr id="81" name="TextBox 80"/>
          <p:cNvSpPr txBox="1"/>
          <p:nvPr/>
        </p:nvSpPr>
        <p:spPr>
          <a:xfrm>
            <a:off x="168707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16"/>
          <a:stretch>
            <a:fillRect/>
          </a:stretch>
        </p:blipFill>
        <p:spPr>
          <a:xfrm>
            <a:off x="2546523" y="4655522"/>
            <a:ext cx="128699" cy="187198"/>
          </a:xfrm>
          <a:prstGeom prst="rect">
            <a:avLst/>
          </a:prstGeom>
        </p:spPr>
      </p:pic>
      <p:sp>
        <p:nvSpPr>
          <p:cNvPr id="83" name="TextBox 82"/>
          <p:cNvSpPr txBox="1"/>
          <p:nvPr/>
        </p:nvSpPr>
        <p:spPr>
          <a:xfrm>
            <a:off x="2714019"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84" name="TextBox 83"/>
          <p:cNvSpPr txBox="1"/>
          <p:nvPr/>
        </p:nvSpPr>
        <p:spPr>
          <a:xfrm>
            <a:off x="485775" y="4883233"/>
            <a:ext cx="1377126" cy="186689"/>
          </a:xfrm>
          <a:prstGeom prst="rect">
            <a:avLst/>
          </a:prstGeom>
          <a:noFill/>
        </p:spPr>
        <p:txBody>
          <a:bodyPr wrap="none" lIns="0" rIns="0" tIns="0" bIns="0">
            <a:spAutoFit/>
          </a:bodyPr>
          <a:lstStyle/>
          <a:p>
            <a:r>
              <a:rPr sz="1100" b="0">
                <a:solidFill>
                  <a:srgbClr val="2E2E2E"/>
                </a:solidFill>
                <a:latin typeface="Calibri"/>
              </a:rPr>
              <a:t>● Mousses and Foams:</a:t>
            </a:r>
          </a:p>
        </p:txBody>
      </p:sp>
      <p:pic>
        <p:nvPicPr>
          <p:cNvPr id="85" name="Picture 84" descr="lock.png"/>
          <p:cNvPicPr>
            <a:picLocks noChangeAspect="1"/>
          </p:cNvPicPr>
          <p:nvPr/>
        </p:nvPicPr>
        <p:blipFill>
          <a:blip r:embed="rId16"/>
          <a:stretch>
            <a:fillRect/>
          </a:stretch>
        </p:blipFill>
        <p:spPr>
          <a:xfrm>
            <a:off x="1810953" y="4873454"/>
            <a:ext cx="128699" cy="187198"/>
          </a:xfrm>
          <a:prstGeom prst="rect">
            <a:avLst/>
          </a:prstGeom>
        </p:spPr>
      </p:pic>
      <p:sp>
        <p:nvSpPr>
          <p:cNvPr id="86" name="TextBox 85"/>
          <p:cNvSpPr txBox="1"/>
          <p:nvPr/>
        </p:nvSpPr>
        <p:spPr>
          <a:xfrm>
            <a:off x="1978448"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6"/>
          <a:stretch>
            <a:fillRect/>
          </a:stretch>
        </p:blipFill>
        <p:spPr>
          <a:xfrm>
            <a:off x="2837899" y="4873454"/>
            <a:ext cx="128699" cy="187198"/>
          </a:xfrm>
          <a:prstGeom prst="rect">
            <a:avLst/>
          </a:prstGeom>
        </p:spPr>
      </p:pic>
      <p:sp>
        <p:nvSpPr>
          <p:cNvPr id="88" name="TextBox 87"/>
          <p:cNvSpPr txBox="1"/>
          <p:nvPr/>
        </p:nvSpPr>
        <p:spPr>
          <a:xfrm>
            <a:off x="3005394"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Format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Product Format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Format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Format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316865" cy="186689"/>
          </a:xfrm>
          <a:prstGeom prst="rect">
            <a:avLst/>
          </a:prstGeom>
          <a:noFill/>
        </p:spPr>
        <p:txBody>
          <a:bodyPr wrap="none" lIns="0" rIns="0" tIns="0" bIns="0">
            <a:spAutoFit/>
          </a:bodyPr>
          <a:lstStyle/>
          <a:p>
            <a:r>
              <a:rPr sz="1100" b="0">
                <a:solidFill>
                  <a:srgbClr val="2E2E2E"/>
                </a:solidFill>
                <a:latin typeface="Calibri"/>
              </a:rPr>
              <a:t>Styling serums and oils followed by sticks and balms are expected to be the two most attractive product format segments in the North America hair styling products market in terms of value over the</a:t>
            </a:r>
          </a:p>
        </p:txBody>
      </p:sp>
      <p:sp>
        <p:nvSpPr>
          <p:cNvPr id="21" name="TextBox 20"/>
          <p:cNvSpPr txBox="1"/>
          <p:nvPr/>
        </p:nvSpPr>
        <p:spPr>
          <a:xfrm>
            <a:off x="257175" y="5861685"/>
            <a:ext cx="4861180" cy="186689"/>
          </a:xfrm>
          <a:prstGeom prst="rect">
            <a:avLst/>
          </a:prstGeom>
          <a:noFill/>
        </p:spPr>
        <p:txBody>
          <a:bodyPr wrap="none" lIns="0" rIns="0" tIns="0" bIns="0">
            <a:spAutoFit/>
          </a:bodyPr>
          <a:lstStyle/>
          <a:p>
            <a:r>
              <a:rPr sz="1100" b="0">
                <a:solidFill>
                  <a:srgbClr val="2E2E2E"/>
                </a:solidFill>
                <a:latin typeface="Calibri"/>
              </a:rPr>
              <a:t>forecast period. Styling serums and oils and sticks and balms exhibit a CAGR index of</a:t>
            </a:r>
          </a:p>
        </p:txBody>
      </p:sp>
      <p:pic>
        <p:nvPicPr>
          <p:cNvPr id="22" name="Picture 21" descr="lock.png"/>
          <p:cNvPicPr>
            <a:picLocks noChangeAspect="1"/>
          </p:cNvPicPr>
          <p:nvPr/>
        </p:nvPicPr>
        <p:blipFill>
          <a:blip r:embed="rId6"/>
          <a:stretch>
            <a:fillRect/>
          </a:stretch>
        </p:blipFill>
        <p:spPr>
          <a:xfrm>
            <a:off x="5066407" y="5851905"/>
            <a:ext cx="128699" cy="187198"/>
          </a:xfrm>
          <a:prstGeom prst="rect">
            <a:avLst/>
          </a:prstGeom>
        </p:spPr>
      </p:pic>
      <p:sp>
        <p:nvSpPr>
          <p:cNvPr id="23" name="TextBox 22"/>
          <p:cNvSpPr txBox="1"/>
          <p:nvPr/>
        </p:nvSpPr>
        <p:spPr>
          <a:xfrm>
            <a:off x="523390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5471797" y="5851905"/>
            <a:ext cx="128699" cy="187198"/>
          </a:xfrm>
          <a:prstGeom prst="rect">
            <a:avLst/>
          </a:prstGeom>
        </p:spPr>
      </p:pic>
      <p:sp>
        <p:nvSpPr>
          <p:cNvPr id="25" name="TextBox 24"/>
          <p:cNvSpPr txBox="1"/>
          <p:nvPr/>
        </p:nvSpPr>
        <p:spPr>
          <a:xfrm>
            <a:off x="563929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7248266" y="5851905"/>
            <a:ext cx="128699" cy="187198"/>
          </a:xfrm>
          <a:prstGeom prst="rect">
            <a:avLst/>
          </a:prstGeom>
        </p:spPr>
      </p:pic>
      <p:sp>
        <p:nvSpPr>
          <p:cNvPr id="27" name="TextBox 26"/>
          <p:cNvSpPr txBox="1"/>
          <p:nvPr/>
        </p:nvSpPr>
        <p:spPr>
          <a:xfrm>
            <a:off x="741576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7653657" y="5851905"/>
            <a:ext cx="128699" cy="187198"/>
          </a:xfrm>
          <a:prstGeom prst="rect">
            <a:avLst/>
          </a:prstGeom>
        </p:spPr>
      </p:pic>
      <p:sp>
        <p:nvSpPr>
          <p:cNvPr id="29" name="TextBox 28"/>
          <p:cNvSpPr txBox="1"/>
          <p:nvPr/>
        </p:nvSpPr>
        <p:spPr>
          <a:xfrm>
            <a:off x="782115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10375557" y="5851905"/>
            <a:ext cx="128699" cy="187198"/>
          </a:xfrm>
          <a:prstGeom prst="rect">
            <a:avLst/>
          </a:prstGeom>
        </p:spPr>
      </p:pic>
      <p:sp>
        <p:nvSpPr>
          <p:cNvPr id="31" name="TextBox 30"/>
          <p:cNvSpPr txBox="1"/>
          <p:nvPr/>
        </p:nvSpPr>
        <p:spPr>
          <a:xfrm>
            <a:off x="10543052" y="5861685"/>
            <a:ext cx="877837" cy="186689"/>
          </a:xfrm>
          <a:prstGeom prst="rect">
            <a:avLst/>
          </a:prstGeom>
          <a:noFill/>
        </p:spPr>
        <p:txBody>
          <a:bodyPr wrap="none" lIns="0" rIns="0" tIns="0" bIns="0">
            <a:spAutoFit/>
          </a:bodyPr>
          <a:lstStyle/>
          <a:p>
            <a:r>
              <a:rPr sz="1100" b="0">
                <a:solidFill>
                  <a:srgbClr val="2E2E2E"/>
                </a:solidFill>
                <a:latin typeface="Calibri"/>
              </a:rPr>
              <a:t>. The mousses</a:t>
            </a:r>
          </a:p>
        </p:txBody>
      </p:sp>
      <p:sp>
        <p:nvSpPr>
          <p:cNvPr id="32" name="TextBox 31"/>
          <p:cNvSpPr txBox="1"/>
          <p:nvPr/>
        </p:nvSpPr>
        <p:spPr>
          <a:xfrm>
            <a:off x="257175" y="6029325"/>
            <a:ext cx="11494458" cy="186689"/>
          </a:xfrm>
          <a:prstGeom prst="rect">
            <a:avLst/>
          </a:prstGeom>
          <a:noFill/>
        </p:spPr>
        <p:txBody>
          <a:bodyPr wrap="none" lIns="0" rIns="0" tIns="0" bIns="0">
            <a:spAutoFit/>
          </a:bodyPr>
          <a:lstStyle/>
          <a:p>
            <a:r>
              <a:rPr sz="1100" b="0">
                <a:solidFill>
                  <a:srgbClr val="2E2E2E"/>
                </a:solidFill>
                <a:latin typeface="Calibri"/>
              </a:rPr>
              <a:t>and foams segment is expected to be less attractive as compared to other segments over the forecast period, owing to its lower CAGR and incremental opportunity. Bubbles right of the CAGR-Index line</a:t>
            </a:r>
          </a:p>
        </p:txBody>
      </p:sp>
      <p:sp>
        <p:nvSpPr>
          <p:cNvPr id="33" name="TextBox 32"/>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Format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Sprays and Mists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Mousses and Foams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Gels and Jellies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Creams and Lotions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Format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Format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Waxes, Clays, Pastes and Pomades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Styling Powders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Styling Serums and Oils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Sticks and Balms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Format (US$ Mn)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Format (US$ Mn)</a:t>
            </a:r>
          </a:p>
        </p:txBody>
      </p:sp>
      <p:graphicFrame>
        <p:nvGraphicFramePr>
          <p:cNvPr id="13" name="Table 12"/>
          <p:cNvGraphicFramePr>
            <a:graphicFrameLocks noGrp="1"/>
          </p:cNvGraphicFramePr>
          <p:nvPr/>
        </p:nvGraphicFramePr>
        <p:xfrm>
          <a:off x="152400" y="1238250"/>
          <a:ext cx="11887207" cy="2714626"/>
        </p:xfrm>
        <a:graphic>
          <a:graphicData uri="http://schemas.openxmlformats.org/drawingml/2006/table">
            <a:tbl>
              <a:tblPr>
                <a:tableStyleId>{5C22544A-7EE6-4342-B048-85BDC9FD1C3A}</a:tableStyleId>
              </a:tblPr>
              <a:tblGrid>
                <a:gridCol w="1744004"/>
                <a:gridCol w="596659"/>
                <a:gridCol w="596659"/>
                <a:gridCol w="596659"/>
                <a:gridCol w="596659"/>
                <a:gridCol w="596659"/>
                <a:gridCol w="596659"/>
                <a:gridCol w="596659"/>
                <a:gridCol w="596659"/>
                <a:gridCol w="596659"/>
                <a:gridCol w="596659"/>
                <a:gridCol w="596659"/>
                <a:gridCol w="596659"/>
                <a:gridCol w="596659"/>
                <a:gridCol w="596659"/>
                <a:gridCol w="596659"/>
                <a:gridCol w="596659"/>
                <a:gridCol w="596659"/>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Sprays and Mists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Aerosol Hairsprays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Non-aerosol Hairsprays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Texturizing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Sea-salt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Volumizing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Mousses and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Aerosol Mousses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Non-aerosol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Gels and Jellies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6781315" y="2451926"/>
            <a:ext cx="366712" cy="533400"/>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Format (US$ Mn)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Format,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Format (US$ Mn)</a:t>
            </a:r>
          </a:p>
        </p:txBody>
      </p:sp>
      <p:graphicFrame>
        <p:nvGraphicFramePr>
          <p:cNvPr id="12" name="Table 11"/>
          <p:cNvGraphicFramePr>
            <a:graphicFrameLocks noGrp="1"/>
          </p:cNvGraphicFramePr>
          <p:nvPr/>
        </p:nvGraphicFramePr>
        <p:xfrm>
          <a:off x="152400" y="1238250"/>
          <a:ext cx="11887199" cy="1724028"/>
        </p:xfrm>
        <a:graphic>
          <a:graphicData uri="http://schemas.openxmlformats.org/drawingml/2006/table">
            <a:tbl>
              <a:tblPr>
                <a:tableStyleId>{5C22544A-7EE6-4342-B048-85BDC9FD1C3A}</a:tableStyleId>
              </a:tblPr>
              <a:tblGrid>
                <a:gridCol w="2239614"/>
                <a:gridCol w="567505"/>
                <a:gridCol w="567505"/>
                <a:gridCol w="567505"/>
                <a:gridCol w="567505"/>
                <a:gridCol w="567505"/>
                <a:gridCol w="567505"/>
                <a:gridCol w="567505"/>
                <a:gridCol w="567505"/>
                <a:gridCol w="567505"/>
                <a:gridCol w="567505"/>
                <a:gridCol w="567505"/>
                <a:gridCol w="567505"/>
                <a:gridCol w="567505"/>
                <a:gridCol w="567505"/>
                <a:gridCol w="567505"/>
                <a:gridCol w="567505"/>
                <a:gridCol w="567505"/>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Creams and Lotions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Waxes, Clays, Pastes and Pomades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Styling Powders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Styling Serums and Oils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Sticks and Balms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Product Format</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029116" y="1956627"/>
            <a:ext cx="366712" cy="533400"/>
          </a:xfrm>
          <a:prstGeom prst="rect">
            <a:avLst/>
          </a:prstGeom>
        </p:spPr>
      </p:pic>
      <p:sp>
        <p:nvSpPr>
          <p:cNvPr id="20" name="TextBox 19"/>
          <p:cNvSpPr txBox="1"/>
          <p:nvPr/>
        </p:nvSpPr>
        <p:spPr>
          <a:xfrm>
            <a:off x="276225" y="3724275"/>
            <a:ext cx="3351770" cy="194310"/>
          </a:xfrm>
          <a:prstGeom prst="rect">
            <a:avLst/>
          </a:prstGeom>
          <a:noFill/>
        </p:spPr>
        <p:txBody>
          <a:bodyPr wrap="none" lIns="0" rIns="0" tIns="0" bIns="0">
            <a:spAutoFit/>
          </a:bodyPr>
          <a:lstStyle/>
          <a:p>
            <a:r>
              <a:rPr sz="1150" b="0">
                <a:solidFill>
                  <a:srgbClr val="2E2E2E"/>
                </a:solidFill>
                <a:latin typeface="Calibri"/>
              </a:rPr>
              <a:t>Styling serums and oils segment is projected to register</a:t>
            </a:r>
          </a:p>
        </p:txBody>
      </p:sp>
      <p:pic>
        <p:nvPicPr>
          <p:cNvPr id="21" name="Picture 20" descr="lock.png"/>
          <p:cNvPicPr>
            <a:picLocks noChangeAspect="1"/>
          </p:cNvPicPr>
          <p:nvPr/>
        </p:nvPicPr>
        <p:blipFill>
          <a:blip r:embed="rId4"/>
          <a:stretch>
            <a:fillRect/>
          </a:stretch>
        </p:blipFill>
        <p:spPr>
          <a:xfrm>
            <a:off x="3577149" y="3714051"/>
            <a:ext cx="134549" cy="195707"/>
          </a:xfrm>
          <a:prstGeom prst="rect">
            <a:avLst/>
          </a:prstGeom>
        </p:spPr>
      </p:pic>
      <p:sp>
        <p:nvSpPr>
          <p:cNvPr id="22" name="TextBox 21"/>
          <p:cNvSpPr txBox="1"/>
          <p:nvPr/>
        </p:nvSpPr>
        <p:spPr>
          <a:xfrm>
            <a:off x="3752258" y="3724275"/>
            <a:ext cx="7796026" cy="194310"/>
          </a:xfrm>
          <a:prstGeom prst="rect">
            <a:avLst/>
          </a:prstGeom>
          <a:noFill/>
        </p:spPr>
        <p:txBody>
          <a:bodyPr wrap="none" lIns="0" rIns="0" tIns="0" bIns="0">
            <a:spAutoFit/>
          </a:bodyPr>
          <a:lstStyle/>
          <a:p>
            <a:r>
              <a:rPr sz="1150" b="0">
                <a:solidFill>
                  <a:srgbClr val="2E2E2E"/>
                </a:solidFill>
                <a:latin typeface="Calibri"/>
              </a:rPr>
              <a:t>X higher value than waxes, clays, pastes and pomades segment in 2036. Among hair styling products by product format, sticks and</a:t>
            </a:r>
          </a:p>
        </p:txBody>
      </p:sp>
      <p:sp>
        <p:nvSpPr>
          <p:cNvPr id="23" name="TextBox 22"/>
          <p:cNvSpPr txBox="1"/>
          <p:nvPr/>
        </p:nvSpPr>
        <p:spPr>
          <a:xfrm>
            <a:off x="276225" y="3899535"/>
            <a:ext cx="3543728" cy="194310"/>
          </a:xfrm>
          <a:prstGeom prst="rect">
            <a:avLst/>
          </a:prstGeom>
          <a:noFill/>
        </p:spPr>
        <p:txBody>
          <a:bodyPr wrap="none" lIns="0" rIns="0" tIns="0" bIns="0">
            <a:spAutoFit/>
          </a:bodyPr>
          <a:lstStyle/>
          <a:p>
            <a:r>
              <a:rPr sz="1150" b="0">
                <a:solidFill>
                  <a:srgbClr val="2E2E2E"/>
                </a:solidFill>
                <a:latin typeface="Calibri"/>
              </a:rPr>
              <a:t>balms segment is expected to witness the highest CAGR of</a:t>
            </a:r>
          </a:p>
        </p:txBody>
      </p:sp>
      <p:pic>
        <p:nvPicPr>
          <p:cNvPr id="24" name="Picture 23" descr="lock.png"/>
          <p:cNvPicPr>
            <a:picLocks noChangeAspect="1"/>
          </p:cNvPicPr>
          <p:nvPr/>
        </p:nvPicPr>
        <p:blipFill>
          <a:blip r:embed="rId4"/>
          <a:stretch>
            <a:fillRect/>
          </a:stretch>
        </p:blipFill>
        <p:spPr>
          <a:xfrm>
            <a:off x="3769107" y="3889311"/>
            <a:ext cx="134549" cy="195707"/>
          </a:xfrm>
          <a:prstGeom prst="rect">
            <a:avLst/>
          </a:prstGeom>
        </p:spPr>
      </p:pic>
      <p:sp>
        <p:nvSpPr>
          <p:cNvPr id="25" name="TextBox 24"/>
          <p:cNvSpPr txBox="1"/>
          <p:nvPr/>
        </p:nvSpPr>
        <p:spPr>
          <a:xfrm>
            <a:off x="3944216"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7400664" cy="194310"/>
          </a:xfrm>
          <a:prstGeom prst="rect">
            <a:avLst/>
          </a:prstGeom>
          <a:noFill/>
        </p:spPr>
        <p:txBody>
          <a:bodyPr wrap="none" lIns="0" rIns="0" tIns="0" bIns="0">
            <a:spAutoFit/>
          </a:bodyPr>
          <a:lstStyle/>
          <a:p>
            <a:r>
              <a:rPr sz="1150" b="0">
                <a:solidFill>
                  <a:srgbClr val="2E2E2E"/>
                </a:solidFill>
                <a:latin typeface="Calibri"/>
              </a:rPr>
              <a:t>In terms of value share by product format, the styling serums and oils segment is expected to dominate the market, gaining</a:t>
            </a:r>
          </a:p>
        </p:txBody>
      </p:sp>
      <p:pic>
        <p:nvPicPr>
          <p:cNvPr id="27" name="Picture 26" descr="lock.png"/>
          <p:cNvPicPr>
            <a:picLocks noChangeAspect="1"/>
          </p:cNvPicPr>
          <p:nvPr/>
        </p:nvPicPr>
        <p:blipFill>
          <a:blip r:embed="rId4"/>
          <a:stretch>
            <a:fillRect/>
          </a:stretch>
        </p:blipFill>
        <p:spPr>
          <a:xfrm>
            <a:off x="7626043" y="4117149"/>
            <a:ext cx="134549" cy="195707"/>
          </a:xfrm>
          <a:prstGeom prst="rect">
            <a:avLst/>
          </a:prstGeom>
        </p:spPr>
      </p:pic>
      <p:sp>
        <p:nvSpPr>
          <p:cNvPr id="28" name="TextBox 27"/>
          <p:cNvSpPr txBox="1"/>
          <p:nvPr/>
        </p:nvSpPr>
        <p:spPr>
          <a:xfrm>
            <a:off x="7801152"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196295" y="4117149"/>
            <a:ext cx="134549" cy="195707"/>
          </a:xfrm>
          <a:prstGeom prst="rect">
            <a:avLst/>
          </a:prstGeom>
        </p:spPr>
      </p:pic>
      <p:sp>
        <p:nvSpPr>
          <p:cNvPr id="30" name="TextBox 29"/>
          <p:cNvSpPr txBox="1"/>
          <p:nvPr/>
        </p:nvSpPr>
        <p:spPr>
          <a:xfrm>
            <a:off x="9371405" y="4127372"/>
            <a:ext cx="2214178" cy="194310"/>
          </a:xfrm>
          <a:prstGeom prst="rect">
            <a:avLst/>
          </a:prstGeom>
          <a:noFill/>
        </p:spPr>
        <p:txBody>
          <a:bodyPr wrap="none" lIns="0" rIns="0" tIns="0" bIns="0">
            <a:spAutoFit/>
          </a:bodyPr>
          <a:lstStyle/>
          <a:p>
            <a:r>
              <a:rPr sz="1150" b="0">
                <a:solidFill>
                  <a:srgbClr val="2E2E2E"/>
                </a:solidFill>
                <a:latin typeface="Calibri"/>
              </a:rPr>
              <a:t>share by 2036. The sprays and mists</a:t>
            </a:r>
          </a:p>
        </p:txBody>
      </p:sp>
      <p:sp>
        <p:nvSpPr>
          <p:cNvPr id="31" name="TextBox 30"/>
          <p:cNvSpPr txBox="1"/>
          <p:nvPr/>
        </p:nvSpPr>
        <p:spPr>
          <a:xfrm>
            <a:off x="276225" y="43026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2" name="Picture 31" descr="lock.png"/>
          <p:cNvPicPr>
            <a:picLocks noChangeAspect="1"/>
          </p:cNvPicPr>
          <p:nvPr/>
        </p:nvPicPr>
        <p:blipFill>
          <a:blip r:embed="rId4"/>
          <a:stretch>
            <a:fillRect/>
          </a:stretch>
        </p:blipFill>
        <p:spPr>
          <a:xfrm>
            <a:off x="1950917" y="4292409"/>
            <a:ext cx="134549" cy="195707"/>
          </a:xfrm>
          <a:prstGeom prst="rect">
            <a:avLst/>
          </a:prstGeom>
        </p:spPr>
      </p:pic>
      <p:sp>
        <p:nvSpPr>
          <p:cNvPr id="33" name="TextBox 32"/>
          <p:cNvSpPr txBox="1"/>
          <p:nvPr/>
        </p:nvSpPr>
        <p:spPr>
          <a:xfrm>
            <a:off x="212602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4713530" y="4292409"/>
            <a:ext cx="134549" cy="195707"/>
          </a:xfrm>
          <a:prstGeom prst="rect">
            <a:avLst/>
          </a:prstGeom>
        </p:spPr>
      </p:pic>
      <p:sp>
        <p:nvSpPr>
          <p:cNvPr id="35" name="TextBox 34"/>
          <p:cNvSpPr txBox="1"/>
          <p:nvPr/>
        </p:nvSpPr>
        <p:spPr>
          <a:xfrm>
            <a:off x="488864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Format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Format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813654"/>
            <a:ext cx="85725" cy="857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0889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7326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Mousses and Foams</a:t>
            </a:r>
          </a:p>
        </p:txBody>
      </p:sp>
      <p:sp>
        <p:nvSpPr>
          <p:cNvPr id="19" name="BPS Value 1"/>
          <p:cNvSpPr txBox="1"/>
          <p:nvPr/>
        </p:nvSpPr>
        <p:spPr>
          <a:xfrm>
            <a:off x="6896100" y="17946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134609"/>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12984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05364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Gels and Jellies</a:t>
            </a:r>
          </a:p>
        </p:txBody>
      </p:sp>
      <p:sp>
        <p:nvSpPr>
          <p:cNvPr id="23" name="BPS Value 2"/>
          <p:cNvSpPr txBox="1"/>
          <p:nvPr/>
        </p:nvSpPr>
        <p:spPr>
          <a:xfrm>
            <a:off x="6896100" y="21155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254714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254237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246617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Powders</a:t>
            </a:r>
          </a:p>
        </p:txBody>
      </p:sp>
      <p:sp>
        <p:nvSpPr>
          <p:cNvPr id="27" name="BPS Value 3"/>
          <p:cNvSpPr txBox="1"/>
          <p:nvPr/>
        </p:nvSpPr>
        <p:spPr>
          <a:xfrm>
            <a:off x="6896100" y="252809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3041967"/>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03720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29610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Sprays and Mists</a:t>
            </a:r>
          </a:p>
        </p:txBody>
      </p:sp>
      <p:sp>
        <p:nvSpPr>
          <p:cNvPr id="31" name="BPS Value 4"/>
          <p:cNvSpPr txBox="1"/>
          <p:nvPr/>
        </p:nvSpPr>
        <p:spPr>
          <a:xfrm>
            <a:off x="6896100" y="302291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359106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358630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35101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Creams and Lotions</a:t>
            </a:r>
          </a:p>
        </p:txBody>
      </p:sp>
      <p:sp>
        <p:nvSpPr>
          <p:cNvPr id="35" name="BPS Value 5"/>
          <p:cNvSpPr txBox="1"/>
          <p:nvPr/>
        </p:nvSpPr>
        <p:spPr>
          <a:xfrm>
            <a:off x="6896100" y="357201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928997" y="422709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422233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41461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Sticks and Balms</a:t>
            </a:r>
          </a:p>
        </p:txBody>
      </p:sp>
      <p:sp>
        <p:nvSpPr>
          <p:cNvPr id="39" name="BPS Value 6"/>
          <p:cNvSpPr txBox="1"/>
          <p:nvPr/>
        </p:nvSpPr>
        <p:spPr>
          <a:xfrm>
            <a:off x="6896100" y="420804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FMI Legend Chip"/>
          <p:cNvSpPr/>
          <p:nvPr/>
        </p:nvSpPr>
        <p:spPr>
          <a:xfrm>
            <a:off x="4928997" y="493347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rot="10800000">
            <a:off x="5090922" y="492871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7"/>
          <p:cNvSpPr txBox="1"/>
          <p:nvPr/>
        </p:nvSpPr>
        <p:spPr>
          <a:xfrm>
            <a:off x="5233797" y="48525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Waxes, Clays, Pastes and Pomades</a:t>
            </a:r>
          </a:p>
        </p:txBody>
      </p:sp>
      <p:sp>
        <p:nvSpPr>
          <p:cNvPr id="43" name="BPS Value 7"/>
          <p:cNvSpPr txBox="1"/>
          <p:nvPr/>
        </p:nvSpPr>
        <p:spPr>
          <a:xfrm>
            <a:off x="6896100" y="491442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4" name="FMI Legend Chip"/>
          <p:cNvSpPr/>
          <p:nvPr/>
        </p:nvSpPr>
        <p:spPr>
          <a:xfrm>
            <a:off x="4928997" y="576786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Isosceles Triangle 44"/>
          <p:cNvSpPr/>
          <p:nvPr/>
        </p:nvSpPr>
        <p:spPr>
          <a:xfrm>
            <a:off x="5090922" y="57630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PS Name 8"/>
          <p:cNvSpPr txBox="1"/>
          <p:nvPr/>
        </p:nvSpPr>
        <p:spPr>
          <a:xfrm>
            <a:off x="5233797" y="56868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Serums and Oils</a:t>
            </a:r>
          </a:p>
        </p:txBody>
      </p:sp>
      <p:sp>
        <p:nvSpPr>
          <p:cNvPr id="47" name="BPS Value 8"/>
          <p:cNvSpPr txBox="1"/>
          <p:nvPr/>
        </p:nvSpPr>
        <p:spPr>
          <a:xfrm>
            <a:off x="6896100" y="574881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8" name="Rounded Rectangle 4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Product Format</a:t>
            </a:r>
          </a:p>
        </p:txBody>
      </p:sp>
      <p:sp>
        <p:nvSpPr>
          <p:cNvPr id="50" name="Rectangle 4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5"/>
          <a:stretch>
            <a:fillRect/>
          </a:stretch>
        </p:blipFill>
        <p:spPr>
          <a:xfrm>
            <a:off x="2557843" y="3833622"/>
            <a:ext cx="275034" cy="400050"/>
          </a:xfrm>
          <a:prstGeom prst="rect">
            <a:avLst/>
          </a:prstGeom>
        </p:spPr>
      </p:pic>
      <p:sp>
        <p:nvSpPr>
          <p:cNvPr id="54" name="TextBox 53"/>
          <p:cNvSpPr txBox="1"/>
          <p:nvPr/>
        </p:nvSpPr>
        <p:spPr>
          <a:xfrm>
            <a:off x="7829550" y="1400175"/>
            <a:ext cx="3899743" cy="194310"/>
          </a:xfrm>
          <a:prstGeom prst="rect">
            <a:avLst/>
          </a:prstGeom>
          <a:noFill/>
        </p:spPr>
        <p:txBody>
          <a:bodyPr wrap="none" lIns="0" rIns="0" tIns="0" bIns="0">
            <a:spAutoFit/>
          </a:bodyPr>
          <a:lstStyle/>
          <a:p>
            <a:r>
              <a:rPr sz="1150" b="0">
                <a:solidFill>
                  <a:srgbClr val="2E2E2E"/>
                </a:solidFill>
                <a:latin typeface="Calibri"/>
              </a:rPr>
              <a:t>Among hair styling products by product format, sticks and balms</a:t>
            </a:r>
          </a:p>
        </p:txBody>
      </p:sp>
      <p:sp>
        <p:nvSpPr>
          <p:cNvPr id="55" name="TextBox 54"/>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6" name="Picture 55" descr="lock.png"/>
          <p:cNvPicPr>
            <a:picLocks noChangeAspect="1"/>
          </p:cNvPicPr>
          <p:nvPr/>
        </p:nvPicPr>
        <p:blipFill>
          <a:blip r:embed="rId5"/>
          <a:stretch>
            <a:fillRect/>
          </a:stretch>
        </p:blipFill>
        <p:spPr>
          <a:xfrm>
            <a:off x="10935343" y="1565211"/>
            <a:ext cx="134549" cy="195707"/>
          </a:xfrm>
          <a:prstGeom prst="rect">
            <a:avLst/>
          </a:prstGeom>
        </p:spPr>
      </p:pic>
      <p:sp>
        <p:nvSpPr>
          <p:cNvPr id="57" name="TextBox 56"/>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8" name="TextBox 57"/>
          <p:cNvSpPr txBox="1"/>
          <p:nvPr/>
        </p:nvSpPr>
        <p:spPr>
          <a:xfrm>
            <a:off x="7829550" y="1750695"/>
            <a:ext cx="3798478" cy="194310"/>
          </a:xfrm>
          <a:prstGeom prst="rect">
            <a:avLst/>
          </a:prstGeom>
          <a:noFill/>
        </p:spPr>
        <p:txBody>
          <a:bodyPr wrap="none" lIns="0" rIns="0" tIns="0" bIns="0">
            <a:spAutoFit/>
          </a:bodyPr>
          <a:lstStyle/>
          <a:p>
            <a:r>
              <a:rPr sz="1150" b="0">
                <a:solidFill>
                  <a:srgbClr val="2E2E2E"/>
                </a:solidFill>
                <a:latin typeface="Calibri"/>
              </a:rPr>
              <a:t>forecast period. In terms of value share by product format, the</a:t>
            </a:r>
          </a:p>
        </p:txBody>
      </p:sp>
      <p:sp>
        <p:nvSpPr>
          <p:cNvPr id="59" name="TextBox 58"/>
          <p:cNvSpPr txBox="1"/>
          <p:nvPr/>
        </p:nvSpPr>
        <p:spPr>
          <a:xfrm>
            <a:off x="7829550" y="1925955"/>
            <a:ext cx="3662697" cy="194310"/>
          </a:xfrm>
          <a:prstGeom prst="rect">
            <a:avLst/>
          </a:prstGeom>
          <a:noFill/>
        </p:spPr>
        <p:txBody>
          <a:bodyPr wrap="none" lIns="0" rIns="0" tIns="0" bIns="0">
            <a:spAutoFit/>
          </a:bodyPr>
          <a:lstStyle/>
          <a:p>
            <a:r>
              <a:rPr sz="1150" b="0">
                <a:solidFill>
                  <a:srgbClr val="2E2E2E"/>
                </a:solidFill>
                <a:latin typeface="Calibri"/>
              </a:rPr>
              <a:t>styling serums and oils segment is expected to dominate the</a:t>
            </a:r>
          </a:p>
        </p:txBody>
      </p:sp>
      <p:sp>
        <p:nvSpPr>
          <p:cNvPr id="60" name="TextBox 59"/>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61" name="Picture 60" descr="lock.png"/>
          <p:cNvPicPr>
            <a:picLocks noChangeAspect="1"/>
          </p:cNvPicPr>
          <p:nvPr/>
        </p:nvPicPr>
        <p:blipFill>
          <a:blip r:embed="rId5"/>
          <a:stretch>
            <a:fillRect/>
          </a:stretch>
        </p:blipFill>
        <p:spPr>
          <a:xfrm>
            <a:off x="8778556" y="2090991"/>
            <a:ext cx="134549" cy="195707"/>
          </a:xfrm>
          <a:prstGeom prst="rect">
            <a:avLst/>
          </a:prstGeom>
        </p:spPr>
      </p:pic>
      <p:sp>
        <p:nvSpPr>
          <p:cNvPr id="62" name="TextBox 61"/>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3" name="Picture 62" descr="lock.png"/>
          <p:cNvPicPr>
            <a:picLocks noChangeAspect="1"/>
          </p:cNvPicPr>
          <p:nvPr/>
        </p:nvPicPr>
        <p:blipFill>
          <a:blip r:embed="rId5"/>
          <a:stretch>
            <a:fillRect/>
          </a:stretch>
        </p:blipFill>
        <p:spPr>
          <a:xfrm>
            <a:off x="10348808" y="2090991"/>
            <a:ext cx="134549" cy="195707"/>
          </a:xfrm>
          <a:prstGeom prst="rect">
            <a:avLst/>
          </a:prstGeom>
        </p:spPr>
      </p:pic>
      <p:sp>
        <p:nvSpPr>
          <p:cNvPr id="64" name="TextBox 63"/>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5" name="TextBox 64"/>
          <p:cNvSpPr txBox="1"/>
          <p:nvPr/>
        </p:nvSpPr>
        <p:spPr>
          <a:xfrm>
            <a:off x="7829550" y="2329053"/>
            <a:ext cx="2993491" cy="194310"/>
          </a:xfrm>
          <a:prstGeom prst="rect">
            <a:avLst/>
          </a:prstGeom>
          <a:noFill/>
        </p:spPr>
        <p:txBody>
          <a:bodyPr wrap="none" lIns="0" rIns="0" tIns="0" bIns="0">
            <a:spAutoFit/>
          </a:bodyPr>
          <a:lstStyle/>
          <a:p>
            <a:r>
              <a:rPr sz="1150" b="0">
                <a:solidFill>
                  <a:srgbClr val="2E2E2E"/>
                </a:solidFill>
                <a:latin typeface="Calibri"/>
              </a:rPr>
              <a:t>The sprays and mists segment is expected to lose</a:t>
            </a:r>
          </a:p>
        </p:txBody>
      </p:sp>
      <p:pic>
        <p:nvPicPr>
          <p:cNvPr id="66" name="Picture 65" descr="lock.png"/>
          <p:cNvPicPr>
            <a:picLocks noChangeAspect="1"/>
          </p:cNvPicPr>
          <p:nvPr/>
        </p:nvPicPr>
        <p:blipFill>
          <a:blip r:embed="rId5"/>
          <a:stretch>
            <a:fillRect/>
          </a:stretch>
        </p:blipFill>
        <p:spPr>
          <a:xfrm>
            <a:off x="10772195" y="2318829"/>
            <a:ext cx="134549" cy="195707"/>
          </a:xfrm>
          <a:prstGeom prst="rect">
            <a:avLst/>
          </a:prstGeom>
        </p:spPr>
      </p:pic>
      <p:sp>
        <p:nvSpPr>
          <p:cNvPr id="67" name="TextBox 66"/>
          <p:cNvSpPr txBox="1"/>
          <p:nvPr/>
        </p:nvSpPr>
        <p:spPr>
          <a:xfrm>
            <a:off x="10947304"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68" name="TextBox 67"/>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9" name="Picture 68" descr="lock.png"/>
          <p:cNvPicPr>
            <a:picLocks noChangeAspect="1"/>
          </p:cNvPicPr>
          <p:nvPr/>
        </p:nvPicPr>
        <p:blipFill>
          <a:blip r:embed="rId5"/>
          <a:stretch>
            <a:fillRect/>
          </a:stretch>
        </p:blipFill>
        <p:spPr>
          <a:xfrm>
            <a:off x="9630324" y="2494089"/>
            <a:ext cx="134549" cy="195707"/>
          </a:xfrm>
          <a:prstGeom prst="rect">
            <a:avLst/>
          </a:prstGeom>
        </p:spPr>
      </p:pic>
      <p:sp>
        <p:nvSpPr>
          <p:cNvPr id="70" name="TextBox 69"/>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Hold Level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Hold Level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Hold Level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Hold Level,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Hold Level segment categorizes the market by hold level.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Medium Hold</a:t>
            </a:r>
          </a:p>
        </p:txBody>
      </p:sp>
      <p:sp>
        <p:nvSpPr>
          <p:cNvPr id="23" name="Rectangle 22"/>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Strong Hold</a:t>
            </a:r>
          </a:p>
        </p:txBody>
      </p:sp>
      <p:sp>
        <p:nvSpPr>
          <p:cNvPr id="30" name="Rectangle 29"/>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Light or Flexible Hold</a:t>
            </a:r>
          </a:p>
        </p:txBody>
      </p:sp>
      <p:sp>
        <p:nvSpPr>
          <p:cNvPr id="37" name="Rectangle 36"/>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No Hold</a:t>
            </a:r>
          </a:p>
        </p:txBody>
      </p:sp>
      <p:sp>
        <p:nvSpPr>
          <p:cNvPr id="44" name="Rectangle 43"/>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Extra-strong Hold</a:t>
            </a:r>
          </a:p>
        </p:txBody>
      </p:sp>
      <p:sp>
        <p:nvSpPr>
          <p:cNvPr id="51" name="Rectangle 50"/>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7" name="Rectangle 56"/>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9" name="Rounded Rectangle 5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1" name="Rectangle 60"/>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3" name="Rounded Rectangle 6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5" name="Rectangle 64"/>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Hold Level split shows how demand is distributed across hold level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7" name="Rectangle 6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9" name="TextBox 6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1_114_605E5C.png"/>
          <p:cNvPicPr>
            <a:picLocks noChangeAspect="1"/>
          </p:cNvPicPr>
          <p:nvPr/>
        </p:nvPicPr>
        <p:blipFill>
          <a:blip r:embed="rId4"/>
          <a:stretch>
            <a:fillRect/>
          </a:stretch>
        </p:blipFill>
        <p:spPr>
          <a:xfrm>
            <a:off x="2223441" y="2286582"/>
            <a:ext cx="1195728" cy="361950"/>
          </a:xfrm>
          <a:prstGeom prst="rect">
            <a:avLst/>
          </a:prstGeom>
        </p:spPr>
      </p:pic>
      <p:pic>
        <p:nvPicPr>
          <p:cNvPr id="72" name="Picture 71" descr="1_990_605E5C.png"/>
          <p:cNvPicPr>
            <a:picLocks noChangeAspect="1"/>
          </p:cNvPicPr>
          <p:nvPr/>
        </p:nvPicPr>
        <p:blipFill>
          <a:blip r:embed="rId5"/>
          <a:stretch>
            <a:fillRect/>
          </a:stretch>
        </p:blipFill>
        <p:spPr>
          <a:xfrm>
            <a:off x="2223441" y="2779432"/>
            <a:ext cx="1195728" cy="361950"/>
          </a:xfrm>
          <a:prstGeom prst="rect">
            <a:avLst/>
          </a:prstGeom>
        </p:spPr>
      </p:pic>
      <p:pic>
        <p:nvPicPr>
          <p:cNvPr id="73" name="Picture 72" descr="6_0__605E5C.png"/>
          <p:cNvPicPr>
            <a:picLocks noChangeAspect="1"/>
          </p:cNvPicPr>
          <p:nvPr/>
        </p:nvPicPr>
        <p:blipFill>
          <a:blip r:embed="rId6"/>
          <a:stretch>
            <a:fillRect/>
          </a:stretch>
        </p:blipFill>
        <p:spPr>
          <a:xfrm>
            <a:off x="2330087" y="3272281"/>
            <a:ext cx="982436" cy="361950"/>
          </a:xfrm>
          <a:prstGeom prst="rect">
            <a:avLst/>
          </a:prstGeom>
        </p:spPr>
      </p:pic>
      <p:pic>
        <p:nvPicPr>
          <p:cNvPr id="74" name="Picture 73" descr="1_050_605E5C.png"/>
          <p:cNvPicPr>
            <a:picLocks noChangeAspect="1"/>
          </p:cNvPicPr>
          <p:nvPr/>
        </p:nvPicPr>
        <p:blipFill>
          <a:blip r:embed="rId7"/>
          <a:stretch>
            <a:fillRect/>
          </a:stretch>
        </p:blipFill>
        <p:spPr>
          <a:xfrm>
            <a:off x="4246551" y="2286582"/>
            <a:ext cx="1195728" cy="361950"/>
          </a:xfrm>
          <a:prstGeom prst="rect">
            <a:avLst/>
          </a:prstGeom>
        </p:spPr>
      </p:pic>
      <p:pic>
        <p:nvPicPr>
          <p:cNvPr id="75" name="Picture 74" descr="1_785_605E5C.png"/>
          <p:cNvPicPr>
            <a:picLocks noChangeAspect="1"/>
          </p:cNvPicPr>
          <p:nvPr/>
        </p:nvPicPr>
        <p:blipFill>
          <a:blip r:embed="rId8"/>
          <a:stretch>
            <a:fillRect/>
          </a:stretch>
        </p:blipFill>
        <p:spPr>
          <a:xfrm>
            <a:off x="4246551" y="2779432"/>
            <a:ext cx="1195728" cy="361950"/>
          </a:xfrm>
          <a:prstGeom prst="rect">
            <a:avLst/>
          </a:prstGeom>
        </p:spPr>
      </p:pic>
      <p:pic>
        <p:nvPicPr>
          <p:cNvPr id="76" name="Picture 75" descr="5_5__605E5C.png"/>
          <p:cNvPicPr>
            <a:picLocks noChangeAspect="1"/>
          </p:cNvPicPr>
          <p:nvPr/>
        </p:nvPicPr>
        <p:blipFill>
          <a:blip r:embed="rId9"/>
          <a:stretch>
            <a:fillRect/>
          </a:stretch>
        </p:blipFill>
        <p:spPr>
          <a:xfrm>
            <a:off x="4353197" y="3272281"/>
            <a:ext cx="982436" cy="361950"/>
          </a:xfrm>
          <a:prstGeom prst="rect">
            <a:avLst/>
          </a:prstGeom>
        </p:spPr>
      </p:pic>
      <p:pic>
        <p:nvPicPr>
          <p:cNvPr id="77" name="Picture 76" descr="1_014_605E5C.png"/>
          <p:cNvPicPr>
            <a:picLocks noChangeAspect="1"/>
          </p:cNvPicPr>
          <p:nvPr/>
        </p:nvPicPr>
        <p:blipFill>
          <a:blip r:embed="rId10"/>
          <a:stretch>
            <a:fillRect/>
          </a:stretch>
        </p:blipFill>
        <p:spPr>
          <a:xfrm>
            <a:off x="6269661" y="2286582"/>
            <a:ext cx="1195728" cy="361950"/>
          </a:xfrm>
          <a:prstGeom prst="rect">
            <a:avLst/>
          </a:prstGeom>
        </p:spPr>
      </p:pic>
      <p:pic>
        <p:nvPicPr>
          <p:cNvPr id="78" name="Picture 77" descr="2_010_605E5C.png"/>
          <p:cNvPicPr>
            <a:picLocks noChangeAspect="1"/>
          </p:cNvPicPr>
          <p:nvPr/>
        </p:nvPicPr>
        <p:blipFill>
          <a:blip r:embed="rId11"/>
          <a:stretch>
            <a:fillRect/>
          </a:stretch>
        </p:blipFill>
        <p:spPr>
          <a:xfrm>
            <a:off x="6269661" y="2779432"/>
            <a:ext cx="1195728" cy="361950"/>
          </a:xfrm>
          <a:prstGeom prst="rect">
            <a:avLst/>
          </a:prstGeom>
        </p:spPr>
      </p:pic>
      <p:pic>
        <p:nvPicPr>
          <p:cNvPr id="79" name="Picture 78" descr="7_1__605E5C.png"/>
          <p:cNvPicPr>
            <a:picLocks noChangeAspect="1"/>
          </p:cNvPicPr>
          <p:nvPr/>
        </p:nvPicPr>
        <p:blipFill>
          <a:blip r:embed="rId12"/>
          <a:stretch>
            <a:fillRect/>
          </a:stretch>
        </p:blipFill>
        <p:spPr>
          <a:xfrm>
            <a:off x="6376307" y="3272281"/>
            <a:ext cx="982436" cy="361950"/>
          </a:xfrm>
          <a:prstGeom prst="rect">
            <a:avLst/>
          </a:prstGeom>
        </p:spPr>
      </p:pic>
      <p:pic>
        <p:nvPicPr>
          <p:cNvPr id="80" name="Picture 79" descr="954_1_605E5C.png"/>
          <p:cNvPicPr>
            <a:picLocks noChangeAspect="1"/>
          </p:cNvPicPr>
          <p:nvPr/>
        </p:nvPicPr>
        <p:blipFill>
          <a:blip r:embed="rId13"/>
          <a:stretch>
            <a:fillRect/>
          </a:stretch>
        </p:blipFill>
        <p:spPr>
          <a:xfrm>
            <a:off x="8292771" y="2286582"/>
            <a:ext cx="1195728" cy="361950"/>
          </a:xfrm>
          <a:prstGeom prst="rect">
            <a:avLst/>
          </a:prstGeom>
        </p:spPr>
      </p:pic>
      <p:pic>
        <p:nvPicPr>
          <p:cNvPr id="81" name="Picture 80" descr="1_813_605E5C.png"/>
          <p:cNvPicPr>
            <a:picLocks noChangeAspect="1"/>
          </p:cNvPicPr>
          <p:nvPr/>
        </p:nvPicPr>
        <p:blipFill>
          <a:blip r:embed="rId14"/>
          <a:stretch>
            <a:fillRect/>
          </a:stretch>
        </p:blipFill>
        <p:spPr>
          <a:xfrm>
            <a:off x="8292771" y="2779432"/>
            <a:ext cx="1195728" cy="361950"/>
          </a:xfrm>
          <a:prstGeom prst="rect">
            <a:avLst/>
          </a:prstGeom>
        </p:spPr>
      </p:pic>
      <p:pic>
        <p:nvPicPr>
          <p:cNvPr id="82" name="Picture 81" descr="6_6__605E5C.png"/>
          <p:cNvPicPr>
            <a:picLocks noChangeAspect="1"/>
          </p:cNvPicPr>
          <p:nvPr/>
        </p:nvPicPr>
        <p:blipFill>
          <a:blip r:embed="rId15"/>
          <a:stretch>
            <a:fillRect/>
          </a:stretch>
        </p:blipFill>
        <p:spPr>
          <a:xfrm>
            <a:off x="8399417" y="3272281"/>
            <a:ext cx="982436" cy="361950"/>
          </a:xfrm>
          <a:prstGeom prst="rect">
            <a:avLst/>
          </a:prstGeom>
        </p:spPr>
      </p:pic>
      <p:pic>
        <p:nvPicPr>
          <p:cNvPr id="83" name="Picture 82" descr="888_1_605E5C.png"/>
          <p:cNvPicPr>
            <a:picLocks noChangeAspect="1"/>
          </p:cNvPicPr>
          <p:nvPr/>
        </p:nvPicPr>
        <p:blipFill>
          <a:blip r:embed="rId16"/>
          <a:stretch>
            <a:fillRect/>
          </a:stretch>
        </p:blipFill>
        <p:spPr>
          <a:xfrm>
            <a:off x="10315881" y="2286582"/>
            <a:ext cx="1195728" cy="361950"/>
          </a:xfrm>
          <a:prstGeom prst="rect">
            <a:avLst/>
          </a:prstGeom>
        </p:spPr>
      </p:pic>
      <p:pic>
        <p:nvPicPr>
          <p:cNvPr id="84" name="Picture 83" descr="1_441_605E5C.png"/>
          <p:cNvPicPr>
            <a:picLocks noChangeAspect="1"/>
          </p:cNvPicPr>
          <p:nvPr/>
        </p:nvPicPr>
        <p:blipFill>
          <a:blip r:embed="rId17"/>
          <a:stretch>
            <a:fillRect/>
          </a:stretch>
        </p:blipFill>
        <p:spPr>
          <a:xfrm>
            <a:off x="10315881" y="2779432"/>
            <a:ext cx="1195728" cy="361950"/>
          </a:xfrm>
          <a:prstGeom prst="rect">
            <a:avLst/>
          </a:prstGeom>
        </p:spPr>
      </p:pic>
      <p:pic>
        <p:nvPicPr>
          <p:cNvPr id="85" name="Picture 84" descr="5_0__605E5C.png"/>
          <p:cNvPicPr>
            <a:picLocks noChangeAspect="1"/>
          </p:cNvPicPr>
          <p:nvPr/>
        </p:nvPicPr>
        <p:blipFill>
          <a:blip r:embed="rId18"/>
          <a:stretch>
            <a:fillRect/>
          </a:stretch>
        </p:blipFill>
        <p:spPr>
          <a:xfrm>
            <a:off x="10422527" y="3272281"/>
            <a:ext cx="982436" cy="361950"/>
          </a:xfrm>
          <a:prstGeom prst="rect">
            <a:avLst/>
          </a:prstGeom>
        </p:spPr>
      </p:pic>
      <p:pic>
        <p:nvPicPr>
          <p:cNvPr id="86" name="Picture 85" descr="lock.png"/>
          <p:cNvPicPr>
            <a:picLocks noChangeAspect="1"/>
          </p:cNvPicPr>
          <p:nvPr/>
        </p:nvPicPr>
        <p:blipFill>
          <a:blip r:embed="rId19"/>
          <a:stretch>
            <a:fillRect/>
          </a:stretch>
        </p:blipFill>
        <p:spPr>
          <a:xfrm>
            <a:off x="272796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475107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677418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8797290" y="2827057"/>
            <a:ext cx="183356" cy="266700"/>
          </a:xfrm>
          <a:prstGeom prst="rect">
            <a:avLst/>
          </a:prstGeom>
        </p:spPr>
      </p:pic>
      <p:pic>
        <p:nvPicPr>
          <p:cNvPr id="90" name="Picture 89" descr="lock.png"/>
          <p:cNvPicPr>
            <a:picLocks noChangeAspect="1"/>
          </p:cNvPicPr>
          <p:nvPr/>
        </p:nvPicPr>
        <p:blipFill>
          <a:blip r:embed="rId19"/>
          <a:stretch>
            <a:fillRect/>
          </a:stretch>
        </p:blipFill>
        <p:spPr>
          <a:xfrm>
            <a:off x="10820400" y="2827057"/>
            <a:ext cx="183356" cy="266700"/>
          </a:xfrm>
          <a:prstGeom prst="rect">
            <a:avLst/>
          </a:prstGeom>
        </p:spPr>
      </p:pic>
      <p:sp>
        <p:nvSpPr>
          <p:cNvPr id="91" name="TextBox 90"/>
          <p:cNvSpPr txBox="1"/>
          <p:nvPr/>
        </p:nvSpPr>
        <p:spPr>
          <a:xfrm>
            <a:off x="485775" y="4229437"/>
            <a:ext cx="2891482" cy="186689"/>
          </a:xfrm>
          <a:prstGeom prst="rect">
            <a:avLst/>
          </a:prstGeom>
          <a:noFill/>
        </p:spPr>
        <p:txBody>
          <a:bodyPr wrap="none" lIns="0" rIns="0" tIns="0" bIns="0">
            <a:spAutoFit/>
          </a:bodyPr>
          <a:lstStyle/>
          <a:p>
            <a:r>
              <a:rPr sz="1100" b="0">
                <a:solidFill>
                  <a:srgbClr val="2E2E2E"/>
                </a:solidFill>
                <a:latin typeface="Calibri"/>
              </a:rPr>
              <a:t>Among hair styling products by hold level, light or</a:t>
            </a:r>
          </a:p>
        </p:txBody>
      </p:sp>
      <p:sp>
        <p:nvSpPr>
          <p:cNvPr id="92" name="TextBox 91"/>
          <p:cNvSpPr txBox="1"/>
          <p:nvPr/>
        </p:nvSpPr>
        <p:spPr>
          <a:xfrm>
            <a:off x="485775" y="4397077"/>
            <a:ext cx="2804715" cy="186689"/>
          </a:xfrm>
          <a:prstGeom prst="rect">
            <a:avLst/>
          </a:prstGeom>
          <a:noFill/>
        </p:spPr>
        <p:txBody>
          <a:bodyPr wrap="none" lIns="0" rIns="0" tIns="0" bIns="0">
            <a:spAutoFit/>
          </a:bodyPr>
          <a:lstStyle/>
          <a:p>
            <a:r>
              <a:rPr sz="1100" b="0">
                <a:solidFill>
                  <a:srgbClr val="2E2E2E"/>
                </a:solidFill>
                <a:latin typeface="Calibri"/>
              </a:rPr>
              <a:t>flexible hold segment is expected to witness the</a:t>
            </a:r>
          </a:p>
        </p:txBody>
      </p:sp>
      <p:sp>
        <p:nvSpPr>
          <p:cNvPr id="93" name="TextBox 92"/>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94" name="Picture 93" descr="lock.png"/>
          <p:cNvPicPr>
            <a:picLocks noChangeAspect="1"/>
          </p:cNvPicPr>
          <p:nvPr/>
        </p:nvPicPr>
        <p:blipFill>
          <a:blip r:embed="rId19"/>
          <a:stretch>
            <a:fillRect/>
          </a:stretch>
        </p:blipFill>
        <p:spPr>
          <a:xfrm>
            <a:off x="1424607" y="4554938"/>
            <a:ext cx="128699" cy="187198"/>
          </a:xfrm>
          <a:prstGeom prst="rect">
            <a:avLst/>
          </a:prstGeom>
        </p:spPr>
      </p:pic>
      <p:sp>
        <p:nvSpPr>
          <p:cNvPr id="95" name="TextBox 94"/>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96" name="TextBox 95"/>
          <p:cNvSpPr txBox="1"/>
          <p:nvPr/>
        </p:nvSpPr>
        <p:spPr>
          <a:xfrm>
            <a:off x="485775" y="4732357"/>
            <a:ext cx="2680841" cy="186689"/>
          </a:xfrm>
          <a:prstGeom prst="rect">
            <a:avLst/>
          </a:prstGeom>
          <a:noFill/>
        </p:spPr>
        <p:txBody>
          <a:bodyPr wrap="none" lIns="0" rIns="0" tIns="0" bIns="0">
            <a:spAutoFit/>
          </a:bodyPr>
          <a:lstStyle/>
          <a:p>
            <a:r>
              <a:rPr sz="1100" b="0">
                <a:solidFill>
                  <a:srgbClr val="2E2E2E"/>
                </a:solidFill>
                <a:latin typeface="Calibri"/>
              </a:rPr>
              <a:t>terms of value share by hold level, the light or</a:t>
            </a:r>
          </a:p>
        </p:txBody>
      </p:sp>
      <p:sp>
        <p:nvSpPr>
          <p:cNvPr id="97" name="TextBox 96"/>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flexible hold segment is expected to dominate the</a:t>
            </a:r>
          </a:p>
        </p:txBody>
      </p:sp>
      <p:sp>
        <p:nvSpPr>
          <p:cNvPr id="98" name="TextBox 97"/>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99" name="Picture 98" descr="lock.png"/>
          <p:cNvPicPr>
            <a:picLocks noChangeAspect="1"/>
          </p:cNvPicPr>
          <p:nvPr/>
        </p:nvPicPr>
        <p:blipFill>
          <a:blip r:embed="rId19"/>
          <a:stretch>
            <a:fillRect/>
          </a:stretch>
        </p:blipFill>
        <p:spPr>
          <a:xfrm>
            <a:off x="1393519" y="5057858"/>
            <a:ext cx="128699" cy="187198"/>
          </a:xfrm>
          <a:prstGeom prst="rect">
            <a:avLst/>
          </a:prstGeom>
        </p:spPr>
      </p:pic>
      <p:sp>
        <p:nvSpPr>
          <p:cNvPr id="100" name="TextBox 99"/>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1" name="Picture 100" descr="lock.png"/>
          <p:cNvPicPr>
            <a:picLocks noChangeAspect="1"/>
          </p:cNvPicPr>
          <p:nvPr/>
        </p:nvPicPr>
        <p:blipFill>
          <a:blip r:embed="rId19"/>
          <a:stretch>
            <a:fillRect/>
          </a:stretch>
        </p:blipFill>
        <p:spPr>
          <a:xfrm>
            <a:off x="2895500" y="5057858"/>
            <a:ext cx="128699" cy="187198"/>
          </a:xfrm>
          <a:prstGeom prst="rect">
            <a:avLst/>
          </a:prstGeom>
        </p:spPr>
      </p:pic>
      <p:sp>
        <p:nvSpPr>
          <p:cNvPr id="102" name="TextBox 101"/>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609081" cy="186689"/>
          </a:xfrm>
          <a:prstGeom prst="rect">
            <a:avLst/>
          </a:prstGeom>
          <a:noFill/>
        </p:spPr>
        <p:txBody>
          <a:bodyPr wrap="none" lIns="0" rIns="0" tIns="0" bIns="0">
            <a:spAutoFit/>
          </a:bodyPr>
          <a:lstStyle/>
          <a:p>
            <a:r>
              <a:rPr sz="1100" b="0">
                <a:solidFill>
                  <a:srgbClr val="2E2E2E"/>
                </a:solidFill>
                <a:latin typeface="Calibri"/>
              </a:rPr>
              <a:t>Light or flexible hold segment is projected to</a:t>
            </a:r>
          </a:p>
        </p:txBody>
      </p:sp>
      <p:sp>
        <p:nvSpPr>
          <p:cNvPr id="104" name="TextBox 103"/>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5" name="Picture 104" descr="lock.png"/>
          <p:cNvPicPr>
            <a:picLocks noChangeAspect="1"/>
          </p:cNvPicPr>
          <p:nvPr/>
        </p:nvPicPr>
        <p:blipFill>
          <a:blip r:embed="rId19"/>
          <a:stretch>
            <a:fillRect/>
          </a:stretch>
        </p:blipFill>
        <p:spPr>
          <a:xfrm>
            <a:off x="946316" y="5611070"/>
            <a:ext cx="128699" cy="187198"/>
          </a:xfrm>
          <a:prstGeom prst="rect">
            <a:avLst/>
          </a:prstGeom>
        </p:spPr>
      </p:pic>
      <p:sp>
        <p:nvSpPr>
          <p:cNvPr id="106" name="TextBox 105"/>
          <p:cNvSpPr txBox="1"/>
          <p:nvPr/>
        </p:nvSpPr>
        <p:spPr>
          <a:xfrm>
            <a:off x="1113812" y="5620849"/>
            <a:ext cx="1960240" cy="186689"/>
          </a:xfrm>
          <a:prstGeom prst="rect">
            <a:avLst/>
          </a:prstGeom>
          <a:noFill/>
        </p:spPr>
        <p:txBody>
          <a:bodyPr wrap="none" lIns="0" rIns="0" tIns="0" bIns="0">
            <a:spAutoFit/>
          </a:bodyPr>
          <a:lstStyle/>
          <a:p>
            <a:r>
              <a:rPr sz="1100" b="0">
                <a:solidFill>
                  <a:srgbClr val="2E2E2E"/>
                </a:solidFill>
                <a:latin typeface="Calibri"/>
              </a:rPr>
              <a:t>X higher value than medium hold</a:t>
            </a:r>
          </a:p>
        </p:txBody>
      </p:sp>
      <p:sp>
        <p:nvSpPr>
          <p:cNvPr id="107" name="TextBox 106"/>
          <p:cNvSpPr txBox="1"/>
          <p:nvPr/>
        </p:nvSpPr>
        <p:spPr>
          <a:xfrm>
            <a:off x="485775" y="578848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108" name="TextBox 107"/>
          <p:cNvSpPr txBox="1"/>
          <p:nvPr/>
        </p:nvSpPr>
        <p:spPr>
          <a:xfrm>
            <a:off x="3838575" y="4229437"/>
            <a:ext cx="1007169" cy="186689"/>
          </a:xfrm>
          <a:prstGeom prst="rect">
            <a:avLst/>
          </a:prstGeom>
          <a:noFill/>
        </p:spPr>
        <p:txBody>
          <a:bodyPr wrap="none" lIns="0" rIns="0" tIns="0" bIns="0">
            <a:spAutoFit/>
          </a:bodyPr>
          <a:lstStyle/>
          <a:p>
            <a:r>
              <a:rPr sz="1100" b="0">
                <a:solidFill>
                  <a:srgbClr val="2E2E2E"/>
                </a:solidFill>
                <a:latin typeface="Calibri"/>
              </a:rPr>
              <a:t>● Medium Hold:</a:t>
            </a:r>
          </a:p>
        </p:txBody>
      </p:sp>
      <p:pic>
        <p:nvPicPr>
          <p:cNvPr id="109" name="Picture 108" descr="lock.png"/>
          <p:cNvPicPr>
            <a:picLocks noChangeAspect="1"/>
          </p:cNvPicPr>
          <p:nvPr/>
        </p:nvPicPr>
        <p:blipFill>
          <a:blip r:embed="rId19"/>
          <a:stretch>
            <a:fillRect/>
          </a:stretch>
        </p:blipFill>
        <p:spPr>
          <a:xfrm>
            <a:off x="4793796" y="4219658"/>
            <a:ext cx="128699" cy="187198"/>
          </a:xfrm>
          <a:prstGeom prst="rect">
            <a:avLst/>
          </a:prstGeom>
        </p:spPr>
      </p:pic>
      <p:sp>
        <p:nvSpPr>
          <p:cNvPr id="110" name="TextBox 109"/>
          <p:cNvSpPr txBox="1"/>
          <p:nvPr/>
        </p:nvSpPr>
        <p:spPr>
          <a:xfrm>
            <a:off x="496129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9"/>
          <a:stretch>
            <a:fillRect/>
          </a:stretch>
        </p:blipFill>
        <p:spPr>
          <a:xfrm>
            <a:off x="5820742" y="4219658"/>
            <a:ext cx="128699" cy="187198"/>
          </a:xfrm>
          <a:prstGeom prst="rect">
            <a:avLst/>
          </a:prstGeom>
        </p:spPr>
      </p:pic>
      <p:sp>
        <p:nvSpPr>
          <p:cNvPr id="112" name="TextBox 111"/>
          <p:cNvSpPr txBox="1"/>
          <p:nvPr/>
        </p:nvSpPr>
        <p:spPr>
          <a:xfrm>
            <a:off x="5988237"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3" name="TextBox 112"/>
          <p:cNvSpPr txBox="1"/>
          <p:nvPr/>
        </p:nvSpPr>
        <p:spPr>
          <a:xfrm>
            <a:off x="3838575" y="4447369"/>
            <a:ext cx="900211" cy="186689"/>
          </a:xfrm>
          <a:prstGeom prst="rect">
            <a:avLst/>
          </a:prstGeom>
          <a:noFill/>
        </p:spPr>
        <p:txBody>
          <a:bodyPr wrap="none" lIns="0" rIns="0" tIns="0" bIns="0">
            <a:spAutoFit/>
          </a:bodyPr>
          <a:lstStyle/>
          <a:p>
            <a:r>
              <a:rPr sz="1100" b="0">
                <a:solidFill>
                  <a:srgbClr val="2E2E2E"/>
                </a:solidFill>
                <a:latin typeface="Calibri"/>
              </a:rPr>
              <a:t>● Strong Hold:</a:t>
            </a:r>
          </a:p>
        </p:txBody>
      </p:sp>
      <p:pic>
        <p:nvPicPr>
          <p:cNvPr id="114" name="Picture 113" descr="lock.png"/>
          <p:cNvPicPr>
            <a:picLocks noChangeAspect="1"/>
          </p:cNvPicPr>
          <p:nvPr/>
        </p:nvPicPr>
        <p:blipFill>
          <a:blip r:embed="rId19"/>
          <a:stretch>
            <a:fillRect/>
          </a:stretch>
        </p:blipFill>
        <p:spPr>
          <a:xfrm>
            <a:off x="4686838" y="4437590"/>
            <a:ext cx="128699" cy="187198"/>
          </a:xfrm>
          <a:prstGeom prst="rect">
            <a:avLst/>
          </a:prstGeom>
        </p:spPr>
      </p:pic>
      <p:sp>
        <p:nvSpPr>
          <p:cNvPr id="115" name="TextBox 114"/>
          <p:cNvSpPr txBox="1"/>
          <p:nvPr/>
        </p:nvSpPr>
        <p:spPr>
          <a:xfrm>
            <a:off x="4854334"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9"/>
          <a:stretch>
            <a:fillRect/>
          </a:stretch>
        </p:blipFill>
        <p:spPr>
          <a:xfrm>
            <a:off x="5713784" y="4437590"/>
            <a:ext cx="128699" cy="187198"/>
          </a:xfrm>
          <a:prstGeom prst="rect">
            <a:avLst/>
          </a:prstGeom>
        </p:spPr>
      </p:pic>
      <p:sp>
        <p:nvSpPr>
          <p:cNvPr id="117" name="TextBox 116"/>
          <p:cNvSpPr txBox="1"/>
          <p:nvPr/>
        </p:nvSpPr>
        <p:spPr>
          <a:xfrm>
            <a:off x="5881280"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3838575" y="4665301"/>
            <a:ext cx="1424086" cy="186689"/>
          </a:xfrm>
          <a:prstGeom prst="rect">
            <a:avLst/>
          </a:prstGeom>
          <a:noFill/>
        </p:spPr>
        <p:txBody>
          <a:bodyPr wrap="none" lIns="0" rIns="0" tIns="0" bIns="0">
            <a:spAutoFit/>
          </a:bodyPr>
          <a:lstStyle/>
          <a:p>
            <a:r>
              <a:rPr sz="1100" b="0">
                <a:solidFill>
                  <a:srgbClr val="2E2E2E"/>
                </a:solidFill>
                <a:latin typeface="Calibri"/>
              </a:rPr>
              <a:t>● Light or Flexible Hold:</a:t>
            </a:r>
          </a:p>
        </p:txBody>
      </p:sp>
      <p:pic>
        <p:nvPicPr>
          <p:cNvPr id="119" name="Picture 118" descr="lock.png"/>
          <p:cNvPicPr>
            <a:picLocks noChangeAspect="1"/>
          </p:cNvPicPr>
          <p:nvPr/>
        </p:nvPicPr>
        <p:blipFill>
          <a:blip r:embed="rId19"/>
          <a:stretch>
            <a:fillRect/>
          </a:stretch>
        </p:blipFill>
        <p:spPr>
          <a:xfrm>
            <a:off x="5210713" y="4655522"/>
            <a:ext cx="128699" cy="187198"/>
          </a:xfrm>
          <a:prstGeom prst="rect">
            <a:avLst/>
          </a:prstGeom>
        </p:spPr>
      </p:pic>
      <p:sp>
        <p:nvSpPr>
          <p:cNvPr id="120" name="TextBox 119"/>
          <p:cNvSpPr txBox="1"/>
          <p:nvPr/>
        </p:nvSpPr>
        <p:spPr>
          <a:xfrm>
            <a:off x="537820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237659" y="4655522"/>
            <a:ext cx="128699" cy="187198"/>
          </a:xfrm>
          <a:prstGeom prst="rect">
            <a:avLst/>
          </a:prstGeom>
        </p:spPr>
      </p:pic>
      <p:sp>
        <p:nvSpPr>
          <p:cNvPr id="122" name="TextBox 121"/>
          <p:cNvSpPr txBox="1"/>
          <p:nvPr/>
        </p:nvSpPr>
        <p:spPr>
          <a:xfrm>
            <a:off x="6405155"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23" name="TextBox 122"/>
          <p:cNvSpPr txBox="1"/>
          <p:nvPr/>
        </p:nvSpPr>
        <p:spPr>
          <a:xfrm>
            <a:off x="3838575" y="4883233"/>
            <a:ext cx="691480" cy="186689"/>
          </a:xfrm>
          <a:prstGeom prst="rect">
            <a:avLst/>
          </a:prstGeom>
          <a:noFill/>
        </p:spPr>
        <p:txBody>
          <a:bodyPr wrap="none" lIns="0" rIns="0" tIns="0" bIns="0">
            <a:spAutoFit/>
          </a:bodyPr>
          <a:lstStyle/>
          <a:p>
            <a:r>
              <a:rPr sz="1100" b="0">
                <a:solidFill>
                  <a:srgbClr val="2E2E2E"/>
                </a:solidFill>
                <a:latin typeface="Calibri"/>
              </a:rPr>
              <a:t>● No Hold:</a:t>
            </a:r>
          </a:p>
        </p:txBody>
      </p:sp>
      <p:pic>
        <p:nvPicPr>
          <p:cNvPr id="124" name="Picture 123" descr="lock.png"/>
          <p:cNvPicPr>
            <a:picLocks noChangeAspect="1"/>
          </p:cNvPicPr>
          <p:nvPr/>
        </p:nvPicPr>
        <p:blipFill>
          <a:blip r:embed="rId19"/>
          <a:stretch>
            <a:fillRect/>
          </a:stretch>
        </p:blipFill>
        <p:spPr>
          <a:xfrm>
            <a:off x="4478106" y="4873454"/>
            <a:ext cx="128699" cy="187198"/>
          </a:xfrm>
          <a:prstGeom prst="rect">
            <a:avLst/>
          </a:prstGeom>
        </p:spPr>
      </p:pic>
      <p:sp>
        <p:nvSpPr>
          <p:cNvPr id="125" name="TextBox 124"/>
          <p:cNvSpPr txBox="1"/>
          <p:nvPr/>
        </p:nvSpPr>
        <p:spPr>
          <a:xfrm>
            <a:off x="4645602"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19"/>
          <a:stretch>
            <a:fillRect/>
          </a:stretch>
        </p:blipFill>
        <p:spPr>
          <a:xfrm>
            <a:off x="5505052" y="4873454"/>
            <a:ext cx="128699" cy="187198"/>
          </a:xfrm>
          <a:prstGeom prst="rect">
            <a:avLst/>
          </a:prstGeom>
        </p:spPr>
      </p:pic>
      <p:sp>
        <p:nvSpPr>
          <p:cNvPr id="127" name="TextBox 126"/>
          <p:cNvSpPr txBox="1"/>
          <p:nvPr/>
        </p:nvSpPr>
        <p:spPr>
          <a:xfrm>
            <a:off x="5672548"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8" name="TextBox 127"/>
          <p:cNvSpPr txBox="1"/>
          <p:nvPr/>
        </p:nvSpPr>
        <p:spPr>
          <a:xfrm>
            <a:off x="3838575" y="5101165"/>
            <a:ext cx="1224905" cy="186689"/>
          </a:xfrm>
          <a:prstGeom prst="rect">
            <a:avLst/>
          </a:prstGeom>
          <a:noFill/>
        </p:spPr>
        <p:txBody>
          <a:bodyPr wrap="none" lIns="0" rIns="0" tIns="0" bIns="0">
            <a:spAutoFit/>
          </a:bodyPr>
          <a:lstStyle/>
          <a:p>
            <a:r>
              <a:rPr sz="1100" b="0">
                <a:solidFill>
                  <a:srgbClr val="2E2E2E"/>
                </a:solidFill>
                <a:latin typeface="Calibri"/>
              </a:rPr>
              <a:t>● Extra-strong Hold:</a:t>
            </a:r>
          </a:p>
        </p:txBody>
      </p:sp>
      <p:pic>
        <p:nvPicPr>
          <p:cNvPr id="129" name="Picture 128" descr="lock.png"/>
          <p:cNvPicPr>
            <a:picLocks noChangeAspect="1"/>
          </p:cNvPicPr>
          <p:nvPr/>
        </p:nvPicPr>
        <p:blipFill>
          <a:blip r:embed="rId19"/>
          <a:stretch>
            <a:fillRect/>
          </a:stretch>
        </p:blipFill>
        <p:spPr>
          <a:xfrm>
            <a:off x="5011531" y="5091385"/>
            <a:ext cx="128699" cy="187198"/>
          </a:xfrm>
          <a:prstGeom prst="rect">
            <a:avLst/>
          </a:prstGeom>
        </p:spPr>
      </p:pic>
      <p:sp>
        <p:nvSpPr>
          <p:cNvPr id="130" name="TextBox 129"/>
          <p:cNvSpPr txBox="1"/>
          <p:nvPr/>
        </p:nvSpPr>
        <p:spPr>
          <a:xfrm>
            <a:off x="5179027"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1" name="Picture 130" descr="lock.png"/>
          <p:cNvPicPr>
            <a:picLocks noChangeAspect="1"/>
          </p:cNvPicPr>
          <p:nvPr/>
        </p:nvPicPr>
        <p:blipFill>
          <a:blip r:embed="rId19"/>
          <a:stretch>
            <a:fillRect/>
          </a:stretch>
        </p:blipFill>
        <p:spPr>
          <a:xfrm>
            <a:off x="6038477" y="5091385"/>
            <a:ext cx="128699" cy="187198"/>
          </a:xfrm>
          <a:prstGeom prst="rect">
            <a:avLst/>
          </a:prstGeom>
        </p:spPr>
      </p:pic>
      <p:sp>
        <p:nvSpPr>
          <p:cNvPr id="132" name="TextBox 131"/>
          <p:cNvSpPr txBox="1"/>
          <p:nvPr/>
        </p:nvSpPr>
        <p:spPr>
          <a:xfrm>
            <a:off x="6205973"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3" name="TextBox 132"/>
          <p:cNvSpPr txBox="1"/>
          <p:nvPr/>
        </p:nvSpPr>
        <p:spPr>
          <a:xfrm>
            <a:off x="8524875" y="5842641"/>
            <a:ext cx="3031145" cy="194310"/>
          </a:xfrm>
          <a:prstGeom prst="rect">
            <a:avLst/>
          </a:prstGeom>
          <a:noFill/>
        </p:spPr>
        <p:txBody>
          <a:bodyPr wrap="none" lIns="0" rIns="0" tIns="0" bIns="0">
            <a:spAutoFit/>
          </a:bodyPr>
          <a:lstStyle/>
          <a:p>
            <a:r>
              <a:rPr sz="1150" b="1">
                <a:solidFill>
                  <a:srgbClr val="0B2E4A"/>
                </a:solidFill>
                <a:latin typeface="Calibri"/>
              </a:rPr>
              <a:t>The Hold Level segment is projected to grow at a</a:t>
            </a:r>
          </a:p>
        </p:txBody>
      </p:sp>
      <p:sp>
        <p:nvSpPr>
          <p:cNvPr id="134" name="TextBox 133"/>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5" name="Picture 134" descr="lock.png"/>
          <p:cNvPicPr>
            <a:picLocks noChangeAspect="1"/>
          </p:cNvPicPr>
          <p:nvPr/>
        </p:nvPicPr>
        <p:blipFill>
          <a:blip r:embed="rId19"/>
          <a:stretch>
            <a:fillRect/>
          </a:stretch>
        </p:blipFill>
        <p:spPr>
          <a:xfrm>
            <a:off x="9048826" y="6007677"/>
            <a:ext cx="134549" cy="195707"/>
          </a:xfrm>
          <a:prstGeom prst="rect">
            <a:avLst/>
          </a:prstGeom>
        </p:spPr>
      </p:pic>
      <p:sp>
        <p:nvSpPr>
          <p:cNvPr id="136" name="TextBox 135"/>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Hold Level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Hold Level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Hold Level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Hold Level · Bubble size represents 2036 value</a:t>
            </a:r>
          </a:p>
        </p:txBody>
      </p:sp>
      <p:graphicFrame>
        <p:nvGraphicFramePr>
          <p:cNvPr id="16" name="Chart 15"/>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25733" cy="186689"/>
          </a:xfrm>
          <a:prstGeom prst="rect">
            <a:avLst/>
          </a:prstGeom>
          <a:noFill/>
        </p:spPr>
        <p:txBody>
          <a:bodyPr wrap="none" lIns="0" rIns="0" tIns="0" bIns="0">
            <a:spAutoFit/>
          </a:bodyPr>
          <a:lstStyle/>
          <a:p>
            <a:r>
              <a:rPr sz="1100" b="0">
                <a:solidFill>
                  <a:srgbClr val="2E2E2E"/>
                </a:solidFill>
                <a:latin typeface="Calibri"/>
              </a:rPr>
              <a:t>Light or flexible hold followed by medium hold are expected to be the two most attractive hold level segments in the North America hair styling products market in terms of value over the forecast period.</a:t>
            </a:r>
          </a:p>
        </p:txBody>
      </p:sp>
      <p:sp>
        <p:nvSpPr>
          <p:cNvPr id="21" name="TextBox 20"/>
          <p:cNvSpPr txBox="1"/>
          <p:nvPr/>
        </p:nvSpPr>
        <p:spPr>
          <a:xfrm>
            <a:off x="257175" y="5861685"/>
            <a:ext cx="3626527" cy="186689"/>
          </a:xfrm>
          <a:prstGeom prst="rect">
            <a:avLst/>
          </a:prstGeom>
          <a:noFill/>
        </p:spPr>
        <p:txBody>
          <a:bodyPr wrap="none" lIns="0" rIns="0" tIns="0" bIns="0">
            <a:spAutoFit/>
          </a:bodyPr>
          <a:lstStyle/>
          <a:p>
            <a:r>
              <a:rPr sz="1100" b="0">
                <a:solidFill>
                  <a:srgbClr val="2E2E2E"/>
                </a:solidFill>
                <a:latin typeface="Calibri"/>
              </a:rPr>
              <a:t>Light or flexible hold and medium hold exhibit a CAGR index of</a:t>
            </a:r>
          </a:p>
        </p:txBody>
      </p:sp>
      <p:pic>
        <p:nvPicPr>
          <p:cNvPr id="22" name="Picture 21" descr="lock.png"/>
          <p:cNvPicPr>
            <a:picLocks noChangeAspect="1"/>
          </p:cNvPicPr>
          <p:nvPr/>
        </p:nvPicPr>
        <p:blipFill>
          <a:blip r:embed="rId6"/>
          <a:stretch>
            <a:fillRect/>
          </a:stretch>
        </p:blipFill>
        <p:spPr>
          <a:xfrm>
            <a:off x="3831754" y="5851905"/>
            <a:ext cx="128699" cy="187198"/>
          </a:xfrm>
          <a:prstGeom prst="rect">
            <a:avLst/>
          </a:prstGeom>
        </p:spPr>
      </p:pic>
      <p:sp>
        <p:nvSpPr>
          <p:cNvPr id="23" name="TextBox 22"/>
          <p:cNvSpPr txBox="1"/>
          <p:nvPr/>
        </p:nvSpPr>
        <p:spPr>
          <a:xfrm>
            <a:off x="399924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4237144" y="5851905"/>
            <a:ext cx="128699" cy="187198"/>
          </a:xfrm>
          <a:prstGeom prst="rect">
            <a:avLst/>
          </a:prstGeom>
        </p:spPr>
      </p:pic>
      <p:sp>
        <p:nvSpPr>
          <p:cNvPr id="25" name="TextBox 24"/>
          <p:cNvSpPr txBox="1"/>
          <p:nvPr/>
        </p:nvSpPr>
        <p:spPr>
          <a:xfrm>
            <a:off x="4404640"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6013613" y="5851905"/>
            <a:ext cx="128699" cy="187198"/>
          </a:xfrm>
          <a:prstGeom prst="rect">
            <a:avLst/>
          </a:prstGeom>
        </p:spPr>
      </p:pic>
      <p:sp>
        <p:nvSpPr>
          <p:cNvPr id="27" name="TextBox 26"/>
          <p:cNvSpPr txBox="1"/>
          <p:nvPr/>
        </p:nvSpPr>
        <p:spPr>
          <a:xfrm>
            <a:off x="6181109"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6419003" y="5851905"/>
            <a:ext cx="128699" cy="187198"/>
          </a:xfrm>
          <a:prstGeom prst="rect">
            <a:avLst/>
          </a:prstGeom>
        </p:spPr>
      </p:pic>
      <p:sp>
        <p:nvSpPr>
          <p:cNvPr id="29" name="TextBox 28"/>
          <p:cNvSpPr txBox="1"/>
          <p:nvPr/>
        </p:nvSpPr>
        <p:spPr>
          <a:xfrm>
            <a:off x="6586499"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9140903" y="5851905"/>
            <a:ext cx="128699" cy="187198"/>
          </a:xfrm>
          <a:prstGeom prst="rect">
            <a:avLst/>
          </a:prstGeom>
        </p:spPr>
      </p:pic>
      <p:sp>
        <p:nvSpPr>
          <p:cNvPr id="31" name="TextBox 30"/>
          <p:cNvSpPr txBox="1"/>
          <p:nvPr/>
        </p:nvSpPr>
        <p:spPr>
          <a:xfrm>
            <a:off x="9308399" y="5861685"/>
            <a:ext cx="2010444" cy="186689"/>
          </a:xfrm>
          <a:prstGeom prst="rect">
            <a:avLst/>
          </a:prstGeom>
          <a:noFill/>
        </p:spPr>
        <p:txBody>
          <a:bodyPr wrap="none" lIns="0" rIns="0" tIns="0" bIns="0">
            <a:spAutoFit/>
          </a:bodyPr>
          <a:lstStyle/>
          <a:p>
            <a:r>
              <a:rPr sz="1100" b="0">
                <a:solidFill>
                  <a:srgbClr val="2E2E2E"/>
                </a:solidFill>
                <a:latin typeface="Calibri"/>
              </a:rPr>
              <a:t>. The extra-strong hold segment is</a:t>
            </a:r>
          </a:p>
        </p:txBody>
      </p:sp>
      <p:sp>
        <p:nvSpPr>
          <p:cNvPr id="32" name="TextBox 31"/>
          <p:cNvSpPr txBox="1"/>
          <p:nvPr/>
        </p:nvSpPr>
        <p:spPr>
          <a:xfrm>
            <a:off x="257175" y="6029325"/>
            <a:ext cx="11421333" cy="186689"/>
          </a:xfrm>
          <a:prstGeom prst="rect">
            <a:avLst/>
          </a:prstGeom>
          <a:noFill/>
        </p:spPr>
        <p:txBody>
          <a:bodyPr wrap="none" lIns="0" rIns="0" tIns="0" bIns="0">
            <a:spAutoFit/>
          </a:bodyPr>
          <a:lstStyle/>
          <a:p>
            <a:r>
              <a:rPr sz="1100" b="0">
                <a:solidFill>
                  <a:srgbClr val="2E2E2E"/>
                </a:solidFill>
                <a:latin typeface="Calibri"/>
              </a:rPr>
              <a:t>expected to be less attractive as compared to other segments over the forecast period, owing to its lower CAGR and incremental opportunity. Bubbles right of the CAGR-Index line grow faster than the</a:t>
            </a:r>
          </a:p>
        </p:txBody>
      </p:sp>
      <p:sp>
        <p:nvSpPr>
          <p:cNvPr id="33" name="TextBox 32"/>
          <p:cNvSpPr txBox="1"/>
          <p:nvPr/>
        </p:nvSpPr>
        <p:spPr>
          <a:xfrm>
            <a:off x="257175" y="6196965"/>
            <a:ext cx="1084932" cy="186689"/>
          </a:xfrm>
          <a:prstGeom prst="rect">
            <a:avLst/>
          </a:prstGeom>
          <a:noFill/>
        </p:spPr>
        <p:txBody>
          <a:bodyPr wrap="none" lIns="0" rIns="0" tIns="0" bIns="0">
            <a:spAutoFit/>
          </a:bodyPr>
          <a:lstStyle/>
          <a:p>
            <a:r>
              <a:rPr sz="1100" b="0">
                <a:solidFill>
                  <a:srgbClr val="2E2E2E"/>
                </a:solidFill>
                <a:latin typeface="Calibri"/>
              </a:rPr>
              <a:t>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Hold Level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Hold Level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No Hold</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Light or Flexible Hold</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Medium Hold</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Strong Hold</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4151" y="5123309"/>
            <a:ext cx="263506" cy="383281"/>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Hold Level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Hold Level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Extra-strong Hold</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Hold Level</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685595" cy="194310"/>
          </a:xfrm>
          <a:prstGeom prst="rect">
            <a:avLst/>
          </a:prstGeom>
          <a:noFill/>
        </p:spPr>
        <p:txBody>
          <a:bodyPr wrap="none" lIns="0" rIns="0" tIns="0" bIns="0">
            <a:spAutoFit/>
          </a:bodyPr>
          <a:lstStyle/>
          <a:p>
            <a:r>
              <a:rPr sz="1150" b="0">
                <a:solidFill>
                  <a:srgbClr val="2E2E2E"/>
                </a:solidFill>
                <a:latin typeface="Calibri"/>
              </a:rPr>
              <a:t>By 2036, light or flexible hold segment is anticipated to witness an increase of</a:t>
            </a:r>
          </a:p>
        </p:txBody>
      </p:sp>
      <p:pic>
        <p:nvPicPr>
          <p:cNvPr id="20" name="Picture 19" descr="lock.png"/>
          <p:cNvPicPr>
            <a:picLocks noChangeAspect="1"/>
          </p:cNvPicPr>
          <p:nvPr/>
        </p:nvPicPr>
        <p:blipFill>
          <a:blip r:embed="rId5"/>
          <a:stretch>
            <a:fillRect/>
          </a:stretch>
        </p:blipFill>
        <p:spPr>
          <a:xfrm>
            <a:off x="10940299" y="1588021"/>
            <a:ext cx="134549" cy="195707"/>
          </a:xfrm>
          <a:prstGeom prst="rect">
            <a:avLst/>
          </a:prstGeom>
        </p:spPr>
      </p:pic>
      <p:sp>
        <p:nvSpPr>
          <p:cNvPr id="21" name="TextBox 20"/>
          <p:cNvSpPr txBox="1"/>
          <p:nvPr/>
        </p:nvSpPr>
        <p:spPr>
          <a:xfrm>
            <a:off x="11115408"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2" name="TextBox 21"/>
          <p:cNvSpPr txBox="1"/>
          <p:nvPr/>
        </p:nvSpPr>
        <p:spPr>
          <a:xfrm>
            <a:off x="6305550" y="1773505"/>
            <a:ext cx="5341701" cy="194310"/>
          </a:xfrm>
          <a:prstGeom prst="rect">
            <a:avLst/>
          </a:prstGeom>
          <a:noFill/>
        </p:spPr>
        <p:txBody>
          <a:bodyPr wrap="none" lIns="0" rIns="0" tIns="0" bIns="0">
            <a:spAutoFit/>
          </a:bodyPr>
          <a:lstStyle/>
          <a:p>
            <a:r>
              <a:rPr sz="1150" b="0">
                <a:solidFill>
                  <a:srgbClr val="2E2E2E"/>
                </a:solidFill>
                <a:latin typeface="Calibri"/>
              </a:rPr>
              <a:t>of value as compared to 2026. The light or flexible hold segment is expected to create an</a:t>
            </a:r>
          </a:p>
        </p:txBody>
      </p:sp>
      <p:sp>
        <p:nvSpPr>
          <p:cNvPr id="23" name="TextBox 22"/>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4" name="Picture 23" descr="lock.png"/>
          <p:cNvPicPr>
            <a:picLocks noChangeAspect="1"/>
          </p:cNvPicPr>
          <p:nvPr/>
        </p:nvPicPr>
        <p:blipFill>
          <a:blip r:embed="rId5"/>
          <a:stretch>
            <a:fillRect/>
          </a:stretch>
        </p:blipFill>
        <p:spPr>
          <a:xfrm>
            <a:off x="8211582" y="1938541"/>
            <a:ext cx="134549" cy="195707"/>
          </a:xfrm>
          <a:prstGeom prst="rect">
            <a:avLst/>
          </a:prstGeom>
        </p:spPr>
      </p:pic>
      <p:sp>
        <p:nvSpPr>
          <p:cNvPr id="25" name="TextBox 24"/>
          <p:cNvSpPr txBox="1"/>
          <p:nvPr/>
        </p:nvSpPr>
        <p:spPr>
          <a:xfrm>
            <a:off x="8386692" y="1948765"/>
            <a:ext cx="317548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a:t>
            </a:r>
          </a:p>
        </p:txBody>
      </p:sp>
      <p:sp>
        <p:nvSpPr>
          <p:cNvPr id="26" name="TextBox 25"/>
          <p:cNvSpPr txBox="1"/>
          <p:nvPr/>
        </p:nvSpPr>
        <p:spPr>
          <a:xfrm>
            <a:off x="6305550" y="212402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27" name="TextBox 26"/>
          <p:cNvSpPr txBox="1"/>
          <p:nvPr/>
        </p:nvSpPr>
        <p:spPr>
          <a:xfrm>
            <a:off x="6305550" y="2351863"/>
            <a:ext cx="5033342" cy="194310"/>
          </a:xfrm>
          <a:prstGeom prst="rect">
            <a:avLst/>
          </a:prstGeom>
          <a:noFill/>
        </p:spPr>
        <p:txBody>
          <a:bodyPr wrap="none" lIns="0" rIns="0" tIns="0" bIns="0">
            <a:spAutoFit/>
          </a:bodyPr>
          <a:lstStyle/>
          <a:p>
            <a:r>
              <a:rPr sz="1150" b="0">
                <a:solidFill>
                  <a:srgbClr val="2E2E2E"/>
                </a:solidFill>
                <a:latin typeface="Calibri"/>
              </a:rPr>
              <a:t>The medium hold segment is expected to create an incremental opportunity of US$</a:t>
            </a:r>
          </a:p>
        </p:txBody>
      </p:sp>
      <p:pic>
        <p:nvPicPr>
          <p:cNvPr id="28" name="Picture 27" descr="lock.png"/>
          <p:cNvPicPr>
            <a:picLocks noChangeAspect="1"/>
          </p:cNvPicPr>
          <p:nvPr/>
        </p:nvPicPr>
        <p:blipFill>
          <a:blip r:embed="rId5"/>
          <a:stretch>
            <a:fillRect/>
          </a:stretch>
        </p:blipFill>
        <p:spPr>
          <a:xfrm>
            <a:off x="11288046" y="2341639"/>
            <a:ext cx="134549" cy="195707"/>
          </a:xfrm>
          <a:prstGeom prst="rect">
            <a:avLst/>
          </a:prstGeom>
        </p:spPr>
      </p:pic>
      <p:sp>
        <p:nvSpPr>
          <p:cNvPr id="29" name="TextBox 28"/>
          <p:cNvSpPr txBox="1"/>
          <p:nvPr/>
        </p:nvSpPr>
        <p:spPr>
          <a:xfrm>
            <a:off x="11463155" y="2351863"/>
            <a:ext cx="277874" cy="194310"/>
          </a:xfrm>
          <a:prstGeom prst="rect">
            <a:avLst/>
          </a:prstGeom>
          <a:noFill/>
        </p:spPr>
        <p:txBody>
          <a:bodyPr wrap="none" lIns="0" rIns="0" tIns="0" bIns="0">
            <a:spAutoFit/>
          </a:bodyPr>
          <a:lstStyle/>
          <a:p>
            <a:r>
              <a:rPr sz="1150" b="0">
                <a:solidFill>
                  <a:srgbClr val="2E2E2E"/>
                </a:solidFill>
                <a:latin typeface="Calibri"/>
              </a:rPr>
              <a:t>Mn</a:t>
            </a:r>
          </a:p>
        </p:txBody>
      </p:sp>
      <p:sp>
        <p:nvSpPr>
          <p:cNvPr id="30" name="TextBox 29"/>
          <p:cNvSpPr txBox="1"/>
          <p:nvPr/>
        </p:nvSpPr>
        <p:spPr>
          <a:xfrm>
            <a:off x="6305550" y="2527123"/>
            <a:ext cx="5204779" cy="194310"/>
          </a:xfrm>
          <a:prstGeom prst="rect">
            <a:avLst/>
          </a:prstGeom>
          <a:noFill/>
        </p:spPr>
        <p:txBody>
          <a:bodyPr wrap="none" lIns="0" rIns="0" tIns="0" bIns="0">
            <a:spAutoFit/>
          </a:bodyPr>
          <a:lstStyle/>
          <a:p>
            <a:r>
              <a:rPr sz="1150" b="0">
                <a:solidFill>
                  <a:srgbClr val="2E2E2E"/>
                </a:solidFill>
                <a:latin typeface="Calibri"/>
              </a:rPr>
              <a:t>for the overall hair styling products market from 2026 to 2036. The no hold segment is</a:t>
            </a:r>
          </a:p>
        </p:txBody>
      </p:sp>
      <p:sp>
        <p:nvSpPr>
          <p:cNvPr id="31" name="TextBox 30"/>
          <p:cNvSpPr txBox="1"/>
          <p:nvPr/>
        </p:nvSpPr>
        <p:spPr>
          <a:xfrm>
            <a:off x="6305550" y="2702383"/>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2" name="Picture 31" descr="lock.png"/>
          <p:cNvPicPr>
            <a:picLocks noChangeAspect="1"/>
          </p:cNvPicPr>
          <p:nvPr/>
        </p:nvPicPr>
        <p:blipFill>
          <a:blip r:embed="rId5"/>
          <a:stretch>
            <a:fillRect/>
          </a:stretch>
        </p:blipFill>
        <p:spPr>
          <a:xfrm>
            <a:off x="9540010" y="2692159"/>
            <a:ext cx="134549" cy="195707"/>
          </a:xfrm>
          <a:prstGeom prst="rect">
            <a:avLst/>
          </a:prstGeom>
        </p:spPr>
      </p:pic>
      <p:sp>
        <p:nvSpPr>
          <p:cNvPr id="33" name="TextBox 32"/>
          <p:cNvSpPr txBox="1"/>
          <p:nvPr/>
        </p:nvSpPr>
        <p:spPr>
          <a:xfrm>
            <a:off x="9715119" y="2702383"/>
            <a:ext cx="1834790" cy="194310"/>
          </a:xfrm>
          <a:prstGeom prst="rect">
            <a:avLst/>
          </a:prstGeom>
          <a:noFill/>
        </p:spPr>
        <p:txBody>
          <a:bodyPr wrap="none" lIns="0" rIns="0" tIns="0" bIns="0">
            <a:spAutoFit/>
          </a:bodyPr>
          <a:lstStyle/>
          <a:p>
            <a:r>
              <a:rPr sz="1150" b="0">
                <a:solidFill>
                  <a:srgbClr val="2E2E2E"/>
                </a:solidFill>
                <a:latin typeface="Calibri"/>
              </a:rPr>
              <a:t>Mn for the overall hair styling</a:t>
            </a:r>
          </a:p>
        </p:txBody>
      </p:sp>
      <p:sp>
        <p:nvSpPr>
          <p:cNvPr id="34" name="TextBox 33"/>
          <p:cNvSpPr txBox="1"/>
          <p:nvPr/>
        </p:nvSpPr>
        <p:spPr>
          <a:xfrm>
            <a:off x="6305550" y="2877643"/>
            <a:ext cx="2239280" cy="194310"/>
          </a:xfrm>
          <a:prstGeom prst="rect">
            <a:avLst/>
          </a:prstGeom>
          <a:noFill/>
        </p:spPr>
        <p:txBody>
          <a:bodyPr wrap="none" lIns="0" rIns="0" tIns="0" bIns="0">
            <a:spAutoFit/>
          </a:bodyPr>
          <a:lstStyle/>
          <a:p>
            <a:r>
              <a:rPr sz="1150" b="0">
                <a:solidFill>
                  <a:srgbClr val="2E2E2E"/>
                </a:solidFill>
                <a:latin typeface="Calibri"/>
              </a:rPr>
              <a:t>products market from 2026 to 2036.</a:t>
            </a:r>
          </a:p>
        </p:txBody>
      </p:sp>
      <p:sp>
        <p:nvSpPr>
          <p:cNvPr id="35"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Hold Level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Hold Level,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Hold Level (US$ Mn)</a:t>
            </a:r>
          </a:p>
        </p:txBody>
      </p:sp>
      <p:graphicFrame>
        <p:nvGraphicFramePr>
          <p:cNvPr id="13" name="Table 12"/>
          <p:cNvGraphicFramePr>
            <a:graphicFrameLocks noGrp="1"/>
          </p:cNvGraphicFramePr>
          <p:nvPr/>
        </p:nvGraphicFramePr>
        <p:xfrm>
          <a:off x="152400" y="1238250"/>
          <a:ext cx="11887201" cy="1724028"/>
        </p:xfrm>
        <a:graphic>
          <a:graphicData uri="http://schemas.openxmlformats.org/drawingml/2006/table">
            <a:tbl>
              <a:tblPr>
                <a:tableStyleId>{5C22544A-7EE6-4342-B048-85BDC9FD1C3A}</a:tableStyleId>
              </a:tblPr>
              <a:tblGrid>
                <a:gridCol w="1506219"/>
                <a:gridCol w="610646"/>
                <a:gridCol w="610646"/>
                <a:gridCol w="610646"/>
                <a:gridCol w="610646"/>
                <a:gridCol w="610646"/>
                <a:gridCol w="610646"/>
                <a:gridCol w="610646"/>
                <a:gridCol w="610646"/>
                <a:gridCol w="610646"/>
                <a:gridCol w="610646"/>
                <a:gridCol w="610646"/>
                <a:gridCol w="610646"/>
                <a:gridCol w="610646"/>
                <a:gridCol w="610646"/>
                <a:gridCol w="610646"/>
                <a:gridCol w="610646"/>
                <a:gridCol w="610646"/>
              </a:tblGrid>
              <a:tr h="246126">
                <a:tc>
                  <a:txBody>
                    <a:bodyPr wrap="none"/>
                    <a:lstStyle/>
                    <a:p>
                      <a:pPr algn="l"/>
                      <a:r>
                        <a:rPr sz="1100" b="1">
                          <a:solidFill>
                            <a:srgbClr val="0B2E4A"/>
                          </a:solidFill>
                          <a:latin typeface="Calibri"/>
                        </a:rPr>
                        <a:t>Hold Level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No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Light or Flexible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Medium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Strong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Extra-strong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Hold Level</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62419" y="1956627"/>
            <a:ext cx="366712" cy="533400"/>
          </a:xfrm>
          <a:prstGeom prst="rect">
            <a:avLst/>
          </a:prstGeom>
        </p:spPr>
      </p:pic>
      <p:sp>
        <p:nvSpPr>
          <p:cNvPr id="21" name="TextBox 20"/>
          <p:cNvSpPr txBox="1"/>
          <p:nvPr/>
        </p:nvSpPr>
        <p:spPr>
          <a:xfrm>
            <a:off x="276225" y="3724275"/>
            <a:ext cx="3213422" cy="194310"/>
          </a:xfrm>
          <a:prstGeom prst="rect">
            <a:avLst/>
          </a:prstGeom>
          <a:noFill/>
        </p:spPr>
        <p:txBody>
          <a:bodyPr wrap="none" lIns="0" rIns="0" tIns="0" bIns="0">
            <a:spAutoFit/>
          </a:bodyPr>
          <a:lstStyle/>
          <a:p>
            <a:r>
              <a:rPr sz="1150" b="0">
                <a:solidFill>
                  <a:srgbClr val="2E2E2E"/>
                </a:solidFill>
                <a:latin typeface="Calibri"/>
              </a:rPr>
              <a:t>Light or flexible hold segment is projected to register</a:t>
            </a:r>
          </a:p>
        </p:txBody>
      </p:sp>
      <p:pic>
        <p:nvPicPr>
          <p:cNvPr id="22" name="Picture 21" descr="lock.png"/>
          <p:cNvPicPr>
            <a:picLocks noChangeAspect="1"/>
          </p:cNvPicPr>
          <p:nvPr/>
        </p:nvPicPr>
        <p:blipFill>
          <a:blip r:embed="rId4"/>
          <a:stretch>
            <a:fillRect/>
          </a:stretch>
        </p:blipFill>
        <p:spPr>
          <a:xfrm>
            <a:off x="3438801" y="3714051"/>
            <a:ext cx="134549" cy="195707"/>
          </a:xfrm>
          <a:prstGeom prst="rect">
            <a:avLst/>
          </a:prstGeom>
        </p:spPr>
      </p:pic>
      <p:sp>
        <p:nvSpPr>
          <p:cNvPr id="23" name="TextBox 22"/>
          <p:cNvSpPr txBox="1"/>
          <p:nvPr/>
        </p:nvSpPr>
        <p:spPr>
          <a:xfrm>
            <a:off x="3613910" y="3724275"/>
            <a:ext cx="8249294" cy="194310"/>
          </a:xfrm>
          <a:prstGeom prst="rect">
            <a:avLst/>
          </a:prstGeom>
          <a:noFill/>
        </p:spPr>
        <p:txBody>
          <a:bodyPr wrap="none" lIns="0" rIns="0" tIns="0" bIns="0">
            <a:spAutoFit/>
          </a:bodyPr>
          <a:lstStyle/>
          <a:p>
            <a:r>
              <a:rPr sz="1150" b="0">
                <a:solidFill>
                  <a:srgbClr val="2E2E2E"/>
                </a:solidFill>
                <a:latin typeface="Calibri"/>
              </a:rPr>
              <a:t>X higher value than medium hold segment in 2036. Among hair styling products by hold level, light or flexible hold segment is expected to</a:t>
            </a:r>
          </a:p>
        </p:txBody>
      </p:sp>
      <p:sp>
        <p:nvSpPr>
          <p:cNvPr id="24" name="TextBox 23"/>
          <p:cNvSpPr txBox="1"/>
          <p:nvPr/>
        </p:nvSpPr>
        <p:spPr>
          <a:xfrm>
            <a:off x="276225" y="38995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5" name="Picture 24" descr="lock.png"/>
          <p:cNvPicPr>
            <a:picLocks noChangeAspect="1"/>
          </p:cNvPicPr>
          <p:nvPr/>
        </p:nvPicPr>
        <p:blipFill>
          <a:blip r:embed="rId4"/>
          <a:stretch>
            <a:fillRect/>
          </a:stretch>
        </p:blipFill>
        <p:spPr>
          <a:xfrm>
            <a:off x="1973149" y="3889311"/>
            <a:ext cx="134549" cy="195707"/>
          </a:xfrm>
          <a:prstGeom prst="rect">
            <a:avLst/>
          </a:prstGeom>
        </p:spPr>
      </p:pic>
      <p:sp>
        <p:nvSpPr>
          <p:cNvPr id="26" name="TextBox 25"/>
          <p:cNvSpPr txBox="1"/>
          <p:nvPr/>
        </p:nvSpPr>
        <p:spPr>
          <a:xfrm>
            <a:off x="2148258"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127372"/>
            <a:ext cx="6910027" cy="194310"/>
          </a:xfrm>
          <a:prstGeom prst="rect">
            <a:avLst/>
          </a:prstGeom>
          <a:noFill/>
        </p:spPr>
        <p:txBody>
          <a:bodyPr wrap="none" lIns="0" rIns="0" tIns="0" bIns="0">
            <a:spAutoFit/>
          </a:bodyPr>
          <a:lstStyle/>
          <a:p>
            <a:r>
              <a:rPr sz="1150" b="0">
                <a:solidFill>
                  <a:srgbClr val="2E2E2E"/>
                </a:solidFill>
                <a:latin typeface="Calibri"/>
              </a:rPr>
              <a:t>In terms of value share by hold level, the light or flexible hold segment is expected to dominate the market, gaining</a:t>
            </a:r>
          </a:p>
        </p:txBody>
      </p:sp>
      <p:pic>
        <p:nvPicPr>
          <p:cNvPr id="28" name="Picture 27" descr="lock.png"/>
          <p:cNvPicPr>
            <a:picLocks noChangeAspect="1"/>
          </p:cNvPicPr>
          <p:nvPr/>
        </p:nvPicPr>
        <p:blipFill>
          <a:blip r:embed="rId4"/>
          <a:stretch>
            <a:fillRect/>
          </a:stretch>
        </p:blipFill>
        <p:spPr>
          <a:xfrm>
            <a:off x="7135406" y="4117149"/>
            <a:ext cx="134549" cy="195707"/>
          </a:xfrm>
          <a:prstGeom prst="rect">
            <a:avLst/>
          </a:prstGeom>
        </p:spPr>
      </p:pic>
      <p:sp>
        <p:nvSpPr>
          <p:cNvPr id="29" name="TextBox 28"/>
          <p:cNvSpPr txBox="1"/>
          <p:nvPr/>
        </p:nvSpPr>
        <p:spPr>
          <a:xfrm>
            <a:off x="7310516"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8705659" y="4117149"/>
            <a:ext cx="134549" cy="195707"/>
          </a:xfrm>
          <a:prstGeom prst="rect">
            <a:avLst/>
          </a:prstGeom>
        </p:spPr>
      </p:pic>
      <p:sp>
        <p:nvSpPr>
          <p:cNvPr id="31" name="TextBox 30"/>
          <p:cNvSpPr txBox="1"/>
          <p:nvPr/>
        </p:nvSpPr>
        <p:spPr>
          <a:xfrm>
            <a:off x="8880768" y="4127372"/>
            <a:ext cx="2807791" cy="194310"/>
          </a:xfrm>
          <a:prstGeom prst="rect">
            <a:avLst/>
          </a:prstGeom>
          <a:noFill/>
        </p:spPr>
        <p:txBody>
          <a:bodyPr wrap="none" lIns="0" rIns="0" tIns="0" bIns="0">
            <a:spAutoFit/>
          </a:bodyPr>
          <a:lstStyle/>
          <a:p>
            <a:r>
              <a:rPr sz="1150" b="0">
                <a:solidFill>
                  <a:srgbClr val="2E2E2E"/>
                </a:solidFill>
                <a:latin typeface="Calibri"/>
              </a:rPr>
              <a:t>share by 2036. The extra-strong hold segment</a:t>
            </a:r>
          </a:p>
        </p:txBody>
      </p:sp>
      <p:sp>
        <p:nvSpPr>
          <p:cNvPr id="32" name="TextBox 31"/>
          <p:cNvSpPr txBox="1"/>
          <p:nvPr/>
        </p:nvSpPr>
        <p:spPr>
          <a:xfrm>
            <a:off x="276225" y="4302632"/>
            <a:ext cx="1178706" cy="194310"/>
          </a:xfrm>
          <a:prstGeom prst="rect">
            <a:avLst/>
          </a:prstGeom>
          <a:noFill/>
        </p:spPr>
        <p:txBody>
          <a:bodyPr wrap="none" lIns="0" rIns="0" tIns="0" bIns="0">
            <a:spAutoFit/>
          </a:bodyPr>
          <a:lstStyle/>
          <a:p>
            <a:r>
              <a:rPr sz="1150" b="0">
                <a:solidFill>
                  <a:srgbClr val="2E2E2E"/>
                </a:solidFill>
                <a:latin typeface="Calibri"/>
              </a:rPr>
              <a:t>is expected to lose</a:t>
            </a:r>
          </a:p>
        </p:txBody>
      </p:sp>
      <p:pic>
        <p:nvPicPr>
          <p:cNvPr id="33" name="Picture 32" descr="lock.png"/>
          <p:cNvPicPr>
            <a:picLocks noChangeAspect="1"/>
          </p:cNvPicPr>
          <p:nvPr/>
        </p:nvPicPr>
        <p:blipFill>
          <a:blip r:embed="rId4"/>
          <a:stretch>
            <a:fillRect/>
          </a:stretch>
        </p:blipFill>
        <p:spPr>
          <a:xfrm>
            <a:off x="1404085" y="4292409"/>
            <a:ext cx="134549" cy="195707"/>
          </a:xfrm>
          <a:prstGeom prst="rect">
            <a:avLst/>
          </a:prstGeom>
        </p:spPr>
      </p:pic>
      <p:sp>
        <p:nvSpPr>
          <p:cNvPr id="34" name="TextBox 33"/>
          <p:cNvSpPr txBox="1"/>
          <p:nvPr/>
        </p:nvSpPr>
        <p:spPr>
          <a:xfrm>
            <a:off x="15791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166699" y="4292409"/>
            <a:ext cx="134549" cy="195707"/>
          </a:xfrm>
          <a:prstGeom prst="rect">
            <a:avLst/>
          </a:prstGeom>
        </p:spPr>
      </p:pic>
      <p:sp>
        <p:nvSpPr>
          <p:cNvPr id="36" name="TextBox 35"/>
          <p:cNvSpPr txBox="1"/>
          <p:nvPr/>
        </p:nvSpPr>
        <p:spPr>
          <a:xfrm>
            <a:off x="43418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Hold Level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Hold Level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Hold Level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03580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03103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9548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Extra-strong Hold</a:t>
            </a:r>
          </a:p>
        </p:txBody>
      </p:sp>
      <p:sp>
        <p:nvSpPr>
          <p:cNvPr id="19" name="BPS Value 1"/>
          <p:cNvSpPr txBox="1"/>
          <p:nvPr/>
        </p:nvSpPr>
        <p:spPr>
          <a:xfrm>
            <a:off x="6896100" y="20167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85176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84699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7707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Strong Hold</a:t>
            </a:r>
          </a:p>
        </p:txBody>
      </p:sp>
      <p:sp>
        <p:nvSpPr>
          <p:cNvPr id="23" name="BPS Value 2"/>
          <p:cNvSpPr txBox="1"/>
          <p:nvPr/>
        </p:nvSpPr>
        <p:spPr>
          <a:xfrm>
            <a:off x="6896100" y="283271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761664"/>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7569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68070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No Hold</a:t>
            </a:r>
          </a:p>
        </p:txBody>
      </p:sp>
      <p:sp>
        <p:nvSpPr>
          <p:cNvPr id="27" name="BPS Value 3"/>
          <p:cNvSpPr txBox="1"/>
          <p:nvPr/>
        </p:nvSpPr>
        <p:spPr>
          <a:xfrm>
            <a:off x="6896100" y="37426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72343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7186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46424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Medium Hold</a:t>
            </a:r>
          </a:p>
        </p:txBody>
      </p:sp>
      <p:sp>
        <p:nvSpPr>
          <p:cNvPr id="31" name="BPS Value 4"/>
          <p:cNvSpPr txBox="1"/>
          <p:nvPr/>
        </p:nvSpPr>
        <p:spPr>
          <a:xfrm>
            <a:off x="6896100" y="470438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73517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73041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565421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Light or Flexible Hold</a:t>
            </a:r>
          </a:p>
        </p:txBody>
      </p:sp>
      <p:sp>
        <p:nvSpPr>
          <p:cNvPr id="35" name="BPS Value 5"/>
          <p:cNvSpPr txBox="1"/>
          <p:nvPr/>
        </p:nvSpPr>
        <p:spPr>
          <a:xfrm>
            <a:off x="6896100" y="571612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Hold Level</a:t>
            </a:r>
          </a:p>
        </p:txBody>
      </p:sp>
      <p:sp>
        <p:nvSpPr>
          <p:cNvPr id="38" name="Rectangle 37"/>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TextBox 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1" name="Picture 40" descr="lock.png"/>
          <p:cNvPicPr>
            <a:picLocks noChangeAspect="1"/>
          </p:cNvPicPr>
          <p:nvPr/>
        </p:nvPicPr>
        <p:blipFill>
          <a:blip r:embed="rId5"/>
          <a:stretch>
            <a:fillRect/>
          </a:stretch>
        </p:blipFill>
        <p:spPr>
          <a:xfrm>
            <a:off x="2557843" y="3833622"/>
            <a:ext cx="275034" cy="400050"/>
          </a:xfrm>
          <a:prstGeom prst="rect">
            <a:avLst/>
          </a:prstGeom>
        </p:spPr>
      </p:pic>
      <p:sp>
        <p:nvSpPr>
          <p:cNvPr id="42" name="TextBox 41"/>
          <p:cNvSpPr txBox="1"/>
          <p:nvPr/>
        </p:nvSpPr>
        <p:spPr>
          <a:xfrm>
            <a:off x="7829550" y="1400175"/>
            <a:ext cx="3780792" cy="194310"/>
          </a:xfrm>
          <a:prstGeom prst="rect">
            <a:avLst/>
          </a:prstGeom>
          <a:noFill/>
        </p:spPr>
        <p:txBody>
          <a:bodyPr wrap="none" lIns="0" rIns="0" tIns="0" bIns="0">
            <a:spAutoFit/>
          </a:bodyPr>
          <a:lstStyle/>
          <a:p>
            <a:r>
              <a:rPr sz="1150" b="0">
                <a:solidFill>
                  <a:srgbClr val="2E2E2E"/>
                </a:solidFill>
                <a:latin typeface="Calibri"/>
              </a:rPr>
              <a:t>Among hair styling products by hold level, light or flexible hold</a:t>
            </a:r>
          </a:p>
        </p:txBody>
      </p:sp>
      <p:sp>
        <p:nvSpPr>
          <p:cNvPr id="43" name="TextBox 42"/>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4" name="Picture 43" descr="lock.png"/>
          <p:cNvPicPr>
            <a:picLocks noChangeAspect="1"/>
          </p:cNvPicPr>
          <p:nvPr/>
        </p:nvPicPr>
        <p:blipFill>
          <a:blip r:embed="rId5"/>
          <a:stretch>
            <a:fillRect/>
          </a:stretch>
        </p:blipFill>
        <p:spPr>
          <a:xfrm>
            <a:off x="10935343" y="1565211"/>
            <a:ext cx="134549" cy="195707"/>
          </a:xfrm>
          <a:prstGeom prst="rect">
            <a:avLst/>
          </a:prstGeom>
        </p:spPr>
      </p:pic>
      <p:sp>
        <p:nvSpPr>
          <p:cNvPr id="45" name="TextBox 44"/>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6" name="TextBox 45"/>
          <p:cNvSpPr txBox="1"/>
          <p:nvPr/>
        </p:nvSpPr>
        <p:spPr>
          <a:xfrm>
            <a:off x="7829550" y="1750695"/>
            <a:ext cx="3919996" cy="194310"/>
          </a:xfrm>
          <a:prstGeom prst="rect">
            <a:avLst/>
          </a:prstGeom>
          <a:noFill/>
        </p:spPr>
        <p:txBody>
          <a:bodyPr wrap="none" lIns="0" rIns="0" tIns="0" bIns="0">
            <a:spAutoFit/>
          </a:bodyPr>
          <a:lstStyle/>
          <a:p>
            <a:r>
              <a:rPr sz="1150" b="0">
                <a:solidFill>
                  <a:srgbClr val="2E2E2E"/>
                </a:solidFill>
                <a:latin typeface="Calibri"/>
              </a:rPr>
              <a:t>forecast period. In terms of value share by hold level, the light or</a:t>
            </a:r>
          </a:p>
        </p:txBody>
      </p:sp>
      <p:sp>
        <p:nvSpPr>
          <p:cNvPr id="47" name="TextBox 46"/>
          <p:cNvSpPr txBox="1"/>
          <p:nvPr/>
        </p:nvSpPr>
        <p:spPr>
          <a:xfrm>
            <a:off x="7829550" y="1925955"/>
            <a:ext cx="4007284" cy="194310"/>
          </a:xfrm>
          <a:prstGeom prst="rect">
            <a:avLst/>
          </a:prstGeom>
          <a:noFill/>
        </p:spPr>
        <p:txBody>
          <a:bodyPr wrap="none" lIns="0" rIns="0" tIns="0" bIns="0">
            <a:spAutoFit/>
          </a:bodyPr>
          <a:lstStyle/>
          <a:p>
            <a:r>
              <a:rPr sz="1150" b="0">
                <a:solidFill>
                  <a:srgbClr val="2E2E2E"/>
                </a:solidFill>
                <a:latin typeface="Calibri"/>
              </a:rPr>
              <a:t>flexible hold segment is expected to dominate the market, gaining</a:t>
            </a:r>
          </a:p>
        </p:txBody>
      </p:sp>
      <p:pic>
        <p:nvPicPr>
          <p:cNvPr id="48" name="Picture 47" descr="lock.png"/>
          <p:cNvPicPr>
            <a:picLocks noChangeAspect="1"/>
          </p:cNvPicPr>
          <p:nvPr/>
        </p:nvPicPr>
        <p:blipFill>
          <a:blip r:embed="rId5"/>
          <a:stretch>
            <a:fillRect/>
          </a:stretch>
        </p:blipFill>
        <p:spPr>
          <a:xfrm>
            <a:off x="7815470" y="2090991"/>
            <a:ext cx="134549" cy="195707"/>
          </a:xfrm>
          <a:prstGeom prst="rect">
            <a:avLst/>
          </a:prstGeom>
        </p:spPr>
      </p:pic>
      <p:sp>
        <p:nvSpPr>
          <p:cNvPr id="49" name="TextBox 48"/>
          <p:cNvSpPr txBox="1"/>
          <p:nvPr/>
        </p:nvSpPr>
        <p:spPr>
          <a:xfrm>
            <a:off x="7990579"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385722" y="2090991"/>
            <a:ext cx="134549" cy="195707"/>
          </a:xfrm>
          <a:prstGeom prst="rect">
            <a:avLst/>
          </a:prstGeom>
        </p:spPr>
      </p:pic>
      <p:sp>
        <p:nvSpPr>
          <p:cNvPr id="51" name="TextBox 50"/>
          <p:cNvSpPr txBox="1"/>
          <p:nvPr/>
        </p:nvSpPr>
        <p:spPr>
          <a:xfrm>
            <a:off x="956083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3040273" cy="194310"/>
          </a:xfrm>
          <a:prstGeom prst="rect">
            <a:avLst/>
          </a:prstGeom>
          <a:noFill/>
        </p:spPr>
        <p:txBody>
          <a:bodyPr wrap="none" lIns="0" rIns="0" tIns="0" bIns="0">
            <a:spAutoFit/>
          </a:bodyPr>
          <a:lstStyle/>
          <a:p>
            <a:r>
              <a:rPr sz="1150" b="0">
                <a:solidFill>
                  <a:srgbClr val="2E2E2E"/>
                </a:solidFill>
                <a:latin typeface="Calibri"/>
              </a:rPr>
              <a:t>The extra-strong hold segment is expected to lose</a:t>
            </a:r>
          </a:p>
        </p:txBody>
      </p:sp>
      <p:pic>
        <p:nvPicPr>
          <p:cNvPr id="53" name="Picture 52" descr="lock.png"/>
          <p:cNvPicPr>
            <a:picLocks noChangeAspect="1"/>
          </p:cNvPicPr>
          <p:nvPr/>
        </p:nvPicPr>
        <p:blipFill>
          <a:blip r:embed="rId5"/>
          <a:stretch>
            <a:fillRect/>
          </a:stretch>
        </p:blipFill>
        <p:spPr>
          <a:xfrm>
            <a:off x="10818977" y="2318829"/>
            <a:ext cx="134549" cy="195707"/>
          </a:xfrm>
          <a:prstGeom prst="rect">
            <a:avLst/>
          </a:prstGeom>
        </p:spPr>
      </p:pic>
      <p:sp>
        <p:nvSpPr>
          <p:cNvPr id="54" name="TextBox 53"/>
          <p:cNvSpPr txBox="1"/>
          <p:nvPr/>
        </p:nvSpPr>
        <p:spPr>
          <a:xfrm>
            <a:off x="10994086"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5" name="TextBox 54"/>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6" name="Picture 55" descr="lock.png"/>
          <p:cNvPicPr>
            <a:picLocks noChangeAspect="1"/>
          </p:cNvPicPr>
          <p:nvPr/>
        </p:nvPicPr>
        <p:blipFill>
          <a:blip r:embed="rId5"/>
          <a:stretch>
            <a:fillRect/>
          </a:stretch>
        </p:blipFill>
        <p:spPr>
          <a:xfrm>
            <a:off x="9630324" y="2494089"/>
            <a:ext cx="134549" cy="195707"/>
          </a:xfrm>
          <a:prstGeom prst="rect">
            <a:avLst/>
          </a:prstGeom>
        </p:spPr>
      </p:pic>
      <p:sp>
        <p:nvSpPr>
          <p:cNvPr id="57" name="TextBox 56"/>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Finish</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Finish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Finish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3 sub-segments of Finish,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Finish segment categorizes the market by finish.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Natural</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Matte</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Glossy or Wet-look</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Finish split shows how demand is distributed across finish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1_713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2_923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5_5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1_668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2_992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6_0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1_639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3_125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6_7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742505" cy="186689"/>
          </a:xfrm>
          <a:prstGeom prst="rect">
            <a:avLst/>
          </a:prstGeom>
          <a:noFill/>
        </p:spPr>
        <p:txBody>
          <a:bodyPr wrap="none" lIns="0" rIns="0" tIns="0" bIns="0">
            <a:spAutoFit/>
          </a:bodyPr>
          <a:lstStyle/>
          <a:p>
            <a:r>
              <a:rPr sz="1100" b="0">
                <a:solidFill>
                  <a:srgbClr val="2E2E2E"/>
                </a:solidFill>
                <a:latin typeface="Calibri"/>
              </a:rPr>
              <a:t>Among hair styling products by finish, glossy or</a:t>
            </a:r>
          </a:p>
        </p:txBody>
      </p:sp>
      <p:sp>
        <p:nvSpPr>
          <p:cNvPr id="70" name="TextBox 69"/>
          <p:cNvSpPr txBox="1"/>
          <p:nvPr/>
        </p:nvSpPr>
        <p:spPr>
          <a:xfrm>
            <a:off x="485775" y="4397077"/>
            <a:ext cx="2610445" cy="186689"/>
          </a:xfrm>
          <a:prstGeom prst="rect">
            <a:avLst/>
          </a:prstGeom>
          <a:noFill/>
        </p:spPr>
        <p:txBody>
          <a:bodyPr wrap="none" lIns="0" rIns="0" tIns="0" bIns="0">
            <a:spAutoFit/>
          </a:bodyPr>
          <a:lstStyle/>
          <a:p>
            <a:r>
              <a:rPr sz="1100" b="0">
                <a:solidFill>
                  <a:srgbClr val="2E2E2E"/>
                </a:solidFill>
                <a:latin typeface="Calibri"/>
              </a:rPr>
              <a:t>wet-look segment is expected to witness the</a:t>
            </a:r>
          </a:p>
        </p:txBody>
      </p:sp>
      <p:sp>
        <p:nvSpPr>
          <p:cNvPr id="71" name="TextBox 70"/>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72" name="Picture 71" descr="lock.png"/>
          <p:cNvPicPr>
            <a:picLocks noChangeAspect="1"/>
          </p:cNvPicPr>
          <p:nvPr/>
        </p:nvPicPr>
        <p:blipFill>
          <a:blip r:embed="rId13"/>
          <a:stretch>
            <a:fillRect/>
          </a:stretch>
        </p:blipFill>
        <p:spPr>
          <a:xfrm>
            <a:off x="1424607" y="4554938"/>
            <a:ext cx="128699" cy="187198"/>
          </a:xfrm>
          <a:prstGeom prst="rect">
            <a:avLst/>
          </a:prstGeom>
        </p:spPr>
      </p:pic>
      <p:sp>
        <p:nvSpPr>
          <p:cNvPr id="73" name="TextBox 72"/>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74" name="TextBox 73"/>
          <p:cNvSpPr txBox="1"/>
          <p:nvPr/>
        </p:nvSpPr>
        <p:spPr>
          <a:xfrm>
            <a:off x="485775" y="4732357"/>
            <a:ext cx="2531864" cy="186689"/>
          </a:xfrm>
          <a:prstGeom prst="rect">
            <a:avLst/>
          </a:prstGeom>
          <a:noFill/>
        </p:spPr>
        <p:txBody>
          <a:bodyPr wrap="none" lIns="0" rIns="0" tIns="0" bIns="0">
            <a:spAutoFit/>
          </a:bodyPr>
          <a:lstStyle/>
          <a:p>
            <a:r>
              <a:rPr sz="1100" b="0">
                <a:solidFill>
                  <a:srgbClr val="2E2E2E"/>
                </a:solidFill>
                <a:latin typeface="Calibri"/>
              </a:rPr>
              <a:t>terms of value share by finish, the glossy or</a:t>
            </a:r>
          </a:p>
        </p:txBody>
      </p:sp>
      <p:sp>
        <p:nvSpPr>
          <p:cNvPr id="75" name="TextBox 74"/>
          <p:cNvSpPr txBox="1"/>
          <p:nvPr/>
        </p:nvSpPr>
        <p:spPr>
          <a:xfrm>
            <a:off x="485775" y="4899997"/>
            <a:ext cx="2726952" cy="186689"/>
          </a:xfrm>
          <a:prstGeom prst="rect">
            <a:avLst/>
          </a:prstGeom>
          <a:noFill/>
        </p:spPr>
        <p:txBody>
          <a:bodyPr wrap="none" lIns="0" rIns="0" tIns="0" bIns="0">
            <a:spAutoFit/>
          </a:bodyPr>
          <a:lstStyle/>
          <a:p>
            <a:r>
              <a:rPr sz="1100" b="0">
                <a:solidFill>
                  <a:srgbClr val="2E2E2E"/>
                </a:solidFill>
                <a:latin typeface="Calibri"/>
              </a:rPr>
              <a:t>wet-look segment is expected to dominate the</a:t>
            </a:r>
          </a:p>
        </p:txBody>
      </p:sp>
      <p:sp>
        <p:nvSpPr>
          <p:cNvPr id="76" name="TextBox 75"/>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77" name="Picture 76" descr="lock.png"/>
          <p:cNvPicPr>
            <a:picLocks noChangeAspect="1"/>
          </p:cNvPicPr>
          <p:nvPr/>
        </p:nvPicPr>
        <p:blipFill>
          <a:blip r:embed="rId13"/>
          <a:stretch>
            <a:fillRect/>
          </a:stretch>
        </p:blipFill>
        <p:spPr>
          <a:xfrm>
            <a:off x="1393519" y="5057858"/>
            <a:ext cx="128699" cy="187198"/>
          </a:xfrm>
          <a:prstGeom prst="rect">
            <a:avLst/>
          </a:prstGeom>
        </p:spPr>
      </p:pic>
      <p:sp>
        <p:nvSpPr>
          <p:cNvPr id="78" name="TextBox 77"/>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79" name="Picture 78" descr="lock.png"/>
          <p:cNvPicPr>
            <a:picLocks noChangeAspect="1"/>
          </p:cNvPicPr>
          <p:nvPr/>
        </p:nvPicPr>
        <p:blipFill>
          <a:blip r:embed="rId13"/>
          <a:stretch>
            <a:fillRect/>
          </a:stretch>
        </p:blipFill>
        <p:spPr>
          <a:xfrm>
            <a:off x="2895500" y="5057858"/>
            <a:ext cx="128699" cy="187198"/>
          </a:xfrm>
          <a:prstGeom prst="rect">
            <a:avLst/>
          </a:prstGeom>
        </p:spPr>
      </p:pic>
      <p:sp>
        <p:nvSpPr>
          <p:cNvPr id="80" name="TextBox 79"/>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81" name="TextBox 80"/>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Glossy or wet-look segment is projected to register</a:t>
            </a:r>
          </a:p>
        </p:txBody>
      </p:sp>
      <p:pic>
        <p:nvPicPr>
          <p:cNvPr id="82" name="Picture 81" descr="lock.png"/>
          <p:cNvPicPr>
            <a:picLocks noChangeAspect="1"/>
          </p:cNvPicPr>
          <p:nvPr/>
        </p:nvPicPr>
        <p:blipFill>
          <a:blip r:embed="rId13"/>
          <a:stretch>
            <a:fillRect/>
          </a:stretch>
        </p:blipFill>
        <p:spPr>
          <a:xfrm>
            <a:off x="472307" y="5611070"/>
            <a:ext cx="128699" cy="187198"/>
          </a:xfrm>
          <a:prstGeom prst="rect">
            <a:avLst/>
          </a:prstGeom>
        </p:spPr>
      </p:pic>
      <p:sp>
        <p:nvSpPr>
          <p:cNvPr id="83" name="TextBox 82"/>
          <p:cNvSpPr txBox="1"/>
          <p:nvPr/>
        </p:nvSpPr>
        <p:spPr>
          <a:xfrm>
            <a:off x="639803" y="5620849"/>
            <a:ext cx="2556966" cy="186689"/>
          </a:xfrm>
          <a:prstGeom prst="rect">
            <a:avLst/>
          </a:prstGeom>
          <a:noFill/>
        </p:spPr>
        <p:txBody>
          <a:bodyPr wrap="none" lIns="0" rIns="0" tIns="0" bIns="0">
            <a:spAutoFit/>
          </a:bodyPr>
          <a:lstStyle/>
          <a:p>
            <a:r>
              <a:rPr sz="1100" b="0">
                <a:solidFill>
                  <a:srgbClr val="2E2E2E"/>
                </a:solidFill>
                <a:latin typeface="Calibri"/>
              </a:rPr>
              <a:t>X higher value than matte segment in 2036.</a:t>
            </a:r>
          </a:p>
        </p:txBody>
      </p:sp>
      <p:sp>
        <p:nvSpPr>
          <p:cNvPr id="84" name="TextBox 83"/>
          <p:cNvSpPr txBox="1"/>
          <p:nvPr/>
        </p:nvSpPr>
        <p:spPr>
          <a:xfrm>
            <a:off x="3838575" y="4229437"/>
            <a:ext cx="654918" cy="186689"/>
          </a:xfrm>
          <a:prstGeom prst="rect">
            <a:avLst/>
          </a:prstGeom>
          <a:noFill/>
        </p:spPr>
        <p:txBody>
          <a:bodyPr wrap="none" lIns="0" rIns="0" tIns="0" bIns="0">
            <a:spAutoFit/>
          </a:bodyPr>
          <a:lstStyle/>
          <a:p>
            <a:r>
              <a:rPr sz="1100" b="0">
                <a:solidFill>
                  <a:srgbClr val="2E2E2E"/>
                </a:solidFill>
                <a:latin typeface="Calibri"/>
              </a:rPr>
              <a:t>● Natural:</a:t>
            </a:r>
          </a:p>
        </p:txBody>
      </p:sp>
      <p:pic>
        <p:nvPicPr>
          <p:cNvPr id="85" name="Picture 84" descr="lock.png"/>
          <p:cNvPicPr>
            <a:picLocks noChangeAspect="1"/>
          </p:cNvPicPr>
          <p:nvPr/>
        </p:nvPicPr>
        <p:blipFill>
          <a:blip r:embed="rId13"/>
          <a:stretch>
            <a:fillRect/>
          </a:stretch>
        </p:blipFill>
        <p:spPr>
          <a:xfrm>
            <a:off x="4441544" y="4219658"/>
            <a:ext cx="128699" cy="187198"/>
          </a:xfrm>
          <a:prstGeom prst="rect">
            <a:avLst/>
          </a:prstGeom>
        </p:spPr>
      </p:pic>
      <p:sp>
        <p:nvSpPr>
          <p:cNvPr id="86" name="TextBox 85"/>
          <p:cNvSpPr txBox="1"/>
          <p:nvPr/>
        </p:nvSpPr>
        <p:spPr>
          <a:xfrm>
            <a:off x="460904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13"/>
          <a:stretch>
            <a:fillRect/>
          </a:stretch>
        </p:blipFill>
        <p:spPr>
          <a:xfrm>
            <a:off x="5468490" y="4219658"/>
            <a:ext cx="128699" cy="187198"/>
          </a:xfrm>
          <a:prstGeom prst="rect">
            <a:avLst/>
          </a:prstGeom>
        </p:spPr>
      </p:pic>
      <p:sp>
        <p:nvSpPr>
          <p:cNvPr id="88" name="TextBox 87"/>
          <p:cNvSpPr txBox="1"/>
          <p:nvPr/>
        </p:nvSpPr>
        <p:spPr>
          <a:xfrm>
            <a:off x="563598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9" name="TextBox 88"/>
          <p:cNvSpPr txBox="1"/>
          <p:nvPr/>
        </p:nvSpPr>
        <p:spPr>
          <a:xfrm>
            <a:off x="3838575" y="4447369"/>
            <a:ext cx="579338" cy="186689"/>
          </a:xfrm>
          <a:prstGeom prst="rect">
            <a:avLst/>
          </a:prstGeom>
          <a:noFill/>
        </p:spPr>
        <p:txBody>
          <a:bodyPr wrap="none" lIns="0" rIns="0" tIns="0" bIns="0">
            <a:spAutoFit/>
          </a:bodyPr>
          <a:lstStyle/>
          <a:p>
            <a:r>
              <a:rPr sz="1100" b="0">
                <a:solidFill>
                  <a:srgbClr val="2E2E2E"/>
                </a:solidFill>
                <a:latin typeface="Calibri"/>
              </a:rPr>
              <a:t>● Matte:</a:t>
            </a:r>
          </a:p>
        </p:txBody>
      </p:sp>
      <p:pic>
        <p:nvPicPr>
          <p:cNvPr id="90" name="Picture 89" descr="lock.png"/>
          <p:cNvPicPr>
            <a:picLocks noChangeAspect="1"/>
          </p:cNvPicPr>
          <p:nvPr/>
        </p:nvPicPr>
        <p:blipFill>
          <a:blip r:embed="rId13"/>
          <a:stretch>
            <a:fillRect/>
          </a:stretch>
        </p:blipFill>
        <p:spPr>
          <a:xfrm>
            <a:off x="4365964" y="4437590"/>
            <a:ext cx="128699" cy="187198"/>
          </a:xfrm>
          <a:prstGeom prst="rect">
            <a:avLst/>
          </a:prstGeom>
        </p:spPr>
      </p:pic>
      <p:sp>
        <p:nvSpPr>
          <p:cNvPr id="91" name="TextBox 90"/>
          <p:cNvSpPr txBox="1"/>
          <p:nvPr/>
        </p:nvSpPr>
        <p:spPr>
          <a:xfrm>
            <a:off x="453346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2" name="Picture 91" descr="lock.png"/>
          <p:cNvPicPr>
            <a:picLocks noChangeAspect="1"/>
          </p:cNvPicPr>
          <p:nvPr/>
        </p:nvPicPr>
        <p:blipFill>
          <a:blip r:embed="rId13"/>
          <a:stretch>
            <a:fillRect/>
          </a:stretch>
        </p:blipFill>
        <p:spPr>
          <a:xfrm>
            <a:off x="5392910" y="4437590"/>
            <a:ext cx="128699" cy="187198"/>
          </a:xfrm>
          <a:prstGeom prst="rect">
            <a:avLst/>
          </a:prstGeom>
        </p:spPr>
      </p:pic>
      <p:sp>
        <p:nvSpPr>
          <p:cNvPr id="93" name="TextBox 92"/>
          <p:cNvSpPr txBox="1"/>
          <p:nvPr/>
        </p:nvSpPr>
        <p:spPr>
          <a:xfrm>
            <a:off x="5560406"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4" name="TextBox 93"/>
          <p:cNvSpPr txBox="1"/>
          <p:nvPr/>
        </p:nvSpPr>
        <p:spPr>
          <a:xfrm>
            <a:off x="3838575" y="4665301"/>
            <a:ext cx="1308670" cy="186689"/>
          </a:xfrm>
          <a:prstGeom prst="rect">
            <a:avLst/>
          </a:prstGeom>
          <a:noFill/>
        </p:spPr>
        <p:txBody>
          <a:bodyPr wrap="none" lIns="0" rIns="0" tIns="0" bIns="0">
            <a:spAutoFit/>
          </a:bodyPr>
          <a:lstStyle/>
          <a:p>
            <a:r>
              <a:rPr sz="1100" b="0">
                <a:solidFill>
                  <a:srgbClr val="2E2E2E"/>
                </a:solidFill>
                <a:latin typeface="Calibri"/>
              </a:rPr>
              <a:t>● Glossy or Wet-look:</a:t>
            </a:r>
          </a:p>
        </p:txBody>
      </p:sp>
      <p:pic>
        <p:nvPicPr>
          <p:cNvPr id="95" name="Picture 94" descr="lock.png"/>
          <p:cNvPicPr>
            <a:picLocks noChangeAspect="1"/>
          </p:cNvPicPr>
          <p:nvPr/>
        </p:nvPicPr>
        <p:blipFill>
          <a:blip r:embed="rId13"/>
          <a:stretch>
            <a:fillRect/>
          </a:stretch>
        </p:blipFill>
        <p:spPr>
          <a:xfrm>
            <a:off x="5095297" y="4655522"/>
            <a:ext cx="128699" cy="187198"/>
          </a:xfrm>
          <a:prstGeom prst="rect">
            <a:avLst/>
          </a:prstGeom>
        </p:spPr>
      </p:pic>
      <p:sp>
        <p:nvSpPr>
          <p:cNvPr id="96" name="TextBox 95"/>
          <p:cNvSpPr txBox="1"/>
          <p:nvPr/>
        </p:nvSpPr>
        <p:spPr>
          <a:xfrm>
            <a:off x="5262792"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3"/>
          <a:stretch>
            <a:fillRect/>
          </a:stretch>
        </p:blipFill>
        <p:spPr>
          <a:xfrm>
            <a:off x="6122243" y="4655522"/>
            <a:ext cx="128699" cy="187198"/>
          </a:xfrm>
          <a:prstGeom prst="rect">
            <a:avLst/>
          </a:prstGeom>
        </p:spPr>
      </p:pic>
      <p:sp>
        <p:nvSpPr>
          <p:cNvPr id="98" name="TextBox 97"/>
          <p:cNvSpPr txBox="1"/>
          <p:nvPr/>
        </p:nvSpPr>
        <p:spPr>
          <a:xfrm>
            <a:off x="6289738"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9" name="TextBox 98"/>
          <p:cNvSpPr txBox="1"/>
          <p:nvPr/>
        </p:nvSpPr>
        <p:spPr>
          <a:xfrm>
            <a:off x="8524875" y="5842641"/>
            <a:ext cx="3126963" cy="194310"/>
          </a:xfrm>
          <a:prstGeom prst="rect">
            <a:avLst/>
          </a:prstGeom>
          <a:noFill/>
        </p:spPr>
        <p:txBody>
          <a:bodyPr wrap="none" lIns="0" rIns="0" tIns="0" bIns="0">
            <a:spAutoFit/>
          </a:bodyPr>
          <a:lstStyle/>
          <a:p>
            <a:r>
              <a:rPr sz="1150" b="1">
                <a:solidFill>
                  <a:srgbClr val="0B2E4A"/>
                </a:solidFill>
                <a:latin typeface="Calibri"/>
              </a:rPr>
              <a:t>The Finish segment is projected to grow at a CAGR</a:t>
            </a:r>
          </a:p>
        </p:txBody>
      </p:sp>
      <p:sp>
        <p:nvSpPr>
          <p:cNvPr id="100" name="TextBox 99"/>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01" name="Picture 100" descr="lock.png"/>
          <p:cNvPicPr>
            <a:picLocks noChangeAspect="1"/>
          </p:cNvPicPr>
          <p:nvPr/>
        </p:nvPicPr>
        <p:blipFill>
          <a:blip r:embed="rId13"/>
          <a:stretch>
            <a:fillRect/>
          </a:stretch>
        </p:blipFill>
        <p:spPr>
          <a:xfrm>
            <a:off x="8674884" y="6007677"/>
            <a:ext cx="134549" cy="195707"/>
          </a:xfrm>
          <a:prstGeom prst="rect">
            <a:avLst/>
          </a:prstGeom>
        </p:spPr>
      </p:pic>
      <p:sp>
        <p:nvSpPr>
          <p:cNvPr id="102" name="TextBox 101"/>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Finish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Finish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Finish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Finish · Bubble size represents 2036 value</a:t>
            </a:r>
          </a:p>
        </p:txBody>
      </p:sp>
      <p:graphicFrame>
        <p:nvGraphicFramePr>
          <p:cNvPr id="16" name="Chart 15"/>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777865"/>
            <a:ext cx="11416456" cy="186689"/>
          </a:xfrm>
          <a:prstGeom prst="rect">
            <a:avLst/>
          </a:prstGeom>
          <a:noFill/>
        </p:spPr>
        <p:txBody>
          <a:bodyPr wrap="none" lIns="0" rIns="0" tIns="0" bIns="0">
            <a:spAutoFit/>
          </a:bodyPr>
          <a:lstStyle/>
          <a:p>
            <a:r>
              <a:rPr sz="1100" b="0">
                <a:solidFill>
                  <a:srgbClr val="2E2E2E"/>
                </a:solidFill>
                <a:latin typeface="Calibri"/>
              </a:rPr>
              <a:t>Glossy or wet-look followed by matte are expected to be the two most attractive finish segments in the North America hair styling products market in terms of value over the forecast period. Glossy or</a:t>
            </a:r>
          </a:p>
        </p:txBody>
      </p:sp>
      <p:sp>
        <p:nvSpPr>
          <p:cNvPr id="21" name="TextBox 20"/>
          <p:cNvSpPr txBox="1"/>
          <p:nvPr/>
        </p:nvSpPr>
        <p:spPr>
          <a:xfrm>
            <a:off x="257175" y="5945505"/>
            <a:ext cx="2555312" cy="186689"/>
          </a:xfrm>
          <a:prstGeom prst="rect">
            <a:avLst/>
          </a:prstGeom>
          <a:noFill/>
        </p:spPr>
        <p:txBody>
          <a:bodyPr wrap="none" lIns="0" rIns="0" tIns="0" bIns="0">
            <a:spAutoFit/>
          </a:bodyPr>
          <a:lstStyle/>
          <a:p>
            <a:r>
              <a:rPr sz="1100" b="0">
                <a:solidFill>
                  <a:srgbClr val="2E2E2E"/>
                </a:solidFill>
                <a:latin typeface="Calibri"/>
              </a:rPr>
              <a:t>wet-look and matte exhibit a CAGR index of</a:t>
            </a:r>
          </a:p>
        </p:txBody>
      </p:sp>
      <p:pic>
        <p:nvPicPr>
          <p:cNvPr id="22" name="Picture 21" descr="lock.png"/>
          <p:cNvPicPr>
            <a:picLocks noChangeAspect="1"/>
          </p:cNvPicPr>
          <p:nvPr/>
        </p:nvPicPr>
        <p:blipFill>
          <a:blip r:embed="rId6"/>
          <a:stretch>
            <a:fillRect/>
          </a:stretch>
        </p:blipFill>
        <p:spPr>
          <a:xfrm>
            <a:off x="2760538" y="5935726"/>
            <a:ext cx="128699" cy="187198"/>
          </a:xfrm>
          <a:prstGeom prst="rect">
            <a:avLst/>
          </a:prstGeom>
        </p:spPr>
      </p:pic>
      <p:sp>
        <p:nvSpPr>
          <p:cNvPr id="23" name="TextBox 22"/>
          <p:cNvSpPr txBox="1"/>
          <p:nvPr/>
        </p:nvSpPr>
        <p:spPr>
          <a:xfrm>
            <a:off x="292803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3165929" y="5935726"/>
            <a:ext cx="128699" cy="187198"/>
          </a:xfrm>
          <a:prstGeom prst="rect">
            <a:avLst/>
          </a:prstGeom>
        </p:spPr>
      </p:pic>
      <p:sp>
        <p:nvSpPr>
          <p:cNvPr id="25" name="TextBox 24"/>
          <p:cNvSpPr txBox="1"/>
          <p:nvPr/>
        </p:nvSpPr>
        <p:spPr>
          <a:xfrm>
            <a:off x="3333424"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4942398" y="5935726"/>
            <a:ext cx="128699" cy="187198"/>
          </a:xfrm>
          <a:prstGeom prst="rect">
            <a:avLst/>
          </a:prstGeom>
        </p:spPr>
      </p:pic>
      <p:sp>
        <p:nvSpPr>
          <p:cNvPr id="27" name="TextBox 26"/>
          <p:cNvSpPr txBox="1"/>
          <p:nvPr/>
        </p:nvSpPr>
        <p:spPr>
          <a:xfrm>
            <a:off x="510989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5347788" y="5935726"/>
            <a:ext cx="128699" cy="187198"/>
          </a:xfrm>
          <a:prstGeom prst="rect">
            <a:avLst/>
          </a:prstGeom>
        </p:spPr>
      </p:pic>
      <p:sp>
        <p:nvSpPr>
          <p:cNvPr id="29" name="TextBox 28"/>
          <p:cNvSpPr txBox="1"/>
          <p:nvPr/>
        </p:nvSpPr>
        <p:spPr>
          <a:xfrm>
            <a:off x="5515284"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8069688" y="5935726"/>
            <a:ext cx="128699" cy="187198"/>
          </a:xfrm>
          <a:prstGeom prst="rect">
            <a:avLst/>
          </a:prstGeom>
        </p:spPr>
      </p:pic>
      <p:sp>
        <p:nvSpPr>
          <p:cNvPr id="31" name="TextBox 30"/>
          <p:cNvSpPr txBox="1"/>
          <p:nvPr/>
        </p:nvSpPr>
        <p:spPr>
          <a:xfrm>
            <a:off x="8237184" y="5945505"/>
            <a:ext cx="3138140" cy="186689"/>
          </a:xfrm>
          <a:prstGeom prst="rect">
            <a:avLst/>
          </a:prstGeom>
          <a:noFill/>
        </p:spPr>
        <p:txBody>
          <a:bodyPr wrap="none" lIns="0" rIns="0" tIns="0" bIns="0">
            <a:spAutoFit/>
          </a:bodyPr>
          <a:lstStyle/>
          <a:p>
            <a:r>
              <a:rPr sz="1100" b="0">
                <a:solidFill>
                  <a:srgbClr val="2E2E2E"/>
                </a:solidFill>
                <a:latin typeface="Calibri"/>
              </a:rPr>
              <a:t>. The natural segment is expected to be less attractive</a:t>
            </a:r>
          </a:p>
        </p:txBody>
      </p:sp>
      <p:sp>
        <p:nvSpPr>
          <p:cNvPr id="32" name="TextBox 31"/>
          <p:cNvSpPr txBox="1"/>
          <p:nvPr/>
        </p:nvSpPr>
        <p:spPr>
          <a:xfrm>
            <a:off x="257175" y="6113145"/>
            <a:ext cx="10759395" cy="186689"/>
          </a:xfrm>
          <a:prstGeom prst="rect">
            <a:avLst/>
          </a:prstGeom>
          <a:noFill/>
        </p:spPr>
        <p:txBody>
          <a:bodyPr wrap="none" lIns="0" rIns="0" tIns="0" bIns="0">
            <a:spAutoFit/>
          </a:bodyPr>
          <a:lstStyle/>
          <a:p>
            <a:r>
              <a:rPr sz="1100" b="0">
                <a:solidFill>
                  <a:srgbClr val="2E2E2E"/>
                </a:solidFill>
                <a:latin typeface="Calibri"/>
              </a:rPr>
              <a:t>as compared to other segments over the forecast period, owing to its lower CAGR and 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Finish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Finish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Matte</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Natural</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Glossy or Wet-look</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3952875"/>
            <a:ext cx="5610225" cy="20955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Finish</a:t>
            </a:r>
          </a:p>
        </p:txBody>
      </p:sp>
      <p:sp>
        <p:nvSpPr>
          <p:cNvPr id="22" name="Rectangle 21"/>
          <p:cNvSpPr/>
          <p:nvPr/>
        </p:nvSpPr>
        <p:spPr>
          <a:xfrm>
            <a:off x="6305550" y="41910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4276725"/>
            <a:ext cx="5610225" cy="22669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7"/>
          <a:stretch>
            <a:fillRect/>
          </a:stretch>
        </p:blipFill>
        <p:spPr>
          <a:xfrm>
            <a:off x="9124151" y="2237234"/>
            <a:ext cx="263506" cy="383281"/>
          </a:xfrm>
          <a:prstGeom prst="rect">
            <a:avLst/>
          </a:prstGeom>
        </p:spPr>
      </p:pic>
      <p:pic>
        <p:nvPicPr>
          <p:cNvPr id="27" name="Picture 26" descr="lock.png"/>
          <p:cNvPicPr>
            <a:picLocks noChangeAspect="1"/>
          </p:cNvPicPr>
          <p:nvPr/>
        </p:nvPicPr>
        <p:blipFill>
          <a:blip r:embed="rId7"/>
          <a:stretch>
            <a:fillRect/>
          </a:stretch>
        </p:blipFill>
        <p:spPr>
          <a:xfrm>
            <a:off x="3100230" y="5216754"/>
            <a:ext cx="252890" cy="367840"/>
          </a:xfrm>
          <a:prstGeom prst="rect">
            <a:avLst/>
          </a:prstGeom>
        </p:spPr>
      </p:pic>
      <p:sp>
        <p:nvSpPr>
          <p:cNvPr id="28" name="TextBox 27"/>
          <p:cNvSpPr txBox="1"/>
          <p:nvPr/>
        </p:nvSpPr>
        <p:spPr>
          <a:xfrm>
            <a:off x="6305550" y="4286250"/>
            <a:ext cx="4580336" cy="194310"/>
          </a:xfrm>
          <a:prstGeom prst="rect">
            <a:avLst/>
          </a:prstGeom>
          <a:noFill/>
        </p:spPr>
        <p:txBody>
          <a:bodyPr wrap="none" lIns="0" rIns="0" tIns="0" bIns="0">
            <a:spAutoFit/>
          </a:bodyPr>
          <a:lstStyle/>
          <a:p>
            <a:r>
              <a:rPr sz="1150" b="0">
                <a:solidFill>
                  <a:srgbClr val="2E2E2E"/>
                </a:solidFill>
                <a:latin typeface="Calibri"/>
              </a:rPr>
              <a:t>By 2036, glossy or wet-look segment is anticipated to witness an increase of</a:t>
            </a:r>
          </a:p>
        </p:txBody>
      </p:sp>
      <p:pic>
        <p:nvPicPr>
          <p:cNvPr id="29" name="Picture 28" descr="lock.png"/>
          <p:cNvPicPr>
            <a:picLocks noChangeAspect="1"/>
          </p:cNvPicPr>
          <p:nvPr/>
        </p:nvPicPr>
        <p:blipFill>
          <a:blip r:embed="rId7"/>
          <a:stretch>
            <a:fillRect/>
          </a:stretch>
        </p:blipFill>
        <p:spPr>
          <a:xfrm>
            <a:off x="10835040" y="4276026"/>
            <a:ext cx="134549" cy="195707"/>
          </a:xfrm>
          <a:prstGeom prst="rect">
            <a:avLst/>
          </a:prstGeom>
        </p:spPr>
      </p:pic>
      <p:sp>
        <p:nvSpPr>
          <p:cNvPr id="30" name="TextBox 29"/>
          <p:cNvSpPr txBox="1"/>
          <p:nvPr/>
        </p:nvSpPr>
        <p:spPr>
          <a:xfrm>
            <a:off x="11010150" y="428625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1" name="TextBox 30"/>
          <p:cNvSpPr txBox="1"/>
          <p:nvPr/>
        </p:nvSpPr>
        <p:spPr>
          <a:xfrm>
            <a:off x="6305550" y="4461510"/>
            <a:ext cx="5081835" cy="194310"/>
          </a:xfrm>
          <a:prstGeom prst="rect">
            <a:avLst/>
          </a:prstGeom>
          <a:noFill/>
        </p:spPr>
        <p:txBody>
          <a:bodyPr wrap="none" lIns="0" rIns="0" tIns="0" bIns="0">
            <a:spAutoFit/>
          </a:bodyPr>
          <a:lstStyle/>
          <a:p>
            <a:r>
              <a:rPr sz="1150" b="0">
                <a:solidFill>
                  <a:srgbClr val="2E2E2E"/>
                </a:solidFill>
                <a:latin typeface="Calibri"/>
              </a:rPr>
              <a:t>value as compared to 2026. The glossy or wet-look segment is expected to create an</a:t>
            </a:r>
          </a:p>
        </p:txBody>
      </p:sp>
      <p:sp>
        <p:nvSpPr>
          <p:cNvPr id="32" name="TextBox 31"/>
          <p:cNvSpPr txBox="1"/>
          <p:nvPr/>
        </p:nvSpPr>
        <p:spPr>
          <a:xfrm>
            <a:off x="6305550" y="4636770"/>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33" name="Picture 32" descr="lock.png"/>
          <p:cNvPicPr>
            <a:picLocks noChangeAspect="1"/>
          </p:cNvPicPr>
          <p:nvPr/>
        </p:nvPicPr>
        <p:blipFill>
          <a:blip r:embed="rId7"/>
          <a:stretch>
            <a:fillRect/>
          </a:stretch>
        </p:blipFill>
        <p:spPr>
          <a:xfrm>
            <a:off x="8211582" y="4626546"/>
            <a:ext cx="134549" cy="195707"/>
          </a:xfrm>
          <a:prstGeom prst="rect">
            <a:avLst/>
          </a:prstGeom>
        </p:spPr>
      </p:pic>
      <p:sp>
        <p:nvSpPr>
          <p:cNvPr id="34" name="TextBox 33"/>
          <p:cNvSpPr txBox="1"/>
          <p:nvPr/>
        </p:nvSpPr>
        <p:spPr>
          <a:xfrm>
            <a:off x="8386692" y="4636770"/>
            <a:ext cx="317548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a:t>
            </a:r>
          </a:p>
        </p:txBody>
      </p:sp>
      <p:sp>
        <p:nvSpPr>
          <p:cNvPr id="35" name="TextBox 34"/>
          <p:cNvSpPr txBox="1"/>
          <p:nvPr/>
        </p:nvSpPr>
        <p:spPr>
          <a:xfrm>
            <a:off x="6305550" y="4812029"/>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36" name="TextBox 35"/>
          <p:cNvSpPr txBox="1"/>
          <p:nvPr/>
        </p:nvSpPr>
        <p:spPr>
          <a:xfrm>
            <a:off x="6305550" y="5039867"/>
            <a:ext cx="4600326" cy="194310"/>
          </a:xfrm>
          <a:prstGeom prst="rect">
            <a:avLst/>
          </a:prstGeom>
          <a:noFill/>
        </p:spPr>
        <p:txBody>
          <a:bodyPr wrap="none" lIns="0" rIns="0" tIns="0" bIns="0">
            <a:spAutoFit/>
          </a:bodyPr>
          <a:lstStyle/>
          <a:p>
            <a:r>
              <a:rPr sz="1150" b="0">
                <a:solidFill>
                  <a:srgbClr val="2E2E2E"/>
                </a:solidFill>
                <a:latin typeface="Calibri"/>
              </a:rPr>
              <a:t>The matte segment is expected to create an incremental opportunity of US$</a:t>
            </a:r>
          </a:p>
        </p:txBody>
      </p:sp>
      <p:pic>
        <p:nvPicPr>
          <p:cNvPr id="37" name="Picture 36" descr="lock.png"/>
          <p:cNvPicPr>
            <a:picLocks noChangeAspect="1"/>
          </p:cNvPicPr>
          <p:nvPr/>
        </p:nvPicPr>
        <p:blipFill>
          <a:blip r:embed="rId7"/>
          <a:stretch>
            <a:fillRect/>
          </a:stretch>
        </p:blipFill>
        <p:spPr>
          <a:xfrm>
            <a:off x="10855030" y="5029644"/>
            <a:ext cx="134549" cy="195707"/>
          </a:xfrm>
          <a:prstGeom prst="rect">
            <a:avLst/>
          </a:prstGeom>
        </p:spPr>
      </p:pic>
      <p:sp>
        <p:nvSpPr>
          <p:cNvPr id="38" name="TextBox 37"/>
          <p:cNvSpPr txBox="1"/>
          <p:nvPr/>
        </p:nvSpPr>
        <p:spPr>
          <a:xfrm>
            <a:off x="11030140" y="503986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39" name="TextBox 38"/>
          <p:cNvSpPr txBox="1"/>
          <p:nvPr/>
        </p:nvSpPr>
        <p:spPr>
          <a:xfrm>
            <a:off x="6305550" y="5215127"/>
            <a:ext cx="5481761" cy="194310"/>
          </a:xfrm>
          <a:prstGeom prst="rect">
            <a:avLst/>
          </a:prstGeom>
          <a:noFill/>
        </p:spPr>
        <p:txBody>
          <a:bodyPr wrap="none" lIns="0" rIns="0" tIns="0" bIns="0">
            <a:spAutoFit/>
          </a:bodyPr>
          <a:lstStyle/>
          <a:p>
            <a:r>
              <a:rPr sz="1150" b="0">
                <a:solidFill>
                  <a:srgbClr val="2E2E2E"/>
                </a:solidFill>
                <a:latin typeface="Calibri"/>
              </a:rPr>
              <a:t>overall hair styling products market from 2026 to 2036. The natural segment is expected to</a:t>
            </a:r>
          </a:p>
        </p:txBody>
      </p:sp>
      <p:sp>
        <p:nvSpPr>
          <p:cNvPr id="40" name="TextBox 39"/>
          <p:cNvSpPr txBox="1"/>
          <p:nvPr/>
        </p:nvSpPr>
        <p:spPr>
          <a:xfrm>
            <a:off x="6305550" y="5390387"/>
            <a:ext cx="2547069" cy="194310"/>
          </a:xfrm>
          <a:prstGeom prst="rect">
            <a:avLst/>
          </a:prstGeom>
          <a:noFill/>
        </p:spPr>
        <p:txBody>
          <a:bodyPr wrap="none" lIns="0" rIns="0" tIns="0" bIns="0">
            <a:spAutoFit/>
          </a:bodyPr>
          <a:lstStyle/>
          <a:p>
            <a:r>
              <a:rPr sz="1150" b="0">
                <a:solidFill>
                  <a:srgbClr val="2E2E2E"/>
                </a:solidFill>
                <a:latin typeface="Calibri"/>
              </a:rPr>
              <a:t>create an incremental opportunity of US$</a:t>
            </a:r>
          </a:p>
        </p:txBody>
      </p:sp>
      <p:pic>
        <p:nvPicPr>
          <p:cNvPr id="41" name="Picture 40" descr="lock.png"/>
          <p:cNvPicPr>
            <a:picLocks noChangeAspect="1"/>
          </p:cNvPicPr>
          <p:nvPr/>
        </p:nvPicPr>
        <p:blipFill>
          <a:blip r:embed="rId7"/>
          <a:stretch>
            <a:fillRect/>
          </a:stretch>
        </p:blipFill>
        <p:spPr>
          <a:xfrm>
            <a:off x="8801773" y="5380164"/>
            <a:ext cx="134549" cy="195707"/>
          </a:xfrm>
          <a:prstGeom prst="rect">
            <a:avLst/>
          </a:prstGeom>
        </p:spPr>
      </p:pic>
      <p:sp>
        <p:nvSpPr>
          <p:cNvPr id="42" name="TextBox 41"/>
          <p:cNvSpPr txBox="1"/>
          <p:nvPr/>
        </p:nvSpPr>
        <p:spPr>
          <a:xfrm>
            <a:off x="8976882" y="5390387"/>
            <a:ext cx="2853146"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a:t>
            </a:r>
          </a:p>
        </p:txBody>
      </p:sp>
      <p:sp>
        <p:nvSpPr>
          <p:cNvPr id="43" name="TextBox 42"/>
          <p:cNvSpPr txBox="1"/>
          <p:nvPr/>
        </p:nvSpPr>
        <p:spPr>
          <a:xfrm>
            <a:off x="6305550" y="5565647"/>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44"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Finish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Finish,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Finish (US$ Mn)</a:t>
            </a:r>
          </a:p>
        </p:txBody>
      </p:sp>
      <p:graphicFrame>
        <p:nvGraphicFramePr>
          <p:cNvPr id="13" name="Table 12"/>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1391556"/>
                <a:gridCol w="617391"/>
                <a:gridCol w="617391"/>
                <a:gridCol w="617391"/>
                <a:gridCol w="617391"/>
                <a:gridCol w="617391"/>
                <a:gridCol w="617391"/>
                <a:gridCol w="617391"/>
                <a:gridCol w="617391"/>
                <a:gridCol w="617391"/>
                <a:gridCol w="617391"/>
                <a:gridCol w="617391"/>
                <a:gridCol w="617391"/>
                <a:gridCol w="617391"/>
                <a:gridCol w="617391"/>
                <a:gridCol w="617391"/>
                <a:gridCol w="617391"/>
                <a:gridCol w="617391"/>
              </a:tblGrid>
              <a:tr h="246126">
                <a:tc>
                  <a:txBody>
                    <a:bodyPr wrap="none"/>
                    <a:lstStyle/>
                    <a:p>
                      <a:pPr algn="l"/>
                      <a:r>
                        <a:rPr sz="1100" b="1">
                          <a:solidFill>
                            <a:srgbClr val="0B2E4A"/>
                          </a:solidFill>
                          <a:latin typeface="Calibri"/>
                        </a:rPr>
                        <a:t>Finish</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Matte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Natural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Glossy or Wet-look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28194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Finish</a:t>
            </a:r>
          </a:p>
        </p:txBody>
      </p:sp>
      <p:sp>
        <p:nvSpPr>
          <p:cNvPr id="17" name="Rectangle 16"/>
          <p:cNvSpPr/>
          <p:nvPr/>
        </p:nvSpPr>
        <p:spPr>
          <a:xfrm>
            <a:off x="276225" y="31432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05089" y="1713738"/>
            <a:ext cx="366712" cy="533400"/>
          </a:xfrm>
          <a:prstGeom prst="rect">
            <a:avLst/>
          </a:prstGeom>
        </p:spPr>
      </p:pic>
      <p:sp>
        <p:nvSpPr>
          <p:cNvPr id="21" name="TextBox 20"/>
          <p:cNvSpPr txBox="1"/>
          <p:nvPr/>
        </p:nvSpPr>
        <p:spPr>
          <a:xfrm>
            <a:off x="276225" y="3238500"/>
            <a:ext cx="3103884" cy="194310"/>
          </a:xfrm>
          <a:prstGeom prst="rect">
            <a:avLst/>
          </a:prstGeom>
          <a:noFill/>
        </p:spPr>
        <p:txBody>
          <a:bodyPr wrap="none" lIns="0" rIns="0" tIns="0" bIns="0">
            <a:spAutoFit/>
          </a:bodyPr>
          <a:lstStyle/>
          <a:p>
            <a:r>
              <a:rPr sz="1150" b="0">
                <a:solidFill>
                  <a:srgbClr val="2E2E2E"/>
                </a:solidFill>
                <a:latin typeface="Calibri"/>
              </a:rPr>
              <a:t>Glossy or wet-look segment is projected to register</a:t>
            </a:r>
          </a:p>
        </p:txBody>
      </p:sp>
      <p:pic>
        <p:nvPicPr>
          <p:cNvPr id="22" name="Picture 21" descr="lock.png"/>
          <p:cNvPicPr>
            <a:picLocks noChangeAspect="1"/>
          </p:cNvPicPr>
          <p:nvPr/>
        </p:nvPicPr>
        <p:blipFill>
          <a:blip r:embed="rId4"/>
          <a:stretch>
            <a:fillRect/>
          </a:stretch>
        </p:blipFill>
        <p:spPr>
          <a:xfrm>
            <a:off x="3329263" y="3228276"/>
            <a:ext cx="134549" cy="195707"/>
          </a:xfrm>
          <a:prstGeom prst="rect">
            <a:avLst/>
          </a:prstGeom>
        </p:spPr>
      </p:pic>
      <p:sp>
        <p:nvSpPr>
          <p:cNvPr id="23" name="TextBox 22"/>
          <p:cNvSpPr txBox="1"/>
          <p:nvPr/>
        </p:nvSpPr>
        <p:spPr>
          <a:xfrm>
            <a:off x="3504373" y="3238500"/>
            <a:ext cx="8172846" cy="194310"/>
          </a:xfrm>
          <a:prstGeom prst="rect">
            <a:avLst/>
          </a:prstGeom>
          <a:noFill/>
        </p:spPr>
        <p:txBody>
          <a:bodyPr wrap="none" lIns="0" rIns="0" tIns="0" bIns="0">
            <a:spAutoFit/>
          </a:bodyPr>
          <a:lstStyle/>
          <a:p>
            <a:r>
              <a:rPr sz="1150" b="0">
                <a:solidFill>
                  <a:srgbClr val="2E2E2E"/>
                </a:solidFill>
                <a:latin typeface="Calibri"/>
              </a:rPr>
              <a:t>X higher value than matte segment in 2036. Among hair styling products by finish, glossy or wet-look segment is expected to witness the</a:t>
            </a:r>
          </a:p>
        </p:txBody>
      </p:sp>
      <p:sp>
        <p:nvSpPr>
          <p:cNvPr id="24" name="TextBox 23"/>
          <p:cNvSpPr txBox="1"/>
          <p:nvPr/>
        </p:nvSpPr>
        <p:spPr>
          <a:xfrm>
            <a:off x="276225" y="341376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5" name="Picture 24" descr="lock.png"/>
          <p:cNvPicPr>
            <a:picLocks noChangeAspect="1"/>
          </p:cNvPicPr>
          <p:nvPr/>
        </p:nvPicPr>
        <p:blipFill>
          <a:blip r:embed="rId4"/>
          <a:stretch>
            <a:fillRect/>
          </a:stretch>
        </p:blipFill>
        <p:spPr>
          <a:xfrm>
            <a:off x="1257732" y="3403536"/>
            <a:ext cx="134549" cy="195707"/>
          </a:xfrm>
          <a:prstGeom prst="rect">
            <a:avLst/>
          </a:prstGeom>
        </p:spPr>
      </p:pic>
      <p:sp>
        <p:nvSpPr>
          <p:cNvPr id="26" name="TextBox 25"/>
          <p:cNvSpPr txBox="1"/>
          <p:nvPr/>
        </p:nvSpPr>
        <p:spPr>
          <a:xfrm>
            <a:off x="1432841"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3641597"/>
            <a:ext cx="6551178" cy="194310"/>
          </a:xfrm>
          <a:prstGeom prst="rect">
            <a:avLst/>
          </a:prstGeom>
          <a:noFill/>
        </p:spPr>
        <p:txBody>
          <a:bodyPr wrap="none" lIns="0" rIns="0" tIns="0" bIns="0">
            <a:spAutoFit/>
          </a:bodyPr>
          <a:lstStyle/>
          <a:p>
            <a:r>
              <a:rPr sz="1150" b="0">
                <a:solidFill>
                  <a:srgbClr val="2E2E2E"/>
                </a:solidFill>
                <a:latin typeface="Calibri"/>
              </a:rPr>
              <a:t>In terms of value share by finish, the glossy or wet-look segment is expected to dominate the market, gaining</a:t>
            </a:r>
          </a:p>
        </p:txBody>
      </p:sp>
      <p:pic>
        <p:nvPicPr>
          <p:cNvPr id="28" name="Picture 27" descr="lock.png"/>
          <p:cNvPicPr>
            <a:picLocks noChangeAspect="1"/>
          </p:cNvPicPr>
          <p:nvPr/>
        </p:nvPicPr>
        <p:blipFill>
          <a:blip r:embed="rId4"/>
          <a:stretch>
            <a:fillRect/>
          </a:stretch>
        </p:blipFill>
        <p:spPr>
          <a:xfrm>
            <a:off x="6776557" y="3631374"/>
            <a:ext cx="134549" cy="195707"/>
          </a:xfrm>
          <a:prstGeom prst="rect">
            <a:avLst/>
          </a:prstGeom>
        </p:spPr>
      </p:pic>
      <p:sp>
        <p:nvSpPr>
          <p:cNvPr id="29" name="TextBox 28"/>
          <p:cNvSpPr txBox="1"/>
          <p:nvPr/>
        </p:nvSpPr>
        <p:spPr>
          <a:xfrm>
            <a:off x="6951666"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8346809" y="3631374"/>
            <a:ext cx="134549" cy="195707"/>
          </a:xfrm>
          <a:prstGeom prst="rect">
            <a:avLst/>
          </a:prstGeom>
        </p:spPr>
      </p:pic>
      <p:sp>
        <p:nvSpPr>
          <p:cNvPr id="31" name="TextBox 30"/>
          <p:cNvSpPr txBox="1"/>
          <p:nvPr/>
        </p:nvSpPr>
        <p:spPr>
          <a:xfrm>
            <a:off x="8521919" y="3641597"/>
            <a:ext cx="3069083" cy="194310"/>
          </a:xfrm>
          <a:prstGeom prst="rect">
            <a:avLst/>
          </a:prstGeom>
          <a:noFill/>
        </p:spPr>
        <p:txBody>
          <a:bodyPr wrap="none" lIns="0" rIns="0" tIns="0" bIns="0">
            <a:spAutoFit/>
          </a:bodyPr>
          <a:lstStyle/>
          <a:p>
            <a:r>
              <a:rPr sz="1150" b="0">
                <a:solidFill>
                  <a:srgbClr val="2E2E2E"/>
                </a:solidFill>
                <a:latin typeface="Calibri"/>
              </a:rPr>
              <a:t>share by 2036. The natural segment is expected to</a:t>
            </a:r>
          </a:p>
        </p:txBody>
      </p:sp>
      <p:sp>
        <p:nvSpPr>
          <p:cNvPr id="32" name="TextBox 31"/>
          <p:cNvSpPr txBox="1"/>
          <p:nvPr/>
        </p:nvSpPr>
        <p:spPr>
          <a:xfrm>
            <a:off x="276225" y="3816857"/>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33" name="Picture 32" descr="lock.png"/>
          <p:cNvPicPr>
            <a:picLocks noChangeAspect="1"/>
          </p:cNvPicPr>
          <p:nvPr/>
        </p:nvPicPr>
        <p:blipFill>
          <a:blip r:embed="rId4"/>
          <a:stretch>
            <a:fillRect/>
          </a:stretch>
        </p:blipFill>
        <p:spPr>
          <a:xfrm>
            <a:off x="542047" y="3806634"/>
            <a:ext cx="134549" cy="195707"/>
          </a:xfrm>
          <a:prstGeom prst="rect">
            <a:avLst/>
          </a:prstGeom>
        </p:spPr>
      </p:pic>
      <p:sp>
        <p:nvSpPr>
          <p:cNvPr id="34" name="TextBox 33"/>
          <p:cNvSpPr txBox="1"/>
          <p:nvPr/>
        </p:nvSpPr>
        <p:spPr>
          <a:xfrm>
            <a:off x="717157" y="38168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3304661" y="3806634"/>
            <a:ext cx="134549" cy="195707"/>
          </a:xfrm>
          <a:prstGeom prst="rect">
            <a:avLst/>
          </a:prstGeom>
        </p:spPr>
      </p:pic>
      <p:sp>
        <p:nvSpPr>
          <p:cNvPr id="36" name="TextBox 35"/>
          <p:cNvSpPr txBox="1"/>
          <p:nvPr/>
        </p:nvSpPr>
        <p:spPr>
          <a:xfrm>
            <a:off x="3479771" y="38168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Finish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Finish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Finish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410543"/>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4057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3295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Natural</a:t>
            </a:r>
          </a:p>
        </p:txBody>
      </p:sp>
      <p:sp>
        <p:nvSpPr>
          <p:cNvPr id="19" name="BPS Value 1"/>
          <p:cNvSpPr txBox="1"/>
          <p:nvPr/>
        </p:nvSpPr>
        <p:spPr>
          <a:xfrm>
            <a:off x="6896100" y="239149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90643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90167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82547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Matte</a:t>
            </a:r>
          </a:p>
        </p:txBody>
      </p:sp>
      <p:sp>
        <p:nvSpPr>
          <p:cNvPr id="23" name="BPS Value 2"/>
          <p:cNvSpPr txBox="1"/>
          <p:nvPr/>
        </p:nvSpPr>
        <p:spPr>
          <a:xfrm>
            <a:off x="6896100" y="388738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545334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44857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53723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Glossy or Wet-look</a:t>
            </a:r>
          </a:p>
        </p:txBody>
      </p:sp>
      <p:sp>
        <p:nvSpPr>
          <p:cNvPr id="27" name="BPS Value 3"/>
          <p:cNvSpPr txBox="1"/>
          <p:nvPr/>
        </p:nvSpPr>
        <p:spPr>
          <a:xfrm>
            <a:off x="6896100" y="54342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Finish</a:t>
            </a:r>
          </a:p>
        </p:txBody>
      </p:sp>
      <p:sp>
        <p:nvSpPr>
          <p:cNvPr id="30" name="Rectangle 29"/>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5"/>
          <a:stretch>
            <a:fillRect/>
          </a:stretch>
        </p:blipFill>
        <p:spPr>
          <a:xfrm>
            <a:off x="2557843" y="3833622"/>
            <a:ext cx="275034" cy="400050"/>
          </a:xfrm>
          <a:prstGeom prst="rect">
            <a:avLst/>
          </a:prstGeom>
        </p:spPr>
      </p:pic>
      <p:sp>
        <p:nvSpPr>
          <p:cNvPr id="34" name="TextBox 33"/>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hair styling products by finish, glossy or wet-look segment is</a:t>
            </a:r>
          </a:p>
        </p:txBody>
      </p:sp>
      <p:sp>
        <p:nvSpPr>
          <p:cNvPr id="35" name="TextBox 34"/>
          <p:cNvSpPr txBox="1"/>
          <p:nvPr/>
        </p:nvSpPr>
        <p:spPr>
          <a:xfrm>
            <a:off x="7829550" y="157543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36" name="Picture 35" descr="lock.png"/>
          <p:cNvPicPr>
            <a:picLocks noChangeAspect="1"/>
          </p:cNvPicPr>
          <p:nvPr/>
        </p:nvPicPr>
        <p:blipFill>
          <a:blip r:embed="rId5"/>
          <a:stretch>
            <a:fillRect/>
          </a:stretch>
        </p:blipFill>
        <p:spPr>
          <a:xfrm>
            <a:off x="10264711" y="1565211"/>
            <a:ext cx="134549" cy="195707"/>
          </a:xfrm>
          <a:prstGeom prst="rect">
            <a:avLst/>
          </a:prstGeom>
        </p:spPr>
      </p:pic>
      <p:sp>
        <p:nvSpPr>
          <p:cNvPr id="37" name="TextBox 36"/>
          <p:cNvSpPr txBox="1"/>
          <p:nvPr/>
        </p:nvSpPr>
        <p:spPr>
          <a:xfrm>
            <a:off x="10439820" y="157543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38" name="TextBox 37"/>
          <p:cNvSpPr txBox="1"/>
          <p:nvPr/>
        </p:nvSpPr>
        <p:spPr>
          <a:xfrm>
            <a:off x="7829550" y="1750695"/>
            <a:ext cx="3806180" cy="194310"/>
          </a:xfrm>
          <a:prstGeom prst="rect">
            <a:avLst/>
          </a:prstGeom>
          <a:noFill/>
        </p:spPr>
        <p:txBody>
          <a:bodyPr wrap="none" lIns="0" rIns="0" tIns="0" bIns="0">
            <a:spAutoFit/>
          </a:bodyPr>
          <a:lstStyle/>
          <a:p>
            <a:r>
              <a:rPr sz="1150" b="0">
                <a:solidFill>
                  <a:srgbClr val="2E2E2E"/>
                </a:solidFill>
                <a:latin typeface="Calibri"/>
              </a:rPr>
              <a:t>period. In terms of value share by finish, the glossy or wet-look</a:t>
            </a:r>
          </a:p>
        </p:txBody>
      </p:sp>
      <p:sp>
        <p:nvSpPr>
          <p:cNvPr id="39" name="TextBox 38"/>
          <p:cNvSpPr txBox="1"/>
          <p:nvPr/>
        </p:nvSpPr>
        <p:spPr>
          <a:xfrm>
            <a:off x="7829550" y="1925955"/>
            <a:ext cx="3245941" cy="194310"/>
          </a:xfrm>
          <a:prstGeom prst="rect">
            <a:avLst/>
          </a:prstGeom>
          <a:noFill/>
        </p:spPr>
        <p:txBody>
          <a:bodyPr wrap="none" lIns="0" rIns="0" tIns="0" bIns="0">
            <a:spAutoFit/>
          </a:bodyPr>
          <a:lstStyle/>
          <a:p>
            <a:r>
              <a:rPr sz="1150" b="0">
                <a:solidFill>
                  <a:srgbClr val="2E2E2E"/>
                </a:solidFill>
                <a:latin typeface="Calibri"/>
              </a:rPr>
              <a:t>segment is expected to dominate the market, gaining</a:t>
            </a:r>
          </a:p>
        </p:txBody>
      </p:sp>
      <p:pic>
        <p:nvPicPr>
          <p:cNvPr id="40" name="Picture 39" descr="lock.png"/>
          <p:cNvPicPr>
            <a:picLocks noChangeAspect="1"/>
          </p:cNvPicPr>
          <p:nvPr/>
        </p:nvPicPr>
        <p:blipFill>
          <a:blip r:embed="rId5"/>
          <a:stretch>
            <a:fillRect/>
          </a:stretch>
        </p:blipFill>
        <p:spPr>
          <a:xfrm>
            <a:off x="11024645" y="1915731"/>
            <a:ext cx="134549" cy="195707"/>
          </a:xfrm>
          <a:prstGeom prst="rect">
            <a:avLst/>
          </a:prstGeom>
        </p:spPr>
      </p:pic>
      <p:sp>
        <p:nvSpPr>
          <p:cNvPr id="41" name="TextBox 40"/>
          <p:cNvSpPr txBox="1"/>
          <p:nvPr/>
        </p:nvSpPr>
        <p:spPr>
          <a:xfrm>
            <a:off x="11199754" y="1925955"/>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2" name="TextBox 41"/>
          <p:cNvSpPr txBox="1"/>
          <p:nvPr/>
        </p:nvSpPr>
        <p:spPr>
          <a:xfrm>
            <a:off x="7829550" y="2101215"/>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3" name="Picture 42" descr="lock.png"/>
          <p:cNvPicPr>
            <a:picLocks noChangeAspect="1"/>
          </p:cNvPicPr>
          <p:nvPr/>
        </p:nvPicPr>
        <p:blipFill>
          <a:blip r:embed="rId5"/>
          <a:stretch>
            <a:fillRect/>
          </a:stretch>
        </p:blipFill>
        <p:spPr>
          <a:xfrm>
            <a:off x="8712947" y="2090991"/>
            <a:ext cx="134549" cy="195707"/>
          </a:xfrm>
          <a:prstGeom prst="rect">
            <a:avLst/>
          </a:prstGeom>
        </p:spPr>
      </p:pic>
      <p:sp>
        <p:nvSpPr>
          <p:cNvPr id="44" name="TextBox 43"/>
          <p:cNvSpPr txBox="1"/>
          <p:nvPr/>
        </p:nvSpPr>
        <p:spPr>
          <a:xfrm>
            <a:off x="8888056"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329053"/>
            <a:ext cx="2439528" cy="194310"/>
          </a:xfrm>
          <a:prstGeom prst="rect">
            <a:avLst/>
          </a:prstGeom>
          <a:noFill/>
        </p:spPr>
        <p:txBody>
          <a:bodyPr wrap="none" lIns="0" rIns="0" tIns="0" bIns="0">
            <a:spAutoFit/>
          </a:bodyPr>
          <a:lstStyle/>
          <a:p>
            <a:r>
              <a:rPr sz="1150" b="0">
                <a:solidFill>
                  <a:srgbClr val="2E2E2E"/>
                </a:solidFill>
                <a:latin typeface="Calibri"/>
              </a:rPr>
              <a:t>The natural segment is expected to lose</a:t>
            </a:r>
          </a:p>
        </p:txBody>
      </p:sp>
      <p:pic>
        <p:nvPicPr>
          <p:cNvPr id="46" name="Picture 45" descr="lock.png"/>
          <p:cNvPicPr>
            <a:picLocks noChangeAspect="1"/>
          </p:cNvPicPr>
          <p:nvPr/>
        </p:nvPicPr>
        <p:blipFill>
          <a:blip r:embed="rId5"/>
          <a:stretch>
            <a:fillRect/>
          </a:stretch>
        </p:blipFill>
        <p:spPr>
          <a:xfrm>
            <a:off x="10218232" y="2318829"/>
            <a:ext cx="134549" cy="195707"/>
          </a:xfrm>
          <a:prstGeom prst="rect">
            <a:avLst/>
          </a:prstGeom>
        </p:spPr>
      </p:pic>
      <p:sp>
        <p:nvSpPr>
          <p:cNvPr id="47" name="TextBox 46"/>
          <p:cNvSpPr txBox="1"/>
          <p:nvPr/>
        </p:nvSpPr>
        <p:spPr>
          <a:xfrm>
            <a:off x="10393341" y="2329053"/>
            <a:ext cx="1346150" cy="194310"/>
          </a:xfrm>
          <a:prstGeom prst="rect">
            <a:avLst/>
          </a:prstGeom>
          <a:noFill/>
        </p:spPr>
        <p:txBody>
          <a:bodyPr wrap="none" lIns="0" rIns="0" tIns="0" bIns="0">
            <a:spAutoFit/>
          </a:bodyPr>
          <a:lstStyle/>
          <a:p>
            <a:r>
              <a:rPr sz="1150" b="0">
                <a:solidFill>
                  <a:srgbClr val="2E2E2E"/>
                </a:solidFill>
                <a:latin typeface="Calibri"/>
              </a:rPr>
              <a:t>BPS over the forecast</a:t>
            </a:r>
          </a:p>
        </p:txBody>
      </p:sp>
      <p:sp>
        <p:nvSpPr>
          <p:cNvPr id="48" name="TextBox 47"/>
          <p:cNvSpPr txBox="1"/>
          <p:nvPr/>
        </p:nvSpPr>
        <p:spPr>
          <a:xfrm>
            <a:off x="7829550" y="2504313"/>
            <a:ext cx="1335310" cy="194310"/>
          </a:xfrm>
          <a:prstGeom prst="rect">
            <a:avLst/>
          </a:prstGeom>
          <a:noFill/>
        </p:spPr>
        <p:txBody>
          <a:bodyPr wrap="none" lIns="0" rIns="0" tIns="0" bIns="0">
            <a:spAutoFit/>
          </a:bodyPr>
          <a:lstStyle/>
          <a:p>
            <a:r>
              <a:rPr sz="1150" b="0">
                <a:solidFill>
                  <a:srgbClr val="2E2E2E"/>
                </a:solidFill>
                <a:latin typeface="Calibri"/>
              </a:rPr>
              <a:t>period to account for</a:t>
            </a:r>
          </a:p>
        </p:txBody>
      </p:sp>
      <p:pic>
        <p:nvPicPr>
          <p:cNvPr id="49" name="Picture 48" descr="lock.png"/>
          <p:cNvPicPr>
            <a:picLocks noChangeAspect="1"/>
          </p:cNvPicPr>
          <p:nvPr/>
        </p:nvPicPr>
        <p:blipFill>
          <a:blip r:embed="rId5"/>
          <a:stretch>
            <a:fillRect/>
          </a:stretch>
        </p:blipFill>
        <p:spPr>
          <a:xfrm>
            <a:off x="9114014" y="2494089"/>
            <a:ext cx="134549" cy="195707"/>
          </a:xfrm>
          <a:prstGeom prst="rect">
            <a:avLst/>
          </a:prstGeom>
        </p:spPr>
      </p:pic>
      <p:sp>
        <p:nvSpPr>
          <p:cNvPr id="50" name="TextBox 49"/>
          <p:cNvSpPr txBox="1"/>
          <p:nvPr/>
        </p:nvSpPr>
        <p:spPr>
          <a:xfrm>
            <a:off x="928912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Distribution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Distribution Channel,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Salon and Professional Distributi…</a:t>
            </a:r>
          </a:p>
        </p:txBody>
      </p:sp>
      <p:sp>
        <p:nvSpPr>
          <p:cNvPr id="23" name="Rectangle 22"/>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Mass Retail</a:t>
            </a:r>
          </a:p>
        </p:txBody>
      </p:sp>
      <p:sp>
        <p:nvSpPr>
          <p:cNvPr id="30" name="Rectangle 29"/>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Online Marketplaces</a:t>
            </a:r>
          </a:p>
        </p:txBody>
      </p:sp>
      <p:sp>
        <p:nvSpPr>
          <p:cNvPr id="37" name="Rectangle 36"/>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3" name="Rectangle 4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5" name="Rounded Rectangle 4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7" name="Rectangle 4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9" name="Rounded Rectangle 4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1" name="Rectangle 5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3" name="Rectangle 5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5" name="TextBox 5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7" name="Picture 56" descr="960_9_605E5C.png"/>
          <p:cNvPicPr>
            <a:picLocks noChangeAspect="1"/>
          </p:cNvPicPr>
          <p:nvPr/>
        </p:nvPicPr>
        <p:blipFill>
          <a:blip r:embed="rId4"/>
          <a:stretch>
            <a:fillRect/>
          </a:stretch>
        </p:blipFill>
        <p:spPr>
          <a:xfrm>
            <a:off x="2897811" y="2286582"/>
            <a:ext cx="1195728" cy="361950"/>
          </a:xfrm>
          <a:prstGeom prst="rect">
            <a:avLst/>
          </a:prstGeom>
        </p:spPr>
      </p:pic>
      <p:pic>
        <p:nvPicPr>
          <p:cNvPr id="58" name="Picture 57" descr="1_683_605E5C.png"/>
          <p:cNvPicPr>
            <a:picLocks noChangeAspect="1"/>
          </p:cNvPicPr>
          <p:nvPr/>
        </p:nvPicPr>
        <p:blipFill>
          <a:blip r:embed="rId5"/>
          <a:stretch>
            <a:fillRect/>
          </a:stretch>
        </p:blipFill>
        <p:spPr>
          <a:xfrm>
            <a:off x="2897811" y="2779432"/>
            <a:ext cx="1195728" cy="361950"/>
          </a:xfrm>
          <a:prstGeom prst="rect">
            <a:avLst/>
          </a:prstGeom>
        </p:spPr>
      </p:pic>
      <p:pic>
        <p:nvPicPr>
          <p:cNvPr id="59" name="Picture 58" descr="5_8__605E5C.png"/>
          <p:cNvPicPr>
            <a:picLocks noChangeAspect="1"/>
          </p:cNvPicPr>
          <p:nvPr/>
        </p:nvPicPr>
        <p:blipFill>
          <a:blip r:embed="rId6"/>
          <a:stretch>
            <a:fillRect/>
          </a:stretch>
        </p:blipFill>
        <p:spPr>
          <a:xfrm>
            <a:off x="3004457" y="3272281"/>
            <a:ext cx="982436" cy="361950"/>
          </a:xfrm>
          <a:prstGeom prst="rect">
            <a:avLst/>
          </a:prstGeom>
        </p:spPr>
      </p:pic>
      <p:pic>
        <p:nvPicPr>
          <p:cNvPr id="60" name="Picture 59" descr="954_1_605E5C.png"/>
          <p:cNvPicPr>
            <a:picLocks noChangeAspect="1"/>
          </p:cNvPicPr>
          <p:nvPr/>
        </p:nvPicPr>
        <p:blipFill>
          <a:blip r:embed="rId7"/>
          <a:stretch>
            <a:fillRect/>
          </a:stretch>
        </p:blipFill>
        <p:spPr>
          <a:xfrm>
            <a:off x="6269661" y="2286582"/>
            <a:ext cx="1195728" cy="361950"/>
          </a:xfrm>
          <a:prstGeom prst="rect">
            <a:avLst/>
          </a:prstGeom>
        </p:spPr>
      </p:pic>
      <p:pic>
        <p:nvPicPr>
          <p:cNvPr id="61" name="Picture 60" descr="1_516_605E5C.png"/>
          <p:cNvPicPr>
            <a:picLocks noChangeAspect="1"/>
          </p:cNvPicPr>
          <p:nvPr/>
        </p:nvPicPr>
        <p:blipFill>
          <a:blip r:embed="rId8"/>
          <a:stretch>
            <a:fillRect/>
          </a:stretch>
        </p:blipFill>
        <p:spPr>
          <a:xfrm>
            <a:off x="6269661" y="2779432"/>
            <a:ext cx="1195728" cy="361950"/>
          </a:xfrm>
          <a:prstGeom prst="rect">
            <a:avLst/>
          </a:prstGeom>
        </p:spPr>
      </p:pic>
      <p:pic>
        <p:nvPicPr>
          <p:cNvPr id="62" name="Picture 61" descr="4_7__605E5C.png"/>
          <p:cNvPicPr>
            <a:picLocks noChangeAspect="1"/>
          </p:cNvPicPr>
          <p:nvPr/>
        </p:nvPicPr>
        <p:blipFill>
          <a:blip r:embed="rId9"/>
          <a:stretch>
            <a:fillRect/>
          </a:stretch>
        </p:blipFill>
        <p:spPr>
          <a:xfrm>
            <a:off x="6376307" y="3272281"/>
            <a:ext cx="982436" cy="361950"/>
          </a:xfrm>
          <a:prstGeom prst="rect">
            <a:avLst/>
          </a:prstGeom>
        </p:spPr>
      </p:pic>
      <p:pic>
        <p:nvPicPr>
          <p:cNvPr id="63" name="Picture 62" descr="947_5_605E5C.png"/>
          <p:cNvPicPr>
            <a:picLocks noChangeAspect="1"/>
          </p:cNvPicPr>
          <p:nvPr/>
        </p:nvPicPr>
        <p:blipFill>
          <a:blip r:embed="rId10"/>
          <a:stretch>
            <a:fillRect/>
          </a:stretch>
        </p:blipFill>
        <p:spPr>
          <a:xfrm>
            <a:off x="9641511" y="2286582"/>
            <a:ext cx="1195728" cy="361950"/>
          </a:xfrm>
          <a:prstGeom prst="rect">
            <a:avLst/>
          </a:prstGeom>
        </p:spPr>
      </p:pic>
      <p:pic>
        <p:nvPicPr>
          <p:cNvPr id="64" name="Picture 63" descr="1_932_605E5C.png"/>
          <p:cNvPicPr>
            <a:picLocks noChangeAspect="1"/>
          </p:cNvPicPr>
          <p:nvPr/>
        </p:nvPicPr>
        <p:blipFill>
          <a:blip r:embed="rId11"/>
          <a:stretch>
            <a:fillRect/>
          </a:stretch>
        </p:blipFill>
        <p:spPr>
          <a:xfrm>
            <a:off x="9641511" y="2779432"/>
            <a:ext cx="1195728" cy="361950"/>
          </a:xfrm>
          <a:prstGeom prst="rect">
            <a:avLst/>
          </a:prstGeom>
        </p:spPr>
      </p:pic>
      <p:pic>
        <p:nvPicPr>
          <p:cNvPr id="65" name="Picture 64" descr="7_4__605E5C.png"/>
          <p:cNvPicPr>
            <a:picLocks noChangeAspect="1"/>
          </p:cNvPicPr>
          <p:nvPr/>
        </p:nvPicPr>
        <p:blipFill>
          <a:blip r:embed="rId12"/>
          <a:stretch>
            <a:fillRect/>
          </a:stretch>
        </p:blipFill>
        <p:spPr>
          <a:xfrm>
            <a:off x="9748157" y="3272281"/>
            <a:ext cx="982436" cy="361950"/>
          </a:xfrm>
          <a:prstGeom prst="rect">
            <a:avLst/>
          </a:prstGeom>
        </p:spPr>
      </p:pic>
      <p:pic>
        <p:nvPicPr>
          <p:cNvPr id="66" name="Picture 65" descr="lock.png"/>
          <p:cNvPicPr>
            <a:picLocks noChangeAspect="1"/>
          </p:cNvPicPr>
          <p:nvPr/>
        </p:nvPicPr>
        <p:blipFill>
          <a:blip r:embed="rId13"/>
          <a:stretch>
            <a:fillRect/>
          </a:stretch>
        </p:blipFill>
        <p:spPr>
          <a:xfrm>
            <a:off x="3402330" y="2827057"/>
            <a:ext cx="183356" cy="266700"/>
          </a:xfrm>
          <a:prstGeom prst="rect">
            <a:avLst/>
          </a:prstGeom>
        </p:spPr>
      </p:pic>
      <p:pic>
        <p:nvPicPr>
          <p:cNvPr id="67" name="Picture 66" descr="lock.png"/>
          <p:cNvPicPr>
            <a:picLocks noChangeAspect="1"/>
          </p:cNvPicPr>
          <p:nvPr/>
        </p:nvPicPr>
        <p:blipFill>
          <a:blip r:embed="rId13"/>
          <a:stretch>
            <a:fillRect/>
          </a:stretch>
        </p:blipFill>
        <p:spPr>
          <a:xfrm>
            <a:off x="6774180" y="2827057"/>
            <a:ext cx="183356" cy="266700"/>
          </a:xfrm>
          <a:prstGeom prst="rect">
            <a:avLst/>
          </a:prstGeom>
        </p:spPr>
      </p:pic>
      <p:pic>
        <p:nvPicPr>
          <p:cNvPr id="68" name="Picture 67" descr="lock.png"/>
          <p:cNvPicPr>
            <a:picLocks noChangeAspect="1"/>
          </p:cNvPicPr>
          <p:nvPr/>
        </p:nvPicPr>
        <p:blipFill>
          <a:blip r:embed="rId13"/>
          <a:stretch>
            <a:fillRect/>
          </a:stretch>
        </p:blipFill>
        <p:spPr>
          <a:xfrm>
            <a:off x="10146030" y="2827057"/>
            <a:ext cx="183356" cy="266700"/>
          </a:xfrm>
          <a:prstGeom prst="rect">
            <a:avLst/>
          </a:prstGeom>
        </p:spPr>
      </p:pic>
      <p:sp>
        <p:nvSpPr>
          <p:cNvPr id="69" name="TextBox 68"/>
          <p:cNvSpPr txBox="1"/>
          <p:nvPr/>
        </p:nvSpPr>
        <p:spPr>
          <a:xfrm>
            <a:off x="485775" y="4229437"/>
            <a:ext cx="2530499" cy="186689"/>
          </a:xfrm>
          <a:prstGeom prst="rect">
            <a:avLst/>
          </a:prstGeom>
          <a:noFill/>
        </p:spPr>
        <p:txBody>
          <a:bodyPr wrap="none" lIns="0" rIns="0" tIns="0" bIns="0">
            <a:spAutoFit/>
          </a:bodyPr>
          <a:lstStyle/>
          <a:p>
            <a:r>
              <a:rPr sz="1100" b="0">
                <a:solidFill>
                  <a:srgbClr val="2E2E2E"/>
                </a:solidFill>
                <a:latin typeface="Calibri"/>
              </a:rPr>
              <a:t>Among hair styling products by distribution</a:t>
            </a:r>
          </a:p>
        </p:txBody>
      </p:sp>
      <p:sp>
        <p:nvSpPr>
          <p:cNvPr id="70" name="TextBox 69"/>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channel, online marketplaces segment is expected</a:t>
            </a:r>
          </a:p>
        </p:txBody>
      </p:sp>
      <p:sp>
        <p:nvSpPr>
          <p:cNvPr id="71" name="TextBox 70"/>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72" name="Picture 71" descr="lock.png"/>
          <p:cNvPicPr>
            <a:picLocks noChangeAspect="1"/>
          </p:cNvPicPr>
          <p:nvPr/>
        </p:nvPicPr>
        <p:blipFill>
          <a:blip r:embed="rId13"/>
          <a:stretch>
            <a:fillRect/>
          </a:stretch>
        </p:blipFill>
        <p:spPr>
          <a:xfrm>
            <a:off x="2261170" y="4554938"/>
            <a:ext cx="128699" cy="187198"/>
          </a:xfrm>
          <a:prstGeom prst="rect">
            <a:avLst/>
          </a:prstGeom>
        </p:spPr>
      </p:pic>
      <p:sp>
        <p:nvSpPr>
          <p:cNvPr id="73" name="TextBox 72"/>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74" name="TextBox 73"/>
          <p:cNvSpPr txBox="1"/>
          <p:nvPr/>
        </p:nvSpPr>
        <p:spPr>
          <a:xfrm>
            <a:off x="485775" y="4732357"/>
            <a:ext cx="2477566" cy="186689"/>
          </a:xfrm>
          <a:prstGeom prst="rect">
            <a:avLst/>
          </a:prstGeom>
          <a:noFill/>
        </p:spPr>
        <p:txBody>
          <a:bodyPr wrap="none" lIns="0" rIns="0" tIns="0" bIns="0">
            <a:spAutoFit/>
          </a:bodyPr>
          <a:lstStyle/>
          <a:p>
            <a:r>
              <a:rPr sz="1100" b="0">
                <a:solidFill>
                  <a:srgbClr val="2E2E2E"/>
                </a:solidFill>
                <a:latin typeface="Calibri"/>
              </a:rPr>
              <a:t>forecast period. In terms of value share by</a:t>
            </a:r>
          </a:p>
        </p:txBody>
      </p:sp>
      <p:sp>
        <p:nvSpPr>
          <p:cNvPr id="75" name="TextBox 74"/>
          <p:cNvSpPr txBox="1"/>
          <p:nvPr/>
        </p:nvSpPr>
        <p:spPr>
          <a:xfrm>
            <a:off x="485775" y="4899997"/>
            <a:ext cx="2654374" cy="186689"/>
          </a:xfrm>
          <a:prstGeom prst="rect">
            <a:avLst/>
          </a:prstGeom>
          <a:noFill/>
        </p:spPr>
        <p:txBody>
          <a:bodyPr wrap="none" lIns="0" rIns="0" tIns="0" bIns="0">
            <a:spAutoFit/>
          </a:bodyPr>
          <a:lstStyle/>
          <a:p>
            <a:r>
              <a:rPr sz="1100" b="0">
                <a:solidFill>
                  <a:srgbClr val="2E2E2E"/>
                </a:solidFill>
                <a:latin typeface="Calibri"/>
              </a:rPr>
              <a:t>distribution channel, the online marketplaces</a:t>
            </a:r>
          </a:p>
        </p:txBody>
      </p:sp>
      <p:sp>
        <p:nvSpPr>
          <p:cNvPr id="76" name="TextBox 75"/>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77" name="TextBox 76"/>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78" name="Picture 77" descr="lock.png"/>
          <p:cNvPicPr>
            <a:picLocks noChangeAspect="1"/>
          </p:cNvPicPr>
          <p:nvPr/>
        </p:nvPicPr>
        <p:blipFill>
          <a:blip r:embed="rId13"/>
          <a:stretch>
            <a:fillRect/>
          </a:stretch>
        </p:blipFill>
        <p:spPr>
          <a:xfrm>
            <a:off x="919576" y="5225498"/>
            <a:ext cx="128699" cy="187198"/>
          </a:xfrm>
          <a:prstGeom prst="rect">
            <a:avLst/>
          </a:prstGeom>
        </p:spPr>
      </p:pic>
      <p:sp>
        <p:nvSpPr>
          <p:cNvPr id="79" name="TextBox 78"/>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0" name="Picture 79" descr="lock.png"/>
          <p:cNvPicPr>
            <a:picLocks noChangeAspect="1"/>
          </p:cNvPicPr>
          <p:nvPr/>
        </p:nvPicPr>
        <p:blipFill>
          <a:blip r:embed="rId13"/>
          <a:stretch>
            <a:fillRect/>
          </a:stretch>
        </p:blipFill>
        <p:spPr>
          <a:xfrm>
            <a:off x="2421557" y="5225498"/>
            <a:ext cx="128699" cy="187198"/>
          </a:xfrm>
          <a:prstGeom prst="rect">
            <a:avLst/>
          </a:prstGeom>
        </p:spPr>
      </p:pic>
      <p:sp>
        <p:nvSpPr>
          <p:cNvPr id="81" name="TextBox 80"/>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82" name="TextBox 81"/>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83" name="TextBox 82"/>
          <p:cNvSpPr txBox="1"/>
          <p:nvPr/>
        </p:nvSpPr>
        <p:spPr>
          <a:xfrm>
            <a:off x="485775" y="5620849"/>
            <a:ext cx="2617812" cy="186689"/>
          </a:xfrm>
          <a:prstGeom prst="rect">
            <a:avLst/>
          </a:prstGeom>
          <a:noFill/>
        </p:spPr>
        <p:txBody>
          <a:bodyPr wrap="none" lIns="0" rIns="0" tIns="0" bIns="0">
            <a:spAutoFit/>
          </a:bodyPr>
          <a:lstStyle/>
          <a:p>
            <a:r>
              <a:rPr sz="1100" b="0">
                <a:solidFill>
                  <a:srgbClr val="2E2E2E"/>
                </a:solidFill>
                <a:latin typeface="Calibri"/>
              </a:rPr>
              <a:t>Online marketplaces segment is projected to</a:t>
            </a:r>
          </a:p>
        </p:txBody>
      </p:sp>
      <p:sp>
        <p:nvSpPr>
          <p:cNvPr id="84" name="TextBox 83"/>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85" name="Picture 84" descr="lock.png"/>
          <p:cNvPicPr>
            <a:picLocks noChangeAspect="1"/>
          </p:cNvPicPr>
          <p:nvPr/>
        </p:nvPicPr>
        <p:blipFill>
          <a:blip r:embed="rId13"/>
          <a:stretch>
            <a:fillRect/>
          </a:stretch>
        </p:blipFill>
        <p:spPr>
          <a:xfrm>
            <a:off x="946316" y="5778710"/>
            <a:ext cx="128699" cy="187198"/>
          </a:xfrm>
          <a:prstGeom prst="rect">
            <a:avLst/>
          </a:prstGeom>
        </p:spPr>
      </p:pic>
      <p:sp>
        <p:nvSpPr>
          <p:cNvPr id="86" name="TextBox 85"/>
          <p:cNvSpPr txBox="1"/>
          <p:nvPr/>
        </p:nvSpPr>
        <p:spPr>
          <a:xfrm>
            <a:off x="1113812" y="5788489"/>
            <a:ext cx="1750144" cy="186689"/>
          </a:xfrm>
          <a:prstGeom prst="rect">
            <a:avLst/>
          </a:prstGeom>
          <a:noFill/>
        </p:spPr>
        <p:txBody>
          <a:bodyPr wrap="none" lIns="0" rIns="0" tIns="0" bIns="0">
            <a:spAutoFit/>
          </a:bodyPr>
          <a:lstStyle/>
          <a:p>
            <a:r>
              <a:rPr sz="1100" b="0">
                <a:solidFill>
                  <a:srgbClr val="2E2E2E"/>
                </a:solidFill>
                <a:latin typeface="Calibri"/>
              </a:rPr>
              <a:t>X higher value than salon and</a:t>
            </a:r>
          </a:p>
        </p:txBody>
      </p:sp>
      <p:sp>
        <p:nvSpPr>
          <p:cNvPr id="87" name="TextBox 86"/>
          <p:cNvSpPr txBox="1"/>
          <p:nvPr/>
        </p:nvSpPr>
        <p:spPr>
          <a:xfrm>
            <a:off x="485775" y="5956129"/>
            <a:ext cx="2475383" cy="186689"/>
          </a:xfrm>
          <a:prstGeom prst="rect">
            <a:avLst/>
          </a:prstGeom>
          <a:noFill/>
        </p:spPr>
        <p:txBody>
          <a:bodyPr wrap="none" lIns="0" rIns="0" tIns="0" bIns="0">
            <a:spAutoFit/>
          </a:bodyPr>
          <a:lstStyle/>
          <a:p>
            <a:r>
              <a:rPr sz="1100" b="0">
                <a:solidFill>
                  <a:srgbClr val="2E2E2E"/>
                </a:solidFill>
                <a:latin typeface="Calibri"/>
              </a:rPr>
              <a:t>professional distribution segment in 2036.</a:t>
            </a:r>
          </a:p>
        </p:txBody>
      </p:sp>
      <p:sp>
        <p:nvSpPr>
          <p:cNvPr id="88" name="TextBox 87"/>
          <p:cNvSpPr txBox="1"/>
          <p:nvPr/>
        </p:nvSpPr>
        <p:spPr>
          <a:xfrm>
            <a:off x="3838575" y="4229437"/>
            <a:ext cx="2216447" cy="186689"/>
          </a:xfrm>
          <a:prstGeom prst="rect">
            <a:avLst/>
          </a:prstGeom>
          <a:noFill/>
        </p:spPr>
        <p:txBody>
          <a:bodyPr wrap="none" lIns="0" rIns="0" tIns="0" bIns="0">
            <a:spAutoFit/>
          </a:bodyPr>
          <a:lstStyle/>
          <a:p>
            <a:r>
              <a:rPr sz="1100" b="0">
                <a:solidFill>
                  <a:srgbClr val="2E2E2E"/>
                </a:solidFill>
                <a:latin typeface="Calibri"/>
              </a:rPr>
              <a:t>● Salon and Professional Distribution:</a:t>
            </a:r>
          </a:p>
        </p:txBody>
      </p:sp>
      <p:pic>
        <p:nvPicPr>
          <p:cNvPr id="89" name="Picture 88" descr="lock.png"/>
          <p:cNvPicPr>
            <a:picLocks noChangeAspect="1"/>
          </p:cNvPicPr>
          <p:nvPr/>
        </p:nvPicPr>
        <p:blipFill>
          <a:blip r:embed="rId13"/>
          <a:stretch>
            <a:fillRect/>
          </a:stretch>
        </p:blipFill>
        <p:spPr>
          <a:xfrm>
            <a:off x="6003074" y="4219658"/>
            <a:ext cx="128699" cy="187198"/>
          </a:xfrm>
          <a:prstGeom prst="rect">
            <a:avLst/>
          </a:prstGeom>
        </p:spPr>
      </p:pic>
      <p:sp>
        <p:nvSpPr>
          <p:cNvPr id="90" name="TextBox 89"/>
          <p:cNvSpPr txBox="1"/>
          <p:nvPr/>
        </p:nvSpPr>
        <p:spPr>
          <a:xfrm>
            <a:off x="617057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1" name="Picture 90" descr="lock.png"/>
          <p:cNvPicPr>
            <a:picLocks noChangeAspect="1"/>
          </p:cNvPicPr>
          <p:nvPr/>
        </p:nvPicPr>
        <p:blipFill>
          <a:blip r:embed="rId13"/>
          <a:stretch>
            <a:fillRect/>
          </a:stretch>
        </p:blipFill>
        <p:spPr>
          <a:xfrm>
            <a:off x="7030020" y="4219658"/>
            <a:ext cx="128699" cy="187198"/>
          </a:xfrm>
          <a:prstGeom prst="rect">
            <a:avLst/>
          </a:prstGeom>
        </p:spPr>
      </p:pic>
      <p:sp>
        <p:nvSpPr>
          <p:cNvPr id="92" name="TextBox 91"/>
          <p:cNvSpPr txBox="1"/>
          <p:nvPr/>
        </p:nvSpPr>
        <p:spPr>
          <a:xfrm>
            <a:off x="7197516"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93" name="TextBox 92"/>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94" name="TextBox 93"/>
          <p:cNvSpPr txBox="1"/>
          <p:nvPr/>
        </p:nvSpPr>
        <p:spPr>
          <a:xfrm>
            <a:off x="3838575" y="4615009"/>
            <a:ext cx="880293" cy="186689"/>
          </a:xfrm>
          <a:prstGeom prst="rect">
            <a:avLst/>
          </a:prstGeom>
          <a:noFill/>
        </p:spPr>
        <p:txBody>
          <a:bodyPr wrap="none" lIns="0" rIns="0" tIns="0" bIns="0">
            <a:spAutoFit/>
          </a:bodyPr>
          <a:lstStyle/>
          <a:p>
            <a:r>
              <a:rPr sz="1100" b="0">
                <a:solidFill>
                  <a:srgbClr val="2E2E2E"/>
                </a:solidFill>
                <a:latin typeface="Calibri"/>
              </a:rPr>
              <a:t>● Mass Retail:</a:t>
            </a:r>
          </a:p>
        </p:txBody>
      </p:sp>
      <p:pic>
        <p:nvPicPr>
          <p:cNvPr id="95" name="Picture 94" descr="lock.png"/>
          <p:cNvPicPr>
            <a:picLocks noChangeAspect="1"/>
          </p:cNvPicPr>
          <p:nvPr/>
        </p:nvPicPr>
        <p:blipFill>
          <a:blip r:embed="rId13"/>
          <a:stretch>
            <a:fillRect/>
          </a:stretch>
        </p:blipFill>
        <p:spPr>
          <a:xfrm>
            <a:off x="4666920" y="4605230"/>
            <a:ext cx="128699" cy="187198"/>
          </a:xfrm>
          <a:prstGeom prst="rect">
            <a:avLst/>
          </a:prstGeom>
        </p:spPr>
      </p:pic>
      <p:sp>
        <p:nvSpPr>
          <p:cNvPr id="96" name="TextBox 95"/>
          <p:cNvSpPr txBox="1"/>
          <p:nvPr/>
        </p:nvSpPr>
        <p:spPr>
          <a:xfrm>
            <a:off x="483441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7" name="Picture 96" descr="lock.png"/>
          <p:cNvPicPr>
            <a:picLocks noChangeAspect="1"/>
          </p:cNvPicPr>
          <p:nvPr/>
        </p:nvPicPr>
        <p:blipFill>
          <a:blip r:embed="rId13"/>
          <a:stretch>
            <a:fillRect/>
          </a:stretch>
        </p:blipFill>
        <p:spPr>
          <a:xfrm>
            <a:off x="5693866" y="4605230"/>
            <a:ext cx="128699" cy="187198"/>
          </a:xfrm>
          <a:prstGeom prst="rect">
            <a:avLst/>
          </a:prstGeom>
        </p:spPr>
      </p:pic>
      <p:sp>
        <p:nvSpPr>
          <p:cNvPr id="98" name="TextBox 97"/>
          <p:cNvSpPr txBox="1"/>
          <p:nvPr/>
        </p:nvSpPr>
        <p:spPr>
          <a:xfrm>
            <a:off x="5861362"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99" name="TextBox 98"/>
          <p:cNvSpPr txBox="1"/>
          <p:nvPr/>
        </p:nvSpPr>
        <p:spPr>
          <a:xfrm>
            <a:off x="3838575" y="4832941"/>
            <a:ext cx="1405532" cy="186689"/>
          </a:xfrm>
          <a:prstGeom prst="rect">
            <a:avLst/>
          </a:prstGeom>
          <a:noFill/>
        </p:spPr>
        <p:txBody>
          <a:bodyPr wrap="none" lIns="0" rIns="0" tIns="0" bIns="0">
            <a:spAutoFit/>
          </a:bodyPr>
          <a:lstStyle/>
          <a:p>
            <a:r>
              <a:rPr sz="1100" b="0">
                <a:solidFill>
                  <a:srgbClr val="2E2E2E"/>
                </a:solidFill>
                <a:latin typeface="Calibri"/>
              </a:rPr>
              <a:t>● Online Marketplaces:</a:t>
            </a:r>
          </a:p>
        </p:txBody>
      </p:sp>
      <p:pic>
        <p:nvPicPr>
          <p:cNvPr id="100" name="Picture 99" descr="lock.png"/>
          <p:cNvPicPr>
            <a:picLocks noChangeAspect="1"/>
          </p:cNvPicPr>
          <p:nvPr/>
        </p:nvPicPr>
        <p:blipFill>
          <a:blip r:embed="rId13"/>
          <a:stretch>
            <a:fillRect/>
          </a:stretch>
        </p:blipFill>
        <p:spPr>
          <a:xfrm>
            <a:off x="5192159" y="4823162"/>
            <a:ext cx="128699" cy="187198"/>
          </a:xfrm>
          <a:prstGeom prst="rect">
            <a:avLst/>
          </a:prstGeom>
        </p:spPr>
      </p:pic>
      <p:sp>
        <p:nvSpPr>
          <p:cNvPr id="101" name="TextBox 100"/>
          <p:cNvSpPr txBox="1"/>
          <p:nvPr/>
        </p:nvSpPr>
        <p:spPr>
          <a:xfrm>
            <a:off x="5359655"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2" name="Picture 101" descr="lock.png"/>
          <p:cNvPicPr>
            <a:picLocks noChangeAspect="1"/>
          </p:cNvPicPr>
          <p:nvPr/>
        </p:nvPicPr>
        <p:blipFill>
          <a:blip r:embed="rId13"/>
          <a:stretch>
            <a:fillRect/>
          </a:stretch>
        </p:blipFill>
        <p:spPr>
          <a:xfrm>
            <a:off x="6219105" y="4823162"/>
            <a:ext cx="128699" cy="187198"/>
          </a:xfrm>
          <a:prstGeom prst="rect">
            <a:avLst/>
          </a:prstGeom>
        </p:spPr>
      </p:pic>
      <p:sp>
        <p:nvSpPr>
          <p:cNvPr id="103" name="TextBox 102"/>
          <p:cNvSpPr txBox="1"/>
          <p:nvPr/>
        </p:nvSpPr>
        <p:spPr>
          <a:xfrm>
            <a:off x="6386601" y="483294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04" name="TextBox 103"/>
          <p:cNvSpPr txBox="1"/>
          <p:nvPr/>
        </p:nvSpPr>
        <p:spPr>
          <a:xfrm>
            <a:off x="8524875" y="5842641"/>
            <a:ext cx="3048830" cy="194310"/>
          </a:xfrm>
          <a:prstGeom prst="rect">
            <a:avLst/>
          </a:prstGeom>
          <a:noFill/>
        </p:spPr>
        <p:txBody>
          <a:bodyPr wrap="none" lIns="0" rIns="0" tIns="0" bIns="0">
            <a:spAutoFit/>
          </a:bodyPr>
          <a:lstStyle/>
          <a:p>
            <a:r>
              <a:rPr sz="1150" b="1">
                <a:solidFill>
                  <a:srgbClr val="0B2E4A"/>
                </a:solidFill>
                <a:latin typeface="Calibri"/>
              </a:rPr>
              <a:t>The Distribution Channel segment is projected to</a:t>
            </a:r>
          </a:p>
        </p:txBody>
      </p:sp>
      <p:sp>
        <p:nvSpPr>
          <p:cNvPr id="105" name="TextBox 104"/>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06" name="Picture 105" descr="lock.png"/>
          <p:cNvPicPr>
            <a:picLocks noChangeAspect="1"/>
          </p:cNvPicPr>
          <p:nvPr/>
        </p:nvPicPr>
        <p:blipFill>
          <a:blip r:embed="rId13"/>
          <a:stretch>
            <a:fillRect/>
          </a:stretch>
        </p:blipFill>
        <p:spPr>
          <a:xfrm>
            <a:off x="9651852" y="6007677"/>
            <a:ext cx="134549" cy="195707"/>
          </a:xfrm>
          <a:prstGeom prst="rect">
            <a:avLst/>
          </a:prstGeom>
        </p:spPr>
      </p:pic>
      <p:sp>
        <p:nvSpPr>
          <p:cNvPr id="107" name="TextBox 106"/>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Distribution Channel Segment Outlook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Distribution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325755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325755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Beauty Specialty Retail</a:t>
            </a:r>
          </a:p>
        </p:txBody>
      </p:sp>
      <p:sp>
        <p:nvSpPr>
          <p:cNvPr id="22" name="Rectangle 21"/>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23" name="Rectangle 22"/>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24" name="Rectangle 23"/>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25" name="Oval 24"/>
          <p:cNvSpPr/>
          <p:nvPr/>
        </p:nvSpPr>
        <p:spPr>
          <a:xfrm>
            <a:off x="333375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26" name="Rounded Rectangle 25"/>
          <p:cNvSpPr/>
          <p:nvPr/>
        </p:nvSpPr>
        <p:spPr>
          <a:xfrm>
            <a:off x="5238750" y="1773916"/>
            <a:ext cx="325755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8750" y="1992961"/>
            <a:ext cx="325755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Pharmacies and Drugstores</a:t>
            </a:r>
          </a:p>
        </p:txBody>
      </p:sp>
      <p:sp>
        <p:nvSpPr>
          <p:cNvPr id="29" name="Rectangle 28"/>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30" name="Rectangle 29"/>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31" name="Rectangle 30"/>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32" name="Oval 31"/>
          <p:cNvSpPr/>
          <p:nvPr/>
        </p:nvSpPr>
        <p:spPr>
          <a:xfrm>
            <a:off x="670560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33" name="Rounded Rectangle 32"/>
          <p:cNvSpPr/>
          <p:nvPr/>
        </p:nvSpPr>
        <p:spPr>
          <a:xfrm>
            <a:off x="8610600" y="1773916"/>
            <a:ext cx="3257550"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10600" y="1992961"/>
            <a:ext cx="3257550"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Brand-owned Online Stores</a:t>
            </a:r>
          </a:p>
        </p:txBody>
      </p:sp>
      <p:sp>
        <p:nvSpPr>
          <p:cNvPr id="36" name="Rectangle 35"/>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7" name="Rectangle 36"/>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8" name="Rectangle 37"/>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39" name="Oval 38"/>
          <p:cNvSpPr/>
          <p:nvPr/>
        </p:nvSpPr>
        <p:spPr>
          <a:xfrm>
            <a:off x="10077450"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40" name="Rounded Rectangle 39"/>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2" name="Rectangle 41"/>
          <p:cNvSpPr/>
          <p:nvPr/>
        </p:nvSpPr>
        <p:spPr>
          <a:xfrm>
            <a:off x="457200" y="4146897"/>
            <a:ext cx="112776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5" name="TextBox 4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6" name="Picture 45" descr="775_4_605E5C.png"/>
          <p:cNvPicPr>
            <a:picLocks noChangeAspect="1"/>
          </p:cNvPicPr>
          <p:nvPr/>
        </p:nvPicPr>
        <p:blipFill>
          <a:blip r:embed="rId4"/>
          <a:stretch>
            <a:fillRect/>
          </a:stretch>
        </p:blipFill>
        <p:spPr>
          <a:xfrm>
            <a:off x="2897811" y="2286582"/>
            <a:ext cx="1195728" cy="361950"/>
          </a:xfrm>
          <a:prstGeom prst="rect">
            <a:avLst/>
          </a:prstGeom>
        </p:spPr>
      </p:pic>
      <p:pic>
        <p:nvPicPr>
          <p:cNvPr id="47" name="Picture 46" descr="1_423_605E5C.png"/>
          <p:cNvPicPr>
            <a:picLocks noChangeAspect="1"/>
          </p:cNvPicPr>
          <p:nvPr/>
        </p:nvPicPr>
        <p:blipFill>
          <a:blip r:embed="rId5"/>
          <a:stretch>
            <a:fillRect/>
          </a:stretch>
        </p:blipFill>
        <p:spPr>
          <a:xfrm>
            <a:off x="2897811" y="2779432"/>
            <a:ext cx="1195728" cy="361950"/>
          </a:xfrm>
          <a:prstGeom prst="rect">
            <a:avLst/>
          </a:prstGeom>
        </p:spPr>
      </p:pic>
      <p:pic>
        <p:nvPicPr>
          <p:cNvPr id="48" name="Picture 47" descr="6_3__605E5C.png"/>
          <p:cNvPicPr>
            <a:picLocks noChangeAspect="1"/>
          </p:cNvPicPr>
          <p:nvPr/>
        </p:nvPicPr>
        <p:blipFill>
          <a:blip r:embed="rId6"/>
          <a:stretch>
            <a:fillRect/>
          </a:stretch>
        </p:blipFill>
        <p:spPr>
          <a:xfrm>
            <a:off x="3004457" y="3272281"/>
            <a:ext cx="982436" cy="361950"/>
          </a:xfrm>
          <a:prstGeom prst="rect">
            <a:avLst/>
          </a:prstGeom>
        </p:spPr>
      </p:pic>
      <p:pic>
        <p:nvPicPr>
          <p:cNvPr id="49" name="Picture 48" descr="765_2_605E5C.png"/>
          <p:cNvPicPr>
            <a:picLocks noChangeAspect="1"/>
          </p:cNvPicPr>
          <p:nvPr/>
        </p:nvPicPr>
        <p:blipFill>
          <a:blip r:embed="rId7"/>
          <a:stretch>
            <a:fillRect/>
          </a:stretch>
        </p:blipFill>
        <p:spPr>
          <a:xfrm>
            <a:off x="6269661" y="2286582"/>
            <a:ext cx="1195728" cy="361950"/>
          </a:xfrm>
          <a:prstGeom prst="rect">
            <a:avLst/>
          </a:prstGeom>
        </p:spPr>
      </p:pic>
      <p:pic>
        <p:nvPicPr>
          <p:cNvPr id="50" name="Picture 49" descr="1_280_605E5C.png"/>
          <p:cNvPicPr>
            <a:picLocks noChangeAspect="1"/>
          </p:cNvPicPr>
          <p:nvPr/>
        </p:nvPicPr>
        <p:blipFill>
          <a:blip r:embed="rId8"/>
          <a:stretch>
            <a:fillRect/>
          </a:stretch>
        </p:blipFill>
        <p:spPr>
          <a:xfrm>
            <a:off x="6269661" y="2779432"/>
            <a:ext cx="1195728" cy="361950"/>
          </a:xfrm>
          <a:prstGeom prst="rect">
            <a:avLst/>
          </a:prstGeom>
        </p:spPr>
      </p:pic>
      <p:pic>
        <p:nvPicPr>
          <p:cNvPr id="51" name="Picture 50" descr="5_3__605E5C.png"/>
          <p:cNvPicPr>
            <a:picLocks noChangeAspect="1"/>
          </p:cNvPicPr>
          <p:nvPr/>
        </p:nvPicPr>
        <p:blipFill>
          <a:blip r:embed="rId9"/>
          <a:stretch>
            <a:fillRect/>
          </a:stretch>
        </p:blipFill>
        <p:spPr>
          <a:xfrm>
            <a:off x="6376307" y="3272281"/>
            <a:ext cx="982436" cy="361950"/>
          </a:xfrm>
          <a:prstGeom prst="rect">
            <a:avLst/>
          </a:prstGeom>
        </p:spPr>
      </p:pic>
      <p:pic>
        <p:nvPicPr>
          <p:cNvPr id="52" name="Picture 51" descr="616_7_605E5C.png"/>
          <p:cNvPicPr>
            <a:picLocks noChangeAspect="1"/>
          </p:cNvPicPr>
          <p:nvPr/>
        </p:nvPicPr>
        <p:blipFill>
          <a:blip r:embed="rId10"/>
          <a:stretch>
            <a:fillRect/>
          </a:stretch>
        </p:blipFill>
        <p:spPr>
          <a:xfrm>
            <a:off x="9641511" y="2286582"/>
            <a:ext cx="1195728" cy="361950"/>
          </a:xfrm>
          <a:prstGeom prst="rect">
            <a:avLst/>
          </a:prstGeom>
        </p:spPr>
      </p:pic>
      <p:pic>
        <p:nvPicPr>
          <p:cNvPr id="53" name="Picture 52" descr="1_206_605E5C.png"/>
          <p:cNvPicPr>
            <a:picLocks noChangeAspect="1"/>
          </p:cNvPicPr>
          <p:nvPr/>
        </p:nvPicPr>
        <p:blipFill>
          <a:blip r:embed="rId11"/>
          <a:stretch>
            <a:fillRect/>
          </a:stretch>
        </p:blipFill>
        <p:spPr>
          <a:xfrm>
            <a:off x="9641511" y="2779432"/>
            <a:ext cx="1195728" cy="361950"/>
          </a:xfrm>
          <a:prstGeom prst="rect">
            <a:avLst/>
          </a:prstGeom>
        </p:spPr>
      </p:pic>
      <p:pic>
        <p:nvPicPr>
          <p:cNvPr id="54" name="Picture 53" descr="6_9__605E5C.png"/>
          <p:cNvPicPr>
            <a:picLocks noChangeAspect="1"/>
          </p:cNvPicPr>
          <p:nvPr/>
        </p:nvPicPr>
        <p:blipFill>
          <a:blip r:embed="rId12"/>
          <a:stretch>
            <a:fillRect/>
          </a:stretch>
        </p:blipFill>
        <p:spPr>
          <a:xfrm>
            <a:off x="9748157" y="3272281"/>
            <a:ext cx="982436" cy="361950"/>
          </a:xfrm>
          <a:prstGeom prst="rect">
            <a:avLst/>
          </a:prstGeom>
        </p:spPr>
      </p:pic>
      <p:pic>
        <p:nvPicPr>
          <p:cNvPr id="55" name="Picture 54" descr="lock.png"/>
          <p:cNvPicPr>
            <a:picLocks noChangeAspect="1"/>
          </p:cNvPicPr>
          <p:nvPr/>
        </p:nvPicPr>
        <p:blipFill>
          <a:blip r:embed="rId13"/>
          <a:stretch>
            <a:fillRect/>
          </a:stretch>
        </p:blipFill>
        <p:spPr>
          <a:xfrm>
            <a:off x="3402330" y="2827057"/>
            <a:ext cx="183356" cy="266700"/>
          </a:xfrm>
          <a:prstGeom prst="rect">
            <a:avLst/>
          </a:prstGeom>
        </p:spPr>
      </p:pic>
      <p:pic>
        <p:nvPicPr>
          <p:cNvPr id="56" name="Picture 55" descr="lock.png"/>
          <p:cNvPicPr>
            <a:picLocks noChangeAspect="1"/>
          </p:cNvPicPr>
          <p:nvPr/>
        </p:nvPicPr>
        <p:blipFill>
          <a:blip r:embed="rId13"/>
          <a:stretch>
            <a:fillRect/>
          </a:stretch>
        </p:blipFill>
        <p:spPr>
          <a:xfrm>
            <a:off x="6774180" y="2827057"/>
            <a:ext cx="183356" cy="266700"/>
          </a:xfrm>
          <a:prstGeom prst="rect">
            <a:avLst/>
          </a:prstGeom>
        </p:spPr>
      </p:pic>
      <p:pic>
        <p:nvPicPr>
          <p:cNvPr id="57" name="Picture 56" descr="lock.png"/>
          <p:cNvPicPr>
            <a:picLocks noChangeAspect="1"/>
          </p:cNvPicPr>
          <p:nvPr/>
        </p:nvPicPr>
        <p:blipFill>
          <a:blip r:embed="rId13"/>
          <a:stretch>
            <a:fillRect/>
          </a:stretch>
        </p:blipFill>
        <p:spPr>
          <a:xfrm>
            <a:off x="10146030" y="2827057"/>
            <a:ext cx="183356" cy="266700"/>
          </a:xfrm>
          <a:prstGeom prst="rect">
            <a:avLst/>
          </a:prstGeom>
        </p:spPr>
      </p:pic>
      <p:sp>
        <p:nvSpPr>
          <p:cNvPr id="58" name="TextBox 57"/>
          <p:cNvSpPr txBox="1"/>
          <p:nvPr/>
        </p:nvSpPr>
        <p:spPr>
          <a:xfrm>
            <a:off x="485775" y="4229437"/>
            <a:ext cx="1520403" cy="186689"/>
          </a:xfrm>
          <a:prstGeom prst="rect">
            <a:avLst/>
          </a:prstGeom>
          <a:noFill/>
        </p:spPr>
        <p:txBody>
          <a:bodyPr wrap="none" lIns="0" rIns="0" tIns="0" bIns="0">
            <a:spAutoFit/>
          </a:bodyPr>
          <a:lstStyle/>
          <a:p>
            <a:r>
              <a:rPr sz="1100" b="0">
                <a:solidFill>
                  <a:srgbClr val="2E2E2E"/>
                </a:solidFill>
                <a:latin typeface="Calibri"/>
              </a:rPr>
              <a:t>● Beauty Specialty Retail:</a:t>
            </a:r>
          </a:p>
        </p:txBody>
      </p:sp>
      <p:pic>
        <p:nvPicPr>
          <p:cNvPr id="59" name="Picture 58" descr="lock.png"/>
          <p:cNvPicPr>
            <a:picLocks noChangeAspect="1"/>
          </p:cNvPicPr>
          <p:nvPr/>
        </p:nvPicPr>
        <p:blipFill>
          <a:blip r:embed="rId13"/>
          <a:stretch>
            <a:fillRect/>
          </a:stretch>
        </p:blipFill>
        <p:spPr>
          <a:xfrm>
            <a:off x="1954229" y="4219658"/>
            <a:ext cx="128699" cy="187198"/>
          </a:xfrm>
          <a:prstGeom prst="rect">
            <a:avLst/>
          </a:prstGeom>
        </p:spPr>
      </p:pic>
      <p:sp>
        <p:nvSpPr>
          <p:cNvPr id="60" name="TextBox 59"/>
          <p:cNvSpPr txBox="1"/>
          <p:nvPr/>
        </p:nvSpPr>
        <p:spPr>
          <a:xfrm>
            <a:off x="2121725"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1" name="Picture 60" descr="lock.png"/>
          <p:cNvPicPr>
            <a:picLocks noChangeAspect="1"/>
          </p:cNvPicPr>
          <p:nvPr/>
        </p:nvPicPr>
        <p:blipFill>
          <a:blip r:embed="rId13"/>
          <a:stretch>
            <a:fillRect/>
          </a:stretch>
        </p:blipFill>
        <p:spPr>
          <a:xfrm>
            <a:off x="2981175" y="4219658"/>
            <a:ext cx="128699" cy="187198"/>
          </a:xfrm>
          <a:prstGeom prst="rect">
            <a:avLst/>
          </a:prstGeom>
        </p:spPr>
      </p:pic>
      <p:sp>
        <p:nvSpPr>
          <p:cNvPr id="62" name="TextBox 61"/>
          <p:cNvSpPr txBox="1"/>
          <p:nvPr/>
        </p:nvSpPr>
        <p:spPr>
          <a:xfrm>
            <a:off x="3148671"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3" name="TextBox 62"/>
          <p:cNvSpPr txBox="1"/>
          <p:nvPr/>
        </p:nvSpPr>
        <p:spPr>
          <a:xfrm>
            <a:off x="485775" y="4447369"/>
            <a:ext cx="1783977" cy="186689"/>
          </a:xfrm>
          <a:prstGeom prst="rect">
            <a:avLst/>
          </a:prstGeom>
          <a:noFill/>
        </p:spPr>
        <p:txBody>
          <a:bodyPr wrap="none" lIns="0" rIns="0" tIns="0" bIns="0">
            <a:spAutoFit/>
          </a:bodyPr>
          <a:lstStyle/>
          <a:p>
            <a:r>
              <a:rPr sz="1100" b="0">
                <a:solidFill>
                  <a:srgbClr val="2E2E2E"/>
                </a:solidFill>
                <a:latin typeface="Calibri"/>
              </a:rPr>
              <a:t>● Pharmacies and Drugstores:</a:t>
            </a:r>
          </a:p>
        </p:txBody>
      </p:sp>
      <p:pic>
        <p:nvPicPr>
          <p:cNvPr id="64" name="Picture 63" descr="lock.png"/>
          <p:cNvPicPr>
            <a:picLocks noChangeAspect="1"/>
          </p:cNvPicPr>
          <p:nvPr/>
        </p:nvPicPr>
        <p:blipFill>
          <a:blip r:embed="rId13"/>
          <a:stretch>
            <a:fillRect/>
          </a:stretch>
        </p:blipFill>
        <p:spPr>
          <a:xfrm>
            <a:off x="2217804" y="4437590"/>
            <a:ext cx="128699" cy="187198"/>
          </a:xfrm>
          <a:prstGeom prst="rect">
            <a:avLst/>
          </a:prstGeom>
        </p:spPr>
      </p:pic>
      <p:sp>
        <p:nvSpPr>
          <p:cNvPr id="65" name="TextBox 64"/>
          <p:cNvSpPr txBox="1"/>
          <p:nvPr/>
        </p:nvSpPr>
        <p:spPr>
          <a:xfrm>
            <a:off x="238530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66" name="Picture 65" descr="lock.png"/>
          <p:cNvPicPr>
            <a:picLocks noChangeAspect="1"/>
          </p:cNvPicPr>
          <p:nvPr/>
        </p:nvPicPr>
        <p:blipFill>
          <a:blip r:embed="rId13"/>
          <a:stretch>
            <a:fillRect/>
          </a:stretch>
        </p:blipFill>
        <p:spPr>
          <a:xfrm>
            <a:off x="3244750" y="4437590"/>
            <a:ext cx="128699" cy="187198"/>
          </a:xfrm>
          <a:prstGeom prst="rect">
            <a:avLst/>
          </a:prstGeom>
        </p:spPr>
      </p:pic>
      <p:sp>
        <p:nvSpPr>
          <p:cNvPr id="67" name="TextBox 66"/>
          <p:cNvSpPr txBox="1"/>
          <p:nvPr/>
        </p:nvSpPr>
        <p:spPr>
          <a:xfrm>
            <a:off x="3412246"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68" name="TextBox 67"/>
          <p:cNvSpPr txBox="1"/>
          <p:nvPr/>
        </p:nvSpPr>
        <p:spPr>
          <a:xfrm>
            <a:off x="485775" y="4665301"/>
            <a:ext cx="1795164" cy="186689"/>
          </a:xfrm>
          <a:prstGeom prst="rect">
            <a:avLst/>
          </a:prstGeom>
          <a:noFill/>
        </p:spPr>
        <p:txBody>
          <a:bodyPr wrap="none" lIns="0" rIns="0" tIns="0" bIns="0">
            <a:spAutoFit/>
          </a:bodyPr>
          <a:lstStyle/>
          <a:p>
            <a:r>
              <a:rPr sz="1100" b="0">
                <a:solidFill>
                  <a:srgbClr val="2E2E2E"/>
                </a:solidFill>
                <a:latin typeface="Calibri"/>
              </a:rPr>
              <a:t>● Brand-owned Online Stores:</a:t>
            </a:r>
          </a:p>
        </p:txBody>
      </p:sp>
      <p:pic>
        <p:nvPicPr>
          <p:cNvPr id="69" name="Picture 68" descr="lock.png"/>
          <p:cNvPicPr>
            <a:picLocks noChangeAspect="1"/>
          </p:cNvPicPr>
          <p:nvPr/>
        </p:nvPicPr>
        <p:blipFill>
          <a:blip r:embed="rId13"/>
          <a:stretch>
            <a:fillRect/>
          </a:stretch>
        </p:blipFill>
        <p:spPr>
          <a:xfrm>
            <a:off x="2228991" y="4655522"/>
            <a:ext cx="128699" cy="187198"/>
          </a:xfrm>
          <a:prstGeom prst="rect">
            <a:avLst/>
          </a:prstGeom>
        </p:spPr>
      </p:pic>
      <p:sp>
        <p:nvSpPr>
          <p:cNvPr id="70" name="TextBox 69"/>
          <p:cNvSpPr txBox="1"/>
          <p:nvPr/>
        </p:nvSpPr>
        <p:spPr>
          <a:xfrm>
            <a:off x="239648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1" name="Picture 70" descr="lock.png"/>
          <p:cNvPicPr>
            <a:picLocks noChangeAspect="1"/>
          </p:cNvPicPr>
          <p:nvPr/>
        </p:nvPicPr>
        <p:blipFill>
          <a:blip r:embed="rId13"/>
          <a:stretch>
            <a:fillRect/>
          </a:stretch>
        </p:blipFill>
        <p:spPr>
          <a:xfrm>
            <a:off x="3255937" y="4655522"/>
            <a:ext cx="128699" cy="187198"/>
          </a:xfrm>
          <a:prstGeom prst="rect">
            <a:avLst/>
          </a:prstGeom>
        </p:spPr>
      </p:pic>
      <p:sp>
        <p:nvSpPr>
          <p:cNvPr id="72" name="TextBox 71"/>
          <p:cNvSpPr txBox="1"/>
          <p:nvPr/>
        </p:nvSpPr>
        <p:spPr>
          <a:xfrm>
            <a:off x="3423433"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Distribution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Distribution Channel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57384" cy="186689"/>
          </a:xfrm>
          <a:prstGeom prst="rect">
            <a:avLst/>
          </a:prstGeom>
          <a:noFill/>
        </p:spPr>
        <p:txBody>
          <a:bodyPr wrap="none" lIns="0" rIns="0" tIns="0" bIns="0">
            <a:spAutoFit/>
          </a:bodyPr>
          <a:lstStyle/>
          <a:p>
            <a:r>
              <a:rPr sz="1100" b="0">
                <a:solidFill>
                  <a:srgbClr val="2E2E2E"/>
                </a:solidFill>
                <a:latin typeface="Calibri"/>
              </a:rPr>
              <a:t>Online marketplaces followed by salon and professional distribution are expected to be the two most attractive distribution channel segments in the North America hair styling products market in terms of</a:t>
            </a:r>
          </a:p>
        </p:txBody>
      </p:sp>
      <p:sp>
        <p:nvSpPr>
          <p:cNvPr id="21" name="TextBox 20"/>
          <p:cNvSpPr txBox="1"/>
          <p:nvPr/>
        </p:nvSpPr>
        <p:spPr>
          <a:xfrm>
            <a:off x="257175" y="5861685"/>
            <a:ext cx="6621891" cy="186689"/>
          </a:xfrm>
          <a:prstGeom prst="rect">
            <a:avLst/>
          </a:prstGeom>
          <a:noFill/>
        </p:spPr>
        <p:txBody>
          <a:bodyPr wrap="none" lIns="0" rIns="0" tIns="0" bIns="0">
            <a:spAutoFit/>
          </a:bodyPr>
          <a:lstStyle/>
          <a:p>
            <a:r>
              <a:rPr sz="1100" b="0">
                <a:solidFill>
                  <a:srgbClr val="2E2E2E"/>
                </a:solidFill>
                <a:latin typeface="Calibri"/>
              </a:rPr>
              <a:t>value over the forecast period. Online marketplaces and salon and professional distribution exhibit a CAGR index of</a:t>
            </a:r>
          </a:p>
        </p:txBody>
      </p:sp>
      <p:pic>
        <p:nvPicPr>
          <p:cNvPr id="22" name="Picture 21" descr="lock.png"/>
          <p:cNvPicPr>
            <a:picLocks noChangeAspect="1"/>
          </p:cNvPicPr>
          <p:nvPr/>
        </p:nvPicPr>
        <p:blipFill>
          <a:blip r:embed="rId6"/>
          <a:stretch>
            <a:fillRect/>
          </a:stretch>
        </p:blipFill>
        <p:spPr>
          <a:xfrm>
            <a:off x="6827118" y="5851905"/>
            <a:ext cx="128699" cy="187198"/>
          </a:xfrm>
          <a:prstGeom prst="rect">
            <a:avLst/>
          </a:prstGeom>
        </p:spPr>
      </p:pic>
      <p:sp>
        <p:nvSpPr>
          <p:cNvPr id="23" name="TextBox 22"/>
          <p:cNvSpPr txBox="1"/>
          <p:nvPr/>
        </p:nvSpPr>
        <p:spPr>
          <a:xfrm>
            <a:off x="699461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7232508" y="5851905"/>
            <a:ext cx="128699" cy="187198"/>
          </a:xfrm>
          <a:prstGeom prst="rect">
            <a:avLst/>
          </a:prstGeom>
        </p:spPr>
      </p:pic>
      <p:sp>
        <p:nvSpPr>
          <p:cNvPr id="25" name="TextBox 24"/>
          <p:cNvSpPr txBox="1"/>
          <p:nvPr/>
        </p:nvSpPr>
        <p:spPr>
          <a:xfrm>
            <a:off x="740000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9008978" y="5851905"/>
            <a:ext cx="128699" cy="187198"/>
          </a:xfrm>
          <a:prstGeom prst="rect">
            <a:avLst/>
          </a:prstGeom>
        </p:spPr>
      </p:pic>
      <p:sp>
        <p:nvSpPr>
          <p:cNvPr id="27" name="TextBox 26"/>
          <p:cNvSpPr txBox="1"/>
          <p:nvPr/>
        </p:nvSpPr>
        <p:spPr>
          <a:xfrm>
            <a:off x="917647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9414368" y="5851905"/>
            <a:ext cx="128699" cy="187198"/>
          </a:xfrm>
          <a:prstGeom prst="rect">
            <a:avLst/>
          </a:prstGeom>
        </p:spPr>
      </p:pic>
      <p:sp>
        <p:nvSpPr>
          <p:cNvPr id="29" name="TextBox 28"/>
          <p:cNvSpPr txBox="1"/>
          <p:nvPr/>
        </p:nvSpPr>
        <p:spPr>
          <a:xfrm>
            <a:off x="9581864"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30" name="TextBox 29"/>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1" name="Picture 30" descr="lock.png"/>
          <p:cNvPicPr>
            <a:picLocks noChangeAspect="1"/>
          </p:cNvPicPr>
          <p:nvPr/>
        </p:nvPicPr>
        <p:blipFill>
          <a:blip r:embed="rId6"/>
          <a:stretch>
            <a:fillRect/>
          </a:stretch>
        </p:blipFill>
        <p:spPr>
          <a:xfrm>
            <a:off x="879790" y="6019545"/>
            <a:ext cx="128699" cy="187198"/>
          </a:xfrm>
          <a:prstGeom prst="rect">
            <a:avLst/>
          </a:prstGeom>
        </p:spPr>
      </p:pic>
      <p:sp>
        <p:nvSpPr>
          <p:cNvPr id="32" name="TextBox 31"/>
          <p:cNvSpPr txBox="1"/>
          <p:nvPr/>
        </p:nvSpPr>
        <p:spPr>
          <a:xfrm>
            <a:off x="1047285" y="6029325"/>
            <a:ext cx="10655183" cy="186689"/>
          </a:xfrm>
          <a:prstGeom prst="rect">
            <a:avLst/>
          </a:prstGeom>
          <a:noFill/>
        </p:spPr>
        <p:txBody>
          <a:bodyPr wrap="none" lIns="0" rIns="0" tIns="0" bIns="0">
            <a:spAutoFit/>
          </a:bodyPr>
          <a:lstStyle/>
          <a:p>
            <a:r>
              <a:rPr sz="1100" b="0">
                <a:solidFill>
                  <a:srgbClr val="2E2E2E"/>
                </a:solidFill>
                <a:latin typeface="Calibri"/>
              </a:rPr>
              <a:t>. The pharmacies and drugstores segment is expected to be less attractive as compared to other segments over the forecast period, owing to its lower CAGR and incremental opportunity.</a:t>
            </a:r>
          </a:p>
        </p:txBody>
      </p:sp>
      <p:sp>
        <p:nvSpPr>
          <p:cNvPr id="33" name="TextBox 32"/>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Distribution Channel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Mass Retail</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Beauty Specialty Retail</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Salon and Professional Distribution</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Pharmacies and Drugstores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Distribution Channel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Distribution Channel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Online Marketplaces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Brand-owned Online Stores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Distribution Channel</a:t>
            </a:r>
          </a:p>
        </p:txBody>
      </p:sp>
      <p:sp>
        <p:nvSpPr>
          <p:cNvPr id="18" name="Rectangle 17"/>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6"/>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6"/>
          <a:stretch>
            <a:fillRect/>
          </a:stretch>
        </p:blipFill>
        <p:spPr>
          <a:xfrm>
            <a:off x="3100230" y="5216754"/>
            <a:ext cx="252890" cy="367840"/>
          </a:xfrm>
          <a:prstGeom prst="rect">
            <a:avLst/>
          </a:prstGeom>
        </p:spPr>
      </p:pic>
      <p:sp>
        <p:nvSpPr>
          <p:cNvPr id="23" name="TextBox 22"/>
          <p:cNvSpPr txBox="1"/>
          <p:nvPr/>
        </p:nvSpPr>
        <p:spPr>
          <a:xfrm>
            <a:off x="6305550" y="1598245"/>
            <a:ext cx="4702710" cy="194310"/>
          </a:xfrm>
          <a:prstGeom prst="rect">
            <a:avLst/>
          </a:prstGeom>
          <a:noFill/>
        </p:spPr>
        <p:txBody>
          <a:bodyPr wrap="none" lIns="0" rIns="0" tIns="0" bIns="0">
            <a:spAutoFit/>
          </a:bodyPr>
          <a:lstStyle/>
          <a:p>
            <a:r>
              <a:rPr sz="1150" b="0">
                <a:solidFill>
                  <a:srgbClr val="2E2E2E"/>
                </a:solidFill>
                <a:latin typeface="Calibri"/>
              </a:rPr>
              <a:t>By 2036, online marketplaces segment is anticipated to witness an increase of</a:t>
            </a:r>
          </a:p>
        </p:txBody>
      </p:sp>
      <p:pic>
        <p:nvPicPr>
          <p:cNvPr id="24" name="Picture 23" descr="lock.png"/>
          <p:cNvPicPr>
            <a:picLocks noChangeAspect="1"/>
          </p:cNvPicPr>
          <p:nvPr/>
        </p:nvPicPr>
        <p:blipFill>
          <a:blip r:embed="rId6"/>
          <a:stretch>
            <a:fillRect/>
          </a:stretch>
        </p:blipFill>
        <p:spPr>
          <a:xfrm>
            <a:off x="10957414" y="1588021"/>
            <a:ext cx="134549" cy="195707"/>
          </a:xfrm>
          <a:prstGeom prst="rect">
            <a:avLst/>
          </a:prstGeom>
        </p:spPr>
      </p:pic>
      <p:sp>
        <p:nvSpPr>
          <p:cNvPr id="25" name="TextBox 24"/>
          <p:cNvSpPr txBox="1"/>
          <p:nvPr/>
        </p:nvSpPr>
        <p:spPr>
          <a:xfrm>
            <a:off x="11132524"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6" name="TextBox 25"/>
          <p:cNvSpPr txBox="1"/>
          <p:nvPr/>
        </p:nvSpPr>
        <p:spPr>
          <a:xfrm>
            <a:off x="6305550" y="1773505"/>
            <a:ext cx="5358817" cy="194310"/>
          </a:xfrm>
          <a:prstGeom prst="rect">
            <a:avLst/>
          </a:prstGeom>
          <a:noFill/>
        </p:spPr>
        <p:txBody>
          <a:bodyPr wrap="none" lIns="0" rIns="0" tIns="0" bIns="0">
            <a:spAutoFit/>
          </a:bodyPr>
          <a:lstStyle/>
          <a:p>
            <a:r>
              <a:rPr sz="1150" b="0">
                <a:solidFill>
                  <a:srgbClr val="2E2E2E"/>
                </a:solidFill>
                <a:latin typeface="Calibri"/>
              </a:rPr>
              <a:t>of value as compared to 2026. The online marketplaces segment is expected to create an</a:t>
            </a:r>
          </a:p>
        </p:txBody>
      </p:sp>
      <p:sp>
        <p:nvSpPr>
          <p:cNvPr id="27" name="TextBox 26"/>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8" name="Picture 27" descr="lock.png"/>
          <p:cNvPicPr>
            <a:picLocks noChangeAspect="1"/>
          </p:cNvPicPr>
          <p:nvPr/>
        </p:nvPicPr>
        <p:blipFill>
          <a:blip r:embed="rId6"/>
          <a:stretch>
            <a:fillRect/>
          </a:stretch>
        </p:blipFill>
        <p:spPr>
          <a:xfrm>
            <a:off x="8211582" y="1938541"/>
            <a:ext cx="134549" cy="195707"/>
          </a:xfrm>
          <a:prstGeom prst="rect">
            <a:avLst/>
          </a:prstGeom>
        </p:spPr>
      </p:pic>
      <p:sp>
        <p:nvSpPr>
          <p:cNvPr id="29" name="TextBox 28"/>
          <p:cNvSpPr txBox="1"/>
          <p:nvPr/>
        </p:nvSpPr>
        <p:spPr>
          <a:xfrm>
            <a:off x="8386692" y="1948765"/>
            <a:ext cx="3175483"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a:t>
            </a:r>
          </a:p>
        </p:txBody>
      </p:sp>
      <p:sp>
        <p:nvSpPr>
          <p:cNvPr id="30" name="TextBox 29"/>
          <p:cNvSpPr txBox="1"/>
          <p:nvPr/>
        </p:nvSpPr>
        <p:spPr>
          <a:xfrm>
            <a:off x="6305550" y="2124025"/>
            <a:ext cx="898587" cy="194310"/>
          </a:xfrm>
          <a:prstGeom prst="rect">
            <a:avLst/>
          </a:prstGeom>
          <a:noFill/>
        </p:spPr>
        <p:txBody>
          <a:bodyPr wrap="none" lIns="0" rIns="0" tIns="0" bIns="0">
            <a:spAutoFit/>
          </a:bodyPr>
          <a:lstStyle/>
          <a:p>
            <a:r>
              <a:rPr sz="1150" b="0">
                <a:solidFill>
                  <a:srgbClr val="2E2E2E"/>
                </a:solidFill>
                <a:latin typeface="Calibri"/>
              </a:rPr>
              <a:t>2026 to 2036.</a:t>
            </a:r>
          </a:p>
        </p:txBody>
      </p:sp>
      <p:sp>
        <p:nvSpPr>
          <p:cNvPr id="31" name="TextBox 30"/>
          <p:cNvSpPr txBox="1"/>
          <p:nvPr/>
        </p:nvSpPr>
        <p:spPr>
          <a:xfrm>
            <a:off x="6305550" y="2351863"/>
            <a:ext cx="5132325" cy="194310"/>
          </a:xfrm>
          <a:prstGeom prst="rect">
            <a:avLst/>
          </a:prstGeom>
          <a:noFill/>
        </p:spPr>
        <p:txBody>
          <a:bodyPr wrap="none" lIns="0" rIns="0" tIns="0" bIns="0">
            <a:spAutoFit/>
          </a:bodyPr>
          <a:lstStyle/>
          <a:p>
            <a:r>
              <a:rPr sz="1150" b="0">
                <a:solidFill>
                  <a:srgbClr val="2E2E2E"/>
                </a:solidFill>
                <a:latin typeface="Calibri"/>
              </a:rPr>
              <a:t>The salon and professional distribution segment is expected to create an incremental</a:t>
            </a:r>
          </a:p>
        </p:txBody>
      </p:sp>
      <p:sp>
        <p:nvSpPr>
          <p:cNvPr id="32" name="TextBox 31"/>
          <p:cNvSpPr txBox="1"/>
          <p:nvPr/>
        </p:nvSpPr>
        <p:spPr>
          <a:xfrm>
            <a:off x="6305550" y="252712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3" name="Picture 32" descr="lock.png"/>
          <p:cNvPicPr>
            <a:picLocks noChangeAspect="1"/>
          </p:cNvPicPr>
          <p:nvPr/>
        </p:nvPicPr>
        <p:blipFill>
          <a:blip r:embed="rId6"/>
          <a:stretch>
            <a:fillRect/>
          </a:stretch>
        </p:blipFill>
        <p:spPr>
          <a:xfrm>
            <a:off x="7463647" y="2516899"/>
            <a:ext cx="134549" cy="195707"/>
          </a:xfrm>
          <a:prstGeom prst="rect">
            <a:avLst/>
          </a:prstGeom>
        </p:spPr>
      </p:pic>
      <p:sp>
        <p:nvSpPr>
          <p:cNvPr id="34" name="TextBox 33"/>
          <p:cNvSpPr txBox="1"/>
          <p:nvPr/>
        </p:nvSpPr>
        <p:spPr>
          <a:xfrm>
            <a:off x="7638756" y="2527123"/>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35" name="TextBox 34"/>
          <p:cNvSpPr txBox="1"/>
          <p:nvPr/>
        </p:nvSpPr>
        <p:spPr>
          <a:xfrm>
            <a:off x="6305550" y="2702383"/>
            <a:ext cx="5551363" cy="194310"/>
          </a:xfrm>
          <a:prstGeom prst="rect">
            <a:avLst/>
          </a:prstGeom>
          <a:noFill/>
        </p:spPr>
        <p:txBody>
          <a:bodyPr wrap="none" lIns="0" rIns="0" tIns="0" bIns="0">
            <a:spAutoFit/>
          </a:bodyPr>
          <a:lstStyle/>
          <a:p>
            <a:r>
              <a:rPr sz="1150" b="0">
                <a:solidFill>
                  <a:srgbClr val="2E2E2E"/>
                </a:solidFill>
                <a:latin typeface="Calibri"/>
              </a:rPr>
              <a:t>The beauty specialty retail segment is expected to create an incremental opportunity of US$</a:t>
            </a:r>
          </a:p>
        </p:txBody>
      </p:sp>
      <p:pic>
        <p:nvPicPr>
          <p:cNvPr id="36" name="Picture 35" descr="lock.png"/>
          <p:cNvPicPr>
            <a:picLocks noChangeAspect="1"/>
          </p:cNvPicPr>
          <p:nvPr/>
        </p:nvPicPr>
        <p:blipFill>
          <a:blip r:embed="rId6"/>
          <a:stretch>
            <a:fillRect/>
          </a:stretch>
        </p:blipFill>
        <p:spPr>
          <a:xfrm>
            <a:off x="6291470" y="2867419"/>
            <a:ext cx="134549" cy="195707"/>
          </a:xfrm>
          <a:prstGeom prst="rect">
            <a:avLst/>
          </a:prstGeom>
        </p:spPr>
      </p:pic>
      <p:sp>
        <p:nvSpPr>
          <p:cNvPr id="37" name="TextBox 36"/>
          <p:cNvSpPr txBox="1"/>
          <p:nvPr/>
        </p:nvSpPr>
        <p:spPr>
          <a:xfrm>
            <a:off x="6466579" y="2877643"/>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38"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Distribution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Distribution Channel,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Distribution Channel (US$ Mn)</a:t>
            </a:r>
          </a:p>
        </p:txBody>
      </p:sp>
      <p:graphicFrame>
        <p:nvGraphicFramePr>
          <p:cNvPr id="13" name="Table 12"/>
          <p:cNvGraphicFramePr>
            <a:graphicFrameLocks noGrp="1"/>
          </p:cNvGraphicFramePr>
          <p:nvPr/>
        </p:nvGraphicFramePr>
        <p:xfrm>
          <a:off x="152400" y="1238250"/>
          <a:ext cx="11887203" cy="1971675"/>
        </p:xfrm>
        <a:graphic>
          <a:graphicData uri="http://schemas.openxmlformats.org/drawingml/2006/table">
            <a:tbl>
              <a:tblPr>
                <a:tableStyleId>{5C22544A-7EE6-4342-B048-85BDC9FD1C3A}</a:tableStyleId>
              </a:tblPr>
              <a:tblGrid>
                <a:gridCol w="2266070"/>
                <a:gridCol w="565949"/>
                <a:gridCol w="565949"/>
                <a:gridCol w="565949"/>
                <a:gridCol w="565949"/>
                <a:gridCol w="565949"/>
                <a:gridCol w="565949"/>
                <a:gridCol w="565949"/>
                <a:gridCol w="565949"/>
                <a:gridCol w="565949"/>
                <a:gridCol w="565949"/>
                <a:gridCol w="565949"/>
                <a:gridCol w="565949"/>
                <a:gridCol w="565949"/>
                <a:gridCol w="565949"/>
                <a:gridCol w="565949"/>
                <a:gridCol w="565949"/>
                <a:gridCol w="565949"/>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Beauty Specialty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Salon and Professional Distribution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Pharmacies and Drugstores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Online Marketplaces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Brand-owned Online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Distribution Channel</a:t>
            </a:r>
          </a:p>
        </p:txBody>
      </p:sp>
      <p:sp>
        <p:nvSpPr>
          <p:cNvPr id="17" name="Rectangle 16"/>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042346" y="2080450"/>
            <a:ext cx="366712" cy="533400"/>
          </a:xfrm>
          <a:prstGeom prst="rect">
            <a:avLst/>
          </a:prstGeom>
        </p:spPr>
      </p:pic>
      <p:sp>
        <p:nvSpPr>
          <p:cNvPr id="21" name="TextBox 20"/>
          <p:cNvSpPr txBox="1"/>
          <p:nvPr/>
        </p:nvSpPr>
        <p:spPr>
          <a:xfrm>
            <a:off x="276225" y="3971925"/>
            <a:ext cx="3222550" cy="194310"/>
          </a:xfrm>
          <a:prstGeom prst="rect">
            <a:avLst/>
          </a:prstGeom>
          <a:noFill/>
        </p:spPr>
        <p:txBody>
          <a:bodyPr wrap="none" lIns="0" rIns="0" tIns="0" bIns="0">
            <a:spAutoFit/>
          </a:bodyPr>
          <a:lstStyle/>
          <a:p>
            <a:r>
              <a:rPr sz="1150" b="0">
                <a:solidFill>
                  <a:srgbClr val="2E2E2E"/>
                </a:solidFill>
                <a:latin typeface="Calibri"/>
              </a:rPr>
              <a:t>Online marketplaces segment is projected to register</a:t>
            </a:r>
          </a:p>
        </p:txBody>
      </p:sp>
      <p:pic>
        <p:nvPicPr>
          <p:cNvPr id="22" name="Picture 21" descr="lock.png"/>
          <p:cNvPicPr>
            <a:picLocks noChangeAspect="1"/>
          </p:cNvPicPr>
          <p:nvPr/>
        </p:nvPicPr>
        <p:blipFill>
          <a:blip r:embed="rId4"/>
          <a:stretch>
            <a:fillRect/>
          </a:stretch>
        </p:blipFill>
        <p:spPr>
          <a:xfrm>
            <a:off x="3447929" y="3961701"/>
            <a:ext cx="134549" cy="195707"/>
          </a:xfrm>
          <a:prstGeom prst="rect">
            <a:avLst/>
          </a:prstGeom>
        </p:spPr>
      </p:pic>
      <p:sp>
        <p:nvSpPr>
          <p:cNvPr id="23" name="TextBox 22"/>
          <p:cNvSpPr txBox="1"/>
          <p:nvPr/>
        </p:nvSpPr>
        <p:spPr>
          <a:xfrm>
            <a:off x="3623038" y="3971925"/>
            <a:ext cx="7908131" cy="194310"/>
          </a:xfrm>
          <a:prstGeom prst="rect">
            <a:avLst/>
          </a:prstGeom>
          <a:noFill/>
        </p:spPr>
        <p:txBody>
          <a:bodyPr wrap="none" lIns="0" rIns="0" tIns="0" bIns="0">
            <a:spAutoFit/>
          </a:bodyPr>
          <a:lstStyle/>
          <a:p>
            <a:r>
              <a:rPr sz="1150" b="0">
                <a:solidFill>
                  <a:srgbClr val="2E2E2E"/>
                </a:solidFill>
                <a:latin typeface="Calibri"/>
              </a:rPr>
              <a:t>X higher value than salon and professional distribution segment in 2036. Among hair styling products by distribution channel, online</a:t>
            </a:r>
          </a:p>
        </p:txBody>
      </p:sp>
      <p:sp>
        <p:nvSpPr>
          <p:cNvPr id="24" name="TextBox 23"/>
          <p:cNvSpPr txBox="1"/>
          <p:nvPr/>
        </p:nvSpPr>
        <p:spPr>
          <a:xfrm>
            <a:off x="276225" y="4147185"/>
            <a:ext cx="3987583" cy="194310"/>
          </a:xfrm>
          <a:prstGeom prst="rect">
            <a:avLst/>
          </a:prstGeom>
          <a:noFill/>
        </p:spPr>
        <p:txBody>
          <a:bodyPr wrap="none" lIns="0" rIns="0" tIns="0" bIns="0">
            <a:spAutoFit/>
          </a:bodyPr>
          <a:lstStyle/>
          <a:p>
            <a:r>
              <a:rPr sz="1150" b="0">
                <a:solidFill>
                  <a:srgbClr val="2E2E2E"/>
                </a:solidFill>
                <a:latin typeface="Calibri"/>
              </a:rPr>
              <a:t>marketplaces segment is expected to witness the highest CAGR of</a:t>
            </a:r>
          </a:p>
        </p:txBody>
      </p:sp>
      <p:pic>
        <p:nvPicPr>
          <p:cNvPr id="25" name="Picture 24" descr="lock.png"/>
          <p:cNvPicPr>
            <a:picLocks noChangeAspect="1"/>
          </p:cNvPicPr>
          <p:nvPr/>
        </p:nvPicPr>
        <p:blipFill>
          <a:blip r:embed="rId4"/>
          <a:stretch>
            <a:fillRect/>
          </a:stretch>
        </p:blipFill>
        <p:spPr>
          <a:xfrm>
            <a:off x="4212962" y="4136961"/>
            <a:ext cx="134549" cy="195707"/>
          </a:xfrm>
          <a:prstGeom prst="rect">
            <a:avLst/>
          </a:prstGeom>
        </p:spPr>
      </p:pic>
      <p:sp>
        <p:nvSpPr>
          <p:cNvPr id="26" name="TextBox 25"/>
          <p:cNvSpPr txBox="1"/>
          <p:nvPr/>
        </p:nvSpPr>
        <p:spPr>
          <a:xfrm>
            <a:off x="4388071"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375022"/>
            <a:ext cx="7543862" cy="194310"/>
          </a:xfrm>
          <a:prstGeom prst="rect">
            <a:avLst/>
          </a:prstGeom>
          <a:noFill/>
        </p:spPr>
        <p:txBody>
          <a:bodyPr wrap="none" lIns="0" rIns="0" tIns="0" bIns="0">
            <a:spAutoFit/>
          </a:bodyPr>
          <a:lstStyle/>
          <a:p>
            <a:r>
              <a:rPr sz="1150" b="0">
                <a:solidFill>
                  <a:srgbClr val="2E2E2E"/>
                </a:solidFill>
                <a:latin typeface="Calibri"/>
              </a:rPr>
              <a:t>In terms of value share by distribution channel, the online marketplaces segment is expected to dominate the market, gaining</a:t>
            </a:r>
          </a:p>
        </p:txBody>
      </p:sp>
      <p:pic>
        <p:nvPicPr>
          <p:cNvPr id="28" name="Picture 27" descr="lock.png"/>
          <p:cNvPicPr>
            <a:picLocks noChangeAspect="1"/>
          </p:cNvPicPr>
          <p:nvPr/>
        </p:nvPicPr>
        <p:blipFill>
          <a:blip r:embed="rId4"/>
          <a:stretch>
            <a:fillRect/>
          </a:stretch>
        </p:blipFill>
        <p:spPr>
          <a:xfrm>
            <a:off x="7769240" y="4364799"/>
            <a:ext cx="134549" cy="195707"/>
          </a:xfrm>
          <a:prstGeom prst="rect">
            <a:avLst/>
          </a:prstGeom>
        </p:spPr>
      </p:pic>
      <p:sp>
        <p:nvSpPr>
          <p:cNvPr id="29" name="TextBox 28"/>
          <p:cNvSpPr txBox="1"/>
          <p:nvPr/>
        </p:nvSpPr>
        <p:spPr>
          <a:xfrm>
            <a:off x="7944350"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339493" y="4364799"/>
            <a:ext cx="134549" cy="195707"/>
          </a:xfrm>
          <a:prstGeom prst="rect">
            <a:avLst/>
          </a:prstGeom>
        </p:spPr>
      </p:pic>
      <p:sp>
        <p:nvSpPr>
          <p:cNvPr id="31" name="TextBox 30"/>
          <p:cNvSpPr txBox="1"/>
          <p:nvPr/>
        </p:nvSpPr>
        <p:spPr>
          <a:xfrm>
            <a:off x="9514602" y="4375022"/>
            <a:ext cx="1877007" cy="194310"/>
          </a:xfrm>
          <a:prstGeom prst="rect">
            <a:avLst/>
          </a:prstGeom>
          <a:noFill/>
        </p:spPr>
        <p:txBody>
          <a:bodyPr wrap="none" lIns="0" rIns="0" tIns="0" bIns="0">
            <a:spAutoFit/>
          </a:bodyPr>
          <a:lstStyle/>
          <a:p>
            <a:r>
              <a:rPr sz="1150" b="0">
                <a:solidFill>
                  <a:srgbClr val="2E2E2E"/>
                </a:solidFill>
                <a:latin typeface="Calibri"/>
              </a:rPr>
              <a:t>share by 2036. The mass retail</a:t>
            </a:r>
          </a:p>
        </p:txBody>
      </p:sp>
      <p:sp>
        <p:nvSpPr>
          <p:cNvPr id="32" name="TextBox 31"/>
          <p:cNvSpPr txBox="1"/>
          <p:nvPr/>
        </p:nvSpPr>
        <p:spPr>
          <a:xfrm>
            <a:off x="276225" y="455028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3" name="Picture 32" descr="lock.png"/>
          <p:cNvPicPr>
            <a:picLocks noChangeAspect="1"/>
          </p:cNvPicPr>
          <p:nvPr/>
        </p:nvPicPr>
        <p:blipFill>
          <a:blip r:embed="rId4"/>
          <a:stretch>
            <a:fillRect/>
          </a:stretch>
        </p:blipFill>
        <p:spPr>
          <a:xfrm>
            <a:off x="1950917" y="4540059"/>
            <a:ext cx="134549" cy="195707"/>
          </a:xfrm>
          <a:prstGeom prst="rect">
            <a:avLst/>
          </a:prstGeom>
        </p:spPr>
      </p:pic>
      <p:sp>
        <p:nvSpPr>
          <p:cNvPr id="34" name="TextBox 33"/>
          <p:cNvSpPr txBox="1"/>
          <p:nvPr/>
        </p:nvSpPr>
        <p:spPr>
          <a:xfrm>
            <a:off x="2126026" y="455028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713530" y="4540059"/>
            <a:ext cx="134549" cy="195707"/>
          </a:xfrm>
          <a:prstGeom prst="rect">
            <a:avLst/>
          </a:prstGeom>
        </p:spPr>
      </p:pic>
      <p:sp>
        <p:nvSpPr>
          <p:cNvPr id="36" name="TextBox 35"/>
          <p:cNvSpPr txBox="1"/>
          <p:nvPr/>
        </p:nvSpPr>
        <p:spPr>
          <a:xfrm>
            <a:off x="4888640" y="455028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Distribution Channel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Distribution Channel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76256"/>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197149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9529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Brand-owned Online Stores</a:t>
            </a:r>
          </a:p>
        </p:txBody>
      </p:sp>
      <p:sp>
        <p:nvSpPr>
          <p:cNvPr id="19" name="BPS Value 1"/>
          <p:cNvSpPr txBox="1"/>
          <p:nvPr/>
        </p:nvSpPr>
        <p:spPr>
          <a:xfrm>
            <a:off x="6896100" y="195720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FMI Legend Chip"/>
          <p:cNvSpPr/>
          <p:nvPr/>
        </p:nvSpPr>
        <p:spPr>
          <a:xfrm>
            <a:off x="4928997" y="2604933"/>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6001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5239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Pharmacies and Drugstores</a:t>
            </a:r>
          </a:p>
        </p:txBody>
      </p:sp>
      <p:sp>
        <p:nvSpPr>
          <p:cNvPr id="23" name="BPS Value 2"/>
          <p:cNvSpPr txBox="1"/>
          <p:nvPr/>
        </p:nvSpPr>
        <p:spPr>
          <a:xfrm>
            <a:off x="6896100" y="25858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288421"/>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2836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2074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Beauty Specialty Retail</a:t>
            </a:r>
          </a:p>
        </p:txBody>
      </p:sp>
      <p:sp>
        <p:nvSpPr>
          <p:cNvPr id="27" name="BPS Value 3"/>
          <p:cNvSpPr txBox="1"/>
          <p:nvPr/>
        </p:nvSpPr>
        <p:spPr>
          <a:xfrm>
            <a:off x="6896100" y="32693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403157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0268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9506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Mass Retail</a:t>
            </a:r>
          </a:p>
        </p:txBody>
      </p:sp>
      <p:sp>
        <p:nvSpPr>
          <p:cNvPr id="31" name="BPS Value 4"/>
          <p:cNvSpPr txBox="1"/>
          <p:nvPr/>
        </p:nvSpPr>
        <p:spPr>
          <a:xfrm>
            <a:off x="6896100" y="401252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484057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483581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475961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Salon and Professional Distribution</a:t>
            </a:r>
          </a:p>
        </p:txBody>
      </p:sp>
      <p:sp>
        <p:nvSpPr>
          <p:cNvPr id="35" name="BPS Value 5"/>
          <p:cNvSpPr txBox="1"/>
          <p:nvPr/>
        </p:nvSpPr>
        <p:spPr>
          <a:xfrm>
            <a:off x="6896100" y="482152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FMI Legend Chip"/>
          <p:cNvSpPr/>
          <p:nvPr/>
        </p:nvSpPr>
        <p:spPr>
          <a:xfrm>
            <a:off x="4928997" y="5754942"/>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575018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567398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Online Marketplaces</a:t>
            </a:r>
          </a:p>
        </p:txBody>
      </p:sp>
      <p:sp>
        <p:nvSpPr>
          <p:cNvPr id="39" name="BPS Value 6"/>
          <p:cNvSpPr txBox="1"/>
          <p:nvPr/>
        </p:nvSpPr>
        <p:spPr>
          <a:xfrm>
            <a:off x="6896100" y="573589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Distribution Channel</a:t>
            </a:r>
          </a:p>
        </p:txBody>
      </p:sp>
      <p:sp>
        <p:nvSpPr>
          <p:cNvPr id="42" name="Rectangle 41"/>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5" name="Picture 44" descr="lock.png"/>
          <p:cNvPicPr>
            <a:picLocks noChangeAspect="1"/>
          </p:cNvPicPr>
          <p:nvPr/>
        </p:nvPicPr>
        <p:blipFill>
          <a:blip r:embed="rId5"/>
          <a:stretch>
            <a:fillRect/>
          </a:stretch>
        </p:blipFill>
        <p:spPr>
          <a:xfrm>
            <a:off x="2557843" y="3833622"/>
            <a:ext cx="275034" cy="400050"/>
          </a:xfrm>
          <a:prstGeom prst="rect">
            <a:avLst/>
          </a:prstGeom>
        </p:spPr>
      </p:pic>
      <p:sp>
        <p:nvSpPr>
          <p:cNvPr id="46" name="TextBox 45"/>
          <p:cNvSpPr txBox="1"/>
          <p:nvPr/>
        </p:nvSpPr>
        <p:spPr>
          <a:xfrm>
            <a:off x="7829550" y="1400175"/>
            <a:ext cx="3583682" cy="194310"/>
          </a:xfrm>
          <a:prstGeom prst="rect">
            <a:avLst/>
          </a:prstGeom>
          <a:noFill/>
        </p:spPr>
        <p:txBody>
          <a:bodyPr wrap="none" lIns="0" rIns="0" tIns="0" bIns="0">
            <a:spAutoFit/>
          </a:bodyPr>
          <a:lstStyle/>
          <a:p>
            <a:r>
              <a:rPr sz="1150" b="0">
                <a:solidFill>
                  <a:srgbClr val="2E2E2E"/>
                </a:solidFill>
                <a:latin typeface="Calibri"/>
              </a:rPr>
              <a:t>Among hair styling products by distribution channel, online</a:t>
            </a:r>
          </a:p>
        </p:txBody>
      </p:sp>
      <p:sp>
        <p:nvSpPr>
          <p:cNvPr id="47" name="TextBox 46"/>
          <p:cNvSpPr txBox="1"/>
          <p:nvPr/>
        </p:nvSpPr>
        <p:spPr>
          <a:xfrm>
            <a:off x="7829550" y="1575435"/>
            <a:ext cx="3987583" cy="194310"/>
          </a:xfrm>
          <a:prstGeom prst="rect">
            <a:avLst/>
          </a:prstGeom>
          <a:noFill/>
        </p:spPr>
        <p:txBody>
          <a:bodyPr wrap="none" lIns="0" rIns="0" tIns="0" bIns="0">
            <a:spAutoFit/>
          </a:bodyPr>
          <a:lstStyle/>
          <a:p>
            <a:r>
              <a:rPr sz="1150" b="0">
                <a:solidFill>
                  <a:srgbClr val="2E2E2E"/>
                </a:solidFill>
                <a:latin typeface="Calibri"/>
              </a:rPr>
              <a:t>marketplaces segment is expected to witness the highest CAGR of</a:t>
            </a:r>
          </a:p>
        </p:txBody>
      </p:sp>
      <p:pic>
        <p:nvPicPr>
          <p:cNvPr id="48" name="Picture 47" descr="lock.png"/>
          <p:cNvPicPr>
            <a:picLocks noChangeAspect="1"/>
          </p:cNvPicPr>
          <p:nvPr/>
        </p:nvPicPr>
        <p:blipFill>
          <a:blip r:embed="rId5"/>
          <a:stretch>
            <a:fillRect/>
          </a:stretch>
        </p:blipFill>
        <p:spPr>
          <a:xfrm>
            <a:off x="7815470" y="1740471"/>
            <a:ext cx="134549" cy="195707"/>
          </a:xfrm>
          <a:prstGeom prst="rect">
            <a:avLst/>
          </a:prstGeom>
        </p:spPr>
      </p:pic>
      <p:sp>
        <p:nvSpPr>
          <p:cNvPr id="49" name="TextBox 48"/>
          <p:cNvSpPr txBox="1"/>
          <p:nvPr/>
        </p:nvSpPr>
        <p:spPr>
          <a:xfrm>
            <a:off x="7990579" y="1750695"/>
            <a:ext cx="384240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distribution</a:t>
            </a:r>
          </a:p>
        </p:txBody>
      </p:sp>
      <p:sp>
        <p:nvSpPr>
          <p:cNvPr id="50" name="TextBox 49"/>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channel, the online marketplaces segment is expected to dominate</a:t>
            </a:r>
          </a:p>
        </p:txBody>
      </p:sp>
      <p:sp>
        <p:nvSpPr>
          <p:cNvPr id="51" name="TextBox 50"/>
          <p:cNvSpPr txBox="1"/>
          <p:nvPr/>
        </p:nvSpPr>
        <p:spPr>
          <a:xfrm>
            <a:off x="7829550" y="2101215"/>
            <a:ext cx="1231478" cy="194310"/>
          </a:xfrm>
          <a:prstGeom prst="rect">
            <a:avLst/>
          </a:prstGeom>
          <a:noFill/>
        </p:spPr>
        <p:txBody>
          <a:bodyPr wrap="none" lIns="0" rIns="0" tIns="0" bIns="0">
            <a:spAutoFit/>
          </a:bodyPr>
          <a:lstStyle/>
          <a:p>
            <a:r>
              <a:rPr sz="1150" b="0">
                <a:solidFill>
                  <a:srgbClr val="2E2E2E"/>
                </a:solidFill>
                <a:latin typeface="Calibri"/>
              </a:rPr>
              <a:t>the market, gaining</a:t>
            </a:r>
          </a:p>
        </p:txBody>
      </p:sp>
      <p:pic>
        <p:nvPicPr>
          <p:cNvPr id="52" name="Picture 51" descr="lock.png"/>
          <p:cNvPicPr>
            <a:picLocks noChangeAspect="1"/>
          </p:cNvPicPr>
          <p:nvPr/>
        </p:nvPicPr>
        <p:blipFill>
          <a:blip r:embed="rId5"/>
          <a:stretch>
            <a:fillRect/>
          </a:stretch>
        </p:blipFill>
        <p:spPr>
          <a:xfrm>
            <a:off x="9010182" y="2090991"/>
            <a:ext cx="134549" cy="195707"/>
          </a:xfrm>
          <a:prstGeom prst="rect">
            <a:avLst/>
          </a:prstGeom>
        </p:spPr>
      </p:pic>
      <p:sp>
        <p:nvSpPr>
          <p:cNvPr id="53" name="TextBox 52"/>
          <p:cNvSpPr txBox="1"/>
          <p:nvPr/>
        </p:nvSpPr>
        <p:spPr>
          <a:xfrm>
            <a:off x="9185291"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4" name="Picture 53" descr="lock.png"/>
          <p:cNvPicPr>
            <a:picLocks noChangeAspect="1"/>
          </p:cNvPicPr>
          <p:nvPr/>
        </p:nvPicPr>
        <p:blipFill>
          <a:blip r:embed="rId5"/>
          <a:stretch>
            <a:fillRect/>
          </a:stretch>
        </p:blipFill>
        <p:spPr>
          <a:xfrm>
            <a:off x="10580434" y="2090991"/>
            <a:ext cx="134549" cy="195707"/>
          </a:xfrm>
          <a:prstGeom prst="rect">
            <a:avLst/>
          </a:prstGeom>
        </p:spPr>
      </p:pic>
      <p:sp>
        <p:nvSpPr>
          <p:cNvPr id="55" name="TextBox 54"/>
          <p:cNvSpPr txBox="1"/>
          <p:nvPr/>
        </p:nvSpPr>
        <p:spPr>
          <a:xfrm>
            <a:off x="10755543"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6" name="TextBox 55"/>
          <p:cNvSpPr txBox="1"/>
          <p:nvPr/>
        </p:nvSpPr>
        <p:spPr>
          <a:xfrm>
            <a:off x="7829550" y="2329053"/>
            <a:ext cx="2656321" cy="194310"/>
          </a:xfrm>
          <a:prstGeom prst="rect">
            <a:avLst/>
          </a:prstGeom>
          <a:noFill/>
        </p:spPr>
        <p:txBody>
          <a:bodyPr wrap="none" lIns="0" rIns="0" tIns="0" bIns="0">
            <a:spAutoFit/>
          </a:bodyPr>
          <a:lstStyle/>
          <a:p>
            <a:r>
              <a:rPr sz="1150" b="0">
                <a:solidFill>
                  <a:srgbClr val="2E2E2E"/>
                </a:solidFill>
                <a:latin typeface="Calibri"/>
              </a:rPr>
              <a:t>The mass retail segment is expected to lose</a:t>
            </a:r>
          </a:p>
        </p:txBody>
      </p:sp>
      <p:pic>
        <p:nvPicPr>
          <p:cNvPr id="57" name="Picture 56" descr="lock.png"/>
          <p:cNvPicPr>
            <a:picLocks noChangeAspect="1"/>
          </p:cNvPicPr>
          <p:nvPr/>
        </p:nvPicPr>
        <p:blipFill>
          <a:blip r:embed="rId5"/>
          <a:stretch>
            <a:fillRect/>
          </a:stretch>
        </p:blipFill>
        <p:spPr>
          <a:xfrm>
            <a:off x="10435025" y="2318829"/>
            <a:ext cx="134549" cy="195707"/>
          </a:xfrm>
          <a:prstGeom prst="rect">
            <a:avLst/>
          </a:prstGeom>
        </p:spPr>
      </p:pic>
      <p:sp>
        <p:nvSpPr>
          <p:cNvPr id="58" name="TextBox 57"/>
          <p:cNvSpPr txBox="1"/>
          <p:nvPr/>
        </p:nvSpPr>
        <p:spPr>
          <a:xfrm>
            <a:off x="10610134"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9" name="TextBox 58"/>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0" name="Picture 59" descr="lock.png"/>
          <p:cNvPicPr>
            <a:picLocks noChangeAspect="1"/>
          </p:cNvPicPr>
          <p:nvPr/>
        </p:nvPicPr>
        <p:blipFill>
          <a:blip r:embed="rId5"/>
          <a:stretch>
            <a:fillRect/>
          </a:stretch>
        </p:blipFill>
        <p:spPr>
          <a:xfrm>
            <a:off x="9630324" y="2494089"/>
            <a:ext cx="134549" cy="195707"/>
          </a:xfrm>
          <a:prstGeom prst="rect">
            <a:avLst/>
          </a:prstGeom>
        </p:spPr>
      </p:pic>
      <p:sp>
        <p:nvSpPr>
          <p:cNvPr id="61" name="TextBox 60"/>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Primary Styling Benefit</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Primary Styling Benefit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Primary Styling Benefit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7 sub-segments of Primary Styling Benefit,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Primary Styling Benefit segment categorizes the market by primary styling benefit.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Smoothing and Frizz Control</a:t>
            </a:r>
          </a:p>
        </p:txBody>
      </p:sp>
      <p:sp>
        <p:nvSpPr>
          <p:cNvPr id="23" name="Rectangle 22"/>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Curl Definition</a:t>
            </a:r>
          </a:p>
        </p:txBody>
      </p:sp>
      <p:sp>
        <p:nvSpPr>
          <p:cNvPr id="30" name="Rectangle 29"/>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Hold and Shape</a:t>
            </a:r>
          </a:p>
        </p:txBody>
      </p:sp>
      <p:sp>
        <p:nvSpPr>
          <p:cNvPr id="37" name="Rectangle 36"/>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Volume and Root Lift</a:t>
            </a:r>
          </a:p>
        </p:txBody>
      </p:sp>
      <p:sp>
        <p:nvSpPr>
          <p:cNvPr id="44" name="Rectangle 43"/>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Heat Styling Support</a:t>
            </a:r>
          </a:p>
        </p:txBody>
      </p:sp>
      <p:sp>
        <p:nvSpPr>
          <p:cNvPr id="51" name="Rectangle 50"/>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Texture and Separation</a:t>
            </a:r>
          </a:p>
        </p:txBody>
      </p:sp>
      <p:sp>
        <p:nvSpPr>
          <p:cNvPr id="58" name="Rectangle 57"/>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Rectangle 59"/>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1" name="Oval 60"/>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2" name="Rounded Rectangle 61"/>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Sleek Styling and Edge Control</a:t>
            </a:r>
          </a:p>
        </p:txBody>
      </p:sp>
      <p:sp>
        <p:nvSpPr>
          <p:cNvPr id="65" name="Rectangle 64"/>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6" name="Rectangle 65"/>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7" name="Rectangle 66"/>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8" name="Oval 67"/>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9" name="Rounded Rectangle 6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1" name="Rectangle 70"/>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73" name="Rounded Rectangle 7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5" name="Rectangle 74"/>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7" name="Rounded Rectangle 7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9" name="Rectangle 78"/>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Primary Styling Benefit split shows how demand is distributed across primary styling benefit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81" name="Rectangle 8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83" name="TextBox 82"/>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84" name="TextBox 8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5" name="Picture 84" descr="807_7_605E5C.png"/>
          <p:cNvPicPr>
            <a:picLocks noChangeAspect="1"/>
          </p:cNvPicPr>
          <p:nvPr/>
        </p:nvPicPr>
        <p:blipFill>
          <a:blip r:embed="rId4"/>
          <a:stretch>
            <a:fillRect/>
          </a:stretch>
        </p:blipFill>
        <p:spPr>
          <a:xfrm>
            <a:off x="1934425" y="2286582"/>
            <a:ext cx="1195728" cy="361950"/>
          </a:xfrm>
          <a:prstGeom prst="rect">
            <a:avLst/>
          </a:prstGeom>
        </p:spPr>
      </p:pic>
      <p:pic>
        <p:nvPicPr>
          <p:cNvPr id="86" name="Picture 85" descr="1_525_605E5C.png"/>
          <p:cNvPicPr>
            <a:picLocks noChangeAspect="1"/>
          </p:cNvPicPr>
          <p:nvPr/>
        </p:nvPicPr>
        <p:blipFill>
          <a:blip r:embed="rId5"/>
          <a:stretch>
            <a:fillRect/>
          </a:stretch>
        </p:blipFill>
        <p:spPr>
          <a:xfrm>
            <a:off x="1934425" y="2779432"/>
            <a:ext cx="1195728" cy="361950"/>
          </a:xfrm>
          <a:prstGeom prst="rect">
            <a:avLst/>
          </a:prstGeom>
        </p:spPr>
      </p:pic>
      <p:pic>
        <p:nvPicPr>
          <p:cNvPr id="87" name="Picture 86" descr="6_6__605E5C.png"/>
          <p:cNvPicPr>
            <a:picLocks noChangeAspect="1"/>
          </p:cNvPicPr>
          <p:nvPr/>
        </p:nvPicPr>
        <p:blipFill>
          <a:blip r:embed="rId6"/>
          <a:stretch>
            <a:fillRect/>
          </a:stretch>
        </p:blipFill>
        <p:spPr>
          <a:xfrm>
            <a:off x="2041071" y="3272281"/>
            <a:ext cx="982436" cy="361950"/>
          </a:xfrm>
          <a:prstGeom prst="rect">
            <a:avLst/>
          </a:prstGeom>
        </p:spPr>
      </p:pic>
      <p:pic>
        <p:nvPicPr>
          <p:cNvPr id="88" name="Picture 87" descr="788_0_605E5C.png"/>
          <p:cNvPicPr>
            <a:picLocks noChangeAspect="1"/>
          </p:cNvPicPr>
          <p:nvPr/>
        </p:nvPicPr>
        <p:blipFill>
          <a:blip r:embed="rId7"/>
          <a:stretch>
            <a:fillRect/>
          </a:stretch>
        </p:blipFill>
        <p:spPr>
          <a:xfrm>
            <a:off x="3379504" y="2286582"/>
            <a:ext cx="1195728" cy="361950"/>
          </a:xfrm>
          <a:prstGeom prst="rect">
            <a:avLst/>
          </a:prstGeom>
        </p:spPr>
      </p:pic>
      <p:pic>
        <p:nvPicPr>
          <p:cNvPr id="89" name="Picture 88" descr="1_629_605E5C.png"/>
          <p:cNvPicPr>
            <a:picLocks noChangeAspect="1"/>
          </p:cNvPicPr>
          <p:nvPr/>
        </p:nvPicPr>
        <p:blipFill>
          <a:blip r:embed="rId8"/>
          <a:stretch>
            <a:fillRect/>
          </a:stretch>
        </p:blipFill>
        <p:spPr>
          <a:xfrm>
            <a:off x="3379504" y="2779432"/>
            <a:ext cx="1195728" cy="361950"/>
          </a:xfrm>
          <a:prstGeom prst="rect">
            <a:avLst/>
          </a:prstGeom>
        </p:spPr>
      </p:pic>
      <p:pic>
        <p:nvPicPr>
          <p:cNvPr id="90" name="Picture 89" descr="7_5__605E5C.png"/>
          <p:cNvPicPr>
            <a:picLocks noChangeAspect="1"/>
          </p:cNvPicPr>
          <p:nvPr/>
        </p:nvPicPr>
        <p:blipFill>
          <a:blip r:embed="rId9"/>
          <a:stretch>
            <a:fillRect/>
          </a:stretch>
        </p:blipFill>
        <p:spPr>
          <a:xfrm>
            <a:off x="3486150" y="3272281"/>
            <a:ext cx="982436" cy="361950"/>
          </a:xfrm>
          <a:prstGeom prst="rect">
            <a:avLst/>
          </a:prstGeom>
        </p:spPr>
      </p:pic>
      <p:pic>
        <p:nvPicPr>
          <p:cNvPr id="91" name="Picture 90" descr="754_1_605E5C.png"/>
          <p:cNvPicPr>
            <a:picLocks noChangeAspect="1"/>
          </p:cNvPicPr>
          <p:nvPr/>
        </p:nvPicPr>
        <p:blipFill>
          <a:blip r:embed="rId10"/>
          <a:stretch>
            <a:fillRect/>
          </a:stretch>
        </p:blipFill>
        <p:spPr>
          <a:xfrm>
            <a:off x="4824582" y="2286582"/>
            <a:ext cx="1195728" cy="361950"/>
          </a:xfrm>
          <a:prstGeom prst="rect">
            <a:avLst/>
          </a:prstGeom>
        </p:spPr>
      </p:pic>
      <p:pic>
        <p:nvPicPr>
          <p:cNvPr id="92" name="Picture 91" descr="1_158_605E5C.png"/>
          <p:cNvPicPr>
            <a:picLocks noChangeAspect="1"/>
          </p:cNvPicPr>
          <p:nvPr/>
        </p:nvPicPr>
        <p:blipFill>
          <a:blip r:embed="rId11"/>
          <a:stretch>
            <a:fillRect/>
          </a:stretch>
        </p:blipFill>
        <p:spPr>
          <a:xfrm>
            <a:off x="4824582" y="2779432"/>
            <a:ext cx="1195728" cy="361950"/>
          </a:xfrm>
          <a:prstGeom prst="rect">
            <a:avLst/>
          </a:prstGeom>
        </p:spPr>
      </p:pic>
      <p:pic>
        <p:nvPicPr>
          <p:cNvPr id="93" name="Picture 92" descr="4_4__605E5C.png"/>
          <p:cNvPicPr>
            <a:picLocks noChangeAspect="1"/>
          </p:cNvPicPr>
          <p:nvPr/>
        </p:nvPicPr>
        <p:blipFill>
          <a:blip r:embed="rId12"/>
          <a:stretch>
            <a:fillRect/>
          </a:stretch>
        </p:blipFill>
        <p:spPr>
          <a:xfrm>
            <a:off x="4931228" y="3272281"/>
            <a:ext cx="982436" cy="361950"/>
          </a:xfrm>
          <a:prstGeom prst="rect">
            <a:avLst/>
          </a:prstGeom>
        </p:spPr>
      </p:pic>
      <p:pic>
        <p:nvPicPr>
          <p:cNvPr id="94" name="Picture 93" descr="720_9_605E5C.png"/>
          <p:cNvPicPr>
            <a:picLocks noChangeAspect="1"/>
          </p:cNvPicPr>
          <p:nvPr/>
        </p:nvPicPr>
        <p:blipFill>
          <a:blip r:embed="rId13"/>
          <a:stretch>
            <a:fillRect/>
          </a:stretch>
        </p:blipFill>
        <p:spPr>
          <a:xfrm>
            <a:off x="6269661" y="2286582"/>
            <a:ext cx="1195728" cy="361950"/>
          </a:xfrm>
          <a:prstGeom prst="rect">
            <a:avLst/>
          </a:prstGeom>
        </p:spPr>
      </p:pic>
      <p:pic>
        <p:nvPicPr>
          <p:cNvPr id="95" name="Picture 94" descr="1_218_605E5C.png"/>
          <p:cNvPicPr>
            <a:picLocks noChangeAspect="1"/>
          </p:cNvPicPr>
          <p:nvPr/>
        </p:nvPicPr>
        <p:blipFill>
          <a:blip r:embed="rId14"/>
          <a:stretch>
            <a:fillRect/>
          </a:stretch>
        </p:blipFill>
        <p:spPr>
          <a:xfrm>
            <a:off x="6269661" y="2779432"/>
            <a:ext cx="1195728" cy="361950"/>
          </a:xfrm>
          <a:prstGeom prst="rect">
            <a:avLst/>
          </a:prstGeom>
        </p:spPr>
      </p:pic>
      <p:pic>
        <p:nvPicPr>
          <p:cNvPr id="96" name="Picture 95" descr="5_4__605E5C.png"/>
          <p:cNvPicPr>
            <a:picLocks noChangeAspect="1"/>
          </p:cNvPicPr>
          <p:nvPr/>
        </p:nvPicPr>
        <p:blipFill>
          <a:blip r:embed="rId15"/>
          <a:stretch>
            <a:fillRect/>
          </a:stretch>
        </p:blipFill>
        <p:spPr>
          <a:xfrm>
            <a:off x="6376307" y="3272281"/>
            <a:ext cx="982436" cy="361950"/>
          </a:xfrm>
          <a:prstGeom prst="rect">
            <a:avLst/>
          </a:prstGeom>
        </p:spPr>
      </p:pic>
      <p:pic>
        <p:nvPicPr>
          <p:cNvPr id="97" name="Picture 96" descr="720_6_605E5C.png"/>
          <p:cNvPicPr>
            <a:picLocks noChangeAspect="1"/>
          </p:cNvPicPr>
          <p:nvPr/>
        </p:nvPicPr>
        <p:blipFill>
          <a:blip r:embed="rId16"/>
          <a:stretch>
            <a:fillRect/>
          </a:stretch>
        </p:blipFill>
        <p:spPr>
          <a:xfrm>
            <a:off x="7714739" y="2286582"/>
            <a:ext cx="1195728" cy="361950"/>
          </a:xfrm>
          <a:prstGeom prst="rect">
            <a:avLst/>
          </a:prstGeom>
        </p:spPr>
      </p:pic>
      <p:pic>
        <p:nvPicPr>
          <p:cNvPr id="98" name="Picture 97" descr="1_417_605E5C.png"/>
          <p:cNvPicPr>
            <a:picLocks noChangeAspect="1"/>
          </p:cNvPicPr>
          <p:nvPr/>
        </p:nvPicPr>
        <p:blipFill>
          <a:blip r:embed="rId17"/>
          <a:stretch>
            <a:fillRect/>
          </a:stretch>
        </p:blipFill>
        <p:spPr>
          <a:xfrm>
            <a:off x="7714739" y="2779432"/>
            <a:ext cx="1195728" cy="361950"/>
          </a:xfrm>
          <a:prstGeom prst="rect">
            <a:avLst/>
          </a:prstGeom>
        </p:spPr>
      </p:pic>
      <p:pic>
        <p:nvPicPr>
          <p:cNvPr id="99" name="Picture 98" descr="7_0__605E5C.png"/>
          <p:cNvPicPr>
            <a:picLocks noChangeAspect="1"/>
          </p:cNvPicPr>
          <p:nvPr/>
        </p:nvPicPr>
        <p:blipFill>
          <a:blip r:embed="rId18"/>
          <a:stretch>
            <a:fillRect/>
          </a:stretch>
        </p:blipFill>
        <p:spPr>
          <a:xfrm>
            <a:off x="7821385" y="3272281"/>
            <a:ext cx="982436" cy="361950"/>
          </a:xfrm>
          <a:prstGeom prst="rect">
            <a:avLst/>
          </a:prstGeom>
        </p:spPr>
      </p:pic>
      <p:pic>
        <p:nvPicPr>
          <p:cNvPr id="100" name="Picture 99" descr="662_8_605E5C.png"/>
          <p:cNvPicPr>
            <a:picLocks noChangeAspect="1"/>
          </p:cNvPicPr>
          <p:nvPr/>
        </p:nvPicPr>
        <p:blipFill>
          <a:blip r:embed="rId19"/>
          <a:stretch>
            <a:fillRect/>
          </a:stretch>
        </p:blipFill>
        <p:spPr>
          <a:xfrm>
            <a:off x="9159818" y="2286582"/>
            <a:ext cx="1195728" cy="361950"/>
          </a:xfrm>
          <a:prstGeom prst="rect">
            <a:avLst/>
          </a:prstGeom>
        </p:spPr>
      </p:pic>
      <p:pic>
        <p:nvPicPr>
          <p:cNvPr id="101" name="Picture 100" descr="1_179_605E5C.png"/>
          <p:cNvPicPr>
            <a:picLocks noChangeAspect="1"/>
          </p:cNvPicPr>
          <p:nvPr/>
        </p:nvPicPr>
        <p:blipFill>
          <a:blip r:embed="rId20"/>
          <a:stretch>
            <a:fillRect/>
          </a:stretch>
        </p:blipFill>
        <p:spPr>
          <a:xfrm>
            <a:off x="9159818" y="2779432"/>
            <a:ext cx="1195728" cy="361950"/>
          </a:xfrm>
          <a:prstGeom prst="rect">
            <a:avLst/>
          </a:prstGeom>
        </p:spPr>
      </p:pic>
      <p:pic>
        <p:nvPicPr>
          <p:cNvPr id="102" name="Picture 101" descr="5_9__605E5C.png"/>
          <p:cNvPicPr>
            <a:picLocks noChangeAspect="1"/>
          </p:cNvPicPr>
          <p:nvPr/>
        </p:nvPicPr>
        <p:blipFill>
          <a:blip r:embed="rId21"/>
          <a:stretch>
            <a:fillRect/>
          </a:stretch>
        </p:blipFill>
        <p:spPr>
          <a:xfrm>
            <a:off x="9266464" y="3272281"/>
            <a:ext cx="982436" cy="361950"/>
          </a:xfrm>
          <a:prstGeom prst="rect">
            <a:avLst/>
          </a:prstGeom>
        </p:spPr>
      </p:pic>
      <p:pic>
        <p:nvPicPr>
          <p:cNvPr id="103" name="Picture 102" descr="565_8_605E5C.png"/>
          <p:cNvPicPr>
            <a:picLocks noChangeAspect="1"/>
          </p:cNvPicPr>
          <p:nvPr/>
        </p:nvPicPr>
        <p:blipFill>
          <a:blip r:embed="rId22"/>
          <a:stretch>
            <a:fillRect/>
          </a:stretch>
        </p:blipFill>
        <p:spPr>
          <a:xfrm>
            <a:off x="10604896" y="2286582"/>
            <a:ext cx="1195728" cy="361950"/>
          </a:xfrm>
          <a:prstGeom prst="rect">
            <a:avLst/>
          </a:prstGeom>
        </p:spPr>
      </p:pic>
      <p:pic>
        <p:nvPicPr>
          <p:cNvPr id="104" name="Picture 103" descr="914_4_605E5C.png"/>
          <p:cNvPicPr>
            <a:picLocks noChangeAspect="1"/>
          </p:cNvPicPr>
          <p:nvPr/>
        </p:nvPicPr>
        <p:blipFill>
          <a:blip r:embed="rId23"/>
          <a:stretch>
            <a:fillRect/>
          </a:stretch>
        </p:blipFill>
        <p:spPr>
          <a:xfrm>
            <a:off x="10604896" y="2779432"/>
            <a:ext cx="1195728" cy="361950"/>
          </a:xfrm>
          <a:prstGeom prst="rect">
            <a:avLst/>
          </a:prstGeom>
        </p:spPr>
      </p:pic>
      <p:pic>
        <p:nvPicPr>
          <p:cNvPr id="105" name="Picture 104" descr="4_9__605E5C.png"/>
          <p:cNvPicPr>
            <a:picLocks noChangeAspect="1"/>
          </p:cNvPicPr>
          <p:nvPr/>
        </p:nvPicPr>
        <p:blipFill>
          <a:blip r:embed="rId24"/>
          <a:stretch>
            <a:fillRect/>
          </a:stretch>
        </p:blipFill>
        <p:spPr>
          <a:xfrm>
            <a:off x="10711542" y="3272281"/>
            <a:ext cx="982436" cy="361950"/>
          </a:xfrm>
          <a:prstGeom prst="rect">
            <a:avLst/>
          </a:prstGeom>
        </p:spPr>
      </p:pic>
      <p:pic>
        <p:nvPicPr>
          <p:cNvPr id="106" name="Picture 105" descr="lock.png"/>
          <p:cNvPicPr>
            <a:picLocks noChangeAspect="1"/>
          </p:cNvPicPr>
          <p:nvPr/>
        </p:nvPicPr>
        <p:blipFill>
          <a:blip r:embed="rId25"/>
          <a:stretch>
            <a:fillRect/>
          </a:stretch>
        </p:blipFill>
        <p:spPr>
          <a:xfrm>
            <a:off x="2438944"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3884023"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5329101"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6774180" y="2827057"/>
            <a:ext cx="183356" cy="266700"/>
          </a:xfrm>
          <a:prstGeom prst="rect">
            <a:avLst/>
          </a:prstGeom>
        </p:spPr>
      </p:pic>
      <p:pic>
        <p:nvPicPr>
          <p:cNvPr id="110" name="Picture 109" descr="lock.png"/>
          <p:cNvPicPr>
            <a:picLocks noChangeAspect="1"/>
          </p:cNvPicPr>
          <p:nvPr/>
        </p:nvPicPr>
        <p:blipFill>
          <a:blip r:embed="rId25"/>
          <a:stretch>
            <a:fillRect/>
          </a:stretch>
        </p:blipFill>
        <p:spPr>
          <a:xfrm>
            <a:off x="8219258" y="2827057"/>
            <a:ext cx="183356" cy="266700"/>
          </a:xfrm>
          <a:prstGeom prst="rect">
            <a:avLst/>
          </a:prstGeom>
        </p:spPr>
      </p:pic>
      <p:pic>
        <p:nvPicPr>
          <p:cNvPr id="111" name="Picture 110" descr="lock.png"/>
          <p:cNvPicPr>
            <a:picLocks noChangeAspect="1"/>
          </p:cNvPicPr>
          <p:nvPr/>
        </p:nvPicPr>
        <p:blipFill>
          <a:blip r:embed="rId25"/>
          <a:stretch>
            <a:fillRect/>
          </a:stretch>
        </p:blipFill>
        <p:spPr>
          <a:xfrm>
            <a:off x="9664337" y="2827057"/>
            <a:ext cx="183356" cy="266700"/>
          </a:xfrm>
          <a:prstGeom prst="rect">
            <a:avLst/>
          </a:prstGeom>
        </p:spPr>
      </p:pic>
      <p:pic>
        <p:nvPicPr>
          <p:cNvPr id="112" name="Picture 111" descr="lock.png"/>
          <p:cNvPicPr>
            <a:picLocks noChangeAspect="1"/>
          </p:cNvPicPr>
          <p:nvPr/>
        </p:nvPicPr>
        <p:blipFill>
          <a:blip r:embed="rId25"/>
          <a:stretch>
            <a:fillRect/>
          </a:stretch>
        </p:blipFill>
        <p:spPr>
          <a:xfrm>
            <a:off x="11109415" y="2827057"/>
            <a:ext cx="183356" cy="266700"/>
          </a:xfrm>
          <a:prstGeom prst="rect">
            <a:avLst/>
          </a:prstGeom>
        </p:spPr>
      </p:pic>
      <p:sp>
        <p:nvSpPr>
          <p:cNvPr id="113" name="TextBox 112"/>
          <p:cNvSpPr txBox="1"/>
          <p:nvPr/>
        </p:nvSpPr>
        <p:spPr>
          <a:xfrm>
            <a:off x="485775" y="4229437"/>
            <a:ext cx="2714401" cy="186689"/>
          </a:xfrm>
          <a:prstGeom prst="rect">
            <a:avLst/>
          </a:prstGeom>
          <a:noFill/>
        </p:spPr>
        <p:txBody>
          <a:bodyPr wrap="none" lIns="0" rIns="0" tIns="0" bIns="0">
            <a:spAutoFit/>
          </a:bodyPr>
          <a:lstStyle/>
          <a:p>
            <a:r>
              <a:rPr sz="1100" b="0">
                <a:solidFill>
                  <a:srgbClr val="2E2E2E"/>
                </a:solidFill>
                <a:latin typeface="Calibri"/>
              </a:rPr>
              <a:t>Among hair styling products by primary styling</a:t>
            </a:r>
          </a:p>
        </p:txBody>
      </p:sp>
      <p:sp>
        <p:nvSpPr>
          <p:cNvPr id="114" name="TextBox 113"/>
          <p:cNvSpPr txBox="1"/>
          <p:nvPr/>
        </p:nvSpPr>
        <p:spPr>
          <a:xfrm>
            <a:off x="485775" y="4397077"/>
            <a:ext cx="2692846" cy="186689"/>
          </a:xfrm>
          <a:prstGeom prst="rect">
            <a:avLst/>
          </a:prstGeom>
          <a:noFill/>
        </p:spPr>
        <p:txBody>
          <a:bodyPr wrap="none" lIns="0" rIns="0" tIns="0" bIns="0">
            <a:spAutoFit/>
          </a:bodyPr>
          <a:lstStyle/>
          <a:p>
            <a:r>
              <a:rPr sz="1100" b="0">
                <a:solidFill>
                  <a:srgbClr val="2E2E2E"/>
                </a:solidFill>
                <a:latin typeface="Calibri"/>
              </a:rPr>
              <a:t>benefit, curl definition segment is expected to</a:t>
            </a:r>
          </a:p>
        </p:txBody>
      </p:sp>
      <p:sp>
        <p:nvSpPr>
          <p:cNvPr id="115" name="TextBox 114"/>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16" name="Picture 115" descr="lock.png"/>
          <p:cNvPicPr>
            <a:picLocks noChangeAspect="1"/>
          </p:cNvPicPr>
          <p:nvPr/>
        </p:nvPicPr>
        <p:blipFill>
          <a:blip r:embed="rId25"/>
          <a:stretch>
            <a:fillRect/>
          </a:stretch>
        </p:blipFill>
        <p:spPr>
          <a:xfrm>
            <a:off x="2108919" y="4554938"/>
            <a:ext cx="128699" cy="187198"/>
          </a:xfrm>
          <a:prstGeom prst="rect">
            <a:avLst/>
          </a:prstGeom>
        </p:spPr>
      </p:pic>
      <p:sp>
        <p:nvSpPr>
          <p:cNvPr id="117" name="TextBox 116"/>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18" name="TextBox 117"/>
          <p:cNvSpPr txBox="1"/>
          <p:nvPr/>
        </p:nvSpPr>
        <p:spPr>
          <a:xfrm>
            <a:off x="485775" y="4732357"/>
            <a:ext cx="2860377" cy="186689"/>
          </a:xfrm>
          <a:prstGeom prst="rect">
            <a:avLst/>
          </a:prstGeom>
          <a:noFill/>
        </p:spPr>
        <p:txBody>
          <a:bodyPr wrap="none" lIns="0" rIns="0" tIns="0" bIns="0">
            <a:spAutoFit/>
          </a:bodyPr>
          <a:lstStyle/>
          <a:p>
            <a:r>
              <a:rPr sz="1100" b="0">
                <a:solidFill>
                  <a:srgbClr val="2E2E2E"/>
                </a:solidFill>
                <a:latin typeface="Calibri"/>
              </a:rPr>
              <a:t>period. In terms of value share by primary styling</a:t>
            </a:r>
          </a:p>
        </p:txBody>
      </p:sp>
      <p:sp>
        <p:nvSpPr>
          <p:cNvPr id="119" name="TextBox 118"/>
          <p:cNvSpPr txBox="1"/>
          <p:nvPr/>
        </p:nvSpPr>
        <p:spPr>
          <a:xfrm>
            <a:off x="485775" y="4899997"/>
            <a:ext cx="2914401" cy="186689"/>
          </a:xfrm>
          <a:prstGeom prst="rect">
            <a:avLst/>
          </a:prstGeom>
          <a:noFill/>
        </p:spPr>
        <p:txBody>
          <a:bodyPr wrap="none" lIns="0" rIns="0" tIns="0" bIns="0">
            <a:spAutoFit/>
          </a:bodyPr>
          <a:lstStyle/>
          <a:p>
            <a:r>
              <a:rPr sz="1100" b="0">
                <a:solidFill>
                  <a:srgbClr val="2E2E2E"/>
                </a:solidFill>
                <a:latin typeface="Calibri"/>
              </a:rPr>
              <a:t>benefit, the curl definition segment is expected to</a:t>
            </a:r>
          </a:p>
        </p:txBody>
      </p:sp>
      <p:sp>
        <p:nvSpPr>
          <p:cNvPr id="120" name="TextBox 119"/>
          <p:cNvSpPr txBox="1"/>
          <p:nvPr/>
        </p:nvSpPr>
        <p:spPr>
          <a:xfrm>
            <a:off x="485775" y="5067637"/>
            <a:ext cx="1760512" cy="186689"/>
          </a:xfrm>
          <a:prstGeom prst="rect">
            <a:avLst/>
          </a:prstGeom>
          <a:noFill/>
        </p:spPr>
        <p:txBody>
          <a:bodyPr wrap="none" lIns="0" rIns="0" tIns="0" bIns="0">
            <a:spAutoFit/>
          </a:bodyPr>
          <a:lstStyle/>
          <a:p>
            <a:r>
              <a:rPr sz="1100" b="0">
                <a:solidFill>
                  <a:srgbClr val="2E2E2E"/>
                </a:solidFill>
                <a:latin typeface="Calibri"/>
              </a:rPr>
              <a:t>dominate the market, gaining</a:t>
            </a:r>
          </a:p>
        </p:txBody>
      </p:sp>
      <p:pic>
        <p:nvPicPr>
          <p:cNvPr id="121" name="Picture 120" descr="lock.png"/>
          <p:cNvPicPr>
            <a:picLocks noChangeAspect="1"/>
          </p:cNvPicPr>
          <p:nvPr/>
        </p:nvPicPr>
        <p:blipFill>
          <a:blip r:embed="rId25"/>
          <a:stretch>
            <a:fillRect/>
          </a:stretch>
        </p:blipFill>
        <p:spPr>
          <a:xfrm>
            <a:off x="2194339" y="5057858"/>
            <a:ext cx="128699" cy="187198"/>
          </a:xfrm>
          <a:prstGeom prst="rect">
            <a:avLst/>
          </a:prstGeom>
        </p:spPr>
      </p:pic>
      <p:sp>
        <p:nvSpPr>
          <p:cNvPr id="122" name="TextBox 121"/>
          <p:cNvSpPr txBox="1"/>
          <p:nvPr/>
        </p:nvSpPr>
        <p:spPr>
          <a:xfrm>
            <a:off x="2361835"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123" name="TextBox 122"/>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124" name="Picture 123" descr="lock.png"/>
          <p:cNvPicPr>
            <a:picLocks noChangeAspect="1"/>
          </p:cNvPicPr>
          <p:nvPr/>
        </p:nvPicPr>
        <p:blipFill>
          <a:blip r:embed="rId25"/>
          <a:stretch>
            <a:fillRect/>
          </a:stretch>
        </p:blipFill>
        <p:spPr>
          <a:xfrm>
            <a:off x="1330764" y="5225498"/>
            <a:ext cx="128699" cy="187198"/>
          </a:xfrm>
          <a:prstGeom prst="rect">
            <a:avLst/>
          </a:prstGeom>
        </p:spPr>
      </p:pic>
      <p:sp>
        <p:nvSpPr>
          <p:cNvPr id="125" name="TextBox 124"/>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6" name="TextBox 125"/>
          <p:cNvSpPr txBox="1"/>
          <p:nvPr/>
        </p:nvSpPr>
        <p:spPr>
          <a:xfrm>
            <a:off x="485775" y="5453209"/>
            <a:ext cx="2727771" cy="186689"/>
          </a:xfrm>
          <a:prstGeom prst="rect">
            <a:avLst/>
          </a:prstGeom>
          <a:noFill/>
        </p:spPr>
        <p:txBody>
          <a:bodyPr wrap="none" lIns="0" rIns="0" tIns="0" bIns="0">
            <a:spAutoFit/>
          </a:bodyPr>
          <a:lstStyle/>
          <a:p>
            <a:r>
              <a:rPr sz="1100" b="0">
                <a:solidFill>
                  <a:srgbClr val="2E2E2E"/>
                </a:solidFill>
                <a:latin typeface="Calibri"/>
              </a:rPr>
              <a:t>Curl definition segment is projected to register</a:t>
            </a:r>
          </a:p>
        </p:txBody>
      </p:sp>
      <p:pic>
        <p:nvPicPr>
          <p:cNvPr id="127" name="Picture 126" descr="lock.png"/>
          <p:cNvPicPr>
            <a:picLocks noChangeAspect="1"/>
          </p:cNvPicPr>
          <p:nvPr/>
        </p:nvPicPr>
        <p:blipFill>
          <a:blip r:embed="rId25"/>
          <a:stretch>
            <a:fillRect/>
          </a:stretch>
        </p:blipFill>
        <p:spPr>
          <a:xfrm>
            <a:off x="472307" y="5611070"/>
            <a:ext cx="128699" cy="187198"/>
          </a:xfrm>
          <a:prstGeom prst="rect">
            <a:avLst/>
          </a:prstGeom>
        </p:spPr>
      </p:pic>
      <p:sp>
        <p:nvSpPr>
          <p:cNvPr id="128" name="TextBox 127"/>
          <p:cNvSpPr txBox="1"/>
          <p:nvPr/>
        </p:nvSpPr>
        <p:spPr>
          <a:xfrm>
            <a:off x="639803" y="5620849"/>
            <a:ext cx="2320131" cy="186689"/>
          </a:xfrm>
          <a:prstGeom prst="rect">
            <a:avLst/>
          </a:prstGeom>
          <a:noFill/>
        </p:spPr>
        <p:txBody>
          <a:bodyPr wrap="none" lIns="0" rIns="0" tIns="0" bIns="0">
            <a:spAutoFit/>
          </a:bodyPr>
          <a:lstStyle/>
          <a:p>
            <a:r>
              <a:rPr sz="1100" b="0">
                <a:solidFill>
                  <a:srgbClr val="2E2E2E"/>
                </a:solidFill>
                <a:latin typeface="Calibri"/>
              </a:rPr>
              <a:t>X higher value than smoothing and frizz</a:t>
            </a:r>
          </a:p>
        </p:txBody>
      </p:sp>
      <p:sp>
        <p:nvSpPr>
          <p:cNvPr id="129" name="TextBox 128"/>
          <p:cNvSpPr txBox="1"/>
          <p:nvPr/>
        </p:nvSpPr>
        <p:spPr>
          <a:xfrm>
            <a:off x="485775" y="5788489"/>
            <a:ext cx="1495028" cy="186689"/>
          </a:xfrm>
          <a:prstGeom prst="rect">
            <a:avLst/>
          </a:prstGeom>
          <a:noFill/>
        </p:spPr>
        <p:txBody>
          <a:bodyPr wrap="none" lIns="0" rIns="0" tIns="0" bIns="0">
            <a:spAutoFit/>
          </a:bodyPr>
          <a:lstStyle/>
          <a:p>
            <a:r>
              <a:rPr sz="1100" b="0">
                <a:solidFill>
                  <a:srgbClr val="2E2E2E"/>
                </a:solidFill>
                <a:latin typeface="Calibri"/>
              </a:rPr>
              <a:t>control segment in 2036.</a:t>
            </a:r>
          </a:p>
        </p:txBody>
      </p:sp>
      <p:sp>
        <p:nvSpPr>
          <p:cNvPr id="130" name="TextBox 129"/>
          <p:cNvSpPr txBox="1"/>
          <p:nvPr/>
        </p:nvSpPr>
        <p:spPr>
          <a:xfrm>
            <a:off x="3838575" y="4229437"/>
            <a:ext cx="1831454" cy="186689"/>
          </a:xfrm>
          <a:prstGeom prst="rect">
            <a:avLst/>
          </a:prstGeom>
          <a:noFill/>
        </p:spPr>
        <p:txBody>
          <a:bodyPr wrap="none" lIns="0" rIns="0" tIns="0" bIns="0">
            <a:spAutoFit/>
          </a:bodyPr>
          <a:lstStyle/>
          <a:p>
            <a:r>
              <a:rPr sz="1100" b="0">
                <a:solidFill>
                  <a:srgbClr val="2E2E2E"/>
                </a:solidFill>
                <a:latin typeface="Calibri"/>
              </a:rPr>
              <a:t>● Smoothing and Frizz Control:</a:t>
            </a:r>
          </a:p>
        </p:txBody>
      </p:sp>
      <p:pic>
        <p:nvPicPr>
          <p:cNvPr id="131" name="Picture 130" descr="lock.png"/>
          <p:cNvPicPr>
            <a:picLocks noChangeAspect="1"/>
          </p:cNvPicPr>
          <p:nvPr/>
        </p:nvPicPr>
        <p:blipFill>
          <a:blip r:embed="rId25"/>
          <a:stretch>
            <a:fillRect/>
          </a:stretch>
        </p:blipFill>
        <p:spPr>
          <a:xfrm>
            <a:off x="5618080" y="4219658"/>
            <a:ext cx="128699" cy="187198"/>
          </a:xfrm>
          <a:prstGeom prst="rect">
            <a:avLst/>
          </a:prstGeom>
        </p:spPr>
      </p:pic>
      <p:sp>
        <p:nvSpPr>
          <p:cNvPr id="132" name="TextBox 131"/>
          <p:cNvSpPr txBox="1"/>
          <p:nvPr/>
        </p:nvSpPr>
        <p:spPr>
          <a:xfrm>
            <a:off x="5785576"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25"/>
          <a:stretch>
            <a:fillRect/>
          </a:stretch>
        </p:blipFill>
        <p:spPr>
          <a:xfrm>
            <a:off x="6645026" y="4219658"/>
            <a:ext cx="128699" cy="187198"/>
          </a:xfrm>
          <a:prstGeom prst="rect">
            <a:avLst/>
          </a:prstGeom>
        </p:spPr>
      </p:pic>
      <p:sp>
        <p:nvSpPr>
          <p:cNvPr id="134" name="TextBox 133"/>
          <p:cNvSpPr txBox="1"/>
          <p:nvPr/>
        </p:nvSpPr>
        <p:spPr>
          <a:xfrm>
            <a:off x="6812522"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35" name="TextBox 134"/>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36" name="TextBox 135"/>
          <p:cNvSpPr txBox="1"/>
          <p:nvPr/>
        </p:nvSpPr>
        <p:spPr>
          <a:xfrm>
            <a:off x="3838575" y="4615009"/>
            <a:ext cx="1052190" cy="186689"/>
          </a:xfrm>
          <a:prstGeom prst="rect">
            <a:avLst/>
          </a:prstGeom>
          <a:noFill/>
        </p:spPr>
        <p:txBody>
          <a:bodyPr wrap="none" lIns="0" rIns="0" tIns="0" bIns="0">
            <a:spAutoFit/>
          </a:bodyPr>
          <a:lstStyle/>
          <a:p>
            <a:r>
              <a:rPr sz="1100" b="0">
                <a:solidFill>
                  <a:srgbClr val="2E2E2E"/>
                </a:solidFill>
                <a:latin typeface="Calibri"/>
              </a:rPr>
              <a:t>● Curl Definition:</a:t>
            </a:r>
          </a:p>
        </p:txBody>
      </p:sp>
      <p:pic>
        <p:nvPicPr>
          <p:cNvPr id="137" name="Picture 136" descr="lock.png"/>
          <p:cNvPicPr>
            <a:picLocks noChangeAspect="1"/>
          </p:cNvPicPr>
          <p:nvPr/>
        </p:nvPicPr>
        <p:blipFill>
          <a:blip r:embed="rId25"/>
          <a:stretch>
            <a:fillRect/>
          </a:stretch>
        </p:blipFill>
        <p:spPr>
          <a:xfrm>
            <a:off x="4838816" y="4605230"/>
            <a:ext cx="128699" cy="187198"/>
          </a:xfrm>
          <a:prstGeom prst="rect">
            <a:avLst/>
          </a:prstGeom>
        </p:spPr>
      </p:pic>
      <p:sp>
        <p:nvSpPr>
          <p:cNvPr id="138" name="TextBox 137"/>
          <p:cNvSpPr txBox="1"/>
          <p:nvPr/>
        </p:nvSpPr>
        <p:spPr>
          <a:xfrm>
            <a:off x="500631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5"/>
          <a:stretch>
            <a:fillRect/>
          </a:stretch>
        </p:blipFill>
        <p:spPr>
          <a:xfrm>
            <a:off x="5865762" y="4605230"/>
            <a:ext cx="128699" cy="187198"/>
          </a:xfrm>
          <a:prstGeom prst="rect">
            <a:avLst/>
          </a:prstGeom>
        </p:spPr>
      </p:pic>
      <p:sp>
        <p:nvSpPr>
          <p:cNvPr id="140" name="TextBox 139"/>
          <p:cNvSpPr txBox="1"/>
          <p:nvPr/>
        </p:nvSpPr>
        <p:spPr>
          <a:xfrm>
            <a:off x="6033258" y="461500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1" name="TextBox 140"/>
          <p:cNvSpPr txBox="1"/>
          <p:nvPr/>
        </p:nvSpPr>
        <p:spPr>
          <a:xfrm>
            <a:off x="3838575" y="4832941"/>
            <a:ext cx="1120130" cy="186689"/>
          </a:xfrm>
          <a:prstGeom prst="rect">
            <a:avLst/>
          </a:prstGeom>
          <a:noFill/>
        </p:spPr>
        <p:txBody>
          <a:bodyPr wrap="none" lIns="0" rIns="0" tIns="0" bIns="0">
            <a:spAutoFit/>
          </a:bodyPr>
          <a:lstStyle/>
          <a:p>
            <a:r>
              <a:rPr sz="1100" b="0">
                <a:solidFill>
                  <a:srgbClr val="2E2E2E"/>
                </a:solidFill>
                <a:latin typeface="Calibri"/>
              </a:rPr>
              <a:t>● Hold and Shape:</a:t>
            </a:r>
          </a:p>
        </p:txBody>
      </p:sp>
      <p:pic>
        <p:nvPicPr>
          <p:cNvPr id="142" name="Picture 141" descr="lock.png"/>
          <p:cNvPicPr>
            <a:picLocks noChangeAspect="1"/>
          </p:cNvPicPr>
          <p:nvPr/>
        </p:nvPicPr>
        <p:blipFill>
          <a:blip r:embed="rId25"/>
          <a:stretch>
            <a:fillRect/>
          </a:stretch>
        </p:blipFill>
        <p:spPr>
          <a:xfrm>
            <a:off x="4906756" y="4823162"/>
            <a:ext cx="128699" cy="187198"/>
          </a:xfrm>
          <a:prstGeom prst="rect">
            <a:avLst/>
          </a:prstGeom>
        </p:spPr>
      </p:pic>
      <p:sp>
        <p:nvSpPr>
          <p:cNvPr id="143" name="TextBox 142"/>
          <p:cNvSpPr txBox="1"/>
          <p:nvPr/>
        </p:nvSpPr>
        <p:spPr>
          <a:xfrm>
            <a:off x="5074252"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5"/>
          <a:stretch>
            <a:fillRect/>
          </a:stretch>
        </p:blipFill>
        <p:spPr>
          <a:xfrm>
            <a:off x="5933702" y="4823162"/>
            <a:ext cx="128699" cy="187198"/>
          </a:xfrm>
          <a:prstGeom prst="rect">
            <a:avLst/>
          </a:prstGeom>
        </p:spPr>
      </p:pic>
      <p:sp>
        <p:nvSpPr>
          <p:cNvPr id="145" name="TextBox 144"/>
          <p:cNvSpPr txBox="1"/>
          <p:nvPr/>
        </p:nvSpPr>
        <p:spPr>
          <a:xfrm>
            <a:off x="6101198"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46" name="TextBox 145"/>
          <p:cNvSpPr txBox="1"/>
          <p:nvPr/>
        </p:nvSpPr>
        <p:spPr>
          <a:xfrm>
            <a:off x="3838575" y="5050872"/>
            <a:ext cx="1428452" cy="186689"/>
          </a:xfrm>
          <a:prstGeom prst="rect">
            <a:avLst/>
          </a:prstGeom>
          <a:noFill/>
        </p:spPr>
        <p:txBody>
          <a:bodyPr wrap="none" lIns="0" rIns="0" tIns="0" bIns="0">
            <a:spAutoFit/>
          </a:bodyPr>
          <a:lstStyle/>
          <a:p>
            <a:r>
              <a:rPr sz="1100" b="0">
                <a:solidFill>
                  <a:srgbClr val="2E2E2E"/>
                </a:solidFill>
                <a:latin typeface="Calibri"/>
              </a:rPr>
              <a:t>● Volume and Root Lift:</a:t>
            </a:r>
          </a:p>
        </p:txBody>
      </p:sp>
      <p:pic>
        <p:nvPicPr>
          <p:cNvPr id="147" name="Picture 146" descr="lock.png"/>
          <p:cNvPicPr>
            <a:picLocks noChangeAspect="1"/>
          </p:cNvPicPr>
          <p:nvPr/>
        </p:nvPicPr>
        <p:blipFill>
          <a:blip r:embed="rId25"/>
          <a:stretch>
            <a:fillRect/>
          </a:stretch>
        </p:blipFill>
        <p:spPr>
          <a:xfrm>
            <a:off x="5215078" y="5041093"/>
            <a:ext cx="128699" cy="187198"/>
          </a:xfrm>
          <a:prstGeom prst="rect">
            <a:avLst/>
          </a:prstGeom>
        </p:spPr>
      </p:pic>
      <p:sp>
        <p:nvSpPr>
          <p:cNvPr id="148" name="TextBox 147"/>
          <p:cNvSpPr txBox="1"/>
          <p:nvPr/>
        </p:nvSpPr>
        <p:spPr>
          <a:xfrm>
            <a:off x="5382574"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9" name="Picture 148" descr="lock.png"/>
          <p:cNvPicPr>
            <a:picLocks noChangeAspect="1"/>
          </p:cNvPicPr>
          <p:nvPr/>
        </p:nvPicPr>
        <p:blipFill>
          <a:blip r:embed="rId25"/>
          <a:stretch>
            <a:fillRect/>
          </a:stretch>
        </p:blipFill>
        <p:spPr>
          <a:xfrm>
            <a:off x="6242024" y="5041093"/>
            <a:ext cx="128699" cy="187198"/>
          </a:xfrm>
          <a:prstGeom prst="rect">
            <a:avLst/>
          </a:prstGeom>
        </p:spPr>
      </p:pic>
      <p:sp>
        <p:nvSpPr>
          <p:cNvPr id="150" name="TextBox 149"/>
          <p:cNvSpPr txBox="1"/>
          <p:nvPr/>
        </p:nvSpPr>
        <p:spPr>
          <a:xfrm>
            <a:off x="6409520" y="5050872"/>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1" name="TextBox 150"/>
          <p:cNvSpPr txBox="1"/>
          <p:nvPr/>
        </p:nvSpPr>
        <p:spPr>
          <a:xfrm>
            <a:off x="3838575" y="5268804"/>
            <a:ext cx="1394891" cy="186689"/>
          </a:xfrm>
          <a:prstGeom prst="rect">
            <a:avLst/>
          </a:prstGeom>
          <a:noFill/>
        </p:spPr>
        <p:txBody>
          <a:bodyPr wrap="none" lIns="0" rIns="0" tIns="0" bIns="0">
            <a:spAutoFit/>
          </a:bodyPr>
          <a:lstStyle/>
          <a:p>
            <a:r>
              <a:rPr sz="1100" b="0">
                <a:solidFill>
                  <a:srgbClr val="2E2E2E"/>
                </a:solidFill>
                <a:latin typeface="Calibri"/>
              </a:rPr>
              <a:t>● Heat Styling Support:</a:t>
            </a:r>
          </a:p>
        </p:txBody>
      </p:sp>
      <p:pic>
        <p:nvPicPr>
          <p:cNvPr id="152" name="Picture 151" descr="lock.png"/>
          <p:cNvPicPr>
            <a:picLocks noChangeAspect="1"/>
          </p:cNvPicPr>
          <p:nvPr/>
        </p:nvPicPr>
        <p:blipFill>
          <a:blip r:embed="rId25"/>
          <a:stretch>
            <a:fillRect/>
          </a:stretch>
        </p:blipFill>
        <p:spPr>
          <a:xfrm>
            <a:off x="5181518" y="5259025"/>
            <a:ext cx="128699" cy="187198"/>
          </a:xfrm>
          <a:prstGeom prst="rect">
            <a:avLst/>
          </a:prstGeom>
        </p:spPr>
      </p:pic>
      <p:sp>
        <p:nvSpPr>
          <p:cNvPr id="153" name="TextBox 152"/>
          <p:cNvSpPr txBox="1"/>
          <p:nvPr/>
        </p:nvSpPr>
        <p:spPr>
          <a:xfrm>
            <a:off x="5349014" y="5268804"/>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4" name="Picture 153" descr="lock.png"/>
          <p:cNvPicPr>
            <a:picLocks noChangeAspect="1"/>
          </p:cNvPicPr>
          <p:nvPr/>
        </p:nvPicPr>
        <p:blipFill>
          <a:blip r:embed="rId25"/>
          <a:stretch>
            <a:fillRect/>
          </a:stretch>
        </p:blipFill>
        <p:spPr>
          <a:xfrm>
            <a:off x="6208464" y="5259025"/>
            <a:ext cx="128699" cy="187198"/>
          </a:xfrm>
          <a:prstGeom prst="rect">
            <a:avLst/>
          </a:prstGeom>
        </p:spPr>
      </p:pic>
      <p:sp>
        <p:nvSpPr>
          <p:cNvPr id="155" name="TextBox 154"/>
          <p:cNvSpPr txBox="1"/>
          <p:nvPr/>
        </p:nvSpPr>
        <p:spPr>
          <a:xfrm>
            <a:off x="6375960" y="5268804"/>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56" name="TextBox 155"/>
          <p:cNvSpPr txBox="1"/>
          <p:nvPr/>
        </p:nvSpPr>
        <p:spPr>
          <a:xfrm>
            <a:off x="3838575" y="5486736"/>
            <a:ext cx="1559421" cy="186689"/>
          </a:xfrm>
          <a:prstGeom prst="rect">
            <a:avLst/>
          </a:prstGeom>
          <a:noFill/>
        </p:spPr>
        <p:txBody>
          <a:bodyPr wrap="none" lIns="0" rIns="0" tIns="0" bIns="0">
            <a:spAutoFit/>
          </a:bodyPr>
          <a:lstStyle/>
          <a:p>
            <a:r>
              <a:rPr sz="1100" b="0">
                <a:solidFill>
                  <a:srgbClr val="2E2E2E"/>
                </a:solidFill>
                <a:latin typeface="Calibri"/>
              </a:rPr>
              <a:t>● Texture and Separation:</a:t>
            </a:r>
          </a:p>
        </p:txBody>
      </p:sp>
      <p:pic>
        <p:nvPicPr>
          <p:cNvPr id="157" name="Picture 156" descr="lock.png"/>
          <p:cNvPicPr>
            <a:picLocks noChangeAspect="1"/>
          </p:cNvPicPr>
          <p:nvPr/>
        </p:nvPicPr>
        <p:blipFill>
          <a:blip r:embed="rId25"/>
          <a:stretch>
            <a:fillRect/>
          </a:stretch>
        </p:blipFill>
        <p:spPr>
          <a:xfrm>
            <a:off x="5346047" y="5476957"/>
            <a:ext cx="128699" cy="187198"/>
          </a:xfrm>
          <a:prstGeom prst="rect">
            <a:avLst/>
          </a:prstGeom>
        </p:spPr>
      </p:pic>
      <p:sp>
        <p:nvSpPr>
          <p:cNvPr id="158" name="TextBox 157"/>
          <p:cNvSpPr txBox="1"/>
          <p:nvPr/>
        </p:nvSpPr>
        <p:spPr>
          <a:xfrm>
            <a:off x="5513543" y="5486736"/>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9" name="Picture 158" descr="lock.png"/>
          <p:cNvPicPr>
            <a:picLocks noChangeAspect="1"/>
          </p:cNvPicPr>
          <p:nvPr/>
        </p:nvPicPr>
        <p:blipFill>
          <a:blip r:embed="rId25"/>
          <a:stretch>
            <a:fillRect/>
          </a:stretch>
        </p:blipFill>
        <p:spPr>
          <a:xfrm>
            <a:off x="6372993" y="5476957"/>
            <a:ext cx="128699" cy="187198"/>
          </a:xfrm>
          <a:prstGeom prst="rect">
            <a:avLst/>
          </a:prstGeom>
        </p:spPr>
      </p:pic>
      <p:sp>
        <p:nvSpPr>
          <p:cNvPr id="160" name="TextBox 159"/>
          <p:cNvSpPr txBox="1"/>
          <p:nvPr/>
        </p:nvSpPr>
        <p:spPr>
          <a:xfrm>
            <a:off x="6540489" y="5486736"/>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61" name="TextBox 160"/>
          <p:cNvSpPr txBox="1"/>
          <p:nvPr/>
        </p:nvSpPr>
        <p:spPr>
          <a:xfrm>
            <a:off x="3838575" y="5704668"/>
            <a:ext cx="1946840" cy="186689"/>
          </a:xfrm>
          <a:prstGeom prst="rect">
            <a:avLst/>
          </a:prstGeom>
          <a:noFill/>
        </p:spPr>
        <p:txBody>
          <a:bodyPr wrap="none" lIns="0" rIns="0" tIns="0" bIns="0">
            <a:spAutoFit/>
          </a:bodyPr>
          <a:lstStyle/>
          <a:p>
            <a:r>
              <a:rPr sz="1100" b="0">
                <a:solidFill>
                  <a:srgbClr val="2E2E2E"/>
                </a:solidFill>
                <a:latin typeface="Calibri"/>
              </a:rPr>
              <a:t>● Sleek Styling and Edge Control:</a:t>
            </a:r>
          </a:p>
        </p:txBody>
      </p:sp>
      <p:pic>
        <p:nvPicPr>
          <p:cNvPr id="162" name="Picture 161" descr="lock.png"/>
          <p:cNvPicPr>
            <a:picLocks noChangeAspect="1"/>
          </p:cNvPicPr>
          <p:nvPr/>
        </p:nvPicPr>
        <p:blipFill>
          <a:blip r:embed="rId25"/>
          <a:stretch>
            <a:fillRect/>
          </a:stretch>
        </p:blipFill>
        <p:spPr>
          <a:xfrm>
            <a:off x="5733467" y="5694889"/>
            <a:ext cx="128699" cy="187198"/>
          </a:xfrm>
          <a:prstGeom prst="rect">
            <a:avLst/>
          </a:prstGeom>
        </p:spPr>
      </p:pic>
      <p:sp>
        <p:nvSpPr>
          <p:cNvPr id="163" name="TextBox 162"/>
          <p:cNvSpPr txBox="1"/>
          <p:nvPr/>
        </p:nvSpPr>
        <p:spPr>
          <a:xfrm>
            <a:off x="5900962" y="5704668"/>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4" name="Picture 163" descr="lock.png"/>
          <p:cNvPicPr>
            <a:picLocks noChangeAspect="1"/>
          </p:cNvPicPr>
          <p:nvPr/>
        </p:nvPicPr>
        <p:blipFill>
          <a:blip r:embed="rId25"/>
          <a:stretch>
            <a:fillRect/>
          </a:stretch>
        </p:blipFill>
        <p:spPr>
          <a:xfrm>
            <a:off x="6760413" y="5694889"/>
            <a:ext cx="128699" cy="187198"/>
          </a:xfrm>
          <a:prstGeom prst="rect">
            <a:avLst/>
          </a:prstGeom>
        </p:spPr>
      </p:pic>
      <p:sp>
        <p:nvSpPr>
          <p:cNvPr id="165" name="TextBox 164"/>
          <p:cNvSpPr txBox="1"/>
          <p:nvPr/>
        </p:nvSpPr>
        <p:spPr>
          <a:xfrm>
            <a:off x="6927908" y="5704668"/>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66" name="TextBox 165"/>
          <p:cNvSpPr txBox="1"/>
          <p:nvPr/>
        </p:nvSpPr>
        <p:spPr>
          <a:xfrm>
            <a:off x="3838575" y="587230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67" name="TextBox 166"/>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Primary Styling Benefit segment is projected to</a:t>
            </a:r>
          </a:p>
        </p:txBody>
      </p:sp>
      <p:sp>
        <p:nvSpPr>
          <p:cNvPr id="168" name="TextBox 16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69" name="Picture 168" descr="lock.png"/>
          <p:cNvPicPr>
            <a:picLocks noChangeAspect="1"/>
          </p:cNvPicPr>
          <p:nvPr/>
        </p:nvPicPr>
        <p:blipFill>
          <a:blip r:embed="rId25"/>
          <a:stretch>
            <a:fillRect/>
          </a:stretch>
        </p:blipFill>
        <p:spPr>
          <a:xfrm>
            <a:off x="9651852" y="6007677"/>
            <a:ext cx="134549" cy="195707"/>
          </a:xfrm>
          <a:prstGeom prst="rect">
            <a:avLst/>
          </a:prstGeom>
        </p:spPr>
      </p:pic>
      <p:sp>
        <p:nvSpPr>
          <p:cNvPr id="170" name="TextBox 16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Primary Styling Benefit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Primary Styling Benefit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Primary Styling Benefit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Primary Styling Benefit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656020" cy="186689"/>
          </a:xfrm>
          <a:prstGeom prst="rect">
            <a:avLst/>
          </a:prstGeom>
          <a:noFill/>
        </p:spPr>
        <p:txBody>
          <a:bodyPr wrap="none" lIns="0" rIns="0" tIns="0" bIns="0">
            <a:spAutoFit/>
          </a:bodyPr>
          <a:lstStyle/>
          <a:p>
            <a:r>
              <a:rPr sz="1100" b="0">
                <a:solidFill>
                  <a:srgbClr val="2E2E2E"/>
                </a:solidFill>
                <a:latin typeface="Calibri"/>
              </a:rPr>
              <a:t>Curl definition followed by smoothing and frizz control are expected to be the two most attractive primary styling benefit segments in the North America hair styling products market in terms of value over</a:t>
            </a:r>
          </a:p>
        </p:txBody>
      </p:sp>
      <p:sp>
        <p:nvSpPr>
          <p:cNvPr id="21" name="TextBox 20"/>
          <p:cNvSpPr txBox="1"/>
          <p:nvPr/>
        </p:nvSpPr>
        <p:spPr>
          <a:xfrm>
            <a:off x="257175" y="5861685"/>
            <a:ext cx="5230076" cy="186689"/>
          </a:xfrm>
          <a:prstGeom prst="rect">
            <a:avLst/>
          </a:prstGeom>
          <a:noFill/>
        </p:spPr>
        <p:txBody>
          <a:bodyPr wrap="none" lIns="0" rIns="0" tIns="0" bIns="0">
            <a:spAutoFit/>
          </a:bodyPr>
          <a:lstStyle/>
          <a:p>
            <a:r>
              <a:rPr sz="1100" b="0">
                <a:solidFill>
                  <a:srgbClr val="2E2E2E"/>
                </a:solidFill>
                <a:latin typeface="Calibri"/>
              </a:rPr>
              <a:t>the forecast period. Curl definition and smoothing and frizz control exhibit a CAGR index of</a:t>
            </a:r>
          </a:p>
        </p:txBody>
      </p:sp>
      <p:pic>
        <p:nvPicPr>
          <p:cNvPr id="22" name="Picture 21" descr="lock.png"/>
          <p:cNvPicPr>
            <a:picLocks noChangeAspect="1"/>
          </p:cNvPicPr>
          <p:nvPr/>
        </p:nvPicPr>
        <p:blipFill>
          <a:blip r:embed="rId6"/>
          <a:stretch>
            <a:fillRect/>
          </a:stretch>
        </p:blipFill>
        <p:spPr>
          <a:xfrm>
            <a:off x="5435302" y="5851905"/>
            <a:ext cx="128699" cy="187198"/>
          </a:xfrm>
          <a:prstGeom prst="rect">
            <a:avLst/>
          </a:prstGeom>
        </p:spPr>
      </p:pic>
      <p:sp>
        <p:nvSpPr>
          <p:cNvPr id="23" name="TextBox 22"/>
          <p:cNvSpPr txBox="1"/>
          <p:nvPr/>
        </p:nvSpPr>
        <p:spPr>
          <a:xfrm>
            <a:off x="560279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5840692" y="5851905"/>
            <a:ext cx="128699" cy="187198"/>
          </a:xfrm>
          <a:prstGeom prst="rect">
            <a:avLst/>
          </a:prstGeom>
        </p:spPr>
      </p:pic>
      <p:sp>
        <p:nvSpPr>
          <p:cNvPr id="25" name="TextBox 24"/>
          <p:cNvSpPr txBox="1"/>
          <p:nvPr/>
        </p:nvSpPr>
        <p:spPr>
          <a:xfrm>
            <a:off x="600818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7617162" y="5851905"/>
            <a:ext cx="128699" cy="187198"/>
          </a:xfrm>
          <a:prstGeom prst="rect">
            <a:avLst/>
          </a:prstGeom>
        </p:spPr>
      </p:pic>
      <p:sp>
        <p:nvSpPr>
          <p:cNvPr id="27" name="TextBox 26"/>
          <p:cNvSpPr txBox="1"/>
          <p:nvPr/>
        </p:nvSpPr>
        <p:spPr>
          <a:xfrm>
            <a:off x="778465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8022552" y="5851905"/>
            <a:ext cx="128699" cy="187198"/>
          </a:xfrm>
          <a:prstGeom prst="rect">
            <a:avLst/>
          </a:prstGeom>
        </p:spPr>
      </p:pic>
      <p:sp>
        <p:nvSpPr>
          <p:cNvPr id="29" name="TextBox 28"/>
          <p:cNvSpPr txBox="1"/>
          <p:nvPr/>
        </p:nvSpPr>
        <p:spPr>
          <a:xfrm>
            <a:off x="8190048"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10744452" y="5851905"/>
            <a:ext cx="128699" cy="187198"/>
          </a:xfrm>
          <a:prstGeom prst="rect">
            <a:avLst/>
          </a:prstGeom>
        </p:spPr>
      </p:pic>
      <p:sp>
        <p:nvSpPr>
          <p:cNvPr id="31" name="TextBox 30"/>
          <p:cNvSpPr txBox="1"/>
          <p:nvPr/>
        </p:nvSpPr>
        <p:spPr>
          <a:xfrm>
            <a:off x="10911948"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32" name="TextBox 31"/>
          <p:cNvSpPr txBox="1"/>
          <p:nvPr/>
        </p:nvSpPr>
        <p:spPr>
          <a:xfrm>
            <a:off x="257175" y="6029325"/>
            <a:ext cx="11639359" cy="186689"/>
          </a:xfrm>
          <a:prstGeom prst="rect">
            <a:avLst/>
          </a:prstGeom>
          <a:noFill/>
        </p:spPr>
        <p:txBody>
          <a:bodyPr wrap="none" lIns="0" rIns="0" tIns="0" bIns="0">
            <a:spAutoFit/>
          </a:bodyPr>
          <a:lstStyle/>
          <a:p>
            <a:r>
              <a:rPr sz="1100" b="0">
                <a:solidFill>
                  <a:srgbClr val="2E2E2E"/>
                </a:solidFill>
                <a:latin typeface="Calibri"/>
              </a:rPr>
              <a:t>sleek styling and edge control segment is expected to be less attractive as compared to other segments over the forecast period, owing to its lower CAGR and incremental opportunity. Bubbles right of the</a:t>
            </a:r>
          </a:p>
        </p:txBody>
      </p:sp>
      <p:sp>
        <p:nvSpPr>
          <p:cNvPr id="33" name="TextBox 32"/>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Primary Styling Benefit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Primary Styling Benefit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Hold and Shape</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Curl Definition</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Volume and Root Lift</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Texture and Separation</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Primary Styling Benefit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Primary Styling Benefit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Smoothing and Frizz Control</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Sleek Styling and Edge Control</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Heat Styling Support</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3952875"/>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Primary Styling Benefit</a:t>
            </a:r>
          </a:p>
        </p:txBody>
      </p:sp>
      <p:sp>
        <p:nvSpPr>
          <p:cNvPr id="21" name="Rectangle 20"/>
          <p:cNvSpPr/>
          <p:nvPr/>
        </p:nvSpPr>
        <p:spPr>
          <a:xfrm>
            <a:off x="6305550" y="438907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4474795"/>
            <a:ext cx="5610225" cy="20688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7"/>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7"/>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7"/>
          <a:stretch>
            <a:fillRect/>
          </a:stretch>
        </p:blipFill>
        <p:spPr>
          <a:xfrm>
            <a:off x="3100230" y="5216754"/>
            <a:ext cx="252890" cy="367840"/>
          </a:xfrm>
          <a:prstGeom prst="rect">
            <a:avLst/>
          </a:prstGeom>
        </p:spPr>
      </p:pic>
      <p:sp>
        <p:nvSpPr>
          <p:cNvPr id="27" name="TextBox 26"/>
          <p:cNvSpPr txBox="1"/>
          <p:nvPr/>
        </p:nvSpPr>
        <p:spPr>
          <a:xfrm>
            <a:off x="6305550" y="4484320"/>
            <a:ext cx="4332165" cy="194310"/>
          </a:xfrm>
          <a:prstGeom prst="rect">
            <a:avLst/>
          </a:prstGeom>
          <a:noFill/>
        </p:spPr>
        <p:txBody>
          <a:bodyPr wrap="none" lIns="0" rIns="0" tIns="0" bIns="0">
            <a:spAutoFit/>
          </a:bodyPr>
          <a:lstStyle/>
          <a:p>
            <a:r>
              <a:rPr sz="1150" b="0">
                <a:solidFill>
                  <a:srgbClr val="2E2E2E"/>
                </a:solidFill>
                <a:latin typeface="Calibri"/>
              </a:rPr>
              <a:t>By 2036, curl definition segment is anticipated to witness an increase of</a:t>
            </a:r>
          </a:p>
        </p:txBody>
      </p:sp>
      <p:pic>
        <p:nvPicPr>
          <p:cNvPr id="28" name="Picture 27" descr="lock.png"/>
          <p:cNvPicPr>
            <a:picLocks noChangeAspect="1"/>
          </p:cNvPicPr>
          <p:nvPr/>
        </p:nvPicPr>
        <p:blipFill>
          <a:blip r:embed="rId7"/>
          <a:stretch>
            <a:fillRect/>
          </a:stretch>
        </p:blipFill>
        <p:spPr>
          <a:xfrm>
            <a:off x="10586869" y="4474096"/>
            <a:ext cx="134549" cy="195707"/>
          </a:xfrm>
          <a:prstGeom prst="rect">
            <a:avLst/>
          </a:prstGeom>
        </p:spPr>
      </p:pic>
      <p:sp>
        <p:nvSpPr>
          <p:cNvPr id="29" name="TextBox 28"/>
          <p:cNvSpPr txBox="1"/>
          <p:nvPr/>
        </p:nvSpPr>
        <p:spPr>
          <a:xfrm>
            <a:off x="10761979" y="4484320"/>
            <a:ext cx="829840" cy="194310"/>
          </a:xfrm>
          <a:prstGeom prst="rect">
            <a:avLst/>
          </a:prstGeom>
          <a:noFill/>
        </p:spPr>
        <p:txBody>
          <a:bodyPr wrap="none" lIns="0" rIns="0" tIns="0" bIns="0">
            <a:spAutoFit/>
          </a:bodyPr>
          <a:lstStyle/>
          <a:p>
            <a:r>
              <a:rPr sz="1150" b="0">
                <a:solidFill>
                  <a:srgbClr val="2E2E2E"/>
                </a:solidFill>
                <a:latin typeface="Calibri"/>
              </a:rPr>
              <a:t>X in terms of</a:t>
            </a:r>
          </a:p>
        </p:txBody>
      </p:sp>
      <p:sp>
        <p:nvSpPr>
          <p:cNvPr id="30" name="TextBox 29"/>
          <p:cNvSpPr txBox="1"/>
          <p:nvPr/>
        </p:nvSpPr>
        <p:spPr>
          <a:xfrm>
            <a:off x="6305550" y="4659580"/>
            <a:ext cx="5581600" cy="194310"/>
          </a:xfrm>
          <a:prstGeom prst="rect">
            <a:avLst/>
          </a:prstGeom>
          <a:noFill/>
        </p:spPr>
        <p:txBody>
          <a:bodyPr wrap="none" lIns="0" rIns="0" tIns="0" bIns="0">
            <a:spAutoFit/>
          </a:bodyPr>
          <a:lstStyle/>
          <a:p>
            <a:r>
              <a:rPr sz="1150" b="0">
                <a:solidFill>
                  <a:srgbClr val="2E2E2E"/>
                </a:solidFill>
                <a:latin typeface="Calibri"/>
              </a:rPr>
              <a:t>value as compared to 2026. The curl definition segment is expected to create an incremental</a:t>
            </a:r>
          </a:p>
        </p:txBody>
      </p:sp>
      <p:sp>
        <p:nvSpPr>
          <p:cNvPr id="31" name="TextBox 30"/>
          <p:cNvSpPr txBox="1"/>
          <p:nvPr/>
        </p:nvSpPr>
        <p:spPr>
          <a:xfrm>
            <a:off x="6305550" y="4834840"/>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32" name="Picture 31" descr="lock.png"/>
          <p:cNvPicPr>
            <a:picLocks noChangeAspect="1"/>
          </p:cNvPicPr>
          <p:nvPr/>
        </p:nvPicPr>
        <p:blipFill>
          <a:blip r:embed="rId7"/>
          <a:stretch>
            <a:fillRect/>
          </a:stretch>
        </p:blipFill>
        <p:spPr>
          <a:xfrm>
            <a:off x="7463647" y="4824616"/>
            <a:ext cx="134549" cy="195707"/>
          </a:xfrm>
          <a:prstGeom prst="rect">
            <a:avLst/>
          </a:prstGeom>
        </p:spPr>
      </p:pic>
      <p:sp>
        <p:nvSpPr>
          <p:cNvPr id="33" name="TextBox 32"/>
          <p:cNvSpPr txBox="1"/>
          <p:nvPr/>
        </p:nvSpPr>
        <p:spPr>
          <a:xfrm>
            <a:off x="7638756" y="4834840"/>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34" name="TextBox 33"/>
          <p:cNvSpPr txBox="1"/>
          <p:nvPr/>
        </p:nvSpPr>
        <p:spPr>
          <a:xfrm>
            <a:off x="6305550" y="5062678"/>
            <a:ext cx="5591175" cy="194310"/>
          </a:xfrm>
          <a:prstGeom prst="rect">
            <a:avLst/>
          </a:prstGeom>
          <a:noFill/>
        </p:spPr>
        <p:txBody>
          <a:bodyPr wrap="none" lIns="0" rIns="0" tIns="0" bIns="0">
            <a:spAutoFit/>
          </a:bodyPr>
          <a:lstStyle/>
          <a:p>
            <a:r>
              <a:rPr sz="1150" b="0">
                <a:solidFill>
                  <a:srgbClr val="2E2E2E"/>
                </a:solidFill>
                <a:latin typeface="Calibri"/>
              </a:rPr>
              <a:t>The smoothing and frizz control segment is expected to create an incremental opportunity of</a:t>
            </a:r>
          </a:p>
        </p:txBody>
      </p:sp>
      <p:sp>
        <p:nvSpPr>
          <p:cNvPr id="35" name="TextBox 34"/>
          <p:cNvSpPr txBox="1"/>
          <p:nvPr/>
        </p:nvSpPr>
        <p:spPr>
          <a:xfrm>
            <a:off x="6305550" y="5237938"/>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6" name="Picture 35" descr="lock.png"/>
          <p:cNvPicPr>
            <a:picLocks noChangeAspect="1"/>
          </p:cNvPicPr>
          <p:nvPr/>
        </p:nvPicPr>
        <p:blipFill>
          <a:blip r:embed="rId7"/>
          <a:stretch>
            <a:fillRect/>
          </a:stretch>
        </p:blipFill>
        <p:spPr>
          <a:xfrm>
            <a:off x="6565953" y="5227714"/>
            <a:ext cx="134549" cy="195707"/>
          </a:xfrm>
          <a:prstGeom prst="rect">
            <a:avLst/>
          </a:prstGeom>
        </p:spPr>
      </p:pic>
      <p:sp>
        <p:nvSpPr>
          <p:cNvPr id="37" name="TextBox 36"/>
          <p:cNvSpPr txBox="1"/>
          <p:nvPr/>
        </p:nvSpPr>
        <p:spPr>
          <a:xfrm>
            <a:off x="6741062" y="5237938"/>
            <a:ext cx="5004531"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 The heat styling</a:t>
            </a:r>
          </a:p>
        </p:txBody>
      </p:sp>
      <p:sp>
        <p:nvSpPr>
          <p:cNvPr id="38" name="TextBox 37"/>
          <p:cNvSpPr txBox="1"/>
          <p:nvPr/>
        </p:nvSpPr>
        <p:spPr>
          <a:xfrm>
            <a:off x="6305550" y="5413197"/>
            <a:ext cx="4453421" cy="194310"/>
          </a:xfrm>
          <a:prstGeom prst="rect">
            <a:avLst/>
          </a:prstGeom>
          <a:noFill/>
        </p:spPr>
        <p:txBody>
          <a:bodyPr wrap="none" lIns="0" rIns="0" tIns="0" bIns="0">
            <a:spAutoFit/>
          </a:bodyPr>
          <a:lstStyle/>
          <a:p>
            <a:r>
              <a:rPr sz="1150" b="0">
                <a:solidFill>
                  <a:srgbClr val="2E2E2E"/>
                </a:solidFill>
                <a:latin typeface="Calibri"/>
              </a:rPr>
              <a:t>support segment is expected to create an incremental opportunity of US$</a:t>
            </a:r>
          </a:p>
        </p:txBody>
      </p:sp>
      <p:pic>
        <p:nvPicPr>
          <p:cNvPr id="39" name="Picture 38" descr="lock.png"/>
          <p:cNvPicPr>
            <a:picLocks noChangeAspect="1"/>
          </p:cNvPicPr>
          <p:nvPr/>
        </p:nvPicPr>
        <p:blipFill>
          <a:blip r:embed="rId7"/>
          <a:stretch>
            <a:fillRect/>
          </a:stretch>
        </p:blipFill>
        <p:spPr>
          <a:xfrm>
            <a:off x="10708125" y="5402974"/>
            <a:ext cx="134549" cy="195707"/>
          </a:xfrm>
          <a:prstGeom prst="rect">
            <a:avLst/>
          </a:prstGeom>
        </p:spPr>
      </p:pic>
      <p:sp>
        <p:nvSpPr>
          <p:cNvPr id="40" name="TextBox 39"/>
          <p:cNvSpPr txBox="1"/>
          <p:nvPr/>
        </p:nvSpPr>
        <p:spPr>
          <a:xfrm>
            <a:off x="10883234" y="5413197"/>
            <a:ext cx="715168" cy="194310"/>
          </a:xfrm>
          <a:prstGeom prst="rect">
            <a:avLst/>
          </a:prstGeom>
          <a:noFill/>
        </p:spPr>
        <p:txBody>
          <a:bodyPr wrap="none" lIns="0" rIns="0" tIns="0" bIns="0">
            <a:spAutoFit/>
          </a:bodyPr>
          <a:lstStyle/>
          <a:p>
            <a:r>
              <a:rPr sz="1150" b="0">
                <a:solidFill>
                  <a:srgbClr val="2E2E2E"/>
                </a:solidFill>
                <a:latin typeface="Calibri"/>
              </a:rPr>
              <a:t>Mn for the</a:t>
            </a:r>
          </a:p>
        </p:txBody>
      </p:sp>
      <p:sp>
        <p:nvSpPr>
          <p:cNvPr id="41" name="TextBox 40"/>
          <p:cNvSpPr txBox="1"/>
          <p:nvPr/>
        </p:nvSpPr>
        <p:spPr>
          <a:xfrm>
            <a:off x="6305550" y="5588457"/>
            <a:ext cx="3358901" cy="194310"/>
          </a:xfrm>
          <a:prstGeom prst="rect">
            <a:avLst/>
          </a:prstGeom>
          <a:noFill/>
        </p:spPr>
        <p:txBody>
          <a:bodyPr wrap="none" lIns="0" rIns="0" tIns="0" bIns="0">
            <a:spAutoFit/>
          </a:bodyPr>
          <a:lstStyle/>
          <a:p>
            <a:r>
              <a:rPr sz="1150" b="0">
                <a:solidFill>
                  <a:srgbClr val="2E2E2E"/>
                </a:solidFill>
                <a:latin typeface="Calibri"/>
              </a:rPr>
              <a:t>overall hair styling products market from 2026 to 2036.</a:t>
            </a:r>
          </a:p>
        </p:txBody>
      </p:sp>
      <p:sp>
        <p:nvSpPr>
          <p:cNvPr id="42"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Primary Styling Benefit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Primary Styling Benefit,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Primary Styling Benefit (US$ Mn)</a:t>
            </a:r>
          </a:p>
        </p:txBody>
      </p:sp>
      <p:graphicFrame>
        <p:nvGraphicFramePr>
          <p:cNvPr id="13" name="Table 12"/>
          <p:cNvGraphicFramePr>
            <a:graphicFrameLocks noGrp="1"/>
          </p:cNvGraphicFramePr>
          <p:nvPr/>
        </p:nvGraphicFramePr>
        <p:xfrm>
          <a:off x="152400" y="1238250"/>
          <a:ext cx="11887194" cy="2219326"/>
        </p:xfrm>
        <a:graphic>
          <a:graphicData uri="http://schemas.openxmlformats.org/drawingml/2006/table">
            <a:tbl>
              <a:tblPr>
                <a:tableStyleId>{5C22544A-7EE6-4342-B048-85BDC9FD1C3A}</a:tableStyleId>
              </a:tblPr>
              <a:tblGrid>
                <a:gridCol w="2014036"/>
                <a:gridCol w="580774"/>
                <a:gridCol w="580774"/>
                <a:gridCol w="580774"/>
                <a:gridCol w="580774"/>
                <a:gridCol w="580774"/>
                <a:gridCol w="580774"/>
                <a:gridCol w="580774"/>
                <a:gridCol w="580774"/>
                <a:gridCol w="580774"/>
                <a:gridCol w="580774"/>
                <a:gridCol w="580774"/>
                <a:gridCol w="580774"/>
                <a:gridCol w="580774"/>
                <a:gridCol w="580774"/>
                <a:gridCol w="580774"/>
                <a:gridCol w="580774"/>
                <a:gridCol w="580774"/>
              </a:tblGrid>
              <a:tr h="246126">
                <a:tc>
                  <a:txBody>
                    <a:bodyPr wrap="none"/>
                    <a:lstStyle/>
                    <a:p>
                      <a:pPr algn="l"/>
                      <a:r>
                        <a:rPr sz="1100" b="1">
                          <a:solidFill>
                            <a:srgbClr val="0B2E4A"/>
                          </a:solidFill>
                          <a:latin typeface="Calibri"/>
                        </a:rPr>
                        <a:t>Primary Styling Benefit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Hold and Shape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Curl Definition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Volume and Root Lift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Texture and Separation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Smoothing and Frizz Control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Sleek Styling and Edge Control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Heat Styling Support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Primary Styling Benefit</a:t>
            </a:r>
          </a:p>
        </p:txBody>
      </p:sp>
      <p:sp>
        <p:nvSpPr>
          <p:cNvPr id="17" name="Rectangle 16"/>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916325" y="2204276"/>
            <a:ext cx="366712" cy="533400"/>
          </a:xfrm>
          <a:prstGeom prst="rect">
            <a:avLst/>
          </a:prstGeom>
        </p:spPr>
      </p:pic>
      <p:sp>
        <p:nvSpPr>
          <p:cNvPr id="21" name="TextBox 20"/>
          <p:cNvSpPr txBox="1"/>
          <p:nvPr/>
        </p:nvSpPr>
        <p:spPr>
          <a:xfrm>
            <a:off x="276225" y="4219575"/>
            <a:ext cx="2848297" cy="194310"/>
          </a:xfrm>
          <a:prstGeom prst="rect">
            <a:avLst/>
          </a:prstGeom>
          <a:noFill/>
        </p:spPr>
        <p:txBody>
          <a:bodyPr wrap="none" lIns="0" rIns="0" tIns="0" bIns="0">
            <a:spAutoFit/>
          </a:bodyPr>
          <a:lstStyle/>
          <a:p>
            <a:r>
              <a:rPr sz="1150" b="0">
                <a:solidFill>
                  <a:srgbClr val="2E2E2E"/>
                </a:solidFill>
                <a:latin typeface="Calibri"/>
              </a:rPr>
              <a:t>Curl definition segment is projected to register</a:t>
            </a:r>
          </a:p>
        </p:txBody>
      </p:sp>
      <p:pic>
        <p:nvPicPr>
          <p:cNvPr id="22" name="Picture 21" descr="lock.png"/>
          <p:cNvPicPr>
            <a:picLocks noChangeAspect="1"/>
          </p:cNvPicPr>
          <p:nvPr/>
        </p:nvPicPr>
        <p:blipFill>
          <a:blip r:embed="rId4"/>
          <a:stretch>
            <a:fillRect/>
          </a:stretch>
        </p:blipFill>
        <p:spPr>
          <a:xfrm>
            <a:off x="3073676" y="4209351"/>
            <a:ext cx="134549" cy="195707"/>
          </a:xfrm>
          <a:prstGeom prst="rect">
            <a:avLst/>
          </a:prstGeom>
        </p:spPr>
      </p:pic>
      <p:sp>
        <p:nvSpPr>
          <p:cNvPr id="23" name="TextBox 22"/>
          <p:cNvSpPr txBox="1"/>
          <p:nvPr/>
        </p:nvSpPr>
        <p:spPr>
          <a:xfrm>
            <a:off x="3248785" y="4219575"/>
            <a:ext cx="8636384" cy="194310"/>
          </a:xfrm>
          <a:prstGeom prst="rect">
            <a:avLst/>
          </a:prstGeom>
          <a:noFill/>
        </p:spPr>
        <p:txBody>
          <a:bodyPr wrap="none" lIns="0" rIns="0" tIns="0" bIns="0">
            <a:spAutoFit/>
          </a:bodyPr>
          <a:lstStyle/>
          <a:p>
            <a:r>
              <a:rPr sz="1150" b="0">
                <a:solidFill>
                  <a:srgbClr val="2E2E2E"/>
                </a:solidFill>
                <a:latin typeface="Calibri"/>
              </a:rPr>
              <a:t>X higher value than smoothing and frizz control segment in 2036. Among hair styling products by primary styling benefit, curl definition segment</a:t>
            </a:r>
          </a:p>
        </p:txBody>
      </p:sp>
      <p:sp>
        <p:nvSpPr>
          <p:cNvPr id="24" name="TextBox 23"/>
          <p:cNvSpPr txBox="1"/>
          <p:nvPr/>
        </p:nvSpPr>
        <p:spPr>
          <a:xfrm>
            <a:off x="276225" y="439483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25" name="Picture 24" descr="lock.png"/>
          <p:cNvPicPr>
            <a:picLocks noChangeAspect="1"/>
          </p:cNvPicPr>
          <p:nvPr/>
        </p:nvPicPr>
        <p:blipFill>
          <a:blip r:embed="rId4"/>
          <a:stretch>
            <a:fillRect/>
          </a:stretch>
        </p:blipFill>
        <p:spPr>
          <a:xfrm>
            <a:off x="2835186" y="4384611"/>
            <a:ext cx="134549" cy="195707"/>
          </a:xfrm>
          <a:prstGeom prst="rect">
            <a:avLst/>
          </a:prstGeom>
        </p:spPr>
      </p:pic>
      <p:sp>
        <p:nvSpPr>
          <p:cNvPr id="26" name="TextBox 25"/>
          <p:cNvSpPr txBox="1"/>
          <p:nvPr/>
        </p:nvSpPr>
        <p:spPr>
          <a:xfrm>
            <a:off x="3010295"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622672"/>
            <a:ext cx="7323360" cy="194310"/>
          </a:xfrm>
          <a:prstGeom prst="rect">
            <a:avLst/>
          </a:prstGeom>
          <a:noFill/>
        </p:spPr>
        <p:txBody>
          <a:bodyPr wrap="none" lIns="0" rIns="0" tIns="0" bIns="0">
            <a:spAutoFit/>
          </a:bodyPr>
          <a:lstStyle/>
          <a:p>
            <a:r>
              <a:rPr sz="1150" b="0">
                <a:solidFill>
                  <a:srgbClr val="2E2E2E"/>
                </a:solidFill>
                <a:latin typeface="Calibri"/>
              </a:rPr>
              <a:t>In terms of value share by primary styling benefit, the curl definition segment is expected to dominate the market, gaining</a:t>
            </a:r>
          </a:p>
        </p:txBody>
      </p:sp>
      <p:pic>
        <p:nvPicPr>
          <p:cNvPr id="28" name="Picture 27" descr="lock.png"/>
          <p:cNvPicPr>
            <a:picLocks noChangeAspect="1"/>
          </p:cNvPicPr>
          <p:nvPr/>
        </p:nvPicPr>
        <p:blipFill>
          <a:blip r:embed="rId4"/>
          <a:stretch>
            <a:fillRect/>
          </a:stretch>
        </p:blipFill>
        <p:spPr>
          <a:xfrm>
            <a:off x="7548739" y="4612449"/>
            <a:ext cx="134549" cy="195707"/>
          </a:xfrm>
          <a:prstGeom prst="rect">
            <a:avLst/>
          </a:prstGeom>
        </p:spPr>
      </p:pic>
      <p:sp>
        <p:nvSpPr>
          <p:cNvPr id="29" name="TextBox 28"/>
          <p:cNvSpPr txBox="1"/>
          <p:nvPr/>
        </p:nvSpPr>
        <p:spPr>
          <a:xfrm>
            <a:off x="7723848" y="46226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9118992" y="4612449"/>
            <a:ext cx="134549" cy="195707"/>
          </a:xfrm>
          <a:prstGeom prst="rect">
            <a:avLst/>
          </a:prstGeom>
        </p:spPr>
      </p:pic>
      <p:sp>
        <p:nvSpPr>
          <p:cNvPr id="31" name="TextBox 30"/>
          <p:cNvSpPr txBox="1"/>
          <p:nvPr/>
        </p:nvSpPr>
        <p:spPr>
          <a:xfrm>
            <a:off x="9294101" y="4622672"/>
            <a:ext cx="2140012" cy="194310"/>
          </a:xfrm>
          <a:prstGeom prst="rect">
            <a:avLst/>
          </a:prstGeom>
          <a:noFill/>
        </p:spPr>
        <p:txBody>
          <a:bodyPr wrap="none" lIns="0" rIns="0" tIns="0" bIns="0">
            <a:spAutoFit/>
          </a:bodyPr>
          <a:lstStyle/>
          <a:p>
            <a:r>
              <a:rPr sz="1150" b="0">
                <a:solidFill>
                  <a:srgbClr val="2E2E2E"/>
                </a:solidFill>
                <a:latin typeface="Calibri"/>
              </a:rPr>
              <a:t>share by 2036. The hold and shape</a:t>
            </a:r>
          </a:p>
        </p:txBody>
      </p:sp>
      <p:sp>
        <p:nvSpPr>
          <p:cNvPr id="32" name="TextBox 31"/>
          <p:cNvSpPr txBox="1"/>
          <p:nvPr/>
        </p:nvSpPr>
        <p:spPr>
          <a:xfrm>
            <a:off x="276225" y="4797932"/>
            <a:ext cx="1725538" cy="194310"/>
          </a:xfrm>
          <a:prstGeom prst="rect">
            <a:avLst/>
          </a:prstGeom>
          <a:noFill/>
        </p:spPr>
        <p:txBody>
          <a:bodyPr wrap="none" lIns="0" rIns="0" tIns="0" bIns="0">
            <a:spAutoFit/>
          </a:bodyPr>
          <a:lstStyle/>
          <a:p>
            <a:r>
              <a:rPr sz="1150" b="0">
                <a:solidFill>
                  <a:srgbClr val="2E2E2E"/>
                </a:solidFill>
                <a:latin typeface="Calibri"/>
              </a:rPr>
              <a:t>segment is expected to lose</a:t>
            </a:r>
          </a:p>
        </p:txBody>
      </p:sp>
      <p:pic>
        <p:nvPicPr>
          <p:cNvPr id="33" name="Picture 32" descr="lock.png"/>
          <p:cNvPicPr>
            <a:picLocks noChangeAspect="1"/>
          </p:cNvPicPr>
          <p:nvPr/>
        </p:nvPicPr>
        <p:blipFill>
          <a:blip r:embed="rId4"/>
          <a:stretch>
            <a:fillRect/>
          </a:stretch>
        </p:blipFill>
        <p:spPr>
          <a:xfrm>
            <a:off x="1950917" y="4787709"/>
            <a:ext cx="134549" cy="195707"/>
          </a:xfrm>
          <a:prstGeom prst="rect">
            <a:avLst/>
          </a:prstGeom>
        </p:spPr>
      </p:pic>
      <p:sp>
        <p:nvSpPr>
          <p:cNvPr id="34" name="TextBox 33"/>
          <p:cNvSpPr txBox="1"/>
          <p:nvPr/>
        </p:nvSpPr>
        <p:spPr>
          <a:xfrm>
            <a:off x="2126026" y="47979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713530" y="4787709"/>
            <a:ext cx="134549" cy="195707"/>
          </a:xfrm>
          <a:prstGeom prst="rect">
            <a:avLst/>
          </a:prstGeom>
        </p:spPr>
      </p:pic>
      <p:sp>
        <p:nvSpPr>
          <p:cNvPr id="36" name="TextBox 35"/>
          <p:cNvSpPr txBox="1"/>
          <p:nvPr/>
        </p:nvSpPr>
        <p:spPr>
          <a:xfrm>
            <a:off x="4888640" y="47979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Primary Styling Benefit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Primary Styling Benefit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Primary Styling Benefit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1902512"/>
            <a:ext cx="85725" cy="857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189775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18215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Sleek Styling and Edge Control</a:t>
            </a:r>
          </a:p>
        </p:txBody>
      </p:sp>
      <p:sp>
        <p:nvSpPr>
          <p:cNvPr id="19" name="BPS Value 1"/>
          <p:cNvSpPr txBox="1"/>
          <p:nvPr/>
        </p:nvSpPr>
        <p:spPr>
          <a:xfrm>
            <a:off x="6896100" y="188346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426526"/>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42176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34556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Hold and Shape</a:t>
            </a:r>
          </a:p>
        </p:txBody>
      </p:sp>
      <p:sp>
        <p:nvSpPr>
          <p:cNvPr id="23" name="BPS Value 2"/>
          <p:cNvSpPr txBox="1"/>
          <p:nvPr/>
        </p:nvSpPr>
        <p:spPr>
          <a:xfrm>
            <a:off x="6896100" y="24074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3017388"/>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0126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29364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Texture and Separation</a:t>
            </a:r>
          </a:p>
        </p:txBody>
      </p:sp>
      <p:sp>
        <p:nvSpPr>
          <p:cNvPr id="27" name="BPS Value 3"/>
          <p:cNvSpPr txBox="1"/>
          <p:nvPr/>
        </p:nvSpPr>
        <p:spPr>
          <a:xfrm>
            <a:off x="6896100" y="299833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362345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6186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35424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Volume and Root Lift</a:t>
            </a:r>
          </a:p>
        </p:txBody>
      </p:sp>
      <p:sp>
        <p:nvSpPr>
          <p:cNvPr id="31" name="BPS Value 4"/>
          <p:cNvSpPr txBox="1"/>
          <p:nvPr/>
        </p:nvSpPr>
        <p:spPr>
          <a:xfrm>
            <a:off x="6896100" y="360440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428982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428506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420886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Heat Styling Support</a:t>
            </a:r>
          </a:p>
        </p:txBody>
      </p:sp>
      <p:sp>
        <p:nvSpPr>
          <p:cNvPr id="35" name="BPS Value 5"/>
          <p:cNvSpPr txBox="1"/>
          <p:nvPr/>
        </p:nvSpPr>
        <p:spPr>
          <a:xfrm>
            <a:off x="6896100" y="427077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FMI Legend Chip"/>
          <p:cNvSpPr/>
          <p:nvPr/>
        </p:nvSpPr>
        <p:spPr>
          <a:xfrm>
            <a:off x="4928997" y="503389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5090922" y="502913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6"/>
          <p:cNvSpPr txBox="1"/>
          <p:nvPr/>
        </p:nvSpPr>
        <p:spPr>
          <a:xfrm>
            <a:off x="5233797" y="49529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Smoothing and Frizz Control</a:t>
            </a:r>
          </a:p>
        </p:txBody>
      </p:sp>
      <p:sp>
        <p:nvSpPr>
          <p:cNvPr id="39" name="BPS Value 6"/>
          <p:cNvSpPr txBox="1"/>
          <p:nvPr/>
        </p:nvSpPr>
        <p:spPr>
          <a:xfrm>
            <a:off x="6896100" y="501484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FMI Legend Chip"/>
          <p:cNvSpPr/>
          <p:nvPr/>
        </p:nvSpPr>
        <p:spPr>
          <a:xfrm>
            <a:off x="4928997" y="583160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5090922" y="58268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7"/>
          <p:cNvSpPr txBox="1"/>
          <p:nvPr/>
        </p:nvSpPr>
        <p:spPr>
          <a:xfrm>
            <a:off x="5233797" y="57506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Curl Definition</a:t>
            </a:r>
          </a:p>
        </p:txBody>
      </p:sp>
      <p:sp>
        <p:nvSpPr>
          <p:cNvPr id="43" name="BPS Value 7"/>
          <p:cNvSpPr txBox="1"/>
          <p:nvPr/>
        </p:nvSpPr>
        <p:spPr>
          <a:xfrm>
            <a:off x="6896100" y="581255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Primary Styling Benefit</a:t>
            </a:r>
          </a:p>
        </p:txBody>
      </p:sp>
      <p:sp>
        <p:nvSpPr>
          <p:cNvPr id="46" name="Rectangle 45"/>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5"/>
          <a:stretch>
            <a:fillRect/>
          </a:stretch>
        </p:blipFill>
        <p:spPr>
          <a:xfrm>
            <a:off x="2557843" y="3833622"/>
            <a:ext cx="275034" cy="400050"/>
          </a:xfrm>
          <a:prstGeom prst="rect">
            <a:avLst/>
          </a:prstGeom>
        </p:spPr>
      </p:pic>
      <p:sp>
        <p:nvSpPr>
          <p:cNvPr id="50" name="TextBox 49"/>
          <p:cNvSpPr txBox="1"/>
          <p:nvPr/>
        </p:nvSpPr>
        <p:spPr>
          <a:xfrm>
            <a:off x="7829550" y="1400175"/>
            <a:ext cx="3586534" cy="194310"/>
          </a:xfrm>
          <a:prstGeom prst="rect">
            <a:avLst/>
          </a:prstGeom>
          <a:noFill/>
        </p:spPr>
        <p:txBody>
          <a:bodyPr wrap="none" lIns="0" rIns="0" tIns="0" bIns="0">
            <a:spAutoFit/>
          </a:bodyPr>
          <a:lstStyle/>
          <a:p>
            <a:r>
              <a:rPr sz="1150" b="0">
                <a:solidFill>
                  <a:srgbClr val="2E2E2E"/>
                </a:solidFill>
                <a:latin typeface="Calibri"/>
              </a:rPr>
              <a:t>Among hair styling products by primary styling benefit, curl</a:t>
            </a:r>
          </a:p>
        </p:txBody>
      </p:sp>
      <p:sp>
        <p:nvSpPr>
          <p:cNvPr id="51" name="TextBox 50"/>
          <p:cNvSpPr txBox="1"/>
          <p:nvPr/>
        </p:nvSpPr>
        <p:spPr>
          <a:xfrm>
            <a:off x="7829550" y="1575435"/>
            <a:ext cx="3764229" cy="194310"/>
          </a:xfrm>
          <a:prstGeom prst="rect">
            <a:avLst/>
          </a:prstGeom>
          <a:noFill/>
        </p:spPr>
        <p:txBody>
          <a:bodyPr wrap="none" lIns="0" rIns="0" tIns="0" bIns="0">
            <a:spAutoFit/>
          </a:bodyPr>
          <a:lstStyle/>
          <a:p>
            <a:r>
              <a:rPr sz="1150" b="0">
                <a:solidFill>
                  <a:srgbClr val="2E2E2E"/>
                </a:solidFill>
                <a:latin typeface="Calibri"/>
              </a:rPr>
              <a:t>definition segment is expected to witness the highest CAGR of</a:t>
            </a:r>
          </a:p>
        </p:txBody>
      </p:sp>
      <p:pic>
        <p:nvPicPr>
          <p:cNvPr id="52" name="Picture 51" descr="lock.png"/>
          <p:cNvPicPr>
            <a:picLocks noChangeAspect="1"/>
          </p:cNvPicPr>
          <p:nvPr/>
        </p:nvPicPr>
        <p:blipFill>
          <a:blip r:embed="rId5"/>
          <a:stretch>
            <a:fillRect/>
          </a:stretch>
        </p:blipFill>
        <p:spPr>
          <a:xfrm>
            <a:off x="11542933" y="1565211"/>
            <a:ext cx="134549" cy="195707"/>
          </a:xfrm>
          <a:prstGeom prst="rect">
            <a:avLst/>
          </a:prstGeom>
        </p:spPr>
      </p:pic>
      <p:sp>
        <p:nvSpPr>
          <p:cNvPr id="53" name="TextBox 52"/>
          <p:cNvSpPr txBox="1"/>
          <p:nvPr/>
        </p:nvSpPr>
        <p:spPr>
          <a:xfrm>
            <a:off x="7829550" y="1750695"/>
            <a:ext cx="4034668"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primary styling</a:t>
            </a:r>
          </a:p>
        </p:txBody>
      </p:sp>
      <p:sp>
        <p:nvSpPr>
          <p:cNvPr id="54" name="TextBox 53"/>
          <p:cNvSpPr txBox="1"/>
          <p:nvPr/>
        </p:nvSpPr>
        <p:spPr>
          <a:xfrm>
            <a:off x="7829550" y="1925955"/>
            <a:ext cx="3880631" cy="194310"/>
          </a:xfrm>
          <a:prstGeom prst="rect">
            <a:avLst/>
          </a:prstGeom>
          <a:noFill/>
        </p:spPr>
        <p:txBody>
          <a:bodyPr wrap="none" lIns="0" rIns="0" tIns="0" bIns="0">
            <a:spAutoFit/>
          </a:bodyPr>
          <a:lstStyle/>
          <a:p>
            <a:r>
              <a:rPr sz="1150" b="0">
                <a:solidFill>
                  <a:srgbClr val="2E2E2E"/>
                </a:solidFill>
                <a:latin typeface="Calibri"/>
              </a:rPr>
              <a:t>benefit, the curl definition segment is expected to dominate the</a:t>
            </a:r>
          </a:p>
        </p:txBody>
      </p:sp>
      <p:sp>
        <p:nvSpPr>
          <p:cNvPr id="55" name="TextBox 54"/>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56" name="Picture 55" descr="lock.png"/>
          <p:cNvPicPr>
            <a:picLocks noChangeAspect="1"/>
          </p:cNvPicPr>
          <p:nvPr/>
        </p:nvPicPr>
        <p:blipFill>
          <a:blip r:embed="rId5"/>
          <a:stretch>
            <a:fillRect/>
          </a:stretch>
        </p:blipFill>
        <p:spPr>
          <a:xfrm>
            <a:off x="8778556" y="2090991"/>
            <a:ext cx="134549" cy="195707"/>
          </a:xfrm>
          <a:prstGeom prst="rect">
            <a:avLst/>
          </a:prstGeom>
        </p:spPr>
      </p:pic>
      <p:sp>
        <p:nvSpPr>
          <p:cNvPr id="57" name="TextBox 56"/>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10348808" y="2090991"/>
            <a:ext cx="134549" cy="195707"/>
          </a:xfrm>
          <a:prstGeom prst="rect">
            <a:avLst/>
          </a:prstGeom>
        </p:spPr>
      </p:pic>
      <p:sp>
        <p:nvSpPr>
          <p:cNvPr id="59" name="TextBox 58"/>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829550" y="2329053"/>
            <a:ext cx="2919325" cy="194310"/>
          </a:xfrm>
          <a:prstGeom prst="rect">
            <a:avLst/>
          </a:prstGeom>
          <a:noFill/>
        </p:spPr>
        <p:txBody>
          <a:bodyPr wrap="none" lIns="0" rIns="0" tIns="0" bIns="0">
            <a:spAutoFit/>
          </a:bodyPr>
          <a:lstStyle/>
          <a:p>
            <a:r>
              <a:rPr sz="1150" b="0">
                <a:solidFill>
                  <a:srgbClr val="2E2E2E"/>
                </a:solidFill>
                <a:latin typeface="Calibri"/>
              </a:rPr>
              <a:t>The hold and shape segment is expected to lose</a:t>
            </a:r>
          </a:p>
        </p:txBody>
      </p:sp>
      <p:pic>
        <p:nvPicPr>
          <p:cNvPr id="61" name="Picture 60" descr="lock.png"/>
          <p:cNvPicPr>
            <a:picLocks noChangeAspect="1"/>
          </p:cNvPicPr>
          <p:nvPr/>
        </p:nvPicPr>
        <p:blipFill>
          <a:blip r:embed="rId5"/>
          <a:stretch>
            <a:fillRect/>
          </a:stretch>
        </p:blipFill>
        <p:spPr>
          <a:xfrm>
            <a:off x="10698029" y="2318829"/>
            <a:ext cx="134549" cy="195707"/>
          </a:xfrm>
          <a:prstGeom prst="rect">
            <a:avLst/>
          </a:prstGeom>
        </p:spPr>
      </p:pic>
      <p:sp>
        <p:nvSpPr>
          <p:cNvPr id="62" name="TextBox 61"/>
          <p:cNvSpPr txBox="1"/>
          <p:nvPr/>
        </p:nvSpPr>
        <p:spPr>
          <a:xfrm>
            <a:off x="10873138"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63" name="TextBox 62"/>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64" name="Picture 63" descr="lock.png"/>
          <p:cNvPicPr>
            <a:picLocks noChangeAspect="1"/>
          </p:cNvPicPr>
          <p:nvPr/>
        </p:nvPicPr>
        <p:blipFill>
          <a:blip r:embed="rId5"/>
          <a:stretch>
            <a:fillRect/>
          </a:stretch>
        </p:blipFill>
        <p:spPr>
          <a:xfrm>
            <a:off x="9630324" y="2494089"/>
            <a:ext cx="134549" cy="195707"/>
          </a:xfrm>
          <a:prstGeom prst="rect">
            <a:avLst/>
          </a:prstGeom>
        </p:spPr>
      </p:pic>
      <p:sp>
        <p:nvSpPr>
          <p:cNvPr id="65" name="TextBox 64"/>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Hair Type Targeted</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Hair Type Targeted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Hair Type Targeted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Hair Type Targeted,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Hair Type Targeted segment categorizes the market by hair type targeted.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All Hair Types</a:t>
            </a:r>
          </a:p>
        </p:txBody>
      </p:sp>
      <p:sp>
        <p:nvSpPr>
          <p:cNvPr id="23" name="Rectangle 22"/>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Coily Hair</a:t>
            </a:r>
          </a:p>
        </p:txBody>
      </p:sp>
      <p:sp>
        <p:nvSpPr>
          <p:cNvPr id="30" name="Rectangle 29"/>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Straight Hair</a:t>
            </a:r>
          </a:p>
        </p:txBody>
      </p:sp>
      <p:sp>
        <p:nvSpPr>
          <p:cNvPr id="37" name="Rectangle 36"/>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Wavy Hair</a:t>
            </a:r>
          </a:p>
        </p:txBody>
      </p:sp>
      <p:sp>
        <p:nvSpPr>
          <p:cNvPr id="44" name="Rectangle 43"/>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Curly Hair</a:t>
            </a:r>
          </a:p>
        </p:txBody>
      </p:sp>
      <p:sp>
        <p:nvSpPr>
          <p:cNvPr id="51" name="Rectangle 50"/>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Rectangle 52"/>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4" name="Oval 53"/>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5" name="Rounded Rectangle 5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7" name="Rectangle 56"/>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9" name="Rounded Rectangle 5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1" name="Rectangle 60"/>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63" name="Rounded Rectangle 6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5" name="Rectangle 64"/>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Hair Type Targeted split shows how demand is distributed across hair type targeted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7" name="Rectangle 6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9" name="TextBox 6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0" name="TextBox 6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1" name="Picture 70" descr="1_070_605E5C.png"/>
          <p:cNvPicPr>
            <a:picLocks noChangeAspect="1"/>
          </p:cNvPicPr>
          <p:nvPr/>
        </p:nvPicPr>
        <p:blipFill>
          <a:blip r:embed="rId4"/>
          <a:stretch>
            <a:fillRect/>
          </a:stretch>
        </p:blipFill>
        <p:spPr>
          <a:xfrm>
            <a:off x="2223441" y="2286582"/>
            <a:ext cx="1195728" cy="361950"/>
          </a:xfrm>
          <a:prstGeom prst="rect">
            <a:avLst/>
          </a:prstGeom>
        </p:spPr>
      </p:pic>
      <p:pic>
        <p:nvPicPr>
          <p:cNvPr id="72" name="Picture 71" descr="1_828_605E5C.png"/>
          <p:cNvPicPr>
            <a:picLocks noChangeAspect="1"/>
          </p:cNvPicPr>
          <p:nvPr/>
        </p:nvPicPr>
        <p:blipFill>
          <a:blip r:embed="rId5"/>
          <a:stretch>
            <a:fillRect/>
          </a:stretch>
        </p:blipFill>
        <p:spPr>
          <a:xfrm>
            <a:off x="2223441" y="2779432"/>
            <a:ext cx="1195728" cy="361950"/>
          </a:xfrm>
          <a:prstGeom prst="rect">
            <a:avLst/>
          </a:prstGeom>
        </p:spPr>
      </p:pic>
      <p:pic>
        <p:nvPicPr>
          <p:cNvPr id="73" name="Picture 72" descr="5_5__605E5C.png"/>
          <p:cNvPicPr>
            <a:picLocks noChangeAspect="1"/>
          </p:cNvPicPr>
          <p:nvPr/>
        </p:nvPicPr>
        <p:blipFill>
          <a:blip r:embed="rId6"/>
          <a:stretch>
            <a:fillRect/>
          </a:stretch>
        </p:blipFill>
        <p:spPr>
          <a:xfrm>
            <a:off x="2330087" y="3272281"/>
            <a:ext cx="982436" cy="361950"/>
          </a:xfrm>
          <a:prstGeom prst="rect">
            <a:avLst/>
          </a:prstGeom>
        </p:spPr>
      </p:pic>
      <p:pic>
        <p:nvPicPr>
          <p:cNvPr id="74" name="Picture 73" descr="1_037_605E5C.png"/>
          <p:cNvPicPr>
            <a:picLocks noChangeAspect="1"/>
          </p:cNvPicPr>
          <p:nvPr/>
        </p:nvPicPr>
        <p:blipFill>
          <a:blip r:embed="rId7"/>
          <a:stretch>
            <a:fillRect/>
          </a:stretch>
        </p:blipFill>
        <p:spPr>
          <a:xfrm>
            <a:off x="4246551" y="2286582"/>
            <a:ext cx="1195728" cy="361950"/>
          </a:xfrm>
          <a:prstGeom prst="rect">
            <a:avLst/>
          </a:prstGeom>
        </p:spPr>
      </p:pic>
      <p:pic>
        <p:nvPicPr>
          <p:cNvPr id="75" name="Picture 74" descr="2_058_605E5C.png"/>
          <p:cNvPicPr>
            <a:picLocks noChangeAspect="1"/>
          </p:cNvPicPr>
          <p:nvPr/>
        </p:nvPicPr>
        <p:blipFill>
          <a:blip r:embed="rId8"/>
          <a:stretch>
            <a:fillRect/>
          </a:stretch>
        </p:blipFill>
        <p:spPr>
          <a:xfrm>
            <a:off x="4246551" y="2779432"/>
            <a:ext cx="1195728" cy="361950"/>
          </a:xfrm>
          <a:prstGeom prst="rect">
            <a:avLst/>
          </a:prstGeom>
        </p:spPr>
      </p:pic>
      <p:pic>
        <p:nvPicPr>
          <p:cNvPr id="76" name="Picture 75" descr="7_1__605E5C.png"/>
          <p:cNvPicPr>
            <a:picLocks noChangeAspect="1"/>
          </p:cNvPicPr>
          <p:nvPr/>
        </p:nvPicPr>
        <p:blipFill>
          <a:blip r:embed="rId9"/>
          <a:stretch>
            <a:fillRect/>
          </a:stretch>
        </p:blipFill>
        <p:spPr>
          <a:xfrm>
            <a:off x="4353197" y="3272281"/>
            <a:ext cx="982436" cy="361950"/>
          </a:xfrm>
          <a:prstGeom prst="rect">
            <a:avLst/>
          </a:prstGeom>
        </p:spPr>
      </p:pic>
      <p:pic>
        <p:nvPicPr>
          <p:cNvPr id="77" name="Picture 76" descr="1_018_605E5C.png"/>
          <p:cNvPicPr>
            <a:picLocks noChangeAspect="1"/>
          </p:cNvPicPr>
          <p:nvPr/>
        </p:nvPicPr>
        <p:blipFill>
          <a:blip r:embed="rId10"/>
          <a:stretch>
            <a:fillRect/>
          </a:stretch>
        </p:blipFill>
        <p:spPr>
          <a:xfrm>
            <a:off x="6269661" y="2286582"/>
            <a:ext cx="1195728" cy="361950"/>
          </a:xfrm>
          <a:prstGeom prst="rect">
            <a:avLst/>
          </a:prstGeom>
        </p:spPr>
      </p:pic>
      <p:pic>
        <p:nvPicPr>
          <p:cNvPr id="78" name="Picture 77" descr="1_655_605E5C.png"/>
          <p:cNvPicPr>
            <a:picLocks noChangeAspect="1"/>
          </p:cNvPicPr>
          <p:nvPr/>
        </p:nvPicPr>
        <p:blipFill>
          <a:blip r:embed="rId11"/>
          <a:stretch>
            <a:fillRect/>
          </a:stretch>
        </p:blipFill>
        <p:spPr>
          <a:xfrm>
            <a:off x="6269661" y="2779432"/>
            <a:ext cx="1195728" cy="361950"/>
          </a:xfrm>
          <a:prstGeom prst="rect">
            <a:avLst/>
          </a:prstGeom>
        </p:spPr>
      </p:pic>
      <p:pic>
        <p:nvPicPr>
          <p:cNvPr id="79" name="Picture 78" descr="5_0__605E5C.png"/>
          <p:cNvPicPr>
            <a:picLocks noChangeAspect="1"/>
          </p:cNvPicPr>
          <p:nvPr/>
        </p:nvPicPr>
        <p:blipFill>
          <a:blip r:embed="rId12"/>
          <a:stretch>
            <a:fillRect/>
          </a:stretch>
        </p:blipFill>
        <p:spPr>
          <a:xfrm>
            <a:off x="6376307" y="3272281"/>
            <a:ext cx="982436" cy="361950"/>
          </a:xfrm>
          <a:prstGeom prst="rect">
            <a:avLst/>
          </a:prstGeom>
        </p:spPr>
      </p:pic>
      <p:pic>
        <p:nvPicPr>
          <p:cNvPr id="80" name="Picture 79" descr="977_8_605E5C.png"/>
          <p:cNvPicPr>
            <a:picLocks noChangeAspect="1"/>
          </p:cNvPicPr>
          <p:nvPr/>
        </p:nvPicPr>
        <p:blipFill>
          <a:blip r:embed="rId13"/>
          <a:stretch>
            <a:fillRect/>
          </a:stretch>
        </p:blipFill>
        <p:spPr>
          <a:xfrm>
            <a:off x="8292771" y="2286582"/>
            <a:ext cx="1195728" cy="361950"/>
          </a:xfrm>
          <a:prstGeom prst="rect">
            <a:avLst/>
          </a:prstGeom>
        </p:spPr>
      </p:pic>
      <p:pic>
        <p:nvPicPr>
          <p:cNvPr id="81" name="Picture 80" descr="1_750_605E5C.png"/>
          <p:cNvPicPr>
            <a:picLocks noChangeAspect="1"/>
          </p:cNvPicPr>
          <p:nvPr/>
        </p:nvPicPr>
        <p:blipFill>
          <a:blip r:embed="rId14"/>
          <a:stretch>
            <a:fillRect/>
          </a:stretch>
        </p:blipFill>
        <p:spPr>
          <a:xfrm>
            <a:off x="8292771" y="2779432"/>
            <a:ext cx="1195728" cy="361950"/>
          </a:xfrm>
          <a:prstGeom prst="rect">
            <a:avLst/>
          </a:prstGeom>
        </p:spPr>
      </p:pic>
      <p:pic>
        <p:nvPicPr>
          <p:cNvPr id="82" name="Picture 81" descr="6_0__605E5C.png"/>
          <p:cNvPicPr>
            <a:picLocks noChangeAspect="1"/>
          </p:cNvPicPr>
          <p:nvPr/>
        </p:nvPicPr>
        <p:blipFill>
          <a:blip r:embed="rId15"/>
          <a:stretch>
            <a:fillRect/>
          </a:stretch>
        </p:blipFill>
        <p:spPr>
          <a:xfrm>
            <a:off x="8399417" y="3272281"/>
            <a:ext cx="982436" cy="361950"/>
          </a:xfrm>
          <a:prstGeom prst="rect">
            <a:avLst/>
          </a:prstGeom>
        </p:spPr>
      </p:pic>
      <p:pic>
        <p:nvPicPr>
          <p:cNvPr id="83" name="Picture 82" descr="917_9_605E5C.png"/>
          <p:cNvPicPr>
            <a:picLocks noChangeAspect="1"/>
          </p:cNvPicPr>
          <p:nvPr/>
        </p:nvPicPr>
        <p:blipFill>
          <a:blip r:embed="rId16"/>
          <a:stretch>
            <a:fillRect/>
          </a:stretch>
        </p:blipFill>
        <p:spPr>
          <a:xfrm>
            <a:off x="10315881" y="2286582"/>
            <a:ext cx="1195728" cy="361950"/>
          </a:xfrm>
          <a:prstGeom prst="rect">
            <a:avLst/>
          </a:prstGeom>
        </p:spPr>
      </p:pic>
      <p:pic>
        <p:nvPicPr>
          <p:cNvPr id="84" name="Picture 83" descr="1_749_605E5C.png"/>
          <p:cNvPicPr>
            <a:picLocks noChangeAspect="1"/>
          </p:cNvPicPr>
          <p:nvPr/>
        </p:nvPicPr>
        <p:blipFill>
          <a:blip r:embed="rId17"/>
          <a:stretch>
            <a:fillRect/>
          </a:stretch>
        </p:blipFill>
        <p:spPr>
          <a:xfrm>
            <a:off x="10315881" y="2779432"/>
            <a:ext cx="1195728" cy="361950"/>
          </a:xfrm>
          <a:prstGeom prst="rect">
            <a:avLst/>
          </a:prstGeom>
        </p:spPr>
      </p:pic>
      <p:pic>
        <p:nvPicPr>
          <p:cNvPr id="85" name="Picture 84" descr="6_7__605E5C.png"/>
          <p:cNvPicPr>
            <a:picLocks noChangeAspect="1"/>
          </p:cNvPicPr>
          <p:nvPr/>
        </p:nvPicPr>
        <p:blipFill>
          <a:blip r:embed="rId18"/>
          <a:stretch>
            <a:fillRect/>
          </a:stretch>
        </p:blipFill>
        <p:spPr>
          <a:xfrm>
            <a:off x="10422527" y="3272281"/>
            <a:ext cx="982436" cy="361950"/>
          </a:xfrm>
          <a:prstGeom prst="rect">
            <a:avLst/>
          </a:prstGeom>
        </p:spPr>
      </p:pic>
      <p:pic>
        <p:nvPicPr>
          <p:cNvPr id="86" name="Picture 85" descr="lock.png"/>
          <p:cNvPicPr>
            <a:picLocks noChangeAspect="1"/>
          </p:cNvPicPr>
          <p:nvPr/>
        </p:nvPicPr>
        <p:blipFill>
          <a:blip r:embed="rId19"/>
          <a:stretch>
            <a:fillRect/>
          </a:stretch>
        </p:blipFill>
        <p:spPr>
          <a:xfrm>
            <a:off x="272796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4751070" y="2827057"/>
            <a:ext cx="183356" cy="266700"/>
          </a:xfrm>
          <a:prstGeom prst="rect">
            <a:avLst/>
          </a:prstGeom>
        </p:spPr>
      </p:pic>
      <p:pic>
        <p:nvPicPr>
          <p:cNvPr id="88" name="Picture 87" descr="lock.png"/>
          <p:cNvPicPr>
            <a:picLocks noChangeAspect="1"/>
          </p:cNvPicPr>
          <p:nvPr/>
        </p:nvPicPr>
        <p:blipFill>
          <a:blip r:embed="rId19"/>
          <a:stretch>
            <a:fillRect/>
          </a:stretch>
        </p:blipFill>
        <p:spPr>
          <a:xfrm>
            <a:off x="6774180" y="2827057"/>
            <a:ext cx="183356" cy="266700"/>
          </a:xfrm>
          <a:prstGeom prst="rect">
            <a:avLst/>
          </a:prstGeom>
        </p:spPr>
      </p:pic>
      <p:pic>
        <p:nvPicPr>
          <p:cNvPr id="89" name="Picture 88" descr="lock.png"/>
          <p:cNvPicPr>
            <a:picLocks noChangeAspect="1"/>
          </p:cNvPicPr>
          <p:nvPr/>
        </p:nvPicPr>
        <p:blipFill>
          <a:blip r:embed="rId19"/>
          <a:stretch>
            <a:fillRect/>
          </a:stretch>
        </p:blipFill>
        <p:spPr>
          <a:xfrm>
            <a:off x="8797290" y="2827057"/>
            <a:ext cx="183356" cy="266700"/>
          </a:xfrm>
          <a:prstGeom prst="rect">
            <a:avLst/>
          </a:prstGeom>
        </p:spPr>
      </p:pic>
      <p:pic>
        <p:nvPicPr>
          <p:cNvPr id="90" name="Picture 89" descr="lock.png"/>
          <p:cNvPicPr>
            <a:picLocks noChangeAspect="1"/>
          </p:cNvPicPr>
          <p:nvPr/>
        </p:nvPicPr>
        <p:blipFill>
          <a:blip r:embed="rId19"/>
          <a:stretch>
            <a:fillRect/>
          </a:stretch>
        </p:blipFill>
        <p:spPr>
          <a:xfrm>
            <a:off x="10820400" y="2827057"/>
            <a:ext cx="183356" cy="266700"/>
          </a:xfrm>
          <a:prstGeom prst="rect">
            <a:avLst/>
          </a:prstGeom>
        </p:spPr>
      </p:pic>
      <p:sp>
        <p:nvSpPr>
          <p:cNvPr id="91" name="TextBox 90"/>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hair styling products by hair type targeted,</a:t>
            </a:r>
          </a:p>
        </p:txBody>
      </p:sp>
      <p:sp>
        <p:nvSpPr>
          <p:cNvPr id="92" name="TextBox 91"/>
          <p:cNvSpPr txBox="1"/>
          <p:nvPr/>
        </p:nvSpPr>
        <p:spPr>
          <a:xfrm>
            <a:off x="485775" y="4397077"/>
            <a:ext cx="2621632" cy="186689"/>
          </a:xfrm>
          <a:prstGeom prst="rect">
            <a:avLst/>
          </a:prstGeom>
          <a:noFill/>
        </p:spPr>
        <p:txBody>
          <a:bodyPr wrap="none" lIns="0" rIns="0" tIns="0" bIns="0">
            <a:spAutoFit/>
          </a:bodyPr>
          <a:lstStyle/>
          <a:p>
            <a:r>
              <a:rPr sz="1100" b="0">
                <a:solidFill>
                  <a:srgbClr val="2E2E2E"/>
                </a:solidFill>
                <a:latin typeface="Calibri"/>
              </a:rPr>
              <a:t>coily hair segment is expected to witness the</a:t>
            </a:r>
          </a:p>
        </p:txBody>
      </p:sp>
      <p:sp>
        <p:nvSpPr>
          <p:cNvPr id="93" name="TextBox 92"/>
          <p:cNvSpPr txBox="1"/>
          <p:nvPr/>
        </p:nvSpPr>
        <p:spPr>
          <a:xfrm>
            <a:off x="485775" y="456471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94" name="Picture 93" descr="lock.png"/>
          <p:cNvPicPr>
            <a:picLocks noChangeAspect="1"/>
          </p:cNvPicPr>
          <p:nvPr/>
        </p:nvPicPr>
        <p:blipFill>
          <a:blip r:embed="rId19"/>
          <a:stretch>
            <a:fillRect/>
          </a:stretch>
        </p:blipFill>
        <p:spPr>
          <a:xfrm>
            <a:off x="1424607" y="4554938"/>
            <a:ext cx="128699" cy="187198"/>
          </a:xfrm>
          <a:prstGeom prst="rect">
            <a:avLst/>
          </a:prstGeom>
        </p:spPr>
      </p:pic>
      <p:sp>
        <p:nvSpPr>
          <p:cNvPr id="95" name="TextBox 94"/>
          <p:cNvSpPr txBox="1"/>
          <p:nvPr/>
        </p:nvSpPr>
        <p:spPr>
          <a:xfrm>
            <a:off x="1592103" y="4564717"/>
            <a:ext cx="1624905" cy="186689"/>
          </a:xfrm>
          <a:prstGeom prst="rect">
            <a:avLst/>
          </a:prstGeom>
          <a:noFill/>
        </p:spPr>
        <p:txBody>
          <a:bodyPr wrap="none" lIns="0" rIns="0" tIns="0" bIns="0">
            <a:spAutoFit/>
          </a:bodyPr>
          <a:lstStyle/>
          <a:p>
            <a:r>
              <a:rPr sz="1100" b="0">
                <a:solidFill>
                  <a:srgbClr val="2E2E2E"/>
                </a:solidFill>
                <a:latin typeface="Calibri"/>
              </a:rPr>
              <a:t>over the forecast period. In</a:t>
            </a:r>
          </a:p>
        </p:txBody>
      </p:sp>
      <p:sp>
        <p:nvSpPr>
          <p:cNvPr id="96" name="TextBox 95"/>
          <p:cNvSpPr txBox="1"/>
          <p:nvPr/>
        </p:nvSpPr>
        <p:spPr>
          <a:xfrm>
            <a:off x="485775" y="4732357"/>
            <a:ext cx="2719313" cy="186689"/>
          </a:xfrm>
          <a:prstGeom prst="rect">
            <a:avLst/>
          </a:prstGeom>
          <a:noFill/>
        </p:spPr>
        <p:txBody>
          <a:bodyPr wrap="none" lIns="0" rIns="0" tIns="0" bIns="0">
            <a:spAutoFit/>
          </a:bodyPr>
          <a:lstStyle/>
          <a:p>
            <a:r>
              <a:rPr sz="1100" b="0">
                <a:solidFill>
                  <a:srgbClr val="2E2E2E"/>
                </a:solidFill>
                <a:latin typeface="Calibri"/>
              </a:rPr>
              <a:t>terms of value share by hair type targeted, the</a:t>
            </a:r>
          </a:p>
        </p:txBody>
      </p:sp>
      <p:sp>
        <p:nvSpPr>
          <p:cNvPr id="97" name="TextBox 96"/>
          <p:cNvSpPr txBox="1"/>
          <p:nvPr/>
        </p:nvSpPr>
        <p:spPr>
          <a:xfrm>
            <a:off x="485775" y="4899997"/>
            <a:ext cx="2738139" cy="186689"/>
          </a:xfrm>
          <a:prstGeom prst="rect">
            <a:avLst/>
          </a:prstGeom>
          <a:noFill/>
        </p:spPr>
        <p:txBody>
          <a:bodyPr wrap="none" lIns="0" rIns="0" tIns="0" bIns="0">
            <a:spAutoFit/>
          </a:bodyPr>
          <a:lstStyle/>
          <a:p>
            <a:r>
              <a:rPr sz="1100" b="0">
                <a:solidFill>
                  <a:srgbClr val="2E2E2E"/>
                </a:solidFill>
                <a:latin typeface="Calibri"/>
              </a:rPr>
              <a:t>coily hair segment is expected to dominate the</a:t>
            </a:r>
          </a:p>
        </p:txBody>
      </p:sp>
      <p:sp>
        <p:nvSpPr>
          <p:cNvPr id="98" name="TextBox 97"/>
          <p:cNvSpPr txBox="1"/>
          <p:nvPr/>
        </p:nvSpPr>
        <p:spPr>
          <a:xfrm>
            <a:off x="485775" y="506763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99" name="Picture 98" descr="lock.png"/>
          <p:cNvPicPr>
            <a:picLocks noChangeAspect="1"/>
          </p:cNvPicPr>
          <p:nvPr/>
        </p:nvPicPr>
        <p:blipFill>
          <a:blip r:embed="rId19"/>
          <a:stretch>
            <a:fillRect/>
          </a:stretch>
        </p:blipFill>
        <p:spPr>
          <a:xfrm>
            <a:off x="1393519" y="5057858"/>
            <a:ext cx="128699" cy="187198"/>
          </a:xfrm>
          <a:prstGeom prst="rect">
            <a:avLst/>
          </a:prstGeom>
        </p:spPr>
      </p:pic>
      <p:sp>
        <p:nvSpPr>
          <p:cNvPr id="100" name="TextBox 99"/>
          <p:cNvSpPr txBox="1"/>
          <p:nvPr/>
        </p:nvSpPr>
        <p:spPr>
          <a:xfrm>
            <a:off x="1561015"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01" name="Picture 100" descr="lock.png"/>
          <p:cNvPicPr>
            <a:picLocks noChangeAspect="1"/>
          </p:cNvPicPr>
          <p:nvPr/>
        </p:nvPicPr>
        <p:blipFill>
          <a:blip r:embed="rId19"/>
          <a:stretch>
            <a:fillRect/>
          </a:stretch>
        </p:blipFill>
        <p:spPr>
          <a:xfrm>
            <a:off x="2895500" y="5057858"/>
            <a:ext cx="128699" cy="187198"/>
          </a:xfrm>
          <a:prstGeom prst="rect">
            <a:avLst/>
          </a:prstGeom>
        </p:spPr>
      </p:pic>
      <p:sp>
        <p:nvSpPr>
          <p:cNvPr id="102" name="TextBox 101"/>
          <p:cNvSpPr txBox="1"/>
          <p:nvPr/>
        </p:nvSpPr>
        <p:spPr>
          <a:xfrm>
            <a:off x="485775"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3" name="TextBox 102"/>
          <p:cNvSpPr txBox="1"/>
          <p:nvPr/>
        </p:nvSpPr>
        <p:spPr>
          <a:xfrm>
            <a:off x="485775" y="5453209"/>
            <a:ext cx="2446461" cy="186689"/>
          </a:xfrm>
          <a:prstGeom prst="rect">
            <a:avLst/>
          </a:prstGeom>
          <a:noFill/>
        </p:spPr>
        <p:txBody>
          <a:bodyPr wrap="none" lIns="0" rIns="0" tIns="0" bIns="0">
            <a:spAutoFit/>
          </a:bodyPr>
          <a:lstStyle/>
          <a:p>
            <a:r>
              <a:rPr sz="1100" b="0">
                <a:solidFill>
                  <a:srgbClr val="2E2E2E"/>
                </a:solidFill>
                <a:latin typeface="Calibri"/>
              </a:rPr>
              <a:t>Coily hair segment is projected to register</a:t>
            </a:r>
          </a:p>
        </p:txBody>
      </p:sp>
      <p:pic>
        <p:nvPicPr>
          <p:cNvPr id="104" name="Picture 103" descr="lock.png"/>
          <p:cNvPicPr>
            <a:picLocks noChangeAspect="1"/>
          </p:cNvPicPr>
          <p:nvPr/>
        </p:nvPicPr>
        <p:blipFill>
          <a:blip r:embed="rId19"/>
          <a:stretch>
            <a:fillRect/>
          </a:stretch>
        </p:blipFill>
        <p:spPr>
          <a:xfrm>
            <a:off x="2880288" y="5443430"/>
            <a:ext cx="128699" cy="187198"/>
          </a:xfrm>
          <a:prstGeom prst="rect">
            <a:avLst/>
          </a:prstGeom>
        </p:spPr>
      </p:pic>
      <p:sp>
        <p:nvSpPr>
          <p:cNvPr id="105" name="TextBox 104"/>
          <p:cNvSpPr txBox="1"/>
          <p:nvPr/>
        </p:nvSpPr>
        <p:spPr>
          <a:xfrm>
            <a:off x="3047783"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106" name="TextBox 105"/>
          <p:cNvSpPr txBox="1"/>
          <p:nvPr/>
        </p:nvSpPr>
        <p:spPr>
          <a:xfrm>
            <a:off x="485775" y="5620849"/>
            <a:ext cx="2834456" cy="186689"/>
          </a:xfrm>
          <a:prstGeom prst="rect">
            <a:avLst/>
          </a:prstGeom>
          <a:noFill/>
        </p:spPr>
        <p:txBody>
          <a:bodyPr wrap="none" lIns="0" rIns="0" tIns="0" bIns="0">
            <a:spAutoFit/>
          </a:bodyPr>
          <a:lstStyle/>
          <a:p>
            <a:r>
              <a:rPr sz="1100" b="0">
                <a:solidFill>
                  <a:srgbClr val="2E2E2E"/>
                </a:solidFill>
                <a:latin typeface="Calibri"/>
              </a:rPr>
              <a:t>higher value than all hair types segment in 2036.</a:t>
            </a:r>
          </a:p>
        </p:txBody>
      </p:sp>
      <p:sp>
        <p:nvSpPr>
          <p:cNvPr id="107" name="TextBox 106"/>
          <p:cNvSpPr txBox="1"/>
          <p:nvPr/>
        </p:nvSpPr>
        <p:spPr>
          <a:xfrm>
            <a:off x="3838575" y="4229437"/>
            <a:ext cx="1001985" cy="186689"/>
          </a:xfrm>
          <a:prstGeom prst="rect">
            <a:avLst/>
          </a:prstGeom>
          <a:noFill/>
        </p:spPr>
        <p:txBody>
          <a:bodyPr wrap="none" lIns="0" rIns="0" tIns="0" bIns="0">
            <a:spAutoFit/>
          </a:bodyPr>
          <a:lstStyle/>
          <a:p>
            <a:r>
              <a:rPr sz="1100" b="0">
                <a:solidFill>
                  <a:srgbClr val="2E2E2E"/>
                </a:solidFill>
                <a:latin typeface="Calibri"/>
              </a:rPr>
              <a:t>● All Hair Types:</a:t>
            </a:r>
          </a:p>
        </p:txBody>
      </p:sp>
      <p:pic>
        <p:nvPicPr>
          <p:cNvPr id="108" name="Picture 107" descr="lock.png"/>
          <p:cNvPicPr>
            <a:picLocks noChangeAspect="1"/>
          </p:cNvPicPr>
          <p:nvPr/>
        </p:nvPicPr>
        <p:blipFill>
          <a:blip r:embed="rId19"/>
          <a:stretch>
            <a:fillRect/>
          </a:stretch>
        </p:blipFill>
        <p:spPr>
          <a:xfrm>
            <a:off x="4788611" y="4219658"/>
            <a:ext cx="128699" cy="187198"/>
          </a:xfrm>
          <a:prstGeom prst="rect">
            <a:avLst/>
          </a:prstGeom>
        </p:spPr>
      </p:pic>
      <p:sp>
        <p:nvSpPr>
          <p:cNvPr id="109" name="TextBox 108"/>
          <p:cNvSpPr txBox="1"/>
          <p:nvPr/>
        </p:nvSpPr>
        <p:spPr>
          <a:xfrm>
            <a:off x="495610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9"/>
          <a:stretch>
            <a:fillRect/>
          </a:stretch>
        </p:blipFill>
        <p:spPr>
          <a:xfrm>
            <a:off x="5815557" y="4219658"/>
            <a:ext cx="128699" cy="187198"/>
          </a:xfrm>
          <a:prstGeom prst="rect">
            <a:avLst/>
          </a:prstGeom>
        </p:spPr>
      </p:pic>
      <p:sp>
        <p:nvSpPr>
          <p:cNvPr id="111" name="TextBox 110"/>
          <p:cNvSpPr txBox="1"/>
          <p:nvPr/>
        </p:nvSpPr>
        <p:spPr>
          <a:xfrm>
            <a:off x="5983053"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12" name="TextBox 111"/>
          <p:cNvSpPr txBox="1"/>
          <p:nvPr/>
        </p:nvSpPr>
        <p:spPr>
          <a:xfrm>
            <a:off x="3838575" y="4447369"/>
            <a:ext cx="771971" cy="186689"/>
          </a:xfrm>
          <a:prstGeom prst="rect">
            <a:avLst/>
          </a:prstGeom>
          <a:noFill/>
        </p:spPr>
        <p:txBody>
          <a:bodyPr wrap="none" lIns="0" rIns="0" tIns="0" bIns="0">
            <a:spAutoFit/>
          </a:bodyPr>
          <a:lstStyle/>
          <a:p>
            <a:r>
              <a:rPr sz="1100" b="0">
                <a:solidFill>
                  <a:srgbClr val="2E2E2E"/>
                </a:solidFill>
                <a:latin typeface="Calibri"/>
              </a:rPr>
              <a:t>● Coily Hair:</a:t>
            </a:r>
          </a:p>
        </p:txBody>
      </p:sp>
      <p:pic>
        <p:nvPicPr>
          <p:cNvPr id="113" name="Picture 112" descr="lock.png"/>
          <p:cNvPicPr>
            <a:picLocks noChangeAspect="1"/>
          </p:cNvPicPr>
          <p:nvPr/>
        </p:nvPicPr>
        <p:blipFill>
          <a:blip r:embed="rId19"/>
          <a:stretch>
            <a:fillRect/>
          </a:stretch>
        </p:blipFill>
        <p:spPr>
          <a:xfrm>
            <a:off x="4558598" y="4437590"/>
            <a:ext cx="128699" cy="187198"/>
          </a:xfrm>
          <a:prstGeom prst="rect">
            <a:avLst/>
          </a:prstGeom>
        </p:spPr>
      </p:pic>
      <p:sp>
        <p:nvSpPr>
          <p:cNvPr id="114" name="TextBox 113"/>
          <p:cNvSpPr txBox="1"/>
          <p:nvPr/>
        </p:nvSpPr>
        <p:spPr>
          <a:xfrm>
            <a:off x="47260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5585544" y="4437590"/>
            <a:ext cx="128699" cy="187198"/>
          </a:xfrm>
          <a:prstGeom prst="rect">
            <a:avLst/>
          </a:prstGeom>
        </p:spPr>
      </p:pic>
      <p:sp>
        <p:nvSpPr>
          <p:cNvPr id="116" name="TextBox 115"/>
          <p:cNvSpPr txBox="1"/>
          <p:nvPr/>
        </p:nvSpPr>
        <p:spPr>
          <a:xfrm>
            <a:off x="57530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7" name="TextBox 116"/>
          <p:cNvSpPr txBox="1"/>
          <p:nvPr/>
        </p:nvSpPr>
        <p:spPr>
          <a:xfrm>
            <a:off x="3838575" y="4665301"/>
            <a:ext cx="941139" cy="186689"/>
          </a:xfrm>
          <a:prstGeom prst="rect">
            <a:avLst/>
          </a:prstGeom>
          <a:noFill/>
        </p:spPr>
        <p:txBody>
          <a:bodyPr wrap="none" lIns="0" rIns="0" tIns="0" bIns="0">
            <a:spAutoFit/>
          </a:bodyPr>
          <a:lstStyle/>
          <a:p>
            <a:r>
              <a:rPr sz="1100" b="0">
                <a:solidFill>
                  <a:srgbClr val="2E2E2E"/>
                </a:solidFill>
                <a:latin typeface="Calibri"/>
              </a:rPr>
              <a:t>● Straight Hair:</a:t>
            </a:r>
          </a:p>
        </p:txBody>
      </p:sp>
      <p:pic>
        <p:nvPicPr>
          <p:cNvPr id="118" name="Picture 117" descr="lock.png"/>
          <p:cNvPicPr>
            <a:picLocks noChangeAspect="1"/>
          </p:cNvPicPr>
          <p:nvPr/>
        </p:nvPicPr>
        <p:blipFill>
          <a:blip r:embed="rId19"/>
          <a:stretch>
            <a:fillRect/>
          </a:stretch>
        </p:blipFill>
        <p:spPr>
          <a:xfrm>
            <a:off x="4727766" y="4655522"/>
            <a:ext cx="128699" cy="187198"/>
          </a:xfrm>
          <a:prstGeom prst="rect">
            <a:avLst/>
          </a:prstGeom>
        </p:spPr>
      </p:pic>
      <p:sp>
        <p:nvSpPr>
          <p:cNvPr id="119" name="TextBox 118"/>
          <p:cNvSpPr txBox="1"/>
          <p:nvPr/>
        </p:nvSpPr>
        <p:spPr>
          <a:xfrm>
            <a:off x="4895261"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19"/>
          <a:stretch>
            <a:fillRect/>
          </a:stretch>
        </p:blipFill>
        <p:spPr>
          <a:xfrm>
            <a:off x="5754712" y="4655522"/>
            <a:ext cx="128699" cy="187198"/>
          </a:xfrm>
          <a:prstGeom prst="rect">
            <a:avLst/>
          </a:prstGeom>
        </p:spPr>
      </p:pic>
      <p:sp>
        <p:nvSpPr>
          <p:cNvPr id="121" name="TextBox 120"/>
          <p:cNvSpPr txBox="1"/>
          <p:nvPr/>
        </p:nvSpPr>
        <p:spPr>
          <a:xfrm>
            <a:off x="5922207" y="466530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2" name="TextBox 121"/>
          <p:cNvSpPr txBox="1"/>
          <p:nvPr/>
        </p:nvSpPr>
        <p:spPr>
          <a:xfrm>
            <a:off x="3838575" y="4883233"/>
            <a:ext cx="813717" cy="186689"/>
          </a:xfrm>
          <a:prstGeom prst="rect">
            <a:avLst/>
          </a:prstGeom>
          <a:noFill/>
        </p:spPr>
        <p:txBody>
          <a:bodyPr wrap="none" lIns="0" rIns="0" tIns="0" bIns="0">
            <a:spAutoFit/>
          </a:bodyPr>
          <a:lstStyle/>
          <a:p>
            <a:r>
              <a:rPr sz="1100" b="0">
                <a:solidFill>
                  <a:srgbClr val="2E2E2E"/>
                </a:solidFill>
                <a:latin typeface="Calibri"/>
              </a:rPr>
              <a:t>● Wavy Hair:</a:t>
            </a:r>
          </a:p>
        </p:txBody>
      </p:sp>
      <p:pic>
        <p:nvPicPr>
          <p:cNvPr id="123" name="Picture 122" descr="lock.png"/>
          <p:cNvPicPr>
            <a:picLocks noChangeAspect="1"/>
          </p:cNvPicPr>
          <p:nvPr/>
        </p:nvPicPr>
        <p:blipFill>
          <a:blip r:embed="rId19"/>
          <a:stretch>
            <a:fillRect/>
          </a:stretch>
        </p:blipFill>
        <p:spPr>
          <a:xfrm>
            <a:off x="4600344" y="4873454"/>
            <a:ext cx="128699" cy="187198"/>
          </a:xfrm>
          <a:prstGeom prst="rect">
            <a:avLst/>
          </a:prstGeom>
        </p:spPr>
      </p:pic>
      <p:sp>
        <p:nvSpPr>
          <p:cNvPr id="124" name="TextBox 123"/>
          <p:cNvSpPr txBox="1"/>
          <p:nvPr/>
        </p:nvSpPr>
        <p:spPr>
          <a:xfrm>
            <a:off x="4767840"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19"/>
          <a:stretch>
            <a:fillRect/>
          </a:stretch>
        </p:blipFill>
        <p:spPr>
          <a:xfrm>
            <a:off x="5627290" y="4873454"/>
            <a:ext cx="128699" cy="187198"/>
          </a:xfrm>
          <a:prstGeom prst="rect">
            <a:avLst/>
          </a:prstGeom>
        </p:spPr>
      </p:pic>
      <p:sp>
        <p:nvSpPr>
          <p:cNvPr id="126" name="TextBox 125"/>
          <p:cNvSpPr txBox="1"/>
          <p:nvPr/>
        </p:nvSpPr>
        <p:spPr>
          <a:xfrm>
            <a:off x="5794786"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7" name="TextBox 126"/>
          <p:cNvSpPr txBox="1"/>
          <p:nvPr/>
        </p:nvSpPr>
        <p:spPr>
          <a:xfrm>
            <a:off x="3838575" y="5101165"/>
            <a:ext cx="788342" cy="186689"/>
          </a:xfrm>
          <a:prstGeom prst="rect">
            <a:avLst/>
          </a:prstGeom>
          <a:noFill/>
        </p:spPr>
        <p:txBody>
          <a:bodyPr wrap="none" lIns="0" rIns="0" tIns="0" bIns="0">
            <a:spAutoFit/>
          </a:bodyPr>
          <a:lstStyle/>
          <a:p>
            <a:r>
              <a:rPr sz="1100" b="0">
                <a:solidFill>
                  <a:srgbClr val="2E2E2E"/>
                </a:solidFill>
                <a:latin typeface="Calibri"/>
              </a:rPr>
              <a:t>● Curly Hair:</a:t>
            </a:r>
          </a:p>
        </p:txBody>
      </p:sp>
      <p:pic>
        <p:nvPicPr>
          <p:cNvPr id="128" name="Picture 127" descr="lock.png"/>
          <p:cNvPicPr>
            <a:picLocks noChangeAspect="1"/>
          </p:cNvPicPr>
          <p:nvPr/>
        </p:nvPicPr>
        <p:blipFill>
          <a:blip r:embed="rId19"/>
          <a:stretch>
            <a:fillRect/>
          </a:stretch>
        </p:blipFill>
        <p:spPr>
          <a:xfrm>
            <a:off x="4574969" y="5091385"/>
            <a:ext cx="128699" cy="187198"/>
          </a:xfrm>
          <a:prstGeom prst="rect">
            <a:avLst/>
          </a:prstGeom>
        </p:spPr>
      </p:pic>
      <p:sp>
        <p:nvSpPr>
          <p:cNvPr id="129" name="TextBox 128"/>
          <p:cNvSpPr txBox="1"/>
          <p:nvPr/>
        </p:nvSpPr>
        <p:spPr>
          <a:xfrm>
            <a:off x="4742464"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19"/>
          <a:stretch>
            <a:fillRect/>
          </a:stretch>
        </p:blipFill>
        <p:spPr>
          <a:xfrm>
            <a:off x="5601915" y="5091385"/>
            <a:ext cx="128699" cy="187198"/>
          </a:xfrm>
          <a:prstGeom prst="rect">
            <a:avLst/>
          </a:prstGeom>
        </p:spPr>
      </p:pic>
      <p:sp>
        <p:nvSpPr>
          <p:cNvPr id="131" name="TextBox 130"/>
          <p:cNvSpPr txBox="1"/>
          <p:nvPr/>
        </p:nvSpPr>
        <p:spPr>
          <a:xfrm>
            <a:off x="5769411" y="5101165"/>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32" name="TextBox 131"/>
          <p:cNvSpPr txBox="1"/>
          <p:nvPr/>
        </p:nvSpPr>
        <p:spPr>
          <a:xfrm>
            <a:off x="8524875" y="5842641"/>
            <a:ext cx="2950418" cy="194310"/>
          </a:xfrm>
          <a:prstGeom prst="rect">
            <a:avLst/>
          </a:prstGeom>
          <a:noFill/>
        </p:spPr>
        <p:txBody>
          <a:bodyPr wrap="none" lIns="0" rIns="0" tIns="0" bIns="0">
            <a:spAutoFit/>
          </a:bodyPr>
          <a:lstStyle/>
          <a:p>
            <a:r>
              <a:rPr sz="1150" b="1">
                <a:solidFill>
                  <a:srgbClr val="0B2E4A"/>
                </a:solidFill>
                <a:latin typeface="Calibri"/>
              </a:rPr>
              <a:t>The Hair Type Targeted segment is projected to</a:t>
            </a:r>
          </a:p>
        </p:txBody>
      </p:sp>
      <p:sp>
        <p:nvSpPr>
          <p:cNvPr id="133" name="TextBox 132"/>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34" name="Picture 133" descr="lock.png"/>
          <p:cNvPicPr>
            <a:picLocks noChangeAspect="1"/>
          </p:cNvPicPr>
          <p:nvPr/>
        </p:nvPicPr>
        <p:blipFill>
          <a:blip r:embed="rId19"/>
          <a:stretch>
            <a:fillRect/>
          </a:stretch>
        </p:blipFill>
        <p:spPr>
          <a:xfrm>
            <a:off x="9651852" y="6007677"/>
            <a:ext cx="134549" cy="195707"/>
          </a:xfrm>
          <a:prstGeom prst="rect">
            <a:avLst/>
          </a:prstGeom>
        </p:spPr>
      </p:pic>
      <p:sp>
        <p:nvSpPr>
          <p:cNvPr id="135" name="TextBox 134"/>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Hair Type Targeted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Hair Type Targeted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Hair Type Targeted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Hair Type Targeted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777865"/>
            <a:ext cx="11551245" cy="186689"/>
          </a:xfrm>
          <a:prstGeom prst="rect">
            <a:avLst/>
          </a:prstGeom>
          <a:noFill/>
        </p:spPr>
        <p:txBody>
          <a:bodyPr wrap="none" lIns="0" rIns="0" tIns="0" bIns="0">
            <a:spAutoFit/>
          </a:bodyPr>
          <a:lstStyle/>
          <a:p>
            <a:r>
              <a:rPr sz="1100" b="0">
                <a:solidFill>
                  <a:srgbClr val="2E2E2E"/>
                </a:solidFill>
                <a:latin typeface="Calibri"/>
              </a:rPr>
              <a:t>Coily hair followed by curly hair are expected to be the two most attractive hair type targeted segments in the North America hair styling products market in terms of value over the forecast period. Coily</a:t>
            </a:r>
          </a:p>
        </p:txBody>
      </p:sp>
      <p:sp>
        <p:nvSpPr>
          <p:cNvPr id="21" name="TextBox 20"/>
          <p:cNvSpPr txBox="1"/>
          <p:nvPr/>
        </p:nvSpPr>
        <p:spPr>
          <a:xfrm>
            <a:off x="257175" y="5945505"/>
            <a:ext cx="2462269" cy="186689"/>
          </a:xfrm>
          <a:prstGeom prst="rect">
            <a:avLst/>
          </a:prstGeom>
          <a:noFill/>
        </p:spPr>
        <p:txBody>
          <a:bodyPr wrap="none" lIns="0" rIns="0" tIns="0" bIns="0">
            <a:spAutoFit/>
          </a:bodyPr>
          <a:lstStyle/>
          <a:p>
            <a:r>
              <a:rPr sz="1100" b="0">
                <a:solidFill>
                  <a:srgbClr val="2E2E2E"/>
                </a:solidFill>
                <a:latin typeface="Calibri"/>
              </a:rPr>
              <a:t>hair and curly hair exhibit a CAGR index of</a:t>
            </a:r>
          </a:p>
        </p:txBody>
      </p:sp>
      <p:pic>
        <p:nvPicPr>
          <p:cNvPr id="22" name="Picture 21" descr="lock.png"/>
          <p:cNvPicPr>
            <a:picLocks noChangeAspect="1"/>
          </p:cNvPicPr>
          <p:nvPr/>
        </p:nvPicPr>
        <p:blipFill>
          <a:blip r:embed="rId6"/>
          <a:stretch>
            <a:fillRect/>
          </a:stretch>
        </p:blipFill>
        <p:spPr>
          <a:xfrm>
            <a:off x="2667496" y="5935726"/>
            <a:ext cx="128699" cy="187198"/>
          </a:xfrm>
          <a:prstGeom prst="rect">
            <a:avLst/>
          </a:prstGeom>
        </p:spPr>
      </p:pic>
      <p:sp>
        <p:nvSpPr>
          <p:cNvPr id="23" name="TextBox 22"/>
          <p:cNvSpPr txBox="1"/>
          <p:nvPr/>
        </p:nvSpPr>
        <p:spPr>
          <a:xfrm>
            <a:off x="2834992"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3072886" y="5935726"/>
            <a:ext cx="128699" cy="187198"/>
          </a:xfrm>
          <a:prstGeom prst="rect">
            <a:avLst/>
          </a:prstGeom>
        </p:spPr>
      </p:pic>
      <p:sp>
        <p:nvSpPr>
          <p:cNvPr id="25" name="TextBox 24"/>
          <p:cNvSpPr txBox="1"/>
          <p:nvPr/>
        </p:nvSpPr>
        <p:spPr>
          <a:xfrm>
            <a:off x="3240382"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4849355" y="5935726"/>
            <a:ext cx="128699" cy="187198"/>
          </a:xfrm>
          <a:prstGeom prst="rect">
            <a:avLst/>
          </a:prstGeom>
        </p:spPr>
      </p:pic>
      <p:sp>
        <p:nvSpPr>
          <p:cNvPr id="27" name="TextBox 26"/>
          <p:cNvSpPr txBox="1"/>
          <p:nvPr/>
        </p:nvSpPr>
        <p:spPr>
          <a:xfrm>
            <a:off x="5016851"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5254746" y="5935726"/>
            <a:ext cx="128699" cy="187198"/>
          </a:xfrm>
          <a:prstGeom prst="rect">
            <a:avLst/>
          </a:prstGeom>
        </p:spPr>
      </p:pic>
      <p:sp>
        <p:nvSpPr>
          <p:cNvPr id="29" name="TextBox 28"/>
          <p:cNvSpPr txBox="1"/>
          <p:nvPr/>
        </p:nvSpPr>
        <p:spPr>
          <a:xfrm>
            <a:off x="5422241"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7976646" y="5935726"/>
            <a:ext cx="128699" cy="187198"/>
          </a:xfrm>
          <a:prstGeom prst="rect">
            <a:avLst/>
          </a:prstGeom>
        </p:spPr>
      </p:pic>
      <p:sp>
        <p:nvSpPr>
          <p:cNvPr id="31" name="TextBox 30"/>
          <p:cNvSpPr txBox="1"/>
          <p:nvPr/>
        </p:nvSpPr>
        <p:spPr>
          <a:xfrm>
            <a:off x="8144141" y="5945505"/>
            <a:ext cx="2839094" cy="186689"/>
          </a:xfrm>
          <a:prstGeom prst="rect">
            <a:avLst/>
          </a:prstGeom>
          <a:noFill/>
        </p:spPr>
        <p:txBody>
          <a:bodyPr wrap="none" lIns="0" rIns="0" tIns="0" bIns="0">
            <a:spAutoFit/>
          </a:bodyPr>
          <a:lstStyle/>
          <a:p>
            <a:r>
              <a:rPr sz="1100" b="0">
                <a:solidFill>
                  <a:srgbClr val="2E2E2E"/>
                </a:solidFill>
                <a:latin typeface="Calibri"/>
              </a:rPr>
              <a:t>. The straight hair segment is expected to be less</a:t>
            </a:r>
          </a:p>
        </p:txBody>
      </p:sp>
      <p:sp>
        <p:nvSpPr>
          <p:cNvPr id="32" name="TextBox 31"/>
          <p:cNvSpPr txBox="1"/>
          <p:nvPr/>
        </p:nvSpPr>
        <p:spPr>
          <a:xfrm>
            <a:off x="257175" y="6113145"/>
            <a:ext cx="11338386" cy="186689"/>
          </a:xfrm>
          <a:prstGeom prst="rect">
            <a:avLst/>
          </a:prstGeom>
          <a:noFill/>
        </p:spPr>
        <p:txBody>
          <a:bodyPr wrap="none" lIns="0" rIns="0" tIns="0" bIns="0">
            <a:spAutoFit/>
          </a:bodyPr>
          <a:lstStyle/>
          <a:p>
            <a:r>
              <a:rPr sz="1100" b="0">
                <a:solidFill>
                  <a:srgbClr val="2E2E2E"/>
                </a:solidFill>
                <a:latin typeface="Calibri"/>
              </a:rPr>
              <a:t>attractive as compared to other segments over the forecast period, owing to its lower CAGR and incremental opportunity. Bubbles right of the CAGR-Index line grow faster than the segment average.</a:t>
            </a:r>
          </a:p>
        </p:txBody>
      </p:sp>
      <p:sp>
        <p:nvSpPr>
          <p:cNvPr id="33"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Hair Type Targeted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Hair Type Targeted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Straight Hair</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Wavy Hair</a:t>
            </a:r>
          </a:p>
        </p:txBody>
      </p:sp>
      <p:graphicFrame>
        <p:nvGraphicFramePr>
          <p:cNvPr id="16" name="Chart 15"/>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Curly Hair</a:t>
            </a:r>
          </a:p>
        </p:txBody>
      </p:sp>
      <p:graphicFrame>
        <p:nvGraphicFramePr>
          <p:cNvPr id="19" name="Chart 18"/>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Coily Hair</a:t>
            </a:r>
          </a:p>
        </p:txBody>
      </p:sp>
      <p:graphicFrame>
        <p:nvGraphicFramePr>
          <p:cNvPr id="22" name="Chart 21"/>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094826" y="2237234"/>
            <a:ext cx="263506" cy="383281"/>
          </a:xfrm>
          <a:prstGeom prst="rect">
            <a:avLst/>
          </a:prstGeom>
        </p:spPr>
      </p:pic>
      <p:pic>
        <p:nvPicPr>
          <p:cNvPr id="25" name="Picture 24" descr="lock.png"/>
          <p:cNvPicPr>
            <a:picLocks noChangeAspect="1"/>
          </p:cNvPicPr>
          <p:nvPr/>
        </p:nvPicPr>
        <p:blipFill>
          <a:blip r:embed="rId8"/>
          <a:stretch>
            <a:fillRect/>
          </a:stretch>
        </p:blipFill>
        <p:spPr>
          <a:xfrm>
            <a:off x="9124151" y="2237234"/>
            <a:ext cx="263506" cy="383281"/>
          </a:xfrm>
          <a:prstGeom prst="rect">
            <a:avLst/>
          </a:prstGeom>
        </p:spPr>
      </p:pic>
      <p:pic>
        <p:nvPicPr>
          <p:cNvPr id="26" name="Picture 25" descr="lock.png"/>
          <p:cNvPicPr>
            <a:picLocks noChangeAspect="1"/>
          </p:cNvPicPr>
          <p:nvPr/>
        </p:nvPicPr>
        <p:blipFill>
          <a:blip r:embed="rId8"/>
          <a:stretch>
            <a:fillRect/>
          </a:stretch>
        </p:blipFill>
        <p:spPr>
          <a:xfrm>
            <a:off x="3094826" y="5123309"/>
            <a:ext cx="263506" cy="383281"/>
          </a:xfrm>
          <a:prstGeom prst="rect">
            <a:avLst/>
          </a:prstGeom>
        </p:spPr>
      </p:pic>
      <p:pic>
        <p:nvPicPr>
          <p:cNvPr id="27" name="Picture 26" descr="lock.png"/>
          <p:cNvPicPr>
            <a:picLocks noChangeAspect="1"/>
          </p:cNvPicPr>
          <p:nvPr/>
        </p:nvPicPr>
        <p:blipFill>
          <a:blip r:embed="rId8"/>
          <a:stretch>
            <a:fillRect/>
          </a:stretch>
        </p:blipFill>
        <p:spPr>
          <a:xfrm>
            <a:off x="9124151" y="5123309"/>
            <a:ext cx="263506" cy="383281"/>
          </a:xfrm>
          <a:prstGeom prst="rect">
            <a:avLst/>
          </a:prstGeom>
        </p:spPr>
      </p:pic>
      <p:sp>
        <p:nvSpPr>
          <p:cNvPr id="28"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Hair Type Targeted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Hair Type Targeted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All Hair Types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B2E4A"/>
                </a:solidFill>
                <a:latin typeface="Calibri"/>
              </a:rPr>
              <a:t>Summary of North America Absolute $ Opportunity Analysis, By Hair Type Targeted</a:t>
            </a:r>
          </a:p>
        </p:txBody>
      </p:sp>
      <p:sp>
        <p:nvSpPr>
          <p:cNvPr id="15" name="Rectangle 14"/>
          <p:cNvSpPr/>
          <p:nvPr/>
        </p:nvSpPr>
        <p:spPr>
          <a:xfrm>
            <a:off x="6305550" y="150299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027556" y="3674659"/>
            <a:ext cx="395643" cy="575481"/>
          </a:xfrm>
          <a:prstGeom prst="rect">
            <a:avLst/>
          </a:prstGeom>
        </p:spPr>
      </p:pic>
      <p:sp>
        <p:nvSpPr>
          <p:cNvPr id="19" name="TextBox 18"/>
          <p:cNvSpPr txBox="1"/>
          <p:nvPr/>
        </p:nvSpPr>
        <p:spPr>
          <a:xfrm>
            <a:off x="6305550" y="1598245"/>
            <a:ext cx="4038069" cy="194310"/>
          </a:xfrm>
          <a:prstGeom prst="rect">
            <a:avLst/>
          </a:prstGeom>
          <a:noFill/>
        </p:spPr>
        <p:txBody>
          <a:bodyPr wrap="none" lIns="0" rIns="0" tIns="0" bIns="0">
            <a:spAutoFit/>
          </a:bodyPr>
          <a:lstStyle/>
          <a:p>
            <a:r>
              <a:rPr sz="1150" b="0">
                <a:solidFill>
                  <a:srgbClr val="2E2E2E"/>
                </a:solidFill>
                <a:latin typeface="Calibri"/>
              </a:rPr>
              <a:t>By 2036, coily hair segment is anticipated to witness an increase of</a:t>
            </a:r>
          </a:p>
        </p:txBody>
      </p:sp>
      <p:pic>
        <p:nvPicPr>
          <p:cNvPr id="20" name="Picture 19" descr="lock.png"/>
          <p:cNvPicPr>
            <a:picLocks noChangeAspect="1"/>
          </p:cNvPicPr>
          <p:nvPr/>
        </p:nvPicPr>
        <p:blipFill>
          <a:blip r:embed="rId5"/>
          <a:stretch>
            <a:fillRect/>
          </a:stretch>
        </p:blipFill>
        <p:spPr>
          <a:xfrm>
            <a:off x="10292773" y="1588021"/>
            <a:ext cx="134549" cy="195707"/>
          </a:xfrm>
          <a:prstGeom prst="rect">
            <a:avLst/>
          </a:prstGeom>
        </p:spPr>
      </p:pic>
      <p:sp>
        <p:nvSpPr>
          <p:cNvPr id="21" name="TextBox 20"/>
          <p:cNvSpPr txBox="1"/>
          <p:nvPr/>
        </p:nvSpPr>
        <p:spPr>
          <a:xfrm>
            <a:off x="10467882" y="1598245"/>
            <a:ext cx="1341871" cy="194310"/>
          </a:xfrm>
          <a:prstGeom prst="rect">
            <a:avLst/>
          </a:prstGeom>
          <a:noFill/>
        </p:spPr>
        <p:txBody>
          <a:bodyPr wrap="none" lIns="0" rIns="0" tIns="0" bIns="0">
            <a:spAutoFit/>
          </a:bodyPr>
          <a:lstStyle/>
          <a:p>
            <a:r>
              <a:rPr sz="1150" b="0">
                <a:solidFill>
                  <a:srgbClr val="2E2E2E"/>
                </a:solidFill>
                <a:latin typeface="Calibri"/>
              </a:rPr>
              <a:t>X in terms of value as</a:t>
            </a:r>
          </a:p>
        </p:txBody>
      </p:sp>
      <p:sp>
        <p:nvSpPr>
          <p:cNvPr id="22" name="TextBox 21"/>
          <p:cNvSpPr txBox="1"/>
          <p:nvPr/>
        </p:nvSpPr>
        <p:spPr>
          <a:xfrm>
            <a:off x="6305550" y="1773505"/>
            <a:ext cx="5518559" cy="194310"/>
          </a:xfrm>
          <a:prstGeom prst="rect">
            <a:avLst/>
          </a:prstGeom>
          <a:noFill/>
        </p:spPr>
        <p:txBody>
          <a:bodyPr wrap="none" lIns="0" rIns="0" tIns="0" bIns="0">
            <a:spAutoFit/>
          </a:bodyPr>
          <a:lstStyle/>
          <a:p>
            <a:r>
              <a:rPr sz="1150" b="0">
                <a:solidFill>
                  <a:srgbClr val="2E2E2E"/>
                </a:solidFill>
                <a:latin typeface="Calibri"/>
              </a:rPr>
              <a:t>compared to 2026. The coily hair segment is expected to create an incremental opportunity</a:t>
            </a:r>
          </a:p>
        </p:txBody>
      </p:sp>
      <p:sp>
        <p:nvSpPr>
          <p:cNvPr id="23" name="TextBox 22"/>
          <p:cNvSpPr txBox="1"/>
          <p:nvPr/>
        </p:nvSpPr>
        <p:spPr>
          <a:xfrm>
            <a:off x="6305550" y="1948765"/>
            <a:ext cx="465856" cy="194310"/>
          </a:xfrm>
          <a:prstGeom prst="rect">
            <a:avLst/>
          </a:prstGeom>
          <a:noFill/>
        </p:spPr>
        <p:txBody>
          <a:bodyPr wrap="none" lIns="0" rIns="0" tIns="0" bIns="0">
            <a:spAutoFit/>
          </a:bodyPr>
          <a:lstStyle/>
          <a:p>
            <a:r>
              <a:rPr sz="1150" b="0">
                <a:solidFill>
                  <a:srgbClr val="2E2E2E"/>
                </a:solidFill>
                <a:latin typeface="Calibri"/>
              </a:rPr>
              <a:t>of US$</a:t>
            </a:r>
          </a:p>
        </p:txBody>
      </p:sp>
      <p:pic>
        <p:nvPicPr>
          <p:cNvPr id="24" name="Picture 23" descr="lock.png"/>
          <p:cNvPicPr>
            <a:picLocks noChangeAspect="1"/>
          </p:cNvPicPr>
          <p:nvPr/>
        </p:nvPicPr>
        <p:blipFill>
          <a:blip r:embed="rId5"/>
          <a:stretch>
            <a:fillRect/>
          </a:stretch>
        </p:blipFill>
        <p:spPr>
          <a:xfrm>
            <a:off x="6720560" y="1938541"/>
            <a:ext cx="134549" cy="195707"/>
          </a:xfrm>
          <a:prstGeom prst="rect">
            <a:avLst/>
          </a:prstGeom>
        </p:spPr>
      </p:pic>
      <p:sp>
        <p:nvSpPr>
          <p:cNvPr id="25" name="TextBox 24"/>
          <p:cNvSpPr txBox="1"/>
          <p:nvPr/>
        </p:nvSpPr>
        <p:spPr>
          <a:xfrm>
            <a:off x="6895670" y="1948765"/>
            <a:ext cx="4030960" cy="194310"/>
          </a:xfrm>
          <a:prstGeom prst="rect">
            <a:avLst/>
          </a:prstGeom>
          <a:noFill/>
        </p:spPr>
        <p:txBody>
          <a:bodyPr wrap="none" lIns="0" rIns="0" tIns="0" bIns="0">
            <a:spAutoFit/>
          </a:bodyPr>
          <a:lstStyle/>
          <a:p>
            <a:r>
              <a:rPr sz="1150" b="0">
                <a:solidFill>
                  <a:srgbClr val="2E2E2E"/>
                </a:solidFill>
                <a:latin typeface="Calibri"/>
              </a:rPr>
              <a:t>Mn for the overall hair styling products market from 2026 to 2036.</a:t>
            </a:r>
          </a:p>
        </p:txBody>
      </p:sp>
      <p:sp>
        <p:nvSpPr>
          <p:cNvPr id="26" name="TextBox 25"/>
          <p:cNvSpPr txBox="1"/>
          <p:nvPr/>
        </p:nvSpPr>
        <p:spPr>
          <a:xfrm>
            <a:off x="6305550" y="2176603"/>
            <a:ext cx="4796866" cy="194310"/>
          </a:xfrm>
          <a:prstGeom prst="rect">
            <a:avLst/>
          </a:prstGeom>
          <a:noFill/>
        </p:spPr>
        <p:txBody>
          <a:bodyPr wrap="none" lIns="0" rIns="0" tIns="0" bIns="0">
            <a:spAutoFit/>
          </a:bodyPr>
          <a:lstStyle/>
          <a:p>
            <a:r>
              <a:rPr sz="1150" b="0">
                <a:solidFill>
                  <a:srgbClr val="2E2E2E"/>
                </a:solidFill>
                <a:latin typeface="Calibri"/>
              </a:rPr>
              <a:t>The curly hair segment is expected to create an incremental opportunity of US$</a:t>
            </a:r>
          </a:p>
        </p:txBody>
      </p:sp>
      <p:pic>
        <p:nvPicPr>
          <p:cNvPr id="27" name="Picture 26" descr="lock.png"/>
          <p:cNvPicPr>
            <a:picLocks noChangeAspect="1"/>
          </p:cNvPicPr>
          <p:nvPr/>
        </p:nvPicPr>
        <p:blipFill>
          <a:blip r:embed="rId5"/>
          <a:stretch>
            <a:fillRect/>
          </a:stretch>
        </p:blipFill>
        <p:spPr>
          <a:xfrm>
            <a:off x="11051570" y="2166379"/>
            <a:ext cx="134549" cy="195707"/>
          </a:xfrm>
          <a:prstGeom prst="rect">
            <a:avLst/>
          </a:prstGeom>
        </p:spPr>
      </p:pic>
      <p:sp>
        <p:nvSpPr>
          <p:cNvPr id="28" name="TextBox 27"/>
          <p:cNvSpPr txBox="1"/>
          <p:nvPr/>
        </p:nvSpPr>
        <p:spPr>
          <a:xfrm>
            <a:off x="11226680" y="2176603"/>
            <a:ext cx="483542" cy="194310"/>
          </a:xfrm>
          <a:prstGeom prst="rect">
            <a:avLst/>
          </a:prstGeom>
          <a:noFill/>
        </p:spPr>
        <p:txBody>
          <a:bodyPr wrap="none" lIns="0" rIns="0" tIns="0" bIns="0">
            <a:spAutoFit/>
          </a:bodyPr>
          <a:lstStyle/>
          <a:p>
            <a:r>
              <a:rPr sz="1150" b="0">
                <a:solidFill>
                  <a:srgbClr val="2E2E2E"/>
                </a:solidFill>
                <a:latin typeface="Calibri"/>
              </a:rPr>
              <a:t>Mn for</a:t>
            </a:r>
          </a:p>
        </p:txBody>
      </p:sp>
      <p:sp>
        <p:nvSpPr>
          <p:cNvPr id="29" name="TextBox 28"/>
          <p:cNvSpPr txBox="1"/>
          <p:nvPr/>
        </p:nvSpPr>
        <p:spPr>
          <a:xfrm>
            <a:off x="6305550" y="2351863"/>
            <a:ext cx="5118918" cy="194310"/>
          </a:xfrm>
          <a:prstGeom prst="rect">
            <a:avLst/>
          </a:prstGeom>
          <a:noFill/>
        </p:spPr>
        <p:txBody>
          <a:bodyPr wrap="none" lIns="0" rIns="0" tIns="0" bIns="0">
            <a:spAutoFit/>
          </a:bodyPr>
          <a:lstStyle/>
          <a:p>
            <a:r>
              <a:rPr sz="1150" b="0">
                <a:solidFill>
                  <a:srgbClr val="2E2E2E"/>
                </a:solidFill>
                <a:latin typeface="Calibri"/>
              </a:rPr>
              <a:t>the overall hair styling products market from 2026 to 2036. The wavy hair segment is</a:t>
            </a:r>
          </a:p>
        </p:txBody>
      </p:sp>
      <p:sp>
        <p:nvSpPr>
          <p:cNvPr id="30" name="TextBox 29"/>
          <p:cNvSpPr txBox="1"/>
          <p:nvPr/>
        </p:nvSpPr>
        <p:spPr>
          <a:xfrm>
            <a:off x="6305550" y="2527123"/>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31" name="Picture 30" descr="lock.png"/>
          <p:cNvPicPr>
            <a:picLocks noChangeAspect="1"/>
          </p:cNvPicPr>
          <p:nvPr/>
        </p:nvPicPr>
        <p:blipFill>
          <a:blip r:embed="rId5"/>
          <a:stretch>
            <a:fillRect/>
          </a:stretch>
        </p:blipFill>
        <p:spPr>
          <a:xfrm>
            <a:off x="9540010" y="2516899"/>
            <a:ext cx="134549" cy="195707"/>
          </a:xfrm>
          <a:prstGeom prst="rect">
            <a:avLst/>
          </a:prstGeom>
        </p:spPr>
      </p:pic>
      <p:sp>
        <p:nvSpPr>
          <p:cNvPr id="32" name="TextBox 31"/>
          <p:cNvSpPr txBox="1"/>
          <p:nvPr/>
        </p:nvSpPr>
        <p:spPr>
          <a:xfrm>
            <a:off x="9715119" y="2527123"/>
            <a:ext cx="1834790" cy="194310"/>
          </a:xfrm>
          <a:prstGeom prst="rect">
            <a:avLst/>
          </a:prstGeom>
          <a:noFill/>
        </p:spPr>
        <p:txBody>
          <a:bodyPr wrap="none" lIns="0" rIns="0" tIns="0" bIns="0">
            <a:spAutoFit/>
          </a:bodyPr>
          <a:lstStyle/>
          <a:p>
            <a:r>
              <a:rPr sz="1150" b="0">
                <a:solidFill>
                  <a:srgbClr val="2E2E2E"/>
                </a:solidFill>
                <a:latin typeface="Calibri"/>
              </a:rPr>
              <a:t>Mn for the overall hair styling</a:t>
            </a:r>
          </a:p>
        </p:txBody>
      </p:sp>
      <p:sp>
        <p:nvSpPr>
          <p:cNvPr id="33" name="TextBox 32"/>
          <p:cNvSpPr txBox="1"/>
          <p:nvPr/>
        </p:nvSpPr>
        <p:spPr>
          <a:xfrm>
            <a:off x="6305550" y="2702383"/>
            <a:ext cx="2239280" cy="194310"/>
          </a:xfrm>
          <a:prstGeom prst="rect">
            <a:avLst/>
          </a:prstGeom>
          <a:noFill/>
        </p:spPr>
        <p:txBody>
          <a:bodyPr wrap="none" lIns="0" rIns="0" tIns="0" bIns="0">
            <a:spAutoFit/>
          </a:bodyPr>
          <a:lstStyle/>
          <a:p>
            <a:r>
              <a:rPr sz="1150" b="0">
                <a:solidFill>
                  <a:srgbClr val="2E2E2E"/>
                </a:solidFill>
                <a:latin typeface="Calibri"/>
              </a:rPr>
              <a:t>products market from 2026 to 2036.</a:t>
            </a:r>
          </a:p>
        </p:txBody>
      </p:sp>
      <p:sp>
        <p:nvSpPr>
          <p:cNvPr id="34"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Hair Type Targeted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Hair Type Targeted,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Hair Type Targeted (US$ Mn)</a:t>
            </a:r>
          </a:p>
        </p:txBody>
      </p:sp>
      <p:graphicFrame>
        <p:nvGraphicFramePr>
          <p:cNvPr id="13" name="Table 12"/>
          <p:cNvGraphicFramePr>
            <a:graphicFrameLocks noGrp="1"/>
          </p:cNvGraphicFramePr>
          <p:nvPr/>
        </p:nvGraphicFramePr>
        <p:xfrm>
          <a:off x="152400" y="1238250"/>
          <a:ext cx="11887201" cy="1724028"/>
        </p:xfrm>
        <a:graphic>
          <a:graphicData uri="http://schemas.openxmlformats.org/drawingml/2006/table">
            <a:tbl>
              <a:tblPr>
                <a:tableStyleId>{5C22544A-7EE6-4342-B048-85BDC9FD1C3A}</a:tableStyleId>
              </a:tblPr>
              <a:tblGrid>
                <a:gridCol w="1389140"/>
                <a:gridCol w="617533"/>
                <a:gridCol w="617533"/>
                <a:gridCol w="617533"/>
                <a:gridCol w="617533"/>
                <a:gridCol w="617533"/>
                <a:gridCol w="617533"/>
                <a:gridCol w="617533"/>
                <a:gridCol w="617533"/>
                <a:gridCol w="617533"/>
                <a:gridCol w="617533"/>
                <a:gridCol w="617533"/>
                <a:gridCol w="617533"/>
                <a:gridCol w="617533"/>
                <a:gridCol w="617533"/>
                <a:gridCol w="617533"/>
                <a:gridCol w="617533"/>
                <a:gridCol w="617533"/>
              </a:tblGrid>
              <a:tr h="246126">
                <a:tc>
                  <a:txBody>
                    <a:bodyPr wrap="none"/>
                    <a:lstStyle/>
                    <a:p>
                      <a:pPr algn="l"/>
                      <a:r>
                        <a:rPr sz="1100" b="1">
                          <a:solidFill>
                            <a:srgbClr val="0B2E4A"/>
                          </a:solidFill>
                          <a:latin typeface="Calibri"/>
                        </a:rPr>
                        <a:t>Hair Type Targeted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Straight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Wavy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Curly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Coily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All Hair Types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Hair Type Targeted</a:t>
            </a:r>
          </a:p>
        </p:txBody>
      </p:sp>
      <p:sp>
        <p:nvSpPr>
          <p:cNvPr id="17" name="Rectangle 16"/>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603880" y="1956627"/>
            <a:ext cx="366712" cy="533400"/>
          </a:xfrm>
          <a:prstGeom prst="rect">
            <a:avLst/>
          </a:prstGeom>
        </p:spPr>
      </p:pic>
      <p:sp>
        <p:nvSpPr>
          <p:cNvPr id="21" name="TextBox 20"/>
          <p:cNvSpPr txBox="1"/>
          <p:nvPr/>
        </p:nvSpPr>
        <p:spPr>
          <a:xfrm>
            <a:off x="276225" y="3724275"/>
            <a:ext cx="2554200" cy="194310"/>
          </a:xfrm>
          <a:prstGeom prst="rect">
            <a:avLst/>
          </a:prstGeom>
          <a:noFill/>
        </p:spPr>
        <p:txBody>
          <a:bodyPr wrap="none" lIns="0" rIns="0" tIns="0" bIns="0">
            <a:spAutoFit/>
          </a:bodyPr>
          <a:lstStyle/>
          <a:p>
            <a:r>
              <a:rPr sz="1150" b="0">
                <a:solidFill>
                  <a:srgbClr val="2E2E2E"/>
                </a:solidFill>
                <a:latin typeface="Calibri"/>
              </a:rPr>
              <a:t>Coily hair segment is projected to register</a:t>
            </a:r>
          </a:p>
        </p:txBody>
      </p:sp>
      <p:pic>
        <p:nvPicPr>
          <p:cNvPr id="22" name="Picture 21" descr="lock.png"/>
          <p:cNvPicPr>
            <a:picLocks noChangeAspect="1"/>
          </p:cNvPicPr>
          <p:nvPr/>
        </p:nvPicPr>
        <p:blipFill>
          <a:blip r:embed="rId4"/>
          <a:stretch>
            <a:fillRect/>
          </a:stretch>
        </p:blipFill>
        <p:spPr>
          <a:xfrm>
            <a:off x="2779579" y="3714051"/>
            <a:ext cx="134549" cy="195707"/>
          </a:xfrm>
          <a:prstGeom prst="rect">
            <a:avLst/>
          </a:prstGeom>
        </p:spPr>
      </p:pic>
      <p:sp>
        <p:nvSpPr>
          <p:cNvPr id="23" name="TextBox 22"/>
          <p:cNvSpPr txBox="1"/>
          <p:nvPr/>
        </p:nvSpPr>
        <p:spPr>
          <a:xfrm>
            <a:off x="2954688" y="3724275"/>
            <a:ext cx="8779581" cy="194310"/>
          </a:xfrm>
          <a:prstGeom prst="rect">
            <a:avLst/>
          </a:prstGeom>
          <a:noFill/>
        </p:spPr>
        <p:txBody>
          <a:bodyPr wrap="none" lIns="0" rIns="0" tIns="0" bIns="0">
            <a:spAutoFit/>
          </a:bodyPr>
          <a:lstStyle/>
          <a:p>
            <a:r>
              <a:rPr sz="1150" b="0">
                <a:solidFill>
                  <a:srgbClr val="2E2E2E"/>
                </a:solidFill>
                <a:latin typeface="Calibri"/>
              </a:rPr>
              <a:t>X higher value than all hair types segment in 2036. Among hair styling products by hair type targeted, coily hair segment is expected to witness the</a:t>
            </a:r>
          </a:p>
        </p:txBody>
      </p:sp>
      <p:sp>
        <p:nvSpPr>
          <p:cNvPr id="24" name="TextBox 23"/>
          <p:cNvSpPr txBox="1"/>
          <p:nvPr/>
        </p:nvSpPr>
        <p:spPr>
          <a:xfrm>
            <a:off x="276225" y="389953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5" name="Picture 24" descr="lock.png"/>
          <p:cNvPicPr>
            <a:picLocks noChangeAspect="1"/>
          </p:cNvPicPr>
          <p:nvPr/>
        </p:nvPicPr>
        <p:blipFill>
          <a:blip r:embed="rId4"/>
          <a:stretch>
            <a:fillRect/>
          </a:stretch>
        </p:blipFill>
        <p:spPr>
          <a:xfrm>
            <a:off x="1257732" y="3889311"/>
            <a:ext cx="134549" cy="195707"/>
          </a:xfrm>
          <a:prstGeom prst="rect">
            <a:avLst/>
          </a:prstGeom>
        </p:spPr>
      </p:pic>
      <p:sp>
        <p:nvSpPr>
          <p:cNvPr id="26" name="TextBox 25"/>
          <p:cNvSpPr txBox="1"/>
          <p:nvPr/>
        </p:nvSpPr>
        <p:spPr>
          <a:xfrm>
            <a:off x="1432841"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7" name="TextBox 26"/>
          <p:cNvSpPr txBox="1"/>
          <p:nvPr/>
        </p:nvSpPr>
        <p:spPr>
          <a:xfrm>
            <a:off x="276225" y="4127372"/>
            <a:ext cx="6758843" cy="194310"/>
          </a:xfrm>
          <a:prstGeom prst="rect">
            <a:avLst/>
          </a:prstGeom>
          <a:noFill/>
        </p:spPr>
        <p:txBody>
          <a:bodyPr wrap="none" lIns="0" rIns="0" tIns="0" bIns="0">
            <a:spAutoFit/>
          </a:bodyPr>
          <a:lstStyle/>
          <a:p>
            <a:r>
              <a:rPr sz="1150" b="0">
                <a:solidFill>
                  <a:srgbClr val="2E2E2E"/>
                </a:solidFill>
                <a:latin typeface="Calibri"/>
              </a:rPr>
              <a:t>In terms of value share by hair type targeted, the coily hair segment is expected to dominate the market, gaining</a:t>
            </a:r>
          </a:p>
        </p:txBody>
      </p:sp>
      <p:pic>
        <p:nvPicPr>
          <p:cNvPr id="28" name="Picture 27" descr="lock.png"/>
          <p:cNvPicPr>
            <a:picLocks noChangeAspect="1"/>
          </p:cNvPicPr>
          <p:nvPr/>
        </p:nvPicPr>
        <p:blipFill>
          <a:blip r:embed="rId4"/>
          <a:stretch>
            <a:fillRect/>
          </a:stretch>
        </p:blipFill>
        <p:spPr>
          <a:xfrm>
            <a:off x="6984222" y="4117149"/>
            <a:ext cx="134549" cy="195707"/>
          </a:xfrm>
          <a:prstGeom prst="rect">
            <a:avLst/>
          </a:prstGeom>
        </p:spPr>
      </p:pic>
      <p:sp>
        <p:nvSpPr>
          <p:cNvPr id="29" name="TextBox 28"/>
          <p:cNvSpPr txBox="1"/>
          <p:nvPr/>
        </p:nvSpPr>
        <p:spPr>
          <a:xfrm>
            <a:off x="7159331"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0" name="Picture 29" descr="lock.png"/>
          <p:cNvPicPr>
            <a:picLocks noChangeAspect="1"/>
          </p:cNvPicPr>
          <p:nvPr/>
        </p:nvPicPr>
        <p:blipFill>
          <a:blip r:embed="rId4"/>
          <a:stretch>
            <a:fillRect/>
          </a:stretch>
        </p:blipFill>
        <p:spPr>
          <a:xfrm>
            <a:off x="8554474" y="4117149"/>
            <a:ext cx="134549" cy="195707"/>
          </a:xfrm>
          <a:prstGeom prst="rect">
            <a:avLst/>
          </a:prstGeom>
        </p:spPr>
      </p:pic>
      <p:sp>
        <p:nvSpPr>
          <p:cNvPr id="31" name="TextBox 30"/>
          <p:cNvSpPr txBox="1"/>
          <p:nvPr/>
        </p:nvSpPr>
        <p:spPr>
          <a:xfrm>
            <a:off x="8729583" y="4127372"/>
            <a:ext cx="2623517" cy="194310"/>
          </a:xfrm>
          <a:prstGeom prst="rect">
            <a:avLst/>
          </a:prstGeom>
          <a:noFill/>
        </p:spPr>
        <p:txBody>
          <a:bodyPr wrap="none" lIns="0" rIns="0" tIns="0" bIns="0">
            <a:spAutoFit/>
          </a:bodyPr>
          <a:lstStyle/>
          <a:p>
            <a:r>
              <a:rPr sz="1150" b="0">
                <a:solidFill>
                  <a:srgbClr val="2E2E2E"/>
                </a:solidFill>
                <a:latin typeface="Calibri"/>
              </a:rPr>
              <a:t>share by 2036. The straight hair segment is</a:t>
            </a:r>
          </a:p>
        </p:txBody>
      </p:sp>
      <p:sp>
        <p:nvSpPr>
          <p:cNvPr id="32" name="TextBox 31"/>
          <p:cNvSpPr txBox="1"/>
          <p:nvPr/>
        </p:nvSpPr>
        <p:spPr>
          <a:xfrm>
            <a:off x="276225" y="4302632"/>
            <a:ext cx="1054906" cy="194310"/>
          </a:xfrm>
          <a:prstGeom prst="rect">
            <a:avLst/>
          </a:prstGeom>
          <a:noFill/>
        </p:spPr>
        <p:txBody>
          <a:bodyPr wrap="none" lIns="0" rIns="0" tIns="0" bIns="0">
            <a:spAutoFit/>
          </a:bodyPr>
          <a:lstStyle/>
          <a:p>
            <a:r>
              <a:rPr sz="1150" b="0">
                <a:solidFill>
                  <a:srgbClr val="2E2E2E"/>
                </a:solidFill>
                <a:latin typeface="Calibri"/>
              </a:rPr>
              <a:t>expected to lose</a:t>
            </a:r>
          </a:p>
        </p:txBody>
      </p:sp>
      <p:pic>
        <p:nvPicPr>
          <p:cNvPr id="33" name="Picture 32" descr="lock.png"/>
          <p:cNvPicPr>
            <a:picLocks noChangeAspect="1"/>
          </p:cNvPicPr>
          <p:nvPr/>
        </p:nvPicPr>
        <p:blipFill>
          <a:blip r:embed="rId4"/>
          <a:stretch>
            <a:fillRect/>
          </a:stretch>
        </p:blipFill>
        <p:spPr>
          <a:xfrm>
            <a:off x="1280285" y="4292409"/>
            <a:ext cx="134549" cy="195707"/>
          </a:xfrm>
          <a:prstGeom prst="rect">
            <a:avLst/>
          </a:prstGeom>
        </p:spPr>
      </p:pic>
      <p:sp>
        <p:nvSpPr>
          <p:cNvPr id="34" name="TextBox 33"/>
          <p:cNvSpPr txBox="1"/>
          <p:nvPr/>
        </p:nvSpPr>
        <p:spPr>
          <a:xfrm>
            <a:off x="1455394"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5" name="Picture 34" descr="lock.png"/>
          <p:cNvPicPr>
            <a:picLocks noChangeAspect="1"/>
          </p:cNvPicPr>
          <p:nvPr/>
        </p:nvPicPr>
        <p:blipFill>
          <a:blip r:embed="rId4"/>
          <a:stretch>
            <a:fillRect/>
          </a:stretch>
        </p:blipFill>
        <p:spPr>
          <a:xfrm>
            <a:off x="4042898" y="4292409"/>
            <a:ext cx="134549" cy="195707"/>
          </a:xfrm>
          <a:prstGeom prst="rect">
            <a:avLst/>
          </a:prstGeom>
        </p:spPr>
      </p:pic>
      <p:sp>
        <p:nvSpPr>
          <p:cNvPr id="36" name="TextBox 35"/>
          <p:cNvSpPr txBox="1"/>
          <p:nvPr/>
        </p:nvSpPr>
        <p:spPr>
          <a:xfrm>
            <a:off x="4218008"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Hair Type Targeted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Hair Type Targeted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Hair Type Targeted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089745"/>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08498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0087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Straight Hair</a:t>
            </a:r>
          </a:p>
        </p:txBody>
      </p:sp>
      <p:sp>
        <p:nvSpPr>
          <p:cNvPr id="19" name="BPS Value 1"/>
          <p:cNvSpPr txBox="1"/>
          <p:nvPr/>
        </p:nvSpPr>
        <p:spPr>
          <a:xfrm>
            <a:off x="6896100" y="207069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2950572"/>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94580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286960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Curly Hair</a:t>
            </a:r>
          </a:p>
        </p:txBody>
      </p:sp>
      <p:sp>
        <p:nvSpPr>
          <p:cNvPr id="23" name="BPS Value 2"/>
          <p:cNvSpPr txBox="1"/>
          <p:nvPr/>
        </p:nvSpPr>
        <p:spPr>
          <a:xfrm>
            <a:off x="6896100" y="293152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FMI Legend Chip"/>
          <p:cNvSpPr/>
          <p:nvPr/>
        </p:nvSpPr>
        <p:spPr>
          <a:xfrm>
            <a:off x="4928997" y="3835395"/>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83063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37544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Wavy Hair</a:t>
            </a:r>
          </a:p>
        </p:txBody>
      </p:sp>
      <p:sp>
        <p:nvSpPr>
          <p:cNvPr id="27" name="BPS Value 3"/>
          <p:cNvSpPr txBox="1"/>
          <p:nvPr/>
        </p:nvSpPr>
        <p:spPr>
          <a:xfrm>
            <a:off x="6896100" y="38163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FMI Legend Chip"/>
          <p:cNvSpPr/>
          <p:nvPr/>
        </p:nvSpPr>
        <p:spPr>
          <a:xfrm>
            <a:off x="4928997" y="474025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7354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46592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All Hair Types</a:t>
            </a:r>
          </a:p>
        </p:txBody>
      </p:sp>
      <p:sp>
        <p:nvSpPr>
          <p:cNvPr id="31" name="BPS Value 4"/>
          <p:cNvSpPr txBox="1"/>
          <p:nvPr/>
        </p:nvSpPr>
        <p:spPr>
          <a:xfrm>
            <a:off x="6896100" y="472120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FMI Legend Chip"/>
          <p:cNvSpPr/>
          <p:nvPr/>
        </p:nvSpPr>
        <p:spPr>
          <a:xfrm>
            <a:off x="4928997" y="572313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71836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5"/>
          <p:cNvSpPr txBox="1"/>
          <p:nvPr/>
        </p:nvSpPr>
        <p:spPr>
          <a:xfrm>
            <a:off x="5233797" y="564216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Coily Hair</a:t>
            </a:r>
          </a:p>
        </p:txBody>
      </p:sp>
      <p:sp>
        <p:nvSpPr>
          <p:cNvPr id="35" name="BPS Value 5"/>
          <p:cNvSpPr txBox="1"/>
          <p:nvPr/>
        </p:nvSpPr>
        <p:spPr>
          <a:xfrm>
            <a:off x="6896100" y="570408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Hair Type Targeted</a:t>
            </a:r>
          </a:p>
        </p:txBody>
      </p:sp>
      <p:sp>
        <p:nvSpPr>
          <p:cNvPr id="38" name="Rectangle 37"/>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TextBox 3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1" name="Picture 40" descr="lock.png"/>
          <p:cNvPicPr>
            <a:picLocks noChangeAspect="1"/>
          </p:cNvPicPr>
          <p:nvPr/>
        </p:nvPicPr>
        <p:blipFill>
          <a:blip r:embed="rId5"/>
          <a:stretch>
            <a:fillRect/>
          </a:stretch>
        </p:blipFill>
        <p:spPr>
          <a:xfrm>
            <a:off x="2557843" y="3833622"/>
            <a:ext cx="275034" cy="400050"/>
          </a:xfrm>
          <a:prstGeom prst="rect">
            <a:avLst/>
          </a:prstGeom>
        </p:spPr>
      </p:pic>
      <p:sp>
        <p:nvSpPr>
          <p:cNvPr id="42" name="TextBox 41"/>
          <p:cNvSpPr txBox="1"/>
          <p:nvPr/>
        </p:nvSpPr>
        <p:spPr>
          <a:xfrm>
            <a:off x="7829550" y="1400175"/>
            <a:ext cx="3629607" cy="194310"/>
          </a:xfrm>
          <a:prstGeom prst="rect">
            <a:avLst/>
          </a:prstGeom>
          <a:noFill/>
        </p:spPr>
        <p:txBody>
          <a:bodyPr wrap="none" lIns="0" rIns="0" tIns="0" bIns="0">
            <a:spAutoFit/>
          </a:bodyPr>
          <a:lstStyle/>
          <a:p>
            <a:r>
              <a:rPr sz="1150" b="0">
                <a:solidFill>
                  <a:srgbClr val="2E2E2E"/>
                </a:solidFill>
                <a:latin typeface="Calibri"/>
              </a:rPr>
              <a:t>Among hair styling products by hair type targeted, coily hair</a:t>
            </a:r>
          </a:p>
        </p:txBody>
      </p:sp>
      <p:sp>
        <p:nvSpPr>
          <p:cNvPr id="43" name="TextBox 42"/>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44" name="Picture 43" descr="lock.png"/>
          <p:cNvPicPr>
            <a:picLocks noChangeAspect="1"/>
          </p:cNvPicPr>
          <p:nvPr/>
        </p:nvPicPr>
        <p:blipFill>
          <a:blip r:embed="rId5"/>
          <a:stretch>
            <a:fillRect/>
          </a:stretch>
        </p:blipFill>
        <p:spPr>
          <a:xfrm>
            <a:off x="10935343" y="1565211"/>
            <a:ext cx="134549" cy="195707"/>
          </a:xfrm>
          <a:prstGeom prst="rect">
            <a:avLst/>
          </a:prstGeom>
        </p:spPr>
      </p:pic>
      <p:sp>
        <p:nvSpPr>
          <p:cNvPr id="45" name="TextBox 44"/>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6" name="TextBox 45"/>
          <p:cNvSpPr txBox="1"/>
          <p:nvPr/>
        </p:nvSpPr>
        <p:spPr>
          <a:xfrm>
            <a:off x="7829550" y="1750695"/>
            <a:ext cx="3960217" cy="194310"/>
          </a:xfrm>
          <a:prstGeom prst="rect">
            <a:avLst/>
          </a:prstGeom>
          <a:noFill/>
        </p:spPr>
        <p:txBody>
          <a:bodyPr wrap="none" lIns="0" rIns="0" tIns="0" bIns="0">
            <a:spAutoFit/>
          </a:bodyPr>
          <a:lstStyle/>
          <a:p>
            <a:r>
              <a:rPr sz="1150" b="0">
                <a:solidFill>
                  <a:srgbClr val="2E2E2E"/>
                </a:solidFill>
                <a:latin typeface="Calibri"/>
              </a:rPr>
              <a:t>forecast period. In terms of value share by hair type targeted, the</a:t>
            </a:r>
          </a:p>
        </p:txBody>
      </p:sp>
      <p:sp>
        <p:nvSpPr>
          <p:cNvPr id="47" name="TextBox 46"/>
          <p:cNvSpPr txBox="1"/>
          <p:nvPr/>
        </p:nvSpPr>
        <p:spPr>
          <a:xfrm>
            <a:off x="7829550" y="1925955"/>
            <a:ext cx="3815878" cy="194310"/>
          </a:xfrm>
          <a:prstGeom prst="rect">
            <a:avLst/>
          </a:prstGeom>
          <a:noFill/>
        </p:spPr>
        <p:txBody>
          <a:bodyPr wrap="none" lIns="0" rIns="0" tIns="0" bIns="0">
            <a:spAutoFit/>
          </a:bodyPr>
          <a:lstStyle/>
          <a:p>
            <a:r>
              <a:rPr sz="1150" b="0">
                <a:solidFill>
                  <a:srgbClr val="2E2E2E"/>
                </a:solidFill>
                <a:latin typeface="Calibri"/>
              </a:rPr>
              <a:t>coily hair segment is expected to dominate the market, gaining</a:t>
            </a:r>
          </a:p>
        </p:txBody>
      </p:sp>
      <p:pic>
        <p:nvPicPr>
          <p:cNvPr id="48" name="Picture 47" descr="lock.png"/>
          <p:cNvPicPr>
            <a:picLocks noChangeAspect="1"/>
          </p:cNvPicPr>
          <p:nvPr/>
        </p:nvPicPr>
        <p:blipFill>
          <a:blip r:embed="rId5"/>
          <a:stretch>
            <a:fillRect/>
          </a:stretch>
        </p:blipFill>
        <p:spPr>
          <a:xfrm>
            <a:off x="11594582" y="1915731"/>
            <a:ext cx="134549" cy="195707"/>
          </a:xfrm>
          <a:prstGeom prst="rect">
            <a:avLst/>
          </a:prstGeom>
        </p:spPr>
      </p:pic>
      <p:sp>
        <p:nvSpPr>
          <p:cNvPr id="49" name="TextBox 48"/>
          <p:cNvSpPr txBox="1"/>
          <p:nvPr/>
        </p:nvSpPr>
        <p:spPr>
          <a:xfrm>
            <a:off x="7829550"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0" name="Picture 49" descr="lock.png"/>
          <p:cNvPicPr>
            <a:picLocks noChangeAspect="1"/>
          </p:cNvPicPr>
          <p:nvPr/>
        </p:nvPicPr>
        <p:blipFill>
          <a:blip r:embed="rId5"/>
          <a:stretch>
            <a:fillRect/>
          </a:stretch>
        </p:blipFill>
        <p:spPr>
          <a:xfrm>
            <a:off x="9224693" y="2090991"/>
            <a:ext cx="134549" cy="195707"/>
          </a:xfrm>
          <a:prstGeom prst="rect">
            <a:avLst/>
          </a:prstGeom>
        </p:spPr>
      </p:pic>
      <p:sp>
        <p:nvSpPr>
          <p:cNvPr id="51" name="TextBox 50"/>
          <p:cNvSpPr txBox="1"/>
          <p:nvPr/>
        </p:nvSpPr>
        <p:spPr>
          <a:xfrm>
            <a:off x="9399802"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TextBox 51"/>
          <p:cNvSpPr txBox="1"/>
          <p:nvPr/>
        </p:nvSpPr>
        <p:spPr>
          <a:xfrm>
            <a:off x="7829550" y="2329053"/>
            <a:ext cx="2732199" cy="194310"/>
          </a:xfrm>
          <a:prstGeom prst="rect">
            <a:avLst/>
          </a:prstGeom>
          <a:noFill/>
        </p:spPr>
        <p:txBody>
          <a:bodyPr wrap="none" lIns="0" rIns="0" tIns="0" bIns="0">
            <a:spAutoFit/>
          </a:bodyPr>
          <a:lstStyle/>
          <a:p>
            <a:r>
              <a:rPr sz="1150" b="0">
                <a:solidFill>
                  <a:srgbClr val="2E2E2E"/>
                </a:solidFill>
                <a:latin typeface="Calibri"/>
              </a:rPr>
              <a:t>The straight hair segment is expected to lose</a:t>
            </a:r>
          </a:p>
        </p:txBody>
      </p:sp>
      <p:pic>
        <p:nvPicPr>
          <p:cNvPr id="53" name="Picture 52" descr="lock.png"/>
          <p:cNvPicPr>
            <a:picLocks noChangeAspect="1"/>
          </p:cNvPicPr>
          <p:nvPr/>
        </p:nvPicPr>
        <p:blipFill>
          <a:blip r:embed="rId5"/>
          <a:stretch>
            <a:fillRect/>
          </a:stretch>
        </p:blipFill>
        <p:spPr>
          <a:xfrm>
            <a:off x="10510903" y="2318829"/>
            <a:ext cx="134549" cy="195707"/>
          </a:xfrm>
          <a:prstGeom prst="rect">
            <a:avLst/>
          </a:prstGeom>
        </p:spPr>
      </p:pic>
      <p:sp>
        <p:nvSpPr>
          <p:cNvPr id="54" name="TextBox 53"/>
          <p:cNvSpPr txBox="1"/>
          <p:nvPr/>
        </p:nvSpPr>
        <p:spPr>
          <a:xfrm>
            <a:off x="10686012" y="232905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5" name="TextBox 54"/>
          <p:cNvSpPr txBox="1"/>
          <p:nvPr/>
        </p:nvSpPr>
        <p:spPr>
          <a:xfrm>
            <a:off x="7829550" y="250431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6" name="Picture 55" descr="lock.png"/>
          <p:cNvPicPr>
            <a:picLocks noChangeAspect="1"/>
          </p:cNvPicPr>
          <p:nvPr/>
        </p:nvPicPr>
        <p:blipFill>
          <a:blip r:embed="rId5"/>
          <a:stretch>
            <a:fillRect/>
          </a:stretch>
        </p:blipFill>
        <p:spPr>
          <a:xfrm>
            <a:off x="9630324" y="2494089"/>
            <a:ext cx="134549" cy="195707"/>
          </a:xfrm>
          <a:prstGeom prst="rect">
            <a:avLst/>
          </a:prstGeom>
        </p:spPr>
      </p:pic>
      <p:sp>
        <p:nvSpPr>
          <p:cNvPr id="57" name="TextBox 56"/>
          <p:cNvSpPr txBox="1"/>
          <p:nvPr/>
        </p:nvSpPr>
        <p:spPr>
          <a:xfrm>
            <a:off x="9805433"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8"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Ingredient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Ingredient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Ingredient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Ingredient Technology,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TextBox 10"/>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Ingredient Technology segment categorizes the market by ingredient technology. Each sub-category is evaluated on market size, growth outlook and adoption trends across the forecast period.</a:t>
            </a:r>
          </a:p>
        </p:txBody>
      </p:sp>
      <p:sp>
        <p:nvSpPr>
          <p:cNvPr id="12" name="Rectangle 11"/>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4" name="Rectangle 13"/>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6" name="Rectangle 15"/>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8" name="Rectangle 17"/>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20" name="Rounded Rectangle 19"/>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Film-forming and Fixative Polymers</a:t>
            </a:r>
          </a:p>
        </p:txBody>
      </p:sp>
      <p:sp>
        <p:nvSpPr>
          <p:cNvPr id="23" name="Rectangle 22"/>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Rectangle 24"/>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6" name="Oval 25"/>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7" name="Rounded Rectangle 26"/>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Texture and Volume Additives</a:t>
            </a:r>
          </a:p>
        </p:txBody>
      </p:sp>
      <p:sp>
        <p:nvSpPr>
          <p:cNvPr id="30" name="Rectangle 29"/>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Rectangle 31"/>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3" name="Oval 32"/>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4" name="Rounded Rectangle 33"/>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Conditioning and Smoothing Agents</a:t>
            </a:r>
          </a:p>
        </p:txBody>
      </p:sp>
      <p:sp>
        <p:nvSpPr>
          <p:cNvPr id="37" name="Rectangle 36"/>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Rectangle 38"/>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40" name="Oval 39"/>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1" name="Rounded Rectangle 40"/>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Waxes and Structuring Agents</a:t>
            </a:r>
          </a:p>
        </p:txBody>
      </p:sp>
      <p:sp>
        <p:nvSpPr>
          <p:cNvPr id="44" name="Rectangle 43"/>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Rectangle 45"/>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7" name="Oval 46"/>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8" name="Rounded Rectangle 4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0" name="Rectangle 49"/>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2" name="Rounded Rectangle 5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4" name="Rectangle 53"/>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6" name="Rounded Rectangle 5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8" name="Rectangle 57"/>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Ingredient Technology split shows how demand is distributed across ingredient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60" name="Rectangle 5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2" name="TextBox 6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4" name="Picture 63" descr="1_302_605E5C.png"/>
          <p:cNvPicPr>
            <a:picLocks noChangeAspect="1"/>
          </p:cNvPicPr>
          <p:nvPr/>
        </p:nvPicPr>
        <p:blipFill>
          <a:blip r:embed="rId4"/>
          <a:stretch>
            <a:fillRect/>
          </a:stretch>
        </p:blipFill>
        <p:spPr>
          <a:xfrm>
            <a:off x="2476330" y="2286582"/>
            <a:ext cx="1195728" cy="361950"/>
          </a:xfrm>
          <a:prstGeom prst="rect">
            <a:avLst/>
          </a:prstGeom>
        </p:spPr>
      </p:pic>
      <p:pic>
        <p:nvPicPr>
          <p:cNvPr id="65" name="Picture 64" descr="2_151_605E5C.png"/>
          <p:cNvPicPr>
            <a:picLocks noChangeAspect="1"/>
          </p:cNvPicPr>
          <p:nvPr/>
        </p:nvPicPr>
        <p:blipFill>
          <a:blip r:embed="rId5"/>
          <a:stretch>
            <a:fillRect/>
          </a:stretch>
        </p:blipFill>
        <p:spPr>
          <a:xfrm>
            <a:off x="2476330" y="2779432"/>
            <a:ext cx="1195728" cy="361950"/>
          </a:xfrm>
          <a:prstGeom prst="rect">
            <a:avLst/>
          </a:prstGeom>
        </p:spPr>
      </p:pic>
      <p:pic>
        <p:nvPicPr>
          <p:cNvPr id="66" name="Picture 65" descr="5_2__605E5C.png"/>
          <p:cNvPicPr>
            <a:picLocks noChangeAspect="1"/>
          </p:cNvPicPr>
          <p:nvPr/>
        </p:nvPicPr>
        <p:blipFill>
          <a:blip r:embed="rId6"/>
          <a:stretch>
            <a:fillRect/>
          </a:stretch>
        </p:blipFill>
        <p:spPr>
          <a:xfrm>
            <a:off x="2582976" y="3272281"/>
            <a:ext cx="982436" cy="361950"/>
          </a:xfrm>
          <a:prstGeom prst="rect">
            <a:avLst/>
          </a:prstGeom>
        </p:spPr>
      </p:pic>
      <p:pic>
        <p:nvPicPr>
          <p:cNvPr id="67" name="Picture 66" descr="1_261_605E5C.png"/>
          <p:cNvPicPr>
            <a:picLocks noChangeAspect="1"/>
          </p:cNvPicPr>
          <p:nvPr/>
        </p:nvPicPr>
        <p:blipFill>
          <a:blip r:embed="rId7"/>
          <a:stretch>
            <a:fillRect/>
          </a:stretch>
        </p:blipFill>
        <p:spPr>
          <a:xfrm>
            <a:off x="5005218" y="2286582"/>
            <a:ext cx="1195728" cy="361950"/>
          </a:xfrm>
          <a:prstGeom prst="rect">
            <a:avLst/>
          </a:prstGeom>
        </p:spPr>
      </p:pic>
      <p:pic>
        <p:nvPicPr>
          <p:cNvPr id="68" name="Picture 67" descr="2_346_605E5C.png"/>
          <p:cNvPicPr>
            <a:picLocks noChangeAspect="1"/>
          </p:cNvPicPr>
          <p:nvPr/>
        </p:nvPicPr>
        <p:blipFill>
          <a:blip r:embed="rId8"/>
          <a:stretch>
            <a:fillRect/>
          </a:stretch>
        </p:blipFill>
        <p:spPr>
          <a:xfrm>
            <a:off x="5005218" y="2779432"/>
            <a:ext cx="1195728" cy="361950"/>
          </a:xfrm>
          <a:prstGeom prst="rect">
            <a:avLst/>
          </a:prstGeom>
        </p:spPr>
      </p:pic>
      <p:pic>
        <p:nvPicPr>
          <p:cNvPr id="69" name="Picture 68" descr="6_4__605E5C.png"/>
          <p:cNvPicPr>
            <a:picLocks noChangeAspect="1"/>
          </p:cNvPicPr>
          <p:nvPr/>
        </p:nvPicPr>
        <p:blipFill>
          <a:blip r:embed="rId9"/>
          <a:stretch>
            <a:fillRect/>
          </a:stretch>
        </p:blipFill>
        <p:spPr>
          <a:xfrm>
            <a:off x="5111864" y="3272281"/>
            <a:ext cx="982436" cy="361950"/>
          </a:xfrm>
          <a:prstGeom prst="rect">
            <a:avLst/>
          </a:prstGeom>
        </p:spPr>
      </p:pic>
      <p:pic>
        <p:nvPicPr>
          <p:cNvPr id="70" name="Picture 69" descr="1_253_605E5C.png"/>
          <p:cNvPicPr>
            <a:picLocks noChangeAspect="1"/>
          </p:cNvPicPr>
          <p:nvPr/>
        </p:nvPicPr>
        <p:blipFill>
          <a:blip r:embed="rId10"/>
          <a:stretch>
            <a:fillRect/>
          </a:stretch>
        </p:blipFill>
        <p:spPr>
          <a:xfrm>
            <a:off x="7534105" y="2286582"/>
            <a:ext cx="1195728" cy="361950"/>
          </a:xfrm>
          <a:prstGeom prst="rect">
            <a:avLst/>
          </a:prstGeom>
        </p:spPr>
      </p:pic>
      <p:pic>
        <p:nvPicPr>
          <p:cNvPr id="71" name="Picture 70" descr="2_230_605E5C.png"/>
          <p:cNvPicPr>
            <a:picLocks noChangeAspect="1"/>
          </p:cNvPicPr>
          <p:nvPr/>
        </p:nvPicPr>
        <p:blipFill>
          <a:blip r:embed="rId11"/>
          <a:stretch>
            <a:fillRect/>
          </a:stretch>
        </p:blipFill>
        <p:spPr>
          <a:xfrm>
            <a:off x="7534105" y="2779432"/>
            <a:ext cx="1195728" cy="361950"/>
          </a:xfrm>
          <a:prstGeom prst="rect">
            <a:avLst/>
          </a:prstGeom>
        </p:spPr>
      </p:pic>
      <p:pic>
        <p:nvPicPr>
          <p:cNvPr id="72" name="Picture 71" descr="5_9__605E5C.png"/>
          <p:cNvPicPr>
            <a:picLocks noChangeAspect="1"/>
          </p:cNvPicPr>
          <p:nvPr/>
        </p:nvPicPr>
        <p:blipFill>
          <a:blip r:embed="rId12"/>
          <a:stretch>
            <a:fillRect/>
          </a:stretch>
        </p:blipFill>
        <p:spPr>
          <a:xfrm>
            <a:off x="7640751" y="3272281"/>
            <a:ext cx="982436" cy="361950"/>
          </a:xfrm>
          <a:prstGeom prst="rect">
            <a:avLst/>
          </a:prstGeom>
        </p:spPr>
      </p:pic>
      <p:pic>
        <p:nvPicPr>
          <p:cNvPr id="73" name="Picture 72" descr="1_203_605E5C.png"/>
          <p:cNvPicPr>
            <a:picLocks noChangeAspect="1"/>
          </p:cNvPicPr>
          <p:nvPr/>
        </p:nvPicPr>
        <p:blipFill>
          <a:blip r:embed="rId13"/>
          <a:stretch>
            <a:fillRect/>
          </a:stretch>
        </p:blipFill>
        <p:spPr>
          <a:xfrm>
            <a:off x="10062992" y="2286582"/>
            <a:ext cx="1195728" cy="361950"/>
          </a:xfrm>
          <a:prstGeom prst="rect">
            <a:avLst/>
          </a:prstGeom>
        </p:spPr>
      </p:pic>
      <p:pic>
        <p:nvPicPr>
          <p:cNvPr id="74" name="Picture 73" descr="2_312_605E5C.png"/>
          <p:cNvPicPr>
            <a:picLocks noChangeAspect="1"/>
          </p:cNvPicPr>
          <p:nvPr/>
        </p:nvPicPr>
        <p:blipFill>
          <a:blip r:embed="rId14"/>
          <a:stretch>
            <a:fillRect/>
          </a:stretch>
        </p:blipFill>
        <p:spPr>
          <a:xfrm>
            <a:off x="10062992" y="2779432"/>
            <a:ext cx="1195728" cy="361950"/>
          </a:xfrm>
          <a:prstGeom prst="rect">
            <a:avLst/>
          </a:prstGeom>
        </p:spPr>
      </p:pic>
      <p:pic>
        <p:nvPicPr>
          <p:cNvPr id="75" name="Picture 74" descr="6_7__605E5C.png"/>
          <p:cNvPicPr>
            <a:picLocks noChangeAspect="1"/>
          </p:cNvPicPr>
          <p:nvPr/>
        </p:nvPicPr>
        <p:blipFill>
          <a:blip r:embed="rId15"/>
          <a:stretch>
            <a:fillRect/>
          </a:stretch>
        </p:blipFill>
        <p:spPr>
          <a:xfrm>
            <a:off x="10169638" y="3272281"/>
            <a:ext cx="982436" cy="361950"/>
          </a:xfrm>
          <a:prstGeom prst="rect">
            <a:avLst/>
          </a:prstGeom>
        </p:spPr>
      </p:pic>
      <p:pic>
        <p:nvPicPr>
          <p:cNvPr id="76" name="Picture 75" descr="lock.png"/>
          <p:cNvPicPr>
            <a:picLocks noChangeAspect="1"/>
          </p:cNvPicPr>
          <p:nvPr/>
        </p:nvPicPr>
        <p:blipFill>
          <a:blip r:embed="rId16"/>
          <a:stretch>
            <a:fillRect/>
          </a:stretch>
        </p:blipFill>
        <p:spPr>
          <a:xfrm>
            <a:off x="2980848"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5509737"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8038624" y="2827057"/>
            <a:ext cx="183356" cy="266700"/>
          </a:xfrm>
          <a:prstGeom prst="rect">
            <a:avLst/>
          </a:prstGeom>
        </p:spPr>
      </p:pic>
      <p:pic>
        <p:nvPicPr>
          <p:cNvPr id="79" name="Picture 78" descr="lock.png"/>
          <p:cNvPicPr>
            <a:picLocks noChangeAspect="1"/>
          </p:cNvPicPr>
          <p:nvPr/>
        </p:nvPicPr>
        <p:blipFill>
          <a:blip r:embed="rId16"/>
          <a:stretch>
            <a:fillRect/>
          </a:stretch>
        </p:blipFill>
        <p:spPr>
          <a:xfrm>
            <a:off x="10567511" y="2827057"/>
            <a:ext cx="183356" cy="266700"/>
          </a:xfrm>
          <a:prstGeom prst="rect">
            <a:avLst/>
          </a:prstGeom>
        </p:spPr>
      </p:pic>
      <p:sp>
        <p:nvSpPr>
          <p:cNvPr id="80" name="TextBox 79"/>
          <p:cNvSpPr txBox="1"/>
          <p:nvPr/>
        </p:nvSpPr>
        <p:spPr>
          <a:xfrm>
            <a:off x="485775" y="4229437"/>
            <a:ext cx="2454647" cy="186689"/>
          </a:xfrm>
          <a:prstGeom prst="rect">
            <a:avLst/>
          </a:prstGeom>
          <a:noFill/>
        </p:spPr>
        <p:txBody>
          <a:bodyPr wrap="none" lIns="0" rIns="0" tIns="0" bIns="0">
            <a:spAutoFit/>
          </a:bodyPr>
          <a:lstStyle/>
          <a:p>
            <a:r>
              <a:rPr sz="1100" b="0">
                <a:solidFill>
                  <a:srgbClr val="2E2E2E"/>
                </a:solidFill>
                <a:latin typeface="Calibri"/>
              </a:rPr>
              <a:t>Among hair styling products by ingredient</a:t>
            </a:r>
          </a:p>
        </p:txBody>
      </p:sp>
      <p:sp>
        <p:nvSpPr>
          <p:cNvPr id="81" name="TextBox 80"/>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technology, waxes and structuring agents segment</a:t>
            </a:r>
          </a:p>
        </p:txBody>
      </p:sp>
      <p:sp>
        <p:nvSpPr>
          <p:cNvPr id="82" name="TextBox 81"/>
          <p:cNvSpPr txBox="1"/>
          <p:nvPr/>
        </p:nvSpPr>
        <p:spPr>
          <a:xfrm>
            <a:off x="485775" y="4564717"/>
            <a:ext cx="2499650" cy="186689"/>
          </a:xfrm>
          <a:prstGeom prst="rect">
            <a:avLst/>
          </a:prstGeom>
          <a:noFill/>
        </p:spPr>
        <p:txBody>
          <a:bodyPr wrap="none" lIns="0" rIns="0" tIns="0" bIns="0">
            <a:spAutoFit/>
          </a:bodyPr>
          <a:lstStyle/>
          <a:p>
            <a:r>
              <a:rPr sz="1100" b="0">
                <a:solidFill>
                  <a:srgbClr val="2E2E2E"/>
                </a:solidFill>
                <a:latin typeface="Calibri"/>
              </a:rPr>
              <a:t>is expected to witness the highest CAGR of</a:t>
            </a:r>
          </a:p>
        </p:txBody>
      </p:sp>
      <p:pic>
        <p:nvPicPr>
          <p:cNvPr id="83" name="Picture 82" descr="lock.png"/>
          <p:cNvPicPr>
            <a:picLocks noChangeAspect="1"/>
          </p:cNvPicPr>
          <p:nvPr/>
        </p:nvPicPr>
        <p:blipFill>
          <a:blip r:embed="rId16"/>
          <a:stretch>
            <a:fillRect/>
          </a:stretch>
        </p:blipFill>
        <p:spPr>
          <a:xfrm>
            <a:off x="2933477" y="4554938"/>
            <a:ext cx="128699" cy="187198"/>
          </a:xfrm>
          <a:prstGeom prst="rect">
            <a:avLst/>
          </a:prstGeom>
        </p:spPr>
      </p:pic>
      <p:sp>
        <p:nvSpPr>
          <p:cNvPr id="84" name="TextBox 83"/>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over the forecast period. In terms of value share by</a:t>
            </a:r>
          </a:p>
        </p:txBody>
      </p:sp>
      <p:sp>
        <p:nvSpPr>
          <p:cNvPr id="85" name="TextBox 84"/>
          <p:cNvSpPr txBox="1"/>
          <p:nvPr/>
        </p:nvSpPr>
        <p:spPr>
          <a:xfrm>
            <a:off x="485775" y="4899997"/>
            <a:ext cx="2728590" cy="186689"/>
          </a:xfrm>
          <a:prstGeom prst="rect">
            <a:avLst/>
          </a:prstGeom>
          <a:noFill/>
        </p:spPr>
        <p:txBody>
          <a:bodyPr wrap="none" lIns="0" rIns="0" tIns="0" bIns="0">
            <a:spAutoFit/>
          </a:bodyPr>
          <a:lstStyle/>
          <a:p>
            <a:r>
              <a:rPr sz="1100" b="0">
                <a:solidFill>
                  <a:srgbClr val="2E2E2E"/>
                </a:solidFill>
                <a:latin typeface="Calibri"/>
              </a:rPr>
              <a:t>ingredient technology, the texture and volume</a:t>
            </a:r>
          </a:p>
        </p:txBody>
      </p:sp>
      <p:sp>
        <p:nvSpPr>
          <p:cNvPr id="86" name="TextBox 85"/>
          <p:cNvSpPr txBox="1"/>
          <p:nvPr/>
        </p:nvSpPr>
        <p:spPr>
          <a:xfrm>
            <a:off x="485775" y="5067637"/>
            <a:ext cx="2736775" cy="186689"/>
          </a:xfrm>
          <a:prstGeom prst="rect">
            <a:avLst/>
          </a:prstGeom>
          <a:noFill/>
        </p:spPr>
        <p:txBody>
          <a:bodyPr wrap="none" lIns="0" rIns="0" tIns="0" bIns="0">
            <a:spAutoFit/>
          </a:bodyPr>
          <a:lstStyle/>
          <a:p>
            <a:r>
              <a:rPr sz="1100" b="0">
                <a:solidFill>
                  <a:srgbClr val="2E2E2E"/>
                </a:solidFill>
                <a:latin typeface="Calibri"/>
              </a:rPr>
              <a:t>additives segment is expected to dominate the</a:t>
            </a:r>
          </a:p>
        </p:txBody>
      </p:sp>
      <p:sp>
        <p:nvSpPr>
          <p:cNvPr id="87" name="TextBox 86"/>
          <p:cNvSpPr txBox="1"/>
          <p:nvPr/>
        </p:nvSpPr>
        <p:spPr>
          <a:xfrm>
            <a:off x="485775" y="5235277"/>
            <a:ext cx="959693" cy="186689"/>
          </a:xfrm>
          <a:prstGeom prst="rect">
            <a:avLst/>
          </a:prstGeom>
          <a:noFill/>
        </p:spPr>
        <p:txBody>
          <a:bodyPr wrap="none" lIns="0" rIns="0" tIns="0" bIns="0">
            <a:spAutoFit/>
          </a:bodyPr>
          <a:lstStyle/>
          <a:p>
            <a:r>
              <a:rPr sz="1100" b="0">
                <a:solidFill>
                  <a:srgbClr val="2E2E2E"/>
                </a:solidFill>
                <a:latin typeface="Calibri"/>
              </a:rPr>
              <a:t>market, gaining</a:t>
            </a:r>
          </a:p>
        </p:txBody>
      </p:sp>
      <p:pic>
        <p:nvPicPr>
          <p:cNvPr id="88" name="Picture 87" descr="lock.png"/>
          <p:cNvPicPr>
            <a:picLocks noChangeAspect="1"/>
          </p:cNvPicPr>
          <p:nvPr/>
        </p:nvPicPr>
        <p:blipFill>
          <a:blip r:embed="rId16"/>
          <a:stretch>
            <a:fillRect/>
          </a:stretch>
        </p:blipFill>
        <p:spPr>
          <a:xfrm>
            <a:off x="1393519" y="5225498"/>
            <a:ext cx="128699" cy="187198"/>
          </a:xfrm>
          <a:prstGeom prst="rect">
            <a:avLst/>
          </a:prstGeom>
        </p:spPr>
      </p:pic>
      <p:sp>
        <p:nvSpPr>
          <p:cNvPr id="89" name="TextBox 88"/>
          <p:cNvSpPr txBox="1"/>
          <p:nvPr/>
        </p:nvSpPr>
        <p:spPr>
          <a:xfrm>
            <a:off x="1561015"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90" name="Picture 89" descr="lock.png"/>
          <p:cNvPicPr>
            <a:picLocks noChangeAspect="1"/>
          </p:cNvPicPr>
          <p:nvPr/>
        </p:nvPicPr>
        <p:blipFill>
          <a:blip r:embed="rId16"/>
          <a:stretch>
            <a:fillRect/>
          </a:stretch>
        </p:blipFill>
        <p:spPr>
          <a:xfrm>
            <a:off x="2895500" y="5225498"/>
            <a:ext cx="128699" cy="187198"/>
          </a:xfrm>
          <a:prstGeom prst="rect">
            <a:avLst/>
          </a:prstGeom>
        </p:spPr>
      </p:pic>
      <p:sp>
        <p:nvSpPr>
          <p:cNvPr id="91" name="TextBox 90"/>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2" name="TextBox 91"/>
          <p:cNvSpPr txBox="1"/>
          <p:nvPr/>
        </p:nvSpPr>
        <p:spPr>
          <a:xfrm>
            <a:off x="485775" y="5620849"/>
            <a:ext cx="2914650" cy="186689"/>
          </a:xfrm>
          <a:prstGeom prst="rect">
            <a:avLst/>
          </a:prstGeom>
          <a:noFill/>
        </p:spPr>
        <p:txBody>
          <a:bodyPr wrap="none" lIns="0" rIns="0" tIns="0" bIns="0">
            <a:spAutoFit/>
          </a:bodyPr>
          <a:lstStyle/>
          <a:p>
            <a:r>
              <a:rPr sz="1100" b="0">
                <a:solidFill>
                  <a:srgbClr val="2E2E2E"/>
                </a:solidFill>
                <a:latin typeface="Calibri"/>
              </a:rPr>
              <a:t>Texture and volume additives segment is projected</a:t>
            </a:r>
          </a:p>
        </p:txBody>
      </p:sp>
      <p:sp>
        <p:nvSpPr>
          <p:cNvPr id="93" name="TextBox 92"/>
          <p:cNvSpPr txBox="1"/>
          <p:nvPr/>
        </p:nvSpPr>
        <p:spPr>
          <a:xfrm>
            <a:off x="485775" y="578848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94" name="Picture 93" descr="lock.png"/>
          <p:cNvPicPr>
            <a:picLocks noChangeAspect="1"/>
          </p:cNvPicPr>
          <p:nvPr/>
        </p:nvPicPr>
        <p:blipFill>
          <a:blip r:embed="rId16"/>
          <a:stretch>
            <a:fillRect/>
          </a:stretch>
        </p:blipFill>
        <p:spPr>
          <a:xfrm>
            <a:off x="1098567" y="5778710"/>
            <a:ext cx="128699" cy="187198"/>
          </a:xfrm>
          <a:prstGeom prst="rect">
            <a:avLst/>
          </a:prstGeom>
        </p:spPr>
      </p:pic>
      <p:sp>
        <p:nvSpPr>
          <p:cNvPr id="95" name="TextBox 94"/>
          <p:cNvSpPr txBox="1"/>
          <p:nvPr/>
        </p:nvSpPr>
        <p:spPr>
          <a:xfrm>
            <a:off x="1266063" y="5788489"/>
            <a:ext cx="1800894" cy="186689"/>
          </a:xfrm>
          <a:prstGeom prst="rect">
            <a:avLst/>
          </a:prstGeom>
          <a:noFill/>
        </p:spPr>
        <p:txBody>
          <a:bodyPr wrap="none" lIns="0" rIns="0" tIns="0" bIns="0">
            <a:spAutoFit/>
          </a:bodyPr>
          <a:lstStyle/>
          <a:p>
            <a:r>
              <a:rPr sz="1100" b="0">
                <a:solidFill>
                  <a:srgbClr val="2E2E2E"/>
                </a:solidFill>
                <a:latin typeface="Calibri"/>
              </a:rPr>
              <a:t>X higher value than waxes and</a:t>
            </a:r>
          </a:p>
        </p:txBody>
      </p:sp>
      <p:sp>
        <p:nvSpPr>
          <p:cNvPr id="96" name="TextBox 95"/>
          <p:cNvSpPr txBox="1"/>
          <p:nvPr/>
        </p:nvSpPr>
        <p:spPr>
          <a:xfrm>
            <a:off x="485775" y="5956129"/>
            <a:ext cx="2119312" cy="186689"/>
          </a:xfrm>
          <a:prstGeom prst="rect">
            <a:avLst/>
          </a:prstGeom>
          <a:noFill/>
        </p:spPr>
        <p:txBody>
          <a:bodyPr wrap="none" lIns="0" rIns="0" tIns="0" bIns="0">
            <a:spAutoFit/>
          </a:bodyPr>
          <a:lstStyle/>
          <a:p>
            <a:r>
              <a:rPr sz="1100" b="0">
                <a:solidFill>
                  <a:srgbClr val="2E2E2E"/>
                </a:solidFill>
                <a:latin typeface="Calibri"/>
              </a:rPr>
              <a:t>structuring agents segment in 2036.</a:t>
            </a:r>
          </a:p>
        </p:txBody>
      </p:sp>
      <p:sp>
        <p:nvSpPr>
          <p:cNvPr id="97" name="TextBox 96"/>
          <p:cNvSpPr txBox="1"/>
          <p:nvPr/>
        </p:nvSpPr>
        <p:spPr>
          <a:xfrm>
            <a:off x="3838575" y="4229437"/>
            <a:ext cx="2230635" cy="186689"/>
          </a:xfrm>
          <a:prstGeom prst="rect">
            <a:avLst/>
          </a:prstGeom>
          <a:noFill/>
        </p:spPr>
        <p:txBody>
          <a:bodyPr wrap="none" lIns="0" rIns="0" tIns="0" bIns="0">
            <a:spAutoFit/>
          </a:bodyPr>
          <a:lstStyle/>
          <a:p>
            <a:r>
              <a:rPr sz="1100" b="0">
                <a:solidFill>
                  <a:srgbClr val="2E2E2E"/>
                </a:solidFill>
                <a:latin typeface="Calibri"/>
              </a:rPr>
              <a:t>● Film-forming and Fixative Polymers:</a:t>
            </a:r>
          </a:p>
        </p:txBody>
      </p:sp>
      <p:pic>
        <p:nvPicPr>
          <p:cNvPr id="98" name="Picture 97" descr="lock.png"/>
          <p:cNvPicPr>
            <a:picLocks noChangeAspect="1"/>
          </p:cNvPicPr>
          <p:nvPr/>
        </p:nvPicPr>
        <p:blipFill>
          <a:blip r:embed="rId16"/>
          <a:stretch>
            <a:fillRect/>
          </a:stretch>
        </p:blipFill>
        <p:spPr>
          <a:xfrm>
            <a:off x="6017262" y="4219658"/>
            <a:ext cx="128699" cy="187198"/>
          </a:xfrm>
          <a:prstGeom prst="rect">
            <a:avLst/>
          </a:prstGeom>
        </p:spPr>
      </p:pic>
      <p:sp>
        <p:nvSpPr>
          <p:cNvPr id="99" name="TextBox 98"/>
          <p:cNvSpPr txBox="1"/>
          <p:nvPr/>
        </p:nvSpPr>
        <p:spPr>
          <a:xfrm>
            <a:off x="618475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7044208" y="4219658"/>
            <a:ext cx="128699" cy="187198"/>
          </a:xfrm>
          <a:prstGeom prst="rect">
            <a:avLst/>
          </a:prstGeom>
        </p:spPr>
      </p:pic>
      <p:sp>
        <p:nvSpPr>
          <p:cNvPr id="101" name="TextBox 100"/>
          <p:cNvSpPr txBox="1"/>
          <p:nvPr/>
        </p:nvSpPr>
        <p:spPr>
          <a:xfrm>
            <a:off x="7211704"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2" name="TextBox 101"/>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103" name="TextBox 102"/>
          <p:cNvSpPr txBox="1"/>
          <p:nvPr/>
        </p:nvSpPr>
        <p:spPr>
          <a:xfrm>
            <a:off x="3838575" y="4615009"/>
            <a:ext cx="1941140" cy="186689"/>
          </a:xfrm>
          <a:prstGeom prst="rect">
            <a:avLst/>
          </a:prstGeom>
          <a:noFill/>
        </p:spPr>
        <p:txBody>
          <a:bodyPr wrap="none" lIns="0" rIns="0" tIns="0" bIns="0">
            <a:spAutoFit/>
          </a:bodyPr>
          <a:lstStyle/>
          <a:p>
            <a:r>
              <a:rPr sz="1100" b="0">
                <a:solidFill>
                  <a:srgbClr val="2E2E2E"/>
                </a:solidFill>
                <a:latin typeface="Calibri"/>
              </a:rPr>
              <a:t>● Texture and Volume Additives:</a:t>
            </a:r>
          </a:p>
        </p:txBody>
      </p:sp>
      <p:pic>
        <p:nvPicPr>
          <p:cNvPr id="104" name="Picture 103" descr="lock.png"/>
          <p:cNvPicPr>
            <a:picLocks noChangeAspect="1"/>
          </p:cNvPicPr>
          <p:nvPr/>
        </p:nvPicPr>
        <p:blipFill>
          <a:blip r:embed="rId16"/>
          <a:stretch>
            <a:fillRect/>
          </a:stretch>
        </p:blipFill>
        <p:spPr>
          <a:xfrm>
            <a:off x="5727767" y="4605230"/>
            <a:ext cx="128699" cy="187198"/>
          </a:xfrm>
          <a:prstGeom prst="rect">
            <a:avLst/>
          </a:prstGeom>
        </p:spPr>
      </p:pic>
      <p:sp>
        <p:nvSpPr>
          <p:cNvPr id="105" name="TextBox 104"/>
          <p:cNvSpPr txBox="1"/>
          <p:nvPr/>
        </p:nvSpPr>
        <p:spPr>
          <a:xfrm>
            <a:off x="5895262"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6" name="Picture 105" descr="lock.png"/>
          <p:cNvPicPr>
            <a:picLocks noChangeAspect="1"/>
          </p:cNvPicPr>
          <p:nvPr/>
        </p:nvPicPr>
        <p:blipFill>
          <a:blip r:embed="rId16"/>
          <a:stretch>
            <a:fillRect/>
          </a:stretch>
        </p:blipFill>
        <p:spPr>
          <a:xfrm>
            <a:off x="6754713" y="4605230"/>
            <a:ext cx="128699" cy="187198"/>
          </a:xfrm>
          <a:prstGeom prst="rect">
            <a:avLst/>
          </a:prstGeom>
        </p:spPr>
      </p:pic>
      <p:sp>
        <p:nvSpPr>
          <p:cNvPr id="107" name="TextBox 106"/>
          <p:cNvSpPr txBox="1"/>
          <p:nvPr/>
        </p:nvSpPr>
        <p:spPr>
          <a:xfrm>
            <a:off x="6922208"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8" name="TextBox 107"/>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9" name="TextBox 108"/>
          <p:cNvSpPr txBox="1"/>
          <p:nvPr/>
        </p:nvSpPr>
        <p:spPr>
          <a:xfrm>
            <a:off x="3838575" y="5000581"/>
            <a:ext cx="2268562" cy="186689"/>
          </a:xfrm>
          <a:prstGeom prst="rect">
            <a:avLst/>
          </a:prstGeom>
          <a:noFill/>
        </p:spPr>
        <p:txBody>
          <a:bodyPr wrap="none" lIns="0" rIns="0" tIns="0" bIns="0">
            <a:spAutoFit/>
          </a:bodyPr>
          <a:lstStyle/>
          <a:p>
            <a:r>
              <a:rPr sz="1100" b="0">
                <a:solidFill>
                  <a:srgbClr val="2E2E2E"/>
                </a:solidFill>
                <a:latin typeface="Calibri"/>
              </a:rPr>
              <a:t>● Conditioning and Smoothing Agents:</a:t>
            </a:r>
          </a:p>
        </p:txBody>
      </p:sp>
      <p:pic>
        <p:nvPicPr>
          <p:cNvPr id="110" name="Picture 109" descr="lock.png"/>
          <p:cNvPicPr>
            <a:picLocks noChangeAspect="1"/>
          </p:cNvPicPr>
          <p:nvPr/>
        </p:nvPicPr>
        <p:blipFill>
          <a:blip r:embed="rId16"/>
          <a:stretch>
            <a:fillRect/>
          </a:stretch>
        </p:blipFill>
        <p:spPr>
          <a:xfrm>
            <a:off x="6055188" y="4990801"/>
            <a:ext cx="128699" cy="187198"/>
          </a:xfrm>
          <a:prstGeom prst="rect">
            <a:avLst/>
          </a:prstGeom>
        </p:spPr>
      </p:pic>
      <p:sp>
        <p:nvSpPr>
          <p:cNvPr id="111" name="TextBox 110"/>
          <p:cNvSpPr txBox="1"/>
          <p:nvPr/>
        </p:nvSpPr>
        <p:spPr>
          <a:xfrm>
            <a:off x="6222684"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2" name="Picture 111" descr="lock.png"/>
          <p:cNvPicPr>
            <a:picLocks noChangeAspect="1"/>
          </p:cNvPicPr>
          <p:nvPr/>
        </p:nvPicPr>
        <p:blipFill>
          <a:blip r:embed="rId16"/>
          <a:stretch>
            <a:fillRect/>
          </a:stretch>
        </p:blipFill>
        <p:spPr>
          <a:xfrm>
            <a:off x="7082134" y="4990801"/>
            <a:ext cx="128699" cy="187198"/>
          </a:xfrm>
          <a:prstGeom prst="rect">
            <a:avLst/>
          </a:prstGeom>
        </p:spPr>
      </p:pic>
      <p:sp>
        <p:nvSpPr>
          <p:cNvPr id="113" name="TextBox 112"/>
          <p:cNvSpPr txBox="1"/>
          <p:nvPr/>
        </p:nvSpPr>
        <p:spPr>
          <a:xfrm>
            <a:off x="7249630"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4" name="TextBox 113"/>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5" name="TextBox 114"/>
          <p:cNvSpPr txBox="1"/>
          <p:nvPr/>
        </p:nvSpPr>
        <p:spPr>
          <a:xfrm>
            <a:off x="3838575" y="5386153"/>
            <a:ext cx="1938139" cy="186689"/>
          </a:xfrm>
          <a:prstGeom prst="rect">
            <a:avLst/>
          </a:prstGeom>
          <a:noFill/>
        </p:spPr>
        <p:txBody>
          <a:bodyPr wrap="none" lIns="0" rIns="0" tIns="0" bIns="0">
            <a:spAutoFit/>
          </a:bodyPr>
          <a:lstStyle/>
          <a:p>
            <a:r>
              <a:rPr sz="1100" b="0">
                <a:solidFill>
                  <a:srgbClr val="2E2E2E"/>
                </a:solidFill>
                <a:latin typeface="Calibri"/>
              </a:rPr>
              <a:t>● Waxes and Structuring Agents:</a:t>
            </a:r>
          </a:p>
        </p:txBody>
      </p:sp>
      <p:pic>
        <p:nvPicPr>
          <p:cNvPr id="116" name="Picture 115" descr="lock.png"/>
          <p:cNvPicPr>
            <a:picLocks noChangeAspect="1"/>
          </p:cNvPicPr>
          <p:nvPr/>
        </p:nvPicPr>
        <p:blipFill>
          <a:blip r:embed="rId16"/>
          <a:stretch>
            <a:fillRect/>
          </a:stretch>
        </p:blipFill>
        <p:spPr>
          <a:xfrm>
            <a:off x="5724765" y="5376373"/>
            <a:ext cx="128699" cy="187198"/>
          </a:xfrm>
          <a:prstGeom prst="rect">
            <a:avLst/>
          </a:prstGeom>
        </p:spPr>
      </p:pic>
      <p:sp>
        <p:nvSpPr>
          <p:cNvPr id="117" name="TextBox 116"/>
          <p:cNvSpPr txBox="1"/>
          <p:nvPr/>
        </p:nvSpPr>
        <p:spPr>
          <a:xfrm>
            <a:off x="5892261"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8" name="Picture 117" descr="lock.png"/>
          <p:cNvPicPr>
            <a:picLocks noChangeAspect="1"/>
          </p:cNvPicPr>
          <p:nvPr/>
        </p:nvPicPr>
        <p:blipFill>
          <a:blip r:embed="rId16"/>
          <a:stretch>
            <a:fillRect/>
          </a:stretch>
        </p:blipFill>
        <p:spPr>
          <a:xfrm>
            <a:off x="6751711" y="5376373"/>
            <a:ext cx="128699" cy="187198"/>
          </a:xfrm>
          <a:prstGeom prst="rect">
            <a:avLst/>
          </a:prstGeom>
        </p:spPr>
      </p:pic>
      <p:sp>
        <p:nvSpPr>
          <p:cNvPr id="119" name="TextBox 118"/>
          <p:cNvSpPr txBox="1"/>
          <p:nvPr/>
        </p:nvSpPr>
        <p:spPr>
          <a:xfrm>
            <a:off x="6919207" y="538615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20" name="TextBox 119"/>
          <p:cNvSpPr txBox="1"/>
          <p:nvPr/>
        </p:nvSpPr>
        <p:spPr>
          <a:xfrm>
            <a:off x="3838575" y="555379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21" name="TextBox 120"/>
          <p:cNvSpPr txBox="1"/>
          <p:nvPr/>
        </p:nvSpPr>
        <p:spPr>
          <a:xfrm>
            <a:off x="8524875" y="5842641"/>
            <a:ext cx="3154089" cy="194310"/>
          </a:xfrm>
          <a:prstGeom prst="rect">
            <a:avLst/>
          </a:prstGeom>
          <a:noFill/>
        </p:spPr>
        <p:txBody>
          <a:bodyPr wrap="none" lIns="0" rIns="0" tIns="0" bIns="0">
            <a:spAutoFit/>
          </a:bodyPr>
          <a:lstStyle/>
          <a:p>
            <a:r>
              <a:rPr sz="1150" b="1">
                <a:solidFill>
                  <a:srgbClr val="0B2E4A"/>
                </a:solidFill>
                <a:latin typeface="Calibri"/>
              </a:rPr>
              <a:t>The Ingredient Technology segment is projected to</a:t>
            </a:r>
          </a:p>
        </p:txBody>
      </p:sp>
      <p:sp>
        <p:nvSpPr>
          <p:cNvPr id="122" name="TextBox 121"/>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123" name="Picture 122" descr="lock.png"/>
          <p:cNvPicPr>
            <a:picLocks noChangeAspect="1"/>
          </p:cNvPicPr>
          <p:nvPr/>
        </p:nvPicPr>
        <p:blipFill>
          <a:blip r:embed="rId16"/>
          <a:stretch>
            <a:fillRect/>
          </a:stretch>
        </p:blipFill>
        <p:spPr>
          <a:xfrm>
            <a:off x="9651852" y="6007677"/>
            <a:ext cx="134549" cy="195707"/>
          </a:xfrm>
          <a:prstGeom prst="rect">
            <a:avLst/>
          </a:prstGeom>
        </p:spPr>
      </p:pic>
      <p:sp>
        <p:nvSpPr>
          <p:cNvPr id="124" name="TextBox 123"/>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Ingredient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Ingredient Technology mix within each country and the attractiveness of each sub-segment on growth and size</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Ingredient Technology mix within each country (share of 2036 value) · row label = country size (US$ Mn), largest first</a:t>
            </a:r>
          </a:p>
        </p:txBody>
      </p:sp>
      <p:graphicFrame>
        <p:nvGraphicFramePr>
          <p:cNvPr id="13" name="Chart 12"/>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4" name="Rounded Rectangle 13"/>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Ingredient Technology · Bubble size represents 2036 value</a:t>
            </a:r>
          </a:p>
        </p:txBody>
      </p:sp>
      <p:graphicFrame>
        <p:nvGraphicFramePr>
          <p:cNvPr id="16" name="Chart 15"/>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6"/>
          <a:stretch>
            <a:fillRect/>
          </a:stretch>
        </p:blipFill>
        <p:spPr>
          <a:xfrm>
            <a:off x="3484684" y="3024134"/>
            <a:ext cx="320946" cy="466830"/>
          </a:xfrm>
          <a:prstGeom prst="rect">
            <a:avLst/>
          </a:prstGeom>
        </p:spPr>
      </p:pic>
      <p:sp>
        <p:nvSpPr>
          <p:cNvPr id="20" name="TextBox 19"/>
          <p:cNvSpPr txBox="1"/>
          <p:nvPr/>
        </p:nvSpPr>
        <p:spPr>
          <a:xfrm>
            <a:off x="257175" y="5694045"/>
            <a:ext cx="11464751" cy="186689"/>
          </a:xfrm>
          <a:prstGeom prst="rect">
            <a:avLst/>
          </a:prstGeom>
          <a:noFill/>
        </p:spPr>
        <p:txBody>
          <a:bodyPr wrap="none" lIns="0" rIns="0" tIns="0" bIns="0">
            <a:spAutoFit/>
          </a:bodyPr>
          <a:lstStyle/>
          <a:p>
            <a:r>
              <a:rPr sz="1100" b="0">
                <a:solidFill>
                  <a:srgbClr val="2E2E2E"/>
                </a:solidFill>
                <a:latin typeface="Calibri"/>
              </a:rPr>
              <a:t>Waxes and structuring agents followed by texture and volume additives are expected to be the two most attractive ingredient technology segments in the North America hair styling products market in</a:t>
            </a:r>
          </a:p>
        </p:txBody>
      </p:sp>
      <p:sp>
        <p:nvSpPr>
          <p:cNvPr id="21" name="TextBox 20"/>
          <p:cNvSpPr txBox="1"/>
          <p:nvPr/>
        </p:nvSpPr>
        <p:spPr>
          <a:xfrm>
            <a:off x="257175" y="5861685"/>
            <a:ext cx="7344130" cy="186689"/>
          </a:xfrm>
          <a:prstGeom prst="rect">
            <a:avLst/>
          </a:prstGeom>
          <a:noFill/>
        </p:spPr>
        <p:txBody>
          <a:bodyPr wrap="none" lIns="0" rIns="0" tIns="0" bIns="0">
            <a:spAutoFit/>
          </a:bodyPr>
          <a:lstStyle/>
          <a:p>
            <a:r>
              <a:rPr sz="1100" b="0">
                <a:solidFill>
                  <a:srgbClr val="2E2E2E"/>
                </a:solidFill>
                <a:latin typeface="Calibri"/>
              </a:rPr>
              <a:t>terms of value over the forecast period. Waxes and structuring agents and texture and volume additives exhibit a CAGR index of</a:t>
            </a:r>
          </a:p>
        </p:txBody>
      </p:sp>
      <p:pic>
        <p:nvPicPr>
          <p:cNvPr id="22" name="Picture 21" descr="lock.png"/>
          <p:cNvPicPr>
            <a:picLocks noChangeAspect="1"/>
          </p:cNvPicPr>
          <p:nvPr/>
        </p:nvPicPr>
        <p:blipFill>
          <a:blip r:embed="rId6"/>
          <a:stretch>
            <a:fillRect/>
          </a:stretch>
        </p:blipFill>
        <p:spPr>
          <a:xfrm>
            <a:off x="7549356" y="5851905"/>
            <a:ext cx="128699" cy="187198"/>
          </a:xfrm>
          <a:prstGeom prst="rect">
            <a:avLst/>
          </a:prstGeom>
        </p:spPr>
      </p:pic>
      <p:sp>
        <p:nvSpPr>
          <p:cNvPr id="23" name="TextBox 22"/>
          <p:cNvSpPr txBox="1"/>
          <p:nvPr/>
        </p:nvSpPr>
        <p:spPr>
          <a:xfrm>
            <a:off x="771685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7954746" y="5851905"/>
            <a:ext cx="128699" cy="187198"/>
          </a:xfrm>
          <a:prstGeom prst="rect">
            <a:avLst/>
          </a:prstGeom>
        </p:spPr>
      </p:pic>
      <p:sp>
        <p:nvSpPr>
          <p:cNvPr id="25" name="TextBox 24"/>
          <p:cNvSpPr txBox="1"/>
          <p:nvPr/>
        </p:nvSpPr>
        <p:spPr>
          <a:xfrm>
            <a:off x="812224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9731216" y="5851905"/>
            <a:ext cx="128699" cy="187198"/>
          </a:xfrm>
          <a:prstGeom prst="rect">
            <a:avLst/>
          </a:prstGeom>
        </p:spPr>
      </p:pic>
      <p:sp>
        <p:nvSpPr>
          <p:cNvPr id="27" name="TextBox 26"/>
          <p:cNvSpPr txBox="1"/>
          <p:nvPr/>
        </p:nvSpPr>
        <p:spPr>
          <a:xfrm>
            <a:off x="989871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10136606" y="5851905"/>
            <a:ext cx="128699" cy="187198"/>
          </a:xfrm>
          <a:prstGeom prst="rect">
            <a:avLst/>
          </a:prstGeom>
        </p:spPr>
      </p:pic>
      <p:sp>
        <p:nvSpPr>
          <p:cNvPr id="29" name="TextBox 28"/>
          <p:cNvSpPr txBox="1"/>
          <p:nvPr/>
        </p:nvSpPr>
        <p:spPr>
          <a:xfrm>
            <a:off x="10304102" y="5861685"/>
            <a:ext cx="1231726" cy="186689"/>
          </a:xfrm>
          <a:prstGeom prst="rect">
            <a:avLst/>
          </a:prstGeom>
          <a:noFill/>
        </p:spPr>
        <p:txBody>
          <a:bodyPr wrap="none" lIns="0" rIns="0" tIns="0" bIns="0">
            <a:spAutoFit/>
          </a:bodyPr>
          <a:lstStyle/>
          <a:p>
            <a:r>
              <a:rPr sz="1100" b="0">
                <a:solidFill>
                  <a:srgbClr val="2E2E2E"/>
                </a:solidFill>
                <a:latin typeface="Calibri"/>
              </a:rPr>
              <a:t>respectively, against</a:t>
            </a:r>
          </a:p>
        </p:txBody>
      </p:sp>
      <p:sp>
        <p:nvSpPr>
          <p:cNvPr id="30" name="TextBox 29"/>
          <p:cNvSpPr txBox="1"/>
          <p:nvPr/>
        </p:nvSpPr>
        <p:spPr>
          <a:xfrm>
            <a:off x="257175" y="6029325"/>
            <a:ext cx="1419175" cy="186689"/>
          </a:xfrm>
          <a:prstGeom prst="rect">
            <a:avLst/>
          </a:prstGeom>
          <a:noFill/>
        </p:spPr>
        <p:txBody>
          <a:bodyPr wrap="none" lIns="0" rIns="0" tIns="0" bIns="0">
            <a:spAutoFit/>
          </a:bodyPr>
          <a:lstStyle/>
          <a:p>
            <a:r>
              <a:rPr sz="1100" b="0">
                <a:solidFill>
                  <a:srgbClr val="2E2E2E"/>
                </a:solidFill>
                <a:latin typeface="Calibri"/>
              </a:rPr>
              <a:t>the segment average of</a:t>
            </a:r>
          </a:p>
        </p:txBody>
      </p:sp>
      <p:pic>
        <p:nvPicPr>
          <p:cNvPr id="31" name="Picture 30" descr="lock.png"/>
          <p:cNvPicPr>
            <a:picLocks noChangeAspect="1"/>
          </p:cNvPicPr>
          <p:nvPr/>
        </p:nvPicPr>
        <p:blipFill>
          <a:blip r:embed="rId6"/>
          <a:stretch>
            <a:fillRect/>
          </a:stretch>
        </p:blipFill>
        <p:spPr>
          <a:xfrm>
            <a:off x="1624401" y="6019545"/>
            <a:ext cx="128699" cy="187198"/>
          </a:xfrm>
          <a:prstGeom prst="rect">
            <a:avLst/>
          </a:prstGeom>
        </p:spPr>
      </p:pic>
      <p:sp>
        <p:nvSpPr>
          <p:cNvPr id="32" name="TextBox 31"/>
          <p:cNvSpPr txBox="1"/>
          <p:nvPr/>
        </p:nvSpPr>
        <p:spPr>
          <a:xfrm>
            <a:off x="1791897" y="6029325"/>
            <a:ext cx="9609889" cy="186689"/>
          </a:xfrm>
          <a:prstGeom prst="rect">
            <a:avLst/>
          </a:prstGeom>
          <a:noFill/>
        </p:spPr>
        <p:txBody>
          <a:bodyPr wrap="none" lIns="0" rIns="0" tIns="0" bIns="0">
            <a:spAutoFit/>
          </a:bodyPr>
          <a:lstStyle/>
          <a:p>
            <a:r>
              <a:rPr sz="1100" b="0">
                <a:solidFill>
                  <a:srgbClr val="2E2E2E"/>
                </a:solidFill>
                <a:latin typeface="Calibri"/>
              </a:rPr>
              <a:t>. The film-forming and fixative polymers segment is expected to be less attractive as compared to other segments over the forecast period, owing to its lower CAGR and</a:t>
            </a:r>
          </a:p>
        </p:txBody>
      </p:sp>
      <p:sp>
        <p:nvSpPr>
          <p:cNvPr id="33" name="TextBox 32"/>
          <p:cNvSpPr txBox="1"/>
          <p:nvPr/>
        </p:nvSpPr>
        <p:spPr>
          <a:xfrm>
            <a:off x="257175" y="6196965"/>
            <a:ext cx="5838262" cy="186689"/>
          </a:xfrm>
          <a:prstGeom prst="rect">
            <a:avLst/>
          </a:prstGeom>
          <a:noFill/>
        </p:spPr>
        <p:txBody>
          <a:bodyPr wrap="none" lIns="0" rIns="0" tIns="0" bIns="0">
            <a:spAutoFit/>
          </a:bodyPr>
          <a:lstStyle/>
          <a:p>
            <a:r>
              <a:rPr sz="1100" b="0">
                <a:solidFill>
                  <a:srgbClr val="2E2E2E"/>
                </a:solidFill>
                <a:latin typeface="Calibri"/>
              </a:rPr>
              <a:t>incremental opportunity. Bubbles right of the CAGR-Index line grow faster than the segment average.</a:t>
            </a:r>
          </a:p>
        </p:txBody>
      </p:sp>
      <p:sp>
        <p:nvSpPr>
          <p:cNvPr id="34" name="lockshield_13"/>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ockshield_16"/>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Ingredient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Ingredient Technology and the absolute $ opportunity each sub-segment adds, 2026–2036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Film-forming and Fixative Polymers</a:t>
            </a:r>
          </a:p>
        </p:txBody>
      </p:sp>
      <p:graphicFrame>
        <p:nvGraphicFramePr>
          <p:cNvPr id="13" name="Chart 12"/>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Texture and Volume Additives</a:t>
            </a:r>
          </a:p>
        </p:txBody>
      </p:sp>
      <p:graphicFrame>
        <p:nvGraphicFramePr>
          <p:cNvPr id="16" name="Chart 15"/>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Conditioning and Smoothing Agents</a:t>
            </a:r>
          </a:p>
        </p:txBody>
      </p:sp>
      <p:graphicFrame>
        <p:nvGraphicFramePr>
          <p:cNvPr id="19" name="Chart 18"/>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20" name="Rounded Rectangle 19"/>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Waxes and Structuring Agents</a:t>
            </a:r>
          </a:p>
        </p:txBody>
      </p:sp>
      <p:graphicFrame>
        <p:nvGraphicFramePr>
          <p:cNvPr id="22" name="Chart 21"/>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8"/>
          <a:stretch>
            <a:fillRect/>
          </a:stretch>
        </p:blipFill>
        <p:spPr>
          <a:xfrm>
            <a:off x="3100230"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9129555" y="2330679"/>
            <a:ext cx="252890" cy="367840"/>
          </a:xfrm>
          <a:prstGeom prst="rect">
            <a:avLst/>
          </a:prstGeom>
        </p:spPr>
      </p:pic>
      <p:pic>
        <p:nvPicPr>
          <p:cNvPr id="26" name="Picture 25" descr="lock.png"/>
          <p:cNvPicPr>
            <a:picLocks noChangeAspect="1"/>
          </p:cNvPicPr>
          <p:nvPr/>
        </p:nvPicPr>
        <p:blipFill>
          <a:blip r:embed="rId8"/>
          <a:stretch>
            <a:fillRect/>
          </a:stretch>
        </p:blipFill>
        <p:spPr>
          <a:xfrm>
            <a:off x="3100230" y="5216754"/>
            <a:ext cx="252890" cy="367840"/>
          </a:xfrm>
          <a:prstGeom prst="rect">
            <a:avLst/>
          </a:prstGeom>
        </p:spPr>
      </p:pic>
      <p:pic>
        <p:nvPicPr>
          <p:cNvPr id="27" name="Picture 26" descr="lock.png"/>
          <p:cNvPicPr>
            <a:picLocks noChangeAspect="1"/>
          </p:cNvPicPr>
          <p:nvPr/>
        </p:nvPicPr>
        <p:blipFill>
          <a:blip r:embed="rId8"/>
          <a:stretch>
            <a:fillRect/>
          </a:stretch>
        </p:blipFill>
        <p:spPr>
          <a:xfrm>
            <a:off x="9129555" y="5216754"/>
            <a:ext cx="252890" cy="367840"/>
          </a:xfrm>
          <a:prstGeom prst="rect">
            <a:avLst/>
          </a:prstGeom>
        </p:spPr>
      </p:pic>
      <p:sp>
        <p:nvSpPr>
          <p:cNvPr id="28" name="lockshield_13"/>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6"/>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2"/>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Ingredient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Ingredient Technology, 2021–2036, highlighting the sub-segments driving growth</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11906250" cy="3933825"/>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Ingredient Technology (US$ Mn)</a:t>
            </a:r>
          </a:p>
        </p:txBody>
      </p:sp>
      <p:graphicFrame>
        <p:nvGraphicFramePr>
          <p:cNvPr id="13" name="Table 12"/>
          <p:cNvGraphicFramePr>
            <a:graphicFrameLocks noGrp="1"/>
          </p:cNvGraphicFramePr>
          <p:nvPr/>
        </p:nvGraphicFramePr>
        <p:xfrm>
          <a:off x="152400" y="1238250"/>
          <a:ext cx="11887200" cy="3505200"/>
        </p:xfrm>
        <a:graphic>
          <a:graphicData uri="http://schemas.openxmlformats.org/drawingml/2006/table">
            <a:tbl>
              <a:tblPr>
                <a:tableStyleId>{5C22544A-7EE6-4342-B048-85BDC9FD1C3A}</a:tableStyleId>
              </a:tblPr>
              <a:tblGrid>
                <a:gridCol w="2937278"/>
                <a:gridCol w="537608"/>
                <a:gridCol w="537608"/>
                <a:gridCol w="537608"/>
                <a:gridCol w="537608"/>
                <a:gridCol w="537608"/>
                <a:gridCol w="518671"/>
                <a:gridCol w="513260"/>
                <a:gridCol w="513260"/>
                <a:gridCol w="513260"/>
                <a:gridCol w="513260"/>
                <a:gridCol w="513260"/>
                <a:gridCol w="513260"/>
                <a:gridCol w="513260"/>
                <a:gridCol w="513260"/>
                <a:gridCol w="513260"/>
                <a:gridCol w="513260"/>
                <a:gridCol w="610611"/>
              </a:tblGrid>
              <a:tr h="219075">
                <a:tc>
                  <a:txBody>
                    <a:bodyPr wrap="none"/>
                    <a:lstStyle/>
                    <a:p>
                      <a:pPr algn="l"/>
                      <a:r>
                        <a:rPr sz="1100" b="1">
                          <a:solidFill>
                            <a:srgbClr val="0B2E4A"/>
                          </a:solidFill>
                          <a:latin typeface="Calibri"/>
                        </a:rPr>
                        <a:t>Ingredient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19075">
                <a:tc>
                  <a:txBody>
                    <a:bodyPr wrap="none"/>
                    <a:lstStyle/>
                    <a:p>
                      <a:pPr algn="l"/>
                      <a:r>
                        <a:rPr sz="1100" b="1">
                          <a:solidFill>
                            <a:srgbClr val="2E2E2E"/>
                          </a:solidFill>
                          <a:latin typeface="Calibri"/>
                        </a:rPr>
                        <a:t>Film-forming and Fixative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Synthetic Polymers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Bio-based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Biodegradable Polymers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Texture and Volume Additives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Silica-based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Starch-based Additives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Other Mineral and Plant-based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Conditioning and Smoothing Agents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Silicone-based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Silicone-free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Waxes and Structuring Agents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 Synthetic Waxes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19075">
                <a:tc>
                  <a:txBody>
                    <a:bodyPr wrap="none"/>
                    <a:lstStyle/>
                    <a:p>
                      <a:pPr algn="l"/>
                      <a:r>
                        <a:rPr sz="1100" b="1">
                          <a:solidFill>
                            <a:srgbClr val="2E2E2E"/>
                          </a:solidFill>
                          <a:latin typeface="Calibri"/>
                        </a:rPr>
                        <a:t>– Plant-derived Waxes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1907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4" name="TextBox 13"/>
          <p:cNvSpPr txBox="1"/>
          <p:nvPr/>
        </p:nvSpPr>
        <p:spPr>
          <a:xfrm>
            <a:off x="219075" y="4762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6" name="Picture 15" descr="lock.png"/>
          <p:cNvPicPr>
            <a:picLocks noChangeAspect="1"/>
          </p:cNvPicPr>
          <p:nvPr/>
        </p:nvPicPr>
        <p:blipFill>
          <a:blip r:embed="rId4"/>
          <a:stretch>
            <a:fillRect/>
          </a:stretch>
        </p:blipFill>
        <p:spPr>
          <a:xfrm>
            <a:off x="7377949" y="2724150"/>
            <a:ext cx="366712" cy="533399"/>
          </a:xfrm>
          <a:prstGeom prst="rect">
            <a:avLst/>
          </a:prstGeom>
        </p:spPr>
      </p:pic>
      <p:sp>
        <p:nvSpPr>
          <p:cNvPr id="14" name="Rounded Rectangle 13"/>
          <p:cNvSpPr/>
          <p:nvPr/>
        </p:nvSpPr>
        <p:spPr>
          <a:xfrm>
            <a:off x="142875" y="5010150"/>
            <a:ext cx="11906250" cy="1619250"/>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50958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Ingredient Technology</a:t>
            </a:r>
          </a:p>
        </p:txBody>
      </p:sp>
      <p:sp>
        <p:nvSpPr>
          <p:cNvPr id="16" name="Rectangle 15"/>
          <p:cNvSpPr/>
          <p:nvPr/>
        </p:nvSpPr>
        <p:spPr>
          <a:xfrm>
            <a:off x="276225" y="53340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419725"/>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276225" y="5429250"/>
            <a:ext cx="3759113" cy="194310"/>
          </a:xfrm>
          <a:prstGeom prst="rect">
            <a:avLst/>
          </a:prstGeom>
          <a:noFill/>
        </p:spPr>
        <p:txBody>
          <a:bodyPr wrap="none" lIns="0" rIns="0" tIns="0" bIns="0">
            <a:spAutoFit/>
          </a:bodyPr>
          <a:lstStyle/>
          <a:p>
            <a:r>
              <a:rPr sz="1150" b="0">
                <a:solidFill>
                  <a:srgbClr val="2E2E2E"/>
                </a:solidFill>
                <a:latin typeface="Calibri"/>
              </a:rPr>
              <a:t>Texture and volume additives segment is projected to register</a:t>
            </a:r>
          </a:p>
        </p:txBody>
      </p:sp>
      <p:pic>
        <p:nvPicPr>
          <p:cNvPr id="21" name="Picture 20" descr="image.png"/>
          <p:cNvPicPr>
            <a:picLocks noChangeAspect="1"/>
          </p:cNvPicPr>
          <p:nvPr/>
        </p:nvPicPr>
        <p:blipFill>
          <a:blip r:embed="rId4"/>
          <a:stretch>
            <a:fillRect/>
          </a:stretch>
        </p:blipFill>
        <p:spPr>
          <a:xfrm>
            <a:off x="3984492" y="5419026"/>
            <a:ext cx="134549" cy="195707"/>
          </a:xfrm>
          <a:prstGeom prst="rect">
            <a:avLst/>
          </a:prstGeom>
        </p:spPr>
      </p:pic>
      <p:sp>
        <p:nvSpPr>
          <p:cNvPr id="22" name="TextBox 21"/>
          <p:cNvSpPr txBox="1"/>
          <p:nvPr/>
        </p:nvSpPr>
        <p:spPr>
          <a:xfrm>
            <a:off x="4159601" y="5429250"/>
            <a:ext cx="7697899" cy="194310"/>
          </a:xfrm>
          <a:prstGeom prst="rect">
            <a:avLst/>
          </a:prstGeom>
          <a:noFill/>
        </p:spPr>
        <p:txBody>
          <a:bodyPr wrap="none" lIns="0" rIns="0" tIns="0" bIns="0">
            <a:spAutoFit/>
          </a:bodyPr>
          <a:lstStyle/>
          <a:p>
            <a:r>
              <a:rPr sz="1150" b="0">
                <a:solidFill>
                  <a:srgbClr val="2E2E2E"/>
                </a:solidFill>
                <a:latin typeface="Calibri"/>
              </a:rPr>
              <a:t>X higher value than waxes and structuring agents segment in 2036. Among hair styling products by ingredient technology, waxes</a:t>
            </a:r>
          </a:p>
        </p:txBody>
      </p:sp>
      <p:sp>
        <p:nvSpPr>
          <p:cNvPr id="23" name="TextBox 22"/>
          <p:cNvSpPr txBox="1"/>
          <p:nvPr/>
        </p:nvSpPr>
        <p:spPr>
          <a:xfrm>
            <a:off x="276225" y="5604510"/>
            <a:ext cx="4525287" cy="194310"/>
          </a:xfrm>
          <a:prstGeom prst="rect">
            <a:avLst/>
          </a:prstGeom>
          <a:noFill/>
        </p:spPr>
        <p:txBody>
          <a:bodyPr wrap="none" lIns="0" rIns="0" tIns="0" bIns="0">
            <a:spAutoFit/>
          </a:bodyPr>
          <a:lstStyle/>
          <a:p>
            <a:r>
              <a:rPr sz="1150" b="0">
                <a:solidFill>
                  <a:srgbClr val="2E2E2E"/>
                </a:solidFill>
                <a:latin typeface="Calibri"/>
              </a:rPr>
              <a:t>and structuring agents segment is expected to witness the highest CAGR of</a:t>
            </a:r>
          </a:p>
        </p:txBody>
      </p:sp>
      <p:pic>
        <p:nvPicPr>
          <p:cNvPr id="24" name="Picture 23" descr="image.png"/>
          <p:cNvPicPr>
            <a:picLocks noChangeAspect="1"/>
          </p:cNvPicPr>
          <p:nvPr/>
        </p:nvPicPr>
        <p:blipFill>
          <a:blip r:embed="rId4"/>
          <a:stretch>
            <a:fillRect/>
          </a:stretch>
        </p:blipFill>
        <p:spPr>
          <a:xfrm>
            <a:off x="4750666" y="5594286"/>
            <a:ext cx="134549" cy="195707"/>
          </a:xfrm>
          <a:prstGeom prst="rect">
            <a:avLst/>
          </a:prstGeom>
        </p:spPr>
      </p:pic>
      <p:sp>
        <p:nvSpPr>
          <p:cNvPr id="25" name="TextBox 24"/>
          <p:cNvSpPr txBox="1"/>
          <p:nvPr/>
        </p:nvSpPr>
        <p:spPr>
          <a:xfrm>
            <a:off x="4925775" y="56045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832347"/>
            <a:ext cx="8189962" cy="194310"/>
          </a:xfrm>
          <a:prstGeom prst="rect">
            <a:avLst/>
          </a:prstGeom>
          <a:noFill/>
        </p:spPr>
        <p:txBody>
          <a:bodyPr wrap="none" lIns="0" rIns="0" tIns="0" bIns="0">
            <a:spAutoFit/>
          </a:bodyPr>
          <a:lstStyle/>
          <a:p>
            <a:r>
              <a:rPr sz="1150" b="0">
                <a:solidFill>
                  <a:srgbClr val="2E2E2E"/>
                </a:solidFill>
                <a:latin typeface="Calibri"/>
              </a:rPr>
              <a:t>In terms of value share by ingredient technology, the texture and volume additives segment is expected to dominate the market, gaining</a:t>
            </a:r>
          </a:p>
        </p:txBody>
      </p:sp>
      <p:pic>
        <p:nvPicPr>
          <p:cNvPr id="27" name="Picture 26" descr="image.png"/>
          <p:cNvPicPr>
            <a:picLocks noChangeAspect="1"/>
          </p:cNvPicPr>
          <p:nvPr/>
        </p:nvPicPr>
        <p:blipFill>
          <a:blip r:embed="rId4"/>
          <a:stretch>
            <a:fillRect/>
          </a:stretch>
        </p:blipFill>
        <p:spPr>
          <a:xfrm>
            <a:off x="8415341" y="5822124"/>
            <a:ext cx="134549" cy="195707"/>
          </a:xfrm>
          <a:prstGeom prst="rect">
            <a:avLst/>
          </a:prstGeom>
        </p:spPr>
      </p:pic>
      <p:sp>
        <p:nvSpPr>
          <p:cNvPr id="28" name="TextBox 27"/>
          <p:cNvSpPr txBox="1"/>
          <p:nvPr/>
        </p:nvSpPr>
        <p:spPr>
          <a:xfrm>
            <a:off x="8590450" y="58323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image.png"/>
          <p:cNvPicPr>
            <a:picLocks noChangeAspect="1"/>
          </p:cNvPicPr>
          <p:nvPr/>
        </p:nvPicPr>
        <p:blipFill>
          <a:blip r:embed="rId4"/>
          <a:stretch>
            <a:fillRect/>
          </a:stretch>
        </p:blipFill>
        <p:spPr>
          <a:xfrm>
            <a:off x="9985593" y="5822124"/>
            <a:ext cx="134549" cy="195707"/>
          </a:xfrm>
          <a:prstGeom prst="rect">
            <a:avLst/>
          </a:prstGeom>
        </p:spPr>
      </p:pic>
      <p:sp>
        <p:nvSpPr>
          <p:cNvPr id="30" name="TextBox 29"/>
          <p:cNvSpPr txBox="1"/>
          <p:nvPr/>
        </p:nvSpPr>
        <p:spPr>
          <a:xfrm>
            <a:off x="10160702" y="5832347"/>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6007607"/>
            <a:ext cx="3806750" cy="194310"/>
          </a:xfrm>
          <a:prstGeom prst="rect">
            <a:avLst/>
          </a:prstGeom>
          <a:noFill/>
        </p:spPr>
        <p:txBody>
          <a:bodyPr wrap="none" lIns="0" rIns="0" tIns="0" bIns="0">
            <a:spAutoFit/>
          </a:bodyPr>
          <a:lstStyle/>
          <a:p>
            <a:r>
              <a:rPr sz="1150" b="0">
                <a:solidFill>
                  <a:srgbClr val="2E2E2E"/>
                </a:solidFill>
                <a:latin typeface="Calibri"/>
              </a:rPr>
              <a:t>film-forming and fixative polymers segment is expected to lose</a:t>
            </a:r>
          </a:p>
        </p:txBody>
      </p:sp>
      <p:pic>
        <p:nvPicPr>
          <p:cNvPr id="32" name="Picture 31" descr="image.png"/>
          <p:cNvPicPr>
            <a:picLocks noChangeAspect="1"/>
          </p:cNvPicPr>
          <p:nvPr/>
        </p:nvPicPr>
        <p:blipFill>
          <a:blip r:embed="rId4"/>
          <a:stretch>
            <a:fillRect/>
          </a:stretch>
        </p:blipFill>
        <p:spPr>
          <a:xfrm>
            <a:off x="4032129" y="5997384"/>
            <a:ext cx="134549" cy="195707"/>
          </a:xfrm>
          <a:prstGeom prst="rect">
            <a:avLst/>
          </a:prstGeom>
        </p:spPr>
      </p:pic>
      <p:sp>
        <p:nvSpPr>
          <p:cNvPr id="33" name="TextBox 32"/>
          <p:cNvSpPr txBox="1"/>
          <p:nvPr/>
        </p:nvSpPr>
        <p:spPr>
          <a:xfrm>
            <a:off x="4207238" y="60076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image.png"/>
          <p:cNvPicPr>
            <a:picLocks noChangeAspect="1"/>
          </p:cNvPicPr>
          <p:nvPr/>
        </p:nvPicPr>
        <p:blipFill>
          <a:blip r:embed="rId4"/>
          <a:stretch>
            <a:fillRect/>
          </a:stretch>
        </p:blipFill>
        <p:spPr>
          <a:xfrm>
            <a:off x="6794743" y="5997384"/>
            <a:ext cx="134549" cy="195707"/>
          </a:xfrm>
          <a:prstGeom prst="rect">
            <a:avLst/>
          </a:prstGeom>
        </p:spPr>
      </p:pic>
      <p:sp>
        <p:nvSpPr>
          <p:cNvPr id="35" name="TextBox 34"/>
          <p:cNvSpPr txBox="1"/>
          <p:nvPr/>
        </p:nvSpPr>
        <p:spPr>
          <a:xfrm>
            <a:off x="6969852" y="60076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Ingredient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Ingredient Technology in 2021, 2026 and 2036, highlighting share shifts in basis points</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North America</a:t>
            </a:r>
          </a:p>
        </p:txBody>
      </p:sp>
      <p:sp>
        <p:nvSpPr>
          <p:cNvPr id="11" name="Rounded Rectangle 10"/>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Ingredient Technology ·  2021 / 2026 / 2036 (US$ Mn)  ·  right axis = BPS share shift</a:t>
            </a:r>
          </a:p>
        </p:txBody>
      </p:sp>
      <p:graphicFrame>
        <p:nvGraphicFramePr>
          <p:cNvPr id="13" name="Chart 12"/>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4" name="TextBox 13"/>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5" name="FMI Lock Anchor"/>
          <p:cNvSpPr txBox="1"/>
          <p:nvPr/>
        </p:nvSpPr>
        <p:spPr>
          <a:xfrm>
            <a:off x="2678811" y="4014597"/>
            <a:ext cx="38100" cy="38100"/>
          </a:xfrm>
          <a:prstGeom prst="rect">
            <a:avLst/>
          </a:prstGeom>
          <a:noFill/>
        </p:spPr>
        <p:txBody>
          <a:bodyPr wrap="none">
            <a:spAutoFit/>
          </a:bodyPr>
          <a:lstStyle/>
          <a:p/>
        </p:txBody>
      </p:sp>
      <p:sp>
        <p:nvSpPr>
          <p:cNvPr id="16" name="FMI Legend Chip"/>
          <p:cNvSpPr/>
          <p:nvPr/>
        </p:nvSpPr>
        <p:spPr>
          <a:xfrm>
            <a:off x="4928997" y="2215357"/>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1059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1"/>
          <p:cNvSpPr txBox="1"/>
          <p:nvPr/>
        </p:nvSpPr>
        <p:spPr>
          <a:xfrm>
            <a:off x="5233797" y="213439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Film-forming and Fixative Polymers</a:t>
            </a:r>
          </a:p>
        </p:txBody>
      </p:sp>
      <p:sp>
        <p:nvSpPr>
          <p:cNvPr id="19" name="BPS Value 1"/>
          <p:cNvSpPr txBox="1"/>
          <p:nvPr/>
        </p:nvSpPr>
        <p:spPr>
          <a:xfrm>
            <a:off x="6896100" y="219630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FMI Legend Chip"/>
          <p:cNvSpPr/>
          <p:nvPr/>
        </p:nvSpPr>
        <p:spPr>
          <a:xfrm>
            <a:off x="4928997" y="332348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31872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2"/>
          <p:cNvSpPr txBox="1"/>
          <p:nvPr/>
        </p:nvSpPr>
        <p:spPr>
          <a:xfrm>
            <a:off x="5233797" y="324252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Conditioning and Smoothing Agents</a:t>
            </a:r>
          </a:p>
        </p:txBody>
      </p:sp>
      <p:sp>
        <p:nvSpPr>
          <p:cNvPr id="23" name="BPS Value 2"/>
          <p:cNvSpPr txBox="1"/>
          <p:nvPr/>
        </p:nvSpPr>
        <p:spPr>
          <a:xfrm>
            <a:off x="6896100" y="330443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FMI Legend Chip"/>
          <p:cNvSpPr/>
          <p:nvPr/>
        </p:nvSpPr>
        <p:spPr>
          <a:xfrm>
            <a:off x="4928997" y="447220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446744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3"/>
          <p:cNvSpPr txBox="1"/>
          <p:nvPr/>
        </p:nvSpPr>
        <p:spPr>
          <a:xfrm>
            <a:off x="5233797" y="439124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Waxes and Structuring Agents</a:t>
            </a:r>
          </a:p>
        </p:txBody>
      </p:sp>
      <p:sp>
        <p:nvSpPr>
          <p:cNvPr id="27" name="BPS Value 3"/>
          <p:cNvSpPr txBox="1"/>
          <p:nvPr/>
        </p:nvSpPr>
        <p:spPr>
          <a:xfrm>
            <a:off x="6896100" y="445315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FMI Legend Chip"/>
          <p:cNvSpPr/>
          <p:nvPr/>
        </p:nvSpPr>
        <p:spPr>
          <a:xfrm>
            <a:off x="4928997" y="565026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56455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4"/>
          <p:cNvSpPr txBox="1"/>
          <p:nvPr/>
        </p:nvSpPr>
        <p:spPr>
          <a:xfrm>
            <a:off x="5233797" y="55693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Texture and Volume Additives</a:t>
            </a:r>
          </a:p>
        </p:txBody>
      </p:sp>
      <p:sp>
        <p:nvSpPr>
          <p:cNvPr id="31" name="BPS Value 4"/>
          <p:cNvSpPr txBox="1"/>
          <p:nvPr/>
        </p:nvSpPr>
        <p:spPr>
          <a:xfrm>
            <a:off x="6896100" y="563121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Ingredient Technology</a:t>
            </a:r>
          </a:p>
        </p:txBody>
      </p:sp>
      <p:sp>
        <p:nvSpPr>
          <p:cNvPr id="34" name="Rectangle 33"/>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6" name="TextBox 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 name="Picture 36" descr="lock.png"/>
          <p:cNvPicPr>
            <a:picLocks noChangeAspect="1"/>
          </p:cNvPicPr>
          <p:nvPr/>
        </p:nvPicPr>
        <p:blipFill>
          <a:blip r:embed="rId5"/>
          <a:stretch>
            <a:fillRect/>
          </a:stretch>
        </p:blipFill>
        <p:spPr>
          <a:xfrm>
            <a:off x="2557843" y="3833622"/>
            <a:ext cx="275034" cy="400050"/>
          </a:xfrm>
          <a:prstGeom prst="rect">
            <a:avLst/>
          </a:prstGeom>
        </p:spPr>
      </p:pic>
      <p:sp>
        <p:nvSpPr>
          <p:cNvPr id="38" name="TextBox 37"/>
          <p:cNvSpPr txBox="1"/>
          <p:nvPr/>
        </p:nvSpPr>
        <p:spPr>
          <a:xfrm>
            <a:off x="7829550" y="1400175"/>
            <a:ext cx="3949092" cy="194310"/>
          </a:xfrm>
          <a:prstGeom prst="rect">
            <a:avLst/>
          </a:prstGeom>
          <a:noFill/>
        </p:spPr>
        <p:txBody>
          <a:bodyPr wrap="none" lIns="0" rIns="0" tIns="0" bIns="0">
            <a:spAutoFit/>
          </a:bodyPr>
          <a:lstStyle/>
          <a:p>
            <a:r>
              <a:rPr sz="1150" b="0">
                <a:solidFill>
                  <a:srgbClr val="2E2E2E"/>
                </a:solidFill>
                <a:latin typeface="Calibri"/>
              </a:rPr>
              <a:t>Among hair styling products by ingredient technology, waxes and</a:t>
            </a:r>
          </a:p>
        </p:txBody>
      </p:sp>
      <p:sp>
        <p:nvSpPr>
          <p:cNvPr id="39" name="TextBox 38"/>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structuring agents segment is expected to witness the highest CAGR</a:t>
            </a:r>
          </a:p>
        </p:txBody>
      </p:sp>
      <p:sp>
        <p:nvSpPr>
          <p:cNvPr id="40" name="TextBox 39"/>
          <p:cNvSpPr txBox="1"/>
          <p:nvPr/>
        </p:nvSpPr>
        <p:spPr>
          <a:xfrm>
            <a:off x="782955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41" name="Picture 40" descr="lock.png"/>
          <p:cNvPicPr>
            <a:picLocks noChangeAspect="1"/>
          </p:cNvPicPr>
          <p:nvPr/>
        </p:nvPicPr>
        <p:blipFill>
          <a:blip r:embed="rId5"/>
          <a:stretch>
            <a:fillRect/>
          </a:stretch>
        </p:blipFill>
        <p:spPr>
          <a:xfrm>
            <a:off x="7976422" y="1740471"/>
            <a:ext cx="134549" cy="195707"/>
          </a:xfrm>
          <a:prstGeom prst="rect">
            <a:avLst/>
          </a:prstGeom>
        </p:spPr>
      </p:pic>
      <p:sp>
        <p:nvSpPr>
          <p:cNvPr id="42" name="TextBox 41"/>
          <p:cNvSpPr txBox="1"/>
          <p:nvPr/>
        </p:nvSpPr>
        <p:spPr>
          <a:xfrm>
            <a:off x="8151531"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43" name="TextBox 42"/>
          <p:cNvSpPr txBox="1"/>
          <p:nvPr/>
        </p:nvSpPr>
        <p:spPr>
          <a:xfrm>
            <a:off x="7829550" y="1925955"/>
            <a:ext cx="4057650" cy="194310"/>
          </a:xfrm>
          <a:prstGeom prst="rect">
            <a:avLst/>
          </a:prstGeom>
          <a:noFill/>
        </p:spPr>
        <p:txBody>
          <a:bodyPr wrap="none" lIns="0" rIns="0" tIns="0" bIns="0">
            <a:spAutoFit/>
          </a:bodyPr>
          <a:lstStyle/>
          <a:p>
            <a:r>
              <a:rPr sz="1150" b="0">
                <a:solidFill>
                  <a:srgbClr val="2E2E2E"/>
                </a:solidFill>
                <a:latin typeface="Calibri"/>
              </a:rPr>
              <a:t>ingredient technology, the texture and volume additives segment is</a:t>
            </a:r>
          </a:p>
        </p:txBody>
      </p:sp>
      <p:sp>
        <p:nvSpPr>
          <p:cNvPr id="44" name="TextBox 43"/>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45" name="Picture 44" descr="lock.png"/>
          <p:cNvPicPr>
            <a:picLocks noChangeAspect="1"/>
          </p:cNvPicPr>
          <p:nvPr/>
        </p:nvPicPr>
        <p:blipFill>
          <a:blip r:embed="rId5"/>
          <a:stretch>
            <a:fillRect/>
          </a:stretch>
        </p:blipFill>
        <p:spPr>
          <a:xfrm>
            <a:off x="10354013" y="2090991"/>
            <a:ext cx="134549" cy="195707"/>
          </a:xfrm>
          <a:prstGeom prst="rect">
            <a:avLst/>
          </a:prstGeom>
        </p:spPr>
      </p:pic>
      <p:sp>
        <p:nvSpPr>
          <p:cNvPr id="46" name="TextBox 45"/>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7" name="TextBox 46"/>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8" name="Picture 47" descr="lock.png"/>
          <p:cNvPicPr>
            <a:picLocks noChangeAspect="1"/>
          </p:cNvPicPr>
          <p:nvPr/>
        </p:nvPicPr>
        <p:blipFill>
          <a:blip r:embed="rId5"/>
          <a:stretch>
            <a:fillRect/>
          </a:stretch>
        </p:blipFill>
        <p:spPr>
          <a:xfrm>
            <a:off x="8027482" y="2266251"/>
            <a:ext cx="134549" cy="195707"/>
          </a:xfrm>
          <a:prstGeom prst="rect">
            <a:avLst/>
          </a:prstGeom>
        </p:spPr>
      </p:pic>
      <p:sp>
        <p:nvSpPr>
          <p:cNvPr id="49" name="TextBox 48"/>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TextBox 49"/>
          <p:cNvSpPr txBox="1"/>
          <p:nvPr/>
        </p:nvSpPr>
        <p:spPr>
          <a:xfrm>
            <a:off x="7829550" y="2504313"/>
            <a:ext cx="4057650" cy="194310"/>
          </a:xfrm>
          <a:prstGeom prst="rect">
            <a:avLst/>
          </a:prstGeom>
          <a:noFill/>
        </p:spPr>
        <p:txBody>
          <a:bodyPr wrap="none" lIns="0" rIns="0" tIns="0" bIns="0">
            <a:spAutoFit/>
          </a:bodyPr>
          <a:lstStyle/>
          <a:p>
            <a:r>
              <a:rPr sz="1150" b="0">
                <a:solidFill>
                  <a:srgbClr val="2E2E2E"/>
                </a:solidFill>
                <a:latin typeface="Calibri"/>
              </a:rPr>
              <a:t>The film-forming and fixative polymers segment is expected to lose</a:t>
            </a:r>
          </a:p>
        </p:txBody>
      </p:sp>
      <p:pic>
        <p:nvPicPr>
          <p:cNvPr id="51" name="Picture 50" descr="lock.png"/>
          <p:cNvPicPr>
            <a:picLocks noChangeAspect="1"/>
          </p:cNvPicPr>
          <p:nvPr/>
        </p:nvPicPr>
        <p:blipFill>
          <a:blip r:embed="rId5"/>
          <a:stretch>
            <a:fillRect/>
          </a:stretch>
        </p:blipFill>
        <p:spPr>
          <a:xfrm>
            <a:off x="7815470" y="2669349"/>
            <a:ext cx="134549" cy="195707"/>
          </a:xfrm>
          <a:prstGeom prst="rect">
            <a:avLst/>
          </a:prstGeom>
        </p:spPr>
      </p:pic>
      <p:sp>
        <p:nvSpPr>
          <p:cNvPr id="52" name="TextBox 51"/>
          <p:cNvSpPr txBox="1"/>
          <p:nvPr/>
        </p:nvSpPr>
        <p:spPr>
          <a:xfrm>
            <a:off x="7990579"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53" name="Picture 52" descr="lock.png"/>
          <p:cNvPicPr>
            <a:picLocks noChangeAspect="1"/>
          </p:cNvPicPr>
          <p:nvPr/>
        </p:nvPicPr>
        <p:blipFill>
          <a:blip r:embed="rId5"/>
          <a:stretch>
            <a:fillRect/>
          </a:stretch>
        </p:blipFill>
        <p:spPr>
          <a:xfrm>
            <a:off x="10578084" y="2669349"/>
            <a:ext cx="134549" cy="195707"/>
          </a:xfrm>
          <a:prstGeom prst="rect">
            <a:avLst/>
          </a:prstGeom>
        </p:spPr>
      </p:pic>
      <p:sp>
        <p:nvSpPr>
          <p:cNvPr id="54" name="TextBox 53"/>
          <p:cNvSpPr txBox="1"/>
          <p:nvPr/>
        </p:nvSpPr>
        <p:spPr>
          <a:xfrm>
            <a:off x="1075319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5" name="lockshield_13"/>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232660"/>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2537460"/>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242310"/>
            <a:ext cx="7124700" cy="281178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Format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Hold Level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Finish</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Distribution Channel</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Primary Styling Benefit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Hair Type Targeted</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Ingredient Technology</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Volume Overview (Mn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(MN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2" name="Rounded Rectangle 11"/>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(MN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3" name="Rounded Rectangle 12"/>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4" name="Rounded Rectangle 13"/>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(Mn Units), 2021–2036</a:t>
            </a:r>
          </a:p>
        </p:txBody>
      </p:sp>
      <p:graphicFrame>
        <p:nvGraphicFramePr>
          <p:cNvPr id="17" name="Chart 16"/>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8" name="Rounded Rectangle 17"/>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20" name="Chart 19"/>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1" name="TextBox 20"/>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2" name="TextBox 21"/>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3" name="Rounded Rectangle 22"/>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(Mn Units)</a:t>
            </a:r>
          </a:p>
        </p:txBody>
      </p:sp>
      <p:graphicFrame>
        <p:nvGraphicFramePr>
          <p:cNvPr id="25" name="Chart 24"/>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6" name="Rounded Rectangle 25"/>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8" name="Chart 27"/>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9" name="Rounded Rectangle 28"/>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Rounded Rectangle 29"/>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8"/>
          <a:stretch>
            <a:fillRect/>
          </a:stretch>
        </p:blipFill>
        <p:spPr>
          <a:xfrm>
            <a:off x="14930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4502944" y="1219200"/>
            <a:ext cx="157162" cy="228600"/>
          </a:xfrm>
          <a:prstGeom prst="rect">
            <a:avLst/>
          </a:prstGeom>
        </p:spPr>
      </p:pic>
      <p:pic>
        <p:nvPicPr>
          <p:cNvPr id="34" name="Picture 33" descr="lock.png"/>
          <p:cNvPicPr>
            <a:picLocks noChangeAspect="1"/>
          </p:cNvPicPr>
          <p:nvPr/>
        </p:nvPicPr>
        <p:blipFill>
          <a:blip r:embed="rId8"/>
          <a:stretch>
            <a:fillRect/>
          </a:stretch>
        </p:blipFill>
        <p:spPr>
          <a:xfrm>
            <a:off x="75128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10522744" y="1303020"/>
            <a:ext cx="157162" cy="228600"/>
          </a:xfrm>
          <a:prstGeom prst="rect">
            <a:avLst/>
          </a:prstGeom>
        </p:spPr>
      </p:pic>
      <p:pic>
        <p:nvPicPr>
          <p:cNvPr id="36" name="Picture 35" descr="lock.png"/>
          <p:cNvPicPr>
            <a:picLocks noChangeAspect="1"/>
          </p:cNvPicPr>
          <p:nvPr/>
        </p:nvPicPr>
        <p:blipFill>
          <a:blip r:embed="rId8"/>
          <a:stretch>
            <a:fillRect/>
          </a:stretch>
        </p:blipFill>
        <p:spPr>
          <a:xfrm>
            <a:off x="2554414" y="2661285"/>
            <a:ext cx="165021" cy="240030"/>
          </a:xfrm>
          <a:prstGeom prst="rect">
            <a:avLst/>
          </a:prstGeom>
        </p:spPr>
      </p:pic>
      <p:pic>
        <p:nvPicPr>
          <p:cNvPr id="37" name="Picture 36" descr="lock.png"/>
          <p:cNvPicPr>
            <a:picLocks noChangeAspect="1"/>
          </p:cNvPicPr>
          <p:nvPr/>
        </p:nvPicPr>
        <p:blipFill>
          <a:blip r:embed="rId8"/>
          <a:stretch>
            <a:fillRect/>
          </a:stretch>
        </p:blipFill>
        <p:spPr>
          <a:xfrm>
            <a:off x="6762365" y="2599095"/>
            <a:ext cx="191595" cy="278683"/>
          </a:xfrm>
          <a:prstGeom prst="rect">
            <a:avLst/>
          </a:prstGeom>
        </p:spPr>
      </p:pic>
      <p:pic>
        <p:nvPicPr>
          <p:cNvPr id="38" name="Picture 37" descr="lock.png"/>
          <p:cNvPicPr>
            <a:picLocks noChangeAspect="1"/>
          </p:cNvPicPr>
          <p:nvPr/>
        </p:nvPicPr>
        <p:blipFill>
          <a:blip r:embed="rId8"/>
          <a:stretch>
            <a:fillRect/>
          </a:stretch>
        </p:blipFill>
        <p:spPr>
          <a:xfrm>
            <a:off x="9878378" y="2141220"/>
            <a:ext cx="230504" cy="335279"/>
          </a:xfrm>
          <a:prstGeom prst="rect">
            <a:avLst/>
          </a:prstGeom>
        </p:spPr>
      </p:pic>
      <p:pic>
        <p:nvPicPr>
          <p:cNvPr id="39" name="Picture 38" descr="lock.png"/>
          <p:cNvPicPr>
            <a:picLocks noChangeAspect="1"/>
          </p:cNvPicPr>
          <p:nvPr/>
        </p:nvPicPr>
        <p:blipFill>
          <a:blip r:embed="rId8"/>
          <a:stretch>
            <a:fillRect/>
          </a:stretch>
        </p:blipFill>
        <p:spPr>
          <a:xfrm>
            <a:off x="2554414" y="4575810"/>
            <a:ext cx="165021" cy="240030"/>
          </a:xfrm>
          <a:prstGeom prst="rect">
            <a:avLst/>
          </a:prstGeom>
        </p:spPr>
      </p:pic>
      <p:pic>
        <p:nvPicPr>
          <p:cNvPr id="40" name="Picture 39" descr="lock.png"/>
          <p:cNvPicPr>
            <a:picLocks noChangeAspect="1"/>
          </p:cNvPicPr>
          <p:nvPr/>
        </p:nvPicPr>
        <p:blipFill>
          <a:blip r:embed="rId8"/>
          <a:stretch>
            <a:fillRect/>
          </a:stretch>
        </p:blipFill>
        <p:spPr>
          <a:xfrm>
            <a:off x="8715708" y="4462938"/>
            <a:ext cx="261282" cy="380047"/>
          </a:xfrm>
          <a:prstGeom prst="rect">
            <a:avLst/>
          </a:prstGeom>
        </p:spPr>
      </p:pic>
      <p:sp>
        <p:nvSpPr>
          <p:cNvPr id="41" name="TextBox 40"/>
          <p:cNvSpPr txBox="1"/>
          <p:nvPr/>
        </p:nvSpPr>
        <p:spPr>
          <a:xfrm>
            <a:off x="8071485" y="2876550"/>
            <a:ext cx="2661741" cy="186689"/>
          </a:xfrm>
          <a:prstGeom prst="rect">
            <a:avLst/>
          </a:prstGeom>
          <a:noFill/>
        </p:spPr>
        <p:txBody>
          <a:bodyPr wrap="none" lIns="0" rIns="0" tIns="0" bIns="0">
            <a:spAutoFit/>
          </a:bodyPr>
          <a:lstStyle/>
          <a:p>
            <a:r>
              <a:rPr sz="1100" b="0">
                <a:solidFill>
                  <a:srgbClr val="2E2E2E"/>
                </a:solidFill>
                <a:latin typeface="Calibri"/>
              </a:rPr>
              <a:t>U.S.'s hair styling products market expands at</a:t>
            </a:r>
          </a:p>
        </p:txBody>
      </p:sp>
      <p:pic>
        <p:nvPicPr>
          <p:cNvPr id="42" name="Picture 41" descr="lock.png"/>
          <p:cNvPicPr>
            <a:picLocks noChangeAspect="1"/>
          </p:cNvPicPr>
          <p:nvPr/>
        </p:nvPicPr>
        <p:blipFill>
          <a:blip r:embed="rId8"/>
          <a:stretch>
            <a:fillRect/>
          </a:stretch>
        </p:blipFill>
        <p:spPr>
          <a:xfrm>
            <a:off x="10681278" y="2866771"/>
            <a:ext cx="128699" cy="187198"/>
          </a:xfrm>
          <a:prstGeom prst="rect">
            <a:avLst/>
          </a:prstGeom>
        </p:spPr>
      </p:pic>
      <p:sp>
        <p:nvSpPr>
          <p:cNvPr id="43" name="TextBox 42"/>
          <p:cNvSpPr txBox="1"/>
          <p:nvPr/>
        </p:nvSpPr>
        <p:spPr>
          <a:xfrm>
            <a:off x="10848773"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4" name="TextBox 43"/>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5" name="Picture 44" descr="lock.png"/>
          <p:cNvPicPr>
            <a:picLocks noChangeAspect="1"/>
          </p:cNvPicPr>
          <p:nvPr/>
        </p:nvPicPr>
        <p:blipFill>
          <a:blip r:embed="rId8"/>
          <a:stretch>
            <a:fillRect/>
          </a:stretch>
        </p:blipFill>
        <p:spPr>
          <a:xfrm>
            <a:off x="10750855" y="3034411"/>
            <a:ext cx="128699" cy="187198"/>
          </a:xfrm>
          <a:prstGeom prst="rect">
            <a:avLst/>
          </a:prstGeom>
        </p:spPr>
      </p:pic>
      <p:sp>
        <p:nvSpPr>
          <p:cNvPr id="46" name="TextBox 45"/>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7" name="Picture 46" descr="lock.png"/>
          <p:cNvPicPr>
            <a:picLocks noChangeAspect="1"/>
          </p:cNvPicPr>
          <p:nvPr/>
        </p:nvPicPr>
        <p:blipFill>
          <a:blip r:embed="rId8"/>
          <a:stretch>
            <a:fillRect/>
          </a:stretch>
        </p:blipFill>
        <p:spPr>
          <a:xfrm>
            <a:off x="11079301" y="3034411"/>
            <a:ext cx="128699" cy="187198"/>
          </a:xfrm>
          <a:prstGeom prst="rect">
            <a:avLst/>
          </a:prstGeom>
        </p:spPr>
      </p:pic>
      <p:sp>
        <p:nvSpPr>
          <p:cNvPr id="48" name="TextBox 47"/>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9" name="TextBox 48"/>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50" name="Picture 49" descr="lock.png"/>
          <p:cNvPicPr>
            <a:picLocks noChangeAspect="1"/>
          </p:cNvPicPr>
          <p:nvPr/>
        </p:nvPicPr>
        <p:blipFill>
          <a:blip r:embed="rId8"/>
          <a:stretch>
            <a:fillRect/>
          </a:stretch>
        </p:blipFill>
        <p:spPr>
          <a:xfrm>
            <a:off x="844592" y="5956680"/>
            <a:ext cx="128699" cy="187198"/>
          </a:xfrm>
          <a:prstGeom prst="rect">
            <a:avLst/>
          </a:prstGeom>
        </p:spPr>
      </p:pic>
      <p:sp>
        <p:nvSpPr>
          <p:cNvPr id="51" name="TextBox 50"/>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2" name="Picture 51" descr="lock.png"/>
          <p:cNvPicPr>
            <a:picLocks noChangeAspect="1"/>
          </p:cNvPicPr>
          <p:nvPr/>
        </p:nvPicPr>
        <p:blipFill>
          <a:blip r:embed="rId8"/>
          <a:stretch>
            <a:fillRect/>
          </a:stretch>
        </p:blipFill>
        <p:spPr>
          <a:xfrm>
            <a:off x="1995140" y="5956680"/>
            <a:ext cx="128699" cy="187198"/>
          </a:xfrm>
          <a:prstGeom prst="rect">
            <a:avLst/>
          </a:prstGeom>
        </p:spPr>
      </p:pic>
      <p:sp>
        <p:nvSpPr>
          <p:cNvPr id="53" name="TextBox 52"/>
          <p:cNvSpPr txBox="1"/>
          <p:nvPr/>
        </p:nvSpPr>
        <p:spPr>
          <a:xfrm>
            <a:off x="2162635" y="5966460"/>
            <a:ext cx="3564880" cy="186689"/>
          </a:xfrm>
          <a:prstGeom prst="rect">
            <a:avLst/>
          </a:prstGeom>
          <a:noFill/>
        </p:spPr>
        <p:txBody>
          <a:bodyPr wrap="none" lIns="0" rIns="0" tIns="0" bIns="0">
            <a:spAutoFit/>
          </a:bodyPr>
          <a:lstStyle/>
          <a:p>
            <a:r>
              <a:rPr sz="1100" b="0">
                <a:solidFill>
                  <a:srgbClr val="2E2E2E"/>
                </a:solidFill>
                <a:latin typeface="Calibri"/>
              </a:rPr>
              <a:t>of the North America hair styling products market in 2026; by</a:t>
            </a:r>
          </a:p>
        </p:txBody>
      </p:sp>
      <p:sp>
        <p:nvSpPr>
          <p:cNvPr id="54" name="TextBox 53"/>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5" name="Picture 54" descr="lock.png"/>
          <p:cNvPicPr>
            <a:picLocks noChangeAspect="1"/>
          </p:cNvPicPr>
          <p:nvPr/>
        </p:nvPicPr>
        <p:blipFill>
          <a:blip r:embed="rId8"/>
          <a:stretch>
            <a:fillRect/>
          </a:stretch>
        </p:blipFill>
        <p:spPr>
          <a:xfrm>
            <a:off x="1816216" y="6124320"/>
            <a:ext cx="128699" cy="187198"/>
          </a:xfrm>
          <a:prstGeom prst="rect">
            <a:avLst/>
          </a:prstGeom>
        </p:spPr>
      </p:pic>
      <p:sp>
        <p:nvSpPr>
          <p:cNvPr id="56" name="TextBox 55"/>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7" name="Picture 56" descr="lock.png"/>
          <p:cNvPicPr>
            <a:picLocks noChangeAspect="1"/>
          </p:cNvPicPr>
          <p:nvPr/>
        </p:nvPicPr>
        <p:blipFill>
          <a:blip r:embed="rId8"/>
          <a:stretch>
            <a:fillRect/>
          </a:stretch>
        </p:blipFill>
        <p:spPr>
          <a:xfrm>
            <a:off x="2221606" y="6124320"/>
            <a:ext cx="128699" cy="187198"/>
          </a:xfrm>
          <a:prstGeom prst="rect">
            <a:avLst/>
          </a:prstGeom>
        </p:spPr>
      </p:pic>
      <p:sp>
        <p:nvSpPr>
          <p:cNvPr id="58" name="TextBox 57"/>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9" name="TextBox 58"/>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60" name="Picture 59" descr="lock.png"/>
          <p:cNvPicPr>
            <a:picLocks noChangeAspect="1"/>
          </p:cNvPicPr>
          <p:nvPr/>
        </p:nvPicPr>
        <p:blipFill>
          <a:blip r:embed="rId8"/>
          <a:stretch>
            <a:fillRect/>
          </a:stretch>
        </p:blipFill>
        <p:spPr>
          <a:xfrm>
            <a:off x="7821530" y="5956680"/>
            <a:ext cx="128699" cy="187198"/>
          </a:xfrm>
          <a:prstGeom prst="rect">
            <a:avLst/>
          </a:prstGeom>
        </p:spPr>
      </p:pic>
      <p:sp>
        <p:nvSpPr>
          <p:cNvPr id="61" name="TextBox 60"/>
          <p:cNvSpPr txBox="1"/>
          <p:nvPr/>
        </p:nvSpPr>
        <p:spPr>
          <a:xfrm>
            <a:off x="7989026" y="5966460"/>
            <a:ext cx="3450828" cy="186689"/>
          </a:xfrm>
          <a:prstGeom prst="rect">
            <a:avLst/>
          </a:prstGeom>
          <a:noFill/>
        </p:spPr>
        <p:txBody>
          <a:bodyPr wrap="none" lIns="0" rIns="0" tIns="0" bIns="0">
            <a:spAutoFit/>
          </a:bodyPr>
          <a:lstStyle/>
          <a:p>
            <a:r>
              <a:rPr sz="1100" b="0">
                <a:solidFill>
                  <a:srgbClr val="2E2E2E"/>
                </a:solidFill>
                <a:latin typeface="Calibri"/>
              </a:rPr>
              <a:t>Mn Units between 2026 and 2036 the U.S. market grows to</a:t>
            </a:r>
          </a:p>
        </p:txBody>
      </p:sp>
      <p:pic>
        <p:nvPicPr>
          <p:cNvPr id="62" name="Picture 61" descr="lock.png"/>
          <p:cNvPicPr>
            <a:picLocks noChangeAspect="1"/>
          </p:cNvPicPr>
          <p:nvPr/>
        </p:nvPicPr>
        <p:blipFill>
          <a:blip r:embed="rId8"/>
          <a:stretch>
            <a:fillRect/>
          </a:stretch>
        </p:blipFill>
        <p:spPr>
          <a:xfrm>
            <a:off x="11387906" y="5956680"/>
            <a:ext cx="128699" cy="187198"/>
          </a:xfrm>
          <a:prstGeom prst="rect">
            <a:avLst/>
          </a:prstGeom>
        </p:spPr>
      </p:pic>
      <p:sp>
        <p:nvSpPr>
          <p:cNvPr id="63" name="TextBox 62"/>
          <p:cNvSpPr txBox="1"/>
          <p:nvPr/>
        </p:nvSpPr>
        <p:spPr>
          <a:xfrm>
            <a:off x="11555402" y="5966460"/>
            <a:ext cx="14577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4" name="TextBox 63"/>
          <p:cNvSpPr txBox="1"/>
          <p:nvPr/>
        </p:nvSpPr>
        <p:spPr>
          <a:xfrm>
            <a:off x="6286500" y="6134100"/>
            <a:ext cx="1755601" cy="186689"/>
          </a:xfrm>
          <a:prstGeom prst="rect">
            <a:avLst/>
          </a:prstGeom>
          <a:noFill/>
        </p:spPr>
        <p:txBody>
          <a:bodyPr wrap="none" lIns="0" rIns="0" tIns="0" bIns="0">
            <a:spAutoFit/>
          </a:bodyPr>
          <a:lstStyle/>
          <a:p>
            <a:r>
              <a:rPr sz="1100" b="0">
                <a:solidFill>
                  <a:srgbClr val="2E2E2E"/>
                </a:solidFill>
                <a:latin typeface="Calibri"/>
              </a:rPr>
              <a:t>its 2026 size over the decade.</a:t>
            </a:r>
          </a:p>
        </p:txBody>
      </p:sp>
      <p:sp>
        <p:nvSpPr>
          <p:cNvPr id="65" name="lockshield_17"/>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0"/>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5"/>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8"/>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2" name="Rounded Rectangle 11"/>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3" name="Rounded Rectangle 12"/>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4" name="Rounded Rectangle 13"/>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5" name="Rounded Rectangle 14"/>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7" name="Chart 16"/>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8" name="Rounded Rectangle 17"/>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20" name="Chart 19"/>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1" name="TextBox 20"/>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2" name="TextBox 21"/>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3" name="Rounded Rectangle 22"/>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5" name="Chart 24"/>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6" name="Rounded Rectangle 25"/>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8" name="Chart 27"/>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9" name="Rounded Rectangle 28"/>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Rounded Rectangle 29"/>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8"/>
          <a:stretch>
            <a:fillRect/>
          </a:stretch>
        </p:blipFill>
        <p:spPr>
          <a:xfrm>
            <a:off x="14930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4502944" y="1219200"/>
            <a:ext cx="157162" cy="228600"/>
          </a:xfrm>
          <a:prstGeom prst="rect">
            <a:avLst/>
          </a:prstGeom>
        </p:spPr>
      </p:pic>
      <p:pic>
        <p:nvPicPr>
          <p:cNvPr id="34" name="Picture 33" descr="lock.png"/>
          <p:cNvPicPr>
            <a:picLocks noChangeAspect="1"/>
          </p:cNvPicPr>
          <p:nvPr/>
        </p:nvPicPr>
        <p:blipFill>
          <a:blip r:embed="rId8"/>
          <a:stretch>
            <a:fillRect/>
          </a:stretch>
        </p:blipFill>
        <p:spPr>
          <a:xfrm>
            <a:off x="75128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10522744" y="1303020"/>
            <a:ext cx="157162" cy="228600"/>
          </a:xfrm>
          <a:prstGeom prst="rect">
            <a:avLst/>
          </a:prstGeom>
        </p:spPr>
      </p:pic>
      <p:pic>
        <p:nvPicPr>
          <p:cNvPr id="36" name="Picture 35" descr="lock.png"/>
          <p:cNvPicPr>
            <a:picLocks noChangeAspect="1"/>
          </p:cNvPicPr>
          <p:nvPr/>
        </p:nvPicPr>
        <p:blipFill>
          <a:blip r:embed="rId8"/>
          <a:stretch>
            <a:fillRect/>
          </a:stretch>
        </p:blipFill>
        <p:spPr>
          <a:xfrm>
            <a:off x="2554414" y="2661285"/>
            <a:ext cx="165021" cy="240030"/>
          </a:xfrm>
          <a:prstGeom prst="rect">
            <a:avLst/>
          </a:prstGeom>
        </p:spPr>
      </p:pic>
      <p:pic>
        <p:nvPicPr>
          <p:cNvPr id="37" name="Picture 36" descr="lock.png"/>
          <p:cNvPicPr>
            <a:picLocks noChangeAspect="1"/>
          </p:cNvPicPr>
          <p:nvPr/>
        </p:nvPicPr>
        <p:blipFill>
          <a:blip r:embed="rId8"/>
          <a:stretch>
            <a:fillRect/>
          </a:stretch>
        </p:blipFill>
        <p:spPr>
          <a:xfrm>
            <a:off x="6762365" y="2599095"/>
            <a:ext cx="191595" cy="278683"/>
          </a:xfrm>
          <a:prstGeom prst="rect">
            <a:avLst/>
          </a:prstGeom>
        </p:spPr>
      </p:pic>
      <p:pic>
        <p:nvPicPr>
          <p:cNvPr id="38" name="Picture 37" descr="lock.png"/>
          <p:cNvPicPr>
            <a:picLocks noChangeAspect="1"/>
          </p:cNvPicPr>
          <p:nvPr/>
        </p:nvPicPr>
        <p:blipFill>
          <a:blip r:embed="rId8"/>
          <a:stretch>
            <a:fillRect/>
          </a:stretch>
        </p:blipFill>
        <p:spPr>
          <a:xfrm>
            <a:off x="9878378" y="2141220"/>
            <a:ext cx="230504" cy="335279"/>
          </a:xfrm>
          <a:prstGeom prst="rect">
            <a:avLst/>
          </a:prstGeom>
        </p:spPr>
      </p:pic>
      <p:pic>
        <p:nvPicPr>
          <p:cNvPr id="39" name="Picture 38" descr="lock.png"/>
          <p:cNvPicPr>
            <a:picLocks noChangeAspect="1"/>
          </p:cNvPicPr>
          <p:nvPr/>
        </p:nvPicPr>
        <p:blipFill>
          <a:blip r:embed="rId8"/>
          <a:stretch>
            <a:fillRect/>
          </a:stretch>
        </p:blipFill>
        <p:spPr>
          <a:xfrm>
            <a:off x="2554414" y="4575810"/>
            <a:ext cx="165021" cy="240030"/>
          </a:xfrm>
          <a:prstGeom prst="rect">
            <a:avLst/>
          </a:prstGeom>
        </p:spPr>
      </p:pic>
      <p:pic>
        <p:nvPicPr>
          <p:cNvPr id="40" name="Picture 39" descr="lock.png"/>
          <p:cNvPicPr>
            <a:picLocks noChangeAspect="1"/>
          </p:cNvPicPr>
          <p:nvPr/>
        </p:nvPicPr>
        <p:blipFill>
          <a:blip r:embed="rId8"/>
          <a:stretch>
            <a:fillRect/>
          </a:stretch>
        </p:blipFill>
        <p:spPr>
          <a:xfrm>
            <a:off x="8715708" y="4462938"/>
            <a:ext cx="261282" cy="380047"/>
          </a:xfrm>
          <a:prstGeom prst="rect">
            <a:avLst/>
          </a:prstGeom>
        </p:spPr>
      </p:pic>
      <p:sp>
        <p:nvSpPr>
          <p:cNvPr id="41" name="TextBox 40"/>
          <p:cNvSpPr txBox="1"/>
          <p:nvPr/>
        </p:nvSpPr>
        <p:spPr>
          <a:xfrm>
            <a:off x="8071485" y="2876550"/>
            <a:ext cx="2661741" cy="186689"/>
          </a:xfrm>
          <a:prstGeom prst="rect">
            <a:avLst/>
          </a:prstGeom>
          <a:noFill/>
        </p:spPr>
        <p:txBody>
          <a:bodyPr wrap="none" lIns="0" rIns="0" tIns="0" bIns="0">
            <a:spAutoFit/>
          </a:bodyPr>
          <a:lstStyle/>
          <a:p>
            <a:r>
              <a:rPr sz="1100" b="0">
                <a:solidFill>
                  <a:srgbClr val="2E2E2E"/>
                </a:solidFill>
                <a:latin typeface="Calibri"/>
              </a:rPr>
              <a:t>U.S.'s hair styling products market expands at</a:t>
            </a:r>
          </a:p>
        </p:txBody>
      </p:sp>
      <p:pic>
        <p:nvPicPr>
          <p:cNvPr id="42" name="Picture 41" descr="lock.png"/>
          <p:cNvPicPr>
            <a:picLocks noChangeAspect="1"/>
          </p:cNvPicPr>
          <p:nvPr/>
        </p:nvPicPr>
        <p:blipFill>
          <a:blip r:embed="rId8"/>
          <a:stretch>
            <a:fillRect/>
          </a:stretch>
        </p:blipFill>
        <p:spPr>
          <a:xfrm>
            <a:off x="10681278" y="2866771"/>
            <a:ext cx="128699" cy="187198"/>
          </a:xfrm>
          <a:prstGeom prst="rect">
            <a:avLst/>
          </a:prstGeom>
        </p:spPr>
      </p:pic>
      <p:sp>
        <p:nvSpPr>
          <p:cNvPr id="43" name="TextBox 42"/>
          <p:cNvSpPr txBox="1"/>
          <p:nvPr/>
        </p:nvSpPr>
        <p:spPr>
          <a:xfrm>
            <a:off x="10848773"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4" name="TextBox 43"/>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5" name="Picture 44" descr="lock.png"/>
          <p:cNvPicPr>
            <a:picLocks noChangeAspect="1"/>
          </p:cNvPicPr>
          <p:nvPr/>
        </p:nvPicPr>
        <p:blipFill>
          <a:blip r:embed="rId8"/>
          <a:stretch>
            <a:fillRect/>
          </a:stretch>
        </p:blipFill>
        <p:spPr>
          <a:xfrm>
            <a:off x="10750855" y="3034411"/>
            <a:ext cx="128699" cy="187198"/>
          </a:xfrm>
          <a:prstGeom prst="rect">
            <a:avLst/>
          </a:prstGeom>
        </p:spPr>
      </p:pic>
      <p:sp>
        <p:nvSpPr>
          <p:cNvPr id="46" name="TextBox 45"/>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7" name="Picture 46" descr="lock.png"/>
          <p:cNvPicPr>
            <a:picLocks noChangeAspect="1"/>
          </p:cNvPicPr>
          <p:nvPr/>
        </p:nvPicPr>
        <p:blipFill>
          <a:blip r:embed="rId8"/>
          <a:stretch>
            <a:fillRect/>
          </a:stretch>
        </p:blipFill>
        <p:spPr>
          <a:xfrm>
            <a:off x="11079301" y="3034411"/>
            <a:ext cx="128699" cy="187198"/>
          </a:xfrm>
          <a:prstGeom prst="rect">
            <a:avLst/>
          </a:prstGeom>
        </p:spPr>
      </p:pic>
      <p:sp>
        <p:nvSpPr>
          <p:cNvPr id="48" name="TextBox 47"/>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9" name="TextBox 48"/>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50" name="Picture 49" descr="lock.png"/>
          <p:cNvPicPr>
            <a:picLocks noChangeAspect="1"/>
          </p:cNvPicPr>
          <p:nvPr/>
        </p:nvPicPr>
        <p:blipFill>
          <a:blip r:embed="rId8"/>
          <a:stretch>
            <a:fillRect/>
          </a:stretch>
        </p:blipFill>
        <p:spPr>
          <a:xfrm>
            <a:off x="844592" y="5956680"/>
            <a:ext cx="128699" cy="187198"/>
          </a:xfrm>
          <a:prstGeom prst="rect">
            <a:avLst/>
          </a:prstGeom>
        </p:spPr>
      </p:pic>
      <p:sp>
        <p:nvSpPr>
          <p:cNvPr id="51" name="TextBox 50"/>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2" name="Picture 51" descr="lock.png"/>
          <p:cNvPicPr>
            <a:picLocks noChangeAspect="1"/>
          </p:cNvPicPr>
          <p:nvPr/>
        </p:nvPicPr>
        <p:blipFill>
          <a:blip r:embed="rId8"/>
          <a:stretch>
            <a:fillRect/>
          </a:stretch>
        </p:blipFill>
        <p:spPr>
          <a:xfrm>
            <a:off x="1995140" y="5956680"/>
            <a:ext cx="128699" cy="187198"/>
          </a:xfrm>
          <a:prstGeom prst="rect">
            <a:avLst/>
          </a:prstGeom>
        </p:spPr>
      </p:pic>
      <p:sp>
        <p:nvSpPr>
          <p:cNvPr id="53" name="TextBox 52"/>
          <p:cNvSpPr txBox="1"/>
          <p:nvPr/>
        </p:nvSpPr>
        <p:spPr>
          <a:xfrm>
            <a:off x="2162635" y="5966460"/>
            <a:ext cx="3564880" cy="186689"/>
          </a:xfrm>
          <a:prstGeom prst="rect">
            <a:avLst/>
          </a:prstGeom>
          <a:noFill/>
        </p:spPr>
        <p:txBody>
          <a:bodyPr wrap="none" lIns="0" rIns="0" tIns="0" bIns="0">
            <a:spAutoFit/>
          </a:bodyPr>
          <a:lstStyle/>
          <a:p>
            <a:r>
              <a:rPr sz="1100" b="0">
                <a:solidFill>
                  <a:srgbClr val="2E2E2E"/>
                </a:solidFill>
                <a:latin typeface="Calibri"/>
              </a:rPr>
              <a:t>of the North America hair styling products market in 2026; by</a:t>
            </a:r>
          </a:p>
        </p:txBody>
      </p:sp>
      <p:sp>
        <p:nvSpPr>
          <p:cNvPr id="54" name="TextBox 53"/>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5" name="Picture 54" descr="lock.png"/>
          <p:cNvPicPr>
            <a:picLocks noChangeAspect="1"/>
          </p:cNvPicPr>
          <p:nvPr/>
        </p:nvPicPr>
        <p:blipFill>
          <a:blip r:embed="rId8"/>
          <a:stretch>
            <a:fillRect/>
          </a:stretch>
        </p:blipFill>
        <p:spPr>
          <a:xfrm>
            <a:off x="1816216" y="6124320"/>
            <a:ext cx="128699" cy="187198"/>
          </a:xfrm>
          <a:prstGeom prst="rect">
            <a:avLst/>
          </a:prstGeom>
        </p:spPr>
      </p:pic>
      <p:sp>
        <p:nvSpPr>
          <p:cNvPr id="56" name="TextBox 55"/>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7" name="Picture 56" descr="lock.png"/>
          <p:cNvPicPr>
            <a:picLocks noChangeAspect="1"/>
          </p:cNvPicPr>
          <p:nvPr/>
        </p:nvPicPr>
        <p:blipFill>
          <a:blip r:embed="rId8"/>
          <a:stretch>
            <a:fillRect/>
          </a:stretch>
        </p:blipFill>
        <p:spPr>
          <a:xfrm>
            <a:off x="2221606" y="6124320"/>
            <a:ext cx="128699" cy="187198"/>
          </a:xfrm>
          <a:prstGeom prst="rect">
            <a:avLst/>
          </a:prstGeom>
        </p:spPr>
      </p:pic>
      <p:sp>
        <p:nvSpPr>
          <p:cNvPr id="58" name="TextBox 57"/>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9" name="TextBox 58"/>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60" name="Picture 59" descr="lock.png"/>
          <p:cNvPicPr>
            <a:picLocks noChangeAspect="1"/>
          </p:cNvPicPr>
          <p:nvPr/>
        </p:nvPicPr>
        <p:blipFill>
          <a:blip r:embed="rId8"/>
          <a:stretch>
            <a:fillRect/>
          </a:stretch>
        </p:blipFill>
        <p:spPr>
          <a:xfrm>
            <a:off x="9337766" y="5872860"/>
            <a:ext cx="128699" cy="187198"/>
          </a:xfrm>
          <a:prstGeom prst="rect">
            <a:avLst/>
          </a:prstGeom>
        </p:spPr>
      </p:pic>
      <p:sp>
        <p:nvSpPr>
          <p:cNvPr id="61" name="TextBox 60"/>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2" name="Picture 61" descr="lock.png"/>
          <p:cNvPicPr>
            <a:picLocks noChangeAspect="1"/>
          </p:cNvPicPr>
          <p:nvPr/>
        </p:nvPicPr>
        <p:blipFill>
          <a:blip r:embed="rId8"/>
          <a:stretch>
            <a:fillRect/>
          </a:stretch>
        </p:blipFill>
        <p:spPr>
          <a:xfrm>
            <a:off x="10948871" y="5872860"/>
            <a:ext cx="128699" cy="187198"/>
          </a:xfrm>
          <a:prstGeom prst="rect">
            <a:avLst/>
          </a:prstGeom>
        </p:spPr>
      </p:pic>
      <p:sp>
        <p:nvSpPr>
          <p:cNvPr id="63" name="TextBox 62"/>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4" name="TextBox 63"/>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5" name="Picture 64" descr="lock.png"/>
          <p:cNvPicPr>
            <a:picLocks noChangeAspect="1"/>
          </p:cNvPicPr>
          <p:nvPr/>
        </p:nvPicPr>
        <p:blipFill>
          <a:blip r:embed="rId8"/>
          <a:stretch>
            <a:fillRect/>
          </a:stretch>
        </p:blipFill>
        <p:spPr>
          <a:xfrm>
            <a:off x="10929309" y="6040501"/>
            <a:ext cx="128699" cy="187198"/>
          </a:xfrm>
          <a:prstGeom prst="rect">
            <a:avLst/>
          </a:prstGeom>
        </p:spPr>
      </p:pic>
      <p:sp>
        <p:nvSpPr>
          <p:cNvPr id="66" name="TextBox 65"/>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7" name="TextBox 66"/>
          <p:cNvSpPr txBox="1"/>
          <p:nvPr/>
        </p:nvSpPr>
        <p:spPr>
          <a:xfrm>
            <a:off x="6286500" y="6217920"/>
            <a:ext cx="3216175" cy="186689"/>
          </a:xfrm>
          <a:prstGeom prst="rect">
            <a:avLst/>
          </a:prstGeom>
          <a:noFill/>
        </p:spPr>
        <p:txBody>
          <a:bodyPr wrap="none" lIns="0" rIns="0" tIns="0" bIns="0">
            <a:spAutoFit/>
          </a:bodyPr>
          <a:lstStyle/>
          <a:p>
            <a:r>
              <a:rPr sz="1100" b="0">
                <a:solidFill>
                  <a:srgbClr val="2E2E2E"/>
                </a:solidFill>
                <a:latin typeface="Calibri"/>
              </a:rPr>
              <a:t>overall hair styling products market from 2025 to 2036.</a:t>
            </a:r>
          </a:p>
        </p:txBody>
      </p:sp>
      <p:sp>
        <p:nvSpPr>
          <p:cNvPr id="68" name="lockshield_17"/>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0"/>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5"/>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ockshield_28"/>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Key Segments Overview, By Value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Format  (US$ Mn)</a:t>
            </a:r>
          </a:p>
        </p:txBody>
      </p:sp>
      <p:graphicFrame>
        <p:nvGraphicFramePr>
          <p:cNvPr id="13" name="Chart 12"/>
          <p:cNvGraphicFramePr>
            <a:graphicFrameLocks noGrp="1"/>
          </p:cNvGraphicFramePr>
          <p:nvPr/>
        </p:nvGraphicFramePr>
        <p:xfrm>
          <a:off x="238125" y="1266825"/>
          <a:ext cx="2667000" cy="1704975"/>
        </p:xfrm>
        <a:graphic>
          <a:graphicData uri="http://schemas.openxmlformats.org/drawingml/2006/chart">
            <c:chart xmlns:c="http://schemas.openxmlformats.org/drawingml/2006/chart" r:id="rId3"/>
          </a:graphicData>
        </a:graphic>
      </p:graphicFrame>
      <p:sp>
        <p:nvSpPr>
          <p:cNvPr id="14" name="Rounded Rectangle 13"/>
          <p:cNvSpPr/>
          <p:nvPr/>
        </p:nvSpPr>
        <p:spPr>
          <a:xfrm>
            <a:off x="31527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Hold Level  (US$ Mn)</a:t>
            </a:r>
          </a:p>
        </p:txBody>
      </p:sp>
      <p:graphicFrame>
        <p:nvGraphicFramePr>
          <p:cNvPr id="16" name="Chart 15"/>
          <p:cNvGraphicFramePr>
            <a:graphicFrameLocks noGrp="1"/>
          </p:cNvGraphicFramePr>
          <p:nvPr/>
        </p:nvGraphicFramePr>
        <p:xfrm>
          <a:off x="3248025" y="1266825"/>
          <a:ext cx="2667000" cy="1704975"/>
        </p:xfrm>
        <a:graphic>
          <a:graphicData uri="http://schemas.openxmlformats.org/drawingml/2006/chart">
            <c:chart xmlns:c="http://schemas.openxmlformats.org/drawingml/2006/chart" r:id="rId4"/>
          </a:graphicData>
        </a:graphic>
      </p:graphicFrame>
      <p:sp>
        <p:nvSpPr>
          <p:cNvPr id="17" name="Rounded Rectangle 16"/>
          <p:cNvSpPr/>
          <p:nvPr/>
        </p:nvSpPr>
        <p:spPr>
          <a:xfrm>
            <a:off x="61626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Finish  (US$ Mn)</a:t>
            </a:r>
          </a:p>
        </p:txBody>
      </p:sp>
      <p:graphicFrame>
        <p:nvGraphicFramePr>
          <p:cNvPr id="19" name="Chart 18"/>
          <p:cNvGraphicFramePr>
            <a:graphicFrameLocks noGrp="1"/>
          </p:cNvGraphicFramePr>
          <p:nvPr/>
        </p:nvGraphicFramePr>
        <p:xfrm>
          <a:off x="6257925" y="1266825"/>
          <a:ext cx="2667000" cy="1704975"/>
        </p:xfrm>
        <a:graphic>
          <a:graphicData uri="http://schemas.openxmlformats.org/drawingml/2006/chart">
            <c:chart xmlns:c="http://schemas.openxmlformats.org/drawingml/2006/chart" r:id="rId5"/>
          </a:graphicData>
        </a:graphic>
      </p:graphicFrame>
      <p:sp>
        <p:nvSpPr>
          <p:cNvPr id="20" name="Rounded Rectangle 19"/>
          <p:cNvSpPr/>
          <p:nvPr/>
        </p:nvSpPr>
        <p:spPr>
          <a:xfrm>
            <a:off x="9172575" y="981075"/>
            <a:ext cx="28575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(US$ Mn)</a:t>
            </a:r>
          </a:p>
        </p:txBody>
      </p:sp>
      <p:graphicFrame>
        <p:nvGraphicFramePr>
          <p:cNvPr id="22" name="Chart 21"/>
          <p:cNvGraphicFramePr>
            <a:graphicFrameLocks noGrp="1"/>
          </p:cNvGraphicFramePr>
          <p:nvPr/>
        </p:nvGraphicFramePr>
        <p:xfrm>
          <a:off x="9267825" y="1266825"/>
          <a:ext cx="2667000" cy="1704975"/>
        </p:xfrm>
        <a:graphic>
          <a:graphicData uri="http://schemas.openxmlformats.org/drawingml/2006/chart">
            <c:chart xmlns:c="http://schemas.openxmlformats.org/drawingml/2006/chart" r:id="rId6"/>
          </a:graphicData>
        </a:graphic>
      </p:graphicFrame>
      <p:sp>
        <p:nvSpPr>
          <p:cNvPr id="23" name="Rounded Rectangle 22"/>
          <p:cNvSpPr/>
          <p:nvPr/>
        </p:nvSpPr>
        <p:spPr>
          <a:xfrm>
            <a:off x="142875" y="3162300"/>
            <a:ext cx="28956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3219450"/>
            <a:ext cx="27051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Primary Styling Benefit  (US$ Mn)</a:t>
            </a:r>
          </a:p>
        </p:txBody>
      </p:sp>
      <p:graphicFrame>
        <p:nvGraphicFramePr>
          <p:cNvPr id="25" name="Chart 24"/>
          <p:cNvGraphicFramePr>
            <a:graphicFrameLocks noGrp="1"/>
          </p:cNvGraphicFramePr>
          <p:nvPr/>
        </p:nvGraphicFramePr>
        <p:xfrm>
          <a:off x="238125" y="3448050"/>
          <a:ext cx="2705100" cy="1704975"/>
        </p:xfrm>
        <a:graphic>
          <a:graphicData uri="http://schemas.openxmlformats.org/drawingml/2006/chart">
            <c:chart xmlns:c="http://schemas.openxmlformats.org/drawingml/2006/chart" r:id="rId7"/>
          </a:graphicData>
        </a:graphic>
      </p:graphicFrame>
      <p:sp>
        <p:nvSpPr>
          <p:cNvPr id="26" name="Rounded Rectangle 25"/>
          <p:cNvSpPr/>
          <p:nvPr/>
        </p:nvSpPr>
        <p:spPr>
          <a:xfrm>
            <a:off x="3190875" y="3162300"/>
            <a:ext cx="28956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86125" y="3219450"/>
            <a:ext cx="27051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Hair Type Targeted  (US$ Mn)</a:t>
            </a:r>
          </a:p>
        </p:txBody>
      </p:sp>
      <p:graphicFrame>
        <p:nvGraphicFramePr>
          <p:cNvPr id="28" name="Chart 27"/>
          <p:cNvGraphicFramePr>
            <a:graphicFrameLocks noGrp="1"/>
          </p:cNvGraphicFramePr>
          <p:nvPr/>
        </p:nvGraphicFramePr>
        <p:xfrm>
          <a:off x="3286125" y="3448050"/>
          <a:ext cx="2705100" cy="1704975"/>
        </p:xfrm>
        <a:graphic>
          <a:graphicData uri="http://schemas.openxmlformats.org/drawingml/2006/chart">
            <c:chart xmlns:c="http://schemas.openxmlformats.org/drawingml/2006/chart" r:id="rId8"/>
          </a:graphicData>
        </a:graphic>
      </p:graphicFrame>
      <p:sp>
        <p:nvSpPr>
          <p:cNvPr id="29" name="Rounded Rectangle 28"/>
          <p:cNvSpPr/>
          <p:nvPr/>
        </p:nvSpPr>
        <p:spPr>
          <a:xfrm>
            <a:off x="6238875" y="3162300"/>
            <a:ext cx="2895600" cy="2047875"/>
          </a:xfrm>
          <a:prstGeom prst="roundRect">
            <a:avLst>
              <a:gd name="adj" fmla="val 37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4125" y="3219450"/>
            <a:ext cx="27051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Ingredient Technology  (US$ Mn)</a:t>
            </a:r>
          </a:p>
        </p:txBody>
      </p:sp>
      <p:graphicFrame>
        <p:nvGraphicFramePr>
          <p:cNvPr id="31" name="Chart 30"/>
          <p:cNvGraphicFramePr>
            <a:graphicFrameLocks noGrp="1"/>
          </p:cNvGraphicFramePr>
          <p:nvPr/>
        </p:nvGraphicFramePr>
        <p:xfrm>
          <a:off x="6334125" y="3448050"/>
          <a:ext cx="2705100" cy="1704975"/>
        </p:xfrm>
        <a:graphic>
          <a:graphicData uri="http://schemas.openxmlformats.org/drawingml/2006/chart">
            <c:chart xmlns:c="http://schemas.openxmlformats.org/drawingml/2006/chart" r:id="rId9"/>
          </a:graphicData>
        </a:graphic>
      </p:graphicFrame>
      <p:sp>
        <p:nvSpPr>
          <p:cNvPr id="32" name="Rounded Rectangle 31"/>
          <p:cNvSpPr/>
          <p:nvPr/>
        </p:nvSpPr>
        <p:spPr>
          <a:xfrm>
            <a:off x="142875" y="5343525"/>
            <a:ext cx="11906250" cy="1276350"/>
          </a:xfrm>
          <a:prstGeom prst="roundRect">
            <a:avLst>
              <a:gd name="adj" fmla="val 597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6225" y="542925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34" name="Rectangle 33"/>
          <p:cNvSpPr/>
          <p:nvPr/>
        </p:nvSpPr>
        <p:spPr>
          <a:xfrm>
            <a:off x="276225" y="56673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753100"/>
            <a:ext cx="11639550" cy="7905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6" name="TextBox 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 name="Picture 36" descr="lock.png"/>
          <p:cNvPicPr>
            <a:picLocks noChangeAspect="1"/>
          </p:cNvPicPr>
          <p:nvPr/>
        </p:nvPicPr>
        <p:blipFill>
          <a:blip r:embed="rId11"/>
          <a:stretch>
            <a:fillRect/>
          </a:stretch>
        </p:blipFill>
        <p:spPr>
          <a:xfrm>
            <a:off x="1811655" y="1900237"/>
            <a:ext cx="183356" cy="266700"/>
          </a:xfrm>
          <a:prstGeom prst="rect">
            <a:avLst/>
          </a:prstGeom>
        </p:spPr>
      </p:pic>
      <p:pic>
        <p:nvPicPr>
          <p:cNvPr id="38" name="Picture 37" descr="lock.png"/>
          <p:cNvPicPr>
            <a:picLocks noChangeAspect="1"/>
          </p:cNvPicPr>
          <p:nvPr/>
        </p:nvPicPr>
        <p:blipFill>
          <a:blip r:embed="rId11"/>
          <a:stretch>
            <a:fillRect/>
          </a:stretch>
        </p:blipFill>
        <p:spPr>
          <a:xfrm>
            <a:off x="4821555" y="1900237"/>
            <a:ext cx="183356" cy="266700"/>
          </a:xfrm>
          <a:prstGeom prst="rect">
            <a:avLst/>
          </a:prstGeom>
        </p:spPr>
      </p:pic>
      <p:pic>
        <p:nvPicPr>
          <p:cNvPr id="39" name="Picture 38" descr="lock.png"/>
          <p:cNvPicPr>
            <a:picLocks noChangeAspect="1"/>
          </p:cNvPicPr>
          <p:nvPr/>
        </p:nvPicPr>
        <p:blipFill>
          <a:blip r:embed="rId11"/>
          <a:stretch>
            <a:fillRect/>
          </a:stretch>
        </p:blipFill>
        <p:spPr>
          <a:xfrm>
            <a:off x="7831455" y="1900237"/>
            <a:ext cx="183356" cy="266700"/>
          </a:xfrm>
          <a:prstGeom prst="rect">
            <a:avLst/>
          </a:prstGeom>
        </p:spPr>
      </p:pic>
      <p:pic>
        <p:nvPicPr>
          <p:cNvPr id="40" name="Picture 39" descr="lock.png"/>
          <p:cNvPicPr>
            <a:picLocks noChangeAspect="1"/>
          </p:cNvPicPr>
          <p:nvPr/>
        </p:nvPicPr>
        <p:blipFill>
          <a:blip r:embed="rId11"/>
          <a:stretch>
            <a:fillRect/>
          </a:stretch>
        </p:blipFill>
        <p:spPr>
          <a:xfrm>
            <a:off x="10841355" y="1900237"/>
            <a:ext cx="183356" cy="266700"/>
          </a:xfrm>
          <a:prstGeom prst="rect">
            <a:avLst/>
          </a:prstGeom>
        </p:spPr>
      </p:pic>
      <p:pic>
        <p:nvPicPr>
          <p:cNvPr id="41" name="Picture 40" descr="lock.png"/>
          <p:cNvPicPr>
            <a:picLocks noChangeAspect="1"/>
          </p:cNvPicPr>
          <p:nvPr/>
        </p:nvPicPr>
        <p:blipFill>
          <a:blip r:embed="rId11"/>
          <a:stretch>
            <a:fillRect/>
          </a:stretch>
        </p:blipFill>
        <p:spPr>
          <a:xfrm>
            <a:off x="1830705" y="4081462"/>
            <a:ext cx="183356" cy="266700"/>
          </a:xfrm>
          <a:prstGeom prst="rect">
            <a:avLst/>
          </a:prstGeom>
        </p:spPr>
      </p:pic>
      <p:pic>
        <p:nvPicPr>
          <p:cNvPr id="42" name="Picture 41" descr="lock.png"/>
          <p:cNvPicPr>
            <a:picLocks noChangeAspect="1"/>
          </p:cNvPicPr>
          <p:nvPr/>
        </p:nvPicPr>
        <p:blipFill>
          <a:blip r:embed="rId11"/>
          <a:stretch>
            <a:fillRect/>
          </a:stretch>
        </p:blipFill>
        <p:spPr>
          <a:xfrm>
            <a:off x="4878705" y="4081462"/>
            <a:ext cx="183356" cy="266700"/>
          </a:xfrm>
          <a:prstGeom prst="rect">
            <a:avLst/>
          </a:prstGeom>
        </p:spPr>
      </p:pic>
      <p:pic>
        <p:nvPicPr>
          <p:cNvPr id="43" name="Picture 42" descr="lock.png"/>
          <p:cNvPicPr>
            <a:picLocks noChangeAspect="1"/>
          </p:cNvPicPr>
          <p:nvPr/>
        </p:nvPicPr>
        <p:blipFill>
          <a:blip r:embed="rId11"/>
          <a:stretch>
            <a:fillRect/>
          </a:stretch>
        </p:blipFill>
        <p:spPr>
          <a:xfrm>
            <a:off x="7926705" y="4081462"/>
            <a:ext cx="183356" cy="266700"/>
          </a:xfrm>
          <a:prstGeom prst="rect">
            <a:avLst/>
          </a:prstGeom>
        </p:spPr>
      </p:pic>
      <p:sp>
        <p:nvSpPr>
          <p:cNvPr id="44" name="TextBox 43"/>
          <p:cNvSpPr txBox="1"/>
          <p:nvPr/>
        </p:nvSpPr>
        <p:spPr>
          <a:xfrm>
            <a:off x="276225" y="543877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45" name="Picture 44" descr="lock.png"/>
          <p:cNvPicPr>
            <a:picLocks noChangeAspect="1"/>
          </p:cNvPicPr>
          <p:nvPr/>
        </p:nvPicPr>
        <p:blipFill>
          <a:blip r:embed="rId11"/>
          <a:stretch>
            <a:fillRect/>
          </a:stretch>
        </p:blipFill>
        <p:spPr>
          <a:xfrm>
            <a:off x="1688698" y="5430453"/>
            <a:ext cx="109510" cy="159288"/>
          </a:xfrm>
          <a:prstGeom prst="rect">
            <a:avLst/>
          </a:prstGeom>
        </p:spPr>
      </p:pic>
      <p:sp>
        <p:nvSpPr>
          <p:cNvPr id="46" name="TextBox 45"/>
          <p:cNvSpPr txBox="1"/>
          <p:nvPr/>
        </p:nvSpPr>
        <p:spPr>
          <a:xfrm>
            <a:off x="1831222" y="543877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47" name="TextBox 46"/>
          <p:cNvSpPr txBox="1"/>
          <p:nvPr/>
        </p:nvSpPr>
        <p:spPr>
          <a:xfrm>
            <a:off x="276225" y="5762625"/>
            <a:ext cx="3280974" cy="194310"/>
          </a:xfrm>
          <a:prstGeom prst="rect">
            <a:avLst/>
          </a:prstGeom>
          <a:noFill/>
        </p:spPr>
        <p:txBody>
          <a:bodyPr wrap="none" lIns="0" rIns="0" tIns="0" bIns="0">
            <a:spAutoFit/>
          </a:bodyPr>
          <a:lstStyle/>
          <a:p>
            <a:r>
              <a:rPr sz="1150" b="0">
                <a:solidFill>
                  <a:srgbClr val="2E2E2E"/>
                </a:solidFill>
                <a:latin typeface="Calibri"/>
              </a:rPr>
              <a:t>▪ By Product Format, 'Styling Serums and Oils' leads at</a:t>
            </a:r>
          </a:p>
        </p:txBody>
      </p:sp>
      <p:pic>
        <p:nvPicPr>
          <p:cNvPr id="48" name="Picture 47" descr="lock.png"/>
          <p:cNvPicPr>
            <a:picLocks noChangeAspect="1"/>
          </p:cNvPicPr>
          <p:nvPr/>
        </p:nvPicPr>
        <p:blipFill>
          <a:blip r:embed="rId11"/>
          <a:stretch>
            <a:fillRect/>
          </a:stretch>
        </p:blipFill>
        <p:spPr>
          <a:xfrm>
            <a:off x="3506353" y="5752401"/>
            <a:ext cx="134549" cy="195707"/>
          </a:xfrm>
          <a:prstGeom prst="rect">
            <a:avLst/>
          </a:prstGeom>
        </p:spPr>
      </p:pic>
      <p:sp>
        <p:nvSpPr>
          <p:cNvPr id="49" name="TextBox 48"/>
          <p:cNvSpPr txBox="1"/>
          <p:nvPr/>
        </p:nvSpPr>
        <p:spPr>
          <a:xfrm>
            <a:off x="3681462" y="5762625"/>
            <a:ext cx="623316" cy="194310"/>
          </a:xfrm>
          <a:prstGeom prst="rect">
            <a:avLst/>
          </a:prstGeom>
          <a:noFill/>
        </p:spPr>
        <p:txBody>
          <a:bodyPr wrap="none" lIns="0" rIns="0" tIns="0" bIns="0">
            <a:spAutoFit/>
          </a:bodyPr>
          <a:lstStyle/>
          <a:p>
            <a:r>
              <a:rPr sz="1150" b="0">
                <a:solidFill>
                  <a:srgbClr val="2E2E2E"/>
                </a:solidFill>
                <a:latin typeface="Calibri"/>
              </a:rPr>
              <a:t>US$ Mn (</a:t>
            </a:r>
          </a:p>
        </p:txBody>
      </p:sp>
      <p:pic>
        <p:nvPicPr>
          <p:cNvPr id="50" name="Picture 49" descr="lock.png"/>
          <p:cNvPicPr>
            <a:picLocks noChangeAspect="1"/>
          </p:cNvPicPr>
          <p:nvPr/>
        </p:nvPicPr>
        <p:blipFill>
          <a:blip r:embed="rId11"/>
          <a:stretch>
            <a:fillRect/>
          </a:stretch>
        </p:blipFill>
        <p:spPr>
          <a:xfrm>
            <a:off x="4253933" y="5752401"/>
            <a:ext cx="134549" cy="195707"/>
          </a:xfrm>
          <a:prstGeom prst="rect">
            <a:avLst/>
          </a:prstGeom>
        </p:spPr>
      </p:pic>
      <p:sp>
        <p:nvSpPr>
          <p:cNvPr id="51" name="TextBox 50"/>
          <p:cNvSpPr txBox="1"/>
          <p:nvPr/>
        </p:nvSpPr>
        <p:spPr>
          <a:xfrm>
            <a:off x="4429042" y="5762625"/>
            <a:ext cx="3266479" cy="194310"/>
          </a:xfrm>
          <a:prstGeom prst="rect">
            <a:avLst/>
          </a:prstGeom>
          <a:noFill/>
        </p:spPr>
        <p:txBody>
          <a:bodyPr wrap="none" lIns="0" rIns="0" tIns="0" bIns="0">
            <a:spAutoFit/>
          </a:bodyPr>
          <a:lstStyle/>
          <a:p>
            <a:r>
              <a:rPr sz="1150" b="0">
                <a:solidFill>
                  <a:srgbClr val="2E2E2E"/>
                </a:solidFill>
                <a:latin typeface="Calibri"/>
              </a:rPr>
              <a:t>share), ahead of 'Waxes, Clays, Pastes and Pomades' (</a:t>
            </a:r>
          </a:p>
        </p:txBody>
      </p:sp>
      <p:pic>
        <p:nvPicPr>
          <p:cNvPr id="52" name="Picture 51" descr="lock.png"/>
          <p:cNvPicPr>
            <a:picLocks noChangeAspect="1"/>
          </p:cNvPicPr>
          <p:nvPr/>
        </p:nvPicPr>
        <p:blipFill>
          <a:blip r:embed="rId11"/>
          <a:stretch>
            <a:fillRect/>
          </a:stretch>
        </p:blipFill>
        <p:spPr>
          <a:xfrm>
            <a:off x="7644676" y="5752401"/>
            <a:ext cx="134549" cy="195707"/>
          </a:xfrm>
          <a:prstGeom prst="rect">
            <a:avLst/>
          </a:prstGeom>
        </p:spPr>
      </p:pic>
      <p:sp>
        <p:nvSpPr>
          <p:cNvPr id="53" name="TextBox 52"/>
          <p:cNvSpPr txBox="1"/>
          <p:nvPr/>
        </p:nvSpPr>
        <p:spPr>
          <a:xfrm>
            <a:off x="7819785" y="5762625"/>
            <a:ext cx="6270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54" name="TextBox 53"/>
          <p:cNvSpPr txBox="1"/>
          <p:nvPr/>
        </p:nvSpPr>
        <p:spPr>
          <a:xfrm>
            <a:off x="276225" y="5990463"/>
            <a:ext cx="2399856" cy="194310"/>
          </a:xfrm>
          <a:prstGeom prst="rect">
            <a:avLst/>
          </a:prstGeom>
          <a:noFill/>
        </p:spPr>
        <p:txBody>
          <a:bodyPr wrap="none" lIns="0" rIns="0" tIns="0" bIns="0">
            <a:spAutoFit/>
          </a:bodyPr>
          <a:lstStyle/>
          <a:p>
            <a:r>
              <a:rPr sz="1150" b="0">
                <a:solidFill>
                  <a:srgbClr val="2E2E2E"/>
                </a:solidFill>
                <a:latin typeface="Calibri"/>
              </a:rPr>
              <a:t>▪ By Hold Level, 'Medium Hold' leads at</a:t>
            </a:r>
          </a:p>
        </p:txBody>
      </p:sp>
      <p:pic>
        <p:nvPicPr>
          <p:cNvPr id="55" name="Picture 54" descr="lock.png"/>
          <p:cNvPicPr>
            <a:picLocks noChangeAspect="1"/>
          </p:cNvPicPr>
          <p:nvPr/>
        </p:nvPicPr>
        <p:blipFill>
          <a:blip r:embed="rId11"/>
          <a:stretch>
            <a:fillRect/>
          </a:stretch>
        </p:blipFill>
        <p:spPr>
          <a:xfrm>
            <a:off x="2625234" y="5980239"/>
            <a:ext cx="134549" cy="195707"/>
          </a:xfrm>
          <a:prstGeom prst="rect">
            <a:avLst/>
          </a:prstGeom>
        </p:spPr>
      </p:pic>
      <p:sp>
        <p:nvSpPr>
          <p:cNvPr id="56" name="TextBox 55"/>
          <p:cNvSpPr txBox="1"/>
          <p:nvPr/>
        </p:nvSpPr>
        <p:spPr>
          <a:xfrm>
            <a:off x="2800344" y="5990463"/>
            <a:ext cx="623316" cy="194310"/>
          </a:xfrm>
          <a:prstGeom prst="rect">
            <a:avLst/>
          </a:prstGeom>
          <a:noFill/>
        </p:spPr>
        <p:txBody>
          <a:bodyPr wrap="none" lIns="0" rIns="0" tIns="0" bIns="0">
            <a:spAutoFit/>
          </a:bodyPr>
          <a:lstStyle/>
          <a:p>
            <a:r>
              <a:rPr sz="1150" b="0">
                <a:solidFill>
                  <a:srgbClr val="2E2E2E"/>
                </a:solidFill>
                <a:latin typeface="Calibri"/>
              </a:rPr>
              <a:t>US$ Mn (</a:t>
            </a:r>
          </a:p>
        </p:txBody>
      </p:sp>
      <p:pic>
        <p:nvPicPr>
          <p:cNvPr id="57" name="Picture 56" descr="lock.png"/>
          <p:cNvPicPr>
            <a:picLocks noChangeAspect="1"/>
          </p:cNvPicPr>
          <p:nvPr/>
        </p:nvPicPr>
        <p:blipFill>
          <a:blip r:embed="rId11"/>
          <a:stretch>
            <a:fillRect/>
          </a:stretch>
        </p:blipFill>
        <p:spPr>
          <a:xfrm>
            <a:off x="3372815" y="5980239"/>
            <a:ext cx="134549" cy="195707"/>
          </a:xfrm>
          <a:prstGeom prst="rect">
            <a:avLst/>
          </a:prstGeom>
        </p:spPr>
      </p:pic>
      <p:sp>
        <p:nvSpPr>
          <p:cNvPr id="58" name="TextBox 57"/>
          <p:cNvSpPr txBox="1"/>
          <p:nvPr/>
        </p:nvSpPr>
        <p:spPr>
          <a:xfrm>
            <a:off x="3547924" y="5990463"/>
            <a:ext cx="1914090" cy="194310"/>
          </a:xfrm>
          <a:prstGeom prst="rect">
            <a:avLst/>
          </a:prstGeom>
          <a:noFill/>
        </p:spPr>
        <p:txBody>
          <a:bodyPr wrap="none" lIns="0" rIns="0" tIns="0" bIns="0">
            <a:spAutoFit/>
          </a:bodyPr>
          <a:lstStyle/>
          <a:p>
            <a:r>
              <a:rPr sz="1150" b="0">
                <a:solidFill>
                  <a:srgbClr val="2E2E2E"/>
                </a:solidFill>
                <a:latin typeface="Calibri"/>
              </a:rPr>
              <a:t>share), ahead of 'Strong Hold' (</a:t>
            </a:r>
          </a:p>
        </p:txBody>
      </p:sp>
      <p:pic>
        <p:nvPicPr>
          <p:cNvPr id="59" name="Picture 58" descr="lock.png"/>
          <p:cNvPicPr>
            <a:picLocks noChangeAspect="1"/>
          </p:cNvPicPr>
          <p:nvPr/>
        </p:nvPicPr>
        <p:blipFill>
          <a:blip r:embed="rId11"/>
          <a:stretch>
            <a:fillRect/>
          </a:stretch>
        </p:blipFill>
        <p:spPr>
          <a:xfrm>
            <a:off x="5411169" y="5980239"/>
            <a:ext cx="134549" cy="195707"/>
          </a:xfrm>
          <a:prstGeom prst="rect">
            <a:avLst/>
          </a:prstGeom>
        </p:spPr>
      </p:pic>
      <p:sp>
        <p:nvSpPr>
          <p:cNvPr id="60" name="TextBox 59"/>
          <p:cNvSpPr txBox="1"/>
          <p:nvPr/>
        </p:nvSpPr>
        <p:spPr>
          <a:xfrm>
            <a:off x="5586278" y="5990463"/>
            <a:ext cx="6270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1" name="TextBox 60"/>
          <p:cNvSpPr txBox="1"/>
          <p:nvPr/>
        </p:nvSpPr>
        <p:spPr>
          <a:xfrm>
            <a:off x="276225" y="6218300"/>
            <a:ext cx="1758605" cy="194310"/>
          </a:xfrm>
          <a:prstGeom prst="rect">
            <a:avLst/>
          </a:prstGeom>
          <a:noFill/>
        </p:spPr>
        <p:txBody>
          <a:bodyPr wrap="none" lIns="0" rIns="0" tIns="0" bIns="0">
            <a:spAutoFit/>
          </a:bodyPr>
          <a:lstStyle/>
          <a:p>
            <a:r>
              <a:rPr sz="1150" b="0">
                <a:solidFill>
                  <a:srgbClr val="2E2E2E"/>
                </a:solidFill>
                <a:latin typeface="Calibri"/>
              </a:rPr>
              <a:t>▪ By Finish, 'Natural' leads at</a:t>
            </a:r>
          </a:p>
        </p:txBody>
      </p:sp>
      <p:pic>
        <p:nvPicPr>
          <p:cNvPr id="62" name="Picture 61" descr="lock.png"/>
          <p:cNvPicPr>
            <a:picLocks noChangeAspect="1"/>
          </p:cNvPicPr>
          <p:nvPr/>
        </p:nvPicPr>
        <p:blipFill>
          <a:blip r:embed="rId11"/>
          <a:stretch>
            <a:fillRect/>
          </a:stretch>
        </p:blipFill>
        <p:spPr>
          <a:xfrm>
            <a:off x="1983984" y="6208077"/>
            <a:ext cx="134549" cy="195707"/>
          </a:xfrm>
          <a:prstGeom prst="rect">
            <a:avLst/>
          </a:prstGeom>
        </p:spPr>
      </p:pic>
      <p:sp>
        <p:nvSpPr>
          <p:cNvPr id="63" name="TextBox 62"/>
          <p:cNvSpPr txBox="1"/>
          <p:nvPr/>
        </p:nvSpPr>
        <p:spPr>
          <a:xfrm>
            <a:off x="2159093" y="6218300"/>
            <a:ext cx="623316" cy="194310"/>
          </a:xfrm>
          <a:prstGeom prst="rect">
            <a:avLst/>
          </a:prstGeom>
          <a:noFill/>
        </p:spPr>
        <p:txBody>
          <a:bodyPr wrap="none" lIns="0" rIns="0" tIns="0" bIns="0">
            <a:spAutoFit/>
          </a:bodyPr>
          <a:lstStyle/>
          <a:p>
            <a:r>
              <a:rPr sz="1150" b="0">
                <a:solidFill>
                  <a:srgbClr val="2E2E2E"/>
                </a:solidFill>
                <a:latin typeface="Calibri"/>
              </a:rPr>
              <a:t>US$ Mn (</a:t>
            </a:r>
          </a:p>
        </p:txBody>
      </p:sp>
      <p:pic>
        <p:nvPicPr>
          <p:cNvPr id="64" name="Picture 63" descr="lock.png"/>
          <p:cNvPicPr>
            <a:picLocks noChangeAspect="1"/>
          </p:cNvPicPr>
          <p:nvPr/>
        </p:nvPicPr>
        <p:blipFill>
          <a:blip r:embed="rId11"/>
          <a:stretch>
            <a:fillRect/>
          </a:stretch>
        </p:blipFill>
        <p:spPr>
          <a:xfrm>
            <a:off x="2731564" y="6208077"/>
            <a:ext cx="134549" cy="195707"/>
          </a:xfrm>
          <a:prstGeom prst="rect">
            <a:avLst/>
          </a:prstGeom>
        </p:spPr>
      </p:pic>
      <p:sp>
        <p:nvSpPr>
          <p:cNvPr id="65" name="TextBox 64"/>
          <p:cNvSpPr txBox="1"/>
          <p:nvPr/>
        </p:nvSpPr>
        <p:spPr>
          <a:xfrm>
            <a:off x="2906673" y="6218300"/>
            <a:ext cx="1578632" cy="194310"/>
          </a:xfrm>
          <a:prstGeom prst="rect">
            <a:avLst/>
          </a:prstGeom>
          <a:noFill/>
        </p:spPr>
        <p:txBody>
          <a:bodyPr wrap="none" lIns="0" rIns="0" tIns="0" bIns="0">
            <a:spAutoFit/>
          </a:bodyPr>
          <a:lstStyle/>
          <a:p>
            <a:r>
              <a:rPr sz="1150" b="0">
                <a:solidFill>
                  <a:srgbClr val="2E2E2E"/>
                </a:solidFill>
                <a:latin typeface="Calibri"/>
              </a:rPr>
              <a:t>share), ahead of 'Matte' (</a:t>
            </a:r>
          </a:p>
        </p:txBody>
      </p:sp>
      <p:pic>
        <p:nvPicPr>
          <p:cNvPr id="66" name="Picture 65" descr="lock.png"/>
          <p:cNvPicPr>
            <a:picLocks noChangeAspect="1"/>
          </p:cNvPicPr>
          <p:nvPr/>
        </p:nvPicPr>
        <p:blipFill>
          <a:blip r:embed="rId11"/>
          <a:stretch>
            <a:fillRect/>
          </a:stretch>
        </p:blipFill>
        <p:spPr>
          <a:xfrm>
            <a:off x="4434459" y="6208077"/>
            <a:ext cx="134549" cy="195707"/>
          </a:xfrm>
          <a:prstGeom prst="rect">
            <a:avLst/>
          </a:prstGeom>
        </p:spPr>
      </p:pic>
      <p:sp>
        <p:nvSpPr>
          <p:cNvPr id="67" name="TextBox 66"/>
          <p:cNvSpPr txBox="1"/>
          <p:nvPr/>
        </p:nvSpPr>
        <p:spPr>
          <a:xfrm>
            <a:off x="4609569" y="6218300"/>
            <a:ext cx="6270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8" name="lockshield_13"/>
          <p:cNvSpPr/>
          <p:nvPr/>
        </p:nvSpPr>
        <p:spPr>
          <a:xfrm>
            <a:off x="2381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16"/>
          <p:cNvSpPr/>
          <p:nvPr/>
        </p:nvSpPr>
        <p:spPr>
          <a:xfrm>
            <a:off x="32480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19"/>
          <p:cNvSpPr/>
          <p:nvPr/>
        </p:nvSpPr>
        <p:spPr>
          <a:xfrm>
            <a:off x="62579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ockshield_22"/>
          <p:cNvSpPr/>
          <p:nvPr/>
        </p:nvSpPr>
        <p:spPr>
          <a:xfrm>
            <a:off x="9267825" y="1266825"/>
            <a:ext cx="26670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ockshield_25"/>
          <p:cNvSpPr/>
          <p:nvPr/>
        </p:nvSpPr>
        <p:spPr>
          <a:xfrm>
            <a:off x="238125" y="3448050"/>
            <a:ext cx="27051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ockshield_28"/>
          <p:cNvSpPr/>
          <p:nvPr/>
        </p:nvSpPr>
        <p:spPr>
          <a:xfrm>
            <a:off x="3286125" y="3448050"/>
            <a:ext cx="27051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ockshield_31"/>
          <p:cNvSpPr/>
          <p:nvPr/>
        </p:nvSpPr>
        <p:spPr>
          <a:xfrm>
            <a:off x="6334125" y="3448050"/>
            <a:ext cx="2705100" cy="1704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Key Segments Overview, By Value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11906250" cy="1771650"/>
          </a:xfrm>
          <a:prstGeom prst="roundRect">
            <a:avLst>
              <a:gd name="adj" fmla="val 43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85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5" name="TextBox 14"/>
          <p:cNvSpPr txBox="1"/>
          <p:nvPr/>
        </p:nvSpPr>
        <p:spPr>
          <a:xfrm>
            <a:off x="276225" y="10763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16" name="Picture 15" descr="lock.png"/>
          <p:cNvPicPr>
            <a:picLocks noChangeAspect="1"/>
          </p:cNvPicPr>
          <p:nvPr/>
        </p:nvPicPr>
        <p:blipFill>
          <a:blip r:embed="rId4"/>
          <a:stretch>
            <a:fillRect/>
          </a:stretch>
        </p:blipFill>
        <p:spPr>
          <a:xfrm>
            <a:off x="1688698" y="1068003"/>
            <a:ext cx="109510" cy="159288"/>
          </a:xfrm>
          <a:prstGeom prst="rect">
            <a:avLst/>
          </a:prstGeom>
        </p:spPr>
      </p:pic>
      <p:sp>
        <p:nvSpPr>
          <p:cNvPr id="17" name="TextBox 16"/>
          <p:cNvSpPr txBox="1"/>
          <p:nvPr/>
        </p:nvSpPr>
        <p:spPr>
          <a:xfrm>
            <a:off x="1831222" y="10763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18" name="TextBox 17"/>
          <p:cNvSpPr txBox="1"/>
          <p:nvPr/>
        </p:nvSpPr>
        <p:spPr>
          <a:xfrm>
            <a:off x="276225" y="1400175"/>
            <a:ext cx="4085732" cy="186689"/>
          </a:xfrm>
          <a:prstGeom prst="rect">
            <a:avLst/>
          </a:prstGeom>
          <a:noFill/>
        </p:spPr>
        <p:txBody>
          <a:bodyPr wrap="none" lIns="0" rIns="0" tIns="0" bIns="0">
            <a:spAutoFit/>
          </a:bodyPr>
          <a:lstStyle/>
          <a:p>
            <a:r>
              <a:rPr sz="1100" b="0">
                <a:solidFill>
                  <a:srgbClr val="2E2E2E"/>
                </a:solidFill>
                <a:latin typeface="Calibri"/>
              </a:rPr>
              <a:t>▪ By Distribution Channel, 'Salon and Professional Distribution' leads at</a:t>
            </a:r>
          </a:p>
        </p:txBody>
      </p:sp>
      <p:pic>
        <p:nvPicPr>
          <p:cNvPr id="19" name="Picture 18" descr="lock.png"/>
          <p:cNvPicPr>
            <a:picLocks noChangeAspect="1"/>
          </p:cNvPicPr>
          <p:nvPr/>
        </p:nvPicPr>
        <p:blipFill>
          <a:blip r:embed="rId4"/>
          <a:stretch>
            <a:fillRect/>
          </a:stretch>
        </p:blipFill>
        <p:spPr>
          <a:xfrm>
            <a:off x="4310008" y="1390396"/>
            <a:ext cx="128699" cy="187198"/>
          </a:xfrm>
          <a:prstGeom prst="rect">
            <a:avLst/>
          </a:prstGeom>
        </p:spPr>
      </p:pic>
      <p:sp>
        <p:nvSpPr>
          <p:cNvPr id="20" name="TextBox 19"/>
          <p:cNvSpPr txBox="1"/>
          <p:nvPr/>
        </p:nvSpPr>
        <p:spPr>
          <a:xfrm>
            <a:off x="4477504" y="14001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21" name="Picture 20" descr="lock.png"/>
          <p:cNvPicPr>
            <a:picLocks noChangeAspect="1"/>
          </p:cNvPicPr>
          <p:nvPr/>
        </p:nvPicPr>
        <p:blipFill>
          <a:blip r:embed="rId4"/>
          <a:stretch>
            <a:fillRect/>
          </a:stretch>
        </p:blipFill>
        <p:spPr>
          <a:xfrm>
            <a:off x="5025085" y="1390396"/>
            <a:ext cx="128699" cy="187198"/>
          </a:xfrm>
          <a:prstGeom prst="rect">
            <a:avLst/>
          </a:prstGeom>
        </p:spPr>
      </p:pic>
      <p:sp>
        <p:nvSpPr>
          <p:cNvPr id="22" name="TextBox 21"/>
          <p:cNvSpPr txBox="1"/>
          <p:nvPr/>
        </p:nvSpPr>
        <p:spPr>
          <a:xfrm>
            <a:off x="5192581" y="1400175"/>
            <a:ext cx="1814264" cy="186689"/>
          </a:xfrm>
          <a:prstGeom prst="rect">
            <a:avLst/>
          </a:prstGeom>
          <a:noFill/>
        </p:spPr>
        <p:txBody>
          <a:bodyPr wrap="none" lIns="0" rIns="0" tIns="0" bIns="0">
            <a:spAutoFit/>
          </a:bodyPr>
          <a:lstStyle/>
          <a:p>
            <a:r>
              <a:rPr sz="1100" b="0">
                <a:solidFill>
                  <a:srgbClr val="2E2E2E"/>
                </a:solidFill>
                <a:latin typeface="Calibri"/>
              </a:rPr>
              <a:t>share), ahead of 'Mass Retail' (</a:t>
            </a:r>
          </a:p>
        </p:txBody>
      </p:sp>
      <p:pic>
        <p:nvPicPr>
          <p:cNvPr id="23" name="Picture 22" descr="lock.png"/>
          <p:cNvPicPr>
            <a:picLocks noChangeAspect="1"/>
          </p:cNvPicPr>
          <p:nvPr/>
        </p:nvPicPr>
        <p:blipFill>
          <a:blip r:embed="rId4"/>
          <a:stretch>
            <a:fillRect/>
          </a:stretch>
        </p:blipFill>
        <p:spPr>
          <a:xfrm>
            <a:off x="6954897" y="1390396"/>
            <a:ext cx="128699" cy="187198"/>
          </a:xfrm>
          <a:prstGeom prst="rect">
            <a:avLst/>
          </a:prstGeom>
        </p:spPr>
      </p:pic>
      <p:sp>
        <p:nvSpPr>
          <p:cNvPr id="24" name="TextBox 23"/>
          <p:cNvSpPr txBox="1"/>
          <p:nvPr/>
        </p:nvSpPr>
        <p:spPr>
          <a:xfrm>
            <a:off x="7122393" y="14001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25" name="TextBox 24"/>
          <p:cNvSpPr txBox="1"/>
          <p:nvPr/>
        </p:nvSpPr>
        <p:spPr>
          <a:xfrm>
            <a:off x="276225" y="1618107"/>
            <a:ext cx="3827614" cy="186689"/>
          </a:xfrm>
          <a:prstGeom prst="rect">
            <a:avLst/>
          </a:prstGeom>
          <a:noFill/>
        </p:spPr>
        <p:txBody>
          <a:bodyPr wrap="none" lIns="0" rIns="0" tIns="0" bIns="0">
            <a:spAutoFit/>
          </a:bodyPr>
          <a:lstStyle/>
          <a:p>
            <a:r>
              <a:rPr sz="1100" b="0">
                <a:solidFill>
                  <a:srgbClr val="2E2E2E"/>
                </a:solidFill>
                <a:latin typeface="Calibri"/>
              </a:rPr>
              <a:t>▪ By Primary Styling Benefit, 'Smoothing and Frizz Control' leads at</a:t>
            </a:r>
          </a:p>
        </p:txBody>
      </p:sp>
      <p:pic>
        <p:nvPicPr>
          <p:cNvPr id="26" name="Picture 25" descr="lock.png"/>
          <p:cNvPicPr>
            <a:picLocks noChangeAspect="1"/>
          </p:cNvPicPr>
          <p:nvPr/>
        </p:nvPicPr>
        <p:blipFill>
          <a:blip r:embed="rId4"/>
          <a:stretch>
            <a:fillRect/>
          </a:stretch>
        </p:blipFill>
        <p:spPr>
          <a:xfrm>
            <a:off x="4051891" y="1608328"/>
            <a:ext cx="128699" cy="187198"/>
          </a:xfrm>
          <a:prstGeom prst="rect">
            <a:avLst/>
          </a:prstGeom>
        </p:spPr>
      </p:pic>
      <p:sp>
        <p:nvSpPr>
          <p:cNvPr id="27" name="TextBox 26"/>
          <p:cNvSpPr txBox="1"/>
          <p:nvPr/>
        </p:nvSpPr>
        <p:spPr>
          <a:xfrm>
            <a:off x="4219387" y="16181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28" name="Picture 27" descr="lock.png"/>
          <p:cNvPicPr>
            <a:picLocks noChangeAspect="1"/>
          </p:cNvPicPr>
          <p:nvPr/>
        </p:nvPicPr>
        <p:blipFill>
          <a:blip r:embed="rId4"/>
          <a:stretch>
            <a:fillRect/>
          </a:stretch>
        </p:blipFill>
        <p:spPr>
          <a:xfrm>
            <a:off x="4766968" y="1608328"/>
            <a:ext cx="128699" cy="187198"/>
          </a:xfrm>
          <a:prstGeom prst="rect">
            <a:avLst/>
          </a:prstGeom>
        </p:spPr>
      </p:pic>
      <p:sp>
        <p:nvSpPr>
          <p:cNvPr id="29" name="TextBox 28"/>
          <p:cNvSpPr txBox="1"/>
          <p:nvPr/>
        </p:nvSpPr>
        <p:spPr>
          <a:xfrm>
            <a:off x="4934463" y="1618107"/>
            <a:ext cx="1986160" cy="186689"/>
          </a:xfrm>
          <a:prstGeom prst="rect">
            <a:avLst/>
          </a:prstGeom>
          <a:noFill/>
        </p:spPr>
        <p:txBody>
          <a:bodyPr wrap="none" lIns="0" rIns="0" tIns="0" bIns="0">
            <a:spAutoFit/>
          </a:bodyPr>
          <a:lstStyle/>
          <a:p>
            <a:r>
              <a:rPr sz="1100" b="0">
                <a:solidFill>
                  <a:srgbClr val="2E2E2E"/>
                </a:solidFill>
                <a:latin typeface="Calibri"/>
              </a:rPr>
              <a:t>share), ahead of 'Curl Definition' (</a:t>
            </a:r>
          </a:p>
        </p:txBody>
      </p:sp>
      <p:pic>
        <p:nvPicPr>
          <p:cNvPr id="30" name="Picture 29" descr="lock.png"/>
          <p:cNvPicPr>
            <a:picLocks noChangeAspect="1"/>
          </p:cNvPicPr>
          <p:nvPr/>
        </p:nvPicPr>
        <p:blipFill>
          <a:blip r:embed="rId4"/>
          <a:stretch>
            <a:fillRect/>
          </a:stretch>
        </p:blipFill>
        <p:spPr>
          <a:xfrm>
            <a:off x="6868676" y="1608328"/>
            <a:ext cx="128699" cy="187198"/>
          </a:xfrm>
          <a:prstGeom prst="rect">
            <a:avLst/>
          </a:prstGeom>
        </p:spPr>
      </p:pic>
      <p:sp>
        <p:nvSpPr>
          <p:cNvPr id="31" name="TextBox 30"/>
          <p:cNvSpPr txBox="1"/>
          <p:nvPr/>
        </p:nvSpPr>
        <p:spPr>
          <a:xfrm>
            <a:off x="7036172" y="16181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2" name="TextBox 31"/>
          <p:cNvSpPr txBox="1"/>
          <p:nvPr/>
        </p:nvSpPr>
        <p:spPr>
          <a:xfrm>
            <a:off x="276225" y="1836039"/>
            <a:ext cx="2784503" cy="186689"/>
          </a:xfrm>
          <a:prstGeom prst="rect">
            <a:avLst/>
          </a:prstGeom>
          <a:noFill/>
        </p:spPr>
        <p:txBody>
          <a:bodyPr wrap="none" lIns="0" rIns="0" tIns="0" bIns="0">
            <a:spAutoFit/>
          </a:bodyPr>
          <a:lstStyle/>
          <a:p>
            <a:r>
              <a:rPr sz="1100" b="0">
                <a:solidFill>
                  <a:srgbClr val="2E2E2E"/>
                </a:solidFill>
                <a:latin typeface="Calibri"/>
              </a:rPr>
              <a:t>▪ By Hair Type Targeted, 'All Hair Types' leads at</a:t>
            </a:r>
          </a:p>
        </p:txBody>
      </p:sp>
      <p:pic>
        <p:nvPicPr>
          <p:cNvPr id="33" name="Picture 32" descr="lock.png"/>
          <p:cNvPicPr>
            <a:picLocks noChangeAspect="1"/>
          </p:cNvPicPr>
          <p:nvPr/>
        </p:nvPicPr>
        <p:blipFill>
          <a:blip r:embed="rId4"/>
          <a:stretch>
            <a:fillRect/>
          </a:stretch>
        </p:blipFill>
        <p:spPr>
          <a:xfrm>
            <a:off x="3008779" y="1826260"/>
            <a:ext cx="128699" cy="187198"/>
          </a:xfrm>
          <a:prstGeom prst="rect">
            <a:avLst/>
          </a:prstGeom>
        </p:spPr>
      </p:pic>
      <p:sp>
        <p:nvSpPr>
          <p:cNvPr id="34" name="TextBox 33"/>
          <p:cNvSpPr txBox="1"/>
          <p:nvPr/>
        </p:nvSpPr>
        <p:spPr>
          <a:xfrm>
            <a:off x="3176275" y="18360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5" name="Picture 34" descr="lock.png"/>
          <p:cNvPicPr>
            <a:picLocks noChangeAspect="1"/>
          </p:cNvPicPr>
          <p:nvPr/>
        </p:nvPicPr>
        <p:blipFill>
          <a:blip r:embed="rId4"/>
          <a:stretch>
            <a:fillRect/>
          </a:stretch>
        </p:blipFill>
        <p:spPr>
          <a:xfrm>
            <a:off x="3723856" y="1826260"/>
            <a:ext cx="128699" cy="187198"/>
          </a:xfrm>
          <a:prstGeom prst="rect">
            <a:avLst/>
          </a:prstGeom>
        </p:spPr>
      </p:pic>
      <p:sp>
        <p:nvSpPr>
          <p:cNvPr id="36" name="TextBox 35"/>
          <p:cNvSpPr txBox="1"/>
          <p:nvPr/>
        </p:nvSpPr>
        <p:spPr>
          <a:xfrm>
            <a:off x="3891352" y="1836039"/>
            <a:ext cx="1705942" cy="186689"/>
          </a:xfrm>
          <a:prstGeom prst="rect">
            <a:avLst/>
          </a:prstGeom>
          <a:noFill/>
        </p:spPr>
        <p:txBody>
          <a:bodyPr wrap="none" lIns="0" rIns="0" tIns="0" bIns="0">
            <a:spAutoFit/>
          </a:bodyPr>
          <a:lstStyle/>
          <a:p>
            <a:r>
              <a:rPr sz="1100" b="0">
                <a:solidFill>
                  <a:srgbClr val="2E2E2E"/>
                </a:solidFill>
                <a:latin typeface="Calibri"/>
              </a:rPr>
              <a:t>share), ahead of 'Coily Hair' (</a:t>
            </a:r>
          </a:p>
        </p:txBody>
      </p:sp>
      <p:pic>
        <p:nvPicPr>
          <p:cNvPr id="37" name="Picture 36" descr="lock.png"/>
          <p:cNvPicPr>
            <a:picLocks noChangeAspect="1"/>
          </p:cNvPicPr>
          <p:nvPr/>
        </p:nvPicPr>
        <p:blipFill>
          <a:blip r:embed="rId4"/>
          <a:stretch>
            <a:fillRect/>
          </a:stretch>
        </p:blipFill>
        <p:spPr>
          <a:xfrm>
            <a:off x="5545346" y="1826260"/>
            <a:ext cx="128699" cy="187198"/>
          </a:xfrm>
          <a:prstGeom prst="rect">
            <a:avLst/>
          </a:prstGeom>
        </p:spPr>
      </p:pic>
      <p:sp>
        <p:nvSpPr>
          <p:cNvPr id="38" name="TextBox 37"/>
          <p:cNvSpPr txBox="1"/>
          <p:nvPr/>
        </p:nvSpPr>
        <p:spPr>
          <a:xfrm>
            <a:off x="5712842" y="18360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9" name="TextBox 38"/>
          <p:cNvSpPr txBox="1"/>
          <p:nvPr/>
        </p:nvSpPr>
        <p:spPr>
          <a:xfrm>
            <a:off x="276225" y="2053970"/>
            <a:ext cx="4203604" cy="186689"/>
          </a:xfrm>
          <a:prstGeom prst="rect">
            <a:avLst/>
          </a:prstGeom>
          <a:noFill/>
        </p:spPr>
        <p:txBody>
          <a:bodyPr wrap="none" lIns="0" rIns="0" tIns="0" bIns="0">
            <a:spAutoFit/>
          </a:bodyPr>
          <a:lstStyle/>
          <a:p>
            <a:r>
              <a:rPr sz="1100" b="0">
                <a:solidFill>
                  <a:srgbClr val="2E2E2E"/>
                </a:solidFill>
                <a:latin typeface="Calibri"/>
              </a:rPr>
              <a:t>▪ By Ingredient Technology, 'Film-forming and Fixative Polymers' leads at</a:t>
            </a:r>
          </a:p>
        </p:txBody>
      </p:sp>
      <p:pic>
        <p:nvPicPr>
          <p:cNvPr id="40" name="Picture 39" descr="lock.png"/>
          <p:cNvPicPr>
            <a:picLocks noChangeAspect="1"/>
          </p:cNvPicPr>
          <p:nvPr/>
        </p:nvPicPr>
        <p:blipFill>
          <a:blip r:embed="rId4"/>
          <a:stretch>
            <a:fillRect/>
          </a:stretch>
        </p:blipFill>
        <p:spPr>
          <a:xfrm>
            <a:off x="4427880" y="2044192"/>
            <a:ext cx="128699" cy="187198"/>
          </a:xfrm>
          <a:prstGeom prst="rect">
            <a:avLst/>
          </a:prstGeom>
        </p:spPr>
      </p:pic>
      <p:sp>
        <p:nvSpPr>
          <p:cNvPr id="41" name="TextBox 40"/>
          <p:cNvSpPr txBox="1"/>
          <p:nvPr/>
        </p:nvSpPr>
        <p:spPr>
          <a:xfrm>
            <a:off x="4595376" y="2053970"/>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2" name="Picture 41" descr="lock.png"/>
          <p:cNvPicPr>
            <a:picLocks noChangeAspect="1"/>
          </p:cNvPicPr>
          <p:nvPr/>
        </p:nvPicPr>
        <p:blipFill>
          <a:blip r:embed="rId4"/>
          <a:stretch>
            <a:fillRect/>
          </a:stretch>
        </p:blipFill>
        <p:spPr>
          <a:xfrm>
            <a:off x="5142957" y="2044192"/>
            <a:ext cx="128699" cy="187198"/>
          </a:xfrm>
          <a:prstGeom prst="rect">
            <a:avLst/>
          </a:prstGeom>
        </p:spPr>
      </p:pic>
      <p:sp>
        <p:nvSpPr>
          <p:cNvPr id="43" name="TextBox 42"/>
          <p:cNvSpPr txBox="1"/>
          <p:nvPr/>
        </p:nvSpPr>
        <p:spPr>
          <a:xfrm>
            <a:off x="5310453" y="2053970"/>
            <a:ext cx="2875111" cy="186689"/>
          </a:xfrm>
          <a:prstGeom prst="rect">
            <a:avLst/>
          </a:prstGeom>
          <a:noFill/>
        </p:spPr>
        <p:txBody>
          <a:bodyPr wrap="none" lIns="0" rIns="0" tIns="0" bIns="0">
            <a:spAutoFit/>
          </a:bodyPr>
          <a:lstStyle/>
          <a:p>
            <a:r>
              <a:rPr sz="1100" b="0">
                <a:solidFill>
                  <a:srgbClr val="2E2E2E"/>
                </a:solidFill>
                <a:latin typeface="Calibri"/>
              </a:rPr>
              <a:t>share), ahead of 'Texture and Volume Additives' (</a:t>
            </a:r>
          </a:p>
        </p:txBody>
      </p:sp>
      <p:pic>
        <p:nvPicPr>
          <p:cNvPr id="44" name="Picture 43" descr="lock.png"/>
          <p:cNvPicPr>
            <a:picLocks noChangeAspect="1"/>
          </p:cNvPicPr>
          <p:nvPr/>
        </p:nvPicPr>
        <p:blipFill>
          <a:blip r:embed="rId4"/>
          <a:stretch>
            <a:fillRect/>
          </a:stretch>
        </p:blipFill>
        <p:spPr>
          <a:xfrm>
            <a:off x="8133616" y="2044192"/>
            <a:ext cx="128699" cy="187198"/>
          </a:xfrm>
          <a:prstGeom prst="rect">
            <a:avLst/>
          </a:prstGeom>
        </p:spPr>
      </p:pic>
      <p:sp>
        <p:nvSpPr>
          <p:cNvPr id="45" name="TextBox 44"/>
          <p:cNvSpPr txBox="1"/>
          <p:nvPr/>
        </p:nvSpPr>
        <p:spPr>
          <a:xfrm>
            <a:off x="8301112" y="2053970"/>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6" name="TextBox 45"/>
          <p:cNvSpPr txBox="1"/>
          <p:nvPr/>
        </p:nvSpPr>
        <p:spPr>
          <a:xfrm>
            <a:off x="276225" y="2271903"/>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19653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30822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2994025"/>
            <a:ext cx="8458200" cy="28511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Format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Hold Level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Finish</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Distribution Channel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Primary Styling Benefit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Hair Type Targeted</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Ingredient Technology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Product Format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Format: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Format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Format</a:t>
            </a:r>
          </a:p>
        </p:txBody>
      </p:sp>
      <p:graphicFrame>
        <p:nvGraphicFramePr>
          <p:cNvPr id="16" name="Table 15"/>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2430716"/>
                <a:gridCol w="861576"/>
                <a:gridCol w="861576"/>
                <a:gridCol w="1088078"/>
                <a:gridCol w="615929"/>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54984">
                <a:tc>
                  <a:txBody>
                    <a:bodyPr wrap="none"/>
                    <a:lstStyle/>
                    <a:p>
                      <a:pPr algn="l"/>
                      <a:r>
                        <a:rPr sz="1100" b="1">
                          <a:solidFill>
                            <a:srgbClr val="2E2E2E"/>
                          </a:solidFill>
                          <a:latin typeface="Calibri"/>
                        </a:rPr>
                        <a:t>Sprays and Mists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Mousses and Foams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54984">
                <a:tc>
                  <a:txBody>
                    <a:bodyPr wrap="none"/>
                    <a:lstStyle/>
                    <a:p>
                      <a:pPr algn="l"/>
                      <a:r>
                        <a:rPr sz="1100" b="1">
                          <a:solidFill>
                            <a:srgbClr val="2E2E2E"/>
                          </a:solidFill>
                          <a:latin typeface="Calibri"/>
                        </a:rPr>
                        <a:t>Gels and Jellies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Creams and Lotions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54984">
                <a:tc>
                  <a:txBody>
                    <a:bodyPr wrap="none"/>
                    <a:lstStyle/>
                    <a:p>
                      <a:pPr algn="l"/>
                      <a:r>
                        <a:rPr sz="1100" b="1">
                          <a:solidFill>
                            <a:srgbClr val="2E2E2E"/>
                          </a:solidFill>
                          <a:latin typeface="Calibri"/>
                        </a:rPr>
                        <a:t>Waxes, Clays, Pastes and Pomades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Styling Powders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54984">
                <a:tc>
                  <a:txBody>
                    <a:bodyPr wrap="none"/>
                    <a:lstStyle/>
                    <a:p>
                      <a:pPr algn="l"/>
                      <a:r>
                        <a:rPr sz="1100" b="1">
                          <a:solidFill>
                            <a:srgbClr val="2E2E2E"/>
                          </a:solidFill>
                          <a:latin typeface="Calibri"/>
                        </a:rPr>
                        <a:t>Styling Serums and Oils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Sticks and Balms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Format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10139330" y="2237612"/>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Format, 2021–2036</a:t>
            </a:r>
          </a:p>
        </p:txBody>
      </p:sp>
      <p:sp>
        <p:nvSpPr>
          <p:cNvPr id="10" name="Rounded Rectangle 9"/>
          <p:cNvSpPr/>
          <p:nvPr/>
        </p:nvSpPr>
        <p:spPr>
          <a:xfrm>
            <a:off x="142875" y="981075"/>
            <a:ext cx="11906250" cy="4657725"/>
          </a:xfrm>
          <a:prstGeom prst="roundRect">
            <a:avLst>
              <a:gd name="adj" fmla="val 16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Format (US$ Mn)</a:t>
            </a:r>
          </a:p>
        </p:txBody>
      </p:sp>
      <p:graphicFrame>
        <p:nvGraphicFramePr>
          <p:cNvPr id="12" name="Table 11"/>
          <p:cNvGraphicFramePr>
            <a:graphicFrameLocks noGrp="1"/>
          </p:cNvGraphicFramePr>
          <p:nvPr/>
        </p:nvGraphicFramePr>
        <p:xfrm>
          <a:off x="152400" y="1238250"/>
          <a:ext cx="11887199" cy="4191006"/>
        </p:xfrm>
        <a:graphic>
          <a:graphicData uri="http://schemas.openxmlformats.org/drawingml/2006/table">
            <a:tbl>
              <a:tblPr>
                <a:tableStyleId>{5C22544A-7EE6-4342-B048-85BDC9FD1C3A}</a:tableStyleId>
              </a:tblPr>
              <a:tblGrid>
                <a:gridCol w="2239614"/>
                <a:gridCol w="567505"/>
                <a:gridCol w="567505"/>
                <a:gridCol w="567505"/>
                <a:gridCol w="567505"/>
                <a:gridCol w="567505"/>
                <a:gridCol w="567505"/>
                <a:gridCol w="567505"/>
                <a:gridCol w="567505"/>
                <a:gridCol w="567505"/>
                <a:gridCol w="567505"/>
                <a:gridCol w="567505"/>
                <a:gridCol w="567505"/>
                <a:gridCol w="567505"/>
                <a:gridCol w="567505"/>
                <a:gridCol w="567505"/>
                <a:gridCol w="567505"/>
                <a:gridCol w="567505"/>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55">
                <a:tc>
                  <a:txBody>
                    <a:bodyPr wrap="none"/>
                    <a:lstStyle/>
                    <a:p>
                      <a:pPr algn="l"/>
                      <a:r>
                        <a:rPr sz="1100" b="1">
                          <a:solidFill>
                            <a:srgbClr val="2E2E2E"/>
                          </a:solidFill>
                          <a:latin typeface="Calibri"/>
                        </a:rPr>
                        <a:t>Sprays and Mists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Aerosol Hairsprays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 Non-aerosol Hairsprays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Texturizing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 Sea-salt Sprays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Volumizing Sprays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Mousses and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 Aerosol Mousses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 Non-aerosol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Gels and Jellies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Creams and Lotions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Waxes, Clays, Pastes and Pomades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Styling Powders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Styling Serums and Oils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55">
                <a:tc>
                  <a:txBody>
                    <a:bodyPr wrap="none"/>
                    <a:lstStyle/>
                    <a:p>
                      <a:pPr algn="l"/>
                      <a:r>
                        <a:rPr sz="1100" b="1">
                          <a:solidFill>
                            <a:srgbClr val="2E2E2E"/>
                          </a:solidFill>
                          <a:latin typeface="Calibri"/>
                        </a:rPr>
                        <a:t>Sticks and Balms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55">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5438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029116" y="3190115"/>
            <a:ext cx="366712" cy="533400"/>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Hold Level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Hold Level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Hold Level: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Hold Level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Hold Level</a:t>
            </a:r>
          </a:p>
        </p:txBody>
      </p:sp>
      <p:graphicFrame>
        <p:nvGraphicFramePr>
          <p:cNvPr id="16" name="Table 15"/>
          <p:cNvGraphicFramePr>
            <a:graphicFrameLocks noGrp="1"/>
          </p:cNvGraphicFramePr>
          <p:nvPr/>
        </p:nvGraphicFramePr>
        <p:xfrm>
          <a:off x="6181725" y="1238250"/>
          <a:ext cx="5857877" cy="2286001"/>
        </p:xfrm>
        <a:graphic>
          <a:graphicData uri="http://schemas.openxmlformats.org/drawingml/2006/table">
            <a:tbl>
              <a:tblPr>
                <a:tableStyleId>{5C22544A-7EE6-4342-B048-85BDC9FD1C3A}</a:tableStyleId>
              </a:tblPr>
              <a:tblGrid>
                <a:gridCol w="1515709"/>
                <a:gridCol w="1085542"/>
                <a:gridCol w="1085542"/>
                <a:gridCol w="1085542"/>
                <a:gridCol w="1085542"/>
              </a:tblGrid>
              <a:tr h="246126">
                <a:tc>
                  <a:txBody>
                    <a:bodyPr wrap="none"/>
                    <a:lstStyle/>
                    <a:p>
                      <a:pPr algn="l"/>
                      <a:r>
                        <a:rPr sz="1100" b="1">
                          <a:solidFill>
                            <a:srgbClr val="0B2E4A"/>
                          </a:solidFill>
                          <a:latin typeface="Calibri"/>
                        </a:rPr>
                        <a:t>Hold Level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No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Light or Flexible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Medium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Strong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Extra-strong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Hold Level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9681828"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Hold Level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Hold Level,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Hold Level (US$ Mn)</a:t>
            </a:r>
          </a:p>
        </p:txBody>
      </p:sp>
      <p:graphicFrame>
        <p:nvGraphicFramePr>
          <p:cNvPr id="17" name="Table 16"/>
          <p:cNvGraphicFramePr>
            <a:graphicFrameLocks noGrp="1"/>
          </p:cNvGraphicFramePr>
          <p:nvPr/>
        </p:nvGraphicFramePr>
        <p:xfrm>
          <a:off x="152400" y="1238250"/>
          <a:ext cx="11887201" cy="1724028"/>
        </p:xfrm>
        <a:graphic>
          <a:graphicData uri="http://schemas.openxmlformats.org/drawingml/2006/table">
            <a:tbl>
              <a:tblPr>
                <a:tableStyleId>{5C22544A-7EE6-4342-B048-85BDC9FD1C3A}</a:tableStyleId>
              </a:tblPr>
              <a:tblGrid>
                <a:gridCol w="1506219"/>
                <a:gridCol w="610646"/>
                <a:gridCol w="610646"/>
                <a:gridCol w="610646"/>
                <a:gridCol w="610646"/>
                <a:gridCol w="610646"/>
                <a:gridCol w="610646"/>
                <a:gridCol w="610646"/>
                <a:gridCol w="610646"/>
                <a:gridCol w="610646"/>
                <a:gridCol w="610646"/>
                <a:gridCol w="610646"/>
                <a:gridCol w="610646"/>
                <a:gridCol w="610646"/>
                <a:gridCol w="610646"/>
                <a:gridCol w="610646"/>
                <a:gridCol w="610646"/>
                <a:gridCol w="610646"/>
              </a:tblGrid>
              <a:tr h="246126">
                <a:tc>
                  <a:txBody>
                    <a:bodyPr wrap="none"/>
                    <a:lstStyle/>
                    <a:p>
                      <a:pPr algn="l"/>
                      <a:r>
                        <a:rPr sz="1100" b="1">
                          <a:solidFill>
                            <a:srgbClr val="0B2E4A"/>
                          </a:solidFill>
                          <a:latin typeface="Calibri"/>
                        </a:rPr>
                        <a:t>Hold Level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No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Light or Flexible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Medium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Strong Hold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Extra-strong Hold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6662419" y="1956627"/>
            <a:ext cx="366712" cy="533400"/>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Finish</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Finish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Finish: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Finish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Finish</a:t>
            </a:r>
          </a:p>
        </p:txBody>
      </p:sp>
      <p:graphicFrame>
        <p:nvGraphicFramePr>
          <p:cNvPr id="16" name="Table 15"/>
          <p:cNvGraphicFramePr>
            <a:graphicFrameLocks noGrp="1"/>
          </p:cNvGraphicFramePr>
          <p:nvPr/>
        </p:nvGraphicFramePr>
        <p:xfrm>
          <a:off x="6181725" y="1238250"/>
          <a:ext cx="5857877" cy="2286000"/>
        </p:xfrm>
        <a:graphic>
          <a:graphicData uri="http://schemas.openxmlformats.org/drawingml/2006/table">
            <a:tbl>
              <a:tblPr>
                <a:tableStyleId>{5C22544A-7EE6-4342-B048-85BDC9FD1C3A}</a:tableStyleId>
              </a:tblPr>
              <a:tblGrid>
                <a:gridCol w="1416629"/>
                <a:gridCol w="1110312"/>
                <a:gridCol w="1110312"/>
                <a:gridCol w="1110312"/>
                <a:gridCol w="1110312"/>
              </a:tblGrid>
              <a:tr h="246126">
                <a:tc>
                  <a:txBody>
                    <a:bodyPr wrap="none"/>
                    <a:lstStyle/>
                    <a:p>
                      <a:pPr algn="l"/>
                      <a:r>
                        <a:rPr sz="1100" b="1">
                          <a:solidFill>
                            <a:srgbClr val="0B2E4A"/>
                          </a:solidFill>
                          <a:latin typeface="Calibri"/>
                        </a:rPr>
                        <a:t>Finish</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679958">
                <a:tc>
                  <a:txBody>
                    <a:bodyPr wrap="none"/>
                    <a:lstStyle/>
                    <a:p>
                      <a:pPr algn="l"/>
                      <a:r>
                        <a:rPr sz="1100" b="1">
                          <a:solidFill>
                            <a:srgbClr val="2E2E2E"/>
                          </a:solidFill>
                          <a:latin typeface="Calibri"/>
                        </a:rPr>
                        <a:t>Matte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79958">
                <a:tc>
                  <a:txBody>
                    <a:bodyPr wrap="none"/>
                    <a:lstStyle/>
                    <a:p>
                      <a:pPr algn="l"/>
                      <a:r>
                        <a:rPr sz="1100" b="1">
                          <a:solidFill>
                            <a:srgbClr val="2E2E2E"/>
                          </a:solidFill>
                          <a:latin typeface="Calibri"/>
                        </a:rPr>
                        <a:t>Natural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679958">
                <a:tc>
                  <a:txBody>
                    <a:bodyPr wrap="none"/>
                    <a:lstStyle/>
                    <a:p>
                      <a:pPr algn="l"/>
                      <a:r>
                        <a:rPr sz="1100" b="1">
                          <a:solidFill>
                            <a:srgbClr val="2E2E2E"/>
                          </a:solidFill>
                          <a:latin typeface="Calibri"/>
                        </a:rPr>
                        <a:t>Glossy or Wet-look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Finish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9632287"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Finish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Finish,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Finish (US$ Mn)</a:t>
            </a:r>
          </a:p>
        </p:txBody>
      </p:sp>
      <p:graphicFrame>
        <p:nvGraphicFramePr>
          <p:cNvPr id="17" name="Table 16"/>
          <p:cNvGraphicFramePr>
            <a:graphicFrameLocks noGrp="1"/>
          </p:cNvGraphicFramePr>
          <p:nvPr/>
        </p:nvGraphicFramePr>
        <p:xfrm>
          <a:off x="152400" y="1238250"/>
          <a:ext cx="11887203" cy="1238250"/>
        </p:xfrm>
        <a:graphic>
          <a:graphicData uri="http://schemas.openxmlformats.org/drawingml/2006/table">
            <a:tbl>
              <a:tblPr>
                <a:tableStyleId>{5C22544A-7EE6-4342-B048-85BDC9FD1C3A}</a:tableStyleId>
              </a:tblPr>
              <a:tblGrid>
                <a:gridCol w="1391556"/>
                <a:gridCol w="617391"/>
                <a:gridCol w="617391"/>
                <a:gridCol w="617391"/>
                <a:gridCol w="617391"/>
                <a:gridCol w="617391"/>
                <a:gridCol w="617391"/>
                <a:gridCol w="617391"/>
                <a:gridCol w="617391"/>
                <a:gridCol w="617391"/>
                <a:gridCol w="617391"/>
                <a:gridCol w="617391"/>
                <a:gridCol w="617391"/>
                <a:gridCol w="617391"/>
                <a:gridCol w="617391"/>
                <a:gridCol w="617391"/>
                <a:gridCol w="617391"/>
                <a:gridCol w="617391"/>
              </a:tblGrid>
              <a:tr h="246126">
                <a:tc>
                  <a:txBody>
                    <a:bodyPr wrap="none"/>
                    <a:lstStyle/>
                    <a:p>
                      <a:pPr algn="l"/>
                      <a:r>
                        <a:rPr sz="1100" b="1">
                          <a:solidFill>
                            <a:srgbClr val="0B2E4A"/>
                          </a:solidFill>
                          <a:latin typeface="Calibri"/>
                        </a:rPr>
                        <a:t>Finish</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Matte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Natural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Glossy or Wet-look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6605089" y="1713737"/>
            <a:ext cx="366712" cy="533400"/>
          </a:xfrm>
          <a:prstGeom prst="rect">
            <a:avLst/>
          </a:prstGeom>
        </p:spPr>
      </p:pic>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Distribution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Distribution Channel: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Distribution Channel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Distribution Channel</a:t>
            </a:r>
          </a:p>
        </p:txBody>
      </p:sp>
      <p:graphicFrame>
        <p:nvGraphicFramePr>
          <p:cNvPr id="16" name="Table 15"/>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451346"/>
                <a:gridCol w="856390"/>
                <a:gridCol w="856390"/>
                <a:gridCol w="1081528"/>
                <a:gridCol w="612221"/>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339979">
                <a:tc>
                  <a:txBody>
                    <a:bodyPr wrap="none"/>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Beauty Specialty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Salon and Professional Distribution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Pharmacies and Drugstores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9979">
                <a:tc>
                  <a:txBody>
                    <a:bodyPr wrap="none"/>
                    <a:lstStyle/>
                    <a:p>
                      <a:pPr algn="l"/>
                      <a:r>
                        <a:rPr sz="1100" b="1">
                          <a:solidFill>
                            <a:srgbClr val="2E2E2E"/>
                          </a:solidFill>
                          <a:latin typeface="Calibri"/>
                        </a:rPr>
                        <a:t>Online Marketplaces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Brand-owned Online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Distribution Channel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10149645"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Distribution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Distribution Channel,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Distribution Channel (US$ Mn)</a:t>
            </a:r>
          </a:p>
        </p:txBody>
      </p:sp>
      <p:graphicFrame>
        <p:nvGraphicFramePr>
          <p:cNvPr id="17" name="Table 16"/>
          <p:cNvGraphicFramePr>
            <a:graphicFrameLocks noGrp="1"/>
          </p:cNvGraphicFramePr>
          <p:nvPr/>
        </p:nvGraphicFramePr>
        <p:xfrm>
          <a:off x="152400" y="1238250"/>
          <a:ext cx="11887203" cy="1971675"/>
        </p:xfrm>
        <a:graphic>
          <a:graphicData uri="http://schemas.openxmlformats.org/drawingml/2006/table">
            <a:tbl>
              <a:tblPr>
                <a:tableStyleId>{5C22544A-7EE6-4342-B048-85BDC9FD1C3A}</a:tableStyleId>
              </a:tblPr>
              <a:tblGrid>
                <a:gridCol w="2266070"/>
                <a:gridCol w="565949"/>
                <a:gridCol w="565949"/>
                <a:gridCol w="565949"/>
                <a:gridCol w="565949"/>
                <a:gridCol w="565949"/>
                <a:gridCol w="565949"/>
                <a:gridCol w="565949"/>
                <a:gridCol w="565949"/>
                <a:gridCol w="565949"/>
                <a:gridCol w="565949"/>
                <a:gridCol w="565949"/>
                <a:gridCol w="565949"/>
                <a:gridCol w="565949"/>
                <a:gridCol w="565949"/>
                <a:gridCol w="565949"/>
                <a:gridCol w="565949"/>
                <a:gridCol w="565949"/>
              </a:tblGrid>
              <a:tr h="246126">
                <a:tc>
                  <a:txBody>
                    <a:bodyPr wrap="none"/>
                    <a:lstStyle/>
                    <a:p>
                      <a:pPr algn="l"/>
                      <a:r>
                        <a:rPr sz="1100" b="1">
                          <a:solidFill>
                            <a:srgbClr val="0B2E4A"/>
                          </a:solidFill>
                          <a:latin typeface="Calibri"/>
                        </a:rPr>
                        <a:t>Distribution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Mass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Beauty Specialty Retail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Salon and Professional Distribution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Pharmacies and Drugstores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Online Marketplaces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Brand-owned Online Stores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7042346" y="2080450"/>
            <a:ext cx="366712" cy="533400"/>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Primary Styling Benefit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Primary Styling Benefit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Primary Styling Benefit: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Primary Styling Benefit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Primary Styling Benefit</a:t>
            </a:r>
          </a:p>
        </p:txBody>
      </p:sp>
      <p:graphicFrame>
        <p:nvGraphicFramePr>
          <p:cNvPr id="16" name="Table 15"/>
          <p:cNvGraphicFramePr>
            <a:graphicFrameLocks noGrp="1"/>
          </p:cNvGraphicFramePr>
          <p:nvPr/>
        </p:nvGraphicFramePr>
        <p:xfrm>
          <a:off x="6181725" y="1238250"/>
          <a:ext cx="5865172" cy="2286003"/>
        </p:xfrm>
        <a:graphic>
          <a:graphicData uri="http://schemas.openxmlformats.org/drawingml/2006/table">
            <a:tbl>
              <a:tblPr>
                <a:tableStyleId>{5C22544A-7EE6-4342-B048-85BDC9FD1C3A}</a:tableStyleId>
              </a:tblPr>
              <a:tblGrid>
                <a:gridCol w="1957614"/>
                <a:gridCol w="975065"/>
                <a:gridCol w="975065"/>
                <a:gridCol w="975065"/>
                <a:gridCol w="982363"/>
              </a:tblGrid>
              <a:tr h="246126">
                <a:tc>
                  <a:txBody>
                    <a:bodyPr wrap="none"/>
                    <a:lstStyle/>
                    <a:p>
                      <a:pPr algn="l"/>
                      <a:r>
                        <a:rPr sz="1100" b="1">
                          <a:solidFill>
                            <a:srgbClr val="0B2E4A"/>
                          </a:solidFill>
                          <a:latin typeface="Calibri"/>
                        </a:rPr>
                        <a:t>Primary Styling Benefit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91411">
                <a:tc>
                  <a:txBody>
                    <a:bodyPr wrap="none"/>
                    <a:lstStyle/>
                    <a:p>
                      <a:pPr algn="l"/>
                      <a:r>
                        <a:rPr sz="1100" b="1">
                          <a:solidFill>
                            <a:srgbClr val="2E2E2E"/>
                          </a:solidFill>
                          <a:latin typeface="Calibri"/>
                        </a:rPr>
                        <a:t>Hold and Shape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Curl Definition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Volume and Root Lift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Texture and Separation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Smoothing and Frizz Control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91411">
                <a:tc>
                  <a:txBody>
                    <a:bodyPr wrap="none"/>
                    <a:lstStyle/>
                    <a:p>
                      <a:pPr algn="l"/>
                      <a:r>
                        <a:rPr sz="1100" b="1">
                          <a:solidFill>
                            <a:srgbClr val="2E2E2E"/>
                          </a:solidFill>
                          <a:latin typeface="Calibri"/>
                        </a:rPr>
                        <a:t>Sleek Styling and Edge Control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91411">
                <a:tc>
                  <a:txBody>
                    <a:bodyPr wrap="none"/>
                    <a:lstStyle/>
                    <a:p>
                      <a:pPr algn="l"/>
                      <a:r>
                        <a:rPr sz="1100" b="1">
                          <a:solidFill>
                            <a:srgbClr val="2E2E2E"/>
                          </a:solidFill>
                          <a:latin typeface="Calibri"/>
                        </a:rPr>
                        <a:t>Heat Styling Support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Primary Styling Benefit (US$ Mn), between 2026–2036</a:t>
            </a:r>
          </a:p>
        </p:txBody>
      </p:sp>
      <p:graphicFrame>
        <p:nvGraphicFramePr>
          <p:cNvPr id="20" name="Chart 19"/>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9888185" y="2237614"/>
            <a:ext cx="366712" cy="533400"/>
          </a:xfrm>
          <a:prstGeom prst="rect">
            <a:avLst/>
          </a:prstGeom>
        </p:spPr>
      </p:pic>
      <p:pic>
        <p:nvPicPr>
          <p:cNvPr id="28" name="Picture 27" descr="lock.png"/>
          <p:cNvPicPr>
            <a:picLocks noChangeAspect="1"/>
          </p:cNvPicPr>
          <p:nvPr/>
        </p:nvPicPr>
        <p:blipFill>
          <a:blip r:embed="rId6"/>
          <a:stretch>
            <a:fillRect/>
          </a:stretch>
        </p:blipFill>
        <p:spPr>
          <a:xfrm>
            <a:off x="5969555" y="5216754"/>
            <a:ext cx="252890" cy="367840"/>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Primary Styling Benefit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Primary Styling Benefit,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Primary Styling Benefit (US$ Mn)</a:t>
            </a:r>
          </a:p>
        </p:txBody>
      </p:sp>
      <p:graphicFrame>
        <p:nvGraphicFramePr>
          <p:cNvPr id="17" name="Table 16"/>
          <p:cNvGraphicFramePr>
            <a:graphicFrameLocks noGrp="1"/>
          </p:cNvGraphicFramePr>
          <p:nvPr/>
        </p:nvGraphicFramePr>
        <p:xfrm>
          <a:off x="152400" y="1238250"/>
          <a:ext cx="11887194" cy="2219326"/>
        </p:xfrm>
        <a:graphic>
          <a:graphicData uri="http://schemas.openxmlformats.org/drawingml/2006/table">
            <a:tbl>
              <a:tblPr>
                <a:tableStyleId>{5C22544A-7EE6-4342-B048-85BDC9FD1C3A}</a:tableStyleId>
              </a:tblPr>
              <a:tblGrid>
                <a:gridCol w="2014036"/>
                <a:gridCol w="580774"/>
                <a:gridCol w="580774"/>
                <a:gridCol w="580774"/>
                <a:gridCol w="580774"/>
                <a:gridCol w="580774"/>
                <a:gridCol w="580774"/>
                <a:gridCol w="580774"/>
                <a:gridCol w="580774"/>
                <a:gridCol w="580774"/>
                <a:gridCol w="580774"/>
                <a:gridCol w="580774"/>
                <a:gridCol w="580774"/>
                <a:gridCol w="580774"/>
                <a:gridCol w="580774"/>
                <a:gridCol w="580774"/>
                <a:gridCol w="580774"/>
                <a:gridCol w="580774"/>
              </a:tblGrid>
              <a:tr h="246126">
                <a:tc>
                  <a:txBody>
                    <a:bodyPr wrap="none"/>
                    <a:lstStyle/>
                    <a:p>
                      <a:pPr algn="l"/>
                      <a:r>
                        <a:rPr sz="1100" b="1">
                          <a:solidFill>
                            <a:srgbClr val="0B2E4A"/>
                          </a:solidFill>
                          <a:latin typeface="Calibri"/>
                        </a:rPr>
                        <a:t>Primary Styling Benefit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Hold and Shape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Curl Definition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Volume and Root Lift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Texture and Separation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Smoothing and Frizz Control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Sleek Styling and Edge Control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Heat Styling Support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6916325" y="2204276"/>
            <a:ext cx="366712" cy="533399"/>
          </a:xfrm>
          <a:prstGeom prst="rect">
            <a:avLst/>
          </a:prstGeom>
        </p:spPr>
      </p:pic>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Hair Type Targeted</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Hair Type Targeted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Hair Type Targeted: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Hair Type Targeted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Hair Type Targeted</a:t>
            </a:r>
          </a:p>
        </p:txBody>
      </p:sp>
      <p:graphicFrame>
        <p:nvGraphicFramePr>
          <p:cNvPr id="16" name="Table 15"/>
          <p:cNvGraphicFramePr>
            <a:graphicFrameLocks noGrp="1"/>
          </p:cNvGraphicFramePr>
          <p:nvPr/>
        </p:nvGraphicFramePr>
        <p:xfrm>
          <a:off x="6181725" y="1238250"/>
          <a:ext cx="5857876" cy="2286001"/>
        </p:xfrm>
        <a:graphic>
          <a:graphicData uri="http://schemas.openxmlformats.org/drawingml/2006/table">
            <a:tbl>
              <a:tblPr>
                <a:tableStyleId>{5C22544A-7EE6-4342-B048-85BDC9FD1C3A}</a:tableStyleId>
              </a:tblPr>
              <a:tblGrid>
                <a:gridCol w="1414516"/>
                <a:gridCol w="1110840"/>
                <a:gridCol w="1110840"/>
                <a:gridCol w="1110840"/>
                <a:gridCol w="1110840"/>
              </a:tblGrid>
              <a:tr h="246126">
                <a:tc>
                  <a:txBody>
                    <a:bodyPr wrap="none"/>
                    <a:lstStyle/>
                    <a:p>
                      <a:pPr algn="l"/>
                      <a:r>
                        <a:rPr sz="1100" b="1">
                          <a:solidFill>
                            <a:srgbClr val="0B2E4A"/>
                          </a:solidFill>
                          <a:latin typeface="Calibri"/>
                        </a:rPr>
                        <a:t>Hair Type Targeted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407975">
                <a:tc>
                  <a:txBody>
                    <a:bodyPr wrap="none"/>
                    <a:lstStyle/>
                    <a:p>
                      <a:pPr algn="l"/>
                      <a:r>
                        <a:rPr sz="1100" b="1">
                          <a:solidFill>
                            <a:srgbClr val="2E2E2E"/>
                          </a:solidFill>
                          <a:latin typeface="Calibri"/>
                        </a:rPr>
                        <a:t>Straight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Wavy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Curly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Coily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07975">
                <a:tc>
                  <a:txBody>
                    <a:bodyPr wrap="none"/>
                    <a:lstStyle/>
                    <a:p>
                      <a:pPr algn="l"/>
                      <a:r>
                        <a:rPr sz="1100" b="1">
                          <a:solidFill>
                            <a:srgbClr val="2E2E2E"/>
                          </a:solidFill>
                          <a:latin typeface="Calibri"/>
                        </a:rPr>
                        <a:t>All Hair Types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Hair Type Targeted (US$ Mn), between 2026–2036</a:t>
            </a:r>
          </a:p>
        </p:txBody>
      </p:sp>
      <p:graphicFrame>
        <p:nvGraphicFramePr>
          <p:cNvPr id="20" name="Chart 19"/>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9631231" y="2237613"/>
            <a:ext cx="366712" cy="533400"/>
          </a:xfrm>
          <a:prstGeom prst="rect">
            <a:avLst/>
          </a:prstGeom>
        </p:spPr>
      </p:pic>
      <p:pic>
        <p:nvPicPr>
          <p:cNvPr id="28" name="Picture 27" descr="lock.png"/>
          <p:cNvPicPr>
            <a:picLocks noChangeAspect="1"/>
          </p:cNvPicPr>
          <p:nvPr/>
        </p:nvPicPr>
        <p:blipFill>
          <a:blip r:embed="rId6"/>
          <a:stretch>
            <a:fillRect/>
          </a:stretch>
        </p:blipFill>
        <p:spPr>
          <a:xfrm>
            <a:off x="5964247" y="5123309"/>
            <a:ext cx="263506" cy="383281"/>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Hair Type Targeted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Hair Type Targeted,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5" name="Rounded Rectangle 14"/>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Hair Type Targeted (US$ Mn)</a:t>
            </a:r>
          </a:p>
        </p:txBody>
      </p:sp>
      <p:graphicFrame>
        <p:nvGraphicFramePr>
          <p:cNvPr id="17" name="Table 16"/>
          <p:cNvGraphicFramePr>
            <a:graphicFrameLocks noGrp="1"/>
          </p:cNvGraphicFramePr>
          <p:nvPr/>
        </p:nvGraphicFramePr>
        <p:xfrm>
          <a:off x="152400" y="1238250"/>
          <a:ext cx="11887201" cy="1724028"/>
        </p:xfrm>
        <a:graphic>
          <a:graphicData uri="http://schemas.openxmlformats.org/drawingml/2006/table">
            <a:tbl>
              <a:tblPr>
                <a:tableStyleId>{5C22544A-7EE6-4342-B048-85BDC9FD1C3A}</a:tableStyleId>
              </a:tblPr>
              <a:tblGrid>
                <a:gridCol w="1389140"/>
                <a:gridCol w="617533"/>
                <a:gridCol w="617533"/>
                <a:gridCol w="617533"/>
                <a:gridCol w="617533"/>
                <a:gridCol w="617533"/>
                <a:gridCol w="617533"/>
                <a:gridCol w="617533"/>
                <a:gridCol w="617533"/>
                <a:gridCol w="617533"/>
                <a:gridCol w="617533"/>
                <a:gridCol w="617533"/>
                <a:gridCol w="617533"/>
                <a:gridCol w="617533"/>
                <a:gridCol w="617533"/>
                <a:gridCol w="617533"/>
                <a:gridCol w="617533"/>
                <a:gridCol w="617533"/>
              </a:tblGrid>
              <a:tr h="246126">
                <a:tc>
                  <a:txBody>
                    <a:bodyPr wrap="none"/>
                    <a:lstStyle/>
                    <a:p>
                      <a:pPr algn="l"/>
                      <a:r>
                        <a:rPr sz="1100" b="1">
                          <a:solidFill>
                            <a:srgbClr val="0B2E4A"/>
                          </a:solidFill>
                          <a:latin typeface="Calibri"/>
                        </a:rPr>
                        <a:t>Hair Type Targeted</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7">
                <a:tc>
                  <a:txBody>
                    <a:bodyPr wrap="none"/>
                    <a:lstStyle/>
                    <a:p>
                      <a:pPr algn="l"/>
                      <a:r>
                        <a:rPr sz="1100" b="1">
                          <a:solidFill>
                            <a:srgbClr val="2E2E2E"/>
                          </a:solidFill>
                          <a:latin typeface="Calibri"/>
                        </a:rPr>
                        <a:t>Straight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Wavy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Curly Hair</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Coily Hair</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7">
                <a:tc>
                  <a:txBody>
                    <a:bodyPr wrap="none"/>
                    <a:lstStyle/>
                    <a:p>
                      <a:pPr algn="l"/>
                      <a:r>
                        <a:rPr sz="1100" b="1">
                          <a:solidFill>
                            <a:srgbClr val="2E2E2E"/>
                          </a:solidFill>
                          <a:latin typeface="Calibri"/>
                        </a:rPr>
                        <a:t>All Hair Types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8" name="TextBox 17"/>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4"/>
          <a:stretch>
            <a:fillRect/>
          </a:stretch>
        </p:blipFill>
        <p:spPr>
          <a:xfrm>
            <a:off x="6603880" y="1956627"/>
            <a:ext cx="366712" cy="533400"/>
          </a:xfrm>
          <a:prstGeom prst="rect">
            <a:avLst/>
          </a:prstGeom>
        </p:spPr>
      </p:pic>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Ingredient 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Segmental Analysis Ingredient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Ingredient Technology: growth contribution, share variance and absolute $ opportunity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U.S.</a:t>
            </a:r>
          </a:p>
        </p:txBody>
      </p:sp>
      <p:sp>
        <p:nvSpPr>
          <p:cNvPr id="11" name="Rounded Rectangle 10"/>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Ingredient Technology (US$ Mn)</a:t>
            </a:r>
          </a:p>
        </p:txBody>
      </p:sp>
      <p:graphicFrame>
        <p:nvGraphicFramePr>
          <p:cNvPr id="13" name="Chart 12"/>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4" name="Rounded Rectangle 13"/>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Ingredient Technology</a:t>
            </a:r>
          </a:p>
        </p:txBody>
      </p:sp>
      <p:graphicFrame>
        <p:nvGraphicFramePr>
          <p:cNvPr id="16" name="Table 15"/>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2482605"/>
                <a:gridCol w="848531"/>
                <a:gridCol w="848531"/>
                <a:gridCol w="1071604"/>
                <a:gridCol w="606604"/>
              </a:tblGrid>
              <a:tr h="246126">
                <a:tc>
                  <a:txBody>
                    <a:bodyPr wrap="none"/>
                    <a:lstStyle/>
                    <a:p>
                      <a:pPr algn="l"/>
                      <a:r>
                        <a:rPr sz="1100" b="1">
                          <a:solidFill>
                            <a:srgbClr val="0B2E4A"/>
                          </a:solidFill>
                          <a:latin typeface="Calibri"/>
                        </a:rPr>
                        <a:t>Ingredient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509968">
                <a:tc>
                  <a:txBody>
                    <a:bodyPr wrap="none"/>
                    <a:lstStyle/>
                    <a:p>
                      <a:pPr algn="l"/>
                      <a:r>
                        <a:rPr sz="1100" b="1">
                          <a:solidFill>
                            <a:srgbClr val="2E2E2E"/>
                          </a:solidFill>
                          <a:latin typeface="Calibri"/>
                        </a:rPr>
                        <a:t>Film-forming and Fixative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Texture and Volume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509968">
                <a:tc>
                  <a:txBody>
                    <a:bodyPr wrap="none"/>
                    <a:lstStyle/>
                    <a:p>
                      <a:pPr algn="l"/>
                      <a:r>
                        <a:rPr sz="1100" b="1">
                          <a:solidFill>
                            <a:srgbClr val="2E2E2E"/>
                          </a:solidFill>
                          <a:latin typeface="Calibri"/>
                        </a:rPr>
                        <a:t>Conditioning and Smoothing Agents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Waxes and Structuring Agents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7" name="TextBox 16"/>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Rounded Rectangle 17"/>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Ingredient Technology (US$ Mn), between 2026–2036</a:t>
            </a:r>
          </a:p>
        </p:txBody>
      </p:sp>
      <p:graphicFrame>
        <p:nvGraphicFramePr>
          <p:cNvPr id="20" name="Chart 19"/>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6" name="Picture 25" descr="lock.png"/>
          <p:cNvPicPr>
            <a:picLocks noChangeAspect="1"/>
          </p:cNvPicPr>
          <p:nvPr/>
        </p:nvPicPr>
        <p:blipFill>
          <a:blip r:embed="rId6"/>
          <a:stretch>
            <a:fillRect/>
          </a:stretch>
        </p:blipFill>
        <p:spPr>
          <a:xfrm>
            <a:off x="3094826" y="2237234"/>
            <a:ext cx="263506" cy="383281"/>
          </a:xfrm>
          <a:prstGeom prst="rect">
            <a:avLst/>
          </a:prstGeom>
        </p:spPr>
      </p:pic>
      <p:pic>
        <p:nvPicPr>
          <p:cNvPr id="27" name="Picture 26" descr="lock.png"/>
          <p:cNvPicPr>
            <a:picLocks noChangeAspect="1"/>
          </p:cNvPicPr>
          <p:nvPr/>
        </p:nvPicPr>
        <p:blipFill>
          <a:blip r:embed="rId6"/>
          <a:stretch>
            <a:fillRect/>
          </a:stretch>
        </p:blipFill>
        <p:spPr>
          <a:xfrm>
            <a:off x="10165275" y="2237612"/>
            <a:ext cx="366712" cy="533400"/>
          </a:xfrm>
          <a:prstGeom prst="rect">
            <a:avLst/>
          </a:prstGeom>
        </p:spPr>
      </p:pic>
      <p:pic>
        <p:nvPicPr>
          <p:cNvPr id="28" name="Picture 27" descr="lock.png"/>
          <p:cNvPicPr>
            <a:picLocks noChangeAspect="1"/>
          </p:cNvPicPr>
          <p:nvPr/>
        </p:nvPicPr>
        <p:blipFill>
          <a:blip r:embed="rId6"/>
          <a:stretch>
            <a:fillRect/>
          </a:stretch>
        </p:blipFill>
        <p:spPr>
          <a:xfrm>
            <a:off x="5969555" y="5216754"/>
            <a:ext cx="252890" cy="367840"/>
          </a:xfrm>
          <a:prstGeom prst="rect">
            <a:avLst/>
          </a:prstGeom>
        </p:spPr>
      </p:pic>
      <p:sp>
        <p:nvSpPr>
          <p:cNvPr id="30" name="lockshield_13"/>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20"/>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Hair Styling Products Market Tables Ingredient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Ingredient Technology, 2021–2036</a:t>
            </a:r>
          </a:p>
        </p:txBody>
      </p:sp>
      <p:sp>
        <p:nvSpPr>
          <p:cNvPr id="10" name="Rounded Rectangle 9"/>
          <p:cNvSpPr/>
          <p:nvPr/>
        </p:nvSpPr>
        <p:spPr>
          <a:xfrm>
            <a:off x="142875" y="981075"/>
            <a:ext cx="11906250" cy="4410075"/>
          </a:xfrm>
          <a:prstGeom prst="roundRect">
            <a:avLst>
              <a:gd name="adj" fmla="val 172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Ingredient Technology (US$ Mn)</a:t>
            </a:r>
          </a:p>
        </p:txBody>
      </p:sp>
      <p:graphicFrame>
        <p:nvGraphicFramePr>
          <p:cNvPr id="12" name="Table 11"/>
          <p:cNvGraphicFramePr>
            <a:graphicFrameLocks noGrp="1"/>
          </p:cNvGraphicFramePr>
          <p:nvPr/>
        </p:nvGraphicFramePr>
        <p:xfrm>
          <a:off x="152400" y="1238250"/>
          <a:ext cx="11887200" cy="3943356"/>
        </p:xfrm>
        <a:graphic>
          <a:graphicData uri="http://schemas.openxmlformats.org/drawingml/2006/table">
            <a:tbl>
              <a:tblPr>
                <a:tableStyleId>{5C22544A-7EE6-4342-B048-85BDC9FD1C3A}</a:tableStyleId>
              </a:tblPr>
              <a:tblGrid>
                <a:gridCol w="2937278"/>
                <a:gridCol w="537608"/>
                <a:gridCol w="537608"/>
                <a:gridCol w="537608"/>
                <a:gridCol w="537608"/>
                <a:gridCol w="537608"/>
                <a:gridCol w="518671"/>
                <a:gridCol w="513260"/>
                <a:gridCol w="513260"/>
                <a:gridCol w="513260"/>
                <a:gridCol w="513260"/>
                <a:gridCol w="513260"/>
                <a:gridCol w="513260"/>
                <a:gridCol w="513260"/>
                <a:gridCol w="513260"/>
                <a:gridCol w="513260"/>
                <a:gridCol w="513260"/>
                <a:gridCol w="610611"/>
              </a:tblGrid>
              <a:tr h="246126">
                <a:tc>
                  <a:txBody>
                    <a:bodyPr wrap="none"/>
                    <a:lstStyle/>
                    <a:p>
                      <a:pPr algn="l"/>
                      <a:r>
                        <a:rPr sz="1100" b="1">
                          <a:solidFill>
                            <a:srgbClr val="0B2E4A"/>
                          </a:solidFill>
                          <a:latin typeface="Calibri"/>
                        </a:rPr>
                        <a:t>Ingredient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482">
                <a:tc>
                  <a:txBody>
                    <a:bodyPr wrap="none"/>
                    <a:lstStyle/>
                    <a:p>
                      <a:pPr algn="l"/>
                      <a:r>
                        <a:rPr sz="1100" b="1">
                          <a:solidFill>
                            <a:srgbClr val="2E2E2E"/>
                          </a:solidFill>
                          <a:latin typeface="Calibri"/>
                        </a:rPr>
                        <a:t>Film-forming and Fixative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Synthetic Polymers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Bio-based Polymers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Biodegradable Polymers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Texture and Volume Additives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Silica-based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Starch-based Additives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Other Mineral and Plant-based Additives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Conditioning and Smoothing Agents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Silicone-based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Silicone-free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Waxes and Structuring Agents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 Synthetic Waxes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482">
                <a:tc>
                  <a:txBody>
                    <a:bodyPr wrap="none"/>
                    <a:lstStyle/>
                    <a:p>
                      <a:pPr algn="l"/>
                      <a:r>
                        <a:rPr sz="1100" b="1">
                          <a:solidFill>
                            <a:srgbClr val="2E2E2E"/>
                          </a:solidFill>
                          <a:latin typeface="Calibri"/>
                        </a:rPr>
                        <a:t>– Plant-derived Waxes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482">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51911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377949" y="3066291"/>
            <a:ext cx="366712" cy="533400"/>
          </a:xfrm>
          <a:prstGeom prst="rect">
            <a:avLst/>
          </a:prstGeom>
        </p:spPr>
      </p:pic>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219075" y="3471051"/>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sp>
        <p:nvSpPr>
          <p:cNvPr id="14" name="TextBox 13"/>
          <p:cNvSpPr txBox="1"/>
          <p:nvPr/>
        </p:nvSpPr>
        <p:spPr>
          <a:xfrm>
            <a:off x="219075" y="2561000"/>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sp>
        <p:nvSpPr>
          <p:cNvPr id="15" name="TextBox 14"/>
          <p:cNvSpPr txBox="1"/>
          <p:nvPr/>
        </p:nvSpPr>
        <p:spPr>
          <a:xfrm>
            <a:off x="219075" y="1650949"/>
            <a:ext cx="381000" cy="133350"/>
          </a:xfrm>
          <a:prstGeom prst="rect">
            <a:avLst/>
          </a:prstGeom>
          <a:noFill/>
        </p:spPr>
        <p:txBody>
          <a:bodyPr wrap="none" lIns="0" rIns="0" tIns="0" bIns="0" anchor="ctr">
            <a:spAutoFit/>
          </a:bodyPr>
          <a:lstStyle/>
          <a:p>
            <a:pPr algn="r"/>
            <a:r>
              <a:rPr sz="1100" b="0">
                <a:solidFill>
                  <a:srgbClr val="6C7A89"/>
                </a:solidFill>
                <a:latin typeface="Calibri"/>
              </a:rPr>
              <a:t> </a:t>
            </a:r>
          </a:p>
        </p:txBody>
      </p:sp>
      <p:cxnSp>
        <p:nvCxnSpPr>
          <p:cNvPr id="16" name="Connector 15"/>
          <p:cNvCxnSpPr/>
          <p:nvPr/>
        </p:nvCxnSpPr>
        <p:spPr>
          <a:xfrm>
            <a:off x="1095375" y="2772329"/>
            <a:ext cx="0" cy="16397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76300" y="2772329"/>
            <a:ext cx="438150" cy="16397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2619929"/>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Sprays and Mists</a:t>
            </a:r>
          </a:p>
        </p:txBody>
      </p:sp>
      <p:cxnSp>
        <p:nvCxnSpPr>
          <p:cNvPr id="20" name="Connector 19"/>
          <p:cNvCxnSpPr/>
          <p:nvPr/>
        </p:nvCxnSpPr>
        <p:spPr>
          <a:xfrm>
            <a:off x="1971675" y="3215876"/>
            <a:ext cx="0" cy="11183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752600" y="3215876"/>
            <a:ext cx="438150" cy="11183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33525" y="3063476"/>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15335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Mousses and Foams</a:t>
            </a:r>
          </a:p>
        </p:txBody>
      </p:sp>
      <p:cxnSp>
        <p:nvCxnSpPr>
          <p:cNvPr id="24" name="Connector 23"/>
          <p:cNvCxnSpPr/>
          <p:nvPr/>
        </p:nvCxnSpPr>
        <p:spPr>
          <a:xfrm>
            <a:off x="2847975" y="3224854"/>
            <a:ext cx="0" cy="9604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628900" y="3224854"/>
            <a:ext cx="438150" cy="9604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09825" y="307245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7" name="TextBox 26"/>
          <p:cNvSpPr txBox="1"/>
          <p:nvPr/>
        </p:nvSpPr>
        <p:spPr>
          <a:xfrm>
            <a:off x="24098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Gels and Jellies</a:t>
            </a:r>
          </a:p>
        </p:txBody>
      </p:sp>
      <p:cxnSp>
        <p:nvCxnSpPr>
          <p:cNvPr id="28" name="Connector 27"/>
          <p:cNvCxnSpPr/>
          <p:nvPr/>
        </p:nvCxnSpPr>
        <p:spPr>
          <a:xfrm>
            <a:off x="3724275" y="2844012"/>
            <a:ext cx="0" cy="17374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505200" y="2844012"/>
            <a:ext cx="438150" cy="17374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86125" y="2691612"/>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1" name="TextBox 30"/>
          <p:cNvSpPr txBox="1"/>
          <p:nvPr/>
        </p:nvSpPr>
        <p:spPr>
          <a:xfrm>
            <a:off x="32861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Creams and Lotions</a:t>
            </a:r>
          </a:p>
        </p:txBody>
      </p:sp>
      <p:cxnSp>
        <p:nvCxnSpPr>
          <p:cNvPr id="32" name="Connector 31"/>
          <p:cNvCxnSpPr/>
          <p:nvPr/>
        </p:nvCxnSpPr>
        <p:spPr>
          <a:xfrm>
            <a:off x="4600575" y="2427028"/>
            <a:ext cx="0" cy="20711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381500" y="2427028"/>
            <a:ext cx="438150" cy="207117"/>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2425" y="2274628"/>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5" name="TextBox 34"/>
          <p:cNvSpPr txBox="1"/>
          <p:nvPr/>
        </p:nvSpPr>
        <p:spPr>
          <a:xfrm>
            <a:off x="41624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Waxes, Clays, Pastes…</a:t>
            </a:r>
          </a:p>
        </p:txBody>
      </p:sp>
      <p:cxnSp>
        <p:nvCxnSpPr>
          <p:cNvPr id="36" name="Connector 35"/>
          <p:cNvCxnSpPr/>
          <p:nvPr/>
        </p:nvCxnSpPr>
        <p:spPr>
          <a:xfrm>
            <a:off x="5476875" y="2673454"/>
            <a:ext cx="0" cy="13867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257800" y="2673454"/>
            <a:ext cx="438150" cy="13867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38725" y="2521054"/>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9" name="TextBox 38"/>
          <p:cNvSpPr txBox="1"/>
          <p:nvPr/>
        </p:nvSpPr>
        <p:spPr>
          <a:xfrm>
            <a:off x="50387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Powders</a:t>
            </a:r>
          </a:p>
        </p:txBody>
      </p:sp>
      <p:cxnSp>
        <p:nvCxnSpPr>
          <p:cNvPr id="40" name="Connector 39"/>
          <p:cNvCxnSpPr/>
          <p:nvPr/>
        </p:nvCxnSpPr>
        <p:spPr>
          <a:xfrm>
            <a:off x="6353175" y="1927636"/>
            <a:ext cx="0" cy="271986"/>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134100" y="1927636"/>
            <a:ext cx="438150" cy="27198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15025" y="1775236"/>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3" name="TextBox 42"/>
          <p:cNvSpPr txBox="1"/>
          <p:nvPr/>
        </p:nvSpPr>
        <p:spPr>
          <a:xfrm>
            <a:off x="59150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Serums and Oils</a:t>
            </a:r>
          </a:p>
        </p:txBody>
      </p:sp>
      <p:cxnSp>
        <p:nvCxnSpPr>
          <p:cNvPr id="44" name="Connector 43"/>
          <p:cNvCxnSpPr/>
          <p:nvPr/>
        </p:nvCxnSpPr>
        <p:spPr>
          <a:xfrm>
            <a:off x="7229475" y="2223889"/>
            <a:ext cx="0" cy="23195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7010400" y="2223889"/>
            <a:ext cx="438150" cy="231957"/>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91325" y="2071489"/>
            <a:ext cx="8763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47" name="TextBox 46"/>
          <p:cNvSpPr txBox="1"/>
          <p:nvPr/>
        </p:nvSpPr>
        <p:spPr>
          <a:xfrm>
            <a:off x="6791325" y="3566301"/>
            <a:ext cx="876300" cy="285750"/>
          </a:xfrm>
          <a:prstGeom prst="rect">
            <a:avLst/>
          </a:prstGeom>
          <a:noFill/>
        </p:spPr>
        <p:txBody>
          <a:bodyPr wrap="square" lIns="28575" rIns="28575" tIns="9525" bIns="9525">
            <a:spAutoFit/>
          </a:bodyPr>
          <a:lstStyle/>
          <a:p>
            <a:pPr algn="ctr"/>
            <a:r>
              <a:rPr sz="1100" b="0">
                <a:solidFill>
                  <a:srgbClr val="2E2E2E"/>
                </a:solidFill>
                <a:latin typeface="Calibri"/>
              </a:rPr>
              <a:t>Sticks and Balms</a:t>
            </a:r>
          </a:p>
        </p:txBody>
      </p:sp>
      <p:sp>
        <p:nvSpPr>
          <p:cNvPr id="48" name="Rounded Rectangle 47"/>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50" name="Connector 49"/>
          <p:cNvCxnSpPr/>
          <p:nvPr/>
        </p:nvCxnSpPr>
        <p:spPr>
          <a:xfrm>
            <a:off x="619125" y="452890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19125" y="488910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9125" y="560949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9125" y="596969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19125" y="4528904"/>
            <a:ext cx="0" cy="1440788"/>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0550" y="452890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90550" y="488910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90550" y="560949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90550" y="596969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61" name="FMI Scale tick"/>
          <p:cNvSpPr txBox="1"/>
          <p:nvPr/>
        </p:nvSpPr>
        <p:spPr>
          <a:xfrm>
            <a:off x="138112" y="4462229"/>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+4.2%</a:t>
            </a:r>
          </a:p>
        </p:txBody>
      </p:sp>
      <p:sp>
        <p:nvSpPr>
          <p:cNvPr id="62" name="FMI Scale tick"/>
          <p:cNvSpPr txBox="1"/>
          <p:nvPr/>
        </p:nvSpPr>
        <p:spPr>
          <a:xfrm>
            <a:off x="138112" y="4822426"/>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+2.1%</a:t>
            </a:r>
          </a:p>
        </p:txBody>
      </p:sp>
      <p:sp>
        <p:nvSpPr>
          <p:cNvPr id="63"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64" name="FMI Scale tick"/>
          <p:cNvSpPr txBox="1"/>
          <p:nvPr/>
        </p:nvSpPr>
        <p:spPr>
          <a:xfrm>
            <a:off x="164306" y="5542820"/>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-2.1%</a:t>
            </a:r>
          </a:p>
        </p:txBody>
      </p:sp>
      <p:sp>
        <p:nvSpPr>
          <p:cNvPr id="65" name="FMI Scale tick"/>
          <p:cNvSpPr txBox="1"/>
          <p:nvPr/>
        </p:nvSpPr>
        <p:spPr>
          <a:xfrm>
            <a:off x="164306" y="5903017"/>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-4.2%</a:t>
            </a:r>
          </a:p>
        </p:txBody>
      </p:sp>
      <p:cxnSp>
        <p:nvCxnSpPr>
          <p:cNvPr id="66" name="Connector 65"/>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2152650" y="4802337"/>
            <a:ext cx="457200" cy="44696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1793875" y="465946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Rectangle 70"/>
          <p:cNvSpPr/>
          <p:nvPr/>
        </p:nvSpPr>
        <p:spPr>
          <a:xfrm>
            <a:off x="3327400" y="4868996"/>
            <a:ext cx="457200" cy="38030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MI Data Label"/>
          <p:cNvSpPr txBox="1"/>
          <p:nvPr/>
        </p:nvSpPr>
        <p:spPr>
          <a:xfrm>
            <a:off x="2968625" y="472612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3" name="Rectangle 72"/>
          <p:cNvSpPr/>
          <p:nvPr/>
        </p:nvSpPr>
        <p:spPr>
          <a:xfrm>
            <a:off x="4502150" y="4936342"/>
            <a:ext cx="457200" cy="31295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MI Data Label"/>
          <p:cNvSpPr txBox="1"/>
          <p:nvPr/>
        </p:nvSpPr>
        <p:spPr>
          <a:xfrm>
            <a:off x="4143375" y="479346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5" name="Rectangle 74"/>
          <p:cNvSpPr/>
          <p:nvPr/>
        </p:nvSpPr>
        <p:spPr>
          <a:xfrm>
            <a:off x="5676900" y="5249298"/>
            <a:ext cx="457200" cy="41752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MI Data Label"/>
          <p:cNvSpPr txBox="1"/>
          <p:nvPr/>
        </p:nvSpPr>
        <p:spPr>
          <a:xfrm>
            <a:off x="5318125" y="567634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7" name="Rectangle 76"/>
          <p:cNvSpPr/>
          <p:nvPr/>
        </p:nvSpPr>
        <p:spPr>
          <a:xfrm>
            <a:off x="6851650" y="5109214"/>
            <a:ext cx="457200" cy="14008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MI Data Label"/>
          <p:cNvSpPr txBox="1"/>
          <p:nvPr/>
        </p:nvSpPr>
        <p:spPr>
          <a:xfrm>
            <a:off x="6492875" y="496633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TextBox 7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80" name="TextBox 7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81" name="TextBox 8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82" name="TextBox 8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83" name="TextBox 8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84" name="TextBox 8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85" name="Rounded Rectangle 8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87" name="Rectangle 8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89" name="TextBox 8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0" name="Picture 89" descr="lock.png"/>
          <p:cNvPicPr>
            <a:picLocks noChangeAspect="1"/>
          </p:cNvPicPr>
          <p:nvPr/>
        </p:nvPicPr>
        <p:blipFill>
          <a:blip r:embed="rId4"/>
          <a:stretch>
            <a:fillRect/>
          </a:stretch>
        </p:blipFill>
        <p:spPr>
          <a:xfrm>
            <a:off x="345225" y="3444127"/>
            <a:ext cx="128699" cy="187198"/>
          </a:xfrm>
          <a:prstGeom prst="rect">
            <a:avLst/>
          </a:prstGeom>
        </p:spPr>
      </p:pic>
      <p:pic>
        <p:nvPicPr>
          <p:cNvPr id="91" name="Picture 90" descr="lock.png"/>
          <p:cNvPicPr>
            <a:picLocks noChangeAspect="1"/>
          </p:cNvPicPr>
          <p:nvPr/>
        </p:nvPicPr>
        <p:blipFill>
          <a:blip r:embed="rId4"/>
          <a:stretch>
            <a:fillRect/>
          </a:stretch>
        </p:blipFill>
        <p:spPr>
          <a:xfrm>
            <a:off x="345225" y="2534076"/>
            <a:ext cx="128699" cy="187198"/>
          </a:xfrm>
          <a:prstGeom prst="rect">
            <a:avLst/>
          </a:prstGeom>
        </p:spPr>
      </p:pic>
      <p:pic>
        <p:nvPicPr>
          <p:cNvPr id="92" name="Picture 91" descr="lock.png"/>
          <p:cNvPicPr>
            <a:picLocks noChangeAspect="1"/>
          </p:cNvPicPr>
          <p:nvPr/>
        </p:nvPicPr>
        <p:blipFill>
          <a:blip r:embed="rId4"/>
          <a:stretch>
            <a:fillRect/>
          </a:stretch>
        </p:blipFill>
        <p:spPr>
          <a:xfrm>
            <a:off x="345225" y="1624025"/>
            <a:ext cx="128699" cy="187198"/>
          </a:xfrm>
          <a:prstGeom prst="rect">
            <a:avLst/>
          </a:prstGeom>
        </p:spPr>
      </p:pic>
      <p:pic>
        <p:nvPicPr>
          <p:cNvPr id="93" name="Picture 92" descr="lock.png"/>
          <p:cNvPicPr>
            <a:picLocks noChangeAspect="1"/>
          </p:cNvPicPr>
          <p:nvPr/>
        </p:nvPicPr>
        <p:blipFill>
          <a:blip r:embed="rId4"/>
          <a:stretch>
            <a:fillRect/>
          </a:stretch>
        </p:blipFill>
        <p:spPr>
          <a:xfrm>
            <a:off x="1031025" y="2593005"/>
            <a:ext cx="128699" cy="187198"/>
          </a:xfrm>
          <a:prstGeom prst="rect">
            <a:avLst/>
          </a:prstGeom>
        </p:spPr>
      </p:pic>
      <p:pic>
        <p:nvPicPr>
          <p:cNvPr id="94" name="Picture 93" descr="lock.png"/>
          <p:cNvPicPr>
            <a:picLocks noChangeAspect="1"/>
          </p:cNvPicPr>
          <p:nvPr/>
        </p:nvPicPr>
        <p:blipFill>
          <a:blip r:embed="rId4"/>
          <a:stretch>
            <a:fillRect/>
          </a:stretch>
        </p:blipFill>
        <p:spPr>
          <a:xfrm>
            <a:off x="1907325" y="3036552"/>
            <a:ext cx="128699" cy="187198"/>
          </a:xfrm>
          <a:prstGeom prst="rect">
            <a:avLst/>
          </a:prstGeom>
        </p:spPr>
      </p:pic>
      <p:pic>
        <p:nvPicPr>
          <p:cNvPr id="95" name="Picture 94" descr="lock.png"/>
          <p:cNvPicPr>
            <a:picLocks noChangeAspect="1"/>
          </p:cNvPicPr>
          <p:nvPr/>
        </p:nvPicPr>
        <p:blipFill>
          <a:blip r:embed="rId4"/>
          <a:stretch>
            <a:fillRect/>
          </a:stretch>
        </p:blipFill>
        <p:spPr>
          <a:xfrm>
            <a:off x="2783625" y="3045530"/>
            <a:ext cx="128699" cy="187198"/>
          </a:xfrm>
          <a:prstGeom prst="rect">
            <a:avLst/>
          </a:prstGeom>
        </p:spPr>
      </p:pic>
      <p:pic>
        <p:nvPicPr>
          <p:cNvPr id="96" name="Picture 95" descr="lock.png"/>
          <p:cNvPicPr>
            <a:picLocks noChangeAspect="1"/>
          </p:cNvPicPr>
          <p:nvPr/>
        </p:nvPicPr>
        <p:blipFill>
          <a:blip r:embed="rId4"/>
          <a:stretch>
            <a:fillRect/>
          </a:stretch>
        </p:blipFill>
        <p:spPr>
          <a:xfrm>
            <a:off x="3659925" y="2664688"/>
            <a:ext cx="128699" cy="187198"/>
          </a:xfrm>
          <a:prstGeom prst="rect">
            <a:avLst/>
          </a:prstGeom>
        </p:spPr>
      </p:pic>
      <p:pic>
        <p:nvPicPr>
          <p:cNvPr id="97" name="Picture 96" descr="lock.png"/>
          <p:cNvPicPr>
            <a:picLocks noChangeAspect="1"/>
          </p:cNvPicPr>
          <p:nvPr/>
        </p:nvPicPr>
        <p:blipFill>
          <a:blip r:embed="rId4"/>
          <a:stretch>
            <a:fillRect/>
          </a:stretch>
        </p:blipFill>
        <p:spPr>
          <a:xfrm>
            <a:off x="4536225" y="2247704"/>
            <a:ext cx="128699" cy="187198"/>
          </a:xfrm>
          <a:prstGeom prst="rect">
            <a:avLst/>
          </a:prstGeom>
        </p:spPr>
      </p:pic>
      <p:pic>
        <p:nvPicPr>
          <p:cNvPr id="98" name="Picture 97" descr="lock.png"/>
          <p:cNvPicPr>
            <a:picLocks noChangeAspect="1"/>
          </p:cNvPicPr>
          <p:nvPr/>
        </p:nvPicPr>
        <p:blipFill>
          <a:blip r:embed="rId4"/>
          <a:stretch>
            <a:fillRect/>
          </a:stretch>
        </p:blipFill>
        <p:spPr>
          <a:xfrm>
            <a:off x="5412525" y="2494130"/>
            <a:ext cx="128699" cy="187198"/>
          </a:xfrm>
          <a:prstGeom prst="rect">
            <a:avLst/>
          </a:prstGeom>
        </p:spPr>
      </p:pic>
      <p:pic>
        <p:nvPicPr>
          <p:cNvPr id="99" name="Picture 98" descr="lock.png"/>
          <p:cNvPicPr>
            <a:picLocks noChangeAspect="1"/>
          </p:cNvPicPr>
          <p:nvPr/>
        </p:nvPicPr>
        <p:blipFill>
          <a:blip r:embed="rId4"/>
          <a:stretch>
            <a:fillRect/>
          </a:stretch>
        </p:blipFill>
        <p:spPr>
          <a:xfrm>
            <a:off x="6288825" y="1748312"/>
            <a:ext cx="128699" cy="187198"/>
          </a:xfrm>
          <a:prstGeom prst="rect">
            <a:avLst/>
          </a:prstGeom>
        </p:spPr>
      </p:pic>
      <p:pic>
        <p:nvPicPr>
          <p:cNvPr id="100" name="Picture 99" descr="lock.png"/>
          <p:cNvPicPr>
            <a:picLocks noChangeAspect="1"/>
          </p:cNvPicPr>
          <p:nvPr/>
        </p:nvPicPr>
        <p:blipFill>
          <a:blip r:embed="rId4"/>
          <a:stretch>
            <a:fillRect/>
          </a:stretch>
        </p:blipFill>
        <p:spPr>
          <a:xfrm>
            <a:off x="7165125" y="2044565"/>
            <a:ext cx="128699" cy="187198"/>
          </a:xfrm>
          <a:prstGeom prst="rect">
            <a:avLst/>
          </a:prstGeom>
        </p:spPr>
      </p:pic>
      <p:pic>
        <p:nvPicPr>
          <p:cNvPr id="101" name="Picture 100" descr="lock.png"/>
          <p:cNvPicPr>
            <a:picLocks noChangeAspect="1"/>
          </p:cNvPicPr>
          <p:nvPr/>
        </p:nvPicPr>
        <p:blipFill>
          <a:blip r:embed="rId4"/>
          <a:stretch>
            <a:fillRect/>
          </a:stretch>
        </p:blipFill>
        <p:spPr>
          <a:xfrm>
            <a:off x="1142150" y="4444308"/>
            <a:ext cx="128699" cy="187198"/>
          </a:xfrm>
          <a:prstGeom prst="rect">
            <a:avLst/>
          </a:prstGeom>
        </p:spPr>
      </p:pic>
      <p:pic>
        <p:nvPicPr>
          <p:cNvPr id="102" name="Picture 101" descr="lock.png"/>
          <p:cNvPicPr>
            <a:picLocks noChangeAspect="1"/>
          </p:cNvPicPr>
          <p:nvPr/>
        </p:nvPicPr>
        <p:blipFill>
          <a:blip r:embed="rId4"/>
          <a:stretch>
            <a:fillRect/>
          </a:stretch>
        </p:blipFill>
        <p:spPr>
          <a:xfrm>
            <a:off x="2316900" y="4632538"/>
            <a:ext cx="128699" cy="187198"/>
          </a:xfrm>
          <a:prstGeom prst="rect">
            <a:avLst/>
          </a:prstGeom>
        </p:spPr>
      </p:pic>
      <p:pic>
        <p:nvPicPr>
          <p:cNvPr id="103" name="Picture 102" descr="lock.png"/>
          <p:cNvPicPr>
            <a:picLocks noChangeAspect="1"/>
          </p:cNvPicPr>
          <p:nvPr/>
        </p:nvPicPr>
        <p:blipFill>
          <a:blip r:embed="rId4"/>
          <a:stretch>
            <a:fillRect/>
          </a:stretch>
        </p:blipFill>
        <p:spPr>
          <a:xfrm>
            <a:off x="3491650" y="4699197"/>
            <a:ext cx="128699" cy="187198"/>
          </a:xfrm>
          <a:prstGeom prst="rect">
            <a:avLst/>
          </a:prstGeom>
        </p:spPr>
      </p:pic>
      <p:pic>
        <p:nvPicPr>
          <p:cNvPr id="104" name="Picture 103" descr="lock.png"/>
          <p:cNvPicPr>
            <a:picLocks noChangeAspect="1"/>
          </p:cNvPicPr>
          <p:nvPr/>
        </p:nvPicPr>
        <p:blipFill>
          <a:blip r:embed="rId4"/>
          <a:stretch>
            <a:fillRect/>
          </a:stretch>
        </p:blipFill>
        <p:spPr>
          <a:xfrm>
            <a:off x="4666400" y="4766543"/>
            <a:ext cx="128699" cy="187198"/>
          </a:xfrm>
          <a:prstGeom prst="rect">
            <a:avLst/>
          </a:prstGeom>
        </p:spPr>
      </p:pic>
      <p:pic>
        <p:nvPicPr>
          <p:cNvPr id="105" name="Picture 104" descr="lock.png"/>
          <p:cNvPicPr>
            <a:picLocks noChangeAspect="1"/>
          </p:cNvPicPr>
          <p:nvPr/>
        </p:nvPicPr>
        <p:blipFill>
          <a:blip r:embed="rId4"/>
          <a:stretch>
            <a:fillRect/>
          </a:stretch>
        </p:blipFill>
        <p:spPr>
          <a:xfrm>
            <a:off x="5841150" y="5649419"/>
            <a:ext cx="128699" cy="187198"/>
          </a:xfrm>
          <a:prstGeom prst="rect">
            <a:avLst/>
          </a:prstGeom>
        </p:spPr>
      </p:pic>
      <p:pic>
        <p:nvPicPr>
          <p:cNvPr id="106" name="Picture 105" descr="lock.png"/>
          <p:cNvPicPr>
            <a:picLocks noChangeAspect="1"/>
          </p:cNvPicPr>
          <p:nvPr/>
        </p:nvPicPr>
        <p:blipFill>
          <a:blip r:embed="rId4"/>
          <a:stretch>
            <a:fillRect/>
          </a:stretch>
        </p:blipFill>
        <p:spPr>
          <a:xfrm>
            <a:off x="7015900" y="4939414"/>
            <a:ext cx="128699" cy="187198"/>
          </a:xfrm>
          <a:prstGeom prst="rect">
            <a:avLst/>
          </a:prstGeom>
        </p:spPr>
      </p:pic>
      <p:sp>
        <p:nvSpPr>
          <p:cNvPr id="107" name="TextBox 106"/>
          <p:cNvSpPr txBox="1"/>
          <p:nvPr/>
        </p:nvSpPr>
        <p:spPr>
          <a:xfrm>
            <a:off x="8048625" y="1736673"/>
            <a:ext cx="3797907"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product format</a:t>
            </a:r>
          </a:p>
        </p:txBody>
      </p:sp>
      <p:sp>
        <p:nvSpPr>
          <p:cNvPr id="108" name="TextBox 107"/>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109" name="TextBox 108"/>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110" name="TextBox 109"/>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111" name="TextBox 110"/>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112" name="TextBox 111"/>
          <p:cNvSpPr txBox="1"/>
          <p:nvPr/>
        </p:nvSpPr>
        <p:spPr>
          <a:xfrm>
            <a:off x="8048625" y="2665551"/>
            <a:ext cx="3655851" cy="194310"/>
          </a:xfrm>
          <a:prstGeom prst="rect">
            <a:avLst/>
          </a:prstGeom>
          <a:noFill/>
        </p:spPr>
        <p:txBody>
          <a:bodyPr wrap="none" lIns="0" rIns="0" tIns="0" bIns="0">
            <a:spAutoFit/>
          </a:bodyPr>
          <a:lstStyle/>
          <a:p>
            <a:r>
              <a:rPr sz="1150" b="0">
                <a:solidFill>
                  <a:srgbClr val="2E2E2E"/>
                </a:solidFill>
                <a:latin typeface="Calibri"/>
              </a:rPr>
              <a:t>price levels 'Creams and Lotions' shows the most movement</a:t>
            </a:r>
          </a:p>
        </p:txBody>
      </p:sp>
      <p:sp>
        <p:nvSpPr>
          <p:cNvPr id="113" name="TextBox 112"/>
          <p:cNvSpPr txBox="1"/>
          <p:nvPr/>
        </p:nvSpPr>
        <p:spPr>
          <a:xfrm>
            <a:off x="8048625" y="284081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114" name="Picture 113" descr="lock.png"/>
          <p:cNvPicPr>
            <a:picLocks noChangeAspect="1"/>
          </p:cNvPicPr>
          <p:nvPr/>
        </p:nvPicPr>
        <p:blipFill>
          <a:blip r:embed="rId4"/>
          <a:stretch>
            <a:fillRect/>
          </a:stretch>
        </p:blipFill>
        <p:spPr>
          <a:xfrm>
            <a:off x="8190933" y="2830588"/>
            <a:ext cx="134549" cy="195707"/>
          </a:xfrm>
          <a:prstGeom prst="rect">
            <a:avLst/>
          </a:prstGeom>
        </p:spPr>
      </p:pic>
      <p:sp>
        <p:nvSpPr>
          <p:cNvPr id="115" name="TextBox 114"/>
          <p:cNvSpPr txBox="1"/>
          <p:nvPr/>
        </p:nvSpPr>
        <p:spPr>
          <a:xfrm>
            <a:off x="8366042" y="2840811"/>
            <a:ext cx="2114339" cy="194310"/>
          </a:xfrm>
          <a:prstGeom prst="rect">
            <a:avLst/>
          </a:prstGeom>
          <a:noFill/>
        </p:spPr>
        <p:txBody>
          <a:bodyPr wrap="none" lIns="0" rIns="0" tIns="0" bIns="0">
            <a:spAutoFit/>
          </a:bodyPr>
          <a:lstStyle/>
          <a:p>
            <a:r>
              <a:rPr sz="1150" b="0">
                <a:solidFill>
                  <a:srgbClr val="2E2E2E"/>
                </a:solidFill>
                <a:latin typeface="Calibri"/>
              </a:rPr>
              <a:t>) and 'Styling Powders' the least (+</a:t>
            </a:r>
          </a:p>
        </p:txBody>
      </p:sp>
      <p:pic>
        <p:nvPicPr>
          <p:cNvPr id="116" name="Picture 115" descr="lock.png"/>
          <p:cNvPicPr>
            <a:picLocks noChangeAspect="1"/>
          </p:cNvPicPr>
          <p:nvPr/>
        </p:nvPicPr>
        <p:blipFill>
          <a:blip r:embed="rId4"/>
          <a:stretch>
            <a:fillRect/>
          </a:stretch>
        </p:blipFill>
        <p:spPr>
          <a:xfrm>
            <a:off x="10429535" y="2830588"/>
            <a:ext cx="134549" cy="195707"/>
          </a:xfrm>
          <a:prstGeom prst="rect">
            <a:avLst/>
          </a:prstGeom>
        </p:spPr>
      </p:pic>
      <p:sp>
        <p:nvSpPr>
          <p:cNvPr id="117" name="TextBox 116"/>
          <p:cNvSpPr txBox="1"/>
          <p:nvPr/>
        </p:nvSpPr>
        <p:spPr>
          <a:xfrm>
            <a:off x="10604644" y="2840811"/>
            <a:ext cx="736848" cy="194310"/>
          </a:xfrm>
          <a:prstGeom prst="rect">
            <a:avLst/>
          </a:prstGeom>
          <a:noFill/>
        </p:spPr>
        <p:txBody>
          <a:bodyPr wrap="none" lIns="0" rIns="0" tIns="0" bIns="0">
            <a:spAutoFit/>
          </a:bodyPr>
          <a:lstStyle/>
          <a:p>
            <a:r>
              <a:rPr sz="1150" b="0">
                <a:solidFill>
                  <a:srgbClr val="2E2E2E"/>
                </a:solidFill>
                <a:latin typeface="Calibri"/>
              </a:rPr>
              <a:t>) variability</a:t>
            </a:r>
          </a:p>
        </p:txBody>
      </p:sp>
      <p:sp>
        <p:nvSpPr>
          <p:cNvPr id="118" name="TextBox 117"/>
          <p:cNvSpPr txBox="1"/>
          <p:nvPr/>
        </p:nvSpPr>
        <p:spPr>
          <a:xfrm>
            <a:off x="8048625" y="3016071"/>
            <a:ext cx="3668117" cy="194310"/>
          </a:xfrm>
          <a:prstGeom prst="rect">
            <a:avLst/>
          </a:prstGeom>
          <a:noFill/>
        </p:spPr>
        <p:txBody>
          <a:bodyPr wrap="none" lIns="0" rIns="0" tIns="0" bIns="0">
            <a:spAutoFit/>
          </a:bodyPr>
          <a:lstStyle/>
          <a:p>
            <a:r>
              <a:rPr sz="1150" b="0">
                <a:solidFill>
                  <a:srgbClr val="2E2E2E"/>
                </a:solidFill>
                <a:latin typeface="Calibri"/>
              </a:rPr>
              <a:t>stakeholders should monitor when planning procurement or</a:t>
            </a:r>
          </a:p>
        </p:txBody>
      </p:sp>
      <p:sp>
        <p:nvSpPr>
          <p:cNvPr id="119" name="TextBox 118"/>
          <p:cNvSpPr txBox="1"/>
          <p:nvPr/>
        </p:nvSpPr>
        <p:spPr>
          <a:xfrm>
            <a:off x="8048625" y="3191331"/>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120" name="TextBox 119"/>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21" name="TextBox 120"/>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22" name="TextBox 121"/>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23" name="TextBox 122"/>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24" name="TextBox 123"/>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25" name="Picture 124" descr="lock.png"/>
          <p:cNvPicPr>
            <a:picLocks noChangeAspect="1"/>
          </p:cNvPicPr>
          <p:nvPr/>
        </p:nvPicPr>
        <p:blipFill>
          <a:blip r:embed="rId4"/>
          <a:stretch>
            <a:fillRect/>
          </a:stretch>
        </p:blipFill>
        <p:spPr>
          <a:xfrm>
            <a:off x="10338039" y="4162564"/>
            <a:ext cx="134549" cy="195707"/>
          </a:xfrm>
          <a:prstGeom prst="rect">
            <a:avLst/>
          </a:prstGeom>
        </p:spPr>
      </p:pic>
      <p:sp>
        <p:nvSpPr>
          <p:cNvPr id="126" name="TextBox 125"/>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27" name="TextBox 126"/>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28" name="TextBox 127"/>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29" name="TextBox 128"/>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Pricing Assessment: By Product Format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product format,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Styling Serums and Oils command the highest 2026 price point at US$ 3/Units, a 143.7% premium over Mousses and Foams.</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Product Format,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Index vs Global Average (= 100)</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184709">
                <a:tc>
                  <a:txBody>
                    <a:bodyPr wrap="square"/>
                    <a:lstStyle/>
                    <a:p>
                      <a:pPr algn="l"/>
                      <a:r>
                        <a:rPr sz="850" b="1">
                          <a:solidFill>
                            <a:srgbClr val="FFFFFF"/>
                          </a:solidFill>
                          <a:latin typeface="Calibri"/>
                        </a:rPr>
                        <a:t>Product Format</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184709">
                <a:tc>
                  <a:txBody>
                    <a:bodyPr wrap="square"/>
                    <a:lstStyle/>
                    <a:p>
                      <a:pPr algn="l"/>
                      <a:r>
                        <a:rPr sz="850" b="1">
                          <a:solidFill>
                            <a:srgbClr val="1F1F1F"/>
                          </a:solidFill>
                          <a:latin typeface="Calibri"/>
                        </a:rPr>
                        <a:t>Styling Serums and Oils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b="0">
                          <a:solidFill>
                            <a:srgbClr val="1F1F1F"/>
                          </a:solidFill>
                          <a:latin typeface="Calibri"/>
                        </a:rPr>
                        <a:t>1.21%</a:t>
                      </a:r>
                    </a:p>
                  </a:txBody>
                  <a:tcPr marL="36576" marR="36576" marT="9144" marB="9144" anchor="ctr">
                    <a:solidFill>
                      <a:srgbClr val="FFFFFF"/>
                    </a:solidFill>
                  </a:tcPr>
                </a:tc>
                <a:tc>
                  <a:txBody>
                    <a:bodyPr wrap="square"/>
                    <a:lstStyle/>
                    <a:p>
                      <a:pPr algn="ctr"/>
                      <a:r>
                        <a:rPr sz="850" b="0">
                          <a:solidFill>
                            <a:srgbClr val="1F1F1F"/>
                          </a:solidFill>
                          <a:latin typeface="Calibri"/>
                        </a:rPr>
                        <a:t>152.0</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Sticks and Balms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b="0">
                          <a:solidFill>
                            <a:srgbClr val="1F1F1F"/>
                          </a:solidFill>
                          <a:latin typeface="Calibri"/>
                        </a:rPr>
                        <a:t>1.12%</a:t>
                      </a:r>
                    </a:p>
                  </a:txBody>
                  <a:tcPr marL="36576" marR="36576" marT="9144" marB="9144" anchor="ctr">
                    <a:solidFill>
                      <a:srgbClr val="F3F6F9"/>
                    </a:solidFill>
                  </a:tcPr>
                </a:tc>
                <a:tc>
                  <a:txBody>
                    <a:bodyPr wrap="square"/>
                    <a:lstStyle/>
                    <a:p>
                      <a:pPr algn="ctr"/>
                      <a:r>
                        <a:rPr sz="850" b="0">
                          <a:solidFill>
                            <a:srgbClr val="1F1F1F"/>
                          </a:solidFill>
                          <a:latin typeface="Calibri"/>
                        </a:rPr>
                        <a:t>132.5</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Waxes, Clays, Pastes and Pomades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b="0">
                          <a:solidFill>
                            <a:srgbClr val="1F1F1F"/>
                          </a:solidFill>
                          <a:latin typeface="Calibri"/>
                        </a:rPr>
                        <a:t>1.17%</a:t>
                      </a:r>
                    </a:p>
                  </a:txBody>
                  <a:tcPr marL="36576" marR="36576" marT="9144" marB="9144" anchor="ctr">
                    <a:solidFill>
                      <a:srgbClr val="FFFFFF"/>
                    </a:solidFill>
                  </a:tcPr>
                </a:tc>
                <a:tc>
                  <a:txBody>
                    <a:bodyPr wrap="square"/>
                    <a:lstStyle/>
                    <a:p>
                      <a:pPr algn="ctr"/>
                      <a:r>
                        <a:rPr sz="850" b="0">
                          <a:solidFill>
                            <a:srgbClr val="1F1F1F"/>
                          </a:solidFill>
                          <a:latin typeface="Calibri"/>
                        </a:rPr>
                        <a:t>117.7</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Styling Powders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b="0">
                          <a:solidFill>
                            <a:srgbClr val="1F1F1F"/>
                          </a:solidFill>
                          <a:latin typeface="Calibri"/>
                        </a:rPr>
                        <a:t>0.89%</a:t>
                      </a:r>
                    </a:p>
                  </a:txBody>
                  <a:tcPr marL="36576" marR="36576" marT="9144" marB="9144" anchor="ctr">
                    <a:solidFill>
                      <a:srgbClr val="F3F6F9"/>
                    </a:solidFill>
                  </a:tcPr>
                </a:tc>
                <a:tc>
                  <a:txBody>
                    <a:bodyPr wrap="square"/>
                    <a:lstStyle/>
                    <a:p>
                      <a:pPr algn="ctr"/>
                      <a:r>
                        <a:rPr sz="850" b="0">
                          <a:solidFill>
                            <a:srgbClr val="1F1F1F"/>
                          </a:solidFill>
                          <a:latin typeface="Calibri"/>
                        </a:rPr>
                        <a:t>103.3</a:t>
                      </a:r>
                    </a:p>
                  </a:txBody>
                  <a:tcPr marL="36576" marR="36576" marT="9144" marB="9144" anchor="ctr">
                    <a:solidFill>
                      <a:srgbClr val="F4B183"/>
                    </a:solidFill>
                  </a:tcPr>
                </a:tc>
              </a:tr>
              <a:tr h="184709">
                <a:tc>
                  <a:txBody>
                    <a:bodyPr wrap="square"/>
                    <a:lstStyle/>
                    <a:p>
                      <a:pPr algn="l"/>
                      <a:r>
                        <a:rPr sz="850" b="1">
                          <a:solidFill>
                            <a:srgbClr val="1F1F1F"/>
                          </a:solidFill>
                          <a:latin typeface="Calibri"/>
                        </a:rPr>
                        <a:t>Sprays and Mists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b="0">
                          <a:solidFill>
                            <a:srgbClr val="1F1F1F"/>
                          </a:solidFill>
                          <a:latin typeface="Calibri"/>
                        </a:rPr>
                        <a:t>1.17%</a:t>
                      </a:r>
                    </a:p>
                  </a:txBody>
                  <a:tcPr marL="36576" marR="36576" marT="9144" marB="9144" anchor="ctr">
                    <a:solidFill>
                      <a:srgbClr val="FFFFFF"/>
                    </a:solidFill>
                  </a:tcPr>
                </a:tc>
                <a:tc>
                  <a:txBody>
                    <a:bodyPr wrap="square"/>
                    <a:lstStyle/>
                    <a:p>
                      <a:pPr algn="ctr"/>
                      <a:r>
                        <a:rPr sz="850" b="0">
                          <a:solidFill>
                            <a:srgbClr val="1F1F1F"/>
                          </a:solidFill>
                          <a:latin typeface="Calibri"/>
                        </a:rPr>
                        <a:t>93.6</a:t>
                      </a:r>
                    </a:p>
                  </a:txBody>
                  <a:tcPr marL="36576" marR="36576" marT="9144" marB="9144" anchor="ctr">
                    <a:solidFill>
                      <a:srgbClr val="9DC0E0"/>
                    </a:solidFill>
                  </a:tcPr>
                </a:tc>
              </a:tr>
              <a:tr h="184709">
                <a:tc>
                  <a:txBody>
                    <a:bodyPr wrap="square"/>
                    <a:lstStyle/>
                    <a:p>
                      <a:pPr algn="l"/>
                      <a:r>
                        <a:rPr sz="850" b="1">
                          <a:solidFill>
                            <a:srgbClr val="1F1F1F"/>
                          </a:solidFill>
                          <a:latin typeface="Calibri"/>
                        </a:rPr>
                        <a:t>Creams and Lotions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b="0">
                          <a:solidFill>
                            <a:srgbClr val="1F1F1F"/>
                          </a:solidFill>
                          <a:latin typeface="Calibri"/>
                        </a:rPr>
                        <a:t>1.26%</a:t>
                      </a:r>
                    </a:p>
                  </a:txBody>
                  <a:tcPr marL="36576" marR="36576" marT="9144" marB="9144" anchor="ctr">
                    <a:solidFill>
                      <a:srgbClr val="F3F6F9"/>
                    </a:solidFill>
                  </a:tcPr>
                </a:tc>
                <a:tc>
                  <a:txBody>
                    <a:bodyPr wrap="square"/>
                    <a:lstStyle/>
                    <a:p>
                      <a:pPr algn="ctr"/>
                      <a:r>
                        <a:rPr sz="850" b="0">
                          <a:solidFill>
                            <a:srgbClr val="1F1F1F"/>
                          </a:solidFill>
                          <a:latin typeface="Calibri"/>
                        </a:rPr>
                        <a:t>87.7</a:t>
                      </a:r>
                    </a:p>
                  </a:txBody>
                  <a:tcPr marL="36576" marR="36576" marT="9144" marB="9144" anchor="ctr">
                    <a:solidFill>
                      <a:srgbClr val="9DC0E0"/>
                    </a:solidFill>
                  </a:tcPr>
                </a:tc>
              </a:tr>
              <a:tr h="184709">
                <a:tc>
                  <a:txBody>
                    <a:bodyPr wrap="square"/>
                    <a:lstStyle/>
                    <a:p>
                      <a:pPr algn="l"/>
                      <a:r>
                        <a:rPr sz="850" b="1">
                          <a:solidFill>
                            <a:srgbClr val="1F1F1F"/>
                          </a:solidFill>
                          <a:latin typeface="Calibri"/>
                        </a:rPr>
                        <a:t>Gels and Jellies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b="0">
                          <a:solidFill>
                            <a:srgbClr val="1F1F1F"/>
                          </a:solidFill>
                          <a:latin typeface="Calibri"/>
                        </a:rPr>
                        <a:t>1.04%</a:t>
                      </a:r>
                    </a:p>
                  </a:txBody>
                  <a:tcPr marL="36576" marR="36576" marT="9144" marB="9144" anchor="ctr">
                    <a:solidFill>
                      <a:srgbClr val="FFFFFF"/>
                    </a:solidFill>
                  </a:tcPr>
                </a:tc>
                <a:tc>
                  <a:txBody>
                    <a:bodyPr wrap="square"/>
                    <a:lstStyle/>
                    <a:p>
                      <a:pPr algn="ctr"/>
                      <a:r>
                        <a:rPr sz="850" b="0">
                          <a:solidFill>
                            <a:srgbClr val="1F1F1F"/>
                          </a:solidFill>
                          <a:latin typeface="Calibri"/>
                        </a:rPr>
                        <a:t>62.7</a:t>
                      </a:r>
                    </a:p>
                  </a:txBody>
                  <a:tcPr marL="36576" marR="36576" marT="9144" marB="9144" anchor="ctr">
                    <a:solidFill>
                      <a:srgbClr val="9DC0E0"/>
                    </a:solidFill>
                  </a:tcPr>
                </a:tc>
              </a:tr>
              <a:tr h="184709">
                <a:tc>
                  <a:txBody>
                    <a:bodyPr wrap="square"/>
                    <a:lstStyle/>
                    <a:p>
                      <a:pPr algn="l"/>
                      <a:r>
                        <a:rPr sz="850" b="1">
                          <a:solidFill>
                            <a:srgbClr val="1F1F1F"/>
                          </a:solidFill>
                          <a:latin typeface="Calibri"/>
                        </a:rPr>
                        <a:t>Mousses and Foams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b="0">
                          <a:solidFill>
                            <a:srgbClr val="1F1F1F"/>
                          </a:solidFill>
                          <a:latin typeface="Calibri"/>
                        </a:rPr>
                        <a:t>1.20%</a:t>
                      </a:r>
                    </a:p>
                  </a:txBody>
                  <a:tcPr marL="36576" marR="36576" marT="9144" marB="9144" anchor="ctr">
                    <a:solidFill>
                      <a:srgbClr val="F3F6F9"/>
                    </a:solidFill>
                  </a:tcPr>
                </a:tc>
                <a:tc>
                  <a:txBody>
                    <a:bodyPr wrap="square"/>
                    <a:lstStyle/>
                    <a:p>
                      <a:pPr algn="ctr"/>
                      <a:r>
                        <a:rPr sz="850" b="0">
                          <a:solidFill>
                            <a:srgbClr val="1F1F1F"/>
                          </a:solidFill>
                          <a:latin typeface="Calibri"/>
                        </a:rPr>
                        <a:t>62.4</a:t>
                      </a:r>
                    </a:p>
                  </a:txBody>
                  <a:tcPr marL="36576" marR="36576" marT="9144" marB="9144" anchor="ctr">
                    <a:solidFill>
                      <a:srgbClr val="9DC0E0"/>
                    </a:solidFill>
                  </a:tcPr>
                </a:tc>
              </a:tr>
              <a:tr h="184709">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b="0">
                          <a:solidFill>
                            <a:srgbClr val="1F1F1F"/>
                          </a:solidFill>
                          <a:latin typeface="Calibri"/>
                        </a:rPr>
                        <a:t>1.34%</a:t>
                      </a:r>
                    </a:p>
                  </a:txBody>
                  <a:tcPr marL="36576" marR="36576" marT="9144" marB="9144" anchor="ctr">
                    <a:solidFill>
                      <a:srgbClr val="F3F6F9"/>
                    </a:solidFill>
                  </a:tcPr>
                </a:tc>
                <a:tc>
                  <a:txBody>
                    <a:bodyPr wrap="square"/>
                    <a:lstStyle/>
                    <a:p>
                      <a:pPr algn="ctr"/>
                      <a:r>
                        <a:rPr sz="850" b="0">
                          <a:solidFill>
                            <a:srgbClr val="1F1F1F"/>
                          </a:solidFill>
                          <a:latin typeface="Calibri"/>
                        </a:rPr>
                        <a:t>100.0</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Styling Serums and Oils sit at the top of the 2026 price ladder at an index of 152.0, while Mousses and Foams trade at 62.4, which keeps the full product format spread within 143.7%.</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Creams and Lotions post the fastest price growth at a 1.26% CAGR between 2026 and 2036, compared with 0.89% for Styling Powders.</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The Global average price rises from US$ 2/Units in 2026 to US$ 2/Units in 2036, and the gap between the highest and lowest priced product format moves from 144.1% in 2021 to 146.5% in 2036.</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9643491" y="3978936"/>
            <a:ext cx="330041" cy="480060"/>
          </a:xfrm>
          <a:prstGeom prst="rect">
            <a:avLst/>
          </a:prstGeom>
        </p:spPr>
      </p:pic>
      <p:pic>
        <p:nvPicPr>
          <p:cNvPr id="34" name="Picture 33" descr="lock.png"/>
          <p:cNvPicPr>
            <a:picLocks noChangeAspect="1"/>
          </p:cNvPicPr>
          <p:nvPr/>
        </p:nvPicPr>
        <p:blipFill>
          <a:blip r:embed="rId6"/>
          <a:stretch>
            <a:fillRect/>
          </a:stretch>
        </p:blipFill>
        <p:spPr>
          <a:xfrm>
            <a:off x="3418190" y="3048804"/>
            <a:ext cx="454926" cy="661711"/>
          </a:xfrm>
          <a:prstGeom prst="rect">
            <a:avLst/>
          </a:prstGeom>
        </p:spPr>
      </p:pic>
      <p:sp>
        <p:nvSpPr>
          <p:cNvPr id="35"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product formats,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North America is the most premium Global region at US$ 3/Units in 2026, +40.1% above the global average, while South Asia &amp; Pacific is the lowest priced.</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Product Formats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the lowest to highest product format price in each region, read on the price index axis (Global average = 100). Teal = above Global average, blue = below.</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b="0">
                          <a:solidFill>
                            <a:srgbClr val="1F1F1F"/>
                          </a:solidFill>
                          <a:latin typeface="Calibri"/>
                        </a:rPr>
                        <a:t>140.1</a:t>
                      </a:r>
                    </a:p>
                  </a:txBody>
                  <a:tcPr marL="36576" marR="36576" marT="9144" marB="9144" anchor="ctr">
                    <a:solidFill>
                      <a:srgbClr val="F4B183"/>
                    </a:solidFill>
                  </a:tcPr>
                </a:tc>
                <a:tc>
                  <a:txBody>
                    <a:bodyPr wrap="square"/>
                    <a:lstStyle/>
                    <a:p>
                      <a:pPr algn="ctr"/>
                      <a:r>
                        <a:rPr sz="900" b="0">
                          <a:solidFill>
                            <a:srgbClr val="1F1F1F"/>
                          </a:solidFill>
                          <a:latin typeface="Calibri"/>
                        </a:rPr>
                        <a:t>1.67%</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b="0">
                          <a:solidFill>
                            <a:srgbClr val="1F1F1F"/>
                          </a:solidFill>
                          <a:latin typeface="Calibri"/>
                        </a:rPr>
                        <a:t>101.9</a:t>
                      </a:r>
                    </a:p>
                  </a:txBody>
                  <a:tcPr marL="36576" marR="36576" marT="9144" marB="9144" anchor="ctr">
                    <a:solidFill>
                      <a:srgbClr val="FBE3D3"/>
                    </a:solidFill>
                  </a:tcPr>
                </a:tc>
                <a:tc>
                  <a:txBody>
                    <a:bodyPr wrap="square"/>
                    <a:lstStyle/>
                    <a:p>
                      <a:pPr algn="ctr"/>
                      <a:r>
                        <a:rPr sz="900" b="0">
                          <a:solidFill>
                            <a:srgbClr val="1F1F1F"/>
                          </a:solidFill>
                          <a:latin typeface="Calibri"/>
                        </a:rPr>
                        <a:t>1.54%</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b="0">
                          <a:solidFill>
                            <a:srgbClr val="1F1F1F"/>
                          </a:solidFill>
                          <a:latin typeface="Calibri"/>
                        </a:rPr>
                        <a:t>95.8</a:t>
                      </a:r>
                    </a:p>
                  </a:txBody>
                  <a:tcPr marL="36576" marR="36576" marT="9144" marB="9144" anchor="ctr">
                    <a:solidFill>
                      <a:srgbClr val="9DC0E0"/>
                    </a:solidFill>
                  </a:tcPr>
                </a:tc>
                <a:tc>
                  <a:txBody>
                    <a:bodyPr wrap="square"/>
                    <a:lstStyle/>
                    <a:p>
                      <a:pPr algn="ctr"/>
                      <a:r>
                        <a:rPr sz="900" b="0">
                          <a:solidFill>
                            <a:srgbClr val="1F1F1F"/>
                          </a:solidFill>
                          <a:latin typeface="Calibri"/>
                        </a:rPr>
                        <a:t>1.50%</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b="0">
                          <a:solidFill>
                            <a:srgbClr val="1F1F1F"/>
                          </a:solidFill>
                          <a:latin typeface="Calibri"/>
                        </a:rPr>
                        <a:t>86.7</a:t>
                      </a:r>
                    </a:p>
                  </a:txBody>
                  <a:tcPr marL="36576" marR="36576" marT="9144" marB="9144" anchor="ctr">
                    <a:solidFill>
                      <a:srgbClr val="9DC0E0"/>
                    </a:solidFill>
                  </a:tcPr>
                </a:tc>
                <a:tc>
                  <a:txBody>
                    <a:bodyPr wrap="square"/>
                    <a:lstStyle/>
                    <a:p>
                      <a:pPr algn="ctr"/>
                      <a:r>
                        <a:rPr sz="900" b="0">
                          <a:solidFill>
                            <a:srgbClr val="1F1F1F"/>
                          </a:solidFill>
                          <a:latin typeface="Calibri"/>
                        </a:rPr>
                        <a:t>1.41%</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b="0">
                          <a:solidFill>
                            <a:srgbClr val="1F1F1F"/>
                          </a:solidFill>
                          <a:latin typeface="Calibri"/>
                        </a:rPr>
                        <a:t>74.4</a:t>
                      </a:r>
                    </a:p>
                  </a:txBody>
                  <a:tcPr marL="36576" marR="36576" marT="9144" marB="9144" anchor="ctr">
                    <a:solidFill>
                      <a:srgbClr val="9DC0E0"/>
                    </a:solidFill>
                  </a:tcPr>
                </a:tc>
                <a:tc>
                  <a:txBody>
                    <a:bodyPr wrap="square"/>
                    <a:lstStyle/>
                    <a:p>
                      <a:pPr algn="ctr"/>
                      <a:r>
                        <a:rPr sz="900" b="0">
                          <a:solidFill>
                            <a:srgbClr val="1F1F1F"/>
                          </a:solidFill>
                          <a:latin typeface="Calibri"/>
                        </a:rPr>
                        <a:t>1.57%</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b="0">
                          <a:solidFill>
                            <a:srgbClr val="1F1F1F"/>
                          </a:solidFill>
                          <a:latin typeface="Calibri"/>
                        </a:rPr>
                        <a:t>72.0</a:t>
                      </a:r>
                    </a:p>
                  </a:txBody>
                  <a:tcPr marL="36576" marR="36576" marT="9144" marB="9144" anchor="ctr">
                    <a:solidFill>
                      <a:srgbClr val="9DC0E0"/>
                    </a:solidFill>
                  </a:tcPr>
                </a:tc>
                <a:tc>
                  <a:txBody>
                    <a:bodyPr wrap="square"/>
                    <a:lstStyle/>
                    <a:p>
                      <a:pPr algn="ctr"/>
                      <a:r>
                        <a:rPr sz="900" b="0">
                          <a:solidFill>
                            <a:srgbClr val="1F1F1F"/>
                          </a:solidFill>
                          <a:latin typeface="Calibri"/>
                        </a:rPr>
                        <a:t>1.12%</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Average prices across the ranked regions differ by 94.6% in 2026, from US$ 1/Units in South Asia &amp; Pacific to US$ 3/Units in North America.</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North America records the fastest average price growth at a 1.67% CAGR between 2026 and 2036, against 1.34% for Global as a whole.</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Middle East &amp; Africa shows the widest gap between its cheapest and most expensive product format at 151.9%, so product mix shifts move its average price the most.</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product format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9689210" y="3394113"/>
            <a:ext cx="330041" cy="480060"/>
          </a:xfrm>
          <a:prstGeom prst="rect">
            <a:avLst/>
          </a:prstGeom>
        </p:spPr>
      </p:pic>
      <p:sp>
        <p:nvSpPr>
          <p:cNvPr id="33"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none" lIns="0" rIns="0" tIns="0" bIns="0">
            <a:spAutoFit/>
          </a:bodyPr>
          <a:lstStyle/>
          <a:p>
            <a:pPr algn="ctr"/>
            <a:r>
              <a:rPr sz="1100" b="0">
                <a:solidFill>
                  <a:srgbClr val="6C7A89"/>
                </a:solidFill>
                <a:latin typeface="Calibri"/>
              </a:rPr>
              <a:t> </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3297966" y="2100912"/>
            <a:ext cx="362909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835904"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2115513" y="2824823"/>
            <a:ext cx="196476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908381"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2607314" y="3548733"/>
            <a:ext cx="270046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28070"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480664" y="4272643"/>
            <a:ext cx="2463981"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530175"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1968931"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855685"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2330503" y="5720463"/>
            <a:ext cx="2406736"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76410"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1297725" y="6253235"/>
            <a:ext cx="128699" cy="187198"/>
          </a:xfrm>
          <a:prstGeom prst="rect">
            <a:avLst/>
          </a:prstGeom>
        </p:spPr>
      </p:pic>
      <p:pic>
        <p:nvPicPr>
          <p:cNvPr id="54" name="Picture 53" descr="lock.png"/>
          <p:cNvPicPr>
            <a:picLocks noChangeAspect="1"/>
          </p:cNvPicPr>
          <p:nvPr/>
        </p:nvPicPr>
        <p:blipFill>
          <a:blip r:embed="rId4"/>
          <a:stretch>
            <a:fillRect/>
          </a:stretch>
        </p:blipFill>
        <p:spPr>
          <a:xfrm>
            <a:off x="2547405" y="6253235"/>
            <a:ext cx="128699" cy="187198"/>
          </a:xfrm>
          <a:prstGeom prst="rect">
            <a:avLst/>
          </a:prstGeom>
        </p:spPr>
      </p:pic>
      <p:pic>
        <p:nvPicPr>
          <p:cNvPr id="55" name="Picture 54" descr="lock.png"/>
          <p:cNvPicPr>
            <a:picLocks noChangeAspect="1"/>
          </p:cNvPicPr>
          <p:nvPr/>
        </p:nvPicPr>
        <p:blipFill>
          <a:blip r:embed="rId4"/>
          <a:stretch>
            <a:fillRect/>
          </a:stretch>
        </p:blipFill>
        <p:spPr>
          <a:xfrm>
            <a:off x="3797085" y="6253235"/>
            <a:ext cx="128699" cy="187198"/>
          </a:xfrm>
          <a:prstGeom prst="rect">
            <a:avLst/>
          </a:prstGeom>
        </p:spPr>
      </p:pic>
      <p:pic>
        <p:nvPicPr>
          <p:cNvPr id="56" name="Picture 55" descr="lock.png"/>
          <p:cNvPicPr>
            <a:picLocks noChangeAspect="1"/>
          </p:cNvPicPr>
          <p:nvPr/>
        </p:nvPicPr>
        <p:blipFill>
          <a:blip r:embed="rId4"/>
          <a:stretch>
            <a:fillRect/>
          </a:stretch>
        </p:blipFill>
        <p:spPr>
          <a:xfrm>
            <a:off x="5046765" y="6253235"/>
            <a:ext cx="128699" cy="187198"/>
          </a:xfrm>
          <a:prstGeom prst="rect">
            <a:avLst/>
          </a:prstGeom>
        </p:spPr>
      </p:pic>
      <p:pic>
        <p:nvPicPr>
          <p:cNvPr id="57" name="Picture 56" descr="lock.png"/>
          <p:cNvPicPr>
            <a:picLocks noChangeAspect="1"/>
          </p:cNvPicPr>
          <p:nvPr/>
        </p:nvPicPr>
        <p:blipFill>
          <a:blip r:embed="rId4"/>
          <a:stretch>
            <a:fillRect/>
          </a:stretch>
        </p:blipFill>
        <p:spPr>
          <a:xfrm>
            <a:off x="6296445" y="6253235"/>
            <a:ext cx="128699" cy="187198"/>
          </a:xfrm>
          <a:prstGeom prst="rect">
            <a:avLst/>
          </a:prstGeom>
        </p:spPr>
      </p:pic>
      <p:pic>
        <p:nvPicPr>
          <p:cNvPr id="58" name="Picture 57" descr="lock.png"/>
          <p:cNvPicPr>
            <a:picLocks noChangeAspect="1"/>
          </p:cNvPicPr>
          <p:nvPr/>
        </p:nvPicPr>
        <p:blipFill>
          <a:blip r:embed="rId4"/>
          <a:stretch>
            <a:fillRect/>
          </a:stretch>
        </p:blipFill>
        <p:spPr>
          <a:xfrm>
            <a:off x="7546125" y="6253235"/>
            <a:ext cx="128699" cy="187198"/>
          </a:xfrm>
          <a:prstGeom prst="rect">
            <a:avLst/>
          </a:prstGeom>
        </p:spPr>
      </p:pic>
      <p:sp>
        <p:nvSpPr>
          <p:cNvPr id="59" name="TextBox 58"/>
          <p:cNvSpPr txBox="1"/>
          <p:nvPr/>
        </p:nvSpPr>
        <p:spPr>
          <a:xfrm>
            <a:off x="8048625" y="1736673"/>
            <a:ext cx="3695786" cy="194310"/>
          </a:xfrm>
          <a:prstGeom prst="rect">
            <a:avLst/>
          </a:prstGeom>
          <a:noFill/>
        </p:spPr>
        <p:txBody>
          <a:bodyPr wrap="none" lIns="0" rIns="0" tIns="0" bIns="0">
            <a:spAutoFit/>
          </a:bodyPr>
          <a:lstStyle/>
          <a:p>
            <a:r>
              <a:rPr sz="1150" b="0">
                <a:solidFill>
                  <a:srgbClr val="2E2E2E"/>
                </a:solidFill>
                <a:latin typeface="Calibri"/>
              </a:rPr>
              <a:t>Styling serums and oils segment is expected to command the</a:t>
            </a:r>
          </a:p>
        </p:txBody>
      </p:sp>
      <p:sp>
        <p:nvSpPr>
          <p:cNvPr id="60" name="TextBox 59"/>
          <p:cNvSpPr txBox="1"/>
          <p:nvPr/>
        </p:nvSpPr>
        <p:spPr>
          <a:xfrm>
            <a:off x="8048625" y="1911934"/>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61" name="Picture 60" descr="lock.png"/>
          <p:cNvPicPr>
            <a:picLocks noChangeAspect="1"/>
          </p:cNvPicPr>
          <p:nvPr/>
        </p:nvPicPr>
        <p:blipFill>
          <a:blip r:embed="rId4"/>
          <a:stretch>
            <a:fillRect/>
          </a:stretch>
        </p:blipFill>
        <p:spPr>
          <a:xfrm>
            <a:off x="9764678" y="1901710"/>
            <a:ext cx="134549" cy="195707"/>
          </a:xfrm>
          <a:prstGeom prst="rect">
            <a:avLst/>
          </a:prstGeom>
        </p:spPr>
      </p:pic>
      <p:sp>
        <p:nvSpPr>
          <p:cNvPr id="62" name="TextBox 61"/>
          <p:cNvSpPr txBox="1"/>
          <p:nvPr/>
        </p:nvSpPr>
        <p:spPr>
          <a:xfrm>
            <a:off x="9939788" y="1911934"/>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63" name="TextBox 62"/>
          <p:cNvSpPr txBox="1"/>
          <p:nvPr/>
        </p:nvSpPr>
        <p:spPr>
          <a:xfrm>
            <a:off x="8048625" y="2087194"/>
            <a:ext cx="3352911" cy="194310"/>
          </a:xfrm>
          <a:prstGeom prst="rect">
            <a:avLst/>
          </a:prstGeom>
          <a:noFill/>
        </p:spPr>
        <p:txBody>
          <a:bodyPr wrap="none" lIns="0" rIns="0" tIns="0" bIns="0">
            <a:spAutoFit/>
          </a:bodyPr>
          <a:lstStyle/>
          <a:p>
            <a:r>
              <a:rPr sz="1150" b="0">
                <a:solidFill>
                  <a:srgbClr val="2E2E2E"/>
                </a:solidFill>
                <a:latin typeface="Calibri"/>
              </a:rPr>
              <a:t>selling price of hair styling products is estimated at US$</a:t>
            </a:r>
          </a:p>
        </p:txBody>
      </p:sp>
      <p:pic>
        <p:nvPicPr>
          <p:cNvPr id="64" name="Picture 63" descr="lock.png"/>
          <p:cNvPicPr>
            <a:picLocks noChangeAspect="1"/>
          </p:cNvPicPr>
          <p:nvPr/>
        </p:nvPicPr>
        <p:blipFill>
          <a:blip r:embed="rId4"/>
          <a:stretch>
            <a:fillRect/>
          </a:stretch>
        </p:blipFill>
        <p:spPr>
          <a:xfrm>
            <a:off x="11350690" y="2076970"/>
            <a:ext cx="134549" cy="195707"/>
          </a:xfrm>
          <a:prstGeom prst="rect">
            <a:avLst/>
          </a:prstGeom>
        </p:spPr>
      </p:pic>
      <p:sp>
        <p:nvSpPr>
          <p:cNvPr id="65" name="TextBox 64"/>
          <p:cNvSpPr txBox="1"/>
          <p:nvPr/>
        </p:nvSpPr>
        <p:spPr>
          <a:xfrm>
            <a:off x="11525799" y="208719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6" name="TextBox 65"/>
          <p:cNvSpPr txBox="1"/>
          <p:nvPr/>
        </p:nvSpPr>
        <p:spPr>
          <a:xfrm>
            <a:off x="8048625" y="2262454"/>
            <a:ext cx="2904492" cy="194310"/>
          </a:xfrm>
          <a:prstGeom prst="rect">
            <a:avLst/>
          </a:prstGeom>
          <a:noFill/>
        </p:spPr>
        <p:txBody>
          <a:bodyPr wrap="none" lIns="0" rIns="0" tIns="0" bIns="0">
            <a:spAutoFit/>
          </a:bodyPr>
          <a:lstStyle/>
          <a:p>
            <a:r>
              <a:rPr sz="1150" b="0">
                <a:solidFill>
                  <a:srgbClr val="2E2E2E"/>
                </a:solidFill>
                <a:latin typeface="Calibri"/>
              </a:rPr>
              <a:t>Unit in 2025 and is projected to increase to US$</a:t>
            </a:r>
          </a:p>
        </p:txBody>
      </p:sp>
      <p:pic>
        <p:nvPicPr>
          <p:cNvPr id="67" name="Picture 66" descr="lock.png"/>
          <p:cNvPicPr>
            <a:picLocks noChangeAspect="1"/>
          </p:cNvPicPr>
          <p:nvPr/>
        </p:nvPicPr>
        <p:blipFill>
          <a:blip r:embed="rId4"/>
          <a:stretch>
            <a:fillRect/>
          </a:stretch>
        </p:blipFill>
        <p:spPr>
          <a:xfrm>
            <a:off x="10902271" y="2252230"/>
            <a:ext cx="134549" cy="195707"/>
          </a:xfrm>
          <a:prstGeom prst="rect">
            <a:avLst/>
          </a:prstGeom>
        </p:spPr>
      </p:pic>
      <p:sp>
        <p:nvSpPr>
          <p:cNvPr id="68" name="TextBox 67"/>
          <p:cNvSpPr txBox="1"/>
          <p:nvPr/>
        </p:nvSpPr>
        <p:spPr>
          <a:xfrm>
            <a:off x="11077380" y="2262454"/>
            <a:ext cx="739130" cy="194310"/>
          </a:xfrm>
          <a:prstGeom prst="rect">
            <a:avLst/>
          </a:prstGeom>
          <a:noFill/>
        </p:spPr>
        <p:txBody>
          <a:bodyPr wrap="none" lIns="0" rIns="0" tIns="0" bIns="0">
            <a:spAutoFit/>
          </a:bodyPr>
          <a:lstStyle/>
          <a:p>
            <a:r>
              <a:rPr sz="1150" b="0">
                <a:solidFill>
                  <a:srgbClr val="2E2E2E"/>
                </a:solidFill>
                <a:latin typeface="Calibri"/>
              </a:rPr>
              <a:t>per Unit by</a:t>
            </a:r>
          </a:p>
        </p:txBody>
      </p:sp>
      <p:sp>
        <p:nvSpPr>
          <p:cNvPr id="69" name="TextBox 68"/>
          <p:cNvSpPr txBox="1"/>
          <p:nvPr/>
        </p:nvSpPr>
        <p:spPr>
          <a:xfrm>
            <a:off x="8048625" y="2437714"/>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70" name="TextBox 69"/>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71" name="TextBox 70"/>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72" name="TextBox 71"/>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73" name="TextBox 72"/>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74" name="TextBox 73"/>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75" name="TextBox 74"/>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6" name="TextBox 75"/>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Hair Styling Products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2" name="Rounded Rectangle 11"/>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4" name="Freeform 13"/>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1" name="TextBox 40"/>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2" name="TextBox 41"/>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3" name="TextBox 42"/>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4" name="TextBox 43"/>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TextBox 44"/>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TextBox 53"/>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5" name="Rounded Rectangle 54"/>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7" name="Rectangle 56"/>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Hair Styling Products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Hair Styling Products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9" name="Rounded Rectangle 58"/>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1" name="Rectangle 60"/>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3" name="TextBox 6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4" name="TextBox 63"/>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5" name="Picture 64" descr="lock.png"/>
          <p:cNvPicPr>
            <a:picLocks noChangeAspect="1"/>
          </p:cNvPicPr>
          <p:nvPr/>
        </p:nvPicPr>
        <p:blipFill>
          <a:blip r:embed="rId4"/>
          <a:stretch>
            <a:fillRect/>
          </a:stretch>
        </p:blipFill>
        <p:spPr>
          <a:xfrm>
            <a:off x="3896652" y="1889132"/>
            <a:ext cx="128699" cy="187198"/>
          </a:xfrm>
          <a:prstGeom prst="rect">
            <a:avLst/>
          </a:prstGeom>
        </p:spPr>
      </p:pic>
      <p:sp>
        <p:nvSpPr>
          <p:cNvPr id="66" name="TextBox 65"/>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7" name="Picture 66" descr="lock.png"/>
          <p:cNvPicPr>
            <a:picLocks noChangeAspect="1"/>
          </p:cNvPicPr>
          <p:nvPr/>
        </p:nvPicPr>
        <p:blipFill>
          <a:blip r:embed="rId4"/>
          <a:stretch>
            <a:fillRect/>
          </a:stretch>
        </p:blipFill>
        <p:spPr>
          <a:xfrm>
            <a:off x="5370988" y="2315626"/>
            <a:ext cx="92663" cy="134782"/>
          </a:xfrm>
          <a:prstGeom prst="rect">
            <a:avLst/>
          </a:prstGeom>
        </p:spPr>
      </p:pic>
      <p:sp>
        <p:nvSpPr>
          <p:cNvPr id="68" name="TextBox 67"/>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9" name="Picture 68" descr="lock.png"/>
          <p:cNvPicPr>
            <a:picLocks noChangeAspect="1"/>
          </p:cNvPicPr>
          <p:nvPr/>
        </p:nvPicPr>
        <p:blipFill>
          <a:blip r:embed="rId4"/>
          <a:stretch>
            <a:fillRect/>
          </a:stretch>
        </p:blipFill>
        <p:spPr>
          <a:xfrm>
            <a:off x="6125111" y="3363591"/>
            <a:ext cx="92663" cy="134782"/>
          </a:xfrm>
          <a:prstGeom prst="rect">
            <a:avLst/>
          </a:prstGeom>
        </p:spPr>
      </p:pic>
      <p:sp>
        <p:nvSpPr>
          <p:cNvPr id="70" name="TextBox 69"/>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1" name="Picture 70" descr="lock.png"/>
          <p:cNvPicPr>
            <a:picLocks noChangeAspect="1"/>
          </p:cNvPicPr>
          <p:nvPr/>
        </p:nvPicPr>
        <p:blipFill>
          <a:blip r:embed="rId4"/>
          <a:stretch>
            <a:fillRect/>
          </a:stretch>
        </p:blipFill>
        <p:spPr>
          <a:xfrm>
            <a:off x="6130716" y="4655202"/>
            <a:ext cx="97811" cy="142270"/>
          </a:xfrm>
          <a:prstGeom prst="rect">
            <a:avLst/>
          </a:prstGeom>
        </p:spPr>
      </p:pic>
      <p:sp>
        <p:nvSpPr>
          <p:cNvPr id="72" name="TextBox 71"/>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3" name="Picture 72" descr="lock.png"/>
          <p:cNvPicPr>
            <a:picLocks noChangeAspect="1"/>
          </p:cNvPicPr>
          <p:nvPr/>
        </p:nvPicPr>
        <p:blipFill>
          <a:blip r:embed="rId4"/>
          <a:stretch>
            <a:fillRect/>
          </a:stretch>
        </p:blipFill>
        <p:spPr>
          <a:xfrm>
            <a:off x="4837988" y="5767261"/>
            <a:ext cx="92663" cy="134782"/>
          </a:xfrm>
          <a:prstGeom prst="rect">
            <a:avLst/>
          </a:prstGeom>
        </p:spPr>
      </p:pic>
      <p:sp>
        <p:nvSpPr>
          <p:cNvPr id="74" name="TextBox 73"/>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5" name="Picture 74" descr="lock.png"/>
          <p:cNvPicPr>
            <a:picLocks noChangeAspect="1"/>
          </p:cNvPicPr>
          <p:nvPr/>
        </p:nvPicPr>
        <p:blipFill>
          <a:blip r:embed="rId4"/>
          <a:stretch>
            <a:fillRect/>
          </a:stretch>
        </p:blipFill>
        <p:spPr>
          <a:xfrm>
            <a:off x="4119536" y="6103453"/>
            <a:ext cx="97811" cy="142270"/>
          </a:xfrm>
          <a:prstGeom prst="rect">
            <a:avLst/>
          </a:prstGeom>
        </p:spPr>
      </p:pic>
      <p:sp>
        <p:nvSpPr>
          <p:cNvPr id="76" name="TextBox 75"/>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7" name="TextBox 76"/>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8" name="Picture 77" descr="lock.png"/>
          <p:cNvPicPr>
            <a:picLocks noChangeAspect="1"/>
          </p:cNvPicPr>
          <p:nvPr/>
        </p:nvPicPr>
        <p:blipFill>
          <a:blip r:embed="rId4"/>
          <a:stretch>
            <a:fillRect/>
          </a:stretch>
        </p:blipFill>
        <p:spPr>
          <a:xfrm>
            <a:off x="2497177" y="5767261"/>
            <a:ext cx="92663" cy="134782"/>
          </a:xfrm>
          <a:prstGeom prst="rect">
            <a:avLst/>
          </a:prstGeom>
        </p:spPr>
      </p:pic>
      <p:sp>
        <p:nvSpPr>
          <p:cNvPr id="79" name="TextBox 78"/>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80" name="Picture 79" descr="lock.png"/>
          <p:cNvPicPr>
            <a:picLocks noChangeAspect="1"/>
          </p:cNvPicPr>
          <p:nvPr/>
        </p:nvPicPr>
        <p:blipFill>
          <a:blip r:embed="rId4"/>
          <a:stretch>
            <a:fillRect/>
          </a:stretch>
        </p:blipFill>
        <p:spPr>
          <a:xfrm>
            <a:off x="1612685" y="4719297"/>
            <a:ext cx="92663" cy="134782"/>
          </a:xfrm>
          <a:prstGeom prst="rect">
            <a:avLst/>
          </a:prstGeom>
        </p:spPr>
      </p:pic>
      <p:sp>
        <p:nvSpPr>
          <p:cNvPr id="81" name="TextBox 80"/>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2" name="Picture 81" descr="lock.png"/>
          <p:cNvPicPr>
            <a:picLocks noChangeAspect="1"/>
          </p:cNvPicPr>
          <p:nvPr/>
        </p:nvPicPr>
        <p:blipFill>
          <a:blip r:embed="rId4"/>
          <a:stretch>
            <a:fillRect/>
          </a:stretch>
        </p:blipFill>
        <p:spPr>
          <a:xfrm>
            <a:off x="2155213" y="3363591"/>
            <a:ext cx="92663" cy="134782"/>
          </a:xfrm>
          <a:prstGeom prst="rect">
            <a:avLst/>
          </a:prstGeom>
        </p:spPr>
      </p:pic>
      <p:sp>
        <p:nvSpPr>
          <p:cNvPr id="83" name="TextBox 82"/>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4" name="Picture 83" descr="lock.png"/>
          <p:cNvPicPr>
            <a:picLocks noChangeAspect="1"/>
          </p:cNvPicPr>
          <p:nvPr/>
        </p:nvPicPr>
        <p:blipFill>
          <a:blip r:embed="rId4"/>
          <a:stretch>
            <a:fillRect/>
          </a:stretch>
        </p:blipFill>
        <p:spPr>
          <a:xfrm>
            <a:off x="2374076" y="2375977"/>
            <a:ext cx="92663" cy="134782"/>
          </a:xfrm>
          <a:prstGeom prst="rect">
            <a:avLst/>
          </a:prstGeom>
        </p:spPr>
      </p:pic>
      <p:sp>
        <p:nvSpPr>
          <p:cNvPr id="85" name="TextBox 84"/>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6" name="Picture 85" descr="lock.png"/>
          <p:cNvPicPr>
            <a:picLocks noChangeAspect="1"/>
          </p:cNvPicPr>
          <p:nvPr/>
        </p:nvPicPr>
        <p:blipFill>
          <a:blip r:embed="rId4"/>
          <a:stretch>
            <a:fillRect/>
          </a:stretch>
        </p:blipFill>
        <p:spPr>
          <a:xfrm>
            <a:off x="8070793" y="5352366"/>
            <a:ext cx="128699" cy="187198"/>
          </a:xfrm>
          <a:prstGeom prst="rect">
            <a:avLst/>
          </a:prstGeom>
        </p:spPr>
      </p:pic>
      <p:sp>
        <p:nvSpPr>
          <p:cNvPr id="87" name="TextBox 86"/>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8" name="TextBox 87"/>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9" name="Picture 88" descr="lock.png"/>
          <p:cNvPicPr>
            <a:picLocks noChangeAspect="1"/>
          </p:cNvPicPr>
          <p:nvPr/>
        </p:nvPicPr>
        <p:blipFill>
          <a:blip r:embed="rId4"/>
          <a:stretch>
            <a:fillRect/>
          </a:stretch>
        </p:blipFill>
        <p:spPr>
          <a:xfrm>
            <a:off x="9181298" y="5570298"/>
            <a:ext cx="128699" cy="187198"/>
          </a:xfrm>
          <a:prstGeom prst="rect">
            <a:avLst/>
          </a:prstGeom>
        </p:spPr>
      </p:pic>
      <p:sp>
        <p:nvSpPr>
          <p:cNvPr id="90" name="TextBox 89"/>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1" name="TextBox 90"/>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2" name="Picture 91" descr="lock.png"/>
          <p:cNvPicPr>
            <a:picLocks noChangeAspect="1"/>
          </p:cNvPicPr>
          <p:nvPr/>
        </p:nvPicPr>
        <p:blipFill>
          <a:blip r:embed="rId4"/>
          <a:stretch>
            <a:fillRect/>
          </a:stretch>
        </p:blipFill>
        <p:spPr>
          <a:xfrm>
            <a:off x="8808310" y="5788230"/>
            <a:ext cx="128699" cy="187198"/>
          </a:xfrm>
          <a:prstGeom prst="rect">
            <a:avLst/>
          </a:prstGeom>
        </p:spPr>
      </p:pic>
      <p:sp>
        <p:nvSpPr>
          <p:cNvPr id="93" name="TextBox 92"/>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4" name="TextBox 93"/>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5" name="Picture 94" descr="lock.png"/>
          <p:cNvPicPr>
            <a:picLocks noChangeAspect="1"/>
          </p:cNvPicPr>
          <p:nvPr/>
        </p:nvPicPr>
        <p:blipFill>
          <a:blip r:embed="rId4"/>
          <a:stretch>
            <a:fillRect/>
          </a:stretch>
        </p:blipFill>
        <p:spPr>
          <a:xfrm>
            <a:off x="8855241" y="6006162"/>
            <a:ext cx="128699" cy="187198"/>
          </a:xfrm>
          <a:prstGeom prst="rect">
            <a:avLst/>
          </a:prstGeom>
        </p:spPr>
      </p:pic>
      <p:sp>
        <p:nvSpPr>
          <p:cNvPr id="96" name="TextBox 95"/>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7" name="TextBox 96"/>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8" name="Picture 97" descr="lock.png"/>
          <p:cNvPicPr>
            <a:picLocks noChangeAspect="1"/>
          </p:cNvPicPr>
          <p:nvPr/>
        </p:nvPicPr>
        <p:blipFill>
          <a:blip r:embed="rId4"/>
          <a:stretch>
            <a:fillRect/>
          </a:stretch>
        </p:blipFill>
        <p:spPr>
          <a:xfrm>
            <a:off x="8930002" y="6224094"/>
            <a:ext cx="128699" cy="187198"/>
          </a:xfrm>
          <a:prstGeom prst="rect">
            <a:avLst/>
          </a:prstGeom>
        </p:spPr>
      </p:pic>
      <p:sp>
        <p:nvSpPr>
          <p:cNvPr id="99" name="TextBox 98"/>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8" cy="2271330"/>
        </p:xfrm>
        <a:graphic>
          <a:graphicData uri="http://schemas.openxmlformats.org/drawingml/2006/table">
            <a:tbl>
              <a:tblPr>
                <a:tableStyleId>{5C22544A-7EE6-4342-B048-85BDC9FD1C3A}</a:tableStyleId>
              </a:tblPr>
              <a:tblGrid>
                <a:gridCol w="2418330"/>
                <a:gridCol w="852742"/>
                <a:gridCol w="852742"/>
                <a:gridCol w="852742"/>
                <a:gridCol w="852742"/>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10147424" y="2566777"/>
            <a:ext cx="366712" cy="533400"/>
          </a:xfrm>
          <a:prstGeom prst="rect">
            <a:avLst/>
          </a:prstGeom>
        </p:spPr>
      </p:pic>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product format type and region (US$/Units).</a:t>
            </a:r>
          </a:p>
        </p:txBody>
      </p:sp>
      <p:sp>
        <p:nvSpPr>
          <p:cNvPr id="11" name="Rounded Rectangle 10"/>
          <p:cNvSpPr/>
          <p:nvPr/>
        </p:nvSpPr>
        <p:spPr>
          <a:xfrm>
            <a:off x="142875" y="1314450"/>
            <a:ext cx="11906250" cy="2971800"/>
          </a:xfrm>
          <a:prstGeom prst="roundRect">
            <a:avLst>
              <a:gd name="adj" fmla="val 256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Format (US$/Units)</a:t>
            </a:r>
          </a:p>
        </p:txBody>
      </p:sp>
      <p:graphicFrame>
        <p:nvGraphicFramePr>
          <p:cNvPr id="13" name="Table 12"/>
          <p:cNvGraphicFramePr>
            <a:graphicFrameLocks noGrp="1"/>
          </p:cNvGraphicFramePr>
          <p:nvPr/>
        </p:nvGraphicFramePr>
        <p:xfrm>
          <a:off x="152400" y="1571625"/>
          <a:ext cx="11888515" cy="2505072"/>
        </p:xfrm>
        <a:graphic>
          <a:graphicData uri="http://schemas.openxmlformats.org/drawingml/2006/table">
            <a:tbl>
              <a:tblPr>
                <a:tableStyleId>{5C22544A-7EE6-4342-B048-85BDC9FD1C3A}</a:tableStyleId>
              </a:tblPr>
              <a:tblGrid>
                <a:gridCol w="1348921"/>
                <a:gridCol w="1040559"/>
                <a:gridCol w="1203875"/>
                <a:gridCol w="952910"/>
                <a:gridCol w="1172034"/>
                <a:gridCol w="1903112"/>
                <a:gridCol w="992750"/>
                <a:gridCol w="1351317"/>
                <a:gridCol w="1022631"/>
                <a:gridCol w="900406"/>
              </a:tblGrid>
              <a:tr h="438912">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Sprays and Mists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Mousses and Foams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Gels and Jellies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Creams and Lotions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Waxes, Clays, Pastes and Pomades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Styling Powders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Styling Serums and Oils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Sticks and Balms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4436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360">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4436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360">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44360">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44360">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40862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438650"/>
            <a:ext cx="11906250" cy="2105025"/>
          </a:xfrm>
          <a:prstGeom prst="roundRect">
            <a:avLst>
              <a:gd name="adj" fmla="val 36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2437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7625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848225"/>
            <a:ext cx="11639550" cy="16192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76077" y="2776917"/>
            <a:ext cx="366712" cy="533400"/>
          </a:xfrm>
          <a:prstGeom prst="rect">
            <a:avLst/>
          </a:prstGeom>
        </p:spPr>
      </p:pic>
      <p:sp>
        <p:nvSpPr>
          <p:cNvPr id="21" name="TextBox 20"/>
          <p:cNvSpPr txBox="1"/>
          <p:nvPr/>
        </p:nvSpPr>
        <p:spPr>
          <a:xfrm>
            <a:off x="276225" y="485775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847526"/>
            <a:ext cx="134549" cy="195707"/>
          </a:xfrm>
          <a:prstGeom prst="rect">
            <a:avLst/>
          </a:prstGeom>
        </p:spPr>
      </p:pic>
      <p:sp>
        <p:nvSpPr>
          <p:cNvPr id="23" name="TextBox 22"/>
          <p:cNvSpPr txBox="1"/>
          <p:nvPr/>
        </p:nvSpPr>
        <p:spPr>
          <a:xfrm>
            <a:off x="5042176" y="4857750"/>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4847526"/>
            <a:ext cx="134549" cy="195707"/>
          </a:xfrm>
          <a:prstGeom prst="rect">
            <a:avLst/>
          </a:prstGeom>
        </p:spPr>
      </p:pic>
      <p:sp>
        <p:nvSpPr>
          <p:cNvPr id="25" name="TextBox 24"/>
          <p:cNvSpPr txBox="1"/>
          <p:nvPr/>
        </p:nvSpPr>
        <p:spPr>
          <a:xfrm>
            <a:off x="8871069" y="4857750"/>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5085588"/>
            <a:ext cx="6073092" cy="194310"/>
          </a:xfrm>
          <a:prstGeom prst="rect">
            <a:avLst/>
          </a:prstGeom>
          <a:noFill/>
        </p:spPr>
        <p:txBody>
          <a:bodyPr wrap="none" lIns="0" rIns="0" tIns="0" bIns="0">
            <a:spAutoFit/>
          </a:bodyPr>
          <a:lstStyle/>
          <a:p>
            <a:r>
              <a:rPr sz="1150" b="0">
                <a:solidFill>
                  <a:srgbClr val="2E2E2E"/>
                </a:solidFill>
                <a:latin typeface="Calibri"/>
              </a:rPr>
              <a:t>▪ Price ranges are benchmarked per product format type at 2026, derived as Value ÷ Volume with a ±</a:t>
            </a:r>
          </a:p>
        </p:txBody>
      </p:sp>
      <p:pic>
        <p:nvPicPr>
          <p:cNvPr id="27" name="Picture 26" descr="lock.png"/>
          <p:cNvPicPr>
            <a:picLocks noChangeAspect="1"/>
          </p:cNvPicPr>
          <p:nvPr/>
        </p:nvPicPr>
        <p:blipFill>
          <a:blip r:embed="rId4"/>
          <a:stretch>
            <a:fillRect/>
          </a:stretch>
        </p:blipFill>
        <p:spPr>
          <a:xfrm>
            <a:off x="6298471" y="5075364"/>
            <a:ext cx="134549" cy="195707"/>
          </a:xfrm>
          <a:prstGeom prst="rect">
            <a:avLst/>
          </a:prstGeom>
        </p:spPr>
      </p:pic>
      <p:sp>
        <p:nvSpPr>
          <p:cNvPr id="28" name="TextBox 27"/>
          <p:cNvSpPr txBox="1"/>
          <p:nvPr/>
        </p:nvSpPr>
        <p:spPr>
          <a:xfrm>
            <a:off x="6473581" y="5085588"/>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31342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303202"/>
            <a:ext cx="134549" cy="195707"/>
          </a:xfrm>
          <a:prstGeom prst="rect">
            <a:avLst/>
          </a:prstGeom>
        </p:spPr>
      </p:pic>
      <p:sp>
        <p:nvSpPr>
          <p:cNvPr id="31" name="TextBox 30"/>
          <p:cNvSpPr txBox="1"/>
          <p:nvPr/>
        </p:nvSpPr>
        <p:spPr>
          <a:xfrm>
            <a:off x="2541355" y="531342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54126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Price Forecast &amp; Dynamics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product format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Format (US$/Units)</a:t>
            </a:r>
          </a:p>
        </p:txBody>
      </p:sp>
      <p:graphicFrame>
        <p:nvGraphicFramePr>
          <p:cNvPr id="13" name="Table 12"/>
          <p:cNvGraphicFramePr>
            <a:graphicFrameLocks noGrp="1"/>
          </p:cNvGraphicFramePr>
          <p:nvPr/>
        </p:nvGraphicFramePr>
        <p:xfrm>
          <a:off x="152400" y="1574749"/>
          <a:ext cx="11887198" cy="1504674"/>
        </p:xfrm>
        <a:graphic>
          <a:graphicData uri="http://schemas.openxmlformats.org/drawingml/2006/table">
            <a:tbl>
              <a:tblPr>
                <a:tableStyleId>{5C22544A-7EE6-4342-B048-85BDC9FD1C3A}</a:tableStyleId>
              </a:tblPr>
              <a:tblGrid>
                <a:gridCol w="3796156"/>
                <a:gridCol w="1348507"/>
                <a:gridCol w="1348507"/>
                <a:gridCol w="1348507"/>
                <a:gridCol w="1348507"/>
                <a:gridCol w="1348507"/>
                <a:gridCol w="1348507"/>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419516">
                <a:tc>
                  <a:txBody>
                    <a:bodyPr wrap="none"/>
                    <a:lstStyle/>
                    <a:p>
                      <a:pPr algn="l"/>
                      <a:r>
                        <a:rPr sz="1100" b="1">
                          <a:solidFill>
                            <a:srgbClr val="2E2E2E"/>
                          </a:solidFill>
                          <a:latin typeface="Calibri"/>
                        </a:rPr>
                        <a:t>Sprays and Mists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19516">
                <a:tc>
                  <a:txBody>
                    <a:bodyPr wrap="none"/>
                    <a:lstStyle/>
                    <a:p>
                      <a:pPr algn="l"/>
                      <a:r>
                        <a:rPr sz="1100" b="1">
                          <a:solidFill>
                            <a:srgbClr val="2E2E2E"/>
                          </a:solidFill>
                          <a:latin typeface="Calibri"/>
                        </a:rPr>
                        <a:t>Mousses and Foams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19516">
                <a:tc>
                  <a:txBody>
                    <a:bodyPr wrap="none"/>
                    <a:lstStyle/>
                    <a:p>
                      <a:pPr algn="l"/>
                      <a:r>
                        <a:rPr sz="1100" b="1">
                          <a:solidFill>
                            <a:srgbClr val="2E2E2E"/>
                          </a:solidFill>
                          <a:latin typeface="Calibri"/>
                        </a:rPr>
                        <a:t>Gels and Jellies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7807387" y="2183449"/>
            <a:ext cx="366712" cy="533400"/>
          </a:xfrm>
          <a:prstGeom prst="rect">
            <a:avLst/>
          </a:prstGeom>
        </p:spPr>
      </p:pic>
      <p:sp>
        <p:nvSpPr>
          <p:cNvPr id="25" name="TextBox 24"/>
          <p:cNvSpPr txBox="1"/>
          <p:nvPr/>
        </p:nvSpPr>
        <p:spPr>
          <a:xfrm>
            <a:off x="6334125" y="3817595"/>
            <a:ext cx="3484088" cy="194310"/>
          </a:xfrm>
          <a:prstGeom prst="rect">
            <a:avLst/>
          </a:prstGeom>
          <a:noFill/>
        </p:spPr>
        <p:txBody>
          <a:bodyPr wrap="none" lIns="0" rIns="0" tIns="0" bIns="0">
            <a:spAutoFit/>
          </a:bodyPr>
          <a:lstStyle/>
          <a:p>
            <a:r>
              <a:rPr sz="1150" b="0">
                <a:solidFill>
                  <a:srgbClr val="2E2E2E"/>
                </a:solidFill>
                <a:latin typeface="Calibri"/>
              </a:rPr>
              <a:t>▪ Average product format price is projected to rise from ~</a:t>
            </a:r>
          </a:p>
        </p:txBody>
      </p:sp>
      <p:pic>
        <p:nvPicPr>
          <p:cNvPr id="26" name="Picture 25" descr="lock.png"/>
          <p:cNvPicPr>
            <a:picLocks noChangeAspect="1"/>
          </p:cNvPicPr>
          <p:nvPr/>
        </p:nvPicPr>
        <p:blipFill>
          <a:blip r:embed="rId4"/>
          <a:stretch>
            <a:fillRect/>
          </a:stretch>
        </p:blipFill>
        <p:spPr>
          <a:xfrm>
            <a:off x="9767367" y="3807371"/>
            <a:ext cx="134549" cy="195707"/>
          </a:xfrm>
          <a:prstGeom prst="rect">
            <a:avLst/>
          </a:prstGeom>
        </p:spPr>
      </p:pic>
      <p:sp>
        <p:nvSpPr>
          <p:cNvPr id="27" name="TextBox 26"/>
          <p:cNvSpPr txBox="1"/>
          <p:nvPr/>
        </p:nvSpPr>
        <p:spPr>
          <a:xfrm>
            <a:off x="9942476"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199741" y="3807371"/>
            <a:ext cx="134549" cy="195707"/>
          </a:xfrm>
          <a:prstGeom prst="rect">
            <a:avLst/>
          </a:prstGeom>
        </p:spPr>
      </p:pic>
      <p:sp>
        <p:nvSpPr>
          <p:cNvPr id="29" name="TextBox 28"/>
          <p:cNvSpPr txBox="1"/>
          <p:nvPr/>
        </p:nvSpPr>
        <p:spPr>
          <a:xfrm>
            <a:off x="10374851" y="3817595"/>
            <a:ext cx="1286817" cy="194310"/>
          </a:xfrm>
          <a:prstGeom prst="rect">
            <a:avLst/>
          </a:prstGeom>
          <a:noFill/>
        </p:spPr>
        <p:txBody>
          <a:bodyPr wrap="none" lIns="0" rIns="0" tIns="0" bIns="0">
            <a:spAutoFit/>
          </a:bodyPr>
          <a:lstStyle/>
          <a:p>
            <a:r>
              <a:rPr sz="1150" b="0">
                <a:solidFill>
                  <a:srgbClr val="2E2E2E"/>
                </a:solidFill>
                <a:latin typeface="Calibri"/>
              </a:rPr>
              <a:t>US$/Units by 2036 a</a:t>
            </a:r>
          </a:p>
        </p:txBody>
      </p:sp>
      <p:sp>
        <p:nvSpPr>
          <p:cNvPr id="30" name="TextBox 29"/>
          <p:cNvSpPr txBox="1"/>
          <p:nvPr/>
        </p:nvSpPr>
        <p:spPr>
          <a:xfrm>
            <a:off x="6334125" y="3992855"/>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1" name="Picture 30" descr="lock.png"/>
          <p:cNvPicPr>
            <a:picLocks noChangeAspect="1"/>
          </p:cNvPicPr>
          <p:nvPr/>
        </p:nvPicPr>
        <p:blipFill>
          <a:blip r:embed="rId4"/>
          <a:stretch>
            <a:fillRect/>
          </a:stretch>
        </p:blipFill>
        <p:spPr>
          <a:xfrm>
            <a:off x="6432218" y="3982631"/>
            <a:ext cx="134549" cy="195707"/>
          </a:xfrm>
          <a:prstGeom prst="rect">
            <a:avLst/>
          </a:prstGeom>
        </p:spPr>
      </p:pic>
      <p:sp>
        <p:nvSpPr>
          <p:cNvPr id="32" name="TextBox 31"/>
          <p:cNvSpPr txBox="1"/>
          <p:nvPr/>
        </p:nvSpPr>
        <p:spPr>
          <a:xfrm>
            <a:off x="6607327"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398367" cy="194310"/>
          </a:xfrm>
          <a:prstGeom prst="rect">
            <a:avLst/>
          </a:prstGeom>
          <a:noFill/>
        </p:spPr>
        <p:txBody>
          <a:bodyPr wrap="none" lIns="0" rIns="0" tIns="0" bIns="0">
            <a:spAutoFit/>
          </a:bodyPr>
          <a:lstStyle/>
          <a:p>
            <a:r>
              <a:rPr sz="1150" b="0">
                <a:solidFill>
                  <a:srgbClr val="2E2E2E"/>
                </a:solidFill>
                <a:latin typeface="Calibri"/>
              </a:rPr>
              <a:t>▪ 'Creams and Lotions' shows the strongest forecast price appreciation (+</a:t>
            </a:r>
          </a:p>
        </p:txBody>
      </p:sp>
      <p:pic>
        <p:nvPicPr>
          <p:cNvPr id="34" name="Picture 33" descr="lock.png"/>
          <p:cNvPicPr>
            <a:picLocks noChangeAspect="1"/>
          </p:cNvPicPr>
          <p:nvPr/>
        </p:nvPicPr>
        <p:blipFill>
          <a:blip r:embed="rId4"/>
          <a:stretch>
            <a:fillRect/>
          </a:stretch>
        </p:blipFill>
        <p:spPr>
          <a:xfrm>
            <a:off x="10681646" y="4210469"/>
            <a:ext cx="134549" cy="195707"/>
          </a:xfrm>
          <a:prstGeom prst="rect">
            <a:avLst/>
          </a:prstGeom>
        </p:spPr>
      </p:pic>
      <p:sp>
        <p:nvSpPr>
          <p:cNvPr id="35" name="TextBox 34"/>
          <p:cNvSpPr txBox="1"/>
          <p:nvPr/>
        </p:nvSpPr>
        <p:spPr>
          <a:xfrm>
            <a:off x="10856755" y="4220692"/>
            <a:ext cx="651842" cy="194310"/>
          </a:xfrm>
          <a:prstGeom prst="rect">
            <a:avLst/>
          </a:prstGeom>
          <a:noFill/>
        </p:spPr>
        <p:txBody>
          <a:bodyPr wrap="none" lIns="0" rIns="0" tIns="0" bIns="0">
            <a:spAutoFit/>
          </a:bodyPr>
          <a:lstStyle/>
          <a:p>
            <a:r>
              <a:rPr sz="1150" b="0">
                <a:solidFill>
                  <a:srgbClr val="2E2E2E"/>
                </a:solidFill>
                <a:latin typeface="Calibri"/>
              </a:rPr>
              <a:t>) over the</a:t>
            </a:r>
          </a:p>
        </p:txBody>
      </p:sp>
      <p:sp>
        <p:nvSpPr>
          <p:cNvPr id="36" name="TextBox 35"/>
          <p:cNvSpPr txBox="1"/>
          <p:nvPr/>
        </p:nvSpPr>
        <p:spPr>
          <a:xfrm>
            <a:off x="6334125" y="4395952"/>
            <a:ext cx="562843" cy="194310"/>
          </a:xfrm>
          <a:prstGeom prst="rect">
            <a:avLst/>
          </a:prstGeom>
          <a:noFill/>
        </p:spPr>
        <p:txBody>
          <a:bodyPr wrap="none" lIns="0" rIns="0" tIns="0" bIns="0">
            <a:spAutoFit/>
          </a:bodyPr>
          <a:lstStyle/>
          <a:p>
            <a:r>
              <a:rPr sz="1150" b="0">
                <a:solidFill>
                  <a:srgbClr val="2E2E2E"/>
                </a:solidFill>
                <a:latin typeface="Calibri"/>
              </a:rPr>
              <a:t>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Price Forecast &amp; Dynamics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Format (US$/Units)</a:t>
            </a:r>
          </a:p>
        </p:txBody>
      </p:sp>
      <p:graphicFrame>
        <p:nvGraphicFramePr>
          <p:cNvPr id="12" name="Table 11"/>
          <p:cNvGraphicFramePr>
            <a:graphicFrameLocks noGrp="1"/>
          </p:cNvGraphicFramePr>
          <p:nvPr/>
        </p:nvGraphicFramePr>
        <p:xfrm>
          <a:off x="152400" y="1238250"/>
          <a:ext cx="11887200" cy="1485896"/>
        </p:xfrm>
        <a:graphic>
          <a:graphicData uri="http://schemas.openxmlformats.org/drawingml/2006/table">
            <a:tbl>
              <a:tblPr>
                <a:tableStyleId>{5C22544A-7EE6-4342-B048-85BDC9FD1C3A}</a:tableStyleId>
              </a:tblPr>
              <a:tblGrid>
                <a:gridCol w="5040042"/>
                <a:gridCol w="1141193"/>
                <a:gridCol w="1141193"/>
                <a:gridCol w="1141193"/>
                <a:gridCol w="1141193"/>
                <a:gridCol w="1141193"/>
                <a:gridCol w="1141193"/>
              </a:tblGrid>
              <a:tr h="246126">
                <a:tc>
                  <a:txBody>
                    <a:bodyPr wrap="none"/>
                    <a:lstStyle/>
                    <a:p>
                      <a:pPr algn="l"/>
                      <a:r>
                        <a:rPr sz="1100" b="1">
                          <a:solidFill>
                            <a:srgbClr val="0B2E4A"/>
                          </a:solidFill>
                          <a:latin typeface="Calibri"/>
                        </a:rPr>
                        <a:t>Product Format</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Creams and Lotions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Waxes, Clays, Pastes and Poma…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Powders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Serums and Oils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Sticks and Balms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8429331" y="1837563"/>
            <a:ext cx="366712" cy="533400"/>
          </a:xfrm>
          <a:prstGeom prst="rect">
            <a:avLst/>
          </a:prstGeom>
        </p:spPr>
      </p:pic>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49" cy="3619746"/>
        </p:xfrm>
        <a:graphic>
          <a:graphicData uri="http://schemas.openxmlformats.org/drawingml/2006/table">
            <a:tbl>
              <a:tblPr>
                <a:tableStyleId>{5C22544A-7EE6-4342-B048-85BDC9FD1C3A}</a:tableStyleId>
              </a:tblPr>
              <a:tblGrid>
                <a:gridCol w="1192443"/>
                <a:gridCol w="656296"/>
                <a:gridCol w="1379727"/>
                <a:gridCol w="1291593"/>
                <a:gridCol w="3157090"/>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Company 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 B</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Company C</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 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Company 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 F</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3858641" y="3086680"/>
            <a:ext cx="330041" cy="480060"/>
          </a:xfrm>
          <a:prstGeom prst="rect">
            <a:avLst/>
          </a:prstGeom>
        </p:spPr>
      </p:pic>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569412" cy="153161"/>
          </a:xfrm>
          <a:prstGeom prst="rect">
            <a:avLst/>
          </a:prstGeom>
          <a:noFill/>
        </p:spPr>
        <p:txBody>
          <a:bodyPr wrap="none" lIns="0" rIns="0" tIns="0" bIns="0">
            <a:spAutoFit/>
          </a:bodyPr>
          <a:lstStyle/>
          <a:p>
            <a:r>
              <a:rPr sz="879" b="0">
                <a:solidFill>
                  <a:srgbClr val="2E2E2E"/>
                </a:solidFill>
                <a:latin typeface="Calibri"/>
              </a:rPr>
              <a:t>▪ The Hair Styling Products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Hair Styling Products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Hair Styling Products Market Buyers / End-User Assessment</a:t>
            </a:r>
          </a:p>
        </p:txBody>
      </p:sp>
      <p:graphicFrame>
        <p:nvGraphicFramePr>
          <p:cNvPr id="12" name="Table 11"/>
          <p:cNvGraphicFramePr>
            <a:graphicFrameLocks noGrp="1"/>
          </p:cNvGraphicFramePr>
          <p:nvPr/>
        </p:nvGraphicFramePr>
        <p:xfrm>
          <a:off x="152400" y="1238250"/>
          <a:ext cx="11887200" cy="2714626"/>
        </p:xfrm>
        <a:graphic>
          <a:graphicData uri="http://schemas.openxmlformats.org/drawingml/2006/table">
            <a:tbl>
              <a:tblPr>
                <a:tableStyleId>{5C22544A-7EE6-4342-B048-85BDC9FD1C3A}</a:tableStyleId>
              </a:tblPr>
              <a:tblGrid>
                <a:gridCol w="937608"/>
                <a:gridCol w="1484989"/>
                <a:gridCol w="1064342"/>
                <a:gridCol w="1129057"/>
                <a:gridCol w="1603633"/>
                <a:gridCol w="1280058"/>
                <a:gridCol w="1533483"/>
                <a:gridCol w="1350166"/>
                <a:gridCol w="1503864"/>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Company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Company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Company 3</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Company 4</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Company 5</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Company 6</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Company 7</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Company 8</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Company 9</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Company 10</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267192" y="2451926"/>
            <a:ext cx="366712" cy="533400"/>
          </a:xfrm>
          <a:prstGeom prst="rect">
            <a:avLst/>
          </a:prstGeom>
        </p:spPr>
      </p:pic>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Hair Styling Products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Hair Styling Products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Hair Styling Products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8</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40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Company A</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2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4 of 8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Company B, Company A, Company C.</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781794" cy="186689"/>
          </a:xfrm>
          <a:prstGeom prst="rect">
            <a:avLst/>
          </a:prstGeom>
          <a:noFill/>
        </p:spPr>
        <p:txBody>
          <a:bodyPr wrap="none" lIns="0" rIns="0" tIns="0" bIns="0">
            <a:spAutoFit/>
          </a:bodyPr>
          <a:lstStyle/>
          <a:p>
            <a:r>
              <a:rPr sz="1100" b="1">
                <a:solidFill>
                  <a:srgbClr val="0F2D52"/>
                </a:solidFill>
                <a:latin typeface="Calibri"/>
              </a:rPr>
              <a:t>Mass Retail,</a:t>
            </a:r>
          </a:p>
        </p:txBody>
      </p:sp>
      <p:pic>
        <p:nvPicPr>
          <p:cNvPr id="68" name="Picture 67" descr="lock.png"/>
          <p:cNvPicPr>
            <a:picLocks noChangeAspect="1"/>
          </p:cNvPicPr>
          <p:nvPr/>
        </p:nvPicPr>
        <p:blipFill>
          <a:blip r:embed="rId4"/>
          <a:stretch>
            <a:fillRect/>
          </a:stretch>
        </p:blipFill>
        <p:spPr>
          <a:xfrm>
            <a:off x="5435195" y="1295146"/>
            <a:ext cx="128699" cy="187198"/>
          </a:xfrm>
          <a:prstGeom prst="rect">
            <a:avLst/>
          </a:prstGeom>
        </p:spPr>
      </p:pic>
      <p:sp>
        <p:nvSpPr>
          <p:cNvPr id="69" name="TextBox 68"/>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0" name="Picture 69" descr="lock.png"/>
          <p:cNvPicPr>
            <a:picLocks noChangeAspect="1"/>
          </p:cNvPicPr>
          <p:nvPr/>
        </p:nvPicPr>
        <p:blipFill>
          <a:blip r:embed="rId4"/>
          <a:stretch>
            <a:fillRect/>
          </a:stretch>
        </p:blipFill>
        <p:spPr>
          <a:xfrm>
            <a:off x="1609246" y="2114296"/>
            <a:ext cx="128699" cy="187198"/>
          </a:xfrm>
          <a:prstGeom prst="rect">
            <a:avLst/>
          </a:prstGeom>
        </p:spPr>
      </p:pic>
      <p:sp>
        <p:nvSpPr>
          <p:cNvPr id="71" name="TextBox 70"/>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2" name="TextBox 71"/>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3" name="TextBox 72"/>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4" name="Picture 73" descr="lock.png"/>
          <p:cNvPicPr>
            <a:picLocks noChangeAspect="1"/>
          </p:cNvPicPr>
          <p:nvPr/>
        </p:nvPicPr>
        <p:blipFill>
          <a:blip r:embed="rId4"/>
          <a:stretch>
            <a:fillRect/>
          </a:stretch>
        </p:blipFill>
        <p:spPr>
          <a:xfrm>
            <a:off x="1835985" y="3219196"/>
            <a:ext cx="128699" cy="187198"/>
          </a:xfrm>
          <a:prstGeom prst="rect">
            <a:avLst/>
          </a:prstGeom>
        </p:spPr>
      </p:pic>
      <p:sp>
        <p:nvSpPr>
          <p:cNvPr id="75" name="TextBox 74"/>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6" name="Picture 75" descr="lock.png"/>
          <p:cNvPicPr>
            <a:picLocks noChangeAspect="1"/>
          </p:cNvPicPr>
          <p:nvPr/>
        </p:nvPicPr>
        <p:blipFill>
          <a:blip r:embed="rId4"/>
          <a:stretch>
            <a:fillRect/>
          </a:stretch>
        </p:blipFill>
        <p:spPr>
          <a:xfrm>
            <a:off x="3827189" y="3219196"/>
            <a:ext cx="128699" cy="187198"/>
          </a:xfrm>
          <a:prstGeom prst="rect">
            <a:avLst/>
          </a:prstGeom>
        </p:spPr>
      </p:pic>
      <p:sp>
        <p:nvSpPr>
          <p:cNvPr id="77" name="TextBox 76"/>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8" name="TextBox 77"/>
          <p:cNvSpPr txBox="1"/>
          <p:nvPr/>
        </p:nvSpPr>
        <p:spPr>
          <a:xfrm>
            <a:off x="523875" y="4333875"/>
            <a:ext cx="4779888" cy="186689"/>
          </a:xfrm>
          <a:prstGeom prst="rect">
            <a:avLst/>
          </a:prstGeom>
          <a:noFill/>
        </p:spPr>
        <p:txBody>
          <a:bodyPr wrap="none" lIns="0" rIns="0" tIns="0" bIns="0">
            <a:spAutoFit/>
          </a:bodyPr>
          <a:lstStyle/>
          <a:p>
            <a:r>
              <a:rPr sz="1100" b="0">
                <a:solidFill>
                  <a:srgbClr val="1F2933"/>
                </a:solidFill>
                <a:latin typeface="Calibri"/>
              </a:rPr>
              <a:t>'Styling Serums and Oils' is the largest line; 'Sticks and Balms' compounds fastest at</a:t>
            </a:r>
          </a:p>
        </p:txBody>
      </p:sp>
      <p:pic>
        <p:nvPicPr>
          <p:cNvPr id="79" name="Picture 78" descr="lock.png"/>
          <p:cNvPicPr>
            <a:picLocks noChangeAspect="1"/>
          </p:cNvPicPr>
          <p:nvPr/>
        </p:nvPicPr>
        <p:blipFill>
          <a:blip r:embed="rId4"/>
          <a:stretch>
            <a:fillRect/>
          </a:stretch>
        </p:blipFill>
        <p:spPr>
          <a:xfrm>
            <a:off x="5251814" y="4324096"/>
            <a:ext cx="128699" cy="187198"/>
          </a:xfrm>
          <a:prstGeom prst="rect">
            <a:avLst/>
          </a:prstGeom>
        </p:spPr>
      </p:pic>
      <p:sp>
        <p:nvSpPr>
          <p:cNvPr id="80" name="TextBox 79"/>
          <p:cNvSpPr txBox="1"/>
          <p:nvPr/>
        </p:nvSpPr>
        <p:spPr>
          <a:xfrm>
            <a:off x="523875"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804315"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728115"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994815" y="1257300"/>
            <a:ext cx="1636451"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51965" y="1257300"/>
            <a:ext cx="1560251"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631266" y="1257300"/>
            <a:ext cx="184769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88416" y="1257300"/>
            <a:ext cx="177149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Company A, Company B, Company C</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Company D, Company E</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Company F, Company G, Company H</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114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Styling Serums and Oils</a:t>
            </a:r>
          </a:p>
        </p:txBody>
      </p:sp>
      <p:sp>
        <p:nvSpPr>
          <p:cNvPr id="30" name="TextBox 29"/>
          <p:cNvSpPr txBox="1"/>
          <p:nvPr/>
        </p:nvSpPr>
        <p:spPr>
          <a:xfrm>
            <a:off x="3352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Waxes, Clays, Pastes and Pomades</a:t>
            </a:r>
          </a:p>
        </p:txBody>
      </p:sp>
      <p:sp>
        <p:nvSpPr>
          <p:cNvPr id="31" name="TextBox 30"/>
          <p:cNvSpPr txBox="1"/>
          <p:nvPr/>
        </p:nvSpPr>
        <p:spPr>
          <a:xfrm>
            <a:off x="4591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Sprays and Mists</a:t>
            </a:r>
          </a:p>
        </p:txBody>
      </p:sp>
      <p:sp>
        <p:nvSpPr>
          <p:cNvPr id="32" name="TextBox 31"/>
          <p:cNvSpPr txBox="1"/>
          <p:nvPr/>
        </p:nvSpPr>
        <p:spPr>
          <a:xfrm>
            <a:off x="5829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Sticks and Balms</a:t>
            </a:r>
          </a:p>
        </p:txBody>
      </p:sp>
      <p:sp>
        <p:nvSpPr>
          <p:cNvPr id="33" name="TextBox 32"/>
          <p:cNvSpPr txBox="1"/>
          <p:nvPr/>
        </p:nvSpPr>
        <p:spPr>
          <a:xfrm>
            <a:off x="70675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Mass Retail</a:t>
            </a:r>
          </a:p>
        </p:txBody>
      </p:sp>
      <p:sp>
        <p:nvSpPr>
          <p:cNvPr id="34" name="TextBox 33"/>
          <p:cNvSpPr txBox="1"/>
          <p:nvPr/>
        </p:nvSpPr>
        <p:spPr>
          <a:xfrm>
            <a:off x="83058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Online Marketplaces</a:t>
            </a:r>
          </a:p>
        </p:txBody>
      </p:sp>
      <p:sp>
        <p:nvSpPr>
          <p:cNvPr id="35" name="TextBox 34"/>
          <p:cNvSpPr txBox="1"/>
          <p:nvPr/>
        </p:nvSpPr>
        <p:spPr>
          <a:xfrm>
            <a:off x="954405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Salon and Professional Distribution</a:t>
            </a:r>
          </a:p>
        </p:txBody>
      </p:sp>
      <p:sp>
        <p:nvSpPr>
          <p:cNvPr id="36" name="TextBox 35"/>
          <p:cNvSpPr txBox="1"/>
          <p:nvPr/>
        </p:nvSpPr>
        <p:spPr>
          <a:xfrm>
            <a:off x="10782300" y="2114550"/>
            <a:ext cx="1200150"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Beauty Specialty Retail</a:t>
            </a:r>
          </a:p>
        </p:txBody>
      </p:sp>
      <p:cxnSp>
        <p:nvCxnSpPr>
          <p:cNvPr id="37" name="Connector 36"/>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6289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A</a:t>
            </a:r>
          </a:p>
        </p:txBody>
      </p:sp>
      <p:sp>
        <p:nvSpPr>
          <p:cNvPr id="40" name="TextBox 39"/>
          <p:cNvSpPr txBox="1"/>
          <p:nvPr/>
        </p:nvSpPr>
        <p:spPr>
          <a:xfrm>
            <a:off x="285750" y="27908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Oval 40"/>
          <p:cNvSpPr/>
          <p:nvPr/>
        </p:nvSpPr>
        <p:spPr>
          <a:xfrm>
            <a:off x="2638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714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8766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114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353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59142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76676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829675"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90587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06792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306175"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718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B</a:t>
            </a:r>
          </a:p>
        </p:txBody>
      </p:sp>
      <p:sp>
        <p:nvSpPr>
          <p:cNvPr id="55" name="TextBox 54"/>
          <p:cNvSpPr txBox="1"/>
          <p:nvPr/>
        </p:nvSpPr>
        <p:spPr>
          <a:xfrm>
            <a:off x="285750" y="31337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Oval 55"/>
          <p:cNvSpPr/>
          <p:nvPr/>
        </p:nvSpPr>
        <p:spPr>
          <a:xfrm>
            <a:off x="2638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714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8766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39528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114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5191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353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5914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76676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829675"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06792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101441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306175"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138237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3147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C</a:t>
            </a:r>
          </a:p>
        </p:txBody>
      </p:sp>
      <p:sp>
        <p:nvSpPr>
          <p:cNvPr id="73" name="TextBox 72"/>
          <p:cNvSpPr txBox="1"/>
          <p:nvPr/>
        </p:nvSpPr>
        <p:spPr>
          <a:xfrm>
            <a:off x="285750" y="34766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4" name="Oval 73"/>
          <p:cNvSpPr/>
          <p:nvPr/>
        </p:nvSpPr>
        <p:spPr>
          <a:xfrm>
            <a:off x="2638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876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5114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5191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353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6429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591425"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8296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89058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06792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1014412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1306175"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1382375"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85750" y="36576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D</a:t>
            </a:r>
          </a:p>
        </p:txBody>
      </p:sp>
      <p:sp>
        <p:nvSpPr>
          <p:cNvPr id="90" name="TextBox 89"/>
          <p:cNvSpPr txBox="1"/>
          <p:nvPr/>
        </p:nvSpPr>
        <p:spPr>
          <a:xfrm>
            <a:off x="285750" y="38195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91" name="Oval 90"/>
          <p:cNvSpPr/>
          <p:nvPr/>
        </p:nvSpPr>
        <p:spPr>
          <a:xfrm>
            <a:off x="2638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876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3952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5114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353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64293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5914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766762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8296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8905875"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06792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1306175"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0005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E</a:t>
            </a:r>
          </a:p>
        </p:txBody>
      </p:sp>
      <p:sp>
        <p:nvSpPr>
          <p:cNvPr id="106" name="TextBox 105"/>
          <p:cNvSpPr txBox="1"/>
          <p:nvPr/>
        </p:nvSpPr>
        <p:spPr>
          <a:xfrm>
            <a:off x="285750" y="41624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7" name="Oval 106"/>
          <p:cNvSpPr/>
          <p:nvPr/>
        </p:nvSpPr>
        <p:spPr>
          <a:xfrm>
            <a:off x="2638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714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76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39528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5114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353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642937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5914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76676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8296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06792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01441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306175"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3434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F</a:t>
            </a:r>
          </a:p>
        </p:txBody>
      </p:sp>
      <p:sp>
        <p:nvSpPr>
          <p:cNvPr id="123" name="TextBox 122"/>
          <p:cNvSpPr txBox="1"/>
          <p:nvPr/>
        </p:nvSpPr>
        <p:spPr>
          <a:xfrm>
            <a:off x="285750" y="45053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4" name="Oval 123"/>
          <p:cNvSpPr/>
          <p:nvPr/>
        </p:nvSpPr>
        <p:spPr>
          <a:xfrm>
            <a:off x="2638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27146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876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3952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5114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353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75914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8296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890587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06792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101441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1306175"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85750" y="46863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G</a:t>
            </a:r>
          </a:p>
        </p:txBody>
      </p:sp>
      <p:sp>
        <p:nvSpPr>
          <p:cNvPr id="139" name="TextBox 138"/>
          <p:cNvSpPr txBox="1"/>
          <p:nvPr/>
        </p:nvSpPr>
        <p:spPr>
          <a:xfrm>
            <a:off x="285750" y="48482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0" name="Oval 139"/>
          <p:cNvSpPr/>
          <p:nvPr/>
        </p:nvSpPr>
        <p:spPr>
          <a:xfrm>
            <a:off x="2638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2714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876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5114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353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Freeform 144"/>
          <p:cNvSpPr/>
          <p:nvPr/>
        </p:nvSpPr>
        <p:spPr>
          <a:xfrm>
            <a:off x="64293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75914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76676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8296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890587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006792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306175"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85750" y="5029200"/>
            <a:ext cx="17907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H</a:t>
            </a:r>
          </a:p>
        </p:txBody>
      </p:sp>
      <p:sp>
        <p:nvSpPr>
          <p:cNvPr id="155" name="TextBox 154"/>
          <p:cNvSpPr txBox="1"/>
          <p:nvPr/>
        </p:nvSpPr>
        <p:spPr>
          <a:xfrm>
            <a:off x="285750" y="5191125"/>
            <a:ext cx="17907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6" name="Oval 155"/>
          <p:cNvSpPr/>
          <p:nvPr/>
        </p:nvSpPr>
        <p:spPr>
          <a:xfrm>
            <a:off x="2638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876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39528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5114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6353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642937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75914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76676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88296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1006792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10144125"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1306175"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8" name="Connector 167"/>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190500" y="54387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314325" y="53911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71" name="Rectangle 170"/>
          <p:cNvSpPr/>
          <p:nvPr/>
        </p:nvSpPr>
        <p:spPr>
          <a:xfrm>
            <a:off x="847725" y="54387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1550" y="53911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73" name="Rectangle 172"/>
          <p:cNvSpPr/>
          <p:nvPr/>
        </p:nvSpPr>
        <p:spPr>
          <a:xfrm>
            <a:off x="1504950" y="54387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628775" y="53911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75" name="TextBox 174"/>
          <p:cNvSpPr txBox="1"/>
          <p:nvPr/>
        </p:nvSpPr>
        <p:spPr>
          <a:xfrm>
            <a:off x="190500" y="56007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76" name="TextBox 175"/>
          <p:cNvSpPr txBox="1"/>
          <p:nvPr/>
        </p:nvSpPr>
        <p:spPr>
          <a:xfrm>
            <a:off x="190500" y="57531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'Mass Retail' is the most contested column (7 players active); 'Sprays and Mists' is the most open (3).</a:t>
            </a:r>
          </a:p>
        </p:txBody>
      </p:sp>
      <p:sp>
        <p:nvSpPr>
          <p:cNvPr id="177" name="TextBox 1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78" name="TextBox 177"/>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79" name="Picture 178" descr="lock.png"/>
          <p:cNvPicPr>
            <a:picLocks noChangeAspect="1"/>
          </p:cNvPicPr>
          <p:nvPr/>
        </p:nvPicPr>
        <p:blipFill>
          <a:blip r:embed="rId4"/>
          <a:stretch>
            <a:fillRect/>
          </a:stretch>
        </p:blipFill>
        <p:spPr>
          <a:xfrm>
            <a:off x="622441" y="1297051"/>
            <a:ext cx="128699" cy="187198"/>
          </a:xfrm>
          <a:prstGeom prst="rect">
            <a:avLst/>
          </a:prstGeom>
        </p:spPr>
      </p:pic>
      <p:sp>
        <p:nvSpPr>
          <p:cNvPr id="180" name="TextBox 179"/>
          <p:cNvSpPr txBox="1"/>
          <p:nvPr/>
        </p:nvSpPr>
        <p:spPr>
          <a:xfrm>
            <a:off x="5080540"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81" name="Picture 180" descr="lock.png"/>
          <p:cNvPicPr>
            <a:picLocks noChangeAspect="1"/>
          </p:cNvPicPr>
          <p:nvPr/>
        </p:nvPicPr>
        <p:blipFill>
          <a:blip r:embed="rId4"/>
          <a:stretch>
            <a:fillRect/>
          </a:stretch>
        </p:blipFill>
        <p:spPr>
          <a:xfrm>
            <a:off x="5841763" y="1297051"/>
            <a:ext cx="128699" cy="187198"/>
          </a:xfrm>
          <a:prstGeom prst="rect">
            <a:avLst/>
          </a:prstGeom>
        </p:spPr>
      </p:pic>
      <p:sp>
        <p:nvSpPr>
          <p:cNvPr id="182" name="TextBox 181"/>
          <p:cNvSpPr txBox="1"/>
          <p:nvPr/>
        </p:nvSpPr>
        <p:spPr>
          <a:xfrm>
            <a:off x="671699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183" name="Picture 182" descr="lock.png"/>
          <p:cNvPicPr>
            <a:picLocks noChangeAspect="1"/>
          </p:cNvPicPr>
          <p:nvPr/>
        </p:nvPicPr>
        <p:blipFill>
          <a:blip r:embed="rId4"/>
          <a:stretch>
            <a:fillRect/>
          </a:stretch>
        </p:blipFill>
        <p:spPr>
          <a:xfrm>
            <a:off x="7285308" y="1297051"/>
            <a:ext cx="128699" cy="187198"/>
          </a:xfrm>
          <a:prstGeom prst="rect">
            <a:avLst/>
          </a:prstGeom>
        </p:spPr>
      </p:pic>
      <p:sp>
        <p:nvSpPr>
          <p:cNvPr id="184" name="TextBox 183"/>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185" name="Picture 184"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Styling Serums and Oils, share</a:t>
            </a:r>
          </a:p>
        </p:txBody>
      </p:sp>
      <p:sp>
        <p:nvSpPr>
          <p:cNvPr id="17" name="TextBox 16"/>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Waxes, Clays, Pastes and Pomades, share</a:t>
            </a:r>
          </a:p>
        </p:txBody>
      </p:sp>
      <p:sp>
        <p:nvSpPr>
          <p:cNvPr id="20" name="TextBox 19"/>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Sprays and Mists, share</a:t>
            </a:r>
          </a:p>
        </p:txBody>
      </p:sp>
      <p:sp>
        <p:nvSpPr>
          <p:cNvPr id="23" name="TextBox 22"/>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4" name="Connector 23"/>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Styling Serums and Oils</a:t>
            </a:r>
          </a:p>
        </p:txBody>
      </p:sp>
      <p:sp>
        <p:nvSpPr>
          <p:cNvPr id="28" name="TextBox 27"/>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9" name="TextBox 28"/>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30" name="TextBox 29"/>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31" name="TextBox 30"/>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32" name="Connector 31"/>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4" name="TextBox 33"/>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Company C</a:t>
            </a:r>
          </a:p>
        </p:txBody>
      </p:sp>
      <p:sp>
        <p:nvSpPr>
          <p:cNvPr id="35" name="TextBox 34"/>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6" name="TextBox 35"/>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A</a:t>
            </a:r>
          </a:p>
        </p:txBody>
      </p:sp>
      <p:sp>
        <p:nvSpPr>
          <p:cNvPr id="37" name="TextBox 36"/>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B</a:t>
            </a:r>
          </a:p>
        </p:txBody>
      </p:sp>
      <p:sp>
        <p:nvSpPr>
          <p:cNvPr id="38" name="TextBox 37"/>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E</a:t>
            </a:r>
          </a:p>
        </p:txBody>
      </p:sp>
      <p:sp>
        <p:nvSpPr>
          <p:cNvPr id="39" name="TextBox 38"/>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F</a:t>
            </a:r>
          </a:p>
        </p:txBody>
      </p:sp>
      <p:cxnSp>
        <p:nvCxnSpPr>
          <p:cNvPr id="40" name="Connector 39"/>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42" name="TextBox 41"/>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3" name="Connector 42"/>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Waxes, Clays, Pastes and Pomades</a:t>
            </a:r>
          </a:p>
        </p:txBody>
      </p:sp>
      <p:sp>
        <p:nvSpPr>
          <p:cNvPr id="48" name="TextBox 47"/>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9" name="TextBox 48"/>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50" name="TextBox 49"/>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51" name="TextBox 50"/>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52" name="Connector 51"/>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4" name="TextBox 53"/>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Company A</a:t>
            </a:r>
          </a:p>
        </p:txBody>
      </p:sp>
      <p:sp>
        <p:nvSpPr>
          <p:cNvPr id="55" name="TextBox 54"/>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6" name="TextBox 55"/>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B</a:t>
            </a:r>
          </a:p>
        </p:txBody>
      </p:sp>
      <p:sp>
        <p:nvSpPr>
          <p:cNvPr id="57" name="TextBox 56"/>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D</a:t>
            </a:r>
          </a:p>
        </p:txBody>
      </p:sp>
      <p:sp>
        <p:nvSpPr>
          <p:cNvPr id="58" name="TextBox 57"/>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E</a:t>
            </a:r>
          </a:p>
        </p:txBody>
      </p:sp>
      <p:sp>
        <p:nvSpPr>
          <p:cNvPr id="59" name="TextBox 58"/>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F</a:t>
            </a:r>
          </a:p>
        </p:txBody>
      </p:sp>
      <p:cxnSp>
        <p:nvCxnSpPr>
          <p:cNvPr id="60" name="Connector 59"/>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62" name="TextBox 61"/>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3" name="Connector 62"/>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Sprays and Mists</a:t>
            </a:r>
          </a:p>
        </p:txBody>
      </p:sp>
      <p:sp>
        <p:nvSpPr>
          <p:cNvPr id="68" name="TextBox 67"/>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9" name="TextBox 68"/>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70" name="TextBox 69"/>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71" name="TextBox 70"/>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72" name="Connector 71"/>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4" name="TextBox 73"/>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Company A</a:t>
            </a:r>
          </a:p>
        </p:txBody>
      </p:sp>
      <p:sp>
        <p:nvSpPr>
          <p:cNvPr id="75" name="TextBox 74"/>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6" name="TextBox 75"/>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B</a:t>
            </a:r>
          </a:p>
        </p:txBody>
      </p:sp>
      <p:sp>
        <p:nvSpPr>
          <p:cNvPr id="77" name="TextBox 76"/>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 C</a:t>
            </a:r>
          </a:p>
        </p:txBody>
      </p:sp>
      <p:cxnSp>
        <p:nvCxnSpPr>
          <p:cNvPr id="78" name="Connector 77"/>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80" name="TextBox 79"/>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1" name="Connector 80"/>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Distribution Channel</a:t>
            </a:r>
          </a:p>
        </p:txBody>
      </p:sp>
      <p:sp>
        <p:nvSpPr>
          <p:cNvPr id="86" name="TextBox 85"/>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7" name="TextBox 86"/>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88" name="Connector 87"/>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a:t>
            </a:r>
          </a:p>
        </p:txBody>
      </p:sp>
      <p:sp>
        <p:nvSpPr>
          <p:cNvPr id="90" name="Rectangle 89"/>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2" name="TextBox 91"/>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Online Marketplaces</a:t>
            </a:r>
          </a:p>
        </p:txBody>
      </p:sp>
      <p:sp>
        <p:nvSpPr>
          <p:cNvPr id="93" name="Rectangle 92"/>
          <p:cNvSpPr/>
          <p:nvPr/>
        </p:nvSpPr>
        <p:spPr>
          <a:xfrm>
            <a:off x="10682288" y="2847975"/>
            <a:ext cx="719498"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439886"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5" name="TextBox 94"/>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Salon and Professional Distribution</a:t>
            </a:r>
          </a:p>
        </p:txBody>
      </p:sp>
      <p:sp>
        <p:nvSpPr>
          <p:cNvPr id="96" name="Rectangle 95"/>
          <p:cNvSpPr/>
          <p:nvPr/>
        </p:nvSpPr>
        <p:spPr>
          <a:xfrm>
            <a:off x="10682288" y="3171825"/>
            <a:ext cx="717771"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438159"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8" name="TextBox 97"/>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Beauty Specialty Retail</a:t>
            </a:r>
          </a:p>
        </p:txBody>
      </p:sp>
      <p:sp>
        <p:nvSpPr>
          <p:cNvPr id="99" name="Rectangle 98"/>
          <p:cNvSpPr/>
          <p:nvPr/>
        </p:nvSpPr>
        <p:spPr>
          <a:xfrm>
            <a:off x="10682288" y="3495675"/>
            <a:ext cx="60651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326903"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1" name="TextBox 100"/>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Pharmacies and Drugstores</a:t>
            </a:r>
          </a:p>
        </p:txBody>
      </p:sp>
      <p:sp>
        <p:nvSpPr>
          <p:cNvPr id="102" name="Rectangle 101"/>
          <p:cNvSpPr/>
          <p:nvPr/>
        </p:nvSpPr>
        <p:spPr>
          <a:xfrm>
            <a:off x="10682288" y="3819525"/>
            <a:ext cx="585429"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305816"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4" name="TextBox 103"/>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Brand-owned Online Stores</a:t>
            </a:r>
          </a:p>
        </p:txBody>
      </p:sp>
      <p:sp>
        <p:nvSpPr>
          <p:cNvPr id="105" name="Rectangle 104"/>
          <p:cNvSpPr/>
          <p:nvPr/>
        </p:nvSpPr>
        <p:spPr>
          <a:xfrm>
            <a:off x="10682288" y="4143375"/>
            <a:ext cx="49565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216042"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7" name="Connector 106"/>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9" name="TextBox 108"/>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10" name="Rectangle 109"/>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3" name="TextBox 112"/>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Sticks and Balms Compounds Fastest Across the Product Format Mix  |  South Asia &amp; Pacific Emerges as the Growth Engine Among Regions  |  Premiumisation Lifts Average Realisation</a:t>
            </a:r>
          </a:p>
        </p:txBody>
      </p:sp>
      <p:sp>
        <p:nvSpPr>
          <p:cNvPr id="114" name="Rectangle 113"/>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7" name="TextBox 116"/>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Sprays and Mists Lags the Category and Dilutes Blended Growth  |  Uneven Region Performance Caps the Blended Rate  |  Fragmented Demand Raises Cost-to-Serve</a:t>
            </a:r>
          </a:p>
        </p:txBody>
      </p:sp>
      <p:sp>
        <p:nvSpPr>
          <p:cNvPr id="118" name="TextBox 1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19" name="Picture 118" descr="lock.png"/>
          <p:cNvPicPr>
            <a:picLocks noChangeAspect="1"/>
          </p:cNvPicPr>
          <p:nvPr/>
        </p:nvPicPr>
        <p:blipFill>
          <a:blip r:embed="rId4"/>
          <a:stretch>
            <a:fillRect/>
          </a:stretch>
        </p:blipFill>
        <p:spPr>
          <a:xfrm>
            <a:off x="13167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3678975" y="1258951"/>
            <a:ext cx="128699" cy="187198"/>
          </a:xfrm>
          <a:prstGeom prst="rect">
            <a:avLst/>
          </a:prstGeom>
        </p:spPr>
      </p:pic>
      <p:pic>
        <p:nvPicPr>
          <p:cNvPr id="121" name="Picture 120" descr="lock.png"/>
          <p:cNvPicPr>
            <a:picLocks noChangeAspect="1"/>
          </p:cNvPicPr>
          <p:nvPr/>
        </p:nvPicPr>
        <p:blipFill>
          <a:blip r:embed="rId4"/>
          <a:stretch>
            <a:fillRect/>
          </a:stretch>
        </p:blipFill>
        <p:spPr>
          <a:xfrm>
            <a:off x="60411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8403375" y="1258951"/>
            <a:ext cx="128699" cy="187198"/>
          </a:xfrm>
          <a:prstGeom prst="rect">
            <a:avLst/>
          </a:prstGeom>
        </p:spPr>
      </p:pic>
      <p:pic>
        <p:nvPicPr>
          <p:cNvPr id="123" name="Picture 122" descr="lock.png"/>
          <p:cNvPicPr>
            <a:picLocks noChangeAspect="1"/>
          </p:cNvPicPr>
          <p:nvPr/>
        </p:nvPicPr>
        <p:blipFill>
          <a:blip r:embed="rId4"/>
          <a:stretch>
            <a:fillRect/>
          </a:stretch>
        </p:blipFill>
        <p:spPr>
          <a:xfrm>
            <a:off x="10765575" y="1258951"/>
            <a:ext cx="128699" cy="187198"/>
          </a:xfrm>
          <a:prstGeom prst="rect">
            <a:avLst/>
          </a:prstGeom>
        </p:spPr>
      </p:pic>
      <p:pic>
        <p:nvPicPr>
          <p:cNvPr id="124" name="Picture 123" descr="lock.png"/>
          <p:cNvPicPr>
            <a:picLocks noChangeAspect="1"/>
          </p:cNvPicPr>
          <p:nvPr/>
        </p:nvPicPr>
        <p:blipFill>
          <a:blip r:embed="rId4"/>
          <a:stretch>
            <a:fillRect/>
          </a:stretch>
        </p:blipFill>
        <p:spPr>
          <a:xfrm>
            <a:off x="554775" y="1925701"/>
            <a:ext cx="128699" cy="187198"/>
          </a:xfrm>
          <a:prstGeom prst="rect">
            <a:avLst/>
          </a:prstGeom>
        </p:spPr>
      </p:pic>
      <p:pic>
        <p:nvPicPr>
          <p:cNvPr id="125" name="Picture 124" descr="lock.png"/>
          <p:cNvPicPr>
            <a:picLocks noChangeAspect="1"/>
          </p:cNvPicPr>
          <p:nvPr/>
        </p:nvPicPr>
        <p:blipFill>
          <a:blip r:embed="rId4"/>
          <a:stretch>
            <a:fillRect/>
          </a:stretch>
        </p:blipFill>
        <p:spPr>
          <a:xfrm>
            <a:off x="554775" y="2135251"/>
            <a:ext cx="128699" cy="187198"/>
          </a:xfrm>
          <a:prstGeom prst="rect">
            <a:avLst/>
          </a:prstGeom>
        </p:spPr>
      </p:pic>
      <p:pic>
        <p:nvPicPr>
          <p:cNvPr id="126" name="Picture 125" descr="lock.png"/>
          <p:cNvPicPr>
            <a:picLocks noChangeAspect="1"/>
          </p:cNvPicPr>
          <p:nvPr/>
        </p:nvPicPr>
        <p:blipFill>
          <a:blip r:embed="rId4"/>
          <a:stretch>
            <a:fillRect/>
          </a:stretch>
        </p:blipFill>
        <p:spPr>
          <a:xfrm>
            <a:off x="3569437" y="1925701"/>
            <a:ext cx="128699" cy="187198"/>
          </a:xfrm>
          <a:prstGeom prst="rect">
            <a:avLst/>
          </a:prstGeom>
        </p:spPr>
      </p:pic>
      <p:pic>
        <p:nvPicPr>
          <p:cNvPr id="127" name="Picture 126" descr="lock.png"/>
          <p:cNvPicPr>
            <a:picLocks noChangeAspect="1"/>
          </p:cNvPicPr>
          <p:nvPr/>
        </p:nvPicPr>
        <p:blipFill>
          <a:blip r:embed="rId4"/>
          <a:stretch>
            <a:fillRect/>
          </a:stretch>
        </p:blipFill>
        <p:spPr>
          <a:xfrm>
            <a:off x="3569437" y="2135251"/>
            <a:ext cx="128699" cy="187198"/>
          </a:xfrm>
          <a:prstGeom prst="rect">
            <a:avLst/>
          </a:prstGeom>
        </p:spPr>
      </p:pic>
      <p:pic>
        <p:nvPicPr>
          <p:cNvPr id="128" name="Picture 127" descr="lock.png"/>
          <p:cNvPicPr>
            <a:picLocks noChangeAspect="1"/>
          </p:cNvPicPr>
          <p:nvPr/>
        </p:nvPicPr>
        <p:blipFill>
          <a:blip r:embed="rId4"/>
          <a:stretch>
            <a:fillRect/>
          </a:stretch>
        </p:blipFill>
        <p:spPr>
          <a:xfrm>
            <a:off x="6584100" y="1925701"/>
            <a:ext cx="128699" cy="187198"/>
          </a:xfrm>
          <a:prstGeom prst="rect">
            <a:avLst/>
          </a:prstGeom>
        </p:spPr>
      </p:pic>
      <p:pic>
        <p:nvPicPr>
          <p:cNvPr id="129" name="Picture 128" descr="lock.png"/>
          <p:cNvPicPr>
            <a:picLocks noChangeAspect="1"/>
          </p:cNvPicPr>
          <p:nvPr/>
        </p:nvPicPr>
        <p:blipFill>
          <a:blip r:embed="rId4"/>
          <a:stretch>
            <a:fillRect/>
          </a:stretch>
        </p:blipFill>
        <p:spPr>
          <a:xfrm>
            <a:off x="6584100" y="2135251"/>
            <a:ext cx="128699" cy="187198"/>
          </a:xfrm>
          <a:prstGeom prst="rect">
            <a:avLst/>
          </a:prstGeom>
        </p:spPr>
      </p:pic>
      <p:pic>
        <p:nvPicPr>
          <p:cNvPr id="130" name="Picture 129" descr="lock.png"/>
          <p:cNvPicPr>
            <a:picLocks noChangeAspect="1"/>
          </p:cNvPicPr>
          <p:nvPr/>
        </p:nvPicPr>
        <p:blipFill>
          <a:blip r:embed="rId4"/>
          <a:stretch>
            <a:fillRect/>
          </a:stretch>
        </p:blipFill>
        <p:spPr>
          <a:xfrm>
            <a:off x="11660925" y="248767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613661" y="281152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611934" y="3135376"/>
            <a:ext cx="128699" cy="187198"/>
          </a:xfrm>
          <a:prstGeom prst="rect">
            <a:avLst/>
          </a:prstGeom>
        </p:spPr>
      </p:pic>
      <p:pic>
        <p:nvPicPr>
          <p:cNvPr id="133" name="Picture 132" descr="lock.png"/>
          <p:cNvPicPr>
            <a:picLocks noChangeAspect="1"/>
          </p:cNvPicPr>
          <p:nvPr/>
        </p:nvPicPr>
        <p:blipFill>
          <a:blip r:embed="rId4"/>
          <a:stretch>
            <a:fillRect/>
          </a:stretch>
        </p:blipFill>
        <p:spPr>
          <a:xfrm>
            <a:off x="11500678" y="3459226"/>
            <a:ext cx="128699" cy="187198"/>
          </a:xfrm>
          <a:prstGeom prst="rect">
            <a:avLst/>
          </a:prstGeom>
        </p:spPr>
      </p:pic>
      <p:pic>
        <p:nvPicPr>
          <p:cNvPr id="134" name="Picture 133" descr="lock.png"/>
          <p:cNvPicPr>
            <a:picLocks noChangeAspect="1"/>
          </p:cNvPicPr>
          <p:nvPr/>
        </p:nvPicPr>
        <p:blipFill>
          <a:blip r:embed="rId4"/>
          <a:stretch>
            <a:fillRect/>
          </a:stretch>
        </p:blipFill>
        <p:spPr>
          <a:xfrm>
            <a:off x="11479591" y="3783076"/>
            <a:ext cx="128699" cy="187198"/>
          </a:xfrm>
          <a:prstGeom prst="rect">
            <a:avLst/>
          </a:prstGeom>
        </p:spPr>
      </p:pic>
      <p:pic>
        <p:nvPicPr>
          <p:cNvPr id="135" name="Picture 134" descr="lock.png"/>
          <p:cNvPicPr>
            <a:picLocks noChangeAspect="1"/>
          </p:cNvPicPr>
          <p:nvPr/>
        </p:nvPicPr>
        <p:blipFill>
          <a:blip r:embed="rId4"/>
          <a:stretch>
            <a:fillRect/>
          </a:stretch>
        </p:blipFill>
        <p:spPr>
          <a:xfrm>
            <a:off x="11389817" y="4106926"/>
            <a:ext cx="128699" cy="187198"/>
          </a:xfrm>
          <a:prstGeom prst="rect">
            <a:avLst/>
          </a:prstGeom>
        </p:spPr>
      </p:pic>
      <p:sp>
        <p:nvSpPr>
          <p:cNvPr id="136" name="TextBox 135"/>
          <p:cNvSpPr txBox="1"/>
          <p:nvPr/>
        </p:nvSpPr>
        <p:spPr>
          <a:xfrm>
            <a:off x="314325" y="4676775"/>
            <a:ext cx="2320404" cy="186689"/>
          </a:xfrm>
          <a:prstGeom prst="rect">
            <a:avLst/>
          </a:prstGeom>
          <a:noFill/>
        </p:spPr>
        <p:txBody>
          <a:bodyPr wrap="none" lIns="0" rIns="0" tIns="0" bIns="0">
            <a:spAutoFit/>
          </a:bodyPr>
          <a:lstStyle/>
          <a:p>
            <a:r>
              <a:rPr sz="1100" b="0">
                <a:solidFill>
                  <a:srgbClr val="1F2933"/>
                </a:solidFill>
                <a:latin typeface="Calibri"/>
              </a:rPr>
              <a:t>5 named players compete here; 'Styling</a:t>
            </a:r>
          </a:p>
        </p:txBody>
      </p:sp>
      <p:sp>
        <p:nvSpPr>
          <p:cNvPr id="137" name="TextBox 136"/>
          <p:cNvSpPr txBox="1"/>
          <p:nvPr/>
        </p:nvSpPr>
        <p:spPr>
          <a:xfrm>
            <a:off x="314325" y="4844415"/>
            <a:ext cx="1317401" cy="186689"/>
          </a:xfrm>
          <a:prstGeom prst="rect">
            <a:avLst/>
          </a:prstGeom>
          <a:noFill/>
        </p:spPr>
        <p:txBody>
          <a:bodyPr wrap="none" lIns="0" rIns="0" tIns="0" bIns="0">
            <a:spAutoFit/>
          </a:bodyPr>
          <a:lstStyle/>
          <a:p>
            <a:r>
              <a:rPr sz="1100" b="0">
                <a:solidFill>
                  <a:srgbClr val="1F2933"/>
                </a:solidFill>
                <a:latin typeface="Calibri"/>
              </a:rPr>
              <a:t>Serums and Oils' adds</a:t>
            </a:r>
          </a:p>
        </p:txBody>
      </p:sp>
      <p:pic>
        <p:nvPicPr>
          <p:cNvPr id="138" name="Picture 137" descr="lock.png"/>
          <p:cNvPicPr>
            <a:picLocks noChangeAspect="1"/>
          </p:cNvPicPr>
          <p:nvPr/>
        </p:nvPicPr>
        <p:blipFill>
          <a:blip r:embed="rId4"/>
          <a:stretch>
            <a:fillRect/>
          </a:stretch>
        </p:blipFill>
        <p:spPr>
          <a:xfrm>
            <a:off x="1579778" y="4834636"/>
            <a:ext cx="128699" cy="187198"/>
          </a:xfrm>
          <a:prstGeom prst="rect">
            <a:avLst/>
          </a:prstGeom>
        </p:spPr>
      </p:pic>
      <p:sp>
        <p:nvSpPr>
          <p:cNvPr id="139" name="TextBox 138"/>
          <p:cNvSpPr txBox="1"/>
          <p:nvPr/>
        </p:nvSpPr>
        <p:spPr>
          <a:xfrm>
            <a:off x="1747274"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0" name="TextBox 139"/>
          <p:cNvSpPr txBox="1"/>
          <p:nvPr/>
        </p:nvSpPr>
        <p:spPr>
          <a:xfrm>
            <a:off x="3328987" y="4676775"/>
            <a:ext cx="2353419" cy="186689"/>
          </a:xfrm>
          <a:prstGeom prst="rect">
            <a:avLst/>
          </a:prstGeom>
          <a:noFill/>
        </p:spPr>
        <p:txBody>
          <a:bodyPr wrap="none" lIns="0" rIns="0" tIns="0" bIns="0">
            <a:spAutoFit/>
          </a:bodyPr>
          <a:lstStyle/>
          <a:p>
            <a:r>
              <a:rPr sz="1100" b="0">
                <a:solidFill>
                  <a:srgbClr val="1F2933"/>
                </a:solidFill>
                <a:latin typeface="Calibri"/>
              </a:rPr>
              <a:t>5 named players compete here; 'Waxes,</a:t>
            </a:r>
          </a:p>
        </p:txBody>
      </p:sp>
      <p:sp>
        <p:nvSpPr>
          <p:cNvPr id="141" name="TextBox 140"/>
          <p:cNvSpPr txBox="1"/>
          <p:nvPr/>
        </p:nvSpPr>
        <p:spPr>
          <a:xfrm>
            <a:off x="3328987" y="4844415"/>
            <a:ext cx="1928589" cy="186689"/>
          </a:xfrm>
          <a:prstGeom prst="rect">
            <a:avLst/>
          </a:prstGeom>
          <a:noFill/>
        </p:spPr>
        <p:txBody>
          <a:bodyPr wrap="none" lIns="0" rIns="0" tIns="0" bIns="0">
            <a:spAutoFit/>
          </a:bodyPr>
          <a:lstStyle/>
          <a:p>
            <a:r>
              <a:rPr sz="1100" b="0">
                <a:solidFill>
                  <a:srgbClr val="1F2933"/>
                </a:solidFill>
                <a:latin typeface="Calibri"/>
              </a:rPr>
              <a:t>Clays, Pastes and Pomades' adds</a:t>
            </a:r>
          </a:p>
        </p:txBody>
      </p:sp>
      <p:pic>
        <p:nvPicPr>
          <p:cNvPr id="142" name="Picture 141" descr="lock.png"/>
          <p:cNvPicPr>
            <a:picLocks noChangeAspect="1"/>
          </p:cNvPicPr>
          <p:nvPr/>
        </p:nvPicPr>
        <p:blipFill>
          <a:blip r:embed="rId4"/>
          <a:stretch>
            <a:fillRect/>
          </a:stretch>
        </p:blipFill>
        <p:spPr>
          <a:xfrm>
            <a:off x="5205627" y="4834636"/>
            <a:ext cx="128699" cy="187198"/>
          </a:xfrm>
          <a:prstGeom prst="rect">
            <a:avLst/>
          </a:prstGeom>
        </p:spPr>
      </p:pic>
      <p:sp>
        <p:nvSpPr>
          <p:cNvPr id="143" name="TextBox 142"/>
          <p:cNvSpPr txBox="1"/>
          <p:nvPr/>
        </p:nvSpPr>
        <p:spPr>
          <a:xfrm>
            <a:off x="5373123" y="4844415"/>
            <a:ext cx="301029" cy="186689"/>
          </a:xfrm>
          <a:prstGeom prst="rect">
            <a:avLst/>
          </a:prstGeom>
          <a:noFill/>
        </p:spPr>
        <p:txBody>
          <a:bodyPr wrap="none" lIns="0" rIns="0" tIns="0" bIns="0">
            <a:spAutoFit/>
          </a:bodyPr>
          <a:lstStyle/>
          <a:p>
            <a:r>
              <a:rPr sz="1100" b="0">
                <a:solidFill>
                  <a:srgbClr val="1F2933"/>
                </a:solidFill>
                <a:latin typeface="Calibri"/>
              </a:rPr>
              <a:t>US$</a:t>
            </a:r>
          </a:p>
        </p:txBody>
      </p:sp>
      <p:sp>
        <p:nvSpPr>
          <p:cNvPr id="144" name="TextBox 143"/>
          <p:cNvSpPr txBox="1"/>
          <p:nvPr/>
        </p:nvSpPr>
        <p:spPr>
          <a:xfrm>
            <a:off x="3328987" y="5012055"/>
            <a:ext cx="788069" cy="186689"/>
          </a:xfrm>
          <a:prstGeom prst="rect">
            <a:avLst/>
          </a:prstGeom>
          <a:noFill/>
        </p:spPr>
        <p:txBody>
          <a:bodyPr wrap="none" lIns="0" rIns="0" tIns="0" bIns="0">
            <a:spAutoFit/>
          </a:bodyPr>
          <a:lstStyle/>
          <a:p>
            <a:r>
              <a:rPr sz="1100" b="0">
                <a:solidFill>
                  <a:srgbClr val="1F2933"/>
                </a:solidFill>
                <a:latin typeface="Calibri"/>
              </a:rPr>
              <a:t>Mn by 2036.</a:t>
            </a:r>
          </a:p>
        </p:txBody>
      </p:sp>
      <p:sp>
        <p:nvSpPr>
          <p:cNvPr id="145" name="TextBox 144"/>
          <p:cNvSpPr txBox="1"/>
          <p:nvPr/>
        </p:nvSpPr>
        <p:spPr>
          <a:xfrm>
            <a:off x="6343650" y="4676775"/>
            <a:ext cx="2519362" cy="186689"/>
          </a:xfrm>
          <a:prstGeom prst="rect">
            <a:avLst/>
          </a:prstGeom>
          <a:noFill/>
        </p:spPr>
        <p:txBody>
          <a:bodyPr wrap="none" lIns="0" rIns="0" tIns="0" bIns="0">
            <a:spAutoFit/>
          </a:bodyPr>
          <a:lstStyle/>
          <a:p>
            <a:r>
              <a:rPr sz="1100" b="0">
                <a:solidFill>
                  <a:srgbClr val="1F2933"/>
                </a:solidFill>
                <a:latin typeface="Calibri"/>
              </a:rPr>
              <a:t>3 named players compete here; 'Sprays and</a:t>
            </a:r>
          </a:p>
        </p:txBody>
      </p:sp>
      <p:sp>
        <p:nvSpPr>
          <p:cNvPr id="146" name="TextBox 145"/>
          <p:cNvSpPr txBox="1"/>
          <p:nvPr/>
        </p:nvSpPr>
        <p:spPr>
          <a:xfrm>
            <a:off x="6343650" y="4844415"/>
            <a:ext cx="714672" cy="186689"/>
          </a:xfrm>
          <a:prstGeom prst="rect">
            <a:avLst/>
          </a:prstGeom>
          <a:noFill/>
        </p:spPr>
        <p:txBody>
          <a:bodyPr wrap="none" lIns="0" rIns="0" tIns="0" bIns="0">
            <a:spAutoFit/>
          </a:bodyPr>
          <a:lstStyle/>
          <a:p>
            <a:r>
              <a:rPr sz="1100" b="0">
                <a:solidFill>
                  <a:srgbClr val="1F2933"/>
                </a:solidFill>
                <a:latin typeface="Calibri"/>
              </a:rPr>
              <a:t>Mists' adds</a:t>
            </a:r>
          </a:p>
        </p:txBody>
      </p:sp>
      <p:pic>
        <p:nvPicPr>
          <p:cNvPr id="147" name="Picture 146" descr="lock.png"/>
          <p:cNvPicPr>
            <a:picLocks noChangeAspect="1"/>
          </p:cNvPicPr>
          <p:nvPr/>
        </p:nvPicPr>
        <p:blipFill>
          <a:blip r:embed="rId4"/>
          <a:stretch>
            <a:fillRect/>
          </a:stretch>
        </p:blipFill>
        <p:spPr>
          <a:xfrm>
            <a:off x="7006374" y="4834636"/>
            <a:ext cx="128699" cy="187198"/>
          </a:xfrm>
          <a:prstGeom prst="rect">
            <a:avLst/>
          </a:prstGeom>
        </p:spPr>
      </p:pic>
      <p:sp>
        <p:nvSpPr>
          <p:cNvPr id="148" name="TextBox 147"/>
          <p:cNvSpPr txBox="1"/>
          <p:nvPr/>
        </p:nvSpPr>
        <p:spPr>
          <a:xfrm>
            <a:off x="7173870"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9" name="TextBox 148"/>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50" name="Picture 149" descr="lock.png"/>
          <p:cNvPicPr>
            <a:picLocks noChangeAspect="1"/>
          </p:cNvPicPr>
          <p:nvPr/>
        </p:nvPicPr>
        <p:blipFill>
          <a:blip r:embed="rId4"/>
          <a:stretch>
            <a:fillRect/>
          </a:stretch>
        </p:blipFill>
        <p:spPr>
          <a:xfrm>
            <a:off x="11035226" y="4666996"/>
            <a:ext cx="128699" cy="187198"/>
          </a:xfrm>
          <a:prstGeom prst="rect">
            <a:avLst/>
          </a:prstGeom>
        </p:spPr>
      </p:pic>
      <p:sp>
        <p:nvSpPr>
          <p:cNvPr id="151" name="TextBox 150"/>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2" name="TextBox 151"/>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3" name="TextBox 152"/>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(2)</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A</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B</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C</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D</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Company E</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Company F</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(2)</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Company G</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Company H</a:t>
            </a:r>
          </a:p>
        </p:txBody>
      </p:sp>
      <p:sp>
        <p:nvSpPr>
          <p:cNvPr id="57" name="Rectangle 56"/>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59" name="TextBox 58"/>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0" name="TextBox 59"/>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1" name="Rectangle 60"/>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3" name="TextBox 62"/>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4" name="TextBox 63"/>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5" name="Rectangle 64"/>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67" name="TextBox 66"/>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8" name="TextBox 67"/>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9" name="TextBox 68"/>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2      BY REACH   Global 4   |   Regional 2   |   Local or niche 2</a:t>
            </a:r>
          </a:p>
        </p:txBody>
      </p:sp>
      <p:sp>
        <p:nvSpPr>
          <p:cNvPr id="70" name="Rectangle 69"/>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2" name="TextBox 71"/>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3" name="TextBox 72"/>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74" name="TextBox 73"/>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75" name="TextBox 74"/>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76" name="Rectangle 75"/>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78" name="TextBox 77"/>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0" name="TextBox 79"/>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84" name="TextBox 83"/>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86" name="TextBox 85"/>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TextBox 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9" name="Picture 88" descr="lock.png"/>
          <p:cNvPicPr>
            <a:picLocks noChangeAspect="1"/>
          </p:cNvPicPr>
          <p:nvPr/>
        </p:nvPicPr>
        <p:blipFill>
          <a:blip r:embed="rId4"/>
          <a:stretch>
            <a:fillRect/>
          </a:stretch>
        </p:blipFill>
        <p:spPr>
          <a:xfrm>
            <a:off x="1059600" y="4487926"/>
            <a:ext cx="128699" cy="187198"/>
          </a:xfrm>
          <a:prstGeom prst="rect">
            <a:avLst/>
          </a:prstGeom>
        </p:spPr>
      </p:pic>
      <p:pic>
        <p:nvPicPr>
          <p:cNvPr id="90" name="Picture 89" descr="lock.png"/>
          <p:cNvPicPr>
            <a:picLocks noChangeAspect="1"/>
          </p:cNvPicPr>
          <p:nvPr/>
        </p:nvPicPr>
        <p:blipFill>
          <a:blip r:embed="rId4"/>
          <a:stretch>
            <a:fillRect/>
          </a:stretch>
        </p:blipFill>
        <p:spPr>
          <a:xfrm>
            <a:off x="3821850" y="4487926"/>
            <a:ext cx="128699" cy="187198"/>
          </a:xfrm>
          <a:prstGeom prst="rect">
            <a:avLst/>
          </a:prstGeom>
        </p:spPr>
      </p:pic>
      <p:pic>
        <p:nvPicPr>
          <p:cNvPr id="91" name="Picture 90" descr="lock.png"/>
          <p:cNvPicPr>
            <a:picLocks noChangeAspect="1"/>
          </p:cNvPicPr>
          <p:nvPr/>
        </p:nvPicPr>
        <p:blipFill>
          <a:blip r:embed="rId4"/>
          <a:stretch>
            <a:fillRect/>
          </a:stretch>
        </p:blipFill>
        <p:spPr>
          <a:xfrm>
            <a:off x="6584100" y="4487926"/>
            <a:ext cx="128699" cy="187198"/>
          </a:xfrm>
          <a:prstGeom prst="rect">
            <a:avLst/>
          </a:prstGeom>
        </p:spPr>
      </p:pic>
      <p:sp>
        <p:nvSpPr>
          <p:cNvPr id="92" name="TextBox 91"/>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3" name="Picture 92" descr="lock.png"/>
          <p:cNvPicPr>
            <a:picLocks noChangeAspect="1"/>
          </p:cNvPicPr>
          <p:nvPr/>
        </p:nvPicPr>
        <p:blipFill>
          <a:blip r:embed="rId4"/>
          <a:stretch>
            <a:fillRect/>
          </a:stretch>
        </p:blipFill>
        <p:spPr>
          <a:xfrm>
            <a:off x="1343736" y="5867145"/>
            <a:ext cx="128699" cy="187198"/>
          </a:xfrm>
          <a:prstGeom prst="rect">
            <a:avLst/>
          </a:prstGeom>
        </p:spPr>
      </p:pic>
      <p:sp>
        <p:nvSpPr>
          <p:cNvPr id="94" name="TextBox 93"/>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5" name="TextBox 94"/>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6" name="Picture 95" descr="lock.png"/>
          <p:cNvPicPr>
            <a:picLocks noChangeAspect="1"/>
          </p:cNvPicPr>
          <p:nvPr/>
        </p:nvPicPr>
        <p:blipFill>
          <a:blip r:embed="rId4"/>
          <a:stretch>
            <a:fillRect/>
          </a:stretch>
        </p:blipFill>
        <p:spPr>
          <a:xfrm>
            <a:off x="4344111" y="5867145"/>
            <a:ext cx="128699" cy="187198"/>
          </a:xfrm>
          <a:prstGeom prst="rect">
            <a:avLst/>
          </a:prstGeom>
        </p:spPr>
      </p:pic>
      <p:sp>
        <p:nvSpPr>
          <p:cNvPr id="97" name="TextBox 96"/>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8" name="TextBox 97"/>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9" name="Picture 98" descr="lock.png"/>
          <p:cNvPicPr>
            <a:picLocks noChangeAspect="1"/>
          </p:cNvPicPr>
          <p:nvPr/>
        </p:nvPicPr>
        <p:blipFill>
          <a:blip r:embed="rId4"/>
          <a:stretch>
            <a:fillRect/>
          </a:stretch>
        </p:blipFill>
        <p:spPr>
          <a:xfrm>
            <a:off x="7344486" y="5867145"/>
            <a:ext cx="128699" cy="187198"/>
          </a:xfrm>
          <a:prstGeom prst="rect">
            <a:avLst/>
          </a:prstGeom>
        </p:spPr>
      </p:pic>
      <p:sp>
        <p:nvSpPr>
          <p:cNvPr id="100" name="TextBox 99"/>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038350" y="1295400"/>
            <a:ext cx="230505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038350" y="1657350"/>
            <a:ext cx="230505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4419600" y="1295400"/>
            <a:ext cx="119380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4419600" y="1657350"/>
            <a:ext cx="119380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5689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5689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6747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6747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7806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7806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8864600"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8864600"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9922933"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9922933"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0981267" y="1295400"/>
            <a:ext cx="98213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0981267" y="1657350"/>
            <a:ext cx="98213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A</a:t>
            </a:r>
          </a:p>
        </p:txBody>
      </p:sp>
      <p:sp>
        <p:nvSpPr>
          <p:cNvPr id="31" name="TextBox 30"/>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000250" y="22288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4419600" y="22288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104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6280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2113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27946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4833"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9" name="TextBox 38"/>
          <p:cNvSpPr txBox="1"/>
          <p:nvPr/>
        </p:nvSpPr>
        <p:spPr>
          <a:xfrm>
            <a:off x="10943167" y="22288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0" name="Connector 39"/>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B</a:t>
            </a:r>
          </a:p>
        </p:txBody>
      </p:sp>
      <p:sp>
        <p:nvSpPr>
          <p:cNvPr id="43" name="TextBox 42"/>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4" name="TextBox 43"/>
          <p:cNvSpPr txBox="1"/>
          <p:nvPr/>
        </p:nvSpPr>
        <p:spPr>
          <a:xfrm>
            <a:off x="2000250" y="25717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4419600" y="25717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6" name="Oval 45"/>
          <p:cNvSpPr/>
          <p:nvPr/>
        </p:nvSpPr>
        <p:spPr>
          <a:xfrm>
            <a:off x="6104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16280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22113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7946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84833"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1" name="TextBox 50"/>
          <p:cNvSpPr txBox="1"/>
          <p:nvPr/>
        </p:nvSpPr>
        <p:spPr>
          <a:xfrm>
            <a:off x="10943167" y="25717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2" name="Connector 51"/>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C</a:t>
            </a:r>
          </a:p>
        </p:txBody>
      </p:sp>
      <p:sp>
        <p:nvSpPr>
          <p:cNvPr id="55" name="TextBox 54"/>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6" name="TextBox 55"/>
          <p:cNvSpPr txBox="1"/>
          <p:nvPr/>
        </p:nvSpPr>
        <p:spPr>
          <a:xfrm>
            <a:off x="2000250" y="29146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4419600" y="29146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8" name="Oval 57"/>
          <p:cNvSpPr/>
          <p:nvPr/>
        </p:nvSpPr>
        <p:spPr>
          <a:xfrm>
            <a:off x="610446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162800"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22113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27946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93535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884833"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4" name="TextBox 63"/>
          <p:cNvSpPr txBox="1"/>
          <p:nvPr/>
        </p:nvSpPr>
        <p:spPr>
          <a:xfrm>
            <a:off x="10943167" y="29146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5" name="Connector 6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D</a:t>
            </a:r>
          </a:p>
        </p:txBody>
      </p:sp>
      <p:sp>
        <p:nvSpPr>
          <p:cNvPr id="68" name="TextBox 67"/>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9" name="TextBox 68"/>
          <p:cNvSpPr txBox="1"/>
          <p:nvPr/>
        </p:nvSpPr>
        <p:spPr>
          <a:xfrm>
            <a:off x="2000250" y="32575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TextBox 69"/>
          <p:cNvSpPr txBox="1"/>
          <p:nvPr/>
        </p:nvSpPr>
        <p:spPr>
          <a:xfrm>
            <a:off x="4419600" y="32575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1" name="Oval 70"/>
          <p:cNvSpPr/>
          <p:nvPr/>
        </p:nvSpPr>
        <p:spPr>
          <a:xfrm>
            <a:off x="6104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61817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162800"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221133"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27946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93535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884833"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TextBox 77"/>
          <p:cNvSpPr txBox="1"/>
          <p:nvPr/>
        </p:nvSpPr>
        <p:spPr>
          <a:xfrm>
            <a:off x="10943167" y="32575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9" name="Connector 7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E</a:t>
            </a:r>
          </a:p>
        </p:txBody>
      </p:sp>
      <p:sp>
        <p:nvSpPr>
          <p:cNvPr id="82" name="TextBox 8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3" name="TextBox 82"/>
          <p:cNvSpPr txBox="1"/>
          <p:nvPr/>
        </p:nvSpPr>
        <p:spPr>
          <a:xfrm>
            <a:off x="2000250" y="36004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TextBox 83"/>
          <p:cNvSpPr txBox="1"/>
          <p:nvPr/>
        </p:nvSpPr>
        <p:spPr>
          <a:xfrm>
            <a:off x="4419600" y="36004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5" name="Oval 84"/>
          <p:cNvSpPr/>
          <p:nvPr/>
        </p:nvSpPr>
        <p:spPr>
          <a:xfrm>
            <a:off x="6104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1817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16280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2390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22113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2962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27946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93535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84833"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10943167" y="36004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5" name="Connector 9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F</a:t>
            </a:r>
          </a:p>
        </p:txBody>
      </p:sp>
      <p:sp>
        <p:nvSpPr>
          <p:cNvPr id="98" name="TextBox 9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9" name="TextBox 98"/>
          <p:cNvSpPr txBox="1"/>
          <p:nvPr/>
        </p:nvSpPr>
        <p:spPr>
          <a:xfrm>
            <a:off x="2000250" y="39433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TextBox 99"/>
          <p:cNvSpPr txBox="1"/>
          <p:nvPr/>
        </p:nvSpPr>
        <p:spPr>
          <a:xfrm>
            <a:off x="4419600" y="39433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1" name="Oval 100"/>
          <p:cNvSpPr/>
          <p:nvPr/>
        </p:nvSpPr>
        <p:spPr>
          <a:xfrm>
            <a:off x="6104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1817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16280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72390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22113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reeform 105"/>
          <p:cNvSpPr/>
          <p:nvPr/>
        </p:nvSpPr>
        <p:spPr>
          <a:xfrm>
            <a:off x="82962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27946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93535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884833"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943167" y="39433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G</a:t>
            </a:r>
          </a:p>
        </p:txBody>
      </p:sp>
      <p:sp>
        <p:nvSpPr>
          <p:cNvPr id="114" name="TextBox 11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TextBox 114"/>
          <p:cNvSpPr txBox="1"/>
          <p:nvPr/>
        </p:nvSpPr>
        <p:spPr>
          <a:xfrm>
            <a:off x="2000250" y="42862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4419600" y="42862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7" name="Oval 116"/>
          <p:cNvSpPr/>
          <p:nvPr/>
        </p:nvSpPr>
        <p:spPr>
          <a:xfrm>
            <a:off x="6104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1817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16280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2390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22113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82962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27946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93535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884833"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6" name="TextBox 125"/>
          <p:cNvSpPr txBox="1"/>
          <p:nvPr/>
        </p:nvSpPr>
        <p:spPr>
          <a:xfrm>
            <a:off x="10943167" y="42862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7" name="Connector 12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H</a:t>
            </a:r>
          </a:p>
        </p:txBody>
      </p:sp>
      <p:sp>
        <p:nvSpPr>
          <p:cNvPr id="130" name="TextBox 12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TextBox 130"/>
          <p:cNvSpPr txBox="1"/>
          <p:nvPr/>
        </p:nvSpPr>
        <p:spPr>
          <a:xfrm>
            <a:off x="2000250" y="4629150"/>
            <a:ext cx="238125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4419600" y="4629150"/>
            <a:ext cx="1193800"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3" name="Oval 132"/>
          <p:cNvSpPr/>
          <p:nvPr/>
        </p:nvSpPr>
        <p:spPr>
          <a:xfrm>
            <a:off x="6104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1817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16280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2390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822113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82962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27946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93535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884833"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2" name="TextBox 141"/>
          <p:cNvSpPr txBox="1"/>
          <p:nvPr/>
        </p:nvSpPr>
        <p:spPr>
          <a:xfrm>
            <a:off x="10943167" y="4629150"/>
            <a:ext cx="105833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3" name="Connector 142"/>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200025" y="50482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38100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46" name="Oval 145"/>
          <p:cNvSpPr/>
          <p:nvPr/>
        </p:nvSpPr>
        <p:spPr>
          <a:xfrm>
            <a:off x="2065020"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2133600" y="50482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245995"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9" name="Oval 148"/>
          <p:cNvSpPr/>
          <p:nvPr/>
        </p:nvSpPr>
        <p:spPr>
          <a:xfrm>
            <a:off x="367855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3743325" y="50482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385953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52" name="Oval 151"/>
          <p:cNvSpPr/>
          <p:nvPr/>
        </p:nvSpPr>
        <p:spPr>
          <a:xfrm>
            <a:off x="510349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8447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54" name="TextBox 153"/>
          <p:cNvSpPr txBox="1"/>
          <p:nvPr/>
        </p:nvSpPr>
        <p:spPr>
          <a:xfrm>
            <a:off x="190500" y="52578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55" name="TextBox 154"/>
          <p:cNvSpPr txBox="1"/>
          <p:nvPr/>
        </p:nvSpPr>
        <p:spPr>
          <a:xfrm>
            <a:off x="190500" y="54102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8 named players compete globally; scale and share follow the tier structure.</a:t>
            </a:r>
          </a:p>
        </p:txBody>
      </p:sp>
      <p:sp>
        <p:nvSpPr>
          <p:cNvPr id="156" name="TextBox 1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57" name="TextBox 156"/>
          <p:cNvSpPr txBox="1"/>
          <p:nvPr/>
        </p:nvSpPr>
        <p:spPr>
          <a:xfrm>
            <a:off x="8893175" y="1666875"/>
            <a:ext cx="398983" cy="186689"/>
          </a:xfrm>
          <a:prstGeom prst="rect">
            <a:avLst/>
          </a:prstGeom>
          <a:noFill/>
        </p:spPr>
        <p:txBody>
          <a:bodyPr wrap="none" lIns="0" rIns="0" tIns="0" bIns="0">
            <a:spAutoFit/>
          </a:bodyPr>
          <a:lstStyle/>
          <a:p>
            <a:r>
              <a:rPr sz="1100" b="0">
                <a:solidFill>
                  <a:srgbClr val="5F6B7A"/>
                </a:solidFill>
                <a:latin typeface="Calibri"/>
              </a:rPr>
              <a:t>Share</a:t>
            </a:r>
          </a:p>
        </p:txBody>
      </p:sp>
      <p:pic>
        <p:nvPicPr>
          <p:cNvPr id="158" name="Picture 157" descr="lock.png"/>
          <p:cNvPicPr>
            <a:picLocks noChangeAspect="1"/>
          </p:cNvPicPr>
          <p:nvPr/>
        </p:nvPicPr>
        <p:blipFill>
          <a:blip r:embed="rId4"/>
          <a:stretch>
            <a:fillRect/>
          </a:stretch>
        </p:blipFill>
        <p:spPr>
          <a:xfrm>
            <a:off x="9240209" y="1657096"/>
            <a:ext cx="128699" cy="187198"/>
          </a:xfrm>
          <a:prstGeom prst="rect">
            <a:avLst/>
          </a:prstGeom>
        </p:spPr>
      </p:pic>
      <p:sp>
        <p:nvSpPr>
          <p:cNvPr id="159" name="TextBox 158"/>
          <p:cNvSpPr txBox="1"/>
          <p:nvPr/>
        </p:nvSpPr>
        <p:spPr>
          <a:xfrm>
            <a:off x="9407705" y="1666875"/>
            <a:ext cx="384522" cy="186689"/>
          </a:xfrm>
          <a:prstGeom prst="rect">
            <a:avLst/>
          </a:prstGeom>
          <a:noFill/>
        </p:spPr>
        <p:txBody>
          <a:bodyPr wrap="none" lIns="0" rIns="0" tIns="0" bIns="0">
            <a:spAutoFit/>
          </a:bodyPr>
          <a:lstStyle/>
          <a:p>
            <a:r>
              <a:rPr sz="1100" b="0">
                <a:solidFill>
                  <a:srgbClr val="5F6B7A"/>
                </a:solidFill>
                <a:latin typeface="Calibri"/>
              </a:rPr>
              <a:t>+ = 3,</a:t>
            </a:r>
          </a:p>
        </p:txBody>
      </p:sp>
      <p:pic>
        <p:nvPicPr>
          <p:cNvPr id="160" name="Picture 159" descr="lock.png"/>
          <p:cNvPicPr>
            <a:picLocks noChangeAspect="1"/>
          </p:cNvPicPr>
          <p:nvPr/>
        </p:nvPicPr>
        <p:blipFill>
          <a:blip r:embed="rId4"/>
          <a:stretch>
            <a:fillRect/>
          </a:stretch>
        </p:blipFill>
        <p:spPr>
          <a:xfrm>
            <a:off x="8879707" y="1824736"/>
            <a:ext cx="128699" cy="187198"/>
          </a:xfrm>
          <a:prstGeom prst="rect">
            <a:avLst/>
          </a:prstGeom>
        </p:spPr>
      </p:pic>
      <p:sp>
        <p:nvSpPr>
          <p:cNvPr id="161" name="TextBox 160"/>
          <p:cNvSpPr txBox="1"/>
          <p:nvPr/>
        </p:nvSpPr>
        <p:spPr>
          <a:xfrm>
            <a:off x="9047203" y="1834515"/>
            <a:ext cx="643458" cy="186689"/>
          </a:xfrm>
          <a:prstGeom prst="rect">
            <a:avLst/>
          </a:prstGeom>
          <a:noFill/>
        </p:spPr>
        <p:txBody>
          <a:bodyPr wrap="none" lIns="0" rIns="0" tIns="0" bIns="0">
            <a:spAutoFit/>
          </a:bodyPr>
          <a:lstStyle/>
          <a:p>
            <a:r>
              <a:rPr sz="1100" b="0">
                <a:solidFill>
                  <a:srgbClr val="5F6B7A"/>
                </a:solidFill>
                <a:latin typeface="Calibri"/>
              </a:rPr>
              <a:t>= 2, else 1</a:t>
            </a:r>
          </a:p>
        </p:txBody>
      </p:sp>
      <p:pic>
        <p:nvPicPr>
          <p:cNvPr id="162" name="Picture 161" descr="lock.png"/>
          <p:cNvPicPr>
            <a:picLocks noChangeAspect="1"/>
          </p:cNvPicPr>
          <p:nvPr/>
        </p:nvPicPr>
        <p:blipFill>
          <a:blip r:embed="rId4"/>
          <a:stretch>
            <a:fillRect/>
          </a:stretch>
        </p:blipFill>
        <p:spPr>
          <a:xfrm>
            <a:off x="3126525" y="23067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0349650" y="2306701"/>
            <a:ext cx="128699" cy="187198"/>
          </a:xfrm>
          <a:prstGeom prst="rect">
            <a:avLst/>
          </a:prstGeom>
        </p:spPr>
      </p:pic>
      <p:pic>
        <p:nvPicPr>
          <p:cNvPr id="164" name="Picture 163" descr="lock.png"/>
          <p:cNvPicPr>
            <a:picLocks noChangeAspect="1"/>
          </p:cNvPicPr>
          <p:nvPr/>
        </p:nvPicPr>
        <p:blipFill>
          <a:blip r:embed="rId4"/>
          <a:stretch>
            <a:fillRect/>
          </a:stretch>
        </p:blipFill>
        <p:spPr>
          <a:xfrm>
            <a:off x="11407984" y="2306701"/>
            <a:ext cx="128699" cy="187198"/>
          </a:xfrm>
          <a:prstGeom prst="rect">
            <a:avLst/>
          </a:prstGeom>
        </p:spPr>
      </p:pic>
      <p:pic>
        <p:nvPicPr>
          <p:cNvPr id="165" name="Picture 164" descr="lock.png"/>
          <p:cNvPicPr>
            <a:picLocks noChangeAspect="1"/>
          </p:cNvPicPr>
          <p:nvPr/>
        </p:nvPicPr>
        <p:blipFill>
          <a:blip r:embed="rId4"/>
          <a:stretch>
            <a:fillRect/>
          </a:stretch>
        </p:blipFill>
        <p:spPr>
          <a:xfrm>
            <a:off x="3126525" y="2649601"/>
            <a:ext cx="128699" cy="187198"/>
          </a:xfrm>
          <a:prstGeom prst="rect">
            <a:avLst/>
          </a:prstGeom>
        </p:spPr>
      </p:pic>
      <p:pic>
        <p:nvPicPr>
          <p:cNvPr id="166" name="Picture 165" descr="lock.png"/>
          <p:cNvPicPr>
            <a:picLocks noChangeAspect="1"/>
          </p:cNvPicPr>
          <p:nvPr/>
        </p:nvPicPr>
        <p:blipFill>
          <a:blip r:embed="rId4"/>
          <a:stretch>
            <a:fillRect/>
          </a:stretch>
        </p:blipFill>
        <p:spPr>
          <a:xfrm>
            <a:off x="10349650" y="26496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407984" y="2649601"/>
            <a:ext cx="128699" cy="187198"/>
          </a:xfrm>
          <a:prstGeom prst="rect">
            <a:avLst/>
          </a:prstGeom>
        </p:spPr>
      </p:pic>
      <p:pic>
        <p:nvPicPr>
          <p:cNvPr id="168" name="Picture 167" descr="lock.png"/>
          <p:cNvPicPr>
            <a:picLocks noChangeAspect="1"/>
          </p:cNvPicPr>
          <p:nvPr/>
        </p:nvPicPr>
        <p:blipFill>
          <a:blip r:embed="rId4"/>
          <a:stretch>
            <a:fillRect/>
          </a:stretch>
        </p:blipFill>
        <p:spPr>
          <a:xfrm>
            <a:off x="3126525" y="2992501"/>
            <a:ext cx="128699" cy="187198"/>
          </a:xfrm>
          <a:prstGeom prst="rect">
            <a:avLst/>
          </a:prstGeom>
        </p:spPr>
      </p:pic>
      <p:pic>
        <p:nvPicPr>
          <p:cNvPr id="169" name="Picture 168" descr="lock.png"/>
          <p:cNvPicPr>
            <a:picLocks noChangeAspect="1"/>
          </p:cNvPicPr>
          <p:nvPr/>
        </p:nvPicPr>
        <p:blipFill>
          <a:blip r:embed="rId4"/>
          <a:stretch>
            <a:fillRect/>
          </a:stretch>
        </p:blipFill>
        <p:spPr>
          <a:xfrm>
            <a:off x="10349650" y="2992501"/>
            <a:ext cx="128699" cy="187198"/>
          </a:xfrm>
          <a:prstGeom prst="rect">
            <a:avLst/>
          </a:prstGeom>
        </p:spPr>
      </p:pic>
      <p:pic>
        <p:nvPicPr>
          <p:cNvPr id="170" name="Picture 169" descr="lock.png"/>
          <p:cNvPicPr>
            <a:picLocks noChangeAspect="1"/>
          </p:cNvPicPr>
          <p:nvPr/>
        </p:nvPicPr>
        <p:blipFill>
          <a:blip r:embed="rId4"/>
          <a:stretch>
            <a:fillRect/>
          </a:stretch>
        </p:blipFill>
        <p:spPr>
          <a:xfrm>
            <a:off x="11407984" y="2992501"/>
            <a:ext cx="128699" cy="187198"/>
          </a:xfrm>
          <a:prstGeom prst="rect">
            <a:avLst/>
          </a:prstGeom>
        </p:spPr>
      </p:pic>
      <p:pic>
        <p:nvPicPr>
          <p:cNvPr id="171" name="Picture 170" descr="lock.png"/>
          <p:cNvPicPr>
            <a:picLocks noChangeAspect="1"/>
          </p:cNvPicPr>
          <p:nvPr/>
        </p:nvPicPr>
        <p:blipFill>
          <a:blip r:embed="rId4"/>
          <a:stretch>
            <a:fillRect/>
          </a:stretch>
        </p:blipFill>
        <p:spPr>
          <a:xfrm>
            <a:off x="3126525" y="3335401"/>
            <a:ext cx="128699" cy="187198"/>
          </a:xfrm>
          <a:prstGeom prst="rect">
            <a:avLst/>
          </a:prstGeom>
        </p:spPr>
      </p:pic>
      <p:pic>
        <p:nvPicPr>
          <p:cNvPr id="172" name="Picture 171" descr="lock.png"/>
          <p:cNvPicPr>
            <a:picLocks noChangeAspect="1"/>
          </p:cNvPicPr>
          <p:nvPr/>
        </p:nvPicPr>
        <p:blipFill>
          <a:blip r:embed="rId4"/>
          <a:stretch>
            <a:fillRect/>
          </a:stretch>
        </p:blipFill>
        <p:spPr>
          <a:xfrm>
            <a:off x="10349650" y="3335401"/>
            <a:ext cx="128699" cy="187198"/>
          </a:xfrm>
          <a:prstGeom prst="rect">
            <a:avLst/>
          </a:prstGeom>
        </p:spPr>
      </p:pic>
      <p:pic>
        <p:nvPicPr>
          <p:cNvPr id="173" name="Picture 172" descr="lock.png"/>
          <p:cNvPicPr>
            <a:picLocks noChangeAspect="1"/>
          </p:cNvPicPr>
          <p:nvPr/>
        </p:nvPicPr>
        <p:blipFill>
          <a:blip r:embed="rId4"/>
          <a:stretch>
            <a:fillRect/>
          </a:stretch>
        </p:blipFill>
        <p:spPr>
          <a:xfrm>
            <a:off x="11407984" y="3335401"/>
            <a:ext cx="128699" cy="187198"/>
          </a:xfrm>
          <a:prstGeom prst="rect">
            <a:avLst/>
          </a:prstGeom>
        </p:spPr>
      </p:pic>
      <p:pic>
        <p:nvPicPr>
          <p:cNvPr id="174" name="Picture 173" descr="lock.png"/>
          <p:cNvPicPr>
            <a:picLocks noChangeAspect="1"/>
          </p:cNvPicPr>
          <p:nvPr/>
        </p:nvPicPr>
        <p:blipFill>
          <a:blip r:embed="rId4"/>
          <a:stretch>
            <a:fillRect/>
          </a:stretch>
        </p:blipFill>
        <p:spPr>
          <a:xfrm>
            <a:off x="3126525" y="3678301"/>
            <a:ext cx="128699" cy="187198"/>
          </a:xfrm>
          <a:prstGeom prst="rect">
            <a:avLst/>
          </a:prstGeom>
        </p:spPr>
      </p:pic>
      <p:pic>
        <p:nvPicPr>
          <p:cNvPr id="175" name="Picture 174" descr="lock.png"/>
          <p:cNvPicPr>
            <a:picLocks noChangeAspect="1"/>
          </p:cNvPicPr>
          <p:nvPr/>
        </p:nvPicPr>
        <p:blipFill>
          <a:blip r:embed="rId4"/>
          <a:stretch>
            <a:fillRect/>
          </a:stretch>
        </p:blipFill>
        <p:spPr>
          <a:xfrm>
            <a:off x="10349650" y="3678301"/>
            <a:ext cx="128699" cy="187198"/>
          </a:xfrm>
          <a:prstGeom prst="rect">
            <a:avLst/>
          </a:prstGeom>
        </p:spPr>
      </p:pic>
      <p:pic>
        <p:nvPicPr>
          <p:cNvPr id="176" name="Picture 175" descr="lock.png"/>
          <p:cNvPicPr>
            <a:picLocks noChangeAspect="1"/>
          </p:cNvPicPr>
          <p:nvPr/>
        </p:nvPicPr>
        <p:blipFill>
          <a:blip r:embed="rId4"/>
          <a:stretch>
            <a:fillRect/>
          </a:stretch>
        </p:blipFill>
        <p:spPr>
          <a:xfrm>
            <a:off x="11407984" y="3678301"/>
            <a:ext cx="128699" cy="187198"/>
          </a:xfrm>
          <a:prstGeom prst="rect">
            <a:avLst/>
          </a:prstGeom>
        </p:spPr>
      </p:pic>
      <p:pic>
        <p:nvPicPr>
          <p:cNvPr id="177" name="Picture 176" descr="lock.png"/>
          <p:cNvPicPr>
            <a:picLocks noChangeAspect="1"/>
          </p:cNvPicPr>
          <p:nvPr/>
        </p:nvPicPr>
        <p:blipFill>
          <a:blip r:embed="rId4"/>
          <a:stretch>
            <a:fillRect/>
          </a:stretch>
        </p:blipFill>
        <p:spPr>
          <a:xfrm>
            <a:off x="3126525" y="4021201"/>
            <a:ext cx="128699" cy="187198"/>
          </a:xfrm>
          <a:prstGeom prst="rect">
            <a:avLst/>
          </a:prstGeom>
        </p:spPr>
      </p:pic>
      <p:pic>
        <p:nvPicPr>
          <p:cNvPr id="178" name="Picture 177" descr="lock.png"/>
          <p:cNvPicPr>
            <a:picLocks noChangeAspect="1"/>
          </p:cNvPicPr>
          <p:nvPr/>
        </p:nvPicPr>
        <p:blipFill>
          <a:blip r:embed="rId4"/>
          <a:stretch>
            <a:fillRect/>
          </a:stretch>
        </p:blipFill>
        <p:spPr>
          <a:xfrm>
            <a:off x="10349650" y="402120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407984" y="4021201"/>
            <a:ext cx="128699" cy="187198"/>
          </a:xfrm>
          <a:prstGeom prst="rect">
            <a:avLst/>
          </a:prstGeom>
        </p:spPr>
      </p:pic>
      <p:pic>
        <p:nvPicPr>
          <p:cNvPr id="180" name="Picture 179" descr="lock.png"/>
          <p:cNvPicPr>
            <a:picLocks noChangeAspect="1"/>
          </p:cNvPicPr>
          <p:nvPr/>
        </p:nvPicPr>
        <p:blipFill>
          <a:blip r:embed="rId4"/>
          <a:stretch>
            <a:fillRect/>
          </a:stretch>
        </p:blipFill>
        <p:spPr>
          <a:xfrm>
            <a:off x="3126525" y="4364101"/>
            <a:ext cx="128699" cy="187198"/>
          </a:xfrm>
          <a:prstGeom prst="rect">
            <a:avLst/>
          </a:prstGeom>
        </p:spPr>
      </p:pic>
      <p:pic>
        <p:nvPicPr>
          <p:cNvPr id="181" name="Picture 180" descr="lock.png"/>
          <p:cNvPicPr>
            <a:picLocks noChangeAspect="1"/>
          </p:cNvPicPr>
          <p:nvPr/>
        </p:nvPicPr>
        <p:blipFill>
          <a:blip r:embed="rId4"/>
          <a:stretch>
            <a:fillRect/>
          </a:stretch>
        </p:blipFill>
        <p:spPr>
          <a:xfrm>
            <a:off x="10349650" y="436410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07984" y="4364101"/>
            <a:ext cx="128699" cy="187198"/>
          </a:xfrm>
          <a:prstGeom prst="rect">
            <a:avLst/>
          </a:prstGeom>
        </p:spPr>
      </p:pic>
      <p:pic>
        <p:nvPicPr>
          <p:cNvPr id="183" name="Picture 182" descr="lock.png"/>
          <p:cNvPicPr>
            <a:picLocks noChangeAspect="1"/>
          </p:cNvPicPr>
          <p:nvPr/>
        </p:nvPicPr>
        <p:blipFill>
          <a:blip r:embed="rId4"/>
          <a:stretch>
            <a:fillRect/>
          </a:stretch>
        </p:blipFill>
        <p:spPr>
          <a:xfrm>
            <a:off x="3126525" y="4707001"/>
            <a:ext cx="128699" cy="187198"/>
          </a:xfrm>
          <a:prstGeom prst="rect">
            <a:avLst/>
          </a:prstGeom>
        </p:spPr>
      </p:pic>
      <p:pic>
        <p:nvPicPr>
          <p:cNvPr id="184" name="Picture 183" descr="lock.png"/>
          <p:cNvPicPr>
            <a:picLocks noChangeAspect="1"/>
          </p:cNvPicPr>
          <p:nvPr/>
        </p:nvPicPr>
        <p:blipFill>
          <a:blip r:embed="rId4"/>
          <a:stretch>
            <a:fillRect/>
          </a:stretch>
        </p:blipFill>
        <p:spPr>
          <a:xfrm>
            <a:off x="10349650" y="470700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407984" y="4707001"/>
            <a:ext cx="128699" cy="187198"/>
          </a:xfrm>
          <a:prstGeom prst="rect">
            <a:avLst/>
          </a:prstGeom>
        </p:spPr>
      </p:pic>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038350"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038350"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3509122"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3509122"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497989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497989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674482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674482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509747"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509747"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274674"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274674"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A</a:t>
            </a:r>
          </a:p>
        </p:txBody>
      </p:sp>
      <p:sp>
        <p:nvSpPr>
          <p:cNvPr id="27" name="TextBox 26"/>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265943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130208"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10050" y="2324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79894"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6744821"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 Online Marketplaces</a:t>
            </a:r>
          </a:p>
        </p:txBody>
      </p:sp>
      <p:sp>
        <p:nvSpPr>
          <p:cNvPr id="33" name="TextBox 32"/>
          <p:cNvSpPr txBox="1"/>
          <p:nvPr/>
        </p:nvSpPr>
        <p:spPr>
          <a:xfrm>
            <a:off x="8471647"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236574"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B</a:t>
            </a:r>
          </a:p>
        </p:txBody>
      </p:sp>
      <p:sp>
        <p:nvSpPr>
          <p:cNvPr id="38" name="TextBox 37"/>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265943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73367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3020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79894"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6744821"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 Salon and Professional Distribution</a:t>
            </a:r>
          </a:p>
        </p:txBody>
      </p:sp>
      <p:sp>
        <p:nvSpPr>
          <p:cNvPr id="44" name="TextBox 43"/>
          <p:cNvSpPr txBox="1"/>
          <p:nvPr/>
        </p:nvSpPr>
        <p:spPr>
          <a:xfrm>
            <a:off x="8471647"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236574"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C</a:t>
            </a:r>
          </a:p>
        </p:txBody>
      </p:sp>
      <p:sp>
        <p:nvSpPr>
          <p:cNvPr id="49" name="TextBox 48"/>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265943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2733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130208"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210050" y="3009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979894"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6744821"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Online Marketplaces, Salon and Professional Distribution</a:t>
            </a:r>
          </a:p>
        </p:txBody>
      </p:sp>
      <p:sp>
        <p:nvSpPr>
          <p:cNvPr id="56" name="TextBox 55"/>
          <p:cNvSpPr txBox="1"/>
          <p:nvPr/>
        </p:nvSpPr>
        <p:spPr>
          <a:xfrm>
            <a:off x="8471647"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236574"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D</a:t>
            </a:r>
          </a:p>
        </p:txBody>
      </p:sp>
      <p:sp>
        <p:nvSpPr>
          <p:cNvPr id="61" name="TextBox 60"/>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265943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7336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13020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79894"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6744821"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 Online Marketplaces</a:t>
            </a:r>
          </a:p>
        </p:txBody>
      </p:sp>
      <p:sp>
        <p:nvSpPr>
          <p:cNvPr id="67" name="TextBox 66"/>
          <p:cNvSpPr txBox="1"/>
          <p:nvPr/>
        </p:nvSpPr>
        <p:spPr>
          <a:xfrm>
            <a:off x="8471647"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236574"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E</a:t>
            </a:r>
          </a:p>
        </p:txBody>
      </p:sp>
      <p:sp>
        <p:nvSpPr>
          <p:cNvPr id="72" name="TextBox 71"/>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265943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13020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2100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979894"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6744821"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 Salon and Professional Distribution</a:t>
            </a:r>
          </a:p>
        </p:txBody>
      </p:sp>
      <p:sp>
        <p:nvSpPr>
          <p:cNvPr id="78" name="TextBox 77"/>
          <p:cNvSpPr txBox="1"/>
          <p:nvPr/>
        </p:nvSpPr>
        <p:spPr>
          <a:xfrm>
            <a:off x="8471647"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236574"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F</a:t>
            </a:r>
          </a:p>
        </p:txBody>
      </p:sp>
      <p:sp>
        <p:nvSpPr>
          <p:cNvPr id="83" name="TextBox 82"/>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265943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27336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130208"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979894"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6744821"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Online Marketplaces, Salon and Professional Distribution</a:t>
            </a:r>
          </a:p>
        </p:txBody>
      </p:sp>
      <p:sp>
        <p:nvSpPr>
          <p:cNvPr id="89" name="TextBox 88"/>
          <p:cNvSpPr txBox="1"/>
          <p:nvPr/>
        </p:nvSpPr>
        <p:spPr>
          <a:xfrm>
            <a:off x="8471647"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236574"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G</a:t>
            </a:r>
          </a:p>
        </p:txBody>
      </p:sp>
      <p:sp>
        <p:nvSpPr>
          <p:cNvPr id="94" name="TextBox 93"/>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265943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2733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13020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2100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979894"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6744821"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 Online Marketplaces</a:t>
            </a:r>
          </a:p>
        </p:txBody>
      </p:sp>
      <p:sp>
        <p:nvSpPr>
          <p:cNvPr id="101" name="TextBox 100"/>
          <p:cNvSpPr txBox="1"/>
          <p:nvPr/>
        </p:nvSpPr>
        <p:spPr>
          <a:xfrm>
            <a:off x="8471647"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236574"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H</a:t>
            </a:r>
          </a:p>
        </p:txBody>
      </p:sp>
      <p:sp>
        <p:nvSpPr>
          <p:cNvPr id="106" name="TextBox 105"/>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265943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27336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130208"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979894"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6744821"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Mass Retail, Salon and Professional Distribution</a:t>
            </a:r>
          </a:p>
        </p:txBody>
      </p:sp>
      <p:sp>
        <p:nvSpPr>
          <p:cNvPr id="112" name="TextBox 111"/>
          <p:cNvSpPr txBox="1"/>
          <p:nvPr/>
        </p:nvSpPr>
        <p:spPr>
          <a:xfrm>
            <a:off x="8471647"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236574"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Oval 114"/>
          <p:cNvSpPr/>
          <p:nvPr/>
        </p:nvSpPr>
        <p:spPr>
          <a:xfrm>
            <a:off x="200025" y="50482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8100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17" name="Oval 116"/>
          <p:cNvSpPr/>
          <p:nvPr/>
        </p:nvSpPr>
        <p:spPr>
          <a:xfrm>
            <a:off x="2065020"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2133600" y="50482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245995"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20" name="Oval 119"/>
          <p:cNvSpPr/>
          <p:nvPr/>
        </p:nvSpPr>
        <p:spPr>
          <a:xfrm>
            <a:off x="367855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3743325" y="50482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385953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23" name="Oval 122"/>
          <p:cNvSpPr/>
          <p:nvPr/>
        </p:nvSpPr>
        <p:spPr>
          <a:xfrm>
            <a:off x="510349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28447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25" name="TextBox 124"/>
          <p:cNvSpPr txBox="1"/>
          <p:nvPr/>
        </p:nvSpPr>
        <p:spPr>
          <a:xfrm>
            <a:off x="190500" y="52578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26" name="TextBox 125"/>
          <p:cNvSpPr txBox="1"/>
          <p:nvPr/>
        </p:nvSpPr>
        <p:spPr>
          <a:xfrm>
            <a:off x="190500" y="54102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27" name="TextBox 1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8" name="Picture 127" descr="lock.png"/>
          <p:cNvPicPr>
            <a:picLocks noChangeAspect="1"/>
          </p:cNvPicPr>
          <p:nvPr/>
        </p:nvPicPr>
        <p:blipFill>
          <a:blip r:embed="rId4"/>
          <a:stretch>
            <a:fillRect/>
          </a:stretch>
        </p:blipFill>
        <p:spPr>
          <a:xfrm>
            <a:off x="9289760" y="2306701"/>
            <a:ext cx="128699" cy="187198"/>
          </a:xfrm>
          <a:prstGeom prst="rect">
            <a:avLst/>
          </a:prstGeom>
        </p:spPr>
      </p:pic>
      <p:pic>
        <p:nvPicPr>
          <p:cNvPr id="129" name="Picture 128" descr="lock.png"/>
          <p:cNvPicPr>
            <a:picLocks noChangeAspect="1"/>
          </p:cNvPicPr>
          <p:nvPr/>
        </p:nvPicPr>
        <p:blipFill>
          <a:blip r:embed="rId4"/>
          <a:stretch>
            <a:fillRect/>
          </a:stretch>
        </p:blipFill>
        <p:spPr>
          <a:xfrm>
            <a:off x="11054687" y="2306701"/>
            <a:ext cx="128699" cy="187198"/>
          </a:xfrm>
          <a:prstGeom prst="rect">
            <a:avLst/>
          </a:prstGeom>
        </p:spPr>
      </p:pic>
      <p:pic>
        <p:nvPicPr>
          <p:cNvPr id="130" name="Picture 129" descr="lock.png"/>
          <p:cNvPicPr>
            <a:picLocks noChangeAspect="1"/>
          </p:cNvPicPr>
          <p:nvPr/>
        </p:nvPicPr>
        <p:blipFill>
          <a:blip r:embed="rId4"/>
          <a:stretch>
            <a:fillRect/>
          </a:stretch>
        </p:blipFill>
        <p:spPr>
          <a:xfrm>
            <a:off x="9289760" y="2649601"/>
            <a:ext cx="128699" cy="187198"/>
          </a:xfrm>
          <a:prstGeom prst="rect">
            <a:avLst/>
          </a:prstGeom>
        </p:spPr>
      </p:pic>
      <p:pic>
        <p:nvPicPr>
          <p:cNvPr id="131" name="Picture 130" descr="lock.png"/>
          <p:cNvPicPr>
            <a:picLocks noChangeAspect="1"/>
          </p:cNvPicPr>
          <p:nvPr/>
        </p:nvPicPr>
        <p:blipFill>
          <a:blip r:embed="rId4"/>
          <a:stretch>
            <a:fillRect/>
          </a:stretch>
        </p:blipFill>
        <p:spPr>
          <a:xfrm>
            <a:off x="11054687" y="2649601"/>
            <a:ext cx="128699" cy="187198"/>
          </a:xfrm>
          <a:prstGeom prst="rect">
            <a:avLst/>
          </a:prstGeom>
        </p:spPr>
      </p:pic>
      <p:pic>
        <p:nvPicPr>
          <p:cNvPr id="132" name="Picture 131" descr="lock.png"/>
          <p:cNvPicPr>
            <a:picLocks noChangeAspect="1"/>
          </p:cNvPicPr>
          <p:nvPr/>
        </p:nvPicPr>
        <p:blipFill>
          <a:blip r:embed="rId4"/>
          <a:stretch>
            <a:fillRect/>
          </a:stretch>
        </p:blipFill>
        <p:spPr>
          <a:xfrm>
            <a:off x="9289760" y="2992501"/>
            <a:ext cx="128699" cy="187198"/>
          </a:xfrm>
          <a:prstGeom prst="rect">
            <a:avLst/>
          </a:prstGeom>
        </p:spPr>
      </p:pic>
      <p:pic>
        <p:nvPicPr>
          <p:cNvPr id="133" name="Picture 132" descr="lock.png"/>
          <p:cNvPicPr>
            <a:picLocks noChangeAspect="1"/>
          </p:cNvPicPr>
          <p:nvPr/>
        </p:nvPicPr>
        <p:blipFill>
          <a:blip r:embed="rId4"/>
          <a:stretch>
            <a:fillRect/>
          </a:stretch>
        </p:blipFill>
        <p:spPr>
          <a:xfrm>
            <a:off x="11054687" y="2992501"/>
            <a:ext cx="128699" cy="187198"/>
          </a:xfrm>
          <a:prstGeom prst="rect">
            <a:avLst/>
          </a:prstGeom>
        </p:spPr>
      </p:pic>
      <p:pic>
        <p:nvPicPr>
          <p:cNvPr id="134" name="Picture 133" descr="lock.png"/>
          <p:cNvPicPr>
            <a:picLocks noChangeAspect="1"/>
          </p:cNvPicPr>
          <p:nvPr/>
        </p:nvPicPr>
        <p:blipFill>
          <a:blip r:embed="rId4"/>
          <a:stretch>
            <a:fillRect/>
          </a:stretch>
        </p:blipFill>
        <p:spPr>
          <a:xfrm>
            <a:off x="9289760" y="3335401"/>
            <a:ext cx="128699" cy="187198"/>
          </a:xfrm>
          <a:prstGeom prst="rect">
            <a:avLst/>
          </a:prstGeom>
        </p:spPr>
      </p:pic>
      <p:pic>
        <p:nvPicPr>
          <p:cNvPr id="135" name="Picture 134" descr="lock.png"/>
          <p:cNvPicPr>
            <a:picLocks noChangeAspect="1"/>
          </p:cNvPicPr>
          <p:nvPr/>
        </p:nvPicPr>
        <p:blipFill>
          <a:blip r:embed="rId4"/>
          <a:stretch>
            <a:fillRect/>
          </a:stretch>
        </p:blipFill>
        <p:spPr>
          <a:xfrm>
            <a:off x="11054687" y="3335401"/>
            <a:ext cx="128699" cy="187198"/>
          </a:xfrm>
          <a:prstGeom prst="rect">
            <a:avLst/>
          </a:prstGeom>
        </p:spPr>
      </p:pic>
      <p:pic>
        <p:nvPicPr>
          <p:cNvPr id="136" name="Picture 135" descr="lock.png"/>
          <p:cNvPicPr>
            <a:picLocks noChangeAspect="1"/>
          </p:cNvPicPr>
          <p:nvPr/>
        </p:nvPicPr>
        <p:blipFill>
          <a:blip r:embed="rId4"/>
          <a:stretch>
            <a:fillRect/>
          </a:stretch>
        </p:blipFill>
        <p:spPr>
          <a:xfrm>
            <a:off x="9289760" y="3678301"/>
            <a:ext cx="128699" cy="187198"/>
          </a:xfrm>
          <a:prstGeom prst="rect">
            <a:avLst/>
          </a:prstGeom>
        </p:spPr>
      </p:pic>
      <p:pic>
        <p:nvPicPr>
          <p:cNvPr id="137" name="Picture 136" descr="lock.png"/>
          <p:cNvPicPr>
            <a:picLocks noChangeAspect="1"/>
          </p:cNvPicPr>
          <p:nvPr/>
        </p:nvPicPr>
        <p:blipFill>
          <a:blip r:embed="rId4"/>
          <a:stretch>
            <a:fillRect/>
          </a:stretch>
        </p:blipFill>
        <p:spPr>
          <a:xfrm>
            <a:off x="11054687" y="3678301"/>
            <a:ext cx="128699" cy="187198"/>
          </a:xfrm>
          <a:prstGeom prst="rect">
            <a:avLst/>
          </a:prstGeom>
        </p:spPr>
      </p:pic>
      <p:pic>
        <p:nvPicPr>
          <p:cNvPr id="138" name="Picture 137" descr="lock.png"/>
          <p:cNvPicPr>
            <a:picLocks noChangeAspect="1"/>
          </p:cNvPicPr>
          <p:nvPr/>
        </p:nvPicPr>
        <p:blipFill>
          <a:blip r:embed="rId4"/>
          <a:stretch>
            <a:fillRect/>
          </a:stretch>
        </p:blipFill>
        <p:spPr>
          <a:xfrm>
            <a:off x="9289760" y="4021201"/>
            <a:ext cx="128699" cy="187198"/>
          </a:xfrm>
          <a:prstGeom prst="rect">
            <a:avLst/>
          </a:prstGeom>
        </p:spPr>
      </p:pic>
      <p:pic>
        <p:nvPicPr>
          <p:cNvPr id="139" name="Picture 138" descr="lock.png"/>
          <p:cNvPicPr>
            <a:picLocks noChangeAspect="1"/>
          </p:cNvPicPr>
          <p:nvPr/>
        </p:nvPicPr>
        <p:blipFill>
          <a:blip r:embed="rId4"/>
          <a:stretch>
            <a:fillRect/>
          </a:stretch>
        </p:blipFill>
        <p:spPr>
          <a:xfrm>
            <a:off x="11054687" y="4021201"/>
            <a:ext cx="128699" cy="187198"/>
          </a:xfrm>
          <a:prstGeom prst="rect">
            <a:avLst/>
          </a:prstGeom>
        </p:spPr>
      </p:pic>
      <p:pic>
        <p:nvPicPr>
          <p:cNvPr id="140" name="Picture 139" descr="lock.png"/>
          <p:cNvPicPr>
            <a:picLocks noChangeAspect="1"/>
          </p:cNvPicPr>
          <p:nvPr/>
        </p:nvPicPr>
        <p:blipFill>
          <a:blip r:embed="rId4"/>
          <a:stretch>
            <a:fillRect/>
          </a:stretch>
        </p:blipFill>
        <p:spPr>
          <a:xfrm>
            <a:off x="9289760" y="4364101"/>
            <a:ext cx="128699" cy="187198"/>
          </a:xfrm>
          <a:prstGeom prst="rect">
            <a:avLst/>
          </a:prstGeom>
        </p:spPr>
      </p:pic>
      <p:pic>
        <p:nvPicPr>
          <p:cNvPr id="141" name="Picture 140" descr="lock.png"/>
          <p:cNvPicPr>
            <a:picLocks noChangeAspect="1"/>
          </p:cNvPicPr>
          <p:nvPr/>
        </p:nvPicPr>
        <p:blipFill>
          <a:blip r:embed="rId4"/>
          <a:stretch>
            <a:fillRect/>
          </a:stretch>
        </p:blipFill>
        <p:spPr>
          <a:xfrm>
            <a:off x="11054687" y="4364101"/>
            <a:ext cx="128699" cy="187198"/>
          </a:xfrm>
          <a:prstGeom prst="rect">
            <a:avLst/>
          </a:prstGeom>
        </p:spPr>
      </p:pic>
      <p:pic>
        <p:nvPicPr>
          <p:cNvPr id="142" name="Picture 141" descr="lock.png"/>
          <p:cNvPicPr>
            <a:picLocks noChangeAspect="1"/>
          </p:cNvPicPr>
          <p:nvPr/>
        </p:nvPicPr>
        <p:blipFill>
          <a:blip r:embed="rId4"/>
          <a:stretch>
            <a:fillRect/>
          </a:stretch>
        </p:blipFill>
        <p:spPr>
          <a:xfrm>
            <a:off x="9289760" y="4707001"/>
            <a:ext cx="128699" cy="187198"/>
          </a:xfrm>
          <a:prstGeom prst="rect">
            <a:avLst/>
          </a:prstGeom>
        </p:spPr>
      </p:pic>
      <p:pic>
        <p:nvPicPr>
          <p:cNvPr id="143" name="Picture 142" descr="lock.png"/>
          <p:cNvPicPr>
            <a:picLocks noChangeAspect="1"/>
          </p:cNvPicPr>
          <p:nvPr/>
        </p:nvPicPr>
        <p:blipFill>
          <a:blip r:embed="rId4"/>
          <a:stretch>
            <a:fillRect/>
          </a:stretch>
        </p:blipFill>
        <p:spPr>
          <a:xfrm>
            <a:off x="11054687" y="4707001"/>
            <a:ext cx="128699" cy="187198"/>
          </a:xfrm>
          <a:prstGeom prst="rect">
            <a:avLst/>
          </a:prstGeom>
        </p:spPr>
      </p:pic>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038350"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038350"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3803276"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3803276"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5568203"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5568203"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038975"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038975"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8803901" y="1295400"/>
            <a:ext cx="168872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8803901" y="1657350"/>
            <a:ext cx="168872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568828" y="1295400"/>
            <a:ext cx="13945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568828" y="1657350"/>
            <a:ext cx="13945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A</a:t>
            </a:r>
          </a:p>
        </p:txBody>
      </p:sp>
      <p:sp>
        <p:nvSpPr>
          <p:cNvPr id="27" name="TextBox 26"/>
          <p:cNvSpPr txBox="1"/>
          <p:nvPr/>
        </p:nvSpPr>
        <p:spPr>
          <a:xfrm>
            <a:off x="285750" y="24098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038350" y="22288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3765176"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1892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0875"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8765801" y="22288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18991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B</a:t>
            </a:r>
          </a:p>
        </p:txBody>
      </p:sp>
      <p:sp>
        <p:nvSpPr>
          <p:cNvPr id="37" name="TextBox 36"/>
          <p:cNvSpPr txBox="1"/>
          <p:nvPr/>
        </p:nvSpPr>
        <p:spPr>
          <a:xfrm>
            <a:off x="285750" y="27527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038350"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3765176"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1892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38975" y="25717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8765801" y="25717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18991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C</a:t>
            </a:r>
          </a:p>
        </p:txBody>
      </p:sp>
      <p:sp>
        <p:nvSpPr>
          <p:cNvPr id="47" name="TextBox 46"/>
          <p:cNvSpPr txBox="1"/>
          <p:nvPr/>
        </p:nvSpPr>
        <p:spPr>
          <a:xfrm>
            <a:off x="285750" y="30956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038350" y="29146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3765176"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1892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00875"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8765801" y="29146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18991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D</a:t>
            </a:r>
          </a:p>
        </p:txBody>
      </p:sp>
      <p:sp>
        <p:nvSpPr>
          <p:cNvPr id="57" name="TextBox 56"/>
          <p:cNvSpPr txBox="1"/>
          <p:nvPr/>
        </p:nvSpPr>
        <p:spPr>
          <a:xfrm>
            <a:off x="285750" y="34385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038350"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3765176"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1892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38975" y="32575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8765801" y="32575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18991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E</a:t>
            </a:r>
          </a:p>
        </p:txBody>
      </p:sp>
      <p:sp>
        <p:nvSpPr>
          <p:cNvPr id="67" name="TextBox 66"/>
          <p:cNvSpPr txBox="1"/>
          <p:nvPr/>
        </p:nvSpPr>
        <p:spPr>
          <a:xfrm>
            <a:off x="285750" y="37814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038350" y="36004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3765176"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18928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000875"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8765801" y="36004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18991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2680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F</a:t>
            </a:r>
          </a:p>
        </p:txBody>
      </p:sp>
      <p:sp>
        <p:nvSpPr>
          <p:cNvPr id="78" name="TextBox 77"/>
          <p:cNvSpPr txBox="1"/>
          <p:nvPr/>
        </p:nvSpPr>
        <p:spPr>
          <a:xfrm>
            <a:off x="285750" y="41243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038350"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3765176"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189289"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38975" y="39433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8765801" y="39433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18991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2680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G</a:t>
            </a:r>
          </a:p>
        </p:txBody>
      </p:sp>
      <p:sp>
        <p:nvSpPr>
          <p:cNvPr id="89" name="TextBox 88"/>
          <p:cNvSpPr txBox="1"/>
          <p:nvPr/>
        </p:nvSpPr>
        <p:spPr>
          <a:xfrm>
            <a:off x="285750" y="44672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038350" y="42862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3765176"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189289"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000875"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8765801" y="42862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18991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2680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16954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 H</a:t>
            </a:r>
          </a:p>
        </p:txBody>
      </p:sp>
      <p:sp>
        <p:nvSpPr>
          <p:cNvPr id="100" name="TextBox 99"/>
          <p:cNvSpPr txBox="1"/>
          <p:nvPr/>
        </p:nvSpPr>
        <p:spPr>
          <a:xfrm>
            <a:off x="285750" y="4810125"/>
            <a:ext cx="169545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038350"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3765176"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189289"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038975" y="4629150"/>
            <a:ext cx="1688726"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8765801" y="4629150"/>
            <a:ext cx="176492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18991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2680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200025" y="50482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8100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11" name="Oval 110"/>
          <p:cNvSpPr/>
          <p:nvPr/>
        </p:nvSpPr>
        <p:spPr>
          <a:xfrm>
            <a:off x="2065020"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2133600" y="50482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45995"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14" name="Oval 113"/>
          <p:cNvSpPr/>
          <p:nvPr/>
        </p:nvSpPr>
        <p:spPr>
          <a:xfrm>
            <a:off x="367855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3743325" y="50482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85953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17" name="Oval 116"/>
          <p:cNvSpPr/>
          <p:nvPr/>
        </p:nvSpPr>
        <p:spPr>
          <a:xfrm>
            <a:off x="5103495" y="50482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284470" y="50292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19" name="TextBox 118"/>
          <p:cNvSpPr txBox="1"/>
          <p:nvPr/>
        </p:nvSpPr>
        <p:spPr>
          <a:xfrm>
            <a:off x="190500" y="52578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20" name="TextBox 119"/>
          <p:cNvSpPr txBox="1"/>
          <p:nvPr/>
        </p:nvSpPr>
        <p:spPr>
          <a:xfrm>
            <a:off x="190500" y="54102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21" name="TextBox 1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2" name="Picture 121" descr="lock.png"/>
          <p:cNvPicPr>
            <a:picLocks noChangeAspect="1"/>
          </p:cNvPicPr>
          <p:nvPr/>
        </p:nvPicPr>
        <p:blipFill>
          <a:blip r:embed="rId4"/>
          <a:stretch>
            <a:fillRect/>
          </a:stretch>
        </p:blipFill>
        <p:spPr>
          <a:xfrm>
            <a:off x="4583289" y="2306701"/>
            <a:ext cx="128699" cy="187198"/>
          </a:xfrm>
          <a:prstGeom prst="rect">
            <a:avLst/>
          </a:prstGeom>
        </p:spPr>
      </p:pic>
      <p:pic>
        <p:nvPicPr>
          <p:cNvPr id="123" name="Picture 122" descr="lock.png"/>
          <p:cNvPicPr>
            <a:picLocks noChangeAspect="1"/>
          </p:cNvPicPr>
          <p:nvPr/>
        </p:nvPicPr>
        <p:blipFill>
          <a:blip r:embed="rId4"/>
          <a:stretch>
            <a:fillRect/>
          </a:stretch>
        </p:blipFill>
        <p:spPr>
          <a:xfrm>
            <a:off x="7818988" y="2306701"/>
            <a:ext cx="128699" cy="187198"/>
          </a:xfrm>
          <a:prstGeom prst="rect">
            <a:avLst/>
          </a:prstGeom>
        </p:spPr>
      </p:pic>
      <p:pic>
        <p:nvPicPr>
          <p:cNvPr id="124" name="Picture 123" descr="lock.png"/>
          <p:cNvPicPr>
            <a:picLocks noChangeAspect="1"/>
          </p:cNvPicPr>
          <p:nvPr/>
        </p:nvPicPr>
        <p:blipFill>
          <a:blip r:embed="rId4"/>
          <a:stretch>
            <a:fillRect/>
          </a:stretch>
        </p:blipFill>
        <p:spPr>
          <a:xfrm>
            <a:off x="9583914" y="2306701"/>
            <a:ext cx="128699" cy="187198"/>
          </a:xfrm>
          <a:prstGeom prst="rect">
            <a:avLst/>
          </a:prstGeom>
        </p:spPr>
      </p:pic>
      <p:pic>
        <p:nvPicPr>
          <p:cNvPr id="125" name="Picture 124" descr="lock.png"/>
          <p:cNvPicPr>
            <a:picLocks noChangeAspect="1"/>
          </p:cNvPicPr>
          <p:nvPr/>
        </p:nvPicPr>
        <p:blipFill>
          <a:blip r:embed="rId4"/>
          <a:stretch>
            <a:fillRect/>
          </a:stretch>
        </p:blipFill>
        <p:spPr>
          <a:xfrm>
            <a:off x="4583289" y="2649601"/>
            <a:ext cx="128699" cy="187198"/>
          </a:xfrm>
          <a:prstGeom prst="rect">
            <a:avLst/>
          </a:prstGeom>
        </p:spPr>
      </p:pic>
      <p:pic>
        <p:nvPicPr>
          <p:cNvPr id="126" name="Picture 125" descr="lock.png"/>
          <p:cNvPicPr>
            <a:picLocks noChangeAspect="1"/>
          </p:cNvPicPr>
          <p:nvPr/>
        </p:nvPicPr>
        <p:blipFill>
          <a:blip r:embed="rId4"/>
          <a:stretch>
            <a:fillRect/>
          </a:stretch>
        </p:blipFill>
        <p:spPr>
          <a:xfrm>
            <a:off x="9583914" y="2649601"/>
            <a:ext cx="128699" cy="187198"/>
          </a:xfrm>
          <a:prstGeom prst="rect">
            <a:avLst/>
          </a:prstGeom>
        </p:spPr>
      </p:pic>
      <p:pic>
        <p:nvPicPr>
          <p:cNvPr id="127" name="Picture 126" descr="lock.png"/>
          <p:cNvPicPr>
            <a:picLocks noChangeAspect="1"/>
          </p:cNvPicPr>
          <p:nvPr/>
        </p:nvPicPr>
        <p:blipFill>
          <a:blip r:embed="rId4"/>
          <a:stretch>
            <a:fillRect/>
          </a:stretch>
        </p:blipFill>
        <p:spPr>
          <a:xfrm>
            <a:off x="4583289" y="2992501"/>
            <a:ext cx="128699" cy="187198"/>
          </a:xfrm>
          <a:prstGeom prst="rect">
            <a:avLst/>
          </a:prstGeom>
        </p:spPr>
      </p:pic>
      <p:pic>
        <p:nvPicPr>
          <p:cNvPr id="128" name="Picture 127" descr="lock.png"/>
          <p:cNvPicPr>
            <a:picLocks noChangeAspect="1"/>
          </p:cNvPicPr>
          <p:nvPr/>
        </p:nvPicPr>
        <p:blipFill>
          <a:blip r:embed="rId4"/>
          <a:stretch>
            <a:fillRect/>
          </a:stretch>
        </p:blipFill>
        <p:spPr>
          <a:xfrm>
            <a:off x="7818988" y="2992501"/>
            <a:ext cx="128699" cy="187198"/>
          </a:xfrm>
          <a:prstGeom prst="rect">
            <a:avLst/>
          </a:prstGeom>
        </p:spPr>
      </p:pic>
      <p:pic>
        <p:nvPicPr>
          <p:cNvPr id="129" name="Picture 128" descr="lock.png"/>
          <p:cNvPicPr>
            <a:picLocks noChangeAspect="1"/>
          </p:cNvPicPr>
          <p:nvPr/>
        </p:nvPicPr>
        <p:blipFill>
          <a:blip r:embed="rId4"/>
          <a:stretch>
            <a:fillRect/>
          </a:stretch>
        </p:blipFill>
        <p:spPr>
          <a:xfrm>
            <a:off x="9583914" y="2992501"/>
            <a:ext cx="128699" cy="187198"/>
          </a:xfrm>
          <a:prstGeom prst="rect">
            <a:avLst/>
          </a:prstGeom>
        </p:spPr>
      </p:pic>
      <p:pic>
        <p:nvPicPr>
          <p:cNvPr id="130" name="Picture 129" descr="lock.png"/>
          <p:cNvPicPr>
            <a:picLocks noChangeAspect="1"/>
          </p:cNvPicPr>
          <p:nvPr/>
        </p:nvPicPr>
        <p:blipFill>
          <a:blip r:embed="rId4"/>
          <a:stretch>
            <a:fillRect/>
          </a:stretch>
        </p:blipFill>
        <p:spPr>
          <a:xfrm>
            <a:off x="4583289" y="3335401"/>
            <a:ext cx="128699" cy="187198"/>
          </a:xfrm>
          <a:prstGeom prst="rect">
            <a:avLst/>
          </a:prstGeom>
        </p:spPr>
      </p:pic>
      <p:pic>
        <p:nvPicPr>
          <p:cNvPr id="131" name="Picture 130" descr="lock.png"/>
          <p:cNvPicPr>
            <a:picLocks noChangeAspect="1"/>
          </p:cNvPicPr>
          <p:nvPr/>
        </p:nvPicPr>
        <p:blipFill>
          <a:blip r:embed="rId4"/>
          <a:stretch>
            <a:fillRect/>
          </a:stretch>
        </p:blipFill>
        <p:spPr>
          <a:xfrm>
            <a:off x="9583914" y="3335401"/>
            <a:ext cx="128699" cy="187198"/>
          </a:xfrm>
          <a:prstGeom prst="rect">
            <a:avLst/>
          </a:prstGeom>
        </p:spPr>
      </p:pic>
      <p:pic>
        <p:nvPicPr>
          <p:cNvPr id="132" name="Picture 131" descr="lock.png"/>
          <p:cNvPicPr>
            <a:picLocks noChangeAspect="1"/>
          </p:cNvPicPr>
          <p:nvPr/>
        </p:nvPicPr>
        <p:blipFill>
          <a:blip r:embed="rId4"/>
          <a:stretch>
            <a:fillRect/>
          </a:stretch>
        </p:blipFill>
        <p:spPr>
          <a:xfrm>
            <a:off x="4583289" y="3678301"/>
            <a:ext cx="128699" cy="187198"/>
          </a:xfrm>
          <a:prstGeom prst="rect">
            <a:avLst/>
          </a:prstGeom>
        </p:spPr>
      </p:pic>
      <p:pic>
        <p:nvPicPr>
          <p:cNvPr id="133" name="Picture 132" descr="lock.png"/>
          <p:cNvPicPr>
            <a:picLocks noChangeAspect="1"/>
          </p:cNvPicPr>
          <p:nvPr/>
        </p:nvPicPr>
        <p:blipFill>
          <a:blip r:embed="rId4"/>
          <a:stretch>
            <a:fillRect/>
          </a:stretch>
        </p:blipFill>
        <p:spPr>
          <a:xfrm>
            <a:off x="7818988" y="3678301"/>
            <a:ext cx="128699" cy="187198"/>
          </a:xfrm>
          <a:prstGeom prst="rect">
            <a:avLst/>
          </a:prstGeom>
        </p:spPr>
      </p:pic>
      <p:pic>
        <p:nvPicPr>
          <p:cNvPr id="134" name="Picture 133" descr="lock.png"/>
          <p:cNvPicPr>
            <a:picLocks noChangeAspect="1"/>
          </p:cNvPicPr>
          <p:nvPr/>
        </p:nvPicPr>
        <p:blipFill>
          <a:blip r:embed="rId4"/>
          <a:stretch>
            <a:fillRect/>
          </a:stretch>
        </p:blipFill>
        <p:spPr>
          <a:xfrm>
            <a:off x="9583914" y="3678301"/>
            <a:ext cx="128699" cy="187198"/>
          </a:xfrm>
          <a:prstGeom prst="rect">
            <a:avLst/>
          </a:prstGeom>
        </p:spPr>
      </p:pic>
      <p:pic>
        <p:nvPicPr>
          <p:cNvPr id="135" name="Picture 134" descr="lock.png"/>
          <p:cNvPicPr>
            <a:picLocks noChangeAspect="1"/>
          </p:cNvPicPr>
          <p:nvPr/>
        </p:nvPicPr>
        <p:blipFill>
          <a:blip r:embed="rId4"/>
          <a:stretch>
            <a:fillRect/>
          </a:stretch>
        </p:blipFill>
        <p:spPr>
          <a:xfrm>
            <a:off x="4583289" y="4021201"/>
            <a:ext cx="128699" cy="187198"/>
          </a:xfrm>
          <a:prstGeom prst="rect">
            <a:avLst/>
          </a:prstGeom>
        </p:spPr>
      </p:pic>
      <p:pic>
        <p:nvPicPr>
          <p:cNvPr id="136" name="Picture 135" descr="lock.png"/>
          <p:cNvPicPr>
            <a:picLocks noChangeAspect="1"/>
          </p:cNvPicPr>
          <p:nvPr/>
        </p:nvPicPr>
        <p:blipFill>
          <a:blip r:embed="rId4"/>
          <a:stretch>
            <a:fillRect/>
          </a:stretch>
        </p:blipFill>
        <p:spPr>
          <a:xfrm>
            <a:off x="9583914" y="4021201"/>
            <a:ext cx="128699" cy="187198"/>
          </a:xfrm>
          <a:prstGeom prst="rect">
            <a:avLst/>
          </a:prstGeom>
        </p:spPr>
      </p:pic>
      <p:pic>
        <p:nvPicPr>
          <p:cNvPr id="137" name="Picture 136" descr="lock.png"/>
          <p:cNvPicPr>
            <a:picLocks noChangeAspect="1"/>
          </p:cNvPicPr>
          <p:nvPr/>
        </p:nvPicPr>
        <p:blipFill>
          <a:blip r:embed="rId4"/>
          <a:stretch>
            <a:fillRect/>
          </a:stretch>
        </p:blipFill>
        <p:spPr>
          <a:xfrm>
            <a:off x="4583289" y="4364101"/>
            <a:ext cx="128699" cy="187198"/>
          </a:xfrm>
          <a:prstGeom prst="rect">
            <a:avLst/>
          </a:prstGeom>
        </p:spPr>
      </p:pic>
      <p:pic>
        <p:nvPicPr>
          <p:cNvPr id="138" name="Picture 137" descr="lock.png"/>
          <p:cNvPicPr>
            <a:picLocks noChangeAspect="1"/>
          </p:cNvPicPr>
          <p:nvPr/>
        </p:nvPicPr>
        <p:blipFill>
          <a:blip r:embed="rId4"/>
          <a:stretch>
            <a:fillRect/>
          </a:stretch>
        </p:blipFill>
        <p:spPr>
          <a:xfrm>
            <a:off x="7818988" y="4364101"/>
            <a:ext cx="128699" cy="187198"/>
          </a:xfrm>
          <a:prstGeom prst="rect">
            <a:avLst/>
          </a:prstGeom>
        </p:spPr>
      </p:pic>
      <p:pic>
        <p:nvPicPr>
          <p:cNvPr id="139" name="Picture 138" descr="lock.png"/>
          <p:cNvPicPr>
            <a:picLocks noChangeAspect="1"/>
          </p:cNvPicPr>
          <p:nvPr/>
        </p:nvPicPr>
        <p:blipFill>
          <a:blip r:embed="rId4"/>
          <a:stretch>
            <a:fillRect/>
          </a:stretch>
        </p:blipFill>
        <p:spPr>
          <a:xfrm>
            <a:off x="9583914" y="4364101"/>
            <a:ext cx="128699" cy="187198"/>
          </a:xfrm>
          <a:prstGeom prst="rect">
            <a:avLst/>
          </a:prstGeom>
        </p:spPr>
      </p:pic>
      <p:pic>
        <p:nvPicPr>
          <p:cNvPr id="140" name="Picture 139" descr="lock.png"/>
          <p:cNvPicPr>
            <a:picLocks noChangeAspect="1"/>
          </p:cNvPicPr>
          <p:nvPr/>
        </p:nvPicPr>
        <p:blipFill>
          <a:blip r:embed="rId4"/>
          <a:stretch>
            <a:fillRect/>
          </a:stretch>
        </p:blipFill>
        <p:spPr>
          <a:xfrm>
            <a:off x="4583289" y="4707001"/>
            <a:ext cx="128699" cy="187198"/>
          </a:xfrm>
          <a:prstGeom prst="rect">
            <a:avLst/>
          </a:prstGeom>
        </p:spPr>
      </p:pic>
      <p:pic>
        <p:nvPicPr>
          <p:cNvPr id="141" name="Picture 140" descr="lock.png"/>
          <p:cNvPicPr>
            <a:picLocks noChangeAspect="1"/>
          </p:cNvPicPr>
          <p:nvPr/>
        </p:nvPicPr>
        <p:blipFill>
          <a:blip r:embed="rId4"/>
          <a:stretch>
            <a:fillRect/>
          </a:stretch>
        </p:blipFill>
        <p:spPr>
          <a:xfrm>
            <a:off x="9583914" y="4707001"/>
            <a:ext cx="128699" cy="187198"/>
          </a:xfrm>
          <a:prstGeom prst="rect">
            <a:avLst/>
          </a:prstGeom>
        </p:spPr>
      </p:pic>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B</a:t>
            </a:r>
          </a:p>
        </p:txBody>
      </p:sp>
      <p:sp>
        <p:nvSpPr>
          <p:cNvPr id="30" name="Oval 29"/>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7" name="Connector 36"/>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A</a:t>
            </a:r>
          </a:p>
        </p:txBody>
      </p:sp>
      <p:sp>
        <p:nvSpPr>
          <p:cNvPr id="40" name="Oval 39"/>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8" name="Connector 47"/>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C</a:t>
            </a:r>
          </a:p>
        </p:txBody>
      </p:sp>
      <p:sp>
        <p:nvSpPr>
          <p:cNvPr id="51" name="Oval 50"/>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9" name="Connector 58"/>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D</a:t>
            </a:r>
          </a:p>
        </p:txBody>
      </p:sp>
      <p:sp>
        <p:nvSpPr>
          <p:cNvPr id="62" name="Oval 61"/>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0" name="Connector 69"/>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F</a:t>
            </a:r>
          </a:p>
        </p:txBody>
      </p:sp>
      <p:sp>
        <p:nvSpPr>
          <p:cNvPr id="73" name="Oval 72"/>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3" name="Connector 82"/>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E</a:t>
            </a:r>
          </a:p>
        </p:txBody>
      </p:sp>
      <p:sp>
        <p:nvSpPr>
          <p:cNvPr id="86" name="Oval 85"/>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7" name="Connector 96"/>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H</a:t>
            </a:r>
          </a:p>
        </p:txBody>
      </p:sp>
      <p:sp>
        <p:nvSpPr>
          <p:cNvPr id="100" name="Oval 99"/>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0" name="Connector 10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 G</a:t>
            </a:r>
          </a:p>
        </p:txBody>
      </p:sp>
      <p:sp>
        <p:nvSpPr>
          <p:cNvPr id="113" name="Oval 112"/>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8200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789622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0420350" y="40290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112520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4" name="Connector 123"/>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Oval 124"/>
          <p:cNvSpPr/>
          <p:nvPr/>
        </p:nvSpPr>
        <p:spPr>
          <a:xfrm>
            <a:off x="200025" y="43243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1000"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27" name="Oval 126"/>
          <p:cNvSpPr/>
          <p:nvPr/>
        </p:nvSpPr>
        <p:spPr>
          <a:xfrm>
            <a:off x="2065020" y="43243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2133600" y="43243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245995"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0" name="Oval 129"/>
          <p:cNvSpPr/>
          <p:nvPr/>
        </p:nvSpPr>
        <p:spPr>
          <a:xfrm>
            <a:off x="3678555" y="43243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3743325" y="43243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59530"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3" name="Oval 132"/>
          <p:cNvSpPr/>
          <p:nvPr/>
        </p:nvSpPr>
        <p:spPr>
          <a:xfrm>
            <a:off x="5103495" y="43243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284470" y="43053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35" name="TextBox 134"/>
          <p:cNvSpPr txBox="1"/>
          <p:nvPr/>
        </p:nvSpPr>
        <p:spPr>
          <a:xfrm>
            <a:off x="190500" y="45339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36" name="Rectangle 135"/>
          <p:cNvSpPr/>
          <p:nvPr/>
        </p:nvSpPr>
        <p:spPr>
          <a:xfrm>
            <a:off x="190500" y="47244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90500" y="47815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38" name="TextBox 137"/>
          <p:cNvSpPr txBox="1"/>
          <p:nvPr/>
        </p:nvSpPr>
        <p:spPr>
          <a:xfrm>
            <a:off x="190500" y="49530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Company B, Company A, Company C, Company D</a:t>
            </a:r>
          </a:p>
        </p:txBody>
      </p:sp>
      <p:sp>
        <p:nvSpPr>
          <p:cNvPr id="139" name="TextBox 138"/>
          <p:cNvSpPr txBox="1"/>
          <p:nvPr/>
        </p:nvSpPr>
        <p:spPr>
          <a:xfrm>
            <a:off x="190500" y="53149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40" name="Rectangle 139"/>
          <p:cNvSpPr/>
          <p:nvPr/>
        </p:nvSpPr>
        <p:spPr>
          <a:xfrm>
            <a:off x="4191000" y="47244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191000" y="47815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42" name="TextBox 141"/>
          <p:cNvSpPr txBox="1"/>
          <p:nvPr/>
        </p:nvSpPr>
        <p:spPr>
          <a:xfrm>
            <a:off x="4191000" y="49530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Company F, Company E</a:t>
            </a:r>
          </a:p>
        </p:txBody>
      </p:sp>
      <p:sp>
        <p:nvSpPr>
          <p:cNvPr id="143" name="TextBox 142"/>
          <p:cNvSpPr txBox="1"/>
          <p:nvPr/>
        </p:nvSpPr>
        <p:spPr>
          <a:xfrm>
            <a:off x="4191000" y="53149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44" name="Rectangle 143"/>
          <p:cNvSpPr/>
          <p:nvPr/>
        </p:nvSpPr>
        <p:spPr>
          <a:xfrm>
            <a:off x="8191500" y="47244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8191500" y="47815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46" name="TextBox 145"/>
          <p:cNvSpPr txBox="1"/>
          <p:nvPr/>
        </p:nvSpPr>
        <p:spPr>
          <a:xfrm>
            <a:off x="8191500" y="49530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Company H, Company G</a:t>
            </a:r>
          </a:p>
        </p:txBody>
      </p:sp>
      <p:sp>
        <p:nvSpPr>
          <p:cNvPr id="147" name="TextBox 146"/>
          <p:cNvSpPr txBox="1"/>
          <p:nvPr/>
        </p:nvSpPr>
        <p:spPr>
          <a:xfrm>
            <a:off x="8191500" y="53149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11746650" y="1868551"/>
            <a:ext cx="128699" cy="187198"/>
          </a:xfrm>
          <a:prstGeom prst="rect">
            <a:avLst/>
          </a:prstGeom>
        </p:spPr>
      </p:pic>
      <p:pic>
        <p:nvPicPr>
          <p:cNvPr id="150" name="Picture 149" descr="lock.png"/>
          <p:cNvPicPr>
            <a:picLocks noChangeAspect="1"/>
          </p:cNvPicPr>
          <p:nvPr/>
        </p:nvPicPr>
        <p:blipFill>
          <a:blip r:embed="rId4"/>
          <a:stretch>
            <a:fillRect/>
          </a:stretch>
        </p:blipFill>
        <p:spPr>
          <a:xfrm>
            <a:off x="11689500" y="217335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689500" y="2478151"/>
            <a:ext cx="128699" cy="187198"/>
          </a:xfrm>
          <a:prstGeom prst="rect">
            <a:avLst/>
          </a:prstGeom>
        </p:spPr>
      </p:pic>
      <p:pic>
        <p:nvPicPr>
          <p:cNvPr id="152" name="Picture 151" descr="lock.png"/>
          <p:cNvPicPr>
            <a:picLocks noChangeAspect="1"/>
          </p:cNvPicPr>
          <p:nvPr/>
        </p:nvPicPr>
        <p:blipFill>
          <a:blip r:embed="rId4"/>
          <a:stretch>
            <a:fillRect/>
          </a:stretch>
        </p:blipFill>
        <p:spPr>
          <a:xfrm>
            <a:off x="11632350" y="278295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479950" y="3087751"/>
            <a:ext cx="128699" cy="187198"/>
          </a:xfrm>
          <a:prstGeom prst="rect">
            <a:avLst/>
          </a:prstGeom>
        </p:spPr>
      </p:pic>
      <p:pic>
        <p:nvPicPr>
          <p:cNvPr id="154" name="Picture 153" descr="lock.png"/>
          <p:cNvPicPr>
            <a:picLocks noChangeAspect="1"/>
          </p:cNvPicPr>
          <p:nvPr/>
        </p:nvPicPr>
        <p:blipFill>
          <a:blip r:embed="rId4"/>
          <a:stretch>
            <a:fillRect/>
          </a:stretch>
        </p:blipFill>
        <p:spPr>
          <a:xfrm>
            <a:off x="11422800" y="339255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327550" y="3697351"/>
            <a:ext cx="128699" cy="187198"/>
          </a:xfrm>
          <a:prstGeom prst="rect">
            <a:avLst/>
          </a:prstGeom>
        </p:spPr>
      </p:pic>
      <p:pic>
        <p:nvPicPr>
          <p:cNvPr id="156" name="Picture 155" descr="lock.png"/>
          <p:cNvPicPr>
            <a:picLocks noChangeAspect="1"/>
          </p:cNvPicPr>
          <p:nvPr/>
        </p:nvPicPr>
        <p:blipFill>
          <a:blip r:embed="rId4"/>
          <a:stretch>
            <a:fillRect/>
          </a:stretch>
        </p:blipFill>
        <p:spPr>
          <a:xfrm>
            <a:off x="11270400" y="4002151"/>
            <a:ext cx="128699" cy="187198"/>
          </a:xfrm>
          <a:prstGeom prst="rect">
            <a:avLst/>
          </a:prstGeom>
        </p:spPr>
      </p:pic>
      <p:sp>
        <p:nvSpPr>
          <p:cNvPr id="157" name="TextBox 156"/>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58" name="Picture 157" descr="lock.png"/>
          <p:cNvPicPr>
            <a:picLocks noChangeAspect="1"/>
          </p:cNvPicPr>
          <p:nvPr/>
        </p:nvPicPr>
        <p:blipFill>
          <a:blip r:embed="rId4"/>
          <a:stretch>
            <a:fillRect/>
          </a:stretch>
        </p:blipFill>
        <p:spPr>
          <a:xfrm>
            <a:off x="2482959" y="1212159"/>
            <a:ext cx="92663" cy="134782"/>
          </a:xfrm>
          <a:prstGeom prst="rect">
            <a:avLst/>
          </a:prstGeom>
        </p:spPr>
      </p:pic>
      <p:sp>
        <p:nvSpPr>
          <p:cNvPr id="159" name="TextBox 158"/>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0" name="Picture 159" descr="lock.png"/>
          <p:cNvPicPr>
            <a:picLocks noChangeAspect="1"/>
          </p:cNvPicPr>
          <p:nvPr/>
        </p:nvPicPr>
        <p:blipFill>
          <a:blip r:embed="rId4"/>
          <a:stretch>
            <a:fillRect/>
          </a:stretch>
        </p:blipFill>
        <p:spPr>
          <a:xfrm>
            <a:off x="4140309" y="1212159"/>
            <a:ext cx="92663" cy="134782"/>
          </a:xfrm>
          <a:prstGeom prst="rect">
            <a:avLst/>
          </a:prstGeom>
        </p:spPr>
      </p:pic>
      <p:sp>
        <p:nvSpPr>
          <p:cNvPr id="161" name="TextBox 160"/>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2" name="Picture 161" descr="lock.png"/>
          <p:cNvPicPr>
            <a:picLocks noChangeAspect="1"/>
          </p:cNvPicPr>
          <p:nvPr/>
        </p:nvPicPr>
        <p:blipFill>
          <a:blip r:embed="rId4"/>
          <a:stretch>
            <a:fillRect/>
          </a:stretch>
        </p:blipFill>
        <p:spPr>
          <a:xfrm>
            <a:off x="5797659" y="1212159"/>
            <a:ext cx="92663" cy="134782"/>
          </a:xfrm>
          <a:prstGeom prst="rect">
            <a:avLst/>
          </a:prstGeom>
        </p:spPr>
      </p:pic>
      <p:sp>
        <p:nvSpPr>
          <p:cNvPr id="163" name="TextBox 162"/>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4" name="Picture 163" descr="lock.png"/>
          <p:cNvPicPr>
            <a:picLocks noChangeAspect="1"/>
          </p:cNvPicPr>
          <p:nvPr/>
        </p:nvPicPr>
        <p:blipFill>
          <a:blip r:embed="rId4"/>
          <a:stretch>
            <a:fillRect/>
          </a:stretch>
        </p:blipFill>
        <p:spPr>
          <a:xfrm>
            <a:off x="7455009" y="1212159"/>
            <a:ext cx="92663" cy="134782"/>
          </a:xfrm>
          <a:prstGeom prst="rect">
            <a:avLst/>
          </a:prstGeom>
        </p:spPr>
      </p:pic>
      <p:sp>
        <p:nvSpPr>
          <p:cNvPr id="165" name="TextBox 164"/>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66" name="Picture 165"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A</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B</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Styling Serums and Oils</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C</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Europe</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D</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Waxes, Clays, Pastes and Pomades</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E</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F</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Styling Serums and Oils</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G</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 H</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Waxes, Clays, Pastes and Pomades</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863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90500"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09" name="TextBox 108"/>
          <p:cNvSpPr txBox="1"/>
          <p:nvPr/>
        </p:nvSpPr>
        <p:spPr>
          <a:xfrm>
            <a:off x="514350"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10" name="Rectangle 109"/>
          <p:cNvSpPr/>
          <p:nvPr/>
        </p:nvSpPr>
        <p:spPr>
          <a:xfrm>
            <a:off x="923925" y="52863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23925"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12" name="TextBox 111"/>
          <p:cNvSpPr txBox="1"/>
          <p:nvPr/>
        </p:nvSpPr>
        <p:spPr>
          <a:xfrm>
            <a:off x="1247775"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13" name="Rectangle 112"/>
          <p:cNvSpPr/>
          <p:nvPr/>
        </p:nvSpPr>
        <p:spPr>
          <a:xfrm>
            <a:off x="2724150" y="52863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724150"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15" name="TextBox 114"/>
          <p:cNvSpPr txBox="1"/>
          <p:nvPr/>
        </p:nvSpPr>
        <p:spPr>
          <a:xfrm>
            <a:off x="3048000"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16" name="Rectangle 115"/>
          <p:cNvSpPr/>
          <p:nvPr/>
        </p:nvSpPr>
        <p:spPr>
          <a:xfrm>
            <a:off x="3857625" y="52863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857625"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18" name="TextBox 117"/>
          <p:cNvSpPr txBox="1"/>
          <p:nvPr/>
        </p:nvSpPr>
        <p:spPr>
          <a:xfrm>
            <a:off x="4181475"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19" name="Rectangle 118"/>
          <p:cNvSpPr/>
          <p:nvPr/>
        </p:nvSpPr>
        <p:spPr>
          <a:xfrm>
            <a:off x="5457825" y="52863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457825"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21" name="TextBox 120"/>
          <p:cNvSpPr txBox="1"/>
          <p:nvPr/>
        </p:nvSpPr>
        <p:spPr>
          <a:xfrm>
            <a:off x="5781675"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22" name="Rectangle 121"/>
          <p:cNvSpPr/>
          <p:nvPr/>
        </p:nvSpPr>
        <p:spPr>
          <a:xfrm>
            <a:off x="7524750" y="52863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524750" y="52863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24" name="TextBox 123"/>
          <p:cNvSpPr txBox="1"/>
          <p:nvPr/>
        </p:nvSpPr>
        <p:spPr>
          <a:xfrm>
            <a:off x="7848600" y="52673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25" name="TextBox 124"/>
          <p:cNvSpPr txBox="1"/>
          <p:nvPr/>
        </p:nvSpPr>
        <p:spPr>
          <a:xfrm>
            <a:off x="190500" y="55054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26" name="TextBox 1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27" name="Picture 126" descr="lock.png"/>
          <p:cNvPicPr>
            <a:picLocks noChangeAspect="1"/>
          </p:cNvPicPr>
          <p:nvPr/>
        </p:nvPicPr>
        <p:blipFill>
          <a:blip r:embed="rId4"/>
          <a:stretch>
            <a:fillRect/>
          </a:stretch>
        </p:blipFill>
        <p:spPr>
          <a:xfrm>
            <a:off x="4126650" y="1278001"/>
            <a:ext cx="128699" cy="187198"/>
          </a:xfrm>
          <a:prstGeom prst="rect">
            <a:avLst/>
          </a:prstGeom>
        </p:spPr>
      </p:pic>
      <p:pic>
        <p:nvPicPr>
          <p:cNvPr id="128" name="Picture 127" descr="lock.png"/>
          <p:cNvPicPr>
            <a:picLocks noChangeAspect="1"/>
          </p:cNvPicPr>
          <p:nvPr/>
        </p:nvPicPr>
        <p:blipFill>
          <a:blip r:embed="rId4"/>
          <a:stretch>
            <a:fillRect/>
          </a:stretch>
        </p:blipFill>
        <p:spPr>
          <a:xfrm>
            <a:off x="4126650" y="1773301"/>
            <a:ext cx="128699" cy="187198"/>
          </a:xfrm>
          <a:prstGeom prst="rect">
            <a:avLst/>
          </a:prstGeom>
        </p:spPr>
      </p:pic>
      <p:pic>
        <p:nvPicPr>
          <p:cNvPr id="129" name="Picture 128" descr="lock.png"/>
          <p:cNvPicPr>
            <a:picLocks noChangeAspect="1"/>
          </p:cNvPicPr>
          <p:nvPr/>
        </p:nvPicPr>
        <p:blipFill>
          <a:blip r:embed="rId4"/>
          <a:stretch>
            <a:fillRect/>
          </a:stretch>
        </p:blipFill>
        <p:spPr>
          <a:xfrm>
            <a:off x="4126650" y="2268601"/>
            <a:ext cx="128699" cy="187198"/>
          </a:xfrm>
          <a:prstGeom prst="rect">
            <a:avLst/>
          </a:prstGeom>
        </p:spPr>
      </p:pic>
      <p:pic>
        <p:nvPicPr>
          <p:cNvPr id="130" name="Picture 129" descr="lock.png"/>
          <p:cNvPicPr>
            <a:picLocks noChangeAspect="1"/>
          </p:cNvPicPr>
          <p:nvPr/>
        </p:nvPicPr>
        <p:blipFill>
          <a:blip r:embed="rId4"/>
          <a:stretch>
            <a:fillRect/>
          </a:stretch>
        </p:blipFill>
        <p:spPr>
          <a:xfrm>
            <a:off x="4126650" y="2763901"/>
            <a:ext cx="128699" cy="187198"/>
          </a:xfrm>
          <a:prstGeom prst="rect">
            <a:avLst/>
          </a:prstGeom>
        </p:spPr>
      </p:pic>
      <p:pic>
        <p:nvPicPr>
          <p:cNvPr id="131" name="Picture 130" descr="lock.png"/>
          <p:cNvPicPr>
            <a:picLocks noChangeAspect="1"/>
          </p:cNvPicPr>
          <p:nvPr/>
        </p:nvPicPr>
        <p:blipFill>
          <a:blip r:embed="rId4"/>
          <a:stretch>
            <a:fillRect/>
          </a:stretch>
        </p:blipFill>
        <p:spPr>
          <a:xfrm>
            <a:off x="4126650" y="3259201"/>
            <a:ext cx="128699" cy="187198"/>
          </a:xfrm>
          <a:prstGeom prst="rect">
            <a:avLst/>
          </a:prstGeom>
        </p:spPr>
      </p:pic>
      <p:pic>
        <p:nvPicPr>
          <p:cNvPr id="132" name="Picture 131" descr="lock.png"/>
          <p:cNvPicPr>
            <a:picLocks noChangeAspect="1"/>
          </p:cNvPicPr>
          <p:nvPr/>
        </p:nvPicPr>
        <p:blipFill>
          <a:blip r:embed="rId4"/>
          <a:stretch>
            <a:fillRect/>
          </a:stretch>
        </p:blipFill>
        <p:spPr>
          <a:xfrm>
            <a:off x="4126650" y="3754501"/>
            <a:ext cx="128699" cy="187198"/>
          </a:xfrm>
          <a:prstGeom prst="rect">
            <a:avLst/>
          </a:prstGeom>
        </p:spPr>
      </p:pic>
      <p:pic>
        <p:nvPicPr>
          <p:cNvPr id="133" name="Picture 132" descr="lock.png"/>
          <p:cNvPicPr>
            <a:picLocks noChangeAspect="1"/>
          </p:cNvPicPr>
          <p:nvPr/>
        </p:nvPicPr>
        <p:blipFill>
          <a:blip r:embed="rId4"/>
          <a:stretch>
            <a:fillRect/>
          </a:stretch>
        </p:blipFill>
        <p:spPr>
          <a:xfrm>
            <a:off x="4126650" y="4249801"/>
            <a:ext cx="128699" cy="187198"/>
          </a:xfrm>
          <a:prstGeom prst="rect">
            <a:avLst/>
          </a:prstGeom>
        </p:spPr>
      </p:pic>
      <p:pic>
        <p:nvPicPr>
          <p:cNvPr id="134" name="Picture 133" descr="lock.png"/>
          <p:cNvPicPr>
            <a:picLocks noChangeAspect="1"/>
          </p:cNvPicPr>
          <p:nvPr/>
        </p:nvPicPr>
        <p:blipFill>
          <a:blip r:embed="rId4"/>
          <a:stretch>
            <a:fillRect/>
          </a:stretch>
        </p:blipFill>
        <p:spPr>
          <a:xfrm>
            <a:off x="4126650" y="4745101"/>
            <a:ext cx="128699" cy="187198"/>
          </a:xfrm>
          <a:prstGeom prst="rect">
            <a:avLst/>
          </a:prstGeom>
        </p:spPr>
      </p:pic>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A</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B</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C</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D</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E</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F</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G</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 H</a:t>
            </a:r>
          </a:p>
        </p:txBody>
      </p:sp>
      <p:sp>
        <p:nvSpPr>
          <p:cNvPr id="26" name="TextBox 25"/>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27" name="TextBox 26"/>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28" name="TextBox 27"/>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29" name="TextBox 28"/>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0" name="TextBox 29"/>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1" name="TextBox 30"/>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2" name="TextBox 31"/>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3" name="Rectangle 32"/>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5" name="Rectangle 34"/>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8" name="Rectangle 37"/>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0" name="Rectangle 39"/>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47" name="Rectangle 46"/>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9" name="Rectangle 48"/>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1" name="Rectangle 50"/>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4" name="Rectangle 53"/>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6" name="Rectangle 55"/>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9" name="Rectangle 58"/>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1" name="Rectangle 60"/>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68" name="Rectangle 67"/>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0" name="Rectangle 69"/>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2" name="Rectangle 71"/>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5" name="Rectangle 74"/>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7" name="Rectangle 76"/>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0" name="Rectangle 79"/>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2" name="Rectangle 81"/>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89" name="Rectangle 88"/>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1" name="Rectangle 90"/>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3" name="Rectangle 92"/>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6" name="Rectangle 95"/>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8" name="Rectangle 97"/>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1" name="Rectangle 100"/>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3" name="Rectangle 102"/>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0" name="Rectangle 109"/>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2" name="Rectangle 111"/>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4" name="Rectangle 113"/>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7" name="TextBox 116"/>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18" name="TextBox 117"/>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19" name="TextBox 118"/>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20" name="TextBox 119"/>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21" name="TextBox 120"/>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22" name="Rectangle 121"/>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24" name="Rectangle 123"/>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26" name="Rectangle 125"/>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28" name="Rectangle 127"/>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30" name="Rectangle 129"/>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32" name="Rectangle 131"/>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35" name="Rectangle 134"/>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38" name="Rectangle 137"/>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0" name="Rectangle 139"/>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2" name="Rectangle 141"/>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4" name="Rectangle 143"/>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46" name="Rectangle 145"/>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2" name="Rectangle 151"/>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4" name="Rectangle 153"/>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6" name="Rectangle 155"/>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8" name="Rectangle 157"/>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60" name="Rectangle 159"/>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6" name="Rectangle 165"/>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8" name="Rectangle 167"/>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0" name="Rectangle 169"/>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2" name="Rectangle 171"/>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4" name="Rectangle 173"/>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179" name="TextBox 178"/>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180" name="TextBox 179"/>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181" name="TextBox 180"/>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182" name="TextBox 181"/>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183" name="TextBox 182"/>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184" name="TextBox 183"/>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185" name="Rectangle 184"/>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87" name="Rectangle 186"/>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89" name="Rectangle 188"/>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91" name="Rectangle 190"/>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97" name="Rectangle 196"/>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99" name="Rectangle 198"/>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01" name="Rectangle 200"/>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07" name="Rectangle 206"/>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09" name="Rectangle 208"/>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11" name="Rectangle 210"/>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17" name="Rectangle 216"/>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19" name="Rectangle 218"/>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1" name="Rectangle 220"/>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3" name="Rectangle 222"/>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8" name="Rectangle 227"/>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2" name="Rectangle 231"/>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4" name="Rectangle 233"/>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9" name="Rectangle 238"/>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1" name="Rectangle 240"/>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3" name="Rectangle 242"/>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5" name="Rectangle 244"/>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1" name="Rectangle 250"/>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3" name="Rectangle 252"/>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5" name="Rectangle 254"/>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90500" y="36766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38150" y="36385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259" name="Rectangle 258"/>
          <p:cNvSpPr/>
          <p:nvPr/>
        </p:nvSpPr>
        <p:spPr>
          <a:xfrm>
            <a:off x="1238250" y="36766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485900" y="36385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261" name="Rectangle 260"/>
          <p:cNvSpPr/>
          <p:nvPr/>
        </p:nvSpPr>
        <p:spPr>
          <a:xfrm>
            <a:off x="2286000" y="36766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2533650" y="36385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263" name="TextBox 262"/>
          <p:cNvSpPr txBox="1"/>
          <p:nvPr/>
        </p:nvSpPr>
        <p:spPr>
          <a:xfrm>
            <a:off x="3524250" y="36385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264" name="Connector 263"/>
          <p:cNvCxnSpPr/>
          <p:nvPr/>
        </p:nvCxnSpPr>
        <p:spPr>
          <a:xfrm>
            <a:off x="190500" y="3905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90500" y="39624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266" name="Rectangle 265"/>
          <p:cNvSpPr/>
          <p:nvPr/>
        </p:nvSpPr>
        <p:spPr>
          <a:xfrm>
            <a:off x="19050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26670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268" name="TextBox 267"/>
          <p:cNvSpPr txBox="1"/>
          <p:nvPr/>
        </p:nvSpPr>
        <p:spPr>
          <a:xfrm>
            <a:off x="19050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8 expansion moves target new regions and volume tiers: defend key accounts where rivals expand.</a:t>
            </a:r>
          </a:p>
        </p:txBody>
      </p:sp>
      <p:sp>
        <p:nvSpPr>
          <p:cNvPr id="269" name="Rectangle 268"/>
          <p:cNvSpPr/>
          <p:nvPr/>
        </p:nvSpPr>
        <p:spPr>
          <a:xfrm>
            <a:off x="217805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225425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271" name="TextBox 270"/>
          <p:cNvSpPr txBox="1"/>
          <p:nvPr/>
        </p:nvSpPr>
        <p:spPr>
          <a:xfrm>
            <a:off x="217805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272" name="Rectangle 271"/>
          <p:cNvSpPr/>
          <p:nvPr/>
        </p:nvSpPr>
        <p:spPr>
          <a:xfrm>
            <a:off x="416560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24180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274" name="TextBox 273"/>
          <p:cNvSpPr txBox="1"/>
          <p:nvPr/>
        </p:nvSpPr>
        <p:spPr>
          <a:xfrm>
            <a:off x="416560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16 product and R&amp;D moves: benchmark launches and the technology roadmap.</a:t>
            </a:r>
          </a:p>
        </p:txBody>
      </p:sp>
      <p:sp>
        <p:nvSpPr>
          <p:cNvPr id="275" name="Rectangle 274"/>
          <p:cNvSpPr/>
          <p:nvPr/>
        </p:nvSpPr>
        <p:spPr>
          <a:xfrm>
            <a:off x="615315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622935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277" name="TextBox 276"/>
          <p:cNvSpPr txBox="1"/>
          <p:nvPr/>
        </p:nvSpPr>
        <p:spPr>
          <a:xfrm>
            <a:off x="615315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are acquiring; the independent target list is shrinking.</a:t>
            </a:r>
          </a:p>
        </p:txBody>
      </p:sp>
      <p:sp>
        <p:nvSpPr>
          <p:cNvPr id="278" name="Rectangle 277"/>
          <p:cNvSpPr/>
          <p:nvPr/>
        </p:nvSpPr>
        <p:spPr>
          <a:xfrm>
            <a:off x="814070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21690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280" name="TextBox 279"/>
          <p:cNvSpPr txBox="1"/>
          <p:nvPr/>
        </p:nvSpPr>
        <p:spPr>
          <a:xfrm>
            <a:off x="814070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281" name="Rectangle 280"/>
          <p:cNvSpPr/>
          <p:nvPr/>
        </p:nvSpPr>
        <p:spPr>
          <a:xfrm>
            <a:off x="10128250" y="41910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10204450" y="41910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283" name="TextBox 282"/>
          <p:cNvSpPr txBox="1"/>
          <p:nvPr/>
        </p:nvSpPr>
        <p:spPr>
          <a:xfrm>
            <a:off x="10128250" y="44577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lean on certification; audit your own compliance position.</a:t>
            </a:r>
          </a:p>
        </p:txBody>
      </p:sp>
      <p:sp>
        <p:nvSpPr>
          <p:cNvPr id="284" name="TextBox 28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Hair Styling Products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Company A · Company B · Company C · Company D</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Company E · Company F</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Company G · Company H</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818906"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390410"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832124"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Hair Styling Products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supplier power (4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40806"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86212"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31619"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022431"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7838"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713244"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4" name="TextBox 33"/>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5" name="TextBox 34"/>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6" name="TextBox 35"/>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7" name="TextBox 36"/>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38" name="TextBox 37"/>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39" name="TextBox 38"/>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0" name="TextBox 39"/>
          <p:cNvSpPr txBox="1"/>
          <p:nvPr/>
        </p:nvSpPr>
        <p:spPr>
          <a:xfrm>
            <a:off x="1323975"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A</a:t>
            </a:r>
          </a:p>
        </p:txBody>
      </p:sp>
      <p:cxnSp>
        <p:nvCxnSpPr>
          <p:cNvPr id="41" name="Connector 40"/>
          <p:cNvCxnSpPr/>
          <p:nvPr/>
        </p:nvCxnSpPr>
        <p:spPr>
          <a:xfrm>
            <a:off x="1739503"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23975"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3" name="TextBox 42"/>
          <p:cNvSpPr txBox="1"/>
          <p:nvPr/>
        </p:nvSpPr>
        <p:spPr>
          <a:xfrm>
            <a:off x="1314450"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4" name="TextBox 43"/>
          <p:cNvSpPr txBox="1"/>
          <p:nvPr/>
        </p:nvSpPr>
        <p:spPr>
          <a:xfrm>
            <a:off x="1314450"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5" name="Rectangle 44"/>
          <p:cNvSpPr/>
          <p:nvPr/>
        </p:nvSpPr>
        <p:spPr>
          <a:xfrm>
            <a:off x="1739503"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10953"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82403"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3975"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9" name="TextBox 48"/>
          <p:cNvSpPr txBox="1"/>
          <p:nvPr/>
        </p:nvSpPr>
        <p:spPr>
          <a:xfrm>
            <a:off x="1323975"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0" name="Oval 49"/>
          <p:cNvSpPr/>
          <p:nvPr/>
        </p:nvSpPr>
        <p:spPr>
          <a:xfrm>
            <a:off x="1720453"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971675" y="3416749"/>
            <a:ext cx="209550" cy="237298"/>
          </a:xfrm>
          <a:custGeom>
            <a:avLst/>
            <a:gdLst/>
            <a:ahLst/>
            <a:cxnLst/>
            <a:rect l="l" t="t" r="r" b="b"/>
            <a:pathLst>
              <a:path w="22" h="26">
                <a:moveTo>
                  <a:pt x="0" y="26"/>
                </a:moveTo>
                <a:lnTo>
                  <a:pt x="0" y="0"/>
                </a:lnTo>
                <a:lnTo>
                  <a:pt x="3" y="0"/>
                </a:lnTo>
                <a:lnTo>
                  <a:pt x="7" y="1"/>
                </a:lnTo>
                <a:lnTo>
                  <a:pt x="11" y="2"/>
                </a:lnTo>
                <a:lnTo>
                  <a:pt x="14" y="4"/>
                </a:lnTo>
                <a:lnTo>
                  <a:pt x="17" y="7"/>
                </a:lnTo>
                <a:lnTo>
                  <a:pt x="20" y="10"/>
                </a:lnTo>
                <a:lnTo>
                  <a:pt x="22" y="13"/>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82941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720453"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4" name="TextBox 53"/>
          <p:cNvSpPr txBox="1"/>
          <p:nvPr/>
        </p:nvSpPr>
        <p:spPr>
          <a:xfrm>
            <a:off x="1343025"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55" name="Oval 54"/>
          <p:cNvSpPr/>
          <p:nvPr/>
        </p:nvSpPr>
        <p:spPr>
          <a:xfrm>
            <a:off x="1563291"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6329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7" name="Oval 56"/>
          <p:cNvSpPr/>
          <p:nvPr/>
        </p:nvSpPr>
        <p:spPr>
          <a:xfrm>
            <a:off x="1772841"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77284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59" name="Oval 58"/>
          <p:cNvSpPr/>
          <p:nvPr/>
        </p:nvSpPr>
        <p:spPr>
          <a:xfrm>
            <a:off x="1982391"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98239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1" name="Oval 60"/>
          <p:cNvSpPr/>
          <p:nvPr/>
        </p:nvSpPr>
        <p:spPr>
          <a:xfrm>
            <a:off x="2191941"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191941"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3" name="Oval 62"/>
          <p:cNvSpPr/>
          <p:nvPr/>
        </p:nvSpPr>
        <p:spPr>
          <a:xfrm>
            <a:off x="1668066"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68066"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5" name="Oval 64"/>
          <p:cNvSpPr/>
          <p:nvPr/>
        </p:nvSpPr>
        <p:spPr>
          <a:xfrm>
            <a:off x="1877616"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877616"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7" name="Oval 66"/>
          <p:cNvSpPr/>
          <p:nvPr/>
        </p:nvSpPr>
        <p:spPr>
          <a:xfrm>
            <a:off x="2087166"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87166"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69" name="TextBox 68"/>
          <p:cNvSpPr txBox="1"/>
          <p:nvPr/>
        </p:nvSpPr>
        <p:spPr>
          <a:xfrm>
            <a:off x="2669381"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B</a:t>
            </a:r>
          </a:p>
        </p:txBody>
      </p:sp>
      <p:cxnSp>
        <p:nvCxnSpPr>
          <p:cNvPr id="70" name="Connector 69"/>
          <p:cNvCxnSpPr/>
          <p:nvPr/>
        </p:nvCxnSpPr>
        <p:spPr>
          <a:xfrm>
            <a:off x="3084909"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669381"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2" name="TextBox 71"/>
          <p:cNvSpPr txBox="1"/>
          <p:nvPr/>
        </p:nvSpPr>
        <p:spPr>
          <a:xfrm>
            <a:off x="2659856"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3" name="TextBox 72"/>
          <p:cNvSpPr txBox="1"/>
          <p:nvPr/>
        </p:nvSpPr>
        <p:spPr>
          <a:xfrm>
            <a:off x="2659856"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4" name="Rectangle 73"/>
          <p:cNvSpPr/>
          <p:nvPr/>
        </p:nvSpPr>
        <p:spPr>
          <a:xfrm>
            <a:off x="3084909"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256359"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427809"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669381"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8" name="TextBox 77"/>
          <p:cNvSpPr txBox="1"/>
          <p:nvPr/>
        </p:nvSpPr>
        <p:spPr>
          <a:xfrm>
            <a:off x="2669381"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9" name="Oval 78"/>
          <p:cNvSpPr/>
          <p:nvPr/>
        </p:nvSpPr>
        <p:spPr>
          <a:xfrm>
            <a:off x="3065859"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3314700" y="3416749"/>
            <a:ext cx="190500" cy="237298"/>
          </a:xfrm>
          <a:custGeom>
            <a:avLst/>
            <a:gdLst/>
            <a:ahLst/>
            <a:cxnLst/>
            <a:rect l="l" t="t" r="r" b="b"/>
            <a:pathLst>
              <a:path w="20" h="26">
                <a:moveTo>
                  <a:pt x="0" y="26"/>
                </a:moveTo>
                <a:lnTo>
                  <a:pt x="0" y="0"/>
                </a:lnTo>
                <a:lnTo>
                  <a:pt x="4" y="0"/>
                </a:lnTo>
                <a:lnTo>
                  <a:pt x="8" y="1"/>
                </a:lnTo>
                <a:lnTo>
                  <a:pt x="11" y="3"/>
                </a:lnTo>
                <a:lnTo>
                  <a:pt x="15" y="5"/>
                </a:lnTo>
                <a:lnTo>
                  <a:pt x="18" y="7"/>
                </a:lnTo>
                <a:lnTo>
                  <a:pt x="20" y="1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174825"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65859"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3" name="TextBox 82"/>
          <p:cNvSpPr txBox="1"/>
          <p:nvPr/>
        </p:nvSpPr>
        <p:spPr>
          <a:xfrm>
            <a:off x="2688431"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84" name="Oval 83"/>
          <p:cNvSpPr/>
          <p:nvPr/>
        </p:nvSpPr>
        <p:spPr>
          <a:xfrm>
            <a:off x="290869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90869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6" name="Oval 85"/>
          <p:cNvSpPr/>
          <p:nvPr/>
        </p:nvSpPr>
        <p:spPr>
          <a:xfrm>
            <a:off x="311824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11824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88" name="Oval 87"/>
          <p:cNvSpPr/>
          <p:nvPr/>
        </p:nvSpPr>
        <p:spPr>
          <a:xfrm>
            <a:off x="332779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2779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0" name="Oval 89"/>
          <p:cNvSpPr/>
          <p:nvPr/>
        </p:nvSpPr>
        <p:spPr>
          <a:xfrm>
            <a:off x="3537347"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537347"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2" name="Oval 91"/>
          <p:cNvSpPr/>
          <p:nvPr/>
        </p:nvSpPr>
        <p:spPr>
          <a:xfrm>
            <a:off x="3013472"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013472"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4" name="Oval 93"/>
          <p:cNvSpPr/>
          <p:nvPr/>
        </p:nvSpPr>
        <p:spPr>
          <a:xfrm>
            <a:off x="3223022"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223022"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6" name="Oval 95"/>
          <p:cNvSpPr/>
          <p:nvPr/>
        </p:nvSpPr>
        <p:spPr>
          <a:xfrm>
            <a:off x="3432572"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432572"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98" name="TextBox 97"/>
          <p:cNvSpPr txBox="1"/>
          <p:nvPr/>
        </p:nvSpPr>
        <p:spPr>
          <a:xfrm>
            <a:off x="4014788"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C</a:t>
            </a:r>
          </a:p>
        </p:txBody>
      </p:sp>
      <p:cxnSp>
        <p:nvCxnSpPr>
          <p:cNvPr id="99" name="Connector 98"/>
          <p:cNvCxnSpPr/>
          <p:nvPr/>
        </p:nvCxnSpPr>
        <p:spPr>
          <a:xfrm>
            <a:off x="4430316"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4014788"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1" name="TextBox 100"/>
          <p:cNvSpPr txBox="1"/>
          <p:nvPr/>
        </p:nvSpPr>
        <p:spPr>
          <a:xfrm>
            <a:off x="4005262"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2" name="TextBox 101"/>
          <p:cNvSpPr txBox="1"/>
          <p:nvPr/>
        </p:nvSpPr>
        <p:spPr>
          <a:xfrm>
            <a:off x="4005262" y="2047722"/>
            <a:ext cx="1307306"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3" name="Rectangle 102"/>
          <p:cNvSpPr/>
          <p:nvPr/>
        </p:nvSpPr>
        <p:spPr>
          <a:xfrm>
            <a:off x="4430316"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601766"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773216"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14788"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7" name="TextBox 106"/>
          <p:cNvSpPr txBox="1"/>
          <p:nvPr/>
        </p:nvSpPr>
        <p:spPr>
          <a:xfrm>
            <a:off x="4014788"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8" name="Oval 107"/>
          <p:cNvSpPr/>
          <p:nvPr/>
        </p:nvSpPr>
        <p:spPr>
          <a:xfrm>
            <a:off x="4411266"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4657725" y="3416749"/>
            <a:ext cx="142875" cy="237298"/>
          </a:xfrm>
          <a:custGeom>
            <a:avLst/>
            <a:gdLst/>
            <a:ahLst/>
            <a:cxnLst/>
            <a:rect l="l" t="t" r="r" b="b"/>
            <a:pathLst>
              <a:path w="15" h="26">
                <a:moveTo>
                  <a:pt x="0" y="26"/>
                </a:moveTo>
                <a:lnTo>
                  <a:pt x="0" y="0"/>
                </a:lnTo>
                <a:lnTo>
                  <a:pt x="4" y="0"/>
                </a:lnTo>
                <a:lnTo>
                  <a:pt x="8" y="1"/>
                </a:lnTo>
                <a:lnTo>
                  <a:pt x="12" y="3"/>
                </a:lnTo>
                <a:lnTo>
                  <a:pt x="15" y="5"/>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520232"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411266"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2" name="TextBox 111"/>
          <p:cNvSpPr txBox="1"/>
          <p:nvPr/>
        </p:nvSpPr>
        <p:spPr>
          <a:xfrm>
            <a:off x="4033838"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3" name="Oval 112"/>
          <p:cNvSpPr/>
          <p:nvPr/>
        </p:nvSpPr>
        <p:spPr>
          <a:xfrm>
            <a:off x="4254103"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25410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5" name="Oval 114"/>
          <p:cNvSpPr/>
          <p:nvPr/>
        </p:nvSpPr>
        <p:spPr>
          <a:xfrm>
            <a:off x="4463653"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46365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7" name="Oval 116"/>
          <p:cNvSpPr/>
          <p:nvPr/>
        </p:nvSpPr>
        <p:spPr>
          <a:xfrm>
            <a:off x="4673203"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67320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19" name="Oval 118"/>
          <p:cNvSpPr/>
          <p:nvPr/>
        </p:nvSpPr>
        <p:spPr>
          <a:xfrm>
            <a:off x="4882753"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882753"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1" name="Oval 120"/>
          <p:cNvSpPr/>
          <p:nvPr/>
        </p:nvSpPr>
        <p:spPr>
          <a:xfrm>
            <a:off x="4358878"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358878"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3" name="Oval 122"/>
          <p:cNvSpPr/>
          <p:nvPr/>
        </p:nvSpPr>
        <p:spPr>
          <a:xfrm>
            <a:off x="4568428"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568428"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5" name="Oval 124"/>
          <p:cNvSpPr/>
          <p:nvPr/>
        </p:nvSpPr>
        <p:spPr>
          <a:xfrm>
            <a:off x="4777978"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777978"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7" name="TextBox 126"/>
          <p:cNvSpPr txBox="1"/>
          <p:nvPr/>
        </p:nvSpPr>
        <p:spPr>
          <a:xfrm>
            <a:off x="5360194"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D</a:t>
            </a:r>
          </a:p>
        </p:txBody>
      </p:sp>
      <p:cxnSp>
        <p:nvCxnSpPr>
          <p:cNvPr id="128" name="Connector 127"/>
          <p:cNvCxnSpPr/>
          <p:nvPr/>
        </p:nvCxnSpPr>
        <p:spPr>
          <a:xfrm>
            <a:off x="577572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5360194"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0" name="TextBox 129"/>
          <p:cNvSpPr txBox="1"/>
          <p:nvPr/>
        </p:nvSpPr>
        <p:spPr>
          <a:xfrm>
            <a:off x="5350669"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1" name="TextBox 130"/>
          <p:cNvSpPr txBox="1"/>
          <p:nvPr/>
        </p:nvSpPr>
        <p:spPr>
          <a:xfrm>
            <a:off x="5350669"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2" name="Rectangle 131"/>
          <p:cNvSpPr/>
          <p:nvPr/>
        </p:nvSpPr>
        <p:spPr>
          <a:xfrm>
            <a:off x="5775722"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94717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11862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360194"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6" name="TextBox 135"/>
          <p:cNvSpPr txBox="1"/>
          <p:nvPr/>
        </p:nvSpPr>
        <p:spPr>
          <a:xfrm>
            <a:off x="5360194"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7" name="Oval 136"/>
          <p:cNvSpPr/>
          <p:nvPr/>
        </p:nvSpPr>
        <p:spPr>
          <a:xfrm>
            <a:off x="575667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6000750" y="3416749"/>
            <a:ext cx="104775" cy="237298"/>
          </a:xfrm>
          <a:custGeom>
            <a:avLst/>
            <a:gdLst/>
            <a:ahLst/>
            <a:cxnLst/>
            <a:rect l="l" t="t" r="r" b="b"/>
            <a:pathLst>
              <a:path w="11" h="26">
                <a:moveTo>
                  <a:pt x="0" y="26"/>
                </a:moveTo>
                <a:lnTo>
                  <a:pt x="0" y="0"/>
                </a:lnTo>
                <a:lnTo>
                  <a:pt x="4" y="0"/>
                </a:lnTo>
                <a:lnTo>
                  <a:pt x="8"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586563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75667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1" name="TextBox 140"/>
          <p:cNvSpPr txBox="1"/>
          <p:nvPr/>
        </p:nvSpPr>
        <p:spPr>
          <a:xfrm>
            <a:off x="5379244"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2" name="Oval 141"/>
          <p:cNvSpPr/>
          <p:nvPr/>
        </p:nvSpPr>
        <p:spPr>
          <a:xfrm>
            <a:off x="559950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59950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4" name="Oval 143"/>
          <p:cNvSpPr/>
          <p:nvPr/>
        </p:nvSpPr>
        <p:spPr>
          <a:xfrm>
            <a:off x="580905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80905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6" name="Oval 145"/>
          <p:cNvSpPr/>
          <p:nvPr/>
        </p:nvSpPr>
        <p:spPr>
          <a:xfrm>
            <a:off x="601860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1860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48" name="Oval 147"/>
          <p:cNvSpPr/>
          <p:nvPr/>
        </p:nvSpPr>
        <p:spPr>
          <a:xfrm>
            <a:off x="6228159"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28159"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0" name="Oval 149"/>
          <p:cNvSpPr/>
          <p:nvPr/>
        </p:nvSpPr>
        <p:spPr>
          <a:xfrm>
            <a:off x="5704284"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704284"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2" name="Oval 151"/>
          <p:cNvSpPr/>
          <p:nvPr/>
        </p:nvSpPr>
        <p:spPr>
          <a:xfrm>
            <a:off x="5913834"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913834"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4" name="Oval 153"/>
          <p:cNvSpPr/>
          <p:nvPr/>
        </p:nvSpPr>
        <p:spPr>
          <a:xfrm>
            <a:off x="6123384"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123384"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6" name="TextBox 155"/>
          <p:cNvSpPr txBox="1"/>
          <p:nvPr/>
        </p:nvSpPr>
        <p:spPr>
          <a:xfrm>
            <a:off x="6705600"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E</a:t>
            </a:r>
          </a:p>
        </p:txBody>
      </p:sp>
      <p:cxnSp>
        <p:nvCxnSpPr>
          <p:cNvPr id="157" name="Connector 156"/>
          <p:cNvCxnSpPr/>
          <p:nvPr/>
        </p:nvCxnSpPr>
        <p:spPr>
          <a:xfrm>
            <a:off x="712112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705600"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59" name="TextBox 158"/>
          <p:cNvSpPr txBox="1"/>
          <p:nvPr/>
        </p:nvSpPr>
        <p:spPr>
          <a:xfrm>
            <a:off x="6696075"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0" name="TextBox 159"/>
          <p:cNvSpPr txBox="1"/>
          <p:nvPr/>
        </p:nvSpPr>
        <p:spPr>
          <a:xfrm>
            <a:off x="6696075"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1" name="Rectangle 160"/>
          <p:cNvSpPr/>
          <p:nvPr/>
        </p:nvSpPr>
        <p:spPr>
          <a:xfrm>
            <a:off x="712112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729257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746402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705600"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5" name="TextBox 164"/>
          <p:cNvSpPr txBox="1"/>
          <p:nvPr/>
        </p:nvSpPr>
        <p:spPr>
          <a:xfrm>
            <a:off x="6705600"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6" name="Oval 165"/>
          <p:cNvSpPr/>
          <p:nvPr/>
        </p:nvSpPr>
        <p:spPr>
          <a:xfrm>
            <a:off x="710207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7353300" y="3416749"/>
            <a:ext cx="104775" cy="237298"/>
          </a:xfrm>
          <a:custGeom>
            <a:avLst/>
            <a:gdLst/>
            <a:ahLst/>
            <a:cxnLst/>
            <a:rect l="l" t="t" r="r" b="b"/>
            <a:pathLst>
              <a:path w="11" h="26">
                <a:moveTo>
                  <a:pt x="0" y="26"/>
                </a:moveTo>
                <a:lnTo>
                  <a:pt x="0" y="0"/>
                </a:lnTo>
                <a:lnTo>
                  <a:pt x="3"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721104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710207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0" name="TextBox 169"/>
          <p:cNvSpPr txBox="1"/>
          <p:nvPr/>
        </p:nvSpPr>
        <p:spPr>
          <a:xfrm>
            <a:off x="6724650"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1" name="Oval 170"/>
          <p:cNvSpPr/>
          <p:nvPr/>
        </p:nvSpPr>
        <p:spPr>
          <a:xfrm>
            <a:off x="6944916"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94491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3" name="Oval 172"/>
          <p:cNvSpPr/>
          <p:nvPr/>
        </p:nvSpPr>
        <p:spPr>
          <a:xfrm>
            <a:off x="7154466"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15446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5" name="Oval 174"/>
          <p:cNvSpPr/>
          <p:nvPr/>
        </p:nvSpPr>
        <p:spPr>
          <a:xfrm>
            <a:off x="7364016"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36401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7" name="Oval 176"/>
          <p:cNvSpPr/>
          <p:nvPr/>
        </p:nvSpPr>
        <p:spPr>
          <a:xfrm>
            <a:off x="7573566"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573566"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79" name="Oval 178"/>
          <p:cNvSpPr/>
          <p:nvPr/>
        </p:nvSpPr>
        <p:spPr>
          <a:xfrm>
            <a:off x="7049691"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049691"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1" name="Oval 180"/>
          <p:cNvSpPr/>
          <p:nvPr/>
        </p:nvSpPr>
        <p:spPr>
          <a:xfrm>
            <a:off x="7259241"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259241"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3" name="Oval 182"/>
          <p:cNvSpPr/>
          <p:nvPr/>
        </p:nvSpPr>
        <p:spPr>
          <a:xfrm>
            <a:off x="7468791"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7468791"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5" name="TextBox 184"/>
          <p:cNvSpPr txBox="1"/>
          <p:nvPr/>
        </p:nvSpPr>
        <p:spPr>
          <a:xfrm>
            <a:off x="8051006"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F</a:t>
            </a:r>
          </a:p>
        </p:txBody>
      </p:sp>
      <p:cxnSp>
        <p:nvCxnSpPr>
          <p:cNvPr id="186" name="Connector 185"/>
          <p:cNvCxnSpPr/>
          <p:nvPr/>
        </p:nvCxnSpPr>
        <p:spPr>
          <a:xfrm>
            <a:off x="8466534"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8051006"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88" name="TextBox 187"/>
          <p:cNvSpPr txBox="1"/>
          <p:nvPr/>
        </p:nvSpPr>
        <p:spPr>
          <a:xfrm>
            <a:off x="8041481"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9" name="TextBox 188"/>
          <p:cNvSpPr txBox="1"/>
          <p:nvPr/>
        </p:nvSpPr>
        <p:spPr>
          <a:xfrm>
            <a:off x="8041481" y="2047722"/>
            <a:ext cx="1307306"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0" name="Rectangle 189"/>
          <p:cNvSpPr/>
          <p:nvPr/>
        </p:nvSpPr>
        <p:spPr>
          <a:xfrm>
            <a:off x="8466534"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8637984"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8809434"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051006"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4" name="TextBox 193"/>
          <p:cNvSpPr txBox="1"/>
          <p:nvPr/>
        </p:nvSpPr>
        <p:spPr>
          <a:xfrm>
            <a:off x="8051006"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5" name="Oval 194"/>
          <p:cNvSpPr/>
          <p:nvPr/>
        </p:nvSpPr>
        <p:spPr>
          <a:xfrm>
            <a:off x="8447484"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Freeform 195"/>
          <p:cNvSpPr/>
          <p:nvPr/>
        </p:nvSpPr>
        <p:spPr>
          <a:xfrm>
            <a:off x="8696325"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8556450"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8447484"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99" name="TextBox 198"/>
          <p:cNvSpPr txBox="1"/>
          <p:nvPr/>
        </p:nvSpPr>
        <p:spPr>
          <a:xfrm>
            <a:off x="8070056"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00" name="Oval 199"/>
          <p:cNvSpPr/>
          <p:nvPr/>
        </p:nvSpPr>
        <p:spPr>
          <a:xfrm>
            <a:off x="829032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829032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2" name="Oval 201"/>
          <p:cNvSpPr/>
          <p:nvPr/>
        </p:nvSpPr>
        <p:spPr>
          <a:xfrm>
            <a:off x="849987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849987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4" name="Oval 203"/>
          <p:cNvSpPr/>
          <p:nvPr/>
        </p:nvSpPr>
        <p:spPr>
          <a:xfrm>
            <a:off x="870942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70942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6" name="Oval 205"/>
          <p:cNvSpPr/>
          <p:nvPr/>
        </p:nvSpPr>
        <p:spPr>
          <a:xfrm>
            <a:off x="8918972"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8918972"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08" name="Oval 207"/>
          <p:cNvSpPr/>
          <p:nvPr/>
        </p:nvSpPr>
        <p:spPr>
          <a:xfrm>
            <a:off x="8395097"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8395097"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0" name="Oval 209"/>
          <p:cNvSpPr/>
          <p:nvPr/>
        </p:nvSpPr>
        <p:spPr>
          <a:xfrm>
            <a:off x="8604647"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8604647"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2" name="Oval 211"/>
          <p:cNvSpPr/>
          <p:nvPr/>
        </p:nvSpPr>
        <p:spPr>
          <a:xfrm>
            <a:off x="8814197"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8814197"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4" name="TextBox 213"/>
          <p:cNvSpPr txBox="1"/>
          <p:nvPr/>
        </p:nvSpPr>
        <p:spPr>
          <a:xfrm>
            <a:off x="9396412"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G</a:t>
            </a:r>
          </a:p>
        </p:txBody>
      </p:sp>
      <p:cxnSp>
        <p:nvCxnSpPr>
          <p:cNvPr id="215" name="Connector 214"/>
          <p:cNvCxnSpPr/>
          <p:nvPr/>
        </p:nvCxnSpPr>
        <p:spPr>
          <a:xfrm>
            <a:off x="9811941"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9396412"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7" name="TextBox 216"/>
          <p:cNvSpPr txBox="1"/>
          <p:nvPr/>
        </p:nvSpPr>
        <p:spPr>
          <a:xfrm>
            <a:off x="9386888"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8" name="TextBox 217"/>
          <p:cNvSpPr txBox="1"/>
          <p:nvPr/>
        </p:nvSpPr>
        <p:spPr>
          <a:xfrm>
            <a:off x="9386888"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19" name="Rectangle 218"/>
          <p:cNvSpPr/>
          <p:nvPr/>
        </p:nvSpPr>
        <p:spPr>
          <a:xfrm>
            <a:off x="9811941"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9983391"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0154841"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396412"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3" name="TextBox 222"/>
          <p:cNvSpPr txBox="1"/>
          <p:nvPr/>
        </p:nvSpPr>
        <p:spPr>
          <a:xfrm>
            <a:off x="9396412"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4" name="Oval 223"/>
          <p:cNvSpPr/>
          <p:nvPr/>
        </p:nvSpPr>
        <p:spPr>
          <a:xfrm>
            <a:off x="9792891"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Freeform 224"/>
          <p:cNvSpPr/>
          <p:nvPr/>
        </p:nvSpPr>
        <p:spPr>
          <a:xfrm>
            <a:off x="10039350" y="3416749"/>
            <a:ext cx="85725" cy="237298"/>
          </a:xfrm>
          <a:custGeom>
            <a:avLst/>
            <a:gdLst/>
            <a:ahLst/>
            <a:cxnLst/>
            <a:rect l="l" t="t" r="r" b="b"/>
            <a:pathLst>
              <a:path w="9" h="26">
                <a:moveTo>
                  <a:pt x="0" y="26"/>
                </a:moveTo>
                <a:lnTo>
                  <a:pt x="0" y="0"/>
                </a:lnTo>
                <a:lnTo>
                  <a:pt x="5" y="0"/>
                </a:lnTo>
                <a:lnTo>
                  <a:pt x="9"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9901857"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792891"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28" name="TextBox 227"/>
          <p:cNvSpPr txBox="1"/>
          <p:nvPr/>
        </p:nvSpPr>
        <p:spPr>
          <a:xfrm>
            <a:off x="9415462"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29" name="Oval 228"/>
          <p:cNvSpPr/>
          <p:nvPr/>
        </p:nvSpPr>
        <p:spPr>
          <a:xfrm>
            <a:off x="9635728"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963572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1" name="Oval 230"/>
          <p:cNvSpPr/>
          <p:nvPr/>
        </p:nvSpPr>
        <p:spPr>
          <a:xfrm>
            <a:off x="9845278"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84527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3" name="Oval 232"/>
          <p:cNvSpPr/>
          <p:nvPr/>
        </p:nvSpPr>
        <p:spPr>
          <a:xfrm>
            <a:off x="10054828"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1005482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5" name="Oval 234"/>
          <p:cNvSpPr/>
          <p:nvPr/>
        </p:nvSpPr>
        <p:spPr>
          <a:xfrm>
            <a:off x="10264378"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264378"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7" name="Oval 236"/>
          <p:cNvSpPr/>
          <p:nvPr/>
        </p:nvSpPr>
        <p:spPr>
          <a:xfrm>
            <a:off x="9740503"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9740503"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39" name="Oval 238"/>
          <p:cNvSpPr/>
          <p:nvPr/>
        </p:nvSpPr>
        <p:spPr>
          <a:xfrm>
            <a:off x="9950053"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9950053"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1" name="Oval 240"/>
          <p:cNvSpPr/>
          <p:nvPr/>
        </p:nvSpPr>
        <p:spPr>
          <a:xfrm>
            <a:off x="10159603"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10159603"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3" name="TextBox 242"/>
          <p:cNvSpPr txBox="1"/>
          <p:nvPr/>
        </p:nvSpPr>
        <p:spPr>
          <a:xfrm>
            <a:off x="10741819" y="1189798"/>
            <a:ext cx="1288256"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 H</a:t>
            </a:r>
          </a:p>
        </p:txBody>
      </p:sp>
      <p:cxnSp>
        <p:nvCxnSpPr>
          <p:cNvPr id="244" name="Connector 243"/>
          <p:cNvCxnSpPr/>
          <p:nvPr/>
        </p:nvCxnSpPr>
        <p:spPr>
          <a:xfrm>
            <a:off x="11157347"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10741819" y="1536618"/>
            <a:ext cx="1288256"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6" name="TextBox 245"/>
          <p:cNvSpPr txBox="1"/>
          <p:nvPr/>
        </p:nvSpPr>
        <p:spPr>
          <a:xfrm>
            <a:off x="10732294" y="1828677"/>
            <a:ext cx="1307306"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7" name="TextBox 246"/>
          <p:cNvSpPr txBox="1"/>
          <p:nvPr/>
        </p:nvSpPr>
        <p:spPr>
          <a:xfrm>
            <a:off x="10732294" y="2047722"/>
            <a:ext cx="1307306"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48" name="Rectangle 247"/>
          <p:cNvSpPr/>
          <p:nvPr/>
        </p:nvSpPr>
        <p:spPr>
          <a:xfrm>
            <a:off x="11157347"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1328797"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1500247"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0741819" y="2631840"/>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2" name="TextBox 251"/>
          <p:cNvSpPr txBox="1"/>
          <p:nvPr/>
        </p:nvSpPr>
        <p:spPr>
          <a:xfrm>
            <a:off x="10741819" y="2960407"/>
            <a:ext cx="1288256"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3" name="Oval 252"/>
          <p:cNvSpPr/>
          <p:nvPr/>
        </p:nvSpPr>
        <p:spPr>
          <a:xfrm>
            <a:off x="11138297"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Freeform 253"/>
          <p:cNvSpPr/>
          <p:nvPr/>
        </p:nvSpPr>
        <p:spPr>
          <a:xfrm>
            <a:off x="11382375" y="3416749"/>
            <a:ext cx="57150" cy="237298"/>
          </a:xfrm>
          <a:custGeom>
            <a:avLst/>
            <a:gdLst/>
            <a:ahLst/>
            <a:cxnLst/>
            <a:rect l="l" t="t" r="r" b="b"/>
            <a:pathLst>
              <a:path w="6" h="26">
                <a:moveTo>
                  <a:pt x="0" y="26"/>
                </a:moveTo>
                <a:lnTo>
                  <a:pt x="0" y="0"/>
                </a:lnTo>
                <a:lnTo>
                  <a:pt x="3" y="0"/>
                </a:lnTo>
                <a:lnTo>
                  <a:pt x="6"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11247263"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138297"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7" name="TextBox 256"/>
          <p:cNvSpPr txBox="1"/>
          <p:nvPr/>
        </p:nvSpPr>
        <p:spPr>
          <a:xfrm>
            <a:off x="10760869" y="4092136"/>
            <a:ext cx="1259681"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58" name="Oval 257"/>
          <p:cNvSpPr/>
          <p:nvPr/>
        </p:nvSpPr>
        <p:spPr>
          <a:xfrm>
            <a:off x="1098113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098113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0" name="Oval 259"/>
          <p:cNvSpPr/>
          <p:nvPr/>
        </p:nvSpPr>
        <p:spPr>
          <a:xfrm>
            <a:off x="1119068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119068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2" name="Oval 261"/>
          <p:cNvSpPr/>
          <p:nvPr/>
        </p:nvSpPr>
        <p:spPr>
          <a:xfrm>
            <a:off x="1140023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140023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4" name="Oval 263"/>
          <p:cNvSpPr/>
          <p:nvPr/>
        </p:nvSpPr>
        <p:spPr>
          <a:xfrm>
            <a:off x="11609784"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609784"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6" name="Oval 265"/>
          <p:cNvSpPr/>
          <p:nvPr/>
        </p:nvSpPr>
        <p:spPr>
          <a:xfrm>
            <a:off x="11085909"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1085909"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68" name="Oval 267"/>
          <p:cNvSpPr/>
          <p:nvPr/>
        </p:nvSpPr>
        <p:spPr>
          <a:xfrm>
            <a:off x="11295459"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1295459"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0" name="Oval 269"/>
          <p:cNvSpPr/>
          <p:nvPr/>
        </p:nvSpPr>
        <p:spPr>
          <a:xfrm>
            <a:off x="11505009"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1505009"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2" name="TextBox 27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273" name="Rectangle 27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535906" y="5716715"/>
            <a:ext cx="1404938" cy="164283"/>
          </a:xfrm>
          <a:prstGeom prst="rect">
            <a:avLst/>
          </a:prstGeom>
          <a:noFill/>
        </p:spPr>
        <p:txBody>
          <a:bodyPr wrap="square" lIns="0" rIns="0" tIns="0" bIns="0" anchor="ctr">
            <a:spAutoFit/>
          </a:bodyPr>
          <a:lstStyle/>
          <a:p>
            <a:pPr algn="l"/>
            <a:r>
              <a:rPr sz="1100" b="0">
                <a:solidFill>
                  <a:srgbClr val="2E2E2E"/>
                </a:solidFill>
                <a:latin typeface="Calibri"/>
              </a:rPr>
              <a:t>Styling Serums and Oils</a:t>
            </a:r>
          </a:p>
        </p:txBody>
      </p:sp>
      <p:sp>
        <p:nvSpPr>
          <p:cNvPr id="275" name="Rectangle 274"/>
          <p:cNvSpPr/>
          <p:nvPr/>
        </p:nvSpPr>
        <p:spPr>
          <a:xfrm>
            <a:off x="2997994"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3150394" y="5716715"/>
            <a:ext cx="2040731" cy="164283"/>
          </a:xfrm>
          <a:prstGeom prst="rect">
            <a:avLst/>
          </a:prstGeom>
          <a:noFill/>
        </p:spPr>
        <p:txBody>
          <a:bodyPr wrap="square" lIns="0" rIns="0" tIns="0" bIns="0" anchor="ctr">
            <a:spAutoFit/>
          </a:bodyPr>
          <a:lstStyle/>
          <a:p>
            <a:pPr algn="l"/>
            <a:r>
              <a:rPr sz="1100" b="0">
                <a:solidFill>
                  <a:srgbClr val="2E2E2E"/>
                </a:solidFill>
                <a:latin typeface="Calibri"/>
              </a:rPr>
              <a:t>Waxes, Clays, Pastes and Pomades</a:t>
            </a:r>
          </a:p>
        </p:txBody>
      </p:sp>
      <p:sp>
        <p:nvSpPr>
          <p:cNvPr id="277" name="Rectangle 276"/>
          <p:cNvSpPr/>
          <p:nvPr/>
        </p:nvSpPr>
        <p:spPr>
          <a:xfrm>
            <a:off x="5248275"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5400675" y="5716715"/>
            <a:ext cx="1019175" cy="164283"/>
          </a:xfrm>
          <a:prstGeom prst="rect">
            <a:avLst/>
          </a:prstGeom>
          <a:noFill/>
        </p:spPr>
        <p:txBody>
          <a:bodyPr wrap="square" lIns="0" rIns="0" tIns="0" bIns="0" anchor="ctr">
            <a:spAutoFit/>
          </a:bodyPr>
          <a:lstStyle/>
          <a:p>
            <a:pPr algn="l"/>
            <a:r>
              <a:rPr sz="1100" b="0">
                <a:solidFill>
                  <a:srgbClr val="2E2E2E"/>
                </a:solidFill>
                <a:latin typeface="Calibri"/>
              </a:rPr>
              <a:t>Sticks and Balms</a:t>
            </a:r>
          </a:p>
        </p:txBody>
      </p:sp>
      <p:sp>
        <p:nvSpPr>
          <p:cNvPr id="279" name="Rectangle 278"/>
          <p:cNvSpPr/>
          <p:nvPr/>
        </p:nvSpPr>
        <p:spPr>
          <a:xfrm>
            <a:off x="6477000"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6629400"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281" name="TextBox 280"/>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282" name="TextBox 281"/>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283" name="TextBox 282"/>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284" name="TextBox 283"/>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285" name="TextBox 284"/>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286" name="TextBox 285"/>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287" name="TextBox 286"/>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288" name="TextBox 287"/>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289" name="TextBox 288"/>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290" name="TextBox 289"/>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291" name="TextBox 290"/>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292" name="Oval 291"/>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4" name="TextBox 293"/>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295" name="Oval 294"/>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7" name="TextBox 296"/>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298" name="Oval 297"/>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00" name="TextBox 299"/>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01" name="Oval 300"/>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03" name="TextBox 302"/>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04" name="Oval 303"/>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06" name="TextBox 305"/>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07" name="Oval 306"/>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9" name="TextBox 308"/>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10" name="Oval 309"/>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12" name="TextBox 311"/>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13" name="TextBox 312"/>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14" name="TextBox 313"/>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15" name="TextBox 3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6" name="Picture 315" descr="lock.png"/>
          <p:cNvPicPr>
            <a:picLocks noChangeAspect="1"/>
          </p:cNvPicPr>
          <p:nvPr/>
        </p:nvPicPr>
        <p:blipFill>
          <a:blip r:embed="rId4"/>
          <a:stretch>
            <a:fillRect/>
          </a:stretch>
        </p:blipFill>
        <p:spPr>
          <a:xfrm>
            <a:off x="1903753" y="2702524"/>
            <a:ext cx="128699" cy="187198"/>
          </a:xfrm>
          <a:prstGeom prst="rect">
            <a:avLst/>
          </a:prstGeom>
        </p:spPr>
      </p:pic>
      <p:pic>
        <p:nvPicPr>
          <p:cNvPr id="317" name="Picture 316" descr="lock.png"/>
          <p:cNvPicPr>
            <a:picLocks noChangeAspect="1"/>
          </p:cNvPicPr>
          <p:nvPr/>
        </p:nvPicPr>
        <p:blipFill>
          <a:blip r:embed="rId4"/>
          <a:stretch>
            <a:fillRect/>
          </a:stretch>
        </p:blipFill>
        <p:spPr>
          <a:xfrm>
            <a:off x="1903753" y="3031091"/>
            <a:ext cx="128699" cy="187198"/>
          </a:xfrm>
          <a:prstGeom prst="rect">
            <a:avLst/>
          </a:prstGeom>
        </p:spPr>
      </p:pic>
      <p:pic>
        <p:nvPicPr>
          <p:cNvPr id="318" name="Picture 317" descr="lock.png"/>
          <p:cNvPicPr>
            <a:picLocks noChangeAspect="1"/>
          </p:cNvPicPr>
          <p:nvPr/>
        </p:nvPicPr>
        <p:blipFill>
          <a:blip r:embed="rId4"/>
          <a:stretch>
            <a:fillRect/>
          </a:stretch>
        </p:blipFill>
        <p:spPr>
          <a:xfrm>
            <a:off x="1903753" y="3560448"/>
            <a:ext cx="128699" cy="187198"/>
          </a:xfrm>
          <a:prstGeom prst="rect">
            <a:avLst/>
          </a:prstGeom>
        </p:spPr>
      </p:pic>
      <p:pic>
        <p:nvPicPr>
          <p:cNvPr id="319" name="Picture 318" descr="lock.png"/>
          <p:cNvPicPr>
            <a:picLocks noChangeAspect="1"/>
          </p:cNvPicPr>
          <p:nvPr/>
        </p:nvPicPr>
        <p:blipFill>
          <a:blip r:embed="rId4"/>
          <a:stretch>
            <a:fillRect/>
          </a:stretch>
        </p:blipFill>
        <p:spPr>
          <a:xfrm>
            <a:off x="3249159" y="2702524"/>
            <a:ext cx="128699" cy="187198"/>
          </a:xfrm>
          <a:prstGeom prst="rect">
            <a:avLst/>
          </a:prstGeom>
        </p:spPr>
      </p:pic>
      <p:pic>
        <p:nvPicPr>
          <p:cNvPr id="320" name="Picture 319" descr="lock.png"/>
          <p:cNvPicPr>
            <a:picLocks noChangeAspect="1"/>
          </p:cNvPicPr>
          <p:nvPr/>
        </p:nvPicPr>
        <p:blipFill>
          <a:blip r:embed="rId4"/>
          <a:stretch>
            <a:fillRect/>
          </a:stretch>
        </p:blipFill>
        <p:spPr>
          <a:xfrm>
            <a:off x="3249159" y="3031091"/>
            <a:ext cx="128699" cy="187198"/>
          </a:xfrm>
          <a:prstGeom prst="rect">
            <a:avLst/>
          </a:prstGeom>
        </p:spPr>
      </p:pic>
      <p:pic>
        <p:nvPicPr>
          <p:cNvPr id="321" name="Picture 320" descr="lock.png"/>
          <p:cNvPicPr>
            <a:picLocks noChangeAspect="1"/>
          </p:cNvPicPr>
          <p:nvPr/>
        </p:nvPicPr>
        <p:blipFill>
          <a:blip r:embed="rId4"/>
          <a:stretch>
            <a:fillRect/>
          </a:stretch>
        </p:blipFill>
        <p:spPr>
          <a:xfrm>
            <a:off x="3249159" y="3560448"/>
            <a:ext cx="128699" cy="187198"/>
          </a:xfrm>
          <a:prstGeom prst="rect">
            <a:avLst/>
          </a:prstGeom>
        </p:spPr>
      </p:pic>
      <p:pic>
        <p:nvPicPr>
          <p:cNvPr id="322" name="Picture 321" descr="lock.png"/>
          <p:cNvPicPr>
            <a:picLocks noChangeAspect="1"/>
          </p:cNvPicPr>
          <p:nvPr/>
        </p:nvPicPr>
        <p:blipFill>
          <a:blip r:embed="rId4"/>
          <a:stretch>
            <a:fillRect/>
          </a:stretch>
        </p:blipFill>
        <p:spPr>
          <a:xfrm>
            <a:off x="4594566" y="2702524"/>
            <a:ext cx="128699" cy="187198"/>
          </a:xfrm>
          <a:prstGeom prst="rect">
            <a:avLst/>
          </a:prstGeom>
        </p:spPr>
      </p:pic>
      <p:pic>
        <p:nvPicPr>
          <p:cNvPr id="323" name="Picture 322" descr="lock.png"/>
          <p:cNvPicPr>
            <a:picLocks noChangeAspect="1"/>
          </p:cNvPicPr>
          <p:nvPr/>
        </p:nvPicPr>
        <p:blipFill>
          <a:blip r:embed="rId4"/>
          <a:stretch>
            <a:fillRect/>
          </a:stretch>
        </p:blipFill>
        <p:spPr>
          <a:xfrm>
            <a:off x="4594566" y="3031091"/>
            <a:ext cx="128699" cy="187198"/>
          </a:xfrm>
          <a:prstGeom prst="rect">
            <a:avLst/>
          </a:prstGeom>
        </p:spPr>
      </p:pic>
      <p:pic>
        <p:nvPicPr>
          <p:cNvPr id="324" name="Picture 323" descr="lock.png"/>
          <p:cNvPicPr>
            <a:picLocks noChangeAspect="1"/>
          </p:cNvPicPr>
          <p:nvPr/>
        </p:nvPicPr>
        <p:blipFill>
          <a:blip r:embed="rId4"/>
          <a:stretch>
            <a:fillRect/>
          </a:stretch>
        </p:blipFill>
        <p:spPr>
          <a:xfrm>
            <a:off x="4594566" y="3560448"/>
            <a:ext cx="128699" cy="187198"/>
          </a:xfrm>
          <a:prstGeom prst="rect">
            <a:avLst/>
          </a:prstGeom>
        </p:spPr>
      </p:pic>
      <p:pic>
        <p:nvPicPr>
          <p:cNvPr id="325" name="Picture 324" descr="lock.png"/>
          <p:cNvPicPr>
            <a:picLocks noChangeAspect="1"/>
          </p:cNvPicPr>
          <p:nvPr/>
        </p:nvPicPr>
        <p:blipFill>
          <a:blip r:embed="rId4"/>
          <a:stretch>
            <a:fillRect/>
          </a:stretch>
        </p:blipFill>
        <p:spPr>
          <a:xfrm>
            <a:off x="5939972" y="2702524"/>
            <a:ext cx="128699" cy="187198"/>
          </a:xfrm>
          <a:prstGeom prst="rect">
            <a:avLst/>
          </a:prstGeom>
        </p:spPr>
      </p:pic>
      <p:pic>
        <p:nvPicPr>
          <p:cNvPr id="326" name="Picture 325" descr="lock.png"/>
          <p:cNvPicPr>
            <a:picLocks noChangeAspect="1"/>
          </p:cNvPicPr>
          <p:nvPr/>
        </p:nvPicPr>
        <p:blipFill>
          <a:blip r:embed="rId4"/>
          <a:stretch>
            <a:fillRect/>
          </a:stretch>
        </p:blipFill>
        <p:spPr>
          <a:xfrm>
            <a:off x="5939972" y="3031091"/>
            <a:ext cx="128699" cy="187198"/>
          </a:xfrm>
          <a:prstGeom prst="rect">
            <a:avLst/>
          </a:prstGeom>
        </p:spPr>
      </p:pic>
      <p:pic>
        <p:nvPicPr>
          <p:cNvPr id="327" name="Picture 326" descr="lock.png"/>
          <p:cNvPicPr>
            <a:picLocks noChangeAspect="1"/>
          </p:cNvPicPr>
          <p:nvPr/>
        </p:nvPicPr>
        <p:blipFill>
          <a:blip r:embed="rId4"/>
          <a:stretch>
            <a:fillRect/>
          </a:stretch>
        </p:blipFill>
        <p:spPr>
          <a:xfrm>
            <a:off x="5939972" y="3560448"/>
            <a:ext cx="128699" cy="187198"/>
          </a:xfrm>
          <a:prstGeom prst="rect">
            <a:avLst/>
          </a:prstGeom>
        </p:spPr>
      </p:pic>
      <p:pic>
        <p:nvPicPr>
          <p:cNvPr id="328" name="Picture 327" descr="lock.png"/>
          <p:cNvPicPr>
            <a:picLocks noChangeAspect="1"/>
          </p:cNvPicPr>
          <p:nvPr/>
        </p:nvPicPr>
        <p:blipFill>
          <a:blip r:embed="rId4"/>
          <a:stretch>
            <a:fillRect/>
          </a:stretch>
        </p:blipFill>
        <p:spPr>
          <a:xfrm>
            <a:off x="7285378" y="2702524"/>
            <a:ext cx="128699" cy="187198"/>
          </a:xfrm>
          <a:prstGeom prst="rect">
            <a:avLst/>
          </a:prstGeom>
        </p:spPr>
      </p:pic>
      <p:pic>
        <p:nvPicPr>
          <p:cNvPr id="329" name="Picture 328" descr="lock.png"/>
          <p:cNvPicPr>
            <a:picLocks noChangeAspect="1"/>
          </p:cNvPicPr>
          <p:nvPr/>
        </p:nvPicPr>
        <p:blipFill>
          <a:blip r:embed="rId4"/>
          <a:stretch>
            <a:fillRect/>
          </a:stretch>
        </p:blipFill>
        <p:spPr>
          <a:xfrm>
            <a:off x="7285378" y="3031091"/>
            <a:ext cx="128699" cy="187198"/>
          </a:xfrm>
          <a:prstGeom prst="rect">
            <a:avLst/>
          </a:prstGeom>
        </p:spPr>
      </p:pic>
      <p:pic>
        <p:nvPicPr>
          <p:cNvPr id="330" name="Picture 329" descr="lock.png"/>
          <p:cNvPicPr>
            <a:picLocks noChangeAspect="1"/>
          </p:cNvPicPr>
          <p:nvPr/>
        </p:nvPicPr>
        <p:blipFill>
          <a:blip r:embed="rId4"/>
          <a:stretch>
            <a:fillRect/>
          </a:stretch>
        </p:blipFill>
        <p:spPr>
          <a:xfrm>
            <a:off x="7285378" y="3560448"/>
            <a:ext cx="128699" cy="187198"/>
          </a:xfrm>
          <a:prstGeom prst="rect">
            <a:avLst/>
          </a:prstGeom>
        </p:spPr>
      </p:pic>
      <p:pic>
        <p:nvPicPr>
          <p:cNvPr id="331" name="Picture 330" descr="lock.png"/>
          <p:cNvPicPr>
            <a:picLocks noChangeAspect="1"/>
          </p:cNvPicPr>
          <p:nvPr/>
        </p:nvPicPr>
        <p:blipFill>
          <a:blip r:embed="rId4"/>
          <a:stretch>
            <a:fillRect/>
          </a:stretch>
        </p:blipFill>
        <p:spPr>
          <a:xfrm>
            <a:off x="8630784" y="2702524"/>
            <a:ext cx="128699" cy="187198"/>
          </a:xfrm>
          <a:prstGeom prst="rect">
            <a:avLst/>
          </a:prstGeom>
        </p:spPr>
      </p:pic>
      <p:pic>
        <p:nvPicPr>
          <p:cNvPr id="332" name="Picture 331" descr="lock.png"/>
          <p:cNvPicPr>
            <a:picLocks noChangeAspect="1"/>
          </p:cNvPicPr>
          <p:nvPr/>
        </p:nvPicPr>
        <p:blipFill>
          <a:blip r:embed="rId4"/>
          <a:stretch>
            <a:fillRect/>
          </a:stretch>
        </p:blipFill>
        <p:spPr>
          <a:xfrm>
            <a:off x="8630784" y="3031091"/>
            <a:ext cx="128699" cy="187198"/>
          </a:xfrm>
          <a:prstGeom prst="rect">
            <a:avLst/>
          </a:prstGeom>
        </p:spPr>
      </p:pic>
      <p:pic>
        <p:nvPicPr>
          <p:cNvPr id="333" name="Picture 332" descr="lock.png"/>
          <p:cNvPicPr>
            <a:picLocks noChangeAspect="1"/>
          </p:cNvPicPr>
          <p:nvPr/>
        </p:nvPicPr>
        <p:blipFill>
          <a:blip r:embed="rId4"/>
          <a:stretch>
            <a:fillRect/>
          </a:stretch>
        </p:blipFill>
        <p:spPr>
          <a:xfrm>
            <a:off x="8630784" y="3560448"/>
            <a:ext cx="128699" cy="187198"/>
          </a:xfrm>
          <a:prstGeom prst="rect">
            <a:avLst/>
          </a:prstGeom>
        </p:spPr>
      </p:pic>
      <p:pic>
        <p:nvPicPr>
          <p:cNvPr id="334" name="Picture 333" descr="lock.png"/>
          <p:cNvPicPr>
            <a:picLocks noChangeAspect="1"/>
          </p:cNvPicPr>
          <p:nvPr/>
        </p:nvPicPr>
        <p:blipFill>
          <a:blip r:embed="rId4"/>
          <a:stretch>
            <a:fillRect/>
          </a:stretch>
        </p:blipFill>
        <p:spPr>
          <a:xfrm>
            <a:off x="9976190" y="2702524"/>
            <a:ext cx="128699" cy="187198"/>
          </a:xfrm>
          <a:prstGeom prst="rect">
            <a:avLst/>
          </a:prstGeom>
        </p:spPr>
      </p:pic>
      <p:pic>
        <p:nvPicPr>
          <p:cNvPr id="335" name="Picture 334" descr="lock.png"/>
          <p:cNvPicPr>
            <a:picLocks noChangeAspect="1"/>
          </p:cNvPicPr>
          <p:nvPr/>
        </p:nvPicPr>
        <p:blipFill>
          <a:blip r:embed="rId4"/>
          <a:stretch>
            <a:fillRect/>
          </a:stretch>
        </p:blipFill>
        <p:spPr>
          <a:xfrm>
            <a:off x="9976190" y="3031091"/>
            <a:ext cx="128699" cy="187198"/>
          </a:xfrm>
          <a:prstGeom prst="rect">
            <a:avLst/>
          </a:prstGeom>
        </p:spPr>
      </p:pic>
      <p:pic>
        <p:nvPicPr>
          <p:cNvPr id="336" name="Picture 335" descr="lock.png"/>
          <p:cNvPicPr>
            <a:picLocks noChangeAspect="1"/>
          </p:cNvPicPr>
          <p:nvPr/>
        </p:nvPicPr>
        <p:blipFill>
          <a:blip r:embed="rId4"/>
          <a:stretch>
            <a:fillRect/>
          </a:stretch>
        </p:blipFill>
        <p:spPr>
          <a:xfrm>
            <a:off x="9976191" y="3560448"/>
            <a:ext cx="128699" cy="187198"/>
          </a:xfrm>
          <a:prstGeom prst="rect">
            <a:avLst/>
          </a:prstGeom>
        </p:spPr>
      </p:pic>
      <p:pic>
        <p:nvPicPr>
          <p:cNvPr id="337" name="Picture 336" descr="lock.png"/>
          <p:cNvPicPr>
            <a:picLocks noChangeAspect="1"/>
          </p:cNvPicPr>
          <p:nvPr/>
        </p:nvPicPr>
        <p:blipFill>
          <a:blip r:embed="rId4"/>
          <a:stretch>
            <a:fillRect/>
          </a:stretch>
        </p:blipFill>
        <p:spPr>
          <a:xfrm>
            <a:off x="11321597" y="2702524"/>
            <a:ext cx="128699" cy="187198"/>
          </a:xfrm>
          <a:prstGeom prst="rect">
            <a:avLst/>
          </a:prstGeom>
        </p:spPr>
      </p:pic>
      <p:pic>
        <p:nvPicPr>
          <p:cNvPr id="338" name="Picture 337" descr="lock.png"/>
          <p:cNvPicPr>
            <a:picLocks noChangeAspect="1"/>
          </p:cNvPicPr>
          <p:nvPr/>
        </p:nvPicPr>
        <p:blipFill>
          <a:blip r:embed="rId4"/>
          <a:stretch>
            <a:fillRect/>
          </a:stretch>
        </p:blipFill>
        <p:spPr>
          <a:xfrm>
            <a:off x="11321597" y="3031091"/>
            <a:ext cx="128699" cy="187198"/>
          </a:xfrm>
          <a:prstGeom prst="rect">
            <a:avLst/>
          </a:prstGeom>
        </p:spPr>
      </p:pic>
      <p:pic>
        <p:nvPicPr>
          <p:cNvPr id="339" name="Picture 338" descr="lock.png"/>
          <p:cNvPicPr>
            <a:picLocks noChangeAspect="1"/>
          </p:cNvPicPr>
          <p:nvPr/>
        </p:nvPicPr>
        <p:blipFill>
          <a:blip r:embed="rId4"/>
          <a:stretch>
            <a:fillRect/>
          </a:stretch>
        </p:blipFill>
        <p:spPr>
          <a:xfrm>
            <a:off x="11321597" y="3560448"/>
            <a:ext cx="128699" cy="187198"/>
          </a:xfrm>
          <a:prstGeom prst="rect">
            <a:avLst/>
          </a:prstGeom>
        </p:spPr>
      </p:pic>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Hair Styling Products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572125"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'Styling Serums and Oils') to lift blended</a:t>
            </a:r>
          </a:p>
        </p:txBody>
      </p:sp>
      <p:sp>
        <p:nvSpPr>
          <p:cNvPr id="33" name="TextBox 32"/>
          <p:cNvSpPr txBox="1"/>
          <p:nvPr/>
        </p:nvSpPr>
        <p:spPr>
          <a:xfrm>
            <a:off x="276225" y="2351539"/>
            <a:ext cx="2706241" cy="194310"/>
          </a:xfrm>
          <a:prstGeom prst="rect">
            <a:avLst/>
          </a:prstGeom>
          <a:noFill/>
        </p:spPr>
        <p:txBody>
          <a:bodyPr wrap="none" lIns="0" rIns="0" tIns="0" bIns="0">
            <a:spAutoFit/>
          </a:bodyPr>
          <a:lstStyle/>
          <a:p>
            <a:r>
              <a:rPr sz="1150" b="0">
                <a:solidFill>
                  <a:srgbClr val="2E2E2E"/>
                </a:solidFill>
                <a:latin typeface="Calibri"/>
              </a:rPr>
              <a:t>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2926457" cy="194310"/>
          </a:xfrm>
          <a:prstGeom prst="rect">
            <a:avLst/>
          </a:prstGeom>
          <a:noFill/>
        </p:spPr>
        <p:txBody>
          <a:bodyPr wrap="none" lIns="0" rIns="0" tIns="0" bIns="0">
            <a:spAutoFit/>
          </a:bodyPr>
          <a:lstStyle/>
          <a:p>
            <a:r>
              <a:rPr sz="1150" b="0">
                <a:solidFill>
                  <a:srgbClr val="2E2E2E"/>
                </a:solidFill>
                <a:latin typeface="Calibri"/>
              </a:rPr>
              <a:t>▪ Benchmark relentlessly against 'Company A' (~</a:t>
            </a:r>
          </a:p>
        </p:txBody>
      </p:sp>
      <p:pic>
        <p:nvPicPr>
          <p:cNvPr id="43" name="Picture 42" descr="lock.png"/>
          <p:cNvPicPr>
            <a:picLocks noChangeAspect="1"/>
          </p:cNvPicPr>
          <p:nvPr/>
        </p:nvPicPr>
        <p:blipFill>
          <a:blip r:embed="rId4"/>
          <a:stretch>
            <a:fillRect/>
          </a:stretch>
        </p:blipFill>
        <p:spPr>
          <a:xfrm>
            <a:off x="9200210" y="4455378"/>
            <a:ext cx="134549" cy="195707"/>
          </a:xfrm>
          <a:prstGeom prst="rect">
            <a:avLst/>
          </a:prstGeom>
        </p:spPr>
      </p:pic>
      <p:sp>
        <p:nvSpPr>
          <p:cNvPr id="44" name="TextBox 43"/>
          <p:cNvSpPr txBox="1"/>
          <p:nvPr/>
        </p:nvSpPr>
        <p:spPr>
          <a:xfrm>
            <a:off x="9375320"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5" name="TextBox 44"/>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8982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0620375"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0B2E4A"/>
                </a:solidFill>
                <a:latin typeface="Calibri"/>
              </a:rPr>
              <a:t>Global</a:t>
            </a:r>
          </a:p>
        </p:txBody>
      </p:sp>
      <p:sp>
        <p:nvSpPr>
          <p:cNvPr id="11" name="Rounded Rectangle 10"/>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2" name="Rounded Rectangle 11"/>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4" name="Chart 13"/>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5" name="TextBox 14"/>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6" name="Rounded Rectangle 15"/>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8" name="Rectangle 17"/>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1" name="Picture 20" descr="lock.png"/>
          <p:cNvPicPr>
            <a:picLocks noChangeAspect="1"/>
          </p:cNvPicPr>
          <p:nvPr/>
        </p:nvPicPr>
        <p:blipFill>
          <a:blip r:embed="rId5"/>
          <a:stretch>
            <a:fillRect/>
          </a:stretch>
        </p:blipFill>
        <p:spPr>
          <a:xfrm>
            <a:off x="2533173" y="3678610"/>
            <a:ext cx="523875" cy="762000"/>
          </a:xfrm>
          <a:prstGeom prst="rect">
            <a:avLst/>
          </a:prstGeom>
        </p:spPr>
      </p:pic>
      <p:sp>
        <p:nvSpPr>
          <p:cNvPr id="22" name="TextBox 21"/>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3" name="Picture 22" descr="lock.png"/>
          <p:cNvPicPr>
            <a:picLocks noChangeAspect="1"/>
          </p:cNvPicPr>
          <p:nvPr/>
        </p:nvPicPr>
        <p:blipFill>
          <a:blip r:embed="rId5"/>
          <a:stretch>
            <a:fillRect/>
          </a:stretch>
        </p:blipFill>
        <p:spPr>
          <a:xfrm>
            <a:off x="2540344" y="4091735"/>
            <a:ext cx="109510" cy="159288"/>
          </a:xfrm>
          <a:prstGeom prst="rect">
            <a:avLst/>
          </a:prstGeom>
        </p:spPr>
      </p:pic>
      <p:sp>
        <p:nvSpPr>
          <p:cNvPr id="24" name="TextBox 23"/>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5" name="TextBox 24"/>
          <p:cNvSpPr txBox="1"/>
          <p:nvPr/>
        </p:nvSpPr>
        <p:spPr>
          <a:xfrm>
            <a:off x="7934325" y="1773181"/>
            <a:ext cx="3687229" cy="194310"/>
          </a:xfrm>
          <a:prstGeom prst="rect">
            <a:avLst/>
          </a:prstGeom>
          <a:noFill/>
        </p:spPr>
        <p:txBody>
          <a:bodyPr wrap="none" lIns="0" rIns="0" tIns="0" bIns="0">
            <a:spAutoFit/>
          </a:bodyPr>
          <a:lstStyle/>
          <a:p>
            <a:r>
              <a:rPr sz="1150" b="0">
                <a:solidFill>
                  <a:srgbClr val="2E2E2E"/>
                </a:solidFill>
                <a:latin typeface="Calibri"/>
              </a:rPr>
              <a:t>Company A accounted for the largest share of the global hair</a:t>
            </a:r>
          </a:p>
        </p:txBody>
      </p:sp>
      <p:sp>
        <p:nvSpPr>
          <p:cNvPr id="26" name="TextBox 25"/>
          <p:cNvSpPr txBox="1"/>
          <p:nvPr/>
        </p:nvSpPr>
        <p:spPr>
          <a:xfrm>
            <a:off x="7934325" y="1948441"/>
            <a:ext cx="3878349" cy="194310"/>
          </a:xfrm>
          <a:prstGeom prst="rect">
            <a:avLst/>
          </a:prstGeom>
          <a:noFill/>
        </p:spPr>
        <p:txBody>
          <a:bodyPr wrap="none" lIns="0" rIns="0" tIns="0" bIns="0">
            <a:spAutoFit/>
          </a:bodyPr>
          <a:lstStyle/>
          <a:p>
            <a:r>
              <a:rPr sz="1150" b="0">
                <a:solidFill>
                  <a:srgbClr val="2E2E2E"/>
                </a:solidFill>
                <a:latin typeface="Calibri"/>
              </a:rPr>
              <a:t>styling products market in 2026. The global hair styling products</a:t>
            </a:r>
          </a:p>
        </p:txBody>
      </p:sp>
      <p:sp>
        <p:nvSpPr>
          <p:cNvPr id="27" name="TextBox 26"/>
          <p:cNvSpPr txBox="1"/>
          <p:nvPr/>
        </p:nvSpPr>
        <p:spPr>
          <a:xfrm>
            <a:off x="7934325" y="2123701"/>
            <a:ext cx="3756831" cy="194310"/>
          </a:xfrm>
          <a:prstGeom prst="rect">
            <a:avLst/>
          </a:prstGeom>
          <a:noFill/>
        </p:spPr>
        <p:txBody>
          <a:bodyPr wrap="none" lIns="0" rIns="0" tIns="0" bIns="0">
            <a:spAutoFit/>
          </a:bodyPr>
          <a:lstStyle/>
          <a:p>
            <a:r>
              <a:rPr sz="1150" b="0">
                <a:solidFill>
                  <a:srgbClr val="2E2E2E"/>
                </a:solidFill>
                <a:latin typeface="Calibri"/>
              </a:rPr>
              <a:t>market is moderately consolidated, with the top three players</a:t>
            </a:r>
          </a:p>
        </p:txBody>
      </p:sp>
      <p:sp>
        <p:nvSpPr>
          <p:cNvPr id="28" name="TextBox 27"/>
          <p:cNvSpPr txBox="1"/>
          <p:nvPr/>
        </p:nvSpPr>
        <p:spPr>
          <a:xfrm>
            <a:off x="7934325" y="2298961"/>
            <a:ext cx="1744650" cy="194310"/>
          </a:xfrm>
          <a:prstGeom prst="rect">
            <a:avLst/>
          </a:prstGeom>
          <a:noFill/>
        </p:spPr>
        <p:txBody>
          <a:bodyPr wrap="none" lIns="0" rIns="0" tIns="0" bIns="0">
            <a:spAutoFit/>
          </a:bodyPr>
          <a:lstStyle/>
          <a:p>
            <a:r>
              <a:rPr sz="1150" b="0">
                <a:solidFill>
                  <a:srgbClr val="2E2E2E"/>
                </a:solidFill>
                <a:latin typeface="Calibri"/>
              </a:rPr>
              <a:t>accounting for an estimated</a:t>
            </a:r>
          </a:p>
        </p:txBody>
      </p:sp>
      <p:pic>
        <p:nvPicPr>
          <p:cNvPr id="29" name="Picture 28" descr="lock.png"/>
          <p:cNvPicPr>
            <a:picLocks noChangeAspect="1"/>
          </p:cNvPicPr>
          <p:nvPr/>
        </p:nvPicPr>
        <p:blipFill>
          <a:blip r:embed="rId5"/>
          <a:stretch>
            <a:fillRect/>
          </a:stretch>
        </p:blipFill>
        <p:spPr>
          <a:xfrm>
            <a:off x="9628129" y="2288737"/>
            <a:ext cx="134549" cy="195707"/>
          </a:xfrm>
          <a:prstGeom prst="rect">
            <a:avLst/>
          </a:prstGeom>
        </p:spPr>
      </p:pic>
      <p:sp>
        <p:nvSpPr>
          <p:cNvPr id="30" name="TextBox 29"/>
          <p:cNvSpPr txBox="1"/>
          <p:nvPr/>
        </p:nvSpPr>
        <p:spPr>
          <a:xfrm>
            <a:off x="9803238"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31" name="TextBox 30"/>
          <p:cNvSpPr txBox="1"/>
          <p:nvPr/>
        </p:nvSpPr>
        <p:spPr>
          <a:xfrm>
            <a:off x="7934325" y="2526799"/>
            <a:ext cx="2426692" cy="194310"/>
          </a:xfrm>
          <a:prstGeom prst="rect">
            <a:avLst/>
          </a:prstGeom>
          <a:noFill/>
        </p:spPr>
        <p:txBody>
          <a:bodyPr wrap="none" lIns="0" rIns="0" tIns="0" bIns="0">
            <a:spAutoFit/>
          </a:bodyPr>
          <a:lstStyle/>
          <a:p>
            <a:r>
              <a:rPr sz="1150" b="0">
                <a:solidFill>
                  <a:srgbClr val="2E2E2E"/>
                </a:solidFill>
                <a:latin typeface="Calibri"/>
              </a:rPr>
              <a:t>Company A accounted for an estimated</a:t>
            </a:r>
          </a:p>
        </p:txBody>
      </p:sp>
      <p:pic>
        <p:nvPicPr>
          <p:cNvPr id="32" name="Picture 31" descr="lock.png"/>
          <p:cNvPicPr>
            <a:picLocks noChangeAspect="1"/>
          </p:cNvPicPr>
          <p:nvPr/>
        </p:nvPicPr>
        <p:blipFill>
          <a:blip r:embed="rId5"/>
          <a:stretch>
            <a:fillRect/>
          </a:stretch>
        </p:blipFill>
        <p:spPr>
          <a:xfrm>
            <a:off x="10310171" y="2516575"/>
            <a:ext cx="134549" cy="195707"/>
          </a:xfrm>
          <a:prstGeom prst="rect">
            <a:avLst/>
          </a:prstGeom>
        </p:spPr>
      </p:pic>
      <p:sp>
        <p:nvSpPr>
          <p:cNvPr id="33" name="TextBox 32"/>
          <p:cNvSpPr txBox="1"/>
          <p:nvPr/>
        </p:nvSpPr>
        <p:spPr>
          <a:xfrm>
            <a:off x="10485280" y="2526799"/>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34" name="TextBox 33"/>
          <p:cNvSpPr txBox="1"/>
          <p:nvPr/>
        </p:nvSpPr>
        <p:spPr>
          <a:xfrm>
            <a:off x="7934325" y="2702058"/>
            <a:ext cx="1775742" cy="194310"/>
          </a:xfrm>
          <a:prstGeom prst="rect">
            <a:avLst/>
          </a:prstGeom>
          <a:noFill/>
        </p:spPr>
        <p:txBody>
          <a:bodyPr wrap="none" lIns="0" rIns="0" tIns="0" bIns="0">
            <a:spAutoFit/>
          </a:bodyPr>
          <a:lstStyle/>
          <a:p>
            <a:r>
              <a:rPr sz="1150" b="0">
                <a:solidFill>
                  <a:srgbClr val="2E2E2E"/>
                </a:solidFill>
                <a:latin typeface="Calibri"/>
              </a:rPr>
              <a:t>followed by Company B with</a:t>
            </a:r>
          </a:p>
        </p:txBody>
      </p:sp>
      <p:pic>
        <p:nvPicPr>
          <p:cNvPr id="35" name="Picture 34" descr="lock.png"/>
          <p:cNvPicPr>
            <a:picLocks noChangeAspect="1"/>
          </p:cNvPicPr>
          <p:nvPr/>
        </p:nvPicPr>
        <p:blipFill>
          <a:blip r:embed="rId5"/>
          <a:stretch>
            <a:fillRect/>
          </a:stretch>
        </p:blipFill>
        <p:spPr>
          <a:xfrm>
            <a:off x="9659221" y="2691835"/>
            <a:ext cx="134549" cy="195707"/>
          </a:xfrm>
          <a:prstGeom prst="rect">
            <a:avLst/>
          </a:prstGeom>
        </p:spPr>
      </p:pic>
      <p:sp>
        <p:nvSpPr>
          <p:cNvPr id="36" name="TextBox 35"/>
          <p:cNvSpPr txBox="1"/>
          <p:nvPr/>
        </p:nvSpPr>
        <p:spPr>
          <a:xfrm>
            <a:off x="9834330" y="2702058"/>
            <a:ext cx="1764292" cy="194310"/>
          </a:xfrm>
          <a:prstGeom prst="rect">
            <a:avLst/>
          </a:prstGeom>
          <a:noFill/>
        </p:spPr>
        <p:txBody>
          <a:bodyPr wrap="none" lIns="0" rIns="0" tIns="0" bIns="0">
            <a:spAutoFit/>
          </a:bodyPr>
          <a:lstStyle/>
          <a:p>
            <a:r>
              <a:rPr sz="1150" b="0">
                <a:solidFill>
                  <a:srgbClr val="2E2E2E"/>
                </a:solidFill>
                <a:latin typeface="Calibri"/>
              </a:rPr>
              <a:t>. Key players are focusing on</a:t>
            </a:r>
          </a:p>
        </p:txBody>
      </p:sp>
      <p:sp>
        <p:nvSpPr>
          <p:cNvPr id="37" name="TextBox 36"/>
          <p:cNvSpPr txBox="1"/>
          <p:nvPr/>
        </p:nvSpPr>
        <p:spPr>
          <a:xfrm>
            <a:off x="7934325" y="2877318"/>
            <a:ext cx="3381437" cy="194310"/>
          </a:xfrm>
          <a:prstGeom prst="rect">
            <a:avLst/>
          </a:prstGeom>
          <a:noFill/>
        </p:spPr>
        <p:txBody>
          <a:bodyPr wrap="none" lIns="0" rIns="0" tIns="0" bIns="0">
            <a:spAutoFit/>
          </a:bodyPr>
          <a:lstStyle/>
          <a:p>
            <a:r>
              <a:rPr sz="1150" b="0">
                <a:solidFill>
                  <a:srgbClr val="2E2E2E"/>
                </a:solidFill>
                <a:latin typeface="Calibri"/>
              </a:rPr>
              <a:t>product innovation, geographic expansion and strategic</a:t>
            </a:r>
          </a:p>
        </p:txBody>
      </p:sp>
      <p:sp>
        <p:nvSpPr>
          <p:cNvPr id="38" name="TextBox 37"/>
          <p:cNvSpPr txBox="1"/>
          <p:nvPr/>
        </p:nvSpPr>
        <p:spPr>
          <a:xfrm>
            <a:off x="7934325" y="3052578"/>
            <a:ext cx="2993776" cy="194310"/>
          </a:xfrm>
          <a:prstGeom prst="rect">
            <a:avLst/>
          </a:prstGeom>
          <a:noFill/>
        </p:spPr>
        <p:txBody>
          <a:bodyPr wrap="none" lIns="0" rIns="0" tIns="0" bIns="0">
            <a:spAutoFit/>
          </a:bodyPr>
          <a:lstStyle/>
          <a:p>
            <a:r>
              <a:rPr sz="1150" b="0">
                <a:solidFill>
                  <a:srgbClr val="2E2E2E"/>
                </a:solidFill>
                <a:latin typeface="Calibri"/>
              </a:rPr>
              <a:t>partnerships to strengthen their market position.</a:t>
            </a:r>
          </a:p>
        </p:txBody>
      </p:sp>
      <p:sp>
        <p:nvSpPr>
          <p:cNvPr id="39" name="TextBox 38"/>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40" name="TextBox 39"/>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1" name="lockshield_14"/>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Company Share by Product Type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product format,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Styling Serums and Oils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Waxes, Clays, Pastes and Pomades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Sticks and Balms</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957264" cy="194310"/>
          </a:xfrm>
          <a:prstGeom prst="rect">
            <a:avLst/>
          </a:prstGeom>
          <a:noFill/>
        </p:spPr>
        <p:txBody>
          <a:bodyPr wrap="none" lIns="0" rIns="0" tIns="0" bIns="0">
            <a:spAutoFit/>
          </a:bodyPr>
          <a:lstStyle/>
          <a:p>
            <a:r>
              <a:rPr sz="1150" b="0">
                <a:solidFill>
                  <a:srgbClr val="2E2E2E"/>
                </a:solidFill>
                <a:latin typeface="Calibri"/>
              </a:rPr>
              <a:t>▪ Styling Serums and Oils: 'Company A' leads at ~</a:t>
            </a:r>
          </a:p>
        </p:txBody>
      </p:sp>
      <p:pic>
        <p:nvPicPr>
          <p:cNvPr id="29" name="Picture 28" descr="lock.png"/>
          <p:cNvPicPr>
            <a:picLocks noChangeAspect="1"/>
          </p:cNvPicPr>
          <p:nvPr/>
        </p:nvPicPr>
        <p:blipFill>
          <a:blip r:embed="rId7"/>
          <a:stretch>
            <a:fillRect/>
          </a:stretch>
        </p:blipFill>
        <p:spPr>
          <a:xfrm>
            <a:off x="3182643" y="5012116"/>
            <a:ext cx="134549" cy="195707"/>
          </a:xfrm>
          <a:prstGeom prst="rect">
            <a:avLst/>
          </a:prstGeom>
        </p:spPr>
      </p:pic>
      <p:sp>
        <p:nvSpPr>
          <p:cNvPr id="30" name="TextBox 29"/>
          <p:cNvSpPr txBox="1"/>
          <p:nvPr/>
        </p:nvSpPr>
        <p:spPr>
          <a:xfrm>
            <a:off x="3357752" y="5022340"/>
            <a:ext cx="1598029" cy="194310"/>
          </a:xfrm>
          <a:prstGeom prst="rect">
            <a:avLst/>
          </a:prstGeom>
          <a:noFill/>
        </p:spPr>
        <p:txBody>
          <a:bodyPr wrap="none" lIns="0" rIns="0" tIns="0" bIns="0">
            <a:spAutoFit/>
          </a:bodyPr>
          <a:lstStyle/>
          <a:p>
            <a:r>
              <a:rPr sz="1150" b="0">
                <a:solidFill>
                  <a:srgbClr val="2E2E2E"/>
                </a:solidFill>
                <a:latin typeface="Calibri"/>
              </a:rPr>
              <a:t>, ahead of 'Company D' (~</a:t>
            </a:r>
          </a:p>
        </p:txBody>
      </p:sp>
      <p:pic>
        <p:nvPicPr>
          <p:cNvPr id="31" name="Picture 30" descr="lock.png"/>
          <p:cNvPicPr>
            <a:picLocks noChangeAspect="1"/>
          </p:cNvPicPr>
          <p:nvPr/>
        </p:nvPicPr>
        <p:blipFill>
          <a:blip r:embed="rId7"/>
          <a:stretch>
            <a:fillRect/>
          </a:stretch>
        </p:blipFill>
        <p:spPr>
          <a:xfrm>
            <a:off x="4904936" y="5012116"/>
            <a:ext cx="134549" cy="195707"/>
          </a:xfrm>
          <a:prstGeom prst="rect">
            <a:avLst/>
          </a:prstGeom>
        </p:spPr>
      </p:pic>
      <p:sp>
        <p:nvSpPr>
          <p:cNvPr id="32" name="TextBox 31"/>
          <p:cNvSpPr txBox="1"/>
          <p:nvPr/>
        </p:nvSpPr>
        <p:spPr>
          <a:xfrm>
            <a:off x="5080045"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6414714" y="5012116"/>
            <a:ext cx="134549" cy="195707"/>
          </a:xfrm>
          <a:prstGeom prst="rect">
            <a:avLst/>
          </a:prstGeom>
        </p:spPr>
      </p:pic>
      <p:sp>
        <p:nvSpPr>
          <p:cNvPr id="34" name="TextBox 33"/>
          <p:cNvSpPr txBox="1"/>
          <p:nvPr/>
        </p:nvSpPr>
        <p:spPr>
          <a:xfrm>
            <a:off x="6589824"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8145279" y="5012116"/>
            <a:ext cx="134549" cy="195707"/>
          </a:xfrm>
          <a:prstGeom prst="rect">
            <a:avLst/>
          </a:prstGeom>
        </p:spPr>
      </p:pic>
      <p:sp>
        <p:nvSpPr>
          <p:cNvPr id="36" name="TextBox 35"/>
          <p:cNvSpPr txBox="1"/>
          <p:nvPr/>
        </p:nvSpPr>
        <p:spPr>
          <a:xfrm>
            <a:off x="8320389"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3624188" cy="194310"/>
          </a:xfrm>
          <a:prstGeom prst="rect">
            <a:avLst/>
          </a:prstGeom>
          <a:noFill/>
        </p:spPr>
        <p:txBody>
          <a:bodyPr wrap="none" lIns="0" rIns="0" tIns="0" bIns="0">
            <a:spAutoFit/>
          </a:bodyPr>
          <a:lstStyle/>
          <a:p>
            <a:r>
              <a:rPr sz="1150" b="0">
                <a:solidFill>
                  <a:srgbClr val="2E2E2E"/>
                </a:solidFill>
                <a:latin typeface="Calibri"/>
              </a:rPr>
              <a:t>▪ Waxes, Clays, Pastes and Pomades: 'Company C' leads at ~</a:t>
            </a:r>
          </a:p>
        </p:txBody>
      </p:sp>
      <p:pic>
        <p:nvPicPr>
          <p:cNvPr id="38" name="Picture 37" descr="lock.png"/>
          <p:cNvPicPr>
            <a:picLocks noChangeAspect="1"/>
          </p:cNvPicPr>
          <p:nvPr/>
        </p:nvPicPr>
        <p:blipFill>
          <a:blip r:embed="rId7"/>
          <a:stretch>
            <a:fillRect/>
          </a:stretch>
        </p:blipFill>
        <p:spPr>
          <a:xfrm>
            <a:off x="3849567" y="5239954"/>
            <a:ext cx="134549" cy="195707"/>
          </a:xfrm>
          <a:prstGeom prst="rect">
            <a:avLst/>
          </a:prstGeom>
        </p:spPr>
      </p:pic>
      <p:sp>
        <p:nvSpPr>
          <p:cNvPr id="39" name="TextBox 38"/>
          <p:cNvSpPr txBox="1"/>
          <p:nvPr/>
        </p:nvSpPr>
        <p:spPr>
          <a:xfrm>
            <a:off x="4024676" y="5250177"/>
            <a:ext cx="1587760" cy="194310"/>
          </a:xfrm>
          <a:prstGeom prst="rect">
            <a:avLst/>
          </a:prstGeom>
          <a:noFill/>
        </p:spPr>
        <p:txBody>
          <a:bodyPr wrap="none" lIns="0" rIns="0" tIns="0" bIns="0">
            <a:spAutoFit/>
          </a:bodyPr>
          <a:lstStyle/>
          <a:p>
            <a:r>
              <a:rPr sz="1150" b="0">
                <a:solidFill>
                  <a:srgbClr val="2E2E2E"/>
                </a:solidFill>
                <a:latin typeface="Calibri"/>
              </a:rPr>
              <a:t>, ahead of 'Company B' (~</a:t>
            </a:r>
          </a:p>
        </p:txBody>
      </p:sp>
      <p:pic>
        <p:nvPicPr>
          <p:cNvPr id="40" name="Picture 39" descr="lock.png"/>
          <p:cNvPicPr>
            <a:picLocks noChangeAspect="1"/>
          </p:cNvPicPr>
          <p:nvPr/>
        </p:nvPicPr>
        <p:blipFill>
          <a:blip r:embed="rId7"/>
          <a:stretch>
            <a:fillRect/>
          </a:stretch>
        </p:blipFill>
        <p:spPr>
          <a:xfrm>
            <a:off x="5561590" y="5239954"/>
            <a:ext cx="134549" cy="195707"/>
          </a:xfrm>
          <a:prstGeom prst="rect">
            <a:avLst/>
          </a:prstGeom>
        </p:spPr>
      </p:pic>
      <p:sp>
        <p:nvSpPr>
          <p:cNvPr id="41" name="TextBox 40"/>
          <p:cNvSpPr txBox="1"/>
          <p:nvPr/>
        </p:nvSpPr>
        <p:spPr>
          <a:xfrm>
            <a:off x="5736699"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7071369" y="5239954"/>
            <a:ext cx="134549" cy="195707"/>
          </a:xfrm>
          <a:prstGeom prst="rect">
            <a:avLst/>
          </a:prstGeom>
        </p:spPr>
      </p:pic>
      <p:sp>
        <p:nvSpPr>
          <p:cNvPr id="43" name="TextBox 42"/>
          <p:cNvSpPr txBox="1"/>
          <p:nvPr/>
        </p:nvSpPr>
        <p:spPr>
          <a:xfrm>
            <a:off x="7246478"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8801934" y="5239954"/>
            <a:ext cx="134549" cy="195707"/>
          </a:xfrm>
          <a:prstGeom prst="rect">
            <a:avLst/>
          </a:prstGeom>
        </p:spPr>
      </p:pic>
      <p:sp>
        <p:nvSpPr>
          <p:cNvPr id="45" name="TextBox 44"/>
          <p:cNvSpPr txBox="1"/>
          <p:nvPr/>
        </p:nvSpPr>
        <p:spPr>
          <a:xfrm>
            <a:off x="8977043"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2558764" cy="194310"/>
          </a:xfrm>
          <a:prstGeom prst="rect">
            <a:avLst/>
          </a:prstGeom>
          <a:noFill/>
        </p:spPr>
        <p:txBody>
          <a:bodyPr wrap="none" lIns="0" rIns="0" tIns="0" bIns="0">
            <a:spAutoFit/>
          </a:bodyPr>
          <a:lstStyle/>
          <a:p>
            <a:r>
              <a:rPr sz="1150" b="0">
                <a:solidFill>
                  <a:srgbClr val="2E2E2E"/>
                </a:solidFill>
                <a:latin typeface="Calibri"/>
              </a:rPr>
              <a:t>▪ Sticks and Balms: 'Company A' leads at ~</a:t>
            </a:r>
          </a:p>
        </p:txBody>
      </p:sp>
      <p:pic>
        <p:nvPicPr>
          <p:cNvPr id="47" name="Picture 46" descr="lock.png"/>
          <p:cNvPicPr>
            <a:picLocks noChangeAspect="1"/>
          </p:cNvPicPr>
          <p:nvPr/>
        </p:nvPicPr>
        <p:blipFill>
          <a:blip r:embed="rId7"/>
          <a:stretch>
            <a:fillRect/>
          </a:stretch>
        </p:blipFill>
        <p:spPr>
          <a:xfrm>
            <a:off x="2784143" y="5467792"/>
            <a:ext cx="134549" cy="195707"/>
          </a:xfrm>
          <a:prstGeom prst="rect">
            <a:avLst/>
          </a:prstGeom>
        </p:spPr>
      </p:pic>
      <p:sp>
        <p:nvSpPr>
          <p:cNvPr id="48" name="TextBox 47"/>
          <p:cNvSpPr txBox="1"/>
          <p:nvPr/>
        </p:nvSpPr>
        <p:spPr>
          <a:xfrm>
            <a:off x="2959252" y="5478015"/>
            <a:ext cx="1587760" cy="194310"/>
          </a:xfrm>
          <a:prstGeom prst="rect">
            <a:avLst/>
          </a:prstGeom>
          <a:noFill/>
        </p:spPr>
        <p:txBody>
          <a:bodyPr wrap="none" lIns="0" rIns="0" tIns="0" bIns="0">
            <a:spAutoFit/>
          </a:bodyPr>
          <a:lstStyle/>
          <a:p>
            <a:r>
              <a:rPr sz="1150" b="0">
                <a:solidFill>
                  <a:srgbClr val="2E2E2E"/>
                </a:solidFill>
                <a:latin typeface="Calibri"/>
              </a:rPr>
              <a:t>, ahead of 'Company B' (~</a:t>
            </a:r>
          </a:p>
        </p:txBody>
      </p:sp>
      <p:pic>
        <p:nvPicPr>
          <p:cNvPr id="49" name="Picture 48" descr="lock.png"/>
          <p:cNvPicPr>
            <a:picLocks noChangeAspect="1"/>
          </p:cNvPicPr>
          <p:nvPr/>
        </p:nvPicPr>
        <p:blipFill>
          <a:blip r:embed="rId7"/>
          <a:stretch>
            <a:fillRect/>
          </a:stretch>
        </p:blipFill>
        <p:spPr>
          <a:xfrm>
            <a:off x="4496167" y="5467792"/>
            <a:ext cx="134549" cy="195707"/>
          </a:xfrm>
          <a:prstGeom prst="rect">
            <a:avLst/>
          </a:prstGeom>
        </p:spPr>
      </p:pic>
      <p:sp>
        <p:nvSpPr>
          <p:cNvPr id="50" name="TextBox 49"/>
          <p:cNvSpPr txBox="1"/>
          <p:nvPr/>
        </p:nvSpPr>
        <p:spPr>
          <a:xfrm>
            <a:off x="4671276"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005945" y="5467792"/>
            <a:ext cx="134549" cy="195707"/>
          </a:xfrm>
          <a:prstGeom prst="rect">
            <a:avLst/>
          </a:prstGeom>
        </p:spPr>
      </p:pic>
      <p:sp>
        <p:nvSpPr>
          <p:cNvPr id="52" name="TextBox 51"/>
          <p:cNvSpPr txBox="1"/>
          <p:nvPr/>
        </p:nvSpPr>
        <p:spPr>
          <a:xfrm>
            <a:off x="6181055"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7736511" y="5467792"/>
            <a:ext cx="134549" cy="195707"/>
          </a:xfrm>
          <a:prstGeom prst="rect">
            <a:avLst/>
          </a:prstGeom>
        </p:spPr>
      </p:pic>
      <p:sp>
        <p:nvSpPr>
          <p:cNvPr id="54" name="TextBox 53"/>
          <p:cNvSpPr txBox="1"/>
          <p:nvPr/>
        </p:nvSpPr>
        <p:spPr>
          <a:xfrm>
            <a:off x="7911620"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448941" cy="194310"/>
          </a:xfrm>
          <a:prstGeom prst="rect">
            <a:avLst/>
          </a:prstGeom>
          <a:noFill/>
        </p:spPr>
        <p:txBody>
          <a:bodyPr wrap="none" lIns="0" rIns="0" tIns="0" bIns="0">
            <a:spAutoFit/>
          </a:bodyPr>
          <a:lstStyle/>
          <a:p>
            <a:r>
              <a:rPr sz="1150" b="0">
                <a:solidFill>
                  <a:srgbClr val="2E2E2E"/>
                </a:solidFill>
                <a:latin typeface="Calibri"/>
              </a:rPr>
              <a:t>▪ North America: 'Company A' leads at ~</a:t>
            </a:r>
          </a:p>
        </p:txBody>
      </p:sp>
      <p:pic>
        <p:nvPicPr>
          <p:cNvPr id="29" name="Picture 28" descr="lock.png"/>
          <p:cNvPicPr>
            <a:picLocks noChangeAspect="1"/>
          </p:cNvPicPr>
          <p:nvPr/>
        </p:nvPicPr>
        <p:blipFill>
          <a:blip r:embed="rId7"/>
          <a:stretch>
            <a:fillRect/>
          </a:stretch>
        </p:blipFill>
        <p:spPr>
          <a:xfrm>
            <a:off x="2674320" y="5012116"/>
            <a:ext cx="134549" cy="195707"/>
          </a:xfrm>
          <a:prstGeom prst="rect">
            <a:avLst/>
          </a:prstGeom>
        </p:spPr>
      </p:pic>
      <p:sp>
        <p:nvSpPr>
          <p:cNvPr id="30" name="TextBox 29"/>
          <p:cNvSpPr txBox="1"/>
          <p:nvPr/>
        </p:nvSpPr>
        <p:spPr>
          <a:xfrm>
            <a:off x="2849430" y="5022340"/>
            <a:ext cx="1587760" cy="194310"/>
          </a:xfrm>
          <a:prstGeom prst="rect">
            <a:avLst/>
          </a:prstGeom>
          <a:noFill/>
        </p:spPr>
        <p:txBody>
          <a:bodyPr wrap="none" lIns="0" rIns="0" tIns="0" bIns="0">
            <a:spAutoFit/>
          </a:bodyPr>
          <a:lstStyle/>
          <a:p>
            <a:r>
              <a:rPr sz="1150" b="0">
                <a:solidFill>
                  <a:srgbClr val="2E2E2E"/>
                </a:solidFill>
                <a:latin typeface="Calibri"/>
              </a:rPr>
              <a:t>, ahead of 'Company B' (~</a:t>
            </a:r>
          </a:p>
        </p:txBody>
      </p:sp>
      <p:pic>
        <p:nvPicPr>
          <p:cNvPr id="31" name="Picture 30" descr="lock.png"/>
          <p:cNvPicPr>
            <a:picLocks noChangeAspect="1"/>
          </p:cNvPicPr>
          <p:nvPr/>
        </p:nvPicPr>
        <p:blipFill>
          <a:blip r:embed="rId7"/>
          <a:stretch>
            <a:fillRect/>
          </a:stretch>
        </p:blipFill>
        <p:spPr>
          <a:xfrm>
            <a:off x="4386344" y="5012116"/>
            <a:ext cx="134549" cy="195707"/>
          </a:xfrm>
          <a:prstGeom prst="rect">
            <a:avLst/>
          </a:prstGeom>
        </p:spPr>
      </p:pic>
      <p:sp>
        <p:nvSpPr>
          <p:cNvPr id="32" name="TextBox 31"/>
          <p:cNvSpPr txBox="1"/>
          <p:nvPr/>
        </p:nvSpPr>
        <p:spPr>
          <a:xfrm>
            <a:off x="4561453"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5896123" y="5012116"/>
            <a:ext cx="134549" cy="195707"/>
          </a:xfrm>
          <a:prstGeom prst="rect">
            <a:avLst/>
          </a:prstGeom>
        </p:spPr>
      </p:pic>
      <p:sp>
        <p:nvSpPr>
          <p:cNvPr id="34" name="TextBox 33"/>
          <p:cNvSpPr txBox="1"/>
          <p:nvPr/>
        </p:nvSpPr>
        <p:spPr>
          <a:xfrm>
            <a:off x="6071232"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7626688" y="5012116"/>
            <a:ext cx="134549" cy="195707"/>
          </a:xfrm>
          <a:prstGeom prst="rect">
            <a:avLst/>
          </a:prstGeom>
        </p:spPr>
      </p:pic>
      <p:sp>
        <p:nvSpPr>
          <p:cNvPr id="36" name="TextBox 35"/>
          <p:cNvSpPr txBox="1"/>
          <p:nvPr/>
        </p:nvSpPr>
        <p:spPr>
          <a:xfrm>
            <a:off x="7801797"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102608" cy="194310"/>
          </a:xfrm>
          <a:prstGeom prst="rect">
            <a:avLst/>
          </a:prstGeom>
          <a:noFill/>
        </p:spPr>
        <p:txBody>
          <a:bodyPr wrap="none" lIns="0" rIns="0" tIns="0" bIns="0">
            <a:spAutoFit/>
          </a:bodyPr>
          <a:lstStyle/>
          <a:p>
            <a:r>
              <a:rPr sz="1150" b="0">
                <a:solidFill>
                  <a:srgbClr val="2E2E2E"/>
                </a:solidFill>
                <a:latin typeface="Calibri"/>
              </a:rPr>
              <a:t>▪ East Asia: 'Company A' leads at ~</a:t>
            </a:r>
          </a:p>
        </p:txBody>
      </p:sp>
      <p:pic>
        <p:nvPicPr>
          <p:cNvPr id="38" name="Picture 37" descr="lock.png"/>
          <p:cNvPicPr>
            <a:picLocks noChangeAspect="1"/>
          </p:cNvPicPr>
          <p:nvPr/>
        </p:nvPicPr>
        <p:blipFill>
          <a:blip r:embed="rId7"/>
          <a:stretch>
            <a:fillRect/>
          </a:stretch>
        </p:blipFill>
        <p:spPr>
          <a:xfrm>
            <a:off x="2327987" y="5239954"/>
            <a:ext cx="134549" cy="195707"/>
          </a:xfrm>
          <a:prstGeom prst="rect">
            <a:avLst/>
          </a:prstGeom>
        </p:spPr>
      </p:pic>
      <p:sp>
        <p:nvSpPr>
          <p:cNvPr id="39" name="TextBox 38"/>
          <p:cNvSpPr txBox="1"/>
          <p:nvPr/>
        </p:nvSpPr>
        <p:spPr>
          <a:xfrm>
            <a:off x="2503096" y="5250177"/>
            <a:ext cx="1586048" cy="194310"/>
          </a:xfrm>
          <a:prstGeom prst="rect">
            <a:avLst/>
          </a:prstGeom>
          <a:noFill/>
        </p:spPr>
        <p:txBody>
          <a:bodyPr wrap="none" lIns="0" rIns="0" tIns="0" bIns="0">
            <a:spAutoFit/>
          </a:bodyPr>
          <a:lstStyle/>
          <a:p>
            <a:r>
              <a:rPr sz="1150" b="0">
                <a:solidFill>
                  <a:srgbClr val="2E2E2E"/>
                </a:solidFill>
                <a:latin typeface="Calibri"/>
              </a:rPr>
              <a:t>, ahead of 'Company C' (~</a:t>
            </a:r>
          </a:p>
        </p:txBody>
      </p:sp>
      <p:pic>
        <p:nvPicPr>
          <p:cNvPr id="40" name="Picture 39" descr="lock.png"/>
          <p:cNvPicPr>
            <a:picLocks noChangeAspect="1"/>
          </p:cNvPicPr>
          <p:nvPr/>
        </p:nvPicPr>
        <p:blipFill>
          <a:blip r:embed="rId7"/>
          <a:stretch>
            <a:fillRect/>
          </a:stretch>
        </p:blipFill>
        <p:spPr>
          <a:xfrm>
            <a:off x="4038299" y="5239954"/>
            <a:ext cx="134549" cy="195707"/>
          </a:xfrm>
          <a:prstGeom prst="rect">
            <a:avLst/>
          </a:prstGeom>
        </p:spPr>
      </p:pic>
      <p:sp>
        <p:nvSpPr>
          <p:cNvPr id="41" name="TextBox 40"/>
          <p:cNvSpPr txBox="1"/>
          <p:nvPr/>
        </p:nvSpPr>
        <p:spPr>
          <a:xfrm>
            <a:off x="4213408"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5548077" y="5239954"/>
            <a:ext cx="134549" cy="195707"/>
          </a:xfrm>
          <a:prstGeom prst="rect">
            <a:avLst/>
          </a:prstGeom>
        </p:spPr>
      </p:pic>
      <p:sp>
        <p:nvSpPr>
          <p:cNvPr id="43" name="TextBox 42"/>
          <p:cNvSpPr txBox="1"/>
          <p:nvPr/>
        </p:nvSpPr>
        <p:spPr>
          <a:xfrm>
            <a:off x="5723187"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278642" y="5239954"/>
            <a:ext cx="134549" cy="195707"/>
          </a:xfrm>
          <a:prstGeom prst="rect">
            <a:avLst/>
          </a:prstGeom>
        </p:spPr>
      </p:pic>
      <p:sp>
        <p:nvSpPr>
          <p:cNvPr id="45" name="TextBox 44"/>
          <p:cNvSpPr txBox="1"/>
          <p:nvPr/>
        </p:nvSpPr>
        <p:spPr>
          <a:xfrm>
            <a:off x="7453752"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2002804" cy="194310"/>
          </a:xfrm>
          <a:prstGeom prst="rect">
            <a:avLst/>
          </a:prstGeom>
          <a:noFill/>
        </p:spPr>
        <p:txBody>
          <a:bodyPr wrap="none" lIns="0" rIns="0" tIns="0" bIns="0">
            <a:spAutoFit/>
          </a:bodyPr>
          <a:lstStyle/>
          <a:p>
            <a:r>
              <a:rPr sz="1150" b="0">
                <a:solidFill>
                  <a:srgbClr val="2E2E2E"/>
                </a:solidFill>
                <a:latin typeface="Calibri"/>
              </a:rPr>
              <a:t>▪ Europe: 'Company A' leads at ~</a:t>
            </a:r>
          </a:p>
        </p:txBody>
      </p:sp>
      <p:pic>
        <p:nvPicPr>
          <p:cNvPr id="47" name="Picture 46" descr="lock.png"/>
          <p:cNvPicPr>
            <a:picLocks noChangeAspect="1"/>
          </p:cNvPicPr>
          <p:nvPr/>
        </p:nvPicPr>
        <p:blipFill>
          <a:blip r:embed="rId7"/>
          <a:stretch>
            <a:fillRect/>
          </a:stretch>
        </p:blipFill>
        <p:spPr>
          <a:xfrm>
            <a:off x="2228183" y="5467792"/>
            <a:ext cx="134549" cy="195707"/>
          </a:xfrm>
          <a:prstGeom prst="rect">
            <a:avLst/>
          </a:prstGeom>
        </p:spPr>
      </p:pic>
      <p:sp>
        <p:nvSpPr>
          <p:cNvPr id="48" name="TextBox 47"/>
          <p:cNvSpPr txBox="1"/>
          <p:nvPr/>
        </p:nvSpPr>
        <p:spPr>
          <a:xfrm>
            <a:off x="2403293" y="5478015"/>
            <a:ext cx="1598029" cy="194310"/>
          </a:xfrm>
          <a:prstGeom prst="rect">
            <a:avLst/>
          </a:prstGeom>
          <a:noFill/>
        </p:spPr>
        <p:txBody>
          <a:bodyPr wrap="none" lIns="0" rIns="0" tIns="0" bIns="0">
            <a:spAutoFit/>
          </a:bodyPr>
          <a:lstStyle/>
          <a:p>
            <a:r>
              <a:rPr sz="1150" b="0">
                <a:solidFill>
                  <a:srgbClr val="2E2E2E"/>
                </a:solidFill>
                <a:latin typeface="Calibri"/>
              </a:rPr>
              <a:t>, ahead of 'Company D' (~</a:t>
            </a:r>
          </a:p>
        </p:txBody>
      </p:sp>
      <p:pic>
        <p:nvPicPr>
          <p:cNvPr id="49" name="Picture 48" descr="lock.png"/>
          <p:cNvPicPr>
            <a:picLocks noChangeAspect="1"/>
          </p:cNvPicPr>
          <p:nvPr/>
        </p:nvPicPr>
        <p:blipFill>
          <a:blip r:embed="rId7"/>
          <a:stretch>
            <a:fillRect/>
          </a:stretch>
        </p:blipFill>
        <p:spPr>
          <a:xfrm>
            <a:off x="3950476" y="5467792"/>
            <a:ext cx="134549" cy="195707"/>
          </a:xfrm>
          <a:prstGeom prst="rect">
            <a:avLst/>
          </a:prstGeom>
        </p:spPr>
      </p:pic>
      <p:sp>
        <p:nvSpPr>
          <p:cNvPr id="50" name="TextBox 49"/>
          <p:cNvSpPr txBox="1"/>
          <p:nvPr/>
        </p:nvSpPr>
        <p:spPr>
          <a:xfrm>
            <a:off x="4125585"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5460255" y="5467792"/>
            <a:ext cx="134549" cy="195707"/>
          </a:xfrm>
          <a:prstGeom prst="rect">
            <a:avLst/>
          </a:prstGeom>
        </p:spPr>
      </p:pic>
      <p:sp>
        <p:nvSpPr>
          <p:cNvPr id="52" name="TextBox 51"/>
          <p:cNvSpPr txBox="1"/>
          <p:nvPr/>
        </p:nvSpPr>
        <p:spPr>
          <a:xfrm>
            <a:off x="5635364"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7190820" y="5467792"/>
            <a:ext cx="134549" cy="195707"/>
          </a:xfrm>
          <a:prstGeom prst="rect">
            <a:avLst/>
          </a:prstGeom>
        </p:spPr>
      </p:pic>
      <p:sp>
        <p:nvSpPr>
          <p:cNvPr id="54" name="TextBox 53"/>
          <p:cNvSpPr txBox="1"/>
          <p:nvPr/>
        </p:nvSpPr>
        <p:spPr>
          <a:xfrm>
            <a:off x="7365929"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Hair Styling Products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Hair Styling Products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 A</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 B</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 C</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 D</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 E</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Hair Styling Products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A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A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A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A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A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Company A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Company A: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210462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6086073" y="3299104"/>
            <a:ext cx="197242" cy="286897"/>
          </a:xfrm>
          <a:prstGeom prst="rect">
            <a:avLst/>
          </a:prstGeom>
        </p:spPr>
      </p:pic>
      <p:pic>
        <p:nvPicPr>
          <p:cNvPr id="36" name="Picture 35" descr="lock.png"/>
          <p:cNvPicPr>
            <a:picLocks noChangeAspect="1"/>
          </p:cNvPicPr>
          <p:nvPr/>
        </p:nvPicPr>
        <p:blipFill>
          <a:blip r:embed="rId7"/>
          <a:stretch>
            <a:fillRect/>
          </a:stretch>
        </p:blipFill>
        <p:spPr>
          <a:xfrm>
            <a:off x="9278088" y="3145920"/>
            <a:ext cx="444576" cy="646656"/>
          </a:xfrm>
          <a:prstGeom prst="rect">
            <a:avLst/>
          </a:prstGeom>
        </p:spPr>
      </p:pic>
      <p:sp>
        <p:nvSpPr>
          <p:cNvPr id="37" name="TextBox 36"/>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8" name="Picture 37" descr="lock.png"/>
          <p:cNvPicPr>
            <a:picLocks noChangeAspect="1"/>
          </p:cNvPicPr>
          <p:nvPr/>
        </p:nvPicPr>
        <p:blipFill>
          <a:blip r:embed="rId7"/>
          <a:stretch>
            <a:fillRect/>
          </a:stretch>
        </p:blipFill>
        <p:spPr>
          <a:xfrm>
            <a:off x="6017010" y="1533061"/>
            <a:ext cx="133378" cy="194005"/>
          </a:xfrm>
          <a:prstGeom prst="rect">
            <a:avLst/>
          </a:prstGeom>
        </p:spPr>
      </p:pic>
      <p:pic>
        <p:nvPicPr>
          <p:cNvPr id="39" name="Picture 38" descr="lock.png"/>
          <p:cNvPicPr>
            <a:picLocks noChangeAspect="1"/>
          </p:cNvPicPr>
          <p:nvPr/>
        </p:nvPicPr>
        <p:blipFill>
          <a:blip r:embed="rId7"/>
          <a:stretch>
            <a:fillRect/>
          </a:stretch>
        </p:blipFill>
        <p:spPr>
          <a:xfrm>
            <a:off x="5865805" y="1761621"/>
            <a:ext cx="97811" cy="142270"/>
          </a:xfrm>
          <a:prstGeom prst="rect">
            <a:avLst/>
          </a:prstGeom>
        </p:spPr>
      </p:pic>
      <p:sp>
        <p:nvSpPr>
          <p:cNvPr id="40" name="TextBox 39"/>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1" name="TextBox 40"/>
          <p:cNvSpPr txBox="1"/>
          <p:nvPr/>
        </p:nvSpPr>
        <p:spPr>
          <a:xfrm>
            <a:off x="276225" y="5204877"/>
            <a:ext cx="2512838" cy="194310"/>
          </a:xfrm>
          <a:prstGeom prst="rect">
            <a:avLst/>
          </a:prstGeom>
          <a:noFill/>
        </p:spPr>
        <p:txBody>
          <a:bodyPr wrap="none" lIns="0" rIns="0" tIns="0" bIns="0">
            <a:spAutoFit/>
          </a:bodyPr>
          <a:lstStyle/>
          <a:p>
            <a:r>
              <a:rPr sz="1150" b="0">
                <a:solidFill>
                  <a:srgbClr val="2E2E2E"/>
                </a:solidFill>
                <a:latin typeface="Calibri"/>
              </a:rPr>
              <a:t>▪ Market Position: Company A captures ~</a:t>
            </a:r>
          </a:p>
        </p:txBody>
      </p:sp>
      <p:pic>
        <p:nvPicPr>
          <p:cNvPr id="42" name="Picture 41" descr="lock.png"/>
          <p:cNvPicPr>
            <a:picLocks noChangeAspect="1"/>
          </p:cNvPicPr>
          <p:nvPr/>
        </p:nvPicPr>
        <p:blipFill>
          <a:blip r:embed="rId7"/>
          <a:stretch>
            <a:fillRect/>
          </a:stretch>
        </p:blipFill>
        <p:spPr>
          <a:xfrm>
            <a:off x="2738217" y="5194653"/>
            <a:ext cx="134549" cy="195707"/>
          </a:xfrm>
          <a:prstGeom prst="rect">
            <a:avLst/>
          </a:prstGeom>
        </p:spPr>
      </p:pic>
      <p:sp>
        <p:nvSpPr>
          <p:cNvPr id="43" name="TextBox 42"/>
          <p:cNvSpPr txBox="1"/>
          <p:nvPr/>
        </p:nvSpPr>
        <p:spPr>
          <a:xfrm>
            <a:off x="2913327" y="5204877"/>
            <a:ext cx="4843933"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'Pharmacies and Drugstores'.</a:t>
            </a:r>
          </a:p>
        </p:txBody>
      </p:sp>
      <p:sp>
        <p:nvSpPr>
          <p:cNvPr id="44" name="TextBox 43"/>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5" name="Picture 44" descr="lock.png"/>
          <p:cNvPicPr>
            <a:picLocks noChangeAspect="1"/>
          </p:cNvPicPr>
          <p:nvPr/>
        </p:nvPicPr>
        <p:blipFill>
          <a:blip r:embed="rId7"/>
          <a:stretch>
            <a:fillRect/>
          </a:stretch>
        </p:blipFill>
        <p:spPr>
          <a:xfrm>
            <a:off x="7583825" y="5422491"/>
            <a:ext cx="134549" cy="195707"/>
          </a:xfrm>
          <a:prstGeom prst="rect">
            <a:avLst/>
          </a:prstGeom>
        </p:spPr>
      </p:pic>
      <p:sp>
        <p:nvSpPr>
          <p:cNvPr id="46" name="TextBox 45"/>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7" name="TextBox 46"/>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8" name="Picture 47" descr="lock.png"/>
          <p:cNvPicPr>
            <a:picLocks noChangeAspect="1"/>
          </p:cNvPicPr>
          <p:nvPr/>
        </p:nvPicPr>
        <p:blipFill>
          <a:blip r:embed="rId7"/>
          <a:stretch>
            <a:fillRect/>
          </a:stretch>
        </p:blipFill>
        <p:spPr>
          <a:xfrm>
            <a:off x="1617169" y="5650329"/>
            <a:ext cx="134549" cy="195707"/>
          </a:xfrm>
          <a:prstGeom prst="rect">
            <a:avLst/>
          </a:prstGeom>
        </p:spPr>
      </p:pic>
      <p:sp>
        <p:nvSpPr>
          <p:cNvPr id="49" name="TextBox 48"/>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50" name="Picture 49" descr="lock.png"/>
          <p:cNvPicPr>
            <a:picLocks noChangeAspect="1"/>
          </p:cNvPicPr>
          <p:nvPr/>
        </p:nvPicPr>
        <p:blipFill>
          <a:blip r:embed="rId7"/>
          <a:stretch>
            <a:fillRect/>
          </a:stretch>
        </p:blipFill>
        <p:spPr>
          <a:xfrm>
            <a:off x="2870505" y="5650329"/>
            <a:ext cx="134549" cy="195707"/>
          </a:xfrm>
          <a:prstGeom prst="rect">
            <a:avLst/>
          </a:prstGeom>
        </p:spPr>
      </p:pic>
      <p:sp>
        <p:nvSpPr>
          <p:cNvPr id="51" name="TextBox 50"/>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2" name="TextBox 51"/>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3" name="Picture 52" descr="lock.png"/>
          <p:cNvPicPr>
            <a:picLocks noChangeAspect="1"/>
          </p:cNvPicPr>
          <p:nvPr/>
        </p:nvPicPr>
        <p:blipFill>
          <a:blip r:embed="rId7"/>
          <a:stretch>
            <a:fillRect/>
          </a:stretch>
        </p:blipFill>
        <p:spPr>
          <a:xfrm>
            <a:off x="1578914" y="5878167"/>
            <a:ext cx="134549" cy="195707"/>
          </a:xfrm>
          <a:prstGeom prst="rect">
            <a:avLst/>
          </a:prstGeom>
        </p:spPr>
      </p:pic>
      <p:sp>
        <p:nvSpPr>
          <p:cNvPr id="54" name="TextBox 53"/>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5" name="Picture 54" descr="lock.png"/>
          <p:cNvPicPr>
            <a:picLocks noChangeAspect="1"/>
          </p:cNvPicPr>
          <p:nvPr/>
        </p:nvPicPr>
        <p:blipFill>
          <a:blip r:embed="rId7"/>
          <a:stretch>
            <a:fillRect/>
          </a:stretch>
        </p:blipFill>
        <p:spPr>
          <a:xfrm>
            <a:off x="2775769" y="5878167"/>
            <a:ext cx="134549" cy="195707"/>
          </a:xfrm>
          <a:prstGeom prst="rect">
            <a:avLst/>
          </a:prstGeom>
        </p:spPr>
      </p:pic>
      <p:sp>
        <p:nvSpPr>
          <p:cNvPr id="56" name="TextBox 55"/>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7" name="Picture 56" descr="lock.png"/>
          <p:cNvPicPr>
            <a:picLocks noChangeAspect="1"/>
          </p:cNvPicPr>
          <p:nvPr/>
        </p:nvPicPr>
        <p:blipFill>
          <a:blip r:embed="rId7"/>
          <a:stretch>
            <a:fillRect/>
          </a:stretch>
        </p:blipFill>
        <p:spPr>
          <a:xfrm>
            <a:off x="4037092" y="5878167"/>
            <a:ext cx="134549" cy="195707"/>
          </a:xfrm>
          <a:prstGeom prst="rect">
            <a:avLst/>
          </a:prstGeom>
        </p:spPr>
      </p:pic>
      <p:sp>
        <p:nvSpPr>
          <p:cNvPr id="58" name="TextBox 57"/>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9"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Company A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Company A: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Company A</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Company A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Company A: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A: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'Styling Serums and Oils'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Company A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A's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Company A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Financial Performance</a:t>
            </a:r>
          </a:p>
        </p:txBody>
      </p:sp>
      <p:graphicFrame>
        <p:nvGraphicFramePr>
          <p:cNvPr id="13" name="Table 12"/>
          <p:cNvGraphicFramePr>
            <a:graphicFrameLocks noGrp="1"/>
          </p:cNvGraphicFramePr>
          <p:nvPr/>
        </p:nvGraphicFramePr>
        <p:xfrm>
          <a:off x="152400" y="1611256"/>
          <a:ext cx="5886451" cy="1449914"/>
        </p:xfrm>
        <a:graphic>
          <a:graphicData uri="http://schemas.openxmlformats.org/drawingml/2006/table">
            <a:tbl>
              <a:tblPr>
                <a:tableStyleId>{5C22544A-7EE6-4342-B048-85BDC9FD1C3A}</a:tableStyleId>
              </a:tblPr>
              <a:tblGrid>
                <a:gridCol w="2383566"/>
                <a:gridCol w="700577"/>
                <a:gridCol w="700577"/>
                <a:gridCol w="700577"/>
                <a:gridCol w="700577"/>
                <a:gridCol w="700577"/>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Pricing Analysis (US$/Units)</a:t>
            </a:r>
          </a:p>
        </p:txBody>
      </p:sp>
      <p:graphicFrame>
        <p:nvGraphicFramePr>
          <p:cNvPr id="21" name="Table 20"/>
          <p:cNvGraphicFramePr>
            <a:graphicFrameLocks noGrp="1"/>
          </p:cNvGraphicFramePr>
          <p:nvPr/>
        </p:nvGraphicFramePr>
        <p:xfrm>
          <a:off x="6210300" y="1611256"/>
          <a:ext cx="5829300" cy="4772086"/>
        </p:xfrm>
        <a:graphic>
          <a:graphicData uri="http://schemas.openxmlformats.org/drawingml/2006/table">
            <a:tbl>
              <a:tblPr>
                <a:tableStyleId>{5C22544A-7EE6-4342-B048-85BDC9FD1C3A}</a:tableStyleId>
              </a:tblPr>
              <a:tblGrid>
                <a:gridCol w="4030776"/>
                <a:gridCol w="899262"/>
                <a:gridCol w="899262"/>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1131490">
                <a:tc>
                  <a:txBody>
                    <a:bodyPr wrap="none"/>
                    <a:lstStyle/>
                    <a:p>
                      <a:pPr algn="l"/>
                      <a:r>
                        <a:rPr sz="1100" b="1">
                          <a:solidFill>
                            <a:srgbClr val="2E2E2E"/>
                          </a:solidFill>
                          <a:latin typeface="Calibri"/>
                        </a:rPr>
                        <a:t>Styling Serums and Oils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Waxes, Clays, Pastes and Pomades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1131490">
                <a:tc>
                  <a:txBody>
                    <a:bodyPr wrap="none"/>
                    <a:lstStyle/>
                    <a:p>
                      <a:pPr algn="l"/>
                      <a:r>
                        <a:rPr sz="1100" b="1">
                          <a:solidFill>
                            <a:srgbClr val="2E2E2E"/>
                          </a:solidFill>
                          <a:latin typeface="Calibri"/>
                        </a:rPr>
                        <a:t>Sticks and Balms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Creams and Lotions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19387" y="2219246"/>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953648" y="3853662"/>
            <a:ext cx="366712" cy="533400"/>
          </a:xfrm>
          <a:prstGeom prst="rect">
            <a:avLst/>
          </a:prstGeom>
        </p:spPr>
      </p:pic>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Company A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A's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Company A: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207917" cy="194310"/>
          </a:xfrm>
          <a:prstGeom prst="rect">
            <a:avLst/>
          </a:prstGeom>
          <a:noFill/>
        </p:spPr>
        <p:txBody>
          <a:bodyPr wrap="none" lIns="0" rIns="0" tIns="0" bIns="0">
            <a:spAutoFit/>
          </a:bodyPr>
          <a:lstStyle/>
          <a:p>
            <a:r>
              <a:rPr sz="1150" b="0">
                <a:solidFill>
                  <a:srgbClr val="2E2E2E"/>
                </a:solidFill>
                <a:latin typeface="Calibri"/>
              </a:rPr>
              <a:t>▪ Defend and extend leadership in 'Pharmacies and Drugstores' Company A's strongest</a:t>
            </a:r>
          </a:p>
        </p:txBody>
      </p:sp>
      <p:sp>
        <p:nvSpPr>
          <p:cNvPr id="31" name="TextBox 30"/>
          <p:cNvSpPr txBox="1"/>
          <p:nvPr/>
        </p:nvSpPr>
        <p:spPr>
          <a:xfrm>
            <a:off x="276225" y="2678589"/>
            <a:ext cx="3174913" cy="194310"/>
          </a:xfrm>
          <a:prstGeom prst="rect">
            <a:avLst/>
          </a:prstGeom>
          <a:noFill/>
        </p:spPr>
        <p:txBody>
          <a:bodyPr wrap="none" lIns="0" rIns="0" tIns="0" bIns="0">
            <a:spAutoFit/>
          </a:bodyPr>
          <a:lstStyle/>
          <a:p>
            <a:r>
              <a:rPr sz="1150" b="0">
                <a:solidFill>
                  <a:srgbClr val="2E2E2E"/>
                </a:solidFill>
                <a:latin typeface="Calibri"/>
              </a:rPr>
              <a:t>end-market while 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511142" cy="194310"/>
          </a:xfrm>
          <a:prstGeom prst="rect">
            <a:avLst/>
          </a:prstGeom>
          <a:noFill/>
        </p:spPr>
        <p:txBody>
          <a:bodyPr wrap="none" lIns="0" rIns="0" tIns="0" bIns="0">
            <a:spAutoFit/>
          </a:bodyPr>
          <a:lstStyle/>
          <a:p>
            <a:r>
              <a:rPr sz="1150" b="0">
                <a:solidFill>
                  <a:srgbClr val="2E2E2E"/>
                </a:solidFill>
                <a:latin typeface="Calibri"/>
              </a:rPr>
              <a:t>▪ Premiumise the portfolio around 'Styling Serums and Oils' and adjacent high-value lines to</a:t>
            </a:r>
          </a:p>
        </p:txBody>
      </p:sp>
      <p:sp>
        <p:nvSpPr>
          <p:cNvPr id="46" name="TextBox 45"/>
          <p:cNvSpPr txBox="1"/>
          <p:nvPr/>
        </p:nvSpPr>
        <p:spPr>
          <a:xfrm>
            <a:off x="6334125" y="2678589"/>
            <a:ext cx="1228625" cy="194310"/>
          </a:xfrm>
          <a:prstGeom prst="rect">
            <a:avLst/>
          </a:prstGeom>
          <a:noFill/>
        </p:spPr>
        <p:txBody>
          <a:bodyPr wrap="none" lIns="0" rIns="0" tIns="0" bIns="0">
            <a:spAutoFit/>
          </a:bodyPr>
          <a:lstStyle/>
          <a:p>
            <a:r>
              <a:rPr sz="1150" b="0">
                <a:solidFill>
                  <a:srgbClr val="2E2E2E"/>
                </a:solidFill>
                <a:latin typeface="Calibri"/>
              </a:rPr>
              <a:t>lift 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